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diagrams/data160.xml" ContentType="application/vnd.openxmlformats-officedocument.drawingml.diagramData+xml"/>
  <Override PartName="/ppt/diagrams/layout160.xml" ContentType="application/vnd.openxmlformats-officedocument.drawingml.diagramLayout+xml"/>
  <Override PartName="/ppt/diagrams/quickStyle160.xml" ContentType="application/vnd.openxmlformats-officedocument.drawingml.diagramStyle+xml"/>
  <Override PartName="/ppt/diagrams/colors160.xml" ContentType="application/vnd.openxmlformats-officedocument.drawingml.diagramColors+xml"/>
  <Override PartName="/ppt/diagrams/drawing160.xml" ContentType="application/vnd.ms-office.drawingml.diagramDrawing+xml"/>
  <Override PartName="/ppt/diagrams/data161.xml" ContentType="application/vnd.openxmlformats-officedocument.drawingml.diagramData+xml"/>
  <Override PartName="/ppt/diagrams/layout161.xml" ContentType="application/vnd.openxmlformats-officedocument.drawingml.diagramLayout+xml"/>
  <Override PartName="/ppt/diagrams/quickStyle161.xml" ContentType="application/vnd.openxmlformats-officedocument.drawingml.diagramStyle+xml"/>
  <Override PartName="/ppt/diagrams/colors161.xml" ContentType="application/vnd.openxmlformats-officedocument.drawingml.diagramColors+xml"/>
  <Override PartName="/ppt/diagrams/drawing161.xml" ContentType="application/vnd.ms-office.drawingml.diagramDrawing+xml"/>
  <Override PartName="/ppt/diagrams/data162.xml" ContentType="application/vnd.openxmlformats-officedocument.drawingml.diagramData+xml"/>
  <Override PartName="/ppt/diagrams/layout162.xml" ContentType="application/vnd.openxmlformats-officedocument.drawingml.diagramLayout+xml"/>
  <Override PartName="/ppt/diagrams/quickStyle162.xml" ContentType="application/vnd.openxmlformats-officedocument.drawingml.diagramStyle+xml"/>
  <Override PartName="/ppt/diagrams/colors162.xml" ContentType="application/vnd.openxmlformats-officedocument.drawingml.diagramColors+xml"/>
  <Override PartName="/ppt/diagrams/drawing162.xml" ContentType="application/vnd.ms-office.drawingml.diagramDrawing+xml"/>
  <Override PartName="/ppt/diagrams/data163.xml" ContentType="application/vnd.openxmlformats-officedocument.drawingml.diagramData+xml"/>
  <Override PartName="/ppt/diagrams/layout163.xml" ContentType="application/vnd.openxmlformats-officedocument.drawingml.diagramLayout+xml"/>
  <Override PartName="/ppt/diagrams/quickStyle163.xml" ContentType="application/vnd.openxmlformats-officedocument.drawingml.diagramStyle+xml"/>
  <Override PartName="/ppt/diagrams/colors163.xml" ContentType="application/vnd.openxmlformats-officedocument.drawingml.diagramColors+xml"/>
  <Override PartName="/ppt/diagrams/drawing163.xml" ContentType="application/vnd.ms-office.drawingml.diagramDrawing+xml"/>
  <Override PartName="/ppt/diagrams/data164.xml" ContentType="application/vnd.openxmlformats-officedocument.drawingml.diagramData+xml"/>
  <Override PartName="/ppt/diagrams/layout164.xml" ContentType="application/vnd.openxmlformats-officedocument.drawingml.diagramLayout+xml"/>
  <Override PartName="/ppt/diagrams/quickStyle164.xml" ContentType="application/vnd.openxmlformats-officedocument.drawingml.diagramStyle+xml"/>
  <Override PartName="/ppt/diagrams/colors164.xml" ContentType="application/vnd.openxmlformats-officedocument.drawingml.diagramColors+xml"/>
  <Override PartName="/ppt/diagrams/drawing164.xml" ContentType="application/vnd.ms-office.drawingml.diagramDrawing+xml"/>
  <Override PartName="/ppt/diagrams/data165.xml" ContentType="application/vnd.openxmlformats-officedocument.drawingml.diagramData+xml"/>
  <Override PartName="/ppt/diagrams/layout165.xml" ContentType="application/vnd.openxmlformats-officedocument.drawingml.diagramLayout+xml"/>
  <Override PartName="/ppt/diagrams/quickStyle165.xml" ContentType="application/vnd.openxmlformats-officedocument.drawingml.diagramStyle+xml"/>
  <Override PartName="/ppt/diagrams/colors165.xml" ContentType="application/vnd.openxmlformats-officedocument.drawingml.diagramColors+xml"/>
  <Override PartName="/ppt/diagrams/drawing165.xml" ContentType="application/vnd.ms-office.drawingml.diagramDrawing+xml"/>
  <Override PartName="/ppt/diagrams/data166.xml" ContentType="application/vnd.openxmlformats-officedocument.drawingml.diagramData+xml"/>
  <Override PartName="/ppt/diagrams/layout166.xml" ContentType="application/vnd.openxmlformats-officedocument.drawingml.diagramLayout+xml"/>
  <Override PartName="/ppt/diagrams/quickStyle166.xml" ContentType="application/vnd.openxmlformats-officedocument.drawingml.diagramStyle+xml"/>
  <Override PartName="/ppt/diagrams/colors166.xml" ContentType="application/vnd.openxmlformats-officedocument.drawingml.diagramColors+xml"/>
  <Override PartName="/ppt/diagrams/drawing166.xml" ContentType="application/vnd.ms-office.drawingml.diagramDrawing+xml"/>
  <Override PartName="/ppt/diagrams/data167.xml" ContentType="application/vnd.openxmlformats-officedocument.drawingml.diagramData+xml"/>
  <Override PartName="/ppt/diagrams/layout167.xml" ContentType="application/vnd.openxmlformats-officedocument.drawingml.diagramLayout+xml"/>
  <Override PartName="/ppt/diagrams/quickStyle167.xml" ContentType="application/vnd.openxmlformats-officedocument.drawingml.diagramStyle+xml"/>
  <Override PartName="/ppt/diagrams/colors167.xml" ContentType="application/vnd.openxmlformats-officedocument.drawingml.diagramColors+xml"/>
  <Override PartName="/ppt/diagrams/drawing167.xml" ContentType="application/vnd.ms-office.drawingml.diagramDrawing+xml"/>
  <Override PartName="/ppt/diagrams/data168.xml" ContentType="application/vnd.openxmlformats-officedocument.drawingml.diagramData+xml"/>
  <Override PartName="/ppt/diagrams/layout168.xml" ContentType="application/vnd.openxmlformats-officedocument.drawingml.diagramLayout+xml"/>
  <Override PartName="/ppt/diagrams/quickStyle168.xml" ContentType="application/vnd.openxmlformats-officedocument.drawingml.diagramStyle+xml"/>
  <Override PartName="/ppt/diagrams/colors168.xml" ContentType="application/vnd.openxmlformats-officedocument.drawingml.diagramColors+xml"/>
  <Override PartName="/ppt/diagrams/drawing168.xml" ContentType="application/vnd.ms-office.drawingml.diagramDrawing+xml"/>
  <Override PartName="/ppt/diagrams/data169.xml" ContentType="application/vnd.openxmlformats-officedocument.drawingml.diagramData+xml"/>
  <Override PartName="/ppt/diagrams/layout169.xml" ContentType="application/vnd.openxmlformats-officedocument.drawingml.diagramLayout+xml"/>
  <Override PartName="/ppt/diagrams/quickStyle169.xml" ContentType="application/vnd.openxmlformats-officedocument.drawingml.diagramStyle+xml"/>
  <Override PartName="/ppt/diagrams/colors169.xml" ContentType="application/vnd.openxmlformats-officedocument.drawingml.diagramColors+xml"/>
  <Override PartName="/ppt/diagrams/drawing169.xml" ContentType="application/vnd.ms-office.drawingml.diagramDrawing+xml"/>
  <Override PartName="/ppt/diagrams/data170.xml" ContentType="application/vnd.openxmlformats-officedocument.drawingml.diagramData+xml"/>
  <Override PartName="/ppt/diagrams/layout170.xml" ContentType="application/vnd.openxmlformats-officedocument.drawingml.diagramLayout+xml"/>
  <Override PartName="/ppt/diagrams/quickStyle170.xml" ContentType="application/vnd.openxmlformats-officedocument.drawingml.diagramStyle+xml"/>
  <Override PartName="/ppt/diagrams/colors170.xml" ContentType="application/vnd.openxmlformats-officedocument.drawingml.diagramColors+xml"/>
  <Override PartName="/ppt/diagrams/drawing170.xml" ContentType="application/vnd.ms-office.drawingml.diagramDrawing+xml"/>
  <Override PartName="/ppt/diagrams/data171.xml" ContentType="application/vnd.openxmlformats-officedocument.drawingml.diagramData+xml"/>
  <Override PartName="/ppt/diagrams/layout171.xml" ContentType="application/vnd.openxmlformats-officedocument.drawingml.diagramLayout+xml"/>
  <Override PartName="/ppt/diagrams/quickStyle171.xml" ContentType="application/vnd.openxmlformats-officedocument.drawingml.diagramStyle+xml"/>
  <Override PartName="/ppt/diagrams/colors171.xml" ContentType="application/vnd.openxmlformats-officedocument.drawingml.diagramColors+xml"/>
  <Override PartName="/ppt/diagrams/drawing171.xml" ContentType="application/vnd.ms-office.drawingml.diagramDrawing+xml"/>
  <Override PartName="/ppt/diagrams/data172.xml" ContentType="application/vnd.openxmlformats-officedocument.drawingml.diagramData+xml"/>
  <Override PartName="/ppt/diagrams/layout172.xml" ContentType="application/vnd.openxmlformats-officedocument.drawingml.diagramLayout+xml"/>
  <Override PartName="/ppt/diagrams/quickStyle172.xml" ContentType="application/vnd.openxmlformats-officedocument.drawingml.diagramStyle+xml"/>
  <Override PartName="/ppt/diagrams/colors172.xml" ContentType="application/vnd.openxmlformats-officedocument.drawingml.diagramColors+xml"/>
  <Override PartName="/ppt/diagrams/drawing172.xml" ContentType="application/vnd.ms-office.drawingml.diagramDrawing+xml"/>
  <Override PartName="/ppt/diagrams/data173.xml" ContentType="application/vnd.openxmlformats-officedocument.drawingml.diagramData+xml"/>
  <Override PartName="/ppt/diagrams/layout173.xml" ContentType="application/vnd.openxmlformats-officedocument.drawingml.diagramLayout+xml"/>
  <Override PartName="/ppt/diagrams/quickStyle173.xml" ContentType="application/vnd.openxmlformats-officedocument.drawingml.diagramStyle+xml"/>
  <Override PartName="/ppt/diagrams/colors173.xml" ContentType="application/vnd.openxmlformats-officedocument.drawingml.diagramColors+xml"/>
  <Override PartName="/ppt/diagrams/drawing173.xml" ContentType="application/vnd.ms-office.drawingml.diagramDrawing+xml"/>
  <Override PartName="/ppt/diagrams/data174.xml" ContentType="application/vnd.openxmlformats-officedocument.drawingml.diagramData+xml"/>
  <Override PartName="/ppt/diagrams/layout174.xml" ContentType="application/vnd.openxmlformats-officedocument.drawingml.diagramLayout+xml"/>
  <Override PartName="/ppt/diagrams/quickStyle174.xml" ContentType="application/vnd.openxmlformats-officedocument.drawingml.diagramStyle+xml"/>
  <Override PartName="/ppt/diagrams/colors174.xml" ContentType="application/vnd.openxmlformats-officedocument.drawingml.diagramColors+xml"/>
  <Override PartName="/ppt/diagrams/drawing174.xml" ContentType="application/vnd.ms-office.drawingml.diagramDrawing+xml"/>
  <Override PartName="/ppt/diagrams/data175.xml" ContentType="application/vnd.openxmlformats-officedocument.drawingml.diagramData+xml"/>
  <Override PartName="/ppt/diagrams/layout175.xml" ContentType="application/vnd.openxmlformats-officedocument.drawingml.diagramLayout+xml"/>
  <Override PartName="/ppt/diagrams/quickStyle175.xml" ContentType="application/vnd.openxmlformats-officedocument.drawingml.diagramStyle+xml"/>
  <Override PartName="/ppt/diagrams/colors175.xml" ContentType="application/vnd.openxmlformats-officedocument.drawingml.diagramColors+xml"/>
  <Override PartName="/ppt/diagrams/drawing175.xml" ContentType="application/vnd.ms-office.drawingml.diagramDrawing+xml"/>
  <Override PartName="/ppt/diagrams/data176.xml" ContentType="application/vnd.openxmlformats-officedocument.drawingml.diagramData+xml"/>
  <Override PartName="/ppt/diagrams/layout176.xml" ContentType="application/vnd.openxmlformats-officedocument.drawingml.diagramLayout+xml"/>
  <Override PartName="/ppt/diagrams/quickStyle176.xml" ContentType="application/vnd.openxmlformats-officedocument.drawingml.diagramStyle+xml"/>
  <Override PartName="/ppt/diagrams/colors176.xml" ContentType="application/vnd.openxmlformats-officedocument.drawingml.diagramColors+xml"/>
  <Override PartName="/ppt/diagrams/drawing176.xml" ContentType="application/vnd.ms-office.drawingml.diagramDrawing+xml"/>
  <Override PartName="/ppt/diagrams/data177.xml" ContentType="application/vnd.openxmlformats-officedocument.drawingml.diagramData+xml"/>
  <Override PartName="/ppt/diagrams/layout177.xml" ContentType="application/vnd.openxmlformats-officedocument.drawingml.diagramLayout+xml"/>
  <Override PartName="/ppt/diagrams/quickStyle177.xml" ContentType="application/vnd.openxmlformats-officedocument.drawingml.diagramStyle+xml"/>
  <Override PartName="/ppt/diagrams/colors177.xml" ContentType="application/vnd.openxmlformats-officedocument.drawingml.diagramColors+xml"/>
  <Override PartName="/ppt/diagrams/drawing177.xml" ContentType="application/vnd.ms-office.drawingml.diagramDrawing+xml"/>
  <Override PartName="/ppt/diagrams/data178.xml" ContentType="application/vnd.openxmlformats-officedocument.drawingml.diagramData+xml"/>
  <Override PartName="/ppt/diagrams/layout178.xml" ContentType="application/vnd.openxmlformats-officedocument.drawingml.diagramLayout+xml"/>
  <Override PartName="/ppt/diagrams/quickStyle178.xml" ContentType="application/vnd.openxmlformats-officedocument.drawingml.diagramStyle+xml"/>
  <Override PartName="/ppt/diagrams/colors178.xml" ContentType="application/vnd.openxmlformats-officedocument.drawingml.diagramColors+xml"/>
  <Override PartName="/ppt/diagrams/drawing178.xml" ContentType="application/vnd.ms-office.drawingml.diagramDrawing+xml"/>
  <Override PartName="/ppt/diagrams/data179.xml" ContentType="application/vnd.openxmlformats-officedocument.drawingml.diagramData+xml"/>
  <Override PartName="/ppt/diagrams/layout179.xml" ContentType="application/vnd.openxmlformats-officedocument.drawingml.diagramLayout+xml"/>
  <Override PartName="/ppt/diagrams/quickStyle179.xml" ContentType="application/vnd.openxmlformats-officedocument.drawingml.diagramStyle+xml"/>
  <Override PartName="/ppt/diagrams/colors179.xml" ContentType="application/vnd.openxmlformats-officedocument.drawingml.diagramColors+xml"/>
  <Override PartName="/ppt/diagrams/drawing179.xml" ContentType="application/vnd.ms-office.drawingml.diagramDrawing+xml"/>
  <Override PartName="/ppt/diagrams/data180.xml" ContentType="application/vnd.openxmlformats-officedocument.drawingml.diagramData+xml"/>
  <Override PartName="/ppt/diagrams/layout180.xml" ContentType="application/vnd.openxmlformats-officedocument.drawingml.diagramLayout+xml"/>
  <Override PartName="/ppt/diagrams/quickStyle180.xml" ContentType="application/vnd.openxmlformats-officedocument.drawingml.diagramStyle+xml"/>
  <Override PartName="/ppt/diagrams/colors180.xml" ContentType="application/vnd.openxmlformats-officedocument.drawingml.diagramColors+xml"/>
  <Override PartName="/ppt/diagrams/drawing180.xml" ContentType="application/vnd.ms-office.drawingml.diagramDrawing+xml"/>
  <Override PartName="/ppt/diagrams/data181.xml" ContentType="application/vnd.openxmlformats-officedocument.drawingml.diagramData+xml"/>
  <Override PartName="/ppt/diagrams/layout181.xml" ContentType="application/vnd.openxmlformats-officedocument.drawingml.diagramLayout+xml"/>
  <Override PartName="/ppt/diagrams/quickStyle181.xml" ContentType="application/vnd.openxmlformats-officedocument.drawingml.diagramStyle+xml"/>
  <Override PartName="/ppt/diagrams/colors181.xml" ContentType="application/vnd.openxmlformats-officedocument.drawingml.diagramColors+xml"/>
  <Override PartName="/ppt/diagrams/drawing181.xml" ContentType="application/vnd.ms-office.drawingml.diagramDrawing+xml"/>
  <Override PartName="/ppt/diagrams/data182.xml" ContentType="application/vnd.openxmlformats-officedocument.drawingml.diagramData+xml"/>
  <Override PartName="/ppt/diagrams/layout182.xml" ContentType="application/vnd.openxmlformats-officedocument.drawingml.diagramLayout+xml"/>
  <Override PartName="/ppt/diagrams/quickStyle182.xml" ContentType="application/vnd.openxmlformats-officedocument.drawingml.diagramStyle+xml"/>
  <Override PartName="/ppt/diagrams/colors182.xml" ContentType="application/vnd.openxmlformats-officedocument.drawingml.diagramColors+xml"/>
  <Override PartName="/ppt/diagrams/drawing182.xml" ContentType="application/vnd.ms-office.drawingml.diagramDrawing+xml"/>
  <Override PartName="/ppt/diagrams/data183.xml" ContentType="application/vnd.openxmlformats-officedocument.drawingml.diagramData+xml"/>
  <Override PartName="/ppt/diagrams/layout183.xml" ContentType="application/vnd.openxmlformats-officedocument.drawingml.diagramLayout+xml"/>
  <Override PartName="/ppt/diagrams/quickStyle183.xml" ContentType="application/vnd.openxmlformats-officedocument.drawingml.diagramStyle+xml"/>
  <Override PartName="/ppt/diagrams/colors183.xml" ContentType="application/vnd.openxmlformats-officedocument.drawingml.diagramColors+xml"/>
  <Override PartName="/ppt/diagrams/drawing183.xml" ContentType="application/vnd.ms-office.drawingml.diagramDrawing+xml"/>
  <Override PartName="/ppt/diagrams/data184.xml" ContentType="application/vnd.openxmlformats-officedocument.drawingml.diagramData+xml"/>
  <Override PartName="/ppt/diagrams/layout184.xml" ContentType="application/vnd.openxmlformats-officedocument.drawingml.diagramLayout+xml"/>
  <Override PartName="/ppt/diagrams/quickStyle184.xml" ContentType="application/vnd.openxmlformats-officedocument.drawingml.diagramStyle+xml"/>
  <Override PartName="/ppt/diagrams/colors184.xml" ContentType="application/vnd.openxmlformats-officedocument.drawingml.diagramColors+xml"/>
  <Override PartName="/ppt/diagrams/drawing184.xml" ContentType="application/vnd.ms-office.drawingml.diagramDrawing+xml"/>
  <Override PartName="/ppt/diagrams/data185.xml" ContentType="application/vnd.openxmlformats-officedocument.drawingml.diagramData+xml"/>
  <Override PartName="/ppt/diagrams/layout185.xml" ContentType="application/vnd.openxmlformats-officedocument.drawingml.diagramLayout+xml"/>
  <Override PartName="/ppt/diagrams/quickStyle185.xml" ContentType="application/vnd.openxmlformats-officedocument.drawingml.diagramStyle+xml"/>
  <Override PartName="/ppt/diagrams/colors185.xml" ContentType="application/vnd.openxmlformats-officedocument.drawingml.diagramColors+xml"/>
  <Override PartName="/ppt/diagrams/drawing185.xml" ContentType="application/vnd.ms-office.drawingml.diagramDrawing+xml"/>
  <Override PartName="/ppt/diagrams/data186.xml" ContentType="application/vnd.openxmlformats-officedocument.drawingml.diagramData+xml"/>
  <Override PartName="/ppt/diagrams/layout186.xml" ContentType="application/vnd.openxmlformats-officedocument.drawingml.diagramLayout+xml"/>
  <Override PartName="/ppt/diagrams/quickStyle186.xml" ContentType="application/vnd.openxmlformats-officedocument.drawingml.diagramStyle+xml"/>
  <Override PartName="/ppt/diagrams/colors186.xml" ContentType="application/vnd.openxmlformats-officedocument.drawingml.diagramColors+xml"/>
  <Override PartName="/ppt/diagrams/drawing186.xml" ContentType="application/vnd.ms-office.drawingml.diagramDrawing+xml"/>
  <Override PartName="/ppt/diagrams/data187.xml" ContentType="application/vnd.openxmlformats-officedocument.drawingml.diagramData+xml"/>
  <Override PartName="/ppt/diagrams/layout187.xml" ContentType="application/vnd.openxmlformats-officedocument.drawingml.diagramLayout+xml"/>
  <Override PartName="/ppt/diagrams/quickStyle187.xml" ContentType="application/vnd.openxmlformats-officedocument.drawingml.diagramStyle+xml"/>
  <Override PartName="/ppt/diagrams/colors187.xml" ContentType="application/vnd.openxmlformats-officedocument.drawingml.diagramColors+xml"/>
  <Override PartName="/ppt/diagrams/drawing187.xml" ContentType="application/vnd.ms-office.drawingml.diagramDrawing+xml"/>
  <Override PartName="/ppt/diagrams/data188.xml" ContentType="application/vnd.openxmlformats-officedocument.drawingml.diagramData+xml"/>
  <Override PartName="/ppt/diagrams/layout188.xml" ContentType="application/vnd.openxmlformats-officedocument.drawingml.diagramLayout+xml"/>
  <Override PartName="/ppt/diagrams/quickStyle188.xml" ContentType="application/vnd.openxmlformats-officedocument.drawingml.diagramStyle+xml"/>
  <Override PartName="/ppt/diagrams/colors188.xml" ContentType="application/vnd.openxmlformats-officedocument.drawingml.diagramColors+xml"/>
  <Override PartName="/ppt/diagrams/drawing188.xml" ContentType="application/vnd.ms-office.drawingml.diagramDrawing+xml"/>
  <Override PartName="/ppt/diagrams/data189.xml" ContentType="application/vnd.openxmlformats-officedocument.drawingml.diagramData+xml"/>
  <Override PartName="/ppt/diagrams/layout189.xml" ContentType="application/vnd.openxmlformats-officedocument.drawingml.diagramLayout+xml"/>
  <Override PartName="/ppt/diagrams/quickStyle189.xml" ContentType="application/vnd.openxmlformats-officedocument.drawingml.diagramStyle+xml"/>
  <Override PartName="/ppt/diagrams/colors189.xml" ContentType="application/vnd.openxmlformats-officedocument.drawingml.diagramColors+xml"/>
  <Override PartName="/ppt/diagrams/drawing189.xml" ContentType="application/vnd.ms-office.drawingml.diagramDrawing+xml"/>
  <Override PartName="/ppt/diagrams/data190.xml" ContentType="application/vnd.openxmlformats-officedocument.drawingml.diagramData+xml"/>
  <Override PartName="/ppt/diagrams/layout190.xml" ContentType="application/vnd.openxmlformats-officedocument.drawingml.diagramLayout+xml"/>
  <Override PartName="/ppt/diagrams/quickStyle190.xml" ContentType="application/vnd.openxmlformats-officedocument.drawingml.diagramStyle+xml"/>
  <Override PartName="/ppt/diagrams/colors190.xml" ContentType="application/vnd.openxmlformats-officedocument.drawingml.diagramColors+xml"/>
  <Override PartName="/ppt/diagrams/drawing190.xml" ContentType="application/vnd.ms-office.drawingml.diagramDrawing+xml"/>
  <Override PartName="/ppt/diagrams/data191.xml" ContentType="application/vnd.openxmlformats-officedocument.drawingml.diagramData+xml"/>
  <Override PartName="/ppt/diagrams/layout191.xml" ContentType="application/vnd.openxmlformats-officedocument.drawingml.diagramLayout+xml"/>
  <Override PartName="/ppt/diagrams/quickStyle191.xml" ContentType="application/vnd.openxmlformats-officedocument.drawingml.diagramStyle+xml"/>
  <Override PartName="/ppt/diagrams/colors191.xml" ContentType="application/vnd.openxmlformats-officedocument.drawingml.diagramColors+xml"/>
  <Override PartName="/ppt/diagrams/drawing191.xml" ContentType="application/vnd.ms-office.drawingml.diagramDrawing+xml"/>
  <Override PartName="/ppt/diagrams/data192.xml" ContentType="application/vnd.openxmlformats-officedocument.drawingml.diagramData+xml"/>
  <Override PartName="/ppt/diagrams/layout192.xml" ContentType="application/vnd.openxmlformats-officedocument.drawingml.diagramLayout+xml"/>
  <Override PartName="/ppt/diagrams/quickStyle192.xml" ContentType="application/vnd.openxmlformats-officedocument.drawingml.diagramStyle+xml"/>
  <Override PartName="/ppt/diagrams/colors192.xml" ContentType="application/vnd.openxmlformats-officedocument.drawingml.diagramColors+xml"/>
  <Override PartName="/ppt/diagrams/drawing192.xml" ContentType="application/vnd.ms-office.drawingml.diagramDrawing+xml"/>
  <Override PartName="/ppt/diagrams/data193.xml" ContentType="application/vnd.openxmlformats-officedocument.drawingml.diagramData+xml"/>
  <Override PartName="/ppt/diagrams/layout193.xml" ContentType="application/vnd.openxmlformats-officedocument.drawingml.diagramLayout+xml"/>
  <Override PartName="/ppt/diagrams/quickStyle193.xml" ContentType="application/vnd.openxmlformats-officedocument.drawingml.diagramStyle+xml"/>
  <Override PartName="/ppt/diagrams/colors193.xml" ContentType="application/vnd.openxmlformats-officedocument.drawingml.diagramColors+xml"/>
  <Override PartName="/ppt/diagrams/drawing193.xml" ContentType="application/vnd.ms-office.drawingml.diagramDrawing+xml"/>
  <Override PartName="/ppt/diagrams/data194.xml" ContentType="application/vnd.openxmlformats-officedocument.drawingml.diagramData+xml"/>
  <Override PartName="/ppt/diagrams/layout194.xml" ContentType="application/vnd.openxmlformats-officedocument.drawingml.diagramLayout+xml"/>
  <Override PartName="/ppt/diagrams/quickStyle194.xml" ContentType="application/vnd.openxmlformats-officedocument.drawingml.diagramStyle+xml"/>
  <Override PartName="/ppt/diagrams/colors194.xml" ContentType="application/vnd.openxmlformats-officedocument.drawingml.diagramColors+xml"/>
  <Override PartName="/ppt/diagrams/drawing194.xml" ContentType="application/vnd.ms-office.drawingml.diagramDrawing+xml"/>
  <Override PartName="/ppt/diagrams/data195.xml" ContentType="application/vnd.openxmlformats-officedocument.drawingml.diagramData+xml"/>
  <Override PartName="/ppt/diagrams/layout195.xml" ContentType="application/vnd.openxmlformats-officedocument.drawingml.diagramLayout+xml"/>
  <Override PartName="/ppt/diagrams/quickStyle195.xml" ContentType="application/vnd.openxmlformats-officedocument.drawingml.diagramStyle+xml"/>
  <Override PartName="/ppt/diagrams/colors195.xml" ContentType="application/vnd.openxmlformats-officedocument.drawingml.diagramColors+xml"/>
  <Override PartName="/ppt/diagrams/drawing195.xml" ContentType="application/vnd.ms-office.drawingml.diagramDrawing+xml"/>
  <Override PartName="/ppt/diagrams/data196.xml" ContentType="application/vnd.openxmlformats-officedocument.drawingml.diagramData+xml"/>
  <Override PartName="/ppt/diagrams/layout196.xml" ContentType="application/vnd.openxmlformats-officedocument.drawingml.diagramLayout+xml"/>
  <Override PartName="/ppt/diagrams/quickStyle196.xml" ContentType="application/vnd.openxmlformats-officedocument.drawingml.diagramStyle+xml"/>
  <Override PartName="/ppt/diagrams/colors196.xml" ContentType="application/vnd.openxmlformats-officedocument.drawingml.diagramColors+xml"/>
  <Override PartName="/ppt/diagrams/drawing196.xml" ContentType="application/vnd.ms-office.drawingml.diagramDrawing+xml"/>
  <Override PartName="/ppt/diagrams/data197.xml" ContentType="application/vnd.openxmlformats-officedocument.drawingml.diagramData+xml"/>
  <Override PartName="/ppt/diagrams/layout197.xml" ContentType="application/vnd.openxmlformats-officedocument.drawingml.diagramLayout+xml"/>
  <Override PartName="/ppt/diagrams/quickStyle197.xml" ContentType="application/vnd.openxmlformats-officedocument.drawingml.diagramStyle+xml"/>
  <Override PartName="/ppt/diagrams/colors197.xml" ContentType="application/vnd.openxmlformats-officedocument.drawingml.diagramColors+xml"/>
  <Override PartName="/ppt/diagrams/drawing197.xml" ContentType="application/vnd.ms-office.drawingml.diagramDrawing+xml"/>
  <Override PartName="/ppt/diagrams/data198.xml" ContentType="application/vnd.openxmlformats-officedocument.drawingml.diagramData+xml"/>
  <Override PartName="/ppt/diagrams/layout198.xml" ContentType="application/vnd.openxmlformats-officedocument.drawingml.diagramLayout+xml"/>
  <Override PartName="/ppt/diagrams/quickStyle198.xml" ContentType="application/vnd.openxmlformats-officedocument.drawingml.diagramStyle+xml"/>
  <Override PartName="/ppt/diagrams/colors198.xml" ContentType="application/vnd.openxmlformats-officedocument.drawingml.diagramColors+xml"/>
  <Override PartName="/ppt/diagrams/drawing198.xml" ContentType="application/vnd.ms-office.drawingml.diagramDrawing+xml"/>
  <Override PartName="/ppt/diagrams/data199.xml" ContentType="application/vnd.openxmlformats-officedocument.drawingml.diagramData+xml"/>
  <Override PartName="/ppt/diagrams/layout199.xml" ContentType="application/vnd.openxmlformats-officedocument.drawingml.diagramLayout+xml"/>
  <Override PartName="/ppt/diagrams/quickStyle199.xml" ContentType="application/vnd.openxmlformats-officedocument.drawingml.diagramStyle+xml"/>
  <Override PartName="/ppt/diagrams/colors199.xml" ContentType="application/vnd.openxmlformats-officedocument.drawingml.diagramColors+xml"/>
  <Override PartName="/ppt/diagrams/drawing199.xml" ContentType="application/vnd.ms-office.drawingml.diagramDrawing+xml"/>
  <Override PartName="/ppt/diagrams/data200.xml" ContentType="application/vnd.openxmlformats-officedocument.drawingml.diagramData+xml"/>
  <Override PartName="/ppt/diagrams/layout200.xml" ContentType="application/vnd.openxmlformats-officedocument.drawingml.diagramLayout+xml"/>
  <Override PartName="/ppt/diagrams/quickStyle200.xml" ContentType="application/vnd.openxmlformats-officedocument.drawingml.diagramStyle+xml"/>
  <Override PartName="/ppt/diagrams/colors200.xml" ContentType="application/vnd.openxmlformats-officedocument.drawingml.diagramColors+xml"/>
  <Override PartName="/ppt/diagrams/drawing200.xml" ContentType="application/vnd.ms-office.drawingml.diagramDrawing+xml"/>
  <Override PartName="/ppt/diagrams/data201.xml" ContentType="application/vnd.openxmlformats-officedocument.drawingml.diagramData+xml"/>
  <Override PartName="/ppt/diagrams/layout201.xml" ContentType="application/vnd.openxmlformats-officedocument.drawingml.diagramLayout+xml"/>
  <Override PartName="/ppt/diagrams/quickStyle201.xml" ContentType="application/vnd.openxmlformats-officedocument.drawingml.diagramStyle+xml"/>
  <Override PartName="/ppt/diagrams/colors201.xml" ContentType="application/vnd.openxmlformats-officedocument.drawingml.diagramColors+xml"/>
  <Override PartName="/ppt/diagrams/drawing201.xml" ContentType="application/vnd.ms-office.drawingml.diagramDrawing+xml"/>
  <Override PartName="/ppt/diagrams/data202.xml" ContentType="application/vnd.openxmlformats-officedocument.drawingml.diagramData+xml"/>
  <Override PartName="/ppt/diagrams/layout202.xml" ContentType="application/vnd.openxmlformats-officedocument.drawingml.diagramLayout+xml"/>
  <Override PartName="/ppt/diagrams/quickStyle202.xml" ContentType="application/vnd.openxmlformats-officedocument.drawingml.diagramStyle+xml"/>
  <Override PartName="/ppt/diagrams/colors202.xml" ContentType="application/vnd.openxmlformats-officedocument.drawingml.diagramColors+xml"/>
  <Override PartName="/ppt/diagrams/drawing202.xml" ContentType="application/vnd.ms-office.drawingml.diagramDrawing+xml"/>
  <Override PartName="/ppt/diagrams/data203.xml" ContentType="application/vnd.openxmlformats-officedocument.drawingml.diagramData+xml"/>
  <Override PartName="/ppt/diagrams/layout203.xml" ContentType="application/vnd.openxmlformats-officedocument.drawingml.diagramLayout+xml"/>
  <Override PartName="/ppt/diagrams/quickStyle203.xml" ContentType="application/vnd.openxmlformats-officedocument.drawingml.diagramStyle+xml"/>
  <Override PartName="/ppt/diagrams/colors203.xml" ContentType="application/vnd.openxmlformats-officedocument.drawingml.diagramColors+xml"/>
  <Override PartName="/ppt/diagrams/drawing203.xml" ContentType="application/vnd.ms-office.drawingml.diagramDrawing+xml"/>
  <Override PartName="/ppt/diagrams/data204.xml" ContentType="application/vnd.openxmlformats-officedocument.drawingml.diagramData+xml"/>
  <Override PartName="/ppt/diagrams/layout204.xml" ContentType="application/vnd.openxmlformats-officedocument.drawingml.diagramLayout+xml"/>
  <Override PartName="/ppt/diagrams/quickStyle204.xml" ContentType="application/vnd.openxmlformats-officedocument.drawingml.diagramStyle+xml"/>
  <Override PartName="/ppt/diagrams/colors204.xml" ContentType="application/vnd.openxmlformats-officedocument.drawingml.diagramColors+xml"/>
  <Override PartName="/ppt/diagrams/drawing204.xml" ContentType="application/vnd.ms-office.drawingml.diagramDrawing+xml"/>
  <Override PartName="/ppt/diagrams/data205.xml" ContentType="application/vnd.openxmlformats-officedocument.drawingml.diagramData+xml"/>
  <Override PartName="/ppt/diagrams/layout205.xml" ContentType="application/vnd.openxmlformats-officedocument.drawingml.diagramLayout+xml"/>
  <Override PartName="/ppt/diagrams/quickStyle205.xml" ContentType="application/vnd.openxmlformats-officedocument.drawingml.diagramStyle+xml"/>
  <Override PartName="/ppt/diagrams/colors205.xml" ContentType="application/vnd.openxmlformats-officedocument.drawingml.diagramColors+xml"/>
  <Override PartName="/ppt/diagrams/drawing205.xml" ContentType="application/vnd.ms-office.drawingml.diagramDrawing+xml"/>
  <Override PartName="/ppt/diagrams/data206.xml" ContentType="application/vnd.openxmlformats-officedocument.drawingml.diagramData+xml"/>
  <Override PartName="/ppt/diagrams/layout206.xml" ContentType="application/vnd.openxmlformats-officedocument.drawingml.diagramLayout+xml"/>
  <Override PartName="/ppt/diagrams/quickStyle206.xml" ContentType="application/vnd.openxmlformats-officedocument.drawingml.diagramStyle+xml"/>
  <Override PartName="/ppt/diagrams/colors206.xml" ContentType="application/vnd.openxmlformats-officedocument.drawingml.diagramColors+xml"/>
  <Override PartName="/ppt/diagrams/drawing206.xml" ContentType="application/vnd.ms-office.drawingml.diagramDrawing+xml"/>
  <Override PartName="/ppt/diagrams/data207.xml" ContentType="application/vnd.openxmlformats-officedocument.drawingml.diagramData+xml"/>
  <Override PartName="/ppt/diagrams/layout207.xml" ContentType="application/vnd.openxmlformats-officedocument.drawingml.diagramLayout+xml"/>
  <Override PartName="/ppt/diagrams/quickStyle207.xml" ContentType="application/vnd.openxmlformats-officedocument.drawingml.diagramStyle+xml"/>
  <Override PartName="/ppt/diagrams/colors207.xml" ContentType="application/vnd.openxmlformats-officedocument.drawingml.diagramColors+xml"/>
  <Override PartName="/ppt/diagrams/drawing207.xml" ContentType="application/vnd.ms-office.drawingml.diagramDrawing+xml"/>
  <Override PartName="/ppt/diagrams/data208.xml" ContentType="application/vnd.openxmlformats-officedocument.drawingml.diagramData+xml"/>
  <Override PartName="/ppt/diagrams/layout208.xml" ContentType="application/vnd.openxmlformats-officedocument.drawingml.diagramLayout+xml"/>
  <Override PartName="/ppt/diagrams/quickStyle208.xml" ContentType="application/vnd.openxmlformats-officedocument.drawingml.diagramStyle+xml"/>
  <Override PartName="/ppt/diagrams/colors208.xml" ContentType="application/vnd.openxmlformats-officedocument.drawingml.diagramColors+xml"/>
  <Override PartName="/ppt/diagrams/drawing208.xml" ContentType="application/vnd.ms-office.drawingml.diagramDrawing+xml"/>
  <Override PartName="/ppt/diagrams/data209.xml" ContentType="application/vnd.openxmlformats-officedocument.drawingml.diagramData+xml"/>
  <Override PartName="/ppt/diagrams/layout209.xml" ContentType="application/vnd.openxmlformats-officedocument.drawingml.diagramLayout+xml"/>
  <Override PartName="/ppt/diagrams/quickStyle209.xml" ContentType="application/vnd.openxmlformats-officedocument.drawingml.diagramStyle+xml"/>
  <Override PartName="/ppt/diagrams/colors209.xml" ContentType="application/vnd.openxmlformats-officedocument.drawingml.diagramColors+xml"/>
  <Override PartName="/ppt/diagrams/drawing209.xml" ContentType="application/vnd.ms-office.drawingml.diagramDrawing+xml"/>
  <Override PartName="/ppt/diagrams/data210.xml" ContentType="application/vnd.openxmlformats-officedocument.drawingml.diagramData+xml"/>
  <Override PartName="/ppt/diagrams/layout210.xml" ContentType="application/vnd.openxmlformats-officedocument.drawingml.diagramLayout+xml"/>
  <Override PartName="/ppt/diagrams/quickStyle210.xml" ContentType="application/vnd.openxmlformats-officedocument.drawingml.diagramStyle+xml"/>
  <Override PartName="/ppt/diagrams/colors210.xml" ContentType="application/vnd.openxmlformats-officedocument.drawingml.diagramColors+xml"/>
  <Override PartName="/ppt/diagrams/drawing210.xml" ContentType="application/vnd.ms-office.drawingml.diagramDrawing+xml"/>
  <Override PartName="/ppt/diagrams/data211.xml" ContentType="application/vnd.openxmlformats-officedocument.drawingml.diagramData+xml"/>
  <Override PartName="/ppt/diagrams/layout211.xml" ContentType="application/vnd.openxmlformats-officedocument.drawingml.diagramLayout+xml"/>
  <Override PartName="/ppt/diagrams/quickStyle211.xml" ContentType="application/vnd.openxmlformats-officedocument.drawingml.diagramStyle+xml"/>
  <Override PartName="/ppt/diagrams/colors211.xml" ContentType="application/vnd.openxmlformats-officedocument.drawingml.diagramColors+xml"/>
  <Override PartName="/ppt/diagrams/drawing211.xml" ContentType="application/vnd.ms-office.drawingml.diagramDrawing+xml"/>
  <Override PartName="/ppt/diagrams/data212.xml" ContentType="application/vnd.openxmlformats-officedocument.drawingml.diagramData+xml"/>
  <Override PartName="/ppt/diagrams/layout212.xml" ContentType="application/vnd.openxmlformats-officedocument.drawingml.diagramLayout+xml"/>
  <Override PartName="/ppt/diagrams/quickStyle212.xml" ContentType="application/vnd.openxmlformats-officedocument.drawingml.diagramStyle+xml"/>
  <Override PartName="/ppt/diagrams/colors212.xml" ContentType="application/vnd.openxmlformats-officedocument.drawingml.diagramColors+xml"/>
  <Override PartName="/ppt/diagrams/drawing212.xml" ContentType="application/vnd.ms-office.drawingml.diagramDrawing+xml"/>
  <Override PartName="/ppt/diagrams/data213.xml" ContentType="application/vnd.openxmlformats-officedocument.drawingml.diagramData+xml"/>
  <Override PartName="/ppt/diagrams/layout213.xml" ContentType="application/vnd.openxmlformats-officedocument.drawingml.diagramLayout+xml"/>
  <Override PartName="/ppt/diagrams/quickStyle213.xml" ContentType="application/vnd.openxmlformats-officedocument.drawingml.diagramStyle+xml"/>
  <Override PartName="/ppt/diagrams/colors213.xml" ContentType="application/vnd.openxmlformats-officedocument.drawingml.diagramColors+xml"/>
  <Override PartName="/ppt/diagrams/drawing213.xml" ContentType="application/vnd.ms-office.drawingml.diagramDrawing+xml"/>
  <Override PartName="/ppt/diagrams/data214.xml" ContentType="application/vnd.openxmlformats-officedocument.drawingml.diagramData+xml"/>
  <Override PartName="/ppt/diagrams/layout214.xml" ContentType="application/vnd.openxmlformats-officedocument.drawingml.diagramLayout+xml"/>
  <Override PartName="/ppt/diagrams/quickStyle214.xml" ContentType="application/vnd.openxmlformats-officedocument.drawingml.diagramStyle+xml"/>
  <Override PartName="/ppt/diagrams/colors214.xml" ContentType="application/vnd.openxmlformats-officedocument.drawingml.diagramColors+xml"/>
  <Override PartName="/ppt/diagrams/drawing214.xml" ContentType="application/vnd.ms-office.drawingml.diagramDrawing+xml"/>
  <Override PartName="/ppt/diagrams/data215.xml" ContentType="application/vnd.openxmlformats-officedocument.drawingml.diagramData+xml"/>
  <Override PartName="/ppt/diagrams/layout215.xml" ContentType="application/vnd.openxmlformats-officedocument.drawingml.diagramLayout+xml"/>
  <Override PartName="/ppt/diagrams/quickStyle215.xml" ContentType="application/vnd.openxmlformats-officedocument.drawingml.diagramStyle+xml"/>
  <Override PartName="/ppt/diagrams/colors215.xml" ContentType="application/vnd.openxmlformats-officedocument.drawingml.diagramColors+xml"/>
  <Override PartName="/ppt/diagrams/drawing215.xml" ContentType="application/vnd.ms-office.drawingml.diagramDrawing+xml"/>
  <Override PartName="/ppt/diagrams/data216.xml" ContentType="application/vnd.openxmlformats-officedocument.drawingml.diagramData+xml"/>
  <Override PartName="/ppt/diagrams/layout216.xml" ContentType="application/vnd.openxmlformats-officedocument.drawingml.diagramLayout+xml"/>
  <Override PartName="/ppt/diagrams/quickStyle216.xml" ContentType="application/vnd.openxmlformats-officedocument.drawingml.diagramStyle+xml"/>
  <Override PartName="/ppt/diagrams/colors216.xml" ContentType="application/vnd.openxmlformats-officedocument.drawingml.diagramColors+xml"/>
  <Override PartName="/ppt/diagrams/drawing216.xml" ContentType="application/vnd.ms-office.drawingml.diagramDrawing+xml"/>
  <Override PartName="/ppt/diagrams/data217.xml" ContentType="application/vnd.openxmlformats-officedocument.drawingml.diagramData+xml"/>
  <Override PartName="/ppt/diagrams/layout217.xml" ContentType="application/vnd.openxmlformats-officedocument.drawingml.diagramLayout+xml"/>
  <Override PartName="/ppt/diagrams/quickStyle217.xml" ContentType="application/vnd.openxmlformats-officedocument.drawingml.diagramStyle+xml"/>
  <Override PartName="/ppt/diagrams/colors217.xml" ContentType="application/vnd.openxmlformats-officedocument.drawingml.diagramColors+xml"/>
  <Override PartName="/ppt/diagrams/drawing217.xml" ContentType="application/vnd.ms-office.drawingml.diagramDrawing+xml"/>
  <Override PartName="/ppt/diagrams/data218.xml" ContentType="application/vnd.openxmlformats-officedocument.drawingml.diagramData+xml"/>
  <Override PartName="/ppt/diagrams/layout218.xml" ContentType="application/vnd.openxmlformats-officedocument.drawingml.diagramLayout+xml"/>
  <Override PartName="/ppt/diagrams/quickStyle218.xml" ContentType="application/vnd.openxmlformats-officedocument.drawingml.diagramStyle+xml"/>
  <Override PartName="/ppt/diagrams/colors218.xml" ContentType="application/vnd.openxmlformats-officedocument.drawingml.diagramColors+xml"/>
  <Override PartName="/ppt/diagrams/drawing218.xml" ContentType="application/vnd.ms-office.drawingml.diagramDrawing+xml"/>
  <Override PartName="/ppt/diagrams/data219.xml" ContentType="application/vnd.openxmlformats-officedocument.drawingml.diagramData+xml"/>
  <Override PartName="/ppt/diagrams/layout219.xml" ContentType="application/vnd.openxmlformats-officedocument.drawingml.diagramLayout+xml"/>
  <Override PartName="/ppt/diagrams/quickStyle219.xml" ContentType="application/vnd.openxmlformats-officedocument.drawingml.diagramStyle+xml"/>
  <Override PartName="/ppt/diagrams/colors219.xml" ContentType="application/vnd.openxmlformats-officedocument.drawingml.diagramColors+xml"/>
  <Override PartName="/ppt/diagrams/drawing219.xml" ContentType="application/vnd.ms-office.drawingml.diagramDrawing+xml"/>
  <Override PartName="/ppt/diagrams/data220.xml" ContentType="application/vnd.openxmlformats-officedocument.drawingml.diagramData+xml"/>
  <Override PartName="/ppt/diagrams/layout220.xml" ContentType="application/vnd.openxmlformats-officedocument.drawingml.diagramLayout+xml"/>
  <Override PartName="/ppt/diagrams/quickStyle220.xml" ContentType="application/vnd.openxmlformats-officedocument.drawingml.diagramStyle+xml"/>
  <Override PartName="/ppt/diagrams/colors220.xml" ContentType="application/vnd.openxmlformats-officedocument.drawingml.diagramColors+xml"/>
  <Override PartName="/ppt/diagrams/drawing220.xml" ContentType="application/vnd.ms-office.drawingml.diagramDrawing+xml"/>
  <Override PartName="/ppt/diagrams/data221.xml" ContentType="application/vnd.openxmlformats-officedocument.drawingml.diagramData+xml"/>
  <Override PartName="/ppt/diagrams/layout221.xml" ContentType="application/vnd.openxmlformats-officedocument.drawingml.diagramLayout+xml"/>
  <Override PartName="/ppt/diagrams/quickStyle221.xml" ContentType="application/vnd.openxmlformats-officedocument.drawingml.diagramStyle+xml"/>
  <Override PartName="/ppt/diagrams/colors221.xml" ContentType="application/vnd.openxmlformats-officedocument.drawingml.diagramColors+xml"/>
  <Override PartName="/ppt/diagrams/drawing221.xml" ContentType="application/vnd.ms-office.drawingml.diagramDrawing+xml"/>
  <Override PartName="/ppt/diagrams/data222.xml" ContentType="application/vnd.openxmlformats-officedocument.drawingml.diagramData+xml"/>
  <Override PartName="/ppt/diagrams/layout222.xml" ContentType="application/vnd.openxmlformats-officedocument.drawingml.diagramLayout+xml"/>
  <Override PartName="/ppt/diagrams/quickStyle222.xml" ContentType="application/vnd.openxmlformats-officedocument.drawingml.diagramStyle+xml"/>
  <Override PartName="/ppt/diagrams/colors222.xml" ContentType="application/vnd.openxmlformats-officedocument.drawingml.diagramColors+xml"/>
  <Override PartName="/ppt/diagrams/drawing222.xml" ContentType="application/vnd.ms-office.drawingml.diagramDrawing+xml"/>
  <Override PartName="/ppt/diagrams/data223.xml" ContentType="application/vnd.openxmlformats-officedocument.drawingml.diagramData+xml"/>
  <Override PartName="/ppt/diagrams/layout223.xml" ContentType="application/vnd.openxmlformats-officedocument.drawingml.diagramLayout+xml"/>
  <Override PartName="/ppt/diagrams/quickStyle223.xml" ContentType="application/vnd.openxmlformats-officedocument.drawingml.diagramStyle+xml"/>
  <Override PartName="/ppt/diagrams/colors223.xml" ContentType="application/vnd.openxmlformats-officedocument.drawingml.diagramColors+xml"/>
  <Override PartName="/ppt/diagrams/drawing223.xml" ContentType="application/vnd.ms-office.drawingml.diagramDrawing+xml"/>
  <Override PartName="/ppt/diagrams/data224.xml" ContentType="application/vnd.openxmlformats-officedocument.drawingml.diagramData+xml"/>
  <Override PartName="/ppt/diagrams/layout224.xml" ContentType="application/vnd.openxmlformats-officedocument.drawingml.diagramLayout+xml"/>
  <Override PartName="/ppt/diagrams/quickStyle224.xml" ContentType="application/vnd.openxmlformats-officedocument.drawingml.diagramStyle+xml"/>
  <Override PartName="/ppt/diagrams/colors224.xml" ContentType="application/vnd.openxmlformats-officedocument.drawingml.diagramColors+xml"/>
  <Override PartName="/ppt/diagrams/drawing224.xml" ContentType="application/vnd.ms-office.drawingml.diagramDrawing+xml"/>
  <Override PartName="/ppt/diagrams/data225.xml" ContentType="application/vnd.openxmlformats-officedocument.drawingml.diagramData+xml"/>
  <Override PartName="/ppt/diagrams/layout225.xml" ContentType="application/vnd.openxmlformats-officedocument.drawingml.diagramLayout+xml"/>
  <Override PartName="/ppt/diagrams/quickStyle225.xml" ContentType="application/vnd.openxmlformats-officedocument.drawingml.diagramStyle+xml"/>
  <Override PartName="/ppt/diagrams/colors225.xml" ContentType="application/vnd.openxmlformats-officedocument.drawingml.diagramColors+xml"/>
  <Override PartName="/ppt/diagrams/drawing225.xml" ContentType="application/vnd.ms-office.drawingml.diagramDrawing+xml"/>
  <Override PartName="/ppt/diagrams/data226.xml" ContentType="application/vnd.openxmlformats-officedocument.drawingml.diagramData+xml"/>
  <Override PartName="/ppt/diagrams/layout226.xml" ContentType="application/vnd.openxmlformats-officedocument.drawingml.diagramLayout+xml"/>
  <Override PartName="/ppt/diagrams/quickStyle226.xml" ContentType="application/vnd.openxmlformats-officedocument.drawingml.diagramStyle+xml"/>
  <Override PartName="/ppt/diagrams/colors226.xml" ContentType="application/vnd.openxmlformats-officedocument.drawingml.diagramColors+xml"/>
  <Override PartName="/ppt/diagrams/drawing226.xml" ContentType="application/vnd.ms-office.drawingml.diagramDrawing+xml"/>
  <Override PartName="/ppt/diagrams/data227.xml" ContentType="application/vnd.openxmlformats-officedocument.drawingml.diagramData+xml"/>
  <Override PartName="/ppt/diagrams/layout227.xml" ContentType="application/vnd.openxmlformats-officedocument.drawingml.diagramLayout+xml"/>
  <Override PartName="/ppt/diagrams/quickStyle227.xml" ContentType="application/vnd.openxmlformats-officedocument.drawingml.diagramStyle+xml"/>
  <Override PartName="/ppt/diagrams/colors227.xml" ContentType="application/vnd.openxmlformats-officedocument.drawingml.diagramColors+xml"/>
  <Override PartName="/ppt/diagrams/drawing227.xml" ContentType="application/vnd.ms-office.drawingml.diagramDrawing+xml"/>
  <Override PartName="/ppt/diagrams/data228.xml" ContentType="application/vnd.openxmlformats-officedocument.drawingml.diagramData+xml"/>
  <Override PartName="/ppt/diagrams/layout228.xml" ContentType="application/vnd.openxmlformats-officedocument.drawingml.diagramLayout+xml"/>
  <Override PartName="/ppt/diagrams/quickStyle228.xml" ContentType="application/vnd.openxmlformats-officedocument.drawingml.diagramStyle+xml"/>
  <Override PartName="/ppt/diagrams/colors228.xml" ContentType="application/vnd.openxmlformats-officedocument.drawingml.diagramColors+xml"/>
  <Override PartName="/ppt/diagrams/drawing228.xml" ContentType="application/vnd.ms-office.drawingml.diagramDrawing+xml"/>
  <Override PartName="/ppt/diagrams/data229.xml" ContentType="application/vnd.openxmlformats-officedocument.drawingml.diagramData+xml"/>
  <Override PartName="/ppt/diagrams/layout229.xml" ContentType="application/vnd.openxmlformats-officedocument.drawingml.diagramLayout+xml"/>
  <Override PartName="/ppt/diagrams/quickStyle229.xml" ContentType="application/vnd.openxmlformats-officedocument.drawingml.diagramStyle+xml"/>
  <Override PartName="/ppt/diagrams/colors229.xml" ContentType="application/vnd.openxmlformats-officedocument.drawingml.diagramColors+xml"/>
  <Override PartName="/ppt/diagrams/drawing229.xml" ContentType="application/vnd.ms-office.drawingml.diagramDrawing+xml"/>
  <Override PartName="/ppt/diagrams/data230.xml" ContentType="application/vnd.openxmlformats-officedocument.drawingml.diagramData+xml"/>
  <Override PartName="/ppt/diagrams/layout230.xml" ContentType="application/vnd.openxmlformats-officedocument.drawingml.diagramLayout+xml"/>
  <Override PartName="/ppt/diagrams/quickStyle230.xml" ContentType="application/vnd.openxmlformats-officedocument.drawingml.diagramStyle+xml"/>
  <Override PartName="/ppt/diagrams/colors230.xml" ContentType="application/vnd.openxmlformats-officedocument.drawingml.diagramColors+xml"/>
  <Override PartName="/ppt/diagrams/drawing230.xml" ContentType="application/vnd.ms-office.drawingml.diagramDrawing+xml"/>
  <Override PartName="/ppt/diagrams/data231.xml" ContentType="application/vnd.openxmlformats-officedocument.drawingml.diagramData+xml"/>
  <Override PartName="/ppt/diagrams/layout231.xml" ContentType="application/vnd.openxmlformats-officedocument.drawingml.diagramLayout+xml"/>
  <Override PartName="/ppt/diagrams/quickStyle231.xml" ContentType="application/vnd.openxmlformats-officedocument.drawingml.diagramStyle+xml"/>
  <Override PartName="/ppt/diagrams/colors231.xml" ContentType="application/vnd.openxmlformats-officedocument.drawingml.diagramColors+xml"/>
  <Override PartName="/ppt/diagrams/drawing231.xml" ContentType="application/vnd.ms-office.drawingml.diagramDrawing+xml"/>
  <Override PartName="/ppt/diagrams/data232.xml" ContentType="application/vnd.openxmlformats-officedocument.drawingml.diagramData+xml"/>
  <Override PartName="/ppt/diagrams/layout232.xml" ContentType="application/vnd.openxmlformats-officedocument.drawingml.diagramLayout+xml"/>
  <Override PartName="/ppt/diagrams/quickStyle232.xml" ContentType="application/vnd.openxmlformats-officedocument.drawingml.diagramStyle+xml"/>
  <Override PartName="/ppt/diagrams/colors232.xml" ContentType="application/vnd.openxmlformats-officedocument.drawingml.diagramColors+xml"/>
  <Override PartName="/ppt/diagrams/drawing232.xml" ContentType="application/vnd.ms-office.drawingml.diagramDrawing+xml"/>
  <Override PartName="/ppt/diagrams/data233.xml" ContentType="application/vnd.openxmlformats-officedocument.drawingml.diagramData+xml"/>
  <Override PartName="/ppt/diagrams/layout233.xml" ContentType="application/vnd.openxmlformats-officedocument.drawingml.diagramLayout+xml"/>
  <Override PartName="/ppt/diagrams/quickStyle233.xml" ContentType="application/vnd.openxmlformats-officedocument.drawingml.diagramStyle+xml"/>
  <Override PartName="/ppt/diagrams/colors233.xml" ContentType="application/vnd.openxmlformats-officedocument.drawingml.diagramColors+xml"/>
  <Override PartName="/ppt/diagrams/drawing233.xml" ContentType="application/vnd.ms-office.drawingml.diagramDrawing+xml"/>
  <Override PartName="/ppt/diagrams/data234.xml" ContentType="application/vnd.openxmlformats-officedocument.drawingml.diagramData+xml"/>
  <Override PartName="/ppt/diagrams/layout234.xml" ContentType="application/vnd.openxmlformats-officedocument.drawingml.diagramLayout+xml"/>
  <Override PartName="/ppt/diagrams/quickStyle234.xml" ContentType="application/vnd.openxmlformats-officedocument.drawingml.diagramStyle+xml"/>
  <Override PartName="/ppt/diagrams/colors234.xml" ContentType="application/vnd.openxmlformats-officedocument.drawingml.diagramColors+xml"/>
  <Override PartName="/ppt/diagrams/drawing234.xml" ContentType="application/vnd.ms-office.drawingml.diagramDrawing+xml"/>
  <Override PartName="/ppt/diagrams/data235.xml" ContentType="application/vnd.openxmlformats-officedocument.drawingml.diagramData+xml"/>
  <Override PartName="/ppt/diagrams/layout235.xml" ContentType="application/vnd.openxmlformats-officedocument.drawingml.diagramLayout+xml"/>
  <Override PartName="/ppt/diagrams/quickStyle235.xml" ContentType="application/vnd.openxmlformats-officedocument.drawingml.diagramStyle+xml"/>
  <Override PartName="/ppt/diagrams/colors235.xml" ContentType="application/vnd.openxmlformats-officedocument.drawingml.diagramColors+xml"/>
  <Override PartName="/ppt/diagrams/drawing235.xml" ContentType="application/vnd.ms-office.drawingml.diagramDrawing+xml"/>
  <Override PartName="/ppt/diagrams/data236.xml" ContentType="application/vnd.openxmlformats-officedocument.drawingml.diagramData+xml"/>
  <Override PartName="/ppt/diagrams/layout236.xml" ContentType="application/vnd.openxmlformats-officedocument.drawingml.diagramLayout+xml"/>
  <Override PartName="/ppt/diagrams/quickStyle236.xml" ContentType="application/vnd.openxmlformats-officedocument.drawingml.diagramStyle+xml"/>
  <Override PartName="/ppt/diagrams/colors236.xml" ContentType="application/vnd.openxmlformats-officedocument.drawingml.diagramColors+xml"/>
  <Override PartName="/ppt/diagrams/drawing236.xml" ContentType="application/vnd.ms-office.drawingml.diagramDrawing+xml"/>
  <Override PartName="/ppt/diagrams/data237.xml" ContentType="application/vnd.openxmlformats-officedocument.drawingml.diagramData+xml"/>
  <Override PartName="/ppt/diagrams/layout237.xml" ContentType="application/vnd.openxmlformats-officedocument.drawingml.diagramLayout+xml"/>
  <Override PartName="/ppt/diagrams/quickStyle237.xml" ContentType="application/vnd.openxmlformats-officedocument.drawingml.diagramStyle+xml"/>
  <Override PartName="/ppt/diagrams/colors237.xml" ContentType="application/vnd.openxmlformats-officedocument.drawingml.diagramColors+xml"/>
  <Override PartName="/ppt/diagrams/drawing237.xml" ContentType="application/vnd.ms-office.drawingml.diagramDrawing+xml"/>
  <Override PartName="/ppt/diagrams/data238.xml" ContentType="application/vnd.openxmlformats-officedocument.drawingml.diagramData+xml"/>
  <Override PartName="/ppt/diagrams/layout238.xml" ContentType="application/vnd.openxmlformats-officedocument.drawingml.diagramLayout+xml"/>
  <Override PartName="/ppt/diagrams/quickStyle238.xml" ContentType="application/vnd.openxmlformats-officedocument.drawingml.diagramStyle+xml"/>
  <Override PartName="/ppt/diagrams/colors238.xml" ContentType="application/vnd.openxmlformats-officedocument.drawingml.diagramColors+xml"/>
  <Override PartName="/ppt/diagrams/drawing238.xml" ContentType="application/vnd.ms-office.drawingml.diagramDrawing+xml"/>
  <Override PartName="/ppt/diagrams/data239.xml" ContentType="application/vnd.openxmlformats-officedocument.drawingml.diagramData+xml"/>
  <Override PartName="/ppt/diagrams/layout239.xml" ContentType="application/vnd.openxmlformats-officedocument.drawingml.diagramLayout+xml"/>
  <Override PartName="/ppt/diagrams/quickStyle239.xml" ContentType="application/vnd.openxmlformats-officedocument.drawingml.diagramStyle+xml"/>
  <Override PartName="/ppt/diagrams/colors239.xml" ContentType="application/vnd.openxmlformats-officedocument.drawingml.diagramColors+xml"/>
  <Override PartName="/ppt/diagrams/drawing239.xml" ContentType="application/vnd.ms-office.drawingml.diagramDrawing+xml"/>
  <Override PartName="/ppt/diagrams/data240.xml" ContentType="application/vnd.openxmlformats-officedocument.drawingml.diagramData+xml"/>
  <Override PartName="/ppt/diagrams/layout240.xml" ContentType="application/vnd.openxmlformats-officedocument.drawingml.diagramLayout+xml"/>
  <Override PartName="/ppt/diagrams/quickStyle240.xml" ContentType="application/vnd.openxmlformats-officedocument.drawingml.diagramStyle+xml"/>
  <Override PartName="/ppt/diagrams/colors240.xml" ContentType="application/vnd.openxmlformats-officedocument.drawingml.diagramColors+xml"/>
  <Override PartName="/ppt/diagrams/drawing240.xml" ContentType="application/vnd.ms-office.drawingml.diagramDrawing+xml"/>
  <Override PartName="/ppt/diagrams/data241.xml" ContentType="application/vnd.openxmlformats-officedocument.drawingml.diagramData+xml"/>
  <Override PartName="/ppt/diagrams/layout241.xml" ContentType="application/vnd.openxmlformats-officedocument.drawingml.diagramLayout+xml"/>
  <Override PartName="/ppt/diagrams/quickStyle241.xml" ContentType="application/vnd.openxmlformats-officedocument.drawingml.diagramStyle+xml"/>
  <Override PartName="/ppt/diagrams/colors241.xml" ContentType="application/vnd.openxmlformats-officedocument.drawingml.diagramColors+xml"/>
  <Override PartName="/ppt/diagrams/drawing241.xml" ContentType="application/vnd.ms-office.drawingml.diagramDrawing+xml"/>
  <Override PartName="/ppt/diagrams/data242.xml" ContentType="application/vnd.openxmlformats-officedocument.drawingml.diagramData+xml"/>
  <Override PartName="/ppt/diagrams/layout242.xml" ContentType="application/vnd.openxmlformats-officedocument.drawingml.diagramLayout+xml"/>
  <Override PartName="/ppt/diagrams/quickStyle242.xml" ContentType="application/vnd.openxmlformats-officedocument.drawingml.diagramStyle+xml"/>
  <Override PartName="/ppt/diagrams/colors242.xml" ContentType="application/vnd.openxmlformats-officedocument.drawingml.diagramColors+xml"/>
  <Override PartName="/ppt/diagrams/drawing242.xml" ContentType="application/vnd.ms-office.drawingml.diagramDrawing+xml"/>
  <Override PartName="/ppt/diagrams/data243.xml" ContentType="application/vnd.openxmlformats-officedocument.drawingml.diagramData+xml"/>
  <Override PartName="/ppt/diagrams/layout243.xml" ContentType="application/vnd.openxmlformats-officedocument.drawingml.diagramLayout+xml"/>
  <Override PartName="/ppt/diagrams/quickStyle243.xml" ContentType="application/vnd.openxmlformats-officedocument.drawingml.diagramStyle+xml"/>
  <Override PartName="/ppt/diagrams/colors243.xml" ContentType="application/vnd.openxmlformats-officedocument.drawingml.diagramColors+xml"/>
  <Override PartName="/ppt/diagrams/drawing243.xml" ContentType="application/vnd.ms-office.drawingml.diagramDrawing+xml"/>
  <Override PartName="/ppt/diagrams/data244.xml" ContentType="application/vnd.openxmlformats-officedocument.drawingml.diagramData+xml"/>
  <Override PartName="/ppt/diagrams/layout244.xml" ContentType="application/vnd.openxmlformats-officedocument.drawingml.diagramLayout+xml"/>
  <Override PartName="/ppt/diagrams/quickStyle244.xml" ContentType="application/vnd.openxmlformats-officedocument.drawingml.diagramStyle+xml"/>
  <Override PartName="/ppt/diagrams/colors244.xml" ContentType="application/vnd.openxmlformats-officedocument.drawingml.diagramColors+xml"/>
  <Override PartName="/ppt/diagrams/drawing244.xml" ContentType="application/vnd.ms-office.drawingml.diagramDrawing+xml"/>
  <Override PartName="/ppt/diagrams/data245.xml" ContentType="application/vnd.openxmlformats-officedocument.drawingml.diagramData+xml"/>
  <Override PartName="/ppt/diagrams/layout245.xml" ContentType="application/vnd.openxmlformats-officedocument.drawingml.diagramLayout+xml"/>
  <Override PartName="/ppt/diagrams/quickStyle245.xml" ContentType="application/vnd.openxmlformats-officedocument.drawingml.diagramStyle+xml"/>
  <Override PartName="/ppt/diagrams/colors245.xml" ContentType="application/vnd.openxmlformats-officedocument.drawingml.diagramColors+xml"/>
  <Override PartName="/ppt/diagrams/drawing245.xml" ContentType="application/vnd.ms-office.drawingml.diagramDrawing+xml"/>
  <Override PartName="/ppt/diagrams/data246.xml" ContentType="application/vnd.openxmlformats-officedocument.drawingml.diagramData+xml"/>
  <Override PartName="/ppt/diagrams/layout246.xml" ContentType="application/vnd.openxmlformats-officedocument.drawingml.diagramLayout+xml"/>
  <Override PartName="/ppt/diagrams/quickStyle246.xml" ContentType="application/vnd.openxmlformats-officedocument.drawingml.diagramStyle+xml"/>
  <Override PartName="/ppt/diagrams/colors246.xml" ContentType="application/vnd.openxmlformats-officedocument.drawingml.diagramColors+xml"/>
  <Override PartName="/ppt/diagrams/drawing246.xml" ContentType="application/vnd.ms-office.drawingml.diagramDrawing+xml"/>
  <Override PartName="/ppt/diagrams/data247.xml" ContentType="application/vnd.openxmlformats-officedocument.drawingml.diagramData+xml"/>
  <Override PartName="/ppt/diagrams/layout247.xml" ContentType="application/vnd.openxmlformats-officedocument.drawingml.diagramLayout+xml"/>
  <Override PartName="/ppt/diagrams/quickStyle247.xml" ContentType="application/vnd.openxmlformats-officedocument.drawingml.diagramStyle+xml"/>
  <Override PartName="/ppt/diagrams/colors247.xml" ContentType="application/vnd.openxmlformats-officedocument.drawingml.diagramColors+xml"/>
  <Override PartName="/ppt/diagrams/drawing247.xml" ContentType="application/vnd.ms-office.drawingml.diagramDrawing+xml"/>
  <Override PartName="/ppt/diagrams/data248.xml" ContentType="application/vnd.openxmlformats-officedocument.drawingml.diagramData+xml"/>
  <Override PartName="/ppt/diagrams/layout248.xml" ContentType="application/vnd.openxmlformats-officedocument.drawingml.diagramLayout+xml"/>
  <Override PartName="/ppt/diagrams/quickStyle248.xml" ContentType="application/vnd.openxmlformats-officedocument.drawingml.diagramStyle+xml"/>
  <Override PartName="/ppt/diagrams/colors248.xml" ContentType="application/vnd.openxmlformats-officedocument.drawingml.diagramColors+xml"/>
  <Override PartName="/ppt/diagrams/drawing248.xml" ContentType="application/vnd.ms-office.drawingml.diagramDrawing+xml"/>
  <Override PartName="/ppt/diagrams/data249.xml" ContentType="application/vnd.openxmlformats-officedocument.drawingml.diagramData+xml"/>
  <Override PartName="/ppt/diagrams/layout249.xml" ContentType="application/vnd.openxmlformats-officedocument.drawingml.diagramLayout+xml"/>
  <Override PartName="/ppt/diagrams/quickStyle249.xml" ContentType="application/vnd.openxmlformats-officedocument.drawingml.diagramStyle+xml"/>
  <Override PartName="/ppt/diagrams/colors249.xml" ContentType="application/vnd.openxmlformats-officedocument.drawingml.diagramColors+xml"/>
  <Override PartName="/ppt/diagrams/drawing249.xml" ContentType="application/vnd.ms-office.drawingml.diagramDrawing+xml"/>
  <Override PartName="/ppt/diagrams/data250.xml" ContentType="application/vnd.openxmlformats-officedocument.drawingml.diagramData+xml"/>
  <Override PartName="/ppt/diagrams/layout250.xml" ContentType="application/vnd.openxmlformats-officedocument.drawingml.diagramLayout+xml"/>
  <Override PartName="/ppt/diagrams/quickStyle250.xml" ContentType="application/vnd.openxmlformats-officedocument.drawingml.diagramStyle+xml"/>
  <Override PartName="/ppt/diagrams/colors250.xml" ContentType="application/vnd.openxmlformats-officedocument.drawingml.diagramColors+xml"/>
  <Override PartName="/ppt/diagrams/drawing250.xml" ContentType="application/vnd.ms-office.drawingml.diagramDrawing+xml"/>
  <Override PartName="/ppt/diagrams/data251.xml" ContentType="application/vnd.openxmlformats-officedocument.drawingml.diagramData+xml"/>
  <Override PartName="/ppt/diagrams/layout251.xml" ContentType="application/vnd.openxmlformats-officedocument.drawingml.diagramLayout+xml"/>
  <Override PartName="/ppt/diagrams/quickStyle251.xml" ContentType="application/vnd.openxmlformats-officedocument.drawingml.diagramStyle+xml"/>
  <Override PartName="/ppt/diagrams/colors251.xml" ContentType="application/vnd.openxmlformats-officedocument.drawingml.diagramColors+xml"/>
  <Override PartName="/ppt/diagrams/drawing251.xml" ContentType="application/vnd.ms-office.drawingml.diagramDrawing+xml"/>
  <Override PartName="/ppt/diagrams/data252.xml" ContentType="application/vnd.openxmlformats-officedocument.drawingml.diagramData+xml"/>
  <Override PartName="/ppt/diagrams/layout252.xml" ContentType="application/vnd.openxmlformats-officedocument.drawingml.diagramLayout+xml"/>
  <Override PartName="/ppt/diagrams/quickStyle252.xml" ContentType="application/vnd.openxmlformats-officedocument.drawingml.diagramStyle+xml"/>
  <Override PartName="/ppt/diagrams/colors252.xml" ContentType="application/vnd.openxmlformats-officedocument.drawingml.diagramColors+xml"/>
  <Override PartName="/ppt/diagrams/drawing252.xml" ContentType="application/vnd.ms-office.drawingml.diagramDrawing+xml"/>
  <Override PartName="/ppt/diagrams/data253.xml" ContentType="application/vnd.openxmlformats-officedocument.drawingml.diagramData+xml"/>
  <Override PartName="/ppt/diagrams/layout253.xml" ContentType="application/vnd.openxmlformats-officedocument.drawingml.diagramLayout+xml"/>
  <Override PartName="/ppt/diagrams/quickStyle253.xml" ContentType="application/vnd.openxmlformats-officedocument.drawingml.diagramStyle+xml"/>
  <Override PartName="/ppt/diagrams/colors253.xml" ContentType="application/vnd.openxmlformats-officedocument.drawingml.diagramColors+xml"/>
  <Override PartName="/ppt/diagrams/drawing253.xml" ContentType="application/vnd.ms-office.drawingml.diagramDrawing+xml"/>
  <Override PartName="/ppt/diagrams/data254.xml" ContentType="application/vnd.openxmlformats-officedocument.drawingml.diagramData+xml"/>
  <Override PartName="/ppt/diagrams/layout254.xml" ContentType="application/vnd.openxmlformats-officedocument.drawingml.diagramLayout+xml"/>
  <Override PartName="/ppt/diagrams/quickStyle254.xml" ContentType="application/vnd.openxmlformats-officedocument.drawingml.diagramStyle+xml"/>
  <Override PartName="/ppt/diagrams/colors254.xml" ContentType="application/vnd.openxmlformats-officedocument.drawingml.diagramColors+xml"/>
  <Override PartName="/ppt/diagrams/drawing254.xml" ContentType="application/vnd.ms-office.drawingml.diagramDrawing+xml"/>
  <Override PartName="/ppt/diagrams/data255.xml" ContentType="application/vnd.openxmlformats-officedocument.drawingml.diagramData+xml"/>
  <Override PartName="/ppt/diagrams/layout255.xml" ContentType="application/vnd.openxmlformats-officedocument.drawingml.diagramLayout+xml"/>
  <Override PartName="/ppt/diagrams/quickStyle255.xml" ContentType="application/vnd.openxmlformats-officedocument.drawingml.diagramStyle+xml"/>
  <Override PartName="/ppt/diagrams/colors255.xml" ContentType="application/vnd.openxmlformats-officedocument.drawingml.diagramColors+xml"/>
  <Override PartName="/ppt/diagrams/drawing255.xml" ContentType="application/vnd.ms-office.drawingml.diagramDrawing+xml"/>
  <Override PartName="/ppt/diagrams/data256.xml" ContentType="application/vnd.openxmlformats-officedocument.drawingml.diagramData+xml"/>
  <Override PartName="/ppt/diagrams/layout256.xml" ContentType="application/vnd.openxmlformats-officedocument.drawingml.diagramLayout+xml"/>
  <Override PartName="/ppt/diagrams/quickStyle256.xml" ContentType="application/vnd.openxmlformats-officedocument.drawingml.diagramStyle+xml"/>
  <Override PartName="/ppt/diagrams/colors256.xml" ContentType="application/vnd.openxmlformats-officedocument.drawingml.diagramColors+xml"/>
  <Override PartName="/ppt/diagrams/drawing256.xml" ContentType="application/vnd.ms-office.drawingml.diagramDrawing+xml"/>
  <Override PartName="/ppt/diagrams/data257.xml" ContentType="application/vnd.openxmlformats-officedocument.drawingml.diagramData+xml"/>
  <Override PartName="/ppt/diagrams/layout257.xml" ContentType="application/vnd.openxmlformats-officedocument.drawingml.diagramLayout+xml"/>
  <Override PartName="/ppt/diagrams/quickStyle257.xml" ContentType="application/vnd.openxmlformats-officedocument.drawingml.diagramStyle+xml"/>
  <Override PartName="/ppt/diagrams/colors257.xml" ContentType="application/vnd.openxmlformats-officedocument.drawingml.diagramColors+xml"/>
  <Override PartName="/ppt/diagrams/drawing257.xml" ContentType="application/vnd.ms-office.drawingml.diagramDrawing+xml"/>
  <Override PartName="/ppt/diagrams/data258.xml" ContentType="application/vnd.openxmlformats-officedocument.drawingml.diagramData+xml"/>
  <Override PartName="/ppt/diagrams/layout258.xml" ContentType="application/vnd.openxmlformats-officedocument.drawingml.diagramLayout+xml"/>
  <Override PartName="/ppt/diagrams/quickStyle258.xml" ContentType="application/vnd.openxmlformats-officedocument.drawingml.diagramStyle+xml"/>
  <Override PartName="/ppt/diagrams/colors258.xml" ContentType="application/vnd.openxmlformats-officedocument.drawingml.diagramColors+xml"/>
  <Override PartName="/ppt/diagrams/drawing258.xml" ContentType="application/vnd.ms-office.drawingml.diagramDrawing+xml"/>
  <Override PartName="/ppt/diagrams/data259.xml" ContentType="application/vnd.openxmlformats-officedocument.drawingml.diagramData+xml"/>
  <Override PartName="/ppt/diagrams/layout259.xml" ContentType="application/vnd.openxmlformats-officedocument.drawingml.diagramLayout+xml"/>
  <Override PartName="/ppt/diagrams/quickStyle259.xml" ContentType="application/vnd.openxmlformats-officedocument.drawingml.diagramStyle+xml"/>
  <Override PartName="/ppt/diagrams/colors259.xml" ContentType="application/vnd.openxmlformats-officedocument.drawingml.diagramColors+xml"/>
  <Override PartName="/ppt/diagrams/drawing259.xml" ContentType="application/vnd.ms-office.drawingml.diagramDrawing+xml"/>
  <Override PartName="/ppt/diagrams/data260.xml" ContentType="application/vnd.openxmlformats-officedocument.drawingml.diagramData+xml"/>
  <Override PartName="/ppt/diagrams/layout260.xml" ContentType="application/vnd.openxmlformats-officedocument.drawingml.diagramLayout+xml"/>
  <Override PartName="/ppt/diagrams/quickStyle260.xml" ContentType="application/vnd.openxmlformats-officedocument.drawingml.diagramStyle+xml"/>
  <Override PartName="/ppt/diagrams/colors260.xml" ContentType="application/vnd.openxmlformats-officedocument.drawingml.diagramColors+xml"/>
  <Override PartName="/ppt/diagrams/drawing260.xml" ContentType="application/vnd.ms-office.drawingml.diagramDrawing+xml"/>
  <Override PartName="/ppt/diagrams/data261.xml" ContentType="application/vnd.openxmlformats-officedocument.drawingml.diagramData+xml"/>
  <Override PartName="/ppt/diagrams/layout261.xml" ContentType="application/vnd.openxmlformats-officedocument.drawingml.diagramLayout+xml"/>
  <Override PartName="/ppt/diagrams/quickStyle261.xml" ContentType="application/vnd.openxmlformats-officedocument.drawingml.diagramStyle+xml"/>
  <Override PartName="/ppt/diagrams/colors261.xml" ContentType="application/vnd.openxmlformats-officedocument.drawingml.diagramColors+xml"/>
  <Override PartName="/ppt/diagrams/drawing261.xml" ContentType="application/vnd.ms-office.drawingml.diagramDrawing+xml"/>
  <Override PartName="/ppt/diagrams/data262.xml" ContentType="application/vnd.openxmlformats-officedocument.drawingml.diagramData+xml"/>
  <Override PartName="/ppt/diagrams/layout262.xml" ContentType="application/vnd.openxmlformats-officedocument.drawingml.diagramLayout+xml"/>
  <Override PartName="/ppt/diagrams/quickStyle262.xml" ContentType="application/vnd.openxmlformats-officedocument.drawingml.diagramStyle+xml"/>
  <Override PartName="/ppt/diagrams/colors262.xml" ContentType="application/vnd.openxmlformats-officedocument.drawingml.diagramColors+xml"/>
  <Override PartName="/ppt/diagrams/drawing262.xml" ContentType="application/vnd.ms-office.drawingml.diagramDrawing+xml"/>
  <Override PartName="/ppt/diagrams/data263.xml" ContentType="application/vnd.openxmlformats-officedocument.drawingml.diagramData+xml"/>
  <Override PartName="/ppt/diagrams/layout263.xml" ContentType="application/vnd.openxmlformats-officedocument.drawingml.diagramLayout+xml"/>
  <Override PartName="/ppt/diagrams/quickStyle263.xml" ContentType="application/vnd.openxmlformats-officedocument.drawingml.diagramStyle+xml"/>
  <Override PartName="/ppt/diagrams/colors263.xml" ContentType="application/vnd.openxmlformats-officedocument.drawingml.diagramColors+xml"/>
  <Override PartName="/ppt/diagrams/drawing263.xml" ContentType="application/vnd.ms-office.drawingml.diagramDrawing+xml"/>
  <Override PartName="/ppt/diagrams/data264.xml" ContentType="application/vnd.openxmlformats-officedocument.drawingml.diagramData+xml"/>
  <Override PartName="/ppt/diagrams/layout264.xml" ContentType="application/vnd.openxmlformats-officedocument.drawingml.diagramLayout+xml"/>
  <Override PartName="/ppt/diagrams/quickStyle264.xml" ContentType="application/vnd.openxmlformats-officedocument.drawingml.diagramStyle+xml"/>
  <Override PartName="/ppt/diagrams/colors264.xml" ContentType="application/vnd.openxmlformats-officedocument.drawingml.diagramColors+xml"/>
  <Override PartName="/ppt/diagrams/drawing264.xml" ContentType="application/vnd.ms-office.drawingml.diagramDrawing+xml"/>
  <Override PartName="/ppt/diagrams/data265.xml" ContentType="application/vnd.openxmlformats-officedocument.drawingml.diagramData+xml"/>
  <Override PartName="/ppt/diagrams/layout265.xml" ContentType="application/vnd.openxmlformats-officedocument.drawingml.diagramLayout+xml"/>
  <Override PartName="/ppt/diagrams/quickStyle265.xml" ContentType="application/vnd.openxmlformats-officedocument.drawingml.diagramStyle+xml"/>
  <Override PartName="/ppt/diagrams/colors265.xml" ContentType="application/vnd.openxmlformats-officedocument.drawingml.diagramColors+xml"/>
  <Override PartName="/ppt/diagrams/drawing265.xml" ContentType="application/vnd.ms-office.drawingml.diagramDrawing+xml"/>
  <Override PartName="/ppt/diagrams/data266.xml" ContentType="application/vnd.openxmlformats-officedocument.drawingml.diagramData+xml"/>
  <Override PartName="/ppt/diagrams/layout266.xml" ContentType="application/vnd.openxmlformats-officedocument.drawingml.diagramLayout+xml"/>
  <Override PartName="/ppt/diagrams/quickStyle266.xml" ContentType="application/vnd.openxmlformats-officedocument.drawingml.diagramStyle+xml"/>
  <Override PartName="/ppt/diagrams/colors266.xml" ContentType="application/vnd.openxmlformats-officedocument.drawingml.diagramColors+xml"/>
  <Override PartName="/ppt/diagrams/drawing266.xml" ContentType="application/vnd.ms-office.drawingml.diagramDrawing+xml"/>
  <Override PartName="/ppt/diagrams/data267.xml" ContentType="application/vnd.openxmlformats-officedocument.drawingml.diagramData+xml"/>
  <Override PartName="/ppt/diagrams/layout267.xml" ContentType="application/vnd.openxmlformats-officedocument.drawingml.diagramLayout+xml"/>
  <Override PartName="/ppt/diagrams/quickStyle267.xml" ContentType="application/vnd.openxmlformats-officedocument.drawingml.diagramStyle+xml"/>
  <Override PartName="/ppt/diagrams/colors267.xml" ContentType="application/vnd.openxmlformats-officedocument.drawingml.diagramColors+xml"/>
  <Override PartName="/ppt/diagrams/drawing267.xml" ContentType="application/vnd.ms-office.drawingml.diagramDrawing+xml"/>
  <Override PartName="/ppt/diagrams/data268.xml" ContentType="application/vnd.openxmlformats-officedocument.drawingml.diagramData+xml"/>
  <Override PartName="/ppt/diagrams/layout268.xml" ContentType="application/vnd.openxmlformats-officedocument.drawingml.diagramLayout+xml"/>
  <Override PartName="/ppt/diagrams/quickStyle268.xml" ContentType="application/vnd.openxmlformats-officedocument.drawingml.diagramStyle+xml"/>
  <Override PartName="/ppt/diagrams/colors268.xml" ContentType="application/vnd.openxmlformats-officedocument.drawingml.diagramColors+xml"/>
  <Override PartName="/ppt/diagrams/drawing268.xml" ContentType="application/vnd.ms-office.drawingml.diagramDrawing+xml"/>
  <Override PartName="/ppt/diagrams/data269.xml" ContentType="application/vnd.openxmlformats-officedocument.drawingml.diagramData+xml"/>
  <Override PartName="/ppt/diagrams/layout269.xml" ContentType="application/vnd.openxmlformats-officedocument.drawingml.diagramLayout+xml"/>
  <Override PartName="/ppt/diagrams/quickStyle269.xml" ContentType="application/vnd.openxmlformats-officedocument.drawingml.diagramStyle+xml"/>
  <Override PartName="/ppt/diagrams/colors269.xml" ContentType="application/vnd.openxmlformats-officedocument.drawingml.diagramColors+xml"/>
  <Override PartName="/ppt/diagrams/drawing269.xml" ContentType="application/vnd.ms-office.drawingml.diagramDrawing+xml"/>
  <Override PartName="/ppt/diagrams/data270.xml" ContentType="application/vnd.openxmlformats-officedocument.drawingml.diagramData+xml"/>
  <Override PartName="/ppt/diagrams/layout270.xml" ContentType="application/vnd.openxmlformats-officedocument.drawingml.diagramLayout+xml"/>
  <Override PartName="/ppt/diagrams/quickStyle270.xml" ContentType="application/vnd.openxmlformats-officedocument.drawingml.diagramStyle+xml"/>
  <Override PartName="/ppt/diagrams/colors270.xml" ContentType="application/vnd.openxmlformats-officedocument.drawingml.diagramColors+xml"/>
  <Override PartName="/ppt/diagrams/drawing270.xml" ContentType="application/vnd.ms-office.drawingml.diagramDrawing+xml"/>
  <Override PartName="/ppt/diagrams/data271.xml" ContentType="application/vnd.openxmlformats-officedocument.drawingml.diagramData+xml"/>
  <Override PartName="/ppt/diagrams/layout271.xml" ContentType="application/vnd.openxmlformats-officedocument.drawingml.diagramLayout+xml"/>
  <Override PartName="/ppt/diagrams/quickStyle271.xml" ContentType="application/vnd.openxmlformats-officedocument.drawingml.diagramStyle+xml"/>
  <Override PartName="/ppt/diagrams/colors271.xml" ContentType="application/vnd.openxmlformats-officedocument.drawingml.diagramColors+xml"/>
  <Override PartName="/ppt/diagrams/drawing271.xml" ContentType="application/vnd.ms-office.drawingml.diagramDrawing+xml"/>
  <Override PartName="/ppt/diagrams/data272.xml" ContentType="application/vnd.openxmlformats-officedocument.drawingml.diagramData+xml"/>
  <Override PartName="/ppt/diagrams/layout272.xml" ContentType="application/vnd.openxmlformats-officedocument.drawingml.diagramLayout+xml"/>
  <Override PartName="/ppt/diagrams/quickStyle272.xml" ContentType="application/vnd.openxmlformats-officedocument.drawingml.diagramStyle+xml"/>
  <Override PartName="/ppt/diagrams/colors272.xml" ContentType="application/vnd.openxmlformats-officedocument.drawingml.diagramColors+xml"/>
  <Override PartName="/ppt/diagrams/drawing272.xml" ContentType="application/vnd.ms-office.drawingml.diagramDrawing+xml"/>
  <Override PartName="/ppt/diagrams/data273.xml" ContentType="application/vnd.openxmlformats-officedocument.drawingml.diagramData+xml"/>
  <Override PartName="/ppt/diagrams/layout273.xml" ContentType="application/vnd.openxmlformats-officedocument.drawingml.diagramLayout+xml"/>
  <Override PartName="/ppt/diagrams/quickStyle273.xml" ContentType="application/vnd.openxmlformats-officedocument.drawingml.diagramStyle+xml"/>
  <Override PartName="/ppt/diagrams/colors273.xml" ContentType="application/vnd.openxmlformats-officedocument.drawingml.diagramColors+xml"/>
  <Override PartName="/ppt/diagrams/drawing273.xml" ContentType="application/vnd.ms-office.drawingml.diagramDrawing+xml"/>
  <Override PartName="/ppt/diagrams/data274.xml" ContentType="application/vnd.openxmlformats-officedocument.drawingml.diagramData+xml"/>
  <Override PartName="/ppt/diagrams/layout274.xml" ContentType="application/vnd.openxmlformats-officedocument.drawingml.diagramLayout+xml"/>
  <Override PartName="/ppt/diagrams/quickStyle274.xml" ContentType="application/vnd.openxmlformats-officedocument.drawingml.diagramStyle+xml"/>
  <Override PartName="/ppt/diagrams/colors274.xml" ContentType="application/vnd.openxmlformats-officedocument.drawingml.diagramColors+xml"/>
  <Override PartName="/ppt/diagrams/drawing274.xml" ContentType="application/vnd.ms-office.drawingml.diagramDrawing+xml"/>
  <Override PartName="/ppt/diagrams/data275.xml" ContentType="application/vnd.openxmlformats-officedocument.drawingml.diagramData+xml"/>
  <Override PartName="/ppt/diagrams/layout275.xml" ContentType="application/vnd.openxmlformats-officedocument.drawingml.diagramLayout+xml"/>
  <Override PartName="/ppt/diagrams/quickStyle275.xml" ContentType="application/vnd.openxmlformats-officedocument.drawingml.diagramStyle+xml"/>
  <Override PartName="/ppt/diagrams/colors275.xml" ContentType="application/vnd.openxmlformats-officedocument.drawingml.diagramColors+xml"/>
  <Override PartName="/ppt/diagrams/drawing275.xml" ContentType="application/vnd.ms-office.drawingml.diagramDrawing+xml"/>
  <Override PartName="/ppt/diagrams/data276.xml" ContentType="application/vnd.openxmlformats-officedocument.drawingml.diagramData+xml"/>
  <Override PartName="/ppt/diagrams/layout276.xml" ContentType="application/vnd.openxmlformats-officedocument.drawingml.diagramLayout+xml"/>
  <Override PartName="/ppt/diagrams/quickStyle276.xml" ContentType="application/vnd.openxmlformats-officedocument.drawingml.diagramStyle+xml"/>
  <Override PartName="/ppt/diagrams/colors276.xml" ContentType="application/vnd.openxmlformats-officedocument.drawingml.diagramColors+xml"/>
  <Override PartName="/ppt/diagrams/drawing276.xml" ContentType="application/vnd.ms-office.drawingml.diagramDrawing+xml"/>
  <Override PartName="/ppt/diagrams/data277.xml" ContentType="application/vnd.openxmlformats-officedocument.drawingml.diagramData+xml"/>
  <Override PartName="/ppt/diagrams/layout277.xml" ContentType="application/vnd.openxmlformats-officedocument.drawingml.diagramLayout+xml"/>
  <Override PartName="/ppt/diagrams/quickStyle277.xml" ContentType="application/vnd.openxmlformats-officedocument.drawingml.diagramStyle+xml"/>
  <Override PartName="/ppt/diagrams/colors277.xml" ContentType="application/vnd.openxmlformats-officedocument.drawingml.diagramColors+xml"/>
  <Override PartName="/ppt/diagrams/drawing277.xml" ContentType="application/vnd.ms-office.drawingml.diagramDrawing+xml"/>
  <Override PartName="/ppt/diagrams/data278.xml" ContentType="application/vnd.openxmlformats-officedocument.drawingml.diagramData+xml"/>
  <Override PartName="/ppt/diagrams/layout278.xml" ContentType="application/vnd.openxmlformats-officedocument.drawingml.diagramLayout+xml"/>
  <Override PartName="/ppt/diagrams/quickStyle278.xml" ContentType="application/vnd.openxmlformats-officedocument.drawingml.diagramStyle+xml"/>
  <Override PartName="/ppt/diagrams/colors278.xml" ContentType="application/vnd.openxmlformats-officedocument.drawingml.diagramColors+xml"/>
  <Override PartName="/ppt/diagrams/drawing278.xml" ContentType="application/vnd.ms-office.drawingml.diagramDrawing+xml"/>
  <Override PartName="/ppt/diagrams/data279.xml" ContentType="application/vnd.openxmlformats-officedocument.drawingml.diagramData+xml"/>
  <Override PartName="/ppt/diagrams/layout279.xml" ContentType="application/vnd.openxmlformats-officedocument.drawingml.diagramLayout+xml"/>
  <Override PartName="/ppt/diagrams/quickStyle279.xml" ContentType="application/vnd.openxmlformats-officedocument.drawingml.diagramStyle+xml"/>
  <Override PartName="/ppt/diagrams/colors279.xml" ContentType="application/vnd.openxmlformats-officedocument.drawingml.diagramColors+xml"/>
  <Override PartName="/ppt/diagrams/drawing279.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6"/>
  </p:notesMasterIdLst>
  <p:sldIdLst>
    <p:sldId id="295" r:id="rId5"/>
    <p:sldId id="297" r:id="rId6"/>
    <p:sldId id="301" r:id="rId7"/>
    <p:sldId id="298" r:id="rId8"/>
    <p:sldId id="308" r:id="rId9"/>
    <p:sldId id="894" r:id="rId10"/>
    <p:sldId id="893" r:id="rId11"/>
    <p:sldId id="763" r:id="rId12"/>
    <p:sldId id="764" r:id="rId13"/>
    <p:sldId id="303" r:id="rId14"/>
    <p:sldId id="296" r:id="rId15"/>
    <p:sldId id="309" r:id="rId16"/>
    <p:sldId id="802" r:id="rId17"/>
    <p:sldId id="1028" r:id="rId18"/>
    <p:sldId id="305" r:id="rId19"/>
    <p:sldId id="901" r:id="rId20"/>
    <p:sldId id="902" r:id="rId21"/>
    <p:sldId id="903" r:id="rId22"/>
    <p:sldId id="918" r:id="rId23"/>
    <p:sldId id="905" r:id="rId24"/>
    <p:sldId id="906" r:id="rId25"/>
    <p:sldId id="917" r:id="rId26"/>
    <p:sldId id="785" r:id="rId27"/>
    <p:sldId id="803" r:id="rId28"/>
    <p:sldId id="804" r:id="rId29"/>
    <p:sldId id="805" r:id="rId30"/>
    <p:sldId id="806" r:id="rId31"/>
    <p:sldId id="812" r:id="rId32"/>
    <p:sldId id="837" r:id="rId33"/>
    <p:sldId id="838" r:id="rId34"/>
    <p:sldId id="920" r:id="rId35"/>
    <p:sldId id="907" r:id="rId36"/>
    <p:sldId id="908" r:id="rId37"/>
    <p:sldId id="839" r:id="rId38"/>
    <p:sldId id="919" r:id="rId39"/>
    <p:sldId id="909" r:id="rId40"/>
    <p:sldId id="910" r:id="rId41"/>
    <p:sldId id="911" r:id="rId42"/>
    <p:sldId id="941" r:id="rId43"/>
    <p:sldId id="947" r:id="rId44"/>
    <p:sldId id="942" r:id="rId45"/>
    <p:sldId id="943" r:id="rId46"/>
    <p:sldId id="944" r:id="rId47"/>
    <p:sldId id="945" r:id="rId48"/>
    <p:sldId id="946" r:id="rId49"/>
    <p:sldId id="846" r:id="rId50"/>
    <p:sldId id="912" r:id="rId51"/>
    <p:sldId id="913" r:id="rId52"/>
    <p:sldId id="914" r:id="rId53"/>
    <p:sldId id="915" r:id="rId54"/>
    <p:sldId id="916" r:id="rId55"/>
    <p:sldId id="892" r:id="rId56"/>
    <p:sldId id="897" r:id="rId57"/>
    <p:sldId id="898" r:id="rId58"/>
    <p:sldId id="899" r:id="rId59"/>
    <p:sldId id="900" r:id="rId60"/>
    <p:sldId id="836" r:id="rId61"/>
    <p:sldId id="299" r:id="rId62"/>
    <p:sldId id="300" r:id="rId63"/>
    <p:sldId id="878" r:id="rId64"/>
    <p:sldId id="744" r:id="rId65"/>
    <p:sldId id="745" r:id="rId66"/>
    <p:sldId id="312" r:id="rId67"/>
    <p:sldId id="747" r:id="rId68"/>
    <p:sldId id="748" r:id="rId69"/>
    <p:sldId id="927" r:id="rId70"/>
    <p:sldId id="922" r:id="rId71"/>
    <p:sldId id="926" r:id="rId72"/>
    <p:sldId id="928" r:id="rId73"/>
    <p:sldId id="929" r:id="rId74"/>
    <p:sldId id="930" r:id="rId75"/>
    <p:sldId id="749" r:id="rId76"/>
    <p:sldId id="931" r:id="rId77"/>
    <p:sldId id="932" r:id="rId78"/>
    <p:sldId id="933" r:id="rId79"/>
    <p:sldId id="935" r:id="rId80"/>
    <p:sldId id="936" r:id="rId81"/>
    <p:sldId id="937" r:id="rId82"/>
    <p:sldId id="938" r:id="rId83"/>
    <p:sldId id="939" r:id="rId84"/>
    <p:sldId id="940" r:id="rId85"/>
    <p:sldId id="746" r:id="rId86"/>
    <p:sldId id="843" r:id="rId87"/>
    <p:sldId id="807" r:id="rId88"/>
    <p:sldId id="809" r:id="rId89"/>
    <p:sldId id="808" r:id="rId90"/>
    <p:sldId id="765" r:id="rId91"/>
    <p:sldId id="842" r:id="rId92"/>
    <p:sldId id="793" r:id="rId93"/>
    <p:sldId id="794" r:id="rId94"/>
    <p:sldId id="795" r:id="rId95"/>
    <p:sldId id="796" r:id="rId96"/>
    <p:sldId id="797" r:id="rId97"/>
    <p:sldId id="798" r:id="rId98"/>
    <p:sldId id="799" r:id="rId99"/>
    <p:sldId id="801" r:id="rId100"/>
    <p:sldId id="800" r:id="rId101"/>
    <p:sldId id="813" r:id="rId102"/>
    <p:sldId id="814" r:id="rId103"/>
    <p:sldId id="829" r:id="rId104"/>
    <p:sldId id="830" r:id="rId105"/>
    <p:sldId id="831" r:id="rId106"/>
    <p:sldId id="832" r:id="rId107"/>
    <p:sldId id="833" r:id="rId108"/>
    <p:sldId id="834" r:id="rId109"/>
    <p:sldId id="304" r:id="rId110"/>
    <p:sldId id="753" r:id="rId111"/>
    <p:sldId id="881" r:id="rId112"/>
    <p:sldId id="847" r:id="rId113"/>
    <p:sldId id="844" r:id="rId114"/>
    <p:sldId id="845" r:id="rId115"/>
    <p:sldId id="849" r:id="rId116"/>
    <p:sldId id="850" r:id="rId117"/>
    <p:sldId id="848" r:id="rId118"/>
    <p:sldId id="861" r:id="rId119"/>
    <p:sldId id="862" r:id="rId120"/>
    <p:sldId id="863" r:id="rId121"/>
    <p:sldId id="866" r:id="rId122"/>
    <p:sldId id="864" r:id="rId123"/>
    <p:sldId id="867" r:id="rId124"/>
    <p:sldId id="871" r:id="rId125"/>
    <p:sldId id="865" r:id="rId126"/>
    <p:sldId id="868" r:id="rId127"/>
    <p:sldId id="869" r:id="rId128"/>
    <p:sldId id="870" r:id="rId129"/>
    <p:sldId id="758" r:id="rId130"/>
    <p:sldId id="761" r:id="rId131"/>
    <p:sldId id="754" r:id="rId132"/>
    <p:sldId id="755" r:id="rId133"/>
    <p:sldId id="851" r:id="rId134"/>
    <p:sldId id="852" r:id="rId135"/>
    <p:sldId id="853" r:id="rId136"/>
    <p:sldId id="854" r:id="rId137"/>
    <p:sldId id="855" r:id="rId138"/>
    <p:sldId id="856" r:id="rId139"/>
    <p:sldId id="756" r:id="rId140"/>
    <p:sldId id="759" r:id="rId141"/>
    <p:sldId id="762" r:id="rId142"/>
    <p:sldId id="760" r:id="rId143"/>
    <p:sldId id="768" r:id="rId144"/>
    <p:sldId id="859" r:id="rId145"/>
    <p:sldId id="860" r:id="rId146"/>
    <p:sldId id="311" r:id="rId147"/>
    <p:sldId id="949" r:id="rId148"/>
    <p:sldId id="954" r:id="rId149"/>
    <p:sldId id="955" r:id="rId150"/>
    <p:sldId id="956" r:id="rId151"/>
    <p:sldId id="950" r:id="rId152"/>
    <p:sldId id="951" r:id="rId153"/>
    <p:sldId id="953" r:id="rId154"/>
    <p:sldId id="957" r:id="rId155"/>
    <p:sldId id="958" r:id="rId156"/>
    <p:sldId id="959" r:id="rId157"/>
    <p:sldId id="960" r:id="rId158"/>
    <p:sldId id="948" r:id="rId159"/>
    <p:sldId id="816" r:id="rId160"/>
    <p:sldId id="817" r:id="rId161"/>
    <p:sldId id="819" r:id="rId162"/>
    <p:sldId id="820" r:id="rId163"/>
    <p:sldId id="821" r:id="rId164"/>
    <p:sldId id="787" r:id="rId165"/>
    <p:sldId id="822" r:id="rId166"/>
    <p:sldId id="823" r:id="rId167"/>
    <p:sldId id="824" r:id="rId168"/>
    <p:sldId id="825" r:id="rId169"/>
    <p:sldId id="840" r:id="rId170"/>
    <p:sldId id="841" r:id="rId171"/>
    <p:sldId id="828" r:id="rId172"/>
    <p:sldId id="772" r:id="rId173"/>
    <p:sldId id="875" r:id="rId174"/>
    <p:sldId id="876" r:id="rId175"/>
    <p:sldId id="877" r:id="rId176"/>
    <p:sldId id="826" r:id="rId177"/>
    <p:sldId id="827" r:id="rId178"/>
    <p:sldId id="778" r:id="rId179"/>
    <p:sldId id="882" r:id="rId180"/>
    <p:sldId id="773" r:id="rId181"/>
    <p:sldId id="879" r:id="rId182"/>
    <p:sldId id="880" r:id="rId183"/>
    <p:sldId id="790" r:id="rId184"/>
    <p:sldId id="766" r:id="rId185"/>
    <p:sldId id="767" r:id="rId186"/>
    <p:sldId id="961" r:id="rId187"/>
    <p:sldId id="962" r:id="rId188"/>
    <p:sldId id="963" r:id="rId189"/>
    <p:sldId id="964" r:id="rId190"/>
    <p:sldId id="770" r:id="rId191"/>
    <p:sldId id="791" r:id="rId192"/>
    <p:sldId id="769" r:id="rId193"/>
    <p:sldId id="771" r:id="rId194"/>
    <p:sldId id="966" r:id="rId195"/>
    <p:sldId id="968" r:id="rId196"/>
    <p:sldId id="970" r:id="rId197"/>
    <p:sldId id="967" r:id="rId198"/>
    <p:sldId id="965" r:id="rId199"/>
    <p:sldId id="971" r:id="rId200"/>
    <p:sldId id="972" r:id="rId201"/>
    <p:sldId id="973" r:id="rId202"/>
    <p:sldId id="974" r:id="rId203"/>
    <p:sldId id="975" r:id="rId204"/>
    <p:sldId id="815" r:id="rId205"/>
    <p:sldId id="976" r:id="rId206"/>
    <p:sldId id="977" r:id="rId207"/>
    <p:sldId id="978" r:id="rId208"/>
    <p:sldId id="979" r:id="rId209"/>
    <p:sldId id="980" r:id="rId210"/>
    <p:sldId id="981" r:id="rId211"/>
    <p:sldId id="890" r:id="rId212"/>
    <p:sldId id="891" r:id="rId213"/>
    <p:sldId id="982" r:id="rId214"/>
    <p:sldId id="983" r:id="rId215"/>
    <p:sldId id="1000" r:id="rId216"/>
    <p:sldId id="1001" r:id="rId217"/>
    <p:sldId id="1002" r:id="rId218"/>
    <p:sldId id="883" r:id="rId219"/>
    <p:sldId id="984" r:id="rId220"/>
    <p:sldId id="986" r:id="rId221"/>
    <p:sldId id="792" r:id="rId222"/>
    <p:sldId id="985" r:id="rId223"/>
    <p:sldId id="987" r:id="rId224"/>
    <p:sldId id="988" r:id="rId225"/>
    <p:sldId id="989" r:id="rId226"/>
    <p:sldId id="990" r:id="rId227"/>
    <p:sldId id="991" r:id="rId228"/>
    <p:sldId id="874" r:id="rId229"/>
    <p:sldId id="775" r:id="rId230"/>
    <p:sldId id="884" r:id="rId231"/>
    <p:sldId id="872" r:id="rId232"/>
    <p:sldId id="784" r:id="rId233"/>
    <p:sldId id="777" r:id="rId234"/>
    <p:sldId id="776" r:id="rId235"/>
    <p:sldId id="993" r:id="rId236"/>
    <p:sldId id="994" r:id="rId237"/>
    <p:sldId id="995" r:id="rId238"/>
    <p:sldId id="996" r:id="rId239"/>
    <p:sldId id="997" r:id="rId240"/>
    <p:sldId id="1004" r:id="rId241"/>
    <p:sldId id="999" r:id="rId242"/>
    <p:sldId id="1005" r:id="rId243"/>
    <p:sldId id="1012" r:id="rId244"/>
    <p:sldId id="1013" r:id="rId245"/>
    <p:sldId id="1014" r:id="rId246"/>
    <p:sldId id="1015" r:id="rId247"/>
    <p:sldId id="1016" r:id="rId248"/>
    <p:sldId id="1017" r:id="rId249"/>
    <p:sldId id="1018" r:id="rId250"/>
    <p:sldId id="1003" r:id="rId251"/>
    <p:sldId id="835" r:id="rId252"/>
    <p:sldId id="788" r:id="rId253"/>
    <p:sldId id="789" r:id="rId254"/>
    <p:sldId id="313" r:id="rId255"/>
    <p:sldId id="779" r:id="rId256"/>
    <p:sldId id="810" r:id="rId257"/>
    <p:sldId id="811" r:id="rId258"/>
    <p:sldId id="857" r:id="rId259"/>
    <p:sldId id="781" r:id="rId260"/>
    <p:sldId id="888" r:id="rId261"/>
    <p:sldId id="780" r:id="rId262"/>
    <p:sldId id="1006" r:id="rId263"/>
    <p:sldId id="1007" r:id="rId264"/>
    <p:sldId id="1008" r:id="rId265"/>
    <p:sldId id="1009" r:id="rId266"/>
    <p:sldId id="1010" r:id="rId267"/>
    <p:sldId id="1011" r:id="rId268"/>
    <p:sldId id="1019" r:id="rId269"/>
    <p:sldId id="889" r:id="rId270"/>
    <p:sldId id="886" r:id="rId271"/>
    <p:sldId id="1024" r:id="rId272"/>
    <p:sldId id="1020" r:id="rId273"/>
    <p:sldId id="1021" r:id="rId274"/>
    <p:sldId id="1022" r:id="rId275"/>
    <p:sldId id="1023" r:id="rId276"/>
    <p:sldId id="1027" r:id="rId277"/>
    <p:sldId id="1025" r:id="rId278"/>
    <p:sldId id="1026" r:id="rId279"/>
    <p:sldId id="887" r:id="rId280"/>
    <p:sldId id="783" r:id="rId281"/>
    <p:sldId id="302" r:id="rId282"/>
    <p:sldId id="858" r:id="rId283"/>
    <p:sldId id="782" r:id="rId284"/>
    <p:sldId id="294" r:id="rId285"/>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D9B5"/>
    <a:srgbClr val="CC9900"/>
    <a:srgbClr val="FF5050"/>
    <a:srgbClr val="1E1A20"/>
    <a:srgbClr val="D322F2"/>
    <a:srgbClr val="727272"/>
    <a:srgbClr val="DFF7F1"/>
    <a:srgbClr val="F1EAFF"/>
    <a:srgbClr val="64597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57" autoAdjust="0"/>
    <p:restoredTop sz="93979" autoAdjust="0"/>
  </p:normalViewPr>
  <p:slideViewPr>
    <p:cSldViewPr>
      <p:cViewPr varScale="1">
        <p:scale>
          <a:sx n="73" d="100"/>
          <a:sy n="73" d="100"/>
        </p:scale>
        <p:origin x="964" y="36"/>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theme" Target="theme/theme1.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269" Type="http://schemas.openxmlformats.org/officeDocument/2006/relationships/slide" Target="slides/slide265.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280" Type="http://schemas.openxmlformats.org/officeDocument/2006/relationships/slide" Target="slides/slide276.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291" Type="http://schemas.openxmlformats.org/officeDocument/2006/relationships/tableStyles" Target="tableStyles.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slide" Target="slides/slide277.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92" Type="http://schemas.microsoft.com/office/2016/11/relationships/changesInfo" Target="changesInfos/changesInfo1.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283" Type="http://schemas.openxmlformats.org/officeDocument/2006/relationships/slide" Target="slides/slide279.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notesMaster" Target="notesMasters/notesMaster1.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commentAuthors" Target="commentAuthors.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presProps" Target="presProps.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viewProps" Target="viewProps.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171" Type="http://schemas.openxmlformats.org/officeDocument/2006/relationships/slide" Target="slides/slide167.xml"/><Relationship Id="rId227" Type="http://schemas.openxmlformats.org/officeDocument/2006/relationships/slide" Target="slides/slide2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AI, ML, DL &amp; Related Topics</a:t>
          </a:r>
        </a:p>
        <a:p>
          <a:r>
            <a:rPr lang="en-US" b="1" i="0" dirty="0"/>
            <a:t>(Refresher)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Data Pipeline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5980" custLinFactNeighborX="408" custLinFactNeighborY="-89">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Knowledge Representation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Data Analytics Types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Deterministic vs Probabilistic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Deterministic vs Probabilistic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Deterministic vs Probabilistic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AI, ML, DL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AI, ML, DL – When and Why to Use And Not to Use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Types &amp; Algorithms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Predictive Analytics Intro Example &amp; y = f(x)</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Supervised vs Unsupervised vs </a:t>
          </a:r>
          <a:r>
            <a:rPr lang="en-US" dirty="0" err="1"/>
            <a:t>Semisupervised</a:t>
          </a:r>
          <a:r>
            <a:rPr lang="en-US" dirty="0"/>
            <a:t> vs </a:t>
          </a:r>
          <a:r>
            <a:rPr lang="en-US" dirty="0" err="1"/>
            <a:t>Selfsupervised</a:t>
          </a:r>
          <a:r>
            <a:rPr lang="en-US" dirty="0"/>
            <a:t> vs 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SemiSupervised</a:t>
          </a:r>
          <a:r>
            <a:rPr lang="en-US" dirty="0"/>
            <a:t> vs </a:t>
          </a:r>
          <a:r>
            <a:rPr lang="en-US" dirty="0" err="1"/>
            <a:t>SelfSupervised</a:t>
          </a:r>
          <a:r>
            <a:rPr lang="en-US" dirty="0"/>
            <a: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High Level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High Level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665" custLinFactNeighborY="-14400">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665" custLinFactNeighborY="-14400">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91" custLinFactNeighborY="-35668">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650" custLinFactNeighborY="-23300">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665" custLinFactNeighborY="-14400">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336" custLinFactNeighborY="-54181">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 A Bit more in Detail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Maths</a:t>
          </a:r>
          <a:r>
            <a:rPr lang="en-US" dirty="0"/>
            <a:t> for AI, ML, DL </a:t>
          </a:r>
          <a:r>
            <a:rPr lang="en-US" dirty="0" err="1"/>
            <a:t>etc</a:t>
          </a:r>
          <a:r>
            <a:rPr lang="en-US" dirty="0"/>
            <a:t> Resources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EDA(Exploratory Data Analysis) And Feature Engineering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EDA(Exploratory Data Analysis) And Feature Engineering Resources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Sampling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Imbalanced Data</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Modelling Workflow (Steps)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Design of Experiments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Factors Influencing Model Size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Reducing Model Size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Model Performance Improvement Methods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Business Metrics For Model Evaluation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Statistical Tests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Techniques Taxonomy</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 Techniques Taxonomy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Algos(Regression Algorithms)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Algos(Classification Algorithms)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Algos(Classification Algorithms)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Algos(Clustering Algorithms)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Algos(Clustering Algorithms) </a:t>
          </a:r>
          <a:r>
            <a:rPr lang="en-US" dirty="0" err="1"/>
            <a:t>contd</a:t>
          </a:r>
          <a:r>
            <a:rPr lang="en-US" dirty="0"/>
            <a:t>… </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Algos(Dimensionality Reduction Algorithms)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Algos(Dimensionality Reduction Algorithms)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Algos(Non Linear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Algos(Non Linear Models)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Algos(Decision Trees for Non Linear Regression and Classification)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Algos(Decision Trees for Non Linear Regression and Classification)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650" custLinFactNeighborY="-3400">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Algos(Kernel Methods for Non Linear Regression and Classification)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Algos(Kernel Methods for Non Linear Regression and Classification)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650" custLinFactNeighborY="-208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Algos(Decision Trees vs Kernel Methods for </a:t>
          </a:r>
          <a:r>
            <a:rPr lang="en-US" dirty="0" err="1"/>
            <a:t>NonLinear</a:t>
          </a:r>
          <a:r>
            <a:rPr lang="en-US" dirty="0"/>
            <a:t> Regression and Classification)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6193">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ML Algos(Decision Trees vs Kernel Methods for </a:t>
          </a:r>
          <a:r>
            <a:rPr lang="en-US" dirty="0" err="1"/>
            <a:t>NonLinear</a:t>
          </a:r>
          <a:r>
            <a:rPr lang="en-US" dirty="0"/>
            <a:t> Regression and Classification)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Ensemble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Forward and Backward Propagation in (Deep) Neural Networks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Forward and Backward Propagation in (Deep) Neural Networks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Neural Networks Evolution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Relationship between (Deep) Neural Networks and Kernel Methods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Relationship between (Deep) Neural Networks and Kernel Methods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ScaleY="132117"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Mathematical Operations Representations using Neural Networks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ScaleY="132117"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Mathematical Operations representations using Neural Networks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ScaleY="132117"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Overfitting in Heavily </a:t>
          </a:r>
          <a:r>
            <a:rPr lang="en-US" dirty="0" err="1"/>
            <a:t>OverParameterized</a:t>
          </a:r>
          <a:r>
            <a:rPr lang="en-US" dirty="0"/>
            <a:t> Neural Networks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ScaleY="132117"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 Image &amp; Sound</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 Image &amp; Sound</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Text(Bag of Words)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Text(Problems with Bag of Words)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Text(TF-IDF)</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Text(Problems with TF-IDF)</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 for Text(N-Gram)</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Learning(Embeddings)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Learning(Raw Data to Embeddings Conversion)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Learning(Raw Data to Embeddings Conversion)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Representation Learning(Semantic Composition of Embeddings)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Embeddings and Vector DBs for Enterprise/Web Search</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Rankings in Embeddings Based Search</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Deep Learning Architectures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CNN Architecture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Invariance in Computer Vision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Invariance in Computer Vision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handle invariance in Image Recognition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handle invariance in Image Recognition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How CNN handles Vision Invariance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How CNN handles Vision Invariance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RNN Architecture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Self Attention, Cross Attention &amp; </a:t>
          </a:r>
          <a:r>
            <a:rPr lang="en-US" dirty="0" err="1"/>
            <a:t>Multihead</a:t>
          </a:r>
          <a:r>
            <a:rPr lang="en-US" dirty="0"/>
            <a:t> Attention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Contextual &amp; Positional Encoding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Transformer Architecture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Graph ML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Applications and Further Resources Related to Graph ML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Applications and Further Resources Related to Graph ML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RL(Reinforcement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Econometrics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Econometrics Models </a:t>
          </a:r>
          <a:r>
            <a:rPr lang="en-US" dirty="0" err="1"/>
            <a:t>contd</a:t>
          </a:r>
          <a:r>
            <a:rPr lang="en-US" dirty="0"/>
            <a:t> …</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When to use which Econometrics Model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When to use which Econometrics Model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When to use which Econometrics Model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Time Series Problems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Panel/Longitudinal Data Problems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Logit/Probit Problems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Simultaneous Transfer Function Problems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Vector </a:t>
          </a:r>
          <a:r>
            <a:rPr lang="en-US" dirty="0" err="1"/>
            <a:t>AutoRegression</a:t>
          </a:r>
          <a:r>
            <a:rPr lang="en-US" dirty="0"/>
            <a:t> Problems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Stochastic Econometrics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Stochastic Econometrics Models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Resources For (Or Related to) Random Processes/Estimation Theory /Econometrics Applications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Resources For (Or Related to) Random Processes/Estimation Theory/Econometrics Applications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Spatio</a:t>
          </a:r>
          <a:r>
            <a:rPr lang="en-US" dirty="0"/>
            <a:t> Temporal Data</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Spatio</a:t>
          </a:r>
          <a:r>
            <a:rPr lang="en-US" dirty="0"/>
            <a:t> Temporal Data</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Spatio</a:t>
          </a:r>
          <a:r>
            <a:rPr lang="en-US" dirty="0"/>
            <a:t> Temporal Data</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a:t>
          </a:r>
          <a:r>
            <a:rPr lang="en-US" dirty="0" err="1"/>
            <a:t>Spatio</a:t>
          </a:r>
          <a:r>
            <a:rPr lang="en-US" dirty="0"/>
            <a:t> Temporal Prediction Problems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Techniques to Solve </a:t>
          </a:r>
          <a:r>
            <a:rPr lang="en-US" dirty="0" err="1"/>
            <a:t>Spatio</a:t>
          </a:r>
          <a:r>
            <a:rPr lang="en-US" dirty="0"/>
            <a:t> Temporal Prediction Problems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Streaming, Incremental &amp; Online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Streaming, Incremental &amp; Online Learning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Causal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Causal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Causal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RecSys</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vs Modern NLP</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NLP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NLP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NLP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NLP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NLP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Applications and Further Resources related to NLP</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Classical vs Modern Computer Vision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Computer Vision Workflow</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Applications and Further Resources Related to Computer Vision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Language Modelling using Embeddings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Language Modelling using Embeddings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Language Modelling using Embeddings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Language Modelling using Embeddings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LLM(Large Language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LLM(Large Language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LLM(Large Language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LLM(Large Language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LLM(Large Language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LLM(Large Language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Encoding Strategies in LLMs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Decoding Strategies in LLMs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Decoding Strategies in LLMs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Training, Fine Tuning And Alignment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Training, Fine Tuning And Alignment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Training, Fine Tuning And Alignment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Training, Fine Tuning And Alignment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Training, Fine Tuning And Alignment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 Resources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GenAI Models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RAG</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LLMs and GenAI Resources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NeuroSymbolic</a:t>
          </a:r>
          <a:r>
            <a:rPr lang="en-US" dirty="0"/>
            <a:t>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Agents)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Agentic AI(Internet of AI </a:t>
          </a:r>
          <a:r>
            <a:rPr lang="en-US"/>
            <a:t>Agents)</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NeuroMorphic</a:t>
          </a:r>
          <a:r>
            <a:rPr lang="en-US" dirty="0"/>
            <a:t>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NeuroMorphic</a:t>
          </a:r>
          <a:r>
            <a:rPr lang="en-US" dirty="0"/>
            <a:t> AI (Related) Resources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AutoML</a:t>
          </a:r>
          <a:r>
            <a:rPr lang="en-US" dirty="0"/>
            <a:t>(Search for Best ML/DL Architecture)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ML-Engineering/</a:t>
          </a:r>
          <a:r>
            <a:rPr lang="en-US" dirty="0" err="1"/>
            <a:t>MLOps</a:t>
          </a:r>
          <a:r>
            <a:rPr lang="en-US" dirty="0"/>
            <a:t>/</a:t>
          </a:r>
          <a:r>
            <a:rPr lang="en-US" dirty="0" err="1"/>
            <a:t>LLMOps</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Instance Types &amp; how they effect performance</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Instance Types &amp; how they effect performance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Why GPUs/TPUs needed for Deep Neural Networks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Distributed ML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Distributed ML</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84" custLinFactNeighborY="-57206">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35" custLinFactNeighborY="-43153">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Responsible AI</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solidFill>
                <a:prstClr val="white"/>
              </a:solidFill>
              <a:latin typeface="Calibri"/>
              <a:ea typeface="+mn-ea"/>
              <a:cs typeface="+mn-cs"/>
            </a:rPr>
            <a:t>Experiment Driven Development</a:t>
          </a:r>
          <a:endParaRPr lang="en-US" dirty="0"/>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X="189" custLinFactNeighborY="-11669">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err="1"/>
            <a:t>DataScience</a:t>
          </a:r>
          <a:r>
            <a:rPr lang="en-US" dirty="0"/>
            <a:t>/AI/ML/DL Related Projects, Certifications &amp; Interview Resources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Further Resources for Exploration</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Further Resources for Exploration </a:t>
          </a:r>
          <a:r>
            <a:rPr lang="en-US" dirty="0" err="1"/>
            <a:t>contd</a:t>
          </a:r>
          <a:r>
            <a:rPr lang="en-US" dirty="0"/>
            <a:t>…</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BC392476-1869-4F60-9F23-0AEC736B7B18}">
      <dgm:prSet/>
      <dgm:spPr/>
      <dgm:t>
        <a:bodyPr/>
        <a:lstStyle/>
        <a:p>
          <a:r>
            <a:rPr lang="en-US" dirty="0"/>
            <a:t>Some Other Good To Know References</a:t>
          </a:r>
        </a:p>
      </dgm:t>
    </dgm:pt>
    <dgm:pt modelId="{B3E52F63-C7B1-44FB-BD67-41A9196DAE73}" type="parTrans" cxnId="{9064577D-080A-48A5-BAF9-BA07AE40FB0A}">
      <dgm:prSet/>
      <dgm:spPr/>
      <dgm:t>
        <a:bodyPr/>
        <a:lstStyle/>
        <a:p>
          <a:endParaRPr lang="en-IN"/>
        </a:p>
      </dgm:t>
    </dgm:pt>
    <dgm:pt modelId="{14E4671B-B413-4AF1-A092-7C10042055B7}" type="sibTrans" cxnId="{9064577D-080A-48A5-BAF9-BA07AE40FB0A}">
      <dgm:prSet/>
      <dgm:spPr/>
      <dgm:t>
        <a:bodyPr/>
        <a:lstStyle/>
        <a:p>
          <a:endParaRPr lang="en-IN"/>
        </a:p>
      </dgm:t>
    </dgm:pt>
    <dgm:pt modelId="{372D3855-33CE-4AA6-B521-95368CEBF303}" type="pres">
      <dgm:prSet presAssocID="{3D18ECC6-4C07-4ED0-B457-A8875E161891}" presName="linear" presStyleCnt="0">
        <dgm:presLayoutVars>
          <dgm:animLvl val="lvl"/>
          <dgm:resizeHandles val="exact"/>
        </dgm:presLayoutVars>
      </dgm:prSet>
      <dgm:spPr/>
    </dgm:pt>
    <dgm:pt modelId="{0347C971-6750-47DD-BB0C-614B2EB10D25}" type="pres">
      <dgm:prSet presAssocID="{BC392476-1869-4F60-9F23-0AEC736B7B18}" presName="parentText" presStyleLbl="node1" presStyleIdx="0" presStyleCnt="1" custLinFactNeighborY="-7027">
        <dgm:presLayoutVars>
          <dgm:chMax val="0"/>
          <dgm:bulletEnabled val="1"/>
        </dgm:presLayoutVars>
      </dgm:prSet>
      <dgm:spPr/>
    </dgm:pt>
  </dgm:ptLst>
  <dgm:cxnLst>
    <dgm:cxn modelId="{84B12825-B80A-4803-9B0C-8B2B98F6F13B}" type="presOf" srcId="{3D18ECC6-4C07-4ED0-B457-A8875E161891}" destId="{372D3855-33CE-4AA6-B521-95368CEBF303}" srcOrd="0" destOrd="0" presId="urn:microsoft.com/office/officeart/2005/8/layout/vList2"/>
    <dgm:cxn modelId="{9064577D-080A-48A5-BAF9-BA07AE40FB0A}" srcId="{3D18ECC6-4C07-4ED0-B457-A8875E161891}" destId="{BC392476-1869-4F60-9F23-0AEC736B7B18}" srcOrd="0" destOrd="0" parTransId="{B3E52F63-C7B1-44FB-BD67-41A9196DAE73}" sibTransId="{14E4671B-B413-4AF1-A092-7C10042055B7}"/>
    <dgm:cxn modelId="{BB0161EB-BB89-4C4E-A417-CF2043DCED39}" type="presOf" srcId="{BC392476-1869-4F60-9F23-0AEC736B7B18}" destId="{0347C971-6750-47DD-BB0C-614B2EB10D25}" srcOrd="0" destOrd="0" presId="urn:microsoft.com/office/officeart/2005/8/layout/vList2"/>
    <dgm:cxn modelId="{A622A968-4B94-4F23-B3D5-A795D67731FE}" type="presParOf" srcId="{372D3855-33CE-4AA6-B521-95368CEBF303}" destId="{0347C971-6750-47DD-BB0C-614B2EB10D2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9615"/>
          <a:ext cx="8686800" cy="150579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b="1" i="0" kern="1200" dirty="0"/>
            <a:t>AI, ML, DL &amp; Related Topics</a:t>
          </a:r>
        </a:p>
        <a:p>
          <a:pPr marL="0" lvl="0" indent="0" algn="l" defTabSz="1466850">
            <a:lnSpc>
              <a:spcPct val="90000"/>
            </a:lnSpc>
            <a:spcBef>
              <a:spcPct val="0"/>
            </a:spcBef>
            <a:spcAft>
              <a:spcPct val="35000"/>
            </a:spcAft>
            <a:buNone/>
          </a:pPr>
          <a:r>
            <a:rPr lang="en-US" sz="3300" b="1" i="0" kern="1200" dirty="0"/>
            <a:t>(Refresher)</a:t>
          </a:r>
          <a:endParaRPr lang="en-US" sz="3300" kern="1200" dirty="0"/>
        </a:p>
      </dsp:txBody>
      <dsp:txXfrm>
        <a:off x="73507" y="93122"/>
        <a:ext cx="8539786" cy="1358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59292"/>
          <a:ext cx="8610600" cy="101281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Data Pipeline</a:t>
          </a:r>
        </a:p>
      </dsp:txBody>
      <dsp:txXfrm>
        <a:off x="49442" y="208734"/>
        <a:ext cx="8511716" cy="913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Knowledge Representation</a:t>
          </a:r>
        </a:p>
      </dsp:txBody>
      <dsp:txXfrm>
        <a:off x="45663" y="45663"/>
        <a:ext cx="8993619" cy="8440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Data Analytics Types</a:t>
          </a:r>
        </a:p>
      </dsp:txBody>
      <dsp:txXfrm>
        <a:off x="45663" y="45663"/>
        <a:ext cx="8993619" cy="844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Deterministic vs Probabilistic Learning</a:t>
          </a:r>
        </a:p>
      </dsp:txBody>
      <dsp:txXfrm>
        <a:off x="45663" y="45663"/>
        <a:ext cx="8993619" cy="8440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Deterministic vs Probabilistic Learning</a:t>
          </a:r>
        </a:p>
      </dsp:txBody>
      <dsp:txXfrm>
        <a:off x="45663" y="45663"/>
        <a:ext cx="8993619" cy="8440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Deterministic vs Probabilistic Learning</a:t>
          </a:r>
        </a:p>
      </dsp:txBody>
      <dsp:txXfrm>
        <a:off x="45663" y="45663"/>
        <a:ext cx="8993619" cy="8440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AI, ML, DL</a:t>
          </a:r>
        </a:p>
      </dsp:txBody>
      <dsp:txXfrm>
        <a:off x="45663" y="45663"/>
        <a:ext cx="8993619" cy="8440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25196"/>
          <a:ext cx="9084945" cy="79150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AI, ML, DL – When and Why to Use And Not to Use</a:t>
          </a:r>
        </a:p>
      </dsp:txBody>
      <dsp:txXfrm>
        <a:off x="38638" y="63834"/>
        <a:ext cx="9007669" cy="7142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Types &amp; Algorithms</a:t>
          </a:r>
        </a:p>
      </dsp:txBody>
      <dsp:txXfrm>
        <a:off x="45663" y="45663"/>
        <a:ext cx="8993619" cy="8440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Predictive Analytics Intro Example &amp; y = f(x)</a:t>
          </a:r>
        </a:p>
      </dsp:txBody>
      <dsp:txXfrm>
        <a:off x="44492" y="44492"/>
        <a:ext cx="8995961" cy="8224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Supervised vs Unsupervised vs </a:t>
          </a:r>
          <a:r>
            <a:rPr lang="en-US" sz="2300" kern="1200" dirty="0" err="1"/>
            <a:t>Semisupervised</a:t>
          </a:r>
          <a:r>
            <a:rPr lang="en-US" sz="2300" kern="1200" dirty="0"/>
            <a:t> vs </a:t>
          </a:r>
          <a:r>
            <a:rPr lang="en-US" sz="2300" kern="1200" dirty="0" err="1"/>
            <a:t>Selfsupervised</a:t>
          </a:r>
          <a:r>
            <a:rPr lang="en-US" sz="2300" kern="1200" dirty="0"/>
            <a:t> vs Reinforcement Learning</a:t>
          </a:r>
        </a:p>
      </dsp:txBody>
      <dsp:txXfrm>
        <a:off x="44664" y="44664"/>
        <a:ext cx="8995617" cy="8256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err="1"/>
            <a:t>SemiSupervised</a:t>
          </a:r>
          <a:r>
            <a:rPr lang="en-US" sz="2400" kern="1200" dirty="0"/>
            <a:t> vs </a:t>
          </a:r>
          <a:r>
            <a:rPr lang="en-US" sz="2400" kern="1200" dirty="0" err="1"/>
            <a:t>SelfSupervised</a:t>
          </a:r>
          <a:r>
            <a:rPr lang="en-US" sz="2400" kern="1200" dirty="0"/>
            <a:t> Learning</a:t>
          </a:r>
        </a:p>
      </dsp:txBody>
      <dsp:txXfrm>
        <a:off x="28100" y="28100"/>
        <a:ext cx="9028745" cy="51943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Maths</a:t>
          </a:r>
          <a:r>
            <a:rPr lang="en-US" sz="3900" kern="1200" dirty="0"/>
            <a:t> for AI, ML, DL </a:t>
          </a:r>
          <a:r>
            <a:rPr lang="en-US" sz="3900" kern="1200" dirty="0" err="1"/>
            <a:t>etc</a:t>
          </a:r>
          <a:endParaRPr lang="en-US" sz="3900" kern="1200" dirty="0"/>
        </a:p>
      </dsp:txBody>
      <dsp:txXfrm>
        <a:off x="45663" y="45663"/>
        <a:ext cx="8993619" cy="84408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Maths</a:t>
          </a:r>
          <a:r>
            <a:rPr lang="en-US" sz="3900" kern="1200" dirty="0"/>
            <a:t> for AI, ML, DL </a:t>
          </a:r>
          <a:r>
            <a:rPr lang="en-US" sz="3900" kern="1200" dirty="0" err="1"/>
            <a:t>etc</a:t>
          </a:r>
          <a:r>
            <a:rPr lang="en-US" sz="3900" kern="1200" dirty="0"/>
            <a:t> – High Level</a:t>
          </a:r>
        </a:p>
      </dsp:txBody>
      <dsp:txXfrm>
        <a:off x="45663" y="45663"/>
        <a:ext cx="8993619" cy="8440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Maths</a:t>
          </a:r>
          <a:r>
            <a:rPr lang="en-US" sz="3900" kern="1200" dirty="0"/>
            <a:t> for AI, ML, DL </a:t>
          </a:r>
          <a:r>
            <a:rPr lang="en-US" sz="3900" kern="1200" dirty="0" err="1"/>
            <a:t>etc</a:t>
          </a:r>
          <a:r>
            <a:rPr lang="en-US" sz="3900" kern="1200" dirty="0"/>
            <a:t> – High Level</a:t>
          </a:r>
        </a:p>
      </dsp:txBody>
      <dsp:txXfrm>
        <a:off x="45663" y="45663"/>
        <a:ext cx="8993619" cy="8440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err="1"/>
            <a:t>Maths</a:t>
          </a:r>
          <a:r>
            <a:rPr lang="en-US" sz="3600" kern="1200" dirty="0"/>
            <a:t> for AI, ML, DL </a:t>
          </a:r>
          <a:r>
            <a:rPr lang="en-US" sz="3600" kern="1200" dirty="0" err="1"/>
            <a:t>etc</a:t>
          </a:r>
          <a:r>
            <a:rPr lang="en-US" sz="3600" kern="1200" dirty="0"/>
            <a:t> – A Bit more in Detail</a:t>
          </a:r>
        </a:p>
      </dsp:txBody>
      <dsp:txXfrm>
        <a:off x="42151" y="42151"/>
        <a:ext cx="9000643" cy="779158"/>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Maths</a:t>
          </a:r>
          <a:r>
            <a:rPr lang="en-US" sz="3900" kern="1200" dirty="0"/>
            <a:t> for AI, ML, DL </a:t>
          </a:r>
          <a:r>
            <a:rPr lang="en-US" sz="3900" kern="1200" dirty="0" err="1"/>
            <a:t>etc</a:t>
          </a:r>
          <a:r>
            <a:rPr lang="en-US" sz="3900" kern="1200" dirty="0"/>
            <a:t> Resources</a:t>
          </a:r>
        </a:p>
      </dsp:txBody>
      <dsp:txXfrm>
        <a:off x="45663" y="45663"/>
        <a:ext cx="8993619" cy="844089"/>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Workflow</a:t>
          </a:r>
        </a:p>
      </dsp:txBody>
      <dsp:txXfrm>
        <a:off x="45663" y="45663"/>
        <a:ext cx="8993619" cy="844089"/>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66230"/>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EDA(Exploratory Data Analysis) And Feature Engineering</a:t>
          </a:r>
        </a:p>
      </dsp:txBody>
      <dsp:txXfrm>
        <a:off x="35125" y="101355"/>
        <a:ext cx="9014695" cy="64929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34620"/>
          <a:ext cx="9084945" cy="5996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EDA(Exploratory Data Analysis) And Feature Engineering Resources</a:t>
          </a:r>
        </a:p>
      </dsp:txBody>
      <dsp:txXfrm>
        <a:off x="29271" y="163891"/>
        <a:ext cx="9026403" cy="541083"/>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Sampling</a:t>
          </a:r>
        </a:p>
      </dsp:txBody>
      <dsp:txXfrm>
        <a:off x="31613" y="31613"/>
        <a:ext cx="9021719" cy="584369"/>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Imbalanced Data</a:t>
          </a:r>
        </a:p>
      </dsp:txBody>
      <dsp:txXfrm>
        <a:off x="31613" y="31613"/>
        <a:ext cx="9021719" cy="584369"/>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a:t>
          </a:r>
        </a:p>
      </dsp:txBody>
      <dsp:txXfrm>
        <a:off x="45663" y="45663"/>
        <a:ext cx="8993619" cy="844089"/>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 Modelling Workflow (Steps)</a:t>
          </a:r>
        </a:p>
      </dsp:txBody>
      <dsp:txXfrm>
        <a:off x="45663" y="45663"/>
        <a:ext cx="8993619" cy="844089"/>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Design of Experiments</a:t>
          </a:r>
        </a:p>
      </dsp:txBody>
      <dsp:txXfrm>
        <a:off x="45663" y="45663"/>
        <a:ext cx="8993619" cy="844089"/>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Factors Influencing Model Size</a:t>
          </a:r>
        </a:p>
      </dsp:txBody>
      <dsp:txXfrm>
        <a:off x="45663" y="45663"/>
        <a:ext cx="8993619" cy="844089"/>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Reducing Model Size</a:t>
          </a:r>
        </a:p>
      </dsp:txBody>
      <dsp:txXfrm>
        <a:off x="45663" y="45663"/>
        <a:ext cx="8993619" cy="844089"/>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143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Model Performance Improvement Methods</a:t>
          </a:r>
        </a:p>
      </dsp:txBody>
      <dsp:txXfrm>
        <a:off x="44492" y="44492"/>
        <a:ext cx="8995961" cy="822446"/>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Business Metrics For Model Evaluation</a:t>
          </a:r>
        </a:p>
      </dsp:txBody>
      <dsp:txXfrm>
        <a:off x="45663" y="45663"/>
        <a:ext cx="8993619" cy="844089"/>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Statistical Tests</a:t>
          </a:r>
        </a:p>
      </dsp:txBody>
      <dsp:txXfrm>
        <a:off x="31613" y="31613"/>
        <a:ext cx="9021719" cy="584369"/>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ML Techniques Taxonomy</a:t>
          </a:r>
        </a:p>
      </dsp:txBody>
      <dsp:txXfrm>
        <a:off x="28100" y="28100"/>
        <a:ext cx="9028745" cy="519439"/>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ML Techniques Taxonomy </a:t>
          </a:r>
          <a:r>
            <a:rPr lang="en-US" sz="2400" kern="1200" dirty="0" err="1"/>
            <a:t>contd</a:t>
          </a:r>
          <a:r>
            <a:rPr lang="en-US" sz="2400" kern="1200" dirty="0"/>
            <a:t>…</a:t>
          </a:r>
        </a:p>
      </dsp:txBody>
      <dsp:txXfrm>
        <a:off x="28100" y="28100"/>
        <a:ext cx="9028745" cy="519439"/>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Algos(Regression Algorithms)</a:t>
          </a:r>
        </a:p>
      </dsp:txBody>
      <dsp:txXfrm>
        <a:off x="28100" y="28100"/>
        <a:ext cx="9028745" cy="519439"/>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Algos(Classification Algorithms)</a:t>
          </a:r>
        </a:p>
      </dsp:txBody>
      <dsp:txXfrm>
        <a:off x="28100" y="28100"/>
        <a:ext cx="9028745" cy="519439"/>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Algos(Classification Algorithms) </a:t>
          </a:r>
          <a:r>
            <a:rPr lang="en-US" sz="2400" kern="1200" dirty="0" err="1"/>
            <a:t>contd</a:t>
          </a:r>
          <a:r>
            <a:rPr lang="en-US" sz="2400" kern="1200" dirty="0"/>
            <a:t>…</a:t>
          </a:r>
        </a:p>
      </dsp:txBody>
      <dsp:txXfrm>
        <a:off x="28100" y="28100"/>
        <a:ext cx="9028745" cy="519439"/>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Algos(Clustering Algorithms)</a:t>
          </a:r>
        </a:p>
      </dsp:txBody>
      <dsp:txXfrm>
        <a:off x="28100" y="28100"/>
        <a:ext cx="9028745" cy="519439"/>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Algos(Clustering Algorithms) </a:t>
          </a:r>
          <a:r>
            <a:rPr lang="en-US" sz="2400" kern="1200" dirty="0" err="1"/>
            <a:t>contd</a:t>
          </a:r>
          <a:r>
            <a:rPr lang="en-US" sz="2400" kern="1200" dirty="0"/>
            <a:t>… </a:t>
          </a:r>
        </a:p>
      </dsp:txBody>
      <dsp:txXfrm>
        <a:off x="28100" y="28100"/>
        <a:ext cx="9028745" cy="519439"/>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Algos(Dimensionality Reduction Algorithms)</a:t>
          </a:r>
        </a:p>
      </dsp:txBody>
      <dsp:txXfrm>
        <a:off x="28100" y="28100"/>
        <a:ext cx="9028745" cy="519439"/>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57563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Classical ML Algos(Dimensionality Reduction Algorithms) </a:t>
          </a:r>
          <a:r>
            <a:rPr lang="en-US" sz="2400" kern="1200" dirty="0" err="1"/>
            <a:t>contd</a:t>
          </a:r>
          <a:r>
            <a:rPr lang="en-US" sz="2400" kern="1200" dirty="0"/>
            <a:t>…</a:t>
          </a:r>
        </a:p>
      </dsp:txBody>
      <dsp:txXfrm>
        <a:off x="28100" y="28100"/>
        <a:ext cx="9028745" cy="519439"/>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Classical ML Algos(Non Linear Models)</a:t>
          </a:r>
        </a:p>
      </dsp:txBody>
      <dsp:txXfrm>
        <a:off x="45663" y="45663"/>
        <a:ext cx="8993619" cy="844089"/>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6346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Classical ML Algos(Non Linear Models) </a:t>
          </a:r>
          <a:r>
            <a:rPr lang="en-US" sz="3600" kern="1200" dirty="0" err="1"/>
            <a:t>contd</a:t>
          </a:r>
          <a:r>
            <a:rPr lang="en-US" sz="3600" kern="1200" dirty="0"/>
            <a:t>…</a:t>
          </a:r>
        </a:p>
      </dsp:txBody>
      <dsp:txXfrm>
        <a:off x="42151" y="42151"/>
        <a:ext cx="9000643" cy="779158"/>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Classical ML Algos(Decision Trees for Non Linear Regression and Classification)</a:t>
          </a:r>
        </a:p>
      </dsp:txBody>
      <dsp:txXfrm>
        <a:off x="44664" y="44664"/>
        <a:ext cx="8995617" cy="825612"/>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Classical ML Algos(Decision Trees for Non Linear Regression and Classification) </a:t>
          </a:r>
          <a:r>
            <a:rPr lang="en-US" sz="2300" kern="1200" dirty="0" err="1"/>
            <a:t>contd</a:t>
          </a:r>
          <a:r>
            <a:rPr lang="en-US" sz="2300" kern="1200" dirty="0"/>
            <a:t>…</a:t>
          </a:r>
        </a:p>
      </dsp:txBody>
      <dsp:txXfrm>
        <a:off x="44664" y="44664"/>
        <a:ext cx="8995617" cy="825612"/>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Classical ML Algos(Kernel Methods for Non Linear Regression and Classification)</a:t>
          </a:r>
        </a:p>
      </dsp:txBody>
      <dsp:txXfrm>
        <a:off x="44664" y="44664"/>
        <a:ext cx="8995617" cy="825612"/>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3"/>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Classical ML Algos(Kernel Methods for Non Linear Regression and Classification) </a:t>
          </a:r>
          <a:r>
            <a:rPr lang="en-US" sz="2300" kern="1200" dirty="0" err="1"/>
            <a:t>contd</a:t>
          </a:r>
          <a:r>
            <a:rPr lang="en-US" sz="2300" kern="1200" dirty="0"/>
            <a:t>…</a:t>
          </a:r>
        </a:p>
      </dsp:txBody>
      <dsp:txXfrm>
        <a:off x="44664" y="44667"/>
        <a:ext cx="8995617" cy="825612"/>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38196"/>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Classical ML Algos(Decision Trees vs Kernel Methods for </a:t>
          </a:r>
          <a:r>
            <a:rPr lang="en-US" sz="2300" kern="1200" dirty="0" err="1"/>
            <a:t>NonLinear</a:t>
          </a:r>
          <a:r>
            <a:rPr lang="en-US" sz="2300" kern="1200" dirty="0"/>
            <a:t> Regression and Classification)</a:t>
          </a:r>
        </a:p>
      </dsp:txBody>
      <dsp:txXfrm>
        <a:off x="44664" y="82860"/>
        <a:ext cx="8995617" cy="825612"/>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Classical ML Algos(Decision Trees vs Kernel Methods for </a:t>
          </a:r>
          <a:r>
            <a:rPr lang="en-US" sz="2300" kern="1200" dirty="0" err="1"/>
            <a:t>NonLinear</a:t>
          </a:r>
          <a:r>
            <a:rPr lang="en-US" sz="2300" kern="1200" dirty="0"/>
            <a:t> Regression and Classification) </a:t>
          </a:r>
          <a:r>
            <a:rPr lang="en-US" sz="2300" kern="1200" dirty="0" err="1"/>
            <a:t>contd</a:t>
          </a:r>
          <a:r>
            <a:rPr lang="en-US" sz="2300" kern="1200" dirty="0"/>
            <a:t>…</a:t>
          </a:r>
        </a:p>
      </dsp:txBody>
      <dsp:txXfrm>
        <a:off x="44664" y="44664"/>
        <a:ext cx="8995617" cy="825612"/>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Ensemble Learning</a:t>
          </a:r>
        </a:p>
      </dsp:txBody>
      <dsp:txXfrm>
        <a:off x="45663" y="45663"/>
        <a:ext cx="8993619" cy="8440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Forward and Backward Propagation in (Deep) Neural Networks</a:t>
          </a:r>
        </a:p>
      </dsp:txBody>
      <dsp:txXfrm>
        <a:off x="31613" y="108816"/>
        <a:ext cx="9021719" cy="58436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Forward and Backward Propagation in (Deep) Neural Networks</a:t>
          </a:r>
        </a:p>
      </dsp:txBody>
      <dsp:txXfrm>
        <a:off x="31613" y="108816"/>
        <a:ext cx="9021719" cy="584369"/>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Neural Networks Evolution</a:t>
          </a:r>
        </a:p>
      </dsp:txBody>
      <dsp:txXfrm>
        <a:off x="45663" y="45663"/>
        <a:ext cx="8993619" cy="844089"/>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06785"/>
          <a:ext cx="9084945" cy="5996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Relationship between (Deep) Neural Networks and Kernel Methods</a:t>
          </a:r>
        </a:p>
      </dsp:txBody>
      <dsp:txXfrm>
        <a:off x="29271" y="136056"/>
        <a:ext cx="9026403" cy="541083"/>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654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Relationship between (Deep) Neural Networks and Kernel Methods </a:t>
          </a:r>
          <a:r>
            <a:rPr lang="en-US" sz="2100" kern="1200" dirty="0" err="1"/>
            <a:t>contd</a:t>
          </a:r>
          <a:r>
            <a:rPr lang="en-US" sz="2100" kern="1200" dirty="0"/>
            <a:t>…</a:t>
          </a:r>
        </a:p>
      </dsp:txBody>
      <dsp:txXfrm>
        <a:off x="32485" y="32485"/>
        <a:ext cx="9019975" cy="600483"/>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654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Mathematical Operations Representations using Neural Networks</a:t>
          </a:r>
        </a:p>
      </dsp:txBody>
      <dsp:txXfrm>
        <a:off x="32485" y="32485"/>
        <a:ext cx="9019975" cy="600483"/>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654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Mathematical Operations representations using Neural Networks </a:t>
          </a:r>
          <a:r>
            <a:rPr lang="en-US" sz="2100" kern="1200" dirty="0" err="1"/>
            <a:t>contd</a:t>
          </a:r>
          <a:r>
            <a:rPr lang="en-US" sz="2100" kern="1200" dirty="0"/>
            <a:t>…</a:t>
          </a:r>
        </a:p>
      </dsp:txBody>
      <dsp:txXfrm>
        <a:off x="32485" y="32485"/>
        <a:ext cx="9019975" cy="600483"/>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654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Overfitting in Heavily </a:t>
          </a:r>
          <a:r>
            <a:rPr lang="en-US" sz="2100" kern="1200" dirty="0" err="1"/>
            <a:t>OverParameterized</a:t>
          </a:r>
          <a:r>
            <a:rPr lang="en-US" sz="2100" kern="1200" dirty="0"/>
            <a:t> Neural Networks</a:t>
          </a:r>
        </a:p>
      </dsp:txBody>
      <dsp:txXfrm>
        <a:off x="32485" y="32485"/>
        <a:ext cx="9019975" cy="600483"/>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1549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Representation Learning for Text, Image &amp; Sound</a:t>
          </a:r>
        </a:p>
      </dsp:txBody>
      <dsp:txXfrm>
        <a:off x="39809" y="39809"/>
        <a:ext cx="9005327" cy="735872"/>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1549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Representation Learning for Text, Image &amp; Sound</a:t>
          </a:r>
        </a:p>
      </dsp:txBody>
      <dsp:txXfrm>
        <a:off x="39809" y="39809"/>
        <a:ext cx="9005327" cy="735872"/>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3947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Representation Learning for Text(Bag of Words)</a:t>
          </a:r>
        </a:p>
      </dsp:txBody>
      <dsp:txXfrm>
        <a:off x="40980" y="40980"/>
        <a:ext cx="9002985" cy="757514"/>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Representation Learning for Text(Problems with Bag of Words)</a:t>
          </a:r>
        </a:p>
      </dsp:txBody>
      <dsp:txXfrm>
        <a:off x="31613" y="108816"/>
        <a:ext cx="9021719" cy="584369"/>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Representation Learning for Text(TF-IDF)</a:t>
          </a:r>
        </a:p>
      </dsp:txBody>
      <dsp:txXfrm>
        <a:off x="45663" y="45663"/>
        <a:ext cx="8993619" cy="844089"/>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32829"/>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Representation Learning for Text(Problems with TF-IDF)</a:t>
          </a:r>
        </a:p>
      </dsp:txBody>
      <dsp:txXfrm>
        <a:off x="35125" y="67954"/>
        <a:ext cx="9014695" cy="649299"/>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Representation Learning for Text(N-Gram)</a:t>
          </a:r>
        </a:p>
      </dsp:txBody>
      <dsp:txXfrm>
        <a:off x="45663" y="45663"/>
        <a:ext cx="8993619" cy="844089"/>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Representation Learning(Embeddings)</a:t>
          </a:r>
        </a:p>
      </dsp:txBody>
      <dsp:txXfrm>
        <a:off x="45663" y="45663"/>
        <a:ext cx="8993619" cy="844089"/>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Representation Learning(Raw Data to Embeddings Conversion)</a:t>
          </a:r>
        </a:p>
      </dsp:txBody>
      <dsp:txXfrm>
        <a:off x="31613" y="108816"/>
        <a:ext cx="9021719" cy="584369"/>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Representation Learning(Raw Data to Embeddings Conversion)</a:t>
          </a:r>
        </a:p>
      </dsp:txBody>
      <dsp:txXfrm>
        <a:off x="31613" y="108816"/>
        <a:ext cx="9021719" cy="584369"/>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91994"/>
          <a:ext cx="9084945" cy="62361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Representation Learning(Semantic Composition of Embeddings)</a:t>
          </a:r>
        </a:p>
      </dsp:txBody>
      <dsp:txXfrm>
        <a:off x="30442" y="122436"/>
        <a:ext cx="9024061" cy="562726"/>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32829"/>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Embeddings and Vector DBs for Enterprise/Web Search</a:t>
          </a:r>
        </a:p>
      </dsp:txBody>
      <dsp:txXfrm>
        <a:off x="35125" y="67954"/>
        <a:ext cx="9014695" cy="649299"/>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Rankings in Embeddings Based Search</a:t>
          </a:r>
        </a:p>
      </dsp:txBody>
      <dsp:txXfrm>
        <a:off x="45663" y="45663"/>
        <a:ext cx="8993619" cy="844089"/>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Deep Learning Architectures</a:t>
          </a:r>
        </a:p>
      </dsp:txBody>
      <dsp:txXfrm>
        <a:off x="45663" y="45663"/>
        <a:ext cx="8993619" cy="844089"/>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CNN Architecture</a:t>
          </a:r>
        </a:p>
      </dsp:txBody>
      <dsp:txXfrm>
        <a:off x="45663" y="45663"/>
        <a:ext cx="8993619" cy="844089"/>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Invariance in Computer Vision</a:t>
          </a:r>
        </a:p>
      </dsp:txBody>
      <dsp:txXfrm>
        <a:off x="45663" y="45663"/>
        <a:ext cx="8993619" cy="844089"/>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Invariance in Computer Vision </a:t>
          </a:r>
          <a:r>
            <a:rPr lang="en-US" sz="3900" kern="1200" dirty="0" err="1"/>
            <a:t>contd</a:t>
          </a:r>
          <a:r>
            <a:rPr lang="en-US" sz="3900" kern="1200" dirty="0"/>
            <a:t>…</a:t>
          </a:r>
        </a:p>
      </dsp:txBody>
      <dsp:txXfrm>
        <a:off x="45663" y="45663"/>
        <a:ext cx="8993619" cy="844089"/>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8037"/>
          <a:ext cx="9084945"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Techniques to handle invariance in Image Recognition</a:t>
          </a:r>
        </a:p>
      </dsp:txBody>
      <dsp:txXfrm>
        <a:off x="36296" y="54333"/>
        <a:ext cx="9012353" cy="670943"/>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Techniques to handle invariance in Image Recognition </a:t>
          </a:r>
          <a:r>
            <a:rPr lang="en-US" sz="2700" kern="1200" dirty="0" err="1"/>
            <a:t>contd</a:t>
          </a:r>
          <a:r>
            <a:rPr lang="en-US" sz="2700" kern="1200" dirty="0"/>
            <a:t>…</a:t>
          </a:r>
        </a:p>
      </dsp:txBody>
      <dsp:txXfrm>
        <a:off x="31613" y="108816"/>
        <a:ext cx="9021719" cy="584369"/>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How CNN handles Vision Invariance</a:t>
          </a:r>
        </a:p>
      </dsp:txBody>
      <dsp:txXfrm>
        <a:off x="35125" y="35125"/>
        <a:ext cx="9014695" cy="649299"/>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How CNN handles Vision Invariance </a:t>
          </a:r>
          <a:r>
            <a:rPr lang="en-US" sz="3000" kern="1200" dirty="0" err="1"/>
            <a:t>contd</a:t>
          </a:r>
          <a:r>
            <a:rPr lang="en-US" sz="3000" kern="1200" dirty="0"/>
            <a:t>…</a:t>
          </a:r>
        </a:p>
      </dsp:txBody>
      <dsp:txXfrm>
        <a:off x="35125" y="35125"/>
        <a:ext cx="9014695" cy="649299"/>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RNN Architecture</a:t>
          </a:r>
        </a:p>
      </dsp:txBody>
      <dsp:txXfrm>
        <a:off x="45663" y="45663"/>
        <a:ext cx="8993619" cy="844089"/>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8037"/>
          <a:ext cx="9084945"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Self Attention, Cross Attention &amp; </a:t>
          </a:r>
          <a:r>
            <a:rPr lang="en-US" sz="3100" kern="1200" dirty="0" err="1"/>
            <a:t>Multihead</a:t>
          </a:r>
          <a:r>
            <a:rPr lang="en-US" sz="3100" kern="1200" dirty="0"/>
            <a:t> Attention</a:t>
          </a:r>
        </a:p>
      </dsp:txBody>
      <dsp:txXfrm>
        <a:off x="36296" y="54333"/>
        <a:ext cx="9012353" cy="670943"/>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Contextual &amp; Positional Encoding</a:t>
          </a:r>
        </a:p>
      </dsp:txBody>
      <dsp:txXfrm>
        <a:off x="45663" y="45663"/>
        <a:ext cx="8993619" cy="844089"/>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Transformer Architecture</a:t>
          </a:r>
        </a:p>
      </dsp:txBody>
      <dsp:txXfrm>
        <a:off x="45663" y="45663"/>
        <a:ext cx="8993619" cy="844089"/>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Graph ML</a:t>
          </a:r>
        </a:p>
      </dsp:txBody>
      <dsp:txXfrm>
        <a:off x="45663" y="45663"/>
        <a:ext cx="8993619" cy="844089"/>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32829"/>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Applications and Further Resources Related to Graph ML</a:t>
          </a:r>
        </a:p>
      </dsp:txBody>
      <dsp:txXfrm>
        <a:off x="35125" y="67954"/>
        <a:ext cx="9014695" cy="649299"/>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32829"/>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Applications and Further Resources Related to Graph ML</a:t>
          </a:r>
        </a:p>
      </dsp:txBody>
      <dsp:txXfrm>
        <a:off x="35125" y="67954"/>
        <a:ext cx="9014695" cy="649299"/>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RL(Reinforcement Learning)</a:t>
          </a:r>
        </a:p>
      </dsp:txBody>
      <dsp:txXfrm>
        <a:off x="45663" y="45663"/>
        <a:ext cx="8993619" cy="844089"/>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Econometrics Models</a:t>
          </a:r>
        </a:p>
      </dsp:txBody>
      <dsp:txXfrm>
        <a:off x="45663" y="45663"/>
        <a:ext cx="8993619" cy="844089"/>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Econometrics Models </a:t>
          </a:r>
          <a:r>
            <a:rPr lang="en-US" sz="3900" kern="1200" dirty="0" err="1"/>
            <a:t>contd</a:t>
          </a:r>
          <a:r>
            <a:rPr lang="en-US" sz="3900" kern="1200" dirty="0"/>
            <a:t> …</a:t>
          </a:r>
        </a:p>
      </dsp:txBody>
      <dsp:txXfrm>
        <a:off x="45663" y="45663"/>
        <a:ext cx="8993619" cy="844089"/>
      </dsp:txXfrm>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When to use which Econometrics Model</a:t>
          </a:r>
        </a:p>
      </dsp:txBody>
      <dsp:txXfrm>
        <a:off x="45663" y="45663"/>
        <a:ext cx="8993619" cy="844089"/>
      </dsp:txXfrm>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1549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When to use which Econometrics Model </a:t>
          </a:r>
          <a:r>
            <a:rPr lang="en-US" sz="3400" kern="1200" dirty="0" err="1"/>
            <a:t>contd</a:t>
          </a:r>
          <a:r>
            <a:rPr lang="en-US" sz="3400" kern="1200" dirty="0"/>
            <a:t>…</a:t>
          </a:r>
        </a:p>
      </dsp:txBody>
      <dsp:txXfrm>
        <a:off x="39809" y="39809"/>
        <a:ext cx="9005327" cy="735872"/>
      </dsp:txXfrm>
    </dsp:sp>
  </dsp:spTree>
</dsp:drawing>
</file>

<file path=ppt/diagrams/drawing1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1549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When to use which Econometrics Model </a:t>
          </a:r>
          <a:r>
            <a:rPr lang="en-US" sz="3400" kern="1200" dirty="0" err="1"/>
            <a:t>contd</a:t>
          </a:r>
          <a:r>
            <a:rPr lang="en-US" sz="3400" kern="1200" dirty="0"/>
            <a:t>…</a:t>
          </a:r>
        </a:p>
      </dsp:txBody>
      <dsp:txXfrm>
        <a:off x="39809" y="39809"/>
        <a:ext cx="9005327" cy="735872"/>
      </dsp:txXfrm>
    </dsp:sp>
  </dsp:spTree>
</dsp:drawing>
</file>

<file path=ppt/diagrams/drawing1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Techniques to Solve Time Series Problems</a:t>
          </a:r>
        </a:p>
      </dsp:txBody>
      <dsp:txXfrm>
        <a:off x="45663" y="45663"/>
        <a:ext cx="8993619" cy="844089"/>
      </dsp:txXfrm>
    </dsp:sp>
  </dsp:spTree>
</dsp:drawing>
</file>

<file path=ppt/diagrams/drawing1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8037"/>
          <a:ext cx="9084945"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Techniques to Solve Panel/Longitudinal Data Problems</a:t>
          </a:r>
        </a:p>
      </dsp:txBody>
      <dsp:txXfrm>
        <a:off x="36296" y="54333"/>
        <a:ext cx="9012353" cy="670943"/>
      </dsp:txXfrm>
    </dsp:sp>
  </dsp:spTree>
</dsp:drawing>
</file>

<file path=ppt/diagrams/drawing1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Techniques to Solve Logit/Probit Problems</a:t>
          </a:r>
        </a:p>
      </dsp:txBody>
      <dsp:txXfrm>
        <a:off x="45663" y="45663"/>
        <a:ext cx="8993619" cy="844089"/>
      </dsp:txXfrm>
    </dsp:sp>
  </dsp:spTree>
</dsp:drawing>
</file>

<file path=ppt/diagrams/drawing1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77203"/>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Techniques to Solve Simultaneous Transfer Function Problems</a:t>
          </a:r>
        </a:p>
      </dsp:txBody>
      <dsp:txXfrm>
        <a:off x="31613" y="108816"/>
        <a:ext cx="9021719" cy="584369"/>
      </dsp:txXfrm>
    </dsp:sp>
  </dsp:spTree>
</dsp:drawing>
</file>

<file path=ppt/diagrams/drawing1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8037"/>
          <a:ext cx="9084945" cy="74353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Techniques to Solve Vector </a:t>
          </a:r>
          <a:r>
            <a:rPr lang="en-US" sz="3100" kern="1200" dirty="0" err="1"/>
            <a:t>AutoRegression</a:t>
          </a:r>
          <a:r>
            <a:rPr lang="en-US" sz="3100" kern="1200" dirty="0"/>
            <a:t> Problems</a:t>
          </a:r>
        </a:p>
      </dsp:txBody>
      <dsp:txXfrm>
        <a:off x="36296" y="54333"/>
        <a:ext cx="9012353" cy="670943"/>
      </dsp:txXfrm>
    </dsp:sp>
  </dsp:spTree>
</dsp:drawing>
</file>

<file path=ppt/diagrams/drawing1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Stochastic Econometrics Models</a:t>
          </a:r>
        </a:p>
      </dsp:txBody>
      <dsp:txXfrm>
        <a:off x="45663" y="45663"/>
        <a:ext cx="8993619" cy="844089"/>
      </dsp:txXfrm>
    </dsp:sp>
  </dsp:spTree>
</dsp:drawing>
</file>

<file path=ppt/diagrams/drawing1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Stochastic Econometrics Models </a:t>
          </a:r>
          <a:r>
            <a:rPr lang="en-US" sz="3900" kern="1200" dirty="0" err="1"/>
            <a:t>contd</a:t>
          </a:r>
          <a:r>
            <a:rPr lang="en-US" sz="3900" kern="1200" dirty="0"/>
            <a:t>…</a:t>
          </a:r>
        </a:p>
      </dsp:txBody>
      <dsp:txXfrm>
        <a:off x="45663" y="45663"/>
        <a:ext cx="8993619" cy="844089"/>
      </dsp:txXfrm>
    </dsp:sp>
  </dsp:spTree>
</dsp:drawing>
</file>

<file path=ppt/diagrams/drawing1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79560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Resources For (Or Related to) Random Processes/Estimation Theory /Econometrics Applications</a:t>
          </a:r>
        </a:p>
      </dsp:txBody>
      <dsp:txXfrm>
        <a:off x="38838" y="38838"/>
        <a:ext cx="9007269" cy="717924"/>
      </dsp:txXfrm>
    </dsp:sp>
  </dsp:spTree>
</dsp:drawing>
</file>

<file path=ppt/diagrams/drawing1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7160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Resources For (Or Related to) Random Processes/Estimation Theory/Econometrics Applications </a:t>
          </a:r>
          <a:r>
            <a:rPr lang="en-US" sz="1800" kern="1200" dirty="0" err="1"/>
            <a:t>contd</a:t>
          </a:r>
          <a:r>
            <a:rPr lang="en-US" sz="1800" kern="1200" dirty="0"/>
            <a:t>…</a:t>
          </a:r>
        </a:p>
      </dsp:txBody>
      <dsp:txXfrm>
        <a:off x="34954" y="34954"/>
        <a:ext cx="9015037" cy="646132"/>
      </dsp:txXfrm>
    </dsp:sp>
  </dsp:spTree>
</dsp:drawing>
</file>

<file path=ppt/diagrams/drawing1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Spatio</a:t>
          </a:r>
          <a:r>
            <a:rPr lang="en-US" sz="3900" kern="1200" dirty="0"/>
            <a:t> Temporal Data</a:t>
          </a:r>
        </a:p>
      </dsp:txBody>
      <dsp:txXfrm>
        <a:off x="45663" y="45663"/>
        <a:ext cx="8993619" cy="844089"/>
      </dsp:txXfrm>
    </dsp:sp>
  </dsp:spTree>
</dsp:drawing>
</file>

<file path=ppt/diagrams/drawing1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Spatio</a:t>
          </a:r>
          <a:r>
            <a:rPr lang="en-US" sz="3900" kern="1200" dirty="0"/>
            <a:t> Temporal Data</a:t>
          </a:r>
        </a:p>
      </dsp:txBody>
      <dsp:txXfrm>
        <a:off x="45663" y="45663"/>
        <a:ext cx="8993619" cy="844089"/>
      </dsp:txXfrm>
    </dsp:sp>
  </dsp:spTree>
</dsp:drawing>
</file>

<file path=ppt/diagrams/drawing1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Spatio</a:t>
          </a:r>
          <a:r>
            <a:rPr lang="en-US" sz="3900" kern="1200" dirty="0"/>
            <a:t> Temporal Data</a:t>
          </a:r>
        </a:p>
      </dsp:txBody>
      <dsp:txXfrm>
        <a:off x="45663" y="45663"/>
        <a:ext cx="8993619" cy="844089"/>
      </dsp:txXfrm>
    </dsp:sp>
  </dsp:spTree>
</dsp:drawing>
</file>

<file path=ppt/diagrams/drawing1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47620"/>
          <a:ext cx="9084945" cy="69556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Techniques to Solve </a:t>
          </a:r>
          <a:r>
            <a:rPr lang="en-US" sz="2900" kern="1200" dirty="0" err="1"/>
            <a:t>Spatio</a:t>
          </a:r>
          <a:r>
            <a:rPr lang="en-US" sz="2900" kern="1200" dirty="0"/>
            <a:t> Temporal Prediction Problems</a:t>
          </a:r>
        </a:p>
      </dsp:txBody>
      <dsp:txXfrm>
        <a:off x="33955" y="81575"/>
        <a:ext cx="9017035" cy="627655"/>
      </dsp:txXfrm>
    </dsp:sp>
  </dsp:spTree>
</dsp:drawing>
</file>

<file path=ppt/diagrams/drawing1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106785"/>
          <a:ext cx="9084945" cy="5996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Techniques to Solve </a:t>
          </a:r>
          <a:r>
            <a:rPr lang="en-US" sz="2500" kern="1200" dirty="0" err="1"/>
            <a:t>Spatio</a:t>
          </a:r>
          <a:r>
            <a:rPr lang="en-US" sz="2500" kern="1200" dirty="0"/>
            <a:t> Temporal Prediction Problems </a:t>
          </a:r>
          <a:r>
            <a:rPr lang="en-US" sz="2500" kern="1200" dirty="0" err="1"/>
            <a:t>contd</a:t>
          </a:r>
          <a:r>
            <a:rPr lang="en-US" sz="2500" kern="1200" dirty="0"/>
            <a:t>…</a:t>
          </a:r>
        </a:p>
      </dsp:txBody>
      <dsp:txXfrm>
        <a:off x="29271" y="136056"/>
        <a:ext cx="9026403" cy="541083"/>
      </dsp:txXfrm>
    </dsp:sp>
  </dsp:spTree>
</dsp:drawing>
</file>

<file path=ppt/diagrams/drawing1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Streaming, Incremental &amp; Online Learning</a:t>
          </a:r>
        </a:p>
      </dsp:txBody>
      <dsp:txXfrm>
        <a:off x="45663" y="45663"/>
        <a:ext cx="8993619" cy="844089"/>
      </dsp:txXfrm>
    </dsp:sp>
  </dsp:spTree>
</dsp:drawing>
</file>

<file path=ppt/diagrams/drawing1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Streaming, Incremental &amp; Online Learning</a:t>
          </a:r>
        </a:p>
      </dsp:txBody>
      <dsp:txXfrm>
        <a:off x="45663" y="45663"/>
        <a:ext cx="8993619" cy="844089"/>
      </dsp:txXfrm>
    </dsp:sp>
  </dsp:spTree>
</dsp:drawing>
</file>

<file path=ppt/diagrams/drawing1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Causal AI</a:t>
          </a:r>
        </a:p>
      </dsp:txBody>
      <dsp:txXfrm>
        <a:off x="31613" y="31613"/>
        <a:ext cx="9021719" cy="584369"/>
      </dsp:txXfrm>
    </dsp:sp>
  </dsp:spTree>
</dsp:drawing>
</file>

<file path=ppt/diagrams/drawing1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Causal AI</a:t>
          </a:r>
        </a:p>
      </dsp:txBody>
      <dsp:txXfrm>
        <a:off x="31613" y="31613"/>
        <a:ext cx="9021719" cy="584369"/>
      </dsp:txXfrm>
    </dsp:sp>
  </dsp:spTree>
</dsp:drawing>
</file>

<file path=ppt/diagrams/drawing1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4759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Causal AI</a:t>
          </a:r>
        </a:p>
      </dsp:txBody>
      <dsp:txXfrm>
        <a:off x="31613" y="31613"/>
        <a:ext cx="9021719" cy="584369"/>
      </dsp:txXfrm>
    </dsp:sp>
  </dsp:spTree>
</dsp:drawing>
</file>

<file path=ppt/diagrams/drawing1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RecSys</a:t>
          </a:r>
          <a:endParaRPr lang="en-US" sz="3900" kern="1200" dirty="0"/>
        </a:p>
      </dsp:txBody>
      <dsp:txXfrm>
        <a:off x="45663" y="45663"/>
        <a:ext cx="8993619" cy="844089"/>
      </dsp:txXfrm>
    </dsp:sp>
  </dsp:spTree>
</dsp:drawing>
</file>

<file path=ppt/diagrams/drawing1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Classical vs Modern NLP</a:t>
          </a:r>
        </a:p>
      </dsp:txBody>
      <dsp:txXfrm>
        <a:off x="45663" y="45663"/>
        <a:ext cx="8993619" cy="844089"/>
      </dsp:txXfrm>
    </dsp:sp>
  </dsp:spTree>
</dsp:drawing>
</file>

<file path=ppt/diagrams/drawing1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NLP Workflow</a:t>
          </a:r>
        </a:p>
      </dsp:txBody>
      <dsp:txXfrm>
        <a:off x="45663" y="45663"/>
        <a:ext cx="8993619" cy="844089"/>
      </dsp:txXfrm>
    </dsp:sp>
  </dsp:spTree>
</dsp:drawing>
</file>

<file path=ppt/diagrams/drawing1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NLP Workflow</a:t>
          </a:r>
        </a:p>
      </dsp:txBody>
      <dsp:txXfrm>
        <a:off x="45663" y="45663"/>
        <a:ext cx="8993619" cy="844089"/>
      </dsp:txXfrm>
    </dsp:sp>
  </dsp:spTree>
</dsp:drawing>
</file>

<file path=ppt/diagrams/drawing1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NLP Workflow</a:t>
          </a:r>
        </a:p>
      </dsp:txBody>
      <dsp:txXfrm>
        <a:off x="45663" y="45663"/>
        <a:ext cx="8993619" cy="844089"/>
      </dsp:txXfrm>
    </dsp:sp>
  </dsp:spTree>
</dsp:drawing>
</file>

<file path=ppt/diagrams/drawing1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NLP Workflow</a:t>
          </a:r>
        </a:p>
      </dsp:txBody>
      <dsp:txXfrm>
        <a:off x="45663" y="45663"/>
        <a:ext cx="8993619" cy="844089"/>
      </dsp:txXfrm>
    </dsp:sp>
  </dsp:spTree>
</dsp:drawing>
</file>

<file path=ppt/diagrams/drawing1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NLP Workflow</a:t>
          </a:r>
        </a:p>
      </dsp:txBody>
      <dsp:txXfrm>
        <a:off x="45663" y="45663"/>
        <a:ext cx="8993619" cy="844089"/>
      </dsp:txXfrm>
    </dsp:sp>
  </dsp:spTree>
</dsp:drawing>
</file>

<file path=ppt/diagrams/drawing1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79150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Applications and Further Resources related to NLP</a:t>
          </a:r>
        </a:p>
      </dsp:txBody>
      <dsp:txXfrm>
        <a:off x="38638" y="38638"/>
        <a:ext cx="9007669" cy="714229"/>
      </dsp:txXfrm>
    </dsp:sp>
  </dsp:spTree>
</dsp:drawing>
</file>

<file path=ppt/diagrams/drawing1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Classical vs Modern Computer Vision</a:t>
          </a:r>
        </a:p>
      </dsp:txBody>
      <dsp:txXfrm>
        <a:off x="45663" y="45663"/>
        <a:ext cx="8993619" cy="844089"/>
      </dsp:txXfrm>
    </dsp:sp>
  </dsp:spTree>
</dsp:drawing>
</file>

<file path=ppt/diagrams/drawing1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Computer Vision Workflow</a:t>
          </a:r>
        </a:p>
      </dsp:txBody>
      <dsp:txXfrm>
        <a:off x="45663" y="45663"/>
        <a:ext cx="8993619" cy="844089"/>
      </dsp:txXfrm>
    </dsp:sp>
  </dsp:spTree>
</dsp:drawing>
</file>

<file path=ppt/diagrams/drawing1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91994"/>
          <a:ext cx="9084945" cy="62361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Applications and Further Resources Related to Computer Vision</a:t>
          </a:r>
        </a:p>
      </dsp:txBody>
      <dsp:txXfrm>
        <a:off x="30442" y="122436"/>
        <a:ext cx="9024061" cy="562726"/>
      </dsp:txXfrm>
    </dsp:sp>
  </dsp:spTree>
</dsp:drawing>
</file>

<file path=ppt/diagrams/drawing1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Language Modelling using Embeddings</a:t>
          </a:r>
        </a:p>
      </dsp:txBody>
      <dsp:txXfrm>
        <a:off x="45663" y="45663"/>
        <a:ext cx="8993619" cy="844089"/>
      </dsp:txXfrm>
    </dsp:sp>
  </dsp:spTree>
</dsp:drawing>
</file>

<file path=ppt/diagrams/drawing1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Language Modelling using Embeddings</a:t>
          </a:r>
        </a:p>
      </dsp:txBody>
      <dsp:txXfrm>
        <a:off x="45663" y="45663"/>
        <a:ext cx="8993619" cy="844089"/>
      </dsp:txXfrm>
    </dsp:sp>
  </dsp:spTree>
</dsp:drawing>
</file>

<file path=ppt/diagrams/drawing1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Language Modelling using Embeddings</a:t>
          </a:r>
        </a:p>
      </dsp:txBody>
      <dsp:txXfrm>
        <a:off x="45663" y="45663"/>
        <a:ext cx="8993619" cy="844089"/>
      </dsp:txXfrm>
    </dsp:sp>
  </dsp:spTree>
</dsp:drawing>
</file>

<file path=ppt/diagrams/drawing1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Language Modelling using Embeddings</a:t>
          </a:r>
        </a:p>
      </dsp:txBody>
      <dsp:txXfrm>
        <a:off x="45663" y="45663"/>
        <a:ext cx="8993619" cy="844089"/>
      </dsp:txXfrm>
    </dsp:sp>
  </dsp:spTree>
</dsp:drawing>
</file>

<file path=ppt/diagrams/drawing1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LLM(Large Language Models)</a:t>
          </a:r>
        </a:p>
      </dsp:txBody>
      <dsp:txXfrm>
        <a:off x="45663" y="45663"/>
        <a:ext cx="8993619" cy="844089"/>
      </dsp:txXfrm>
    </dsp:sp>
  </dsp:spTree>
</dsp:drawing>
</file>

<file path=ppt/diagrams/drawing1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LLM(Large Language Models)</a:t>
          </a:r>
        </a:p>
      </dsp:txBody>
      <dsp:txXfrm>
        <a:off x="45663" y="45663"/>
        <a:ext cx="8993619" cy="844089"/>
      </dsp:txXfrm>
    </dsp:sp>
  </dsp:spTree>
</dsp:drawing>
</file>

<file path=ppt/diagrams/drawing1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LLM(Large Language Models)</a:t>
          </a:r>
        </a:p>
      </dsp:txBody>
      <dsp:txXfrm>
        <a:off x="45663" y="45663"/>
        <a:ext cx="8993619" cy="844089"/>
      </dsp:txXfrm>
    </dsp:sp>
  </dsp:spTree>
</dsp:drawing>
</file>

<file path=ppt/diagrams/drawing1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LLM(Large Language Models)</a:t>
          </a:r>
        </a:p>
      </dsp:txBody>
      <dsp:txXfrm>
        <a:off x="45663" y="45663"/>
        <a:ext cx="8993619" cy="844089"/>
      </dsp:txXfrm>
    </dsp:sp>
  </dsp:spTree>
</dsp:drawing>
</file>

<file path=ppt/diagrams/drawing1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LLM(Large Language Models)</a:t>
          </a:r>
        </a:p>
      </dsp:txBody>
      <dsp:txXfrm>
        <a:off x="45663" y="45663"/>
        <a:ext cx="8993619" cy="844089"/>
      </dsp:txXfrm>
    </dsp:sp>
  </dsp:spTree>
</dsp:drawing>
</file>

<file path=ppt/diagrams/drawing2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LLM(Large Language Models)</a:t>
          </a:r>
        </a:p>
      </dsp:txBody>
      <dsp:txXfrm>
        <a:off x="45663" y="45663"/>
        <a:ext cx="8993619" cy="844089"/>
      </dsp:txXfrm>
    </dsp:sp>
  </dsp:spTree>
</dsp:drawing>
</file>

<file path=ppt/diagrams/drawing2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(Models)</a:t>
          </a:r>
        </a:p>
      </dsp:txBody>
      <dsp:txXfrm>
        <a:off x="32784" y="32784"/>
        <a:ext cx="9019377" cy="606012"/>
      </dsp:txXfrm>
    </dsp:sp>
  </dsp:spTree>
</dsp:drawing>
</file>

<file path=ppt/diagrams/drawing2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(Models)</a:t>
          </a:r>
        </a:p>
      </dsp:txBody>
      <dsp:txXfrm>
        <a:off x="32784" y="32784"/>
        <a:ext cx="9019377" cy="606012"/>
      </dsp:txXfrm>
    </dsp:sp>
  </dsp:spTree>
</dsp:drawing>
</file>

<file path=ppt/diagrams/drawing2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(Models)</a:t>
          </a:r>
        </a:p>
      </dsp:txBody>
      <dsp:txXfrm>
        <a:off x="32784" y="32784"/>
        <a:ext cx="9019377" cy="606012"/>
      </dsp:txXfrm>
    </dsp:sp>
  </dsp:spTree>
</dsp:drawing>
</file>

<file path=ppt/diagrams/drawing2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(Models)</a:t>
          </a:r>
        </a:p>
      </dsp:txBody>
      <dsp:txXfrm>
        <a:off x="32784" y="32784"/>
        <a:ext cx="9019377" cy="606012"/>
      </dsp:txXfrm>
    </dsp:sp>
  </dsp:spTree>
</dsp:drawing>
</file>

<file path=ppt/diagrams/drawing2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(Models)</a:t>
          </a:r>
        </a:p>
      </dsp:txBody>
      <dsp:txXfrm>
        <a:off x="32784" y="32784"/>
        <a:ext cx="9019377" cy="606012"/>
      </dsp:txXfrm>
    </dsp:sp>
  </dsp:spTree>
</dsp:drawing>
</file>

<file path=ppt/diagrams/drawing2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(Models)</a:t>
          </a:r>
        </a:p>
      </dsp:txBody>
      <dsp:txXfrm>
        <a:off x="32784" y="32784"/>
        <a:ext cx="9019377" cy="606012"/>
      </dsp:txXfrm>
    </dsp:sp>
  </dsp:spTree>
</dsp:drawing>
</file>

<file path=ppt/diagrams/drawing2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Encoding Strategies in LLMs</a:t>
          </a:r>
        </a:p>
      </dsp:txBody>
      <dsp:txXfrm>
        <a:off x="45663" y="45663"/>
        <a:ext cx="8993619" cy="844089"/>
      </dsp:txXfrm>
    </dsp:sp>
  </dsp:spTree>
</dsp:drawing>
</file>

<file path=ppt/diagrams/drawing2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Decoding Strategies in LLMs</a:t>
          </a:r>
        </a:p>
      </dsp:txBody>
      <dsp:txXfrm>
        <a:off x="45663" y="45663"/>
        <a:ext cx="8993619" cy="844089"/>
      </dsp:txXfrm>
    </dsp:sp>
  </dsp:spTree>
</dsp:drawing>
</file>

<file path=ppt/diagrams/drawing2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Decoding Strategies in LLMs</a:t>
          </a:r>
        </a:p>
      </dsp:txBody>
      <dsp:txXfrm>
        <a:off x="45663" y="45663"/>
        <a:ext cx="8993619" cy="844089"/>
      </dsp:txXfrm>
    </dsp:sp>
  </dsp:spTree>
</dsp:drawing>
</file>

<file path=ppt/diagrams/drawing2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 Training, Fine Tuning And Alignment</a:t>
          </a:r>
        </a:p>
      </dsp:txBody>
      <dsp:txXfrm>
        <a:off x="45663" y="45663"/>
        <a:ext cx="8993619" cy="844089"/>
      </dsp:txXfrm>
    </dsp:sp>
  </dsp:spTree>
</dsp:drawing>
</file>

<file path=ppt/diagrams/drawing2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 Training, Fine Tuning And Alignment</a:t>
          </a:r>
        </a:p>
      </dsp:txBody>
      <dsp:txXfrm>
        <a:off x="45663" y="45663"/>
        <a:ext cx="8993619" cy="844089"/>
      </dsp:txXfrm>
    </dsp:sp>
  </dsp:spTree>
</dsp:drawing>
</file>

<file path=ppt/diagrams/drawing2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 Training, Fine Tuning And Alignment</a:t>
          </a:r>
        </a:p>
      </dsp:txBody>
      <dsp:txXfrm>
        <a:off x="45663" y="45663"/>
        <a:ext cx="8993619" cy="844089"/>
      </dsp:txXfrm>
    </dsp:sp>
  </dsp:spTree>
</dsp:drawing>
</file>

<file path=ppt/diagrams/drawing2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 Training, Fine Tuning And Alignment</a:t>
          </a:r>
        </a:p>
      </dsp:txBody>
      <dsp:txXfrm>
        <a:off x="45663" y="45663"/>
        <a:ext cx="8993619" cy="844089"/>
      </dsp:txXfrm>
    </dsp:sp>
  </dsp:spTree>
</dsp:drawing>
</file>

<file path=ppt/diagrams/drawing2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 Training, Fine Tuning And Alignment</a:t>
          </a:r>
        </a:p>
      </dsp:txBody>
      <dsp:txXfrm>
        <a:off x="45663" y="45663"/>
        <a:ext cx="8993619" cy="844089"/>
      </dsp:txXfrm>
    </dsp:sp>
  </dsp:spTree>
</dsp:drawing>
</file>

<file path=ppt/diagrams/drawing2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LLM Resources</a:t>
          </a:r>
        </a:p>
      </dsp:txBody>
      <dsp:txXfrm>
        <a:off x="32784" y="32784"/>
        <a:ext cx="9019377" cy="606012"/>
      </dsp:txXfrm>
    </dsp:sp>
  </dsp:spTree>
</dsp:drawing>
</file>

<file path=ppt/diagrams/drawing2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GenAI</a:t>
          </a:r>
        </a:p>
      </dsp:txBody>
      <dsp:txXfrm>
        <a:off x="32784" y="32784"/>
        <a:ext cx="9019377" cy="606012"/>
      </dsp:txXfrm>
    </dsp:sp>
  </dsp:spTree>
</dsp:drawing>
</file>

<file path=ppt/diagrams/drawing2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GenAI</a:t>
          </a:r>
        </a:p>
      </dsp:txBody>
      <dsp:txXfrm>
        <a:off x="32784" y="32784"/>
        <a:ext cx="9019377" cy="606012"/>
      </dsp:txXfrm>
    </dsp:sp>
  </dsp:spTree>
</dsp:drawing>
</file>

<file path=ppt/diagrams/drawing2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GenAI</a:t>
          </a:r>
        </a:p>
      </dsp:txBody>
      <dsp:txXfrm>
        <a:off x="45663" y="45663"/>
        <a:ext cx="8993619" cy="844089"/>
      </dsp:txXfrm>
    </dsp:sp>
  </dsp:spTree>
</dsp:drawing>
</file>

<file path=ppt/diagrams/drawing2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GenAI Models</a:t>
          </a:r>
        </a:p>
      </dsp:txBody>
      <dsp:txXfrm>
        <a:off x="32784" y="32784"/>
        <a:ext cx="9019377" cy="606012"/>
      </dsp:txXfrm>
    </dsp:sp>
  </dsp:spTree>
</dsp:drawing>
</file>

<file path=ppt/diagrams/drawing2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6715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RAG</a:t>
          </a:r>
        </a:p>
      </dsp:txBody>
      <dsp:txXfrm>
        <a:off x="32784" y="32784"/>
        <a:ext cx="9019377" cy="606012"/>
      </dsp:txXfrm>
    </dsp:sp>
  </dsp:spTree>
</dsp:drawing>
</file>

<file path=ppt/diagrams/drawing2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LLMs and GenAI Resources</a:t>
          </a:r>
        </a:p>
      </dsp:txBody>
      <dsp:txXfrm>
        <a:off x="45663" y="45663"/>
        <a:ext cx="8993619" cy="844089"/>
      </dsp:txXfrm>
    </dsp:sp>
  </dsp:spTree>
</dsp:drawing>
</file>

<file path=ppt/diagrams/drawing2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NeuroSymbolic</a:t>
          </a:r>
          <a:r>
            <a:rPr lang="en-US" sz="3900" kern="1200" dirty="0"/>
            <a:t> AI</a:t>
          </a:r>
        </a:p>
      </dsp:txBody>
      <dsp:txXfrm>
        <a:off x="45663" y="45663"/>
        <a:ext cx="8993619" cy="844089"/>
      </dsp:txXfrm>
    </dsp:sp>
  </dsp:spTree>
</dsp:drawing>
</file>

<file path=ppt/diagrams/drawing2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Agents)</a:t>
          </a:r>
        </a:p>
      </dsp:txBody>
      <dsp:txXfrm>
        <a:off x="45663" y="45663"/>
        <a:ext cx="8993619" cy="844089"/>
      </dsp:txXfrm>
    </dsp:sp>
  </dsp:spTree>
</dsp:drawing>
</file>

<file path=ppt/diagrams/drawing2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Agentic AI(Internet of AI </a:t>
          </a:r>
          <a:r>
            <a:rPr lang="en-US" sz="3900" kern="1200"/>
            <a:t>Agents)</a:t>
          </a:r>
          <a:endParaRPr lang="en-US" sz="3900" kern="1200" dirty="0"/>
        </a:p>
      </dsp:txBody>
      <dsp:txXfrm>
        <a:off x="45663" y="45663"/>
        <a:ext cx="8993619" cy="844089"/>
      </dsp:txXfrm>
    </dsp:sp>
  </dsp:spTree>
</dsp:drawing>
</file>

<file path=ppt/diagrams/drawing2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NeuroMorphic</a:t>
          </a:r>
          <a:r>
            <a:rPr lang="en-US" sz="3900" kern="1200" dirty="0"/>
            <a:t> AI</a:t>
          </a:r>
        </a:p>
      </dsp:txBody>
      <dsp:txXfrm>
        <a:off x="45663" y="45663"/>
        <a:ext cx="8993619" cy="844089"/>
      </dsp:txXfrm>
    </dsp:sp>
  </dsp:spTree>
</dsp:drawing>
</file>

<file path=ppt/diagrams/drawing2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err="1"/>
            <a:t>NeuroMorphic</a:t>
          </a:r>
          <a:r>
            <a:rPr lang="en-US" sz="3900" kern="1200" dirty="0"/>
            <a:t> AI (Related) Resources</a:t>
          </a:r>
        </a:p>
      </dsp:txBody>
      <dsp:txXfrm>
        <a:off x="45663" y="45663"/>
        <a:ext cx="8993619" cy="844089"/>
      </dsp:txXfrm>
    </dsp:sp>
  </dsp:spTree>
</dsp:drawing>
</file>

<file path=ppt/diagrams/drawing2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8744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err="1"/>
            <a:t>AutoML</a:t>
          </a:r>
          <a:r>
            <a:rPr lang="en-US" sz="3700" kern="1200" dirty="0"/>
            <a:t>(Search for Best ML/DL Architecture)</a:t>
          </a:r>
        </a:p>
      </dsp:txBody>
      <dsp:txXfrm>
        <a:off x="43321" y="43321"/>
        <a:ext cx="8998303" cy="800803"/>
      </dsp:txXfrm>
    </dsp:sp>
  </dsp:spTree>
</dsp:drawing>
</file>

<file path=ppt/diagrams/drawing2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ML-Engineering/</a:t>
          </a:r>
          <a:r>
            <a:rPr lang="en-US" sz="3900" kern="1200" dirty="0" err="1"/>
            <a:t>MLOps</a:t>
          </a:r>
          <a:r>
            <a:rPr lang="en-US" sz="3900" kern="1200" dirty="0"/>
            <a:t>/</a:t>
          </a:r>
          <a:r>
            <a:rPr lang="en-US" sz="3900" kern="1200" dirty="0" err="1"/>
            <a:t>LLMOps</a:t>
          </a:r>
          <a:endParaRPr lang="en-US" sz="3900" kern="1200" dirty="0"/>
        </a:p>
      </dsp:txBody>
      <dsp:txXfrm>
        <a:off x="45663" y="45663"/>
        <a:ext cx="8993619" cy="844089"/>
      </dsp:txXfrm>
    </dsp:sp>
  </dsp:spTree>
</dsp:drawing>
</file>

<file path=ppt/diagrams/drawing2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83947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Instance Types &amp; how they effect performance</a:t>
          </a:r>
        </a:p>
      </dsp:txBody>
      <dsp:txXfrm>
        <a:off x="40980" y="40980"/>
        <a:ext cx="9002985" cy="757514"/>
      </dsp:txXfrm>
    </dsp:sp>
  </dsp:spTree>
</dsp:drawing>
</file>

<file path=ppt/diagrams/drawing2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66230"/>
          <a:ext cx="9084945" cy="71954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Instance Types &amp; how they effect performance </a:t>
          </a:r>
          <a:r>
            <a:rPr lang="en-US" sz="3000" kern="1200" dirty="0" err="1"/>
            <a:t>contd</a:t>
          </a:r>
          <a:r>
            <a:rPr lang="en-US" sz="3000" kern="1200" dirty="0"/>
            <a:t>…</a:t>
          </a:r>
        </a:p>
      </dsp:txBody>
      <dsp:txXfrm>
        <a:off x="35125" y="101355"/>
        <a:ext cx="9014695" cy="649299"/>
      </dsp:txXfrm>
    </dsp:sp>
  </dsp:spTree>
</dsp:drawing>
</file>

<file path=ppt/diagrams/drawing2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79150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Why GPUs/TPUs needed for Deep Neural Networks</a:t>
          </a:r>
        </a:p>
      </dsp:txBody>
      <dsp:txXfrm>
        <a:off x="38638" y="38638"/>
        <a:ext cx="9007669" cy="714229"/>
      </dsp:txXfrm>
    </dsp:sp>
  </dsp:spTree>
</dsp:drawing>
</file>

<file path=ppt/diagrams/drawing2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Distributed ML</a:t>
          </a:r>
        </a:p>
      </dsp:txBody>
      <dsp:txXfrm>
        <a:off x="45663" y="45663"/>
        <a:ext cx="8993619" cy="844089"/>
      </dsp:txXfrm>
    </dsp:sp>
  </dsp:spTree>
</dsp:drawing>
</file>

<file path=ppt/diagrams/drawing2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Distributed ML</a:t>
          </a:r>
        </a:p>
      </dsp:txBody>
      <dsp:txXfrm>
        <a:off x="45663" y="45663"/>
        <a:ext cx="8993619" cy="844089"/>
      </dsp:txXfrm>
    </dsp:sp>
  </dsp:spTree>
</dsp:drawing>
</file>

<file path=ppt/diagrams/drawing2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Responsible AI</a:t>
          </a:r>
        </a:p>
      </dsp:txBody>
      <dsp:txXfrm>
        <a:off x="45663" y="45663"/>
        <a:ext cx="8993619" cy="844089"/>
      </dsp:txXfrm>
    </dsp:sp>
  </dsp:spTree>
</dsp:drawing>
</file>

<file path=ppt/diagrams/drawing2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dsp:txBody>
      <dsp:txXfrm>
        <a:off x="45663" y="45663"/>
        <a:ext cx="8993619" cy="844089"/>
      </dsp:txXfrm>
    </dsp:sp>
  </dsp:spTree>
</dsp:drawing>
</file>

<file path=ppt/diagrams/drawing2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14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err="1"/>
            <a:t>DataScience</a:t>
          </a:r>
          <a:r>
            <a:rPr lang="en-US" sz="2300" kern="1200" dirty="0"/>
            <a:t>/AI/ML/DL Related Projects, Certifications &amp; Interview Resources</a:t>
          </a:r>
        </a:p>
      </dsp:txBody>
      <dsp:txXfrm>
        <a:off x="44664" y="44664"/>
        <a:ext cx="8995617" cy="825612"/>
      </dsp:txXfrm>
    </dsp:sp>
  </dsp:spTree>
</dsp:drawing>
</file>

<file path=ppt/diagrams/drawing2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Further Resources for Exploration</a:t>
          </a:r>
        </a:p>
      </dsp:txBody>
      <dsp:txXfrm>
        <a:off x="45663" y="45663"/>
        <a:ext cx="8993619" cy="844089"/>
      </dsp:txXfrm>
    </dsp:sp>
  </dsp:spTree>
</dsp:drawing>
</file>

<file path=ppt/diagrams/drawing2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Further Resources for Exploration </a:t>
          </a:r>
          <a:r>
            <a:rPr lang="en-US" sz="3900" kern="1200" dirty="0" err="1"/>
            <a:t>contd</a:t>
          </a:r>
          <a:r>
            <a:rPr lang="en-US" sz="3900" kern="1200" dirty="0"/>
            <a:t>…</a:t>
          </a:r>
        </a:p>
      </dsp:txBody>
      <dsp:txXfrm>
        <a:off x="45663" y="45663"/>
        <a:ext cx="8993619" cy="844089"/>
      </dsp:txXfrm>
    </dsp:sp>
  </dsp:spTree>
</dsp:drawing>
</file>

<file path=ppt/diagrams/drawing2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7C971-6750-47DD-BB0C-614B2EB10D25}">
      <dsp:nvSpPr>
        <dsp:cNvPr id="0" name=""/>
        <dsp:cNvSpPr/>
      </dsp:nvSpPr>
      <dsp:spPr>
        <a:xfrm>
          <a:off x="0" y="0"/>
          <a:ext cx="9084945" cy="93541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Some Other Good To Know References</a:t>
          </a:r>
        </a:p>
      </dsp:txBody>
      <dsp:txXfrm>
        <a:off x="45663" y="45663"/>
        <a:ext cx="8993619" cy="8440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11/1/2025</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11/1/2025</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8" Type="http://schemas.openxmlformats.org/officeDocument/2006/relationships/hyperlink" Target="https://medium.com/@ravindersengar/design-a-data-analytic-system-for-insurance-business-using-microsoft-azure-services-a803e65b13c3" TargetMode="External"/><Relationship Id="rId13" Type="http://schemas.openxmlformats.org/officeDocument/2006/relationships/hyperlink" Target="https://www.linkedin.com/pulse/leveraging-recordio-efficient-training-cost-reduction-narges-rezaei-wnj0e/" TargetMode="External"/><Relationship Id="rId3" Type="http://schemas.openxmlformats.org/officeDocument/2006/relationships/diagramLayout" Target="../diagrams/layout2.xml"/><Relationship Id="rId7" Type="http://schemas.openxmlformats.org/officeDocument/2006/relationships/image" Target="../media/image2.png"/><Relationship Id="rId12" Type="http://schemas.openxmlformats.org/officeDocument/2006/relationships/hyperlink" Target="https://pathlock.com/learn/data-anonymization-vs-data-masking/"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hyperlink" Target="https://www.linkedin.com/posts/brijpandeyji_as-applications-evolve-to-handle-more-complexity-activity-7312692773990682624-cOBh/?utm_source=share&amp;utm_medium=member_desktop&amp;rcm=ACoAADEs2XAB8-7TelfobrMhA9_jxB71Dn4BtW4" TargetMode="External"/><Relationship Id="rId5" Type="http://schemas.openxmlformats.org/officeDocument/2006/relationships/diagramColors" Target="../diagrams/colors2.xml"/><Relationship Id="rId10" Type="http://schemas.openxmlformats.org/officeDocument/2006/relationships/hyperlink" Target="https://www.analyticsvidhya.com/blog/2020/08/types-of-categorical-data-encoding/" TargetMode="External"/><Relationship Id="rId4" Type="http://schemas.openxmlformats.org/officeDocument/2006/relationships/diagramQuickStyle" Target="../diagrams/quickStyle2.xml"/><Relationship Id="rId9" Type="http://schemas.openxmlformats.org/officeDocument/2006/relationships/hyperlink" Target="https://www.linkedin.com/pulse/6-categories-data-frank-mendoza/"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tpointtech.com/knowledge-based-agent-in-ai" TargetMode="External"/><Relationship Id="rId3" Type="http://schemas.openxmlformats.org/officeDocument/2006/relationships/diagramLayout" Target="../diagrams/layout3.xml"/><Relationship Id="rId7" Type="http://schemas.openxmlformats.org/officeDocument/2006/relationships/image" Target="../media/image3.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hyperlink" Target="https://pianalytix.com/data-types-in-machine-learning/" TargetMode="External"/><Relationship Id="rId4" Type="http://schemas.openxmlformats.org/officeDocument/2006/relationships/diagramQuickStyle" Target="../diagrams/quickStyle3.xml"/><Relationship Id="rId9" Type="http://schemas.openxmlformats.org/officeDocument/2006/relationships/hyperlink" Target="https://www.mkbergman.com/a-knowledge-representation-practionary/" TargetMode="Externa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hyperlink" Target="https://builtin.com/data-science/types-of-data-analysis" TargetMode="External"/><Relationship Id="rId7" Type="http://schemas.openxmlformats.org/officeDocument/2006/relationships/diagramLayout" Target="../diagrams/layout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4.xml"/><Relationship Id="rId5" Type="http://schemas.openxmlformats.org/officeDocument/2006/relationships/hyperlink" Target="https://www.youtube.com/watch?v=rwn47xXX0Cs" TargetMode="External"/><Relationship Id="rId10" Type="http://schemas.microsoft.com/office/2007/relationships/diagramDrawing" Target="../diagrams/drawing4.xml"/><Relationship Id="rId4" Type="http://schemas.openxmlformats.org/officeDocument/2006/relationships/hyperlink" Target="https://www.netsuite.com/portal/resource/articles/data-warehouse/diagnostic-analytics.shtml" TargetMode="External"/><Relationship Id="rId9" Type="http://schemas.openxmlformats.org/officeDocument/2006/relationships/diagramColors" Target="../diagrams/colors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8" Type="http://schemas.openxmlformats.org/officeDocument/2006/relationships/hyperlink" Target="https://blog.heycoach.in/las-vegas-algorithm-vs-monte-carlo-algorithm/" TargetMode="External"/><Relationship Id="rId13" Type="http://schemas.microsoft.com/office/2007/relationships/diagramDrawing" Target="../diagrams/drawing7.xml"/><Relationship Id="rId3" Type="http://schemas.openxmlformats.org/officeDocument/2006/relationships/hyperlink" Target="https://www.techtarget.com/searchdatamanagement/definition/deterministic-probabilistic-data" TargetMode="External"/><Relationship Id="rId7" Type="http://schemas.openxmlformats.org/officeDocument/2006/relationships/hyperlink" Target="https://clearcode.cc/blog/deterministic-probabilistic-matching/" TargetMode="External"/><Relationship Id="rId12" Type="http://schemas.openxmlformats.org/officeDocument/2006/relationships/diagramColors" Target="../diagrams/colors7.xml"/><Relationship Id="rId2" Type="http://schemas.openxmlformats.org/officeDocument/2006/relationships/hyperlink" Target="https://www.alphanome.ai/post/probabilistic-vs-deterministic-models-in-ai-ml-a-detailed-explanation" TargetMode="External"/><Relationship Id="rId1" Type="http://schemas.openxmlformats.org/officeDocument/2006/relationships/slideLayout" Target="../slideLayouts/slideLayout2.xml"/><Relationship Id="rId6" Type="http://schemas.openxmlformats.org/officeDocument/2006/relationships/hyperlink" Target="https://www.analyticsvidhya.com/blog/2023/12/deterministic-vs-stochastic/" TargetMode="External"/><Relationship Id="rId11" Type="http://schemas.openxmlformats.org/officeDocument/2006/relationships/diagramQuickStyle" Target="../diagrams/quickStyle7.xml"/><Relationship Id="rId5" Type="http://schemas.openxmlformats.org/officeDocument/2006/relationships/hyperlink" Target="https://www.linkedin.com/advice/1/what-difference-between-deterministic-stochastic-c5ate" TargetMode="External"/><Relationship Id="rId10" Type="http://schemas.openxmlformats.org/officeDocument/2006/relationships/diagramLayout" Target="../diagrams/layout7.xml"/><Relationship Id="rId4" Type="http://schemas.openxmlformats.org/officeDocument/2006/relationships/hyperlink" Target="https://www.gaine.com/blog/probabilistic-and-deterministic-results-in-ai-systems" TargetMode="External"/><Relationship Id="rId9" Type="http://schemas.openxmlformats.org/officeDocument/2006/relationships/diagramData" Target="../diagrams/data7.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hyperlink" Target="https://futureskillsacademy.com/blog/artificial-intelligence-vs-machine-learning-vs-deep-learning/" TargetMode="Externa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hyperlink" Target="https://www.geeksforgeeks.org/machine-learning/difference-between-parametric-and-non-parametric-methods/" TargetMode="External"/><Relationship Id="rId3" Type="http://schemas.openxmlformats.org/officeDocument/2006/relationships/diagramLayout" Target="../diagrams/layout10.xml"/><Relationship Id="rId7" Type="http://schemas.openxmlformats.org/officeDocument/2006/relationships/hyperlink" Target="https://www.techtarget.com/searchenterpriseai/tip/Types-of-learning-in-machine-learning-explained" TargetMode="Externa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image" Target="../media/image7.png"/><Relationship Id="rId5" Type="http://schemas.openxmlformats.org/officeDocument/2006/relationships/diagramColors" Target="../diagrams/colors10.xml"/><Relationship Id="rId10" Type="http://schemas.openxmlformats.org/officeDocument/2006/relationships/hyperlink" Target="https://learn.microsoft.com/en-us/azure/machine-learning/component-reference/component-reference?view=azureml-api-2&amp;viewFallbackFrom=azureml-api-2%27" TargetMode="External"/><Relationship Id="rId4" Type="http://schemas.openxmlformats.org/officeDocument/2006/relationships/diagramQuickStyle" Target="../diagrams/quickStyle10.xml"/><Relationship Id="rId9" Type="http://schemas.openxmlformats.org/officeDocument/2006/relationships/hyperlink" Target="https://www.reddit.com/r/statistics/comments/16in9tb/how_do_you_decide_when_to_use_parametric_methods/?rdt=34472"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11.xml"/><Relationship Id="rId7" Type="http://schemas.openxmlformats.org/officeDocument/2006/relationships/image" Target="../media/image8.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hyperlink" Target="https://www.cogitotech.com/data-labeling" TargetMode="External"/><Relationship Id="rId3" Type="http://schemas.openxmlformats.org/officeDocument/2006/relationships/diagramLayout" Target="../diagrams/layout12.xml"/><Relationship Id="rId7" Type="http://schemas.openxmlformats.org/officeDocument/2006/relationships/hyperlink" Target="https://blogs.sas.com/content/subconsciousmusings/2020/12/09/machine-learning-algorithm-use/" TargetMode="Externa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10" Type="http://schemas.openxmlformats.org/officeDocument/2006/relationships/hyperlink" Target="https://fleuret.org/public/lbdl.pdf" TargetMode="External"/><Relationship Id="rId4" Type="http://schemas.openxmlformats.org/officeDocument/2006/relationships/diagramQuickStyle" Target="../diagrams/quickStyle12.xml"/><Relationship Id="rId9" Type="http://schemas.openxmlformats.org/officeDocument/2006/relationships/hyperlink" Target="https://www.datacamp.com/cheat-sheet/category/machine-learning"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v7labs.com/blog/self-supervised-learning-guide" TargetMode="External"/><Relationship Id="rId13" Type="http://schemas.openxmlformats.org/officeDocument/2006/relationships/hyperlink" Target="https://arxiv.org/abs/2401.00897" TargetMode="External"/><Relationship Id="rId3" Type="http://schemas.openxmlformats.org/officeDocument/2006/relationships/diagramLayout" Target="../diagrams/layout13.xml"/><Relationship Id="rId7" Type="http://schemas.openxmlformats.org/officeDocument/2006/relationships/hyperlink" Target="https://www.v7labs.com/blog/semi-supervised-learning-guide" TargetMode="External"/><Relationship Id="rId12" Type="http://schemas.openxmlformats.org/officeDocument/2006/relationships/hyperlink" Target="https://arxiv.org/html/2405.00420v1" TargetMode="Externa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11" Type="http://schemas.openxmlformats.org/officeDocument/2006/relationships/hyperlink" Target="https://nips.cc/media/neurips-2021/Slides/21895.pdf" TargetMode="External"/><Relationship Id="rId5" Type="http://schemas.openxmlformats.org/officeDocument/2006/relationships/diagramColors" Target="../diagrams/colors13.xml"/><Relationship Id="rId10" Type="http://schemas.openxmlformats.org/officeDocument/2006/relationships/hyperlink" Target="https://www.geeksforgeeks.org/masked-autoencoders-in-deep-learning/" TargetMode="External"/><Relationship Id="rId4" Type="http://schemas.openxmlformats.org/officeDocument/2006/relationships/diagramQuickStyle" Target="../diagrams/quickStyle13.xml"/><Relationship Id="rId9" Type="http://schemas.openxmlformats.org/officeDocument/2006/relationships/hyperlink" Target="https://www.vanderschaar-lab.com/self-semi-supervised-learning/" TargetMode="External"/><Relationship Id="rId1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8" Type="http://schemas.openxmlformats.org/officeDocument/2006/relationships/hyperlink" Target="https://1spatial.com/documentation/1integrate/v1_3/Topics/Topology/Faces.htm" TargetMode="External"/><Relationship Id="rId3" Type="http://schemas.openxmlformats.org/officeDocument/2006/relationships/diagramLayout" Target="../diagrams/layout15.xml"/><Relationship Id="rId7" Type="http://schemas.openxmlformats.org/officeDocument/2006/relationships/hyperlink" Target="https://github.com/MartinuzziFrancesco/awesome-scientific-machine-learning" TargetMode="Externa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8" Type="http://schemas.openxmlformats.org/officeDocument/2006/relationships/hyperlink" Target="https://www.google.com/search?safe=active&amp;sca_esv=da19ebeccc14b1b9&amp;rlz=1C1GCEW_enIN1075IN1075&amp;cs=0&amp;sxsrf=AE3TifOXi1hZCY04obJ3PwOltcwUHSGK0g%3A1760496612333&amp;q=eigenvectors&amp;sa=X&amp;ved=2ahUKEwjErbH5mKWQAxWCbmwGHediAdEQxccNegQINRAB&amp;mstk=AUtExfB95rRRHjEYYnwlETVidzLCghfui-O6Y5eDID9yS8gclG8aUGZBy2xcr02W750PwytW0i3JNBzDsFYu_waNzOIPnfYbkmxomvIILzdCFk6ho-PYxH4XOZHTC4HbTux8iM0kFztGDoMwytDn504XGVSR2FNf74Fh36l-paCuv5tft2w&amp;csui=3" TargetMode="External"/><Relationship Id="rId3" Type="http://schemas.openxmlformats.org/officeDocument/2006/relationships/diagramLayout" Target="../diagrams/layout17.xml"/><Relationship Id="rId7" Type="http://schemas.openxmlformats.org/officeDocument/2006/relationships/hyperlink" Target="https://www.google.com/search?safe=active&amp;sca_esv=da19ebeccc14b1b9&amp;rlz=1C1GCEW_enIN1075IN1075&amp;cs=0&amp;sxsrf=AE3TifOXi1hZCY04obJ3PwOltcwUHSGK0g%3A1760496612333&amp;q=Dot+products&amp;sa=X&amp;ved=2ahUKEwjErbH5mKWQAxWCbmwGHediAdEQxccNegQIFBAB&amp;mstk=AUtExfB95rRRHjEYYnwlETVidzLCghfui-O6Y5eDID9yS8gclG8aUGZBy2xcr02W750PwytW0i3JNBzDsFYu_waNzOIPnfYbkmxomvIILzdCFk6ho-PYxH4XOZHTC4HbTux8iM0kFztGDoMwytDn504XGVSR2FNf74Fh36l-paCuv5tft2w&amp;csui=3" TargetMode="Externa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8" Type="http://schemas.openxmlformats.org/officeDocument/2006/relationships/hyperlink" Target="https://www.google.com/search?safe=active&amp;sca_esv=da19ebeccc14b1b9&amp;rlz=1C1GCEW_enIN1075IN1075&amp;cs=0&amp;sxsrf=AE3TifOXi1hZCY04obJ3PwOltcwUHSGK0g%3A1760496612333&amp;q=Matrix+decomposition&amp;sa=X&amp;ved=2ahUKEwjErbH5mKWQAxWCbmwGHediAdEQxccNegQIKhAB&amp;mstk=AUtExfB95rRRHjEYYnwlETVidzLCghfui-O6Y5eDID9yS8gclG8aUGZBy2xcr02W750PwytW0i3JNBzDsFYu_waNzOIPnfYbkmxomvIILzdCFk6ho-PYxH4XOZHTC4HbTux8iM0kFztGDoMwytDn504XGVSR2FNf74Fh36l-paCuv5tft2w&amp;csui=3" TargetMode="External"/><Relationship Id="rId3" Type="http://schemas.openxmlformats.org/officeDocument/2006/relationships/diagramLayout" Target="../diagrams/layout18.xml"/><Relationship Id="rId7" Type="http://schemas.openxmlformats.org/officeDocument/2006/relationships/hyperlink" Target="https://www.google.com/search?safe=active&amp;sca_esv=da19ebeccc14b1b9&amp;rlz=1C1GCEW_enIN1075IN1075&amp;cs=0&amp;sxsrf=AE3TifOXi1hZCY04obJ3PwOltcwUHSGK0g%3A1760496612333&amp;q=Singular+Value+Decomposition+%28SVD%29&amp;sa=X&amp;ved=2ahUKEwjErbH5mKWQAxWCbmwGHediAdEQxccNegQIKBAB&amp;mstk=AUtExfB95rRRHjEYYnwlETVidzLCghfui-O6Y5eDID9yS8gclG8aUGZBy2xcr02W750PwytW0i3JNBzDsFYu_waNzOIPnfYbkmxomvIILzdCFk6ho-PYxH4XOZHTC4HbTux8iM0kFztGDoMwytDn504XGVSR2FNf74Fh36l-paCuv5tft2w&amp;csui=3" TargetMode="Externa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 Id="rId9" Type="http://schemas.openxmlformats.org/officeDocument/2006/relationships/hyperlink" Target="https://www.google.com/search?safe=active&amp;sca_esv=da19ebeccc14b1b9&amp;rlz=1C1GCEW_enIN1075IN1075&amp;cs=0&amp;sxsrf=AE3TifOXi1hZCY04obJ3PwOltcwUHSGK0g%3A1760496612333&amp;q=Word2Vec&amp;sa=X&amp;ved=2ahUKEwjErbH5mKWQAxWCbmwGHediAdEQxccNegQITBAB&amp;mstk=AUtExfB95rRRHjEYYnwlETVidzLCghfui-O6Y5eDID9yS8gclG8aUGZBy2xcr02W750PwytW0i3JNBzDsFYu_waNzOIPnfYbkmxomvIILzdCFk6ho-PYxH4XOZHTC4HbTux8iM0kFztGDoMwytDn504XGVSR2FNf74Fh36l-paCuv5tft2w&amp;csui=3"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codingthematrix.com/" TargetMode="External"/><Relationship Id="rId3" Type="http://schemas.openxmlformats.org/officeDocument/2006/relationships/diagramLayout" Target="../diagrams/layout19.xml"/><Relationship Id="rId7" Type="http://schemas.openxmlformats.org/officeDocument/2006/relationships/hyperlink" Target="https://www.amazon.in/Linear-Algebra-Theory-Intuition-Code-ebook/dp/B08W9MGDFW" TargetMode="External"/><Relationship Id="rId12" Type="http://schemas.openxmlformats.org/officeDocument/2006/relationships/hyperlink" Target="https://www.linkedin.com/pulse/9-distance-measures-data-science-khadar-valli/"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11" Type="http://schemas.openxmlformats.org/officeDocument/2006/relationships/hyperlink" Target="https://www.geeksforgeeks.org/vector-projection-formula/" TargetMode="External"/><Relationship Id="rId5" Type="http://schemas.openxmlformats.org/officeDocument/2006/relationships/diagramColors" Target="../diagrams/colors19.xml"/><Relationship Id="rId10" Type="http://schemas.openxmlformats.org/officeDocument/2006/relationships/hyperlink" Target="https://math.mit.edu/~gs/learningfromdata/" TargetMode="External"/><Relationship Id="rId4" Type="http://schemas.openxmlformats.org/officeDocument/2006/relationships/diagramQuickStyle" Target="../diagrams/quickStyle19.xml"/><Relationship Id="rId9" Type="http://schemas.openxmlformats.org/officeDocument/2006/relationships/hyperlink" Target="https://www.amazon.in/Linear-Algebra-Its-Applications-5th/dp/9357059687"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google.com/search?safe=active&amp;sca_esv=da19ebeccc14b1b9&amp;rlz=1C1GCEW_enIN1075IN1075&amp;cs=0&amp;sxsrf=AE3TifOSFOHKTuV9nbY6zlFWsJNr_FD5CQ%3A1760497037371&amp;q=Naive+Bayes+classifiers&amp;sa=X&amp;ved=2ahUKEwij4orEmqWQAxUZe2wGHct8NQIQxccNegQIBhAC&amp;mstk=AUtExfAYlLAYOL3IjwajpObuS3P3ut5lUq3hMpJIlh5pzahIFVbocaegyWIxNPi0XfEu_RC_ftmfh0C2qo3uKLzMHjBT0xPo1wXdGqYs5Op4B91WdK2xT260E4T-5XRlzncRTaTfqrMi0lqx71P5XZuuY-s0mVFJhsEQm8h3VtkIjLBhKGH2RhVvze3kPNlh7507kmkpGmAO8mstnfKAg4s8K3LIKf8rcKUN7pqQ9tQ5xNnVt7eO149V3r2gunY5ja9iWKtQjWwoBywgwbZEO-7hDXcB&amp;csui=3" TargetMode="External"/><Relationship Id="rId3" Type="http://schemas.openxmlformats.org/officeDocument/2006/relationships/diagramLayout" Target="../diagrams/layout20.xml"/><Relationship Id="rId7" Type="http://schemas.openxmlformats.org/officeDocument/2006/relationships/hyperlink" Target="https://www.google.com/search?safe=active&amp;sca_esv=da19ebeccc14b1b9&amp;rlz=1C1GCEW_enIN1075IN1075&amp;cs=0&amp;sxsrf=AE3TifOSFOHKTuV9nbY6zlFWsJNr_FD5CQ%3A1760497037371&amp;q=Bayes%27+rule&amp;sa=X&amp;ved=2ahUKEwij4orEmqWQAxUZe2wGHct8NQIQxccNegQIBhAB&amp;mstk=AUtExfAYlLAYOL3IjwajpObuS3P3ut5lUq3hMpJIlh5pzahIFVbocaegyWIxNPi0XfEu_RC_ftmfh0C2qo3uKLzMHjBT0xPo1wXdGqYs5Op4B91WdK2xT260E4T-5XRlzncRTaTfqrMi0lqx71P5XZuuY-s0mVFJhsEQm8h3VtkIjLBhKGH2RhVvze3kPNlh7507kmkpGmAO8mstnfKAg4s8K3LIKf8rcKUN7pqQ9tQ5xNnVt7eO149V3r2gunY5ja9iWKtQjWwoBywgwbZEO-7hDXcB&amp;csui=3"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 Id="rId9" Type="http://schemas.openxmlformats.org/officeDocument/2006/relationships/hyperlink" Target="https://www.google.com/search?safe=active&amp;sca_esv=da19ebeccc14b1b9&amp;rlz=1C1GCEW_enIN1075IN1075&amp;cs=0&amp;sxsrf=AE3TifOSFOHKTuV9nbY6zlFWsJNr_FD5CQ%3A1760497037371&amp;q=Bayesian+inference&amp;sa=X&amp;ved=2ahUKEwij4orEmqWQAxUZe2wGHct8NQIQxccNegQIGRAB&amp;mstk=AUtExfAYlLAYOL3IjwajpObuS3P3ut5lUq3hMpJIlh5pzahIFVbocaegyWIxNPi0XfEu_RC_ftmfh0C2qo3uKLzMHjBT0xPo1wXdGqYs5Op4B91WdK2xT260E4T-5XRlzncRTaTfqrMi0lqx71P5XZuuY-s0mVFJhsEQm8h3VtkIjLBhKGH2RhVvze3kPNlh7507kmkpGmAO8mstnfKAg4s8K3LIKf8rcKUN7pqQ9tQ5xNnVt7eO149V3r2gunY5ja9iWKtQjWwoBywgwbZEO-7hDXcB&amp;csui=3"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www.google.com/search?safe=active&amp;sca_esv=da19ebeccc14b1b9&amp;rlz=1C1GCEW_enIN1075IN1075&amp;cs=0&amp;sxsrf=AE3TifOSFOHKTuV9nbY6zlFWsJNr_FD5CQ%3A1760497037371&amp;q=Bayesian+Occam%27s+Razor&amp;sa=X&amp;ved=2ahUKEwij4orEmqWQAxUZe2wGHct8NQIQxccNegQILBAC&amp;mstk=AUtExfAYlLAYOL3IjwajpObuS3P3ut5lUq3hMpJIlh5pzahIFVbocaegyWIxNPi0XfEu_RC_ftmfh0C2qo3uKLzMHjBT0xPo1wXdGqYs5Op4B91WdK2xT260E4T-5XRlzncRTaTfqrMi0lqx71P5XZuuY-s0mVFJhsEQm8h3VtkIjLBhKGH2RhVvze3kPNlh7507kmkpGmAO8mstnfKAg4s8K3LIKf8rcKUN7pqQ9tQ5xNnVt7eO149V3r2gunY5ja9iWKtQjWwoBywgwbZEO-7hDXcB&amp;csui=3" TargetMode="External"/><Relationship Id="rId3" Type="http://schemas.openxmlformats.org/officeDocument/2006/relationships/diagramLayout" Target="../diagrams/layout21.xml"/><Relationship Id="rId7" Type="http://schemas.openxmlformats.org/officeDocument/2006/relationships/hyperlink" Target="https://www.google.com/search?safe=active&amp;sca_esv=da19ebeccc14b1b9&amp;rlz=1C1GCEW_enIN1075IN1075&amp;cs=0&amp;sxsrf=AE3TifOSFOHKTuV9nbY6zlFWsJNr_FD5CQ%3A1760497037371&amp;q=marginal+likelihood&amp;sa=X&amp;ved=2ahUKEwij4orEmqWQAxUZe2wGHct8NQIQxccNegQILBAB&amp;mstk=AUtExfAYlLAYOL3IjwajpObuS3P3ut5lUq3hMpJIlh5pzahIFVbocaegyWIxNPi0XfEu_RC_ftmfh0C2qo3uKLzMHjBT0xPo1wXdGqYs5Op4B91WdK2xT260E4T-5XRlzncRTaTfqrMi0lqx71P5XZuuY-s0mVFJhsEQm8h3VtkIjLBhKGH2RhVvze3kPNlh7507kmkpGmAO8mstnfKAg4s8K3LIKf8rcKUN7pqQ9tQ5xNnVt7eO149V3r2gunY5ja9iWKtQjWwoBywgwbZEO-7hDXcB&amp;csui=3" TargetMode="Externa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12.pn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13.png"/><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1.xml.rels><?xml version="1.0" encoding="UTF-8" standalone="yes"?>
<Relationships xmlns="http://schemas.openxmlformats.org/package/2006/relationships"><Relationship Id="rId8" Type="http://schemas.openxmlformats.org/officeDocument/2006/relationships/hyperlink" Target="https://probability4datascience.com/" TargetMode="External"/><Relationship Id="rId13" Type="http://schemas.openxmlformats.org/officeDocument/2006/relationships/hyperlink" Target="https://howtolearnmachinelearning.com/books/data-analysis-books/statistical-rethinking/" TargetMode="External"/><Relationship Id="rId18" Type="http://schemas.openxmlformats.org/officeDocument/2006/relationships/hyperlink" Target="https://www.manning.com/books/practical-probabilistic-programming" TargetMode="External"/><Relationship Id="rId3" Type="http://schemas.openxmlformats.org/officeDocument/2006/relationships/diagramLayout" Target="../diagrams/layout31.xml"/><Relationship Id="rId21" Type="http://schemas.openxmlformats.org/officeDocument/2006/relationships/hyperlink" Target="https://en.wikipedia.org/wiki/Probability_axioms" TargetMode="External"/><Relationship Id="rId7" Type="http://schemas.openxmlformats.org/officeDocument/2006/relationships/hyperlink" Target="https://www.geeksforgeeks.org/maths/probability-in-maths/" TargetMode="External"/><Relationship Id="rId12" Type="http://schemas.openxmlformats.org/officeDocument/2006/relationships/hyperlink" Target="https://davidmorin.physics.fas.harvard.edu/books/probability/" TargetMode="External"/><Relationship Id="rId17" Type="http://schemas.openxmlformats.org/officeDocument/2006/relationships/hyperlink" Target="https://www.packtpub.com/en-in/product/mastering-probabilistic-graphical-models-with-python-9781784395216" TargetMode="External"/><Relationship Id="rId2" Type="http://schemas.openxmlformats.org/officeDocument/2006/relationships/diagramData" Target="../diagrams/data31.xml"/><Relationship Id="rId16" Type="http://schemas.openxmlformats.org/officeDocument/2006/relationships/hyperlink" Target="https://www.packtpub.com/en-in/product/learning-probabilistic-graphical-models-in-r-9781784397418" TargetMode="External"/><Relationship Id="rId20" Type="http://schemas.openxmlformats.org/officeDocument/2006/relationships/hyperlink" Target="https://en.wikipedia.org/wiki/Stochastic_process" TargetMode="External"/><Relationship Id="rId1" Type="http://schemas.openxmlformats.org/officeDocument/2006/relationships/slideLayout" Target="../slideLayouts/slideLayout2.xml"/><Relationship Id="rId6" Type="http://schemas.microsoft.com/office/2007/relationships/diagramDrawing" Target="../diagrams/drawing31.xml"/><Relationship Id="rId11" Type="http://schemas.openxmlformats.org/officeDocument/2006/relationships/hyperlink" Target="https://howtolearnmachinelearning.com/books/data-analysis-books/bayesian-statistics-the-fun-way/" TargetMode="External"/><Relationship Id="rId5" Type="http://schemas.openxmlformats.org/officeDocument/2006/relationships/diagramColors" Target="../diagrams/colors31.xml"/><Relationship Id="rId15" Type="http://schemas.openxmlformats.org/officeDocument/2006/relationships/hyperlink" Target="https://medium.com/@roshmitadey/frequentist-v-s-bayesian-statistics-24b959c96880" TargetMode="External"/><Relationship Id="rId10" Type="http://schemas.openxmlformats.org/officeDocument/2006/relationships/hyperlink" Target="https://www.youtube.com/watch?v=YFkavoOI-k4" TargetMode="External"/><Relationship Id="rId19" Type="http://schemas.openxmlformats.org/officeDocument/2006/relationships/hyperlink" Target="https://www.amazon.in/Probability-Models-Computer-Science-Sheldon/dp/0125980515" TargetMode="External"/><Relationship Id="rId4" Type="http://schemas.openxmlformats.org/officeDocument/2006/relationships/diagramQuickStyle" Target="../diagrams/quickStyle31.xml"/><Relationship Id="rId9" Type="http://schemas.openxmlformats.org/officeDocument/2006/relationships/hyperlink" Target="https://www.probabilitycourse.com/" TargetMode="External"/><Relationship Id="rId14" Type="http://schemas.openxmlformats.org/officeDocument/2006/relationships/hyperlink" Target="https://www.nienxiangtou.com/posts/bayesian-vs-frequentist-monty-hall/" TargetMode="External"/><Relationship Id="rId22" Type="http://schemas.openxmlformats.org/officeDocument/2006/relationships/hyperlink" Target="https://www.amazon.in/Theoretic-Probability-Statistical-Probabilistic-Mathematics/dp/0521002893" TargetMode="Externa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5.xml.rels><?xml version="1.0" encoding="UTF-8" standalone="yes"?>
<Relationships xmlns="http://schemas.openxmlformats.org/package/2006/relationships"><Relationship Id="rId8" Type="http://schemas.openxmlformats.org/officeDocument/2006/relationships/hyperlink" Target="https://www.amazon.in/Modern-Statistics-Intuition-Math-Python-ebook/dp/B0CQV82FRT" TargetMode="External"/><Relationship Id="rId13" Type="http://schemas.openxmlformats.org/officeDocument/2006/relationships/hyperlink" Target="https://www.statisticsdonewrong.com/index.html" TargetMode="External"/><Relationship Id="rId18" Type="http://schemas.openxmlformats.org/officeDocument/2006/relationships/hyperlink" Target="https://www.stat.cmu.edu/~larry/all-of-nonpar/index.html" TargetMode="External"/><Relationship Id="rId3" Type="http://schemas.openxmlformats.org/officeDocument/2006/relationships/diagramLayout" Target="../diagrams/layout35.xml"/><Relationship Id="rId21" Type="http://schemas.openxmlformats.org/officeDocument/2006/relationships/hyperlink" Target="https://math.mit.edu/~dav/05.dir/class6-prep.pdf" TargetMode="External"/><Relationship Id="rId7" Type="http://schemas.openxmlformats.org/officeDocument/2006/relationships/hyperlink" Target="https://www.geeksforgeeks.org/maths/statistics/" TargetMode="External"/><Relationship Id="rId12" Type="http://schemas.openxmlformats.org/officeDocument/2006/relationships/hyperlink" Target="https://en.wikipedia.org/wiki/The_Signal_and_the_Noise" TargetMode="External"/><Relationship Id="rId17" Type="http://schemas.openxmlformats.org/officeDocument/2006/relationships/hyperlink" Target="https://github.com/telmo-correa/all-of-statistics" TargetMode="External"/><Relationship Id="rId2" Type="http://schemas.openxmlformats.org/officeDocument/2006/relationships/diagramData" Target="../diagrams/data35.xml"/><Relationship Id="rId16" Type="http://schemas.openxmlformats.org/officeDocument/2006/relationships/hyperlink" Target="https://sujitpal.blogspot.com/2025/09/book-review-statistics-every-programmer.html" TargetMode="External"/><Relationship Id="rId20" Type="http://schemas.openxmlformats.org/officeDocument/2006/relationships/hyperlink" Target="https://www.geeksforgeeks.org/dsa/confidence-interval/" TargetMode="External"/><Relationship Id="rId1" Type="http://schemas.openxmlformats.org/officeDocument/2006/relationships/slideLayout" Target="../slideLayouts/slideLayout2.xml"/><Relationship Id="rId6" Type="http://schemas.microsoft.com/office/2007/relationships/diagramDrawing" Target="../diagrams/drawing35.xml"/><Relationship Id="rId11" Type="http://schemas.openxmlformats.org/officeDocument/2006/relationships/hyperlink" Target="https://www.amazon.in/Statistics-Essentials-Dummies-Deborah-Rumsey/dp/1119590302" TargetMode="External"/><Relationship Id="rId24" Type="http://schemas.openxmlformats.org/officeDocument/2006/relationships/hyperlink" Target="https://en.wikipedia.org/wiki/Estimation_theory" TargetMode="External"/><Relationship Id="rId5" Type="http://schemas.openxmlformats.org/officeDocument/2006/relationships/diagramColors" Target="../diagrams/colors35.xml"/><Relationship Id="rId15" Type="http://schemas.openxmlformats.org/officeDocument/2006/relationships/hyperlink" Target="https://howtolearnmachinelearning.com/books/data-analysis-books/the-art-of-statistics-review/" TargetMode="External"/><Relationship Id="rId23" Type="http://schemas.openxmlformats.org/officeDocument/2006/relationships/hyperlink" Target="https://thestatsgeek.com/stats-books/inference-books/" TargetMode="External"/><Relationship Id="rId10" Type="http://schemas.openxmlformats.org/officeDocument/2006/relationships/hyperlink" Target="https://www.amazon.in/Head-First-Statistics-Brain-Friendly-Guide-ebook/dp/B00B797ELQ/ref=tmm_kin_swatch_0" TargetMode="External"/><Relationship Id="rId19" Type="http://schemas.openxmlformats.org/officeDocument/2006/relationships/hyperlink" Target="https://www.geeksforgeeks.org/machine-learning/p-value/" TargetMode="External"/><Relationship Id="rId4" Type="http://schemas.openxmlformats.org/officeDocument/2006/relationships/diagramQuickStyle" Target="../diagrams/quickStyle35.xml"/><Relationship Id="rId9" Type="http://schemas.openxmlformats.org/officeDocument/2006/relationships/hyperlink" Target="https://howtolearnmachinelearning.com/books/data-analysis-books/naked-statistics-review/" TargetMode="External"/><Relationship Id="rId14" Type="http://schemas.openxmlformats.org/officeDocument/2006/relationships/hyperlink" Target="https://en.wikipedia.org/wiki/How_Not_to_Be_Wrong" TargetMode="External"/><Relationship Id="rId22" Type="http://schemas.openxmlformats.org/officeDocument/2006/relationships/hyperlink" Target="https://roadmap.sh/ai-data-scientist"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04a013b6530774b2&amp;sxsrf=AE3TifP3DZbXsK6PKPR8o8_HdXgKDfZo9g%3A1760498070548&amp;q=neural+networks&amp;sa=X&amp;ved=2ahUKEwiKzeuwnqWQAxUbcGwGHRFwAF8QxccNegQIBBAC&amp;mstk=AUtExfDf5rSOae2j9ZVHRTbt_ePQg-Me7p77lsku6_CULGz_wJwYaf6UJAeFoX2dDltrkLMU9NvqvjXocPqHCvxl2g0xBBUtIXDRTFKRByK41z_XLpxKZPZh7n2rFYycDXjUawD1MoWgQx6JK8jet1rak_jOxd9Sc2ayQpP7wbYrPFpZcPT18dGKrsJy3cOaBh8KFuh6V4FXWO76dSDEwNv5SE1Q7iAY3gqVmka2GwWHYdeWNjt3Sop4Gqgg2iwd2Wx-t2qw7PSxvCb_-uqKhk14O3LR&amp;csui=3" TargetMode="External"/><Relationship Id="rId3" Type="http://schemas.openxmlformats.org/officeDocument/2006/relationships/diagramLayout" Target="../diagrams/layout36.xml"/><Relationship Id="rId7" Type="http://schemas.openxmlformats.org/officeDocument/2006/relationships/hyperlink" Target="https://www.google.com/search?safe=active&amp;rlz=1C1GCEW_enIN1075IN1075&amp;cs=0&amp;sca_esv=04a013b6530774b2&amp;sxsrf=AE3TifP3DZbXsK6PKPR8o8_HdXgKDfZo9g%3A1760498070548&amp;q=Multivariable+calculus&amp;sa=X&amp;ved=2ahUKEwiKzeuwnqWQAxUbcGwGHRFwAF8QxccNegQIBBAB&amp;mstk=AUtExfDf5rSOae2j9ZVHRTbt_ePQg-Me7p77lsku6_CULGz_wJwYaf6UJAeFoX2dDltrkLMU9NvqvjXocPqHCvxl2g0xBBUtIXDRTFKRByK41z_XLpxKZPZh7n2rFYycDXjUawD1MoWgQx6JK8jet1rak_jOxd9Sc2ayQpP7wbYrPFpZcPT18dGKrsJy3cOaBh8KFuh6V4FXWO76dSDEwNv5SE1Q7iAY3gqVmka2GwWHYdeWNjt3Sop4Gqgg2iwd2Wx-t2qw7PSxvCb_-uqKhk14O3LR&amp;csui=3" TargetMode="Externa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10" Type="http://schemas.openxmlformats.org/officeDocument/2006/relationships/hyperlink" Target="https://www.google.com/search?safe=active&amp;rlz=1C1GCEW_enIN1075IN1075&amp;cs=0&amp;sca_esv=04a013b6530774b2&amp;sxsrf=AE3TifP3DZbXsK6PKPR8o8_HdXgKDfZo9g%3A1760498070548&amp;q=Chain+Rule&amp;sa=X&amp;ved=2ahUKEwiKzeuwnqWQAxUbcGwGHRFwAF8QxccNegQIGBAB&amp;mstk=AUtExfDf5rSOae2j9ZVHRTbt_ePQg-Me7p77lsku6_CULGz_wJwYaf6UJAeFoX2dDltrkLMU9NvqvjXocPqHCvxl2g0xBBUtIXDRTFKRByK41z_XLpxKZPZh7n2rFYycDXjUawD1MoWgQx6JK8jet1rak_jOxd9Sc2ayQpP7wbYrPFpZcPT18dGKrsJy3cOaBh8KFuh6V4FXWO76dSDEwNv5SE1Q7iAY3gqVmka2GwWHYdeWNjt3Sop4Gqgg2iwd2Wx-t2qw7PSxvCb_-uqKhk14O3LR&amp;csui=3" TargetMode="External"/><Relationship Id="rId4" Type="http://schemas.openxmlformats.org/officeDocument/2006/relationships/diagramQuickStyle" Target="../diagrams/quickStyle36.xml"/><Relationship Id="rId9" Type="http://schemas.openxmlformats.org/officeDocument/2006/relationships/hyperlink" Target="https://www.google.com/search?safe=active&amp;rlz=1C1GCEW_enIN1075IN1075&amp;cs=0&amp;sca_esv=04a013b6530774b2&amp;sxsrf=AE3TifP3DZbXsK6PKPR8o8_HdXgKDfZo9g%3A1760498070548&amp;q=receiver+operating+characteristic+%28ROC%29&amp;sa=X&amp;ved=2ahUKEwiKzeuwnqWQAxUbcGwGHRFwAF8QxccNegQIBhAB&amp;mstk=AUtExfDf5rSOae2j9ZVHRTbt_ePQg-Me7p77lsku6_CULGz_wJwYaf6UJAeFoX2dDltrkLMU9NvqvjXocPqHCvxl2g0xBBUtIXDRTFKRByK41z_XLpxKZPZh7n2rFYycDXjUawD1MoWgQx6JK8jet1rak_jOxd9Sc2ayQpP7wbYrPFpZcPT18dGKrsJy3cOaBh8KFuh6V4FXWO76dSDEwNv5SE1Q7iAY3gqVmka2GwWHYdeWNjt3Sop4Gqgg2iwd2Wx-t2qw7PSxvCb_-uqKhk14O3LR&amp;csui=3" TargetMode="Externa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7.xml"/><Relationship Id="rId7" Type="http://schemas.openxmlformats.org/officeDocument/2006/relationships/hyperlink" Target="https://www.google.com/search?safe=active&amp;sca_esv=04a013b6530774b2&amp;rlz=1C1GCEW_enIN1075IN1075&amp;cs=0&amp;sxsrf=AE3TifMh6Qo87JWYC-ch4ABaSavVoKL-ig%3A1760498375426&amp;q=Reinforcement+learning&amp;sa=X&amp;ved=2ahUKEwjmg_3Bn6WQAxV4R2wGHQBDOI8QxccNegQIMhAB&amp;mstk=AUtExfA7MuFXJCJa-k3EHI7-qesV3OEEVBzBYq0d4o0K1YNJVQCX1YiAQvynrYO6CDjAgKTuTBuaV5adwXcomHig_OsJWMsA5fUrq0ujtTKb329EQP52AIA2Pg1N6XPO9dzONvaT80-ticjyzoLX56pqGbeKl9DsyAx2uVaUni9LqLYqaKyVWsoHfSTGULPdOuC9DzHueVMnSeO_pX8qCcNRbUFp2CFs9dHrtJK6kOhvBtmgxrAHNsQHQJ_WXOM8aWosHeEjcSv5wCY1jgcIOXJw2_Tx&amp;csui=3" TargetMode="Externa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8.xml.rels><?xml version="1.0" encoding="UTF-8" standalone="yes"?>
<Relationships xmlns="http://schemas.openxmlformats.org/package/2006/relationships"><Relationship Id="rId8" Type="http://schemas.openxmlformats.org/officeDocument/2006/relationships/hyperlink" Target="https://www.benkuhn.net/squared/" TargetMode="External"/><Relationship Id="rId3" Type="http://schemas.openxmlformats.org/officeDocument/2006/relationships/diagramLayout" Target="../diagrams/layout38.xml"/><Relationship Id="rId7" Type="http://schemas.openxmlformats.org/officeDocument/2006/relationships/hyperlink" Target="https://calculusmadeeasy.org/" TargetMode="Externa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9.xml"/><Relationship Id="rId7" Type="http://schemas.openxmlformats.org/officeDocument/2006/relationships/image" Target="../media/image14.png"/><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0.xml"/><Relationship Id="rId7" Type="http://schemas.openxmlformats.org/officeDocument/2006/relationships/image" Target="../media/image15.png"/><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6.xml.rels><?xml version="1.0" encoding="UTF-8" standalone="yes"?>
<Relationships xmlns="http://schemas.openxmlformats.org/package/2006/relationships"><Relationship Id="rId8" Type="http://schemas.openxmlformats.org/officeDocument/2006/relationships/hyperlink" Target="https://www.geeksforgeeks.org/machine-learning/optimization-algorithms-in-machine-learning/" TargetMode="External"/><Relationship Id="rId13" Type="http://schemas.openxmlformats.org/officeDocument/2006/relationships/hyperlink" Target="https://developers.google.com/optimization/introduction" TargetMode="External"/><Relationship Id="rId18" Type="http://schemas.openxmlformats.org/officeDocument/2006/relationships/hyperlink" Target="https://www.linkedin.com/posts/shashank-hegde-k_machinelearning-optimization-bayesian-activity-7320108877436387329-m9Xp/?utm_source=share&amp;utm_medium=member_desktop&amp;rcm=ACoAADEs2XAB8-7TelfobrMhA9_jxB71Dn4BtW4" TargetMode="External"/><Relationship Id="rId26" Type="http://schemas.openxmlformats.org/officeDocument/2006/relationships/hyperlink" Target="https://github.com/PacktPublishing/Artificial-Intelligence-for-Big-Data" TargetMode="External"/><Relationship Id="rId3" Type="http://schemas.openxmlformats.org/officeDocument/2006/relationships/diagramLayout" Target="../diagrams/layout46.xml"/><Relationship Id="rId21" Type="http://schemas.openxmlformats.org/officeDocument/2006/relationships/hyperlink" Target="https://machinelearningmastery.com/evolution-strategies-from-scratch-in-python/" TargetMode="External"/><Relationship Id="rId7" Type="http://schemas.openxmlformats.org/officeDocument/2006/relationships/hyperlink" Target="https://www.geeksforgeeks.org/machine-learning/optimization-for-data-science/" TargetMode="External"/><Relationship Id="rId12" Type="http://schemas.openxmlformats.org/officeDocument/2006/relationships/hyperlink" Target="https://convex-optimization.github.io/" TargetMode="External"/><Relationship Id="rId17" Type="http://schemas.openxmlformats.org/officeDocument/2006/relationships/hyperlink" Target="https://statswithr.github.io/book/" TargetMode="External"/><Relationship Id="rId25" Type="http://schemas.openxmlformats.org/officeDocument/2006/relationships/hyperlink" Target="https://github.com/Johnnyboycurtis/genetic-algorithms" TargetMode="External"/><Relationship Id="rId2" Type="http://schemas.openxmlformats.org/officeDocument/2006/relationships/diagramData" Target="../diagrams/data46.xml"/><Relationship Id="rId16" Type="http://schemas.openxmlformats.org/officeDocument/2006/relationships/hyperlink" Target="https://algorithmsbook.com/optimization/" TargetMode="External"/><Relationship Id="rId20" Type="http://schemas.openxmlformats.org/officeDocument/2006/relationships/hyperlink" Target="https://bayesiancomputationbook.com/welcome.html" TargetMode="External"/><Relationship Id="rId29" Type="http://schemas.openxmlformats.org/officeDocument/2006/relationships/hyperlink" Target="https://www.linkedin.com/posts/ali-papi-rad_optimization-uncertainty-operationsabrresearch-activity-7326674948809220096-IWkE/?utm_source=share&amp;utm_medium=member_desktop&amp;rcm=ACoAADEs2XAB8-7TelfobrMhA9_jxB71Dn4BtW4" TargetMode="External"/><Relationship Id="rId1" Type="http://schemas.openxmlformats.org/officeDocument/2006/relationships/slideLayout" Target="../slideLayouts/slideLayout2.xml"/><Relationship Id="rId6" Type="http://schemas.microsoft.com/office/2007/relationships/diagramDrawing" Target="../diagrams/drawing46.xml"/><Relationship Id="rId11" Type="http://schemas.openxmlformats.org/officeDocument/2006/relationships/hyperlink" Target="https://mobook.github.io/MO-book/intro.html" TargetMode="External"/><Relationship Id="rId24" Type="http://schemas.openxmlformats.org/officeDocument/2006/relationships/hyperlink" Target="https://github.com/Jason2Brownlee/CleverAlgorithms" TargetMode="External"/><Relationship Id="rId5" Type="http://schemas.openxmlformats.org/officeDocument/2006/relationships/diagramColors" Target="../diagrams/colors46.xml"/><Relationship Id="rId15" Type="http://schemas.openxmlformats.org/officeDocument/2006/relationships/hyperlink" Target="https://courses.grainger.illinois.edu/cs554/fa2015/syllabus/index.html" TargetMode="External"/><Relationship Id="rId23" Type="http://schemas.openxmlformats.org/officeDocument/2006/relationships/hyperlink" Target="https://www.intechopen.com/chapters/81369" TargetMode="External"/><Relationship Id="rId28" Type="http://schemas.openxmlformats.org/officeDocument/2006/relationships/hyperlink" Target="https://www.amazon.in/Principles-Soft-Computing-Deepa-Sivanandam-ebook/dp/B07KJP5R27/ref=tmm_kin_swatch_0" TargetMode="External"/><Relationship Id="rId10" Type="http://schemas.openxmlformats.org/officeDocument/2006/relationships/hyperlink" Target="https://www.researchgate.net/figure/Taxonomy-of-optimization-methods_fig1_342112667" TargetMode="External"/><Relationship Id="rId19" Type="http://schemas.openxmlformats.org/officeDocument/2006/relationships/hyperlink" Target="https://sites.stat.columbia.edu/gelman/book/" TargetMode="External"/><Relationship Id="rId4" Type="http://schemas.openxmlformats.org/officeDocument/2006/relationships/diagramQuickStyle" Target="../diagrams/quickStyle46.xml"/><Relationship Id="rId9" Type="http://schemas.openxmlformats.org/officeDocument/2006/relationships/hyperlink" Target="https://rumn.medium.com/convex-vs-non-convex-functions-why-it-matters-in-optimization-for-machine-learning-39cd9427dfcc" TargetMode="External"/><Relationship Id="rId14" Type="http://schemas.openxmlformats.org/officeDocument/2006/relationships/hyperlink" Target="https://github.com/SirMore/Awesome-Operations-Research" TargetMode="External"/><Relationship Id="rId22" Type="http://schemas.openxmlformats.org/officeDocument/2006/relationships/hyperlink" Target="https://www.udemy.com/course/neuroevolution-genetic-algorithms-and-artificial-neuralnets/?couponCode=ST8MT220425G3" TargetMode="External"/><Relationship Id="rId27" Type="http://schemas.openxmlformats.org/officeDocument/2006/relationships/hyperlink" Target="https://github.com/PacktPublishing/Hands-On-Genetic-Algorithms-with-Python-Second-Edition" TargetMode="External"/><Relationship Id="rId30" Type="http://schemas.openxmlformats.org/officeDocument/2006/relationships/hyperlink" Target="https://evolution.ml/" TargetMode="Externa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7.xml"/><Relationship Id="rId7" Type="http://schemas.openxmlformats.org/officeDocument/2006/relationships/hyperlink" Target="https://www.google.com/search?safe=active&amp;sca_esv=04a013b6530774b2&amp;rlz=1C1GCEW_enIN1075IN1075&amp;cs=0&amp;sxsrf=AE3TifOWZDX4O_Z0y3sJSUE0M6T-tdtFIw%3A1760498910906&amp;q=persistent+homology&amp;sa=X&amp;ved=2ahUKEwjXnsDBoaWQAxW-SmwGHQrcAN4QxccNegQIBBAB&amp;mstk=AUtExfCkhp4flqMnmICbC_cDuwNJj-qteULi_AdV4I7-VWmrVXLDcZum32nj3QM7wbRe-0wwOmgO5Z37qtKTW6WJRObYSRgkq8fSpBat328DBx-g8IujYJ6vYNzyTVeqMxjQKJake9SWvCZK-YNgISZOIdG_GKGmLGhiaBgyG8MLjAaxyXdfBTlx0TPdOoa3RVWhPMFrQAStfX6S3w4Cja3avYZ4YnQB80rUCO5ur_k_uCDrZNgHNvoRH6P3CCjr8gMzBTEM1X-Ur7eZS9wmLT-clHYw&amp;csui=3" TargetMode="Externa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8.xml"/><Relationship Id="rId7" Type="http://schemas.openxmlformats.org/officeDocument/2006/relationships/hyperlink" Target="https://www.google.com/search?safe=active&amp;sca_esv=04a013b6530774b2&amp;rlz=1C1GCEW_enIN1075IN1075&amp;cs=0&amp;sxsrf=AE3TifOWZDX4O_Z0y3sJSUE0M6T-tdtFIw%3A1760498910906&amp;q=Topological+Data+Analysis&amp;sa=X&amp;ved=2ahUKEwjXnsDBoaWQAxW-SmwGHQrcAN4QxccNegQIRhAB&amp;mstk=AUtExfCkhp4flqMnmICbC_cDuwNJj-qteULi_AdV4I7-VWmrVXLDcZum32nj3QM7wbRe-0wwOmgO5Z37qtKTW6WJRObYSRgkq8fSpBat328DBx-g8IujYJ6vYNzyTVeqMxjQKJake9SWvCZK-YNgISZOIdG_GKGmLGhiaBgyG8MLjAaxyXdfBTlx0TPdOoa3RVWhPMFrQAStfX6S3w4Cja3avYZ4YnQB80rUCO5ur_k_uCDrZNgHNvoRH6P3CCjr8gMzBTEM1X-Ur7eZS9wmLT-clHYw&amp;csui=3" TargetMode="Externa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9.xml.rels><?xml version="1.0" encoding="UTF-8" standalone="yes"?>
<Relationships xmlns="http://schemas.openxmlformats.org/package/2006/relationships"><Relationship Id="rId8" Type="http://schemas.openxmlformats.org/officeDocument/2006/relationships/hyperlink" Target="https://www.youtube.com/watch?v=frjmKcwUsl8&amp;t=242s" TargetMode="External"/><Relationship Id="rId3" Type="http://schemas.openxmlformats.org/officeDocument/2006/relationships/diagramLayout" Target="../diagrams/layout49.xml"/><Relationship Id="rId7" Type="http://schemas.openxmlformats.org/officeDocument/2006/relationships/hyperlink" Target="https://nostarch.com/shapeofdata" TargetMode="External"/><Relationship Id="rId12" Type="http://schemas.openxmlformats.org/officeDocument/2006/relationships/hyperlink" Target="https://www.frontiersin.org/journals/artificial-intelligence/articles/10.3389/frai.2021.667963/full#B10" TargetMode="Externa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11" Type="http://schemas.openxmlformats.org/officeDocument/2006/relationships/hyperlink" Target="https://www.youtube.com/watch?v=KygUNOzEfWg&amp;t=711s" TargetMode="External"/><Relationship Id="rId5" Type="http://schemas.openxmlformats.org/officeDocument/2006/relationships/diagramColors" Target="../diagrams/colors49.xml"/><Relationship Id="rId10" Type="http://schemas.openxmlformats.org/officeDocument/2006/relationships/hyperlink" Target="https://www.youtube.com/watch?v=gVq_xXnwV-4&amp;t=935s" TargetMode="External"/><Relationship Id="rId4" Type="http://schemas.openxmlformats.org/officeDocument/2006/relationships/diagramQuickStyle" Target="../diagrams/quickStyle49.xml"/><Relationship Id="rId9" Type="http://schemas.openxmlformats.org/officeDocument/2006/relationships/hyperlink" Target="https://www.youtube.com/watch?v=ly6-gCRRTF8&amp;t=1415s"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04a013b6530774b2&amp;sxsrf=AE3TifPOFATnM3Zc5lAcaJXfWXOd1Yp2AQ%3A1760499565212&amp;q=Entropy&amp;sa=X&amp;ved=2ahUKEwiBpLn5o6WQAxXscWwGHeUjBtYQxccNegQIEBAB&amp;mstk=AUtExfAeIqukTUd8SAx4GeQhCUELEK97YpmIJFL-qGWyF_ZNcUCQgZb9c7QxrUiH3yl5jZMUXF0VFNvx-vcOmQx3h_ditTH7ihPWLUXMMmlALUblrmhPHQOPj2BIuF27qoB7pfsfMdqZo3Fm_7WFzzU1PqY1NZ1LaWCMGN15KzBCKqtuXsc&amp;csui=3" TargetMode="External"/><Relationship Id="rId3" Type="http://schemas.openxmlformats.org/officeDocument/2006/relationships/diagramLayout" Target="../diagrams/layout50.xml"/><Relationship Id="rId7" Type="http://schemas.openxmlformats.org/officeDocument/2006/relationships/hyperlink" Target="https://www.google.com/search?safe=active&amp;rlz=1C1GCEW_enIN1075IN1075&amp;cs=0&amp;sca_esv=04a013b6530774b2&amp;sxsrf=AE3TifPOFATnM3Zc5lAcaJXfWXOd1Yp2AQ%3A1760499565212&amp;q=KL+divergence&amp;sa=X&amp;ved=2ahUKEwiBpLn5o6WQAxXscWwGHeUjBtYQxccNegQIBxAB&amp;mstk=AUtExfAeIqukTUd8SAx4GeQhCUELEK97YpmIJFL-qGWyF_ZNcUCQgZb9c7QxrUiH3yl5jZMUXF0VFNvx-vcOmQx3h_ditTH7ihPWLUXMMmlALUblrmhPHQOPj2BIuF27qoB7pfsfMdqZo3Fm_7WFzzU1PqY1NZ1LaWCMGN15KzBCKqtuXsc&amp;csui=3" TargetMode="Externa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10" Type="http://schemas.openxmlformats.org/officeDocument/2006/relationships/hyperlink" Target="https://www.google.com/search?safe=active&amp;rlz=1C1GCEW_enIN1075IN1075&amp;cs=0&amp;sca_esv=04a013b6530774b2&amp;sxsrf=AE3TifPOFATnM3Zc5lAcaJXfWXOd1Yp2AQ%3A1760499565212&amp;q=Kullback-Leibler+%28KL%29+Divergence&amp;sa=X&amp;ved=2ahUKEwiBpLn5o6WQAxXscWwGHeUjBtYQxccNegQIERAB&amp;mstk=AUtExfAeIqukTUd8SAx4GeQhCUELEK97YpmIJFL-qGWyF_ZNcUCQgZb9c7QxrUiH3yl5jZMUXF0VFNvx-vcOmQx3h_ditTH7ihPWLUXMMmlALUblrmhPHQOPj2BIuF27qoB7pfsfMdqZo3Fm_7WFzzU1PqY1NZ1LaWCMGN15KzBCKqtuXsc&amp;csui=3" TargetMode="External"/><Relationship Id="rId4" Type="http://schemas.openxmlformats.org/officeDocument/2006/relationships/diagramQuickStyle" Target="../diagrams/quickStyle50.xml"/><Relationship Id="rId9" Type="http://schemas.openxmlformats.org/officeDocument/2006/relationships/hyperlink" Target="https://www.google.com/search?safe=active&amp;rlz=1C1GCEW_enIN1075IN1075&amp;cs=0&amp;sca_esv=04a013b6530774b2&amp;sxsrf=AE3TifPOFATnM3Zc5lAcaJXfWXOd1Yp2AQ%3A1760499565212&amp;q=Mutual+Information&amp;sa=X&amp;ved=2ahUKEwiBpLn5o6WQAxXscWwGHeUjBtYQxccNegQIOhAB&amp;mstk=AUtExfAeIqukTUd8SAx4GeQhCUELEK97YpmIJFL-qGWyF_ZNcUCQgZb9c7QxrUiH3yl5jZMUXF0VFNvx-vcOmQx3h_ditTH7ihPWLUXMMmlALUblrmhPHQOPj2BIuF27qoB7pfsfMdqZo3Fm_7WFzzU1PqY1NZ1LaWCMGN15KzBCKqtuXsc&amp;csui=3"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en.wikipedia.org/wiki/Information_theory" TargetMode="External"/><Relationship Id="rId3" Type="http://schemas.openxmlformats.org/officeDocument/2006/relationships/diagramLayout" Target="../diagrams/layout51.xml"/><Relationship Id="rId7" Type="http://schemas.openxmlformats.org/officeDocument/2006/relationships/hyperlink" Target="https://www.google.com/search?safe=active&amp;rlz=1C1GCEW_enIN1075IN1075&amp;cs=0&amp;sca_esv=04a013b6530774b2&amp;sxsrf=AE3TifPOFATnM3Zc5lAcaJXfWXOd1Yp2AQ%3A1760499565212&amp;q=Cross-Entropy&amp;sa=X&amp;ved=2ahUKEwiBpLn5o6WQAxXscWwGHeUjBtYQxccNegQIJxAB&amp;mstk=AUtExfAeIqukTUd8SAx4GeQhCUELEK97YpmIJFL-qGWyF_ZNcUCQgZb9c7QxrUiH3yl5jZMUXF0VFNvx-vcOmQx3h_ditTH7ihPWLUXMMmlALUblrmhPHQOPj2BIuF27qoB7pfsfMdqZo3Fm_7WFzzU1PqY1NZ1LaWCMGN15KzBCKqtuXsc&amp;csui=3" TargetMode="Externa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10" Type="http://schemas.openxmlformats.org/officeDocument/2006/relationships/hyperlink" Target="https://www.reddit.com/r/statistics/comments/17t4b8g/how_are_information_theory_and_decision_theory/" TargetMode="External"/><Relationship Id="rId4" Type="http://schemas.openxmlformats.org/officeDocument/2006/relationships/diagramQuickStyle" Target="../diagrams/quickStyle51.xml"/><Relationship Id="rId9" Type="http://schemas.openxmlformats.org/officeDocument/2006/relationships/hyperlink" Target="https://www.inference.org.uk/mackay/itila/book.html" TargetMode="Externa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7.xml.rels><?xml version="1.0" encoding="UTF-8" standalone="yes"?>
<Relationships xmlns="http://schemas.openxmlformats.org/package/2006/relationships"><Relationship Id="rId8" Type="http://schemas.openxmlformats.org/officeDocument/2006/relationships/hyperlink" Target="https://www.linkedin.com/posts/sandip-ray-92836b1b0_some-great-resources-to-understand-the-maths-activity-7313996894643372033-strR/?utm_source=share&amp;utm_medium=member_desktop&amp;rcm=ACoAADEs2XAB8-7TelfobrMhA9_jxB71Dn4BtW4" TargetMode="External"/><Relationship Id="rId13" Type="http://schemas.openxmlformats.org/officeDocument/2006/relationships/hyperlink" Target="https://en.wikipedia.org/wiki/List_of_mathematical_functions" TargetMode="External"/><Relationship Id="rId18" Type="http://schemas.openxmlformats.org/officeDocument/2006/relationships/hyperlink" Target="https://www.mikexcohen.com/#home" TargetMode="External"/><Relationship Id="rId3" Type="http://schemas.openxmlformats.org/officeDocument/2006/relationships/diagramLayout" Target="../diagrams/layout57.xml"/><Relationship Id="rId7" Type="http://schemas.openxmlformats.org/officeDocument/2006/relationships/hyperlink" Target="https://thepalindrome.org/p/the-roadmap-of-mathematics-for-machine-learning" TargetMode="External"/><Relationship Id="rId12" Type="http://schemas.openxmlformats.org/officeDocument/2006/relationships/hyperlink" Target="https://greenteapress.com/wp/" TargetMode="External"/><Relationship Id="rId17" Type="http://schemas.openxmlformats.org/officeDocument/2006/relationships/hyperlink" Target="https://en.wikipedia.org/wiki/Numerical_analysis" TargetMode="External"/><Relationship Id="rId2" Type="http://schemas.openxmlformats.org/officeDocument/2006/relationships/diagramData" Target="../diagrams/data57.xml"/><Relationship Id="rId16" Type="http://schemas.openxmlformats.org/officeDocument/2006/relationships/hyperlink" Target="https://freecomputerbooks.com/Numerical-Algorithms.html" TargetMode="External"/><Relationship Id="rId1" Type="http://schemas.openxmlformats.org/officeDocument/2006/relationships/slideLayout" Target="../slideLayouts/slideLayout2.xml"/><Relationship Id="rId6" Type="http://schemas.microsoft.com/office/2007/relationships/diagramDrawing" Target="../diagrams/drawing57.xml"/><Relationship Id="rId11" Type="http://schemas.openxmlformats.org/officeDocument/2006/relationships/hyperlink" Target="https://stats.libretexts.org/Bookshelves" TargetMode="External"/><Relationship Id="rId5" Type="http://schemas.openxmlformats.org/officeDocument/2006/relationships/diagramColors" Target="../diagrams/colors57.xml"/><Relationship Id="rId15" Type="http://schemas.openxmlformats.org/officeDocument/2006/relationships/hyperlink" Target="https://en.wikipedia.org/wiki/Mathematical_model" TargetMode="External"/><Relationship Id="rId10" Type="http://schemas.openxmlformats.org/officeDocument/2006/relationships/hyperlink" Target="https://math.libretexts.org/Bookshelves" TargetMode="External"/><Relationship Id="rId4" Type="http://schemas.openxmlformats.org/officeDocument/2006/relationships/diagramQuickStyle" Target="../diagrams/quickStyle57.xml"/><Relationship Id="rId9" Type="http://schemas.openxmlformats.org/officeDocument/2006/relationships/hyperlink" Target="https://www.geeksforgeeks.org/maths/probability-and-statistics/" TargetMode="External"/><Relationship Id="rId14" Type="http://schemas.openxmlformats.org/officeDocument/2006/relationships/hyperlink" Target="https://www.amazon.in/Mathematical-Modelling-Systems-Analysis-Kamalanand/dp/8193593812/ref=sr_1_1?crid=7E64R8WFCTHL&amp;dib=eyJ2IjoiMSJ9.mBirpHRNi8GYkxh0rczjad4hgzoU60qQcxq8ed-sr85h3jCGllOEcdbNI_syxZUO99CxBfvMUi7OB0fM8pH2nWLgicqYJzXw2dMNytCJTG6YUZu6Mzn1YaXxVqVbDBc_tmSVen_xJR1t3xRsw-ruP658VwbTGaCXniwEn6TEGmDeOYObnVXu9D1ei0aCrCfVQJfBeFCv9joCLieAYza5Hxu9-6YMvxXRwaiiSyGzPdI.xjVQAYaVWZyjNQOWY7hZXrKW32a3CgwusDUVgbPicFI&amp;dib_tag=se&amp;keywords=math+modelling&amp;qid=1747043736&amp;sprefix=math+mode%2Caps%2C738&amp;sr=8-1" TargetMode="External"/></Relationships>
</file>

<file path=ppt/slides/_rels/slide58.xml.rels><?xml version="1.0" encoding="UTF-8" standalone="yes"?>
<Relationships xmlns="http://schemas.openxmlformats.org/package/2006/relationships"><Relationship Id="rId8" Type="http://schemas.openxmlformats.org/officeDocument/2006/relationships/hyperlink" Target="https://www.linkedin.com/pulse/chapter-1-introduction-crisp-dm-framework-data-science-anshul-roy/" TargetMode="External"/><Relationship Id="rId3" Type="http://schemas.openxmlformats.org/officeDocument/2006/relationships/diagramLayout" Target="../diagrams/layout58.xml"/><Relationship Id="rId7" Type="http://schemas.openxmlformats.org/officeDocument/2006/relationships/image" Target="../media/image16.png"/><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Layout" Target="../diagrams/layout59.xml"/><Relationship Id="rId7" Type="http://schemas.openxmlformats.org/officeDocument/2006/relationships/image" Target="../media/image17.pn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0.xml.rels><?xml version="1.0" encoding="UTF-8" standalone="yes"?>
<Relationships xmlns="http://schemas.openxmlformats.org/package/2006/relationships"><Relationship Id="rId13" Type="http://schemas.openxmlformats.org/officeDocument/2006/relationships/hyperlink" Target="https://www.analyticsvidhya.com/blog/2021/05/detecting-and-treating-outliers-treating-the-odd-one-out/#2e43" TargetMode="External"/><Relationship Id="rId18" Type="http://schemas.openxmlformats.org/officeDocument/2006/relationships/hyperlink" Target="https://www.iteratorshq.com/blog/data-cleaning-in-5-easy-steps/" TargetMode="External"/><Relationship Id="rId26" Type="http://schemas.openxmlformats.org/officeDocument/2006/relationships/hyperlink" Target="https://github.com/PacktPublishing/Applied-Geospatial-Data-Science-with-Python" TargetMode="External"/><Relationship Id="rId3" Type="http://schemas.openxmlformats.org/officeDocument/2006/relationships/diagramLayout" Target="../diagrams/layout60.xml"/><Relationship Id="rId21" Type="http://schemas.openxmlformats.org/officeDocument/2006/relationships/hyperlink" Target="https://github.com/PacktPublishing/Python-Data-Cleaning-and-Preparation-Best-Practices" TargetMode="External"/><Relationship Id="rId34" Type="http://schemas.openxmlformats.org/officeDocument/2006/relationships/hyperlink" Target="https://github.com/PacktPublishing/Python-Feature-Engineering-Cookbook-Third-Edition" TargetMode="External"/><Relationship Id="rId7" Type="http://schemas.openxmlformats.org/officeDocument/2006/relationships/hyperlink" Target="https://www.dasca.org/world-of-data-science/article/a-comprehensive-guide-to-mastering-exploratory-data-analysis" TargetMode="External"/><Relationship Id="rId12" Type="http://schemas.openxmlformats.org/officeDocument/2006/relationships/hyperlink" Target="https://www.linkedin.com/advice/1/what-most-effective-data-cleaning-validation-tools" TargetMode="External"/><Relationship Id="rId17" Type="http://schemas.openxmlformats.org/officeDocument/2006/relationships/hyperlink" Target="https://clauswilke.com/dataviz/" TargetMode="External"/><Relationship Id="rId25" Type="http://schemas.openxmlformats.org/officeDocument/2006/relationships/hyperlink" Target="https://www.oreilly.com/library/view/data-science-from/9781492041122/" TargetMode="External"/><Relationship Id="rId33" Type="http://schemas.openxmlformats.org/officeDocument/2006/relationships/hyperlink" Target="https://developers.google.com/machine-learning/crash-course/categorical-data/feature-crosses" TargetMode="External"/><Relationship Id="rId2" Type="http://schemas.openxmlformats.org/officeDocument/2006/relationships/diagramData" Target="../diagrams/data60.xml"/><Relationship Id="rId16" Type="http://schemas.openxmlformats.org/officeDocument/2006/relationships/hyperlink" Target="https://machinelearningmastery.com/data-leakage-machine-learning/" TargetMode="External"/><Relationship Id="rId20" Type="http://schemas.openxmlformats.org/officeDocument/2006/relationships/hyperlink" Target="https://github.com/PacktPublishing/Python-Data-Cleaning-Cookbook-Second-Edition" TargetMode="External"/><Relationship Id="rId29" Type="http://schemas.openxmlformats.org/officeDocument/2006/relationships/hyperlink" Target="https://www.analyticsvidhya.com/blog/2020/04/feature-scaling-machine-learning-normalization-standardization/" TargetMode="External"/><Relationship Id="rId1" Type="http://schemas.openxmlformats.org/officeDocument/2006/relationships/slideLayout" Target="../slideLayouts/slideLayout2.xml"/><Relationship Id="rId6" Type="http://schemas.microsoft.com/office/2007/relationships/diagramDrawing" Target="../diagrams/drawing60.xml"/><Relationship Id="rId11" Type="http://schemas.openxmlformats.org/officeDocument/2006/relationships/hyperlink" Target="https://link.springer.com/book/10.1007/978-1-4612-5098-2" TargetMode="External"/><Relationship Id="rId24" Type="http://schemas.openxmlformats.org/officeDocument/2006/relationships/hyperlink" Target="https://github.com/PacktPublishing/Practical-Data-Science-with-Python" TargetMode="External"/><Relationship Id="rId32" Type="http://schemas.openxmlformats.org/officeDocument/2006/relationships/hyperlink" Target="https://www.linkedin.com/posts/venkat-raman-analytics_statistics-machinelearning-datascience-activity-7009396648598523904-v9FK/?utm_source=share&amp;utm_medium=member_desktop" TargetMode="External"/><Relationship Id="rId5" Type="http://schemas.openxmlformats.org/officeDocument/2006/relationships/diagramColors" Target="../diagrams/colors60.xml"/><Relationship Id="rId15" Type="http://schemas.openxmlformats.org/officeDocument/2006/relationships/hyperlink" Target="https://machinelearningmastery.com/how-to-handle-big-p-little-n-p-n-in-machine-learning/" TargetMode="External"/><Relationship Id="rId23" Type="http://schemas.openxmlformats.org/officeDocument/2006/relationships/hyperlink" Target="https://github.com/PacktPublishing/Practical-Data-Science-using-Python" TargetMode="External"/><Relationship Id="rId28" Type="http://schemas.openxmlformats.org/officeDocument/2006/relationships/hyperlink" Target="https://www.heavy.ai/technical-glossary/feature-engineering" TargetMode="External"/><Relationship Id="rId10" Type="http://schemas.openxmlformats.org/officeDocument/2006/relationships/hyperlink" Target="https://github.com/davidasboth/the-well-grounded-data-analyst" TargetMode="External"/><Relationship Id="rId19" Type="http://schemas.openxmlformats.org/officeDocument/2006/relationships/hyperlink" Target="https://github.com/PacktPublishing/Cleaning-Data-for-Effective-Data-Science" TargetMode="External"/><Relationship Id="rId31" Type="http://schemas.openxmlformats.org/officeDocument/2006/relationships/hyperlink" Target="https://www.linkedin.com/posts/ridhima-kumar7_marketingmixmodeling-marketingattribution-activity-7119672601920114688-h-Fb/?utm_source=share&amp;utm_medium=member_ios" TargetMode="External"/><Relationship Id="rId4" Type="http://schemas.openxmlformats.org/officeDocument/2006/relationships/diagramQuickStyle" Target="../diagrams/quickStyle60.xml"/><Relationship Id="rId9" Type="http://schemas.openxmlformats.org/officeDocument/2006/relationships/hyperlink" Target="https://github.com/datacorner/dataprep-handbook" TargetMode="External"/><Relationship Id="rId14" Type="http://schemas.openxmlformats.org/officeDocument/2006/relationships/hyperlink" Target="https://www.manning.com/books/outlier-detection-in-python" TargetMode="External"/><Relationship Id="rId22" Type="http://schemas.openxmlformats.org/officeDocument/2006/relationships/hyperlink" Target="https://github.com/PacktPublishing/Data-Cleaning-and-Exploration-with-Machine-Learning" TargetMode="External"/><Relationship Id="rId27" Type="http://schemas.openxmlformats.org/officeDocument/2006/relationships/hyperlink" Target="https://thestatsgeek.com/stats-books/missing-data-books/" TargetMode="External"/><Relationship Id="rId30" Type="http://schemas.openxmlformats.org/officeDocument/2006/relationships/hyperlink" Target="https://www.analyticsvidhya.com/blog/2020/10/feature-selection-techniques-in-machine-learning/" TargetMode="External"/><Relationship Id="rId35" Type="http://schemas.openxmlformats.org/officeDocument/2006/relationships/hyperlink" Target="https://www.oreilly.com/library/view/feature-engineering-for/9781491953235/" TargetMode="External"/><Relationship Id="rId8" Type="http://schemas.openxmlformats.org/officeDocument/2006/relationships/hyperlink" Target="https://www.sisense.com/blog/exploratory-vs-confirmatory-analysis-differences/"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www.ncl.ac.uk/webtemplate/ask-assets/external/maths-resources/statistics/sampling/about-sampling.html" TargetMode="External"/><Relationship Id="rId3" Type="http://schemas.openxmlformats.org/officeDocument/2006/relationships/diagramLayout" Target="../diagrams/layout61.xml"/><Relationship Id="rId7" Type="http://schemas.openxmlformats.org/officeDocument/2006/relationships/image" Target="../media/image19.png"/><Relationship Id="rId12" Type="http://schemas.openxmlformats.org/officeDocument/2006/relationships/hyperlink" Target="https://www.khanacademy.org/math/statistics-probability" TargetMode="Externa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11" Type="http://schemas.openxmlformats.org/officeDocument/2006/relationships/hyperlink" Target="https://www.linkedin.com/advice/1/how-do-you-determine-optimal-sample-size-your-research-1c" TargetMode="External"/><Relationship Id="rId5" Type="http://schemas.openxmlformats.org/officeDocument/2006/relationships/diagramColors" Target="../diagrams/colors61.xml"/><Relationship Id="rId10" Type="http://schemas.openxmlformats.org/officeDocument/2006/relationships/hyperlink" Target="https://math.stackexchange.com/questions/3207930/population-vs-sampling-frame-vs-sample" TargetMode="External"/><Relationship Id="rId4" Type="http://schemas.openxmlformats.org/officeDocument/2006/relationships/diagramQuickStyle" Target="../diagrams/quickStyle61.xml"/><Relationship Id="rId9" Type="http://schemas.openxmlformats.org/officeDocument/2006/relationships/hyperlink" Target="https://www.scribbr.com/methodology/sampling-methods/"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towardsdatascience.com/focal-loss-a-better-alternative-for-cross-entropy-1d073d92d075/" TargetMode="External"/><Relationship Id="rId3" Type="http://schemas.openxmlformats.org/officeDocument/2006/relationships/diagramLayout" Target="../diagrams/layout62.xml"/><Relationship Id="rId7" Type="http://schemas.openxmlformats.org/officeDocument/2006/relationships/hyperlink" Target="https://medium.com/nerd-for-tech/review-cb-loss-class-balanced-loss-based-on-effective-number-of-samples-image-classification-3056a1a1a001" TargetMode="External"/><Relationship Id="rId12" Type="http://schemas.openxmlformats.org/officeDocument/2006/relationships/hyperlink" Target="https://www.analyticsvidhya.com/blog/2020/07/10-techniques-to-deal-with-class-imbalance-in-machine-learning/" TargetMode="Externa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11" Type="http://schemas.openxmlformats.org/officeDocument/2006/relationships/hyperlink" Target="https://docs.aws.amazon.com/sagemaker/latest/dg/clarify-data-bias-metric-true-label-imbalance.html" TargetMode="External"/><Relationship Id="rId5" Type="http://schemas.openxmlformats.org/officeDocument/2006/relationships/diagramColors" Target="../diagrams/colors62.xml"/><Relationship Id="rId10" Type="http://schemas.openxmlformats.org/officeDocument/2006/relationships/hyperlink" Target="https://sites.google.com/view/datascience-cheat-sheets#h.34mtgx8u52iz" TargetMode="External"/><Relationship Id="rId4" Type="http://schemas.openxmlformats.org/officeDocument/2006/relationships/diagramQuickStyle" Target="../diagrams/quickStyle62.xml"/><Relationship Id="rId9" Type="http://schemas.openxmlformats.org/officeDocument/2006/relationships/hyperlink" Target="https://machinelearningmastery.com/cost-sensitive-learning-for-imbalanced-classification/" TargetMode="External"/></Relationships>
</file>

<file path=ppt/slides/_rels/slide63.xml.rels><?xml version="1.0" encoding="UTF-8" standalone="yes"?>
<Relationships xmlns="http://schemas.openxmlformats.org/package/2006/relationships"><Relationship Id="rId8" Type="http://schemas.microsoft.com/office/2007/relationships/diagramDrawing" Target="../diagrams/drawing63.xml"/><Relationship Id="rId3" Type="http://schemas.openxmlformats.org/officeDocument/2006/relationships/image" Target="../media/image21.png"/><Relationship Id="rId7" Type="http://schemas.openxmlformats.org/officeDocument/2006/relationships/diagramColors" Target="../diagrams/colors63.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diagramQuickStyle" Target="../diagrams/quickStyle63.xml"/><Relationship Id="rId5" Type="http://schemas.openxmlformats.org/officeDocument/2006/relationships/diagramLayout" Target="../diagrams/layout63.xml"/><Relationship Id="rId4" Type="http://schemas.openxmlformats.org/officeDocument/2006/relationships/diagramData" Target="../diagrams/data63.xml"/></Relationships>
</file>

<file path=ppt/slides/_rels/slide64.xml.rels><?xml version="1.0" encoding="UTF-8" standalone="yes"?>
<Relationships xmlns="http://schemas.openxmlformats.org/package/2006/relationships"><Relationship Id="rId8" Type="http://schemas.openxmlformats.org/officeDocument/2006/relationships/diagramColors" Target="../diagrams/colors64.xml"/><Relationship Id="rId3" Type="http://schemas.openxmlformats.org/officeDocument/2006/relationships/hyperlink" Target="https://machinelearningmastery.com/difference-test-validation-datasets/" TargetMode="External"/><Relationship Id="rId7" Type="http://schemas.openxmlformats.org/officeDocument/2006/relationships/diagramQuickStyle" Target="../diagrams/quickStyle64.xml"/><Relationship Id="rId2" Type="http://schemas.openxmlformats.org/officeDocument/2006/relationships/hyperlink" Target="https://machinelearningmastery.com/k-fold-cross-validation/" TargetMode="External"/><Relationship Id="rId1" Type="http://schemas.openxmlformats.org/officeDocument/2006/relationships/slideLayout" Target="../slideLayouts/slideLayout2.xml"/><Relationship Id="rId6" Type="http://schemas.openxmlformats.org/officeDocument/2006/relationships/diagramLayout" Target="../diagrams/layout64.xml"/><Relationship Id="rId5" Type="http://schemas.openxmlformats.org/officeDocument/2006/relationships/diagramData" Target="../diagrams/data64.xml"/><Relationship Id="rId4" Type="http://schemas.openxmlformats.org/officeDocument/2006/relationships/hyperlink" Target="https://medium.com/@manrajchalokia/time-based-splitting-and-determining-if-train-test-data-come-from-the-same-distribution-e1d2ea881af8" TargetMode="External"/><Relationship Id="rId9" Type="http://schemas.microsoft.com/office/2007/relationships/diagramDrawing" Target="../diagrams/drawing64.xml"/></Relationships>
</file>

<file path=ppt/slides/_rels/slide65.xml.rels><?xml version="1.0" encoding="UTF-8" standalone="yes"?>
<Relationships xmlns="http://schemas.openxmlformats.org/package/2006/relationships"><Relationship Id="rId8" Type="http://schemas.microsoft.com/office/2007/relationships/diagramDrawing" Target="../diagrams/drawing65.xml"/><Relationship Id="rId3" Type="http://schemas.openxmlformats.org/officeDocument/2006/relationships/hyperlink" Target="https://www.geeksforgeeks.org/the-effects-of-the-depth-and-number-of-trees-in-a-random-forest/" TargetMode="External"/><Relationship Id="rId7" Type="http://schemas.openxmlformats.org/officeDocument/2006/relationships/diagramColors" Target="../diagrams/colors65.xml"/><Relationship Id="rId2" Type="http://schemas.openxmlformats.org/officeDocument/2006/relationships/hyperlink" Target="https://www.geeksforgeeks.org/tree-based-machine-learning-algorithms/" TargetMode="External"/><Relationship Id="rId1" Type="http://schemas.openxmlformats.org/officeDocument/2006/relationships/slideLayout" Target="../slideLayouts/slideLayout2.xml"/><Relationship Id="rId6" Type="http://schemas.openxmlformats.org/officeDocument/2006/relationships/diagramQuickStyle" Target="../diagrams/quickStyle65.xml"/><Relationship Id="rId5" Type="http://schemas.openxmlformats.org/officeDocument/2006/relationships/diagramLayout" Target="../diagrams/layout65.xml"/><Relationship Id="rId4" Type="http://schemas.openxmlformats.org/officeDocument/2006/relationships/diagramData" Target="../diagrams/data65.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68.xml.rels><?xml version="1.0" encoding="UTF-8" standalone="yes"?>
<Relationships xmlns="http://schemas.openxmlformats.org/package/2006/relationships"><Relationship Id="rId8" Type="http://schemas.openxmlformats.org/officeDocument/2006/relationships/hyperlink" Target="https://stats.stackexchange.com/questions/154879/a-list-of-cost-functions-used-in-neural-networks-alongside-applications" TargetMode="External"/><Relationship Id="rId13" Type="http://schemas.openxmlformats.org/officeDocument/2006/relationships/diagramQuickStyle" Target="../diagrams/quickStyle68.xml"/><Relationship Id="rId3" Type="http://schemas.openxmlformats.org/officeDocument/2006/relationships/hyperlink" Target="https://www.quora.com/How-are-the-cost-functions-for-Neural-Networks-derived" TargetMode="External"/><Relationship Id="rId7" Type="http://schemas.openxmlformats.org/officeDocument/2006/relationships/hyperlink" Target="https://www.simplilearn.com/tutorials/machine-learning-tutorial/cost-function-in-machine-learning#what_is_the_cost_function_for_neural_networks" TargetMode="External"/><Relationship Id="rId12" Type="http://schemas.openxmlformats.org/officeDocument/2006/relationships/diagramLayout" Target="../diagrams/layout68.xml"/><Relationship Id="rId2" Type="http://schemas.openxmlformats.org/officeDocument/2006/relationships/hyperlink" Target="https://en.wikipedia.org/wiki/Loss_function" TargetMode="External"/><Relationship Id="rId1" Type="http://schemas.openxmlformats.org/officeDocument/2006/relationships/slideLayout" Target="../slideLayouts/slideLayout2.xml"/><Relationship Id="rId6" Type="http://schemas.openxmlformats.org/officeDocument/2006/relationships/hyperlink" Target="https://ai.plainenglish.io/the-role-of-cost-functions-in-machine-learning-types-significance-and-impact-on-model-db1ebb92557e" TargetMode="External"/><Relationship Id="rId11" Type="http://schemas.openxmlformats.org/officeDocument/2006/relationships/diagramData" Target="../diagrams/data68.xml"/><Relationship Id="rId5" Type="http://schemas.openxmlformats.org/officeDocument/2006/relationships/hyperlink" Target="https://medium.com/@489sonali/types-of-cost-functions-in-ml-9dc6a9d3ec88" TargetMode="External"/><Relationship Id="rId15" Type="http://schemas.microsoft.com/office/2007/relationships/diagramDrawing" Target="../diagrams/drawing68.xml"/><Relationship Id="rId10" Type="http://schemas.openxmlformats.org/officeDocument/2006/relationships/hyperlink" Target="https://neptune.ai/blog/pytorch-loss-functions" TargetMode="External"/><Relationship Id="rId4" Type="http://schemas.openxmlformats.org/officeDocument/2006/relationships/hyperlink" Target="https://www.baeldung.com/cs/cost-vs-loss-vs-objective-function" TargetMode="External"/><Relationship Id="rId9" Type="http://schemas.openxmlformats.org/officeDocument/2006/relationships/hyperlink" Target="https://neptune.ai/blog/keras-loss-functions" TargetMode="External"/><Relationship Id="rId14" Type="http://schemas.openxmlformats.org/officeDocument/2006/relationships/diagramColors" Target="../diagrams/colors68.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69.xml"/><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70.xml"/><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71.xml"/><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2.xml.rels><?xml version="1.0" encoding="UTF-8" standalone="yes"?>
<Relationships xmlns="http://schemas.openxmlformats.org/package/2006/relationships"><Relationship Id="rId8" Type="http://schemas.openxmlformats.org/officeDocument/2006/relationships/hyperlink" Target="https://lmlcr.gagolewski.com/continuous-optimisation-with-iterative-algorithms.html" TargetMode="External"/><Relationship Id="rId13" Type="http://schemas.microsoft.com/office/2007/relationships/diagramDrawing" Target="../diagrams/drawing72.xml"/><Relationship Id="rId3" Type="http://schemas.openxmlformats.org/officeDocument/2006/relationships/hyperlink" Target="https://towardsdatascience.com/calculate-maximum-likelihood-estimator-with-newton-raphson-method-using-r-7d3f69fbf8fe/" TargetMode="External"/><Relationship Id="rId7" Type="http://schemas.openxmlformats.org/officeDocument/2006/relationships/hyperlink" Target="https://www.analyticsvidhya.com/blog/2022/10/optimization-essentials-for-machine-learning/" TargetMode="External"/><Relationship Id="rId12" Type="http://schemas.openxmlformats.org/officeDocument/2006/relationships/diagramColors" Target="../diagrams/colors72.xml"/><Relationship Id="rId2" Type="http://schemas.openxmlformats.org/officeDocument/2006/relationships/hyperlink" Target="https://github.com/halanelson/Essential-Math-For-AI/blob/main/MyBook_infographic.pdf" TargetMode="External"/><Relationship Id="rId1" Type="http://schemas.openxmlformats.org/officeDocument/2006/relationships/slideLayout" Target="../slideLayouts/slideLayout2.xml"/><Relationship Id="rId6" Type="http://schemas.openxmlformats.org/officeDocument/2006/relationships/hyperlink" Target="https://towardsdatascience.com/understanding-optimization-algorithms-in-machine-learning-edfdb4df766b/" TargetMode="External"/><Relationship Id="rId11" Type="http://schemas.openxmlformats.org/officeDocument/2006/relationships/diagramQuickStyle" Target="../diagrams/quickStyle72.xml"/><Relationship Id="rId5" Type="http://schemas.openxmlformats.org/officeDocument/2006/relationships/hyperlink" Target="https://medium.com/data-science/mle-map-and-bayesian-inference-3407b2d6d4d9" TargetMode="External"/><Relationship Id="rId10" Type="http://schemas.openxmlformats.org/officeDocument/2006/relationships/diagramLayout" Target="../diagrams/layout72.xml"/><Relationship Id="rId4" Type="http://schemas.openxmlformats.org/officeDocument/2006/relationships/hyperlink" Target="https://www.cse.iitk.ac.in/users/piyush/courses/tpmi_winter21/readings/bayesian_inference_basic_tutorial.pdf" TargetMode="External"/><Relationship Id="rId9" Type="http://schemas.openxmlformats.org/officeDocument/2006/relationships/diagramData" Target="../diagrams/data7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3.xm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5.xml.rels><?xml version="1.0" encoding="UTF-8" standalone="yes"?>
<Relationships xmlns="http://schemas.openxmlformats.org/package/2006/relationships"><Relationship Id="rId8" Type="http://schemas.openxmlformats.org/officeDocument/2006/relationships/diagramLayout" Target="../diagrams/layout75.xml"/><Relationship Id="rId3" Type="http://schemas.openxmlformats.org/officeDocument/2006/relationships/hyperlink" Target="https://www.analyticsvidhya.com/blog/2020/10/quick-guide-to-evaluation-metrics-for-supervised-and-unsupervised-machine-learning/" TargetMode="External"/><Relationship Id="rId7" Type="http://schemas.openxmlformats.org/officeDocument/2006/relationships/diagramData" Target="../diagrams/data75.xml"/><Relationship Id="rId2" Type="http://schemas.openxmlformats.org/officeDocument/2006/relationships/hyperlink" Target="https://www.analyticsvidhya.com/blog/2021/05/know-the-best-evaluation-metrics-for-your-regression-model/" TargetMode="External"/><Relationship Id="rId1" Type="http://schemas.openxmlformats.org/officeDocument/2006/relationships/slideLayout" Target="../slideLayouts/slideLayout2.xml"/><Relationship Id="rId6" Type="http://schemas.openxmlformats.org/officeDocument/2006/relationships/hyperlink" Target="https://en.m.wikipedia.org/wiki/Sensitivity_and_specificity." TargetMode="External"/><Relationship Id="rId11" Type="http://schemas.microsoft.com/office/2007/relationships/diagramDrawing" Target="../diagrams/drawing75.xml"/><Relationship Id="rId5" Type="http://schemas.openxmlformats.org/officeDocument/2006/relationships/hyperlink" Target="https://medium.com/heyjobs-tech/fundamentals-of-machine-learning-model-evaluation-f2bae6eb5d36" TargetMode="External"/><Relationship Id="rId10" Type="http://schemas.openxmlformats.org/officeDocument/2006/relationships/diagramColors" Target="../diagrams/colors75.xml"/><Relationship Id="rId4" Type="http://schemas.openxmlformats.org/officeDocument/2006/relationships/hyperlink" Target="https://neptune.ai/blog/performance-metrics-in-machine-learning-complete-guide" TargetMode="External"/><Relationship Id="rId9" Type="http://schemas.openxmlformats.org/officeDocument/2006/relationships/diagramQuickStyle" Target="../diagrams/quickStyle75.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8.xml.rels><?xml version="1.0" encoding="UTF-8" standalone="yes"?>
<Relationships xmlns="http://schemas.openxmlformats.org/package/2006/relationships"><Relationship Id="rId8" Type="http://schemas.openxmlformats.org/officeDocument/2006/relationships/hyperlink" Target="https://www.linkedin.com/posts/venkat-raman-analytics_lasso-ridge-regression-everything-you-activity-6959735196116037632-gItp/?utm_source=share&amp;utm_medium=member_desktop" TargetMode="External"/><Relationship Id="rId13" Type="http://schemas.openxmlformats.org/officeDocument/2006/relationships/diagramQuickStyle" Target="../diagrams/quickStyle78.xml"/><Relationship Id="rId3" Type="http://schemas.openxmlformats.org/officeDocument/2006/relationships/hyperlink" Target="https://www.youtube.com/watch?v=EuBBz3bI-aA" TargetMode="External"/><Relationship Id="rId7" Type="http://schemas.openxmlformats.org/officeDocument/2006/relationships/hyperlink" Target="https://www.analyticssteps.com/blogs/l2-and-l1-regularization-machine-learning" TargetMode="External"/><Relationship Id="rId12" Type="http://schemas.openxmlformats.org/officeDocument/2006/relationships/diagramLayout" Target="../diagrams/layout78.xml"/><Relationship Id="rId2" Type="http://schemas.openxmlformats.org/officeDocument/2006/relationships/hyperlink" Target="https://www.analyticsvidhya.com/blog/2021/03/intuitive-understanding-of-bias-and-variance-trade-off-%E2%9A%96%EF%B8%8F/" TargetMode="External"/><Relationship Id="rId1" Type="http://schemas.openxmlformats.org/officeDocument/2006/relationships/slideLayout" Target="../slideLayouts/slideLayout2.xml"/><Relationship Id="rId6" Type="http://schemas.openxmlformats.org/officeDocument/2006/relationships/hyperlink" Target="https://analyticsindiamag.com/ai-trends/how-to-address-bias-variance-tradeoff-in-machine-learning/" TargetMode="External"/><Relationship Id="rId11" Type="http://schemas.openxmlformats.org/officeDocument/2006/relationships/diagramData" Target="../diagrams/data78.xml"/><Relationship Id="rId5" Type="http://schemas.openxmlformats.org/officeDocument/2006/relationships/hyperlink" Target="https://medium.com/analytics-vidhya/5-ways-to-achieve-right-balance-of-bias-and-variance-in-ml-model-f734fea6116" TargetMode="External"/><Relationship Id="rId15" Type="http://schemas.microsoft.com/office/2007/relationships/diagramDrawing" Target="../diagrams/drawing78.xml"/><Relationship Id="rId10" Type="http://schemas.openxmlformats.org/officeDocument/2006/relationships/hyperlink" Target="https://github.com/PacktPublishing/The-Regularization-Cookbook" TargetMode="External"/><Relationship Id="rId4" Type="http://schemas.openxmlformats.org/officeDocument/2006/relationships/hyperlink" Target="https://scott.fortmann-roe.com/docs/BiasVariance.html" TargetMode="External"/><Relationship Id="rId9" Type="http://schemas.openxmlformats.org/officeDocument/2006/relationships/hyperlink" Target="https://en.m.wikipedia.org/wiki/Regularization_(mathematics)" TargetMode="External"/><Relationship Id="rId14" Type="http://schemas.openxmlformats.org/officeDocument/2006/relationships/diagramColors" Target="../diagrams/colors78.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79.xm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1.xml.rels><?xml version="1.0" encoding="UTF-8" standalone="yes"?>
<Relationships xmlns="http://schemas.openxmlformats.org/package/2006/relationships"><Relationship Id="rId8" Type="http://schemas.openxmlformats.org/officeDocument/2006/relationships/diagramLayout" Target="../diagrams/layout81.xml"/><Relationship Id="rId3" Type="http://schemas.openxmlformats.org/officeDocument/2006/relationships/hyperlink" Target="https://machinelearningmastery.com/premature-convergence/" TargetMode="External"/><Relationship Id="rId7" Type="http://schemas.openxmlformats.org/officeDocument/2006/relationships/diagramData" Target="../diagrams/data81.xml"/><Relationship Id="rId2" Type="http://schemas.openxmlformats.org/officeDocument/2006/relationships/hyperlink" Target="https://serokell.io/blog/ml-optimization" TargetMode="External"/><Relationship Id="rId1" Type="http://schemas.openxmlformats.org/officeDocument/2006/relationships/slideLayout" Target="../slideLayouts/slideLayout2.xml"/><Relationship Id="rId6" Type="http://schemas.openxmlformats.org/officeDocument/2006/relationships/hyperlink" Target="https://github.com/PacktPublishing/Hyperparameter-Tuning-with-Python" TargetMode="External"/><Relationship Id="rId11" Type="http://schemas.microsoft.com/office/2007/relationships/diagramDrawing" Target="../diagrams/drawing81.xml"/><Relationship Id="rId5" Type="http://schemas.openxmlformats.org/officeDocument/2006/relationships/hyperlink" Target="https://machinelearningmastery.com/learning-rate-for-deep-learning-neural-networks/" TargetMode="External"/><Relationship Id="rId10" Type="http://schemas.openxmlformats.org/officeDocument/2006/relationships/diagramColors" Target="../diagrams/colors81.xml"/><Relationship Id="rId4" Type="http://schemas.openxmlformats.org/officeDocument/2006/relationships/hyperlink" Target="https://machinelearningmastery.com/difference-between-a-batch-and-an-epoch/" TargetMode="External"/><Relationship Id="rId9" Type="http://schemas.openxmlformats.org/officeDocument/2006/relationships/diagramQuickStyle" Target="../diagrams/quickStyle81.xml"/></Relationships>
</file>

<file path=ppt/slides/_rels/slide82.xml.rels><?xml version="1.0" encoding="UTF-8" standalone="yes"?>
<Relationships xmlns="http://schemas.openxmlformats.org/package/2006/relationships"><Relationship Id="rId8" Type="http://schemas.openxmlformats.org/officeDocument/2006/relationships/hyperlink" Target="https://learn.microsoft.com/en-us/azure/machine-learning/algorithm-cheat-sheet?view=azureml-api-1" TargetMode="External"/><Relationship Id="rId13" Type="http://schemas.openxmlformats.org/officeDocument/2006/relationships/diagramQuickStyle" Target="../diagrams/quickStyle82.xml"/><Relationship Id="rId3" Type="http://schemas.openxmlformats.org/officeDocument/2006/relationships/hyperlink" Target="https://www.linkedin.com/pulse/4-stages-machine-learning-ml-modeling-cycle-maurice-chang/" TargetMode="External"/><Relationship Id="rId7" Type="http://schemas.openxmlformats.org/officeDocument/2006/relationships/hyperlink" Target="https://learn.microsoft.com/en-us/azure/machine-learning/how-to-select-algorithms?view=azureml-api-1" TargetMode="External"/><Relationship Id="rId12" Type="http://schemas.openxmlformats.org/officeDocument/2006/relationships/diagramLayout" Target="../diagrams/layout82.xml"/><Relationship Id="rId2" Type="http://schemas.openxmlformats.org/officeDocument/2006/relationships/hyperlink" Target="https://www.labellerr.com/blog/machine-learning-steps-a-complete-guide-to-the-ml-process/" TargetMode="External"/><Relationship Id="rId1" Type="http://schemas.openxmlformats.org/officeDocument/2006/relationships/slideLayout" Target="../slideLayouts/slideLayout2.xml"/><Relationship Id="rId6" Type="http://schemas.openxmlformats.org/officeDocument/2006/relationships/hyperlink" Target="https://www.analyticsvidhya.com/blog/2022/10/calibration-of-machine-learning-models/" TargetMode="External"/><Relationship Id="rId11" Type="http://schemas.openxmlformats.org/officeDocument/2006/relationships/diagramData" Target="../diagrams/data82.xml"/><Relationship Id="rId5" Type="http://schemas.openxmlformats.org/officeDocument/2006/relationships/hyperlink" Target="https://github.com/NannyML/The-Little-Book-of-ML-Metrics" TargetMode="External"/><Relationship Id="rId15" Type="http://schemas.microsoft.com/office/2007/relationships/diagramDrawing" Target="../diagrams/drawing82.xml"/><Relationship Id="rId10" Type="http://schemas.openxmlformats.org/officeDocument/2006/relationships/hyperlink" Target="https://github.com/thesecretlab/PracticalSimulations" TargetMode="External"/><Relationship Id="rId4" Type="http://schemas.openxmlformats.org/officeDocument/2006/relationships/hyperlink" Target="https://github.com/christianversloot/machine-learning-articles/blob/main/about-loss-and-loss-functions.md" TargetMode="External"/><Relationship Id="rId9" Type="http://schemas.openxmlformats.org/officeDocument/2006/relationships/hyperlink" Target="https://github.com/PacktPublishing/Hands-On-Simulation-Modeling-with-Python" TargetMode="External"/><Relationship Id="rId14" Type="http://schemas.openxmlformats.org/officeDocument/2006/relationships/diagramColors" Target="../diagrams/colors82.xml"/></Relationships>
</file>

<file path=ppt/slides/_rels/slide83.xml.rels><?xml version="1.0" encoding="UTF-8" standalone="yes"?>
<Relationships xmlns="http://schemas.openxmlformats.org/package/2006/relationships"><Relationship Id="rId8" Type="http://schemas.microsoft.com/office/2007/relationships/diagramDrawing" Target="../diagrams/drawing83.xml"/><Relationship Id="rId3" Type="http://schemas.openxmlformats.org/officeDocument/2006/relationships/hyperlink" Target="https://en.wikipedia.org/wiki/The_Design_of_Experiments" TargetMode="External"/><Relationship Id="rId7" Type="http://schemas.openxmlformats.org/officeDocument/2006/relationships/diagramColors" Target="../diagrams/colors83.xml"/><Relationship Id="rId2" Type="http://schemas.openxmlformats.org/officeDocument/2006/relationships/hyperlink" Target="https://towardsdatascience.com/machine-learning-experiments-done-right-6ed04f5e959b/" TargetMode="External"/><Relationship Id="rId1" Type="http://schemas.openxmlformats.org/officeDocument/2006/relationships/slideLayout" Target="../slideLayouts/slideLayout2.xml"/><Relationship Id="rId6" Type="http://schemas.openxmlformats.org/officeDocument/2006/relationships/diagramQuickStyle" Target="../diagrams/quickStyle83.xml"/><Relationship Id="rId5" Type="http://schemas.openxmlformats.org/officeDocument/2006/relationships/diagramLayout" Target="../diagrams/layout83.xml"/><Relationship Id="rId4" Type="http://schemas.openxmlformats.org/officeDocument/2006/relationships/diagramData" Target="../diagrams/data83.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84.xm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5.xml.rels><?xml version="1.0" encoding="UTF-8" standalone="yes"?>
<Relationships xmlns="http://schemas.openxmlformats.org/package/2006/relationships"><Relationship Id="rId8" Type="http://schemas.openxmlformats.org/officeDocument/2006/relationships/hyperlink" Target="https://in.mathworks.com/help/deeplearning/ug/reduce-memory-footprint-of-deep-neural-networks.html" TargetMode="External"/><Relationship Id="rId3" Type="http://schemas.openxmlformats.org/officeDocument/2006/relationships/diagramLayout" Target="../diagrams/layout85.xml"/><Relationship Id="rId7" Type="http://schemas.openxmlformats.org/officeDocument/2006/relationships/hyperlink" Target="https://www.numberanalytics.com/blog/5-key-factors-determining-model-complexity-data-overview" TargetMode="Externa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86.xml.rels><?xml version="1.0" encoding="UTF-8" standalone="yes"?>
<Relationships xmlns="http://schemas.openxmlformats.org/package/2006/relationships"><Relationship Id="rId8" Type="http://schemas.openxmlformats.org/officeDocument/2006/relationships/hyperlink" Target="https://neptune.ai/blog/improving-ml-model-performance" TargetMode="External"/><Relationship Id="rId3" Type="http://schemas.openxmlformats.org/officeDocument/2006/relationships/diagramLayout" Target="../diagrams/layout86.xml"/><Relationship Id="rId7" Type="http://schemas.openxmlformats.org/officeDocument/2006/relationships/hyperlink" Target="https://www.datacamp.com/tutorial/complete-guide-data-augmentation" TargetMode="Externa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5" Type="http://schemas.openxmlformats.org/officeDocument/2006/relationships/diagramColors" Target="../diagrams/colors86.xml"/><Relationship Id="rId10" Type="http://schemas.openxmlformats.org/officeDocument/2006/relationships/hyperlink" Target="https://github.com/PacktPublishing/Data-Augmentation-with-Python" TargetMode="External"/><Relationship Id="rId4" Type="http://schemas.openxmlformats.org/officeDocument/2006/relationships/diagramQuickStyle" Target="../diagrams/quickStyle86.xml"/><Relationship Id="rId9" Type="http://schemas.openxmlformats.org/officeDocument/2006/relationships/hyperlink" Target="https://www.hophr.com/tutorial-page/machine-learning-model-not-converging-step-by-step-guide" TargetMode="Externa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87.xml"/><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88.xml"/><Relationship Id="rId7" Type="http://schemas.openxmlformats.org/officeDocument/2006/relationships/hyperlink" Target="https://www.scribbr.com/statistics/statistical-tests/" TargetMode="External"/><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5" Type="http://schemas.openxmlformats.org/officeDocument/2006/relationships/diagramColors" Target="../diagrams/colors88.xml"/><Relationship Id="rId4" Type="http://schemas.openxmlformats.org/officeDocument/2006/relationships/diagramQuickStyle" Target="../diagrams/quickStyle88.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89.xml"/><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s>
</file>

<file path=ppt/slides/_rels/slide90.xml.rels><?xml version="1.0" encoding="UTF-8" standalone="yes"?>
<Relationships xmlns="http://schemas.openxmlformats.org/package/2006/relationships"><Relationship Id="rId8" Type="http://schemas.openxmlformats.org/officeDocument/2006/relationships/hyperlink" Target="https://sciml.ai/" TargetMode="External"/><Relationship Id="rId13" Type="http://schemas.openxmlformats.org/officeDocument/2006/relationships/hyperlink" Target="https://www.iguazio.com/glossary/classification-threshold/" TargetMode="External"/><Relationship Id="rId18" Type="http://schemas.openxmlformats.org/officeDocument/2006/relationships/hyperlink" Target="https://github.com/PacktPublishing/Mastering-Machine-Learning-Algorithms-Second-Edition" TargetMode="External"/><Relationship Id="rId3" Type="http://schemas.openxmlformats.org/officeDocument/2006/relationships/diagramLayout" Target="../diagrams/layout90.xml"/><Relationship Id="rId21" Type="http://schemas.openxmlformats.org/officeDocument/2006/relationships/hyperlink" Target="https://github.com/vsmolyakov/ml_algo_in_depth" TargetMode="External"/><Relationship Id="rId7" Type="http://schemas.openxmlformats.org/officeDocument/2006/relationships/hyperlink" Target="https://kks32-courses.github.io/sciml/README.html" TargetMode="External"/><Relationship Id="rId12" Type="http://schemas.openxmlformats.org/officeDocument/2006/relationships/hyperlink" Target="https://medium.com/@nandiniverma78988/understanding-k-nearest-neighbors-knn-regression-in-machine-learning-c751a7cf516c" TargetMode="External"/><Relationship Id="rId17" Type="http://schemas.openxmlformats.org/officeDocument/2006/relationships/hyperlink" Target="https://github.com/PacktPublishing/Machine-Learning-Algorithms-Second-Edition" TargetMode="External"/><Relationship Id="rId2" Type="http://schemas.openxmlformats.org/officeDocument/2006/relationships/diagramData" Target="../diagrams/data90.xml"/><Relationship Id="rId16" Type="http://schemas.openxmlformats.org/officeDocument/2006/relationships/hyperlink" Target="https://www.datacamp.com/tutorial/understanding-dimensionality-reduction" TargetMode="External"/><Relationship Id="rId20" Type="http://schemas.openxmlformats.org/officeDocument/2006/relationships/hyperlink" Target="https://github.com/aapatel09/handson-unsupervised-learning" TargetMode="External"/><Relationship Id="rId1" Type="http://schemas.openxmlformats.org/officeDocument/2006/relationships/slideLayout" Target="../slideLayouts/slideLayout2.xml"/><Relationship Id="rId6" Type="http://schemas.microsoft.com/office/2007/relationships/diagramDrawing" Target="../diagrams/drawing90.xml"/><Relationship Id="rId11" Type="http://schemas.openxmlformats.org/officeDocument/2006/relationships/hyperlink" Target="https://eitca.org/artificial-intelligence/eitc-ai-mlp-machine-learning-with-python/programming-machine-learning/introduction-to-classification-with-k-nearest-neighbors/examination-review-introduction-to-classification-with-k-nearest-neighbors/why-is-it-recommended-to-choose-an-odd-value-for-k-in-k-nearest-neighbors/" TargetMode="External"/><Relationship Id="rId5" Type="http://schemas.openxmlformats.org/officeDocument/2006/relationships/diagramColors" Target="../diagrams/colors90.xml"/><Relationship Id="rId15" Type="http://schemas.openxmlformats.org/officeDocument/2006/relationships/hyperlink" Target="https://www.geeksforgeeks.org/ml-types-of-linkages-in-clustering/" TargetMode="External"/><Relationship Id="rId23" Type="http://schemas.openxmlformats.org/officeDocument/2006/relationships/hyperlink" Target="https://scikit-learn.org/stable/machine_learning_map.html" TargetMode="External"/><Relationship Id="rId10" Type="http://schemas.openxmlformats.org/officeDocument/2006/relationships/hyperlink" Target="https://www.geeksforgeeks.org/machine-learning-algorithms/" TargetMode="External"/><Relationship Id="rId19" Type="http://schemas.openxmlformats.org/officeDocument/2006/relationships/hyperlink" Target="https://github.com/PacktPublishing/HandsOn-Unsupervised-Learning-with-Python" TargetMode="External"/><Relationship Id="rId4" Type="http://schemas.openxmlformats.org/officeDocument/2006/relationships/diagramQuickStyle" Target="../diagrams/quickStyle90.xml"/><Relationship Id="rId9" Type="http://schemas.openxmlformats.org/officeDocument/2006/relationships/hyperlink" Target="https://machinelearningmastery.com/a-tour-of-machine-learning-algorithms/" TargetMode="External"/><Relationship Id="rId14" Type="http://schemas.openxmlformats.org/officeDocument/2006/relationships/hyperlink" Target="https://www.geeksforgeeks.org/clustering-in-machine-learning/" TargetMode="External"/><Relationship Id="rId22" Type="http://schemas.openxmlformats.org/officeDocument/2006/relationships/hyperlink" Target="https://neptune.ai/blog/how-to-compare-machine-learning-models-and-algorithms" TargetMode="Externa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91.xm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2.xml"/><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3.xml"/><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4.xml"/><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5.xml.rels><?xml version="1.0" encoding="UTF-8" standalone="yes"?>
<Relationships xmlns="http://schemas.openxmlformats.org/package/2006/relationships"><Relationship Id="rId8" Type="http://schemas.openxmlformats.org/officeDocument/2006/relationships/hyperlink" Target="https://www.researchgate.net/publication/324907898_Technical_Report_SC_TR_00021_Clusters" TargetMode="External"/><Relationship Id="rId3" Type="http://schemas.openxmlformats.org/officeDocument/2006/relationships/diagramLayout" Target="../diagrams/layout95.xml"/><Relationship Id="rId7" Type="http://schemas.openxmlformats.org/officeDocument/2006/relationships/hyperlink" Target="https://www.researchgate.net/publication/373498361_Cluster_analysis" TargetMode="Externa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6.xm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s>
</file>

<file path=ppt/slides/_rels/slide97.xml.rels><?xml version="1.0" encoding="UTF-8" standalone="yes"?>
<Relationships xmlns="http://schemas.openxmlformats.org/package/2006/relationships"><Relationship Id="rId8" Type="http://schemas.openxmlformats.org/officeDocument/2006/relationships/hyperlink" Target="https://en.wikipedia.org/wiki/Eigenvalues_and_eigenvectors" TargetMode="External"/><Relationship Id="rId13" Type="http://schemas.openxmlformats.org/officeDocument/2006/relationships/hyperlink" Target="https://www.researchgate.net/publication/226388910_Dimension_Reduction" TargetMode="External"/><Relationship Id="rId3" Type="http://schemas.openxmlformats.org/officeDocument/2006/relationships/diagramLayout" Target="../diagrams/layout97.xml"/><Relationship Id="rId7" Type="http://schemas.openxmlformats.org/officeDocument/2006/relationships/hyperlink" Target="https://www.youtube.com/watch?v=KzH1ovd4Ots" TargetMode="External"/><Relationship Id="rId12" Type="http://schemas.openxmlformats.org/officeDocument/2006/relationships/hyperlink" Target="https://www.upgrad.com/blog/top-dimensionality-reduction-techniques-for-machine-learning/" TargetMode="Externa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11" Type="http://schemas.openxmlformats.org/officeDocument/2006/relationships/hyperlink" Target="https://gregorygundersen.com/blog/2018/12/10/svd/" TargetMode="External"/><Relationship Id="rId5" Type="http://schemas.openxmlformats.org/officeDocument/2006/relationships/diagramColors" Target="../diagrams/colors97.xml"/><Relationship Id="rId15" Type="http://schemas.openxmlformats.org/officeDocument/2006/relationships/hyperlink" Target="https://en.wikipedia.org/wiki/Nonlinear_dimensionality_reduction" TargetMode="External"/><Relationship Id="rId10" Type="http://schemas.openxmlformats.org/officeDocument/2006/relationships/hyperlink" Target="https://www.youtube.com/watch?v=a9jdQGybYmE" TargetMode="External"/><Relationship Id="rId4" Type="http://schemas.openxmlformats.org/officeDocument/2006/relationships/diagramQuickStyle" Target="../diagrams/quickStyle97.xml"/><Relationship Id="rId9" Type="http://schemas.openxmlformats.org/officeDocument/2006/relationships/hyperlink" Target="https://www.youtube.com/watch?v=fkf4IBRSeEc" TargetMode="External"/><Relationship Id="rId14" Type="http://schemas.openxmlformats.org/officeDocument/2006/relationships/hyperlink" Target="https://www.researchgate.net/publication/266375900_Geometric_Structure_of_High-Dimensional_Data_and_Dimensionality_Reduction" TargetMode="Externa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9.xml"/><Relationship Id="rId7" Type="http://schemas.openxmlformats.org/officeDocument/2006/relationships/hyperlink" Target="https://datascience.stackexchange.com/questions/33794/how-and-why-are-random-forests-able-to-represent-both-linear-and-non-linear-da" TargetMode="External"/><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4" Type="http://schemas.openxmlformats.org/officeDocument/2006/relationships/diagramQuickStyle" Target="../diagrams/quickStyle99.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00.xml"/><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s>
</file>

<file path=ppt/slides/_rels/slide101.xml.rels><?xml version="1.0" encoding="UTF-8" standalone="yes"?>
<Relationships xmlns="http://schemas.openxmlformats.org/package/2006/relationships"><Relationship Id="rId8" Type="http://schemas.openxmlformats.org/officeDocument/2006/relationships/hyperlink" Target="https://www.geeksforgeeks.org/cart-classification-and-regression-tree-in-machine-learning/" TargetMode="External"/><Relationship Id="rId3" Type="http://schemas.openxmlformats.org/officeDocument/2006/relationships/diagramLayout" Target="../diagrams/layout101.xml"/><Relationship Id="rId7" Type="http://schemas.openxmlformats.org/officeDocument/2006/relationships/hyperlink" Target="https://www.linkedin.com/advice/1/how-can-decision-trees-improve-regression-analysis-bbfsf" TargetMode="External"/><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4" Type="http://schemas.openxmlformats.org/officeDocument/2006/relationships/diagramQuickStyle" Target="../diagrams/quickStyle101.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102.xml"/><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5" Type="http://schemas.openxmlformats.org/officeDocument/2006/relationships/diagramColors" Target="../diagrams/colors102.xml"/><Relationship Id="rId4" Type="http://schemas.openxmlformats.org/officeDocument/2006/relationships/diagramQuickStyle" Target="../diagrams/quickStyle102.xml"/></Relationships>
</file>

<file path=ppt/slides/_rels/slide103.xml.rels><?xml version="1.0" encoding="UTF-8" standalone="yes"?>
<Relationships xmlns="http://schemas.openxmlformats.org/package/2006/relationships"><Relationship Id="rId8" Type="http://schemas.openxmlformats.org/officeDocument/2006/relationships/hyperlink" Target="https://www.numberanalytics.com/blog/kernel-trick-enhancing-nonlinear-classification" TargetMode="External"/><Relationship Id="rId3" Type="http://schemas.openxmlformats.org/officeDocument/2006/relationships/diagramLayout" Target="../diagrams/layout103.xml"/><Relationship Id="rId7" Type="http://schemas.openxmlformats.org/officeDocument/2006/relationships/hyperlink" Target="https://analyticsindiamag.com/ai-trends/how-do-kernels-learn-non-linear-functions/" TargetMode="External"/><Relationship Id="rId12" Type="http://schemas.openxmlformats.org/officeDocument/2006/relationships/hyperlink" Target="https://direct.mit.edu/books/monograph/1821/Learning-with-KernelsSupport-Vector-Machines" TargetMode="External"/><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11" Type="http://schemas.openxmlformats.org/officeDocument/2006/relationships/hyperlink" Target="https://www.youtube.com/watch?v=_PwhiWxHK8o" TargetMode="External"/><Relationship Id="rId5" Type="http://schemas.openxmlformats.org/officeDocument/2006/relationships/diagramColors" Target="../diagrams/colors103.xml"/><Relationship Id="rId10" Type="http://schemas.openxmlformats.org/officeDocument/2006/relationships/hyperlink" Target="https://www.cs.toronto.edu/~duvenaud/cookbook/" TargetMode="External"/><Relationship Id="rId4" Type="http://schemas.openxmlformats.org/officeDocument/2006/relationships/diagramQuickStyle" Target="../diagrams/quickStyle103.xml"/><Relationship Id="rId9" Type="http://schemas.openxmlformats.org/officeDocument/2006/relationships/hyperlink" Target="https://www.baeldung.com/cs/intuition-behind-kernels-in-machine-learning" TargetMode="Externa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04.xml"/><Relationship Id="rId2" Type="http://schemas.openxmlformats.org/officeDocument/2006/relationships/diagramData" Target="../diagrams/data104.xml"/><Relationship Id="rId1" Type="http://schemas.openxmlformats.org/officeDocument/2006/relationships/slideLayout" Target="../slideLayouts/slideLayout2.xml"/><Relationship Id="rId6" Type="http://schemas.microsoft.com/office/2007/relationships/diagramDrawing" Target="../diagrams/drawing104.xml"/><Relationship Id="rId5" Type="http://schemas.openxmlformats.org/officeDocument/2006/relationships/diagramColors" Target="../diagrams/colors104.xml"/><Relationship Id="rId4" Type="http://schemas.openxmlformats.org/officeDocument/2006/relationships/diagramQuickStyle" Target="../diagrams/quickStyle104.xml"/></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105.xml"/><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06.xml.rels><?xml version="1.0" encoding="UTF-8" standalone="yes"?>
<Relationships xmlns="http://schemas.openxmlformats.org/package/2006/relationships"><Relationship Id="rId8" Type="http://schemas.openxmlformats.org/officeDocument/2006/relationships/hyperlink" Target="https://www.threads.net/@data_science_learn/post/DEUkj2lz43Q?hl=en" TargetMode="External"/><Relationship Id="rId13" Type="http://schemas.openxmlformats.org/officeDocument/2006/relationships/image" Target="../media/image23.png"/><Relationship Id="rId3" Type="http://schemas.openxmlformats.org/officeDocument/2006/relationships/diagramLayout" Target="../diagrams/layout106.xml"/><Relationship Id="rId7" Type="http://schemas.openxmlformats.org/officeDocument/2006/relationships/hyperlink" Target="https://prwatech.in/blog/machine-learning/machine-learning-modules/ensemble-methods-tutorial/" TargetMode="External"/><Relationship Id="rId12" Type="http://schemas.openxmlformats.org/officeDocument/2006/relationships/image" Target="../media/image22.png"/><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11" Type="http://schemas.openxmlformats.org/officeDocument/2006/relationships/hyperlink" Target="https://github.com/PacktPublishing/Hands-On-Ensemble-Learning-with-Python" TargetMode="External"/><Relationship Id="rId5" Type="http://schemas.openxmlformats.org/officeDocument/2006/relationships/diagramColors" Target="../diagrams/colors106.xml"/><Relationship Id="rId10" Type="http://schemas.openxmlformats.org/officeDocument/2006/relationships/hyperlink" Target="https://github.com/PacktPublishing/Ensemble-Machine-Learning-Cookbook" TargetMode="External"/><Relationship Id="rId4" Type="http://schemas.openxmlformats.org/officeDocument/2006/relationships/diagramQuickStyle" Target="../diagrams/quickStyle106.xml"/><Relationship Id="rId9" Type="http://schemas.openxmlformats.org/officeDocument/2006/relationships/hyperlink" Target="https://github.com/gkunapuli/ensemble-methods-notebooks" TargetMode="Externa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07.xml"/><Relationship Id="rId7" Type="http://schemas.openxmlformats.org/officeDocument/2006/relationships/image" Target="../media/image24.png"/><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4" Type="http://schemas.openxmlformats.org/officeDocument/2006/relationships/diagramQuickStyle" Target="../diagrams/quickStyle107.xml"/></Relationships>
</file>

<file path=ppt/slides/_rels/slide108.xml.rels><?xml version="1.0" encoding="UTF-8" standalone="yes"?>
<Relationships xmlns="http://schemas.openxmlformats.org/package/2006/relationships"><Relationship Id="rId8" Type="http://schemas.openxmlformats.org/officeDocument/2006/relationships/hyperlink" Target="https://www.datacamp.com/tutorial/forward-propagation-neural-networks" TargetMode="External"/><Relationship Id="rId13" Type="http://schemas.openxmlformats.org/officeDocument/2006/relationships/hyperlink" Target="https://www.geeksforgeeks.org/types-of-learning-rules-in-ann/" TargetMode="External"/><Relationship Id="rId18" Type="http://schemas.openxmlformats.org/officeDocument/2006/relationships/hyperlink" Target="https://www.analyticsvidhya.com/blog/2021/10/a-comprehensive-guide-on-deep-learning-optimizers/" TargetMode="External"/><Relationship Id="rId3" Type="http://schemas.openxmlformats.org/officeDocument/2006/relationships/diagramLayout" Target="../diagrams/layout108.xml"/><Relationship Id="rId21" Type="http://schemas.openxmlformats.org/officeDocument/2006/relationships/hyperlink" Target="https://github.com/iamtrask/Grokking-Deep-Learning" TargetMode="External"/><Relationship Id="rId7" Type="http://schemas.openxmlformats.org/officeDocument/2006/relationships/hyperlink" Target="https://www.youtube.com/watch?v=7R52wiUgxZI" TargetMode="External"/><Relationship Id="rId12" Type="http://schemas.openxmlformats.org/officeDocument/2006/relationships/hyperlink" Target="https://www.researchgate.net/publication/3907199_The_need_for_small_learning_rates_on_large_problems" TargetMode="External"/><Relationship Id="rId17" Type="http://schemas.openxmlformats.org/officeDocument/2006/relationships/hyperlink" Target="https://medium.com/data-science-group-iitr/loss-functions-and-optimization-algorithms-demystified-bb92daff331c" TargetMode="External"/><Relationship Id="rId2" Type="http://schemas.openxmlformats.org/officeDocument/2006/relationships/diagramData" Target="../diagrams/data108.xml"/><Relationship Id="rId16" Type="http://schemas.openxmlformats.org/officeDocument/2006/relationships/hyperlink" Target="https://www.reddit.com/r/learnmachinelearning/comments/x89qsi/dropout_in_neural_networks_what_it_is_and_how_it/?rdt=56706" TargetMode="External"/><Relationship Id="rId20" Type="http://schemas.openxmlformats.org/officeDocument/2006/relationships/hyperlink" Target="https://medium.com/@sujathamudadla1213/epoch-vs-batch-vs-iteration-in-neural-networks-8d02ea155304" TargetMode="External"/><Relationship Id="rId1" Type="http://schemas.openxmlformats.org/officeDocument/2006/relationships/slideLayout" Target="../slideLayouts/slideLayout2.xml"/><Relationship Id="rId6" Type="http://schemas.microsoft.com/office/2007/relationships/diagramDrawing" Target="../diagrams/drawing108.xml"/><Relationship Id="rId11" Type="http://schemas.openxmlformats.org/officeDocument/2006/relationships/hyperlink" Target="https://www.ibm.com/think/topics/learning-rate" TargetMode="External"/><Relationship Id="rId5" Type="http://schemas.openxmlformats.org/officeDocument/2006/relationships/diagramColors" Target="../diagrams/colors108.xml"/><Relationship Id="rId15" Type="http://schemas.openxmlformats.org/officeDocument/2006/relationships/hyperlink" Target="https://www.reddit.com/r/MachineLearning/comments/1evwap1/d_why_we_initialize_the_neural_networks_with/?rdt=44147" TargetMode="External"/><Relationship Id="rId23" Type="http://schemas.openxmlformats.org/officeDocument/2006/relationships/hyperlink" Target="https://github.com/mohd-faizy/Probabilistic-Deep-Learning-with-TensorFlow" TargetMode="External"/><Relationship Id="rId10" Type="http://schemas.openxmlformats.org/officeDocument/2006/relationships/hyperlink" Target="https://www.geeksforgeeks.org/activation-functions-neural-networks/" TargetMode="External"/><Relationship Id="rId19" Type="http://schemas.openxmlformats.org/officeDocument/2006/relationships/hyperlink" Target="https://www.geeksforgeeks.org/difference-between-batch-gradient-descent-and-stochastic-gradient-descent/" TargetMode="External"/><Relationship Id="rId4" Type="http://schemas.openxmlformats.org/officeDocument/2006/relationships/diagramQuickStyle" Target="../diagrams/quickStyle108.xml"/><Relationship Id="rId9" Type="http://schemas.openxmlformats.org/officeDocument/2006/relationships/hyperlink" Target="https://en.wikipedia.org/wiki/Backpropagation" TargetMode="External"/><Relationship Id="rId14" Type="http://schemas.openxmlformats.org/officeDocument/2006/relationships/hyperlink" Target="https://towardsdatascience.com/neural-network-breaking-the-symmetry-e04f963395dd/" TargetMode="External"/><Relationship Id="rId22" Type="http://schemas.openxmlformats.org/officeDocument/2006/relationships/hyperlink" Target="https://github.com/PacktPublishing/Enhancing-Deep-Learning-with-Bayesian-Inference" TargetMode="External"/></Relationships>
</file>

<file path=ppt/slides/_rels/slide109.xml.rels><?xml version="1.0" encoding="UTF-8" standalone="yes"?>
<Relationships xmlns="http://schemas.openxmlformats.org/package/2006/relationships"><Relationship Id="rId8" Type="http://schemas.openxmlformats.org/officeDocument/2006/relationships/hyperlink" Target="https://www.geeksforgeeks.org/implementing-models-of-artificial-neural-network/" TargetMode="External"/><Relationship Id="rId13" Type="http://schemas.openxmlformats.org/officeDocument/2006/relationships/hyperlink" Target="https://en.wikipedia.org/wiki/Neocognitron" TargetMode="External"/><Relationship Id="rId3" Type="http://schemas.openxmlformats.org/officeDocument/2006/relationships/diagramLayout" Target="../diagrams/layout109.xml"/><Relationship Id="rId7" Type="http://schemas.openxmlformats.org/officeDocument/2006/relationships/image" Target="../media/image25.jpeg"/><Relationship Id="rId12" Type="http://schemas.openxmlformats.org/officeDocument/2006/relationships/hyperlink" Target="https://www.sapien.io/glossary/definition/hierarchical-feature-learning#:~:text=Hierarchical%20feature%20learning%20is%20a,is%20essential%20for%20accurate%20predictions." TargetMode="External"/><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11" Type="http://schemas.openxmlformats.org/officeDocument/2006/relationships/hyperlink" Target="https://www.datacamp.com/tutorial/multilayer-perceptrons-in-machine-learning" TargetMode="External"/><Relationship Id="rId5" Type="http://schemas.openxmlformats.org/officeDocument/2006/relationships/diagramColors" Target="../diagrams/colors109.xml"/><Relationship Id="rId10" Type="http://schemas.openxmlformats.org/officeDocument/2006/relationships/hyperlink" Target="https://www.geeksforgeeks.org/hopfield-neural-network/" TargetMode="External"/><Relationship Id="rId4" Type="http://schemas.openxmlformats.org/officeDocument/2006/relationships/diagramQuickStyle" Target="../diagrams/quickStyle109.xml"/><Relationship Id="rId9" Type="http://schemas.openxmlformats.org/officeDocument/2006/relationships/hyperlink" Target="https://www.geeksforgeeks.org/hebbian-learning-rule-with-implementation-of-and-gate/" TargetMode="Externa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110.xml"/><Relationship Id="rId7" Type="http://schemas.openxmlformats.org/officeDocument/2006/relationships/hyperlink" Target="http://neuralnetworksanddeeplearning.com/chap4.html" TargetMode="External"/><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5" Type="http://schemas.openxmlformats.org/officeDocument/2006/relationships/diagramColors" Target="../diagrams/colors110.xml"/><Relationship Id="rId4" Type="http://schemas.openxmlformats.org/officeDocument/2006/relationships/diagramQuickStyle" Target="../diagrams/quickStyle110.xml"/></Relationships>
</file>

<file path=ppt/slides/_rels/slide111.xml.rels><?xml version="1.0" encoding="UTF-8" standalone="yes"?>
<Relationships xmlns="http://schemas.openxmlformats.org/package/2006/relationships"><Relationship Id="rId3" Type="http://schemas.openxmlformats.org/officeDocument/2006/relationships/diagramLayout" Target="../diagrams/layout111.xml"/><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12.xml"/><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3.xml.rels><?xml version="1.0" encoding="UTF-8" standalone="yes"?>
<Relationships xmlns="http://schemas.openxmlformats.org/package/2006/relationships"><Relationship Id="rId8" Type="http://schemas.openxmlformats.org/officeDocument/2006/relationships/hyperlink" Target="https://arxiv.org/abs/2303.07735" TargetMode="External"/><Relationship Id="rId13" Type="http://schemas.openxmlformats.org/officeDocument/2006/relationships/hyperlink" Target="https://stackoverflow.com/questions/56943862/using-neural-networks-in-optimization-problems" TargetMode="External"/><Relationship Id="rId3" Type="http://schemas.openxmlformats.org/officeDocument/2006/relationships/diagramLayout" Target="../diagrams/layout113.xml"/><Relationship Id="rId7" Type="http://schemas.openxmlformats.org/officeDocument/2006/relationships/hyperlink" Target="https://blog.mlreview.com/simple-guide-to-neural-arithmetic-logic-units-nalu-explanation-intuition-and-code-64bc22605712" TargetMode="External"/><Relationship Id="rId12" Type="http://schemas.openxmlformats.org/officeDocument/2006/relationships/hyperlink" Target="https://arxiv.org/abs/2007.12213" TargetMode="External"/><Relationship Id="rId2" Type="http://schemas.openxmlformats.org/officeDocument/2006/relationships/diagramData" Target="../diagrams/data113.xml"/><Relationship Id="rId1" Type="http://schemas.openxmlformats.org/officeDocument/2006/relationships/slideLayout" Target="../slideLayouts/slideLayout2.xml"/><Relationship Id="rId6" Type="http://schemas.microsoft.com/office/2007/relationships/diagramDrawing" Target="../diagrams/drawing113.xml"/><Relationship Id="rId11" Type="http://schemas.openxmlformats.org/officeDocument/2006/relationships/hyperlink" Target="https://arxiv.org/abs/2112.15594" TargetMode="External"/><Relationship Id="rId5" Type="http://schemas.openxmlformats.org/officeDocument/2006/relationships/diagramColors" Target="../diagrams/colors113.xml"/><Relationship Id="rId10" Type="http://schemas.openxmlformats.org/officeDocument/2006/relationships/hyperlink" Target="https://www.mdpi.com/2075-1680/11/2/80" TargetMode="External"/><Relationship Id="rId4" Type="http://schemas.openxmlformats.org/officeDocument/2006/relationships/diagramQuickStyle" Target="../diagrams/quickStyle113.xml"/><Relationship Id="rId9" Type="http://schemas.openxmlformats.org/officeDocument/2006/relationships/hyperlink" Target="https://ai.meta.com/blog/using-neural-networks-to-solve-advanced-mathematics-equations/" TargetMode="External"/></Relationships>
</file>

<file path=ppt/slides/_rels/slide114.xml.rels><?xml version="1.0" encoding="UTF-8" standalone="yes"?>
<Relationships xmlns="http://schemas.openxmlformats.org/package/2006/relationships"><Relationship Id="rId8" Type="http://schemas.openxmlformats.org/officeDocument/2006/relationships/hyperlink" Target="https://blog.ml.cmu.edu/2020/08/31/4-overfitting/" TargetMode="External"/><Relationship Id="rId3" Type="http://schemas.openxmlformats.org/officeDocument/2006/relationships/diagramLayout" Target="../diagrams/layout114.xml"/><Relationship Id="rId7" Type="http://schemas.openxmlformats.org/officeDocument/2006/relationships/hyperlink" Target="https://medium.com/@sharadjoshi/intuitive-explanations-of-why-over-parameterised-deep-nets-dont-overfit-8a323b223ba6" TargetMode="External"/><Relationship Id="rId2" Type="http://schemas.openxmlformats.org/officeDocument/2006/relationships/diagramData" Target="../diagrams/data114.xml"/><Relationship Id="rId1" Type="http://schemas.openxmlformats.org/officeDocument/2006/relationships/slideLayout" Target="../slideLayouts/slideLayout2.xml"/><Relationship Id="rId6" Type="http://schemas.microsoft.com/office/2007/relationships/diagramDrawing" Target="../diagrams/drawing114.xml"/><Relationship Id="rId5" Type="http://schemas.openxmlformats.org/officeDocument/2006/relationships/diagramColors" Target="../diagrams/colors114.xml"/><Relationship Id="rId10" Type="http://schemas.openxmlformats.org/officeDocument/2006/relationships/hyperlink" Target="https://arxiv.org/abs/1810.08591" TargetMode="External"/><Relationship Id="rId4" Type="http://schemas.openxmlformats.org/officeDocument/2006/relationships/diagramQuickStyle" Target="../diagrams/quickStyle114.xml"/><Relationship Id="rId9" Type="http://schemas.openxmlformats.org/officeDocument/2006/relationships/hyperlink" Target="https://www.kdnuggets.com/2019/12/5-techniques-prevent-overfitting-neural-networks.html" TargetMode="External"/></Relationships>
</file>

<file path=ppt/slides/_rels/slide115.xml.rels><?xml version="1.0" encoding="UTF-8" standalone="yes"?>
<Relationships xmlns="http://schemas.openxmlformats.org/package/2006/relationships"><Relationship Id="rId3" Type="http://schemas.openxmlformats.org/officeDocument/2006/relationships/diagramLayout" Target="../diagrams/layout115.xml"/><Relationship Id="rId2" Type="http://schemas.openxmlformats.org/officeDocument/2006/relationships/diagramData" Target="../diagrams/data115.xml"/><Relationship Id="rId1" Type="http://schemas.openxmlformats.org/officeDocument/2006/relationships/slideLayout" Target="../slideLayouts/slideLayout2.xml"/><Relationship Id="rId6" Type="http://schemas.microsoft.com/office/2007/relationships/diagramDrawing" Target="../diagrams/drawing115.xml"/><Relationship Id="rId5" Type="http://schemas.openxmlformats.org/officeDocument/2006/relationships/diagramColors" Target="../diagrams/colors115.xml"/><Relationship Id="rId4" Type="http://schemas.openxmlformats.org/officeDocument/2006/relationships/diagramQuickStyle" Target="../diagrams/quickStyle115.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16.xml"/><Relationship Id="rId2" Type="http://schemas.openxmlformats.org/officeDocument/2006/relationships/diagramData" Target="../diagrams/data116.xml"/><Relationship Id="rId1" Type="http://schemas.openxmlformats.org/officeDocument/2006/relationships/slideLayout" Target="../slideLayouts/slideLayout2.xml"/><Relationship Id="rId6" Type="http://schemas.microsoft.com/office/2007/relationships/diagramDrawing" Target="../diagrams/drawing116.xml"/><Relationship Id="rId5" Type="http://schemas.openxmlformats.org/officeDocument/2006/relationships/diagramColors" Target="../diagrams/colors116.xml"/><Relationship Id="rId4" Type="http://schemas.openxmlformats.org/officeDocument/2006/relationships/diagramQuickStyle" Target="../diagrams/quickStyle116.xml"/></Relationships>
</file>

<file path=ppt/slides/_rels/slide117.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40416cf4ac9e8052&amp;sxsrf=AE3TifOF7MG8zDcpxlgXWtNRHnwhgPI7Jg%3A1756868535680&amp;q=Document+Classification&amp;sa=X&amp;ved=2ahUKEwiIhtSnzbuPAxWyR2wGHZMmMn4QxccNegQIEBAB&amp;mstk=AUtExfB0nPOxh_sFhGSdvgSLtBngvRUinDYz4i9gVEKVSCrBV187rlr9AykCKyV2igTpwCIE-U2T5Wl-QXcnY4Bj3Dd-Gnx9CLi1VSc_m8EkiJwbWEcQtj9Z0YrqxTOBW_wN6xZr5pTbwJkBVcZ-JoGJSt74N_o-k304KsqSuYjNn2q_OYLWd21OFolcg8zMD5syT650fUNlt_5XnMTYnvn51yGISOe7WeHGg45cnQ1aFGagRwrNoak9tO9O4fDuw2z4-vchhHAf5S6tOKOTjEd1zo13&amp;csui=3" TargetMode="External"/><Relationship Id="rId13" Type="http://schemas.openxmlformats.org/officeDocument/2006/relationships/hyperlink" Target="https://en.wikipedia.org/wiki/Bag-of-words_model" TargetMode="External"/><Relationship Id="rId3" Type="http://schemas.openxmlformats.org/officeDocument/2006/relationships/diagramLayout" Target="../diagrams/layout117.xml"/><Relationship Id="rId7" Type="http://schemas.openxmlformats.org/officeDocument/2006/relationships/hyperlink" Target="https://www.google.com/search?safe=active&amp;rlz=1C1GCEW_enIN1075IN1075&amp;cs=0&amp;sca_esv=40416cf4ac9e8052&amp;sxsrf=AE3TifOF7MG8zDcpxlgXWtNRHnwhgPI7Jg%3A1756868535680&amp;q=computer+vision&amp;sa=X&amp;ved=2ahUKEwiIhtSnzbuPAxWyR2wGHZMmMn4QxccNegQIAxAB&amp;mstk=AUtExfB0nPOxh_sFhGSdvgSLtBngvRUinDYz4i9gVEKVSCrBV187rlr9AykCKyV2igTpwCIE-U2T5Wl-QXcnY4Bj3Dd-Gnx9CLi1VSc_m8EkiJwbWEcQtj9Z0YrqxTOBW_wN6xZr5pTbwJkBVcZ-JoGJSt74N_o-k304KsqSuYjNn2q_OYLWd21OFolcg8zMD5syT650fUNlt_5XnMTYnvn51yGISOe7WeHGg45cnQ1aFGagRwrNoak9tO9O4fDuw2z4-vchhHAf5S6tOKOTjEd1zo13&amp;csui=3" TargetMode="External"/><Relationship Id="rId12" Type="http://schemas.openxmlformats.org/officeDocument/2006/relationships/hyperlink" Target="https://www.google.com/search?safe=active&amp;rlz=1C1GCEW_enIN1075IN1075&amp;cs=0&amp;sca_esv=40416cf4ac9e8052&amp;sxsrf=AE3TifOF7MG8zDcpxlgXWtNRHnwhgPI7Jg%3A1756868535680&amp;q=BoW+model&amp;sa=X&amp;ved=2ahUKEwiIhtSnzbuPAxWyR2wGHZMmMn4QxccNegQIRhAB&amp;mstk=AUtExfB0nPOxh_sFhGSdvgSLtBngvRUinDYz4i9gVEKVSCrBV187rlr9AykCKyV2igTpwCIE-U2T5Wl-QXcnY4Bj3Dd-Gnx9CLi1VSc_m8EkiJwbWEcQtj9Z0YrqxTOBW_wN6xZr5pTbwJkBVcZ-JoGJSt74N_o-k304KsqSuYjNn2q_OYLWd21OFolcg8zMD5syT650fUNlt_5XnMTYnvn51yGISOe7WeHGg45cnQ1aFGagRwrNoak9tO9O4fDuw2z4-vchhHAf5S6tOKOTjEd1zo13&amp;csui=3" TargetMode="External"/><Relationship Id="rId2" Type="http://schemas.openxmlformats.org/officeDocument/2006/relationships/diagramData" Target="../diagrams/data117.xml"/><Relationship Id="rId1" Type="http://schemas.openxmlformats.org/officeDocument/2006/relationships/slideLayout" Target="../slideLayouts/slideLayout2.xml"/><Relationship Id="rId6" Type="http://schemas.microsoft.com/office/2007/relationships/diagramDrawing" Target="../diagrams/drawing117.xml"/><Relationship Id="rId11" Type="http://schemas.openxmlformats.org/officeDocument/2006/relationships/hyperlink" Target="https://www.google.com/search?safe=active&amp;rlz=1C1GCEW_enIN1075IN1075&amp;cs=0&amp;sca_esv=40416cf4ac9e8052&amp;sxsrf=AE3TifOF7MG8zDcpxlgXWtNRHnwhgPI7Jg%3A1756868535680&amp;q=Image+Classification&amp;sa=X&amp;ved=2ahUKEwiIhtSnzbuPAxWyR2wGHZMmMn4QxccNegQIMhAB&amp;mstk=AUtExfB0nPOxh_sFhGSdvgSLtBngvRUinDYz4i9gVEKVSCrBV187rlr9AykCKyV2igTpwCIE-U2T5Wl-QXcnY4Bj3Dd-Gnx9CLi1VSc_m8EkiJwbWEcQtj9Z0YrqxTOBW_wN6xZr5pTbwJkBVcZ-JoGJSt74N_o-k304KsqSuYjNn2q_OYLWd21OFolcg8zMD5syT650fUNlt_5XnMTYnvn51yGISOe7WeHGg45cnQ1aFGagRwrNoak9tO9O4fDuw2z4-vchhHAf5S6tOKOTjEd1zo13&amp;csui=3" TargetMode="External"/><Relationship Id="rId5" Type="http://schemas.openxmlformats.org/officeDocument/2006/relationships/diagramColors" Target="../diagrams/colors117.xml"/><Relationship Id="rId10" Type="http://schemas.openxmlformats.org/officeDocument/2006/relationships/hyperlink" Target="https://www.google.com/search?safe=active&amp;rlz=1C1GCEW_enIN1075IN1075&amp;cs=0&amp;sca_esv=40416cf4ac9e8052&amp;sxsrf=AE3TifOF7MG8zDcpxlgXWtNRHnwhgPI7Jg%3A1756868535680&amp;q=Sentiment+Analysis&amp;sa=X&amp;ved=2ahUKEwiIhtSnzbuPAxWyR2wGHZMmMn4QxccNegQIExAB&amp;mstk=AUtExfB0nPOxh_sFhGSdvgSLtBngvRUinDYz4i9gVEKVSCrBV187rlr9AykCKyV2igTpwCIE-U2T5Wl-QXcnY4Bj3Dd-Gnx9CLi1VSc_m8EkiJwbWEcQtj9Z0YrqxTOBW_wN6xZr5pTbwJkBVcZ-JoGJSt74N_o-k304KsqSuYjNn2q_OYLWd21OFolcg8zMD5syT650fUNlt_5XnMTYnvn51yGISOe7WeHGg45cnQ1aFGagRwrNoak9tO9O4fDuw2z4-vchhHAf5S6tOKOTjEd1zo13&amp;csui=3" TargetMode="External"/><Relationship Id="rId4" Type="http://schemas.openxmlformats.org/officeDocument/2006/relationships/diagramQuickStyle" Target="../diagrams/quickStyle117.xml"/><Relationship Id="rId9" Type="http://schemas.openxmlformats.org/officeDocument/2006/relationships/hyperlink" Target="https://www.google.com/search?safe=active&amp;rlz=1C1GCEW_enIN1075IN1075&amp;cs=0&amp;sca_esv=40416cf4ac9e8052&amp;sxsrf=AE3TifOF7MG8zDcpxlgXWtNRHnwhgPI7Jg%3A1756868535680&amp;q=Spam+Filtering&amp;sa=X&amp;ved=2ahUKEwiIhtSnzbuPAxWyR2wGHZMmMn4QxccNegQIERAB&amp;mstk=AUtExfB0nPOxh_sFhGSdvgSLtBngvRUinDYz4i9gVEKVSCrBV187rlr9AykCKyV2igTpwCIE-U2T5Wl-QXcnY4Bj3Dd-Gnx9CLi1VSc_m8EkiJwbWEcQtj9Z0YrqxTOBW_wN6xZr5pTbwJkBVcZ-JoGJSt74N_o-k304KsqSuYjNn2q_OYLWd21OFolcg8zMD5syT650fUNlt_5XnMTYnvn51yGISOe7WeHGg45cnQ1aFGagRwrNoak9tO9O4fDuw2z4-vchhHAf5S6tOKOTjEd1zo13&amp;csui=3" TargetMode="Externa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118.xml"/><Relationship Id="rId2" Type="http://schemas.openxmlformats.org/officeDocument/2006/relationships/diagramData" Target="../diagrams/data118.xml"/><Relationship Id="rId1" Type="http://schemas.openxmlformats.org/officeDocument/2006/relationships/slideLayout" Target="../slideLayouts/slideLayout2.xml"/><Relationship Id="rId6" Type="http://schemas.microsoft.com/office/2007/relationships/diagramDrawing" Target="../diagrams/drawing118.xml"/><Relationship Id="rId5" Type="http://schemas.openxmlformats.org/officeDocument/2006/relationships/diagramColors" Target="../diagrams/colors118.xml"/><Relationship Id="rId4" Type="http://schemas.openxmlformats.org/officeDocument/2006/relationships/diagramQuickStyle" Target="../diagrams/quickStyle118.xml"/></Relationships>
</file>

<file path=ppt/slides/_rels/slide119.xml.rels><?xml version="1.0" encoding="UTF-8" standalone="yes"?>
<Relationships xmlns="http://schemas.openxmlformats.org/package/2006/relationships"><Relationship Id="rId8" Type="http://schemas.openxmlformats.org/officeDocument/2006/relationships/hyperlink" Target="https://www.google.com/search?safe=active&amp;sca_esv=40416cf4ac9e8052&amp;rlz=1C1GCEW_enIN1075IN1075&amp;cs=0&amp;sxsrf=AE3TifPnamSgi7igfx7ZKRQNv-sQ4QqZdg%3A1756869126817&amp;q=Text+Classification&amp;sa=X&amp;ved=2ahUKEwiql5vBz7uPAxXXZWwGHYfKLAoQxccNegQIEBAB&amp;mstk=AUtExfBuIzAwPtD2lf-is1vHYdKqqxYb6ZkUlYoAw8OEvczeAZpC_XfIpv5C7ewWCYiM9LD02KA8SBxpdkNhIoxsY7oiR9RSU676VRaAqoW7BVx6HKCbp0S97SJ9kx2g-pnJZLsAxH_6Rno5yqtdM4hGQmBBc82bMES1MxJsfV3yo4XbnJNV8Kto4IRTV9wmujnT8lvkt8bZAPTHMXfSnz2QpyOTnb492M_X5qvHi3u0o_nLqLW-wywAKxsdA3pIHeStA7_n4VV0Y1pDDai8cEG5w7EI&amp;csui=3" TargetMode="External"/><Relationship Id="rId3" Type="http://schemas.openxmlformats.org/officeDocument/2006/relationships/diagramLayout" Target="../diagrams/layout119.xml"/><Relationship Id="rId7" Type="http://schemas.openxmlformats.org/officeDocument/2006/relationships/hyperlink" Target="https://www.google.com/search?safe=active&amp;sca_esv=40416cf4ac9e8052&amp;rlz=1C1GCEW_enIN1075IN1075&amp;cs=0&amp;sxsrf=AE3TifPnamSgi7igfx7ZKRQNv-sQ4QqZdg%3A1756869126817&amp;q=Information+Retrieval&amp;sa=X&amp;ved=2ahUKEwiql5vBz7uPAxXXZWwGHYfKLAoQxccNegQIDxAB&amp;mstk=AUtExfBuIzAwPtD2lf-is1vHYdKqqxYb6ZkUlYoAw8OEvczeAZpC_XfIpv5C7ewWCYiM9LD02KA8SBxpdkNhIoxsY7oiR9RSU676VRaAqoW7BVx6HKCbp0S97SJ9kx2g-pnJZLsAxH_6Rno5yqtdM4hGQmBBc82bMES1MxJsfV3yo4XbnJNV8Kto4IRTV9wmujnT8lvkt8bZAPTHMXfSnz2QpyOTnb492M_X5qvHi3u0o_nLqLW-wywAKxsdA3pIHeStA7_n4VV0Y1pDDai8cEG5w7EI&amp;csui=3" TargetMode="External"/><Relationship Id="rId12" Type="http://schemas.openxmlformats.org/officeDocument/2006/relationships/hyperlink" Target="https://en.wikipedia.org/wiki/Tf%E2%80%93idf" TargetMode="External"/><Relationship Id="rId2" Type="http://schemas.openxmlformats.org/officeDocument/2006/relationships/diagramData" Target="../diagrams/data119.xml"/><Relationship Id="rId1" Type="http://schemas.openxmlformats.org/officeDocument/2006/relationships/slideLayout" Target="../slideLayouts/slideLayout2.xml"/><Relationship Id="rId6" Type="http://schemas.microsoft.com/office/2007/relationships/diagramDrawing" Target="../diagrams/drawing119.xml"/><Relationship Id="rId11" Type="http://schemas.openxmlformats.org/officeDocument/2006/relationships/hyperlink" Target="https://www.google.com/search?safe=active&amp;sca_esv=40416cf4ac9e8052&amp;rlz=1C1GCEW_enIN1075IN1075&amp;cs=0&amp;sxsrf=AE3TifPnamSgi7igfx7ZKRQNv-sQ4QqZdg%3A1756869126817&amp;q=Recommender+Systems&amp;sa=X&amp;ved=2ahUKEwiql5vBz7uPAxXXZWwGHYfKLAoQxccNegQIERAB&amp;mstk=AUtExfBuIzAwPtD2lf-is1vHYdKqqxYb6ZkUlYoAw8OEvczeAZpC_XfIpv5C7ewWCYiM9LD02KA8SBxpdkNhIoxsY7oiR9RSU676VRaAqoW7BVx6HKCbp0S97SJ9kx2g-pnJZLsAxH_6Rno5yqtdM4hGQmBBc82bMES1MxJsfV3yo4XbnJNV8Kto4IRTV9wmujnT8lvkt8bZAPTHMXfSnz2QpyOTnb492M_X5qvHi3u0o_nLqLW-wywAKxsdA3pIHeStA7_n4VV0Y1pDDai8cEG5w7EI&amp;csui=3" TargetMode="External"/><Relationship Id="rId5" Type="http://schemas.openxmlformats.org/officeDocument/2006/relationships/diagramColors" Target="../diagrams/colors119.xml"/><Relationship Id="rId10" Type="http://schemas.openxmlformats.org/officeDocument/2006/relationships/hyperlink" Target="https://www.google.com/search?safe=active&amp;sca_esv=40416cf4ac9e8052&amp;rlz=1C1GCEW_enIN1075IN1075&amp;cs=0&amp;sxsrf=AE3TifPnamSgi7igfx7ZKRQNv-sQ4QqZdg%3A1756869126817&amp;q=Document+Similarity+%26+Clustering&amp;sa=X&amp;ved=2ahUKEwiql5vBz7uPAxXXZWwGHYfKLAoQxccNegQIFRAB&amp;mstk=AUtExfBuIzAwPtD2lf-is1vHYdKqqxYb6ZkUlYoAw8OEvczeAZpC_XfIpv5C7ewWCYiM9LD02KA8SBxpdkNhIoxsY7oiR9RSU676VRaAqoW7BVx6HKCbp0S97SJ9kx2g-pnJZLsAxH_6Rno5yqtdM4hGQmBBc82bMES1MxJsfV3yo4XbnJNV8Kto4IRTV9wmujnT8lvkt8bZAPTHMXfSnz2QpyOTnb492M_X5qvHi3u0o_nLqLW-wywAKxsdA3pIHeStA7_n4VV0Y1pDDai8cEG5w7EI&amp;csui=3" TargetMode="External"/><Relationship Id="rId4" Type="http://schemas.openxmlformats.org/officeDocument/2006/relationships/diagramQuickStyle" Target="../diagrams/quickStyle119.xml"/><Relationship Id="rId9" Type="http://schemas.openxmlformats.org/officeDocument/2006/relationships/hyperlink" Target="https://www.google.com/search?safe=active&amp;sca_esv=40416cf4ac9e8052&amp;rlz=1C1GCEW_enIN1075IN1075&amp;cs=0&amp;sxsrf=AE3TifPnamSgi7igfx7ZKRQNv-sQ4QqZdg%3A1756869126817&amp;q=Keyword+Extraction&amp;sa=X&amp;ved=2ahUKEwiql5vBz7uPAxXXZWwGHYfKLAoQxccNegQIExAB&amp;mstk=AUtExfBuIzAwPtD2lf-is1vHYdKqqxYb6ZkUlYoAw8OEvczeAZpC_XfIpv5C7ewWCYiM9LD02KA8SBxpdkNhIoxsY7oiR9RSU676VRaAqoW7BVx6HKCbp0S97SJ9kx2g-pnJZLsAxH_6Rno5yqtdM4hGQmBBc82bMES1MxJsfV3yo4XbnJNV8Kto4IRTV9wmujnT8lvkt8bZAPTHMXfSnz2QpyOTnb492M_X5qvHi3u0o_nLqLW-wywAKxsdA3pIHeStA7_n4VV0Y1pDDai8cEG5w7EI&amp;csui=3" TargetMode="Externa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20.xml"/><Relationship Id="rId2" Type="http://schemas.openxmlformats.org/officeDocument/2006/relationships/diagramData" Target="../diagrams/data120.xml"/><Relationship Id="rId1" Type="http://schemas.openxmlformats.org/officeDocument/2006/relationships/slideLayout" Target="../slideLayouts/slideLayout2.xml"/><Relationship Id="rId6" Type="http://schemas.microsoft.com/office/2007/relationships/diagramDrawing" Target="../diagrams/drawing120.xml"/><Relationship Id="rId5" Type="http://schemas.openxmlformats.org/officeDocument/2006/relationships/diagramColors" Target="../diagrams/colors120.xml"/><Relationship Id="rId4" Type="http://schemas.openxmlformats.org/officeDocument/2006/relationships/diagramQuickStyle" Target="../diagrams/quickStyle120.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121.xml"/><Relationship Id="rId2" Type="http://schemas.openxmlformats.org/officeDocument/2006/relationships/diagramData" Target="../diagrams/data121.xml"/><Relationship Id="rId1" Type="http://schemas.openxmlformats.org/officeDocument/2006/relationships/slideLayout" Target="../slideLayouts/slideLayout2.xml"/><Relationship Id="rId6" Type="http://schemas.microsoft.com/office/2007/relationships/diagramDrawing" Target="../diagrams/drawing121.xml"/><Relationship Id="rId5" Type="http://schemas.openxmlformats.org/officeDocument/2006/relationships/diagramColors" Target="../diagrams/colors121.xml"/><Relationship Id="rId4" Type="http://schemas.openxmlformats.org/officeDocument/2006/relationships/diagramQuickStyle" Target="../diagrams/quickStyle121.xml"/></Relationships>
</file>

<file path=ppt/slides/_rels/slide122.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40416cf4ac9e8052&amp;sxsrf=AE3TifPyrj6D-1j7U_-sI3tp4xrusR5NWQ%3A1756869292914&amp;q=Generative+AI&amp;sa=X&amp;ved=2ahUKEwi_3aeQ0LuPAxUdU2wGHaBQKeUQxccNegQIPRAB&amp;mstk=AUtExfCZuIiVEka8gN2k69hWpERAUVUXZsUTpIvLelLM3RcsrZCWQ0aZ5eqPwt09xfrhhVOv0joh9RLPRPHsPTpUq9lCC2oNRodCvSB8gB-8zvtA8EHgxu20IH7nQ_ylGvyLFFxBTa8QNDQdHYk2VY3CDdVZmDef-wJu8P5IhqrYpUiOdRpzkWf9bDIsYkJm_4jOnbELiueJ-J2sasINiRYYifHXOWPwnxfAfoaqthkZhSwXtnyXjn1JPjgONtIvriaaES5_DOZWNej4PAmbN8CirLwN&amp;csui=3" TargetMode="External"/><Relationship Id="rId3" Type="http://schemas.openxmlformats.org/officeDocument/2006/relationships/diagramLayout" Target="../diagrams/layout122.xml"/><Relationship Id="rId7" Type="http://schemas.openxmlformats.org/officeDocument/2006/relationships/hyperlink" Target="https://www.google.com/search?safe=active&amp;rlz=1C1GCEW_enIN1075IN1075&amp;cs=0&amp;sca_esv=40416cf4ac9e8052&amp;sxsrf=AE3TifPyrj6D-1j7U_-sI3tp4xrusR5NWQ%3A1756869292914&amp;q=Scientific+Research&amp;sa=X&amp;ved=2ahUKEwi_3aeQ0LuPAxUdU2wGHaBQKeUQxccNegQIRRAC&amp;mstk=AUtExfCZuIiVEka8gN2k69hWpERAUVUXZsUTpIvLelLM3RcsrZCWQ0aZ5eqPwt09xfrhhVOv0joh9RLPRPHsPTpUq9lCC2oNRodCvSB8gB-8zvtA8EHgxu20IH7nQ_ylGvyLFFxBTa8QNDQdHYk2VY3CDdVZmDef-wJu8P5IhqrYpUiOdRpzkWf9bDIsYkJm_4jOnbELiueJ-J2sasINiRYYifHXOWPwnxfAfoaqthkZhSwXtnyXjn1JPjgONtIvriaaES5_DOZWNej4PAmbN8CirLwN&amp;csui=3" TargetMode="External"/><Relationship Id="rId2" Type="http://schemas.openxmlformats.org/officeDocument/2006/relationships/diagramData" Target="../diagrams/data122.xml"/><Relationship Id="rId1" Type="http://schemas.openxmlformats.org/officeDocument/2006/relationships/slideLayout" Target="../slideLayouts/slideLayout2.xml"/><Relationship Id="rId6" Type="http://schemas.microsoft.com/office/2007/relationships/diagramDrawing" Target="../diagrams/drawing122.xml"/><Relationship Id="rId5" Type="http://schemas.openxmlformats.org/officeDocument/2006/relationships/diagramColors" Target="../diagrams/colors122.xml"/><Relationship Id="rId4" Type="http://schemas.openxmlformats.org/officeDocument/2006/relationships/diagramQuickStyle" Target="../diagrams/quickStyle122.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23.xml"/><Relationship Id="rId2" Type="http://schemas.openxmlformats.org/officeDocument/2006/relationships/diagramData" Target="../diagrams/data123.xml"/><Relationship Id="rId1" Type="http://schemas.openxmlformats.org/officeDocument/2006/relationships/slideLayout" Target="../slideLayouts/slideLayout2.xml"/><Relationship Id="rId6" Type="http://schemas.microsoft.com/office/2007/relationships/diagramDrawing" Target="../diagrams/drawing123.xml"/><Relationship Id="rId5" Type="http://schemas.openxmlformats.org/officeDocument/2006/relationships/diagramColors" Target="../diagrams/colors123.xml"/><Relationship Id="rId4" Type="http://schemas.openxmlformats.org/officeDocument/2006/relationships/diagramQuickStyle" Target="../diagrams/quickStyle123.xml"/></Relationships>
</file>

<file path=ppt/slides/_rels/slide124.xml.rels><?xml version="1.0" encoding="UTF-8" standalone="yes"?>
<Relationships xmlns="http://schemas.openxmlformats.org/package/2006/relationships"><Relationship Id="rId8" Type="http://schemas.openxmlformats.org/officeDocument/2006/relationships/hyperlink" Target="https://www.linkedin.com/posts/weaviate-io_just-use-embeddings-they-said-but-they-activity-7327709390650626049-Bens/?utm_source=share&amp;utm_medium=member_desktop&amp;rcm=ACoAADEs2XAB8-7TelfobrMhA9_jxB71Dn4BtW4" TargetMode="External"/><Relationship Id="rId3" Type="http://schemas.openxmlformats.org/officeDocument/2006/relationships/diagramLayout" Target="../diagrams/layout124.xml"/><Relationship Id="rId7" Type="http://schemas.openxmlformats.org/officeDocument/2006/relationships/hyperlink" Target="https://www.youtube.com/watch?v=viZrOnJclY0" TargetMode="External"/><Relationship Id="rId2" Type="http://schemas.openxmlformats.org/officeDocument/2006/relationships/diagramData" Target="../diagrams/data124.xml"/><Relationship Id="rId1" Type="http://schemas.openxmlformats.org/officeDocument/2006/relationships/slideLayout" Target="../slideLayouts/slideLayout2.xml"/><Relationship Id="rId6" Type="http://schemas.microsoft.com/office/2007/relationships/diagramDrawing" Target="../diagrams/drawing124.xml"/><Relationship Id="rId5" Type="http://schemas.openxmlformats.org/officeDocument/2006/relationships/diagramColors" Target="../diagrams/colors124.xml"/><Relationship Id="rId4" Type="http://schemas.openxmlformats.org/officeDocument/2006/relationships/diagramQuickStyle" Target="../diagrams/quickStyle124.xml"/><Relationship Id="rId9" Type="http://schemas.openxmlformats.org/officeDocument/2006/relationships/hyperlink" Target="https://news.mit.edu/2025/machine-learning-periodic-table-could-fuel-ai-discovery-0423" TargetMode="External"/></Relationships>
</file>

<file path=ppt/slides/_rels/slide125.xml.rels><?xml version="1.0" encoding="UTF-8" standalone="yes"?>
<Relationships xmlns="http://schemas.openxmlformats.org/package/2006/relationships"><Relationship Id="rId3" Type="http://schemas.openxmlformats.org/officeDocument/2006/relationships/diagramLayout" Target="../diagrams/layout125.xml"/><Relationship Id="rId7" Type="http://schemas.openxmlformats.org/officeDocument/2006/relationships/hyperlink" Target="https://www.google.com/search?safe=active&amp;sca_esv=40416cf4ac9e8052&amp;rlz=1C1GCEW_enIN1075IN1075&amp;cs=0&amp;sxsrf=AE3TifN3SCwqcnsmIQsx1GYQC3PRbxClqQ%3A1756870475936&amp;q=genetic+programming&amp;sa=X&amp;ved=2ahUKEwi6h-zE1LuPAxUO4zgGHQBNADwQxccNegQIBRAB&amp;mstk=AUtExfBMNzt5HBK--5Ou5eQWyhk1Sv91EtGQU0u2EOsiHJeh2UZEKvZPjLYNNyR9p5CiX0CX-kp-48KoUziVZZTGw-MxT345-H0CzX-XkHxh4X9PkE6UijHTK1KrkNpVA-Zj1EXOUv5Jxd_FIQuHEy5-6MdHXpVEyn0BSac2sQAxFjwRMjPl-Lm93VYlzcAIdx-5kCOdDs8Z8MTjN9ax140x7xm0nojfncHNfxS9tbHFnF0CRLh4xzTlRZD5sRPL19ByoxBz_ZfkeOoujbENZ1m0mKtG&amp;csui=3" TargetMode="External"/><Relationship Id="rId2" Type="http://schemas.openxmlformats.org/officeDocument/2006/relationships/diagramData" Target="../diagrams/data125.xml"/><Relationship Id="rId1" Type="http://schemas.openxmlformats.org/officeDocument/2006/relationships/slideLayout" Target="../slideLayouts/slideLayout2.xml"/><Relationship Id="rId6" Type="http://schemas.microsoft.com/office/2007/relationships/diagramDrawing" Target="../diagrams/drawing125.xml"/><Relationship Id="rId5" Type="http://schemas.openxmlformats.org/officeDocument/2006/relationships/diagramColors" Target="../diagrams/colors125.xml"/><Relationship Id="rId4" Type="http://schemas.openxmlformats.org/officeDocument/2006/relationships/diagramQuickStyle" Target="../diagrams/quickStyle125.xml"/></Relationships>
</file>

<file path=ppt/slides/_rels/slide126.xml.rels><?xml version="1.0" encoding="UTF-8" standalone="yes"?>
<Relationships xmlns="http://schemas.openxmlformats.org/package/2006/relationships"><Relationship Id="rId8" Type="http://schemas.openxmlformats.org/officeDocument/2006/relationships/hyperlink" Target="https://www.amazon.in/gp/product/B0FGXZVTCC/ref=ox_sc_act_title_7?smid=A2ILJE07BPEH0H&amp;psc=1" TargetMode="External"/><Relationship Id="rId3" Type="http://schemas.openxmlformats.org/officeDocument/2006/relationships/diagramLayout" Target="../diagrams/layout126.xml"/><Relationship Id="rId7" Type="http://schemas.openxmlformats.org/officeDocument/2006/relationships/hyperlink" Target="https://www.amazon.in/Vector-database-development-High-Dimensional-Applications-ebook/dp/B0D36SN6RT/ref=tmm_kin_swatch_0" TargetMode="External"/><Relationship Id="rId12" Type="http://schemas.openxmlformats.org/officeDocument/2006/relationships/hyperlink" Target="https://github.com/dangkhoasdc/awesome-vector-database" TargetMode="External"/><Relationship Id="rId2" Type="http://schemas.openxmlformats.org/officeDocument/2006/relationships/diagramData" Target="../diagrams/data126.xml"/><Relationship Id="rId1" Type="http://schemas.openxmlformats.org/officeDocument/2006/relationships/slideLayout" Target="../slideLayouts/slideLayout2.xml"/><Relationship Id="rId6" Type="http://schemas.microsoft.com/office/2007/relationships/diagramDrawing" Target="../diagrams/drawing126.xml"/><Relationship Id="rId11" Type="http://schemas.openxmlformats.org/officeDocument/2006/relationships/hyperlink" Target="https://www.linkedin.com/posts/tonyseale_vectors-need-graphs-embedding-vectors-are-activity-7118505682508599296-IPIi/?utm_source=share&amp;utm_medium=member_ios" TargetMode="External"/><Relationship Id="rId5" Type="http://schemas.openxmlformats.org/officeDocument/2006/relationships/diagramColors" Target="../diagrams/colors126.xml"/><Relationship Id="rId10" Type="http://schemas.openxmlformats.org/officeDocument/2006/relationships/hyperlink" Target="https://dev.to/mage_ai/how-to-build-a-search-engine-with-word-embeddings-56jd" TargetMode="External"/><Relationship Id="rId4" Type="http://schemas.openxmlformats.org/officeDocument/2006/relationships/diagramQuickStyle" Target="../diagrams/quickStyle126.xml"/><Relationship Id="rId9" Type="http://schemas.openxmlformats.org/officeDocument/2006/relationships/hyperlink" Target="https://github.com/PacktPublishing/Vector-Search-for-Practitioners-with-Elastic" TargetMode="External"/></Relationships>
</file>

<file path=ppt/slides/_rels/slide127.xml.rels><?xml version="1.0" encoding="UTF-8" standalone="yes"?>
<Relationships xmlns="http://schemas.openxmlformats.org/package/2006/relationships"><Relationship Id="rId8" Type="http://schemas.openxmlformats.org/officeDocument/2006/relationships/hyperlink" Target="https://towardsdatascience.com/introduction-to-ranking-algorithms-4e4639d65b8/" TargetMode="External"/><Relationship Id="rId13" Type="http://schemas.openxmlformats.org/officeDocument/2006/relationships/hyperlink" Target="https://www.zyte.com/blog/link-analysis-algorithms-explained/" TargetMode="External"/><Relationship Id="rId3" Type="http://schemas.openxmlformats.org/officeDocument/2006/relationships/diagramLayout" Target="../diagrams/layout127.xml"/><Relationship Id="rId7" Type="http://schemas.openxmlformats.org/officeDocument/2006/relationships/hyperlink" Target="https://gist.github.com/sandipray63in/4171b1b344df26e77ef5653059c4e2df" TargetMode="External"/><Relationship Id="rId12" Type="http://schemas.openxmlformats.org/officeDocument/2006/relationships/hyperlink" Target="https://medium.com/@sarthakanand/page-rank-b7072c61dd85" TargetMode="External"/><Relationship Id="rId2" Type="http://schemas.openxmlformats.org/officeDocument/2006/relationships/diagramData" Target="../diagrams/data127.xml"/><Relationship Id="rId1" Type="http://schemas.openxmlformats.org/officeDocument/2006/relationships/slideLayout" Target="../slideLayouts/slideLayout2.xml"/><Relationship Id="rId6" Type="http://schemas.microsoft.com/office/2007/relationships/diagramDrawing" Target="../diagrams/drawing127.xml"/><Relationship Id="rId11" Type="http://schemas.openxmlformats.org/officeDocument/2006/relationships/hyperlink" Target="https://livebook.manning.com/book/practical-recommender-systems/chapter-13/" TargetMode="External"/><Relationship Id="rId5" Type="http://schemas.openxmlformats.org/officeDocument/2006/relationships/diagramColors" Target="../diagrams/colors127.xml"/><Relationship Id="rId15" Type="http://schemas.openxmlformats.org/officeDocument/2006/relationships/hyperlink" Target="https://github.com/rachel-pai/AMultitaskRankingSystem" TargetMode="External"/><Relationship Id="rId10" Type="http://schemas.openxmlformats.org/officeDocument/2006/relationships/hyperlink" Target="https://www.analyticsvidhya.com/blog/2020/09/how-to-rank-entities-with-multi-criteria-decision-making-methodsmcdm/" TargetMode="External"/><Relationship Id="rId4" Type="http://schemas.openxmlformats.org/officeDocument/2006/relationships/diagramQuickStyle" Target="../diagrams/quickStyle127.xml"/><Relationship Id="rId9" Type="http://schemas.openxmlformats.org/officeDocument/2006/relationships/hyperlink" Target="https://vitalflux.com/ranking-algorithms-types-concepts-examples/amp/" TargetMode="External"/><Relationship Id="rId14" Type="http://schemas.openxmlformats.org/officeDocument/2006/relationships/hyperlink" Target="http://snap.stanford.edu/class/cs224w-readings/borodin05pagerank.pdf" TargetMode="External"/></Relationships>
</file>

<file path=ppt/slides/_rels/slide128.xml.rels><?xml version="1.0" encoding="UTF-8" standalone="yes"?>
<Relationships xmlns="http://schemas.openxmlformats.org/package/2006/relationships"><Relationship Id="rId8" Type="http://schemas.openxmlformats.org/officeDocument/2006/relationships/hyperlink" Target="https://developer.ibm.com/articles/cc-machine-learning-deep-learning-architectures/" TargetMode="External"/><Relationship Id="rId3" Type="http://schemas.openxmlformats.org/officeDocument/2006/relationships/diagramLayout" Target="../diagrams/layout128.xml"/><Relationship Id="rId7" Type="http://schemas.openxmlformats.org/officeDocument/2006/relationships/hyperlink" Target="https://www.projectpro.io/article/deep-learning-architectures/996" TargetMode="External"/><Relationship Id="rId2" Type="http://schemas.openxmlformats.org/officeDocument/2006/relationships/diagramData" Target="../diagrams/data128.xml"/><Relationship Id="rId1" Type="http://schemas.openxmlformats.org/officeDocument/2006/relationships/slideLayout" Target="../slideLayouts/slideLayout2.xml"/><Relationship Id="rId6" Type="http://schemas.microsoft.com/office/2007/relationships/diagramDrawing" Target="../diagrams/drawing128.xml"/><Relationship Id="rId5" Type="http://schemas.openxmlformats.org/officeDocument/2006/relationships/diagramColors" Target="../diagrams/colors128.xml"/><Relationship Id="rId4" Type="http://schemas.openxmlformats.org/officeDocument/2006/relationships/diagramQuickStyle" Target="../diagrams/quickStyle128.xml"/><Relationship Id="rId9" Type="http://schemas.openxmlformats.org/officeDocument/2006/relationships/image" Target="../media/image26.png"/></Relationships>
</file>

<file path=ppt/slides/_rels/slide129.xml.rels><?xml version="1.0" encoding="UTF-8" standalone="yes"?>
<Relationships xmlns="http://schemas.openxmlformats.org/package/2006/relationships"><Relationship Id="rId8" Type="http://schemas.openxmlformats.org/officeDocument/2006/relationships/hyperlink" Target="https://www.youtube.com/watch?v=AgKQQtEc9dk" TargetMode="External"/><Relationship Id="rId3" Type="http://schemas.openxmlformats.org/officeDocument/2006/relationships/diagramLayout" Target="../diagrams/layout129.xml"/><Relationship Id="rId7" Type="http://schemas.openxmlformats.org/officeDocument/2006/relationships/hyperlink" Target="https://betterexplained.com/articles/intuitive-convolution/" TargetMode="External"/><Relationship Id="rId2" Type="http://schemas.openxmlformats.org/officeDocument/2006/relationships/diagramData" Target="../diagrams/data129.xml"/><Relationship Id="rId1" Type="http://schemas.openxmlformats.org/officeDocument/2006/relationships/slideLayout" Target="../slideLayouts/slideLayout2.xml"/><Relationship Id="rId6" Type="http://schemas.microsoft.com/office/2007/relationships/diagramDrawing" Target="../diagrams/drawing129.xml"/><Relationship Id="rId11" Type="http://schemas.openxmlformats.org/officeDocument/2006/relationships/image" Target="../media/image27.png"/><Relationship Id="rId5" Type="http://schemas.openxmlformats.org/officeDocument/2006/relationships/diagramColors" Target="../diagrams/colors129.xml"/><Relationship Id="rId10" Type="http://schemas.openxmlformats.org/officeDocument/2006/relationships/hyperlink" Target="https://vitalflux.com/different-types-of-cnn-architectures-explained-examples/" TargetMode="External"/><Relationship Id="rId4" Type="http://schemas.openxmlformats.org/officeDocument/2006/relationships/diagramQuickStyle" Target="../diagrams/quickStyle129.xml"/><Relationship Id="rId9" Type="http://schemas.openxmlformats.org/officeDocument/2006/relationships/hyperlink" Target="https://www.geeksforgeeks.org/backpropagation-in-convolutional-neural-networks/" TargetMode="Externa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130.xml"/><Relationship Id="rId2" Type="http://schemas.openxmlformats.org/officeDocument/2006/relationships/diagramData" Target="../diagrams/data130.xml"/><Relationship Id="rId1" Type="http://schemas.openxmlformats.org/officeDocument/2006/relationships/slideLayout" Target="../slideLayouts/slideLayout2.xml"/><Relationship Id="rId6" Type="http://schemas.microsoft.com/office/2007/relationships/diagramDrawing" Target="../diagrams/drawing130.xml"/><Relationship Id="rId5" Type="http://schemas.openxmlformats.org/officeDocument/2006/relationships/diagramColors" Target="../diagrams/colors130.xml"/><Relationship Id="rId4" Type="http://schemas.openxmlformats.org/officeDocument/2006/relationships/diagramQuickStyle" Target="../diagrams/quickStyle130.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131.xml"/><Relationship Id="rId2" Type="http://schemas.openxmlformats.org/officeDocument/2006/relationships/diagramData" Target="../diagrams/data131.xml"/><Relationship Id="rId1" Type="http://schemas.openxmlformats.org/officeDocument/2006/relationships/slideLayout" Target="../slideLayouts/slideLayout2.xml"/><Relationship Id="rId6" Type="http://schemas.microsoft.com/office/2007/relationships/diagramDrawing" Target="../diagrams/drawing131.xml"/><Relationship Id="rId5" Type="http://schemas.openxmlformats.org/officeDocument/2006/relationships/diagramColors" Target="../diagrams/colors131.xml"/><Relationship Id="rId4" Type="http://schemas.openxmlformats.org/officeDocument/2006/relationships/diagramQuickStyle" Target="../diagrams/quickStyle131.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132.xml"/><Relationship Id="rId2" Type="http://schemas.openxmlformats.org/officeDocument/2006/relationships/diagramData" Target="../diagrams/data132.xml"/><Relationship Id="rId1" Type="http://schemas.openxmlformats.org/officeDocument/2006/relationships/slideLayout" Target="../slideLayouts/slideLayout2.xml"/><Relationship Id="rId6" Type="http://schemas.microsoft.com/office/2007/relationships/diagramDrawing" Target="../diagrams/drawing132.xml"/><Relationship Id="rId5" Type="http://schemas.openxmlformats.org/officeDocument/2006/relationships/diagramColors" Target="../diagrams/colors132.xml"/><Relationship Id="rId4" Type="http://schemas.openxmlformats.org/officeDocument/2006/relationships/diagramQuickStyle" Target="../diagrams/quickStyle132.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133.xml"/><Relationship Id="rId2" Type="http://schemas.openxmlformats.org/officeDocument/2006/relationships/diagramData" Target="../diagrams/data133.xml"/><Relationship Id="rId1" Type="http://schemas.openxmlformats.org/officeDocument/2006/relationships/slideLayout" Target="../slideLayouts/slideLayout2.xml"/><Relationship Id="rId6" Type="http://schemas.microsoft.com/office/2007/relationships/diagramDrawing" Target="../diagrams/drawing133.xml"/><Relationship Id="rId5" Type="http://schemas.openxmlformats.org/officeDocument/2006/relationships/diagramColors" Target="../diagrams/colors133.xml"/><Relationship Id="rId4" Type="http://schemas.openxmlformats.org/officeDocument/2006/relationships/diagramQuickStyle" Target="../diagrams/quickStyle133.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34.xml"/><Relationship Id="rId2" Type="http://schemas.openxmlformats.org/officeDocument/2006/relationships/diagramData" Target="../diagrams/data134.xml"/><Relationship Id="rId1" Type="http://schemas.openxmlformats.org/officeDocument/2006/relationships/slideLayout" Target="../slideLayouts/slideLayout2.xml"/><Relationship Id="rId6" Type="http://schemas.microsoft.com/office/2007/relationships/diagramDrawing" Target="../diagrams/drawing134.xml"/><Relationship Id="rId5" Type="http://schemas.openxmlformats.org/officeDocument/2006/relationships/diagramColors" Target="../diagrams/colors134.xml"/><Relationship Id="rId4" Type="http://schemas.openxmlformats.org/officeDocument/2006/relationships/diagramQuickStyle" Target="../diagrams/quickStyle134.xml"/></Relationships>
</file>

<file path=ppt/slides/_rels/slide135.xml.rels><?xml version="1.0" encoding="UTF-8" standalone="yes"?>
<Relationships xmlns="http://schemas.openxmlformats.org/package/2006/relationships"><Relationship Id="rId8" Type="http://schemas.openxmlformats.org/officeDocument/2006/relationships/hyperlink" Target="https://www.mdpi.com/2076-3417/12/17/8643" TargetMode="External"/><Relationship Id="rId3" Type="http://schemas.openxmlformats.org/officeDocument/2006/relationships/diagramLayout" Target="../diagrams/layout135.xml"/><Relationship Id="rId7" Type="http://schemas.openxmlformats.org/officeDocument/2006/relationships/hyperlink" Target="https://gracewlindsay.com/2018/05/17/deep-convolutional-neural-networks-as-models-of-the-visual-system-qa/" TargetMode="External"/><Relationship Id="rId2" Type="http://schemas.openxmlformats.org/officeDocument/2006/relationships/diagramData" Target="../diagrams/data135.xml"/><Relationship Id="rId1" Type="http://schemas.openxmlformats.org/officeDocument/2006/relationships/slideLayout" Target="../slideLayouts/slideLayout2.xml"/><Relationship Id="rId6" Type="http://schemas.microsoft.com/office/2007/relationships/diagramDrawing" Target="../diagrams/drawing135.xml"/><Relationship Id="rId5" Type="http://schemas.openxmlformats.org/officeDocument/2006/relationships/diagramColors" Target="../diagrams/colors135.xml"/><Relationship Id="rId4" Type="http://schemas.openxmlformats.org/officeDocument/2006/relationships/diagramQuickStyle" Target="../diagrams/quickStyle135.xml"/><Relationship Id="rId9" Type="http://schemas.openxmlformats.org/officeDocument/2006/relationships/hyperlink" Target="https://medium.com/@nikitamalviya/convolution-pooling-f8e797898cf9" TargetMode="External"/></Relationships>
</file>

<file path=ppt/slides/_rels/slide136.xml.rels><?xml version="1.0" encoding="UTF-8" standalone="yes"?>
<Relationships xmlns="http://schemas.openxmlformats.org/package/2006/relationships"><Relationship Id="rId8" Type="http://schemas.openxmlformats.org/officeDocument/2006/relationships/hyperlink" Target="https://www.geeksforgeeks.org/ml-back-propagation-through-time/" TargetMode="External"/><Relationship Id="rId13" Type="http://schemas.openxmlformats.org/officeDocument/2006/relationships/hyperlink" Target="https://web.engr.oregonstate.edu/~tgd/publications/mlsd-ssspr.pdf" TargetMode="External"/><Relationship Id="rId3" Type="http://schemas.openxmlformats.org/officeDocument/2006/relationships/diagramLayout" Target="../diagrams/layout136.xml"/><Relationship Id="rId7" Type="http://schemas.openxmlformats.org/officeDocument/2006/relationships/hyperlink" Target="https://medium.com/@serbanliviu/the-intuition-behind-recurrent-neural-networks-6fce753fe9f0" TargetMode="External"/><Relationship Id="rId12" Type="http://schemas.openxmlformats.org/officeDocument/2006/relationships/hyperlink" Target="https://medium.com/@indrajitbarat9/recurrent-neural-networks-rnns-challenges-and-limitations-4534b25a394c" TargetMode="External"/><Relationship Id="rId2" Type="http://schemas.openxmlformats.org/officeDocument/2006/relationships/diagramData" Target="../diagrams/data136.xml"/><Relationship Id="rId1" Type="http://schemas.openxmlformats.org/officeDocument/2006/relationships/slideLayout" Target="../slideLayouts/slideLayout2.xml"/><Relationship Id="rId6" Type="http://schemas.microsoft.com/office/2007/relationships/diagramDrawing" Target="../diagrams/drawing136.xml"/><Relationship Id="rId11" Type="http://schemas.openxmlformats.org/officeDocument/2006/relationships/hyperlink" Target="https://medium.com/analytics-vidhya/encoders-decoders-sequence-to-sequence-architecture-5644efbb3392" TargetMode="External"/><Relationship Id="rId5" Type="http://schemas.openxmlformats.org/officeDocument/2006/relationships/diagramColors" Target="../diagrams/colors136.xml"/><Relationship Id="rId10" Type="http://schemas.openxmlformats.org/officeDocument/2006/relationships/hyperlink" Target="https://www.shiksha.com/online-courses/articles/rnn-vs-gru-vs-lstm/" TargetMode="External"/><Relationship Id="rId4" Type="http://schemas.openxmlformats.org/officeDocument/2006/relationships/diagramQuickStyle" Target="../diagrams/quickStyle136.xml"/><Relationship Id="rId9" Type="http://schemas.openxmlformats.org/officeDocument/2006/relationships/hyperlink" Target="https://towardsdatascience.com/sequence-models-and-recurrent-neural-networks-rnns-62cadeb4f1e1/" TargetMode="External"/><Relationship Id="rId14" Type="http://schemas.openxmlformats.org/officeDocument/2006/relationships/image" Target="../media/image28.png"/></Relationships>
</file>

<file path=ppt/slides/_rels/slide137.xml.rels><?xml version="1.0" encoding="UTF-8" standalone="yes"?>
<Relationships xmlns="http://schemas.openxmlformats.org/package/2006/relationships"><Relationship Id="rId8" Type="http://schemas.openxmlformats.org/officeDocument/2006/relationships/hyperlink" Target="https://medium.com/@geetkal67/attention-networks-a-simple-way-to-understand-cross-attention-3b396266d82e" TargetMode="External"/><Relationship Id="rId3" Type="http://schemas.openxmlformats.org/officeDocument/2006/relationships/diagramLayout" Target="../diagrams/layout137.xml"/><Relationship Id="rId7" Type="http://schemas.openxmlformats.org/officeDocument/2006/relationships/hyperlink" Target="https://medium.com/@geetkal67/attention-networks-a-simple-way-to-understand-self-attention-f5fb363c736d" TargetMode="External"/><Relationship Id="rId2" Type="http://schemas.openxmlformats.org/officeDocument/2006/relationships/diagramData" Target="../diagrams/data137.xml"/><Relationship Id="rId1" Type="http://schemas.openxmlformats.org/officeDocument/2006/relationships/slideLayout" Target="../slideLayouts/slideLayout2.xml"/><Relationship Id="rId6" Type="http://schemas.microsoft.com/office/2007/relationships/diagramDrawing" Target="../diagrams/drawing137.xml"/><Relationship Id="rId11" Type="http://schemas.openxmlformats.org/officeDocument/2006/relationships/hyperlink" Target="https://en.wikipedia.org/wiki/Attention_(machine_learning)" TargetMode="External"/><Relationship Id="rId5" Type="http://schemas.openxmlformats.org/officeDocument/2006/relationships/diagramColors" Target="../diagrams/colors137.xml"/><Relationship Id="rId10" Type="http://schemas.openxmlformats.org/officeDocument/2006/relationships/hyperlink" Target="https://www.geeksforgeeks.org/transformer-attention-mechanism-in-nlp/" TargetMode="External"/><Relationship Id="rId4" Type="http://schemas.openxmlformats.org/officeDocument/2006/relationships/diagramQuickStyle" Target="../diagrams/quickStyle137.xml"/><Relationship Id="rId9" Type="http://schemas.openxmlformats.org/officeDocument/2006/relationships/hyperlink" Target="https://medium.com/@geetkal67/attention-networks-a-simple-way-to-understand-multi-head-attention-3bc3409c4312" TargetMode="External"/></Relationships>
</file>

<file path=ppt/slides/_rels/slide138.xml.rels><?xml version="1.0" encoding="UTF-8" standalone="yes"?>
<Relationships xmlns="http://schemas.openxmlformats.org/package/2006/relationships"><Relationship Id="rId8" Type="http://schemas.openxmlformats.org/officeDocument/2006/relationships/hyperlink" Target="https://machinelearningmastery.com/a-gentle-introduction-to-positional-encoding-in-transformer-models-part-1/" TargetMode="External"/><Relationship Id="rId3" Type="http://schemas.openxmlformats.org/officeDocument/2006/relationships/diagramLayout" Target="../diagrams/layout138.xml"/><Relationship Id="rId7" Type="http://schemas.openxmlformats.org/officeDocument/2006/relationships/hyperlink" Target="https://medium.com/saarthi-ai/how-to-make-your-own-ner-model-with-contexual-word-embeddings-5086276e04a0" TargetMode="External"/><Relationship Id="rId2" Type="http://schemas.openxmlformats.org/officeDocument/2006/relationships/diagramData" Target="../diagrams/data138.xml"/><Relationship Id="rId1" Type="http://schemas.openxmlformats.org/officeDocument/2006/relationships/slideLayout" Target="../slideLayouts/slideLayout2.xml"/><Relationship Id="rId6" Type="http://schemas.microsoft.com/office/2007/relationships/diagramDrawing" Target="../diagrams/drawing138.xml"/><Relationship Id="rId5" Type="http://schemas.openxmlformats.org/officeDocument/2006/relationships/diagramColors" Target="../diagrams/colors138.xml"/><Relationship Id="rId4" Type="http://schemas.openxmlformats.org/officeDocument/2006/relationships/diagramQuickStyle" Target="../diagrams/quickStyle138.xml"/></Relationships>
</file>

<file path=ppt/slides/_rels/slide139.xml.rels><?xml version="1.0" encoding="UTF-8" standalone="yes"?>
<Relationships xmlns="http://schemas.openxmlformats.org/package/2006/relationships"><Relationship Id="rId8" Type="http://schemas.openxmlformats.org/officeDocument/2006/relationships/hyperlink" Target="https://builtin.com/artificial-intelligence/transformer-neural-network" TargetMode="External"/><Relationship Id="rId3" Type="http://schemas.openxmlformats.org/officeDocument/2006/relationships/diagramLayout" Target="../diagrams/layout139.xml"/><Relationship Id="rId7" Type="http://schemas.openxmlformats.org/officeDocument/2006/relationships/image" Target="../media/image29.png"/><Relationship Id="rId2" Type="http://schemas.openxmlformats.org/officeDocument/2006/relationships/diagramData" Target="../diagrams/data139.xml"/><Relationship Id="rId1" Type="http://schemas.openxmlformats.org/officeDocument/2006/relationships/slideLayout" Target="../slideLayouts/slideLayout2.xml"/><Relationship Id="rId6" Type="http://schemas.microsoft.com/office/2007/relationships/diagramDrawing" Target="../diagrams/drawing139.xml"/><Relationship Id="rId11" Type="http://schemas.openxmlformats.org/officeDocument/2006/relationships/hyperlink" Target="https://datascience.stackexchange.com/questions/131477/how-does-backpropagation-in-a-transformer-work" TargetMode="External"/><Relationship Id="rId5" Type="http://schemas.openxmlformats.org/officeDocument/2006/relationships/diagramColors" Target="../diagrams/colors139.xml"/><Relationship Id="rId10" Type="http://schemas.openxmlformats.org/officeDocument/2006/relationships/hyperlink" Target="https://sthalles.github.io/an-intuitive-introduction-to-the-vision-transformer/" TargetMode="External"/><Relationship Id="rId4" Type="http://schemas.openxmlformats.org/officeDocument/2006/relationships/diagramQuickStyle" Target="../diagrams/quickStyle139.xml"/><Relationship Id="rId9" Type="http://schemas.openxmlformats.org/officeDocument/2006/relationships/hyperlink" Target="https://jalammar.github.io/illustrated-transformer/" TargetMode="Externa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140.xml"/><Relationship Id="rId2" Type="http://schemas.openxmlformats.org/officeDocument/2006/relationships/diagramData" Target="../diagrams/data140.xml"/><Relationship Id="rId1" Type="http://schemas.openxmlformats.org/officeDocument/2006/relationships/slideLayout" Target="../slideLayouts/slideLayout2.xml"/><Relationship Id="rId6" Type="http://schemas.microsoft.com/office/2007/relationships/diagramDrawing" Target="../diagrams/drawing140.xml"/><Relationship Id="rId5" Type="http://schemas.openxmlformats.org/officeDocument/2006/relationships/diagramColors" Target="../diagrams/colors140.xml"/><Relationship Id="rId4" Type="http://schemas.openxmlformats.org/officeDocument/2006/relationships/diagramQuickStyle" Target="../diagrams/quickStyle140.xml"/></Relationships>
</file>

<file path=ppt/slides/_rels/slide141.xml.rels><?xml version="1.0" encoding="UTF-8" standalone="yes"?>
<Relationships xmlns="http://schemas.openxmlformats.org/package/2006/relationships"><Relationship Id="rId8" Type="http://schemas.openxmlformats.org/officeDocument/2006/relationships/hyperlink" Target="https://memgraph.com/blog" TargetMode="External"/><Relationship Id="rId13" Type="http://schemas.openxmlformats.org/officeDocument/2006/relationships/hyperlink" Target="https://www.linkedin.com/posts/danieljbukowski_practical-steps-to-graph-exploration-ugcPost-7328025540601229312-e8LS/?utm_source=share&amp;utm_medium=member_desktop&amp;rcm=ACoAADEs2XAB8-7TelfobrMhA9_jxB71Dn4BtW4" TargetMode="External"/><Relationship Id="rId18" Type="http://schemas.openxmlformats.org/officeDocument/2006/relationships/hyperlink" Target="https://github.com/PacktPublishing/Getting-Started-with-the-Graph-Query-Language-GQL" TargetMode="External"/><Relationship Id="rId26" Type="http://schemas.openxmlformats.org/officeDocument/2006/relationships/hyperlink" Target="https://github.com/graphgeeks-lab/awesome-graph-universe" TargetMode="External"/><Relationship Id="rId3" Type="http://schemas.openxmlformats.org/officeDocument/2006/relationships/diagramLayout" Target="../diagrams/layout141.xml"/><Relationship Id="rId21" Type="http://schemas.openxmlformats.org/officeDocument/2006/relationships/hyperlink" Target="https://www.oreilly.com/library/view/graph-algorithms/9781492047674/" TargetMode="External"/><Relationship Id="rId7" Type="http://schemas.openxmlformats.org/officeDocument/2006/relationships/hyperlink" Target="https://ontologypipeline.com/" TargetMode="External"/><Relationship Id="rId12" Type="http://schemas.openxmlformats.org/officeDocument/2006/relationships/hyperlink" Target="https://www.datastax.com/resources/ebook/oreilly-graph-guide?journey=generic" TargetMode="External"/><Relationship Id="rId17" Type="http://schemas.openxmlformats.org/officeDocument/2006/relationships/hyperlink" Target="https://github.com/PacktPublishing/Cypher-Querying" TargetMode="External"/><Relationship Id="rId25" Type="http://schemas.openxmlformats.org/officeDocument/2006/relationships/hyperlink" Target="https://spark.apache.org/docs/latest/graphx-programming-guide.html" TargetMode="External"/><Relationship Id="rId2" Type="http://schemas.openxmlformats.org/officeDocument/2006/relationships/diagramData" Target="../diagrams/data141.xml"/><Relationship Id="rId16" Type="http://schemas.openxmlformats.org/officeDocument/2006/relationships/hyperlink" Target="https://github.com/PacktPublishing/Hands-On-Graph-Analytics-with-Neo4j" TargetMode="External"/><Relationship Id="rId20" Type="http://schemas.openxmlformats.org/officeDocument/2006/relationships/hyperlink" Target="https://mitpress.mit.edu/9780262045094/knowledge-graphs/" TargetMode="External"/><Relationship Id="rId1" Type="http://schemas.openxmlformats.org/officeDocument/2006/relationships/slideLayout" Target="../slideLayouts/slideLayout2.xml"/><Relationship Id="rId6" Type="http://schemas.microsoft.com/office/2007/relationships/diagramDrawing" Target="../diagrams/drawing141.xml"/><Relationship Id="rId11" Type="http://schemas.openxmlformats.org/officeDocument/2006/relationships/hyperlink" Target="https://github.com/PacktPublishing/Graph-Data-Modeling-in-Python" TargetMode="External"/><Relationship Id="rId24" Type="http://schemas.openxmlformats.org/officeDocument/2006/relationships/hyperlink" Target="https://www.amazon.in/Distributed-Graph-Analytics-Programming-Compilation-ebook/dp/B087CKTXXZ/ref=tmm_kin_swatch_0" TargetMode="External"/><Relationship Id="rId5" Type="http://schemas.openxmlformats.org/officeDocument/2006/relationships/diagramColors" Target="../diagrams/colors141.xml"/><Relationship Id="rId15" Type="http://schemas.openxmlformats.org/officeDocument/2006/relationships/hyperlink" Target="https://github.com/PacktPublishing/Graph-Data-Science-with-Neo4j" TargetMode="External"/><Relationship Id="rId23" Type="http://schemas.openxmlformats.org/officeDocument/2006/relationships/hyperlink" Target="https://neo4j.com/docs/graph-data-science/current/algorithms/" TargetMode="External"/><Relationship Id="rId28" Type="http://schemas.openxmlformats.org/officeDocument/2006/relationships/hyperlink" Target="https://www.manning.com/books/graph-powered-machine-learning?manning_source=marketplace&amp;manning_medium=search-result-shallow&amp;manning_term=Alessandro%20Negro" TargetMode="External"/><Relationship Id="rId10" Type="http://schemas.openxmlformats.org/officeDocument/2006/relationships/hyperlink" Target="https://www.oreilly.com/library/view/semantic-modeling-for/9781492054269/" TargetMode="External"/><Relationship Id="rId19" Type="http://schemas.openxmlformats.org/officeDocument/2006/relationships/hyperlink" Target="https://github.com/PacktPublishing/Modern-Graph-Theory-Algorithms-with-Python" TargetMode="External"/><Relationship Id="rId4" Type="http://schemas.openxmlformats.org/officeDocument/2006/relationships/diagramQuickStyle" Target="../diagrams/quickStyle141.xml"/><Relationship Id="rId9" Type="http://schemas.openxmlformats.org/officeDocument/2006/relationships/hyperlink" Target="https://www.youtube.com/watch?v=vhi6Mg8qQEQ" TargetMode="External"/><Relationship Id="rId14" Type="http://schemas.openxmlformats.org/officeDocument/2006/relationships/hyperlink" Target="https://www.xenonstack.com/blog/graph-analytics-knowledge-graph" TargetMode="External"/><Relationship Id="rId22" Type="http://schemas.openxmlformats.org/officeDocument/2006/relationships/hyperlink" Target="https://orangeava.in/products/graph-data-science-with-python-and-neo4j" TargetMode="External"/><Relationship Id="rId27" Type="http://schemas.openxmlformats.org/officeDocument/2006/relationships/hyperlink" Target="https://nightlies.apache.org/flink/flink-docs-release-1.13/docs/libs/gelly/graph_algorithms/" TargetMode="External"/></Relationships>
</file>

<file path=ppt/slides/_rels/slide142.xml.rels><?xml version="1.0" encoding="UTF-8" standalone="yes"?>
<Relationships xmlns="http://schemas.openxmlformats.org/package/2006/relationships"><Relationship Id="rId8" Type="http://schemas.openxmlformats.org/officeDocument/2006/relationships/hyperlink" Target="https://info.tigergraph.com/oreilly-book" TargetMode="External"/><Relationship Id="rId13" Type="http://schemas.openxmlformats.org/officeDocument/2006/relationships/hyperlink" Target="https://github.com/PacktPublishing/Hands-On-Graph-Neural-Networks-Using-Python" TargetMode="External"/><Relationship Id="rId18" Type="http://schemas.openxmlformats.org/officeDocument/2006/relationships/hyperlink" Target="https://www.amazon.in/Social-Network-Analysis-Tanmoy-Chakraborty/dp/9354247830" TargetMode="External"/><Relationship Id="rId3" Type="http://schemas.openxmlformats.org/officeDocument/2006/relationships/diagramLayout" Target="../diagrams/layout142.xml"/><Relationship Id="rId21" Type="http://schemas.openxmlformats.org/officeDocument/2006/relationships/hyperlink" Target="https://www.cs.cornell.edu/home/kleinber/sp05course.html" TargetMode="External"/><Relationship Id="rId7" Type="http://schemas.openxmlformats.org/officeDocument/2006/relationships/hyperlink" Target="https://github.com/PacktPublishing/Graph-Machine-Learning" TargetMode="External"/><Relationship Id="rId12" Type="http://schemas.openxmlformats.org/officeDocument/2006/relationships/hyperlink" Target="https://yaoma24.github.io/dlg_book/" TargetMode="External"/><Relationship Id="rId17" Type="http://schemas.openxmlformats.org/officeDocument/2006/relationships/hyperlink" Target="https://www.manning.com/books/knowledge-graphs-and-llms-in-action?manning_source=marketplace&amp;manning_medium=search-result-shallow&amp;manning_term=Alessandro%20Negro" TargetMode="External"/><Relationship Id="rId2" Type="http://schemas.openxmlformats.org/officeDocument/2006/relationships/diagramData" Target="../diagrams/data142.xml"/><Relationship Id="rId16" Type="http://schemas.openxmlformats.org/officeDocument/2006/relationships/hyperlink" Target="https://www.frontiersin.org/research-topics/59657/applications-of-graph-neural-networks-gnns" TargetMode="External"/><Relationship Id="rId20" Type="http://schemas.openxmlformats.org/officeDocument/2006/relationships/hyperlink" Target="https://www.cs.cornell.edu/home/kleinber/networks-book/" TargetMode="External"/><Relationship Id="rId1" Type="http://schemas.openxmlformats.org/officeDocument/2006/relationships/slideLayout" Target="../slideLayouts/slideLayout2.xml"/><Relationship Id="rId6" Type="http://schemas.microsoft.com/office/2007/relationships/diagramDrawing" Target="../diagrams/drawing142.xml"/><Relationship Id="rId11" Type="http://schemas.openxmlformats.org/officeDocument/2006/relationships/hyperlink" Target="https://www.cs.mcgill.ca/~wlh/grl_book/" TargetMode="External"/><Relationship Id="rId24" Type="http://schemas.openxmlformats.org/officeDocument/2006/relationships/hyperlink" Target="https://github.com/graphgeeks-lab/awesome-graph-universe" TargetMode="External"/><Relationship Id="rId5" Type="http://schemas.openxmlformats.org/officeDocument/2006/relationships/diagramColors" Target="../diagrams/colors142.xml"/><Relationship Id="rId15" Type="http://schemas.openxmlformats.org/officeDocument/2006/relationships/hyperlink" Target="https://www.xenonstack.com/blog/graph-neural-network-applications" TargetMode="External"/><Relationship Id="rId23" Type="http://schemas.openxmlformats.org/officeDocument/2006/relationships/hyperlink" Target="mailto:GNNBook@2023" TargetMode="External"/><Relationship Id="rId10" Type="http://schemas.openxmlformats.org/officeDocument/2006/relationships/hyperlink" Target="https://neptune.ai/blog/graph-neural-networks-libraries-tools-learning-resources" TargetMode="External"/><Relationship Id="rId19" Type="http://schemas.openxmlformats.org/officeDocument/2006/relationships/hyperlink" Target="https://ona-book.org/" TargetMode="External"/><Relationship Id="rId4" Type="http://schemas.openxmlformats.org/officeDocument/2006/relationships/diagramQuickStyle" Target="../diagrams/quickStyle142.xml"/><Relationship Id="rId9" Type="http://schemas.openxmlformats.org/officeDocument/2006/relationships/hyperlink" Target="https://blogs.nvidia.com/blog/what-are-graph-neural-networks/" TargetMode="External"/><Relationship Id="rId14" Type="http://schemas.openxmlformats.org/officeDocument/2006/relationships/hyperlink" Target="https://jonathan-hui.medium.com/applications-of-graph-neural-networks-gnn-d487fd5ed17d" TargetMode="External"/><Relationship Id="rId22" Type="http://schemas.openxmlformats.org/officeDocument/2006/relationships/hyperlink" Target="https://github.com/PacktPublishing/Applied-Deep-Learning-on-Graphs" TargetMode="Externa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143.xml"/><Relationship Id="rId7" Type="http://schemas.openxmlformats.org/officeDocument/2006/relationships/image" Target="../media/image30.png"/><Relationship Id="rId2" Type="http://schemas.openxmlformats.org/officeDocument/2006/relationships/diagramData" Target="../diagrams/data143.xml"/><Relationship Id="rId1" Type="http://schemas.openxmlformats.org/officeDocument/2006/relationships/slideLayout" Target="../slideLayouts/slideLayout2.xml"/><Relationship Id="rId6" Type="http://schemas.microsoft.com/office/2007/relationships/diagramDrawing" Target="../diagrams/drawing143.xml"/><Relationship Id="rId5" Type="http://schemas.openxmlformats.org/officeDocument/2006/relationships/diagramColors" Target="../diagrams/colors143.xml"/><Relationship Id="rId4" Type="http://schemas.openxmlformats.org/officeDocument/2006/relationships/diagramQuickStyle" Target="../diagrams/quickStyle143.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144.xml"/><Relationship Id="rId2" Type="http://schemas.openxmlformats.org/officeDocument/2006/relationships/diagramData" Target="../diagrams/data144.xml"/><Relationship Id="rId1" Type="http://schemas.openxmlformats.org/officeDocument/2006/relationships/slideLayout" Target="../slideLayouts/slideLayout2.xml"/><Relationship Id="rId6" Type="http://schemas.microsoft.com/office/2007/relationships/diagramDrawing" Target="../diagrams/drawing144.xml"/><Relationship Id="rId5" Type="http://schemas.openxmlformats.org/officeDocument/2006/relationships/diagramColors" Target="../diagrams/colors144.xml"/><Relationship Id="rId4" Type="http://schemas.openxmlformats.org/officeDocument/2006/relationships/diagramQuickStyle" Target="../diagrams/quickStyle144.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145.xml"/><Relationship Id="rId7" Type="http://schemas.openxmlformats.org/officeDocument/2006/relationships/image" Target="../media/image31.png"/><Relationship Id="rId2" Type="http://schemas.openxmlformats.org/officeDocument/2006/relationships/diagramData" Target="../diagrams/data145.xml"/><Relationship Id="rId1" Type="http://schemas.openxmlformats.org/officeDocument/2006/relationships/slideLayout" Target="../slideLayouts/slideLayout2.xml"/><Relationship Id="rId6" Type="http://schemas.microsoft.com/office/2007/relationships/diagramDrawing" Target="../diagrams/drawing145.xml"/><Relationship Id="rId5" Type="http://schemas.openxmlformats.org/officeDocument/2006/relationships/diagramColors" Target="../diagrams/colors145.xml"/><Relationship Id="rId4" Type="http://schemas.openxmlformats.org/officeDocument/2006/relationships/diagramQuickStyle" Target="../diagrams/quickStyle145.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146.xml"/><Relationship Id="rId7" Type="http://schemas.openxmlformats.org/officeDocument/2006/relationships/image" Target="../media/image32.png"/><Relationship Id="rId2" Type="http://schemas.openxmlformats.org/officeDocument/2006/relationships/diagramData" Target="../diagrams/data146.xml"/><Relationship Id="rId1" Type="http://schemas.openxmlformats.org/officeDocument/2006/relationships/slideLayout" Target="../slideLayouts/slideLayout2.xml"/><Relationship Id="rId6" Type="http://schemas.microsoft.com/office/2007/relationships/diagramDrawing" Target="../diagrams/drawing146.xml"/><Relationship Id="rId5" Type="http://schemas.openxmlformats.org/officeDocument/2006/relationships/diagramColors" Target="../diagrams/colors146.xml"/><Relationship Id="rId4" Type="http://schemas.openxmlformats.org/officeDocument/2006/relationships/diagramQuickStyle" Target="../diagrams/quickStyle146.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147.xml"/><Relationship Id="rId7" Type="http://schemas.openxmlformats.org/officeDocument/2006/relationships/image" Target="../media/image33.png"/><Relationship Id="rId2" Type="http://schemas.openxmlformats.org/officeDocument/2006/relationships/diagramData" Target="../diagrams/data147.xml"/><Relationship Id="rId1" Type="http://schemas.openxmlformats.org/officeDocument/2006/relationships/slideLayout" Target="../slideLayouts/slideLayout2.xml"/><Relationship Id="rId6" Type="http://schemas.microsoft.com/office/2007/relationships/diagramDrawing" Target="../diagrams/drawing147.xml"/><Relationship Id="rId5" Type="http://schemas.openxmlformats.org/officeDocument/2006/relationships/diagramColors" Target="../diagrams/colors147.xml"/><Relationship Id="rId4" Type="http://schemas.openxmlformats.org/officeDocument/2006/relationships/diagramQuickStyle" Target="../diagrams/quickStyle147.xm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148.xml"/><Relationship Id="rId2" Type="http://schemas.openxmlformats.org/officeDocument/2006/relationships/diagramData" Target="../diagrams/data148.xml"/><Relationship Id="rId1" Type="http://schemas.openxmlformats.org/officeDocument/2006/relationships/slideLayout" Target="../slideLayouts/slideLayout2.xml"/><Relationship Id="rId6" Type="http://schemas.microsoft.com/office/2007/relationships/diagramDrawing" Target="../diagrams/drawing148.xml"/><Relationship Id="rId5" Type="http://schemas.openxmlformats.org/officeDocument/2006/relationships/diagramColors" Target="../diagrams/colors148.xml"/><Relationship Id="rId4" Type="http://schemas.openxmlformats.org/officeDocument/2006/relationships/diagramQuickStyle" Target="../diagrams/quickStyle148.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149.xml"/><Relationship Id="rId2" Type="http://schemas.openxmlformats.org/officeDocument/2006/relationships/diagramData" Target="../diagrams/data149.xml"/><Relationship Id="rId1" Type="http://schemas.openxmlformats.org/officeDocument/2006/relationships/slideLayout" Target="../slideLayouts/slideLayout2.xml"/><Relationship Id="rId6" Type="http://schemas.microsoft.com/office/2007/relationships/diagramDrawing" Target="../diagrams/drawing149.xml"/><Relationship Id="rId5" Type="http://schemas.openxmlformats.org/officeDocument/2006/relationships/diagramColors" Target="../diagrams/colors149.xml"/><Relationship Id="rId4" Type="http://schemas.openxmlformats.org/officeDocument/2006/relationships/diagramQuickStyle" Target="../diagrams/quickStyle149.xm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150.xml"/><Relationship Id="rId2" Type="http://schemas.openxmlformats.org/officeDocument/2006/relationships/diagramData" Target="../diagrams/data150.xml"/><Relationship Id="rId1" Type="http://schemas.openxmlformats.org/officeDocument/2006/relationships/slideLayout" Target="../slideLayouts/slideLayout2.xml"/><Relationship Id="rId6" Type="http://schemas.microsoft.com/office/2007/relationships/diagramDrawing" Target="../diagrams/drawing150.xml"/><Relationship Id="rId5" Type="http://schemas.openxmlformats.org/officeDocument/2006/relationships/diagramColors" Target="../diagrams/colors150.xml"/><Relationship Id="rId4" Type="http://schemas.openxmlformats.org/officeDocument/2006/relationships/diagramQuickStyle" Target="../diagrams/quickStyle150.xml"/></Relationships>
</file>

<file path=ppt/slides/_rels/slide151.xml.rels><?xml version="1.0" encoding="UTF-8" standalone="yes"?>
<Relationships xmlns="http://schemas.openxmlformats.org/package/2006/relationships"><Relationship Id="rId3" Type="http://schemas.openxmlformats.org/officeDocument/2006/relationships/diagramLayout" Target="../diagrams/layout151.xml"/><Relationship Id="rId7" Type="http://schemas.openxmlformats.org/officeDocument/2006/relationships/image" Target="../media/image34.png"/><Relationship Id="rId2" Type="http://schemas.openxmlformats.org/officeDocument/2006/relationships/diagramData" Target="../diagrams/data151.xml"/><Relationship Id="rId1" Type="http://schemas.openxmlformats.org/officeDocument/2006/relationships/slideLayout" Target="../slideLayouts/slideLayout2.xml"/><Relationship Id="rId6" Type="http://schemas.microsoft.com/office/2007/relationships/diagramDrawing" Target="../diagrams/drawing151.xml"/><Relationship Id="rId5" Type="http://schemas.openxmlformats.org/officeDocument/2006/relationships/diagramColors" Target="../diagrams/colors151.xml"/><Relationship Id="rId4" Type="http://schemas.openxmlformats.org/officeDocument/2006/relationships/diagramQuickStyle" Target="../diagrams/quickStyle151.xml"/></Relationships>
</file>

<file path=ppt/slides/_rels/slide152.xml.rels><?xml version="1.0" encoding="UTF-8" standalone="yes"?>
<Relationships xmlns="http://schemas.openxmlformats.org/package/2006/relationships"><Relationship Id="rId3" Type="http://schemas.openxmlformats.org/officeDocument/2006/relationships/diagramLayout" Target="../diagrams/layout152.xml"/><Relationship Id="rId7" Type="http://schemas.openxmlformats.org/officeDocument/2006/relationships/image" Target="../media/image35.png"/><Relationship Id="rId2" Type="http://schemas.openxmlformats.org/officeDocument/2006/relationships/diagramData" Target="../diagrams/data152.xml"/><Relationship Id="rId1" Type="http://schemas.openxmlformats.org/officeDocument/2006/relationships/slideLayout" Target="../slideLayouts/slideLayout2.xml"/><Relationship Id="rId6" Type="http://schemas.microsoft.com/office/2007/relationships/diagramDrawing" Target="../diagrams/drawing152.xml"/><Relationship Id="rId5" Type="http://schemas.openxmlformats.org/officeDocument/2006/relationships/diagramColors" Target="../diagrams/colors152.xml"/><Relationship Id="rId4" Type="http://schemas.openxmlformats.org/officeDocument/2006/relationships/diagramQuickStyle" Target="../diagrams/quickStyle152.xml"/></Relationships>
</file>

<file path=ppt/slides/_rels/slide153.xml.rels><?xml version="1.0" encoding="UTF-8" standalone="yes"?>
<Relationships xmlns="http://schemas.openxmlformats.org/package/2006/relationships"><Relationship Id="rId3" Type="http://schemas.openxmlformats.org/officeDocument/2006/relationships/diagramLayout" Target="../diagrams/layout153.xml"/><Relationship Id="rId7" Type="http://schemas.openxmlformats.org/officeDocument/2006/relationships/image" Target="../media/image36.png"/><Relationship Id="rId2" Type="http://schemas.openxmlformats.org/officeDocument/2006/relationships/diagramData" Target="../diagrams/data153.xml"/><Relationship Id="rId1" Type="http://schemas.openxmlformats.org/officeDocument/2006/relationships/slideLayout" Target="../slideLayouts/slideLayout2.xml"/><Relationship Id="rId6" Type="http://schemas.microsoft.com/office/2007/relationships/diagramDrawing" Target="../diagrams/drawing153.xml"/><Relationship Id="rId5" Type="http://schemas.openxmlformats.org/officeDocument/2006/relationships/diagramColors" Target="../diagrams/colors153.xml"/><Relationship Id="rId4" Type="http://schemas.openxmlformats.org/officeDocument/2006/relationships/diagramQuickStyle" Target="../diagrams/quickStyle153.xml"/></Relationships>
</file>

<file path=ppt/slides/_rels/slide154.xml.rels><?xml version="1.0" encoding="UTF-8" standalone="yes"?>
<Relationships xmlns="http://schemas.openxmlformats.org/package/2006/relationships"><Relationship Id="rId3" Type="http://schemas.openxmlformats.org/officeDocument/2006/relationships/diagramLayout" Target="../diagrams/layout154.xml"/><Relationship Id="rId7" Type="http://schemas.openxmlformats.org/officeDocument/2006/relationships/image" Target="../media/image37.png"/><Relationship Id="rId2" Type="http://schemas.openxmlformats.org/officeDocument/2006/relationships/diagramData" Target="../diagrams/data154.xml"/><Relationship Id="rId1" Type="http://schemas.openxmlformats.org/officeDocument/2006/relationships/slideLayout" Target="../slideLayouts/slideLayout2.xml"/><Relationship Id="rId6" Type="http://schemas.microsoft.com/office/2007/relationships/diagramDrawing" Target="../diagrams/drawing154.xml"/><Relationship Id="rId5" Type="http://schemas.openxmlformats.org/officeDocument/2006/relationships/diagramColors" Target="../diagrams/colors154.xml"/><Relationship Id="rId4" Type="http://schemas.openxmlformats.org/officeDocument/2006/relationships/diagramQuickStyle" Target="../diagrams/quickStyle154.xml"/></Relationships>
</file>

<file path=ppt/slides/_rels/slide155.xml.rels><?xml version="1.0" encoding="UTF-8" standalone="yes"?>
<Relationships xmlns="http://schemas.openxmlformats.org/package/2006/relationships"><Relationship Id="rId8" Type="http://schemas.openxmlformats.org/officeDocument/2006/relationships/hyperlink" Target="https://www.youtube.com/watch?v=nMlRhsgcTpY" TargetMode="External"/><Relationship Id="rId13" Type="http://schemas.openxmlformats.org/officeDocument/2006/relationships/hyperlink" Target="https://www.linkedin.com/posts/lukastencer_machinelearning-reinforcementlearning-rl-activity-7319095362479104000-cZec/?utm_source=share&amp;utm_medium=member_desktop&amp;rcm=ACoAADEs2XAB8-7TelfobrMhA9_jxB71Dn4BtW4" TargetMode="External"/><Relationship Id="rId18" Type="http://schemas.openxmlformats.org/officeDocument/2006/relationships/hyperlink" Target="https://www.youtube.com/watch?v=skwt4Rv49Xw" TargetMode="External"/><Relationship Id="rId3" Type="http://schemas.openxmlformats.org/officeDocument/2006/relationships/diagramLayout" Target="../diagrams/layout155.xml"/><Relationship Id="rId21" Type="http://schemas.openxmlformats.org/officeDocument/2006/relationships/hyperlink" Target="https://neptune.ai/blog/model-based-and-model-free-reinforcement-learning-pytennis-case-study" TargetMode="External"/><Relationship Id="rId7" Type="http://schemas.openxmlformats.org/officeDocument/2006/relationships/hyperlink" Target="https://blog.dataiku.com/reinforcement-learning-intuition-and-abductive-reasoning" TargetMode="External"/><Relationship Id="rId12" Type="http://schemas.openxmlformats.org/officeDocument/2006/relationships/hyperlink" Target="https://algorithmsbook.com/decisionmaking/" TargetMode="External"/><Relationship Id="rId17" Type="http://schemas.openxmlformats.org/officeDocument/2006/relationships/hyperlink" Target="https://www.youtube.com/watch?v=tGoeMdFWuRU" TargetMode="External"/><Relationship Id="rId2" Type="http://schemas.openxmlformats.org/officeDocument/2006/relationships/diagramData" Target="../diagrams/data155.xml"/><Relationship Id="rId16" Type="http://schemas.openxmlformats.org/officeDocument/2006/relationships/hyperlink" Target="https://www.linkedin.com/posts/joinanyscale_accelerating-rlhf-with-vllm-best-practice-activity-7321260188961849344-YKaY/?utm_source=share&amp;utm_medium=member_desktop&amp;rcm=ACoAADEs2XAB8-7TelfobrMhA9_jxB71Dn4BtW4" TargetMode="External"/><Relationship Id="rId20" Type="http://schemas.openxmlformats.org/officeDocument/2006/relationships/hyperlink" Target="https://castle.princeton.edu/sda/" TargetMode="External"/><Relationship Id="rId1" Type="http://schemas.openxmlformats.org/officeDocument/2006/relationships/slideLayout" Target="../slideLayouts/slideLayout2.xml"/><Relationship Id="rId6" Type="http://schemas.microsoft.com/office/2007/relationships/diagramDrawing" Target="../diagrams/drawing155.xml"/><Relationship Id="rId11" Type="http://schemas.openxmlformats.org/officeDocument/2006/relationships/hyperlink" Target="https://medium.com/@numsmt2" TargetMode="External"/><Relationship Id="rId5" Type="http://schemas.openxmlformats.org/officeDocument/2006/relationships/diagramColors" Target="../diagrams/colors155.xml"/><Relationship Id="rId15" Type="http://schemas.openxmlformats.org/officeDocument/2006/relationships/hyperlink" Target="https://github.com/natolambert/rlhf-book" TargetMode="External"/><Relationship Id="rId23" Type="http://schemas.openxmlformats.org/officeDocument/2006/relationships/hyperlink" Target="https://github.com/bennylp/RL-Taxonomy" TargetMode="External"/><Relationship Id="rId10" Type="http://schemas.openxmlformats.org/officeDocument/2006/relationships/hyperlink" Target="https://builtin.com/machine-learning/markov-decision-process" TargetMode="External"/><Relationship Id="rId19" Type="http://schemas.openxmlformats.org/officeDocument/2006/relationships/hyperlink" Target="https://www.youtube.com/watch?v=tbhhaBLEyaU" TargetMode="External"/><Relationship Id="rId4" Type="http://schemas.openxmlformats.org/officeDocument/2006/relationships/diagramQuickStyle" Target="../diagrams/quickStyle155.xml"/><Relationship Id="rId9" Type="http://schemas.openxmlformats.org/officeDocument/2006/relationships/hyperlink" Target="https://www.youtube.com/watch?v=hMbxmRyDw5M" TargetMode="External"/><Relationship Id="rId14" Type="http://schemas.openxmlformats.org/officeDocument/2006/relationships/hyperlink" Target="https://www.linkedin.com/posts/sandip-ray-92836b1b0_some-free-but-great-resources-on-rlreinforcement-activity-7313998655168958464-dNL8/?utm_source=share&amp;utm_medium=member_desktop&amp;rcm=ACoAADEs2XAB8-7TelfobrMhA9_jxB71Dn4BtW4" TargetMode="External"/><Relationship Id="rId22" Type="http://schemas.openxmlformats.org/officeDocument/2006/relationships/hyperlink" Target="https://www.youtube.com/watch?v=sJIFUTITfBc" TargetMode="External"/></Relationships>
</file>

<file path=ppt/slides/_rels/slide156.xml.rels><?xml version="1.0" encoding="UTF-8" standalone="yes"?>
<Relationships xmlns="http://schemas.openxmlformats.org/package/2006/relationships"><Relationship Id="rId3" Type="http://schemas.openxmlformats.org/officeDocument/2006/relationships/diagramLayout" Target="../diagrams/layout156.xml"/><Relationship Id="rId2" Type="http://schemas.openxmlformats.org/officeDocument/2006/relationships/diagramData" Target="../diagrams/data156.xml"/><Relationship Id="rId1" Type="http://schemas.openxmlformats.org/officeDocument/2006/relationships/slideLayout" Target="../slideLayouts/slideLayout2.xml"/><Relationship Id="rId6" Type="http://schemas.microsoft.com/office/2007/relationships/diagramDrawing" Target="../diagrams/drawing156.xml"/><Relationship Id="rId5" Type="http://schemas.openxmlformats.org/officeDocument/2006/relationships/diagramColors" Target="../diagrams/colors156.xml"/><Relationship Id="rId4" Type="http://schemas.openxmlformats.org/officeDocument/2006/relationships/diagramQuickStyle" Target="../diagrams/quickStyle156.xml"/></Relationships>
</file>

<file path=ppt/slides/_rels/slide157.xml.rels><?xml version="1.0" encoding="UTF-8" standalone="yes"?>
<Relationships xmlns="http://schemas.openxmlformats.org/package/2006/relationships"><Relationship Id="rId3" Type="http://schemas.openxmlformats.org/officeDocument/2006/relationships/diagramLayout" Target="../diagrams/layout157.xml"/><Relationship Id="rId2" Type="http://schemas.openxmlformats.org/officeDocument/2006/relationships/diagramData" Target="../diagrams/data157.xml"/><Relationship Id="rId1" Type="http://schemas.openxmlformats.org/officeDocument/2006/relationships/slideLayout" Target="../slideLayouts/slideLayout2.xml"/><Relationship Id="rId6" Type="http://schemas.microsoft.com/office/2007/relationships/diagramDrawing" Target="../diagrams/drawing157.xml"/><Relationship Id="rId5" Type="http://schemas.openxmlformats.org/officeDocument/2006/relationships/diagramColors" Target="../diagrams/colors157.xml"/><Relationship Id="rId4" Type="http://schemas.openxmlformats.org/officeDocument/2006/relationships/diagramQuickStyle" Target="../diagrams/quickStyle157.xml"/></Relationships>
</file>

<file path=ppt/slides/_rels/slide158.xml.rels><?xml version="1.0" encoding="UTF-8" standalone="yes"?>
<Relationships xmlns="http://schemas.openxmlformats.org/package/2006/relationships"><Relationship Id="rId3" Type="http://schemas.openxmlformats.org/officeDocument/2006/relationships/diagramLayout" Target="../diagrams/layout158.xml"/><Relationship Id="rId2" Type="http://schemas.openxmlformats.org/officeDocument/2006/relationships/diagramData" Target="../diagrams/data158.xml"/><Relationship Id="rId1" Type="http://schemas.openxmlformats.org/officeDocument/2006/relationships/slideLayout" Target="../slideLayouts/slideLayout2.xml"/><Relationship Id="rId6" Type="http://schemas.microsoft.com/office/2007/relationships/diagramDrawing" Target="../diagrams/drawing158.xml"/><Relationship Id="rId5" Type="http://schemas.openxmlformats.org/officeDocument/2006/relationships/diagramColors" Target="../diagrams/colors158.xml"/><Relationship Id="rId4" Type="http://schemas.openxmlformats.org/officeDocument/2006/relationships/diagramQuickStyle" Target="../diagrams/quickStyle158.xml"/></Relationships>
</file>

<file path=ppt/slides/_rels/slide159.xml.rels><?xml version="1.0" encoding="UTF-8" standalone="yes"?>
<Relationships xmlns="http://schemas.openxmlformats.org/package/2006/relationships"><Relationship Id="rId3" Type="http://schemas.openxmlformats.org/officeDocument/2006/relationships/diagramLayout" Target="../diagrams/layout159.xml"/><Relationship Id="rId2" Type="http://schemas.openxmlformats.org/officeDocument/2006/relationships/diagramData" Target="../diagrams/data159.xml"/><Relationship Id="rId1" Type="http://schemas.openxmlformats.org/officeDocument/2006/relationships/slideLayout" Target="../slideLayouts/slideLayout2.xml"/><Relationship Id="rId6" Type="http://schemas.microsoft.com/office/2007/relationships/diagramDrawing" Target="../diagrams/drawing159.xml"/><Relationship Id="rId5" Type="http://schemas.openxmlformats.org/officeDocument/2006/relationships/diagramColors" Target="../diagrams/colors159.xml"/><Relationship Id="rId4" Type="http://schemas.openxmlformats.org/officeDocument/2006/relationships/diagramQuickStyle" Target="../diagrams/quickStyle159.xml"/></Relationships>
</file>

<file path=ppt/slides/_rels/slide160.xml.rels><?xml version="1.0" encoding="UTF-8" standalone="yes"?>
<Relationships xmlns="http://schemas.openxmlformats.org/package/2006/relationships"><Relationship Id="rId3" Type="http://schemas.openxmlformats.org/officeDocument/2006/relationships/diagramLayout" Target="../diagrams/layout160.xml"/><Relationship Id="rId2" Type="http://schemas.openxmlformats.org/officeDocument/2006/relationships/diagramData" Target="../diagrams/data160.xml"/><Relationship Id="rId1" Type="http://schemas.openxmlformats.org/officeDocument/2006/relationships/slideLayout" Target="../slideLayouts/slideLayout2.xml"/><Relationship Id="rId6" Type="http://schemas.microsoft.com/office/2007/relationships/diagramDrawing" Target="../diagrams/drawing160.xml"/><Relationship Id="rId5" Type="http://schemas.openxmlformats.org/officeDocument/2006/relationships/diagramColors" Target="../diagrams/colors160.xml"/><Relationship Id="rId4" Type="http://schemas.openxmlformats.org/officeDocument/2006/relationships/diagramQuickStyle" Target="../diagrams/quickStyle160.xm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161.xml"/><Relationship Id="rId2" Type="http://schemas.openxmlformats.org/officeDocument/2006/relationships/diagramData" Target="../diagrams/data161.xml"/><Relationship Id="rId1" Type="http://schemas.openxmlformats.org/officeDocument/2006/relationships/slideLayout" Target="../slideLayouts/slideLayout2.xml"/><Relationship Id="rId6" Type="http://schemas.microsoft.com/office/2007/relationships/diagramDrawing" Target="../diagrams/drawing161.xml"/><Relationship Id="rId5" Type="http://schemas.openxmlformats.org/officeDocument/2006/relationships/diagramColors" Target="../diagrams/colors161.xml"/><Relationship Id="rId4" Type="http://schemas.openxmlformats.org/officeDocument/2006/relationships/diagramQuickStyle" Target="../diagrams/quickStyle161.xml"/></Relationships>
</file>

<file path=ppt/slides/_rels/slide162.xml.rels><?xml version="1.0" encoding="UTF-8" standalone="yes"?>
<Relationships xmlns="http://schemas.openxmlformats.org/package/2006/relationships"><Relationship Id="rId3" Type="http://schemas.openxmlformats.org/officeDocument/2006/relationships/diagramLayout" Target="../diagrams/layout162.xml"/><Relationship Id="rId2" Type="http://schemas.openxmlformats.org/officeDocument/2006/relationships/diagramData" Target="../diagrams/data162.xml"/><Relationship Id="rId1" Type="http://schemas.openxmlformats.org/officeDocument/2006/relationships/slideLayout" Target="../slideLayouts/slideLayout2.xml"/><Relationship Id="rId6" Type="http://schemas.microsoft.com/office/2007/relationships/diagramDrawing" Target="../diagrams/drawing162.xml"/><Relationship Id="rId5" Type="http://schemas.openxmlformats.org/officeDocument/2006/relationships/diagramColors" Target="../diagrams/colors162.xml"/><Relationship Id="rId4" Type="http://schemas.openxmlformats.org/officeDocument/2006/relationships/diagramQuickStyle" Target="../diagrams/quickStyle162.xml"/></Relationships>
</file>

<file path=ppt/slides/_rels/slide163.xml.rels><?xml version="1.0" encoding="UTF-8" standalone="yes"?>
<Relationships xmlns="http://schemas.openxmlformats.org/package/2006/relationships"><Relationship Id="rId3" Type="http://schemas.openxmlformats.org/officeDocument/2006/relationships/diagramLayout" Target="../diagrams/layout163.xml"/><Relationship Id="rId2" Type="http://schemas.openxmlformats.org/officeDocument/2006/relationships/diagramData" Target="../diagrams/data163.xml"/><Relationship Id="rId1" Type="http://schemas.openxmlformats.org/officeDocument/2006/relationships/slideLayout" Target="../slideLayouts/slideLayout2.xml"/><Relationship Id="rId6" Type="http://schemas.microsoft.com/office/2007/relationships/diagramDrawing" Target="../diagrams/drawing163.xml"/><Relationship Id="rId5" Type="http://schemas.openxmlformats.org/officeDocument/2006/relationships/diagramColors" Target="../diagrams/colors163.xml"/><Relationship Id="rId4" Type="http://schemas.openxmlformats.org/officeDocument/2006/relationships/diagramQuickStyle" Target="../diagrams/quickStyle163.xm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164.xml"/><Relationship Id="rId2" Type="http://schemas.openxmlformats.org/officeDocument/2006/relationships/diagramData" Target="../diagrams/data164.xml"/><Relationship Id="rId1" Type="http://schemas.openxmlformats.org/officeDocument/2006/relationships/slideLayout" Target="../slideLayouts/slideLayout2.xml"/><Relationship Id="rId6" Type="http://schemas.microsoft.com/office/2007/relationships/diagramDrawing" Target="../diagrams/drawing164.xml"/><Relationship Id="rId5" Type="http://schemas.openxmlformats.org/officeDocument/2006/relationships/diagramColors" Target="../diagrams/colors164.xml"/><Relationship Id="rId4" Type="http://schemas.openxmlformats.org/officeDocument/2006/relationships/diagramQuickStyle" Target="../diagrams/quickStyle164.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165.xml"/><Relationship Id="rId2" Type="http://schemas.openxmlformats.org/officeDocument/2006/relationships/diagramData" Target="../diagrams/data165.xml"/><Relationship Id="rId1" Type="http://schemas.openxmlformats.org/officeDocument/2006/relationships/slideLayout" Target="../slideLayouts/slideLayout2.xml"/><Relationship Id="rId6" Type="http://schemas.microsoft.com/office/2007/relationships/diagramDrawing" Target="../diagrams/drawing165.xml"/><Relationship Id="rId5" Type="http://schemas.openxmlformats.org/officeDocument/2006/relationships/diagramColors" Target="../diagrams/colors165.xml"/><Relationship Id="rId4" Type="http://schemas.openxmlformats.org/officeDocument/2006/relationships/diagramQuickStyle" Target="../diagrams/quickStyle165.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66.xml"/><Relationship Id="rId2" Type="http://schemas.openxmlformats.org/officeDocument/2006/relationships/diagramData" Target="../diagrams/data166.xml"/><Relationship Id="rId1" Type="http://schemas.openxmlformats.org/officeDocument/2006/relationships/slideLayout" Target="../slideLayouts/slideLayout2.xml"/><Relationship Id="rId6" Type="http://schemas.microsoft.com/office/2007/relationships/diagramDrawing" Target="../diagrams/drawing166.xml"/><Relationship Id="rId5" Type="http://schemas.openxmlformats.org/officeDocument/2006/relationships/diagramColors" Target="../diagrams/colors166.xml"/><Relationship Id="rId4" Type="http://schemas.openxmlformats.org/officeDocument/2006/relationships/diagramQuickStyle" Target="../diagrams/quickStyle166.xml"/></Relationships>
</file>

<file path=ppt/slides/_rels/slide167.xml.rels><?xml version="1.0" encoding="UTF-8" standalone="yes"?>
<Relationships xmlns="http://schemas.openxmlformats.org/package/2006/relationships"><Relationship Id="rId3" Type="http://schemas.openxmlformats.org/officeDocument/2006/relationships/diagramLayout" Target="../diagrams/layout167.xml"/><Relationship Id="rId2" Type="http://schemas.openxmlformats.org/officeDocument/2006/relationships/diagramData" Target="../diagrams/data167.xml"/><Relationship Id="rId1" Type="http://schemas.openxmlformats.org/officeDocument/2006/relationships/slideLayout" Target="../slideLayouts/slideLayout2.xml"/><Relationship Id="rId6" Type="http://schemas.microsoft.com/office/2007/relationships/diagramDrawing" Target="../diagrams/drawing167.xml"/><Relationship Id="rId5" Type="http://schemas.openxmlformats.org/officeDocument/2006/relationships/diagramColors" Target="../diagrams/colors167.xml"/><Relationship Id="rId4" Type="http://schemas.openxmlformats.org/officeDocument/2006/relationships/diagramQuickStyle" Target="../diagrams/quickStyle167.xml"/></Relationships>
</file>

<file path=ppt/slides/_rels/slide168.xml.rels><?xml version="1.0" encoding="UTF-8" standalone="yes"?>
<Relationships xmlns="http://schemas.openxmlformats.org/package/2006/relationships"><Relationship Id="rId8" Type="http://schemas.openxmlformats.org/officeDocument/2006/relationships/hyperlink" Target="https://davegiles.blogspot.com/2016/01/legally-free-books.html#:~:text=(An%20earlier%20version%20of%20this,in%20Econometrics:%20Theory%20and%20Applications" TargetMode="External"/><Relationship Id="rId13" Type="http://schemas.openxmlformats.org/officeDocument/2006/relationships/hyperlink" Target="https://www.udemy.com/course/econometrics-basics-to-advance/?srsltid=AfmBOoo4mJ1i4GpxSWMehnNz_iihKKueXX2vYFjOqHTDST46yD-f9sZx" TargetMode="External"/><Relationship Id="rId18" Type="http://schemas.openxmlformats.org/officeDocument/2006/relationships/hyperlink" Target="https://github.com/carl24k/fight-churn" TargetMode="External"/><Relationship Id="rId26" Type="http://schemas.openxmlformats.org/officeDocument/2006/relationships/hyperlink" Target="https://en.wikipedia.org/wiki/Stochastic_process" TargetMode="External"/><Relationship Id="rId3" Type="http://schemas.openxmlformats.org/officeDocument/2006/relationships/diagramLayout" Target="../diagrams/layout168.xml"/><Relationship Id="rId21" Type="http://schemas.openxmlformats.org/officeDocument/2006/relationships/hyperlink" Target="https://www.ferventlearning.com/articles/" TargetMode="External"/><Relationship Id="rId7" Type="http://schemas.openxmlformats.org/officeDocument/2006/relationships/hyperlink" Target="https://en.wikipedia.org/wiki/Econometrics" TargetMode="External"/><Relationship Id="rId12" Type="http://schemas.openxmlformats.org/officeDocument/2006/relationships/hyperlink" Target="https://www.amazon.in/Introductory-Econometrics-Modern-Approach-MindTap/dp/9355731078" TargetMode="External"/><Relationship Id="rId17" Type="http://schemas.openxmlformats.org/officeDocument/2006/relationships/hyperlink" Target="https://www.manning.com/books/demand-forecasting-best-practices" TargetMode="External"/><Relationship Id="rId25" Type="http://schemas.openxmlformats.org/officeDocument/2006/relationships/hyperlink" Target="https://github.com/PacktPublishing/Getting-Started-with-Forex-Trading-Using-Python" TargetMode="External"/><Relationship Id="rId2" Type="http://schemas.openxmlformats.org/officeDocument/2006/relationships/diagramData" Target="../diagrams/data168.xml"/><Relationship Id="rId16" Type="http://schemas.openxmlformats.org/officeDocument/2006/relationships/hyperlink" Target="https://github.com/sb-ai-lab/tsururu" TargetMode="External"/><Relationship Id="rId20" Type="http://schemas.openxmlformats.org/officeDocument/2006/relationships/hyperlink" Target="https://github.com/StefanPapp/investing-for-programmers" TargetMode="External"/><Relationship Id="rId1" Type="http://schemas.openxmlformats.org/officeDocument/2006/relationships/slideLayout" Target="../slideLayouts/slideLayout2.xml"/><Relationship Id="rId6" Type="http://schemas.microsoft.com/office/2007/relationships/diagramDrawing" Target="../diagrams/drawing168.xml"/><Relationship Id="rId11" Type="http://schemas.openxmlformats.org/officeDocument/2006/relationships/hyperlink" Target="https://www.mhprofessional.com/schaum-s-outline-of-statistics-and-econometrics-second-edition-9780071755474-usa" TargetMode="External"/><Relationship Id="rId24" Type="http://schemas.openxmlformats.org/officeDocument/2006/relationships/hyperlink" Target="https://www.packtpub.com/en-us/product/developing-high-frequency-trading-systems-9781803242811" TargetMode="External"/><Relationship Id="rId5" Type="http://schemas.openxmlformats.org/officeDocument/2006/relationships/diagramColors" Target="../diagrams/colors168.xml"/><Relationship Id="rId15" Type="http://schemas.openxmlformats.org/officeDocument/2006/relationships/hyperlink" Target="https://github.com/vbukkala/Practical-Time-Series-Analysis-by-Aileen-Nielsen" TargetMode="External"/><Relationship Id="rId23" Type="http://schemas.openxmlformats.org/officeDocument/2006/relationships/hyperlink" Target="https://github.com/PacktPublishing/Machine-Learning-for-Algorithmic-Trading-Second-Edition" TargetMode="External"/><Relationship Id="rId28" Type="http://schemas.openxmlformats.org/officeDocument/2006/relationships/hyperlink" Target="https://library.fiveable.me/stochastic-processes" TargetMode="External"/><Relationship Id="rId10" Type="http://schemas.openxmlformats.org/officeDocument/2006/relationships/hyperlink" Target="https://scpoecon.github.io/ScPoEconometrics/" TargetMode="External"/><Relationship Id="rId19" Type="http://schemas.openxmlformats.org/officeDocument/2006/relationships/hyperlink" Target="https://www.inventoryexplained.com/" TargetMode="External"/><Relationship Id="rId4" Type="http://schemas.openxmlformats.org/officeDocument/2006/relationships/diagramQuickStyle" Target="../diagrams/quickStyle168.xml"/><Relationship Id="rId9" Type="http://schemas.openxmlformats.org/officeDocument/2006/relationships/hyperlink" Target="https://bookboon.com/en/econometrics-ebook?mediaType=ebook" TargetMode="External"/><Relationship Id="rId14" Type="http://schemas.openxmlformats.org/officeDocument/2006/relationships/hyperlink" Target="https://github.com/PacktPublishing/Modern-Time-Series-Forecasting-with-Python-2E" TargetMode="External"/><Relationship Id="rId22" Type="http://schemas.openxmlformats.org/officeDocument/2006/relationships/hyperlink" Target="https://github.com/PacktPublishing/Python-for-Algorithmic-Trading-Cookbook" TargetMode="External"/><Relationship Id="rId27" Type="http://schemas.openxmlformats.org/officeDocument/2006/relationships/hyperlink" Target="https://www.accessengineeringlibrary.com/content/book/9781260453812" TargetMode="External"/></Relationships>
</file>

<file path=ppt/slides/_rels/slide169.xml.rels><?xml version="1.0" encoding="UTF-8" standalone="yes"?>
<Relationships xmlns="http://schemas.openxmlformats.org/package/2006/relationships"><Relationship Id="rId8" Type="http://schemas.openxmlformats.org/officeDocument/2006/relationships/hyperlink" Target="https://freecomputerbooks.com/Advanced-Stochastic-Processes-by-Jan-Van-Casteren.html" TargetMode="External"/><Relationship Id="rId13" Type="http://schemas.openxmlformats.org/officeDocument/2006/relationships/hyperlink" Target="https://web.stanford.edu/~lutian/coursepdf/slideweek1.pdf" TargetMode="External"/><Relationship Id="rId18" Type="http://schemas.openxmlformats.org/officeDocument/2006/relationships/hyperlink" Target="https://crr.umd.edu/sites/crr.umd.edu/files/Free%20Ebook%20Probability%20Distributions%20Used%20in%20Reliability%20Engineering.pdf" TargetMode="External"/><Relationship Id="rId3" Type="http://schemas.openxmlformats.org/officeDocument/2006/relationships/diagramLayout" Target="../diagrams/layout169.xml"/><Relationship Id="rId21" Type="http://schemas.openxmlformats.org/officeDocument/2006/relationships/hyperlink" Target="https://www.freetechbooks.com/introduction-to-queueing-theory-and-stochastic-teletraffic-models-t1082.html" TargetMode="External"/><Relationship Id="rId7" Type="http://schemas.openxmlformats.org/officeDocument/2006/relationships/hyperlink" Target="https://freecomputerbooks.com/Stochastic_Processes_for_Finance.html" TargetMode="External"/><Relationship Id="rId12" Type="http://schemas.openxmlformats.org/officeDocument/2006/relationships/hyperlink" Target="https://www.graphpad.com/guides/survival-analysis" TargetMode="External"/><Relationship Id="rId17" Type="http://schemas.openxmlformats.org/officeDocument/2006/relationships/hyperlink" Target="https://sci-hub.se/downloads/2021-05-17/55/rausand2020.pdf" TargetMode="External"/><Relationship Id="rId2" Type="http://schemas.openxmlformats.org/officeDocument/2006/relationships/diagramData" Target="../diagrams/data169.xml"/><Relationship Id="rId16" Type="http://schemas.openxmlformats.org/officeDocument/2006/relationships/hyperlink" Target="https://en.wikipedia.org/wiki/Reliability_engineering" TargetMode="External"/><Relationship Id="rId20" Type="http://schemas.openxmlformats.org/officeDocument/2006/relationships/hyperlink" Target="https://www.freetechbooks.com/basic-queueing-theory-foundations-of-system-performance-modeling-t1083.html" TargetMode="External"/><Relationship Id="rId1" Type="http://schemas.openxmlformats.org/officeDocument/2006/relationships/slideLayout" Target="../slideLayouts/slideLayout2.xml"/><Relationship Id="rId6" Type="http://schemas.microsoft.com/office/2007/relationships/diagramDrawing" Target="../diagrams/drawing169.xml"/><Relationship Id="rId11" Type="http://schemas.openxmlformats.org/officeDocument/2006/relationships/hyperlink" Target="https://tinyheero.github.io/2016/05/12/survival-analysis.html" TargetMode="External"/><Relationship Id="rId5" Type="http://schemas.openxmlformats.org/officeDocument/2006/relationships/diagramColors" Target="../diagrams/colors169.xml"/><Relationship Id="rId15" Type="http://schemas.openxmlformats.org/officeDocument/2006/relationships/hyperlink" Target="https://thestatsgeek.com/stats-books/survival-analysis-books/" TargetMode="External"/><Relationship Id="rId23" Type="http://schemas.openxmlformats.org/officeDocument/2006/relationships/hyperlink" Target="https://en.wikipedia.org/wiki/Decision_theory" TargetMode="External"/><Relationship Id="rId10" Type="http://schemas.openxmlformats.org/officeDocument/2006/relationships/hyperlink" Target="https://thestatsgeek.com/stats-books/longitudinal-and-clustered-data-analysis-books/" TargetMode="External"/><Relationship Id="rId19" Type="http://schemas.openxmlformats.org/officeDocument/2006/relationships/hyperlink" Target="https://en.wikipedia.org/wiki/Queueing_theory" TargetMode="External"/><Relationship Id="rId4" Type="http://schemas.openxmlformats.org/officeDocument/2006/relationships/diagramQuickStyle" Target="../diagrams/quickStyle169.xml"/><Relationship Id="rId9" Type="http://schemas.openxmlformats.org/officeDocument/2006/relationships/hyperlink" Target="https://thestatsgeek.com/stats-books/logistic-regression-generalized-linear-model-books/" TargetMode="External"/><Relationship Id="rId14" Type="http://schemas.openxmlformats.org/officeDocument/2006/relationships/hyperlink" Target="https://en.wikipedia.org/wiki/Survival_analysis" TargetMode="External"/><Relationship Id="rId22" Type="http://schemas.openxmlformats.org/officeDocument/2006/relationships/hyperlink" Target="https://www.sciencedirect.com/science/article/pii/S0888327024001651" TargetMode="External"/></Relationships>
</file>

<file path=ppt/slides/_rels/slide170.xml.rels><?xml version="1.0" encoding="UTF-8" standalone="yes"?>
<Relationships xmlns="http://schemas.openxmlformats.org/package/2006/relationships"><Relationship Id="rId3" Type="http://schemas.openxmlformats.org/officeDocument/2006/relationships/diagramLayout" Target="../diagrams/layout170.xml"/><Relationship Id="rId2" Type="http://schemas.openxmlformats.org/officeDocument/2006/relationships/diagramData" Target="../diagrams/data170.xml"/><Relationship Id="rId1" Type="http://schemas.openxmlformats.org/officeDocument/2006/relationships/slideLayout" Target="../slideLayouts/slideLayout2.xml"/><Relationship Id="rId6" Type="http://schemas.microsoft.com/office/2007/relationships/diagramDrawing" Target="../diagrams/drawing170.xml"/><Relationship Id="rId5" Type="http://schemas.openxmlformats.org/officeDocument/2006/relationships/diagramColors" Target="../diagrams/colors170.xml"/><Relationship Id="rId4" Type="http://schemas.openxmlformats.org/officeDocument/2006/relationships/diagramQuickStyle" Target="../diagrams/quickStyle170.xml"/></Relationships>
</file>

<file path=ppt/slides/_rels/slide171.xml.rels><?xml version="1.0" encoding="UTF-8" standalone="yes"?>
<Relationships xmlns="http://schemas.openxmlformats.org/package/2006/relationships"><Relationship Id="rId3" Type="http://schemas.openxmlformats.org/officeDocument/2006/relationships/diagramLayout" Target="../diagrams/layout171.xml"/><Relationship Id="rId2" Type="http://schemas.openxmlformats.org/officeDocument/2006/relationships/diagramData" Target="../diagrams/data171.xml"/><Relationship Id="rId1" Type="http://schemas.openxmlformats.org/officeDocument/2006/relationships/slideLayout" Target="../slideLayouts/slideLayout2.xml"/><Relationship Id="rId6" Type="http://schemas.microsoft.com/office/2007/relationships/diagramDrawing" Target="../diagrams/drawing171.xml"/><Relationship Id="rId5" Type="http://schemas.openxmlformats.org/officeDocument/2006/relationships/diagramColors" Target="../diagrams/colors171.xml"/><Relationship Id="rId4" Type="http://schemas.openxmlformats.org/officeDocument/2006/relationships/diagramQuickStyle" Target="../diagrams/quickStyle171.xml"/></Relationships>
</file>

<file path=ppt/slides/_rels/slide172.xml.rels><?xml version="1.0" encoding="UTF-8" standalone="yes"?>
<Relationships xmlns="http://schemas.openxmlformats.org/package/2006/relationships"><Relationship Id="rId3" Type="http://schemas.openxmlformats.org/officeDocument/2006/relationships/diagramLayout" Target="../diagrams/layout172.xml"/><Relationship Id="rId2" Type="http://schemas.openxmlformats.org/officeDocument/2006/relationships/diagramData" Target="../diagrams/data172.xml"/><Relationship Id="rId1" Type="http://schemas.openxmlformats.org/officeDocument/2006/relationships/slideLayout" Target="../slideLayouts/slideLayout2.xml"/><Relationship Id="rId6" Type="http://schemas.microsoft.com/office/2007/relationships/diagramDrawing" Target="../diagrams/drawing172.xml"/><Relationship Id="rId5" Type="http://schemas.openxmlformats.org/officeDocument/2006/relationships/diagramColors" Target="../diagrams/colors172.xml"/><Relationship Id="rId4" Type="http://schemas.openxmlformats.org/officeDocument/2006/relationships/diagramQuickStyle" Target="../diagrams/quickStyle172.xml"/></Relationships>
</file>

<file path=ppt/slides/_rels/slide173.xml.rels><?xml version="1.0" encoding="UTF-8" standalone="yes"?>
<Relationships xmlns="http://schemas.openxmlformats.org/package/2006/relationships"><Relationship Id="rId8" Type="http://schemas.openxmlformats.org/officeDocument/2006/relationships/hyperlink" Target="https://www.google.com/search?safe=active&amp;sca_esv=18843b6b8377da35&amp;rlz=1C1GCEW_enIN1075IN1075&amp;cs=0&amp;sxsrf=AE3TifMq7MrBh3jL78Wd9it0RtL4y1RJ-Q%3A1757474011790&amp;q=Spatio-Temporal+Autoregressive+Regression+%28STAR%29+Models&amp;sa=X&amp;ved=2ahUKEwjZo5jxnM2PAxXi6jgGHTHiI3kQxccNegQIFBAB&amp;mstk=AUtExfCe2qEuCGUCOs9KFGOfvPrjxNP7DJLvcaIl2s6w4vSPY1G4_5p1umSfBEb0ewH7eMFAymfS1QYNUjSRTg4T0GdkfI8pVbgvRtfRMM8g-P4E8L43ArETXlYfreYPnmL8FIx-Z4bwzwQdoUlrO1DfZDZX5eGqyBZPMluBCM8ePN7LRIO9yyK5eMTiZdWcUP9FXI1ozeZwbDcaMQW1Z2AX7iGj_hV-4I257EIcSk8fsKZeaFFC-UTX_fGVNFrYjwu6Hv4kF_YXFlTw9o_BtnA-0QkZ&amp;csui=3" TargetMode="External"/><Relationship Id="rId3" Type="http://schemas.openxmlformats.org/officeDocument/2006/relationships/diagramLayout" Target="../diagrams/layout173.xml"/><Relationship Id="rId7" Type="http://schemas.openxmlformats.org/officeDocument/2006/relationships/hyperlink" Target="https://www.google.com/search?safe=active&amp;sca_esv=18843b6b8377da35&amp;rlz=1C1GCEW_enIN1075IN1075&amp;cs=0&amp;sxsrf=AE3TifMq7MrBh3jL78Wd9it0RtL4y1RJ-Q%3A1757474011790&amp;q=Spatiotemporal+Point+Processes&amp;sa=X&amp;ved=2ahUKEwjZo5jxnM2PAxXi6jgGHTHiI3kQxccNegQIERAB&amp;mstk=AUtExfCe2qEuCGUCOs9KFGOfvPrjxNP7DJLvcaIl2s6w4vSPY1G4_5p1umSfBEb0ewH7eMFAymfS1QYNUjSRTg4T0GdkfI8pVbgvRtfRMM8g-P4E8L43ArETXlYfreYPnmL8FIx-Z4bwzwQdoUlrO1DfZDZX5eGqyBZPMluBCM8ePN7LRIO9yyK5eMTiZdWcUP9FXI1ozeZwbDcaMQW1Z2AX7iGj_hV-4I257EIcSk8fsKZeaFFC-UTX_fGVNFrYjwu6Hv4kF_YXFlTw9o_BtnA-0QkZ&amp;csui=3" TargetMode="External"/><Relationship Id="rId2" Type="http://schemas.openxmlformats.org/officeDocument/2006/relationships/diagramData" Target="../diagrams/data173.xml"/><Relationship Id="rId1" Type="http://schemas.openxmlformats.org/officeDocument/2006/relationships/slideLayout" Target="../slideLayouts/slideLayout2.xml"/><Relationship Id="rId6" Type="http://schemas.microsoft.com/office/2007/relationships/diagramDrawing" Target="../diagrams/drawing173.xml"/><Relationship Id="rId5" Type="http://schemas.openxmlformats.org/officeDocument/2006/relationships/diagramColors" Target="../diagrams/colors173.xml"/><Relationship Id="rId4" Type="http://schemas.openxmlformats.org/officeDocument/2006/relationships/diagramQuickStyle" Target="../diagrams/quickStyle173.xml"/></Relationships>
</file>

<file path=ppt/slides/_rels/slide174.xml.rels><?xml version="1.0" encoding="UTF-8" standalone="yes"?>
<Relationships xmlns="http://schemas.openxmlformats.org/package/2006/relationships"><Relationship Id="rId8" Type="http://schemas.openxmlformats.org/officeDocument/2006/relationships/hyperlink" Target="https://link.springer.com/book/10.1007/978-1-4614-4918-8" TargetMode="External"/><Relationship Id="rId3" Type="http://schemas.openxmlformats.org/officeDocument/2006/relationships/diagramLayout" Target="../diagrams/layout174.xml"/><Relationship Id="rId7" Type="http://schemas.openxmlformats.org/officeDocument/2006/relationships/hyperlink" Target="https://www.google.com/search?safe=active&amp;sca_esv=18843b6b8377da35&amp;rlz=1C1GCEW_enIN1075IN1075&amp;cs=0&amp;sxsrf=AE3TifMq7MrBh3jL78Wd9it0RtL4y1RJ-Q%3A1757474011790&amp;q=stochastic+differential+equations&amp;sa=X&amp;ved=2ahUKEwjZo5jxnM2PAxXi6jgGHTHiI3kQxccNegQIGBAB&amp;mstk=AUtExfCe2qEuCGUCOs9KFGOfvPrjxNP7DJLvcaIl2s6w4vSPY1G4_5p1umSfBEb0ewH7eMFAymfS1QYNUjSRTg4T0GdkfI8pVbgvRtfRMM8g-P4E8L43ArETXlYfreYPnmL8FIx-Z4bwzwQdoUlrO1DfZDZX5eGqyBZPMluBCM8ePN7LRIO9yyK5eMTiZdWcUP9FXI1ozeZwbDcaMQW1Z2AX7iGj_hV-4I257EIcSk8fsKZeaFFC-UTX_fGVNFrYjwu6Hv4kF_YXFlTw9o_BtnA-0QkZ&amp;csui=3" TargetMode="External"/><Relationship Id="rId2" Type="http://schemas.openxmlformats.org/officeDocument/2006/relationships/diagramData" Target="../diagrams/data174.xml"/><Relationship Id="rId1" Type="http://schemas.openxmlformats.org/officeDocument/2006/relationships/slideLayout" Target="../slideLayouts/slideLayout2.xml"/><Relationship Id="rId6" Type="http://schemas.microsoft.com/office/2007/relationships/diagramDrawing" Target="../diagrams/drawing174.xml"/><Relationship Id="rId11" Type="http://schemas.openxmlformats.org/officeDocument/2006/relationships/hyperlink" Target="https://spacetimewithr.org/" TargetMode="External"/><Relationship Id="rId5" Type="http://schemas.openxmlformats.org/officeDocument/2006/relationships/diagramColors" Target="../diagrams/colors174.xml"/><Relationship Id="rId10" Type="http://schemas.openxmlformats.org/officeDocument/2006/relationships/hyperlink" Target="https://www.researchgate.net/publication/379843543_Introduction_to_Spatiotemporal_Data" TargetMode="External"/><Relationship Id="rId4" Type="http://schemas.openxmlformats.org/officeDocument/2006/relationships/diagramQuickStyle" Target="../diagrams/quickStyle174.xml"/><Relationship Id="rId9" Type="http://schemas.openxmlformats.org/officeDocument/2006/relationships/hyperlink" Target="https://ebooks.iospress.nl/volumearticle/63728" TargetMode="External"/></Relationships>
</file>

<file path=ppt/slides/_rels/slide175.xml.rels><?xml version="1.0" encoding="UTF-8" standalone="yes"?>
<Relationships xmlns="http://schemas.openxmlformats.org/package/2006/relationships"><Relationship Id="rId3" Type="http://schemas.openxmlformats.org/officeDocument/2006/relationships/diagramLayout" Target="../diagrams/layout175.xml"/><Relationship Id="rId2" Type="http://schemas.openxmlformats.org/officeDocument/2006/relationships/diagramData" Target="../diagrams/data175.xml"/><Relationship Id="rId1" Type="http://schemas.openxmlformats.org/officeDocument/2006/relationships/slideLayout" Target="../slideLayouts/slideLayout2.xml"/><Relationship Id="rId6" Type="http://schemas.microsoft.com/office/2007/relationships/diagramDrawing" Target="../diagrams/drawing175.xml"/><Relationship Id="rId5" Type="http://schemas.openxmlformats.org/officeDocument/2006/relationships/diagramColors" Target="../diagrams/colors175.xml"/><Relationship Id="rId4" Type="http://schemas.openxmlformats.org/officeDocument/2006/relationships/diagramQuickStyle" Target="../diagrams/quickStyle175.xml"/></Relationships>
</file>

<file path=ppt/slides/_rels/slide176.xml.rels><?xml version="1.0" encoding="UTF-8" standalone="yes"?>
<Relationships xmlns="http://schemas.openxmlformats.org/package/2006/relationships"><Relationship Id="rId8" Type="http://schemas.openxmlformats.org/officeDocument/2006/relationships/hyperlink" Target="https://developer.confluent.io/patterns/" TargetMode="External"/><Relationship Id="rId3" Type="http://schemas.openxmlformats.org/officeDocument/2006/relationships/diagramLayout" Target="../diagrams/layout176.xml"/><Relationship Id="rId7" Type="http://schemas.openxmlformats.org/officeDocument/2006/relationships/hyperlink" Target="https://www.tecton.ai/blog/how-to-jump-from-batch-to-real-time-machine-learning/" TargetMode="External"/><Relationship Id="rId2" Type="http://schemas.openxmlformats.org/officeDocument/2006/relationships/diagramData" Target="../diagrams/data176.xml"/><Relationship Id="rId1" Type="http://schemas.openxmlformats.org/officeDocument/2006/relationships/slideLayout" Target="../slideLayouts/slideLayout2.xml"/><Relationship Id="rId6" Type="http://schemas.microsoft.com/office/2007/relationships/diagramDrawing" Target="../diagrams/drawing176.xml"/><Relationship Id="rId11" Type="http://schemas.openxmlformats.org/officeDocument/2006/relationships/hyperlink" Target="https://github.com/online-ml/awesome-online-machine-learning" TargetMode="External"/><Relationship Id="rId5" Type="http://schemas.openxmlformats.org/officeDocument/2006/relationships/diagramColors" Target="../diagrams/colors176.xml"/><Relationship Id="rId10" Type="http://schemas.openxmlformats.org/officeDocument/2006/relationships/hyperlink" Target="https://github.com/Apress/practical-ml-streaming-data-python" TargetMode="External"/><Relationship Id="rId4" Type="http://schemas.openxmlformats.org/officeDocument/2006/relationships/diagramQuickStyle" Target="../diagrams/quickStyle176.xml"/><Relationship Id="rId9" Type="http://schemas.openxmlformats.org/officeDocument/2006/relationships/hyperlink" Target="https://en.wikipedia.org/wiki/Online_machine_learning" TargetMode="External"/></Relationships>
</file>

<file path=ppt/slides/_rels/slide177.xml.rels><?xml version="1.0" encoding="UTF-8" standalone="yes"?>
<Relationships xmlns="http://schemas.openxmlformats.org/package/2006/relationships"><Relationship Id="rId3" Type="http://schemas.openxmlformats.org/officeDocument/2006/relationships/diagramLayout" Target="../diagrams/layout177.xml"/><Relationship Id="rId2" Type="http://schemas.openxmlformats.org/officeDocument/2006/relationships/diagramData" Target="../diagrams/data177.xml"/><Relationship Id="rId1" Type="http://schemas.openxmlformats.org/officeDocument/2006/relationships/slideLayout" Target="../slideLayouts/slideLayout2.xml"/><Relationship Id="rId6" Type="http://schemas.microsoft.com/office/2007/relationships/diagramDrawing" Target="../diagrams/drawing177.xml"/><Relationship Id="rId5" Type="http://schemas.openxmlformats.org/officeDocument/2006/relationships/diagramColors" Target="../diagrams/colors177.xml"/><Relationship Id="rId4" Type="http://schemas.openxmlformats.org/officeDocument/2006/relationships/diagramQuickStyle" Target="../diagrams/quickStyle177.xml"/></Relationships>
</file>

<file path=ppt/slides/_rels/slide178.xml.rels><?xml version="1.0" encoding="UTF-8" standalone="yes"?>
<Relationships xmlns="http://schemas.openxmlformats.org/package/2006/relationships"><Relationship Id="rId3" Type="http://schemas.openxmlformats.org/officeDocument/2006/relationships/diagramLayout" Target="../diagrams/layout178.xml"/><Relationship Id="rId2" Type="http://schemas.openxmlformats.org/officeDocument/2006/relationships/diagramData" Target="../diagrams/data178.xml"/><Relationship Id="rId1" Type="http://schemas.openxmlformats.org/officeDocument/2006/relationships/slideLayout" Target="../slideLayouts/slideLayout2.xml"/><Relationship Id="rId6" Type="http://schemas.microsoft.com/office/2007/relationships/diagramDrawing" Target="../diagrams/drawing178.xml"/><Relationship Id="rId5" Type="http://schemas.openxmlformats.org/officeDocument/2006/relationships/diagramColors" Target="../diagrams/colors178.xml"/><Relationship Id="rId4" Type="http://schemas.openxmlformats.org/officeDocument/2006/relationships/diagramQuickStyle" Target="../diagrams/quickStyle178.xml"/></Relationships>
</file>

<file path=ppt/slides/_rels/slide179.xml.rels><?xml version="1.0" encoding="UTF-8" standalone="yes"?>
<Relationships xmlns="http://schemas.openxmlformats.org/package/2006/relationships"><Relationship Id="rId8" Type="http://schemas.openxmlformats.org/officeDocument/2006/relationships/hyperlink" Target="https://builtin.com/data-science/correlation-matrix" TargetMode="External"/><Relationship Id="rId13" Type="http://schemas.openxmlformats.org/officeDocument/2006/relationships/hyperlink" Target="https://causalml-book.org/" TargetMode="External"/><Relationship Id="rId3" Type="http://schemas.openxmlformats.org/officeDocument/2006/relationships/diagramLayout" Target="../diagrams/layout179.xml"/><Relationship Id="rId7" Type="http://schemas.openxmlformats.org/officeDocument/2006/relationships/hyperlink" Target="https://builtin.com/data-science/covariance-vs-correlation" TargetMode="External"/><Relationship Id="rId12" Type="http://schemas.openxmlformats.org/officeDocument/2006/relationships/hyperlink" Target="https://causalai-book.net/" TargetMode="External"/><Relationship Id="rId17" Type="http://schemas.openxmlformats.org/officeDocument/2006/relationships/hyperlink" Target="https://www.pywhy.org/" TargetMode="External"/><Relationship Id="rId2" Type="http://schemas.openxmlformats.org/officeDocument/2006/relationships/diagramData" Target="../diagrams/data179.xml"/><Relationship Id="rId16" Type="http://schemas.openxmlformats.org/officeDocument/2006/relationships/hyperlink" Target="https://github.com/PacktPublishing/Causal-Inference-with-Bayesian-Networks" TargetMode="External"/><Relationship Id="rId1" Type="http://schemas.openxmlformats.org/officeDocument/2006/relationships/slideLayout" Target="../slideLayouts/slideLayout2.xml"/><Relationship Id="rId6" Type="http://schemas.microsoft.com/office/2007/relationships/diagramDrawing" Target="../diagrams/drawing179.xml"/><Relationship Id="rId11" Type="http://schemas.openxmlformats.org/officeDocument/2006/relationships/hyperlink" Target="https://www.udemy.com/course/causal-ai-an-introduction/" TargetMode="External"/><Relationship Id="rId5" Type="http://schemas.openxmlformats.org/officeDocument/2006/relationships/diagramColors" Target="../diagrams/colors179.xml"/><Relationship Id="rId15" Type="http://schemas.openxmlformats.org/officeDocument/2006/relationships/hyperlink" Target="https://www.udemy.com/course/causal-data-science/?couponCode=ST8MT220425G3" TargetMode="External"/><Relationship Id="rId10" Type="http://schemas.openxmlformats.org/officeDocument/2006/relationships/hyperlink" Target="https://medium.com/@miguelcneves2/a-practical-causal-inference-example-for-beginners-fff262d33411" TargetMode="External"/><Relationship Id="rId4" Type="http://schemas.openxmlformats.org/officeDocument/2006/relationships/diagramQuickStyle" Target="../diagrams/quickStyle179.xml"/><Relationship Id="rId9" Type="http://schemas.openxmlformats.org/officeDocument/2006/relationships/hyperlink" Target="https://en.m.wikipedia.org/wiki/Analysis_of_covariance" TargetMode="External"/><Relationship Id="rId14" Type="http://schemas.openxmlformats.org/officeDocument/2006/relationships/hyperlink" Target="https://aleksander-molak.medium.com/yes-six-causality-books-that-will-get-you-from-zero-to-advanced-2023-f4d08718a2dd" TargetMode="External"/></Relationships>
</file>

<file path=ppt/slides/_rels/slide180.xml.rels><?xml version="1.0" encoding="UTF-8" standalone="yes"?>
<Relationships xmlns="http://schemas.openxmlformats.org/package/2006/relationships"><Relationship Id="rId8" Type="http://schemas.openxmlformats.org/officeDocument/2006/relationships/hyperlink" Target="https://gist.github.com/sandipray63in/55325e9af37627ca35cd2bf79683678b" TargetMode="External"/><Relationship Id="rId13" Type="http://schemas.openxmlformats.org/officeDocument/2006/relationships/hyperlink" Target="https://www.youtube.com/watch?v=ZspR5PZemcs" TargetMode="External"/><Relationship Id="rId3" Type="http://schemas.openxmlformats.org/officeDocument/2006/relationships/diagramLayout" Target="../diagrams/layout180.xml"/><Relationship Id="rId7" Type="http://schemas.openxmlformats.org/officeDocument/2006/relationships/image" Target="../media/image38.png"/><Relationship Id="rId12" Type="http://schemas.openxmlformats.org/officeDocument/2006/relationships/hyperlink" Target="https://www.slideshare.net/JamesKirk58/boston-ml-architecting-recommender-systems" TargetMode="External"/><Relationship Id="rId2" Type="http://schemas.openxmlformats.org/officeDocument/2006/relationships/diagramData" Target="../diagrams/data180.xml"/><Relationship Id="rId16" Type="http://schemas.openxmlformats.org/officeDocument/2006/relationships/hyperlink" Target="https://www.amazon.in/Recommender-Systems-Textbook-Charu-Aggarwal-ebook/dp/B01DK3GZDY/ref=tmm_kin_swatch_0" TargetMode="External"/><Relationship Id="rId1" Type="http://schemas.openxmlformats.org/officeDocument/2006/relationships/slideLayout" Target="../slideLayouts/slideLayout2.xml"/><Relationship Id="rId6" Type="http://schemas.microsoft.com/office/2007/relationships/diagramDrawing" Target="../diagrams/drawing180.xml"/><Relationship Id="rId11" Type="http://schemas.openxmlformats.org/officeDocument/2006/relationships/hyperlink" Target="https://www.slideshare.net/blueace/how-to-build-a-recommender-system-presentation" TargetMode="External"/><Relationship Id="rId5" Type="http://schemas.openxmlformats.org/officeDocument/2006/relationships/diagramColors" Target="../diagrams/colors180.xml"/><Relationship Id="rId15" Type="http://schemas.openxmlformats.org/officeDocument/2006/relationships/hyperlink" Target="https://cseweb.ucsd.edu/~jmcauley/pml/" TargetMode="External"/><Relationship Id="rId10" Type="http://schemas.openxmlformats.org/officeDocument/2006/relationships/hyperlink" Target="https://www.slideshare.net/xlvector/recommender-system-algorithm-and-architecture-13098396" TargetMode="External"/><Relationship Id="rId4" Type="http://schemas.openxmlformats.org/officeDocument/2006/relationships/diagramQuickStyle" Target="../diagrams/quickStyle180.xml"/><Relationship Id="rId9" Type="http://schemas.openxmlformats.org/officeDocument/2006/relationships/hyperlink" Target="https://www.slideshare.net/xlvector/recommender-system-introduction-12551956" TargetMode="External"/><Relationship Id="rId14" Type="http://schemas.openxmlformats.org/officeDocument/2006/relationships/hyperlink" Target="https://www.youtube.com/watch?v=xBMGr08fowA&amp;t=238s" TargetMode="External"/></Relationships>
</file>

<file path=ppt/slides/_rels/slide181.xml.rels><?xml version="1.0" encoding="UTF-8" standalone="yes"?>
<Relationships xmlns="http://schemas.openxmlformats.org/package/2006/relationships"><Relationship Id="rId8" Type="http://schemas.openxmlformats.org/officeDocument/2006/relationships/hyperlink" Target="https://www.linkedin.com/pulse/short-explanation-history-natural-language-models-anton-grechanyuk/" TargetMode="External"/><Relationship Id="rId3" Type="http://schemas.openxmlformats.org/officeDocument/2006/relationships/diagramLayout" Target="../diagrams/layout181.xml"/><Relationship Id="rId7" Type="http://schemas.openxmlformats.org/officeDocument/2006/relationships/hyperlink" Target="https://fastdatascience.com/natural-language-processing/guide-natural-language-processing-nlp/" TargetMode="External"/><Relationship Id="rId2" Type="http://schemas.openxmlformats.org/officeDocument/2006/relationships/diagramData" Target="../diagrams/data181.xml"/><Relationship Id="rId1" Type="http://schemas.openxmlformats.org/officeDocument/2006/relationships/slideLayout" Target="../slideLayouts/slideLayout2.xml"/><Relationship Id="rId6" Type="http://schemas.microsoft.com/office/2007/relationships/diagramDrawing" Target="../diagrams/drawing181.xml"/><Relationship Id="rId5" Type="http://schemas.openxmlformats.org/officeDocument/2006/relationships/diagramColors" Target="../diagrams/colors181.xml"/><Relationship Id="rId10" Type="http://schemas.openxmlformats.org/officeDocument/2006/relationships/image" Target="../media/image39.png"/><Relationship Id="rId4" Type="http://schemas.openxmlformats.org/officeDocument/2006/relationships/diagramQuickStyle" Target="../diagrams/quickStyle181.xml"/><Relationship Id="rId9" Type="http://schemas.openxmlformats.org/officeDocument/2006/relationships/hyperlink" Target="https://www.linkedin.com/pulse/evolution-impact-natural-language-processing-nlp-kavindu-rathnasiri-dc6qc/" TargetMode="External"/></Relationships>
</file>

<file path=ppt/slides/_rels/slide182.xml.rels><?xml version="1.0" encoding="UTF-8" standalone="yes"?>
<Relationships xmlns="http://schemas.openxmlformats.org/package/2006/relationships"><Relationship Id="rId3" Type="http://schemas.openxmlformats.org/officeDocument/2006/relationships/diagramLayout" Target="../diagrams/layout182.xml"/><Relationship Id="rId7" Type="http://schemas.openxmlformats.org/officeDocument/2006/relationships/image" Target="../media/image40.jpeg"/><Relationship Id="rId2" Type="http://schemas.openxmlformats.org/officeDocument/2006/relationships/diagramData" Target="../diagrams/data182.xml"/><Relationship Id="rId1" Type="http://schemas.openxmlformats.org/officeDocument/2006/relationships/slideLayout" Target="../slideLayouts/slideLayout2.xml"/><Relationship Id="rId6" Type="http://schemas.microsoft.com/office/2007/relationships/diagramDrawing" Target="../diagrams/drawing182.xml"/><Relationship Id="rId5" Type="http://schemas.openxmlformats.org/officeDocument/2006/relationships/diagramColors" Target="../diagrams/colors182.xml"/><Relationship Id="rId4" Type="http://schemas.openxmlformats.org/officeDocument/2006/relationships/diagramQuickStyle" Target="../diagrams/quickStyle182.xml"/></Relationships>
</file>

<file path=ppt/slides/_rels/slide183.xml.rels><?xml version="1.0" encoding="UTF-8" standalone="yes"?>
<Relationships xmlns="http://schemas.openxmlformats.org/package/2006/relationships"><Relationship Id="rId3" Type="http://schemas.openxmlformats.org/officeDocument/2006/relationships/diagramLayout" Target="../diagrams/layout183.xml"/><Relationship Id="rId2" Type="http://schemas.openxmlformats.org/officeDocument/2006/relationships/diagramData" Target="../diagrams/data183.xml"/><Relationship Id="rId1" Type="http://schemas.openxmlformats.org/officeDocument/2006/relationships/slideLayout" Target="../slideLayouts/slideLayout2.xml"/><Relationship Id="rId6" Type="http://schemas.microsoft.com/office/2007/relationships/diagramDrawing" Target="../diagrams/drawing183.xml"/><Relationship Id="rId5" Type="http://schemas.openxmlformats.org/officeDocument/2006/relationships/diagramColors" Target="../diagrams/colors183.xml"/><Relationship Id="rId4" Type="http://schemas.openxmlformats.org/officeDocument/2006/relationships/diagramQuickStyle" Target="../diagrams/quickStyle183.xml"/></Relationships>
</file>

<file path=ppt/slides/_rels/slide184.xml.rels><?xml version="1.0" encoding="UTF-8" standalone="yes"?>
<Relationships xmlns="http://schemas.openxmlformats.org/package/2006/relationships"><Relationship Id="rId3" Type="http://schemas.openxmlformats.org/officeDocument/2006/relationships/diagramLayout" Target="../diagrams/layout184.xml"/><Relationship Id="rId2" Type="http://schemas.openxmlformats.org/officeDocument/2006/relationships/diagramData" Target="../diagrams/data184.xml"/><Relationship Id="rId1" Type="http://schemas.openxmlformats.org/officeDocument/2006/relationships/slideLayout" Target="../slideLayouts/slideLayout2.xml"/><Relationship Id="rId6" Type="http://schemas.microsoft.com/office/2007/relationships/diagramDrawing" Target="../diagrams/drawing184.xml"/><Relationship Id="rId5" Type="http://schemas.openxmlformats.org/officeDocument/2006/relationships/diagramColors" Target="../diagrams/colors184.xml"/><Relationship Id="rId4" Type="http://schemas.openxmlformats.org/officeDocument/2006/relationships/diagramQuickStyle" Target="../diagrams/quickStyle184.xml"/></Relationships>
</file>

<file path=ppt/slides/_rels/slide185.xml.rels><?xml version="1.0" encoding="UTF-8" standalone="yes"?>
<Relationships xmlns="http://schemas.openxmlformats.org/package/2006/relationships"><Relationship Id="rId3" Type="http://schemas.openxmlformats.org/officeDocument/2006/relationships/diagramLayout" Target="../diagrams/layout185.xml"/><Relationship Id="rId2" Type="http://schemas.openxmlformats.org/officeDocument/2006/relationships/diagramData" Target="../diagrams/data185.xml"/><Relationship Id="rId1" Type="http://schemas.openxmlformats.org/officeDocument/2006/relationships/slideLayout" Target="../slideLayouts/slideLayout2.xml"/><Relationship Id="rId6" Type="http://schemas.microsoft.com/office/2007/relationships/diagramDrawing" Target="../diagrams/drawing185.xml"/><Relationship Id="rId5" Type="http://schemas.openxmlformats.org/officeDocument/2006/relationships/diagramColors" Target="../diagrams/colors185.xml"/><Relationship Id="rId4" Type="http://schemas.openxmlformats.org/officeDocument/2006/relationships/diagramQuickStyle" Target="../diagrams/quickStyle185.xml"/></Relationships>
</file>

<file path=ppt/slides/_rels/slide186.xml.rels><?xml version="1.0" encoding="UTF-8" standalone="yes"?>
<Relationships xmlns="http://schemas.openxmlformats.org/package/2006/relationships"><Relationship Id="rId3" Type="http://schemas.openxmlformats.org/officeDocument/2006/relationships/diagramLayout" Target="../diagrams/layout186.xml"/><Relationship Id="rId2" Type="http://schemas.openxmlformats.org/officeDocument/2006/relationships/diagramData" Target="../diagrams/data186.xml"/><Relationship Id="rId1" Type="http://schemas.openxmlformats.org/officeDocument/2006/relationships/slideLayout" Target="../slideLayouts/slideLayout2.xml"/><Relationship Id="rId6" Type="http://schemas.microsoft.com/office/2007/relationships/diagramDrawing" Target="../diagrams/drawing186.xml"/><Relationship Id="rId5" Type="http://schemas.openxmlformats.org/officeDocument/2006/relationships/diagramColors" Target="../diagrams/colors186.xml"/><Relationship Id="rId4" Type="http://schemas.openxmlformats.org/officeDocument/2006/relationships/diagramQuickStyle" Target="../diagrams/quickStyle186.xml"/></Relationships>
</file>

<file path=ppt/slides/_rels/slide187.xml.rels><?xml version="1.0" encoding="UTF-8" standalone="yes"?>
<Relationships xmlns="http://schemas.openxmlformats.org/package/2006/relationships"><Relationship Id="rId8" Type="http://schemas.openxmlformats.org/officeDocument/2006/relationships/hyperlink" Target="https://www.appventurez.com/blog/beginners-guide-to-natural-language-processing-nlp" TargetMode="External"/><Relationship Id="rId13" Type="http://schemas.openxmlformats.org/officeDocument/2006/relationships/hyperlink" Target="https://github.com/practical-nlp" TargetMode="External"/><Relationship Id="rId18" Type="http://schemas.openxmlformats.org/officeDocument/2006/relationships/hyperlink" Target="https://www.amazon.in/Sentiment-Analysis-Opinions-Sentiments-Emotions-ebook/dp/B00Y37YXIG/ref=tmm_kin_swatch_0?_encoding=UTF8&amp;dib_tag=se&amp;dib=eyJ2IjoiMSJ9.G3vjraXoBEAq1vinA17q-L4PJr37J5nkKPrdAUwI4eX3k8W5oOBAw2qoV6eiJT2tU74ytYHm_f_9sC2mTiX9m130RZMLab7QdX9qsV1Ry-_xjRqWVlsW8Zw9hzURIry9lgZE_tNJnVdoOlDMt1J9-_bz6MztJHe3WDwRbOkKwqIv5ogUDe295bjgoDwgU-2KHkyEGdZINtH2aVx3n8KkZx-DLRM9dbWYzc-BgYmZX0I.x7nJghlKu6gopKXnSGgx2SU47RZ2f5J1jlKwOhzN4PI&amp;qid=1760605385&amp;sr=8-1" TargetMode="External"/><Relationship Id="rId26" Type="http://schemas.openxmlformats.org/officeDocument/2006/relationships/hyperlink" Target="https://learn.microsoft.com/en-us/azure/ai-services/speech-service/call-center-overview" TargetMode="External"/><Relationship Id="rId3" Type="http://schemas.openxmlformats.org/officeDocument/2006/relationships/diagramLayout" Target="../diagrams/layout187.xml"/><Relationship Id="rId21" Type="http://schemas.openxmlformats.org/officeDocument/2006/relationships/hyperlink" Target="https://deeplearninganalytics.org/nlp-building-a-grammatical-error-correction-model/" TargetMode="External"/><Relationship Id="rId7" Type="http://schemas.openxmlformats.org/officeDocument/2006/relationships/hyperlink" Target="https://www.geeksforgeeks.org/natural-language-processing-nlp-tutorial/" TargetMode="External"/><Relationship Id="rId12" Type="http://schemas.openxmlformats.org/officeDocument/2006/relationships/hyperlink" Target="https://github.com/PacktPublishing/Mastering-spaCy" TargetMode="External"/><Relationship Id="rId17" Type="http://schemas.openxmlformats.org/officeDocument/2006/relationships/hyperlink" Target="https://link.springer.com/book/10.1007/978-981-99-1600-9" TargetMode="External"/><Relationship Id="rId25" Type="http://schemas.openxmlformats.org/officeDocument/2006/relationships/hyperlink" Target="https://telnyx.com/resources/conversational-ai-speech-to-text" TargetMode="External"/><Relationship Id="rId2" Type="http://schemas.openxmlformats.org/officeDocument/2006/relationships/diagramData" Target="../diagrams/data187.xml"/><Relationship Id="rId16" Type="http://schemas.openxmlformats.org/officeDocument/2006/relationships/hyperlink" Target="https://www.amazon.in/Graph-based-Language-Processing-Information-Retrieval/dp/0521896134" TargetMode="External"/><Relationship Id="rId20" Type="http://schemas.openxmlformats.org/officeDocument/2006/relationships/hyperlink" Target="https://www.scaler.com/topics/nlp/create-a-spell-check-with-nlp/" TargetMode="External"/><Relationship Id="rId29" Type="http://schemas.openxmlformats.org/officeDocument/2006/relationships/hyperlink" Target="https://github.com/microsoft/call-center-ai" TargetMode="External"/><Relationship Id="rId1" Type="http://schemas.openxmlformats.org/officeDocument/2006/relationships/slideLayout" Target="../slideLayouts/slideLayout2.xml"/><Relationship Id="rId6" Type="http://schemas.microsoft.com/office/2007/relationships/diagramDrawing" Target="../diagrams/drawing187.xml"/><Relationship Id="rId11" Type="http://schemas.openxmlformats.org/officeDocument/2006/relationships/hyperlink" Target="https://github.com/nlptechbook/examples" TargetMode="External"/><Relationship Id="rId24" Type="http://schemas.openxmlformats.org/officeDocument/2006/relationships/hyperlink" Target="https://murf.ai/blog/text-to-speech-models" TargetMode="External"/><Relationship Id="rId5" Type="http://schemas.openxmlformats.org/officeDocument/2006/relationships/diagramColors" Target="../diagrams/colors187.xml"/><Relationship Id="rId15" Type="http://schemas.openxmlformats.org/officeDocument/2006/relationships/hyperlink" Target="https://web.stanford.edu/~jurafsky/slp3/" TargetMode="External"/><Relationship Id="rId23" Type="http://schemas.openxmlformats.org/officeDocument/2006/relationships/hyperlink" Target="https://github.com/srbhr/Resume-Matcher" TargetMode="External"/><Relationship Id="rId28" Type="http://schemas.openxmlformats.org/officeDocument/2006/relationships/hyperlink" Target="https://learn.microsoft.com/en-us/azure/ai-services/speech-service/call-center-telephony-integration" TargetMode="External"/><Relationship Id="rId10" Type="http://schemas.openxmlformats.org/officeDocument/2006/relationships/hyperlink" Target="https://tamingtext.com/" TargetMode="External"/><Relationship Id="rId19" Type="http://schemas.openxmlformats.org/officeDocument/2006/relationships/hyperlink" Target="https://machinelearningmastery.com/applications-of-deep-learning-for-natural-language-processing/" TargetMode="External"/><Relationship Id="rId31" Type="http://schemas.openxmlformats.org/officeDocument/2006/relationships/hyperlink" Target="https://cloud.google.com/solutions/contact-center-ai-platform?hl=en" TargetMode="External"/><Relationship Id="rId4" Type="http://schemas.openxmlformats.org/officeDocument/2006/relationships/diagramQuickStyle" Target="../diagrams/quickStyle187.xml"/><Relationship Id="rId9" Type="http://schemas.openxmlformats.org/officeDocument/2006/relationships/hyperlink" Target="https://towardsai.net/p/nlp/natural-language-processing-concepts-and-workflow-48083d2e3ce7" TargetMode="External"/><Relationship Id="rId14" Type="http://schemas.openxmlformats.org/officeDocument/2006/relationships/hyperlink" Target="https://www.amazon.in/Machine-Learning-Text-Charu-Aggarwal-ebook/dp/B09ZKS3FDK/ref=tmm_kin_swatch_0?_encoding=UTF8&amp;qid=&amp;sr=" TargetMode="External"/><Relationship Id="rId22" Type="http://schemas.openxmlformats.org/officeDocument/2006/relationships/hyperlink" Target="https://github.com/xitanggg/open-resume" TargetMode="External"/><Relationship Id="rId27" Type="http://schemas.openxmlformats.org/officeDocument/2006/relationships/hyperlink" Target="https://learn.microsoft.com/en-us/azure/communication-services/tutorials/contact-center" TargetMode="External"/><Relationship Id="rId30" Type="http://schemas.openxmlformats.org/officeDocument/2006/relationships/hyperlink" Target="https://aws.amazon.com/connect/q/" TargetMode="External"/></Relationships>
</file>

<file path=ppt/slides/_rels/slide188.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diagramLayout" Target="../diagrams/layout188.xml"/><Relationship Id="rId7" Type="http://schemas.openxmlformats.org/officeDocument/2006/relationships/hyperlink" Target="https://arxiv.org/pdf/1910.13796" TargetMode="External"/><Relationship Id="rId2" Type="http://schemas.openxmlformats.org/officeDocument/2006/relationships/diagramData" Target="../diagrams/data188.xml"/><Relationship Id="rId1" Type="http://schemas.openxmlformats.org/officeDocument/2006/relationships/slideLayout" Target="../slideLayouts/slideLayout2.xml"/><Relationship Id="rId6" Type="http://schemas.microsoft.com/office/2007/relationships/diagramDrawing" Target="../diagrams/drawing188.xml"/><Relationship Id="rId5" Type="http://schemas.openxmlformats.org/officeDocument/2006/relationships/diagramColors" Target="../diagrams/colors188.xml"/><Relationship Id="rId4" Type="http://schemas.openxmlformats.org/officeDocument/2006/relationships/diagramQuickStyle" Target="../diagrams/quickStyle188.xml"/></Relationships>
</file>

<file path=ppt/slides/_rels/slide189.xml.rels><?xml version="1.0" encoding="UTF-8" standalone="yes"?>
<Relationships xmlns="http://schemas.openxmlformats.org/package/2006/relationships"><Relationship Id="rId8" Type="http://schemas.openxmlformats.org/officeDocument/2006/relationships/hyperlink" Target="https://docs.ultralytics.com/guides/steps-of-a-cv-project/" TargetMode="External"/><Relationship Id="rId3" Type="http://schemas.openxmlformats.org/officeDocument/2006/relationships/diagramLayout" Target="../diagrams/layout189.xml"/><Relationship Id="rId7" Type="http://schemas.openxmlformats.org/officeDocument/2006/relationships/hyperlink" Target="https://www.xenonstack.com/blog/workflow-of-computer-vision" TargetMode="External"/><Relationship Id="rId2" Type="http://schemas.openxmlformats.org/officeDocument/2006/relationships/diagramData" Target="../diagrams/data189.xml"/><Relationship Id="rId1" Type="http://schemas.openxmlformats.org/officeDocument/2006/relationships/slideLayout" Target="../slideLayouts/slideLayout2.xml"/><Relationship Id="rId6" Type="http://schemas.microsoft.com/office/2007/relationships/diagramDrawing" Target="../diagrams/drawing189.xml"/><Relationship Id="rId5" Type="http://schemas.openxmlformats.org/officeDocument/2006/relationships/diagramColors" Target="../diagrams/colors189.xml"/><Relationship Id="rId4" Type="http://schemas.openxmlformats.org/officeDocument/2006/relationships/diagramQuickStyle" Target="../diagrams/quickStyle189.xml"/><Relationship Id="rId9" Type="http://schemas.openxmlformats.org/officeDocument/2006/relationships/image" Target="../media/image42.png"/></Relationships>
</file>

<file path=ppt/slides/_rels/slide190.xml.rels><?xml version="1.0" encoding="UTF-8" standalone="yes"?>
<Relationships xmlns="http://schemas.openxmlformats.org/package/2006/relationships"><Relationship Id="rId13" Type="http://schemas.openxmlformats.org/officeDocument/2006/relationships/hyperlink" Target="https://sertiscorp.medium.com/why-you-should-care-about-classical-approaches-to-computer-vision-847c2ba27e05" TargetMode="External"/><Relationship Id="rId18" Type="http://schemas.openxmlformats.org/officeDocument/2006/relationships/hyperlink" Target="https://www.researchgate.net/publication/336460083_Computer_Vision" TargetMode="External"/><Relationship Id="rId26" Type="http://schemas.openxmlformats.org/officeDocument/2006/relationships/hyperlink" Target="https://github.com/tesseract-ocr/tesseract" TargetMode="External"/><Relationship Id="rId3" Type="http://schemas.openxmlformats.org/officeDocument/2006/relationships/diagramLayout" Target="../diagrams/layout190.xml"/><Relationship Id="rId21" Type="http://schemas.openxmlformats.org/officeDocument/2006/relationships/hyperlink" Target="https://judyye.github.io/pdf/notes.pdf" TargetMode="External"/><Relationship Id="rId34" Type="http://schemas.openxmlformats.org/officeDocument/2006/relationships/hyperlink" Target="https://www.amazon.com/Computational-Principles-Mobile-Robotics-Gregory/dp/0521692121" TargetMode="External"/><Relationship Id="rId7" Type="http://schemas.openxmlformats.org/officeDocument/2006/relationships/hyperlink" Target="https://www.geeksforgeeks.org/computer-vision/" TargetMode="External"/><Relationship Id="rId12" Type="http://schemas.openxmlformats.org/officeDocument/2006/relationships/hyperlink" Target="https://github.com/PacktPublishing/Hands-On-Image-Processing-with-Python" TargetMode="External"/><Relationship Id="rId17" Type="http://schemas.openxmlformats.org/officeDocument/2006/relationships/hyperlink" Target="https://comp3204.ecs.soton.ac.uk/mark/Sections_of_proof_of_textbook_highlighted.pdf" TargetMode="External"/><Relationship Id="rId25" Type="http://schemas.openxmlformats.org/officeDocument/2006/relationships/hyperlink" Target="https://github.com/PacktPublishing/Intelligent-Document-Processing-with-AWS-AI-ML-" TargetMode="External"/><Relationship Id="rId33" Type="http://schemas.openxmlformats.org/officeDocument/2006/relationships/hyperlink" Target="https://www.manning.com/books/robotics-for-programmers" TargetMode="External"/><Relationship Id="rId2" Type="http://schemas.openxmlformats.org/officeDocument/2006/relationships/diagramData" Target="../diagrams/data190.xml"/><Relationship Id="rId16" Type="http://schemas.openxmlformats.org/officeDocument/2006/relationships/hyperlink" Target="https://www.youtube.com/@cvprtum/playlists" TargetMode="External"/><Relationship Id="rId20" Type="http://schemas.openxmlformats.org/officeDocument/2006/relationships/hyperlink" Target="https://sites.cs.ucsb.edu/~yfwang/courses/cs281b/lecture.html" TargetMode="External"/><Relationship Id="rId29" Type="http://schemas.openxmlformats.org/officeDocument/2006/relationships/hyperlink" Target="https://www.amazon.in/gp/aw/d/B0BKZN64PW/ref=tmm_kin_swatch_0?ie=UTF8&amp;dib_tag=se&amp;dib=eyJ2IjoiMSJ9.p8SEt2r6z6QdKcksOclkt4aSHEfhZM46sqcfrUS9gx5oJNXgY5UZlp5o8JhAUxIa1BYr11mLcfYpCPKm0zWEJR9RFqhk0V8STgJz8S23xbb0d8kAv-JC_qIArTqMiabprBFTUFedxVA_jxpQLtAOntvnWvNNsyaIsqBezx5LWqePdg9lqWzimAVPtGFUJjeLJDr1TeO9V-cY0Y17_KV10g.QKhIKjqv6VloRdyiUJpYgU-zTLgBnVp1LGwd-x8inAU&amp;qid=1728631374&amp;sr=8-3" TargetMode="External"/><Relationship Id="rId1" Type="http://schemas.openxmlformats.org/officeDocument/2006/relationships/slideLayout" Target="../slideLayouts/slideLayout2.xml"/><Relationship Id="rId6" Type="http://schemas.microsoft.com/office/2007/relationships/diagramDrawing" Target="../diagrams/drawing190.xml"/><Relationship Id="rId11" Type="http://schemas.openxmlformats.org/officeDocument/2006/relationships/hyperlink" Target="https://www.v7labs.com/blog/image-processing-guide" TargetMode="External"/><Relationship Id="rId24" Type="http://schemas.openxmlformats.org/officeDocument/2006/relationships/hyperlink" Target="https://opencv.org/university/cvdl-master/" TargetMode="External"/><Relationship Id="rId32" Type="http://schemas.openxmlformats.org/officeDocument/2006/relationships/hyperlink" Target="https://www.packtpub.com/en-us/product/drone-development-from-concept-to-flight-9781837633005" TargetMode="External"/><Relationship Id="rId5" Type="http://schemas.openxmlformats.org/officeDocument/2006/relationships/diagramColors" Target="../diagrams/colors190.xml"/><Relationship Id="rId15" Type="http://schemas.openxmlformats.org/officeDocument/2006/relationships/hyperlink" Target="https://sumitkrsharma-ai.medium.com/image-representation-in-computer-vision-364e47c4e69a" TargetMode="External"/><Relationship Id="rId23" Type="http://schemas.openxmlformats.org/officeDocument/2006/relationships/hyperlink" Target="https://github.com/Denis2054/Transformers-for-NLP-and-Computer-Vision-3rd-Edition" TargetMode="External"/><Relationship Id="rId28" Type="http://schemas.openxmlformats.org/officeDocument/2006/relationships/hyperlink" Target="https://ebooks.inflibnet.ac.in/geop10/" TargetMode="External"/><Relationship Id="rId10" Type="http://schemas.openxmlformats.org/officeDocument/2006/relationships/hyperlink" Target="https://neptune.ai/blog/15-computer-visions-projects" TargetMode="External"/><Relationship Id="rId19" Type="http://schemas.openxmlformats.org/officeDocument/2006/relationships/hyperlink" Target="https://www.amazon.in/gp/aw/d/9386858142/ref=ox_sc_act_title_3?smid=A3GO73LV4XHVGN&amp;psc=1" TargetMode="External"/><Relationship Id="rId31" Type="http://schemas.openxmlformats.org/officeDocument/2006/relationships/hyperlink" Target="https://github.com/PacktPublishing/Applied-Deep-Learning-and-Computer-Vision-for-Self-Driving-Cars" TargetMode="External"/><Relationship Id="rId4" Type="http://schemas.openxmlformats.org/officeDocument/2006/relationships/diagramQuickStyle" Target="../diagrams/quickStyle190.xml"/><Relationship Id="rId9" Type="http://schemas.openxmlformats.org/officeDocument/2006/relationships/hyperlink" Target="https://visionbook.mit.edu/" TargetMode="External"/><Relationship Id="rId14" Type="http://schemas.openxmlformats.org/officeDocument/2006/relationships/hyperlink" Target="https://ai.plainenglish.io/concepts-in-classical-computer-vision-197a631673d5" TargetMode="External"/><Relationship Id="rId22" Type="http://schemas.openxmlformats.org/officeDocument/2006/relationships/hyperlink" Target="https://serokell.io/blog/deep-learning-for-computer-vision" TargetMode="External"/><Relationship Id="rId27" Type="http://schemas.openxmlformats.org/officeDocument/2006/relationships/hyperlink" Target="https://www.packtpub.com/en-fr/product/identity-management-with-biometrics-9781838988388" TargetMode="External"/><Relationship Id="rId30" Type="http://schemas.openxmlformats.org/officeDocument/2006/relationships/hyperlink" Target="https://github.com/PacktPublishing/Hands-On-Vision-and-Behavior-for-Self-Driving-Cars" TargetMode="External"/><Relationship Id="rId35" Type="http://schemas.openxmlformats.org/officeDocument/2006/relationships/hyperlink" Target="https://github.com/mikeroyal/Computer-Vision-Guide" TargetMode="External"/><Relationship Id="rId8" Type="http://schemas.openxmlformats.org/officeDocument/2006/relationships/hyperlink" Target="https://machinelearningmastery.com/applications-of-deep-learning-for-computer-vision/" TargetMode="External"/></Relationships>
</file>

<file path=ppt/slides/_rels/slide191.xml.rels><?xml version="1.0" encoding="UTF-8" standalone="yes"?>
<Relationships xmlns="http://schemas.openxmlformats.org/package/2006/relationships"><Relationship Id="rId3" Type="http://schemas.openxmlformats.org/officeDocument/2006/relationships/diagramLayout" Target="../diagrams/layout191.xml"/><Relationship Id="rId7" Type="http://schemas.openxmlformats.org/officeDocument/2006/relationships/image" Target="../media/image43.png"/><Relationship Id="rId2" Type="http://schemas.openxmlformats.org/officeDocument/2006/relationships/diagramData" Target="../diagrams/data191.xml"/><Relationship Id="rId1" Type="http://schemas.openxmlformats.org/officeDocument/2006/relationships/slideLayout" Target="../slideLayouts/slideLayout2.xml"/><Relationship Id="rId6" Type="http://schemas.microsoft.com/office/2007/relationships/diagramDrawing" Target="../diagrams/drawing191.xml"/><Relationship Id="rId5" Type="http://schemas.openxmlformats.org/officeDocument/2006/relationships/diagramColors" Target="../diagrams/colors191.xml"/><Relationship Id="rId4" Type="http://schemas.openxmlformats.org/officeDocument/2006/relationships/diagramQuickStyle" Target="../diagrams/quickStyle191.xml"/></Relationships>
</file>

<file path=ppt/slides/_rels/slide192.xml.rels><?xml version="1.0" encoding="UTF-8" standalone="yes"?>
<Relationships xmlns="http://schemas.openxmlformats.org/package/2006/relationships"><Relationship Id="rId3" Type="http://schemas.openxmlformats.org/officeDocument/2006/relationships/diagramLayout" Target="../diagrams/layout192.xml"/><Relationship Id="rId7" Type="http://schemas.openxmlformats.org/officeDocument/2006/relationships/image" Target="../media/image44.png"/><Relationship Id="rId2" Type="http://schemas.openxmlformats.org/officeDocument/2006/relationships/diagramData" Target="../diagrams/data192.xml"/><Relationship Id="rId1" Type="http://schemas.openxmlformats.org/officeDocument/2006/relationships/slideLayout" Target="../slideLayouts/slideLayout2.xml"/><Relationship Id="rId6" Type="http://schemas.microsoft.com/office/2007/relationships/diagramDrawing" Target="../diagrams/drawing192.xml"/><Relationship Id="rId5" Type="http://schemas.openxmlformats.org/officeDocument/2006/relationships/diagramColors" Target="../diagrams/colors192.xml"/><Relationship Id="rId4" Type="http://schemas.openxmlformats.org/officeDocument/2006/relationships/diagramQuickStyle" Target="../diagrams/quickStyle192.xml"/></Relationships>
</file>

<file path=ppt/slides/_rels/slide193.xml.rels><?xml version="1.0" encoding="UTF-8" standalone="yes"?>
<Relationships xmlns="http://schemas.openxmlformats.org/package/2006/relationships"><Relationship Id="rId3" Type="http://schemas.openxmlformats.org/officeDocument/2006/relationships/diagramLayout" Target="../diagrams/layout193.xml"/><Relationship Id="rId2" Type="http://schemas.openxmlformats.org/officeDocument/2006/relationships/diagramData" Target="../diagrams/data193.xml"/><Relationship Id="rId1" Type="http://schemas.openxmlformats.org/officeDocument/2006/relationships/slideLayout" Target="../slideLayouts/slideLayout2.xml"/><Relationship Id="rId6" Type="http://schemas.microsoft.com/office/2007/relationships/diagramDrawing" Target="../diagrams/drawing193.xml"/><Relationship Id="rId5" Type="http://schemas.openxmlformats.org/officeDocument/2006/relationships/diagramColors" Target="../diagrams/colors193.xml"/><Relationship Id="rId4" Type="http://schemas.openxmlformats.org/officeDocument/2006/relationships/diagramQuickStyle" Target="../diagrams/quickStyle193.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194.xml"/><Relationship Id="rId7" Type="http://schemas.openxmlformats.org/officeDocument/2006/relationships/hyperlink" Target="https://www.geeksforgeeks.org/nlp/what-are-language-models-in-nlp/" TargetMode="External"/><Relationship Id="rId2" Type="http://schemas.openxmlformats.org/officeDocument/2006/relationships/diagramData" Target="../diagrams/data194.xml"/><Relationship Id="rId1" Type="http://schemas.openxmlformats.org/officeDocument/2006/relationships/slideLayout" Target="../slideLayouts/slideLayout2.xml"/><Relationship Id="rId6" Type="http://schemas.microsoft.com/office/2007/relationships/diagramDrawing" Target="../diagrams/drawing194.xml"/><Relationship Id="rId5" Type="http://schemas.openxmlformats.org/officeDocument/2006/relationships/diagramColors" Target="../diagrams/colors194.xml"/><Relationship Id="rId4" Type="http://schemas.openxmlformats.org/officeDocument/2006/relationships/diagramQuickStyle" Target="../diagrams/quickStyle194.xml"/></Relationships>
</file>

<file path=ppt/slides/_rels/slide195.xml.rels><?xml version="1.0" encoding="UTF-8" standalone="yes"?>
<Relationships xmlns="http://schemas.openxmlformats.org/package/2006/relationships"><Relationship Id="rId3" Type="http://schemas.openxmlformats.org/officeDocument/2006/relationships/diagramLayout" Target="../diagrams/layout195.xml"/><Relationship Id="rId2" Type="http://schemas.openxmlformats.org/officeDocument/2006/relationships/diagramData" Target="../diagrams/data195.xml"/><Relationship Id="rId1" Type="http://schemas.openxmlformats.org/officeDocument/2006/relationships/slideLayout" Target="../slideLayouts/slideLayout2.xml"/><Relationship Id="rId6" Type="http://schemas.microsoft.com/office/2007/relationships/diagramDrawing" Target="../diagrams/drawing195.xml"/><Relationship Id="rId5" Type="http://schemas.openxmlformats.org/officeDocument/2006/relationships/diagramColors" Target="../diagrams/colors195.xml"/><Relationship Id="rId4" Type="http://schemas.openxmlformats.org/officeDocument/2006/relationships/diagramQuickStyle" Target="../diagrams/quickStyle195.xml"/></Relationships>
</file>

<file path=ppt/slides/_rels/slide196.xml.rels><?xml version="1.0" encoding="UTF-8" standalone="yes"?>
<Relationships xmlns="http://schemas.openxmlformats.org/package/2006/relationships"><Relationship Id="rId3" Type="http://schemas.openxmlformats.org/officeDocument/2006/relationships/diagramLayout" Target="../diagrams/layout196.xml"/><Relationship Id="rId2" Type="http://schemas.openxmlformats.org/officeDocument/2006/relationships/diagramData" Target="../diagrams/data196.xml"/><Relationship Id="rId1" Type="http://schemas.openxmlformats.org/officeDocument/2006/relationships/slideLayout" Target="../slideLayouts/slideLayout2.xml"/><Relationship Id="rId6" Type="http://schemas.microsoft.com/office/2007/relationships/diagramDrawing" Target="../diagrams/drawing196.xml"/><Relationship Id="rId5" Type="http://schemas.openxmlformats.org/officeDocument/2006/relationships/diagramColors" Target="../diagrams/colors196.xml"/><Relationship Id="rId4" Type="http://schemas.openxmlformats.org/officeDocument/2006/relationships/diagramQuickStyle" Target="../diagrams/quickStyle196.xml"/></Relationships>
</file>

<file path=ppt/slides/_rels/slide197.xml.rels><?xml version="1.0" encoding="UTF-8" standalone="yes"?>
<Relationships xmlns="http://schemas.openxmlformats.org/package/2006/relationships"><Relationship Id="rId3" Type="http://schemas.openxmlformats.org/officeDocument/2006/relationships/diagramLayout" Target="../diagrams/layout197.xml"/><Relationship Id="rId2" Type="http://schemas.openxmlformats.org/officeDocument/2006/relationships/diagramData" Target="../diagrams/data197.xml"/><Relationship Id="rId1" Type="http://schemas.openxmlformats.org/officeDocument/2006/relationships/slideLayout" Target="../slideLayouts/slideLayout2.xml"/><Relationship Id="rId6" Type="http://schemas.microsoft.com/office/2007/relationships/diagramDrawing" Target="../diagrams/drawing197.xml"/><Relationship Id="rId5" Type="http://schemas.openxmlformats.org/officeDocument/2006/relationships/diagramColors" Target="../diagrams/colors197.xml"/><Relationship Id="rId4" Type="http://schemas.openxmlformats.org/officeDocument/2006/relationships/diagramQuickStyle" Target="../diagrams/quickStyle197.xml"/></Relationships>
</file>

<file path=ppt/slides/_rels/slide198.xml.rels><?xml version="1.0" encoding="UTF-8" standalone="yes"?>
<Relationships xmlns="http://schemas.openxmlformats.org/package/2006/relationships"><Relationship Id="rId3" Type="http://schemas.openxmlformats.org/officeDocument/2006/relationships/diagramLayout" Target="../diagrams/layout198.xml"/><Relationship Id="rId2" Type="http://schemas.openxmlformats.org/officeDocument/2006/relationships/diagramData" Target="../diagrams/data198.xml"/><Relationship Id="rId1" Type="http://schemas.openxmlformats.org/officeDocument/2006/relationships/slideLayout" Target="../slideLayouts/slideLayout2.xml"/><Relationship Id="rId6" Type="http://schemas.microsoft.com/office/2007/relationships/diagramDrawing" Target="../diagrams/drawing198.xml"/><Relationship Id="rId5" Type="http://schemas.openxmlformats.org/officeDocument/2006/relationships/diagramColors" Target="../diagrams/colors198.xml"/><Relationship Id="rId4" Type="http://schemas.openxmlformats.org/officeDocument/2006/relationships/diagramQuickStyle" Target="../diagrams/quickStyle198.xml"/></Relationships>
</file>

<file path=ppt/slides/_rels/slide199.xml.rels><?xml version="1.0" encoding="UTF-8" standalone="yes"?>
<Relationships xmlns="http://schemas.openxmlformats.org/package/2006/relationships"><Relationship Id="rId3" Type="http://schemas.openxmlformats.org/officeDocument/2006/relationships/diagramLayout" Target="../diagrams/layout199.xml"/><Relationship Id="rId2" Type="http://schemas.openxmlformats.org/officeDocument/2006/relationships/diagramData" Target="../diagrams/data199.xml"/><Relationship Id="rId1" Type="http://schemas.openxmlformats.org/officeDocument/2006/relationships/slideLayout" Target="../slideLayouts/slideLayout2.xml"/><Relationship Id="rId6" Type="http://schemas.microsoft.com/office/2007/relationships/diagramDrawing" Target="../diagrams/drawing199.xml"/><Relationship Id="rId5" Type="http://schemas.openxmlformats.org/officeDocument/2006/relationships/diagramColors" Target="../diagrams/colors199.xml"/><Relationship Id="rId4" Type="http://schemas.openxmlformats.org/officeDocument/2006/relationships/diagramQuickStyle" Target="../diagrams/quickStyle199.xml"/></Relationships>
</file>

<file path=ppt/slides/_rels/slide200.xml.rels><?xml version="1.0" encoding="UTF-8" standalone="yes"?>
<Relationships xmlns="http://schemas.openxmlformats.org/package/2006/relationships"><Relationship Id="rId3" Type="http://schemas.openxmlformats.org/officeDocument/2006/relationships/diagramLayout" Target="../diagrams/layout200.xml"/><Relationship Id="rId2" Type="http://schemas.openxmlformats.org/officeDocument/2006/relationships/diagramData" Target="../diagrams/data200.xml"/><Relationship Id="rId1" Type="http://schemas.openxmlformats.org/officeDocument/2006/relationships/slideLayout" Target="../slideLayouts/slideLayout2.xml"/><Relationship Id="rId6" Type="http://schemas.microsoft.com/office/2007/relationships/diagramDrawing" Target="../diagrams/drawing200.xml"/><Relationship Id="rId5" Type="http://schemas.openxmlformats.org/officeDocument/2006/relationships/diagramColors" Target="../diagrams/colors200.xml"/><Relationship Id="rId4" Type="http://schemas.openxmlformats.org/officeDocument/2006/relationships/diagramQuickStyle" Target="../diagrams/quickStyle200.xml"/></Relationships>
</file>

<file path=ppt/slides/_rels/slide201.xml.rels><?xml version="1.0" encoding="UTF-8" standalone="yes"?>
<Relationships xmlns="http://schemas.openxmlformats.org/package/2006/relationships"><Relationship Id="rId3" Type="http://schemas.openxmlformats.org/officeDocument/2006/relationships/diagramLayout" Target="../diagrams/layout201.xml"/><Relationship Id="rId7" Type="http://schemas.openxmlformats.org/officeDocument/2006/relationships/image" Target="../media/image45.png"/><Relationship Id="rId2" Type="http://schemas.openxmlformats.org/officeDocument/2006/relationships/diagramData" Target="../diagrams/data201.xml"/><Relationship Id="rId1" Type="http://schemas.openxmlformats.org/officeDocument/2006/relationships/slideLayout" Target="../slideLayouts/slideLayout2.xml"/><Relationship Id="rId6" Type="http://schemas.microsoft.com/office/2007/relationships/diagramDrawing" Target="../diagrams/drawing201.xml"/><Relationship Id="rId5" Type="http://schemas.openxmlformats.org/officeDocument/2006/relationships/diagramColors" Target="../diagrams/colors201.xml"/><Relationship Id="rId4" Type="http://schemas.openxmlformats.org/officeDocument/2006/relationships/diagramQuickStyle" Target="../diagrams/quickStyle201.xml"/></Relationships>
</file>

<file path=ppt/slides/_rels/slide202.xml.rels><?xml version="1.0" encoding="UTF-8" standalone="yes"?>
<Relationships xmlns="http://schemas.openxmlformats.org/package/2006/relationships"><Relationship Id="rId3" Type="http://schemas.openxmlformats.org/officeDocument/2006/relationships/diagramLayout" Target="../diagrams/layout202.xml"/><Relationship Id="rId7" Type="http://schemas.openxmlformats.org/officeDocument/2006/relationships/image" Target="../media/image46.png"/><Relationship Id="rId2" Type="http://schemas.openxmlformats.org/officeDocument/2006/relationships/diagramData" Target="../diagrams/data202.xml"/><Relationship Id="rId1" Type="http://schemas.openxmlformats.org/officeDocument/2006/relationships/slideLayout" Target="../slideLayouts/slideLayout2.xml"/><Relationship Id="rId6" Type="http://schemas.microsoft.com/office/2007/relationships/diagramDrawing" Target="../diagrams/drawing202.xml"/><Relationship Id="rId5" Type="http://schemas.openxmlformats.org/officeDocument/2006/relationships/diagramColors" Target="../diagrams/colors202.xml"/><Relationship Id="rId4" Type="http://schemas.openxmlformats.org/officeDocument/2006/relationships/diagramQuickStyle" Target="../diagrams/quickStyle202.xml"/></Relationships>
</file>

<file path=ppt/slides/_rels/slide203.xml.rels><?xml version="1.0" encoding="UTF-8" standalone="yes"?>
<Relationships xmlns="http://schemas.openxmlformats.org/package/2006/relationships"><Relationship Id="rId3" Type="http://schemas.openxmlformats.org/officeDocument/2006/relationships/diagramLayout" Target="../diagrams/layout203.xml"/><Relationship Id="rId7" Type="http://schemas.openxmlformats.org/officeDocument/2006/relationships/image" Target="../media/image47.png"/><Relationship Id="rId2" Type="http://schemas.openxmlformats.org/officeDocument/2006/relationships/diagramData" Target="../diagrams/data203.xml"/><Relationship Id="rId1" Type="http://schemas.openxmlformats.org/officeDocument/2006/relationships/slideLayout" Target="../slideLayouts/slideLayout2.xml"/><Relationship Id="rId6" Type="http://schemas.microsoft.com/office/2007/relationships/diagramDrawing" Target="../diagrams/drawing203.xml"/><Relationship Id="rId5" Type="http://schemas.openxmlformats.org/officeDocument/2006/relationships/diagramColors" Target="../diagrams/colors203.xml"/><Relationship Id="rId4" Type="http://schemas.openxmlformats.org/officeDocument/2006/relationships/diagramQuickStyle" Target="../diagrams/quickStyle203.xml"/></Relationships>
</file>

<file path=ppt/slides/_rels/slide204.xml.rels><?xml version="1.0" encoding="UTF-8" standalone="yes"?>
<Relationships xmlns="http://schemas.openxmlformats.org/package/2006/relationships"><Relationship Id="rId3" Type="http://schemas.openxmlformats.org/officeDocument/2006/relationships/diagramLayout" Target="../diagrams/layout204.xml"/><Relationship Id="rId7" Type="http://schemas.openxmlformats.org/officeDocument/2006/relationships/image" Target="../media/image48.png"/><Relationship Id="rId2" Type="http://schemas.openxmlformats.org/officeDocument/2006/relationships/diagramData" Target="../diagrams/data204.xml"/><Relationship Id="rId1" Type="http://schemas.openxmlformats.org/officeDocument/2006/relationships/slideLayout" Target="../slideLayouts/slideLayout2.xml"/><Relationship Id="rId6" Type="http://schemas.microsoft.com/office/2007/relationships/diagramDrawing" Target="../diagrams/drawing204.xml"/><Relationship Id="rId5" Type="http://schemas.openxmlformats.org/officeDocument/2006/relationships/diagramColors" Target="../diagrams/colors204.xml"/><Relationship Id="rId4" Type="http://schemas.openxmlformats.org/officeDocument/2006/relationships/diagramQuickStyle" Target="../diagrams/quickStyle204.xml"/></Relationships>
</file>

<file path=ppt/slides/_rels/slide205.xml.rels><?xml version="1.0" encoding="UTF-8" standalone="yes"?>
<Relationships xmlns="http://schemas.openxmlformats.org/package/2006/relationships"><Relationship Id="rId3" Type="http://schemas.openxmlformats.org/officeDocument/2006/relationships/diagramLayout" Target="../diagrams/layout205.xml"/><Relationship Id="rId7" Type="http://schemas.openxmlformats.org/officeDocument/2006/relationships/image" Target="../media/image48.png"/><Relationship Id="rId2" Type="http://schemas.openxmlformats.org/officeDocument/2006/relationships/diagramData" Target="../diagrams/data205.xml"/><Relationship Id="rId1" Type="http://schemas.openxmlformats.org/officeDocument/2006/relationships/slideLayout" Target="../slideLayouts/slideLayout2.xml"/><Relationship Id="rId6" Type="http://schemas.microsoft.com/office/2007/relationships/diagramDrawing" Target="../diagrams/drawing205.xml"/><Relationship Id="rId5" Type="http://schemas.openxmlformats.org/officeDocument/2006/relationships/diagramColors" Target="../diagrams/colors205.xml"/><Relationship Id="rId4" Type="http://schemas.openxmlformats.org/officeDocument/2006/relationships/diagramQuickStyle" Target="../diagrams/quickStyle205.xml"/></Relationships>
</file>

<file path=ppt/slides/_rels/slide206.xml.rels><?xml version="1.0" encoding="UTF-8" standalone="yes"?>
<Relationships xmlns="http://schemas.openxmlformats.org/package/2006/relationships"><Relationship Id="rId3" Type="http://schemas.openxmlformats.org/officeDocument/2006/relationships/diagramLayout" Target="../diagrams/layout206.xml"/><Relationship Id="rId7" Type="http://schemas.openxmlformats.org/officeDocument/2006/relationships/image" Target="../media/image49.png"/><Relationship Id="rId2" Type="http://schemas.openxmlformats.org/officeDocument/2006/relationships/diagramData" Target="../diagrams/data206.xml"/><Relationship Id="rId1" Type="http://schemas.openxmlformats.org/officeDocument/2006/relationships/slideLayout" Target="../slideLayouts/slideLayout2.xml"/><Relationship Id="rId6" Type="http://schemas.microsoft.com/office/2007/relationships/diagramDrawing" Target="../diagrams/drawing206.xml"/><Relationship Id="rId5" Type="http://schemas.openxmlformats.org/officeDocument/2006/relationships/diagramColors" Target="../diagrams/colors206.xml"/><Relationship Id="rId4" Type="http://schemas.openxmlformats.org/officeDocument/2006/relationships/diagramQuickStyle" Target="../diagrams/quickStyle206.xml"/></Relationships>
</file>

<file path=ppt/slides/_rels/slide207.xml.rels><?xml version="1.0" encoding="UTF-8" standalone="yes"?>
<Relationships xmlns="http://schemas.openxmlformats.org/package/2006/relationships"><Relationship Id="rId3" Type="http://schemas.openxmlformats.org/officeDocument/2006/relationships/diagramLayout" Target="../diagrams/layout207.xml"/><Relationship Id="rId2" Type="http://schemas.openxmlformats.org/officeDocument/2006/relationships/diagramData" Target="../diagrams/data207.xml"/><Relationship Id="rId1" Type="http://schemas.openxmlformats.org/officeDocument/2006/relationships/slideLayout" Target="../slideLayouts/slideLayout2.xml"/><Relationship Id="rId6" Type="http://schemas.microsoft.com/office/2007/relationships/diagramDrawing" Target="../diagrams/drawing207.xml"/><Relationship Id="rId5" Type="http://schemas.openxmlformats.org/officeDocument/2006/relationships/diagramColors" Target="../diagrams/colors207.xml"/><Relationship Id="rId4" Type="http://schemas.openxmlformats.org/officeDocument/2006/relationships/diagramQuickStyle" Target="../diagrams/quickStyle207.xml"/></Relationships>
</file>

<file path=ppt/slides/_rels/slide208.xml.rels><?xml version="1.0" encoding="UTF-8" standalone="yes"?>
<Relationships xmlns="http://schemas.openxmlformats.org/package/2006/relationships"><Relationship Id="rId3" Type="http://schemas.openxmlformats.org/officeDocument/2006/relationships/diagramLayout" Target="../diagrams/layout208.xml"/><Relationship Id="rId2" Type="http://schemas.openxmlformats.org/officeDocument/2006/relationships/diagramData" Target="../diagrams/data208.xml"/><Relationship Id="rId1" Type="http://schemas.openxmlformats.org/officeDocument/2006/relationships/slideLayout" Target="../slideLayouts/slideLayout2.xml"/><Relationship Id="rId6" Type="http://schemas.microsoft.com/office/2007/relationships/diagramDrawing" Target="../diagrams/drawing208.xml"/><Relationship Id="rId5" Type="http://schemas.openxmlformats.org/officeDocument/2006/relationships/diagramColors" Target="../diagrams/colors208.xml"/><Relationship Id="rId4" Type="http://schemas.openxmlformats.org/officeDocument/2006/relationships/diagramQuickStyle" Target="../diagrams/quickStyle208.xml"/></Relationships>
</file>

<file path=ppt/slides/_rels/slide209.xml.rels><?xml version="1.0" encoding="UTF-8" standalone="yes"?>
<Relationships xmlns="http://schemas.openxmlformats.org/package/2006/relationships"><Relationship Id="rId3" Type="http://schemas.openxmlformats.org/officeDocument/2006/relationships/diagramLayout" Target="../diagrams/layout209.xml"/><Relationship Id="rId7" Type="http://schemas.openxmlformats.org/officeDocument/2006/relationships/hyperlink" Target="https://mlabonne.github.io/blog/posts/2023-06-07-Decoding_strategies.html" TargetMode="External"/><Relationship Id="rId2" Type="http://schemas.openxmlformats.org/officeDocument/2006/relationships/diagramData" Target="../diagrams/data209.xml"/><Relationship Id="rId1" Type="http://schemas.openxmlformats.org/officeDocument/2006/relationships/slideLayout" Target="../slideLayouts/slideLayout2.xml"/><Relationship Id="rId6" Type="http://schemas.microsoft.com/office/2007/relationships/diagramDrawing" Target="../diagrams/drawing209.xml"/><Relationship Id="rId5" Type="http://schemas.openxmlformats.org/officeDocument/2006/relationships/diagramColors" Target="../diagrams/colors209.xml"/><Relationship Id="rId4" Type="http://schemas.openxmlformats.org/officeDocument/2006/relationships/diagramQuickStyle" Target="../diagrams/quickStyle209.xml"/></Relationships>
</file>

<file path=ppt/slides/_rels/slide210.xml.rels><?xml version="1.0" encoding="UTF-8" standalone="yes"?>
<Relationships xmlns="http://schemas.openxmlformats.org/package/2006/relationships"><Relationship Id="rId3" Type="http://schemas.openxmlformats.org/officeDocument/2006/relationships/diagramLayout" Target="../diagrams/layout210.xml"/><Relationship Id="rId2" Type="http://schemas.openxmlformats.org/officeDocument/2006/relationships/diagramData" Target="../diagrams/data210.xml"/><Relationship Id="rId1" Type="http://schemas.openxmlformats.org/officeDocument/2006/relationships/slideLayout" Target="../slideLayouts/slideLayout2.xml"/><Relationship Id="rId6" Type="http://schemas.microsoft.com/office/2007/relationships/diagramDrawing" Target="../diagrams/drawing210.xml"/><Relationship Id="rId5" Type="http://schemas.openxmlformats.org/officeDocument/2006/relationships/diagramColors" Target="../diagrams/colors210.xml"/><Relationship Id="rId4" Type="http://schemas.openxmlformats.org/officeDocument/2006/relationships/diagramQuickStyle" Target="../diagrams/quickStyle210.xml"/></Relationships>
</file>

<file path=ppt/slides/_rels/slide211.xml.rels><?xml version="1.0" encoding="UTF-8" standalone="yes"?>
<Relationships xmlns="http://schemas.openxmlformats.org/package/2006/relationships"><Relationship Id="rId3" Type="http://schemas.openxmlformats.org/officeDocument/2006/relationships/diagramLayout" Target="../diagrams/layout211.xml"/><Relationship Id="rId2" Type="http://schemas.openxmlformats.org/officeDocument/2006/relationships/diagramData" Target="../diagrams/data211.xml"/><Relationship Id="rId1" Type="http://schemas.openxmlformats.org/officeDocument/2006/relationships/slideLayout" Target="../slideLayouts/slideLayout2.xml"/><Relationship Id="rId6" Type="http://schemas.microsoft.com/office/2007/relationships/diagramDrawing" Target="../diagrams/drawing211.xml"/><Relationship Id="rId5" Type="http://schemas.openxmlformats.org/officeDocument/2006/relationships/diagramColors" Target="../diagrams/colors211.xml"/><Relationship Id="rId4" Type="http://schemas.openxmlformats.org/officeDocument/2006/relationships/diagramQuickStyle" Target="../diagrams/quickStyle211.xml"/></Relationships>
</file>

<file path=ppt/slides/_rels/slide212.xml.rels><?xml version="1.0" encoding="UTF-8" standalone="yes"?>
<Relationships xmlns="http://schemas.openxmlformats.org/package/2006/relationships"><Relationship Id="rId8" Type="http://schemas.openxmlformats.org/officeDocument/2006/relationships/hyperlink" Target="https://www.google.com/search?safe=active&amp;sca_esv=86eadaac309410d3&amp;rlz=1C1GCEW_enIN1075IN1075&amp;cs=0&amp;sxsrf=AE3TifNkmozRMFnRLs-pHp-Dj7F1kuwE4g%3A1760693080594&amp;q=LoRA&amp;sa=X&amp;ved=2ahUKEwj7n83s9KqQAxUPS2cHHQvyNoUQxccNegQIGRAB&amp;mstk=AUtExfCpohxQqzt-xt4FLE263B8kUebKmD_WcUYfaG-r0pxAhF07ffQmmggIcKoSKMJPm_0mFI7lIgZav8upqq4gxsf_uG3F_xoKYpmD_2QLIDThqHOlcd3BHxBKpulKuqLyh4G-SEvomwpcvO56_xENgh-a_s82FO4opvkNWEKopU_Ga4E&amp;csui=3" TargetMode="External"/><Relationship Id="rId3" Type="http://schemas.openxmlformats.org/officeDocument/2006/relationships/diagramLayout" Target="../diagrams/layout212.xml"/><Relationship Id="rId7" Type="http://schemas.openxmlformats.org/officeDocument/2006/relationships/hyperlink" Target="https://www.google.com/search?safe=active&amp;sca_esv=86eadaac309410d3&amp;rlz=1C1GCEW_enIN1075IN1075&amp;cs=0&amp;sxsrf=AE3TifNkmozRMFnRLs-pHp-Dj7F1kuwE4g%3A1760693080594&amp;q=Adapter+layers&amp;sa=X&amp;ved=2ahUKEwj7n83s9KqQAxUPS2cHHQvyNoUQxccNegQIFhAB&amp;mstk=AUtExfCpohxQqzt-xt4FLE263B8kUebKmD_WcUYfaG-r0pxAhF07ffQmmggIcKoSKMJPm_0mFI7lIgZav8upqq4gxsf_uG3F_xoKYpmD_2QLIDThqHOlcd3BHxBKpulKuqLyh4G-SEvomwpcvO56_xENgh-a_s82FO4opvkNWEKopU_Ga4E&amp;csui=3" TargetMode="External"/><Relationship Id="rId2" Type="http://schemas.openxmlformats.org/officeDocument/2006/relationships/diagramData" Target="../diagrams/data212.xml"/><Relationship Id="rId1" Type="http://schemas.openxmlformats.org/officeDocument/2006/relationships/slideLayout" Target="../slideLayouts/slideLayout2.xml"/><Relationship Id="rId6" Type="http://schemas.microsoft.com/office/2007/relationships/diagramDrawing" Target="../diagrams/drawing212.xml"/><Relationship Id="rId5" Type="http://schemas.openxmlformats.org/officeDocument/2006/relationships/diagramColors" Target="../diagrams/colors212.xml"/><Relationship Id="rId4" Type="http://schemas.openxmlformats.org/officeDocument/2006/relationships/diagramQuickStyle" Target="../diagrams/quickStyle212.xml"/></Relationships>
</file>

<file path=ppt/slides/_rels/slide213.xml.rels><?xml version="1.0" encoding="UTF-8" standalone="yes"?>
<Relationships xmlns="http://schemas.openxmlformats.org/package/2006/relationships"><Relationship Id="rId8" Type="http://schemas.openxmlformats.org/officeDocument/2006/relationships/hyperlink" Target="https://www.google.com/search?safe=active&amp;sca_esv=86eadaac309410d3&amp;rlz=1C1GCEW_enIN1075IN1075&amp;cs=0&amp;sxsrf=AE3TifNkmozRMFnRLs-pHp-Dj7F1kuwE4g%3A1760693080594&amp;q=Prompt+Tuning&amp;sa=X&amp;ved=2ahUKEwj7n83s9KqQAxUPS2cHHQvyNoUQxccNegQILhAB&amp;mstk=AUtExfCpohxQqzt-xt4FLE263B8kUebKmD_WcUYfaG-r0pxAhF07ffQmmggIcKoSKMJPm_0mFI7lIgZav8upqq4gxsf_uG3F_xoKYpmD_2QLIDThqHOlcd3BHxBKpulKuqLyh4G-SEvomwpcvO56_xENgh-a_s82FO4opvkNWEKopU_Ga4E&amp;csui=3" TargetMode="External"/><Relationship Id="rId3" Type="http://schemas.openxmlformats.org/officeDocument/2006/relationships/diagramLayout" Target="../diagrams/layout213.xml"/><Relationship Id="rId7" Type="http://schemas.openxmlformats.org/officeDocument/2006/relationships/hyperlink" Target="https://www.google.com/search?safe=active&amp;sca_esv=86eadaac309410d3&amp;rlz=1C1GCEW_enIN1075IN1075&amp;cs=0&amp;sxsrf=AE3TifNkmozRMFnRLs-pHp-Dj7F1kuwE4g%3A1760693080594&amp;q=QLoRA&amp;sa=X&amp;ved=2ahUKEwj7n83s9KqQAxUPS2cHHQvyNoUQxccNegQIGBAB&amp;mstk=AUtExfCpohxQqzt-xt4FLE263B8kUebKmD_WcUYfaG-r0pxAhF07ffQmmggIcKoSKMJPm_0mFI7lIgZav8upqq4gxsf_uG3F_xoKYpmD_2QLIDThqHOlcd3BHxBKpulKuqLyh4G-SEvomwpcvO56_xENgh-a_s82FO4opvkNWEKopU_Ga4E&amp;csui=3" TargetMode="External"/><Relationship Id="rId2" Type="http://schemas.openxmlformats.org/officeDocument/2006/relationships/diagramData" Target="../diagrams/data213.xml"/><Relationship Id="rId1" Type="http://schemas.openxmlformats.org/officeDocument/2006/relationships/slideLayout" Target="../slideLayouts/slideLayout2.xml"/><Relationship Id="rId6" Type="http://schemas.microsoft.com/office/2007/relationships/diagramDrawing" Target="../diagrams/drawing213.xml"/><Relationship Id="rId5" Type="http://schemas.openxmlformats.org/officeDocument/2006/relationships/diagramColors" Target="../diagrams/colors213.xml"/><Relationship Id="rId10" Type="http://schemas.openxmlformats.org/officeDocument/2006/relationships/hyperlink" Target="https://www.google.com/search?safe=active&amp;sca_esv=86eadaac309410d3&amp;rlz=1C1GCEW_enIN1075IN1075&amp;cs=0&amp;sxsrf=AE3TifNkmozRMFnRLs-pHp-Dj7F1kuwE4g%3A1760693080594&amp;q=Multitask+Fine-tuning&amp;sa=X&amp;ved=2ahUKEwj7n83s9KqQAxUPS2cHHQvyNoUQxccNegQIMRAB&amp;mstk=AUtExfCpohxQqzt-xt4FLE263B8kUebKmD_WcUYfaG-r0pxAhF07ffQmmggIcKoSKMJPm_0mFI7lIgZav8upqq4gxsf_uG3F_xoKYpmD_2QLIDThqHOlcd3BHxBKpulKuqLyh4G-SEvomwpcvO56_xENgh-a_s82FO4opvkNWEKopU_Ga4E&amp;csui=3" TargetMode="External"/><Relationship Id="rId4" Type="http://schemas.openxmlformats.org/officeDocument/2006/relationships/diagramQuickStyle" Target="../diagrams/quickStyle213.xml"/><Relationship Id="rId9" Type="http://schemas.openxmlformats.org/officeDocument/2006/relationships/hyperlink" Target="https://www.google.com/search?safe=active&amp;sca_esv=86eadaac309410d3&amp;rlz=1C1GCEW_enIN1075IN1075&amp;cs=0&amp;sxsrf=AE3TifNkmozRMFnRLs-pHp-Dj7F1kuwE4g%3A1760693080594&amp;q=Reinforcement+Learning+from+Human+Feedback+%28RLHF%29&amp;sa=X&amp;ved=2ahUKEwj7n83s9KqQAxUPS2cHHQvyNoUQxccNegQILxAB&amp;mstk=AUtExfCpohxQqzt-xt4FLE263B8kUebKmD_WcUYfaG-r0pxAhF07ffQmmggIcKoSKMJPm_0mFI7lIgZav8upqq4gxsf_uG3F_xoKYpmD_2QLIDThqHOlcd3BHxBKpulKuqLyh4G-SEvomwpcvO56_xENgh-a_s82FO4opvkNWEKopU_Ga4E&amp;csui=3" TargetMode="External"/></Relationships>
</file>

<file path=ppt/slides/_rels/slide214.xml.rels><?xml version="1.0" encoding="UTF-8" standalone="yes"?>
<Relationships xmlns="http://schemas.openxmlformats.org/package/2006/relationships"><Relationship Id="rId8" Type="http://schemas.openxmlformats.org/officeDocument/2006/relationships/hyperlink" Target="https://www.google.com/search?safe=active&amp;sca_esv=86eadaac309410d3&amp;rlz=1C1GCEW_enIN1075IN1075&amp;cs=0&amp;sxsrf=AE3TifPz7qJlu-QkTuE4oc-_ImGr5sbrtg%3A1760693354567&amp;q=Reinforcement+Learning+from+Human+Feedback+%28RLHF%29&amp;sa=X&amp;ved=2ahUKEwjM9O_u9aqQAxXrTGwGHSULN_0QxccNegQIOhAC&amp;mstk=AUtExfBX07yvXCv5fXUmiVu4rpw9llYhn8w5jauuAK-0WZxf5GIHBz4YEpg6ocblSJ2_B1Ye7I8sU6-olAcbib2yt5T7CnsgPOmLoVALX3UCfVuqFHRHbbSiISx1A1uOotVGg2eG05S4Vo02mxxxlIrq-BZO0KopXWq7EbIgdj_7vX9MuTC3KLMIbBgElI8Dcd7xvJNDSTmH4R7897f_tbTL8FIRdYXedNinNxBSPr6GTI6uJVVTu6_NQrLwYmPnJJkhSY9LAUlYumdvyLRPrAF4zC5M&amp;csui=3" TargetMode="External"/><Relationship Id="rId3" Type="http://schemas.openxmlformats.org/officeDocument/2006/relationships/diagramLayout" Target="../diagrams/layout214.xml"/><Relationship Id="rId7" Type="http://schemas.openxmlformats.org/officeDocument/2006/relationships/hyperlink" Target="https://www.google.com/search?safe=active&amp;sca_esv=86eadaac309410d3&amp;rlz=1C1GCEW_enIN1075IN1075&amp;cs=0&amp;sxsrf=AE3TifPz7qJlu-QkTuE4oc-_ImGr5sbrtg%3A1760693354567&amp;q=Supervised+Fine-Tuning+%28SFT%29&amp;sa=X&amp;ved=2ahUKEwjM9O_u9aqQAxXrTGwGHSULN_0QxccNegQIKhAB&amp;mstk=AUtExfBX07yvXCv5fXUmiVu4rpw9llYhn8w5jauuAK-0WZxf5GIHBz4YEpg6ocblSJ2_B1Ye7I8sU6-olAcbib2yt5T7CnsgPOmLoVALX3UCfVuqFHRHbbSiISx1A1uOotVGg2eG05S4Vo02mxxxlIrq-BZO0KopXWq7EbIgdj_7vX9MuTC3KLMIbBgElI8Dcd7xvJNDSTmH4R7897f_tbTL8FIRdYXedNinNxBSPr6GTI6uJVVTu6_NQrLwYmPnJJkhSY9LAUlYumdvyLRPrAF4zC5M&amp;csui=3" TargetMode="External"/><Relationship Id="rId2" Type="http://schemas.openxmlformats.org/officeDocument/2006/relationships/diagramData" Target="../diagrams/data214.xml"/><Relationship Id="rId1" Type="http://schemas.openxmlformats.org/officeDocument/2006/relationships/slideLayout" Target="../slideLayouts/slideLayout2.xml"/><Relationship Id="rId6" Type="http://schemas.microsoft.com/office/2007/relationships/diagramDrawing" Target="../diagrams/drawing214.xml"/><Relationship Id="rId5" Type="http://schemas.openxmlformats.org/officeDocument/2006/relationships/diagramColors" Target="../diagrams/colors214.xml"/><Relationship Id="rId10" Type="http://schemas.openxmlformats.org/officeDocument/2006/relationships/hyperlink" Target="https://www.google.com/search?safe=active&amp;sca_esv=86eadaac309410d3&amp;rlz=1C1GCEW_enIN1075IN1075&amp;cs=0&amp;sxsrf=AE3TifPz7qJlu-QkTuE4oc-_ImGr5sbrtg%3A1760693354567&amp;q=Prompt+Engineering&amp;sa=X&amp;ved=2ahUKEwjM9O_u9aqQAxXrTGwGHSULN_0QxccNegQILRAB&amp;mstk=AUtExfBX07yvXCv5fXUmiVu4rpw9llYhn8w5jauuAK-0WZxf5GIHBz4YEpg6ocblSJ2_B1Ye7I8sU6-olAcbib2yt5T7CnsgPOmLoVALX3UCfVuqFHRHbbSiISx1A1uOotVGg2eG05S4Vo02mxxxlIrq-BZO0KopXWq7EbIgdj_7vX9MuTC3KLMIbBgElI8Dcd7xvJNDSTmH4R7897f_tbTL8FIRdYXedNinNxBSPr6GTI6uJVVTu6_NQrLwYmPnJJkhSY9LAUlYumdvyLRPrAF4zC5M&amp;csui=3" TargetMode="External"/><Relationship Id="rId4" Type="http://schemas.openxmlformats.org/officeDocument/2006/relationships/diagramQuickStyle" Target="../diagrams/quickStyle214.xml"/><Relationship Id="rId9" Type="http://schemas.openxmlformats.org/officeDocument/2006/relationships/hyperlink" Target="https://www.google.com/search?safe=active&amp;sca_esv=86eadaac309410d3&amp;rlz=1C1GCEW_enIN1075IN1075&amp;cs=0&amp;sxsrf=AE3TifPz7qJlu-QkTuE4oc-_ImGr5sbrtg%3A1760693354567&amp;q=Direct+Preference+Optimization+%28DPO%29&amp;sa=X&amp;ved=2ahUKEwjM9O_u9aqQAxXrTGwGHSULN_0QxccNegQILxAB&amp;mstk=AUtExfBX07yvXCv5fXUmiVu4rpw9llYhn8w5jauuAK-0WZxf5GIHBz4YEpg6ocblSJ2_B1Ye7I8sU6-olAcbib2yt5T7CnsgPOmLoVALX3UCfVuqFHRHbbSiISx1A1uOotVGg2eG05S4Vo02mxxxlIrq-BZO0KopXWq7EbIgdj_7vX9MuTC3KLMIbBgElI8Dcd7xvJNDSTmH4R7897f_tbTL8FIRdYXedNinNxBSPr6GTI6uJVVTu6_NQrLwYmPnJJkhSY9LAUlYumdvyLRPrAF4zC5M&amp;csui=3" TargetMode="External"/></Relationships>
</file>

<file path=ppt/slides/_rels/slide215.xml.rels><?xml version="1.0" encoding="UTF-8" standalone="yes"?>
<Relationships xmlns="http://schemas.openxmlformats.org/package/2006/relationships"><Relationship Id="rId8" Type="http://schemas.openxmlformats.org/officeDocument/2006/relationships/hyperlink" Target="https://medium.com/intuition-matters/demystifying-the-hype-behind-llms-and-gen-ai-7ce56ab2484c" TargetMode="External"/><Relationship Id="rId13" Type="http://schemas.openxmlformats.org/officeDocument/2006/relationships/hyperlink" Target="https://www.geeksforgeeks.org/exploring-multimodal-large-language-models/" TargetMode="External"/><Relationship Id="rId18" Type="http://schemas.openxmlformats.org/officeDocument/2006/relationships/hyperlink" Target="https://www.youtube.com/watch?v=eC6Hd1hFvos" TargetMode="External"/><Relationship Id="rId3" Type="http://schemas.openxmlformats.org/officeDocument/2006/relationships/diagramLayout" Target="../diagrams/layout215.xml"/><Relationship Id="rId21" Type="http://schemas.openxmlformats.org/officeDocument/2006/relationships/hyperlink" Target="https://github.com/rasbt/LLMs-from-scratch" TargetMode="External"/><Relationship Id="rId7" Type="http://schemas.openxmlformats.org/officeDocument/2006/relationships/hyperlink" Target="https://medium.com/data-science-at-microsoft/how-large-language-models-work-91c362f5b78f" TargetMode="External"/><Relationship Id="rId12" Type="http://schemas.openxmlformats.org/officeDocument/2006/relationships/hyperlink" Target="https://www.geeksforgeeks.org/exploring-the-technical-architecture-behind-large-language-models/" TargetMode="External"/><Relationship Id="rId17" Type="http://schemas.openxmlformats.org/officeDocument/2006/relationships/hyperlink" Target="https://www.youtube.com/watch?v=P7emqEtkiSk" TargetMode="External"/><Relationship Id="rId2" Type="http://schemas.openxmlformats.org/officeDocument/2006/relationships/diagramData" Target="../diagrams/data215.xml"/><Relationship Id="rId16" Type="http://schemas.openxmlformats.org/officeDocument/2006/relationships/hyperlink" Target="https://www.youtube.com/watch?v=9Ge0sMm65jo" TargetMode="External"/><Relationship Id="rId20" Type="http://schemas.openxmlformats.org/officeDocument/2006/relationships/hyperlink" Target="https://www.youtube.com/watch?v=jSA4PkGVtXw" TargetMode="External"/><Relationship Id="rId1" Type="http://schemas.openxmlformats.org/officeDocument/2006/relationships/slideLayout" Target="../slideLayouts/slideLayout2.xml"/><Relationship Id="rId6" Type="http://schemas.microsoft.com/office/2007/relationships/diagramDrawing" Target="../diagrams/drawing215.xml"/><Relationship Id="rId11" Type="http://schemas.openxmlformats.org/officeDocument/2006/relationships/hyperlink" Target="https://www.linkedin.com/posts/shivanivirdi_6-core-llm-architectures-every-ai-builder-activity-7323011248638328832-GFuA/?utm_source=share&amp;utm_medium=member_desktop&amp;rcm=ACoAADEs2XAB8-7TelfobrMhA9_jxB71Dn4BtW4" TargetMode="External"/><Relationship Id="rId24" Type="http://schemas.openxmlformats.org/officeDocument/2006/relationships/hyperlink" Target="https://arxiv.org/abs/2407.16216" TargetMode="External"/><Relationship Id="rId5" Type="http://schemas.openxmlformats.org/officeDocument/2006/relationships/diagramColors" Target="../diagrams/colors215.xml"/><Relationship Id="rId15" Type="http://schemas.openxmlformats.org/officeDocument/2006/relationships/hyperlink" Target="https://www.youtube.com/watch?v=kPGTx4wcm_w" TargetMode="External"/><Relationship Id="rId23" Type="http://schemas.openxmlformats.org/officeDocument/2006/relationships/hyperlink" Target="https://github.com/virtualramblas/Domain-Specific-Small-Language-Models/" TargetMode="External"/><Relationship Id="rId10" Type="http://schemas.openxmlformats.org/officeDocument/2006/relationships/hyperlink" Target="https://arockialiborious.com/f/a-gentle-introduction-to-llm-part-2" TargetMode="External"/><Relationship Id="rId19" Type="http://schemas.openxmlformats.org/officeDocument/2006/relationships/hyperlink" Target="https://www.youtube.com/watch?v=vKryqColyMM&amp;t=670s" TargetMode="External"/><Relationship Id="rId4" Type="http://schemas.openxmlformats.org/officeDocument/2006/relationships/diagramQuickStyle" Target="../diagrams/quickStyle215.xml"/><Relationship Id="rId9" Type="http://schemas.openxmlformats.org/officeDocument/2006/relationships/hyperlink" Target="https://arockialiborious.com/f/a-gentle-introduction-to-llm-part-1" TargetMode="External"/><Relationship Id="rId14" Type="http://schemas.openxmlformats.org/officeDocument/2006/relationships/hyperlink" Target="https://www.linkedin.com/posts/a-roucher_%F0%9D%97%94%F0%9D%97%AF%F0%9D%98%80%F0%9D%97%BC%F0%9D%97%B9%F0%9D%98%82%F0%9D%98%81%F0%9D%97%B2-%F0%9D%97%AD%F0%9D%97%B2%F0%9D%97%BF%F0%9D%97%BC-%F0%9D%97%9F%F0%9D%97%9F%F0%9D%97%A0%F0%9D%98%80-%F0%9D%97%B0%F0%9D%97%AE%F0%9D%97%BB-activity-7328077803986251780-ptdT/?utm_source=share&amp;utm_medium=member_desktop&amp;rcm=ACoAADEs2XAB8-7TelfobrMhA9_jxB71Dn4BtW4" TargetMode="External"/><Relationship Id="rId22" Type="http://schemas.openxmlformats.org/officeDocument/2006/relationships/hyperlink" Target="https://github.com/Jason2Brownlee/awesome-llm-books" TargetMode="External"/></Relationships>
</file>

<file path=ppt/slides/_rels/slide216.xml.rels><?xml version="1.0" encoding="UTF-8" standalone="yes"?>
<Relationships xmlns="http://schemas.openxmlformats.org/package/2006/relationships"><Relationship Id="rId3" Type="http://schemas.openxmlformats.org/officeDocument/2006/relationships/diagramLayout" Target="../diagrams/layout216.xml"/><Relationship Id="rId2" Type="http://schemas.openxmlformats.org/officeDocument/2006/relationships/diagramData" Target="../diagrams/data216.xml"/><Relationship Id="rId1" Type="http://schemas.openxmlformats.org/officeDocument/2006/relationships/slideLayout" Target="../slideLayouts/slideLayout2.xml"/><Relationship Id="rId6" Type="http://schemas.microsoft.com/office/2007/relationships/diagramDrawing" Target="../diagrams/drawing216.xml"/><Relationship Id="rId5" Type="http://schemas.openxmlformats.org/officeDocument/2006/relationships/diagramColors" Target="../diagrams/colors216.xml"/><Relationship Id="rId4" Type="http://schemas.openxmlformats.org/officeDocument/2006/relationships/diagramQuickStyle" Target="../diagrams/quickStyle216.xml"/></Relationships>
</file>

<file path=ppt/slides/_rels/slide217.xml.rels><?xml version="1.0" encoding="UTF-8" standalone="yes"?>
<Relationships xmlns="http://schemas.openxmlformats.org/package/2006/relationships"><Relationship Id="rId3" Type="http://schemas.openxmlformats.org/officeDocument/2006/relationships/diagramLayout" Target="../diagrams/layout217.xml"/><Relationship Id="rId7" Type="http://schemas.openxmlformats.org/officeDocument/2006/relationships/image" Target="../media/image50.png"/><Relationship Id="rId2" Type="http://schemas.openxmlformats.org/officeDocument/2006/relationships/diagramData" Target="../diagrams/data217.xml"/><Relationship Id="rId1" Type="http://schemas.openxmlformats.org/officeDocument/2006/relationships/slideLayout" Target="../slideLayouts/slideLayout2.xml"/><Relationship Id="rId6" Type="http://schemas.microsoft.com/office/2007/relationships/diagramDrawing" Target="../diagrams/drawing217.xml"/><Relationship Id="rId5" Type="http://schemas.openxmlformats.org/officeDocument/2006/relationships/diagramColors" Target="../diagrams/colors217.xml"/><Relationship Id="rId4" Type="http://schemas.openxmlformats.org/officeDocument/2006/relationships/diagramQuickStyle" Target="../diagrams/quickStyle217.xml"/></Relationships>
</file>

<file path=ppt/slides/_rels/slide21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diagramLayout" Target="../diagrams/layout218.xml"/><Relationship Id="rId7" Type="http://schemas.openxmlformats.org/officeDocument/2006/relationships/image" Target="../media/image51.png"/><Relationship Id="rId2" Type="http://schemas.openxmlformats.org/officeDocument/2006/relationships/diagramData" Target="../diagrams/data218.xml"/><Relationship Id="rId1" Type="http://schemas.openxmlformats.org/officeDocument/2006/relationships/slideLayout" Target="../slideLayouts/slideLayout2.xml"/><Relationship Id="rId6" Type="http://schemas.microsoft.com/office/2007/relationships/diagramDrawing" Target="../diagrams/drawing218.xml"/><Relationship Id="rId5" Type="http://schemas.openxmlformats.org/officeDocument/2006/relationships/diagramColors" Target="../diagrams/colors218.xml"/><Relationship Id="rId4" Type="http://schemas.openxmlformats.org/officeDocument/2006/relationships/diagramQuickStyle" Target="../diagrams/quickStyle218.xml"/></Relationships>
</file>

<file path=ppt/slides/_rels/slide219.xml.rels><?xml version="1.0" encoding="UTF-8" standalone="yes"?>
<Relationships xmlns="http://schemas.openxmlformats.org/package/2006/relationships"><Relationship Id="rId3" Type="http://schemas.openxmlformats.org/officeDocument/2006/relationships/diagramLayout" Target="../diagrams/layout219.xml"/><Relationship Id="rId2" Type="http://schemas.openxmlformats.org/officeDocument/2006/relationships/diagramData" Target="../diagrams/data219.xml"/><Relationship Id="rId1" Type="http://schemas.openxmlformats.org/officeDocument/2006/relationships/slideLayout" Target="../slideLayouts/slideLayout2.xml"/><Relationship Id="rId6" Type="http://schemas.microsoft.com/office/2007/relationships/diagramDrawing" Target="../diagrams/drawing219.xml"/><Relationship Id="rId5" Type="http://schemas.openxmlformats.org/officeDocument/2006/relationships/diagramColors" Target="../diagrams/colors219.xml"/><Relationship Id="rId4" Type="http://schemas.openxmlformats.org/officeDocument/2006/relationships/diagramQuickStyle" Target="../diagrams/quickStyle219.xml"/></Relationships>
</file>

<file path=ppt/slides/_rels/slide220.xml.rels><?xml version="1.0" encoding="UTF-8" standalone="yes"?>
<Relationships xmlns="http://schemas.openxmlformats.org/package/2006/relationships"><Relationship Id="rId3" Type="http://schemas.openxmlformats.org/officeDocument/2006/relationships/diagramLayout" Target="../diagrams/layout220.xml"/><Relationship Id="rId2" Type="http://schemas.openxmlformats.org/officeDocument/2006/relationships/diagramData" Target="../diagrams/data220.xml"/><Relationship Id="rId1" Type="http://schemas.openxmlformats.org/officeDocument/2006/relationships/slideLayout" Target="../slideLayouts/slideLayout2.xml"/><Relationship Id="rId6" Type="http://schemas.microsoft.com/office/2007/relationships/diagramDrawing" Target="../diagrams/drawing220.xml"/><Relationship Id="rId5" Type="http://schemas.openxmlformats.org/officeDocument/2006/relationships/diagramColors" Target="../diagrams/colors220.xml"/><Relationship Id="rId4" Type="http://schemas.openxmlformats.org/officeDocument/2006/relationships/diagramQuickStyle" Target="../diagrams/quickStyle220.xml"/></Relationships>
</file>

<file path=ppt/slides/_rels/slide221.xml.rels><?xml version="1.0" encoding="UTF-8" standalone="yes"?>
<Relationships xmlns="http://schemas.openxmlformats.org/package/2006/relationships"><Relationship Id="rId3" Type="http://schemas.openxmlformats.org/officeDocument/2006/relationships/diagramLayout" Target="../diagrams/layout221.xml"/><Relationship Id="rId2" Type="http://schemas.openxmlformats.org/officeDocument/2006/relationships/diagramData" Target="../diagrams/data221.xml"/><Relationship Id="rId1" Type="http://schemas.openxmlformats.org/officeDocument/2006/relationships/slideLayout" Target="../slideLayouts/slideLayout2.xml"/><Relationship Id="rId6" Type="http://schemas.microsoft.com/office/2007/relationships/diagramDrawing" Target="../diagrams/drawing221.xml"/><Relationship Id="rId5" Type="http://schemas.openxmlformats.org/officeDocument/2006/relationships/diagramColors" Target="../diagrams/colors221.xml"/><Relationship Id="rId4" Type="http://schemas.openxmlformats.org/officeDocument/2006/relationships/diagramQuickStyle" Target="../diagrams/quickStyle221.xml"/></Relationships>
</file>

<file path=ppt/slides/_rels/slide222.xml.rels><?xml version="1.0" encoding="UTF-8" standalone="yes"?>
<Relationships xmlns="http://schemas.openxmlformats.org/package/2006/relationships"><Relationship Id="rId3" Type="http://schemas.openxmlformats.org/officeDocument/2006/relationships/diagramLayout" Target="../diagrams/layout222.xml"/><Relationship Id="rId2" Type="http://schemas.openxmlformats.org/officeDocument/2006/relationships/diagramData" Target="../diagrams/data222.xml"/><Relationship Id="rId1" Type="http://schemas.openxmlformats.org/officeDocument/2006/relationships/slideLayout" Target="../slideLayouts/slideLayout2.xml"/><Relationship Id="rId6" Type="http://schemas.microsoft.com/office/2007/relationships/diagramDrawing" Target="../diagrams/drawing222.xml"/><Relationship Id="rId5" Type="http://schemas.openxmlformats.org/officeDocument/2006/relationships/diagramColors" Target="../diagrams/colors222.xml"/><Relationship Id="rId4" Type="http://schemas.openxmlformats.org/officeDocument/2006/relationships/diagramQuickStyle" Target="../diagrams/quickStyle222.xml"/></Relationships>
</file>

<file path=ppt/slides/_rels/slide223.xml.rels><?xml version="1.0" encoding="UTF-8" standalone="yes"?>
<Relationships xmlns="http://schemas.openxmlformats.org/package/2006/relationships"><Relationship Id="rId3" Type="http://schemas.openxmlformats.org/officeDocument/2006/relationships/diagramLayout" Target="../diagrams/layout223.xml"/><Relationship Id="rId2" Type="http://schemas.openxmlformats.org/officeDocument/2006/relationships/diagramData" Target="../diagrams/data223.xml"/><Relationship Id="rId1" Type="http://schemas.openxmlformats.org/officeDocument/2006/relationships/slideLayout" Target="../slideLayouts/slideLayout2.xml"/><Relationship Id="rId6" Type="http://schemas.microsoft.com/office/2007/relationships/diagramDrawing" Target="../diagrams/drawing223.xml"/><Relationship Id="rId5" Type="http://schemas.openxmlformats.org/officeDocument/2006/relationships/diagramColors" Target="../diagrams/colors223.xml"/><Relationship Id="rId4" Type="http://schemas.openxmlformats.org/officeDocument/2006/relationships/diagramQuickStyle" Target="../diagrams/quickStyle223.xml"/></Relationships>
</file>

<file path=ppt/slides/_rels/slide224.xml.rels><?xml version="1.0" encoding="UTF-8" standalone="yes"?>
<Relationships xmlns="http://schemas.openxmlformats.org/package/2006/relationships"><Relationship Id="rId3" Type="http://schemas.openxmlformats.org/officeDocument/2006/relationships/diagramLayout" Target="../diagrams/layout224.xml"/><Relationship Id="rId2" Type="http://schemas.openxmlformats.org/officeDocument/2006/relationships/diagramData" Target="../diagrams/data224.xml"/><Relationship Id="rId1" Type="http://schemas.openxmlformats.org/officeDocument/2006/relationships/slideLayout" Target="../slideLayouts/slideLayout2.xml"/><Relationship Id="rId6" Type="http://schemas.microsoft.com/office/2007/relationships/diagramDrawing" Target="../diagrams/drawing224.xml"/><Relationship Id="rId5" Type="http://schemas.openxmlformats.org/officeDocument/2006/relationships/diagramColors" Target="../diagrams/colors224.xml"/><Relationship Id="rId4" Type="http://schemas.openxmlformats.org/officeDocument/2006/relationships/diagramQuickStyle" Target="../diagrams/quickStyle224.xml"/></Relationships>
</file>

<file path=ppt/slides/_rels/slide225.xml.rels><?xml version="1.0" encoding="UTF-8" standalone="yes"?>
<Relationships xmlns="http://schemas.openxmlformats.org/package/2006/relationships"><Relationship Id="rId8" Type="http://schemas.openxmlformats.org/officeDocument/2006/relationships/hyperlink" Target="https://medium.com/@japleen.kaur11/enigma-of-generative-ai-a-journey-through-conditional-and-joint-probability-distributions-9f971919137e" TargetMode="External"/><Relationship Id="rId3" Type="http://schemas.openxmlformats.org/officeDocument/2006/relationships/diagramLayout" Target="../diagrams/layout225.xml"/><Relationship Id="rId7" Type="http://schemas.openxmlformats.org/officeDocument/2006/relationships/hyperlink" Target="https://www.geeksforgeeks.org/maths/probability-joint-vs-marginal-vs-conditional/" TargetMode="External"/><Relationship Id="rId2" Type="http://schemas.openxmlformats.org/officeDocument/2006/relationships/diagramData" Target="../diagrams/data225.xml"/><Relationship Id="rId1" Type="http://schemas.openxmlformats.org/officeDocument/2006/relationships/slideLayout" Target="../slideLayouts/slideLayout2.xml"/><Relationship Id="rId6" Type="http://schemas.microsoft.com/office/2007/relationships/diagramDrawing" Target="../diagrams/drawing225.xml"/><Relationship Id="rId5" Type="http://schemas.openxmlformats.org/officeDocument/2006/relationships/diagramColors" Target="../diagrams/colors225.xml"/><Relationship Id="rId10" Type="http://schemas.openxmlformats.org/officeDocument/2006/relationships/hyperlink" Target="https://www.altexsoft.com/blog/generative-ai/" TargetMode="External"/><Relationship Id="rId4" Type="http://schemas.openxmlformats.org/officeDocument/2006/relationships/diagramQuickStyle" Target="../diagrams/quickStyle225.xml"/><Relationship Id="rId9" Type="http://schemas.openxmlformats.org/officeDocument/2006/relationships/hyperlink" Target="https://reshma-a.medium.com/lets-learn-everything-about-generative-ai-together-d546e0a7b4cf" TargetMode="External"/></Relationships>
</file>

<file path=ppt/slides/_rels/slide22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diagramLayout" Target="../diagrams/layout226.xml"/><Relationship Id="rId7" Type="http://schemas.openxmlformats.org/officeDocument/2006/relationships/image" Target="../media/image53.png"/><Relationship Id="rId2" Type="http://schemas.openxmlformats.org/officeDocument/2006/relationships/diagramData" Target="../diagrams/data226.xml"/><Relationship Id="rId1" Type="http://schemas.openxmlformats.org/officeDocument/2006/relationships/slideLayout" Target="../slideLayouts/slideLayout2.xml"/><Relationship Id="rId6" Type="http://schemas.microsoft.com/office/2007/relationships/diagramDrawing" Target="../diagrams/drawing226.xml"/><Relationship Id="rId5" Type="http://schemas.openxmlformats.org/officeDocument/2006/relationships/diagramColors" Target="../diagrams/colors226.xml"/><Relationship Id="rId4" Type="http://schemas.openxmlformats.org/officeDocument/2006/relationships/diagramQuickStyle" Target="../diagrams/quickStyle226.xml"/></Relationships>
</file>

<file path=ppt/slides/_rels/slide227.xml.rels><?xml version="1.0" encoding="UTF-8" standalone="yes"?>
<Relationships xmlns="http://schemas.openxmlformats.org/package/2006/relationships"><Relationship Id="rId8" Type="http://schemas.openxmlformats.org/officeDocument/2006/relationships/hyperlink" Target="https://www.xenonstack.com/blog/generative-ai-models" TargetMode="External"/><Relationship Id="rId13" Type="http://schemas.openxmlformats.org/officeDocument/2006/relationships/hyperlink" Target="https://medium.com/@jwbtmf/comparison-of-autoencoders-vs-variational-autoencoders-7993442bb377" TargetMode="External"/><Relationship Id="rId18" Type="http://schemas.openxmlformats.org/officeDocument/2006/relationships/hyperlink" Target="https://www.oreilly.com/library/view/generative-deep-learning/9781098134174/" TargetMode="External"/><Relationship Id="rId3" Type="http://schemas.openxmlformats.org/officeDocument/2006/relationships/diagramLayout" Target="../diagrams/layout227.xml"/><Relationship Id="rId21" Type="http://schemas.openxmlformats.org/officeDocument/2006/relationships/hyperlink" Target="https://medium.com/@sjasmeet135/denoising-diffusion-model-implementation-from-scratch-b0a1fc6ef5d8" TargetMode="External"/><Relationship Id="rId7" Type="http://schemas.openxmlformats.org/officeDocument/2006/relationships/hyperlink" Target="https://www.turing.com/kb/generative-models-vs-discriminative-models-for-deep-learning" TargetMode="External"/><Relationship Id="rId12" Type="http://schemas.openxmlformats.org/officeDocument/2006/relationships/hyperlink" Target="https://medium.com/@ld2494/gan-diffusion-autoencoder-models-75ee0c40cb5c" TargetMode="External"/><Relationship Id="rId17" Type="http://schemas.openxmlformats.org/officeDocument/2006/relationships/hyperlink" Target="https://www.youtube.com/watch?v=2h4tRsQzipQ" TargetMode="External"/><Relationship Id="rId2" Type="http://schemas.openxmlformats.org/officeDocument/2006/relationships/diagramData" Target="../diagrams/data227.xml"/><Relationship Id="rId16" Type="http://schemas.openxmlformats.org/officeDocument/2006/relationships/hyperlink" Target="https://arxiv.org/abs/1710.07831" TargetMode="External"/><Relationship Id="rId20" Type="http://schemas.openxmlformats.org/officeDocument/2006/relationships/hyperlink" Target="https://en.wikipedia.org/wiki/U-Net" TargetMode="External"/><Relationship Id="rId1" Type="http://schemas.openxmlformats.org/officeDocument/2006/relationships/slideLayout" Target="../slideLayouts/slideLayout2.xml"/><Relationship Id="rId6" Type="http://schemas.microsoft.com/office/2007/relationships/diagramDrawing" Target="../diagrams/drawing227.xml"/><Relationship Id="rId11" Type="http://schemas.openxmlformats.org/officeDocument/2006/relationships/hyperlink" Target="https://cloud.google.com/transform/choosing-right-gen-ai-model-trade-offs-benefits-the-prompt" TargetMode="External"/><Relationship Id="rId5" Type="http://schemas.openxmlformats.org/officeDocument/2006/relationships/diagramColors" Target="../diagrams/colors227.xml"/><Relationship Id="rId15" Type="http://schemas.openxmlformats.org/officeDocument/2006/relationships/hyperlink" Target="https://wiki.pathmind.com/restricted-boltzmann-machine" TargetMode="External"/><Relationship Id="rId23" Type="http://schemas.openxmlformats.org/officeDocument/2006/relationships/hyperlink" Target="https://github.com/PacktPublishing/Generative-AI-with-Python-and-PyTorch-Second-Edition" TargetMode="External"/><Relationship Id="rId10" Type="http://schemas.openxmlformats.org/officeDocument/2006/relationships/hyperlink" Target="https://www.linkedin.com/pulse/generative-ai-advantages-disadvantages-sudheesh-kumar-m-qrusc/" TargetMode="External"/><Relationship Id="rId19" Type="http://schemas.openxmlformats.org/officeDocument/2006/relationships/hyperlink" Target="https://www.xenonstack.com/blog/text-to-image-generation-generative-ai" TargetMode="External"/><Relationship Id="rId4" Type="http://schemas.openxmlformats.org/officeDocument/2006/relationships/diagramQuickStyle" Target="../diagrams/quickStyle227.xml"/><Relationship Id="rId9" Type="http://schemas.openxmlformats.org/officeDocument/2006/relationships/hyperlink" Target="https://www.restack.io/p/generative-ai-answer-tutorial-geeksforgeeks-cat-ai" TargetMode="External"/><Relationship Id="rId14" Type="http://schemas.openxmlformats.org/officeDocument/2006/relationships/hyperlink" Target="https://cyk1337.github.io/notes/2019/12/17/Generative/Likelihood-based-autoregressive-models/" TargetMode="External"/><Relationship Id="rId22" Type="http://schemas.openxmlformats.org/officeDocument/2006/relationships/hyperlink" Target="https://koshurai.medium.com/understanding-vision-language-models-with-clip-a-hands-on-guide-73e91b2458fb" TargetMode="External"/></Relationships>
</file>

<file path=ppt/slides/_rels/slide228.xml.rels><?xml version="1.0" encoding="UTF-8" standalone="yes"?>
<Relationships xmlns="http://schemas.openxmlformats.org/package/2006/relationships"><Relationship Id="rId8" Type="http://schemas.openxmlformats.org/officeDocument/2006/relationships/hyperlink" Target="https://humanloop.com/blog/rag-architectures" TargetMode="External"/><Relationship Id="rId13" Type="http://schemas.openxmlformats.org/officeDocument/2006/relationships/hyperlink" Target="https://www.linkedin.com/posts/naresh-edagotti-6a71a1233_rag-ugcPost-7374395698932396032-xncX/?utm_source=share&amp;utm_medium=member_desktop&amp;rcm=ACoAADEs2XAB8-7TelfobrMhA9_jxB71Dn4BtW4" TargetMode="External"/><Relationship Id="rId3" Type="http://schemas.openxmlformats.org/officeDocument/2006/relationships/diagramLayout" Target="../diagrams/layout228.xml"/><Relationship Id="rId7" Type="http://schemas.openxmlformats.org/officeDocument/2006/relationships/image" Target="../media/image55.png"/><Relationship Id="rId12" Type="http://schemas.openxmlformats.org/officeDocument/2006/relationships/hyperlink" Target="https://learn.microsoft.com/en-us/azure/developer/ai/augment-llm-rag-fine-tuning" TargetMode="External"/><Relationship Id="rId2" Type="http://schemas.openxmlformats.org/officeDocument/2006/relationships/diagramData" Target="../diagrams/data228.xml"/><Relationship Id="rId1" Type="http://schemas.openxmlformats.org/officeDocument/2006/relationships/slideLayout" Target="../slideLayouts/slideLayout2.xml"/><Relationship Id="rId6" Type="http://schemas.microsoft.com/office/2007/relationships/diagramDrawing" Target="../diagrams/drawing228.xml"/><Relationship Id="rId11" Type="http://schemas.openxmlformats.org/officeDocument/2006/relationships/hyperlink" Target="https://adasci.org/chunking-strategies-for-rag-in-generative-ai/" TargetMode="External"/><Relationship Id="rId5" Type="http://schemas.openxmlformats.org/officeDocument/2006/relationships/diagramColors" Target="../diagrams/colors228.xml"/><Relationship Id="rId10" Type="http://schemas.openxmlformats.org/officeDocument/2006/relationships/hyperlink" Target="https://developer.nvidia.com/blog/an-easy-introduction-to-multimodal-retrieval-augmented-generation/" TargetMode="External"/><Relationship Id="rId4" Type="http://schemas.openxmlformats.org/officeDocument/2006/relationships/diagramQuickStyle" Target="../diagrams/quickStyle228.xml"/><Relationship Id="rId9" Type="http://schemas.openxmlformats.org/officeDocument/2006/relationships/hyperlink" Target="https://www.datacamp.com/blog/rag-advanced" TargetMode="External"/><Relationship Id="rId14" Type="http://schemas.openxmlformats.org/officeDocument/2006/relationships/hyperlink" Target="https://www.montecarlodata.com/blog-rag-vs-fine-tuning/" TargetMode="External"/></Relationships>
</file>

<file path=ppt/slides/_rels/slide229.xml.rels><?xml version="1.0" encoding="UTF-8" standalone="yes"?>
<Relationships xmlns="http://schemas.openxmlformats.org/package/2006/relationships"><Relationship Id="rId13" Type="http://schemas.openxmlformats.org/officeDocument/2006/relationships/hyperlink" Target="https://docs.aws.amazon.com/bedrock/latest/userguide/inference-parameters.html" TargetMode="External"/><Relationship Id="rId18" Type="http://schemas.openxmlformats.org/officeDocument/2006/relationships/hyperlink" Target="https://docs.aws.amazon.com/sagemaker/latest/dg/clarify-foundation-model-evaluate-whatis.html" TargetMode="External"/><Relationship Id="rId26" Type="http://schemas.openxmlformats.org/officeDocument/2006/relationships/hyperlink" Target="https://developer.nvidia.com/blog/an-easy-introduction-to-multimodal-retrieval-augmented-generation/" TargetMode="External"/><Relationship Id="rId3" Type="http://schemas.openxmlformats.org/officeDocument/2006/relationships/diagramLayout" Target="../diagrams/layout229.xml"/><Relationship Id="rId21" Type="http://schemas.openxmlformats.org/officeDocument/2006/relationships/hyperlink" Target="https://www.techtarget.com/searchenterpriseai/feature/Areas-for-creating-and-refining-generative-AI-metrics" TargetMode="External"/><Relationship Id="rId34" Type="http://schemas.openxmlformats.org/officeDocument/2006/relationships/hyperlink" Target="https://github.com/aishwaryanr/awesome-generative-ai-guide" TargetMode="External"/><Relationship Id="rId7" Type="http://schemas.openxmlformats.org/officeDocument/2006/relationships/hyperlink" Target="https://serokell.io/blog/guide-to-foundation-models" TargetMode="External"/><Relationship Id="rId12" Type="http://schemas.openxmlformats.org/officeDocument/2006/relationships/hyperlink" Target="https://www.linkedin.com/advice/3/what-best-practices-choosing-pre-trained-model" TargetMode="External"/><Relationship Id="rId17" Type="http://schemas.openxmlformats.org/officeDocument/2006/relationships/hyperlink" Target="https://arunapattam.medium.com/techniques-for-customising-foundation-models-a03437f00c69" TargetMode="External"/><Relationship Id="rId25" Type="http://schemas.openxmlformats.org/officeDocument/2006/relationships/hyperlink" Target="https://github.com/marcocarnini/Manning-s-Building-Domain-Specific-Language-Models" TargetMode="External"/><Relationship Id="rId33" Type="http://schemas.openxmlformats.org/officeDocument/2006/relationships/hyperlink" Target="https://medium.com/@raj.pulapakura/multimodal-models-and-fusion-a-complete-guide-225ca91f6861" TargetMode="External"/><Relationship Id="rId2" Type="http://schemas.openxmlformats.org/officeDocument/2006/relationships/diagramData" Target="../diagrams/data229.xml"/><Relationship Id="rId16" Type="http://schemas.openxmlformats.org/officeDocument/2006/relationships/hyperlink" Target="https://www.ibm.com/docs/en/watsonx/w-and-w/2.1.0?topic=models-methods-tuning" TargetMode="External"/><Relationship Id="rId20" Type="http://schemas.openxmlformats.org/officeDocument/2006/relationships/hyperlink" Target="https://cloud.google.com/transform/gen-ai-kpis-measuring-ai-success-deep-dive" TargetMode="External"/><Relationship Id="rId29" Type="http://schemas.openxmlformats.org/officeDocument/2006/relationships/hyperlink" Target="https://newsletter.maartengrootendorst.com/p/a-visual-guide-to-mixture-of-experts" TargetMode="External"/><Relationship Id="rId1" Type="http://schemas.openxmlformats.org/officeDocument/2006/relationships/slideLayout" Target="../slideLayouts/slideLayout2.xml"/><Relationship Id="rId6" Type="http://schemas.microsoft.com/office/2007/relationships/diagramDrawing" Target="../diagrams/drawing229.xml"/><Relationship Id="rId11" Type="http://schemas.openxmlformats.org/officeDocument/2006/relationships/hyperlink" Target="https://www.linkedin.com/advice/3/what-most-effective-ways-choose-pre-trained-model" TargetMode="External"/><Relationship Id="rId24" Type="http://schemas.openxmlformats.org/officeDocument/2006/relationships/hyperlink" Target="https://www.techtarget.com/searchbusinessanalytics/news/366546440/Small-language-models-emerge-for-domain-specific-use-cases" TargetMode="External"/><Relationship Id="rId32" Type="http://schemas.openxmlformats.org/officeDocument/2006/relationships/hyperlink" Target="https://github.com/bahree/GenAIBook" TargetMode="External"/><Relationship Id="rId5" Type="http://schemas.openxmlformats.org/officeDocument/2006/relationships/diagramColors" Target="../diagrams/colors229.xml"/><Relationship Id="rId15" Type="http://schemas.openxmlformats.org/officeDocument/2006/relationships/hyperlink" Target="https://learn.microsoft.com/en-us/azure/databricks/large-language-models/foundation-model-training/data-preparation" TargetMode="External"/><Relationship Id="rId23" Type="http://schemas.openxmlformats.org/officeDocument/2006/relationships/hyperlink" Target="https://www.datacamp.com/blog/small-language-models" TargetMode="External"/><Relationship Id="rId28" Type="http://schemas.openxmlformats.org/officeDocument/2006/relationships/hyperlink" Target="https://shelf.io/blog/diffusion-models-for-machine-learning/" TargetMode="External"/><Relationship Id="rId10" Type="http://schemas.openxmlformats.org/officeDocument/2006/relationships/hyperlink" Target="https://vitalflux.com/transfer-learning-vs-fine-tuning-differences/amp/" TargetMode="External"/><Relationship Id="rId19" Type="http://schemas.openxmlformats.org/officeDocument/2006/relationships/hyperlink" Target="https://aws.amazon.com/blogs/aws/evaluate-compare-and-select-the-best-foundation-models-for-your-use-case-in-amazon-bedrock-preview/" TargetMode="External"/><Relationship Id="rId31" Type="http://schemas.openxmlformats.org/officeDocument/2006/relationships/hyperlink" Target="https://aws.amazon.com/blogs/architecture/announcing-the-aws-well-architected-generative-ai-lens/" TargetMode="External"/><Relationship Id="rId4" Type="http://schemas.openxmlformats.org/officeDocument/2006/relationships/diagramQuickStyle" Target="../diagrams/quickStyle229.xml"/><Relationship Id="rId9" Type="http://schemas.openxmlformats.org/officeDocument/2006/relationships/hyperlink" Target="https://learn.microsoft.com/en-us/windows/ai/fine-tuning" TargetMode="External"/><Relationship Id="rId14" Type="http://schemas.openxmlformats.org/officeDocument/2006/relationships/hyperlink" Target="https://www.linkedin.com/pulse/training-process-foundation-models-innovations-pradyumna-upadrashta-tgncc/" TargetMode="External"/><Relationship Id="rId22" Type="http://schemas.openxmlformats.org/officeDocument/2006/relationships/hyperlink" Target="https://github.com/PacktPublishing/Pretrain-Vision-and-Large-Language-Models-in-Python" TargetMode="External"/><Relationship Id="rId27" Type="http://schemas.openxmlformats.org/officeDocument/2006/relationships/hyperlink" Target="https://www.sciencedirect.com/science/article/pii/S2772442523000655" TargetMode="External"/><Relationship Id="rId30" Type="http://schemas.openxmlformats.org/officeDocument/2006/relationships/hyperlink" Target="https://huyenchip.com/2023/10/10/multimodal.html" TargetMode="External"/><Relationship Id="rId8" Type="http://schemas.openxmlformats.org/officeDocument/2006/relationships/hyperlink" Target="https://www.turing.com/resources/finetuning-large-language-models" TargetMode="External"/></Relationships>
</file>

<file path=ppt/slides/_rels/slide230.xml.rels><?xml version="1.0" encoding="UTF-8" standalone="yes"?>
<Relationships xmlns="http://schemas.openxmlformats.org/package/2006/relationships"><Relationship Id="rId8" Type="http://schemas.openxmlformats.org/officeDocument/2006/relationships/hyperlink" Target="https://github.com/PacktPublishing/Neuro-Symbolic-AI" TargetMode="External"/><Relationship Id="rId3" Type="http://schemas.openxmlformats.org/officeDocument/2006/relationships/diagramLayout" Target="../diagrams/layout230.xml"/><Relationship Id="rId7" Type="http://schemas.openxmlformats.org/officeDocument/2006/relationships/hyperlink" Target="https://en.wikipedia.org/wiki/Neuro-symbolic_AI" TargetMode="External"/><Relationship Id="rId2" Type="http://schemas.openxmlformats.org/officeDocument/2006/relationships/diagramData" Target="../diagrams/data230.xml"/><Relationship Id="rId1" Type="http://schemas.openxmlformats.org/officeDocument/2006/relationships/slideLayout" Target="../slideLayouts/slideLayout2.xml"/><Relationship Id="rId6" Type="http://schemas.microsoft.com/office/2007/relationships/diagramDrawing" Target="../diagrams/drawing230.xml"/><Relationship Id="rId5" Type="http://schemas.openxmlformats.org/officeDocument/2006/relationships/diagramColors" Target="../diagrams/colors230.xml"/><Relationship Id="rId4" Type="http://schemas.openxmlformats.org/officeDocument/2006/relationships/diagramQuickStyle" Target="../diagrams/quickStyle230.xml"/></Relationships>
</file>

<file path=ppt/slides/_rels/slide231.xml.rels><?xml version="1.0" encoding="UTF-8" standalone="yes"?>
<Relationships xmlns="http://schemas.openxmlformats.org/package/2006/relationships"><Relationship Id="rId3" Type="http://schemas.openxmlformats.org/officeDocument/2006/relationships/diagramLayout" Target="../diagrams/layout231.xml"/><Relationship Id="rId7" Type="http://schemas.openxmlformats.org/officeDocument/2006/relationships/image" Target="../media/image56.png"/><Relationship Id="rId2" Type="http://schemas.openxmlformats.org/officeDocument/2006/relationships/diagramData" Target="../diagrams/data231.xml"/><Relationship Id="rId1" Type="http://schemas.openxmlformats.org/officeDocument/2006/relationships/slideLayout" Target="../slideLayouts/slideLayout2.xml"/><Relationship Id="rId6" Type="http://schemas.microsoft.com/office/2007/relationships/diagramDrawing" Target="../diagrams/drawing231.xml"/><Relationship Id="rId5" Type="http://schemas.openxmlformats.org/officeDocument/2006/relationships/diagramColors" Target="../diagrams/colors231.xml"/><Relationship Id="rId4" Type="http://schemas.openxmlformats.org/officeDocument/2006/relationships/diagramQuickStyle" Target="../diagrams/quickStyle231.xml"/></Relationships>
</file>

<file path=ppt/slides/_rels/slide232.xml.rels><?xml version="1.0" encoding="UTF-8" standalone="yes"?>
<Relationships xmlns="http://schemas.openxmlformats.org/package/2006/relationships"><Relationship Id="rId3" Type="http://schemas.openxmlformats.org/officeDocument/2006/relationships/diagramLayout" Target="../diagrams/layout232.xml"/><Relationship Id="rId7" Type="http://schemas.openxmlformats.org/officeDocument/2006/relationships/image" Target="../media/image57.png"/><Relationship Id="rId2" Type="http://schemas.openxmlformats.org/officeDocument/2006/relationships/diagramData" Target="../diagrams/data232.xml"/><Relationship Id="rId1" Type="http://schemas.openxmlformats.org/officeDocument/2006/relationships/slideLayout" Target="../slideLayouts/slideLayout2.xml"/><Relationship Id="rId6" Type="http://schemas.microsoft.com/office/2007/relationships/diagramDrawing" Target="../diagrams/drawing232.xml"/><Relationship Id="rId5" Type="http://schemas.openxmlformats.org/officeDocument/2006/relationships/diagramColors" Target="../diagrams/colors232.xml"/><Relationship Id="rId4" Type="http://schemas.openxmlformats.org/officeDocument/2006/relationships/diagramQuickStyle" Target="../diagrams/quickStyle232.xml"/></Relationships>
</file>

<file path=ppt/slides/_rels/slide233.xml.rels><?xml version="1.0" encoding="UTF-8" standalone="yes"?>
<Relationships xmlns="http://schemas.openxmlformats.org/package/2006/relationships"><Relationship Id="rId3" Type="http://schemas.openxmlformats.org/officeDocument/2006/relationships/diagramLayout" Target="../diagrams/layout233.xml"/><Relationship Id="rId2" Type="http://schemas.openxmlformats.org/officeDocument/2006/relationships/diagramData" Target="../diagrams/data233.xml"/><Relationship Id="rId1" Type="http://schemas.openxmlformats.org/officeDocument/2006/relationships/slideLayout" Target="../slideLayouts/slideLayout2.xml"/><Relationship Id="rId6" Type="http://schemas.microsoft.com/office/2007/relationships/diagramDrawing" Target="../diagrams/drawing233.xml"/><Relationship Id="rId5" Type="http://schemas.openxmlformats.org/officeDocument/2006/relationships/diagramColors" Target="../diagrams/colors233.xml"/><Relationship Id="rId4" Type="http://schemas.openxmlformats.org/officeDocument/2006/relationships/diagramQuickStyle" Target="../diagrams/quickStyle233.xml"/></Relationships>
</file>

<file path=ppt/slides/_rels/slide234.xml.rels><?xml version="1.0" encoding="UTF-8" standalone="yes"?>
<Relationships xmlns="http://schemas.openxmlformats.org/package/2006/relationships"><Relationship Id="rId3" Type="http://schemas.openxmlformats.org/officeDocument/2006/relationships/diagramLayout" Target="../diagrams/layout234.xml"/><Relationship Id="rId7" Type="http://schemas.openxmlformats.org/officeDocument/2006/relationships/image" Target="../media/image58.png"/><Relationship Id="rId2" Type="http://schemas.openxmlformats.org/officeDocument/2006/relationships/diagramData" Target="../diagrams/data234.xml"/><Relationship Id="rId1" Type="http://schemas.openxmlformats.org/officeDocument/2006/relationships/slideLayout" Target="../slideLayouts/slideLayout2.xml"/><Relationship Id="rId6" Type="http://schemas.microsoft.com/office/2007/relationships/diagramDrawing" Target="../diagrams/drawing234.xml"/><Relationship Id="rId5" Type="http://schemas.openxmlformats.org/officeDocument/2006/relationships/diagramColors" Target="../diagrams/colors234.xml"/><Relationship Id="rId4" Type="http://schemas.openxmlformats.org/officeDocument/2006/relationships/diagramQuickStyle" Target="../diagrams/quickStyle234.xml"/></Relationships>
</file>

<file path=ppt/slides/_rels/slide235.xml.rels><?xml version="1.0" encoding="UTF-8" standalone="yes"?>
<Relationships xmlns="http://schemas.openxmlformats.org/package/2006/relationships"><Relationship Id="rId3" Type="http://schemas.openxmlformats.org/officeDocument/2006/relationships/diagramLayout" Target="../diagrams/layout235.xml"/><Relationship Id="rId2" Type="http://schemas.openxmlformats.org/officeDocument/2006/relationships/diagramData" Target="../diagrams/data235.xml"/><Relationship Id="rId1" Type="http://schemas.openxmlformats.org/officeDocument/2006/relationships/slideLayout" Target="../slideLayouts/slideLayout2.xml"/><Relationship Id="rId6" Type="http://schemas.microsoft.com/office/2007/relationships/diagramDrawing" Target="../diagrams/drawing235.xml"/><Relationship Id="rId5" Type="http://schemas.openxmlformats.org/officeDocument/2006/relationships/diagramColors" Target="../diagrams/colors235.xml"/><Relationship Id="rId4" Type="http://schemas.openxmlformats.org/officeDocument/2006/relationships/diagramQuickStyle" Target="../diagrams/quickStyle235.xml"/></Relationships>
</file>

<file path=ppt/slides/_rels/slide236.xml.rels><?xml version="1.0" encoding="UTF-8" standalone="yes"?>
<Relationships xmlns="http://schemas.openxmlformats.org/package/2006/relationships"><Relationship Id="rId3" Type="http://schemas.openxmlformats.org/officeDocument/2006/relationships/diagramLayout" Target="../diagrams/layout236.xml"/><Relationship Id="rId2" Type="http://schemas.openxmlformats.org/officeDocument/2006/relationships/diagramData" Target="../diagrams/data236.xml"/><Relationship Id="rId1" Type="http://schemas.openxmlformats.org/officeDocument/2006/relationships/slideLayout" Target="../slideLayouts/slideLayout2.xml"/><Relationship Id="rId6" Type="http://schemas.microsoft.com/office/2007/relationships/diagramDrawing" Target="../diagrams/drawing236.xml"/><Relationship Id="rId5" Type="http://schemas.openxmlformats.org/officeDocument/2006/relationships/diagramColors" Target="../diagrams/colors236.xml"/><Relationship Id="rId4" Type="http://schemas.openxmlformats.org/officeDocument/2006/relationships/diagramQuickStyle" Target="../diagrams/quickStyle236.xml"/></Relationships>
</file>

<file path=ppt/slides/_rels/slide237.xml.rels><?xml version="1.0" encoding="UTF-8" standalone="yes"?>
<Relationships xmlns="http://schemas.openxmlformats.org/package/2006/relationships"><Relationship Id="rId3" Type="http://schemas.openxmlformats.org/officeDocument/2006/relationships/diagramLayout" Target="../diagrams/layout237.xml"/><Relationship Id="rId2" Type="http://schemas.openxmlformats.org/officeDocument/2006/relationships/diagramData" Target="../diagrams/data237.xml"/><Relationship Id="rId1" Type="http://schemas.openxmlformats.org/officeDocument/2006/relationships/slideLayout" Target="../slideLayouts/slideLayout2.xml"/><Relationship Id="rId6" Type="http://schemas.microsoft.com/office/2007/relationships/diagramDrawing" Target="../diagrams/drawing237.xml"/><Relationship Id="rId5" Type="http://schemas.openxmlformats.org/officeDocument/2006/relationships/diagramColors" Target="../diagrams/colors237.xml"/><Relationship Id="rId4" Type="http://schemas.openxmlformats.org/officeDocument/2006/relationships/diagramQuickStyle" Target="../diagrams/quickStyle237.xml"/></Relationships>
</file>

<file path=ppt/slides/_rels/slide238.xml.rels><?xml version="1.0" encoding="UTF-8" standalone="yes"?>
<Relationships xmlns="http://schemas.openxmlformats.org/package/2006/relationships"><Relationship Id="rId3" Type="http://schemas.openxmlformats.org/officeDocument/2006/relationships/diagramLayout" Target="../diagrams/layout238.xml"/><Relationship Id="rId2" Type="http://schemas.openxmlformats.org/officeDocument/2006/relationships/diagramData" Target="../diagrams/data238.xml"/><Relationship Id="rId1" Type="http://schemas.openxmlformats.org/officeDocument/2006/relationships/slideLayout" Target="../slideLayouts/slideLayout2.xml"/><Relationship Id="rId6" Type="http://schemas.microsoft.com/office/2007/relationships/diagramDrawing" Target="../diagrams/drawing238.xml"/><Relationship Id="rId5" Type="http://schemas.openxmlformats.org/officeDocument/2006/relationships/diagramColors" Target="../diagrams/colors238.xml"/><Relationship Id="rId4" Type="http://schemas.openxmlformats.org/officeDocument/2006/relationships/diagramQuickStyle" Target="../diagrams/quickStyle238.xml"/></Relationships>
</file>

<file path=ppt/slides/_rels/slide239.xml.rels><?xml version="1.0" encoding="UTF-8" standalone="yes"?>
<Relationships xmlns="http://schemas.openxmlformats.org/package/2006/relationships"><Relationship Id="rId3" Type="http://schemas.openxmlformats.org/officeDocument/2006/relationships/diagramLayout" Target="../diagrams/layout239.xml"/><Relationship Id="rId7" Type="http://schemas.openxmlformats.org/officeDocument/2006/relationships/hyperlink" Target="https://www.google.com/search?safe=active&amp;rlz=1C1GCEW_enIN1075IN1075&amp;cs=0&amp;sca_esv=86eadaac309410d3&amp;sxsrf=AE3TifMJPNN6A2wL1K0TG3x4haXxK1Cf7Q%3A1760699958355&amp;q=Machine+Learning&amp;sa=X&amp;ved=2ahUKEwjLpLS8jquQAxUJd2wGHWY4AaAQxccNegQIQBAB&amp;mstk=AUtExfD9raHZweDpsogpgfhhx0MjUZ2ZijJjMQQw5mEqCetowLUlTqv24oLyj4y56yVSe9XBuZvUpIC-cMCzhzD0gdixXJ2QtPhkmM7umM1fDlk9fXRVumTolcxPvVqOQarNoyDy1V6YnPx_dPg9ZAILBMtoUJ1KS8GTg1l5ELGW9nL53yg&amp;csui=3" TargetMode="External"/><Relationship Id="rId2" Type="http://schemas.openxmlformats.org/officeDocument/2006/relationships/diagramData" Target="../diagrams/data239.xml"/><Relationship Id="rId1" Type="http://schemas.openxmlformats.org/officeDocument/2006/relationships/slideLayout" Target="../slideLayouts/slideLayout2.xml"/><Relationship Id="rId6" Type="http://schemas.microsoft.com/office/2007/relationships/diagramDrawing" Target="../diagrams/drawing239.xml"/><Relationship Id="rId5" Type="http://schemas.openxmlformats.org/officeDocument/2006/relationships/diagramColors" Target="../diagrams/colors239.xml"/><Relationship Id="rId4" Type="http://schemas.openxmlformats.org/officeDocument/2006/relationships/diagramQuickStyle" Target="../diagrams/quickStyle239.xml"/></Relationships>
</file>

<file path=ppt/slides/_rels/slide240.xml.rels><?xml version="1.0" encoding="UTF-8" standalone="yes"?>
<Relationships xmlns="http://schemas.openxmlformats.org/package/2006/relationships"><Relationship Id="rId3" Type="http://schemas.openxmlformats.org/officeDocument/2006/relationships/diagramLayout" Target="../diagrams/layout240.xml"/><Relationship Id="rId2" Type="http://schemas.openxmlformats.org/officeDocument/2006/relationships/diagramData" Target="../diagrams/data240.xml"/><Relationship Id="rId1" Type="http://schemas.openxmlformats.org/officeDocument/2006/relationships/slideLayout" Target="../slideLayouts/slideLayout2.xml"/><Relationship Id="rId6" Type="http://schemas.microsoft.com/office/2007/relationships/diagramDrawing" Target="../diagrams/drawing240.xml"/><Relationship Id="rId5" Type="http://schemas.openxmlformats.org/officeDocument/2006/relationships/diagramColors" Target="../diagrams/colors240.xml"/><Relationship Id="rId4" Type="http://schemas.openxmlformats.org/officeDocument/2006/relationships/diagramQuickStyle" Target="../diagrams/quickStyle240.xml"/></Relationships>
</file>

<file path=ppt/slides/_rels/slide241.xml.rels><?xml version="1.0" encoding="UTF-8" standalone="yes"?>
<Relationships xmlns="http://schemas.openxmlformats.org/package/2006/relationships"><Relationship Id="rId3" Type="http://schemas.openxmlformats.org/officeDocument/2006/relationships/diagramLayout" Target="../diagrams/layout241.xml"/><Relationship Id="rId2" Type="http://schemas.openxmlformats.org/officeDocument/2006/relationships/diagramData" Target="../diagrams/data241.xml"/><Relationship Id="rId1" Type="http://schemas.openxmlformats.org/officeDocument/2006/relationships/slideLayout" Target="../slideLayouts/slideLayout2.xml"/><Relationship Id="rId6" Type="http://schemas.microsoft.com/office/2007/relationships/diagramDrawing" Target="../diagrams/drawing241.xml"/><Relationship Id="rId5" Type="http://schemas.openxmlformats.org/officeDocument/2006/relationships/diagramColors" Target="../diagrams/colors241.xml"/><Relationship Id="rId4" Type="http://schemas.openxmlformats.org/officeDocument/2006/relationships/diagramQuickStyle" Target="../diagrams/quickStyle241.xml"/></Relationships>
</file>

<file path=ppt/slides/_rels/slide242.xml.rels><?xml version="1.0" encoding="UTF-8" standalone="yes"?>
<Relationships xmlns="http://schemas.openxmlformats.org/package/2006/relationships"><Relationship Id="rId3" Type="http://schemas.openxmlformats.org/officeDocument/2006/relationships/diagramLayout" Target="../diagrams/layout242.xml"/><Relationship Id="rId2" Type="http://schemas.openxmlformats.org/officeDocument/2006/relationships/diagramData" Target="../diagrams/data242.xml"/><Relationship Id="rId1" Type="http://schemas.openxmlformats.org/officeDocument/2006/relationships/slideLayout" Target="../slideLayouts/slideLayout2.xml"/><Relationship Id="rId6" Type="http://schemas.microsoft.com/office/2007/relationships/diagramDrawing" Target="../diagrams/drawing242.xml"/><Relationship Id="rId5" Type="http://schemas.openxmlformats.org/officeDocument/2006/relationships/diagramColors" Target="../diagrams/colors242.xml"/><Relationship Id="rId4" Type="http://schemas.openxmlformats.org/officeDocument/2006/relationships/diagramQuickStyle" Target="../diagrams/quickStyle242.xml"/></Relationships>
</file>

<file path=ppt/slides/_rels/slide243.xml.rels><?xml version="1.0" encoding="UTF-8" standalone="yes"?>
<Relationships xmlns="http://schemas.openxmlformats.org/package/2006/relationships"><Relationship Id="rId3" Type="http://schemas.openxmlformats.org/officeDocument/2006/relationships/diagramLayout" Target="../diagrams/layout243.xml"/><Relationship Id="rId2" Type="http://schemas.openxmlformats.org/officeDocument/2006/relationships/diagramData" Target="../diagrams/data243.xml"/><Relationship Id="rId1" Type="http://schemas.openxmlformats.org/officeDocument/2006/relationships/slideLayout" Target="../slideLayouts/slideLayout2.xml"/><Relationship Id="rId6" Type="http://schemas.microsoft.com/office/2007/relationships/diagramDrawing" Target="../diagrams/drawing243.xml"/><Relationship Id="rId5" Type="http://schemas.openxmlformats.org/officeDocument/2006/relationships/diagramColors" Target="../diagrams/colors243.xml"/><Relationship Id="rId4" Type="http://schemas.openxmlformats.org/officeDocument/2006/relationships/diagramQuickStyle" Target="../diagrams/quickStyle243.xml"/></Relationships>
</file>

<file path=ppt/slides/_rels/slide244.xml.rels><?xml version="1.0" encoding="UTF-8" standalone="yes"?>
<Relationships xmlns="http://schemas.openxmlformats.org/package/2006/relationships"><Relationship Id="rId3" Type="http://schemas.openxmlformats.org/officeDocument/2006/relationships/diagramLayout" Target="../diagrams/layout244.xml"/><Relationship Id="rId2" Type="http://schemas.openxmlformats.org/officeDocument/2006/relationships/diagramData" Target="../diagrams/data244.xml"/><Relationship Id="rId1" Type="http://schemas.openxmlformats.org/officeDocument/2006/relationships/slideLayout" Target="../slideLayouts/slideLayout2.xml"/><Relationship Id="rId6" Type="http://schemas.microsoft.com/office/2007/relationships/diagramDrawing" Target="../diagrams/drawing244.xml"/><Relationship Id="rId5" Type="http://schemas.openxmlformats.org/officeDocument/2006/relationships/diagramColors" Target="../diagrams/colors244.xml"/><Relationship Id="rId4" Type="http://schemas.openxmlformats.org/officeDocument/2006/relationships/diagramQuickStyle" Target="../diagrams/quickStyle244.xml"/></Relationships>
</file>

<file path=ppt/slides/_rels/slide245.xml.rels><?xml version="1.0" encoding="UTF-8" standalone="yes"?>
<Relationships xmlns="http://schemas.openxmlformats.org/package/2006/relationships"><Relationship Id="rId3" Type="http://schemas.openxmlformats.org/officeDocument/2006/relationships/diagramLayout" Target="../diagrams/layout245.xml"/><Relationship Id="rId2" Type="http://schemas.openxmlformats.org/officeDocument/2006/relationships/diagramData" Target="../diagrams/data245.xml"/><Relationship Id="rId1" Type="http://schemas.openxmlformats.org/officeDocument/2006/relationships/slideLayout" Target="../slideLayouts/slideLayout2.xml"/><Relationship Id="rId6" Type="http://schemas.microsoft.com/office/2007/relationships/diagramDrawing" Target="../diagrams/drawing245.xml"/><Relationship Id="rId5" Type="http://schemas.openxmlformats.org/officeDocument/2006/relationships/diagramColors" Target="../diagrams/colors245.xml"/><Relationship Id="rId4" Type="http://schemas.openxmlformats.org/officeDocument/2006/relationships/diagramQuickStyle" Target="../diagrams/quickStyle245.xml"/></Relationships>
</file>

<file path=ppt/slides/_rels/slide246.xml.rels><?xml version="1.0" encoding="UTF-8" standalone="yes"?>
<Relationships xmlns="http://schemas.openxmlformats.org/package/2006/relationships"><Relationship Id="rId3" Type="http://schemas.openxmlformats.org/officeDocument/2006/relationships/diagramLayout" Target="../diagrams/layout246.xml"/><Relationship Id="rId2" Type="http://schemas.openxmlformats.org/officeDocument/2006/relationships/diagramData" Target="../diagrams/data246.xml"/><Relationship Id="rId1" Type="http://schemas.openxmlformats.org/officeDocument/2006/relationships/slideLayout" Target="../slideLayouts/slideLayout2.xml"/><Relationship Id="rId6" Type="http://schemas.microsoft.com/office/2007/relationships/diagramDrawing" Target="../diagrams/drawing246.xml"/><Relationship Id="rId5" Type="http://schemas.openxmlformats.org/officeDocument/2006/relationships/diagramColors" Target="../diagrams/colors246.xml"/><Relationship Id="rId4" Type="http://schemas.openxmlformats.org/officeDocument/2006/relationships/diagramQuickStyle" Target="../diagrams/quickStyle246.xml"/></Relationships>
</file>

<file path=ppt/slides/_rels/slide247.xml.rels><?xml version="1.0" encoding="UTF-8" standalone="yes"?>
<Relationships xmlns="http://schemas.openxmlformats.org/package/2006/relationships"><Relationship Id="rId8" Type="http://schemas.openxmlformats.org/officeDocument/2006/relationships/hyperlink" Target="https://github.com/rasbt/reasoning-from-scratch" TargetMode="External"/><Relationship Id="rId13" Type="http://schemas.openxmlformats.org/officeDocument/2006/relationships/hyperlink" Target="https://medium.com/@aydinKerem/ai-agents-design-patterns-explained-b3ac0433c915" TargetMode="External"/><Relationship Id="rId18" Type="http://schemas.openxmlformats.org/officeDocument/2006/relationships/hyperlink" Target="https://www.linkedin.com/posts/alexwang2911_ai-terms-part-ii-the-agentic-ai-edition-ugcPost-7374467658949373952-P_N1/?utm_source=share&amp;utm_medium=member_desktop&amp;rcm=ACoAADEs2XAB8-7TelfobrMhA9_jxB71Dn4BtW4" TargetMode="External"/><Relationship Id="rId26" Type="http://schemas.openxmlformats.org/officeDocument/2006/relationships/hyperlink" Target="https://www.leewayhertz.com/multi-agent-system/" TargetMode="External"/><Relationship Id="rId3" Type="http://schemas.openxmlformats.org/officeDocument/2006/relationships/diagramLayout" Target="../diagrams/layout247.xml"/><Relationship Id="rId21" Type="http://schemas.openxmlformats.org/officeDocument/2006/relationships/hyperlink" Target="http://artint.info/" TargetMode="External"/><Relationship Id="rId7" Type="http://schemas.openxmlformats.org/officeDocument/2006/relationships/hyperlink" Target="https://www.linkedin.com/posts/botnirvana_%3F%3F%3F%3F%3F%3F%3F%3F%3F-%3F%3F%3F%3F%3F%3F%3F-%3F%3F-%3F%3F%3F%3F%3F%3F-activity-7380953887635116032-AsNj/" TargetMode="External"/><Relationship Id="rId12" Type="http://schemas.openxmlformats.org/officeDocument/2006/relationships/hyperlink" Target="https://github.com/microsoft/ai-agents-for-beginners/blob/main/03-agentic-design-patterns/README.md" TargetMode="External"/><Relationship Id="rId17" Type="http://schemas.openxmlformats.org/officeDocument/2006/relationships/hyperlink" Target="https://www.linkedin.com/posts/dipanjans_check-out-how-to-add-context-engineering-activity-7374451850672234496-lwdv/?utm_source=share&amp;utm_medium=member_desktop&amp;rcm=ACoAADEs2XAB8-7TelfobrMhA9_jxB71Dn4BtW4" TargetMode="External"/><Relationship Id="rId25" Type="http://schemas.openxmlformats.org/officeDocument/2006/relationships/hyperlink" Target="https://www.linkedin.com/posts/charlywargnier_in-case-you-missed-it-5-new-ai-agent-guides-activity-7320698061649817601-yX5g/?utm_source=share&amp;utm_medium=member_desktop&amp;rcm=ACoAADEs2XAB8-7TelfobrMhA9_jxB71Dn4BtW4" TargetMode="External"/><Relationship Id="rId2" Type="http://schemas.openxmlformats.org/officeDocument/2006/relationships/diagramData" Target="../diagrams/data247.xml"/><Relationship Id="rId16" Type="http://schemas.openxmlformats.org/officeDocument/2006/relationships/hyperlink" Target="https://www.linkedin.com/posts/dipanjans_simplest-way-to-learn-about-ai-agents-learn-activity-7368304208581754880-_Sxz/" TargetMode="External"/><Relationship Id="rId20" Type="http://schemas.openxmlformats.org/officeDocument/2006/relationships/hyperlink" Target="https://www.youtube.com/watch?v=kJLiOGle3Lw" TargetMode="External"/><Relationship Id="rId1" Type="http://schemas.openxmlformats.org/officeDocument/2006/relationships/slideLayout" Target="../slideLayouts/slideLayout2.xml"/><Relationship Id="rId6" Type="http://schemas.microsoft.com/office/2007/relationships/diagramDrawing" Target="../diagrams/drawing247.xml"/><Relationship Id="rId11" Type="http://schemas.openxmlformats.org/officeDocument/2006/relationships/hyperlink" Target="https://www.restack.io/p/goal-oriented-agents-answer-goal-oriented-vs-task-oriented-ai-cat-ai" TargetMode="External"/><Relationship Id="rId24" Type="http://schemas.openxmlformats.org/officeDocument/2006/relationships/hyperlink" Target="https://www.linkedin.com/posts/rakeshgohel01_i-gathered-an-absolute-goldmine-of-ai-agent-activity-7320792519158439937-sddF/?utm_source=share&amp;utm_medium=member_desktop&amp;rcm=ACoAADEs2XAB8-7TelfobrMhA9_jxB71Dn4BtW4" TargetMode="External"/><Relationship Id="rId5" Type="http://schemas.openxmlformats.org/officeDocument/2006/relationships/diagramColors" Target="../diagrams/colors247.xml"/><Relationship Id="rId15" Type="http://schemas.openxmlformats.org/officeDocument/2006/relationships/hyperlink" Target="https://arya.ai/blog/why-memory-matters-for-ai-agents-insights-from-nikolay-penkov" TargetMode="External"/><Relationship Id="rId23" Type="http://schemas.openxmlformats.org/officeDocument/2006/relationships/hyperlink" Target="https://www.linkedin.com/posts/armand-ruiz_ai-agents-101-lets-learn-the-basics-activity-7321126130084691968-SCza/" TargetMode="External"/><Relationship Id="rId10" Type="http://schemas.openxmlformats.org/officeDocument/2006/relationships/hyperlink" Target="https://www.linkedin.com/posts/mr-deepak-bhardwaj_types-of-ai-agents-ugcPost-7322601633379401729-fvqF/?utm_source=share&amp;utm_medium=member_desktop&amp;rcm=ACoAADEs2XAB8-7TelfobrMhA9_jxB71Dn4BtW4" TargetMode="External"/><Relationship Id="rId19" Type="http://schemas.openxmlformats.org/officeDocument/2006/relationships/hyperlink" Target="https://github.com/microsoft/mcp-for-beginners" TargetMode="External"/><Relationship Id="rId4" Type="http://schemas.openxmlformats.org/officeDocument/2006/relationships/diagramQuickStyle" Target="../diagrams/quickStyle247.xml"/><Relationship Id="rId9" Type="http://schemas.openxmlformats.org/officeDocument/2006/relationships/hyperlink" Target="https://www.linkedin.com/posts/sandip-ray-92836b1b0_some-good-articlesblog-posts-on-agentic-activity-7311389468203040768-EwB2/?utm_source=share&amp;utm_medium=member_desktop&amp;rcm=ACoAADEs2XAB8-7TelfobrMhA9_jxB71Dn4BtW4" TargetMode="External"/><Relationship Id="rId14" Type="http://schemas.openxmlformats.org/officeDocument/2006/relationships/hyperlink" Target="https://www.linkedin.com/posts/rakeshgohel01_dont-waste-every-day-reinventing-your-ai-activity-7321515242390249472-vYzv/?utm_source=share&amp;utm_medium=member_desktop&amp;rcm=ACoAADEs2XAB8-7TelfobrMhA9_jxB71Dn4BtW4" TargetMode="External"/><Relationship Id="rId22" Type="http://schemas.openxmlformats.org/officeDocument/2006/relationships/hyperlink" Target="https://en.wikipedia.org/wiki/Reasoning_language_model" TargetMode="External"/></Relationships>
</file>

<file path=ppt/slides/_rels/slide248.xml.rels><?xml version="1.0" encoding="UTF-8" standalone="yes"?>
<Relationships xmlns="http://schemas.openxmlformats.org/package/2006/relationships"><Relationship Id="rId8" Type="http://schemas.openxmlformats.org/officeDocument/2006/relationships/hyperlink" Target="https://langchain-ai.github.io/langgraph/how-tos/agent-handoffs/" TargetMode="External"/><Relationship Id="rId13" Type="http://schemas.openxmlformats.org/officeDocument/2006/relationships/hyperlink" Target="https://www.marktechpost.com/2024/07/11/internet-of-agents-ioa-a-novel-artificial-intelligence-ai-framework-for-agent-communication-and-collaboration-inspired-by-the-internet/" TargetMode="External"/><Relationship Id="rId18" Type="http://schemas.openxmlformats.org/officeDocument/2006/relationships/hyperlink" Target="https://www.linkedin.com/posts/rakeshgohel01_amazon-just-rebranded-and-updated-its-ai-activity-7328033188323217409-DkPo/?utm_source=share&amp;utm_medium=member_desktop&amp;rcm=ACoAADEs2XAB8-7TelfobrMhA9_jxB71Dn4BtW4" TargetMode="External"/><Relationship Id="rId3" Type="http://schemas.openxmlformats.org/officeDocument/2006/relationships/diagramLayout" Target="../diagrams/layout248.xml"/><Relationship Id="rId21" Type="http://schemas.openxmlformats.org/officeDocument/2006/relationships/hyperlink" Target="https://docs.google.com/document/d/1rsaK53T3Lg5KoGwvf8ukOUvbELRtH-V0LnOIFDxBryE/preview?tab=t.0#heading=h.pxcur8v2qagu" TargetMode="External"/><Relationship Id="rId7" Type="http://schemas.openxmlformats.org/officeDocument/2006/relationships/hyperlink" Target="https://dr-arsanjani.medium.com/patterns-for-agentic-ai-in-multi-agent-systems-patterns-1-4-f4c952bfc123" TargetMode="External"/><Relationship Id="rId12" Type="http://schemas.openxmlformats.org/officeDocument/2006/relationships/hyperlink" Target="https://www.linkedin.com/posts/jesper-lowgren_ugcPost-7323108163241607168-6Wx-/?utm_source=share&amp;utm_medium=member_desktop&amp;rcm=ACoAADEs2XAB8-7TelfobrMhA9_jxB71Dn4BtW4" TargetMode="External"/><Relationship Id="rId17" Type="http://schemas.openxmlformats.org/officeDocument/2006/relationships/hyperlink" Target="https://www.linkedin.com/posts/brijpandeyji_%F0%9D%97%AA%F0%9D%97%B2%F0%9D%98%83%F0%9D%97%B2-%F0%9D%97%AE%F0%9D%97%B9%F0%9D%97%B9-%F0%9D%97%AF%F0%9D%97%B2%F0%9D%97%B2%F0%9D%97%BB-%F0%9D%98%81%F0%9D%97%B5%F0%9D%97%B2%F0%9D%97%BF%F0%9D%97%B2-%F0%9D%96%A3%F0%9D%96%BA%F0%9D%97%8D%F0%9D%96%BA-activity-7327902350654803968-yWhb/?utm_source=share&amp;utm_medium=member_desktop&amp;rcm=ACoAADEs2XAB8-7TelfobrMhA9_jxB71Dn4BtW4" TargetMode="External"/><Relationship Id="rId2" Type="http://schemas.openxmlformats.org/officeDocument/2006/relationships/diagramData" Target="../diagrams/data248.xml"/><Relationship Id="rId16" Type="http://schemas.openxmlformats.org/officeDocument/2006/relationships/hyperlink" Target="https://github.com/PacktPublishing/Building-Agentic-AI-Systems" TargetMode="External"/><Relationship Id="rId20" Type="http://schemas.openxmlformats.org/officeDocument/2006/relationships/hyperlink" Target="https://www.linkedin.com/posts/greg-coquillo_llm-genai-aiagents-activity-7328071598085734400-mrNt/?utm_source=share&amp;utm_medium=member_desktop&amp;rcm=ACoAADEs2XAB8-7TelfobrMhA9_jxB71Dn4BtW4" TargetMode="External"/><Relationship Id="rId1" Type="http://schemas.openxmlformats.org/officeDocument/2006/relationships/slideLayout" Target="../slideLayouts/slideLayout2.xml"/><Relationship Id="rId6" Type="http://schemas.microsoft.com/office/2007/relationships/diagramDrawing" Target="../diagrams/drawing248.xml"/><Relationship Id="rId11" Type="http://schemas.openxmlformats.org/officeDocument/2006/relationships/hyperlink" Target="https://www.linkedin.com/posts/kirankanwar_linkedinlearning-ai-sql-activity-7319891093209169922-s6ZT/?utm_source=share&amp;utm_medium=member_desktop&amp;rcm=ACoAADEs2XAB8-7TelfobrMhA9_jxB71Dn4BtW4" TargetMode="External"/><Relationship Id="rId24" Type="http://schemas.openxmlformats.org/officeDocument/2006/relationships/hyperlink" Target="https://roadmap.sh/ai-agents" TargetMode="External"/><Relationship Id="rId5" Type="http://schemas.openxmlformats.org/officeDocument/2006/relationships/diagramColors" Target="../diagrams/colors248.xml"/><Relationship Id="rId15" Type="http://schemas.openxmlformats.org/officeDocument/2006/relationships/hyperlink" Target="https://www.linkedin.com/posts/brijpandeyji_%F0%9D%97%9F%F0%9D%97%9F%F0%9D%97%A0%F0%9D%98%80-%F0%9D%97%B0%F0%9D%97%AE%F0%9D%97%BB-%F0%9D%97%B4%F0%9D%97%B2%F0%9D%97%BB%F0%9D%97%B2%F0%9D%97%BF%F0%9D%97%AE%F0%9D%98%81%F0%9D%97%B2-%F0%9D%97%95%F0%9D%98%82%F0%9D%98%81-activity-7323002214422093824-ZC6s/?utm_source=share&amp;utm_medium=member_desktop&amp;rcm=ACoAADEs2XAB8-7TelfobrMhA9_jxB71Dn4BtW4" TargetMode="External"/><Relationship Id="rId23" Type="http://schemas.openxmlformats.org/officeDocument/2006/relationships/hyperlink" Target="https://roadmap.sh/ai-engineer" TargetMode="External"/><Relationship Id="rId10" Type="http://schemas.openxmlformats.org/officeDocument/2006/relationships/hyperlink" Target="https://www.linkedin.com/posts/activity-7319402305856974849-Vlff/?utm_source=share&amp;utm_medium=member_desktop&amp;rcm=ACoAADEs2XAB8-7TelfobrMhA9_jxB71Dn4BtW4" TargetMode="External"/><Relationship Id="rId19" Type="http://schemas.openxmlformats.org/officeDocument/2006/relationships/hyperlink" Target="https://www.linkedin.com/posts/brijpandeyji_ai-agents-are-rapidly-moving-from-concept-activity-7328077865940365312-bbq3/?utm_source=share&amp;utm_medium=member_desktop&amp;rcm=ACoAADEs2XAB8-7TelfobrMhA9_jxB71Dn4BtW4" TargetMode="External"/><Relationship Id="rId4" Type="http://schemas.openxmlformats.org/officeDocument/2006/relationships/diagramQuickStyle" Target="../diagrams/quickStyle248.xml"/><Relationship Id="rId9" Type="http://schemas.openxmlformats.org/officeDocument/2006/relationships/hyperlink" Target="https://www.linkedin.com/posts/activity-7321942059437756416-gok8/?utm_source=share&amp;utm_medium=member_desktop&amp;rcm=ACoAADEs2XAB8-7TelfobrMhA9_jxB71Dn4BtW4" TargetMode="External"/><Relationship Id="rId14" Type="http://schemas.openxmlformats.org/officeDocument/2006/relationships/hyperlink" Target="https://www.reddit.com/r/LLMDevs/comments/1k4gdmr/emerging_internet_of_ai_agents_mcp_vs_a2a_vs/" TargetMode="External"/><Relationship Id="rId22" Type="http://schemas.openxmlformats.org/officeDocument/2006/relationships/hyperlink" Target="https://www.linkedin.com/posts/areganti_report-ugcPost-7374165606167908353-z3hH/?utm_source=share&amp;utm_medium=member_desktop&amp;rcm=ACoAADEs2XAB8-7TelfobrMhA9_jxB71Dn4BtW4" TargetMode="External"/></Relationships>
</file>

<file path=ppt/slides/_rels/slide249.xml.rels><?xml version="1.0" encoding="UTF-8" standalone="yes"?>
<Relationships xmlns="http://schemas.openxmlformats.org/package/2006/relationships"><Relationship Id="rId3" Type="http://schemas.openxmlformats.org/officeDocument/2006/relationships/diagramLayout" Target="../diagrams/layout249.xml"/><Relationship Id="rId2" Type="http://schemas.openxmlformats.org/officeDocument/2006/relationships/diagramData" Target="../diagrams/data249.xml"/><Relationship Id="rId1" Type="http://schemas.openxmlformats.org/officeDocument/2006/relationships/slideLayout" Target="../slideLayouts/slideLayout2.xml"/><Relationship Id="rId6" Type="http://schemas.microsoft.com/office/2007/relationships/diagramDrawing" Target="../diagrams/drawing249.xml"/><Relationship Id="rId5" Type="http://schemas.openxmlformats.org/officeDocument/2006/relationships/diagramColors" Target="../diagrams/colors249.xml"/><Relationship Id="rId4" Type="http://schemas.openxmlformats.org/officeDocument/2006/relationships/diagramQuickStyle" Target="../diagrams/quickStyle249.xml"/></Relationships>
</file>

<file path=ppt/slides/_rels/slide250.xml.rels><?xml version="1.0" encoding="UTF-8" standalone="yes"?>
<Relationships xmlns="http://schemas.openxmlformats.org/package/2006/relationships"><Relationship Id="rId8" Type="http://schemas.openxmlformats.org/officeDocument/2006/relationships/hyperlink" Target="https://www.syncfusion.com/succinctly-free-ebooks/assemblylanguage" TargetMode="External"/><Relationship Id="rId3" Type="http://schemas.openxmlformats.org/officeDocument/2006/relationships/diagramLayout" Target="../diagrams/layout250.xml"/><Relationship Id="rId7" Type="http://schemas.openxmlformats.org/officeDocument/2006/relationships/hyperlink" Target="https://en.wikipedia.org/wiki/Neural_Engineering_Object" TargetMode="External"/><Relationship Id="rId12" Type="http://schemas.openxmlformats.org/officeDocument/2006/relationships/hyperlink" Target="https://en.wikipedia.org/wiki/Very-large-scale_integration" TargetMode="External"/><Relationship Id="rId2" Type="http://schemas.openxmlformats.org/officeDocument/2006/relationships/diagramData" Target="../diagrams/data250.xml"/><Relationship Id="rId1" Type="http://schemas.openxmlformats.org/officeDocument/2006/relationships/slideLayout" Target="../slideLayouts/slideLayout2.xml"/><Relationship Id="rId6" Type="http://schemas.microsoft.com/office/2007/relationships/diagramDrawing" Target="../diagrams/drawing250.xml"/><Relationship Id="rId11" Type="http://schemas.openxmlformats.org/officeDocument/2006/relationships/hyperlink" Target="https://www.tutorialspoint.com/vlsi_design/vlsi_design_quick_guide.htm" TargetMode="External"/><Relationship Id="rId5" Type="http://schemas.openxmlformats.org/officeDocument/2006/relationships/diagramColors" Target="../diagrams/colors250.xml"/><Relationship Id="rId10" Type="http://schemas.openxmlformats.org/officeDocument/2006/relationships/hyperlink" Target="https://www.guvi.in/blog/types-of-vlsi-design/" TargetMode="External"/><Relationship Id="rId4" Type="http://schemas.openxmlformats.org/officeDocument/2006/relationships/diagramQuickStyle" Target="../diagrams/quickStyle250.xml"/><Relationship Id="rId9" Type="http://schemas.openxmlformats.org/officeDocument/2006/relationships/hyperlink" Target="https://www.researchgate.net/figure/Types-of-VLSI-Design-flows_fig1_340624586" TargetMode="External"/></Relationships>
</file>

<file path=ppt/slides/_rels/slide251.xml.rels><?xml version="1.0" encoding="UTF-8" standalone="yes"?>
<Relationships xmlns="http://schemas.openxmlformats.org/package/2006/relationships"><Relationship Id="rId8" Type="http://schemas.openxmlformats.org/officeDocument/2006/relationships/hyperlink" Target="https://github.com/windmaple/awesome-AutoML" TargetMode="External"/><Relationship Id="rId3" Type="http://schemas.openxmlformats.org/officeDocument/2006/relationships/diagramLayout" Target="../diagrams/layout251.xml"/><Relationship Id="rId7" Type="http://schemas.openxmlformats.org/officeDocument/2006/relationships/hyperlink" Target="https://www.leewayhertz.com/automl/" TargetMode="External"/><Relationship Id="rId2" Type="http://schemas.openxmlformats.org/officeDocument/2006/relationships/diagramData" Target="../diagrams/data251.xml"/><Relationship Id="rId1" Type="http://schemas.openxmlformats.org/officeDocument/2006/relationships/slideLayout" Target="../slideLayouts/slideLayout2.xml"/><Relationship Id="rId6" Type="http://schemas.microsoft.com/office/2007/relationships/diagramDrawing" Target="../diagrams/drawing251.xml"/><Relationship Id="rId11" Type="http://schemas.openxmlformats.org/officeDocument/2006/relationships/image" Target="../media/image59.png"/><Relationship Id="rId5" Type="http://schemas.openxmlformats.org/officeDocument/2006/relationships/diagramColors" Target="../diagrams/colors251.xml"/><Relationship Id="rId10" Type="http://schemas.openxmlformats.org/officeDocument/2006/relationships/hyperlink" Target="https://github.com/cxbxmxcx/EvolutionaryDeepLearning" TargetMode="External"/><Relationship Id="rId4" Type="http://schemas.openxmlformats.org/officeDocument/2006/relationships/diagramQuickStyle" Target="../diagrams/quickStyle251.xml"/><Relationship Id="rId9" Type="http://schemas.openxmlformats.org/officeDocument/2006/relationships/hyperlink" Target="https://github.com/Jason2Brownlee/Awesome-AutoML-Books" TargetMode="External"/></Relationships>
</file>

<file path=ppt/slides/_rels/slide252.xml.rels><?xml version="1.0" encoding="UTF-8" standalone="yes"?>
<Relationships xmlns="http://schemas.openxmlformats.org/package/2006/relationships"><Relationship Id="rId8" Type="http://schemas.openxmlformats.org/officeDocument/2006/relationships/hyperlink" Target="https://neptune.ai/blog/retraining-model-during-deployment-continuous-training-continuous-testing" TargetMode="External"/><Relationship Id="rId13" Type="http://schemas.openxmlformats.org/officeDocument/2006/relationships/hyperlink" Target="https://github.com/PacktPublishing/Machine-Learning-Engineering-with-Python-Second-Edition" TargetMode="External"/><Relationship Id="rId18" Type="http://schemas.openxmlformats.org/officeDocument/2006/relationships/image" Target="../media/image60.png"/><Relationship Id="rId3" Type="http://schemas.openxmlformats.org/officeDocument/2006/relationships/diagramLayout" Target="../diagrams/layout252.xml"/><Relationship Id="rId7" Type="http://schemas.openxmlformats.org/officeDocument/2006/relationships/hyperlink" Target="https://rafay.co/the-kubernetes-current/cpus-and-gpus-what-to-use-when-for-ai-ml-workloads/" TargetMode="External"/><Relationship Id="rId12" Type="http://schemas.openxmlformats.org/officeDocument/2006/relationships/hyperlink" Target="https://huyenchip.com/mlops/" TargetMode="External"/><Relationship Id="rId17" Type="http://schemas.openxmlformats.org/officeDocument/2006/relationships/hyperlink" Target="https://www.manning.com/books/build-a-machine-learning-platform-from-scratch" TargetMode="External"/><Relationship Id="rId2" Type="http://schemas.openxmlformats.org/officeDocument/2006/relationships/diagramData" Target="../diagrams/data252.xml"/><Relationship Id="rId16" Type="http://schemas.openxmlformats.org/officeDocument/2006/relationships/hyperlink" Target="https://neptune.ai/blog/ml-platform-guide" TargetMode="External"/><Relationship Id="rId1" Type="http://schemas.openxmlformats.org/officeDocument/2006/relationships/slideLayout" Target="../slideLayouts/slideLayout2.xml"/><Relationship Id="rId6" Type="http://schemas.microsoft.com/office/2007/relationships/diagramDrawing" Target="../diagrams/drawing252.xml"/><Relationship Id="rId11" Type="http://schemas.openxmlformats.org/officeDocument/2006/relationships/hyperlink" Target="https://mlops-guide.github.io/" TargetMode="External"/><Relationship Id="rId5" Type="http://schemas.openxmlformats.org/officeDocument/2006/relationships/diagramColors" Target="../diagrams/colors252.xml"/><Relationship Id="rId15" Type="http://schemas.openxmlformats.org/officeDocument/2006/relationships/hyperlink" Target="https://github.com/GoogleCloudPlatform/ml-design-patterns" TargetMode="External"/><Relationship Id="rId10" Type="http://schemas.openxmlformats.org/officeDocument/2006/relationships/hyperlink" Target="https://www.linkedin.com/posts/pauliusztin_machinelearning-mlops-datascience-activity-7230907072484171776-2YJh/" TargetMode="External"/><Relationship Id="rId4" Type="http://schemas.openxmlformats.org/officeDocument/2006/relationships/diagramQuickStyle" Target="../diagrams/quickStyle252.xml"/><Relationship Id="rId9" Type="http://schemas.openxmlformats.org/officeDocument/2006/relationships/hyperlink" Target="https://www.linkedin.com/posts/eric-vyacheslav-156273169_this-repo-covers-everything-you-need-to-know-activity-7243620171435671552-bLKk/" TargetMode="External"/><Relationship Id="rId14" Type="http://schemas.openxmlformats.org/officeDocument/2006/relationships/hyperlink" Target="https://roadmap.sh/mlops" TargetMode="External"/></Relationships>
</file>

<file path=ppt/slides/_rels/slide253.xml.rels><?xml version="1.0" encoding="UTF-8" standalone="yes"?>
<Relationships xmlns="http://schemas.openxmlformats.org/package/2006/relationships"><Relationship Id="rId3" Type="http://schemas.openxmlformats.org/officeDocument/2006/relationships/diagramLayout" Target="../diagrams/layout253.xml"/><Relationship Id="rId2" Type="http://schemas.openxmlformats.org/officeDocument/2006/relationships/diagramData" Target="../diagrams/data253.xml"/><Relationship Id="rId1" Type="http://schemas.openxmlformats.org/officeDocument/2006/relationships/slideLayout" Target="../slideLayouts/slideLayout2.xml"/><Relationship Id="rId6" Type="http://schemas.microsoft.com/office/2007/relationships/diagramDrawing" Target="../diagrams/drawing253.xml"/><Relationship Id="rId5" Type="http://schemas.openxmlformats.org/officeDocument/2006/relationships/diagramColors" Target="../diagrams/colors253.xml"/><Relationship Id="rId4" Type="http://schemas.openxmlformats.org/officeDocument/2006/relationships/diagramQuickStyle" Target="../diagrams/quickStyle253.xml"/></Relationships>
</file>

<file path=ppt/slides/_rels/slide254.xml.rels><?xml version="1.0" encoding="UTF-8" standalone="yes"?>
<Relationships xmlns="http://schemas.openxmlformats.org/package/2006/relationships"><Relationship Id="rId3" Type="http://schemas.openxmlformats.org/officeDocument/2006/relationships/diagramLayout" Target="../diagrams/layout254.xml"/><Relationship Id="rId2" Type="http://schemas.openxmlformats.org/officeDocument/2006/relationships/diagramData" Target="../diagrams/data254.xml"/><Relationship Id="rId1" Type="http://schemas.openxmlformats.org/officeDocument/2006/relationships/slideLayout" Target="../slideLayouts/slideLayout2.xml"/><Relationship Id="rId6" Type="http://schemas.microsoft.com/office/2007/relationships/diagramDrawing" Target="../diagrams/drawing254.xml"/><Relationship Id="rId5" Type="http://schemas.openxmlformats.org/officeDocument/2006/relationships/diagramColors" Target="../diagrams/colors254.xml"/><Relationship Id="rId4" Type="http://schemas.openxmlformats.org/officeDocument/2006/relationships/diagramQuickStyle" Target="../diagrams/quickStyle254.xml"/></Relationships>
</file>

<file path=ppt/slides/_rels/slide255.xml.rels><?xml version="1.0" encoding="UTF-8" standalone="yes"?>
<Relationships xmlns="http://schemas.openxmlformats.org/package/2006/relationships"><Relationship Id="rId8" Type="http://schemas.openxmlformats.org/officeDocument/2006/relationships/hyperlink" Target="https://www.datacamp.com/blog/tpu-vs-gpu-ai" TargetMode="External"/><Relationship Id="rId3" Type="http://schemas.openxmlformats.org/officeDocument/2006/relationships/diagramLayout" Target="../diagrams/layout255.xml"/><Relationship Id="rId7" Type="http://schemas.openxmlformats.org/officeDocument/2006/relationships/hyperlink" Target="https://blog.google/technology/ai/difference-cpu-gpu-tpu-trillium/" TargetMode="External"/><Relationship Id="rId2" Type="http://schemas.openxmlformats.org/officeDocument/2006/relationships/diagramData" Target="../diagrams/data255.xml"/><Relationship Id="rId1" Type="http://schemas.openxmlformats.org/officeDocument/2006/relationships/slideLayout" Target="../slideLayouts/slideLayout2.xml"/><Relationship Id="rId6" Type="http://schemas.microsoft.com/office/2007/relationships/diagramDrawing" Target="../diagrams/drawing255.xml"/><Relationship Id="rId5" Type="http://schemas.openxmlformats.org/officeDocument/2006/relationships/diagramColors" Target="../diagrams/colors255.xml"/><Relationship Id="rId4" Type="http://schemas.openxmlformats.org/officeDocument/2006/relationships/diagramQuickStyle" Target="../diagrams/quickStyle255.xml"/></Relationships>
</file>

<file path=ppt/slides/_rels/slide256.xml.rels><?xml version="1.0" encoding="UTF-8" standalone="yes"?>
<Relationships xmlns="http://schemas.openxmlformats.org/package/2006/relationships"><Relationship Id="rId3" Type="http://schemas.openxmlformats.org/officeDocument/2006/relationships/diagramLayout" Target="../diagrams/layout256.xml"/><Relationship Id="rId7" Type="http://schemas.openxmlformats.org/officeDocument/2006/relationships/image" Target="../media/image61.png"/><Relationship Id="rId2" Type="http://schemas.openxmlformats.org/officeDocument/2006/relationships/diagramData" Target="../diagrams/data256.xml"/><Relationship Id="rId1" Type="http://schemas.openxmlformats.org/officeDocument/2006/relationships/slideLayout" Target="../slideLayouts/slideLayout2.xml"/><Relationship Id="rId6" Type="http://schemas.microsoft.com/office/2007/relationships/diagramDrawing" Target="../diagrams/drawing256.xml"/><Relationship Id="rId5" Type="http://schemas.openxmlformats.org/officeDocument/2006/relationships/diagramColors" Target="../diagrams/colors256.xml"/><Relationship Id="rId4" Type="http://schemas.openxmlformats.org/officeDocument/2006/relationships/diagramQuickStyle" Target="../diagrams/quickStyle256.xml"/></Relationships>
</file>

<file path=ppt/slides/_rels/slide257.xml.rels><?xml version="1.0" encoding="UTF-8" standalone="yes"?>
<Relationships xmlns="http://schemas.openxmlformats.org/package/2006/relationships"><Relationship Id="rId8" Type="http://schemas.openxmlformats.org/officeDocument/2006/relationships/hyperlink" Target="https://www.telesens.co/2017/12/25/understanding-data-parallelism-in-machine-learning/" TargetMode="External"/><Relationship Id="rId13" Type="http://schemas.openxmlformats.org/officeDocument/2006/relationships/hyperlink" Target="https://learn.nvidia.com/courses/course-detail?course_id=course-v1:DLI+C-DS-02+V2" TargetMode="External"/><Relationship Id="rId3" Type="http://schemas.openxmlformats.org/officeDocument/2006/relationships/diagramLayout" Target="../diagrams/layout257.xml"/><Relationship Id="rId7" Type="http://schemas.openxmlformats.org/officeDocument/2006/relationships/hyperlink" Target="https://intellicoworks.com/distributed-machine-learning/" TargetMode="External"/><Relationship Id="rId12" Type="http://schemas.openxmlformats.org/officeDocument/2006/relationships/hyperlink" Target="https://github.com/ray-project/ray" TargetMode="External"/><Relationship Id="rId2" Type="http://schemas.openxmlformats.org/officeDocument/2006/relationships/diagramData" Target="../diagrams/data257.xml"/><Relationship Id="rId1" Type="http://schemas.openxmlformats.org/officeDocument/2006/relationships/slideLayout" Target="../slideLayouts/slideLayout2.xml"/><Relationship Id="rId6" Type="http://schemas.microsoft.com/office/2007/relationships/diagramDrawing" Target="../diagrams/drawing257.xml"/><Relationship Id="rId11" Type="http://schemas.openxmlformats.org/officeDocument/2006/relationships/hyperlink" Target="https://github.com/terrytangyuan/distributed-ml-patterns" TargetMode="External"/><Relationship Id="rId5" Type="http://schemas.openxmlformats.org/officeDocument/2006/relationships/diagramColors" Target="../diagrams/colors257.xml"/><Relationship Id="rId15" Type="http://schemas.openxmlformats.org/officeDocument/2006/relationships/hyperlink" Target="https://learn.nvidia.com/courses/course-detail?course_id=course-v1:DLI+C-DS-04+V1" TargetMode="External"/><Relationship Id="rId10" Type="http://schemas.openxmlformats.org/officeDocument/2006/relationships/hyperlink" Target="https://github.com/PacktPublishing/Distributed-Machine-Learning-with-Python" TargetMode="External"/><Relationship Id="rId4" Type="http://schemas.openxmlformats.org/officeDocument/2006/relationships/diagramQuickStyle" Target="../diagrams/quickStyle257.xml"/><Relationship Id="rId9" Type="http://schemas.openxmlformats.org/officeDocument/2006/relationships/hyperlink" Target="https://docs.aws.amazon.com/sagemaker/latest/dg/model-parallel-intro.html" TargetMode="External"/><Relationship Id="rId14" Type="http://schemas.openxmlformats.org/officeDocument/2006/relationships/hyperlink" Target="https://learn.nvidia.com/courses/course-detail?course_id=course-v1:DLI+S-DS-01+V2" TargetMode="External"/></Relationships>
</file>

<file path=ppt/slides/_rels/slide258.xml.rels><?xml version="1.0" encoding="UTF-8" standalone="yes"?>
<Relationships xmlns="http://schemas.openxmlformats.org/package/2006/relationships"><Relationship Id="rId3" Type="http://schemas.openxmlformats.org/officeDocument/2006/relationships/diagramLayout" Target="../diagrams/layout258.xml"/><Relationship Id="rId7" Type="http://schemas.openxmlformats.org/officeDocument/2006/relationships/image" Target="../media/image62.png"/><Relationship Id="rId2" Type="http://schemas.openxmlformats.org/officeDocument/2006/relationships/diagramData" Target="../diagrams/data258.xml"/><Relationship Id="rId1" Type="http://schemas.openxmlformats.org/officeDocument/2006/relationships/slideLayout" Target="../slideLayouts/slideLayout2.xml"/><Relationship Id="rId6" Type="http://schemas.microsoft.com/office/2007/relationships/diagramDrawing" Target="../diagrams/drawing258.xml"/><Relationship Id="rId5" Type="http://schemas.openxmlformats.org/officeDocument/2006/relationships/diagramColors" Target="../diagrams/colors258.xml"/><Relationship Id="rId4" Type="http://schemas.openxmlformats.org/officeDocument/2006/relationships/diagramQuickStyle" Target="../diagrams/quickStyle258.xml"/></Relationships>
</file>

<file path=ppt/slides/_rels/slide259.xml.rels><?xml version="1.0" encoding="UTF-8" standalone="yes"?>
<Relationships xmlns="http://schemas.openxmlformats.org/package/2006/relationships"><Relationship Id="rId3" Type="http://schemas.openxmlformats.org/officeDocument/2006/relationships/diagramLayout" Target="../diagrams/layout259.xml"/><Relationship Id="rId7" Type="http://schemas.openxmlformats.org/officeDocument/2006/relationships/image" Target="../media/image63.png"/><Relationship Id="rId2" Type="http://schemas.openxmlformats.org/officeDocument/2006/relationships/diagramData" Target="../diagrams/data259.xml"/><Relationship Id="rId1" Type="http://schemas.openxmlformats.org/officeDocument/2006/relationships/slideLayout" Target="../slideLayouts/slideLayout2.xml"/><Relationship Id="rId6" Type="http://schemas.microsoft.com/office/2007/relationships/diagramDrawing" Target="../diagrams/drawing259.xml"/><Relationship Id="rId5" Type="http://schemas.openxmlformats.org/officeDocument/2006/relationships/diagramColors" Target="../diagrams/colors259.xml"/><Relationship Id="rId4" Type="http://schemas.openxmlformats.org/officeDocument/2006/relationships/diagramQuickStyle" Target="../diagrams/quickStyle259.xml"/></Relationships>
</file>

<file path=ppt/slides/_rels/slide260.xml.rels><?xml version="1.0" encoding="UTF-8" standalone="yes"?>
<Relationships xmlns="http://schemas.openxmlformats.org/package/2006/relationships"><Relationship Id="rId3" Type="http://schemas.openxmlformats.org/officeDocument/2006/relationships/diagramLayout" Target="../diagrams/layout260.xml"/><Relationship Id="rId2" Type="http://schemas.openxmlformats.org/officeDocument/2006/relationships/diagramData" Target="../diagrams/data260.xml"/><Relationship Id="rId1" Type="http://schemas.openxmlformats.org/officeDocument/2006/relationships/slideLayout" Target="../slideLayouts/slideLayout2.xml"/><Relationship Id="rId6" Type="http://schemas.microsoft.com/office/2007/relationships/diagramDrawing" Target="../diagrams/drawing260.xml"/><Relationship Id="rId5" Type="http://schemas.openxmlformats.org/officeDocument/2006/relationships/diagramColors" Target="../diagrams/colors260.xml"/><Relationship Id="rId4" Type="http://schemas.openxmlformats.org/officeDocument/2006/relationships/diagramQuickStyle" Target="../diagrams/quickStyle260.xml"/></Relationships>
</file>

<file path=ppt/slides/_rels/slide261.xml.rels><?xml version="1.0" encoding="UTF-8" standalone="yes"?>
<Relationships xmlns="http://schemas.openxmlformats.org/package/2006/relationships"><Relationship Id="rId3" Type="http://schemas.openxmlformats.org/officeDocument/2006/relationships/diagramLayout" Target="../diagrams/layout261.xml"/><Relationship Id="rId2" Type="http://schemas.openxmlformats.org/officeDocument/2006/relationships/diagramData" Target="../diagrams/data261.xml"/><Relationship Id="rId1" Type="http://schemas.openxmlformats.org/officeDocument/2006/relationships/slideLayout" Target="../slideLayouts/slideLayout2.xml"/><Relationship Id="rId6" Type="http://schemas.microsoft.com/office/2007/relationships/diagramDrawing" Target="../diagrams/drawing261.xml"/><Relationship Id="rId5" Type="http://schemas.openxmlformats.org/officeDocument/2006/relationships/diagramColors" Target="../diagrams/colors261.xml"/><Relationship Id="rId4" Type="http://schemas.openxmlformats.org/officeDocument/2006/relationships/diagramQuickStyle" Target="../diagrams/quickStyle261.xml"/></Relationships>
</file>

<file path=ppt/slides/_rels/slide262.xml.rels><?xml version="1.0" encoding="UTF-8" standalone="yes"?>
<Relationships xmlns="http://schemas.openxmlformats.org/package/2006/relationships"><Relationship Id="rId3" Type="http://schemas.openxmlformats.org/officeDocument/2006/relationships/diagramLayout" Target="../diagrams/layout262.xml"/><Relationship Id="rId2" Type="http://schemas.openxmlformats.org/officeDocument/2006/relationships/diagramData" Target="../diagrams/data262.xml"/><Relationship Id="rId1" Type="http://schemas.openxmlformats.org/officeDocument/2006/relationships/slideLayout" Target="../slideLayouts/slideLayout2.xml"/><Relationship Id="rId6" Type="http://schemas.microsoft.com/office/2007/relationships/diagramDrawing" Target="../diagrams/drawing262.xml"/><Relationship Id="rId5" Type="http://schemas.openxmlformats.org/officeDocument/2006/relationships/diagramColors" Target="../diagrams/colors262.xml"/><Relationship Id="rId4" Type="http://schemas.openxmlformats.org/officeDocument/2006/relationships/diagramQuickStyle" Target="../diagrams/quickStyle262.xml"/></Relationships>
</file>

<file path=ppt/slides/_rels/slide263.xml.rels><?xml version="1.0" encoding="UTF-8" standalone="yes"?>
<Relationships xmlns="http://schemas.openxmlformats.org/package/2006/relationships"><Relationship Id="rId3" Type="http://schemas.openxmlformats.org/officeDocument/2006/relationships/diagramLayout" Target="../diagrams/layout263.xml"/><Relationship Id="rId2" Type="http://schemas.openxmlformats.org/officeDocument/2006/relationships/diagramData" Target="../diagrams/data263.xml"/><Relationship Id="rId1" Type="http://schemas.openxmlformats.org/officeDocument/2006/relationships/slideLayout" Target="../slideLayouts/slideLayout2.xml"/><Relationship Id="rId6" Type="http://schemas.microsoft.com/office/2007/relationships/diagramDrawing" Target="../diagrams/drawing263.xml"/><Relationship Id="rId5" Type="http://schemas.openxmlformats.org/officeDocument/2006/relationships/diagramColors" Target="../diagrams/colors263.xml"/><Relationship Id="rId4" Type="http://schemas.openxmlformats.org/officeDocument/2006/relationships/diagramQuickStyle" Target="../diagrams/quickStyle263.xml"/></Relationships>
</file>

<file path=ppt/slides/_rels/slide264.xml.rels><?xml version="1.0" encoding="UTF-8" standalone="yes"?>
<Relationships xmlns="http://schemas.openxmlformats.org/package/2006/relationships"><Relationship Id="rId3" Type="http://schemas.openxmlformats.org/officeDocument/2006/relationships/diagramLayout" Target="../diagrams/layout264.xml"/><Relationship Id="rId2" Type="http://schemas.openxmlformats.org/officeDocument/2006/relationships/diagramData" Target="../diagrams/data264.xml"/><Relationship Id="rId1" Type="http://schemas.openxmlformats.org/officeDocument/2006/relationships/slideLayout" Target="../slideLayouts/slideLayout2.xml"/><Relationship Id="rId6" Type="http://schemas.microsoft.com/office/2007/relationships/diagramDrawing" Target="../diagrams/drawing264.xml"/><Relationship Id="rId5" Type="http://schemas.openxmlformats.org/officeDocument/2006/relationships/diagramColors" Target="../diagrams/colors264.xml"/><Relationship Id="rId4" Type="http://schemas.openxmlformats.org/officeDocument/2006/relationships/diagramQuickStyle" Target="../diagrams/quickStyle264.xml"/></Relationships>
</file>

<file path=ppt/slides/_rels/slide265.xml.rels><?xml version="1.0" encoding="UTF-8" standalone="yes"?>
<Relationships xmlns="http://schemas.openxmlformats.org/package/2006/relationships"><Relationship Id="rId3" Type="http://schemas.openxmlformats.org/officeDocument/2006/relationships/diagramLayout" Target="../diagrams/layout265.xml"/><Relationship Id="rId2" Type="http://schemas.openxmlformats.org/officeDocument/2006/relationships/diagramData" Target="../diagrams/data265.xml"/><Relationship Id="rId1" Type="http://schemas.openxmlformats.org/officeDocument/2006/relationships/slideLayout" Target="../slideLayouts/slideLayout2.xml"/><Relationship Id="rId6" Type="http://schemas.microsoft.com/office/2007/relationships/diagramDrawing" Target="../diagrams/drawing265.xml"/><Relationship Id="rId5" Type="http://schemas.openxmlformats.org/officeDocument/2006/relationships/diagramColors" Target="../diagrams/colors265.xml"/><Relationship Id="rId4" Type="http://schemas.openxmlformats.org/officeDocument/2006/relationships/diagramQuickStyle" Target="../diagrams/quickStyle265.xml"/></Relationships>
</file>

<file path=ppt/slides/_rels/slide266.xml.rels><?xml version="1.0" encoding="UTF-8" standalone="yes"?>
<Relationships xmlns="http://schemas.openxmlformats.org/package/2006/relationships"><Relationship Id="rId8" Type="http://schemas.openxmlformats.org/officeDocument/2006/relationships/hyperlink" Target="https://www.xenonstack.com/blog/responsible-ai-principles/" TargetMode="External"/><Relationship Id="rId13" Type="http://schemas.openxmlformats.org/officeDocument/2006/relationships/hyperlink" Target="https://learn.microsoft.com/en-us/azure/machine-learning/concept-responsible-ai-dashboard?view=azureml-api-2" TargetMode="External"/><Relationship Id="rId18" Type="http://schemas.openxmlformats.org/officeDocument/2006/relationships/hyperlink" Target="https://www.cimplifi.com/resources/transparency-explainability-and-interpretability-of-ai/" TargetMode="External"/><Relationship Id="rId3" Type="http://schemas.openxmlformats.org/officeDocument/2006/relationships/diagramLayout" Target="../diagrams/layout266.xml"/><Relationship Id="rId21" Type="http://schemas.openxmlformats.org/officeDocument/2006/relationships/hyperlink" Target="https://www.analyticsvidhya.com/blog/2022/02/privacy-preserving-in-machine-learning-ppml/" TargetMode="External"/><Relationship Id="rId7" Type="http://schemas.openxmlformats.org/officeDocument/2006/relationships/hyperlink" Target="https://insights.daffodilsw.com/blog/demystifying-responsible-ai-principles-and-best-practices-for-ethical-ai-implementation" TargetMode="External"/><Relationship Id="rId12" Type="http://schemas.openxmlformats.org/officeDocument/2006/relationships/hyperlink" Target="https://ai.google/responsibility/principles/#our-ai-principles-in-action" TargetMode="External"/><Relationship Id="rId17" Type="http://schemas.openxmlformats.org/officeDocument/2006/relationships/hyperlink" Target="https://www.techtarget.com/searchenterpriseai/tip/Generative-AI-ethics-8-biggest-concerns" TargetMode="External"/><Relationship Id="rId2" Type="http://schemas.openxmlformats.org/officeDocument/2006/relationships/diagramData" Target="../diagrams/data266.xml"/><Relationship Id="rId16" Type="http://schemas.openxmlformats.org/officeDocument/2006/relationships/hyperlink" Target="https://github.com/cisco-open/ResponsibleAI" TargetMode="External"/><Relationship Id="rId20" Type="http://schemas.openxmlformats.org/officeDocument/2006/relationships/hyperlink" Target="https://www.xenonstack.com/blog/human-centred-ai" TargetMode="External"/><Relationship Id="rId1" Type="http://schemas.openxmlformats.org/officeDocument/2006/relationships/slideLayout" Target="../slideLayouts/slideLayout2.xml"/><Relationship Id="rId6" Type="http://schemas.microsoft.com/office/2007/relationships/diagramDrawing" Target="../diagrams/drawing266.xml"/><Relationship Id="rId11" Type="http://schemas.openxmlformats.org/officeDocument/2006/relationships/hyperlink" Target="https://aws.amazon.com/ai/responsible-ai/" TargetMode="External"/><Relationship Id="rId24" Type="http://schemas.openxmlformats.org/officeDocument/2006/relationships/hyperlink" Target="https://www.linkedin.com/posts/pradeeps_ai-risk-repository-ugcPost-7327752920660094976-A8Oc/?utm_source=share&amp;utm_medium=member_desktop&amp;rcm=ACoAADEs2XAB8-7TelfobrMhA9_jxB71Dn4BtW4" TargetMode="External"/><Relationship Id="rId5" Type="http://schemas.openxmlformats.org/officeDocument/2006/relationships/diagramColors" Target="../diagrams/colors266.xml"/><Relationship Id="rId15" Type="http://schemas.openxmlformats.org/officeDocument/2006/relationships/hyperlink" Target="https://www.techtarget.com/searchenterpriseai/feature/6-ways-to-reduce-different-types-of-bias-in-machine-learning" TargetMode="External"/><Relationship Id="rId23" Type="http://schemas.openxmlformats.org/officeDocument/2006/relationships/hyperlink" Target="https://www.blockchaintetheredai.com/" TargetMode="External"/><Relationship Id="rId10" Type="http://schemas.openxmlformats.org/officeDocument/2006/relationships/hyperlink" Target="https://github.com/PacktPublishing/Platform-and-Model-Design-for-Responsible-AI" TargetMode="External"/><Relationship Id="rId19" Type="http://schemas.openxmlformats.org/officeDocument/2006/relationships/hyperlink" Target="https://www.redhat.com/en/blog/building-trust-foundations-security-safety-and-transparency-ai" TargetMode="External"/><Relationship Id="rId4" Type="http://schemas.openxmlformats.org/officeDocument/2006/relationships/diagramQuickStyle" Target="../diagrams/quickStyle266.xml"/><Relationship Id="rId9" Type="http://schemas.openxmlformats.org/officeDocument/2006/relationships/hyperlink" Target="https://www.cognizant.com/us/en/about-cognizant/responsible-ai" TargetMode="External"/><Relationship Id="rId14" Type="http://schemas.openxmlformats.org/officeDocument/2006/relationships/hyperlink" Target="https://www.kaggle.com/code/alexisbcook/ai-fairness" TargetMode="External"/><Relationship Id="rId22" Type="http://schemas.openxmlformats.org/officeDocument/2006/relationships/hyperlink" Target="https://aws.amazon.com/blogs/security/securing-generative-ai-an-introduction-to-the-generative-ai-security-scoping-matrix/" TargetMode="External"/></Relationships>
</file>

<file path=ppt/slides/_rels/slide2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3" Type="http://schemas.openxmlformats.org/officeDocument/2006/relationships/diagramLayout" Target="../diagrams/layout267.xml"/><Relationship Id="rId2" Type="http://schemas.openxmlformats.org/officeDocument/2006/relationships/diagramData" Target="../diagrams/data267.xml"/><Relationship Id="rId1" Type="http://schemas.openxmlformats.org/officeDocument/2006/relationships/slideLayout" Target="../slideLayouts/slideLayout2.xml"/><Relationship Id="rId6" Type="http://schemas.microsoft.com/office/2007/relationships/diagramDrawing" Target="../diagrams/drawing267.xml"/><Relationship Id="rId5" Type="http://schemas.openxmlformats.org/officeDocument/2006/relationships/diagramColors" Target="../diagrams/colors267.xml"/><Relationship Id="rId4" Type="http://schemas.openxmlformats.org/officeDocument/2006/relationships/diagramQuickStyle" Target="../diagrams/quickStyle267.xml"/></Relationships>
</file>

<file path=ppt/slides/_rels/slide269.xml.rels><?xml version="1.0" encoding="UTF-8" standalone="yes"?>
<Relationships xmlns="http://schemas.openxmlformats.org/package/2006/relationships"><Relationship Id="rId3" Type="http://schemas.openxmlformats.org/officeDocument/2006/relationships/diagramLayout" Target="../diagrams/layout268.xml"/><Relationship Id="rId2" Type="http://schemas.openxmlformats.org/officeDocument/2006/relationships/diagramData" Target="../diagrams/data268.xml"/><Relationship Id="rId1" Type="http://schemas.openxmlformats.org/officeDocument/2006/relationships/slideLayout" Target="../slideLayouts/slideLayout2.xml"/><Relationship Id="rId6" Type="http://schemas.microsoft.com/office/2007/relationships/diagramDrawing" Target="../diagrams/drawing268.xml"/><Relationship Id="rId5" Type="http://schemas.openxmlformats.org/officeDocument/2006/relationships/diagramColors" Target="../diagrams/colors268.xml"/><Relationship Id="rId4" Type="http://schemas.openxmlformats.org/officeDocument/2006/relationships/diagramQuickStyle" Target="../diagrams/quickStyle268.xml"/></Relationships>
</file>

<file path=ppt/slides/_rels/slide270.xml.rels><?xml version="1.0" encoding="UTF-8" standalone="yes"?>
<Relationships xmlns="http://schemas.openxmlformats.org/package/2006/relationships"><Relationship Id="rId3" Type="http://schemas.openxmlformats.org/officeDocument/2006/relationships/diagramLayout" Target="../diagrams/layout269.xml"/><Relationship Id="rId2" Type="http://schemas.openxmlformats.org/officeDocument/2006/relationships/diagramData" Target="../diagrams/data269.xml"/><Relationship Id="rId1" Type="http://schemas.openxmlformats.org/officeDocument/2006/relationships/slideLayout" Target="../slideLayouts/slideLayout2.xml"/><Relationship Id="rId6" Type="http://schemas.microsoft.com/office/2007/relationships/diagramDrawing" Target="../diagrams/drawing269.xml"/><Relationship Id="rId5" Type="http://schemas.openxmlformats.org/officeDocument/2006/relationships/diagramColors" Target="../diagrams/colors269.xml"/><Relationship Id="rId4" Type="http://schemas.openxmlformats.org/officeDocument/2006/relationships/diagramQuickStyle" Target="../diagrams/quickStyle269.xml"/></Relationships>
</file>

<file path=ppt/slides/_rels/slide271.xml.rels><?xml version="1.0" encoding="UTF-8" standalone="yes"?>
<Relationships xmlns="http://schemas.openxmlformats.org/package/2006/relationships"><Relationship Id="rId3" Type="http://schemas.openxmlformats.org/officeDocument/2006/relationships/diagramLayout" Target="../diagrams/layout270.xml"/><Relationship Id="rId2" Type="http://schemas.openxmlformats.org/officeDocument/2006/relationships/diagramData" Target="../diagrams/data270.xml"/><Relationship Id="rId1" Type="http://schemas.openxmlformats.org/officeDocument/2006/relationships/slideLayout" Target="../slideLayouts/slideLayout2.xml"/><Relationship Id="rId6" Type="http://schemas.microsoft.com/office/2007/relationships/diagramDrawing" Target="../diagrams/drawing270.xml"/><Relationship Id="rId5" Type="http://schemas.openxmlformats.org/officeDocument/2006/relationships/diagramColors" Target="../diagrams/colors270.xml"/><Relationship Id="rId4" Type="http://schemas.openxmlformats.org/officeDocument/2006/relationships/diagramQuickStyle" Target="../diagrams/quickStyle270.xml"/></Relationships>
</file>

<file path=ppt/slides/_rels/slide272.xml.rels><?xml version="1.0" encoding="UTF-8" standalone="yes"?>
<Relationships xmlns="http://schemas.openxmlformats.org/package/2006/relationships"><Relationship Id="rId3" Type="http://schemas.openxmlformats.org/officeDocument/2006/relationships/diagramLayout" Target="../diagrams/layout271.xml"/><Relationship Id="rId7" Type="http://schemas.openxmlformats.org/officeDocument/2006/relationships/image" Target="../media/image65.png"/><Relationship Id="rId2" Type="http://schemas.openxmlformats.org/officeDocument/2006/relationships/diagramData" Target="../diagrams/data271.xml"/><Relationship Id="rId1" Type="http://schemas.openxmlformats.org/officeDocument/2006/relationships/slideLayout" Target="../slideLayouts/slideLayout2.xml"/><Relationship Id="rId6" Type="http://schemas.microsoft.com/office/2007/relationships/diagramDrawing" Target="../diagrams/drawing271.xml"/><Relationship Id="rId5" Type="http://schemas.openxmlformats.org/officeDocument/2006/relationships/diagramColors" Target="../diagrams/colors271.xml"/><Relationship Id="rId4" Type="http://schemas.openxmlformats.org/officeDocument/2006/relationships/diagramQuickStyle" Target="../diagrams/quickStyle271.xml"/></Relationships>
</file>

<file path=ppt/slides/_rels/slide273.xml.rels><?xml version="1.0" encoding="UTF-8" standalone="yes"?>
<Relationships xmlns="http://schemas.openxmlformats.org/package/2006/relationships"><Relationship Id="rId3" Type="http://schemas.openxmlformats.org/officeDocument/2006/relationships/diagramLayout" Target="../diagrams/layout272.xml"/><Relationship Id="rId2" Type="http://schemas.openxmlformats.org/officeDocument/2006/relationships/diagramData" Target="../diagrams/data272.xml"/><Relationship Id="rId1" Type="http://schemas.openxmlformats.org/officeDocument/2006/relationships/slideLayout" Target="../slideLayouts/slideLayout2.xml"/><Relationship Id="rId6" Type="http://schemas.microsoft.com/office/2007/relationships/diagramDrawing" Target="../diagrams/drawing272.xml"/><Relationship Id="rId5" Type="http://schemas.openxmlformats.org/officeDocument/2006/relationships/diagramColors" Target="../diagrams/colors272.xml"/><Relationship Id="rId4" Type="http://schemas.openxmlformats.org/officeDocument/2006/relationships/diagramQuickStyle" Target="../diagrams/quickStyle272.xml"/></Relationships>
</file>

<file path=ppt/slides/_rels/slide274.xml.rels><?xml version="1.0" encoding="UTF-8" standalone="yes"?>
<Relationships xmlns="http://schemas.openxmlformats.org/package/2006/relationships"><Relationship Id="rId3" Type="http://schemas.openxmlformats.org/officeDocument/2006/relationships/diagramLayout" Target="../diagrams/layout273.xml"/><Relationship Id="rId2" Type="http://schemas.openxmlformats.org/officeDocument/2006/relationships/diagramData" Target="../diagrams/data273.xml"/><Relationship Id="rId1" Type="http://schemas.openxmlformats.org/officeDocument/2006/relationships/slideLayout" Target="../slideLayouts/slideLayout2.xml"/><Relationship Id="rId6" Type="http://schemas.microsoft.com/office/2007/relationships/diagramDrawing" Target="../diagrams/drawing273.xml"/><Relationship Id="rId5" Type="http://schemas.openxmlformats.org/officeDocument/2006/relationships/diagramColors" Target="../diagrams/colors273.xml"/><Relationship Id="rId4" Type="http://schemas.openxmlformats.org/officeDocument/2006/relationships/diagramQuickStyle" Target="../diagrams/quickStyle273.xml"/></Relationships>
</file>

<file path=ppt/slides/_rels/slide275.xml.rels><?xml version="1.0" encoding="UTF-8" standalone="yes"?>
<Relationships xmlns="http://schemas.openxmlformats.org/package/2006/relationships"><Relationship Id="rId3" Type="http://schemas.openxmlformats.org/officeDocument/2006/relationships/diagramLayout" Target="../diagrams/layout274.xml"/><Relationship Id="rId2" Type="http://schemas.openxmlformats.org/officeDocument/2006/relationships/diagramData" Target="../diagrams/data274.xml"/><Relationship Id="rId1" Type="http://schemas.openxmlformats.org/officeDocument/2006/relationships/slideLayout" Target="../slideLayouts/slideLayout2.xml"/><Relationship Id="rId6" Type="http://schemas.microsoft.com/office/2007/relationships/diagramDrawing" Target="../diagrams/drawing274.xml"/><Relationship Id="rId5" Type="http://schemas.openxmlformats.org/officeDocument/2006/relationships/diagramColors" Target="../diagrams/colors274.xml"/><Relationship Id="rId4" Type="http://schemas.openxmlformats.org/officeDocument/2006/relationships/diagramQuickStyle" Target="../diagrams/quickStyle274.xml"/></Relationships>
</file>

<file path=ppt/slides/_rels/slide276.xml.rels><?xml version="1.0" encoding="UTF-8" standalone="yes"?>
<Relationships xmlns="http://schemas.openxmlformats.org/package/2006/relationships"><Relationship Id="rId8" Type="http://schemas.openxmlformats.org/officeDocument/2006/relationships/hyperlink" Target="https://www.statsig.com/blog/experimentation-driven-development" TargetMode="External"/><Relationship Id="rId13" Type="http://schemas.openxmlformats.org/officeDocument/2006/relationships/hyperlink" Target="https://www.statsig.com/blog/ab-testing-101" TargetMode="External"/><Relationship Id="rId18" Type="http://schemas.openxmlformats.org/officeDocument/2006/relationships/hyperlink" Target="https://www.invespcro.com/blog/ab-testing-statistics-made-simple/" TargetMode="External"/><Relationship Id="rId3" Type="http://schemas.openxmlformats.org/officeDocument/2006/relationships/diagramLayout" Target="../diagrams/layout275.xml"/><Relationship Id="rId21" Type="http://schemas.openxmlformats.org/officeDocument/2006/relationships/hyperlink" Target="https://www.lennysnewsletter.com/p/the-ultimate-guide-to-ab-testing" TargetMode="External"/><Relationship Id="rId7" Type="http://schemas.openxmlformats.org/officeDocument/2006/relationships/hyperlink" Target="https://fourweekmba.com/experiment-driven-development/" TargetMode="External"/><Relationship Id="rId12" Type="http://schemas.openxmlformats.org/officeDocument/2006/relationships/hyperlink" Target="https://www.thedigitaltransformationpeople.com/channels/strategy-and-innovation/micro-experiments-and-experiment-driven-development/" TargetMode="External"/><Relationship Id="rId17" Type="http://schemas.openxmlformats.org/officeDocument/2006/relationships/hyperlink" Target="https://towardsdatascience.com/a-b-testing-a-complete-guide-to-statistical-testing-e3f1db140499" TargetMode="External"/><Relationship Id="rId2" Type="http://schemas.openxmlformats.org/officeDocument/2006/relationships/diagramData" Target="../diagrams/data275.xml"/><Relationship Id="rId16" Type="http://schemas.openxmlformats.org/officeDocument/2006/relationships/hyperlink" Target="https://conversionsciences.com/ab-testing-statistics/" TargetMode="External"/><Relationship Id="rId20" Type="http://schemas.openxmlformats.org/officeDocument/2006/relationships/hyperlink" Target="https://github.com/lorabv/awesome-agile/blob/master/A-B-Testing.md" TargetMode="External"/><Relationship Id="rId1" Type="http://schemas.openxmlformats.org/officeDocument/2006/relationships/slideLayout" Target="../slideLayouts/slideLayout2.xml"/><Relationship Id="rId6" Type="http://schemas.microsoft.com/office/2007/relationships/diagramDrawing" Target="../diagrams/drawing275.xml"/><Relationship Id="rId11" Type="http://schemas.openxmlformats.org/officeDocument/2006/relationships/hyperlink" Target="https://www.thoughtworks.com/en-de/insights/articles/data-driven-hypothesis-development" TargetMode="External"/><Relationship Id="rId24" Type="http://schemas.openxmlformats.org/officeDocument/2006/relationships/hyperlink" Target="https://www.linkedin.com/pulse/experiment-driven-development-ab-testing-beyond-ai-davide-piumetti-vam5f/" TargetMode="External"/><Relationship Id="rId5" Type="http://schemas.openxmlformats.org/officeDocument/2006/relationships/diagramColors" Target="../diagrams/colors275.xml"/><Relationship Id="rId15" Type="http://schemas.openxmlformats.org/officeDocument/2006/relationships/hyperlink" Target="https://www.packtpub.com/en-in/product/15-math-concepts-every-data-scientist-should-know-9781837631940" TargetMode="External"/><Relationship Id="rId23" Type="http://schemas.openxmlformats.org/officeDocument/2006/relationships/hyperlink" Target="https://towardsdatascience.com/a-summary-of-udacity-a-b-testing-course-9ecc32dedbb1" TargetMode="External"/><Relationship Id="rId10" Type="http://schemas.openxmlformats.org/officeDocument/2006/relationships/hyperlink" Target="https://www.statsig.com/perspectives/how-to-apply-hypothesis-driven-development" TargetMode="External"/><Relationship Id="rId19" Type="http://schemas.openxmlformats.org/officeDocument/2006/relationships/hyperlink" Target="https://blog.analytics-toolkit.com/2017/statistical-significance-ab-testing-complete-guide/" TargetMode="External"/><Relationship Id="rId4" Type="http://schemas.openxmlformats.org/officeDocument/2006/relationships/diagramQuickStyle" Target="../diagrams/quickStyle275.xml"/><Relationship Id="rId9" Type="http://schemas.openxmlformats.org/officeDocument/2006/relationships/hyperlink" Target="https://www.sama.com/blog/experiment-driven-development-part-1" TargetMode="External"/><Relationship Id="rId14" Type="http://schemas.openxmlformats.org/officeDocument/2006/relationships/hyperlink" Target="https://en.wikipedia.org/wiki/A/B_testing" TargetMode="External"/><Relationship Id="rId22" Type="http://schemas.openxmlformats.org/officeDocument/2006/relationships/hyperlink" Target="https://www.amazon.in/Tuning-Up-testing-Bayesian-optimization/dp/1617298158" TargetMode="External"/></Relationships>
</file>

<file path=ppt/slides/_rels/slide277.xml.rels><?xml version="1.0" encoding="UTF-8" standalone="yes"?>
<Relationships xmlns="http://schemas.openxmlformats.org/package/2006/relationships"><Relationship Id="rId13" Type="http://schemas.openxmlformats.org/officeDocument/2006/relationships/hyperlink" Target="https://learn.microsoft.com/en-us/credentials/certifications/azure-ai-engineer/?wt.mc_id=learningredirect_certs-web-wwl&amp;practice-assessment-type=certification" TargetMode="External"/><Relationship Id="rId18" Type="http://schemas.openxmlformats.org/officeDocument/2006/relationships/hyperlink" Target="https://www.udemy.com/course/google-cloud-gcp-professional-data-engineer-certification/?couponCode=LEARNNOWPLANS" TargetMode="External"/><Relationship Id="rId26" Type="http://schemas.openxmlformats.org/officeDocument/2006/relationships/hyperlink" Target="https://github.com/khangich/machine-learning-interview" TargetMode="External"/><Relationship Id="rId3" Type="http://schemas.openxmlformats.org/officeDocument/2006/relationships/diagramLayout" Target="../diagrams/layout276.xml"/><Relationship Id="rId21" Type="http://schemas.openxmlformats.org/officeDocument/2006/relationships/hyperlink" Target="https://www.udemy.com/course/nvidia-certified-associate-generative-ai-multimodal/?couponCode=LEARNNOWPLANS" TargetMode="External"/><Relationship Id="rId7" Type="http://schemas.openxmlformats.org/officeDocument/2006/relationships/hyperlink" Target="https://github.com/skrish13/ml-contests-conf" TargetMode="External"/><Relationship Id="rId12" Type="http://schemas.openxmlformats.org/officeDocument/2006/relationships/hyperlink" Target="https://learn.microsoft.com/en-us/credentials/certifications/azure-ai-fundamentals/?practice-assessment-type=certification" TargetMode="External"/><Relationship Id="rId17" Type="http://schemas.openxmlformats.org/officeDocument/2006/relationships/hyperlink" Target="https://www.udemy.com/course/aws-machine-learning/?srsltid=AfmBOoqvHVc8A341JejxorWq-oqfFbgJmthSvvDsUP-QuM7S9ZDrYHbY&amp;couponCode=LEARNNOWPLANS" TargetMode="External"/><Relationship Id="rId25" Type="http://schemas.openxmlformats.org/officeDocument/2006/relationships/hyperlink" Target="https://github.com/andrewekhalel/MLQuestions?tab=readme-ov-file" TargetMode="External"/><Relationship Id="rId33" Type="http://schemas.openxmlformats.org/officeDocument/2006/relationships/hyperlink" Target="https://github.com/youssefHosni/Data-Science-Interview-Questions-Answers" TargetMode="External"/><Relationship Id="rId2" Type="http://schemas.openxmlformats.org/officeDocument/2006/relationships/diagramData" Target="../diagrams/data276.xml"/><Relationship Id="rId16" Type="http://schemas.openxmlformats.org/officeDocument/2006/relationships/hyperlink" Target="https://www.udemy.com/course/aws-certified-machine-learning-engineer-associate-mla-c01/?srsltid=AfmBOoqD3Drhmrpqslhl1xUBi3r_NerDkqGGYf0ls2p5ycvK3vLX7tVJ&amp;couponCode=LEARNNOWPLANS" TargetMode="External"/><Relationship Id="rId20" Type="http://schemas.openxmlformats.org/officeDocument/2006/relationships/hyperlink" Target="https://www.udemy.com/course/nvidia-certified-associate-generative-ai-and-llms-cert-prep/?couponCode=LEARNNOWPLANS" TargetMode="External"/><Relationship Id="rId29" Type="http://schemas.openxmlformats.org/officeDocument/2006/relationships/hyperlink" Target="https://arxiv.org/abs/2201.00650" TargetMode="External"/><Relationship Id="rId1" Type="http://schemas.openxmlformats.org/officeDocument/2006/relationships/slideLayout" Target="../slideLayouts/slideLayout2.xml"/><Relationship Id="rId6" Type="http://schemas.microsoft.com/office/2007/relationships/diagramDrawing" Target="../diagrams/drawing276.xml"/><Relationship Id="rId11" Type="http://schemas.openxmlformats.org/officeDocument/2006/relationships/hyperlink" Target="https://learn.microsoft.com/en-us/credentials/certifications/azure-data-engineer/?wt.mc_id=learningredirect_certs-web-wwl&amp;practice-assessment-type=certification" TargetMode="External"/><Relationship Id="rId24" Type="http://schemas.openxmlformats.org/officeDocument/2006/relationships/hyperlink" Target="https://huyenchip.com/ml-interviews-book/" TargetMode="External"/><Relationship Id="rId32" Type="http://schemas.openxmlformats.org/officeDocument/2006/relationships/hyperlink" Target="https://www.shroffpublishers.com/books/9789355424969/?sef_rewrite=1&amp;srsltid=AfmBOorG6akBm7VwE-mD-bBvDMxBul49kIFMOi1ftm_dQfxAPyhf8XwH" TargetMode="External"/><Relationship Id="rId5" Type="http://schemas.openxmlformats.org/officeDocument/2006/relationships/diagramColors" Target="../diagrams/colors276.xml"/><Relationship Id="rId15" Type="http://schemas.openxmlformats.org/officeDocument/2006/relationships/hyperlink" Target="https://www.udemy.com/course/aws-data-engineer/?srsltid=AfmBOooMdBDQqSLEBkDVzt9XG8zBeNp6kQ30rl1lZxHyM3p2jFg0w0jm&amp;couponCode=LEARNNOWPLANS" TargetMode="External"/><Relationship Id="rId23" Type="http://schemas.openxmlformats.org/officeDocument/2006/relationships/hyperlink" Target="https://www.packtpub.com/en-kr/product/cracking-the-data-science-interview-9781805120506?srsltid=AfmBOoo-bm8bMY8E63dyn_gIzATTtulcG87yVG3lt5b6YDkf-Y7AB2Eo" TargetMode="External"/><Relationship Id="rId28" Type="http://schemas.openxmlformats.org/officeDocument/2006/relationships/hyperlink" Target="https://www.oreilly.com/library/view/machine-learning-interviews/9781098146535/" TargetMode="External"/><Relationship Id="rId10" Type="http://schemas.openxmlformats.org/officeDocument/2006/relationships/hyperlink" Target="https://github.com/NVIDIA/GenerativeAIExamples" TargetMode="External"/><Relationship Id="rId19" Type="http://schemas.openxmlformats.org/officeDocument/2006/relationships/hyperlink" Target="https://www.udemy.com/course/nvidia-certified-associate-generative-ai-llms-nca-genl/?srsltid=AfmBOor-AJ14F3vzKQxv4FA--8ni0uzSrJl9XJ0su6ELnNAN26oCIezO&amp;couponCode=LEARNNOWPLANS" TargetMode="External"/><Relationship Id="rId31" Type="http://schemas.openxmlformats.org/officeDocument/2006/relationships/hyperlink" Target="https://www.amazon.com/Machine-Learning-System-Design-Interview/dp/1736049127" TargetMode="External"/><Relationship Id="rId4" Type="http://schemas.openxmlformats.org/officeDocument/2006/relationships/diagramQuickStyle" Target="../diagrams/quickStyle276.xml"/><Relationship Id="rId9" Type="http://schemas.openxmlformats.org/officeDocument/2006/relationships/hyperlink" Target="https://github.com/NVIDIA/DeepLearningExamples" TargetMode="External"/><Relationship Id="rId14" Type="http://schemas.openxmlformats.org/officeDocument/2006/relationships/hyperlink" Target="https://learn.microsoft.com/en-us/credentials/certifications/azure-data-scientist/?wt.mc_id=learningredirect_certs-web-wwl&amp;practice-assessment-type=certification" TargetMode="External"/><Relationship Id="rId22" Type="http://schemas.openxmlformats.org/officeDocument/2006/relationships/hyperlink" Target="https://www.acethedatascienceinterview.com/" TargetMode="External"/><Relationship Id="rId27" Type="http://schemas.openxmlformats.org/officeDocument/2006/relationships/hyperlink" Target="https://github.com/Avik-Jain/100-Days-Of-ML-Code" TargetMode="External"/><Relationship Id="rId30" Type="http://schemas.openxmlformats.org/officeDocument/2006/relationships/hyperlink" Target="https://www.manning.com/books/machine-learning-system-design" TargetMode="External"/><Relationship Id="rId8" Type="http://schemas.openxmlformats.org/officeDocument/2006/relationships/hyperlink" Target="https://medium.com/coders-camp/230-machine-learning-projects-with-python-5d0c7abf8265#id_token=eyJhbGciOiJSUzI1NiIsImtpZCI6IjAyYTYxZWZkMmE0NGZjMjE1MTQ4ZDRlZmZjMzRkNmE3YjJhYzI2ZjAiLCJ0eXAiOiJKV1QifQ.eyJpc3MiOiJodHRwczovL2FjY291bnRzLmdvb2dsZS5jb20iLCJuYmYiOjE2NzE3Mzc5MDksImF1ZCI6IjIxNjI5NjAzNTgzNC1rMWs2cWUwNjBzMnRwMmEyamFtNGxqZGNtczAwc3R0Zy5hcHBzLmdvb2dsZXVzZXJjb250ZW50LmNvbSIsInN1YiI6IjEwOTQxNTA1MTEyNzExNTU3MTg0MyIsImVtYWlsIjoic2NvdHRjZW1haWxAZ21haWwuY29tIiwiZW1haWxfdmVyaWZpZWQiOnRydWUsImF6cCI6IjIxNjI5NjAzNTgzNC1rMWs2cWUwNjBzMnRwMmEyamFtNGxqZGNtczAwc3R0Zy5hcHBzLmdvb2dsZXVzZXJjb250ZW50LmNvbSIsIm5hbWUiOiJULiBTY290dCBDbGVuZGFuaWVsIiwicGljdHVyZSI6Imh0dHBzOi8vbGgzLmdvb2dsZXVzZXJjb250ZW50LmNvbS9hL0FFZEZUcDdyU3dBbFpsNVhrc0d3djhPbGpvVFE1ME91bXdsZWJjNFd6MkRBZ0xvPXM5Ni1jIiwiZ2l2ZW5fbmFtZSI6IlQuIFNjb3R0IiwiZmFtaWx5X25hbWUiOiJDbGVuZGFuaWVsIiwiaWF0IjoxNjcxNzM4MjA5LCJleHAiOjE2NzE3NDE4MDksImp0aSI6IjRhYWI2ZjY1NjY5ZTYzMzUwZjUwNjlkY2I0Y2Y2ZWU2ODIzMGI3NTgifQ.ac2wT6i6op0EUbLBbjLBSii4zbTgd_LD6XywPyJOv1Jlsy6q4519SjF8PYW3a8sMU80zjRSpfUyyKOcP_dkCii8DOhoUMnzquIycHG0rTeftRbUVZGkoGMgwOedjtWPLG-Ggq-au_dydznormtC91lhZiNnSW1f7hzDH31dpk6EXLcG8Vwaxo_XW48FDB9F3AbUzqjmJqk5aE5OI7hpBAyUrCxjuwwgTM0XfNKT0bQx4JDnGeL8sljh6PcW7qD9n_ABivYvT7TskuWeZLgzyWBh2exgrqOfbF5qwMIupmGVHqs_XyEyETAjxyXp2tCPlbkhrKP9jO5VK5353Xb9q7Q" TargetMode="External"/></Relationships>
</file>

<file path=ppt/slides/_rels/slide278.xml.rels><?xml version="1.0" encoding="UTF-8" standalone="yes"?>
<Relationships xmlns="http://schemas.openxmlformats.org/package/2006/relationships"><Relationship Id="rId8" Type="http://schemas.openxmlformats.org/officeDocument/2006/relationships/hyperlink" Target="https://www.fanatical.com/en/pick-and-mix/ultimate-machine-learning-and-ai-build-your-own-bundle" TargetMode="External"/><Relationship Id="rId13" Type="http://schemas.openxmlformats.org/officeDocument/2006/relationships/hyperlink" Target="https://www.amazon.in/Neural-Networks-Learning-Machines-Haykin/dp/8120340000/ref=tmm_pap_swatch_0" TargetMode="External"/><Relationship Id="rId18" Type="http://schemas.openxmlformats.org/officeDocument/2006/relationships/hyperlink" Target="https://github.com/Carl-McBride-Ellis/Compendium-of-free-ML-reading-resources" TargetMode="External"/><Relationship Id="rId26" Type="http://schemas.openxmlformats.org/officeDocument/2006/relationships/hyperlink" Target="https://castle.princeton.edu/the-7-levels-of-ai/" TargetMode="External"/><Relationship Id="rId3" Type="http://schemas.openxmlformats.org/officeDocument/2006/relationships/diagramLayout" Target="../diagrams/layout277.xml"/><Relationship Id="rId21" Type="http://schemas.openxmlformats.org/officeDocument/2006/relationships/hyperlink" Target="https://charuaggarwal.net/" TargetMode="External"/><Relationship Id="rId7" Type="http://schemas.openxmlformats.org/officeDocument/2006/relationships/hyperlink" Target="https://www.geeksforgeeks.org/machine-learning/" TargetMode="External"/><Relationship Id="rId12" Type="http://schemas.openxmlformats.org/officeDocument/2006/relationships/hyperlink" Target="https://hastie.su.domains/publications.html" TargetMode="External"/><Relationship Id="rId17" Type="http://schemas.openxmlformats.org/officeDocument/2006/relationships/hyperlink" Target="https://www.amazon.in/Agentic-Artificial-Intelligence-Harnessing-Reinvent-ebook/dp/B0F1DS36YC/ref=sr_1_1?crid=1P1MB1LJYSSBA&amp;dib=eyJ2IjoiMSJ9.hppIdrMwoeaBVMS6jQH__Vyx79ZLVVjvNf7knHWAfB7LIH3aehKHX3W17XjtEOyXBRTR1Tofk24A-cSODcZxcdMnx6NeaYfRZEnCU5gniNSNzDDCjhZ_PpgL1kUVeJigfKukHQEB_PW798AZt6tQTCSKtpotFmrIPOndRTGoZ2AUm-vpXkF2bLE56P1V4M3edqpf5qtC-fvNemyb7oIOj5yYu860v99OA2VeEP4-CyA.j_BbZp118QzlKZ9Q72vsj_AiFhnwmcAdUI_YauY8xl8&amp;dib_tag=se&amp;keywords=Agentic+AI&amp;qid=1745210562&amp;s=books&amp;sprefix=agentic+ai%2Cstripbooks%2C247&amp;sr=1-1" TargetMode="External"/><Relationship Id="rId25" Type="http://schemas.openxmlformats.org/officeDocument/2006/relationships/hyperlink" Target="https://dongou.tech/ai/dongou/ai-by-hand-%E2%9C%8D%EF%B8%8F-with-prof-tom-yeh-for-ai-professionals/" TargetMode="External"/><Relationship Id="rId2" Type="http://schemas.openxmlformats.org/officeDocument/2006/relationships/diagramData" Target="../diagrams/data277.xml"/><Relationship Id="rId16" Type="http://schemas.openxmlformats.org/officeDocument/2006/relationships/hyperlink" Target="https://www.enterprise-ai-book.com/" TargetMode="External"/><Relationship Id="rId20" Type="http://schemas.openxmlformats.org/officeDocument/2006/relationships/hyperlink" Target="https://aman.ai/" TargetMode="External"/><Relationship Id="rId29" Type="http://schemas.openxmlformats.org/officeDocument/2006/relationships/hyperlink" Target="https://www.mdpi.com/" TargetMode="External"/><Relationship Id="rId1" Type="http://schemas.openxmlformats.org/officeDocument/2006/relationships/slideLayout" Target="../slideLayouts/slideLayout2.xml"/><Relationship Id="rId6" Type="http://schemas.microsoft.com/office/2007/relationships/diagramDrawing" Target="../diagrams/drawing277.xml"/><Relationship Id="rId11" Type="http://schemas.openxmlformats.org/officeDocument/2006/relationships/hyperlink" Target="https://www.amazon.in/Hands-Machine-Learning-Scikit-Learn-TensorFlow/dp/9355421982/ref=sr_1_3?crid=1T3YDSU47GYJI&amp;dib=eyJ2IjoiMSJ9.VIuZJ5rRDFiDZMQ0Vws5DFziTIXAJz5ywutoSqrnGGn7TOY11PoVXg3QA7W6hu17HR5eW7GtcmW8bUZj43CN1_Ubj21ZAdT_JEg32hPz2TLOH4K9oM-YNgzDT4CPBiOpFcIlNMDOki4QobSZlieWMJVzmYZHLse4K7V1hO41MogZEUOlWwwZUW_zF0be4MsAgBHdzR90rPmgsH9SfS9VeZQCI8igV17cN27OZR0sTFQ.ZnqaI8yTwQOXNZ0tYPQmCmz3DavjgojsrsSMs8XGdrk&amp;dib_tag=se&amp;keywords=hands+on+machine+learning+with+scikit+learn&amp;qid=1745210266&amp;s=books&amp;sprefix=Hands+On+Machine+Learning%2Cstripbooks%2C239&amp;sr=1-3" TargetMode="External"/><Relationship Id="rId24" Type="http://schemas.openxmlformats.org/officeDocument/2006/relationships/hyperlink" Target="https://machinelearningmastery.com/start-here/" TargetMode="External"/><Relationship Id="rId5" Type="http://schemas.openxmlformats.org/officeDocument/2006/relationships/diagramColors" Target="../diagrams/colors277.xml"/><Relationship Id="rId15" Type="http://schemas.openxmlformats.org/officeDocument/2006/relationships/hyperlink" Target="https://www.linkedin.com/pulse/active-learning-transfer-pranava-kailash/" TargetMode="External"/><Relationship Id="rId23" Type="http://schemas.openxmlformats.org/officeDocument/2006/relationships/hyperlink" Target="https://www.geeksforgeeks.org/100-days-of-gate-data-science-ai/" TargetMode="External"/><Relationship Id="rId28" Type="http://schemas.openxmlformats.org/officeDocument/2006/relationships/hyperlink" Target="https://paperswithcode.com/" TargetMode="External"/><Relationship Id="rId10" Type="http://schemas.openxmlformats.org/officeDocument/2006/relationships/hyperlink" Target="https://aima.cs.berkeley.edu/" TargetMode="External"/><Relationship Id="rId19" Type="http://schemas.openxmlformats.org/officeDocument/2006/relationships/hyperlink" Target="https://www.linkedin.com/in/rpradeepmenon/recent-activity/all/" TargetMode="External"/><Relationship Id="rId4" Type="http://schemas.openxmlformats.org/officeDocument/2006/relationships/diagramQuickStyle" Target="../diagrams/quickStyle277.xml"/><Relationship Id="rId9" Type="http://schemas.openxmlformats.org/officeDocument/2006/relationships/hyperlink" Target="https://ebooks.inflibnet.ac.in/itp6/" TargetMode="External"/><Relationship Id="rId14" Type="http://schemas.openxmlformats.org/officeDocument/2006/relationships/hyperlink" Target="https://github.com/valeman/awesome-conformal-prediction" TargetMode="External"/><Relationship Id="rId22" Type="http://schemas.openxmlformats.org/officeDocument/2006/relationships/hyperlink" Target="https://www.youtube.com/@datatrek?app=desktop" TargetMode="External"/><Relationship Id="rId27" Type="http://schemas.openxmlformats.org/officeDocument/2006/relationships/hyperlink" Target="https://github.com/youssefHosni/Awesome-AI-Data-GitHub-Repos" TargetMode="External"/></Relationships>
</file>

<file path=ppt/slides/_rels/slide279.xml.rels><?xml version="1.0" encoding="UTF-8" standalone="yes"?>
<Relationships xmlns="http://schemas.openxmlformats.org/package/2006/relationships"><Relationship Id="rId8" Type="http://schemas.openxmlformats.org/officeDocument/2006/relationships/hyperlink" Target="https://medium.com/@nerdjock" TargetMode="External"/><Relationship Id="rId13" Type="http://schemas.openxmlformats.org/officeDocument/2006/relationships/hyperlink" Target="https://malywut.github.io/ai-engineering-landscape/" TargetMode="External"/><Relationship Id="rId3" Type="http://schemas.openxmlformats.org/officeDocument/2006/relationships/diagramLayout" Target="../diagrams/layout278.xml"/><Relationship Id="rId7" Type="http://schemas.openxmlformats.org/officeDocument/2006/relationships/hyperlink" Target="https://www.v7labs.com/blog" TargetMode="External"/><Relationship Id="rId12" Type="http://schemas.openxmlformats.org/officeDocument/2006/relationships/hyperlink" Target="https://www.oreilly.com/library/view/ai-engineering/9781098166298/" TargetMode="External"/><Relationship Id="rId17" Type="http://schemas.openxmlformats.org/officeDocument/2006/relationships/hyperlink" Target="https://aman.ai/primers/ai/top-30-papers/" TargetMode="External"/><Relationship Id="rId2" Type="http://schemas.openxmlformats.org/officeDocument/2006/relationships/diagramData" Target="../diagrams/data278.xml"/><Relationship Id="rId16" Type="http://schemas.openxmlformats.org/officeDocument/2006/relationships/hyperlink" Target="https://www.packtpub.com/en-in/product/the-chief-ai-officers-handbook-9781836200840" TargetMode="External"/><Relationship Id="rId1" Type="http://schemas.openxmlformats.org/officeDocument/2006/relationships/slideLayout" Target="../slideLayouts/slideLayout2.xml"/><Relationship Id="rId6" Type="http://schemas.microsoft.com/office/2007/relationships/diagramDrawing" Target="../diagrams/drawing278.xml"/><Relationship Id="rId11" Type="http://schemas.openxmlformats.org/officeDocument/2006/relationships/hyperlink" Target="https://roadmap.sh/ai-engineer" TargetMode="External"/><Relationship Id="rId5" Type="http://schemas.openxmlformats.org/officeDocument/2006/relationships/diagramColors" Target="../diagrams/colors278.xml"/><Relationship Id="rId15" Type="http://schemas.openxmlformats.org/officeDocument/2006/relationships/hyperlink" Target="https://www.ibm.com/account/reg/us-en/signup?formid=urx-53618" TargetMode="External"/><Relationship Id="rId10" Type="http://schemas.openxmlformats.org/officeDocument/2006/relationships/hyperlink" Target="https://www.linkedin.com/in/venkat-raman-analytics/recent-activity/all/" TargetMode="External"/><Relationship Id="rId4" Type="http://schemas.openxmlformats.org/officeDocument/2006/relationships/diagramQuickStyle" Target="../diagrams/quickStyle278.xml"/><Relationship Id="rId9" Type="http://schemas.openxmlformats.org/officeDocument/2006/relationships/hyperlink" Target="https://ridhima-kumar0203.medium.com/" TargetMode="External"/><Relationship Id="rId14" Type="http://schemas.openxmlformats.org/officeDocument/2006/relationships/hyperlink" Target="https://github.com/soulmachine/machine-learning-cheat-sheet" TargetMode="External"/></Relationships>
</file>

<file path=ppt/slides/_rels/slide280.xml.rels><?xml version="1.0" encoding="UTF-8" standalone="yes"?>
<Relationships xmlns="http://schemas.openxmlformats.org/package/2006/relationships"><Relationship Id="rId8" Type="http://schemas.openxmlformats.org/officeDocument/2006/relationships/hyperlink" Target="https://m-clark.github.io/book-of-models/" TargetMode="External"/><Relationship Id="rId13" Type="http://schemas.openxmlformats.org/officeDocument/2006/relationships/hyperlink" Target="https://www.geeksforgeeks.org/integrating-game-theory-and-artificial-intelligence-strategies-for-complex-decision-making/" TargetMode="External"/><Relationship Id="rId18" Type="http://schemas.openxmlformats.org/officeDocument/2006/relationships/hyperlink" Target="https://arxiv.org/abs/2302.04842" TargetMode="External"/><Relationship Id="rId3" Type="http://schemas.openxmlformats.org/officeDocument/2006/relationships/diagramLayout" Target="../diagrams/layout279.xml"/><Relationship Id="rId21" Type="http://schemas.openxmlformats.org/officeDocument/2006/relationships/hyperlink" Target="https://personal.ntu.edu.sg/nprivault/MA5182/introduction2.pdf" TargetMode="External"/><Relationship Id="rId7" Type="http://schemas.openxmlformats.org/officeDocument/2006/relationships/hyperlink" Target="https://www.datascienceblog.net/post/commentary/inference-vs-prediction/" TargetMode="External"/><Relationship Id="rId12" Type="http://schemas.openxmlformats.org/officeDocument/2006/relationships/hyperlink" Target="https://aws.amazon.com/blogs/apn/transforming-the-software-development-lifecycle-sdlc-with-generative-ai/" TargetMode="External"/><Relationship Id="rId17" Type="http://schemas.openxmlformats.org/officeDocument/2006/relationships/hyperlink" Target="https://www.forasoft.com/blog/article/real-time-video-processing-with-ai-best-practices" TargetMode="External"/><Relationship Id="rId2" Type="http://schemas.openxmlformats.org/officeDocument/2006/relationships/diagramData" Target="../diagrams/data279.xml"/><Relationship Id="rId16" Type="http://schemas.openxmlformats.org/officeDocument/2006/relationships/hyperlink" Target="https://in.mathworks.com/help/audio/machine-learning-and-deep-learning-for-audio.html" TargetMode="External"/><Relationship Id="rId20" Type="http://schemas.openxmlformats.org/officeDocument/2006/relationships/hyperlink" Target="https://en.wikipedia.org/wiki/Mathematical_finance" TargetMode="External"/><Relationship Id="rId1" Type="http://schemas.openxmlformats.org/officeDocument/2006/relationships/slideLayout" Target="../slideLayouts/slideLayout2.xml"/><Relationship Id="rId6" Type="http://schemas.microsoft.com/office/2007/relationships/diagramDrawing" Target="../diagrams/drawing279.xml"/><Relationship Id="rId11" Type="http://schemas.openxmlformats.org/officeDocument/2006/relationships/hyperlink" Target="https://www.linkedin.com/pulse/future-platform-engineering-ai-agents-vimal-atreya-ramaka-glbae/" TargetMode="External"/><Relationship Id="rId24" Type="http://schemas.openxmlformats.org/officeDocument/2006/relationships/hyperlink" Target="https://www.nseindia.com/learn/self-study-ncfm-modules-all" TargetMode="External"/><Relationship Id="rId5" Type="http://schemas.openxmlformats.org/officeDocument/2006/relationships/diagramColors" Target="../diagrams/colors279.xml"/><Relationship Id="rId15" Type="http://schemas.openxmlformats.org/officeDocument/2006/relationships/hyperlink" Target="https://www.linkedin.com/pulse/impact-dyslexic-thinking-responsible-ai-testing-llms-tom-game-6dihe/" TargetMode="External"/><Relationship Id="rId23" Type="http://schemas.openxmlformats.org/officeDocument/2006/relationships/hyperlink" Target="https://www.natwest.com/corporates/insights/technology/something-old-something-new.html" TargetMode="External"/><Relationship Id="rId10" Type="http://schemas.openxmlformats.org/officeDocument/2006/relationships/hyperlink" Target="https://www.quora.com/unanswered/What-is-the-difference-between-predictive-modelling-statistical-analysis-and-machine-learning#:~:text=Predictive%20modeling%20is%20focused%20on,on%20prediction%20accuracy%20and%20generalization." TargetMode="External"/><Relationship Id="rId19" Type="http://schemas.openxmlformats.org/officeDocument/2006/relationships/hyperlink" Target="https://www.khanacademy.org/economics-finance-domain/core-finance" TargetMode="External"/><Relationship Id="rId4" Type="http://schemas.openxmlformats.org/officeDocument/2006/relationships/diagramQuickStyle" Target="../diagrams/quickStyle279.xml"/><Relationship Id="rId9" Type="http://schemas.openxmlformats.org/officeDocument/2006/relationships/hyperlink" Target="https://open.umn.edu/opentextbooks/textbooks/mathematical-modeling-and-simulation-with-matlab" TargetMode="External"/><Relationship Id="rId14" Type="http://schemas.openxmlformats.org/officeDocument/2006/relationships/hyperlink" Target="https://www.quantamagazine.org/game-theory-can-make-ai-more-correct-and-efficient-20240509/" TargetMode="External"/><Relationship Id="rId22" Type="http://schemas.openxmlformats.org/officeDocument/2006/relationships/hyperlink" Target="https://github.com/Apress/Stochastic-Finance-with-Python" TargetMode="Externa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D4B0E-4F81-6DCE-81C4-CBB28CA2E6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70AAB85-A7D7-0C74-AD21-92D78184435D}"/>
              </a:ext>
            </a:extLst>
          </p:cNvPr>
          <p:cNvSpPr/>
          <p:nvPr/>
        </p:nvSpPr>
        <p:spPr>
          <a:xfrm>
            <a:off x="1676399" y="141294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6F3D1B-8745-2897-0DB9-5D60D1E33498}"/>
              </a:ext>
            </a:extLst>
          </p:cNvPr>
          <p:cNvSpPr/>
          <p:nvPr/>
        </p:nvSpPr>
        <p:spPr>
          <a:xfrm>
            <a:off x="1676399" y="1600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786E738-BC7A-3E71-B33A-6A9C6F4C41A4}"/>
              </a:ext>
            </a:extLst>
          </p:cNvPr>
          <p:cNvGraphicFramePr/>
          <p:nvPr>
            <p:extLst>
              <p:ext uri="{D42A27DB-BD31-4B8C-83A1-F6EECF244321}">
                <p14:modId xmlns:p14="http://schemas.microsoft.com/office/powerpoint/2010/main" val="1544610607"/>
              </p:ext>
            </p:extLst>
          </p:nvPr>
        </p:nvGraphicFramePr>
        <p:xfrm>
          <a:off x="304800" y="-152401"/>
          <a:ext cx="8686800" cy="15450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1382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02B3C-B1CC-7492-19DA-5FC9018891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B4E893-B8A3-69D9-D24A-89072A5F1E15}"/>
              </a:ext>
            </a:extLst>
          </p:cNvPr>
          <p:cNvSpPr/>
          <p:nvPr/>
        </p:nvSpPr>
        <p:spPr>
          <a:xfrm>
            <a:off x="1666240" y="10695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882566-D69D-CFE7-520E-8121905B132C}"/>
              </a:ext>
            </a:extLst>
          </p:cNvPr>
          <p:cNvSpPr/>
          <p:nvPr/>
        </p:nvSpPr>
        <p:spPr>
          <a:xfrm>
            <a:off x="1666240" y="1257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1D9362-4172-7F6A-615B-3FCB5994B07A}"/>
              </a:ext>
            </a:extLst>
          </p:cNvPr>
          <p:cNvGraphicFramePr/>
          <p:nvPr>
            <p:extLst>
              <p:ext uri="{D42A27DB-BD31-4B8C-83A1-F6EECF244321}">
                <p14:modId xmlns:p14="http://schemas.microsoft.com/office/powerpoint/2010/main" val="1948657839"/>
              </p:ext>
            </p:extLst>
          </p:nvPr>
        </p:nvGraphicFramePr>
        <p:xfrm>
          <a:off x="53975" y="-134304"/>
          <a:ext cx="8610600" cy="1334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a:extLst>
              <a:ext uri="{FF2B5EF4-FFF2-40B4-BE49-F238E27FC236}">
                <a16:creationId xmlns:a16="http://schemas.microsoft.com/office/drawing/2014/main" id="{13B6ADA5-A3E3-8DFA-91D7-85E7DA4F38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429704"/>
            <a:ext cx="9144000" cy="3080502"/>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5A5EE6DE-C48C-A101-22BF-E836776DF309}"/>
              </a:ext>
            </a:extLst>
          </p:cNvPr>
          <p:cNvSpPr txBox="1">
            <a:spLocks/>
          </p:cNvSpPr>
          <p:nvPr/>
        </p:nvSpPr>
        <p:spPr>
          <a:xfrm>
            <a:off x="152400" y="4510207"/>
            <a:ext cx="8624937"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900" dirty="0">
                <a:hlinkClick r:id="rId8"/>
              </a:rPr>
              <a:t>Data Engineering Pipeline</a:t>
            </a:r>
            <a:endParaRPr lang="en-IN" sz="900" dirty="0"/>
          </a:p>
          <a:p>
            <a:pPr marL="12700" marR="5080"/>
            <a:r>
              <a:rPr lang="en-US" sz="900" dirty="0">
                <a:hlinkClick r:id="rId9"/>
              </a:rPr>
              <a:t>The 6 Categories of Data</a:t>
            </a:r>
            <a:r>
              <a:rPr lang="en-US" sz="900" dirty="0"/>
              <a:t> </a:t>
            </a:r>
          </a:p>
          <a:p>
            <a:pPr marL="12700" marR="5080"/>
            <a:r>
              <a:rPr lang="en-US" sz="900" dirty="0">
                <a:hlinkClick r:id="rId10"/>
              </a:rPr>
              <a:t>What are Categorical Data Encoding Methods | Binary Encoding</a:t>
            </a:r>
            <a:endParaRPr lang="en-US" sz="900" dirty="0"/>
          </a:p>
          <a:p>
            <a:pPr marL="12700" marR="5080"/>
            <a:r>
              <a:rPr lang="en-US" sz="900" dirty="0">
                <a:hlinkClick r:id="rId11"/>
              </a:rPr>
              <a:t>DB Types </a:t>
            </a:r>
            <a:endParaRPr lang="en-US" sz="900" dirty="0"/>
          </a:p>
          <a:p>
            <a:pPr marL="12700" marR="5080"/>
            <a:r>
              <a:rPr lang="en-US" sz="900" dirty="0">
                <a:hlinkClick r:id="rId12"/>
              </a:rPr>
              <a:t>Data Anonymization vs Data Masking: Differences &amp; Best Practices</a:t>
            </a:r>
            <a:endParaRPr lang="en-US" sz="900" dirty="0"/>
          </a:p>
          <a:p>
            <a:pPr marL="12700" marR="5080"/>
            <a:r>
              <a:rPr lang="en-US" sz="900" dirty="0">
                <a:hlinkClick r:id="rId13"/>
              </a:rPr>
              <a:t>Leveraging </a:t>
            </a:r>
            <a:r>
              <a:rPr lang="en-US" sz="900" dirty="0" err="1">
                <a:hlinkClick r:id="rId13"/>
              </a:rPr>
              <a:t>RecordIO</a:t>
            </a:r>
            <a:r>
              <a:rPr lang="en-US" sz="900" dirty="0">
                <a:hlinkClick r:id="rId13"/>
              </a:rPr>
              <a:t> for Efficient Training and Cost Reduction in Amazon </a:t>
            </a:r>
            <a:r>
              <a:rPr lang="en-US" sz="900" dirty="0" err="1">
                <a:hlinkClick r:id="rId13"/>
              </a:rPr>
              <a:t>SageMaker</a:t>
            </a:r>
            <a:endParaRPr lang="en-US" sz="900" dirty="0"/>
          </a:p>
          <a:p>
            <a:pPr marL="12700" marR="5080"/>
            <a:r>
              <a:rPr lang="en-IN" sz="1500" kern="0" spc="-80" dirty="0">
                <a:solidFill>
                  <a:schemeClr val="accent6"/>
                </a:solidFill>
              </a:rPr>
              <a:t>Also, can refer Data (Engineering) slides in the “Software Architecture and Patterns“ deck.</a:t>
            </a: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3718233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0199-C9B0-71EB-2B99-D04CFC7D41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C255B8-9AC1-1383-1835-A59C243D6B9B}"/>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B2FAF33-EE46-B094-D738-A13064C0C599}"/>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D00F76-1B33-BEA7-1A1B-6809D0EF5906}"/>
              </a:ext>
            </a:extLst>
          </p:cNvPr>
          <p:cNvGraphicFramePr/>
          <p:nvPr>
            <p:extLst>
              <p:ext uri="{D42A27DB-BD31-4B8C-83A1-F6EECF244321}">
                <p14:modId xmlns:p14="http://schemas.microsoft.com/office/powerpoint/2010/main" val="42184781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descr="Knowledge Representation - Tpoint Tech">
            <a:extLst>
              <a:ext uri="{FF2B5EF4-FFF2-40B4-BE49-F238E27FC236}">
                <a16:creationId xmlns:a16="http://schemas.microsoft.com/office/drawing/2014/main" id="{AEC1E1B1-D960-407B-0408-042855A0B1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335164"/>
            <a:ext cx="8991599" cy="4008272"/>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D708713E-7CC1-D688-5873-299834DB0BF9}"/>
              </a:ext>
            </a:extLst>
          </p:cNvPr>
          <p:cNvSpPr txBox="1">
            <a:spLocks/>
          </p:cNvSpPr>
          <p:nvPr/>
        </p:nvSpPr>
        <p:spPr>
          <a:xfrm>
            <a:off x="-1906" y="5002442"/>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200" dirty="0">
                <a:hlinkClick r:id="rId8"/>
              </a:rPr>
              <a:t>Knowledge Based Agent</a:t>
            </a:r>
            <a:endParaRPr lang="en-US" sz="1200" dirty="0"/>
          </a:p>
          <a:p>
            <a:pPr marL="12700" marR="5080"/>
            <a:r>
              <a:rPr lang="en-IN" sz="1200" dirty="0">
                <a:hlinkClick r:id="rId9"/>
              </a:rPr>
              <a:t>A Knowledge Representation </a:t>
            </a:r>
            <a:r>
              <a:rPr lang="en-IN" sz="1200" dirty="0" err="1">
                <a:hlinkClick r:id="rId9"/>
              </a:rPr>
              <a:t>Practionary</a:t>
            </a:r>
            <a:endParaRPr lang="en-IN" sz="1200" dirty="0"/>
          </a:p>
          <a:p>
            <a:pPr marL="12700" marR="5080"/>
            <a:r>
              <a:rPr lang="en-US" sz="1200" dirty="0">
                <a:hlinkClick r:id="rId10"/>
              </a:rPr>
              <a:t>Data types In Machine Learning</a:t>
            </a:r>
            <a:endParaRPr lang="en-US" sz="1200" dirty="0"/>
          </a:p>
        </p:txBody>
      </p:sp>
    </p:spTree>
    <p:extLst>
      <p:ext uri="{BB962C8B-B14F-4D97-AF65-F5344CB8AC3E}">
        <p14:creationId xmlns:p14="http://schemas.microsoft.com/office/powerpoint/2010/main" val="3726839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223E-7342-8333-7C2F-FE531167314C}"/>
            </a:ext>
          </a:extLst>
        </p:cNvPr>
        <p:cNvGrpSpPr/>
        <p:nvPr/>
      </p:nvGrpSpPr>
      <p:grpSpPr>
        <a:xfrm>
          <a:off x="0" y="0"/>
          <a:ext cx="0" cy="0"/>
          <a:chOff x="0" y="0"/>
          <a:chExt cx="0" cy="0"/>
        </a:xfrm>
      </p:grpSpPr>
      <p:pic>
        <p:nvPicPr>
          <p:cNvPr id="3074" name="Picture 2" descr="Explore Types of Data Analysis: Unleash the Power of Information">
            <a:extLst>
              <a:ext uri="{FF2B5EF4-FFF2-40B4-BE49-F238E27FC236}">
                <a16:creationId xmlns:a16="http://schemas.microsoft.com/office/drawing/2014/main" id="{6B7755AD-385C-2FAB-4256-7E34BDF1F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35166"/>
            <a:ext cx="8610600" cy="3676185"/>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DAE96B58-8875-BA9D-A962-8CF2303535F8}"/>
              </a:ext>
            </a:extLst>
          </p:cNvPr>
          <p:cNvSpPr txBox="1">
            <a:spLocks/>
          </p:cNvSpPr>
          <p:nvPr/>
        </p:nvSpPr>
        <p:spPr>
          <a:xfrm>
            <a:off x="366663" y="4954269"/>
            <a:ext cx="8624937" cy="10156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400" dirty="0">
                <a:hlinkClick r:id="rId3"/>
              </a:rPr>
              <a:t>8 Types of Data Analysis</a:t>
            </a:r>
            <a:endParaRPr lang="en-US" sz="1400" dirty="0"/>
          </a:p>
          <a:p>
            <a:pPr marL="12700" marR="5080"/>
            <a:r>
              <a:rPr lang="en-US" sz="1400" dirty="0">
                <a:hlinkClick r:id="rId4"/>
              </a:rPr>
              <a:t>What Is Diagnostic Analytics? How It Works and Examples</a:t>
            </a:r>
            <a:endParaRPr lang="en-US" sz="1400" dirty="0"/>
          </a:p>
          <a:p>
            <a:pPr marL="12700" marR="5080"/>
            <a:r>
              <a:rPr lang="en-US" sz="1400" dirty="0">
                <a:hlinkClick r:id="rId5"/>
              </a:rPr>
              <a:t>BI vs Analytics - What is Business Intelligence (BI) ? What is Analytics ? [2023] - YouTube</a:t>
            </a:r>
            <a:endParaRPr lang="en-US" sz="2400" kern="0" spc="-80" dirty="0">
              <a:solidFill>
                <a:schemeClr val="accent2"/>
              </a:solidFill>
            </a:endParaRPr>
          </a:p>
        </p:txBody>
      </p:sp>
      <p:sp>
        <p:nvSpPr>
          <p:cNvPr id="3" name="object 4">
            <a:extLst>
              <a:ext uri="{FF2B5EF4-FFF2-40B4-BE49-F238E27FC236}">
                <a16:creationId xmlns:a16="http://schemas.microsoft.com/office/drawing/2014/main" id="{A72BA00E-52F8-9D19-969E-8BF9F09AB8C8}"/>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D19B5CBF-3801-FF8E-4AFA-51D6B97FC27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C595815F-6C26-CD0D-A8E2-62A96C373800}"/>
              </a:ext>
            </a:extLst>
          </p:cNvPr>
          <p:cNvGraphicFramePr/>
          <p:nvPr>
            <p:extLst>
              <p:ext uri="{D42A27DB-BD31-4B8C-83A1-F6EECF244321}">
                <p14:modId xmlns:p14="http://schemas.microsoft.com/office/powerpoint/2010/main" val="101968076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313771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EEC47-9E8B-4EE2-47EC-5A46A68530A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6875A60-071B-8055-E32D-F9C9AC920F52}"/>
              </a:ext>
            </a:extLst>
          </p:cNvPr>
          <p:cNvPicPr>
            <a:picLocks noChangeAspect="1"/>
          </p:cNvPicPr>
          <p:nvPr/>
        </p:nvPicPr>
        <p:blipFill>
          <a:blip r:embed="rId2"/>
          <a:stretch>
            <a:fillRect/>
          </a:stretch>
        </p:blipFill>
        <p:spPr>
          <a:xfrm>
            <a:off x="304800" y="1377399"/>
            <a:ext cx="8534399" cy="2280202"/>
          </a:xfrm>
          <a:prstGeom prst="rect">
            <a:avLst/>
          </a:prstGeom>
        </p:spPr>
      </p:pic>
      <p:sp>
        <p:nvSpPr>
          <p:cNvPr id="8" name="object 2">
            <a:extLst>
              <a:ext uri="{FF2B5EF4-FFF2-40B4-BE49-F238E27FC236}">
                <a16:creationId xmlns:a16="http://schemas.microsoft.com/office/drawing/2014/main" id="{2773B2CF-46DA-F71C-30AC-CE50AEB36089}"/>
              </a:ext>
            </a:extLst>
          </p:cNvPr>
          <p:cNvSpPr txBox="1">
            <a:spLocks/>
          </p:cNvSpPr>
          <p:nvPr/>
        </p:nvSpPr>
        <p:spPr>
          <a:xfrm>
            <a:off x="61863" y="3642361"/>
            <a:ext cx="8624937" cy="23698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In essence</a:t>
            </a:r>
            <a:r>
              <a:rPr lang="en-US" sz="1400" kern="0" spc="-80" dirty="0">
                <a:solidFill>
                  <a:schemeClr val="accent6"/>
                </a:solidFill>
              </a:rPr>
              <a:t>: Deterministic learning provides a clear and precise answer, while probabilistic learning offers a range of possibilities and their likelihoods, allowing for a more nuanced understanding of uncertain situations</a:t>
            </a:r>
            <a:r>
              <a:rPr lang="en-US" sz="1000" b="0" dirty="0">
                <a:solidFill>
                  <a:srgbClr val="001D35"/>
                </a:solidFill>
                <a:latin typeface="Google Sans"/>
              </a:rPr>
              <a:t>.</a:t>
            </a:r>
          </a:p>
          <a:p>
            <a:pPr marL="12700" marR="5080"/>
            <a:r>
              <a:rPr lang="en-US" sz="1400" kern="0" spc="-80" dirty="0">
                <a:solidFill>
                  <a:schemeClr val="accent6"/>
                </a:solidFill>
              </a:rPr>
              <a:t>Use deterministic techniques for tasks requiring guaranteed consistency, accuracy, and predictability, such as rule-based systems or cryptographic applications, where a fixed output for the same input is essential and uncertainty is low. Use probabilistic techniques when dealing with incomplete or noisy data, needing to handle uncertainty, or for generating diverse, creative outputs, such as in medical diagnosis where confidence levels are important, or in generative AI applications like text creation. </a:t>
            </a:r>
          </a:p>
          <a:p>
            <a:pPr marL="12700" marR="5080"/>
            <a:r>
              <a:rPr lang="en-US" sz="1400" kern="0" spc="-80" dirty="0">
                <a:solidFill>
                  <a:schemeClr val="accent2"/>
                </a:solidFill>
              </a:rPr>
              <a:t>When to Use Deterministic Techniques</a:t>
            </a:r>
          </a:p>
          <a:p>
            <a:pPr marL="12700" marR="5080"/>
            <a:r>
              <a:rPr lang="en-US" sz="1400" kern="0" spc="-80" dirty="0">
                <a:solidFill>
                  <a:schemeClr val="accent2"/>
                </a:solidFill>
              </a:rPr>
              <a:t>Need for Absolute Consistency:</a:t>
            </a:r>
            <a:r>
              <a:rPr lang="en-US" sz="1400" kern="0" spc="-80" dirty="0">
                <a:solidFill>
                  <a:schemeClr val="accent6"/>
                </a:solidFill>
              </a:rPr>
              <a:t> When a model must produce the exact same output every time given the same input, such as in a calculator or a simple sort algorithm. </a:t>
            </a:r>
          </a:p>
        </p:txBody>
      </p:sp>
      <p:sp>
        <p:nvSpPr>
          <p:cNvPr id="9" name="object 4">
            <a:extLst>
              <a:ext uri="{FF2B5EF4-FFF2-40B4-BE49-F238E27FC236}">
                <a16:creationId xmlns:a16="http://schemas.microsoft.com/office/drawing/2014/main" id="{DB177232-6C07-32AC-DD47-D921BA69B82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300CF92-25CF-E400-0233-FFF42957658A}"/>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438178D-E43A-76A1-CA5E-16E8D82F9C8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2159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9A766-6C79-7CE1-1A3D-859F1ECC9892}"/>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3E1DE992-FE27-931B-E559-B77E720409BC}"/>
              </a:ext>
            </a:extLst>
          </p:cNvPr>
          <p:cNvSpPr txBox="1">
            <a:spLocks/>
          </p:cNvSpPr>
          <p:nvPr/>
        </p:nvSpPr>
        <p:spPr>
          <a:xfrm>
            <a:off x="41725" y="1295400"/>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Tasks with Clear, Fixed Rules:</a:t>
            </a:r>
            <a:r>
              <a:rPr lang="en-US" sz="1400" kern="0" spc="-80" dirty="0">
                <a:solidFill>
                  <a:schemeClr val="accent6"/>
                </a:solidFill>
              </a:rPr>
              <a:t> Ideal for applications with well-defined rules and predictable relationships, like financial forecasting or certain medical diagnostic systems that flag specific symptoms. </a:t>
            </a:r>
          </a:p>
          <a:p>
            <a:pPr marL="12700" marR="5080"/>
            <a:r>
              <a:rPr lang="en-US" sz="1400" kern="0" spc="-80" dirty="0">
                <a:solidFill>
                  <a:schemeClr val="accent2"/>
                </a:solidFill>
              </a:rPr>
              <a:t>Compliance and Auditing:</a:t>
            </a:r>
            <a:r>
              <a:rPr lang="en-US" sz="1400" kern="0" spc="-80" dirty="0">
                <a:solidFill>
                  <a:schemeClr val="accent6"/>
                </a:solidFill>
              </a:rPr>
              <a:t> Deterministic models provide auditable and traceable outcomes, which is crucial for regulated environments like finance and healthcare where precise and consistent results are required. </a:t>
            </a:r>
          </a:p>
          <a:p>
            <a:pPr marL="12700" marR="5080"/>
            <a:r>
              <a:rPr lang="en-US" sz="1400" kern="0" spc="-80" dirty="0">
                <a:solidFill>
                  <a:schemeClr val="accent2"/>
                </a:solidFill>
              </a:rPr>
              <a:t>High-Certainty Scenarios: </a:t>
            </a:r>
            <a:r>
              <a:rPr lang="en-US" sz="1400" kern="0" spc="-80" dirty="0">
                <a:solidFill>
                  <a:schemeClr val="accent6"/>
                </a:solidFill>
              </a:rPr>
              <a:t>Used when there is a low degree of uncertainty or randomness in the data or process, ensuring precise solutions. </a:t>
            </a:r>
          </a:p>
          <a:p>
            <a:pPr marL="12700" marR="5080"/>
            <a:r>
              <a:rPr lang="en-US" sz="1400" kern="0" spc="-80" dirty="0">
                <a:solidFill>
                  <a:schemeClr val="accent2"/>
                </a:solidFill>
              </a:rPr>
              <a:t>When to Use Probabilistic Techniques</a:t>
            </a:r>
          </a:p>
          <a:p>
            <a:pPr marL="12700" marR="5080"/>
            <a:r>
              <a:rPr lang="en-US" sz="1400" kern="0" spc="-80" dirty="0">
                <a:solidFill>
                  <a:schemeClr val="accent2"/>
                </a:solidFill>
              </a:rPr>
              <a:t>Handling Uncertainty and Incomplete Data:</a:t>
            </a:r>
            <a:r>
              <a:rPr lang="en-US" sz="1400" kern="0" spc="-80" dirty="0">
                <a:solidFill>
                  <a:schemeClr val="accent6"/>
                </a:solidFill>
              </a:rPr>
              <a:t> When data is incomplete, noisy, or contains randomness, probabilistic models use statistical inference to make predictions and estimations. </a:t>
            </a:r>
          </a:p>
          <a:p>
            <a:pPr marL="12700" marR="5080"/>
            <a:r>
              <a:rPr lang="en-US" sz="1400" kern="0" spc="-80" dirty="0">
                <a:solidFill>
                  <a:schemeClr val="accent2"/>
                </a:solidFill>
              </a:rPr>
              <a:t>Quantifying Confidence and Risk: </a:t>
            </a:r>
            <a:r>
              <a:rPr lang="en-US" sz="1400" kern="0" spc="-80" dirty="0">
                <a:solidFill>
                  <a:schemeClr val="accent6"/>
                </a:solidFill>
              </a:rPr>
              <a:t>These models provide confidence estimates for their predictions, which is vital in fields like medical diagnosis or risk management to understand the likelihood of a particular outcome. </a:t>
            </a:r>
          </a:p>
          <a:p>
            <a:pPr marL="12700" marR="5080"/>
            <a:r>
              <a:rPr lang="en-US" sz="1400" kern="0" spc="-80" dirty="0">
                <a:solidFill>
                  <a:schemeClr val="accent2"/>
                </a:solidFill>
              </a:rPr>
              <a:t>Complex Tasks and Pattern Recognition:</a:t>
            </a:r>
            <a:r>
              <a:rPr lang="en-US" sz="1400" kern="0" spc="-80" dirty="0">
                <a:solidFill>
                  <a:schemeClr val="accent6"/>
                </a:solidFill>
              </a:rPr>
              <a:t> Suitable for intricate tasks with underlying patterns that are not always obvious, allowing models to learn from data to make more generalized predictions. </a:t>
            </a:r>
          </a:p>
          <a:p>
            <a:pPr marL="12700" marR="5080"/>
            <a:r>
              <a:rPr lang="en-US" sz="1400" kern="0" spc="-80" dirty="0">
                <a:solidFill>
                  <a:schemeClr val="accent2"/>
                </a:solidFill>
              </a:rPr>
              <a:t>Generating Creative or Diverse Outputs: </a:t>
            </a:r>
            <a:r>
              <a:rPr lang="en-US" sz="1400" kern="0" spc="-80" dirty="0">
                <a:solidFill>
                  <a:schemeClr val="accent6"/>
                </a:solidFill>
              </a:rPr>
              <a:t>In Generative AI, probabilistic approaches are used to create novel and diverse content, such as text, images, or music, rather than always returning the same result. </a:t>
            </a:r>
          </a:p>
          <a:p>
            <a:pPr marL="12700" marR="5080"/>
            <a:r>
              <a:rPr lang="en-US" sz="1400" kern="0" spc="-80" dirty="0">
                <a:solidFill>
                  <a:schemeClr val="accent2"/>
                </a:solidFill>
              </a:rPr>
              <a:t>Hybrid Approaches</a:t>
            </a:r>
            <a:r>
              <a:rPr lang="en-US" sz="1400" kern="0" spc="-80" dirty="0">
                <a:solidFill>
                  <a:schemeClr val="accent6"/>
                </a:solidFill>
              </a:rPr>
              <a:t> </a:t>
            </a:r>
          </a:p>
          <a:p>
            <a:pPr marL="12700" marR="5080"/>
            <a:r>
              <a:rPr lang="en-US" sz="1400" kern="0" spc="-80" dirty="0">
                <a:solidFill>
                  <a:schemeClr val="accent6"/>
                </a:solidFill>
              </a:rPr>
              <a:t>Often, a combination of both deterministic and probabilistic approaches provides the most effective solution. For example, in predictive maintenance, a deterministic model can define normal machine behavior, while a probabilistic model can analyze sensor data to predict when maintenance is truly needed.</a:t>
            </a:r>
          </a:p>
          <a:p>
            <a:pPr marL="12700" marR="5080"/>
            <a:endParaRPr lang="en-US" sz="1400" kern="0" spc="-80" dirty="0">
              <a:solidFill>
                <a:schemeClr val="accent6"/>
              </a:solidFill>
            </a:endParaRPr>
          </a:p>
        </p:txBody>
      </p:sp>
      <p:sp>
        <p:nvSpPr>
          <p:cNvPr id="9" name="object 4">
            <a:extLst>
              <a:ext uri="{FF2B5EF4-FFF2-40B4-BE49-F238E27FC236}">
                <a16:creationId xmlns:a16="http://schemas.microsoft.com/office/drawing/2014/main" id="{EF09901B-1F7F-F755-2113-E399C8EAE4FC}"/>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4A557BF-B130-E851-BC50-2DC84EE74DA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F48ACD0-C5FF-E91A-30E9-677B3CA7353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8298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AD40E-BEA6-0FA5-A5EF-17DC3D45683A}"/>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EBFB2B61-A37C-493D-A70D-112B2F2E4A46}"/>
              </a:ext>
            </a:extLst>
          </p:cNvPr>
          <p:cNvSpPr txBox="1">
            <a:spLocks/>
          </p:cNvSpPr>
          <p:nvPr/>
        </p:nvSpPr>
        <p:spPr>
          <a:xfrm>
            <a:off x="41725" y="1295400"/>
            <a:ext cx="8624937" cy="17620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 –</a:t>
            </a:r>
          </a:p>
          <a:p>
            <a:pPr marL="12700" marR="5080"/>
            <a:r>
              <a:rPr lang="en-US" sz="1200" dirty="0">
                <a:hlinkClick r:id="rId2"/>
              </a:rPr>
              <a:t>Probabilistic vs. Deterministic Models in AI/ML: A Detailed Explanation</a:t>
            </a:r>
            <a:endParaRPr lang="en-IN" sz="1200" dirty="0"/>
          </a:p>
          <a:p>
            <a:pPr marL="12700" marR="5080"/>
            <a:r>
              <a:rPr lang="en-US" sz="1200" dirty="0">
                <a:hlinkClick r:id="rId3"/>
              </a:rPr>
              <a:t>What is Deterministic/Probabilistic Data? | Definition from TechTarget</a:t>
            </a:r>
            <a:endParaRPr lang="en-US" sz="1200" dirty="0"/>
          </a:p>
          <a:p>
            <a:pPr marL="12700" marR="5080"/>
            <a:r>
              <a:rPr lang="en-US" sz="1200" dirty="0">
                <a:hlinkClick r:id="rId4"/>
              </a:rPr>
              <a:t>Probabilistic and Deterministic Results in AI Systems - Gaine Technology</a:t>
            </a:r>
            <a:endParaRPr lang="en-US" sz="1200" dirty="0"/>
          </a:p>
          <a:p>
            <a:pPr marL="12700" marR="5080"/>
            <a:r>
              <a:rPr lang="en-US" sz="1200" dirty="0">
                <a:hlinkClick r:id="rId5"/>
              </a:rPr>
              <a:t>What is the difference between deterministic and stochastic models?</a:t>
            </a:r>
            <a:endParaRPr lang="en-US" sz="1200" dirty="0"/>
          </a:p>
          <a:p>
            <a:pPr marL="12700" marR="5080"/>
            <a:r>
              <a:rPr lang="en-US" sz="1200" dirty="0">
                <a:hlinkClick r:id="rId6"/>
              </a:rPr>
              <a:t>Deterministic vs Stochastic - Machine Learning Fundamentals</a:t>
            </a:r>
            <a:endParaRPr lang="en-US" sz="1200" dirty="0"/>
          </a:p>
          <a:p>
            <a:pPr marL="12700" marR="5080"/>
            <a:r>
              <a:rPr lang="en-US" sz="1200" dirty="0">
                <a:hlinkClick r:id="rId7"/>
              </a:rPr>
              <a:t>Deterministic and Probabilistic Matching</a:t>
            </a:r>
            <a:endParaRPr lang="en-US" sz="1200" dirty="0"/>
          </a:p>
          <a:p>
            <a:pPr marL="12700" marR="5080"/>
            <a:r>
              <a:rPr lang="en-IN" sz="1200" dirty="0">
                <a:hlinkClick r:id="rId8"/>
              </a:rPr>
              <a:t>Las Vegas vs Monte Carlo</a:t>
            </a:r>
            <a:endParaRPr lang="en-US" sz="1200" kern="0" spc="-220" dirty="0">
              <a:solidFill>
                <a:schemeClr val="accent2"/>
              </a:solidFill>
            </a:endParaRPr>
          </a:p>
          <a:p>
            <a:pPr marL="12700" marR="5080"/>
            <a:r>
              <a:rPr lang="en-US" sz="1050" b="0" i="0" dirty="0">
                <a:solidFill>
                  <a:srgbClr val="001D35"/>
                </a:solidFill>
                <a:effectLst/>
                <a:latin typeface="Google Sans"/>
              </a:rPr>
              <a:t> </a:t>
            </a:r>
            <a:endParaRPr lang="en-US" sz="2400" kern="0" spc="-80" dirty="0">
              <a:solidFill>
                <a:schemeClr val="accent2"/>
              </a:solidFill>
            </a:endParaRPr>
          </a:p>
        </p:txBody>
      </p:sp>
      <p:sp>
        <p:nvSpPr>
          <p:cNvPr id="9" name="object 4">
            <a:extLst>
              <a:ext uri="{FF2B5EF4-FFF2-40B4-BE49-F238E27FC236}">
                <a16:creationId xmlns:a16="http://schemas.microsoft.com/office/drawing/2014/main" id="{97FFDA50-88FF-C7B8-A9B9-FAAF14EE470E}"/>
              </a:ext>
            </a:extLst>
          </p:cNvPr>
          <p:cNvSpPr/>
          <p:nvPr/>
        </p:nvSpPr>
        <p:spPr>
          <a:xfrm>
            <a:off x="1661159" y="1140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1154E27-2E28-5C76-195A-D4521649581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2B36B63-0A74-9783-C85B-1C2C81B83D4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4003769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84382-D9EF-FC76-53AC-4A6BFCA472C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16494C4-5609-F22E-8AB3-A357F8071A0C}"/>
              </a:ext>
            </a:extLst>
          </p:cNvPr>
          <p:cNvSpPr txBox="1">
            <a:spLocks/>
          </p:cNvSpPr>
          <p:nvPr/>
        </p:nvSpPr>
        <p:spPr>
          <a:xfrm>
            <a:off x="0" y="5358825"/>
            <a:ext cx="8624937" cy="5847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400" dirty="0">
                <a:hlinkClick r:id="rId2"/>
              </a:rPr>
              <a:t>Artificial Intelligence Vs Machine Learning Vs Deep Learning</a:t>
            </a:r>
            <a:endParaRPr lang="en-US" sz="2400" kern="0" spc="-80" dirty="0">
              <a:solidFill>
                <a:schemeClr val="accent2"/>
              </a:solidFill>
            </a:endParaRPr>
          </a:p>
        </p:txBody>
      </p:sp>
      <p:sp>
        <p:nvSpPr>
          <p:cNvPr id="3" name="object 4">
            <a:extLst>
              <a:ext uri="{FF2B5EF4-FFF2-40B4-BE49-F238E27FC236}">
                <a16:creationId xmlns:a16="http://schemas.microsoft.com/office/drawing/2014/main" id="{360093B4-0B93-B37E-1EA7-3AA84C46EF77}"/>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DEBE103D-1E09-6D87-A67D-61DF7484D22C}"/>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C2419169-2A84-D314-F465-4C843982700A}"/>
              </a:ext>
            </a:extLst>
          </p:cNvPr>
          <p:cNvGraphicFramePr/>
          <p:nvPr>
            <p:extLst>
              <p:ext uri="{D42A27DB-BD31-4B8C-83A1-F6EECF244321}">
                <p14:modId xmlns:p14="http://schemas.microsoft.com/office/powerpoint/2010/main" val="225062391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2BFB6345-4E69-2850-0D16-AF6B0EF9E2FC}"/>
              </a:ext>
            </a:extLst>
          </p:cNvPr>
          <p:cNvPicPr>
            <a:picLocks noChangeAspect="1"/>
          </p:cNvPicPr>
          <p:nvPr/>
        </p:nvPicPr>
        <p:blipFill>
          <a:blip r:embed="rId8"/>
          <a:stretch>
            <a:fillRect/>
          </a:stretch>
        </p:blipFill>
        <p:spPr>
          <a:xfrm>
            <a:off x="0" y="1340789"/>
            <a:ext cx="9144000" cy="4150066"/>
          </a:xfrm>
          <a:prstGeom prst="rect">
            <a:avLst/>
          </a:prstGeom>
        </p:spPr>
      </p:pic>
    </p:spTree>
    <p:extLst>
      <p:ext uri="{BB962C8B-B14F-4D97-AF65-F5344CB8AC3E}">
        <p14:creationId xmlns:p14="http://schemas.microsoft.com/office/powerpoint/2010/main" val="3694403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6217-B8B1-1F45-0580-726A7089DB46}"/>
            </a:ext>
          </a:extLst>
        </p:cNvPr>
        <p:cNvGrpSpPr/>
        <p:nvPr/>
      </p:nvGrpSpPr>
      <p:grpSpPr>
        <a:xfrm>
          <a:off x="0" y="0"/>
          <a:ext cx="0" cy="0"/>
          <a:chOff x="0" y="0"/>
          <a:chExt cx="0" cy="0"/>
        </a:xfrm>
      </p:grpSpPr>
      <p:sp>
        <p:nvSpPr>
          <p:cNvPr id="3" name="object 4">
            <a:extLst>
              <a:ext uri="{FF2B5EF4-FFF2-40B4-BE49-F238E27FC236}">
                <a16:creationId xmlns:a16="http://schemas.microsoft.com/office/drawing/2014/main" id="{7015EA3F-6204-2410-A58C-B3D9B0227B5C}"/>
              </a:ext>
            </a:extLst>
          </p:cNvPr>
          <p:cNvSpPr/>
          <p:nvPr/>
        </p:nvSpPr>
        <p:spPr>
          <a:xfrm>
            <a:off x="1671319" y="10366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FBAA4C2B-07BF-FB3F-D813-F29AC86A4ADE}"/>
              </a:ext>
            </a:extLst>
          </p:cNvPr>
          <p:cNvSpPr/>
          <p:nvPr/>
        </p:nvSpPr>
        <p:spPr>
          <a:xfrm>
            <a:off x="1671319" y="857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A1B318C8-7A62-E0AE-C0D7-C0C8002A0B93}"/>
              </a:ext>
            </a:extLst>
          </p:cNvPr>
          <p:cNvGraphicFramePr/>
          <p:nvPr>
            <p:extLst>
              <p:ext uri="{D42A27DB-BD31-4B8C-83A1-F6EECF244321}">
                <p14:modId xmlns:p14="http://schemas.microsoft.com/office/powerpoint/2010/main" val="54042498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78F8D395-0BA3-C40A-B487-0F8FE63BD4D9}"/>
              </a:ext>
            </a:extLst>
          </p:cNvPr>
          <p:cNvSpPr txBox="1">
            <a:spLocks/>
          </p:cNvSpPr>
          <p:nvPr/>
        </p:nvSpPr>
        <p:spPr>
          <a:xfrm>
            <a:off x="51885" y="1256679"/>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When to Use AI, ML, and DL:</a:t>
            </a:r>
          </a:p>
          <a:p>
            <a:pPr marL="12700" marR="5080"/>
            <a:r>
              <a:rPr lang="en-US" sz="1400" kern="0" spc="-80" dirty="0">
                <a:solidFill>
                  <a:schemeClr val="accent2"/>
                </a:solidFill>
                <a:cs typeface="+mn-cs"/>
              </a:rPr>
              <a:t>Complex tasks:</a:t>
            </a:r>
            <a:r>
              <a:rPr lang="en-US" sz="1400" kern="0" spc="-80" dirty="0">
                <a:solidFill>
                  <a:schemeClr val="accent6"/>
                </a:solidFill>
                <a:cs typeface="+mn-cs"/>
              </a:rPr>
              <a:t> AI, ML, and DL excel at tasks that are difficult to define or automate with traditional programming, like image recognition, natural language processing, and pattern recognition. </a:t>
            </a:r>
          </a:p>
          <a:p>
            <a:pPr marL="12700" marR="5080"/>
            <a:r>
              <a:rPr lang="en-US" sz="1400" kern="0" spc="-80" dirty="0">
                <a:solidFill>
                  <a:schemeClr val="accent2"/>
                </a:solidFill>
                <a:cs typeface="+mn-cs"/>
              </a:rPr>
              <a:t>Large datasets:</a:t>
            </a:r>
            <a:r>
              <a:rPr lang="en-US" sz="1400" kern="0" spc="-80" dirty="0">
                <a:solidFill>
                  <a:schemeClr val="accent6"/>
                </a:solidFill>
                <a:cs typeface="+mn-cs"/>
              </a:rPr>
              <a:t> DL is particularly well-suited for processing large amounts of data, where complex patterns can be learned. </a:t>
            </a:r>
          </a:p>
          <a:p>
            <a:pPr marL="12700" marR="5080"/>
            <a:r>
              <a:rPr lang="en-US" sz="1400" kern="0" spc="-80" dirty="0">
                <a:solidFill>
                  <a:schemeClr val="accent2"/>
                </a:solidFill>
                <a:cs typeface="+mn-cs"/>
              </a:rPr>
              <a:t>Predictive tasks</a:t>
            </a:r>
            <a:r>
              <a:rPr lang="en-US" sz="1400" kern="0" spc="-80" dirty="0">
                <a:solidFill>
                  <a:schemeClr val="accent6"/>
                </a:solidFill>
                <a:cs typeface="+mn-cs"/>
              </a:rPr>
              <a:t>: ML and DL can learn from historical data to predict future outcomes, such as fraud detection or customer churn. </a:t>
            </a:r>
          </a:p>
          <a:p>
            <a:pPr marL="12700" marR="5080"/>
            <a:r>
              <a:rPr lang="en-US" sz="1400" kern="0" spc="-80" dirty="0">
                <a:solidFill>
                  <a:schemeClr val="accent2"/>
                </a:solidFill>
                <a:cs typeface="+mn-cs"/>
              </a:rPr>
              <a:t>Data-driven insights:</a:t>
            </a:r>
            <a:r>
              <a:rPr lang="en-US" sz="1400" kern="0" spc="-80" dirty="0">
                <a:solidFill>
                  <a:schemeClr val="accent6"/>
                </a:solidFill>
                <a:cs typeface="+mn-cs"/>
              </a:rPr>
              <a:t> AI, ML, and DL can uncover hidden patterns and insights within data that might otherwise be missed. </a:t>
            </a:r>
          </a:p>
          <a:p>
            <a:pPr marL="12700" marR="5080"/>
            <a:r>
              <a:rPr lang="en-US" sz="1400" kern="0" spc="-80" dirty="0">
                <a:solidFill>
                  <a:schemeClr val="accent2"/>
                </a:solidFill>
                <a:cs typeface="+mn-cs"/>
              </a:rPr>
              <a:t>When human intervention is undesirable:</a:t>
            </a:r>
            <a:r>
              <a:rPr lang="en-US" sz="1400" kern="0" spc="-80" dirty="0">
                <a:solidFill>
                  <a:schemeClr val="accent6"/>
                </a:solidFill>
                <a:cs typeface="+mn-cs"/>
              </a:rPr>
              <a:t> DL can learn and adapt without extensive manual intervention, making it suitable for tasks like autonomous vehicles. </a:t>
            </a:r>
          </a:p>
          <a:p>
            <a:pPr marL="12700" marR="5080"/>
            <a:r>
              <a:rPr lang="en-US" sz="1500" kern="0" spc="-80" dirty="0">
                <a:solidFill>
                  <a:schemeClr val="accent2"/>
                </a:solidFill>
              </a:rPr>
              <a:t>When NOT to Use AI, ML, and DL:</a:t>
            </a:r>
          </a:p>
          <a:p>
            <a:pPr marL="12700" marR="5080"/>
            <a:r>
              <a:rPr lang="en-US" sz="1400" kern="0" spc="-80" dirty="0">
                <a:solidFill>
                  <a:schemeClr val="accent2"/>
                </a:solidFill>
                <a:cs typeface="+mn-cs"/>
              </a:rPr>
              <a:t>Simpler tasks</a:t>
            </a:r>
            <a:r>
              <a:rPr lang="en-US" sz="1400" kern="0" spc="-80" dirty="0">
                <a:solidFill>
                  <a:schemeClr val="accent6"/>
                </a:solidFill>
                <a:cs typeface="+mn-cs"/>
              </a:rPr>
              <a:t>: If a task can be solved with simple rules or computations, there's no need for complex AI, ML, or DL models. </a:t>
            </a:r>
          </a:p>
          <a:p>
            <a:pPr marL="12700" marR="5080"/>
            <a:r>
              <a:rPr lang="en-US" sz="1400" kern="0" spc="-80" dirty="0">
                <a:solidFill>
                  <a:schemeClr val="accent2"/>
                </a:solidFill>
                <a:cs typeface="+mn-cs"/>
              </a:rPr>
              <a:t>Limited data</a:t>
            </a:r>
            <a:r>
              <a:rPr lang="en-US" sz="1400" kern="0" spc="-80" dirty="0">
                <a:solidFill>
                  <a:schemeClr val="accent6"/>
                </a:solidFill>
                <a:cs typeface="+mn-cs"/>
              </a:rPr>
              <a:t>: ML and DL models require sufficient data to learn effectively. Insufficient data can lead to poor performance and unreliable results. </a:t>
            </a:r>
          </a:p>
          <a:p>
            <a:pPr marL="12700" marR="5080"/>
            <a:r>
              <a:rPr lang="en-US" sz="1400" kern="0" spc="-80" dirty="0">
                <a:solidFill>
                  <a:schemeClr val="accent2"/>
                </a:solidFill>
                <a:cs typeface="+mn-cs"/>
              </a:rPr>
              <a:t>Mission-critical systems</a:t>
            </a:r>
            <a:r>
              <a:rPr lang="en-US" sz="1400" kern="0" spc="-80" dirty="0">
                <a:solidFill>
                  <a:schemeClr val="accent6"/>
                </a:solidFill>
                <a:cs typeface="+mn-cs"/>
              </a:rPr>
              <a:t>: ML models, particularly those reliant on extensive data, may not be suitable for highly critical applications where deterministic behavior is essential. </a:t>
            </a:r>
          </a:p>
          <a:p>
            <a:pPr marL="12700" marR="5080"/>
            <a:r>
              <a:rPr lang="en-US" sz="1400" kern="0" spc="-80" dirty="0">
                <a:solidFill>
                  <a:schemeClr val="accent2"/>
                </a:solidFill>
                <a:cs typeface="+mn-cs"/>
              </a:rPr>
              <a:t>Lack of interpretable models</a:t>
            </a:r>
            <a:r>
              <a:rPr lang="en-US" sz="1400" kern="0" spc="-80" dirty="0">
                <a:solidFill>
                  <a:schemeClr val="accent6"/>
                </a:solidFill>
                <a:cs typeface="+mn-cs"/>
              </a:rPr>
              <a:t>: DL models, while powerful, can be less interpretable than simpler ML models, which can be a drawback in some applications. </a:t>
            </a:r>
          </a:p>
          <a:p>
            <a:pPr marL="12700" marR="5080"/>
            <a:r>
              <a:rPr lang="en-US" sz="1400" kern="0" spc="-80" dirty="0">
                <a:solidFill>
                  <a:schemeClr val="accent2"/>
                </a:solidFill>
                <a:cs typeface="+mn-cs"/>
              </a:rPr>
              <a:t>Ethical concerns</a:t>
            </a:r>
            <a:r>
              <a:rPr lang="en-US" sz="1400" kern="0" spc="-80" dirty="0">
                <a:solidFill>
                  <a:schemeClr val="accent6"/>
                </a:solidFill>
                <a:cs typeface="+mn-cs"/>
              </a:rPr>
              <a:t>: AI, ML, and DL can raise ethical issues, such as bias or privacy concerns, which should be carefully considered</a:t>
            </a:r>
          </a:p>
        </p:txBody>
      </p:sp>
    </p:spTree>
    <p:extLst>
      <p:ext uri="{BB962C8B-B14F-4D97-AF65-F5344CB8AC3E}">
        <p14:creationId xmlns:p14="http://schemas.microsoft.com/office/powerpoint/2010/main" val="491260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F7BB-E7F1-A1F3-994C-3E114644958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5A4EF0-E1E8-ADD3-E7D0-A5E840C26ADF}"/>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AF04B8D-743B-A127-C40D-B7488871C388}"/>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C88B390-8EA0-33CB-A4C8-344CB540CDD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54FB9FA-AD63-B553-5827-CE0FE65A5E6E}"/>
              </a:ext>
            </a:extLst>
          </p:cNvPr>
          <p:cNvSpPr txBox="1">
            <a:spLocks/>
          </p:cNvSpPr>
          <p:nvPr/>
        </p:nvSpPr>
        <p:spPr>
          <a:xfrm>
            <a:off x="5080" y="4650938"/>
            <a:ext cx="8624937" cy="12926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6"/>
                </a:solidFill>
              </a:rPr>
              <a:t>N.B. - Some ML algos are based on parametric models while some are based on non-parametric models but most DL algos are based on parametric models                                             </a:t>
            </a:r>
          </a:p>
          <a:p>
            <a:pPr marL="12700" marR="5080"/>
            <a:r>
              <a:rPr lang="en-US" sz="1200" kern="0" spc="-80" dirty="0">
                <a:solidFill>
                  <a:schemeClr val="accent2"/>
                </a:solidFill>
              </a:rPr>
              <a:t>For Further Exploration –</a:t>
            </a:r>
          </a:p>
          <a:p>
            <a:pPr marL="12700" marR="5080"/>
            <a:r>
              <a:rPr lang="en-US" sz="1200" dirty="0">
                <a:hlinkClick r:id="rId7"/>
              </a:rPr>
              <a:t>4 Types of Learning in Machine Learning Explained</a:t>
            </a:r>
            <a:endParaRPr lang="en-US" sz="1200" dirty="0"/>
          </a:p>
          <a:p>
            <a:pPr marL="12700" marR="5080"/>
            <a:r>
              <a:rPr lang="en-US" sz="1200" dirty="0">
                <a:hlinkClick r:id="rId8"/>
              </a:rPr>
              <a:t>Difference between Parametric and Non-Parametric Methods – </a:t>
            </a:r>
            <a:r>
              <a:rPr lang="en-US" sz="1200" dirty="0" err="1">
                <a:hlinkClick r:id="rId8"/>
              </a:rPr>
              <a:t>GeeksforGeeks</a:t>
            </a:r>
            <a:endParaRPr lang="en-US" sz="1200" dirty="0"/>
          </a:p>
          <a:p>
            <a:pPr marL="12700" marR="5080"/>
            <a:r>
              <a:rPr lang="en-US" sz="1200" dirty="0">
                <a:hlinkClick r:id="rId9"/>
              </a:rPr>
              <a:t>How do you decide when to use Parametric methods vs Non Parametric methods? [Question] : r/statistics</a:t>
            </a:r>
            <a:endParaRPr lang="en-US" sz="1200" kern="0" spc="-80" dirty="0">
              <a:solidFill>
                <a:schemeClr val="accent2"/>
              </a:solidFill>
            </a:endParaRPr>
          </a:p>
          <a:p>
            <a:pPr marL="12700" marR="5080"/>
            <a:r>
              <a:rPr lang="en-US" sz="1200" dirty="0">
                <a:hlinkClick r:id="rId10"/>
              </a:rPr>
              <a:t>Algorithm &amp; component reference</a:t>
            </a:r>
            <a:endParaRPr lang="en-US" sz="1200" kern="0" spc="-80" dirty="0">
              <a:solidFill>
                <a:schemeClr val="accent2"/>
              </a:solidFill>
            </a:endParaRPr>
          </a:p>
        </p:txBody>
      </p:sp>
      <p:pic>
        <p:nvPicPr>
          <p:cNvPr id="1026" name="Picture 2" descr="ML Models: Understanding the Fundamentals">
            <a:extLst>
              <a:ext uri="{FF2B5EF4-FFF2-40B4-BE49-F238E27FC236}">
                <a16:creationId xmlns:a16="http://schemas.microsoft.com/office/drawing/2014/main" id="{4ED41382-4B9B-47D7-43BF-AEC2081901A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1" y="1335165"/>
            <a:ext cx="8991598" cy="3315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078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A0C4B-0598-489B-6BC9-C6A94CDFC11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C8120A-6A3F-4A06-92E0-7D978653DF34}"/>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66945D-371C-939B-E1D2-9F9D8A7F8A68}"/>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3578D46-CA97-A927-58DC-D9272C026B48}"/>
              </a:ext>
            </a:extLst>
          </p:cNvPr>
          <p:cNvGraphicFramePr/>
          <p:nvPr>
            <p:extLst>
              <p:ext uri="{D42A27DB-BD31-4B8C-83A1-F6EECF244321}">
                <p14:modId xmlns:p14="http://schemas.microsoft.com/office/powerpoint/2010/main" val="145957623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4506984-00E8-3DE3-9558-9FC69C4FC79C}"/>
              </a:ext>
            </a:extLst>
          </p:cNvPr>
          <p:cNvSpPr txBox="1">
            <a:spLocks/>
          </p:cNvSpPr>
          <p:nvPr/>
        </p:nvSpPr>
        <p:spPr>
          <a:xfrm>
            <a:off x="198120" y="1269957"/>
            <a:ext cx="8839200"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Most AI/ML/DL </a:t>
            </a:r>
            <a:r>
              <a:rPr lang="en-US" sz="1400" kern="0" spc="-80" dirty="0" err="1">
                <a:solidFill>
                  <a:schemeClr val="accent6"/>
                </a:solidFill>
              </a:rPr>
              <a:t>etc</a:t>
            </a:r>
            <a:r>
              <a:rPr lang="en-US" sz="1400" kern="0" spc="-80" dirty="0">
                <a:solidFill>
                  <a:schemeClr val="accent6"/>
                </a:solidFill>
              </a:rPr>
              <a:t> Algorithms’ intent is to find f(x) in “y = f(x)” based on data provided for x(&amp; y). Mainly x &amp; y here are multivalued variable(i.e. a variable that can contain many values at different times of measurements) i.e. tabular data of samples of x(&amp; y) e.g. as below – </a:t>
            </a:r>
          </a:p>
          <a:p>
            <a:pPr marL="12700" marR="5080"/>
            <a:endParaRPr lang="en-US" sz="2000" kern="0" spc="-220" dirty="0">
              <a:solidFill>
                <a:schemeClr val="accent6"/>
              </a:solidFill>
            </a:endParaRP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endParaRPr lang="en-US" sz="2400" kern="0" spc="-220" dirty="0">
              <a:solidFill>
                <a:schemeClr val="accent6"/>
              </a:solidFill>
            </a:endParaRPr>
          </a:p>
          <a:p>
            <a:pPr marL="12700" marR="5080"/>
            <a:endParaRPr lang="en-US" sz="1500" kern="0" spc="-220" dirty="0">
              <a:solidFill>
                <a:schemeClr val="accent6"/>
              </a:solidFill>
            </a:endParaRPr>
          </a:p>
          <a:p>
            <a:pPr marL="12700" marR="5080"/>
            <a:endParaRPr lang="en-US" sz="1500" kern="0" spc="-220" dirty="0">
              <a:solidFill>
                <a:schemeClr val="accent6"/>
              </a:solidFill>
            </a:endParaRPr>
          </a:p>
          <a:p>
            <a:pPr marL="12700" marR="5080"/>
            <a:endParaRPr lang="en-US" sz="2000" kern="0" spc="-220" dirty="0">
              <a:solidFill>
                <a:schemeClr val="accent6"/>
              </a:solidFill>
            </a:endParaRPr>
          </a:p>
          <a:p>
            <a:pPr marL="12700" marR="5080"/>
            <a:r>
              <a:rPr lang="en-US" sz="1400" kern="0" spc="-80" dirty="0">
                <a:solidFill>
                  <a:schemeClr val="accent6"/>
                </a:solidFill>
              </a:rPr>
              <a:t>And such f(x)  is called parametric model when you assume the form of the function(</a:t>
            </a:r>
            <a:r>
              <a:rPr lang="en-US" sz="1400" kern="0" spc="-80" dirty="0" err="1">
                <a:solidFill>
                  <a:schemeClr val="accent6"/>
                </a:solidFill>
              </a:rPr>
              <a:t>e,g</a:t>
            </a:r>
            <a:r>
              <a:rPr lang="en-US" sz="1400" kern="0" spc="-80" dirty="0">
                <a:solidFill>
                  <a:schemeClr val="accent6"/>
                </a:solidFill>
              </a:rPr>
              <a:t>, linear, quadratic </a:t>
            </a:r>
            <a:r>
              <a:rPr lang="en-US" sz="1400" kern="0" spc="-80" dirty="0" err="1">
                <a:solidFill>
                  <a:schemeClr val="accent6"/>
                </a:solidFill>
              </a:rPr>
              <a:t>etc</a:t>
            </a:r>
            <a:r>
              <a:rPr lang="en-US" sz="1400" kern="0" spc="-80" dirty="0">
                <a:solidFill>
                  <a:schemeClr val="accent6"/>
                </a:solidFill>
              </a:rPr>
              <a:t>) &amp; assume that the parameters are fixed while non-parametric model, if no assumption regarding function’s form is there &amp; the parameters are not fixed.</a:t>
            </a:r>
          </a:p>
          <a:p>
            <a:pPr marL="12700" marR="5080"/>
            <a:r>
              <a:rPr lang="en-US" sz="1400" kern="0" spc="-80" dirty="0">
                <a:solidFill>
                  <a:schemeClr val="accent6"/>
                </a:solidFill>
              </a:rPr>
              <a:t>The number of tunable parameters in a model determines the hypothetical set of functions that can be implemented using that </a:t>
            </a:r>
            <a:r>
              <a:rPr lang="en-US" sz="1400" kern="0" spc="-80" dirty="0" err="1">
                <a:solidFill>
                  <a:schemeClr val="accent6"/>
                </a:solidFill>
              </a:rPr>
              <a:t>model.In</a:t>
            </a:r>
            <a:r>
              <a:rPr lang="en-US" sz="1400" kern="0" spc="-80" dirty="0">
                <a:solidFill>
                  <a:schemeClr val="accent6"/>
                </a:solidFill>
              </a:rPr>
              <a:t> essence we are limited to finding a solution from that </a:t>
            </a:r>
            <a:r>
              <a:rPr lang="en-US" sz="1400" kern="0" spc="-80" dirty="0" err="1">
                <a:solidFill>
                  <a:schemeClr val="accent6"/>
                </a:solidFill>
              </a:rPr>
              <a:t>set.By</a:t>
            </a:r>
            <a:r>
              <a:rPr lang="en-US" sz="1400" kern="0" spc="-80" dirty="0">
                <a:solidFill>
                  <a:schemeClr val="accent6"/>
                </a:solidFill>
              </a:rPr>
              <a:t> increasing the number of parameters you increase the capacity of the hypothesis class of various functions satisfying that model.</a:t>
            </a:r>
          </a:p>
        </p:txBody>
      </p:sp>
      <p:pic>
        <p:nvPicPr>
          <p:cNvPr id="2050" name="Picture 2" descr="Applying Multiple Linear Regression in house price prediction | by Antony  Christopher | Analytics Vidhya | Medium">
            <a:extLst>
              <a:ext uri="{FF2B5EF4-FFF2-40B4-BE49-F238E27FC236}">
                <a16:creationId xmlns:a16="http://schemas.microsoft.com/office/drawing/2014/main" id="{69CE7C94-25B6-304E-CDEE-9E9FE00E00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240" y="3442999"/>
            <a:ext cx="8096250" cy="9766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D33AD86-E0AF-D885-1292-EA13BA6194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040" y="2064468"/>
            <a:ext cx="9144000" cy="70455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3265446-B300-AA65-5412-4557E1746E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 y="2809875"/>
            <a:ext cx="8839199" cy="69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677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C622E-05CF-8844-D1DE-3A37334E981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637620-6CA6-0513-B871-DA31A60D7B9C}"/>
              </a:ext>
            </a:extLst>
          </p:cNvPr>
          <p:cNvSpPr/>
          <p:nvPr/>
        </p:nvSpPr>
        <p:spPr>
          <a:xfrm>
            <a:off x="1661159" y="111524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7B0F3F-A4F5-9BA2-7C66-BF02D29C8A91}"/>
              </a:ext>
            </a:extLst>
          </p:cNvPr>
          <p:cNvSpPr/>
          <p:nvPr/>
        </p:nvSpPr>
        <p:spPr>
          <a:xfrm>
            <a:off x="1671319" y="9545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5FC29A8-7EFC-3D00-6348-EE4384F0354D}"/>
              </a:ext>
            </a:extLst>
          </p:cNvPr>
          <p:cNvGraphicFramePr/>
          <p:nvPr>
            <p:extLst>
              <p:ext uri="{D42A27DB-BD31-4B8C-83A1-F6EECF244321}">
                <p14:modId xmlns:p14="http://schemas.microsoft.com/office/powerpoint/2010/main" val="1083198316"/>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82069C8-1451-A61A-520A-FE5DCFB3BB58}"/>
              </a:ext>
            </a:extLst>
          </p:cNvPr>
          <p:cNvSpPr txBox="1">
            <a:spLocks/>
          </p:cNvSpPr>
          <p:nvPr/>
        </p:nvSpPr>
        <p:spPr>
          <a:xfrm>
            <a:off x="51885" y="1218486"/>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00" kern="0" spc="-80" dirty="0">
                <a:solidFill>
                  <a:schemeClr val="accent2"/>
                </a:solidFill>
              </a:rPr>
              <a:t>Supervised Learning </a:t>
            </a:r>
            <a:r>
              <a:rPr lang="en-US" sz="1100" kern="0" spc="-80" dirty="0">
                <a:solidFill>
                  <a:schemeClr val="accent6"/>
                </a:solidFill>
              </a:rPr>
              <a:t>– Both x &amp; y are known in general for y = f(x)</a:t>
            </a:r>
          </a:p>
          <a:p>
            <a:pPr marL="12700" marR="5080"/>
            <a:r>
              <a:rPr lang="en-US" sz="1100" kern="0" spc="-80" dirty="0">
                <a:solidFill>
                  <a:schemeClr val="accent6"/>
                </a:solidFill>
              </a:rPr>
              <a:t>    </a:t>
            </a:r>
            <a:r>
              <a:rPr lang="en-US" sz="1100" kern="0" spc="-80" dirty="0">
                <a:solidFill>
                  <a:schemeClr val="accent2"/>
                </a:solidFill>
              </a:rPr>
              <a:t>Regression</a:t>
            </a:r>
            <a:r>
              <a:rPr lang="en-US" sz="1100" kern="0" spc="-80" dirty="0">
                <a:solidFill>
                  <a:schemeClr val="accent6"/>
                </a:solidFill>
              </a:rPr>
              <a:t> -   mainly represented by equations e.g. y = ax + b and here y is some numerical value while x can be numerical or categorical data</a:t>
            </a:r>
          </a:p>
          <a:p>
            <a:pPr marL="12700" marR="5080"/>
            <a:r>
              <a:rPr lang="en-US" sz="1100" kern="0" spc="-80" dirty="0">
                <a:solidFill>
                  <a:schemeClr val="accent6"/>
                </a:solidFill>
              </a:rPr>
              <a:t>    </a:t>
            </a:r>
            <a:r>
              <a:rPr lang="en-US" sz="1100" kern="0" spc="-80" dirty="0">
                <a:solidFill>
                  <a:schemeClr val="accent2"/>
                </a:solidFill>
              </a:rPr>
              <a:t>Classification</a:t>
            </a:r>
            <a:r>
              <a:rPr lang="en-US" sz="1100" kern="0" spc="-80" dirty="0">
                <a:solidFill>
                  <a:schemeClr val="accent6"/>
                </a:solidFill>
              </a:rPr>
              <a:t> – mainly represented by inequalities which detects specified regions/classes e.g. if </a:t>
            </a:r>
            <a:r>
              <a:rPr lang="en-US" sz="1100" kern="0" spc="-80" dirty="0" err="1">
                <a:solidFill>
                  <a:schemeClr val="accent6"/>
                </a:solidFill>
              </a:rPr>
              <a:t>ax+b</a:t>
            </a:r>
            <a:r>
              <a:rPr lang="en-US" sz="1100" kern="0" spc="-80" dirty="0">
                <a:solidFill>
                  <a:schemeClr val="accent6"/>
                </a:solidFill>
              </a:rPr>
              <a:t> &gt; m then o/p data belongs to some class1 else class2.here y in general is some categorical data.</a:t>
            </a:r>
          </a:p>
          <a:p>
            <a:pPr marL="12700" marR="5080"/>
            <a:r>
              <a:rPr lang="en-US" sz="1100" kern="0" spc="-80" dirty="0">
                <a:solidFill>
                  <a:schemeClr val="accent2"/>
                </a:solidFill>
              </a:rPr>
              <a:t>Unsupervised Learning</a:t>
            </a:r>
            <a:r>
              <a:rPr lang="en-US" sz="1100" kern="0" spc="-80" dirty="0">
                <a:solidFill>
                  <a:schemeClr val="accent6"/>
                </a:solidFill>
              </a:rPr>
              <a:t> – for y = f(x), y is not known but x known. Mainly implemented using Density Modelling techniques.</a:t>
            </a:r>
          </a:p>
          <a:p>
            <a:pPr marL="12700" marR="5080"/>
            <a:r>
              <a:rPr lang="en-US" sz="1100" kern="0" spc="-80" dirty="0">
                <a:solidFill>
                  <a:schemeClr val="accent6"/>
                </a:solidFill>
              </a:rPr>
              <a:t>     </a:t>
            </a:r>
            <a:r>
              <a:rPr lang="en-US" sz="1100" kern="0" spc="-80" dirty="0">
                <a:solidFill>
                  <a:schemeClr val="accent2"/>
                </a:solidFill>
              </a:rPr>
              <a:t> Clustering/Grouping </a:t>
            </a:r>
            <a:r>
              <a:rPr lang="en-US" sz="1100" kern="0" spc="-80" dirty="0">
                <a:solidFill>
                  <a:schemeClr val="accent6"/>
                </a:solidFill>
              </a:rPr>
              <a:t>- e.g. doing customer segmentation for Marketing/Sales Analytics to find groups of customer sales(may be as per regions)</a:t>
            </a:r>
          </a:p>
          <a:p>
            <a:pPr marL="12700" marR="5080"/>
            <a:r>
              <a:rPr lang="en-US" sz="1100" kern="0" spc="-80" dirty="0">
                <a:solidFill>
                  <a:schemeClr val="accent6"/>
                </a:solidFill>
              </a:rPr>
              <a:t>      </a:t>
            </a:r>
            <a:r>
              <a:rPr lang="en-US" sz="1100" kern="0" spc="-80" dirty="0">
                <a:solidFill>
                  <a:schemeClr val="accent2"/>
                </a:solidFill>
              </a:rPr>
              <a:t>Association Learning</a:t>
            </a:r>
            <a:r>
              <a:rPr lang="en-US" sz="1100" kern="0" spc="-80" dirty="0">
                <a:solidFill>
                  <a:schemeClr val="accent6"/>
                </a:solidFill>
              </a:rPr>
              <a:t> - e.g. finding an inference that nappies &amp; baby powder are bought together &amp; so they should ideally be placed nearby in a physical retail store for more sales or showing that most customers bought 2-3 products together when buying 1 or 2 of them and recommending the same to customer to buy them together in an online e-commerce site.</a:t>
            </a:r>
          </a:p>
          <a:p>
            <a:pPr marL="12700" marR="5080"/>
            <a:r>
              <a:rPr lang="en-US" sz="1100" kern="0" spc="-80" dirty="0">
                <a:solidFill>
                  <a:schemeClr val="accent6"/>
                </a:solidFill>
              </a:rPr>
              <a:t>     </a:t>
            </a:r>
            <a:r>
              <a:rPr lang="en-US" sz="1100" kern="0" spc="-80" dirty="0">
                <a:solidFill>
                  <a:schemeClr val="accent2"/>
                </a:solidFill>
              </a:rPr>
              <a:t> Dimensionality Reduction </a:t>
            </a:r>
            <a:r>
              <a:rPr lang="en-US" sz="1100" kern="0" spc="-80" dirty="0">
                <a:solidFill>
                  <a:schemeClr val="accent6"/>
                </a:solidFill>
              </a:rPr>
              <a:t>- It’s always advisable to reduce dimensions as much as possible without losing any valuable info, to </a:t>
            </a:r>
            <a:r>
              <a:rPr lang="en-US" sz="1100" kern="0" spc="-80" dirty="0" err="1">
                <a:solidFill>
                  <a:schemeClr val="accent6"/>
                </a:solidFill>
              </a:rPr>
              <a:t>minimise</a:t>
            </a:r>
            <a:r>
              <a:rPr lang="en-US" sz="1100" kern="0" spc="-80" dirty="0">
                <a:solidFill>
                  <a:schemeClr val="accent6"/>
                </a:solidFill>
              </a:rPr>
              <a:t> the “Curse of Dimensionality”. </a:t>
            </a:r>
          </a:p>
          <a:p>
            <a:pPr marL="12700" marR="5080"/>
            <a:r>
              <a:rPr lang="en-US" sz="1100" kern="0" spc="-80" dirty="0">
                <a:solidFill>
                  <a:schemeClr val="accent2"/>
                </a:solidFill>
              </a:rPr>
              <a:t>Semi Supervised Learning </a:t>
            </a:r>
            <a:r>
              <a:rPr lang="en-US" sz="1100" kern="0" spc="-80" dirty="0">
                <a:solidFill>
                  <a:schemeClr val="accent6"/>
                </a:solidFill>
              </a:rPr>
              <a:t>– Semi-supervised learning uses a small amount of labeled data alongside a large amount of unlabeled data to train a model. Mainly used for classification </a:t>
            </a:r>
          </a:p>
          <a:p>
            <a:pPr marL="12700" marR="5080"/>
            <a:r>
              <a:rPr lang="en-US" sz="1100" kern="0" spc="-80" dirty="0">
                <a:solidFill>
                  <a:schemeClr val="accent2"/>
                </a:solidFill>
              </a:rPr>
              <a:t>Self-supervised learning</a:t>
            </a:r>
            <a:r>
              <a:rPr lang="en-US" sz="1100" kern="0" spc="-80" dirty="0">
                <a:solidFill>
                  <a:schemeClr val="accent6"/>
                </a:solidFill>
              </a:rPr>
              <a:t> – This  is a machine learning paradigm where a model learns from unlabeled data by generating its own supervisory signals. It allows models to learn useful representations from data without relying on human-annotated labels. There is not even a small amount of labeled data like Semi Supervised Learning &amp; all data is unlabeled.</a:t>
            </a:r>
          </a:p>
          <a:p>
            <a:pPr marL="12700" marR="5080"/>
            <a:r>
              <a:rPr lang="en-US" sz="1100" kern="0" spc="-80" dirty="0">
                <a:solidFill>
                  <a:schemeClr val="accent2"/>
                </a:solidFill>
              </a:rPr>
              <a:t>Reinforcement Learning </a:t>
            </a:r>
            <a:r>
              <a:rPr lang="en-US" sz="1100" kern="0" spc="-80" dirty="0">
                <a:solidFill>
                  <a:schemeClr val="accent6"/>
                </a:solidFill>
              </a:rPr>
              <a:t>- The purpose of reinforcement learning is for the agent to learn an optimal (or near-optimal) policy that maximizes the reward function or other user-provided reinforcement signal that accumulates from immediate rewards.</a:t>
            </a:r>
          </a:p>
          <a:p>
            <a:pPr marL="12700" marR="5080"/>
            <a:r>
              <a:rPr lang="en-US" sz="1100" kern="0" spc="-80" dirty="0">
                <a:solidFill>
                  <a:schemeClr val="accent6"/>
                </a:solidFill>
              </a:rPr>
              <a:t> </a:t>
            </a:r>
          </a:p>
          <a:p>
            <a:pPr marL="12700" marR="5080"/>
            <a:r>
              <a:rPr lang="en-US" sz="1100" kern="0" spc="-80" dirty="0">
                <a:solidFill>
                  <a:schemeClr val="accent6"/>
                </a:solidFill>
              </a:rPr>
              <a:t>N.B. - Some ML algos are based on probabilistic models while some are based on deterministic models but most DL algos are based on probabilistic models.    </a:t>
            </a:r>
          </a:p>
          <a:p>
            <a:pPr marL="12700" marR="5080"/>
            <a:endParaRPr lang="en-US" sz="1100" kern="0" spc="-80" dirty="0">
              <a:solidFill>
                <a:schemeClr val="accent6"/>
              </a:solidFill>
            </a:endParaRPr>
          </a:p>
          <a:p>
            <a:pPr marL="12700" marR="5080"/>
            <a:r>
              <a:rPr lang="en-US" sz="1200" kern="0" spc="-80" dirty="0">
                <a:solidFill>
                  <a:schemeClr val="accent2"/>
                </a:solidFill>
              </a:rPr>
              <a:t>For Further Exploration –</a:t>
            </a:r>
          </a:p>
          <a:p>
            <a:pPr marL="12700" marR="5080"/>
            <a:r>
              <a:rPr lang="en-US" sz="900" dirty="0">
                <a:hlinkClick r:id="rId7"/>
              </a:rPr>
              <a:t>Which machine learning algorithm should I use? - The SAS Data Science Blog</a:t>
            </a:r>
            <a:endParaRPr lang="en-US" sz="900" dirty="0"/>
          </a:p>
          <a:p>
            <a:pPr marL="12700" marR="5080"/>
            <a:r>
              <a:rPr lang="en-IN" sz="900" dirty="0">
                <a:hlinkClick r:id="rId8"/>
              </a:rPr>
              <a:t>Data Annotation and </a:t>
            </a:r>
            <a:r>
              <a:rPr lang="en-IN" sz="900" dirty="0" err="1">
                <a:hlinkClick r:id="rId8"/>
              </a:rPr>
              <a:t>Labeling</a:t>
            </a:r>
            <a:r>
              <a:rPr lang="en-IN" sz="900" dirty="0">
                <a:hlinkClick r:id="rId8"/>
              </a:rPr>
              <a:t> Services for Enterprise AI Models</a:t>
            </a:r>
            <a:endParaRPr lang="en-IN" sz="900" dirty="0"/>
          </a:p>
          <a:p>
            <a:pPr marL="12700" marR="5080"/>
            <a:r>
              <a:rPr lang="en-US" sz="900" dirty="0">
                <a:hlinkClick r:id="rId9"/>
              </a:rPr>
              <a:t>Machine Learning Cheat Sheets</a:t>
            </a:r>
            <a:endParaRPr lang="en-US" sz="900" dirty="0"/>
          </a:p>
          <a:p>
            <a:pPr marL="12700" marR="5080"/>
            <a:r>
              <a:rPr lang="en-US" sz="900" dirty="0">
                <a:hlinkClick r:id="rId10"/>
              </a:rPr>
              <a:t>The Little Book of Deep Learning</a:t>
            </a:r>
            <a:r>
              <a:rPr lang="en-US" sz="900" dirty="0"/>
              <a:t>(</a:t>
            </a:r>
            <a:r>
              <a:rPr lang="en-US" sz="900" kern="0" spc="-80" dirty="0">
                <a:solidFill>
                  <a:schemeClr val="accent6"/>
                </a:solidFill>
              </a:rPr>
              <a:t>Refer Density Modelling on page 18)</a:t>
            </a:r>
          </a:p>
        </p:txBody>
      </p:sp>
    </p:spTree>
    <p:extLst>
      <p:ext uri="{BB962C8B-B14F-4D97-AF65-F5344CB8AC3E}">
        <p14:creationId xmlns:p14="http://schemas.microsoft.com/office/powerpoint/2010/main" val="1542737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0FA0E-0C71-CE13-46CA-3D6841ACBB2D}"/>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255FBEC1-393E-ABAF-F299-03732F1ABBCB}"/>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013C047-C561-E5B8-81AC-C4963BA3088E}"/>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7CFE7C7-F12F-75D8-62C3-1FD6AFBF914F}"/>
              </a:ext>
            </a:extLst>
          </p:cNvPr>
          <p:cNvGraphicFramePr/>
          <p:nvPr>
            <p:extLst>
              <p:ext uri="{D42A27DB-BD31-4B8C-83A1-F6EECF244321}">
                <p14:modId xmlns:p14="http://schemas.microsoft.com/office/powerpoint/2010/main" val="3275358396"/>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20DC8096-1046-2803-0319-794DF37CEA84}"/>
              </a:ext>
            </a:extLst>
          </p:cNvPr>
          <p:cNvSpPr txBox="1">
            <a:spLocks/>
          </p:cNvSpPr>
          <p:nvPr/>
        </p:nvSpPr>
        <p:spPr>
          <a:xfrm>
            <a:off x="59056" y="4556864"/>
            <a:ext cx="9084944" cy="15542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For Further Exploration - </a:t>
            </a:r>
          </a:p>
          <a:p>
            <a:pPr marL="12700" marR="5080"/>
            <a:r>
              <a:rPr lang="en-US" sz="1000" dirty="0">
                <a:hlinkClick r:id="rId7"/>
              </a:rPr>
              <a:t>Semi-Supervised Learning: Techniques &amp; Examples</a:t>
            </a:r>
            <a:endParaRPr lang="en-US" sz="1000" dirty="0"/>
          </a:p>
          <a:p>
            <a:pPr marL="12700" marR="5080"/>
            <a:r>
              <a:rPr lang="en-US" sz="1000" dirty="0">
                <a:hlinkClick r:id="rId8"/>
              </a:rPr>
              <a:t>Self-Supervised Learning: Definition, Tutorial &amp; Examples</a:t>
            </a:r>
            <a:endParaRPr lang="en-US" sz="1000" dirty="0"/>
          </a:p>
          <a:p>
            <a:pPr marL="12700" marR="5080"/>
            <a:r>
              <a:rPr lang="en-US" sz="1000" dirty="0">
                <a:hlinkClick r:id="rId9"/>
              </a:rPr>
              <a:t>Self-supervised, semi-supervised, and multi-view learning</a:t>
            </a:r>
            <a:endParaRPr lang="en-US" sz="1000" dirty="0"/>
          </a:p>
          <a:p>
            <a:pPr marL="12700" marR="5080"/>
            <a:r>
              <a:rPr lang="en-US" sz="1000" dirty="0">
                <a:hlinkClick r:id="rId10"/>
              </a:rPr>
              <a:t>Masked Autoencoders in Deep Learning | </a:t>
            </a:r>
            <a:r>
              <a:rPr lang="en-US" sz="1000" dirty="0" err="1">
                <a:hlinkClick r:id="rId10"/>
              </a:rPr>
              <a:t>GeeksforGeeks</a:t>
            </a:r>
            <a:endParaRPr lang="en-US" sz="1000" dirty="0"/>
          </a:p>
          <a:p>
            <a:pPr marL="12700" marR="5080"/>
            <a:r>
              <a:rPr lang="en-US" sz="1000" dirty="0">
                <a:hlinkClick r:id="rId11"/>
              </a:rPr>
              <a:t>Tutorial] Self-Supervised Learning: Self-prediction and Contrastive Learning</a:t>
            </a:r>
            <a:endParaRPr lang="en-US" sz="1000" dirty="0"/>
          </a:p>
          <a:p>
            <a:pPr marL="12700" marR="5080"/>
            <a:r>
              <a:rPr lang="en-US" sz="1000" dirty="0">
                <a:hlinkClick r:id="rId11"/>
              </a:rPr>
              <a:t>Self-Supervised Learning: Self-prediction and Contrastive Learning</a:t>
            </a:r>
            <a:endParaRPr lang="en-US" sz="1000" dirty="0"/>
          </a:p>
          <a:p>
            <a:pPr marL="12700" marR="5080"/>
            <a:r>
              <a:rPr lang="en-US" sz="1000" dirty="0">
                <a:hlinkClick r:id="rId12"/>
              </a:rPr>
              <a:t>Self-supervised Pre-training of Text Recognizers</a:t>
            </a:r>
            <a:endParaRPr lang="en-US" sz="1000" dirty="0"/>
          </a:p>
          <a:p>
            <a:pPr marL="12700" marR="5080"/>
            <a:r>
              <a:rPr lang="en-US" sz="1000" dirty="0">
                <a:hlinkClick r:id="rId13"/>
              </a:rPr>
              <a:t>Masked Modeling for Self-supervised Representation Learning on Vision and Beyond</a:t>
            </a:r>
            <a:endParaRPr lang="en-US" sz="1000" dirty="0"/>
          </a:p>
          <a:p>
            <a:pPr marL="12700" marR="5080"/>
            <a:endParaRPr lang="en-IN" sz="900" dirty="0"/>
          </a:p>
        </p:txBody>
      </p:sp>
      <p:pic>
        <p:nvPicPr>
          <p:cNvPr id="2052" name="Picture 4">
            <a:extLst>
              <a:ext uri="{FF2B5EF4-FFF2-40B4-BE49-F238E27FC236}">
                <a16:creationId xmlns:a16="http://schemas.microsoft.com/office/drawing/2014/main" id="{9DCC423E-33C5-A6EF-62B0-2CDECA77263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146" y="838201"/>
            <a:ext cx="9008746" cy="3743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278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B6898-4C74-5CBD-91B3-C8258CFAC9C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602667C-FDED-3B29-EF4B-CA71B7CFDAD0}"/>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8789B5A-DE0E-1EC8-D085-2FD23278EC91}"/>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A9B3A3C-52BD-8CF6-3822-19C2467A30D0}"/>
              </a:ext>
            </a:extLst>
          </p:cNvPr>
          <p:cNvGraphicFramePr/>
          <p:nvPr>
            <p:extLst>
              <p:ext uri="{D42A27DB-BD31-4B8C-83A1-F6EECF244321}">
                <p14:modId xmlns:p14="http://schemas.microsoft.com/office/powerpoint/2010/main" val="102158355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FA279D6-4F5A-FFEF-167B-0081F8E65061}"/>
              </a:ext>
            </a:extLst>
          </p:cNvPr>
          <p:cNvSpPr txBox="1">
            <a:spLocks/>
          </p:cNvSpPr>
          <p:nvPr/>
        </p:nvSpPr>
        <p:spPr>
          <a:xfrm>
            <a:off x="-76200" y="1283480"/>
            <a:ext cx="8624937" cy="2077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b="0" i="0" dirty="0">
                <a:solidFill>
                  <a:srgbClr val="1F2328"/>
                </a:solidFill>
                <a:effectLst/>
                <a:latin typeface="-apple-system"/>
              </a:rPr>
              <a:t>  </a:t>
            </a:r>
            <a:r>
              <a:rPr lang="en-US" sz="1350" kern="0" spc="-80">
                <a:solidFill>
                  <a:schemeClr val="accent2"/>
                </a:solidFill>
              </a:rPr>
              <a:t>Linear Algebra (Concepts </a:t>
            </a:r>
            <a:r>
              <a:rPr lang="en-US" sz="1350" kern="0" spc="-80" dirty="0">
                <a:solidFill>
                  <a:schemeClr val="accent2"/>
                </a:solidFill>
              </a:rPr>
              <a:t>used in ML)</a:t>
            </a:r>
            <a:endParaRPr lang="en-US" sz="1350" kern="0" spc="-80" dirty="0">
              <a:solidFill>
                <a:schemeClr val="accent6"/>
              </a:solidFill>
            </a:endParaRPr>
          </a:p>
        </p:txBody>
      </p:sp>
    </p:spTree>
    <p:extLst>
      <p:ext uri="{BB962C8B-B14F-4D97-AF65-F5344CB8AC3E}">
        <p14:creationId xmlns:p14="http://schemas.microsoft.com/office/powerpoint/2010/main" val="4266627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3B46A-131D-3780-9E0A-D94B074372A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3574BB6-4DCF-1DD4-F1C9-65AD735D3CFA}"/>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BD7656-AF3D-07CC-9E76-B44FB6C0BC42}"/>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11FCCB7-C83D-C87A-39E9-C958A048465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DEBB443-C56D-B71C-2470-775AEC4946BD}"/>
              </a:ext>
            </a:extLst>
          </p:cNvPr>
          <p:cNvSpPr txBox="1">
            <a:spLocks/>
          </p:cNvSpPr>
          <p:nvPr/>
        </p:nvSpPr>
        <p:spPr>
          <a:xfrm>
            <a:off x="182376" y="1283480"/>
            <a:ext cx="8624937" cy="45704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b="0" i="0" dirty="0">
                <a:solidFill>
                  <a:srgbClr val="1F2328"/>
                </a:solidFill>
                <a:effectLst/>
                <a:latin typeface="-apple-system"/>
              </a:rPr>
              <a:t>  </a:t>
            </a:r>
            <a:r>
              <a:rPr lang="en-US" sz="1350" kern="0" spc="-80" dirty="0" err="1">
                <a:solidFill>
                  <a:schemeClr val="accent2"/>
                </a:solidFill>
              </a:rPr>
              <a:t>i</a:t>
            </a:r>
            <a:r>
              <a:rPr lang="en-US" sz="1350" kern="0" spc="-80" dirty="0">
                <a:solidFill>
                  <a:schemeClr val="accent2"/>
                </a:solidFill>
              </a:rPr>
              <a:t>) Linear Algebra - </a:t>
            </a:r>
            <a:r>
              <a:rPr lang="en-US" sz="1350" kern="0" spc="-80" dirty="0">
                <a:solidFill>
                  <a:schemeClr val="accent6"/>
                </a:solidFill>
              </a:rPr>
              <a:t>Representing (non-)deterministic values in the form of sparse(/dense) vectors/matrices in efficient array or other structures &amp; further (parallel) processing like inferential statistics(for non-deterministic values), proximity measures(e.g. distance or similarity[in general normalized-distance = 1 - normalized-similarity]), matrix factorizations </a:t>
            </a:r>
            <a:r>
              <a:rPr lang="en-US" sz="1350" kern="0" spc="-80" dirty="0" err="1">
                <a:solidFill>
                  <a:schemeClr val="accent6"/>
                </a:solidFill>
              </a:rPr>
              <a:t>etc</a:t>
            </a:r>
            <a:r>
              <a:rPr lang="en-US" sz="1350" kern="0" spc="-80" dirty="0">
                <a:solidFill>
                  <a:schemeClr val="accent6"/>
                </a:solidFill>
              </a:rPr>
              <a:t> to gain insights via proper model development.</a:t>
            </a:r>
          </a:p>
          <a:p>
            <a:pPr marL="12700" marR="5080"/>
            <a:r>
              <a:rPr lang="en-US" sz="1350" kern="0" spc="-80" dirty="0">
                <a:solidFill>
                  <a:schemeClr val="accent2"/>
                </a:solidFill>
              </a:rPr>
              <a:t>  ii) Statistics &amp; Probability - </a:t>
            </a:r>
            <a:r>
              <a:rPr lang="en-US" sz="1350" kern="0" spc="-80" dirty="0">
                <a:solidFill>
                  <a:schemeClr val="accent6"/>
                </a:solidFill>
              </a:rPr>
              <a:t>Very helpful for Descriptive Analytics(including EDA[Exploratory Data Analysis] &amp; to some extent DV[Data Visualization]) &amp; can provide non-deterministic/probabilistic values as needed by Linear Algebra data representation above. Also, can be helpful in handling </a:t>
            </a:r>
            <a:r>
              <a:rPr lang="en-US" sz="1350" kern="0" spc="-80" dirty="0" err="1">
                <a:solidFill>
                  <a:schemeClr val="accent6"/>
                </a:solidFill>
              </a:rPr>
              <a:t>uncertainity</a:t>
            </a:r>
            <a:r>
              <a:rPr lang="en-US" sz="1350" kern="0" spc="-80" dirty="0">
                <a:solidFill>
                  <a:schemeClr val="accent6"/>
                </a:solidFill>
              </a:rPr>
              <a:t>, quantifying likelihood, assessing model performance etc.</a:t>
            </a:r>
            <a:br>
              <a:rPr lang="en-US" sz="1350" kern="0" spc="-80" dirty="0">
                <a:solidFill>
                  <a:schemeClr val="accent6"/>
                </a:solidFill>
              </a:rPr>
            </a:br>
            <a:r>
              <a:rPr lang="en-US" sz="1350" kern="0" spc="-80" dirty="0">
                <a:solidFill>
                  <a:schemeClr val="accent2"/>
                </a:solidFill>
              </a:rPr>
              <a:t>  iii) Multivariable Calculus - </a:t>
            </a:r>
            <a:r>
              <a:rPr lang="en-US" sz="1350" kern="0" spc="-80" dirty="0">
                <a:solidFill>
                  <a:schemeClr val="accent6"/>
                </a:solidFill>
              </a:rPr>
              <a:t>mainly used for optimizing the (hyper)parameters of the model or representing the </a:t>
            </a:r>
            <a:r>
              <a:rPr lang="en-US" sz="1350" kern="0" spc="-80" dirty="0">
                <a:solidFill>
                  <a:schemeClr val="accent6"/>
                </a:solidFill>
                <a:hlinkClick r:id="rId7">
                  <a:extLst>
                    <a:ext uri="{A12FA001-AC4F-418D-AE19-62706E023703}">
                      <ahyp:hlinkClr xmlns:ahyp="http://schemas.microsoft.com/office/drawing/2018/hyperlinkcolor" val="tx"/>
                    </a:ext>
                  </a:extLst>
                </a:hlinkClick>
              </a:rPr>
              <a:t>Scientific ML</a:t>
            </a:r>
            <a:r>
              <a:rPr lang="en-US" sz="1350" kern="0" spc="-80" dirty="0">
                <a:solidFill>
                  <a:schemeClr val="accent6"/>
                </a:solidFill>
              </a:rPr>
              <a:t> Modelling equations(similar to linear regression).Again here (hyper)parameters can be stochastic as well wherein the values in general are non-deterministic/probabilistic.</a:t>
            </a:r>
          </a:p>
          <a:p>
            <a:pPr marL="12700" marR="5080"/>
            <a:r>
              <a:rPr lang="en-US" sz="1350" kern="0" spc="-80" dirty="0">
                <a:solidFill>
                  <a:schemeClr val="accent2"/>
                </a:solidFill>
              </a:rPr>
              <a:t>  iv) Classical and Evolutionary </a:t>
            </a:r>
            <a:r>
              <a:rPr lang="en-US" sz="1350" kern="0" spc="-80" dirty="0" err="1">
                <a:solidFill>
                  <a:schemeClr val="accent2"/>
                </a:solidFill>
              </a:rPr>
              <a:t>Optimisation</a:t>
            </a:r>
            <a:r>
              <a:rPr lang="en-US" sz="1350" kern="0" spc="-80" dirty="0">
                <a:solidFill>
                  <a:schemeClr val="accent2"/>
                </a:solidFill>
              </a:rPr>
              <a:t> - </a:t>
            </a:r>
            <a:r>
              <a:rPr lang="en-US" sz="1350" kern="0" spc="-80" dirty="0">
                <a:solidFill>
                  <a:schemeClr val="accent6"/>
                </a:solidFill>
              </a:rPr>
              <a:t>Both classical and evolutionary techniques are used in machine learning (ML) to optimize models by minimizing error or maximizing performance. While classical methods typically use systematic, gradient-based approaches, evolutionary techniques are bio-inspired, population-based, and excel in complex, non-linear problems. </a:t>
            </a:r>
          </a:p>
          <a:p>
            <a:pPr marL="12700" marR="5080"/>
            <a:r>
              <a:rPr lang="en-US" sz="1350" kern="0" spc="-80" dirty="0">
                <a:solidFill>
                  <a:schemeClr val="accent2"/>
                </a:solidFill>
              </a:rPr>
              <a:t>  v) Topology/Geometry - </a:t>
            </a:r>
            <a:r>
              <a:rPr lang="en-US" sz="1350" kern="0" spc="-80" dirty="0">
                <a:solidFill>
                  <a:schemeClr val="accent6"/>
                </a:solidFill>
              </a:rPr>
              <a:t>Topological/Geometric Intuition behind the Probability, Linear Algebra &amp; Calculus above &amp; Image Analysis/Interpretation/Processing in general. By the way, Graph is a special case of Topology. Basically, Graphs have normal nodes &amp; straight edges while Topology has </a:t>
            </a:r>
            <a:r>
              <a:rPr lang="en-US" sz="1350" kern="0" spc="-80" dirty="0">
                <a:solidFill>
                  <a:schemeClr val="accent6"/>
                </a:solidFill>
                <a:hlinkClick r:id="rId8">
                  <a:extLst>
                    <a:ext uri="{A12FA001-AC4F-418D-AE19-62706E023703}">
                      <ahyp:hlinkClr xmlns:ahyp="http://schemas.microsoft.com/office/drawing/2018/hyperlinkcolor" val="tx"/>
                    </a:ext>
                  </a:extLst>
                </a:hlinkClick>
              </a:rPr>
              <a:t>faces</a:t>
            </a:r>
            <a:r>
              <a:rPr lang="en-US" sz="1350" kern="0" spc="-80" dirty="0">
                <a:solidFill>
                  <a:schemeClr val="accent6"/>
                </a:solidFill>
              </a:rPr>
              <a:t>(of any shape as well </a:t>
            </a:r>
            <a:r>
              <a:rPr lang="en-US" sz="1350" kern="0" spc="-80" dirty="0" err="1">
                <a:solidFill>
                  <a:schemeClr val="accent6"/>
                </a:solidFill>
              </a:rPr>
              <a:t>alongwith</a:t>
            </a:r>
            <a:r>
              <a:rPr lang="en-US" sz="1350" kern="0" spc="-80" dirty="0">
                <a:solidFill>
                  <a:schemeClr val="accent6"/>
                </a:solidFill>
              </a:rPr>
              <a:t> facial nodes[i.e. nodes having faces], curved edges, metrics i.e. measurements like length, area, volume but lengths and areas are possible in Graphs as well).Also, the nodes are like geometric objects data while topology is like the edges + the overall structure.</a:t>
            </a:r>
            <a:br>
              <a:rPr lang="en-US" sz="1350" kern="0" spc="-80" dirty="0">
                <a:solidFill>
                  <a:schemeClr val="accent6"/>
                </a:solidFill>
              </a:rPr>
            </a:br>
            <a:r>
              <a:rPr lang="en-US" sz="1350" kern="0" spc="-80" dirty="0">
                <a:solidFill>
                  <a:schemeClr val="accent2"/>
                </a:solidFill>
              </a:rPr>
              <a:t>  </a:t>
            </a:r>
            <a:endParaRPr lang="en-US" sz="1350" kern="0" spc="-80" dirty="0">
              <a:solidFill>
                <a:schemeClr val="accent6"/>
              </a:solidFill>
            </a:endParaRPr>
          </a:p>
        </p:txBody>
      </p:sp>
    </p:spTree>
    <p:extLst>
      <p:ext uri="{BB962C8B-B14F-4D97-AF65-F5344CB8AC3E}">
        <p14:creationId xmlns:p14="http://schemas.microsoft.com/office/powerpoint/2010/main" val="3195762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F09AB-DE5E-7E0A-6008-ECE49A6391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2699BC-545A-B9A3-2FAC-D9D0C34EA939}"/>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2A1EB0F-8F8F-4C6A-E1B6-419210B8E386}"/>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9AAA2F0-7542-A73C-55D2-2A07C9CB3D79}"/>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4B88135-1BE7-1813-50C6-10074BC9D940}"/>
              </a:ext>
            </a:extLst>
          </p:cNvPr>
          <p:cNvSpPr txBox="1">
            <a:spLocks/>
          </p:cNvSpPr>
          <p:nvPr/>
        </p:nvSpPr>
        <p:spPr>
          <a:xfrm>
            <a:off x="182376" y="1283480"/>
            <a:ext cx="8624937" cy="34009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kern="0" spc="-80" dirty="0">
                <a:solidFill>
                  <a:schemeClr val="accent2"/>
                </a:solidFill>
              </a:rPr>
              <a:t>vi) Information Theory – </a:t>
            </a:r>
            <a:r>
              <a:rPr lang="en-US" sz="1350" kern="0" spc="-80" dirty="0">
                <a:solidFill>
                  <a:schemeClr val="accent6"/>
                </a:solidFill>
              </a:rPr>
              <a:t>Mainly used to measure Data Quality. To quantify the amount of info(</a:t>
            </a:r>
            <a:r>
              <a:rPr lang="en-US" sz="1350" kern="0" spc="-80" dirty="0" err="1">
                <a:solidFill>
                  <a:schemeClr val="accent6"/>
                </a:solidFill>
              </a:rPr>
              <a:t>a.k.a</a:t>
            </a:r>
            <a:r>
              <a:rPr lang="en-US" sz="1350" kern="0" spc="-80" dirty="0">
                <a:solidFill>
                  <a:schemeClr val="accent6"/>
                </a:solidFill>
              </a:rPr>
              <a:t> entropy) &amp; measure the accuracy, available in the data sources which ultimately leads to better predictive models. Also, can be helpful in good feature selection, decision tree building, cross-entropy loss, Viterbi Algo(commonly used in NLP) &amp; even encoder-decoder modelling which is at the heart of any Transformer implementation which is the backbone of any DL/LLM/GenAI tool.</a:t>
            </a:r>
          </a:p>
          <a:p>
            <a:pPr marL="12700" marR="5080"/>
            <a:r>
              <a:rPr lang="en-US" sz="1350" kern="0" spc="-80" dirty="0">
                <a:solidFill>
                  <a:schemeClr val="accent2"/>
                </a:solidFill>
              </a:rPr>
              <a:t>vii) Abstract Algebra - </a:t>
            </a:r>
            <a:r>
              <a:rPr lang="en-US" sz="1400" kern="0" spc="-80" dirty="0">
                <a:solidFill>
                  <a:schemeClr val="accent6"/>
                </a:solidFill>
              </a:rPr>
              <a:t>Abstract algebra is used in machine learning for applications like topological data analysis (using concepts from algebraic topology to find patterns in data), representing symmetries (like group transformations on images), and in theoretical computer science to create formal, efficient algorithms. It also provides a strong theoretical foundation for areas like linear algebra and helps in developing new models and frameworks. </a:t>
            </a:r>
          </a:p>
          <a:p>
            <a:pPr marL="12700" marR="5080"/>
            <a:r>
              <a:rPr lang="en-US" sz="1350" kern="0" spc="-80">
                <a:solidFill>
                  <a:schemeClr val="accent2"/>
                </a:solidFill>
              </a:rPr>
              <a:t> viii</a:t>
            </a:r>
            <a:r>
              <a:rPr lang="en-US" sz="1350" kern="0" spc="-80" dirty="0">
                <a:solidFill>
                  <a:schemeClr val="accent2"/>
                </a:solidFill>
              </a:rPr>
              <a:t>) Chaos &amp; Fractal Theory - </a:t>
            </a:r>
            <a:r>
              <a:rPr lang="en-US" sz="1400" kern="0" spc="-80" dirty="0">
                <a:solidFill>
                  <a:schemeClr val="accent6"/>
                </a:solidFill>
              </a:rPr>
              <a:t>Chaos and fractal theory are used in machine learning (ML) primarily to analyze and model complex, nonlinear systems that are often found in real-world data like financial markets, biological processes, and natural phenomena. By treating seemingly random or unpredictable data as a deterministic system with underlying structure, these theories help improve the accuracy and robustness of ML models, particularly for time-series forecasting and complex pattern recognition.</a:t>
            </a:r>
          </a:p>
          <a:p>
            <a:pPr marL="12700" marR="5080"/>
            <a:endParaRPr lang="en-US" sz="1350" kern="0" spc="-80" dirty="0">
              <a:solidFill>
                <a:schemeClr val="accent6"/>
              </a:solidFill>
            </a:endParaRPr>
          </a:p>
        </p:txBody>
      </p:sp>
    </p:spTree>
    <p:extLst>
      <p:ext uri="{BB962C8B-B14F-4D97-AF65-F5344CB8AC3E}">
        <p14:creationId xmlns:p14="http://schemas.microsoft.com/office/powerpoint/2010/main" val="76662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9F4D-A459-F856-33B9-6C1FECF8ADB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FEBD936-CF20-8B3B-FFB3-F23A2C72C021}"/>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A5F1551-B2D3-FAD3-12EC-5E7026CCE5D5}"/>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299EEA-F3C6-E77B-500D-DFAD2F855EC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660D146-A30C-B77D-2D6B-7C26F37436B0}"/>
              </a:ext>
            </a:extLst>
          </p:cNvPr>
          <p:cNvSpPr txBox="1">
            <a:spLocks/>
          </p:cNvSpPr>
          <p:nvPr/>
        </p:nvSpPr>
        <p:spPr>
          <a:xfrm>
            <a:off x="51885" y="1206992"/>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Linear Algebra </a:t>
            </a:r>
          </a:p>
          <a:p>
            <a:pPr marL="12700" marR="5080"/>
            <a:r>
              <a:rPr lang="en-US" sz="1500" b="0" i="0" dirty="0">
                <a:solidFill>
                  <a:srgbClr val="1F2328"/>
                </a:solidFill>
                <a:effectLst/>
                <a:latin typeface="-apple-system"/>
              </a:rPr>
              <a:t> </a:t>
            </a:r>
            <a:r>
              <a:rPr lang="en-US" sz="1500" kern="0" spc="-80" dirty="0">
                <a:solidFill>
                  <a:schemeClr val="accent2"/>
                </a:solidFill>
              </a:rPr>
              <a:t>How Linear Algebra is(/can be) used in ML</a:t>
            </a:r>
          </a:p>
          <a:p>
            <a:r>
              <a:rPr lang="en-US" sz="1400" kern="0" spc="-80" dirty="0">
                <a:solidFill>
                  <a:schemeClr val="accent6"/>
                </a:solidFill>
              </a:rPr>
              <a:t>Linear algebra is used in machine learning to represent data as vectors and matrices, perform operations like matrix multiplication to process and transform data, and employ techniques like Singular Value Decomposition (SVD) and Principal Component Analysis (PCA) for dimensionality reduction and noise reduction. These techniques are foundational for tasks such as image and speech recognition, natural language processing, and recommendation systems. </a:t>
            </a:r>
          </a:p>
          <a:p>
            <a:r>
              <a:rPr lang="en-US" sz="1400" kern="0" spc="-80" dirty="0">
                <a:solidFill>
                  <a:schemeClr val="accent2"/>
                </a:solidFill>
              </a:rPr>
              <a:t>Data representation and processing</a:t>
            </a:r>
          </a:p>
          <a:p>
            <a:r>
              <a:rPr lang="en-US" sz="1400" kern="0" spc="-80" dirty="0">
                <a:solidFill>
                  <a:schemeClr val="accent2"/>
                </a:solidFill>
              </a:rPr>
              <a:t>Vectors and matrices: </a:t>
            </a:r>
          </a:p>
          <a:p>
            <a:r>
              <a:rPr lang="en-US" sz="1400" kern="0" spc="-80" dirty="0">
                <a:solidFill>
                  <a:schemeClr val="accent6"/>
                </a:solidFill>
              </a:rPr>
              <a:t>Datasets are represented as vectors (features) and matrices (datasets), allowing for efficient manipulation and computation. </a:t>
            </a:r>
          </a:p>
          <a:p>
            <a:r>
              <a:rPr lang="en-US" sz="1400" kern="0" spc="-80" dirty="0">
                <a:solidFill>
                  <a:schemeClr val="accent2"/>
                </a:solidFill>
                <a:hlinkClick r:id="rId7">
                  <a:extLst>
                    <a:ext uri="{A12FA001-AC4F-418D-AE19-62706E023703}">
                      <ahyp:hlinkClr xmlns:ahyp="http://schemas.microsoft.com/office/drawing/2018/hyperlinkcolor" val="tx"/>
                    </a:ext>
                  </a:extLst>
                </a:hlinkClick>
              </a:rPr>
              <a:t>Dot products</a:t>
            </a:r>
            <a:r>
              <a:rPr lang="en-US" sz="1400" kern="0" spc="-80" dirty="0">
                <a:solidFill>
                  <a:schemeClr val="accent2"/>
                </a:solidFill>
              </a:rPr>
              <a:t>: </a:t>
            </a:r>
          </a:p>
          <a:p>
            <a:r>
              <a:rPr lang="en-US" sz="1400" kern="0" spc="-80" dirty="0">
                <a:solidFill>
                  <a:schemeClr val="accent6"/>
                </a:solidFill>
              </a:rPr>
              <a:t>Used to calculate similarity between vectors, which is fundamental for algorithms like linear regression and recommendation systems. </a:t>
            </a:r>
          </a:p>
          <a:p>
            <a:r>
              <a:rPr lang="en-US" sz="1400" kern="0" spc="-80" dirty="0">
                <a:solidFill>
                  <a:schemeClr val="accent2"/>
                </a:solidFill>
              </a:rPr>
              <a:t>Matrix operations: </a:t>
            </a:r>
          </a:p>
          <a:p>
            <a:r>
              <a:rPr lang="en-US" sz="1400" kern="0" spc="-80" dirty="0">
                <a:solidFill>
                  <a:schemeClr val="accent6"/>
                </a:solidFill>
              </a:rPr>
              <a:t>Matrix multiplication and transposition are used extensively to transform data and compute model parameters. </a:t>
            </a:r>
          </a:p>
          <a:p>
            <a:endParaRPr lang="en-US" sz="1400" kern="0" spc="-80" dirty="0">
              <a:solidFill>
                <a:schemeClr val="accent6"/>
              </a:solidFill>
            </a:endParaRPr>
          </a:p>
          <a:p>
            <a:r>
              <a:rPr lang="en-US" sz="1400" kern="0" spc="-80" dirty="0">
                <a:solidFill>
                  <a:schemeClr val="accent2"/>
                </a:solidFill>
              </a:rPr>
              <a:t>Core algorithms and techniques</a:t>
            </a:r>
          </a:p>
          <a:p>
            <a:r>
              <a:rPr lang="en-US" sz="1400" kern="0" spc="-80" dirty="0">
                <a:solidFill>
                  <a:schemeClr val="accent2"/>
                </a:solidFill>
              </a:rPr>
              <a:t>Dimensionality reduction: </a:t>
            </a:r>
          </a:p>
          <a:p>
            <a:r>
              <a:rPr lang="en-US" sz="1400" kern="0" spc="-80" dirty="0">
                <a:solidFill>
                  <a:schemeClr val="accent6"/>
                </a:solidFill>
              </a:rPr>
              <a:t>Techniques like PCA use concepts such as </a:t>
            </a:r>
            <a:r>
              <a:rPr lang="en-US" sz="1400" kern="0" spc="-80" dirty="0">
                <a:solidFill>
                  <a:schemeClr val="accent6"/>
                </a:solidFill>
                <a:hlinkClick r:id="rId8">
                  <a:extLst>
                    <a:ext uri="{A12FA001-AC4F-418D-AE19-62706E023703}">
                      <ahyp:hlinkClr xmlns:ahyp="http://schemas.microsoft.com/office/drawing/2018/hyperlinkcolor" val="tx"/>
                    </a:ext>
                  </a:extLst>
                </a:hlinkClick>
              </a:rPr>
              <a:t>eigenvectors</a:t>
            </a:r>
            <a:r>
              <a:rPr lang="en-US" sz="1400" kern="0" spc="-80" dirty="0">
                <a:solidFill>
                  <a:schemeClr val="accent6"/>
                </a:solidFill>
              </a:rPr>
              <a:t> to find new, lower-dimensional representations of the data that preserve the most variance.</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562943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4BEDE-21E0-57CB-480F-B525A15B82E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F3676C7-924F-1486-38B2-C2E06B2AD1BB}"/>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9E5731-C8D9-BDCF-4243-DB542AE38878}"/>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FB4CD4-43E2-B172-ECA8-9F1E1407ED3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A4A7946-7378-26DF-F96D-4857F9250EC0}"/>
              </a:ext>
            </a:extLst>
          </p:cNvPr>
          <p:cNvSpPr txBox="1">
            <a:spLocks/>
          </p:cNvSpPr>
          <p:nvPr/>
        </p:nvSpPr>
        <p:spPr>
          <a:xfrm>
            <a:off x="51885" y="1206992"/>
            <a:ext cx="8624937" cy="36779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Linear Algebra is(/can be) used in ML</a:t>
            </a:r>
          </a:p>
          <a:p>
            <a:r>
              <a:rPr lang="en-US" sz="1400" kern="0" spc="-80" dirty="0">
                <a:solidFill>
                  <a:schemeClr val="accent2"/>
                </a:solidFill>
                <a:hlinkClick r:id="rId7">
                  <a:extLst>
                    <a:ext uri="{A12FA001-AC4F-418D-AE19-62706E023703}">
                      <ahyp:hlinkClr xmlns:ahyp="http://schemas.microsoft.com/office/drawing/2018/hyperlinkcolor" val="tx"/>
                    </a:ext>
                  </a:extLst>
                </a:hlinkClick>
              </a:rPr>
              <a:t>Singular Value Decomposition (SVD)</a:t>
            </a:r>
            <a:r>
              <a:rPr lang="en-US" sz="1400" kern="0" spc="-80" dirty="0">
                <a:solidFill>
                  <a:schemeClr val="accent2"/>
                </a:solidFill>
              </a:rPr>
              <a:t>: </a:t>
            </a:r>
          </a:p>
          <a:p>
            <a:r>
              <a:rPr lang="en-US" sz="1400" kern="0" spc="-80" dirty="0">
                <a:solidFill>
                  <a:schemeClr val="accent6"/>
                </a:solidFill>
              </a:rPr>
              <a:t>Decomposes a matrix into three smaller matrices, enabling tasks like data compression, noise reduction, and dimensionality reduction. </a:t>
            </a:r>
          </a:p>
          <a:p>
            <a:r>
              <a:rPr lang="en-US" sz="1400" kern="0" spc="-80" dirty="0">
                <a:solidFill>
                  <a:schemeClr val="accent2"/>
                </a:solidFill>
                <a:hlinkClick r:id="rId8">
                  <a:extLst>
                    <a:ext uri="{A12FA001-AC4F-418D-AE19-62706E023703}">
                      <ahyp:hlinkClr xmlns:ahyp="http://schemas.microsoft.com/office/drawing/2018/hyperlinkcolor" val="tx"/>
                    </a:ext>
                  </a:extLst>
                </a:hlinkClick>
              </a:rPr>
              <a:t>Matrix decomposition</a:t>
            </a:r>
            <a:r>
              <a:rPr lang="en-US" sz="1400" kern="0" spc="-80" dirty="0">
                <a:solidFill>
                  <a:schemeClr val="accent2"/>
                </a:solidFill>
              </a:rPr>
              <a:t>: </a:t>
            </a:r>
          </a:p>
          <a:p>
            <a:r>
              <a:rPr lang="en-US" sz="1400" kern="0" spc="-80" dirty="0">
                <a:solidFill>
                  <a:schemeClr val="accent6"/>
                </a:solidFill>
              </a:rPr>
              <a:t>Methods like LU and QR decomposition are used to solve systems of linear equations and process large datasets. </a:t>
            </a:r>
          </a:p>
          <a:p>
            <a:r>
              <a:rPr lang="en-US" sz="1400" kern="0" spc="-80" dirty="0">
                <a:solidFill>
                  <a:schemeClr val="accent2"/>
                </a:solidFill>
              </a:rPr>
              <a:t>Applications in different ML domains</a:t>
            </a:r>
          </a:p>
          <a:p>
            <a:r>
              <a:rPr lang="en-US" sz="1400" kern="0" spc="-80" dirty="0">
                <a:solidFill>
                  <a:schemeClr val="accent2"/>
                </a:solidFill>
              </a:rPr>
              <a:t>Recommendation systems: </a:t>
            </a:r>
          </a:p>
          <a:p>
            <a:r>
              <a:rPr lang="en-US" sz="1400" kern="0" spc="-80" dirty="0">
                <a:solidFill>
                  <a:schemeClr val="accent6"/>
                </a:solidFill>
              </a:rPr>
              <a:t>Matrix factorization and similarity calculations are used to predict user preferences based on their past behavior. </a:t>
            </a:r>
          </a:p>
          <a:p>
            <a:r>
              <a:rPr lang="en-US" sz="1400" kern="0" spc="-80" dirty="0">
                <a:solidFill>
                  <a:schemeClr val="accent2"/>
                </a:solidFill>
              </a:rPr>
              <a:t>Natural Language Processing (NLP): </a:t>
            </a:r>
          </a:p>
          <a:p>
            <a:r>
              <a:rPr lang="en-US" sz="1400" kern="0" spc="-80" dirty="0">
                <a:solidFill>
                  <a:schemeClr val="accent6"/>
                </a:solidFill>
              </a:rPr>
              <a:t>Techniques like </a:t>
            </a:r>
            <a:r>
              <a:rPr lang="en-US" sz="1400" kern="0" spc="-80" dirty="0">
                <a:solidFill>
                  <a:schemeClr val="accent6"/>
                </a:solidFill>
                <a:hlinkClick r:id="rId9">
                  <a:extLst>
                    <a:ext uri="{A12FA001-AC4F-418D-AE19-62706E023703}">
                      <ahyp:hlinkClr xmlns:ahyp="http://schemas.microsoft.com/office/drawing/2018/hyperlinkcolor" val="tx"/>
                    </a:ext>
                  </a:extLst>
                </a:hlinkClick>
              </a:rPr>
              <a:t>Word2Vec</a:t>
            </a:r>
            <a:r>
              <a:rPr lang="en-US" sz="1400" kern="0" spc="-80" dirty="0">
                <a:solidFill>
                  <a:schemeClr val="accent6"/>
                </a:solidFill>
              </a:rPr>
              <a:t> represent words as vectors, allowing algorithms to understand semantic relationships through vector space operations. </a:t>
            </a:r>
          </a:p>
          <a:p>
            <a:r>
              <a:rPr lang="en-US" sz="1400" kern="0" spc="-80" dirty="0">
                <a:solidFill>
                  <a:schemeClr val="accent2"/>
                </a:solidFill>
              </a:rPr>
              <a:t>Image and speech recognition: </a:t>
            </a:r>
          </a:p>
          <a:p>
            <a:r>
              <a:rPr lang="en-US" sz="1400" kern="0" spc="-80" dirty="0">
                <a:solidFill>
                  <a:schemeClr val="accent6"/>
                </a:solidFill>
              </a:rPr>
              <a:t>Images and audio are converted into numerical matrices and vectors, and linear algebra is used for operations like convolutions and signal processing. </a:t>
            </a:r>
          </a:p>
        </p:txBody>
      </p:sp>
    </p:spTree>
    <p:extLst>
      <p:ext uri="{BB962C8B-B14F-4D97-AF65-F5344CB8AC3E}">
        <p14:creationId xmlns:p14="http://schemas.microsoft.com/office/powerpoint/2010/main" val="4125178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71A35-5085-6AEE-035B-4284DA6908C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C2349FF-D0EA-B46C-9385-136486524C1B}"/>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C7620BE-F3E4-C33D-9B4B-0CFC4F7A82B7}"/>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C5E25DB-7967-2E31-A350-ED5B49025FE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75B01FF-BCDD-52CD-5995-E1BE0326B424}"/>
              </a:ext>
            </a:extLst>
          </p:cNvPr>
          <p:cNvSpPr txBox="1">
            <a:spLocks/>
          </p:cNvSpPr>
          <p:nvPr/>
        </p:nvSpPr>
        <p:spPr>
          <a:xfrm>
            <a:off x="51885" y="1206992"/>
            <a:ext cx="8624937" cy="20621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Linear Algebra is(/can be) used in ML</a:t>
            </a:r>
          </a:p>
          <a:p>
            <a:r>
              <a:rPr lang="en-US" sz="1400" kern="0" spc="-80" dirty="0">
                <a:solidFill>
                  <a:schemeClr val="accent2"/>
                </a:solidFill>
              </a:rPr>
              <a:t>For Further Exploration</a:t>
            </a:r>
          </a:p>
          <a:p>
            <a:r>
              <a:rPr lang="en-IN" sz="1500" dirty="0">
                <a:hlinkClick r:id="rId7"/>
              </a:rPr>
              <a:t>Linear Algebra: Theory, Intuition, Code</a:t>
            </a:r>
            <a:endParaRPr lang="en-IN" sz="1500" dirty="0"/>
          </a:p>
          <a:p>
            <a:r>
              <a:rPr lang="en-IN" sz="1500" dirty="0">
                <a:hlinkClick r:id="rId8"/>
              </a:rPr>
              <a:t>Coding The Matrix</a:t>
            </a:r>
            <a:endParaRPr lang="en-IN" sz="1500" dirty="0"/>
          </a:p>
          <a:p>
            <a:r>
              <a:rPr lang="en-US" sz="1500" dirty="0">
                <a:hlinkClick r:id="rId9"/>
              </a:rPr>
              <a:t>Linear Algebra and Its Applications</a:t>
            </a:r>
            <a:r>
              <a:rPr lang="en-US" sz="1500" dirty="0"/>
              <a:t> </a:t>
            </a:r>
          </a:p>
          <a:p>
            <a:r>
              <a:rPr lang="en-US" sz="1500" dirty="0">
                <a:hlinkClick r:id="rId10"/>
              </a:rPr>
              <a:t>Linear Algebra and Learning from Data</a:t>
            </a:r>
            <a:endParaRPr lang="en-US" sz="1500" kern="0" spc="-80" dirty="0">
              <a:solidFill>
                <a:schemeClr val="accent6"/>
              </a:solidFill>
            </a:endParaRPr>
          </a:p>
          <a:p>
            <a:pPr marL="12700" marR="5080"/>
            <a:r>
              <a:rPr lang="en-US" sz="1500" dirty="0">
                <a:hlinkClick r:id="rId11"/>
              </a:rPr>
              <a:t>Vector Projection – Formula, Derivation &amp; Examples | </a:t>
            </a:r>
            <a:r>
              <a:rPr lang="en-US" sz="1500" dirty="0" err="1">
                <a:hlinkClick r:id="rId11"/>
              </a:rPr>
              <a:t>GeeksforGeeks</a:t>
            </a:r>
            <a:endParaRPr lang="en-IN" sz="1500" dirty="0"/>
          </a:p>
          <a:p>
            <a:pPr marL="12700" marR="5080"/>
            <a:r>
              <a:rPr lang="en-IN" sz="1500" dirty="0">
                <a:hlinkClick r:id="rId12"/>
              </a:rPr>
              <a:t>9 Distance Measures in </a:t>
            </a:r>
            <a:r>
              <a:rPr lang="en-IN" sz="1500" dirty="0" err="1">
                <a:hlinkClick r:id="rId12"/>
              </a:rPr>
              <a:t>DataScience</a:t>
            </a:r>
            <a:endParaRPr lang="en-IN" sz="1500" dirty="0"/>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586693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9F01-7E5E-7404-4037-AD852813AC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2B80D24-C95D-7D5E-351C-2EB818448C57}"/>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A4F7887-1A2C-28EC-4155-ECD89E78B3B9}"/>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5B88D48-F200-16A7-FC77-FBF4F56CC1B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9EB78FA-B761-6057-2639-BE6B6D320833}"/>
              </a:ext>
            </a:extLst>
          </p:cNvPr>
          <p:cNvSpPr txBox="1">
            <a:spLocks/>
          </p:cNvSpPr>
          <p:nvPr/>
        </p:nvSpPr>
        <p:spPr>
          <a:xfrm>
            <a:off x="51885" y="1206992"/>
            <a:ext cx="8624937"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Probability (Theory) is(/can be) used in ML</a:t>
            </a:r>
          </a:p>
          <a:p>
            <a:r>
              <a:rPr lang="en-US" sz="1400" kern="0" spc="-80" dirty="0">
                <a:solidFill>
                  <a:schemeClr val="accent6"/>
                </a:solidFill>
              </a:rPr>
              <a:t>Probability theory is used in machine learning to quantify uncertainty, make predictions, and classify data. It is fundamental to building models that can handle real-world data's inherent randomness and noise. Key applications include using probability distributions to express confidence in predictions, employing techniques like </a:t>
            </a:r>
            <a:r>
              <a:rPr lang="en-US" sz="1400" kern="0" spc="-80" dirty="0">
                <a:solidFill>
                  <a:schemeClr val="accent6"/>
                </a:solidFill>
                <a:hlinkClick r:id="rId7">
                  <a:extLst>
                    <a:ext uri="{A12FA001-AC4F-418D-AE19-62706E023703}">
                      <ahyp:hlinkClr xmlns:ahyp="http://schemas.microsoft.com/office/drawing/2018/hyperlinkcolor" val="tx"/>
                    </a:ext>
                  </a:extLst>
                </a:hlinkClick>
              </a:rPr>
              <a:t>Bayes' rule</a:t>
            </a:r>
            <a:r>
              <a:rPr lang="en-US" sz="1400" kern="0" spc="-80" dirty="0">
                <a:solidFill>
                  <a:schemeClr val="accent6"/>
                </a:solidFill>
              </a:rPr>
              <a:t> for updating beliefs, and applying algorithms such as </a:t>
            </a:r>
            <a:r>
              <a:rPr lang="en-US" sz="1400" kern="0" spc="-80" dirty="0">
                <a:solidFill>
                  <a:schemeClr val="accent6"/>
                </a:solidFill>
                <a:hlinkClick r:id="rId8">
                  <a:extLst>
                    <a:ext uri="{A12FA001-AC4F-418D-AE19-62706E023703}">
                      <ahyp:hlinkClr xmlns:ahyp="http://schemas.microsoft.com/office/drawing/2018/hyperlinkcolor" val="tx"/>
                    </a:ext>
                  </a:extLst>
                </a:hlinkClick>
              </a:rPr>
              <a:t>Naive Bayes classifiers</a:t>
            </a:r>
            <a:r>
              <a:rPr lang="en-US" sz="1400" kern="0" spc="-80" dirty="0">
                <a:solidFill>
                  <a:schemeClr val="accent6"/>
                </a:solidFill>
              </a:rPr>
              <a:t> to categorize data. </a:t>
            </a:r>
          </a:p>
          <a:p>
            <a:r>
              <a:rPr lang="en-US" sz="1400" kern="0" spc="-80" dirty="0">
                <a:solidFill>
                  <a:schemeClr val="accent2"/>
                </a:solidFill>
              </a:rPr>
              <a:t>Core applications of probability in machine learning</a:t>
            </a:r>
          </a:p>
          <a:p>
            <a:r>
              <a:rPr lang="en-US" sz="1400" kern="0" spc="-80" dirty="0">
                <a:solidFill>
                  <a:schemeClr val="accent2"/>
                </a:solidFill>
              </a:rPr>
              <a:t>Quantifying uncertainty: </a:t>
            </a:r>
          </a:p>
          <a:p>
            <a:r>
              <a:rPr lang="en-US" sz="1400" kern="0" spc="-80" dirty="0">
                <a:solidFill>
                  <a:schemeClr val="accent6"/>
                </a:solidFill>
              </a:rPr>
              <a:t>Probability provides a framework to express the likelihood of different outcomes. For example, in a classification task, a model can output the probability of an input belonging to each class, providing a measure of its confidence. </a:t>
            </a:r>
          </a:p>
          <a:p>
            <a:r>
              <a:rPr lang="en-US" sz="1400" kern="0" spc="-80" dirty="0">
                <a:solidFill>
                  <a:schemeClr val="accent2"/>
                </a:solidFill>
              </a:rPr>
              <a:t>Making predictions: </a:t>
            </a:r>
          </a:p>
          <a:p>
            <a:r>
              <a:rPr lang="en-US" sz="1400" kern="0" spc="-80" dirty="0">
                <a:solidFill>
                  <a:schemeClr val="accent6"/>
                </a:solidFill>
              </a:rPr>
              <a:t>By modeling uncertainty, probability allows ML models to make predictions and decisions with incomplete information. Algorithms use probability distributions to estimate the likelihood of future events. </a:t>
            </a:r>
          </a:p>
          <a:p>
            <a:r>
              <a:rPr lang="en-US" sz="1400" kern="0" spc="-80" dirty="0">
                <a:solidFill>
                  <a:schemeClr val="accent2"/>
                </a:solidFill>
              </a:rPr>
              <a:t>Classifying data: </a:t>
            </a:r>
          </a:p>
          <a:p>
            <a:r>
              <a:rPr lang="en-US" sz="1400" kern="0" spc="-80" dirty="0">
                <a:solidFill>
                  <a:schemeClr val="accent6"/>
                </a:solidFill>
              </a:rPr>
              <a:t>Algorithms like the Naive Bayes classifier use conditional probability to determine the probability of an input belonging to a certain class based on its features. </a:t>
            </a:r>
          </a:p>
          <a:p>
            <a:r>
              <a:rPr lang="en-US" sz="1400" kern="0" spc="-80" dirty="0">
                <a:solidFill>
                  <a:schemeClr val="accent2"/>
                </a:solidFill>
                <a:hlinkClick r:id="rId9">
                  <a:extLst>
                    <a:ext uri="{A12FA001-AC4F-418D-AE19-62706E023703}">
                      <ahyp:hlinkClr xmlns:ahyp="http://schemas.microsoft.com/office/drawing/2018/hyperlinkcolor" val="tx"/>
                    </a:ext>
                  </a:extLst>
                </a:hlinkClick>
              </a:rPr>
              <a:t>Bayesian inference</a:t>
            </a:r>
            <a:r>
              <a:rPr lang="en-US" sz="1400" kern="0" spc="-80" dirty="0">
                <a:solidFill>
                  <a:schemeClr val="accent2"/>
                </a:solidFill>
              </a:rPr>
              <a:t>: </a:t>
            </a:r>
          </a:p>
          <a:p>
            <a:r>
              <a:rPr lang="en-US" sz="1400" kern="0" spc="-80" dirty="0">
                <a:solidFill>
                  <a:schemeClr val="accent6"/>
                </a:solidFill>
              </a:rPr>
              <a:t>This approach uses Bayes' rule to combine prior knowledge with new data to update beliefs. The model starts with a "prior" probability and updates it to a "posterior" probability after observing new data. </a:t>
            </a:r>
          </a:p>
        </p:txBody>
      </p:sp>
    </p:spTree>
    <p:extLst>
      <p:ext uri="{BB962C8B-B14F-4D97-AF65-F5344CB8AC3E}">
        <p14:creationId xmlns:p14="http://schemas.microsoft.com/office/powerpoint/2010/main" val="2781495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8538A-3037-6F63-4AF3-0F6A6449AD3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37A646D-64D5-5962-9977-7881A93297E6}"/>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04832A-E25A-B4D7-6B6C-841416052460}"/>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96B44C0-1B73-4DED-085F-FEE30BB4125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92A3E0E-DCFF-D888-91DA-C180A24C701A}"/>
              </a:ext>
            </a:extLst>
          </p:cNvPr>
          <p:cNvSpPr txBox="1">
            <a:spLocks/>
          </p:cNvSpPr>
          <p:nvPr/>
        </p:nvSpPr>
        <p:spPr>
          <a:xfrm>
            <a:off x="51885" y="1206992"/>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Probability (Theory) is(/can be) used in ML</a:t>
            </a:r>
          </a:p>
          <a:p>
            <a:r>
              <a:rPr lang="en-US" sz="1400" kern="0" spc="-80" dirty="0">
                <a:solidFill>
                  <a:schemeClr val="accent2"/>
                </a:solidFill>
              </a:rPr>
              <a:t>Risk assessment: </a:t>
            </a:r>
          </a:p>
          <a:p>
            <a:r>
              <a:rPr lang="en-US" sz="1400" kern="0" spc="-80" dirty="0">
                <a:solidFill>
                  <a:schemeClr val="accent6"/>
                </a:solidFill>
              </a:rPr>
              <a:t>Probability is used to assess the risk associated with potential outcomes. This is crucial in fields like finance for predicting stock prices or loan defaults. </a:t>
            </a:r>
          </a:p>
          <a:p>
            <a:r>
              <a:rPr lang="en-US" sz="1400" kern="0" spc="-80" dirty="0">
                <a:solidFill>
                  <a:schemeClr val="accent2"/>
                </a:solidFill>
              </a:rPr>
              <a:t>Handling noise and uncertainty: </a:t>
            </a:r>
          </a:p>
          <a:p>
            <a:r>
              <a:rPr lang="en-US" sz="1400" kern="0" spc="-80" dirty="0">
                <a:solidFill>
                  <a:schemeClr val="accent6"/>
                </a:solidFill>
              </a:rPr>
              <a:t>Probability theory provides a way to build robust models by accounting for noise and other uncertainties in the data. </a:t>
            </a:r>
          </a:p>
          <a:p>
            <a:r>
              <a:rPr lang="en-US" sz="1400" kern="0" spc="-80" dirty="0">
                <a:solidFill>
                  <a:schemeClr val="accent2"/>
                </a:solidFill>
              </a:rPr>
              <a:t>Model selection: </a:t>
            </a:r>
          </a:p>
          <a:p>
            <a:r>
              <a:rPr lang="en-US" sz="1400" kern="0" spc="-80" dirty="0">
                <a:solidFill>
                  <a:schemeClr val="accent6"/>
                </a:solidFill>
              </a:rPr>
              <a:t>Bayesian methods can use probability to compare different models. The </a:t>
            </a:r>
            <a:r>
              <a:rPr lang="en-US" sz="1400" kern="0" spc="-80" dirty="0">
                <a:solidFill>
                  <a:schemeClr val="accent6"/>
                </a:solidFill>
                <a:hlinkClick r:id="rId7">
                  <a:extLst>
                    <a:ext uri="{A12FA001-AC4F-418D-AE19-62706E023703}">
                      <ahyp:hlinkClr xmlns:ahyp="http://schemas.microsoft.com/office/drawing/2018/hyperlinkcolor" val="tx"/>
                    </a:ext>
                  </a:extLst>
                </a:hlinkClick>
              </a:rPr>
              <a:t>marginal likelihood</a:t>
            </a:r>
            <a:r>
              <a:rPr lang="en-US" sz="1400" kern="0" spc="-80" dirty="0">
                <a:solidFill>
                  <a:schemeClr val="accent6"/>
                </a:solidFill>
              </a:rPr>
              <a:t> can be used to penalize overly complex models, a concept known as </a:t>
            </a:r>
            <a:r>
              <a:rPr lang="en-US" sz="1400" kern="0" spc="-80" dirty="0">
                <a:solidFill>
                  <a:schemeClr val="accent6"/>
                </a:solidFill>
                <a:hlinkClick r:id="rId8">
                  <a:extLst>
                    <a:ext uri="{A12FA001-AC4F-418D-AE19-62706E023703}">
                      <ahyp:hlinkClr xmlns:ahyp="http://schemas.microsoft.com/office/drawing/2018/hyperlinkcolor" val="tx"/>
                    </a:ext>
                  </a:extLst>
                </a:hlinkClick>
              </a:rPr>
              <a:t>Bayesian Occam's Razor</a:t>
            </a:r>
            <a:r>
              <a:rPr lang="en-US" sz="1400" kern="0" spc="-80" dirty="0">
                <a:solidFill>
                  <a:schemeClr val="accent6"/>
                </a:solidFill>
              </a:rPr>
              <a:t>. </a:t>
            </a:r>
          </a:p>
          <a:p>
            <a:endParaRPr lang="en-US" sz="1400" kern="0" spc="-80" dirty="0">
              <a:solidFill>
                <a:schemeClr val="accent6"/>
              </a:solidFill>
            </a:endParaRPr>
          </a:p>
          <a:p>
            <a:r>
              <a:rPr lang="en-US" sz="1400" kern="0" spc="-80" dirty="0">
                <a:solidFill>
                  <a:schemeClr val="accent2"/>
                </a:solidFill>
              </a:rPr>
              <a:t>Types of probability </a:t>
            </a:r>
            <a:r>
              <a:rPr lang="en-US" sz="1400" kern="0" spc="-80" dirty="0">
                <a:solidFill>
                  <a:schemeClr val="accent6"/>
                </a:solidFill>
              </a:rPr>
              <a:t>    </a:t>
            </a:r>
          </a:p>
          <a:p>
            <a:r>
              <a:rPr lang="en-US" sz="1400" kern="0" spc="-80" dirty="0">
                <a:solidFill>
                  <a:schemeClr val="accent2"/>
                </a:solidFill>
              </a:rPr>
              <a:t>Classical Probability(Combinatorial Approach): </a:t>
            </a:r>
            <a:r>
              <a:rPr lang="en-US" sz="1400" kern="0" spc="-80" dirty="0">
                <a:solidFill>
                  <a:schemeClr val="accent6"/>
                </a:solidFill>
              </a:rPr>
              <a:t>This type assumes all possible outcomes of a random event are equally likely. It's calculated as the number of favorable outcomes divided by the total number of possible outcomes.  </a:t>
            </a:r>
          </a:p>
          <a:p>
            <a:r>
              <a:rPr lang="en-US" sz="1400" kern="0" spc="-80" dirty="0">
                <a:solidFill>
                  <a:schemeClr val="accent2"/>
                </a:solidFill>
              </a:rPr>
              <a:t>Example: </a:t>
            </a:r>
            <a:r>
              <a:rPr lang="en-US" sz="1400" kern="0" spc="-80" dirty="0">
                <a:solidFill>
                  <a:schemeClr val="accent6"/>
                </a:solidFill>
              </a:rPr>
              <a:t>The probability of rolling a 4 on a fair six-sided die is 1/6.  </a:t>
            </a:r>
          </a:p>
          <a:p>
            <a:r>
              <a:rPr lang="en-US" sz="1400" kern="0" spc="-80" dirty="0">
                <a:solidFill>
                  <a:schemeClr val="accent2"/>
                </a:solidFill>
              </a:rPr>
              <a:t>Experimental Probability(Frequentist Approach):</a:t>
            </a:r>
            <a:r>
              <a:rPr lang="en-US" sz="1400" kern="0" spc="-80" dirty="0">
                <a:solidFill>
                  <a:schemeClr val="accent6"/>
                </a:solidFill>
              </a:rPr>
              <a:t> Also known as empirical probability, this is based on the results of an actual experiment or observation. It's calculated by dividing the number of times an event occurs by the total number of trials conducted.  </a:t>
            </a:r>
          </a:p>
          <a:p>
            <a:r>
              <a:rPr lang="en-US" sz="1400" kern="0" spc="-80" dirty="0">
                <a:solidFill>
                  <a:schemeClr val="accent2"/>
                </a:solidFill>
              </a:rPr>
              <a:t>Example:</a:t>
            </a:r>
            <a:r>
              <a:rPr lang="en-US" sz="1400" kern="0" spc="-80" dirty="0">
                <a:solidFill>
                  <a:schemeClr val="accent6"/>
                </a:solidFill>
              </a:rPr>
              <a:t> If a coin is tossed 10 times and lands on heads 6 times, the experimental probability of getting heads is 6/10 or 3/5.  </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853778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BD26E-A322-6AD8-3747-51153CF809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E0DB5A4-07BC-7233-8A6D-5AFD29BD3E91}"/>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03F56A-560A-2C69-98AF-B07E3C3A1D35}"/>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69FF874-C1B5-F8E0-94B4-EA3AEB6ED9B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918EC32-FDFE-BFD1-DA03-D194B0E390C0}"/>
              </a:ext>
            </a:extLst>
          </p:cNvPr>
          <p:cNvSpPr txBox="1">
            <a:spLocks/>
          </p:cNvSpPr>
          <p:nvPr/>
        </p:nvSpPr>
        <p:spPr>
          <a:xfrm>
            <a:off x="51885" y="1206992"/>
            <a:ext cx="8624937" cy="21698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Probability (Theory) is(/can be) used in ML</a:t>
            </a:r>
          </a:p>
          <a:p>
            <a:r>
              <a:rPr lang="en-US" sz="1400" kern="0" spc="-80" dirty="0">
                <a:solidFill>
                  <a:schemeClr val="accent2"/>
                </a:solidFill>
              </a:rPr>
              <a:t>Subjective Probability(Bayesian Approach):</a:t>
            </a:r>
            <a:r>
              <a:rPr lang="en-US" sz="1400" kern="0" spc="-80" dirty="0">
                <a:solidFill>
                  <a:schemeClr val="accent6"/>
                </a:solidFill>
              </a:rPr>
              <a:t> This is an estimate based on personal belief, intuition, or individual knowledge rather than on strict calculations or data. </a:t>
            </a:r>
          </a:p>
          <a:p>
            <a:r>
              <a:rPr lang="en-US" sz="1400" kern="0" spc="-80" dirty="0">
                <a:solidFill>
                  <a:schemeClr val="accent2"/>
                </a:solidFill>
              </a:rPr>
              <a:t>Example: </a:t>
            </a:r>
            <a:r>
              <a:rPr lang="en-US" sz="1400" kern="0" spc="-80" dirty="0">
                <a:solidFill>
                  <a:schemeClr val="accent6"/>
                </a:solidFill>
              </a:rPr>
              <a:t>A sports analyst might say there is a high probability of their team winning based on their knowledge of the teams' performance.  </a:t>
            </a:r>
          </a:p>
          <a:p>
            <a:r>
              <a:rPr lang="en-US" sz="1400" kern="0" spc="-80" dirty="0">
                <a:solidFill>
                  <a:schemeClr val="accent2"/>
                </a:solidFill>
              </a:rPr>
              <a:t>Axiomatic Probability(Measure Theoretic Approach): </a:t>
            </a:r>
            <a:r>
              <a:rPr lang="en-US" sz="1400" kern="0" spc="-80" dirty="0">
                <a:solidFill>
                  <a:schemeClr val="accent6"/>
                </a:solidFill>
              </a:rPr>
              <a:t>This is a formal, mathematical approach to probability based on a set of axioms (rules). These axioms ensure that the rules of probability are consistent and can be applied to various situations, including those with outcomes that are not equally likely. </a:t>
            </a:r>
          </a:p>
          <a:p>
            <a:r>
              <a:rPr lang="en-US" sz="1400" dirty="0">
                <a:solidFill>
                  <a:schemeClr val="accent2"/>
                </a:solidFill>
              </a:rPr>
              <a:t>Probability Models – Classical/Frequentist vs Bayes vs Markov</a:t>
            </a:r>
          </a:p>
        </p:txBody>
      </p:sp>
      <p:pic>
        <p:nvPicPr>
          <p:cNvPr id="1026" name="Picture 2" descr="Frequentist v/s Bayesian Statistics | by Roshmita Dey | Medium">
            <a:extLst>
              <a:ext uri="{FF2B5EF4-FFF2-40B4-BE49-F238E27FC236}">
                <a16:creationId xmlns:a16="http://schemas.microsoft.com/office/drawing/2014/main" id="{0FE94C86-BEB1-78C3-8D29-9EEF0C0968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443" y="3386976"/>
            <a:ext cx="8980355" cy="2556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493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5C87C-747E-E86F-81F3-197DE59005FC}"/>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0FA30138-8C21-AEF3-2C3E-8304EE2AFDDF}"/>
              </a:ext>
            </a:extLst>
          </p:cNvPr>
          <p:cNvSpPr/>
          <p:nvPr/>
        </p:nvSpPr>
        <p:spPr>
          <a:xfrm>
            <a:off x="1650998" y="87585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C21BEB9-6FB1-774D-4B62-DA112CBBAA11}"/>
              </a:ext>
            </a:extLst>
          </p:cNvPr>
          <p:cNvSpPr/>
          <p:nvPr/>
        </p:nvSpPr>
        <p:spPr>
          <a:xfrm>
            <a:off x="1650999" y="7249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21C3435-5649-0133-4DA0-BED71BE9179A}"/>
              </a:ext>
            </a:extLst>
          </p:cNvPr>
          <p:cNvGraphicFramePr/>
          <p:nvPr/>
        </p:nvGraphicFramePr>
        <p:xfrm>
          <a:off x="-10160" y="-184889"/>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2830508E-51BB-6794-5AE8-9CADF5BFCCB7}"/>
              </a:ext>
            </a:extLst>
          </p:cNvPr>
          <p:cNvSpPr txBox="1">
            <a:spLocks/>
          </p:cNvSpPr>
          <p:nvPr/>
        </p:nvSpPr>
        <p:spPr>
          <a:xfrm>
            <a:off x="0" y="986937"/>
            <a:ext cx="8624937" cy="4616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dirty="0">
                <a:solidFill>
                  <a:srgbClr val="1F2328"/>
                </a:solidFill>
                <a:latin typeface="-apple-system"/>
              </a:rPr>
              <a:t> </a:t>
            </a:r>
            <a:r>
              <a:rPr lang="en-US" sz="1500" kern="0" spc="-80" dirty="0">
                <a:solidFill>
                  <a:schemeClr val="accent2"/>
                </a:solidFill>
              </a:rPr>
              <a:t>How Probability (Theory) is(/can be) used in ML</a:t>
            </a:r>
          </a:p>
          <a:p>
            <a:pPr marL="12700" marR="5080"/>
            <a:r>
              <a:rPr lang="en-US" sz="1500" dirty="0">
                <a:solidFill>
                  <a:schemeClr val="accent2"/>
                </a:solidFill>
                <a:latin typeface="-apple-system"/>
              </a:rPr>
              <a:t>Bayesian Network vs Standard Neural Network vs Markov Network  </a:t>
            </a:r>
          </a:p>
        </p:txBody>
      </p:sp>
      <p:pic>
        <p:nvPicPr>
          <p:cNvPr id="6" name="Picture 5">
            <a:extLst>
              <a:ext uri="{FF2B5EF4-FFF2-40B4-BE49-F238E27FC236}">
                <a16:creationId xmlns:a16="http://schemas.microsoft.com/office/drawing/2014/main" id="{011B68CF-47B2-CD68-16CD-BF97180849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543" y="1489851"/>
            <a:ext cx="7924800" cy="1761355"/>
          </a:xfrm>
          <a:prstGeom prst="rect">
            <a:avLst/>
          </a:prstGeom>
        </p:spPr>
      </p:pic>
      <p:sp>
        <p:nvSpPr>
          <p:cNvPr id="2" name="object 2">
            <a:extLst>
              <a:ext uri="{FF2B5EF4-FFF2-40B4-BE49-F238E27FC236}">
                <a16:creationId xmlns:a16="http://schemas.microsoft.com/office/drawing/2014/main" id="{B03D23DE-7A2C-7BBB-4FF4-BF9FDC23F7A8}"/>
              </a:ext>
            </a:extLst>
          </p:cNvPr>
          <p:cNvSpPr txBox="1">
            <a:spLocks/>
          </p:cNvSpPr>
          <p:nvPr/>
        </p:nvSpPr>
        <p:spPr>
          <a:xfrm>
            <a:off x="61863" y="3272135"/>
            <a:ext cx="8624937" cy="27084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a:r>
              <a:rPr lang="en-US" sz="1600" dirty="0">
                <a:solidFill>
                  <a:schemeClr val="accent2"/>
                </a:solidFill>
              </a:rPr>
              <a:t>Frequentist vs Bayesian Regression/Classification Approaches</a:t>
            </a:r>
          </a:p>
          <a:p>
            <a:pPr marL="12700" marR="5080"/>
            <a:r>
              <a:rPr lang="en-US" sz="1600" kern="0" spc="-80" dirty="0">
                <a:solidFill>
                  <a:schemeClr val="accent6"/>
                </a:solidFill>
              </a:rPr>
              <a:t>Frequentist and Bayesian regression/</a:t>
            </a:r>
            <a:r>
              <a:rPr lang="en-US" sz="1600" kern="0" spc="-80" dirty="0" err="1">
                <a:solidFill>
                  <a:schemeClr val="accent6"/>
                </a:solidFill>
              </a:rPr>
              <a:t>clasification</a:t>
            </a:r>
            <a:r>
              <a:rPr lang="en-US" sz="1600" kern="0" spc="-80" dirty="0">
                <a:solidFill>
                  <a:schemeClr val="accent6"/>
                </a:solidFill>
              </a:rPr>
              <a:t> approaches differ in their fundamental philosophy and how they handle uncertainty. Frequentist methods treat model parameters as fixed, unknown constants, estimating them using methods like OLS or MLE. Bayesian methods, on the other hand, considers parameters as random variables and incorporates prior knowledge to estimate them, resulting in a posterior distribution. </a:t>
            </a:r>
          </a:p>
          <a:p>
            <a:pPr marL="12700" marR="5080"/>
            <a:r>
              <a:rPr lang="en-US" sz="1600" kern="0" spc="-80" dirty="0">
                <a:solidFill>
                  <a:schemeClr val="accent2"/>
                </a:solidFill>
              </a:rPr>
              <a:t>Frequentist Regression:</a:t>
            </a:r>
          </a:p>
          <a:p>
            <a:pPr marL="12700" marR="5080"/>
            <a:r>
              <a:rPr lang="en-US" sz="1600" kern="0" spc="-80" dirty="0">
                <a:solidFill>
                  <a:schemeClr val="accent2"/>
                </a:solidFill>
              </a:rPr>
              <a:t>Parameters as Fixed</a:t>
            </a:r>
            <a:r>
              <a:rPr lang="en-US" sz="1600" kern="0" spc="-80" dirty="0">
                <a:solidFill>
                  <a:schemeClr val="accent6"/>
                </a:solidFill>
              </a:rPr>
              <a:t>: Frequentist methods view the parameters of a model (e.g., coefficients in linear regression) as fixed but unknown values. They aim to find the "true" value of these parameters using methods like Ordinary Least Squares (OLS) or Maximum Likelihood Estimation (MLE). </a:t>
            </a:r>
          </a:p>
        </p:txBody>
      </p:sp>
    </p:spTree>
    <p:extLst>
      <p:ext uri="{BB962C8B-B14F-4D97-AF65-F5344CB8AC3E}">
        <p14:creationId xmlns:p14="http://schemas.microsoft.com/office/powerpoint/2010/main" val="3217919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23B4-8E01-459B-C438-1F14FDE03917}"/>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D83A9A6E-5A63-43B3-877E-C4FAADD053DC}"/>
              </a:ext>
            </a:extLst>
          </p:cNvPr>
          <p:cNvSpPr/>
          <p:nvPr/>
        </p:nvSpPr>
        <p:spPr>
          <a:xfrm>
            <a:off x="1650998" y="87585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0CD22D7-2983-6B37-928B-F9D0A3074A93}"/>
              </a:ext>
            </a:extLst>
          </p:cNvPr>
          <p:cNvSpPr/>
          <p:nvPr/>
        </p:nvSpPr>
        <p:spPr>
          <a:xfrm>
            <a:off x="1650999" y="7249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005B8B0-730C-432C-702F-86D0706C50C3}"/>
              </a:ext>
            </a:extLst>
          </p:cNvPr>
          <p:cNvGraphicFramePr/>
          <p:nvPr/>
        </p:nvGraphicFramePr>
        <p:xfrm>
          <a:off x="0" y="-18406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7469D3B-30B6-B187-96AE-524C93E98295}"/>
              </a:ext>
            </a:extLst>
          </p:cNvPr>
          <p:cNvSpPr txBox="1">
            <a:spLocks/>
          </p:cNvSpPr>
          <p:nvPr/>
        </p:nvSpPr>
        <p:spPr>
          <a:xfrm>
            <a:off x="31564" y="1052181"/>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b="0" dirty="0">
                <a:solidFill>
                  <a:srgbClr val="1F2328"/>
                </a:solidFill>
                <a:latin typeface="-apple-system"/>
              </a:rPr>
              <a:t> </a:t>
            </a:r>
            <a:r>
              <a:rPr lang="en-US" sz="1200" kern="0" spc="-80" dirty="0">
                <a:solidFill>
                  <a:schemeClr val="accent2"/>
                </a:solidFill>
              </a:rPr>
              <a:t>How Probability (Theory) is(/can be) used in ML</a:t>
            </a:r>
          </a:p>
          <a:p>
            <a:pPr marL="12700" marR="5080"/>
            <a:r>
              <a:rPr lang="en-US" sz="1200" dirty="0">
                <a:solidFill>
                  <a:schemeClr val="accent2"/>
                </a:solidFill>
              </a:rPr>
              <a:t>Frequentist vs Bayesian Regression/Classification Approaches</a:t>
            </a:r>
          </a:p>
          <a:p>
            <a:pPr marL="12700" marR="5080"/>
            <a:r>
              <a:rPr lang="en-US" sz="1200" kern="0" spc="-80" dirty="0">
                <a:solidFill>
                  <a:schemeClr val="accent2"/>
                </a:solidFill>
              </a:rPr>
              <a:t>Objective Probability</a:t>
            </a:r>
            <a:r>
              <a:rPr lang="en-US" sz="1200" kern="0" spc="-80" dirty="0">
                <a:solidFill>
                  <a:schemeClr val="accent6"/>
                </a:solidFill>
              </a:rPr>
              <a:t>: Probabilities in frequentist statistics are typically interpreted objectively, meaning that they are assigned to events or outcomes (e.g., the probability of observing a certain data point) rather than to the parameters themselves. </a:t>
            </a:r>
          </a:p>
          <a:p>
            <a:pPr marL="12700" marR="5080"/>
            <a:r>
              <a:rPr lang="en-US" sz="1200" kern="0" spc="-80" dirty="0">
                <a:solidFill>
                  <a:schemeClr val="accent2"/>
                </a:solidFill>
              </a:rPr>
              <a:t>Focus on Data</a:t>
            </a:r>
            <a:r>
              <a:rPr lang="en-US" sz="1200" kern="0" spc="-80" dirty="0">
                <a:solidFill>
                  <a:schemeClr val="accent6"/>
                </a:solidFill>
              </a:rPr>
              <a:t>: Frequentist approaches heavily rely on observed data to estimate parameters and test hypotheses, focusing on long-term frequencies and properties of estimators based on repeated sampling. </a:t>
            </a:r>
          </a:p>
          <a:p>
            <a:pPr marL="12700" marR="5080"/>
            <a:r>
              <a:rPr lang="en-US" sz="1200" kern="0" spc="-80" dirty="0">
                <a:solidFill>
                  <a:schemeClr val="accent2"/>
                </a:solidFill>
              </a:rPr>
              <a:t>Example</a:t>
            </a:r>
            <a:r>
              <a:rPr lang="en-US" sz="1200" kern="0" spc="-80" dirty="0">
                <a:solidFill>
                  <a:schemeClr val="accent6"/>
                </a:solidFill>
              </a:rPr>
              <a:t>: OLS in linear regression is a frequentist method where you estimate the parameters (coefficients) that minimize the difference between the predicted and actual values. </a:t>
            </a:r>
          </a:p>
          <a:p>
            <a:pPr marL="12700" marR="5080"/>
            <a:r>
              <a:rPr lang="en-US" sz="1200" kern="0" spc="-80" dirty="0">
                <a:solidFill>
                  <a:schemeClr val="accent2"/>
                </a:solidFill>
              </a:rPr>
              <a:t>Bayesian Regression:</a:t>
            </a:r>
            <a:endParaRPr lang="en-US" sz="1200" dirty="0">
              <a:solidFill>
                <a:schemeClr val="accent2"/>
              </a:solidFill>
            </a:endParaRPr>
          </a:p>
          <a:p>
            <a:pPr marL="12700" marR="5080"/>
            <a:r>
              <a:rPr lang="en-US" sz="1200" kern="0" spc="-80" dirty="0">
                <a:solidFill>
                  <a:schemeClr val="accent2"/>
                </a:solidFill>
              </a:rPr>
              <a:t>Parameters as Random Variables</a:t>
            </a:r>
            <a:r>
              <a:rPr lang="en-US" sz="1200" kern="0" spc="-80" dirty="0">
                <a:solidFill>
                  <a:schemeClr val="accent6"/>
                </a:solidFill>
              </a:rPr>
              <a:t>: Bayesian methods treat model parameters as random variables with probability distributions. </a:t>
            </a:r>
          </a:p>
          <a:p>
            <a:pPr marL="12700" marR="5080"/>
            <a:r>
              <a:rPr lang="en-US" sz="1200" kern="0" spc="-80" dirty="0">
                <a:solidFill>
                  <a:schemeClr val="accent2"/>
                </a:solidFill>
              </a:rPr>
              <a:t>Subjective Probability</a:t>
            </a:r>
            <a:r>
              <a:rPr lang="en-US" sz="1200" kern="0" spc="-80" dirty="0">
                <a:solidFill>
                  <a:schemeClr val="accent6"/>
                </a:solidFill>
              </a:rPr>
              <a:t>: Probabilities in Bayesian statistics are interpreted subjectively, meaning that they reflect an individual's belief or knowledge about a parameter's value, and they can be updated as new data becomes available. </a:t>
            </a:r>
          </a:p>
          <a:p>
            <a:pPr marL="12700" marR="5080"/>
            <a:r>
              <a:rPr lang="en-US" sz="1200" kern="0" spc="-80" dirty="0">
                <a:solidFill>
                  <a:schemeClr val="accent2"/>
                </a:solidFill>
              </a:rPr>
              <a:t>Incorporation of Prior Knowledge</a:t>
            </a:r>
            <a:r>
              <a:rPr lang="en-US" sz="1200" kern="0" spc="-80" dirty="0">
                <a:solidFill>
                  <a:schemeClr val="accent6"/>
                </a:solidFill>
              </a:rPr>
              <a:t>: Bayesian regression allows for the incorporation of prior knowledge or beliefs about the parameters before observing the data. This is done through prior distributions, which represent the initial uncertainty about the parameters. </a:t>
            </a:r>
          </a:p>
          <a:p>
            <a:pPr marL="12700" marR="5080"/>
            <a:r>
              <a:rPr lang="en-US" sz="1200" kern="0" spc="-80" dirty="0">
                <a:solidFill>
                  <a:schemeClr val="accent2"/>
                </a:solidFill>
              </a:rPr>
              <a:t>Focus on Inference</a:t>
            </a:r>
            <a:r>
              <a:rPr lang="en-US" sz="1200" kern="0" spc="-80" dirty="0">
                <a:solidFill>
                  <a:schemeClr val="accent6"/>
                </a:solidFill>
              </a:rPr>
              <a:t>: Bayesian methods focus on inferring the probability distribution of parameters given the observed data, resulting in a posterior distribution. </a:t>
            </a:r>
          </a:p>
          <a:p>
            <a:pPr marL="12700" marR="5080"/>
            <a:r>
              <a:rPr lang="en-US" sz="1200" kern="0" spc="-80" dirty="0" err="1">
                <a:solidFill>
                  <a:schemeClr val="accent2"/>
                </a:solidFill>
              </a:rPr>
              <a:t>Example</a:t>
            </a:r>
            <a:r>
              <a:rPr lang="en-US" sz="1200" kern="0" spc="-80" dirty="0" err="1">
                <a:solidFill>
                  <a:schemeClr val="accent6"/>
                </a:solidFill>
              </a:rPr>
              <a:t>:Bayesian</a:t>
            </a:r>
            <a:r>
              <a:rPr lang="en-US" sz="1200" kern="0" spc="-80" dirty="0">
                <a:solidFill>
                  <a:schemeClr val="accent6"/>
                </a:solidFill>
              </a:rPr>
              <a:t> linear regression estimates the probability distribution of the coefficients, given the data, rather than just point estimates</a:t>
            </a:r>
            <a:r>
              <a:rPr lang="en-US" sz="1200" b="0" i="0" dirty="0">
                <a:solidFill>
                  <a:srgbClr val="1F2328"/>
                </a:solidFill>
                <a:effectLst/>
                <a:latin typeface="-apple-system"/>
              </a:rPr>
              <a:t>. </a:t>
            </a:r>
          </a:p>
          <a:p>
            <a:pPr marL="12700" marR="5080"/>
            <a:r>
              <a:rPr lang="en-US" sz="1200" kern="0" spc="-80" dirty="0">
                <a:solidFill>
                  <a:schemeClr val="accent2"/>
                </a:solidFill>
              </a:rPr>
              <a:t>Key Differences:</a:t>
            </a:r>
          </a:p>
          <a:p>
            <a:pPr marL="12700" marR="5080"/>
            <a:r>
              <a:rPr lang="en-US" sz="1200" kern="0" spc="-80" dirty="0">
                <a:solidFill>
                  <a:schemeClr val="accent2"/>
                </a:solidFill>
              </a:rPr>
              <a:t>Uncertainty</a:t>
            </a:r>
            <a:r>
              <a:rPr lang="en-US" sz="1200" kern="0" spc="-80" dirty="0">
                <a:solidFill>
                  <a:schemeClr val="accent6"/>
                </a:solidFill>
              </a:rPr>
              <a:t>: Frequentist methods focus on the uncertainty of estimates based on repeated sampling, while Bayesian methods focus on the uncertainty of parameters given the data. </a:t>
            </a:r>
          </a:p>
          <a:p>
            <a:pPr marL="12700" marR="5080"/>
            <a:r>
              <a:rPr lang="en-US" sz="1200" kern="0" spc="-80" dirty="0">
                <a:solidFill>
                  <a:schemeClr val="accent2"/>
                </a:solidFill>
              </a:rPr>
              <a:t>Prior Knowledge</a:t>
            </a:r>
            <a:r>
              <a:rPr lang="en-US" sz="1200" kern="0" spc="-80" dirty="0">
                <a:solidFill>
                  <a:schemeClr val="accent6"/>
                </a:solidFill>
              </a:rPr>
              <a:t>: Frequentist methods generally do not incorporate prior knowledge, while Bayesian methods explicitly use prior distributions. </a:t>
            </a:r>
          </a:p>
        </p:txBody>
      </p:sp>
    </p:spTree>
    <p:extLst>
      <p:ext uri="{BB962C8B-B14F-4D97-AF65-F5344CB8AC3E}">
        <p14:creationId xmlns:p14="http://schemas.microsoft.com/office/powerpoint/2010/main" val="864317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6F0F2-10B6-1791-5652-2B807243FDC4}"/>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85C39367-2F84-EE84-9EEC-8649AE7B0CAF}"/>
              </a:ext>
            </a:extLst>
          </p:cNvPr>
          <p:cNvSpPr/>
          <p:nvPr/>
        </p:nvSpPr>
        <p:spPr>
          <a:xfrm>
            <a:off x="1650998" y="87585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6688344-C057-53B9-DB24-30FF08157D29}"/>
              </a:ext>
            </a:extLst>
          </p:cNvPr>
          <p:cNvSpPr/>
          <p:nvPr/>
        </p:nvSpPr>
        <p:spPr>
          <a:xfrm>
            <a:off x="1650999" y="7249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D050667-77D5-7420-826C-27D818243480}"/>
              </a:ext>
            </a:extLst>
          </p:cNvPr>
          <p:cNvGraphicFramePr/>
          <p:nvPr/>
        </p:nvGraphicFramePr>
        <p:xfrm>
          <a:off x="0" y="-139936"/>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977B298-665C-7993-CD8D-E2867A38B961}"/>
              </a:ext>
            </a:extLst>
          </p:cNvPr>
          <p:cNvSpPr txBox="1">
            <a:spLocks/>
          </p:cNvSpPr>
          <p:nvPr/>
        </p:nvSpPr>
        <p:spPr>
          <a:xfrm>
            <a:off x="31564" y="1052181"/>
            <a:ext cx="8624937" cy="57246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b="0" dirty="0">
                <a:solidFill>
                  <a:srgbClr val="1F2328"/>
                </a:solidFill>
                <a:latin typeface="-apple-system"/>
              </a:rPr>
              <a:t> </a:t>
            </a:r>
            <a:r>
              <a:rPr lang="en-US" sz="1200" kern="0" spc="-80" dirty="0">
                <a:solidFill>
                  <a:schemeClr val="accent2"/>
                </a:solidFill>
              </a:rPr>
              <a:t>How Probability (Theory) is(/can be) used in ML</a:t>
            </a:r>
          </a:p>
          <a:p>
            <a:pPr marL="12700" marR="5080"/>
            <a:r>
              <a:rPr lang="en-US" sz="1200" dirty="0">
                <a:solidFill>
                  <a:schemeClr val="accent2"/>
                </a:solidFill>
              </a:rPr>
              <a:t>Frequentist vs Bayesian Regression/Classification Approaches</a:t>
            </a:r>
          </a:p>
          <a:p>
            <a:pPr marL="12700" marR="5080"/>
            <a:r>
              <a:rPr lang="en-US" sz="1200" kern="0" spc="-80" dirty="0">
                <a:solidFill>
                  <a:schemeClr val="accent2"/>
                </a:solidFill>
              </a:rPr>
              <a:t>Interpretation</a:t>
            </a:r>
            <a:r>
              <a:rPr lang="en-US" sz="1200" kern="0" spc="-80" dirty="0">
                <a:solidFill>
                  <a:schemeClr val="accent6"/>
                </a:solidFill>
              </a:rPr>
              <a:t>: Frequentist methods interpret probabilities objectively, while Bayesian methods interpret them subjectively. </a:t>
            </a:r>
          </a:p>
          <a:p>
            <a:pPr marL="12700" marR="5080"/>
            <a:r>
              <a:rPr lang="en-US" sz="1200" kern="0" spc="-80" dirty="0">
                <a:solidFill>
                  <a:schemeClr val="accent2"/>
                </a:solidFill>
              </a:rPr>
              <a:t>Flexibility</a:t>
            </a:r>
            <a:r>
              <a:rPr lang="en-US" sz="1200" kern="0" spc="-80" dirty="0">
                <a:solidFill>
                  <a:schemeClr val="accent6"/>
                </a:solidFill>
              </a:rPr>
              <a:t>: Bayesian methods are often more flexible and can handle more complex models and data structures due to their ability to incorporate prior knowledge and account for uncertainty. </a:t>
            </a:r>
          </a:p>
          <a:p>
            <a:pPr marL="12700" marR="5080"/>
            <a:r>
              <a:rPr lang="en-US" sz="1200" kern="0" spc="-80" dirty="0">
                <a:solidFill>
                  <a:schemeClr val="accent2"/>
                </a:solidFill>
              </a:rPr>
              <a:t>When to Use Which:</a:t>
            </a:r>
            <a:r>
              <a:rPr lang="en-US" sz="1200" kern="0" spc="-80" dirty="0">
                <a:solidFill>
                  <a:schemeClr val="accent6"/>
                </a:solidFill>
              </a:rPr>
              <a:t> </a:t>
            </a:r>
          </a:p>
          <a:p>
            <a:pPr marL="12700" marR="5080"/>
            <a:r>
              <a:rPr lang="en-US" sz="1200" kern="0" spc="-80" dirty="0">
                <a:solidFill>
                  <a:schemeClr val="accent2"/>
                </a:solidFill>
              </a:rPr>
              <a:t>Frequentist</a:t>
            </a:r>
            <a:r>
              <a:rPr lang="en-US" sz="1200" kern="0" spc="-80" dirty="0">
                <a:solidFill>
                  <a:schemeClr val="accent6"/>
                </a:solidFill>
              </a:rPr>
              <a:t>: Suitable when you have a large amount of data and want a straightforward, computationally efficient solution. </a:t>
            </a:r>
          </a:p>
          <a:p>
            <a:pPr marL="12700" marR="5080"/>
            <a:r>
              <a:rPr lang="en-US" sz="1200" kern="0" spc="-80" dirty="0">
                <a:solidFill>
                  <a:schemeClr val="accent2"/>
                </a:solidFill>
              </a:rPr>
              <a:t>Bayesian</a:t>
            </a:r>
            <a:r>
              <a:rPr lang="en-US" sz="1200" kern="0" spc="-80" dirty="0">
                <a:solidFill>
                  <a:schemeClr val="accent6"/>
                </a:solidFill>
              </a:rPr>
              <a:t>: Useful when you have limited data, want to incorporate prior knowledge, or need to estimate the full distribution of parameters. </a:t>
            </a:r>
          </a:p>
          <a:p>
            <a:pPr marL="12700" marR="5080"/>
            <a:endParaRPr lang="en-US" sz="1200" kern="0" spc="-80" dirty="0">
              <a:solidFill>
                <a:schemeClr val="accent6"/>
              </a:solidFill>
            </a:endParaRPr>
          </a:p>
          <a:p>
            <a:pPr marL="12700" marR="5080"/>
            <a:r>
              <a:rPr lang="en-US" sz="1200" kern="0" spc="-80" dirty="0">
                <a:solidFill>
                  <a:schemeClr val="accent6"/>
                </a:solidFill>
              </a:rPr>
              <a:t>In summary, the choice between frequentist and Bayesian regression depends on the specific context, the available data, and the desired level of inference. While frequentist methods are often simpler and more computationally efficient, Bayesian methods offer more flexibility and can provide valuable insights when prior knowledge is available or data is scarce. </a:t>
            </a:r>
          </a:p>
          <a:p>
            <a:pPr marL="12700" marR="5080"/>
            <a:endParaRPr lang="en-US" sz="1200" kern="0" spc="-80" dirty="0">
              <a:solidFill>
                <a:schemeClr val="accent6"/>
              </a:solidFill>
            </a:endParaRPr>
          </a:p>
          <a:p>
            <a:pPr marL="12700" marR="5080"/>
            <a:r>
              <a:rPr lang="en-US" sz="1200" dirty="0">
                <a:solidFill>
                  <a:schemeClr val="accent2"/>
                </a:solidFill>
              </a:rPr>
              <a:t>Frequentist vs Bayesian Clustering Approaches</a:t>
            </a:r>
          </a:p>
          <a:p>
            <a:pPr marL="12700" marR="5080"/>
            <a:r>
              <a:rPr lang="en-US" sz="1200" kern="0" spc="-80" dirty="0">
                <a:solidFill>
                  <a:schemeClr val="accent6"/>
                </a:solidFill>
              </a:rPr>
              <a:t>Frequentist and Bayesian clustering algorithms differ fundamentally in their approach to probability and uncertainty. Frequentist methods, like k-means, assume probabilities are fixed and focus on long-run frequencies of events, while Bayesian methods, like Gaussian Mixture Models (GMMs), assign probabilities to hypotheses and incorporate prior knowledge to quantify uncertainty. This difference leads to distinct advantages and disadvantages for each approach in clustering tasks. </a:t>
            </a:r>
          </a:p>
          <a:p>
            <a:pPr marL="12700" marR="5080"/>
            <a:r>
              <a:rPr lang="en-US" sz="1200" kern="0" spc="-80" dirty="0">
                <a:solidFill>
                  <a:schemeClr val="accent2"/>
                </a:solidFill>
              </a:rPr>
              <a:t>Frequentist Clustering Algorithms</a:t>
            </a:r>
            <a:r>
              <a:rPr lang="en-US" sz="1200" kern="0" spc="-80" dirty="0">
                <a:solidFill>
                  <a:schemeClr val="accent6"/>
                </a:solidFill>
              </a:rPr>
              <a:t>:</a:t>
            </a:r>
          </a:p>
          <a:p>
            <a:pPr marL="12700" marR="5080"/>
            <a:r>
              <a:rPr lang="en-US" sz="1200" kern="0" spc="-80" dirty="0">
                <a:solidFill>
                  <a:schemeClr val="accent2"/>
                </a:solidFill>
              </a:rPr>
              <a:t>Focus: Objective</a:t>
            </a:r>
            <a:r>
              <a:rPr lang="en-US" sz="1200" kern="0" spc="-80" dirty="0">
                <a:solidFill>
                  <a:schemeClr val="accent6"/>
                </a:solidFill>
              </a:rPr>
              <a:t>, focusing on properties of estimators based on repeated sampling. </a:t>
            </a:r>
          </a:p>
          <a:p>
            <a:pPr marL="12700" marR="5080"/>
            <a:r>
              <a:rPr lang="en-US" sz="1200" kern="0" spc="-80" dirty="0">
                <a:solidFill>
                  <a:schemeClr val="accent2"/>
                </a:solidFill>
              </a:rPr>
              <a:t>Probability Interpretation</a:t>
            </a:r>
            <a:r>
              <a:rPr lang="en-US" sz="1200" kern="0" spc="-80" dirty="0">
                <a:solidFill>
                  <a:schemeClr val="accent6"/>
                </a:solidFill>
              </a:rPr>
              <a:t>: Assigns probabilities to data, not hypotheses. </a:t>
            </a:r>
          </a:p>
          <a:p>
            <a:pPr marL="12700" marR="5080"/>
            <a:r>
              <a:rPr lang="en-US" sz="1200" kern="0" spc="-80" dirty="0">
                <a:solidFill>
                  <a:schemeClr val="accent2"/>
                </a:solidFill>
              </a:rPr>
              <a:t>Advantages</a:t>
            </a:r>
            <a:r>
              <a:rPr lang="en-US" sz="1200" kern="0" spc="-80" dirty="0">
                <a:solidFill>
                  <a:schemeClr val="accent6"/>
                </a:solidFill>
              </a:rPr>
              <a:t>: </a:t>
            </a:r>
          </a:p>
          <a:p>
            <a:pPr marL="12700" marR="5080"/>
            <a:r>
              <a:rPr lang="en-US" sz="1200" kern="0" spc="-80" dirty="0">
                <a:solidFill>
                  <a:schemeClr val="accent6"/>
                </a:solidFill>
              </a:rPr>
              <a:t>Simple to implement and interpret. </a:t>
            </a:r>
          </a:p>
          <a:p>
            <a:pPr marL="12700" marR="5080"/>
            <a:r>
              <a:rPr lang="en-US" sz="1200" kern="0" spc="-80" dirty="0">
                <a:solidFill>
                  <a:schemeClr val="accent6"/>
                </a:solidFill>
              </a:rPr>
              <a:t>Computationally efficient, especially for large datasets. </a:t>
            </a:r>
          </a:p>
          <a:p>
            <a:pPr marL="12700" marR="5080"/>
            <a:r>
              <a:rPr lang="en-US" sz="1200" kern="0" spc="-80" dirty="0">
                <a:solidFill>
                  <a:schemeClr val="accent6"/>
                </a:solidFill>
              </a:rPr>
              <a:t>Widely used and well-established. </a:t>
            </a:r>
          </a:p>
          <a:p>
            <a:pPr marL="12700" marR="5080"/>
            <a:endParaRPr lang="en-US" sz="1200" dirty="0">
              <a:solidFill>
                <a:schemeClr val="accent2"/>
              </a:solidFill>
            </a:endParaRPr>
          </a:p>
          <a:p>
            <a:pPr marL="12700" marR="5080"/>
            <a:endParaRPr lang="en-US" sz="1200" kern="0" spc="-80" dirty="0">
              <a:solidFill>
                <a:schemeClr val="accent6"/>
              </a:solidFill>
            </a:endParaRPr>
          </a:p>
          <a:p>
            <a:pPr marL="12700" marR="5080"/>
            <a:endParaRPr lang="en-US" sz="1200" b="0" i="0" kern="0" spc="-80" dirty="0">
              <a:solidFill>
                <a:schemeClr val="accent6"/>
              </a:solidFill>
              <a:effectLst/>
              <a:latin typeface="-apple-system"/>
            </a:endParaRPr>
          </a:p>
          <a:p>
            <a:pPr marL="12700" marR="5080"/>
            <a:endParaRPr lang="en-US" sz="1200" b="0" i="0" dirty="0">
              <a:solidFill>
                <a:srgbClr val="1F2328"/>
              </a:solidFill>
              <a:effectLst/>
              <a:latin typeface="-apple-system"/>
            </a:endParaRPr>
          </a:p>
        </p:txBody>
      </p:sp>
    </p:spTree>
    <p:extLst>
      <p:ext uri="{BB962C8B-B14F-4D97-AF65-F5344CB8AC3E}">
        <p14:creationId xmlns:p14="http://schemas.microsoft.com/office/powerpoint/2010/main" val="3562630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82E0A-4FFE-7C31-DC9C-214A06B0AEFF}"/>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238CD934-9D0B-D5A2-0A61-1830A72669F0}"/>
              </a:ext>
            </a:extLst>
          </p:cNvPr>
          <p:cNvSpPr/>
          <p:nvPr/>
        </p:nvSpPr>
        <p:spPr>
          <a:xfrm>
            <a:off x="1650998" y="87585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A26BCF1-69B1-209E-BBA4-90FDF851BE48}"/>
              </a:ext>
            </a:extLst>
          </p:cNvPr>
          <p:cNvSpPr/>
          <p:nvPr/>
        </p:nvSpPr>
        <p:spPr>
          <a:xfrm>
            <a:off x="1650999" y="7249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CCC8D23-3559-C952-E472-65CBD5C42215}"/>
              </a:ext>
            </a:extLst>
          </p:cNvPr>
          <p:cNvGraphicFramePr/>
          <p:nvPr/>
        </p:nvGraphicFramePr>
        <p:xfrm>
          <a:off x="-76200" y="-17136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D226F0E-B486-CE3D-C500-FCD3CE78C330}"/>
              </a:ext>
            </a:extLst>
          </p:cNvPr>
          <p:cNvSpPr txBox="1">
            <a:spLocks/>
          </p:cNvSpPr>
          <p:nvPr/>
        </p:nvSpPr>
        <p:spPr>
          <a:xfrm>
            <a:off x="31564" y="1026781"/>
            <a:ext cx="86249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00" b="0" dirty="0">
                <a:solidFill>
                  <a:srgbClr val="1F2328"/>
                </a:solidFill>
                <a:latin typeface="-apple-system"/>
              </a:rPr>
              <a:t> </a:t>
            </a:r>
            <a:r>
              <a:rPr lang="en-US" sz="1100" kern="0" spc="-80" dirty="0">
                <a:solidFill>
                  <a:schemeClr val="accent2"/>
                </a:solidFill>
              </a:rPr>
              <a:t>How Probability (Theory) is(/can be) used in ML</a:t>
            </a:r>
          </a:p>
          <a:p>
            <a:pPr marL="12700" marR="5080"/>
            <a:r>
              <a:rPr lang="en-US" sz="1100" dirty="0">
                <a:solidFill>
                  <a:schemeClr val="accent2"/>
                </a:solidFill>
              </a:rPr>
              <a:t>Frequentist vs Bayesian Clustering Approaches</a:t>
            </a:r>
          </a:p>
          <a:p>
            <a:pPr marL="12700" marR="5080"/>
            <a:r>
              <a:rPr lang="en-US" sz="1100" kern="0" spc="-80" dirty="0">
                <a:solidFill>
                  <a:schemeClr val="accent2"/>
                </a:solidFill>
              </a:rPr>
              <a:t>Disadvantages</a:t>
            </a:r>
            <a:r>
              <a:rPr lang="en-US" sz="1100" kern="0" spc="-80" dirty="0">
                <a:solidFill>
                  <a:schemeClr val="accent6"/>
                </a:solidFill>
              </a:rPr>
              <a:t>:</a:t>
            </a:r>
          </a:p>
          <a:p>
            <a:pPr marL="12700" marR="5080"/>
            <a:r>
              <a:rPr lang="en-US" sz="1100" kern="0" spc="-80" dirty="0">
                <a:solidFill>
                  <a:schemeClr val="accent6"/>
                </a:solidFill>
              </a:rPr>
              <a:t>May struggle with complex, high-dimensional data. </a:t>
            </a:r>
          </a:p>
          <a:p>
            <a:pPr marL="12700" marR="5080"/>
            <a:r>
              <a:rPr lang="en-US" sz="1100" kern="0" spc="-80" dirty="0">
                <a:solidFill>
                  <a:schemeClr val="accent6"/>
                </a:solidFill>
              </a:rPr>
              <a:t>Can be sensitive to outliers. </a:t>
            </a:r>
          </a:p>
          <a:p>
            <a:pPr marL="12700" marR="5080"/>
            <a:r>
              <a:rPr lang="en-US" sz="1100" kern="0" spc="-80" dirty="0">
                <a:solidFill>
                  <a:schemeClr val="accent6"/>
                </a:solidFill>
              </a:rPr>
              <a:t>May not capture uncertainty well. </a:t>
            </a:r>
          </a:p>
          <a:p>
            <a:pPr marL="12700" marR="5080"/>
            <a:r>
              <a:rPr lang="en-US" sz="1100" kern="0" spc="-80" dirty="0">
                <a:solidFill>
                  <a:schemeClr val="accent2"/>
                </a:solidFill>
              </a:rPr>
              <a:t>Examples</a:t>
            </a:r>
            <a:r>
              <a:rPr lang="en-US" sz="1100" kern="0" spc="-80" dirty="0">
                <a:solidFill>
                  <a:schemeClr val="accent6"/>
                </a:solidFill>
              </a:rPr>
              <a:t>: K-means, hierarchical clustering, DBSCAN. </a:t>
            </a:r>
          </a:p>
          <a:p>
            <a:pPr marL="12700" marR="5080"/>
            <a:r>
              <a:rPr lang="en-US" sz="1100" kern="0" spc="-80" dirty="0">
                <a:solidFill>
                  <a:schemeClr val="accent2"/>
                </a:solidFill>
              </a:rPr>
              <a:t>Bayesian Clustering Algorithms:</a:t>
            </a:r>
          </a:p>
          <a:p>
            <a:pPr marL="12700" marR="5080"/>
            <a:r>
              <a:rPr lang="en-US" sz="1100" kern="0" spc="-80" dirty="0">
                <a:solidFill>
                  <a:schemeClr val="accent2"/>
                </a:solidFill>
              </a:rPr>
              <a:t>Focus: </a:t>
            </a:r>
            <a:r>
              <a:rPr lang="en-US" sz="1100" kern="0" spc="-80" dirty="0">
                <a:solidFill>
                  <a:schemeClr val="accent6"/>
                </a:solidFill>
              </a:rPr>
              <a:t>Incorporates prior knowledge and updates hypotheses probabilities as more data become available. </a:t>
            </a:r>
          </a:p>
          <a:p>
            <a:pPr marL="12700" marR="5080"/>
            <a:r>
              <a:rPr lang="en-US" sz="1100" kern="0" spc="-80" dirty="0">
                <a:solidFill>
                  <a:schemeClr val="accent2"/>
                </a:solidFill>
              </a:rPr>
              <a:t>Probability Interpretation: </a:t>
            </a:r>
            <a:r>
              <a:rPr lang="en-US" sz="1100" kern="0" spc="-80" dirty="0">
                <a:solidFill>
                  <a:schemeClr val="accent6"/>
                </a:solidFill>
              </a:rPr>
              <a:t>Assigns probabilities to hypotheses. </a:t>
            </a:r>
          </a:p>
          <a:p>
            <a:pPr marL="12700" marR="5080"/>
            <a:r>
              <a:rPr lang="en-US" sz="1100" kern="0" spc="-80" dirty="0">
                <a:solidFill>
                  <a:schemeClr val="accent2"/>
                </a:solidFill>
              </a:rPr>
              <a:t>Advantages: </a:t>
            </a:r>
          </a:p>
          <a:p>
            <a:pPr marL="12700" marR="5080"/>
            <a:r>
              <a:rPr lang="en-US" sz="1100" kern="0" spc="-80" dirty="0">
                <a:solidFill>
                  <a:schemeClr val="accent6"/>
                </a:solidFill>
              </a:rPr>
              <a:t>Quantifies uncertainty in the clustering structure. </a:t>
            </a:r>
          </a:p>
          <a:p>
            <a:pPr marL="12700" marR="5080"/>
            <a:r>
              <a:rPr lang="en-US" sz="1100" kern="0" spc="-80" dirty="0">
                <a:solidFill>
                  <a:schemeClr val="accent6"/>
                </a:solidFill>
              </a:rPr>
              <a:t>Can handle complex, high-dimensional data. </a:t>
            </a:r>
          </a:p>
          <a:p>
            <a:pPr marL="12700" marR="5080"/>
            <a:r>
              <a:rPr lang="en-US" sz="1100" kern="0" spc="-80" dirty="0">
                <a:solidFill>
                  <a:schemeClr val="accent6"/>
                </a:solidFill>
              </a:rPr>
              <a:t>More flexible and adaptable to various scenarios. </a:t>
            </a:r>
          </a:p>
          <a:p>
            <a:pPr marL="12700" marR="5080"/>
            <a:r>
              <a:rPr lang="en-US" sz="1100" kern="0" spc="-80" dirty="0">
                <a:solidFill>
                  <a:schemeClr val="accent6"/>
                </a:solidFill>
              </a:rPr>
              <a:t>Can incorporate prior knowledge and beliefs about the data. </a:t>
            </a:r>
          </a:p>
          <a:p>
            <a:pPr marL="12700" marR="5080"/>
            <a:r>
              <a:rPr lang="en-US" sz="1100" kern="0" spc="-80" dirty="0">
                <a:solidFill>
                  <a:schemeClr val="accent2"/>
                </a:solidFill>
              </a:rPr>
              <a:t>Disadvantages:</a:t>
            </a:r>
          </a:p>
          <a:p>
            <a:pPr marL="12700" marR="5080"/>
            <a:r>
              <a:rPr lang="en-US" sz="1100" kern="0" spc="-80" dirty="0">
                <a:solidFill>
                  <a:schemeClr val="accent6"/>
                </a:solidFill>
              </a:rPr>
              <a:t>Computationally intensive, especially for complex models. </a:t>
            </a:r>
          </a:p>
          <a:p>
            <a:pPr marL="12700" marR="5080"/>
            <a:r>
              <a:rPr lang="en-US" sz="1100" kern="0" spc="-80" dirty="0">
                <a:solidFill>
                  <a:schemeClr val="accent6"/>
                </a:solidFill>
              </a:rPr>
              <a:t>Can be difficult to interpret and tune. </a:t>
            </a:r>
          </a:p>
          <a:p>
            <a:pPr marL="12700" marR="5080"/>
            <a:r>
              <a:rPr lang="en-US" sz="1100" kern="0" spc="-80" dirty="0">
                <a:solidFill>
                  <a:schemeClr val="accent6"/>
                </a:solidFill>
              </a:rPr>
              <a:t>Requires careful selection of prior distributions. </a:t>
            </a:r>
          </a:p>
          <a:p>
            <a:pPr marL="12700" marR="5080"/>
            <a:r>
              <a:rPr lang="en-US" sz="1100" kern="0" spc="-80" dirty="0">
                <a:solidFill>
                  <a:schemeClr val="accent2"/>
                </a:solidFill>
              </a:rPr>
              <a:t>Examples: </a:t>
            </a:r>
            <a:r>
              <a:rPr lang="en-US" sz="1100" kern="0" spc="-80" dirty="0">
                <a:solidFill>
                  <a:schemeClr val="accent6"/>
                </a:solidFill>
              </a:rPr>
              <a:t>Gaussian Mixture Models (GMMs), Dirichlet Process Mixture Models. </a:t>
            </a:r>
          </a:p>
          <a:p>
            <a:pPr marL="12700" marR="5080"/>
            <a:endParaRPr lang="en-US" sz="1100" b="0" i="0" kern="0" spc="-80" dirty="0">
              <a:solidFill>
                <a:schemeClr val="accent6"/>
              </a:solidFill>
              <a:effectLst/>
              <a:latin typeface="-apple-system"/>
            </a:endParaRPr>
          </a:p>
          <a:p>
            <a:pPr marL="12700" marR="5080"/>
            <a:r>
              <a:rPr lang="en-US" sz="1100" dirty="0">
                <a:solidFill>
                  <a:schemeClr val="accent2"/>
                </a:solidFill>
              </a:rPr>
              <a:t>Frequentist vs Bayesian Dimensionality Reduction Approaches</a:t>
            </a:r>
          </a:p>
          <a:p>
            <a:pPr marL="12700" marR="5080"/>
            <a:r>
              <a:rPr lang="en-US" sz="1100" kern="0" spc="-80" dirty="0">
                <a:solidFill>
                  <a:schemeClr val="accent6"/>
                </a:solidFill>
              </a:rPr>
              <a:t>Frequentist and Bayesian approaches offer distinct frameworks for dimensionality reduction, primarily differing in how they interpret uncertainty and incorporate prior knowledge. Frequentist methods, often used in algorithms like PCA, focus on data-driven estimations and hypothesis testing, whereas Bayesian methods, exemplified by Bayesian PCA, integrate prior beliefs and quantify uncertainty using posterior distributions. </a:t>
            </a:r>
          </a:p>
          <a:p>
            <a:pPr marL="12700" marR="5080"/>
            <a:r>
              <a:rPr lang="en-US" sz="1100" kern="0" spc="-80" dirty="0">
                <a:solidFill>
                  <a:schemeClr val="accent2"/>
                </a:solidFill>
              </a:rPr>
              <a:t>Frequentist Approach:</a:t>
            </a:r>
          </a:p>
          <a:p>
            <a:pPr marL="12700" marR="5080"/>
            <a:r>
              <a:rPr lang="en-US" sz="1100" kern="0" spc="-80" dirty="0">
                <a:solidFill>
                  <a:schemeClr val="accent2"/>
                </a:solidFill>
              </a:rPr>
              <a:t>Focus</a:t>
            </a:r>
            <a:r>
              <a:rPr lang="en-US" sz="1100" kern="0" spc="-80" dirty="0">
                <a:solidFill>
                  <a:schemeClr val="accent6"/>
                </a:solidFill>
              </a:rPr>
              <a:t>: Emphasizes data-driven estimation and hypothesis testing based on long-term frequencies and observed data. </a:t>
            </a:r>
          </a:p>
          <a:p>
            <a:pPr marL="12700" marR="5080"/>
            <a:r>
              <a:rPr lang="en-US" sz="1100" kern="0" spc="-80" dirty="0">
                <a:solidFill>
                  <a:schemeClr val="accent2"/>
                </a:solidFill>
              </a:rPr>
              <a:t>Uncertainty Handling</a:t>
            </a:r>
            <a:r>
              <a:rPr lang="en-US" sz="1100" kern="0" spc="-80" dirty="0">
                <a:solidFill>
                  <a:schemeClr val="accent6"/>
                </a:solidFill>
              </a:rPr>
              <a:t>: Uses confidence intervals or test statistics to represent uncertainty. </a:t>
            </a:r>
          </a:p>
          <a:p>
            <a:pPr marL="12700" marR="5080"/>
            <a:endParaRPr lang="en-US" sz="1100" dirty="0">
              <a:solidFill>
                <a:schemeClr val="accent2"/>
              </a:solidFill>
            </a:endParaRPr>
          </a:p>
          <a:p>
            <a:pPr marL="12700" marR="5080"/>
            <a:endParaRPr lang="en-US" sz="1100" b="0" i="0" dirty="0">
              <a:solidFill>
                <a:srgbClr val="1F2328"/>
              </a:solidFill>
              <a:effectLst/>
              <a:latin typeface="-apple-system"/>
            </a:endParaRPr>
          </a:p>
        </p:txBody>
      </p:sp>
    </p:spTree>
    <p:extLst>
      <p:ext uri="{BB962C8B-B14F-4D97-AF65-F5344CB8AC3E}">
        <p14:creationId xmlns:p14="http://schemas.microsoft.com/office/powerpoint/2010/main" val="756080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AE6F-FD96-3173-DDFF-F43DC4CD8545}"/>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EED0218A-19BB-F2C7-99B1-E513B9F1226F}"/>
              </a:ext>
            </a:extLst>
          </p:cNvPr>
          <p:cNvSpPr/>
          <p:nvPr/>
        </p:nvSpPr>
        <p:spPr>
          <a:xfrm>
            <a:off x="1650998" y="87585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A9C2277-632B-E751-336E-E28467A7FBB0}"/>
              </a:ext>
            </a:extLst>
          </p:cNvPr>
          <p:cNvSpPr/>
          <p:nvPr/>
        </p:nvSpPr>
        <p:spPr>
          <a:xfrm>
            <a:off x="1650999" y="7249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310AE69-61BE-5732-A77A-7D29D8C1F433}"/>
              </a:ext>
            </a:extLst>
          </p:cNvPr>
          <p:cNvGraphicFramePr/>
          <p:nvPr/>
        </p:nvGraphicFramePr>
        <p:xfrm>
          <a:off x="0" y="-165009"/>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725D1BD-4C28-571C-4598-042C87A88AEF}"/>
              </a:ext>
            </a:extLst>
          </p:cNvPr>
          <p:cNvSpPr txBox="1">
            <a:spLocks/>
          </p:cNvSpPr>
          <p:nvPr/>
        </p:nvSpPr>
        <p:spPr>
          <a:xfrm>
            <a:off x="31564" y="1052181"/>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00" b="0" dirty="0">
                <a:solidFill>
                  <a:srgbClr val="1F2328"/>
                </a:solidFill>
                <a:latin typeface="-apple-system"/>
              </a:rPr>
              <a:t> </a:t>
            </a:r>
            <a:r>
              <a:rPr lang="en-US" sz="1100" kern="0" spc="-80" dirty="0">
                <a:solidFill>
                  <a:schemeClr val="accent2"/>
                </a:solidFill>
              </a:rPr>
              <a:t>How Probability (Theory) is(/can be) used in ML</a:t>
            </a:r>
          </a:p>
          <a:p>
            <a:pPr marL="12700" marR="5080"/>
            <a:r>
              <a:rPr lang="en-US" sz="1100" dirty="0">
                <a:solidFill>
                  <a:schemeClr val="accent2"/>
                </a:solidFill>
              </a:rPr>
              <a:t>Frequentist vs Bayesian Dimensionality Reduction Approaches</a:t>
            </a:r>
          </a:p>
          <a:p>
            <a:pPr marL="12700" marR="5080"/>
            <a:r>
              <a:rPr lang="en-US" sz="1100" kern="0" spc="-80" dirty="0">
                <a:solidFill>
                  <a:schemeClr val="accent2"/>
                </a:solidFill>
              </a:rPr>
              <a:t>Examples</a:t>
            </a:r>
            <a:r>
              <a:rPr lang="en-US" sz="1100" kern="0" spc="-80" dirty="0">
                <a:solidFill>
                  <a:schemeClr val="accent6"/>
                </a:solidFill>
              </a:rPr>
              <a:t>: Principal Component Analysis (PCA) and linear discriminant analysis (LDA). </a:t>
            </a:r>
          </a:p>
          <a:p>
            <a:pPr marL="12700" marR="5080"/>
            <a:r>
              <a:rPr lang="en-US" sz="1100" kern="0" spc="-80" dirty="0">
                <a:solidFill>
                  <a:schemeClr val="accent2"/>
                </a:solidFill>
              </a:rPr>
              <a:t>Advantages</a:t>
            </a:r>
            <a:r>
              <a:rPr lang="en-US" sz="1100" kern="0" spc="-80" dirty="0">
                <a:solidFill>
                  <a:schemeClr val="accent6"/>
                </a:solidFill>
              </a:rPr>
              <a:t>: Often computationally simpler and more straightforward. </a:t>
            </a:r>
          </a:p>
          <a:p>
            <a:pPr marL="12700" marR="5080"/>
            <a:r>
              <a:rPr lang="en-US" sz="1100" kern="0" spc="-80" dirty="0">
                <a:solidFill>
                  <a:schemeClr val="accent2"/>
                </a:solidFill>
              </a:rPr>
              <a:t>Disadvantages</a:t>
            </a:r>
            <a:r>
              <a:rPr lang="en-US" sz="1100" kern="0" spc="-80" dirty="0">
                <a:solidFill>
                  <a:schemeClr val="accent6"/>
                </a:solidFill>
              </a:rPr>
              <a:t>: Can struggle with handling complex uncertainty and may not be as intuitive for interpreting results. </a:t>
            </a:r>
          </a:p>
          <a:p>
            <a:pPr marL="12700" marR="5080"/>
            <a:r>
              <a:rPr lang="en-US" sz="1100" kern="0" spc="-80" dirty="0">
                <a:solidFill>
                  <a:schemeClr val="accent2"/>
                </a:solidFill>
              </a:rPr>
              <a:t>Bayesian Approach:</a:t>
            </a:r>
          </a:p>
          <a:p>
            <a:pPr marL="12700" marR="5080"/>
            <a:r>
              <a:rPr lang="en-US" sz="1100" kern="0" spc="-80" dirty="0">
                <a:solidFill>
                  <a:schemeClr val="accent2"/>
                </a:solidFill>
              </a:rPr>
              <a:t>Focus</a:t>
            </a:r>
            <a:r>
              <a:rPr lang="en-US" sz="1100" kern="0" spc="-80" dirty="0">
                <a:solidFill>
                  <a:schemeClr val="accent6"/>
                </a:solidFill>
              </a:rPr>
              <a:t>: Incorporates prior knowledge and quantifies uncertainty through posterior distributions.</a:t>
            </a:r>
          </a:p>
          <a:p>
            <a:pPr marL="12700" marR="5080"/>
            <a:r>
              <a:rPr lang="en-US" sz="1100" kern="0" spc="-80" dirty="0">
                <a:solidFill>
                  <a:schemeClr val="accent2"/>
                </a:solidFill>
              </a:rPr>
              <a:t>Uncertainty Handling: </a:t>
            </a:r>
            <a:r>
              <a:rPr lang="en-US" sz="1100" kern="0" spc="-80" dirty="0">
                <a:solidFill>
                  <a:schemeClr val="accent6"/>
                </a:solidFill>
              </a:rPr>
              <a:t>Naturally quantifies uncertainty using probability distributions.</a:t>
            </a:r>
          </a:p>
          <a:p>
            <a:pPr marL="12700" marR="5080"/>
            <a:r>
              <a:rPr lang="en-US" sz="1100" kern="0" spc="-80" dirty="0">
                <a:solidFill>
                  <a:schemeClr val="accent2"/>
                </a:solidFill>
              </a:rPr>
              <a:t>Examples</a:t>
            </a:r>
            <a:r>
              <a:rPr lang="en-US" sz="1100" kern="0" spc="-80" dirty="0">
                <a:solidFill>
                  <a:schemeClr val="accent6"/>
                </a:solidFill>
              </a:rPr>
              <a:t>: Bayesian PCA, Bayesian latent variable models.</a:t>
            </a:r>
          </a:p>
          <a:p>
            <a:pPr marL="12700" marR="5080"/>
            <a:r>
              <a:rPr lang="en-US" sz="1100" kern="0" spc="-80" dirty="0">
                <a:solidFill>
                  <a:schemeClr val="accent2"/>
                </a:solidFill>
              </a:rPr>
              <a:t>Advantages</a:t>
            </a:r>
            <a:r>
              <a:rPr lang="en-US" sz="1100" kern="0" spc="-80" dirty="0">
                <a:solidFill>
                  <a:schemeClr val="accent6"/>
                </a:solidFill>
              </a:rPr>
              <a:t>: Offers a more intuitive interpretation of results and can handle complex uncertainty.</a:t>
            </a:r>
          </a:p>
          <a:p>
            <a:pPr marL="12700" marR="5080"/>
            <a:r>
              <a:rPr lang="en-US" sz="1100" kern="0" spc="-80" dirty="0">
                <a:solidFill>
                  <a:schemeClr val="accent2"/>
                </a:solidFill>
              </a:rPr>
              <a:t>Disadvantages</a:t>
            </a:r>
            <a:r>
              <a:rPr lang="en-US" sz="1100" kern="0" spc="-80" dirty="0">
                <a:solidFill>
                  <a:schemeClr val="accent6"/>
                </a:solidFill>
              </a:rPr>
              <a:t>: Can be computationally intensive, especially for complex models. </a:t>
            </a:r>
          </a:p>
          <a:p>
            <a:pPr marL="12700" marR="5080"/>
            <a:r>
              <a:rPr lang="en-US" sz="1100" kern="0" spc="-80" dirty="0">
                <a:solidFill>
                  <a:schemeClr val="accent2"/>
                </a:solidFill>
              </a:rPr>
              <a:t>Key Differences:</a:t>
            </a:r>
          </a:p>
          <a:p>
            <a:pPr marL="12700" marR="5080"/>
            <a:r>
              <a:rPr lang="en-US" sz="1100" kern="0" spc="-80" dirty="0">
                <a:solidFill>
                  <a:schemeClr val="accent2"/>
                </a:solidFill>
              </a:rPr>
              <a:t>Interpretation of Uncertainty:</a:t>
            </a:r>
          </a:p>
          <a:p>
            <a:pPr marL="12700" marR="5080"/>
            <a:r>
              <a:rPr lang="en-US" sz="1100" kern="0" spc="-80" dirty="0">
                <a:solidFill>
                  <a:schemeClr val="accent6"/>
                </a:solidFill>
              </a:rPr>
              <a:t>Frequentist methods focus on long-run probabilities of the data given the hypothesis, while Bayesian methods focus on the probability of the hypothesis given the data. </a:t>
            </a:r>
          </a:p>
          <a:p>
            <a:pPr marL="12700" marR="5080"/>
            <a:r>
              <a:rPr lang="en-US" sz="1100" kern="0" spc="-80" dirty="0">
                <a:solidFill>
                  <a:schemeClr val="accent2"/>
                </a:solidFill>
              </a:rPr>
              <a:t>Prior Knowledge:</a:t>
            </a:r>
          </a:p>
          <a:p>
            <a:pPr marL="12700" marR="5080"/>
            <a:r>
              <a:rPr lang="en-US" sz="1100" kern="0" spc="-80" dirty="0">
                <a:solidFill>
                  <a:schemeClr val="accent6"/>
                </a:solidFill>
              </a:rPr>
              <a:t>Frequentist methods primarily rely on the data, while Bayesian methods incorporate prior information about the parameters. </a:t>
            </a:r>
          </a:p>
          <a:p>
            <a:pPr marL="12700" marR="5080"/>
            <a:r>
              <a:rPr lang="en-US" sz="1100" kern="0" spc="-80" dirty="0">
                <a:solidFill>
                  <a:schemeClr val="accent2"/>
                </a:solidFill>
              </a:rPr>
              <a:t>Computational Complexity:</a:t>
            </a:r>
          </a:p>
          <a:p>
            <a:pPr marL="12700" marR="5080"/>
            <a:r>
              <a:rPr lang="en-US" sz="1100" kern="0" spc="-80" dirty="0">
                <a:solidFill>
                  <a:schemeClr val="accent6"/>
                </a:solidFill>
              </a:rPr>
              <a:t>Frequentist methods are often computationally less demanding, while Bayesian methods can be computationally intensive, especially for complex models. </a:t>
            </a:r>
          </a:p>
          <a:p>
            <a:pPr marL="12700" marR="5080"/>
            <a:r>
              <a:rPr lang="en-US" sz="1100" kern="0" spc="-80" dirty="0">
                <a:solidFill>
                  <a:schemeClr val="accent6"/>
                </a:solidFill>
              </a:rPr>
              <a:t>In essence, the choice between a frequentist and Bayesian approach in dimensionality reduction depends on the specific application and the nature of the data. Frequentist methods are well-suited for situations where data is abundant and uncertainty is relatively straightforward to handle, while Bayesian methods are more appropriate for situations where prior knowledge is valuable, uncertainty is complex, and computational resources are available. </a:t>
            </a:r>
          </a:p>
          <a:p>
            <a:pPr marL="12700" marR="5080"/>
            <a:endParaRPr lang="en-US" sz="1100" b="0" i="0" kern="0" spc="-80" dirty="0">
              <a:solidFill>
                <a:schemeClr val="accent6"/>
              </a:solidFill>
              <a:effectLst/>
              <a:latin typeface="-apple-system"/>
            </a:endParaRPr>
          </a:p>
          <a:p>
            <a:pPr marL="12700" marR="5080"/>
            <a:r>
              <a:rPr lang="en-US" sz="1100" dirty="0">
                <a:solidFill>
                  <a:schemeClr val="accent2"/>
                </a:solidFill>
              </a:rPr>
              <a:t>Scenarios where Bayesian Approach can be more powerful than Frequentist Approach</a:t>
            </a:r>
          </a:p>
          <a:p>
            <a:pPr marL="12700" marR="5080"/>
            <a:r>
              <a:rPr lang="en-US" sz="1100" kern="0" spc="-80" dirty="0">
                <a:solidFill>
                  <a:schemeClr val="accent6"/>
                </a:solidFill>
              </a:rPr>
              <a:t>Bayesian methods excel when dealing with limited data, incorporating prior knowledge, or when the goal is to estimate probabilities directly rather than relying on long-run frequencies.</a:t>
            </a:r>
            <a:endParaRPr lang="en-US" sz="1100" dirty="0">
              <a:solidFill>
                <a:schemeClr val="accent2"/>
              </a:solidFill>
            </a:endParaRPr>
          </a:p>
          <a:p>
            <a:pPr marL="12700" marR="5080"/>
            <a:endParaRPr lang="en-US" sz="1100" b="0" i="0" dirty="0">
              <a:solidFill>
                <a:srgbClr val="1F2328"/>
              </a:solidFill>
              <a:effectLst/>
              <a:latin typeface="-apple-system"/>
            </a:endParaRPr>
          </a:p>
        </p:txBody>
      </p:sp>
    </p:spTree>
    <p:extLst>
      <p:ext uri="{BB962C8B-B14F-4D97-AF65-F5344CB8AC3E}">
        <p14:creationId xmlns:p14="http://schemas.microsoft.com/office/powerpoint/2010/main" val="1317008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44B43-FCA4-2A35-E5CC-7E8C75A88419}"/>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D947E39E-4AFA-6703-22C7-DD722BF48E39}"/>
              </a:ext>
            </a:extLst>
          </p:cNvPr>
          <p:cNvSpPr/>
          <p:nvPr/>
        </p:nvSpPr>
        <p:spPr>
          <a:xfrm>
            <a:off x="1650998" y="1105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C3FFA36-047A-CC22-9FCF-333E70F8AA0A}"/>
              </a:ext>
            </a:extLst>
          </p:cNvPr>
          <p:cNvSpPr/>
          <p:nvPr/>
        </p:nvSpPr>
        <p:spPr>
          <a:xfrm>
            <a:off x="1650999" y="953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593259C-B35A-339C-E791-35269462D87D}"/>
              </a:ext>
            </a:extLst>
          </p:cNvPr>
          <p:cNvGraphicFramePr/>
          <p:nvPr/>
        </p:nvGraphicFramePr>
        <p:xfrm>
          <a:off x="6164" y="-19369"/>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1F4BE2E-C2B4-3A68-1F3A-0F9C5B902124}"/>
              </a:ext>
            </a:extLst>
          </p:cNvPr>
          <p:cNvSpPr txBox="1">
            <a:spLocks/>
          </p:cNvSpPr>
          <p:nvPr/>
        </p:nvSpPr>
        <p:spPr>
          <a:xfrm>
            <a:off x="31564" y="118622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b="0" dirty="0">
                <a:solidFill>
                  <a:srgbClr val="1F2328"/>
                </a:solidFill>
                <a:latin typeface="-apple-system"/>
              </a:rPr>
              <a:t> </a:t>
            </a:r>
            <a:r>
              <a:rPr lang="en-US" sz="1200" kern="0" spc="-80" dirty="0">
                <a:solidFill>
                  <a:schemeClr val="accent2"/>
                </a:solidFill>
              </a:rPr>
              <a:t>How Probability (Theory) is(/can be) used in ML</a:t>
            </a:r>
          </a:p>
          <a:p>
            <a:pPr marL="12700" marR="5080"/>
            <a:r>
              <a:rPr lang="en-US" sz="1200" dirty="0">
                <a:solidFill>
                  <a:schemeClr val="accent2"/>
                </a:solidFill>
              </a:rPr>
              <a:t>Scenarios where Bayesian Approach can be more powerful than Frequentist Approach</a:t>
            </a:r>
          </a:p>
          <a:p>
            <a:pPr marL="12700" marR="5080"/>
            <a:r>
              <a:rPr lang="en-US" sz="1150" kern="0" spc="-80" dirty="0">
                <a:solidFill>
                  <a:schemeClr val="accent2"/>
                </a:solidFill>
              </a:rPr>
              <a:t>Elaboration: </a:t>
            </a:r>
          </a:p>
          <a:p>
            <a:pPr marL="12700" marR="5080"/>
            <a:r>
              <a:rPr lang="en-US" sz="1150" kern="0" spc="-80" dirty="0">
                <a:solidFill>
                  <a:schemeClr val="accent2"/>
                </a:solidFill>
              </a:rPr>
              <a:t>Limited Data:</a:t>
            </a:r>
            <a:r>
              <a:rPr lang="en-US" sz="1150" kern="0" spc="-80" dirty="0">
                <a:solidFill>
                  <a:schemeClr val="accent6"/>
                </a:solidFill>
              </a:rPr>
              <a:t> Frequentist methods often require large sample sizes to provide reliable estimates. Bayesian methods, with their ability to incorporate prior information, can still offer valuable insights even with smaller datasets. </a:t>
            </a:r>
          </a:p>
          <a:p>
            <a:pPr marL="12700" marR="5080"/>
            <a:r>
              <a:rPr lang="en-US" sz="1150" kern="0" spc="-80" dirty="0">
                <a:solidFill>
                  <a:schemeClr val="accent2"/>
                </a:solidFill>
              </a:rPr>
              <a:t>Prior (/Expert) Knowledge: </a:t>
            </a:r>
            <a:r>
              <a:rPr lang="en-US" sz="1150" kern="0" spc="-80" dirty="0">
                <a:solidFill>
                  <a:schemeClr val="accent6"/>
                </a:solidFill>
              </a:rPr>
              <a:t>When prior information or expert beliefs are available and relevant, Bayesian methods allow for their formal incorporation into the analysis, which can lead to more accurate and informative results. </a:t>
            </a:r>
          </a:p>
          <a:p>
            <a:pPr marL="12700" marR="5080"/>
            <a:r>
              <a:rPr lang="en-US" sz="1150" kern="0" spc="-80" dirty="0">
                <a:solidFill>
                  <a:schemeClr val="accent2"/>
                </a:solidFill>
              </a:rPr>
              <a:t>Probability of Hypotheses</a:t>
            </a:r>
            <a:r>
              <a:rPr lang="en-US" sz="1150" kern="0" spc="-80" dirty="0">
                <a:solidFill>
                  <a:schemeClr val="accent6"/>
                </a:solidFill>
              </a:rPr>
              <a:t>: Bayesian statistics directly calculates the probability of a hypothesis being true, whereas frequentist methods focus on the probability of obtaining observed data. This difference can be particularly useful when the goal is to assess the strength of evidence for a specific hypothesis. </a:t>
            </a:r>
          </a:p>
          <a:p>
            <a:pPr marL="12700" marR="5080"/>
            <a:r>
              <a:rPr lang="en-US" sz="1150" kern="0" spc="-80" dirty="0">
                <a:solidFill>
                  <a:schemeClr val="accent2"/>
                </a:solidFill>
              </a:rPr>
              <a:t>Flexibility and Interpretability</a:t>
            </a:r>
            <a:r>
              <a:rPr lang="en-US" sz="1150" kern="0" spc="-80" dirty="0">
                <a:solidFill>
                  <a:schemeClr val="accent6"/>
                </a:solidFill>
              </a:rPr>
              <a:t>: Bayesian methods offer more flexibility in model specification and allow for the use of different prior distributions, making them suitable for complex problems. The results are also often easier to interpret in terms of probabilities and credible intervals, which can be more intuitive for some audiences. </a:t>
            </a:r>
          </a:p>
          <a:p>
            <a:pPr marL="12700" marR="5080"/>
            <a:r>
              <a:rPr lang="en-US" sz="1150" kern="0" spc="-80" dirty="0">
                <a:solidFill>
                  <a:schemeClr val="accent2"/>
                </a:solidFill>
              </a:rPr>
              <a:t>Complex models</a:t>
            </a:r>
            <a:r>
              <a:rPr lang="en-US" sz="1150" kern="0" spc="-80" dirty="0">
                <a:solidFill>
                  <a:schemeClr val="accent6"/>
                </a:solidFill>
              </a:rPr>
              <a:t>: When the data-generating process is complex, Bayesian models can be used to specify a model upfront and incorporate priors about what's realistic. </a:t>
            </a:r>
          </a:p>
          <a:p>
            <a:pPr marL="12700" marR="5080"/>
            <a:endParaRPr lang="en-US" sz="1150" kern="0" spc="-80" dirty="0">
              <a:solidFill>
                <a:schemeClr val="accent6"/>
              </a:solidFill>
            </a:endParaRPr>
          </a:p>
          <a:p>
            <a:pPr marL="12700" marR="5080"/>
            <a:r>
              <a:rPr lang="en-US" sz="1150" kern="0" spc="-80" dirty="0">
                <a:solidFill>
                  <a:schemeClr val="accent2"/>
                </a:solidFill>
              </a:rPr>
              <a:t>Examples</a:t>
            </a:r>
            <a:r>
              <a:rPr lang="en-US" sz="1150" kern="0" spc="-80" dirty="0">
                <a:solidFill>
                  <a:schemeClr val="accent6"/>
                </a:solidFill>
              </a:rPr>
              <a:t>: </a:t>
            </a:r>
          </a:p>
          <a:p>
            <a:pPr marL="12700" marR="5080"/>
            <a:r>
              <a:rPr lang="en-US" sz="1150" kern="0" spc="-80" dirty="0">
                <a:solidFill>
                  <a:schemeClr val="accent2"/>
                </a:solidFill>
              </a:rPr>
              <a:t>Clinical Trials</a:t>
            </a:r>
            <a:r>
              <a:rPr lang="en-US" sz="1150" kern="0" spc="-80" dirty="0">
                <a:solidFill>
                  <a:schemeClr val="accent6"/>
                </a:solidFill>
              </a:rPr>
              <a:t>: In clinical trials, Bayesian methods can be particularly valuable when prior information about the effectiveness of a treatment is available or when the sample size is limited. </a:t>
            </a:r>
          </a:p>
          <a:p>
            <a:pPr marL="12700" marR="5080"/>
            <a:r>
              <a:rPr lang="en-US" sz="1150" kern="0" spc="-80" dirty="0">
                <a:solidFill>
                  <a:schemeClr val="accent2"/>
                </a:solidFill>
              </a:rPr>
              <a:t>Machine Learning</a:t>
            </a:r>
            <a:r>
              <a:rPr lang="en-US" sz="1150" kern="0" spc="-80" dirty="0">
                <a:solidFill>
                  <a:schemeClr val="accent6"/>
                </a:solidFill>
              </a:rPr>
              <a:t>: Bayesian approaches are fundamental to many machine learning algorithms, where the ability to update beliefs based on new data and prior knowledge is crucial. </a:t>
            </a:r>
          </a:p>
          <a:p>
            <a:pPr marL="12700" marR="5080"/>
            <a:r>
              <a:rPr lang="en-US" sz="1150" kern="0" spc="-80" dirty="0">
                <a:solidFill>
                  <a:schemeClr val="accent2"/>
                </a:solidFill>
              </a:rPr>
              <a:t>A/B Testing</a:t>
            </a:r>
            <a:r>
              <a:rPr lang="en-US" sz="1150" kern="0" spc="-80" dirty="0">
                <a:solidFill>
                  <a:schemeClr val="accent6"/>
                </a:solidFill>
              </a:rPr>
              <a:t>: Bayesian testing can be advantageous in scenarios where you want to track the probability of one variation performing better than another, even with incomplete data or when you need to make decisions based on a rolling analysis</a:t>
            </a:r>
          </a:p>
          <a:p>
            <a:pPr marL="12700" marR="5080"/>
            <a:endParaRPr lang="en-US" sz="1150" kern="0" spc="-80" dirty="0">
              <a:solidFill>
                <a:schemeClr val="accent6"/>
              </a:solidFill>
            </a:endParaRPr>
          </a:p>
          <a:p>
            <a:pPr marL="12700" marR="5080"/>
            <a:r>
              <a:rPr lang="en-US" sz="1150" kern="0" spc="-80" dirty="0">
                <a:solidFill>
                  <a:schemeClr val="accent2"/>
                </a:solidFill>
              </a:rPr>
              <a:t>In summary</a:t>
            </a:r>
            <a:r>
              <a:rPr lang="en-US" sz="1150" kern="0" spc="-80" dirty="0">
                <a:solidFill>
                  <a:schemeClr val="accent6"/>
                </a:solidFill>
              </a:rPr>
              <a:t>: While frequentist methods are valuable in many contexts, Bayesian approaches can offer distinct advantages in situations where prior knowledge is valuable, data is limited, or the goal is to estimate the probability of </a:t>
            </a:r>
            <a:r>
              <a:rPr lang="en-US" sz="1250" kern="0" spc="-80" dirty="0">
                <a:solidFill>
                  <a:schemeClr val="accent6"/>
                </a:solidFill>
              </a:rPr>
              <a:t>hypotheses</a:t>
            </a: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258962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BF3FF-C7A1-E2B2-3D1F-C82C704203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BFAC1ED-24A7-B255-DE1C-D7B1B9B1C70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456C9633-76DC-060C-19E4-22D7B511F62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1CEC41F-4894-5E8A-D088-FA46F1E2C9A0}"/>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6086A45-2DC5-7598-C550-3181D03F20A2}"/>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0C92695-C357-B7FE-6BED-8E29734DFD58}"/>
              </a:ext>
            </a:extLst>
          </p:cNvPr>
          <p:cNvSpPr txBox="1">
            <a:spLocks/>
          </p:cNvSpPr>
          <p:nvPr/>
        </p:nvSpPr>
        <p:spPr>
          <a:xfrm>
            <a:off x="-6986" y="1311359"/>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b="0" dirty="0">
                <a:solidFill>
                  <a:srgbClr val="1F2328"/>
                </a:solidFill>
                <a:latin typeface="-apple-system"/>
              </a:rPr>
              <a:t> </a:t>
            </a:r>
            <a:r>
              <a:rPr lang="en-US" sz="1400" kern="0" spc="-80" dirty="0">
                <a:solidFill>
                  <a:schemeClr val="accent2"/>
                </a:solidFill>
              </a:rPr>
              <a:t>How Probability (Theory) is(/can be) used in ML</a:t>
            </a:r>
          </a:p>
          <a:p>
            <a:pPr marL="12700" marR="5080"/>
            <a:r>
              <a:rPr lang="en-US" sz="1400" dirty="0">
                <a:solidFill>
                  <a:schemeClr val="accent2"/>
                </a:solidFill>
              </a:rPr>
              <a:t>Random Processes</a:t>
            </a:r>
          </a:p>
          <a:p>
            <a:pPr marL="12700" marR="5080"/>
            <a:r>
              <a:rPr lang="en-US" sz="1400" kern="0" spc="-80" dirty="0">
                <a:solidFill>
                  <a:schemeClr val="accent6"/>
                </a:solidFill>
                <a:cs typeface="+mn-cs"/>
              </a:rPr>
              <a:t>A random process, also known as a stochastic process, is a mathematical model that describes how a system or phenomenon evolves over time when randomness is involved. It's essentially a collection of random variables indexed by a parameter, often time, representing a random series of values sequenced over time. These processes are used to model various real-world phenomena, including communication noise, atmospheric changes, and signal fluctuations. </a:t>
            </a:r>
          </a:p>
          <a:p>
            <a:pPr marL="12700" marR="5080"/>
            <a:r>
              <a:rPr lang="en-US" sz="1400" kern="0" spc="-80" dirty="0">
                <a:solidFill>
                  <a:schemeClr val="accent2"/>
                </a:solidFill>
                <a:cs typeface="+mn-cs"/>
              </a:rPr>
              <a:t>Key Concepts:</a:t>
            </a:r>
          </a:p>
          <a:p>
            <a:pPr marL="12700" marR="5080"/>
            <a:r>
              <a:rPr lang="en-US" sz="1400" kern="0" spc="-80" dirty="0">
                <a:solidFill>
                  <a:schemeClr val="accent2"/>
                </a:solidFill>
                <a:cs typeface="+mn-cs"/>
              </a:rPr>
              <a:t>Random Variables: </a:t>
            </a:r>
            <a:r>
              <a:rPr lang="en-US" sz="1400" kern="0" spc="-80" dirty="0">
                <a:solidFill>
                  <a:schemeClr val="accent6"/>
                </a:solidFill>
                <a:cs typeface="+mn-cs"/>
              </a:rPr>
              <a:t>Each point in time is a random variable, meaning it has a certain probability of taking on a particular value. </a:t>
            </a:r>
          </a:p>
          <a:p>
            <a:pPr marL="12700" marR="5080"/>
            <a:r>
              <a:rPr lang="en-US" sz="1400" kern="0" spc="-80" dirty="0">
                <a:solidFill>
                  <a:schemeClr val="accent2"/>
                </a:solidFill>
                <a:cs typeface="+mn-cs"/>
              </a:rPr>
              <a:t>Time-Dependent</a:t>
            </a:r>
            <a:r>
              <a:rPr lang="en-US" sz="1400" kern="0" spc="-80" dirty="0">
                <a:solidFill>
                  <a:schemeClr val="accent6"/>
                </a:solidFill>
                <a:cs typeface="+mn-cs"/>
              </a:rPr>
              <a:t>: The randomness is evolving over time, making it a process, not just a single random variable. </a:t>
            </a:r>
          </a:p>
          <a:p>
            <a:pPr marL="12700" marR="5080"/>
            <a:r>
              <a:rPr lang="en-US" sz="1400" kern="0" spc="-80" dirty="0">
                <a:solidFill>
                  <a:schemeClr val="accent2"/>
                </a:solidFill>
                <a:cs typeface="+mn-cs"/>
              </a:rPr>
              <a:t>Probability Space:</a:t>
            </a:r>
            <a:r>
              <a:rPr lang="en-US" sz="1400" kern="0" spc="-80" dirty="0">
                <a:solidFill>
                  <a:schemeClr val="accent6"/>
                </a:solidFill>
                <a:cs typeface="+mn-cs"/>
              </a:rPr>
              <a:t> The process is defined on a probability space, where each possible outcome (or realization) of the process has a certain probability of occurring.</a:t>
            </a:r>
          </a:p>
          <a:p>
            <a:pPr marL="12700" marR="5080"/>
            <a:r>
              <a:rPr lang="en-US" sz="1400" kern="0" spc="-80" dirty="0">
                <a:solidFill>
                  <a:schemeClr val="accent2"/>
                </a:solidFill>
                <a:cs typeface="+mn-cs"/>
              </a:rPr>
              <a:t>Sample Functions:</a:t>
            </a:r>
            <a:r>
              <a:rPr lang="en-US" sz="1400" kern="0" spc="-80" dirty="0">
                <a:solidFill>
                  <a:schemeClr val="accent6"/>
                </a:solidFill>
                <a:cs typeface="+mn-cs"/>
              </a:rPr>
              <a:t> A single realization of the random process, often visualized as a time-series plot, is called a sample function. </a:t>
            </a:r>
          </a:p>
          <a:p>
            <a:pPr marL="12700" marR="5080"/>
            <a:r>
              <a:rPr lang="en-US" sz="1400" kern="0" spc="-80" dirty="0">
                <a:solidFill>
                  <a:schemeClr val="accent2"/>
                </a:solidFill>
                <a:cs typeface="+mn-cs"/>
              </a:rPr>
              <a:t>Random Processes Types: </a:t>
            </a:r>
          </a:p>
          <a:p>
            <a:pPr marL="12700" marR="5080"/>
            <a:r>
              <a:rPr lang="en-US" sz="1400" kern="0" spc="-80" dirty="0">
                <a:solidFill>
                  <a:schemeClr val="accent2"/>
                </a:solidFill>
                <a:cs typeface="+mn-cs"/>
              </a:rPr>
              <a:t>a) Based on Time and Value:</a:t>
            </a:r>
          </a:p>
          <a:p>
            <a:pPr marL="12700" marR="5080"/>
            <a:r>
              <a:rPr lang="en-US" sz="1400" kern="0" spc="-80" dirty="0">
                <a:solidFill>
                  <a:schemeClr val="accent2"/>
                </a:solidFill>
                <a:cs typeface="+mn-cs"/>
              </a:rPr>
              <a:t>Continuous-time, Continuous-valued:</a:t>
            </a:r>
            <a:r>
              <a:rPr lang="en-US" sz="1400" kern="0" spc="-80" dirty="0">
                <a:solidFill>
                  <a:schemeClr val="accent6"/>
                </a:solidFill>
                <a:cs typeface="+mn-cs"/>
              </a:rPr>
              <a:t> Both time and the process's value can take any value within a range (e.g., the temperature of a room).</a:t>
            </a:r>
          </a:p>
          <a:p>
            <a:pPr marL="12700" marR="5080"/>
            <a:r>
              <a:rPr lang="en-US" sz="1400" kern="0" spc="-80" dirty="0">
                <a:solidFill>
                  <a:schemeClr val="accent2"/>
                </a:solidFill>
                <a:cs typeface="+mn-cs"/>
              </a:rPr>
              <a:t>Continuous-time, Discrete-valued:</a:t>
            </a:r>
            <a:r>
              <a:rPr lang="en-US" sz="1400" kern="0" spc="-80" dirty="0">
                <a:solidFill>
                  <a:schemeClr val="accent6"/>
                </a:solidFill>
                <a:cs typeface="+mn-cs"/>
              </a:rPr>
              <a:t> Time is continuous, but the process's value can only take on specific, distinct values (e.g., the number of customers entering a store in a given time interval).</a:t>
            </a:r>
          </a:p>
        </p:txBody>
      </p:sp>
    </p:spTree>
    <p:extLst>
      <p:ext uri="{BB962C8B-B14F-4D97-AF65-F5344CB8AC3E}">
        <p14:creationId xmlns:p14="http://schemas.microsoft.com/office/powerpoint/2010/main" val="3601005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8C1A8-CF21-AD12-5F60-3DEA231695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04E2A2-0544-95A1-6D9E-06EAACE235B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780BCA6-1B61-2532-4587-A19E1E672F11}"/>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FF3984D-936B-F2B2-7B80-1BDF9AF4357C}"/>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782ECE8-C936-4B2A-285A-420BECD5045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F7C5A06-AA03-0F61-C632-8DE2309F00D2}"/>
              </a:ext>
            </a:extLst>
          </p:cNvPr>
          <p:cNvSpPr txBox="1">
            <a:spLocks/>
          </p:cNvSpPr>
          <p:nvPr/>
        </p:nvSpPr>
        <p:spPr>
          <a:xfrm>
            <a:off x="41725" y="1295400"/>
            <a:ext cx="8624937" cy="46535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b="0" dirty="0">
                <a:solidFill>
                  <a:srgbClr val="1F2328"/>
                </a:solidFill>
                <a:latin typeface="-apple-system"/>
              </a:rPr>
              <a:t> </a:t>
            </a:r>
            <a:r>
              <a:rPr lang="en-US" sz="1200" kern="0" spc="-80" dirty="0">
                <a:solidFill>
                  <a:schemeClr val="accent2"/>
                </a:solidFill>
              </a:rPr>
              <a:t>How Probability (Theory) is(/can be) used in ML</a:t>
            </a:r>
          </a:p>
          <a:p>
            <a:pPr marL="12700" marR="5080"/>
            <a:r>
              <a:rPr lang="en-US" sz="1200" dirty="0">
                <a:solidFill>
                  <a:schemeClr val="accent2"/>
                </a:solidFill>
              </a:rPr>
              <a:t>Random Processes</a:t>
            </a:r>
          </a:p>
          <a:p>
            <a:pPr marL="12700" marR="5080"/>
            <a:r>
              <a:rPr lang="en-US" sz="1200" kern="0" spc="-80" dirty="0">
                <a:solidFill>
                  <a:schemeClr val="accent2"/>
                </a:solidFill>
              </a:rPr>
              <a:t>Queueing Theory</a:t>
            </a:r>
            <a:r>
              <a:rPr lang="en-US" sz="1200" kern="0" spc="-80" dirty="0">
                <a:solidFill>
                  <a:schemeClr val="accent6"/>
                </a:solidFill>
              </a:rPr>
              <a:t>: Modeling waiting times and system capacity.</a:t>
            </a:r>
          </a:p>
          <a:p>
            <a:pPr marL="12700" marR="5080"/>
            <a:r>
              <a:rPr lang="en-US" sz="1200" kern="0" spc="-80" dirty="0">
                <a:solidFill>
                  <a:schemeClr val="accent2"/>
                </a:solidFill>
              </a:rPr>
              <a:t>Signal Processing:</a:t>
            </a:r>
            <a:r>
              <a:rPr lang="en-US" sz="1200" kern="0" spc="-80" dirty="0">
                <a:solidFill>
                  <a:schemeClr val="accent6"/>
                </a:solidFill>
              </a:rPr>
              <a:t> Analyzing and filtering signal</a:t>
            </a:r>
          </a:p>
          <a:p>
            <a:pPr marL="12700" marR="5080"/>
            <a:r>
              <a:rPr lang="en-US" sz="1200" kern="0" spc="-80" dirty="0">
                <a:solidFill>
                  <a:schemeClr val="accent2"/>
                </a:solidFill>
              </a:rPr>
              <a:t>Discrete-time, Continuous-valued:</a:t>
            </a:r>
            <a:r>
              <a:rPr lang="en-US" sz="1200" kern="0" spc="-80" dirty="0">
                <a:solidFill>
                  <a:schemeClr val="accent6"/>
                </a:solidFill>
              </a:rPr>
              <a:t> Time is discrete (e.g., measured at specific intervals), and the process's value can take any value within a range (e.g., the stock price at the end of each day).</a:t>
            </a:r>
          </a:p>
          <a:p>
            <a:pPr marL="12700" marR="5080"/>
            <a:r>
              <a:rPr lang="en-US" sz="1280" kern="0" spc="-80" dirty="0">
                <a:solidFill>
                  <a:schemeClr val="accent2"/>
                </a:solidFill>
                <a:cs typeface="+mn-cs"/>
              </a:rPr>
              <a:t>Discrete-time, Discrete-valued:</a:t>
            </a:r>
            <a:r>
              <a:rPr lang="en-US" sz="1280" kern="0" spc="-80" dirty="0">
                <a:solidFill>
                  <a:schemeClr val="accent6"/>
                </a:solidFill>
                <a:cs typeface="+mn-cs"/>
              </a:rPr>
              <a:t> Both time and the process's value are discrete (e.g., the number of heads in a sequence of coin flips). </a:t>
            </a:r>
          </a:p>
          <a:p>
            <a:pPr marL="12700" marR="5080"/>
            <a:r>
              <a:rPr lang="en-US" sz="1280" kern="0" spc="-80" dirty="0">
                <a:solidFill>
                  <a:schemeClr val="accent2"/>
                </a:solidFill>
                <a:cs typeface="+mn-cs"/>
              </a:rPr>
              <a:t>b)Based on Statistical Properties:</a:t>
            </a:r>
          </a:p>
          <a:p>
            <a:pPr marL="12700" marR="5080"/>
            <a:r>
              <a:rPr lang="en-US" sz="1280" kern="0" spc="-80" dirty="0">
                <a:solidFill>
                  <a:schemeClr val="accent2"/>
                </a:solidFill>
                <a:cs typeface="+mn-cs"/>
              </a:rPr>
              <a:t>Stationary</a:t>
            </a:r>
            <a:r>
              <a:rPr lang="en-US" sz="1280" kern="0" spc="-80" dirty="0">
                <a:solidFill>
                  <a:schemeClr val="accent6"/>
                </a:solidFill>
                <a:cs typeface="+mn-cs"/>
              </a:rPr>
              <a:t>: The statistical properties (like mean and variance) of the process do not change over time.</a:t>
            </a:r>
          </a:p>
          <a:p>
            <a:pPr marL="12700" marR="5080"/>
            <a:r>
              <a:rPr lang="en-US" sz="1280" kern="0" spc="-80" dirty="0">
                <a:solidFill>
                  <a:schemeClr val="accent2"/>
                </a:solidFill>
                <a:cs typeface="+mn-cs"/>
              </a:rPr>
              <a:t>Non-stationary</a:t>
            </a:r>
            <a:r>
              <a:rPr lang="en-US" sz="1280" kern="0" spc="-80" dirty="0">
                <a:solidFill>
                  <a:schemeClr val="accent6"/>
                </a:solidFill>
                <a:cs typeface="+mn-cs"/>
              </a:rPr>
              <a:t>: The statistical properties of the process change over time. </a:t>
            </a:r>
          </a:p>
          <a:p>
            <a:pPr marL="12700" marR="5080"/>
            <a:r>
              <a:rPr lang="en-US" sz="1280" kern="0" spc="-80" dirty="0">
                <a:solidFill>
                  <a:schemeClr val="accent2"/>
                </a:solidFill>
                <a:cs typeface="+mn-cs"/>
              </a:rPr>
              <a:t>Wide-Sense Stationarity</a:t>
            </a:r>
            <a:r>
              <a:rPr lang="en-US" sz="1280" kern="0" spc="-80" dirty="0">
                <a:solidFill>
                  <a:schemeClr val="accent6"/>
                </a:solidFill>
                <a:cs typeface="+mn-cs"/>
              </a:rPr>
              <a:t>: A commonly used concept, where a process is considered stationary if its mean and autocorrelation function are constant over time. </a:t>
            </a:r>
          </a:p>
          <a:p>
            <a:pPr marL="12700" marR="5080"/>
            <a:r>
              <a:rPr lang="en-US" sz="1280" kern="0" spc="-80" dirty="0">
                <a:solidFill>
                  <a:schemeClr val="accent2"/>
                </a:solidFill>
                <a:cs typeface="+mn-cs"/>
              </a:rPr>
              <a:t>c) Based on Memory:</a:t>
            </a:r>
          </a:p>
          <a:p>
            <a:pPr marL="12700" marR="5080"/>
            <a:r>
              <a:rPr lang="en-US" sz="1280" kern="0" spc="-80" dirty="0">
                <a:solidFill>
                  <a:schemeClr val="accent2"/>
                </a:solidFill>
                <a:cs typeface="+mn-cs"/>
              </a:rPr>
              <a:t>Markov Process</a:t>
            </a:r>
            <a:r>
              <a:rPr lang="en-US" sz="1280" kern="0" spc="-80" dirty="0">
                <a:solidFill>
                  <a:schemeClr val="accent6"/>
                </a:solidFill>
                <a:cs typeface="+mn-cs"/>
              </a:rPr>
              <a:t>: The future state of the process depends only on its present state, and not on its past history.</a:t>
            </a:r>
          </a:p>
          <a:p>
            <a:pPr marL="12700" marR="5080"/>
            <a:r>
              <a:rPr lang="en-US" sz="1280" kern="0" spc="-80" dirty="0">
                <a:solidFill>
                  <a:schemeClr val="accent2"/>
                </a:solidFill>
                <a:cs typeface="+mn-cs"/>
              </a:rPr>
              <a:t>Non-Markovian:</a:t>
            </a:r>
            <a:r>
              <a:rPr lang="en-US" sz="1280" kern="0" spc="-80" dirty="0">
                <a:solidFill>
                  <a:schemeClr val="accent6"/>
                </a:solidFill>
                <a:cs typeface="+mn-cs"/>
              </a:rPr>
              <a:t> The future state of the process depends on its past states as well. </a:t>
            </a:r>
          </a:p>
          <a:p>
            <a:pPr marL="12700" marR="5080"/>
            <a:r>
              <a:rPr lang="en-US" sz="1280" kern="0" spc="-80" dirty="0">
                <a:solidFill>
                  <a:schemeClr val="accent2"/>
                </a:solidFill>
                <a:cs typeface="+mn-cs"/>
              </a:rPr>
              <a:t>d) Other Notable Types:</a:t>
            </a:r>
          </a:p>
          <a:p>
            <a:pPr marL="12700" marR="5080"/>
            <a:r>
              <a:rPr lang="en-US" sz="1280" kern="0" spc="-80" dirty="0">
                <a:solidFill>
                  <a:schemeClr val="accent2"/>
                </a:solidFill>
                <a:cs typeface="+mn-cs"/>
              </a:rPr>
              <a:t>Gaussian Process:</a:t>
            </a:r>
            <a:r>
              <a:rPr lang="en-US" sz="1280" kern="0" spc="-80" dirty="0">
                <a:solidFill>
                  <a:schemeClr val="accent6"/>
                </a:solidFill>
                <a:cs typeface="+mn-cs"/>
              </a:rPr>
              <a:t> A process where any finite collection of its values has a multivariate normal distribution.</a:t>
            </a:r>
          </a:p>
          <a:p>
            <a:pPr marL="12700" marR="5080"/>
            <a:r>
              <a:rPr lang="en-US" sz="1280" kern="0" spc="-80" dirty="0">
                <a:solidFill>
                  <a:schemeClr val="accent6"/>
                </a:solidFill>
                <a:cs typeface="+mn-cs"/>
              </a:rPr>
              <a:t>Poisson Process: A process where events occur randomly and independently at a constant rate.</a:t>
            </a:r>
          </a:p>
          <a:p>
            <a:pPr marL="12700" marR="5080"/>
            <a:r>
              <a:rPr lang="en-US" sz="1280" kern="0" spc="-80" dirty="0">
                <a:solidFill>
                  <a:schemeClr val="accent2"/>
                </a:solidFill>
                <a:cs typeface="+mn-cs"/>
              </a:rPr>
              <a:t>White Noise</a:t>
            </a:r>
            <a:r>
              <a:rPr lang="en-US" sz="1280" kern="0" spc="-80" dirty="0">
                <a:solidFill>
                  <a:schemeClr val="accent6"/>
                </a:solidFill>
                <a:cs typeface="+mn-cs"/>
              </a:rPr>
              <a:t>: A random process with a flat power spectral density (meaning equal power across all frequencies)</a:t>
            </a:r>
          </a:p>
          <a:p>
            <a:pPr marL="12700" marR="5080"/>
            <a:r>
              <a:rPr lang="en-US" sz="1280" kern="0" spc="-80" dirty="0">
                <a:solidFill>
                  <a:schemeClr val="accent2"/>
                </a:solidFill>
                <a:cs typeface="+mn-cs"/>
              </a:rPr>
              <a:t>Applications</a:t>
            </a:r>
            <a:r>
              <a:rPr lang="en-US" sz="1280" kern="0" spc="-80" dirty="0">
                <a:solidFill>
                  <a:schemeClr val="accent6"/>
                </a:solidFill>
                <a:cs typeface="+mn-cs"/>
              </a:rPr>
              <a:t>:</a:t>
            </a:r>
          </a:p>
          <a:p>
            <a:pPr marL="12700" marR="5080"/>
            <a:r>
              <a:rPr lang="en-US" sz="1280" kern="0" spc="-80" dirty="0">
                <a:solidFill>
                  <a:schemeClr val="accent2"/>
                </a:solidFill>
                <a:cs typeface="+mn-cs"/>
              </a:rPr>
              <a:t>Communication Engineering:</a:t>
            </a:r>
            <a:r>
              <a:rPr lang="en-US" sz="1280" kern="0" spc="-80" dirty="0">
                <a:solidFill>
                  <a:schemeClr val="accent6"/>
                </a:solidFill>
                <a:cs typeface="+mn-cs"/>
              </a:rPr>
              <a:t> Noise Modeling, Channel Modelling(e.g. for fading/interference), Signal Processing(</a:t>
            </a:r>
            <a:r>
              <a:rPr lang="en-US" sz="1280" kern="0" spc="-80" dirty="0" err="1">
                <a:solidFill>
                  <a:schemeClr val="accent6"/>
                </a:solidFill>
                <a:cs typeface="+mn-cs"/>
              </a:rPr>
              <a:t>noice</a:t>
            </a:r>
            <a:r>
              <a:rPr lang="en-US" sz="1280" kern="0" spc="-80" dirty="0">
                <a:solidFill>
                  <a:schemeClr val="accent6"/>
                </a:solidFill>
                <a:cs typeface="+mn-cs"/>
              </a:rPr>
              <a:t> reduction and signal enhancement), Channel Capacity, Receiver Design etc.</a:t>
            </a:r>
          </a:p>
          <a:p>
            <a:pPr marL="12700" marR="5080"/>
            <a:r>
              <a:rPr lang="en-US" sz="1280" kern="0" spc="-80" dirty="0">
                <a:solidFill>
                  <a:schemeClr val="accent2"/>
                </a:solidFill>
                <a:cs typeface="+mn-cs"/>
              </a:rPr>
              <a:t>Finance</a:t>
            </a:r>
            <a:r>
              <a:rPr lang="en-US" sz="1280" kern="0" spc="-80" dirty="0">
                <a:solidFill>
                  <a:schemeClr val="accent6"/>
                </a:solidFill>
                <a:cs typeface="+mn-cs"/>
              </a:rPr>
              <a:t>: Modeling stock prices, interest rates, and other financial variables.</a:t>
            </a:r>
          </a:p>
        </p:txBody>
      </p:sp>
    </p:spTree>
    <p:extLst>
      <p:ext uri="{BB962C8B-B14F-4D97-AF65-F5344CB8AC3E}">
        <p14:creationId xmlns:p14="http://schemas.microsoft.com/office/powerpoint/2010/main" val="1881834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77DEA-C803-CCDD-A07E-A7F39A9042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33D122-5786-B992-D7FD-22890376DA5F}"/>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25D745-906C-6724-6890-6789D7DC9F41}"/>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2E22F8-4247-0DED-A820-0087739DB15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D9F9483-E9D0-9772-4E79-907CB31D404F}"/>
              </a:ext>
            </a:extLst>
          </p:cNvPr>
          <p:cNvSpPr txBox="1">
            <a:spLocks/>
          </p:cNvSpPr>
          <p:nvPr/>
        </p:nvSpPr>
        <p:spPr>
          <a:xfrm>
            <a:off x="51885" y="1206992"/>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Probability (Theory) is(/can be) used in ML</a:t>
            </a:r>
          </a:p>
          <a:p>
            <a:r>
              <a:rPr lang="en-US" sz="1400" kern="0" spc="-80" dirty="0">
                <a:solidFill>
                  <a:schemeClr val="accent2"/>
                </a:solidFill>
              </a:rPr>
              <a:t>For Further Exploration</a:t>
            </a:r>
          </a:p>
          <a:p>
            <a:r>
              <a:rPr lang="en-IN" sz="1600" dirty="0">
                <a:hlinkClick r:id="rId7"/>
              </a:rPr>
              <a:t>Probability in Maths – </a:t>
            </a:r>
            <a:r>
              <a:rPr lang="en-IN" sz="1600" dirty="0" err="1">
                <a:hlinkClick r:id="rId7"/>
              </a:rPr>
              <a:t>GeeksforGeeks</a:t>
            </a:r>
            <a:endParaRPr lang="en-IN" sz="1600" dirty="0"/>
          </a:p>
          <a:p>
            <a:pPr marL="12700" marR="5080"/>
            <a:r>
              <a:rPr lang="en-US" sz="1600" dirty="0">
                <a:hlinkClick r:id="rId8"/>
              </a:rPr>
              <a:t>Introduction to Probability for Data Science</a:t>
            </a:r>
            <a:endParaRPr lang="en-IN" sz="1600" dirty="0"/>
          </a:p>
          <a:p>
            <a:pPr marL="12700" marR="5080"/>
            <a:r>
              <a:rPr lang="en-US" sz="1600" dirty="0">
                <a:hlinkClick r:id="rId9"/>
              </a:rPr>
              <a:t>Probability, Statistics &amp; Random Processes</a:t>
            </a:r>
            <a:endParaRPr lang="en-US" sz="1600" dirty="0"/>
          </a:p>
          <a:p>
            <a:pPr marL="12700" marR="5080"/>
            <a:r>
              <a:rPr lang="en-US" sz="1600" dirty="0">
                <a:hlinkClick r:id="rId10"/>
              </a:rPr>
              <a:t>Estimating Probabilities from Data – YouTube</a:t>
            </a:r>
            <a:endParaRPr lang="en-US" sz="1600" dirty="0"/>
          </a:p>
          <a:p>
            <a:pPr marL="12700" marR="5080"/>
            <a:r>
              <a:rPr lang="en-US" sz="1600" dirty="0">
                <a:hlinkClick r:id="rId11"/>
              </a:rPr>
              <a:t>Bayesian Statistics the Fun Way: Dominate Data with </a:t>
            </a:r>
            <a:r>
              <a:rPr lang="en-US" sz="1600" dirty="0" err="1">
                <a:hlinkClick r:id="rId11"/>
              </a:rPr>
              <a:t>Humour</a:t>
            </a:r>
            <a:endParaRPr lang="en-US" sz="1600" dirty="0"/>
          </a:p>
          <a:p>
            <a:pPr marL="12700" marR="5080"/>
            <a:r>
              <a:rPr lang="en-US" sz="1600" dirty="0">
                <a:hlinkClick r:id="rId12"/>
              </a:rPr>
              <a:t>Probability: For the Enthusiastic Beginner</a:t>
            </a:r>
            <a:endParaRPr lang="en-US" sz="1600" dirty="0"/>
          </a:p>
          <a:p>
            <a:pPr marL="12700" marR="5080"/>
            <a:r>
              <a:rPr lang="en-US" sz="1600" dirty="0">
                <a:hlinkClick r:id="rId13"/>
              </a:rPr>
              <a:t>Statistical Rethinking: A Bayesian Course with Examples in R | Review 📈</a:t>
            </a:r>
            <a:endParaRPr lang="en-US" sz="1600" dirty="0"/>
          </a:p>
          <a:p>
            <a:pPr marL="12700" marR="5080"/>
            <a:r>
              <a:rPr lang="en-US" sz="1600" dirty="0">
                <a:hlinkClick r:id="rId14"/>
              </a:rPr>
              <a:t>Bayesian versus Frequentist solutions to the Monty Hall Problem</a:t>
            </a:r>
            <a:endParaRPr lang="en-US" sz="1600" dirty="0"/>
          </a:p>
          <a:p>
            <a:pPr marL="12700" marR="5080"/>
            <a:r>
              <a:rPr lang="en-US" sz="1600" dirty="0">
                <a:hlinkClick r:id="rId15"/>
              </a:rPr>
              <a:t>Frequentist v/s Bayesian Statistics </a:t>
            </a:r>
            <a:endParaRPr lang="en-US" sz="1600" dirty="0"/>
          </a:p>
          <a:p>
            <a:pPr marL="12700" marR="5080"/>
            <a:r>
              <a:rPr lang="en-US" sz="1600" dirty="0">
                <a:hlinkClick r:id="rId16"/>
              </a:rPr>
              <a:t>Learning Probabilistic Graphical Models in R</a:t>
            </a:r>
            <a:endParaRPr lang="en-US" sz="1600" dirty="0"/>
          </a:p>
          <a:p>
            <a:pPr marL="12700" marR="5080"/>
            <a:r>
              <a:rPr lang="en-US" sz="1600" dirty="0">
                <a:hlinkClick r:id="rId17"/>
              </a:rPr>
              <a:t>Mastering Probabilistic Graphical Models with Python</a:t>
            </a:r>
            <a:endParaRPr lang="en-US" sz="1600" dirty="0"/>
          </a:p>
          <a:p>
            <a:pPr marL="12700" marR="5080"/>
            <a:r>
              <a:rPr lang="en-IN" sz="1600" dirty="0">
                <a:hlinkClick r:id="rId18"/>
              </a:rPr>
              <a:t>Practical Probabilistic Programming</a:t>
            </a:r>
            <a:endParaRPr lang="en-IN" sz="1600" dirty="0"/>
          </a:p>
          <a:p>
            <a:pPr marL="12700" marR="5080"/>
            <a:r>
              <a:rPr lang="en-US" sz="1600" dirty="0">
                <a:hlinkClick r:id="rId19"/>
              </a:rPr>
              <a:t>Probability Models for Computer Science</a:t>
            </a:r>
            <a:endParaRPr lang="en-US" sz="1600" dirty="0"/>
          </a:p>
          <a:p>
            <a:pPr marL="12700" marR="5080"/>
            <a:r>
              <a:rPr lang="en-IN" sz="1600" dirty="0">
                <a:hlinkClick r:id="rId20"/>
              </a:rPr>
              <a:t>Stochastic process – Wikipedia</a:t>
            </a:r>
            <a:endParaRPr lang="en-IN" sz="1600" dirty="0"/>
          </a:p>
          <a:p>
            <a:pPr marL="12700" marR="5080"/>
            <a:r>
              <a:rPr lang="en-IN" sz="1600" dirty="0">
                <a:hlinkClick r:id="rId21"/>
              </a:rPr>
              <a:t>Probability axioms - Wikipedia</a:t>
            </a:r>
            <a:endParaRPr lang="en-IN" sz="1600" dirty="0"/>
          </a:p>
          <a:p>
            <a:pPr marL="12700" marR="5080"/>
            <a:r>
              <a:rPr lang="en-US" sz="1600" dirty="0">
                <a:hlinkClick r:id="rId22"/>
              </a:rPr>
              <a:t>A User's Guide to Measure Theoretic Probability</a:t>
            </a:r>
            <a:endParaRPr lang="en-US" sz="1600" dirty="0"/>
          </a:p>
          <a:p>
            <a:pPr marL="12700" marR="5080"/>
            <a:endParaRPr lang="en-IN" sz="1600" dirty="0"/>
          </a:p>
          <a:p>
            <a:pPr marL="12700" marR="5080"/>
            <a:endParaRPr lang="en-US" sz="1600" kern="0" spc="-80" dirty="0">
              <a:solidFill>
                <a:schemeClr val="accent6"/>
              </a:solidFill>
            </a:endParaRPr>
          </a:p>
          <a:p>
            <a:pPr marL="12700" marR="5080"/>
            <a:endParaRPr lang="en-US" sz="1600" dirty="0"/>
          </a:p>
          <a:p>
            <a:pPr marL="12700" marR="5080"/>
            <a:endParaRPr lang="en-US" sz="1500" kern="0" spc="-80" dirty="0">
              <a:solidFill>
                <a:schemeClr val="accent2"/>
              </a:solidFill>
            </a:endParaRPr>
          </a:p>
        </p:txBody>
      </p:sp>
    </p:spTree>
    <p:extLst>
      <p:ext uri="{BB962C8B-B14F-4D97-AF65-F5344CB8AC3E}">
        <p14:creationId xmlns:p14="http://schemas.microsoft.com/office/powerpoint/2010/main" val="975150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B3873-099F-8B4B-BBEC-99109330961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41286EF-E11B-B86C-7DF8-C11571710939}"/>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845117A-2EBC-BEC1-78BD-BC0571D8F6A4}"/>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BBD71C-527E-B0DB-281A-4060A05C07C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3DDD36E-F3D6-1EA9-F604-D94F1061D7C1}"/>
              </a:ext>
            </a:extLst>
          </p:cNvPr>
          <p:cNvSpPr txBox="1">
            <a:spLocks/>
          </p:cNvSpPr>
          <p:nvPr/>
        </p:nvSpPr>
        <p:spPr>
          <a:xfrm>
            <a:off x="51885" y="1206992"/>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Statistics is(/can be) used in ML</a:t>
            </a:r>
          </a:p>
          <a:p>
            <a:r>
              <a:rPr lang="en-US" sz="1400" kern="0" spc="-80" dirty="0">
                <a:solidFill>
                  <a:schemeClr val="accent6"/>
                </a:solidFill>
              </a:rPr>
              <a:t>Statistics is a foundational discipline that is critical throughout the entire ML pipeline, including data preparation, model development, and validation. </a:t>
            </a:r>
          </a:p>
          <a:p>
            <a:r>
              <a:rPr lang="en-US" sz="1400" kern="0" spc="-80" dirty="0">
                <a:solidFill>
                  <a:schemeClr val="accent2"/>
                </a:solidFill>
              </a:rPr>
              <a:t>Essential uses of statistics in ML</a:t>
            </a:r>
          </a:p>
          <a:p>
            <a:r>
              <a:rPr lang="en-US" sz="1400" kern="0" spc="-80" dirty="0">
                <a:solidFill>
                  <a:schemeClr val="accent2"/>
                </a:solidFill>
              </a:rPr>
              <a:t>Data exploration and preparation </a:t>
            </a:r>
          </a:p>
          <a:p>
            <a:r>
              <a:rPr lang="en-US" sz="1400" kern="0" spc="-80" dirty="0">
                <a:solidFill>
                  <a:schemeClr val="accent2"/>
                </a:solidFill>
              </a:rPr>
              <a:t>Descriptive statistics: </a:t>
            </a:r>
            <a:r>
              <a:rPr lang="en-US" sz="1400" kern="0" spc="-80" dirty="0">
                <a:solidFill>
                  <a:schemeClr val="accent6"/>
                </a:solidFill>
              </a:rPr>
              <a:t>These summarize and organize data to help you understand its characteristics. Examples include calculating the mean, median, and mode (central tendency) and variance and standard deviation (data spread). </a:t>
            </a:r>
          </a:p>
          <a:p>
            <a:r>
              <a:rPr lang="en-US" sz="1400" kern="0" spc="-80" dirty="0">
                <a:solidFill>
                  <a:schemeClr val="accent2"/>
                </a:solidFill>
              </a:rPr>
              <a:t>Data visualization:</a:t>
            </a:r>
            <a:r>
              <a:rPr lang="en-US" sz="1400" kern="0" spc="-80" dirty="0">
                <a:solidFill>
                  <a:schemeClr val="accent6"/>
                </a:solidFill>
              </a:rPr>
              <a:t> Statistical plots like histograms, box plots, and scatter plots reveal the underlying patterns, distributions, and relationships between variables. This helps identify outliers and guide preprocessing steps like scaling and normalization.</a:t>
            </a:r>
          </a:p>
          <a:p>
            <a:r>
              <a:rPr lang="en-US" sz="1400" kern="0" spc="-80" dirty="0">
                <a:solidFill>
                  <a:schemeClr val="accent2"/>
                </a:solidFill>
              </a:rPr>
              <a:t>Model development and training Algorithm foundation:</a:t>
            </a:r>
            <a:r>
              <a:rPr lang="en-US" sz="1400" kern="0" spc="-80" dirty="0">
                <a:solidFill>
                  <a:schemeClr val="accent6"/>
                </a:solidFill>
              </a:rPr>
              <a:t> Many classic ML algorithms, such as linear and logistic regression, are rooted in statistical methods. Probabilistic models like Naive Bayes are based directly on statistical probability theory. </a:t>
            </a:r>
          </a:p>
          <a:p>
            <a:r>
              <a:rPr lang="en-US" sz="1400" kern="0" spc="-80" dirty="0">
                <a:solidFill>
                  <a:schemeClr val="accent2"/>
                </a:solidFill>
              </a:rPr>
              <a:t>Feature engineering:</a:t>
            </a:r>
            <a:r>
              <a:rPr lang="en-US" sz="1400" kern="0" spc="-80" dirty="0">
                <a:solidFill>
                  <a:schemeClr val="accent6"/>
                </a:solidFill>
              </a:rPr>
              <a:t> Statistical techniques like correlation analysis and Chi-Squared tests help identify the most important features for a model. Principal Component Analysis (PCA) uses statistical methods to reduce dimensionality while preserving key information. </a:t>
            </a:r>
          </a:p>
          <a:p>
            <a:r>
              <a:rPr lang="en-US" sz="1400" kern="0" spc="-80" dirty="0">
                <a:solidFill>
                  <a:schemeClr val="accent2"/>
                </a:solidFill>
              </a:rPr>
              <a:t>Bias-variance tradeoff:</a:t>
            </a:r>
            <a:r>
              <a:rPr lang="en-US" sz="1400" kern="0" spc="-80" dirty="0">
                <a:solidFill>
                  <a:schemeClr val="accent6"/>
                </a:solidFill>
              </a:rPr>
              <a:t> This central concept in ML is a statistical framework for understanding a model's complexity. A high-bias model is too simple and underfits the data, while a high-variance model is too complex and overfits it. Regularization methods like LASSO and Ridge Regression are statistical techniques used to manage this tradeoff. </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121865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68896-9E4A-6D6B-6358-A16D3C2C92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30805A-AA9D-276E-28B3-CE7E20413B23}"/>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0CD24F-4A27-C44C-5D6E-A57954AF6EEC}"/>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227AAC1-A924-DA0A-F686-A1708B75705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5D7EE0E-7548-E5A4-C8CB-B44328EA811B}"/>
              </a:ext>
            </a:extLst>
          </p:cNvPr>
          <p:cNvSpPr txBox="1">
            <a:spLocks/>
          </p:cNvSpPr>
          <p:nvPr/>
        </p:nvSpPr>
        <p:spPr>
          <a:xfrm>
            <a:off x="51885" y="1206992"/>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Statistics is(/can be) used in ML</a:t>
            </a:r>
          </a:p>
          <a:p>
            <a:r>
              <a:rPr lang="en-US" sz="1400" kern="0" spc="-80" dirty="0">
                <a:solidFill>
                  <a:schemeClr val="accent2"/>
                </a:solidFill>
              </a:rPr>
              <a:t>Bayesian inference: </a:t>
            </a:r>
            <a:r>
              <a:rPr lang="en-US" sz="1400" kern="0" spc="-80" dirty="0">
                <a:solidFill>
                  <a:schemeClr val="accent6"/>
                </a:solidFill>
              </a:rPr>
              <a:t>This probabilistic statistical approach incorporates prior knowledge to update the probability of a hypothesis as new evidence becomes available. It is used in ML for parameter estimation and robust decision-making under uncertainty.</a:t>
            </a:r>
          </a:p>
          <a:p>
            <a:r>
              <a:rPr lang="en-US" sz="1400" kern="0" spc="-80" dirty="0">
                <a:solidFill>
                  <a:schemeClr val="accent2"/>
                </a:solidFill>
              </a:rPr>
              <a:t>Model evaluation and validation Performance metrics: </a:t>
            </a:r>
            <a:r>
              <a:rPr lang="en-US" sz="1400" kern="0" spc="-80" dirty="0">
                <a:solidFill>
                  <a:schemeClr val="accent6"/>
                </a:solidFill>
              </a:rPr>
              <a:t> For regression, statistical metrics include Mean Squared Error (MSE), Root Mean Squared Error (RMSE), and R-squared. For classification, metrics derived from the confusion matrix, like precision, recall, F1-score, and ROC-AUC, are used. </a:t>
            </a:r>
          </a:p>
          <a:p>
            <a:r>
              <a:rPr lang="en-US" sz="1400" kern="0" spc="-80" dirty="0">
                <a:solidFill>
                  <a:schemeClr val="accent2"/>
                </a:solidFill>
              </a:rPr>
              <a:t>Hypothesis testing: </a:t>
            </a:r>
            <a:r>
              <a:rPr lang="en-US" sz="1400" kern="0" spc="-80" dirty="0">
                <a:solidFill>
                  <a:schemeClr val="accent6"/>
                </a:solidFill>
              </a:rPr>
              <a:t>Statistical tests like A/B testing can be used to compare the performance of different models or to ensure a model's predictive power is not simply due to chance. </a:t>
            </a:r>
          </a:p>
          <a:p>
            <a:r>
              <a:rPr lang="en-US" sz="1400" kern="0" spc="-80" dirty="0">
                <a:solidFill>
                  <a:schemeClr val="accent2"/>
                </a:solidFill>
              </a:rPr>
              <a:t>Confidence intervals: </a:t>
            </a:r>
            <a:r>
              <a:rPr lang="en-US" sz="1400" kern="0" spc="-80" dirty="0">
                <a:solidFill>
                  <a:schemeClr val="accent6"/>
                </a:solidFill>
              </a:rPr>
              <a:t>These provide a range of values to quantify the uncertainty in a model's estimated performance, such as classification accuracy. </a:t>
            </a:r>
          </a:p>
          <a:p>
            <a:r>
              <a:rPr lang="en-US" sz="1400" kern="0" spc="-80" dirty="0">
                <a:solidFill>
                  <a:schemeClr val="accent6"/>
                </a:solidFill>
              </a:rPr>
              <a:t>In summary, statistics is the foundational framework for building, training, and validating ML models, making its role far broader than just performance evaluation.</a:t>
            </a:r>
          </a:p>
          <a:p>
            <a:endParaRPr lang="en-US" sz="1400" kern="0" spc="-80" dirty="0">
              <a:solidFill>
                <a:schemeClr val="accent6"/>
              </a:solidFill>
            </a:endParaRPr>
          </a:p>
          <a:p>
            <a:pPr marL="12700" marR="5080"/>
            <a:r>
              <a:rPr lang="en-US" sz="1600" dirty="0">
                <a:solidFill>
                  <a:schemeClr val="accent2"/>
                </a:solidFill>
              </a:rPr>
              <a:t>Estimation Theory</a:t>
            </a:r>
          </a:p>
          <a:p>
            <a:pPr marL="12700" marR="5080"/>
            <a:r>
              <a:rPr lang="en-US" sz="1400" kern="0" spc="-80" dirty="0">
                <a:solidFill>
                  <a:schemeClr val="accent6"/>
                </a:solidFill>
              </a:rPr>
              <a:t>Estimation theory is a branch of statistics that focuses on determining the values of unknown parameters in a statistical model based on observed data. It involves using sample data to estimate the values of population parameters, like the mean or variance. These estimates can be point estimates (single values) or interval estimates (a range of values). </a:t>
            </a:r>
          </a:p>
          <a:p>
            <a:pPr marL="12700" marR="5080"/>
            <a:r>
              <a:rPr lang="en-US" sz="1400" kern="0" spc="-80" dirty="0">
                <a:solidFill>
                  <a:schemeClr val="accent2"/>
                </a:solidFill>
              </a:rPr>
              <a:t>Key Concepts:</a:t>
            </a:r>
          </a:p>
          <a:p>
            <a:pPr marL="12700" marR="5080"/>
            <a:r>
              <a:rPr lang="en-US" sz="1400" kern="0" spc="-80" dirty="0">
                <a:solidFill>
                  <a:schemeClr val="accent2"/>
                </a:solidFill>
              </a:rPr>
              <a:t>Estimator</a:t>
            </a:r>
            <a:r>
              <a:rPr lang="en-US" sz="1400" kern="0" spc="-80" dirty="0">
                <a:solidFill>
                  <a:schemeClr val="accent6"/>
                </a:solidFill>
              </a:rPr>
              <a:t>: A rule or formula that uses sample data to calculate a single value (point estimate) or a range of values (interval estimate) for an unknown population parameter. </a:t>
            </a:r>
          </a:p>
          <a:p>
            <a:endParaRPr lang="en-US" sz="1400" kern="0" spc="-80" dirty="0">
              <a:solidFill>
                <a:schemeClr val="accent6"/>
              </a:solidFill>
            </a:endParaRPr>
          </a:p>
          <a:p>
            <a:endParaRPr lang="en-US" sz="1400" kern="0" spc="-80" dirty="0">
              <a:solidFill>
                <a:schemeClr val="accent6"/>
              </a:solidFill>
            </a:endParaRPr>
          </a:p>
          <a:p>
            <a:endParaRPr lang="en-US" sz="1400" kern="0" spc="-80" dirty="0">
              <a:solidFill>
                <a:schemeClr val="accent2"/>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51701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13A2-EA33-027E-4C6E-C67EBED92F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0088EB-9C93-F4F8-C367-C76ED3D61A2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AC94FED-8DB6-04A5-354D-79EA0DD0E8F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F9244EA-205D-FAA2-7625-3B7B43239EF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5E3B981-D99D-2BA8-A636-EE4F7ADC86D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2AC846C-910B-A7AE-A2C4-333E0338BDAF}"/>
              </a:ext>
            </a:extLst>
          </p:cNvPr>
          <p:cNvSpPr txBox="1">
            <a:spLocks/>
          </p:cNvSpPr>
          <p:nvPr/>
        </p:nvSpPr>
        <p:spPr>
          <a:xfrm>
            <a:off x="-6986" y="1311359"/>
            <a:ext cx="8624937" cy="338554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b="0" dirty="0">
                <a:solidFill>
                  <a:srgbClr val="1F2328"/>
                </a:solidFill>
                <a:latin typeface="-apple-system"/>
              </a:rPr>
              <a:t> </a:t>
            </a:r>
            <a:r>
              <a:rPr lang="en-US" sz="1400" kern="0" spc="-80" dirty="0">
                <a:solidFill>
                  <a:schemeClr val="accent2"/>
                </a:solidFill>
              </a:rPr>
              <a:t>How Statistics is(/can be) used in ML</a:t>
            </a:r>
          </a:p>
          <a:p>
            <a:pPr marL="12700" marR="5080"/>
            <a:r>
              <a:rPr lang="en-US" sz="1400" kern="0" spc="-80" dirty="0">
                <a:solidFill>
                  <a:schemeClr val="accent2"/>
                </a:solidFill>
              </a:rPr>
              <a:t>Estimation Theory</a:t>
            </a:r>
          </a:p>
          <a:p>
            <a:pPr marL="12700" marR="5080"/>
            <a:r>
              <a:rPr lang="en-US" sz="1400" kern="0" spc="-80" dirty="0">
                <a:solidFill>
                  <a:schemeClr val="accent2"/>
                </a:solidFill>
              </a:rPr>
              <a:t>Estimate</a:t>
            </a:r>
            <a:r>
              <a:rPr lang="en-US" sz="1400" kern="0" spc="-80" dirty="0">
                <a:solidFill>
                  <a:schemeClr val="accent6"/>
                </a:solidFill>
              </a:rPr>
              <a:t>: The specific value or range calculated by the estimator. </a:t>
            </a:r>
          </a:p>
          <a:p>
            <a:pPr marL="12700" marR="5080"/>
            <a:r>
              <a:rPr lang="en-US" sz="1400" kern="0" spc="-80" dirty="0">
                <a:solidFill>
                  <a:schemeClr val="accent2"/>
                </a:solidFill>
              </a:rPr>
              <a:t>Population Paramete</a:t>
            </a:r>
            <a:r>
              <a:rPr lang="en-US" sz="1400" kern="0" spc="-80" dirty="0">
                <a:solidFill>
                  <a:schemeClr val="accent6"/>
                </a:solidFill>
              </a:rPr>
              <a:t>r: A numerical characteristic of the entire population, such as the population mean or standard deviation. </a:t>
            </a:r>
          </a:p>
          <a:p>
            <a:pPr marL="12700" marR="5080"/>
            <a:r>
              <a:rPr lang="en-US" sz="1250" kern="0" spc="-80" dirty="0">
                <a:solidFill>
                  <a:schemeClr val="accent2"/>
                </a:solidFill>
                <a:cs typeface="+mn-cs"/>
              </a:rPr>
              <a:t>Sample Statistic</a:t>
            </a:r>
            <a:r>
              <a:rPr lang="en-US" sz="1250" kern="0" spc="-80" dirty="0">
                <a:solidFill>
                  <a:schemeClr val="accent6"/>
                </a:solidFill>
                <a:cs typeface="+mn-cs"/>
              </a:rPr>
              <a:t>: A numerical characteristic of the sample, such as the sample mean or standard deviation, used to estimate the population parameter. </a:t>
            </a:r>
          </a:p>
          <a:p>
            <a:pPr marL="12700" marR="5080"/>
            <a:r>
              <a:rPr lang="en-US" sz="1250" kern="0" spc="-80" dirty="0">
                <a:solidFill>
                  <a:schemeClr val="accent2"/>
                </a:solidFill>
                <a:cs typeface="+mn-cs"/>
              </a:rPr>
              <a:t>Point Estimation</a:t>
            </a:r>
            <a:r>
              <a:rPr lang="en-US" sz="1250" kern="0" spc="-80" dirty="0">
                <a:solidFill>
                  <a:schemeClr val="accent6"/>
                </a:solidFill>
                <a:cs typeface="+mn-cs"/>
              </a:rPr>
              <a:t>: Using a single value from the sample data to estimate the population parameter. </a:t>
            </a:r>
          </a:p>
          <a:p>
            <a:pPr marL="12700" marR="5080"/>
            <a:r>
              <a:rPr lang="en-US" sz="1250" kern="0" spc="-80" dirty="0">
                <a:solidFill>
                  <a:schemeClr val="accent2"/>
                </a:solidFill>
                <a:cs typeface="+mn-cs"/>
              </a:rPr>
              <a:t>Interval Estimation</a:t>
            </a:r>
            <a:r>
              <a:rPr lang="en-US" sz="1250" kern="0" spc="-80" dirty="0">
                <a:solidFill>
                  <a:schemeClr val="accent6"/>
                </a:solidFill>
                <a:cs typeface="+mn-cs"/>
              </a:rPr>
              <a:t>: Providing a range of values within which the true population parameter is likely to fall, along with a confidence level. </a:t>
            </a:r>
          </a:p>
          <a:p>
            <a:pPr marL="12700" marR="5080"/>
            <a:r>
              <a:rPr lang="en-US" sz="1250" kern="0" spc="-80" dirty="0">
                <a:solidFill>
                  <a:schemeClr val="accent2"/>
                </a:solidFill>
                <a:cs typeface="+mn-cs"/>
              </a:rPr>
              <a:t>Confidence Interval</a:t>
            </a:r>
            <a:r>
              <a:rPr lang="en-US" sz="1250" kern="0" spc="-80" dirty="0">
                <a:solidFill>
                  <a:schemeClr val="accent6"/>
                </a:solidFill>
                <a:cs typeface="+mn-cs"/>
              </a:rPr>
              <a:t>: An interval estimate that provides a range of values within which the population parameter is likely to lie, along with a specified level of confidence (e.g., 95%). </a:t>
            </a:r>
          </a:p>
          <a:p>
            <a:pPr marL="12700" marR="5080"/>
            <a:r>
              <a:rPr lang="en-US" sz="1250" kern="0" spc="-80" dirty="0">
                <a:solidFill>
                  <a:schemeClr val="accent2"/>
                </a:solidFill>
                <a:cs typeface="+mn-cs"/>
              </a:rPr>
              <a:t>Bias</a:t>
            </a:r>
            <a:r>
              <a:rPr lang="en-US" sz="1250" kern="0" spc="-80" dirty="0">
                <a:solidFill>
                  <a:schemeClr val="accent6"/>
                </a:solidFill>
                <a:cs typeface="+mn-cs"/>
              </a:rPr>
              <a:t>: The systematic difference between the expected value of an estimator and the true value of the parameter being estimated. An unbiased estimator has an expected value that equals the true parameter value. </a:t>
            </a:r>
          </a:p>
          <a:p>
            <a:pPr marL="12700" marR="5080"/>
            <a:r>
              <a:rPr lang="en-US" sz="1250" kern="0" spc="-80" dirty="0">
                <a:solidFill>
                  <a:schemeClr val="accent2"/>
                </a:solidFill>
                <a:cs typeface="+mn-cs"/>
              </a:rPr>
              <a:t>Consistency</a:t>
            </a:r>
            <a:r>
              <a:rPr lang="en-US" sz="1250" kern="0" spc="-80" dirty="0">
                <a:solidFill>
                  <a:schemeClr val="accent6"/>
                </a:solidFill>
                <a:cs typeface="+mn-cs"/>
              </a:rPr>
              <a:t>: A property of an estimator where its accuracy increases as the sample size grows. </a:t>
            </a:r>
          </a:p>
          <a:p>
            <a:pPr marL="12700" marR="5080"/>
            <a:r>
              <a:rPr lang="en-US" sz="1250" kern="0" spc="-80" dirty="0">
                <a:solidFill>
                  <a:schemeClr val="accent2"/>
                </a:solidFill>
                <a:cs typeface="+mn-cs"/>
              </a:rPr>
              <a:t>Efficiency</a:t>
            </a:r>
            <a:r>
              <a:rPr lang="en-US" sz="1250" kern="0" spc="-80" dirty="0">
                <a:solidFill>
                  <a:schemeClr val="accent6"/>
                </a:solidFill>
                <a:cs typeface="+mn-cs"/>
              </a:rPr>
              <a:t>: A property of an estimator where it has the smallest variance among all unbiased estimators. </a:t>
            </a:r>
          </a:p>
          <a:p>
            <a:pPr marL="12700" marR="5080"/>
            <a:endParaRPr lang="en-US" sz="1250" kern="0" spc="-80" dirty="0">
              <a:solidFill>
                <a:schemeClr val="accent6"/>
              </a:solidFill>
              <a:cs typeface="+mn-cs"/>
            </a:endParaRPr>
          </a:p>
        </p:txBody>
      </p:sp>
    </p:spTree>
    <p:extLst>
      <p:ext uri="{BB962C8B-B14F-4D97-AF65-F5344CB8AC3E}">
        <p14:creationId xmlns:p14="http://schemas.microsoft.com/office/powerpoint/2010/main" val="1647710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309AE-6C30-81B0-4244-4FF792B21C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B8E5FD-CB2F-141C-98D3-4E09B9E2CF16}"/>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9EE844C-6B76-0CA5-879D-70A26C5464CF}"/>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68FE31-D0ED-BF3D-3125-78DD0CC7ADA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D1A037D-459E-DF37-AD3A-D652D657BC12}"/>
              </a:ext>
            </a:extLst>
          </p:cNvPr>
          <p:cNvSpPr txBox="1">
            <a:spLocks/>
          </p:cNvSpPr>
          <p:nvPr/>
        </p:nvSpPr>
        <p:spPr>
          <a:xfrm>
            <a:off x="51885" y="1206992"/>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Statistics is(/can be) used in ML</a:t>
            </a:r>
          </a:p>
          <a:p>
            <a:r>
              <a:rPr lang="en-US" sz="1400" kern="0" spc="-80" dirty="0">
                <a:solidFill>
                  <a:schemeClr val="accent2"/>
                </a:solidFill>
              </a:rPr>
              <a:t>For Further Exploration</a:t>
            </a:r>
          </a:p>
          <a:p>
            <a:r>
              <a:rPr lang="en-IN" sz="1400" dirty="0">
                <a:hlinkClick r:id="rId7"/>
              </a:rPr>
              <a:t>Statistics in Maths – </a:t>
            </a:r>
            <a:r>
              <a:rPr lang="en-IN" sz="1400" dirty="0" err="1">
                <a:hlinkClick r:id="rId7"/>
              </a:rPr>
              <a:t>GeeksforGeeks</a:t>
            </a:r>
            <a:endParaRPr lang="en-IN" sz="1400" dirty="0"/>
          </a:p>
          <a:p>
            <a:r>
              <a:rPr lang="en-IN" sz="1400" dirty="0">
                <a:hlinkClick r:id="rId8"/>
              </a:rPr>
              <a:t>Modern Statistics: Intuition, Math, Python, R </a:t>
            </a:r>
            <a:endParaRPr lang="en-IN" sz="1400" dirty="0"/>
          </a:p>
          <a:p>
            <a:r>
              <a:rPr lang="en-US" sz="1400" dirty="0">
                <a:hlinkClick r:id="rId9"/>
              </a:rPr>
              <a:t>Naked Statistics Review</a:t>
            </a:r>
            <a:endParaRPr lang="en-US" sz="1400" dirty="0"/>
          </a:p>
          <a:p>
            <a:r>
              <a:rPr lang="en-US" sz="1400" dirty="0">
                <a:hlinkClick r:id="rId10"/>
              </a:rPr>
              <a:t>Head First Statistics: A Brain-Friendly Guide</a:t>
            </a:r>
            <a:endParaRPr lang="en-US" sz="1400" dirty="0"/>
          </a:p>
          <a:p>
            <a:r>
              <a:rPr lang="en-US" sz="1400" dirty="0">
                <a:hlinkClick r:id="rId11"/>
              </a:rPr>
              <a:t>Buy Statistics Essentials For Dummies </a:t>
            </a:r>
            <a:endParaRPr lang="en-US" sz="1400" dirty="0"/>
          </a:p>
          <a:p>
            <a:r>
              <a:rPr lang="en-US" sz="1400" dirty="0">
                <a:hlinkClick r:id="rId12"/>
              </a:rPr>
              <a:t>The Signal and the Noise - Wikipedia</a:t>
            </a:r>
            <a:endParaRPr lang="en-US" sz="1400" dirty="0"/>
          </a:p>
          <a:p>
            <a:r>
              <a:rPr lang="en-IN" sz="1400" dirty="0">
                <a:hlinkClick r:id="rId13"/>
              </a:rPr>
              <a:t>Statistics Done Wrong</a:t>
            </a:r>
            <a:endParaRPr lang="en-IN" sz="1400" dirty="0"/>
          </a:p>
          <a:p>
            <a:r>
              <a:rPr lang="en-US" sz="1400" dirty="0">
                <a:hlinkClick r:id="rId14"/>
              </a:rPr>
              <a:t>How Not to Be Wrong – Wikipedia</a:t>
            </a:r>
            <a:endParaRPr lang="en-US" sz="1400" dirty="0"/>
          </a:p>
          <a:p>
            <a:r>
              <a:rPr lang="en-US" sz="1400" dirty="0">
                <a:hlinkClick r:id="rId15"/>
              </a:rPr>
              <a:t>The Art of Statistics Review - How to Learn Machine Learning</a:t>
            </a:r>
            <a:endParaRPr lang="en-US" sz="1400" dirty="0"/>
          </a:p>
          <a:p>
            <a:r>
              <a:rPr lang="en-US" sz="1400" dirty="0">
                <a:hlinkClick r:id="rId16"/>
              </a:rPr>
              <a:t>Salmon Run: Book Review: Statistics every Programmer Needs</a:t>
            </a:r>
            <a:endParaRPr lang="en-US" sz="1400" dirty="0"/>
          </a:p>
          <a:p>
            <a:pPr marL="12700" marR="5080"/>
            <a:r>
              <a:rPr lang="en-US" sz="1400" dirty="0">
                <a:hlinkClick r:id="rId17"/>
              </a:rPr>
              <a:t>All-Of-Statistics: Self-study on Larry Wasserman's "All of Statistics“</a:t>
            </a:r>
            <a:endParaRPr lang="en-US" sz="1400" dirty="0"/>
          </a:p>
          <a:p>
            <a:pPr marL="12700" marR="5080"/>
            <a:r>
              <a:rPr lang="en-IN" sz="1400" dirty="0">
                <a:hlinkClick r:id="rId18"/>
              </a:rPr>
              <a:t>All of Nonparametric Statistics</a:t>
            </a:r>
            <a:endParaRPr lang="en-IN" sz="1400" dirty="0"/>
          </a:p>
          <a:p>
            <a:r>
              <a:rPr lang="en-US" sz="1400" dirty="0">
                <a:hlinkClick r:id="rId19"/>
              </a:rPr>
              <a:t>P-Value: Comprehensive Guide to Understand, Apply, and Interpret – </a:t>
            </a:r>
            <a:r>
              <a:rPr lang="en-US" sz="1400" dirty="0" err="1">
                <a:hlinkClick r:id="rId19"/>
              </a:rPr>
              <a:t>GeeksforGeeks</a:t>
            </a:r>
            <a:endParaRPr lang="en-US" sz="1400" dirty="0"/>
          </a:p>
          <a:p>
            <a:r>
              <a:rPr lang="en-IN" sz="1400" dirty="0">
                <a:hlinkClick r:id="rId20"/>
              </a:rPr>
              <a:t>Confidence Interval - </a:t>
            </a:r>
            <a:r>
              <a:rPr lang="en-IN" sz="1400" dirty="0" err="1">
                <a:hlinkClick r:id="rId20"/>
              </a:rPr>
              <a:t>GeeksforGeeks</a:t>
            </a:r>
            <a:endParaRPr lang="en-IN" sz="1400" dirty="0"/>
          </a:p>
          <a:p>
            <a:pPr marL="12700" marR="5080"/>
            <a:r>
              <a:rPr lang="en-IN" sz="1400" dirty="0">
                <a:hlinkClick r:id="rId21"/>
              </a:rPr>
              <a:t>Law of Large Numbers &amp; Central Limit Theorem</a:t>
            </a:r>
            <a:endParaRPr lang="en-IN" sz="1400" dirty="0"/>
          </a:p>
          <a:p>
            <a:pPr marL="12700" marR="5080"/>
            <a:r>
              <a:rPr lang="en-IN" sz="1400" dirty="0">
                <a:hlinkClick r:id="rId22"/>
              </a:rPr>
              <a:t>AI and Data Scientist Roadmap</a:t>
            </a:r>
            <a:r>
              <a:rPr lang="en-IN" sz="1400" dirty="0"/>
              <a:t>(</a:t>
            </a:r>
            <a:r>
              <a:rPr lang="en-IN" sz="1400" kern="0" spc="-80" dirty="0">
                <a:solidFill>
                  <a:schemeClr val="accent6"/>
                </a:solidFill>
              </a:rPr>
              <a:t>Check the Statistics section</a:t>
            </a:r>
            <a:r>
              <a:rPr lang="en-IN" sz="1400" dirty="0"/>
              <a:t>)</a:t>
            </a:r>
          </a:p>
          <a:p>
            <a:pPr marL="12700" marR="5080"/>
            <a:r>
              <a:rPr lang="en-US" sz="1400" dirty="0">
                <a:hlinkClick r:id="rId23"/>
              </a:rPr>
              <a:t>Inference Books – The Stats Geek</a:t>
            </a:r>
            <a:endParaRPr lang="en-US" sz="1400" dirty="0"/>
          </a:p>
          <a:p>
            <a:pPr marL="12700" marR="5080"/>
            <a:r>
              <a:rPr lang="en-IN" sz="1400" dirty="0">
                <a:hlinkClick r:id="rId24"/>
              </a:rPr>
              <a:t>Estimation theory – Wikipedia</a:t>
            </a:r>
            <a:endParaRPr lang="en-IN" sz="1400" dirty="0"/>
          </a:p>
          <a:p>
            <a:pPr marL="12700" marR="5080"/>
            <a:endParaRPr lang="en-IN" sz="1400" dirty="0"/>
          </a:p>
          <a:p>
            <a:pPr marL="12700" marR="5080"/>
            <a:endParaRPr lang="en-IN" sz="1400" dirty="0"/>
          </a:p>
          <a:p>
            <a:endParaRPr lang="en-US" sz="1400" kern="0" spc="-80" dirty="0">
              <a:solidFill>
                <a:schemeClr val="accent2"/>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367240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272F2-303C-3424-9840-5A000A0B00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F7B142-782C-D862-43E4-0D90B67AE07D}"/>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46220E-008E-2130-65AE-D2652A5EAFCA}"/>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6B4C3D4-CE95-500C-3E71-38B4E3C26F6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485B176-EDA8-7AE7-8209-224BCE1ED7AD}"/>
              </a:ext>
            </a:extLst>
          </p:cNvPr>
          <p:cNvSpPr txBox="1">
            <a:spLocks/>
          </p:cNvSpPr>
          <p:nvPr/>
        </p:nvSpPr>
        <p:spPr>
          <a:xfrm>
            <a:off x="51885" y="120699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(Multivariable) Calculus is(/can be) used in ML</a:t>
            </a:r>
          </a:p>
          <a:p>
            <a:r>
              <a:rPr lang="en-US" sz="1400" kern="0" spc="-80" dirty="0">
                <a:solidFill>
                  <a:schemeClr val="accent6"/>
                </a:solidFill>
              </a:rPr>
              <a:t>Calculus is used in machine learning primarily for optimization, where differential calculus helps find the best model parameters by minimizing a cost function using algorithms like gradient descent. </a:t>
            </a:r>
          </a:p>
          <a:p>
            <a:r>
              <a:rPr lang="en-US" sz="1400" kern="0" spc="-80" dirty="0">
                <a:solidFill>
                  <a:schemeClr val="accent6"/>
                </a:solidFill>
                <a:hlinkClick r:id="rId7">
                  <a:extLst>
                    <a:ext uri="{A12FA001-AC4F-418D-AE19-62706E023703}">
                      <ahyp:hlinkClr xmlns:ahyp="http://schemas.microsoft.com/office/drawing/2018/hyperlinkcolor" val="tx"/>
                    </a:ext>
                  </a:extLst>
                </a:hlinkClick>
              </a:rPr>
              <a:t>Multivariable calculus</a:t>
            </a:r>
            <a:r>
              <a:rPr lang="en-US" sz="1400" kern="0" spc="-80" dirty="0">
                <a:solidFill>
                  <a:schemeClr val="accent6"/>
                </a:solidFill>
              </a:rPr>
              <a:t> is essential for optimizing complex models with many parameters, particularly in </a:t>
            </a:r>
            <a:r>
              <a:rPr lang="en-US" sz="1400" kern="0" spc="-80" dirty="0">
                <a:solidFill>
                  <a:schemeClr val="accent6"/>
                </a:solidFill>
                <a:hlinkClick r:id="rId8">
                  <a:extLst>
                    <a:ext uri="{A12FA001-AC4F-418D-AE19-62706E023703}">
                      <ahyp:hlinkClr xmlns:ahyp="http://schemas.microsoft.com/office/drawing/2018/hyperlinkcolor" val="tx"/>
                    </a:ext>
                  </a:extLst>
                </a:hlinkClick>
              </a:rPr>
              <a:t>neural networks</a:t>
            </a:r>
            <a:r>
              <a:rPr lang="en-US" sz="1400" kern="0" spc="-80" dirty="0">
                <a:solidFill>
                  <a:schemeClr val="accent6"/>
                </a:solidFill>
              </a:rPr>
              <a:t> and deep learning. </a:t>
            </a:r>
          </a:p>
          <a:p>
            <a:r>
              <a:rPr lang="en-US" sz="1400" kern="0" spc="-80" dirty="0">
                <a:solidFill>
                  <a:schemeClr val="accent6"/>
                </a:solidFill>
              </a:rPr>
              <a:t>Integral calculus also has applications, such as calculating metrics like the area under a curve for the </a:t>
            </a:r>
            <a:r>
              <a:rPr lang="en-US" sz="1400" kern="0" spc="-80" dirty="0">
                <a:solidFill>
                  <a:schemeClr val="accent6"/>
                </a:solidFill>
                <a:hlinkClick r:id="rId9">
                  <a:extLst>
                    <a:ext uri="{A12FA001-AC4F-418D-AE19-62706E023703}">
                      <ahyp:hlinkClr xmlns:ahyp="http://schemas.microsoft.com/office/drawing/2018/hyperlinkcolor" val="tx"/>
                    </a:ext>
                  </a:extLst>
                </a:hlinkClick>
              </a:rPr>
              <a:t>receiver operating characteristic (ROC)</a:t>
            </a:r>
            <a:r>
              <a:rPr lang="en-US" sz="1400" kern="0" spc="-80" dirty="0">
                <a:solidFill>
                  <a:schemeClr val="accent6"/>
                </a:solidFill>
              </a:rPr>
              <a:t> curve.  </a:t>
            </a:r>
          </a:p>
          <a:p>
            <a:r>
              <a:rPr lang="en-US" sz="1400" kern="0" spc="-80" dirty="0">
                <a:solidFill>
                  <a:schemeClr val="accent2"/>
                </a:solidFill>
              </a:rPr>
              <a:t>Differential and multivariable calculus</a:t>
            </a:r>
          </a:p>
          <a:p>
            <a:r>
              <a:rPr lang="en-US" sz="1400" kern="0" spc="-80" dirty="0">
                <a:solidFill>
                  <a:schemeClr val="accent2"/>
                </a:solidFill>
              </a:rPr>
              <a:t>Finding minima/maxima: </a:t>
            </a:r>
          </a:p>
          <a:p>
            <a:r>
              <a:rPr lang="en-US" sz="1400" kern="0" spc="-80" dirty="0">
                <a:solidFill>
                  <a:schemeClr val="accent6"/>
                </a:solidFill>
              </a:rPr>
              <a:t>Differential calculus is used to find the minimum of a cost function, which corresponds to the best possible performance for the model. Gradient Descent is the core optimization algorithm behind finding maxima/minima which uses the derivative (gradient) of a function to find the direction of steepest descent and iteratively adjust a model's parameters to minimize error. </a:t>
            </a:r>
          </a:p>
          <a:p>
            <a:r>
              <a:rPr lang="en-US" sz="1400" kern="0" spc="-80" dirty="0">
                <a:solidFill>
                  <a:schemeClr val="accent2"/>
                </a:solidFill>
              </a:rPr>
              <a:t>Neural network activation functions: </a:t>
            </a:r>
          </a:p>
          <a:p>
            <a:r>
              <a:rPr lang="en-US" sz="1400" kern="0" spc="-80" dirty="0">
                <a:solidFill>
                  <a:schemeClr val="accent6"/>
                </a:solidFill>
              </a:rPr>
              <a:t>Calculus is used to compute the derivatives of activation functions (like sigmoid or </a:t>
            </a:r>
            <a:r>
              <a:rPr lang="en-US" sz="1400" kern="0" spc="-80" dirty="0" err="1">
                <a:solidFill>
                  <a:schemeClr val="accent6"/>
                </a:solidFill>
              </a:rPr>
              <a:t>ReLU</a:t>
            </a:r>
            <a:r>
              <a:rPr lang="en-US" sz="1400" kern="0" spc="-80" dirty="0">
                <a:solidFill>
                  <a:schemeClr val="accent6"/>
                </a:solidFill>
              </a:rPr>
              <a:t>). This is essential for backpropagation, as it allows the network to learn and adjust its weights. </a:t>
            </a:r>
          </a:p>
          <a:p>
            <a:r>
              <a:rPr lang="en-US" sz="1400" kern="0" spc="-80" dirty="0">
                <a:solidFill>
                  <a:schemeClr val="accent2"/>
                </a:solidFill>
                <a:hlinkClick r:id="rId10">
                  <a:extLst>
                    <a:ext uri="{A12FA001-AC4F-418D-AE19-62706E023703}">
                      <ahyp:hlinkClr xmlns:ahyp="http://schemas.microsoft.com/office/drawing/2018/hyperlinkcolor" val="tx"/>
                    </a:ext>
                  </a:extLst>
                </a:hlinkClick>
              </a:rPr>
              <a:t>Chain Rule</a:t>
            </a:r>
            <a:r>
              <a:rPr lang="en-US" sz="1400" kern="0" spc="-80" dirty="0">
                <a:solidFill>
                  <a:schemeClr val="accent2"/>
                </a:solidFill>
              </a:rPr>
              <a:t>: </a:t>
            </a:r>
          </a:p>
          <a:p>
            <a:r>
              <a:rPr lang="en-US" sz="1400" kern="0" spc="-80" dirty="0">
                <a:solidFill>
                  <a:schemeClr val="accent6"/>
                </a:solidFill>
              </a:rPr>
              <a:t>Essential for training complex models like neural networks, as it's used in backpropagation to calculate gradients through multiple layers of the network. </a:t>
            </a:r>
          </a:p>
          <a:p>
            <a:r>
              <a:rPr lang="en-US" sz="1400" kern="0" spc="-80" dirty="0">
                <a:solidFill>
                  <a:schemeClr val="accent2"/>
                </a:solidFill>
              </a:rPr>
              <a:t>Regularization: </a:t>
            </a:r>
          </a:p>
          <a:p>
            <a:r>
              <a:rPr lang="en-US" sz="1400" kern="0" spc="-80" dirty="0">
                <a:solidFill>
                  <a:schemeClr val="accent6"/>
                </a:solidFill>
              </a:rPr>
              <a:t>Calculus is used to compute the penalties in techniques like L1 and L2 regularization, which help prevent overfitting by adding a penalty term to the cost function. </a:t>
            </a:r>
          </a:p>
        </p:txBody>
      </p:sp>
    </p:spTree>
    <p:extLst>
      <p:ext uri="{BB962C8B-B14F-4D97-AF65-F5344CB8AC3E}">
        <p14:creationId xmlns:p14="http://schemas.microsoft.com/office/powerpoint/2010/main" val="2838669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4223-44C5-A9FC-34AC-E2034CBB32C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CC830D-9602-77BC-75C2-61397D8D1DFE}"/>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DF7CF1D-06FB-F0D4-1FA7-A3B97041E76C}"/>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845024-7FA1-131D-C12C-3F54E0F7E0B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4ED672C-01FF-F685-E8DB-55C1547D50C7}"/>
              </a:ext>
            </a:extLst>
          </p:cNvPr>
          <p:cNvSpPr txBox="1">
            <a:spLocks/>
          </p:cNvSpPr>
          <p:nvPr/>
        </p:nvSpPr>
        <p:spPr>
          <a:xfrm>
            <a:off x="51885" y="1116218"/>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(Multivariable) Calculus is(/can be) used in ML</a:t>
            </a:r>
          </a:p>
          <a:p>
            <a:r>
              <a:rPr lang="en-US" sz="1600" kern="0" spc="-80" dirty="0">
                <a:solidFill>
                  <a:schemeClr val="accent2"/>
                </a:solidFill>
                <a:hlinkClick r:id="rId7">
                  <a:extLst>
                    <a:ext uri="{A12FA001-AC4F-418D-AE19-62706E023703}">
                      <ahyp:hlinkClr xmlns:ahyp="http://schemas.microsoft.com/office/drawing/2018/hyperlinkcolor" val="tx"/>
                    </a:ext>
                  </a:extLst>
                </a:hlinkClick>
              </a:rPr>
              <a:t>Reinforcement learning</a:t>
            </a:r>
            <a:r>
              <a:rPr lang="en-US" sz="1600" kern="0" spc="-80" dirty="0">
                <a:solidFill>
                  <a:schemeClr val="accent2"/>
                </a:solidFill>
              </a:rPr>
              <a:t>: </a:t>
            </a:r>
          </a:p>
          <a:p>
            <a:r>
              <a:rPr lang="en-US" sz="1600" kern="0" spc="-80" dirty="0">
                <a:solidFill>
                  <a:schemeClr val="accent6"/>
                </a:solidFill>
              </a:rPr>
              <a:t>Gradient ascent, the opposite of gradient descent, uses differential calculus to maximize rewards in reinforcement learning algorithms. </a:t>
            </a:r>
          </a:p>
          <a:p>
            <a:r>
              <a:rPr lang="en-US" sz="1600" kern="0" spc="-80" dirty="0">
                <a:solidFill>
                  <a:schemeClr val="accent2"/>
                </a:solidFill>
              </a:rPr>
              <a:t>Advanced optimizers: </a:t>
            </a:r>
          </a:p>
          <a:p>
            <a:r>
              <a:rPr lang="en-US" sz="1600" kern="0" spc="-80" dirty="0">
                <a:solidFill>
                  <a:schemeClr val="accent6"/>
                </a:solidFill>
              </a:rPr>
              <a:t>Second derivatives (Hessian matrix) provide information about the curvature of the loss function, which can be used by more advanced optimization algorithms to converge faster. </a:t>
            </a:r>
          </a:p>
          <a:p>
            <a:r>
              <a:rPr lang="en-US" sz="1600" kern="0" spc="-80" dirty="0">
                <a:solidFill>
                  <a:schemeClr val="accent2"/>
                </a:solidFill>
              </a:rPr>
              <a:t>Integral calculus</a:t>
            </a:r>
          </a:p>
          <a:p>
            <a:r>
              <a:rPr lang="en-US" sz="1400" kern="0" spc="-80" dirty="0">
                <a:solidFill>
                  <a:schemeClr val="accent2"/>
                </a:solidFill>
              </a:rPr>
              <a:t>Probability and statistics: </a:t>
            </a:r>
          </a:p>
          <a:p>
            <a:r>
              <a:rPr lang="en-US" sz="1400" kern="0" spc="-80" dirty="0">
                <a:solidFill>
                  <a:schemeClr val="accent6"/>
                </a:solidFill>
              </a:rPr>
              <a:t>Integral calculus is used to calculate the probability of continuous random variables by integrating probability density functions (PDFs). It also defines cumulative distribution functions (CDFs). </a:t>
            </a:r>
          </a:p>
          <a:p>
            <a:r>
              <a:rPr lang="en-US" sz="1400" kern="0" spc="-80" dirty="0">
                <a:solidFill>
                  <a:schemeClr val="accent2"/>
                </a:solidFill>
              </a:rPr>
              <a:t>Expectation and variance: </a:t>
            </a:r>
          </a:p>
          <a:p>
            <a:r>
              <a:rPr lang="en-US" sz="1400" kern="0" spc="-80" dirty="0">
                <a:solidFill>
                  <a:schemeClr val="accent6"/>
                </a:solidFill>
              </a:rPr>
              <a:t>It is used to calculate the expected value and variance of random variables in probabilistic models, which are fundamental concepts for understanding the behavior of systems and making predictions. </a:t>
            </a:r>
          </a:p>
          <a:p>
            <a:r>
              <a:rPr lang="en-US" sz="1400" kern="0" spc="-80" dirty="0">
                <a:solidFill>
                  <a:schemeClr val="accent2"/>
                </a:solidFill>
              </a:rPr>
              <a:t>Bayesian inference: </a:t>
            </a:r>
          </a:p>
          <a:p>
            <a:r>
              <a:rPr lang="en-US" sz="1400" kern="0" spc="-80" dirty="0">
                <a:solidFill>
                  <a:schemeClr val="accent6"/>
                </a:solidFill>
              </a:rPr>
              <a:t>Integrals are essential for calculating posterior probabilities in Bayesian methods, enabling the model to update its beliefs based on new evidence. </a:t>
            </a:r>
          </a:p>
          <a:p>
            <a:r>
              <a:rPr lang="en-US" sz="1400" kern="0" spc="-80" dirty="0">
                <a:solidFill>
                  <a:schemeClr val="accent2"/>
                </a:solidFill>
              </a:rPr>
              <a:t>Optimization and loss functions: </a:t>
            </a:r>
          </a:p>
          <a:p>
            <a:r>
              <a:rPr lang="en-US" sz="1400" kern="0" spc="-80" dirty="0">
                <a:solidFill>
                  <a:schemeClr val="accent6"/>
                </a:solidFill>
              </a:rPr>
              <a:t>Integrals are used to define and compute the overall values of continuous loss functions, helping to quantify the error between a model's predictions and the actual data. </a:t>
            </a:r>
          </a:p>
        </p:txBody>
      </p:sp>
    </p:spTree>
    <p:extLst>
      <p:ext uri="{BB962C8B-B14F-4D97-AF65-F5344CB8AC3E}">
        <p14:creationId xmlns:p14="http://schemas.microsoft.com/office/powerpoint/2010/main" val="1950374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5648-D498-5DD9-B1F7-67E3280534A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DE6A096-1966-0A3F-BDAC-A791C9D94A5D}"/>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CB0B3FF-26CE-312C-F417-80B6CB4CD3E8}"/>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107BA03-36E2-09CE-636E-6D6761CB0B4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A986070-C370-996C-6366-4606227D4C42}"/>
              </a:ext>
            </a:extLst>
          </p:cNvPr>
          <p:cNvSpPr txBox="1">
            <a:spLocks/>
          </p:cNvSpPr>
          <p:nvPr/>
        </p:nvSpPr>
        <p:spPr>
          <a:xfrm>
            <a:off x="51885" y="1242060"/>
            <a:ext cx="8624937" cy="39395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(Multivariable) Calculus is(/can be) used in ML</a:t>
            </a:r>
          </a:p>
          <a:p>
            <a:r>
              <a:rPr lang="en-US" sz="1600" kern="0" spc="-80" dirty="0">
                <a:solidFill>
                  <a:schemeClr val="accent2"/>
                </a:solidFill>
              </a:rPr>
              <a:t>Integral calculus</a:t>
            </a:r>
          </a:p>
          <a:p>
            <a:r>
              <a:rPr lang="en-US" sz="1400" kern="0" spc="-80" dirty="0">
                <a:solidFill>
                  <a:schemeClr val="accent2"/>
                </a:solidFill>
              </a:rPr>
              <a:t>Area under the curve (AUC): </a:t>
            </a:r>
          </a:p>
          <a:p>
            <a:r>
              <a:rPr lang="en-US" sz="1400" kern="0" spc="-80" dirty="0">
                <a:solidFill>
                  <a:schemeClr val="accent6"/>
                </a:solidFill>
              </a:rPr>
              <a:t>A common application is calculating the AUC, for example, the area under the ROC curve, to evaluate the performance of a classification model. </a:t>
            </a:r>
          </a:p>
          <a:p>
            <a:r>
              <a:rPr lang="en-US" sz="1400" kern="0" spc="-80" dirty="0">
                <a:solidFill>
                  <a:schemeClr val="accent2"/>
                </a:solidFill>
              </a:rPr>
              <a:t>Where Integral Calculus appears in ML algorithms</a:t>
            </a:r>
          </a:p>
          <a:p>
            <a:r>
              <a:rPr lang="en-US" sz="1400" kern="0" spc="-80" dirty="0">
                <a:solidFill>
                  <a:schemeClr val="accent2"/>
                </a:solidFill>
              </a:rPr>
              <a:t>Continuous data:</a:t>
            </a:r>
            <a:r>
              <a:rPr lang="en-US" sz="1400" kern="0" spc="-80" dirty="0">
                <a:solidFill>
                  <a:schemeClr val="accent6"/>
                </a:solidFill>
              </a:rPr>
              <a:t> Helps in handling real-world data that is continuous, not just discrete. </a:t>
            </a:r>
          </a:p>
          <a:p>
            <a:r>
              <a:rPr lang="en-US" sz="1400" kern="0" spc="-80" dirty="0">
                <a:solidFill>
                  <a:schemeClr val="accent2"/>
                </a:solidFill>
              </a:rPr>
              <a:t>Neural networks:</a:t>
            </a:r>
            <a:r>
              <a:rPr lang="en-US" sz="1400" kern="0" spc="-80" dirty="0">
                <a:solidFill>
                  <a:schemeClr val="accent6"/>
                </a:solidFill>
              </a:rPr>
              <a:t> It is used in defining and understanding the behavior of activation functions and in weight updates, as seen in the mathematical formulation of certain deep learning models. </a:t>
            </a:r>
          </a:p>
          <a:p>
            <a:r>
              <a:rPr lang="en-US" sz="1400" kern="0" spc="-80" dirty="0">
                <a:solidFill>
                  <a:schemeClr val="accent2"/>
                </a:solidFill>
              </a:rPr>
              <a:t>Generative AI:</a:t>
            </a:r>
            <a:r>
              <a:rPr lang="en-US" sz="1400" kern="0" spc="-80" dirty="0">
                <a:solidFill>
                  <a:schemeClr val="accent6"/>
                </a:solidFill>
              </a:rPr>
              <a:t> Integral concepts are used in certain generative models to handle continuous transformations. </a:t>
            </a:r>
          </a:p>
          <a:p>
            <a:endParaRPr lang="en-US" sz="1400" kern="0" spc="-80" dirty="0">
              <a:solidFill>
                <a:schemeClr val="accent6"/>
              </a:solidFill>
            </a:endParaRPr>
          </a:p>
          <a:p>
            <a:r>
              <a:rPr lang="en-US" sz="1400" kern="0" spc="-80" dirty="0">
                <a:solidFill>
                  <a:schemeClr val="accent2"/>
                </a:solidFill>
              </a:rPr>
              <a:t>For Further Exploration</a:t>
            </a:r>
          </a:p>
          <a:p>
            <a:r>
              <a:rPr lang="en-IN" sz="1400" dirty="0">
                <a:hlinkClick r:id="rId7"/>
              </a:rPr>
              <a:t>Calculus Made Easy</a:t>
            </a:r>
            <a:endParaRPr lang="en-IN" sz="1400" dirty="0"/>
          </a:p>
          <a:p>
            <a:r>
              <a:rPr lang="en-US" sz="1400" dirty="0">
                <a:hlinkClick r:id="rId8"/>
              </a:rPr>
              <a:t>Why squared error? | benkuhn.net</a:t>
            </a:r>
            <a:endParaRPr lang="en-US" sz="1400" kern="0" spc="-80" dirty="0">
              <a:solidFill>
                <a:schemeClr val="accent2"/>
              </a:solidFill>
            </a:endParaRPr>
          </a:p>
          <a:p>
            <a:endParaRPr lang="en-US" sz="1400" kern="0" spc="-80" dirty="0">
              <a:solidFill>
                <a:schemeClr val="accent2"/>
              </a:solidFill>
            </a:endParaRPr>
          </a:p>
          <a:p>
            <a:endParaRPr lang="en-US" sz="14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4146282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A027-1D18-3E67-2919-0A0D2D6F596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534361B-90C7-60E4-9B67-C8621BD293B4}"/>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762546-D372-9DAE-D05D-F39D8BC19CD7}"/>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B3DB27-72F7-ED91-89CB-378A91504549}"/>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61536BE-5978-E943-A767-41B1673F027C}"/>
              </a:ext>
            </a:extLst>
          </p:cNvPr>
          <p:cNvSpPr txBox="1">
            <a:spLocks/>
          </p:cNvSpPr>
          <p:nvPr/>
        </p:nvSpPr>
        <p:spPr>
          <a:xfrm>
            <a:off x="51885" y="1216968"/>
            <a:ext cx="8624937"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p:txBody>
      </p:sp>
      <p:pic>
        <p:nvPicPr>
          <p:cNvPr id="2" name="Picture 1" descr="A screenshot of a computer">
            <a:extLst>
              <a:ext uri="{FF2B5EF4-FFF2-40B4-BE49-F238E27FC236}">
                <a16:creationId xmlns:a16="http://schemas.microsoft.com/office/drawing/2014/main" id="{72A142D9-7FDA-50A7-088D-9A8EBCE2DD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461162"/>
            <a:ext cx="8991599" cy="4482438"/>
          </a:xfrm>
          <a:prstGeom prst="rect">
            <a:avLst/>
          </a:prstGeom>
        </p:spPr>
      </p:pic>
    </p:spTree>
    <p:extLst>
      <p:ext uri="{BB962C8B-B14F-4D97-AF65-F5344CB8AC3E}">
        <p14:creationId xmlns:p14="http://schemas.microsoft.com/office/powerpoint/2010/main" val="3116759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035A-2CA5-91F5-63AC-11349D036C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BAEFF5-5C64-F722-B281-C257B3CFA8BC}"/>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9FB1392-E9E1-50E5-7C53-C0EE85C94534}"/>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D72F9DB-D9F7-C657-6178-ADF16514B06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4F07F95-FAE7-4E76-D66E-B4BF22F25F55}"/>
              </a:ext>
            </a:extLst>
          </p:cNvPr>
          <p:cNvSpPr txBox="1">
            <a:spLocks/>
          </p:cNvSpPr>
          <p:nvPr/>
        </p:nvSpPr>
        <p:spPr>
          <a:xfrm>
            <a:off x="51885" y="1216968"/>
            <a:ext cx="8624937"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p:txBody>
      </p:sp>
      <p:pic>
        <p:nvPicPr>
          <p:cNvPr id="8" name="Picture 7" descr="A screenshot of a computer&#10;&#10;AI-generated content may be incorrect.">
            <a:extLst>
              <a:ext uri="{FF2B5EF4-FFF2-40B4-BE49-F238E27FC236}">
                <a16:creationId xmlns:a16="http://schemas.microsoft.com/office/drawing/2014/main" id="{0E071012-8A76-2181-7212-FE6FE372F29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1" y="1434868"/>
            <a:ext cx="8915398" cy="4508732"/>
          </a:xfrm>
          <a:prstGeom prst="rect">
            <a:avLst/>
          </a:prstGeom>
        </p:spPr>
      </p:pic>
    </p:spTree>
    <p:extLst>
      <p:ext uri="{BB962C8B-B14F-4D97-AF65-F5344CB8AC3E}">
        <p14:creationId xmlns:p14="http://schemas.microsoft.com/office/powerpoint/2010/main" val="31641549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6C9E4-5845-B61B-F37C-3444661684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F073289-8F47-4B0C-29B2-32059206642D}"/>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52D5F8E-D535-495C-1054-4B70CEC97559}"/>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49B6624-D163-69C5-8EAF-43FC48E20F8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E218A37-D414-2315-3118-62EBD0D48629}"/>
              </a:ext>
            </a:extLst>
          </p:cNvPr>
          <p:cNvSpPr txBox="1">
            <a:spLocks/>
          </p:cNvSpPr>
          <p:nvPr/>
        </p:nvSpPr>
        <p:spPr>
          <a:xfrm>
            <a:off x="51885" y="1216968"/>
            <a:ext cx="8624937" cy="8771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a:p>
            <a:pPr marL="12700" marR="5080"/>
            <a:r>
              <a:rPr lang="en-US" sz="1400" kern="0" spc="-80" dirty="0">
                <a:solidFill>
                  <a:schemeClr val="accent2"/>
                </a:solidFill>
              </a:rPr>
              <a:t>Classical optimization techniques in ML</a:t>
            </a:r>
          </a:p>
          <a:p>
            <a:pPr marL="12700" marR="5080"/>
            <a:r>
              <a:rPr lang="en-US" sz="1400" kern="0" spc="-80" dirty="0">
                <a:solidFill>
                  <a:schemeClr val="accent6"/>
                </a:solidFill>
              </a:rPr>
              <a:t>Classical optimization uses mathematical and deterministic principles to find optimal solutions. These methods rely on the differentiability and continuity of the functions they are optimizing. </a:t>
            </a:r>
          </a:p>
        </p:txBody>
      </p:sp>
      <p:graphicFrame>
        <p:nvGraphicFramePr>
          <p:cNvPr id="9" name="Table 8">
            <a:extLst>
              <a:ext uri="{FF2B5EF4-FFF2-40B4-BE49-F238E27FC236}">
                <a16:creationId xmlns:a16="http://schemas.microsoft.com/office/drawing/2014/main" id="{0C785136-9B5A-3680-4094-3DBCE7830FFA}"/>
              </a:ext>
            </a:extLst>
          </p:cNvPr>
          <p:cNvGraphicFramePr>
            <a:graphicFrameLocks noGrp="1"/>
          </p:cNvGraphicFramePr>
          <p:nvPr/>
        </p:nvGraphicFramePr>
        <p:xfrm>
          <a:off x="76200" y="2265680"/>
          <a:ext cx="8915400" cy="352552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3821301162"/>
                    </a:ext>
                  </a:extLst>
                </a:gridCol>
                <a:gridCol w="2971800">
                  <a:extLst>
                    <a:ext uri="{9D8B030D-6E8A-4147-A177-3AD203B41FA5}">
                      <a16:colId xmlns:a16="http://schemas.microsoft.com/office/drawing/2014/main" val="1423098329"/>
                    </a:ext>
                  </a:extLst>
                </a:gridCol>
                <a:gridCol w="2971800">
                  <a:extLst>
                    <a:ext uri="{9D8B030D-6E8A-4147-A177-3AD203B41FA5}">
                      <a16:colId xmlns:a16="http://schemas.microsoft.com/office/drawing/2014/main" val="1660703885"/>
                    </a:ext>
                  </a:extLst>
                </a:gridCol>
              </a:tblGrid>
              <a:tr h="370840">
                <a:tc>
                  <a:txBody>
                    <a:bodyPr/>
                    <a:lstStyle/>
                    <a:p>
                      <a:r>
                        <a:rPr lang="en-US" dirty="0"/>
                        <a:t>Technique</a:t>
                      </a:r>
                      <a:endParaRPr lang="en-IN" dirty="0"/>
                    </a:p>
                  </a:txBody>
                  <a:tcPr/>
                </a:tc>
                <a:tc>
                  <a:txBody>
                    <a:bodyPr/>
                    <a:lstStyle/>
                    <a:p>
                      <a:r>
                        <a:rPr lang="en-US" dirty="0"/>
                        <a:t>How it Works</a:t>
                      </a:r>
                      <a:endParaRPr lang="en-IN" dirty="0"/>
                    </a:p>
                  </a:txBody>
                  <a:tcPr/>
                </a:tc>
                <a:tc>
                  <a:txBody>
                    <a:bodyPr/>
                    <a:lstStyle/>
                    <a:p>
                      <a:r>
                        <a:rPr lang="en-US" dirty="0"/>
                        <a:t>Used For</a:t>
                      </a:r>
                      <a:endParaRPr lang="en-IN" dirty="0"/>
                    </a:p>
                  </a:txBody>
                  <a:tcPr/>
                </a:tc>
                <a:extLst>
                  <a:ext uri="{0D108BD9-81ED-4DB2-BD59-A6C34878D82A}">
                    <a16:rowId xmlns:a16="http://schemas.microsoft.com/office/drawing/2014/main" val="2576573169"/>
                  </a:ext>
                </a:extLst>
              </a:tr>
              <a:tr h="370840">
                <a:tc>
                  <a:txBody>
                    <a:bodyPr/>
                    <a:lstStyle/>
                    <a:p>
                      <a:r>
                        <a:rPr lang="en-IN" b="1" i="0" dirty="0">
                          <a:solidFill>
                            <a:schemeClr val="dk1"/>
                          </a:solidFill>
                          <a:effectLst/>
                          <a:latin typeface="+mn-lt"/>
                          <a:ea typeface="+mn-ea"/>
                          <a:cs typeface="+mn-cs"/>
                        </a:rPr>
                        <a:t>Gradient Descent (GD)</a:t>
                      </a:r>
                      <a:endParaRPr lang="en-IN" dirty="0"/>
                    </a:p>
                  </a:txBody>
                  <a:tcPr/>
                </a:tc>
                <a:tc>
                  <a:txBody>
                    <a:bodyPr/>
                    <a:lstStyle/>
                    <a:p>
                      <a:r>
                        <a:rPr lang="en-US" sz="1500" b="0" i="0" dirty="0">
                          <a:solidFill>
                            <a:schemeClr val="dk1"/>
                          </a:solidFill>
                          <a:effectLst/>
                          <a:latin typeface="+mn-lt"/>
                          <a:ea typeface="+mn-ea"/>
                          <a:cs typeface="+mn-cs"/>
                        </a:rPr>
                        <a:t>An iterative first-order optimization algorithm that adjusts model parameters in the opposite direction of the gradient of the objective function. It aims to find the minimum of a cost or loss function.</a:t>
                      </a:r>
                      <a:endParaRPr lang="en-IN" sz="1500" dirty="0"/>
                    </a:p>
                  </a:txBody>
                  <a:tcPr/>
                </a:tc>
                <a:tc>
                  <a:txBody>
                    <a:bodyPr/>
                    <a:lstStyle/>
                    <a:p>
                      <a:r>
                        <a:rPr lang="en-US" sz="1500" b="0" i="0" dirty="0">
                          <a:solidFill>
                            <a:schemeClr val="dk1"/>
                          </a:solidFill>
                          <a:effectLst/>
                          <a:latin typeface="+mn-lt"/>
                          <a:ea typeface="+mn-ea"/>
                          <a:cs typeface="+mn-cs"/>
                        </a:rPr>
                        <a:t>Training simple models like linear regression or small neural networks.</a:t>
                      </a:r>
                      <a:endParaRPr lang="en-IN" sz="1500" dirty="0"/>
                    </a:p>
                  </a:txBody>
                  <a:tcPr/>
                </a:tc>
                <a:extLst>
                  <a:ext uri="{0D108BD9-81ED-4DB2-BD59-A6C34878D82A}">
                    <a16:rowId xmlns:a16="http://schemas.microsoft.com/office/drawing/2014/main" val="1298352838"/>
                  </a:ext>
                </a:extLst>
              </a:tr>
              <a:tr h="370840">
                <a:tc>
                  <a:txBody>
                    <a:bodyPr/>
                    <a:lstStyle/>
                    <a:p>
                      <a:r>
                        <a:rPr lang="en-IN" b="1" i="0" dirty="0">
                          <a:solidFill>
                            <a:schemeClr val="dk1"/>
                          </a:solidFill>
                          <a:effectLst/>
                          <a:latin typeface="+mn-lt"/>
                          <a:ea typeface="+mn-ea"/>
                          <a:cs typeface="+mn-cs"/>
                        </a:rPr>
                        <a:t>Stochastic Gradient Descent (SGD)</a:t>
                      </a:r>
                      <a:endParaRPr lang="en-IN" dirty="0"/>
                    </a:p>
                  </a:txBody>
                  <a:tcPr/>
                </a:tc>
                <a:tc>
                  <a:txBody>
                    <a:bodyPr/>
                    <a:lstStyle/>
                    <a:p>
                      <a:r>
                        <a:rPr lang="en-US" sz="1500" b="0" i="0" dirty="0">
                          <a:solidFill>
                            <a:schemeClr val="dk1"/>
                          </a:solidFill>
                          <a:effectLst/>
                          <a:latin typeface="+mn-lt"/>
                          <a:ea typeface="+mn-ea"/>
                          <a:cs typeface="+mn-cs"/>
                        </a:rPr>
                        <a:t>Updates model parameters for each training example individually or in small batches. This is more computationally efficient for large datasets than standard gradient descent.</a:t>
                      </a:r>
                      <a:endParaRPr lang="en-IN" sz="1500" dirty="0"/>
                    </a:p>
                  </a:txBody>
                  <a:tcPr/>
                </a:tc>
                <a:tc>
                  <a:txBody>
                    <a:bodyPr/>
                    <a:lstStyle/>
                    <a:p>
                      <a:r>
                        <a:rPr lang="en-US" sz="1500" b="0" i="0" dirty="0">
                          <a:solidFill>
                            <a:schemeClr val="dk1"/>
                          </a:solidFill>
                          <a:effectLst/>
                          <a:latin typeface="+mn-lt"/>
                          <a:ea typeface="+mn-ea"/>
                          <a:cs typeface="+mn-cs"/>
                        </a:rPr>
                        <a:t>Training deep neural networks (DNNs), where computing the gradient for the full dataset is unfeasible.</a:t>
                      </a:r>
                      <a:endParaRPr lang="en-IN" sz="1500" dirty="0"/>
                    </a:p>
                  </a:txBody>
                  <a:tcPr/>
                </a:tc>
                <a:extLst>
                  <a:ext uri="{0D108BD9-81ED-4DB2-BD59-A6C34878D82A}">
                    <a16:rowId xmlns:a16="http://schemas.microsoft.com/office/drawing/2014/main" val="510858152"/>
                  </a:ext>
                </a:extLst>
              </a:tr>
            </a:tbl>
          </a:graphicData>
        </a:graphic>
      </p:graphicFrame>
    </p:spTree>
    <p:extLst>
      <p:ext uri="{BB962C8B-B14F-4D97-AF65-F5344CB8AC3E}">
        <p14:creationId xmlns:p14="http://schemas.microsoft.com/office/powerpoint/2010/main" val="1262471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8EAAA-B148-3537-C6D1-2A9787A8D06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38842E3-778A-EBB8-0BB2-61D926EA9330}"/>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F696F7A-65B6-6847-65D5-ADB60EA7D71D}"/>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C48B23B-2A6E-6107-328F-82E2F91EBDA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E251601-3C37-18C8-1AB3-39D9DD569201}"/>
              </a:ext>
            </a:extLst>
          </p:cNvPr>
          <p:cNvSpPr txBox="1">
            <a:spLocks/>
          </p:cNvSpPr>
          <p:nvPr/>
        </p:nvSpPr>
        <p:spPr>
          <a:xfrm>
            <a:off x="51885" y="1216968"/>
            <a:ext cx="8624937"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a:p>
            <a:pPr marL="12700" marR="5080"/>
            <a:r>
              <a:rPr lang="en-US" sz="1600" kern="0" spc="-80" dirty="0">
                <a:solidFill>
                  <a:schemeClr val="accent2"/>
                </a:solidFill>
              </a:rPr>
              <a:t>Classical optimization techniques in ML</a:t>
            </a:r>
          </a:p>
          <a:p>
            <a:pPr marL="12700" marR="5080"/>
            <a:endParaRPr lang="en-US" sz="1500" kern="0" spc="-80" dirty="0">
              <a:solidFill>
                <a:schemeClr val="accent2"/>
              </a:solidFill>
            </a:endParaRPr>
          </a:p>
        </p:txBody>
      </p:sp>
      <p:graphicFrame>
        <p:nvGraphicFramePr>
          <p:cNvPr id="2" name="Table 1">
            <a:extLst>
              <a:ext uri="{FF2B5EF4-FFF2-40B4-BE49-F238E27FC236}">
                <a16:creationId xmlns:a16="http://schemas.microsoft.com/office/drawing/2014/main" id="{169DD3E5-2F80-B6AA-1B60-5FF0F851627F}"/>
              </a:ext>
            </a:extLst>
          </p:cNvPr>
          <p:cNvGraphicFramePr>
            <a:graphicFrameLocks noGrp="1"/>
          </p:cNvGraphicFramePr>
          <p:nvPr/>
        </p:nvGraphicFramePr>
        <p:xfrm>
          <a:off x="76199" y="1717040"/>
          <a:ext cx="8991600" cy="4211320"/>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836689321"/>
                    </a:ext>
                  </a:extLst>
                </a:gridCol>
                <a:gridCol w="2997200">
                  <a:extLst>
                    <a:ext uri="{9D8B030D-6E8A-4147-A177-3AD203B41FA5}">
                      <a16:colId xmlns:a16="http://schemas.microsoft.com/office/drawing/2014/main" val="1473836249"/>
                    </a:ext>
                  </a:extLst>
                </a:gridCol>
                <a:gridCol w="2997200">
                  <a:extLst>
                    <a:ext uri="{9D8B030D-6E8A-4147-A177-3AD203B41FA5}">
                      <a16:colId xmlns:a16="http://schemas.microsoft.com/office/drawing/2014/main" val="1844113098"/>
                    </a:ext>
                  </a:extLst>
                </a:gridCol>
              </a:tblGrid>
              <a:tr h="370840">
                <a:tc>
                  <a:txBody>
                    <a:bodyPr/>
                    <a:lstStyle/>
                    <a:p>
                      <a:r>
                        <a:rPr lang="en-US" dirty="0"/>
                        <a:t>Technique</a:t>
                      </a:r>
                      <a:endParaRPr lang="en-IN" dirty="0"/>
                    </a:p>
                  </a:txBody>
                  <a:tcPr/>
                </a:tc>
                <a:tc>
                  <a:txBody>
                    <a:bodyPr/>
                    <a:lstStyle/>
                    <a:p>
                      <a:r>
                        <a:rPr lang="en-US" dirty="0"/>
                        <a:t>How it Works</a:t>
                      </a:r>
                      <a:endParaRPr lang="en-IN" dirty="0"/>
                    </a:p>
                  </a:txBody>
                  <a:tcPr/>
                </a:tc>
                <a:tc>
                  <a:txBody>
                    <a:bodyPr/>
                    <a:lstStyle/>
                    <a:p>
                      <a:r>
                        <a:rPr lang="en-US" dirty="0"/>
                        <a:t>Used For</a:t>
                      </a:r>
                      <a:endParaRPr lang="en-IN" dirty="0"/>
                    </a:p>
                  </a:txBody>
                  <a:tcPr/>
                </a:tc>
                <a:extLst>
                  <a:ext uri="{0D108BD9-81ED-4DB2-BD59-A6C34878D82A}">
                    <a16:rowId xmlns:a16="http://schemas.microsoft.com/office/drawing/2014/main" val="3026653135"/>
                  </a:ext>
                </a:extLst>
              </a:tr>
              <a:tr h="370840">
                <a:tc>
                  <a:txBody>
                    <a:bodyPr/>
                    <a:lstStyle/>
                    <a:p>
                      <a:r>
                        <a:rPr lang="en-US" b="1" i="0" dirty="0">
                          <a:solidFill>
                            <a:schemeClr val="dk1"/>
                          </a:solidFill>
                          <a:effectLst/>
                          <a:latin typeface="+mn-lt"/>
                          <a:ea typeface="+mn-ea"/>
                          <a:cs typeface="+mn-cs"/>
                        </a:rPr>
                        <a:t>Adaptive learning rate methods (e.g., </a:t>
                      </a:r>
                      <a:r>
                        <a:rPr lang="en-US" b="1" i="0" dirty="0" err="1">
                          <a:solidFill>
                            <a:schemeClr val="dk1"/>
                          </a:solidFill>
                          <a:effectLst/>
                          <a:latin typeface="+mn-lt"/>
                          <a:ea typeface="+mn-ea"/>
                          <a:cs typeface="+mn-cs"/>
                        </a:rPr>
                        <a:t>AdaGrad</a:t>
                      </a:r>
                      <a:r>
                        <a:rPr lang="en-US" b="1" i="0" dirty="0">
                          <a:solidFill>
                            <a:schemeClr val="dk1"/>
                          </a:solidFill>
                          <a:effectLst/>
                          <a:latin typeface="+mn-lt"/>
                          <a:ea typeface="+mn-ea"/>
                          <a:cs typeface="+mn-cs"/>
                        </a:rPr>
                        <a:t>, </a:t>
                      </a:r>
                      <a:r>
                        <a:rPr lang="en-US" b="1" i="0" dirty="0" err="1">
                          <a:solidFill>
                            <a:schemeClr val="dk1"/>
                          </a:solidFill>
                          <a:effectLst/>
                          <a:latin typeface="+mn-lt"/>
                          <a:ea typeface="+mn-ea"/>
                          <a:cs typeface="+mn-cs"/>
                        </a:rPr>
                        <a:t>RMSProp</a:t>
                      </a:r>
                      <a:r>
                        <a:rPr lang="en-US" b="1" i="0" dirty="0">
                          <a:solidFill>
                            <a:schemeClr val="dk1"/>
                          </a:solidFill>
                          <a:effectLst/>
                          <a:latin typeface="+mn-lt"/>
                          <a:ea typeface="+mn-ea"/>
                          <a:cs typeface="+mn-cs"/>
                        </a:rPr>
                        <a:t>, Adam)</a:t>
                      </a:r>
                      <a:endParaRPr lang="en-IN" dirty="0"/>
                    </a:p>
                  </a:txBody>
                  <a:tcPr/>
                </a:tc>
                <a:tc>
                  <a:txBody>
                    <a:bodyPr/>
                    <a:lstStyle/>
                    <a:p>
                      <a:r>
                        <a:rPr lang="en-US" sz="1300" b="0" i="0" dirty="0">
                          <a:solidFill>
                            <a:schemeClr val="dk1"/>
                          </a:solidFill>
                          <a:effectLst/>
                          <a:latin typeface="+mn-lt"/>
                          <a:ea typeface="+mn-ea"/>
                          <a:cs typeface="+mn-cs"/>
                        </a:rPr>
                        <a:t>These are advanced variants of SGD that automatically adjust the learning rate for each parameter. Adam, for example, combines the advantages of momentum and </a:t>
                      </a:r>
                      <a:r>
                        <a:rPr lang="en-US" sz="1300" b="0" i="0" dirty="0" err="1">
                          <a:solidFill>
                            <a:schemeClr val="dk1"/>
                          </a:solidFill>
                          <a:effectLst/>
                          <a:latin typeface="+mn-lt"/>
                          <a:ea typeface="+mn-ea"/>
                          <a:cs typeface="+mn-cs"/>
                        </a:rPr>
                        <a:t>RMSProp</a:t>
                      </a:r>
                      <a:r>
                        <a:rPr lang="en-US" sz="1300" b="0" i="0" dirty="0">
                          <a:solidFill>
                            <a:schemeClr val="dk1"/>
                          </a:solidFill>
                          <a:effectLst/>
                          <a:latin typeface="+mn-lt"/>
                          <a:ea typeface="+mn-ea"/>
                          <a:cs typeface="+mn-cs"/>
                        </a:rPr>
                        <a:t> for faster and more stable convergence.</a:t>
                      </a:r>
                      <a:endParaRPr lang="en-IN" sz="1300" dirty="0"/>
                    </a:p>
                  </a:txBody>
                  <a:tcPr/>
                </a:tc>
                <a:tc>
                  <a:txBody>
                    <a:bodyPr/>
                    <a:lstStyle/>
                    <a:p>
                      <a:r>
                        <a:rPr lang="en-US" sz="1300" b="0" i="0" dirty="0">
                          <a:solidFill>
                            <a:schemeClr val="dk1"/>
                          </a:solidFill>
                          <a:effectLst/>
                          <a:latin typeface="+mn-lt"/>
                          <a:ea typeface="+mn-ea"/>
                          <a:cs typeface="+mn-cs"/>
                        </a:rPr>
                        <a:t>Training deep neural networks, especially on large, sparse datasets.</a:t>
                      </a:r>
                      <a:endParaRPr lang="en-IN" sz="1300" dirty="0"/>
                    </a:p>
                  </a:txBody>
                  <a:tcPr/>
                </a:tc>
                <a:extLst>
                  <a:ext uri="{0D108BD9-81ED-4DB2-BD59-A6C34878D82A}">
                    <a16:rowId xmlns:a16="http://schemas.microsoft.com/office/drawing/2014/main" val="3020732272"/>
                  </a:ext>
                </a:extLst>
              </a:tr>
              <a:tr h="370840">
                <a:tc>
                  <a:txBody>
                    <a:bodyPr/>
                    <a:lstStyle/>
                    <a:p>
                      <a:r>
                        <a:rPr lang="en-US" b="1" i="0" dirty="0">
                          <a:solidFill>
                            <a:schemeClr val="dk1"/>
                          </a:solidFill>
                          <a:effectLst/>
                          <a:latin typeface="+mn-lt"/>
                          <a:ea typeface="+mn-ea"/>
                          <a:cs typeface="+mn-cs"/>
                        </a:rPr>
                        <a:t>Newton's Method and Quasi-Newton Methods</a:t>
                      </a:r>
                      <a:endParaRPr lang="en-IN" dirty="0"/>
                    </a:p>
                  </a:txBody>
                  <a:tcPr/>
                </a:tc>
                <a:tc>
                  <a:txBody>
                    <a:bodyPr/>
                    <a:lstStyle/>
                    <a:p>
                      <a:r>
                        <a:rPr lang="en-US" sz="1300" b="0" i="0" dirty="0">
                          <a:solidFill>
                            <a:schemeClr val="dk1"/>
                          </a:solidFill>
                          <a:effectLst/>
                          <a:latin typeface="+mn-lt"/>
                          <a:ea typeface="+mn-ea"/>
                          <a:cs typeface="+mn-cs"/>
                        </a:rPr>
                        <a:t>Second-order optimization techniques that use both the first (gradient) and second (Hessian) derivatives of the objective function. They typically converge faster but are more computationally expensive.</a:t>
                      </a:r>
                      <a:endParaRPr lang="en-IN" sz="1300" dirty="0"/>
                    </a:p>
                  </a:txBody>
                  <a:tcPr/>
                </a:tc>
                <a:tc>
                  <a:txBody>
                    <a:bodyPr/>
                    <a:lstStyle/>
                    <a:p>
                      <a:r>
                        <a:rPr lang="en-US" sz="1300" b="0" i="0" dirty="0">
                          <a:solidFill>
                            <a:schemeClr val="dk1"/>
                          </a:solidFill>
                          <a:effectLst/>
                          <a:latin typeface="+mn-lt"/>
                          <a:ea typeface="+mn-ea"/>
                          <a:cs typeface="+mn-cs"/>
                        </a:rPr>
                        <a:t>Smaller-scale or specific convex optimization problems where the Hessian matrix is manageable to compute.</a:t>
                      </a:r>
                      <a:endParaRPr lang="en-IN" sz="1300" dirty="0"/>
                    </a:p>
                  </a:txBody>
                  <a:tcPr/>
                </a:tc>
                <a:extLst>
                  <a:ext uri="{0D108BD9-81ED-4DB2-BD59-A6C34878D82A}">
                    <a16:rowId xmlns:a16="http://schemas.microsoft.com/office/drawing/2014/main" val="2388312917"/>
                  </a:ext>
                </a:extLst>
              </a:tr>
              <a:tr h="370840">
                <a:tc>
                  <a:txBody>
                    <a:bodyPr/>
                    <a:lstStyle/>
                    <a:p>
                      <a:r>
                        <a:rPr lang="en-IN" b="1" i="0" dirty="0">
                          <a:solidFill>
                            <a:schemeClr val="dk1"/>
                          </a:solidFill>
                          <a:effectLst/>
                          <a:latin typeface="+mn-lt"/>
                          <a:ea typeface="+mn-ea"/>
                          <a:cs typeface="+mn-cs"/>
                        </a:rPr>
                        <a:t>Constrained optimization (e.g., Lagrange Multipliers</a:t>
                      </a:r>
                      <a:endParaRPr lang="en-IN" dirty="0"/>
                    </a:p>
                  </a:txBody>
                  <a:tcPr/>
                </a:tc>
                <a:tc>
                  <a:txBody>
                    <a:bodyPr/>
                    <a:lstStyle/>
                    <a:p>
                      <a:r>
                        <a:rPr lang="en-US" sz="1300" b="0" i="0" dirty="0">
                          <a:solidFill>
                            <a:schemeClr val="dk1"/>
                          </a:solidFill>
                          <a:effectLst/>
                          <a:latin typeface="+mn-lt"/>
                          <a:ea typeface="+mn-ea"/>
                          <a:cs typeface="+mn-cs"/>
                        </a:rPr>
                        <a:t>A method for finding the maximum or minimum of a function subject to equality or inequality constraints. It introduces additional variables to turn a constrained problem into an unconstrained one.</a:t>
                      </a:r>
                      <a:endParaRPr lang="en-IN" sz="1300" dirty="0"/>
                    </a:p>
                  </a:txBody>
                  <a:tcPr/>
                </a:tc>
                <a:tc>
                  <a:txBody>
                    <a:bodyPr/>
                    <a:lstStyle/>
                    <a:p>
                      <a:r>
                        <a:rPr lang="en-US" sz="1300" b="0" i="0" dirty="0">
                          <a:solidFill>
                            <a:schemeClr val="dk1"/>
                          </a:solidFill>
                          <a:effectLst/>
                          <a:latin typeface="+mn-lt"/>
                          <a:ea typeface="+mn-ea"/>
                          <a:cs typeface="+mn-cs"/>
                        </a:rPr>
                        <a:t>Training Support Vector Machines (SVMs), which involves solving a constrained optimization problem</a:t>
                      </a:r>
                      <a:endParaRPr lang="en-IN" sz="1300" dirty="0"/>
                    </a:p>
                  </a:txBody>
                  <a:tcPr/>
                </a:tc>
                <a:extLst>
                  <a:ext uri="{0D108BD9-81ED-4DB2-BD59-A6C34878D82A}">
                    <a16:rowId xmlns:a16="http://schemas.microsoft.com/office/drawing/2014/main" val="2263369378"/>
                  </a:ext>
                </a:extLst>
              </a:tr>
            </a:tbl>
          </a:graphicData>
        </a:graphic>
      </p:graphicFrame>
    </p:spTree>
    <p:extLst>
      <p:ext uri="{BB962C8B-B14F-4D97-AF65-F5344CB8AC3E}">
        <p14:creationId xmlns:p14="http://schemas.microsoft.com/office/powerpoint/2010/main" val="1963882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F8F79-098E-D291-11E5-193047CB2AA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2FB4C52-C7EF-0551-ADB6-54A47540A138}"/>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18AE5C9-161D-9FC3-2CC8-4A4524C99FF1}"/>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F14EBEA-0835-42AB-5203-15DE3AD1D12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5586C76-8BD7-E9BF-83C0-04BC138515C2}"/>
              </a:ext>
            </a:extLst>
          </p:cNvPr>
          <p:cNvSpPr txBox="1">
            <a:spLocks/>
          </p:cNvSpPr>
          <p:nvPr/>
        </p:nvSpPr>
        <p:spPr>
          <a:xfrm>
            <a:off x="51885" y="1216968"/>
            <a:ext cx="8624937" cy="18158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a:p>
            <a:pPr marL="12700" marR="5080"/>
            <a:r>
              <a:rPr lang="en-US" sz="1600" kern="0" spc="-80" dirty="0">
                <a:solidFill>
                  <a:schemeClr val="accent2"/>
                </a:solidFill>
              </a:rPr>
              <a:t>Evolutionary optimization techniques in ML</a:t>
            </a:r>
          </a:p>
          <a:p>
            <a:pPr marL="12700" marR="5080"/>
            <a:r>
              <a:rPr lang="en-US" sz="1400" kern="0" spc="-80" dirty="0">
                <a:solidFill>
                  <a:schemeClr val="accent6"/>
                </a:solidFill>
              </a:rPr>
              <a:t>Evolutionary algorithms (EAs) are metaheuristic, population-based search techniques inspired by biological evolution. They are powerful for tackling complex, non-linear, or high-dimensional problems where classical methods might struggle</a:t>
            </a:r>
          </a:p>
          <a:p>
            <a:pPr marL="12700" marR="5080"/>
            <a:endParaRPr lang="en-US" sz="1400" kern="0" spc="-80" dirty="0">
              <a:solidFill>
                <a:schemeClr val="accent6"/>
              </a:solidFill>
            </a:endParaRPr>
          </a:p>
          <a:p>
            <a:pPr marL="12700" marR="5080"/>
            <a:endParaRPr lang="en-US" sz="1600" kern="0" spc="-80" dirty="0">
              <a:solidFill>
                <a:schemeClr val="accent2"/>
              </a:solidFill>
            </a:endParaRPr>
          </a:p>
          <a:p>
            <a:pPr marL="12700" marR="5080"/>
            <a:endParaRPr lang="en-US" sz="1500" kern="0" spc="-80" dirty="0">
              <a:solidFill>
                <a:schemeClr val="accent2"/>
              </a:solidFill>
            </a:endParaRPr>
          </a:p>
        </p:txBody>
      </p:sp>
      <p:graphicFrame>
        <p:nvGraphicFramePr>
          <p:cNvPr id="7" name="Table 6">
            <a:extLst>
              <a:ext uri="{FF2B5EF4-FFF2-40B4-BE49-F238E27FC236}">
                <a16:creationId xmlns:a16="http://schemas.microsoft.com/office/drawing/2014/main" id="{50A3AAF0-CCB6-C15E-4659-9AC5ECA67C94}"/>
              </a:ext>
            </a:extLst>
          </p:cNvPr>
          <p:cNvGraphicFramePr>
            <a:graphicFrameLocks noGrp="1"/>
          </p:cNvGraphicFramePr>
          <p:nvPr/>
        </p:nvGraphicFramePr>
        <p:xfrm>
          <a:off x="76200" y="2418080"/>
          <a:ext cx="8915400" cy="347980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3821301162"/>
                    </a:ext>
                  </a:extLst>
                </a:gridCol>
                <a:gridCol w="2971800">
                  <a:extLst>
                    <a:ext uri="{9D8B030D-6E8A-4147-A177-3AD203B41FA5}">
                      <a16:colId xmlns:a16="http://schemas.microsoft.com/office/drawing/2014/main" val="1423098329"/>
                    </a:ext>
                  </a:extLst>
                </a:gridCol>
                <a:gridCol w="2971800">
                  <a:extLst>
                    <a:ext uri="{9D8B030D-6E8A-4147-A177-3AD203B41FA5}">
                      <a16:colId xmlns:a16="http://schemas.microsoft.com/office/drawing/2014/main" val="1660703885"/>
                    </a:ext>
                  </a:extLst>
                </a:gridCol>
              </a:tblGrid>
              <a:tr h="370840">
                <a:tc>
                  <a:txBody>
                    <a:bodyPr/>
                    <a:lstStyle/>
                    <a:p>
                      <a:r>
                        <a:rPr lang="en-US" dirty="0"/>
                        <a:t>Technique</a:t>
                      </a:r>
                      <a:endParaRPr lang="en-IN" dirty="0"/>
                    </a:p>
                  </a:txBody>
                  <a:tcPr/>
                </a:tc>
                <a:tc>
                  <a:txBody>
                    <a:bodyPr/>
                    <a:lstStyle/>
                    <a:p>
                      <a:r>
                        <a:rPr lang="en-US" dirty="0"/>
                        <a:t>How it Works</a:t>
                      </a:r>
                      <a:endParaRPr lang="en-IN" dirty="0"/>
                    </a:p>
                  </a:txBody>
                  <a:tcPr/>
                </a:tc>
                <a:tc>
                  <a:txBody>
                    <a:bodyPr/>
                    <a:lstStyle/>
                    <a:p>
                      <a:r>
                        <a:rPr lang="en-US" dirty="0"/>
                        <a:t>Used For</a:t>
                      </a:r>
                      <a:endParaRPr lang="en-IN" dirty="0"/>
                    </a:p>
                  </a:txBody>
                  <a:tcPr/>
                </a:tc>
                <a:extLst>
                  <a:ext uri="{0D108BD9-81ED-4DB2-BD59-A6C34878D82A}">
                    <a16:rowId xmlns:a16="http://schemas.microsoft.com/office/drawing/2014/main" val="2576573169"/>
                  </a:ext>
                </a:extLst>
              </a:tr>
              <a:tr h="370840">
                <a:tc>
                  <a:txBody>
                    <a:bodyPr/>
                    <a:lstStyle/>
                    <a:p>
                      <a:r>
                        <a:rPr lang="en-IN" b="1" i="0" dirty="0">
                          <a:solidFill>
                            <a:schemeClr val="dk1"/>
                          </a:solidFill>
                          <a:effectLst/>
                          <a:latin typeface="+mn-lt"/>
                          <a:ea typeface="+mn-ea"/>
                          <a:cs typeface="+mn-cs"/>
                        </a:rPr>
                        <a:t>Genetic Algorithms (GA)</a:t>
                      </a:r>
                      <a:endParaRPr lang="en-IN" dirty="0"/>
                    </a:p>
                  </a:txBody>
                  <a:tcPr/>
                </a:tc>
                <a:tc>
                  <a:txBody>
                    <a:bodyPr/>
                    <a:lstStyle/>
                    <a:p>
                      <a:r>
                        <a:rPr lang="en-US" sz="1600" b="0" i="0" dirty="0">
                          <a:solidFill>
                            <a:schemeClr val="dk1"/>
                          </a:solidFill>
                          <a:effectLst/>
                          <a:latin typeface="+mn-lt"/>
                          <a:ea typeface="+mn-ea"/>
                          <a:cs typeface="+mn-cs"/>
                        </a:rPr>
                        <a:t>Mimics natural selection by creating an initial population of candidate solutions. These solutions evolve over generations through selection, crossover (recombination), and mutation to produce progressively "fitter" individuals.</a:t>
                      </a:r>
                      <a:endParaRPr lang="en-IN" sz="1500" dirty="0"/>
                    </a:p>
                  </a:txBody>
                  <a:tcPr/>
                </a:tc>
                <a:tc>
                  <a:txBody>
                    <a:bodyPr/>
                    <a:lstStyle/>
                    <a:p>
                      <a:r>
                        <a:rPr lang="en-US" sz="1600" b="0" i="0" dirty="0">
                          <a:solidFill>
                            <a:schemeClr val="dk1"/>
                          </a:solidFill>
                          <a:effectLst/>
                          <a:latin typeface="+mn-lt"/>
                          <a:ea typeface="+mn-ea"/>
                          <a:cs typeface="+mn-cs"/>
                        </a:rPr>
                        <a:t>Feature selection, hyperparameter tuning, and neural architecture search.</a:t>
                      </a:r>
                      <a:r>
                        <a:rPr lang="en-US" sz="1500" b="0" i="0" dirty="0">
                          <a:solidFill>
                            <a:schemeClr val="dk1"/>
                          </a:solidFill>
                          <a:effectLst/>
                          <a:latin typeface="+mn-lt"/>
                          <a:ea typeface="+mn-ea"/>
                          <a:cs typeface="+mn-cs"/>
                        </a:rPr>
                        <a:t>.</a:t>
                      </a:r>
                      <a:endParaRPr lang="en-IN" sz="1500" dirty="0"/>
                    </a:p>
                  </a:txBody>
                  <a:tcPr/>
                </a:tc>
                <a:extLst>
                  <a:ext uri="{0D108BD9-81ED-4DB2-BD59-A6C34878D82A}">
                    <a16:rowId xmlns:a16="http://schemas.microsoft.com/office/drawing/2014/main" val="1298352838"/>
                  </a:ext>
                </a:extLst>
              </a:tr>
              <a:tr h="370840">
                <a:tc>
                  <a:txBody>
                    <a:bodyPr/>
                    <a:lstStyle/>
                    <a:p>
                      <a:r>
                        <a:rPr lang="en-IN" b="1" i="0" dirty="0">
                          <a:solidFill>
                            <a:schemeClr val="dk1"/>
                          </a:solidFill>
                          <a:effectLst/>
                          <a:latin typeface="+mn-lt"/>
                          <a:ea typeface="+mn-ea"/>
                          <a:cs typeface="+mn-cs"/>
                        </a:rPr>
                        <a:t>Differential Evolution</a:t>
                      </a:r>
                      <a:endParaRPr lang="en-IN" dirty="0"/>
                    </a:p>
                  </a:txBody>
                  <a:tcPr/>
                </a:tc>
                <a:tc>
                  <a:txBody>
                    <a:bodyPr/>
                    <a:lstStyle/>
                    <a:p>
                      <a:r>
                        <a:rPr lang="en-US" sz="1600" b="0" i="0" dirty="0">
                          <a:solidFill>
                            <a:schemeClr val="dk1"/>
                          </a:solidFill>
                          <a:effectLst/>
                          <a:latin typeface="+mn-lt"/>
                          <a:ea typeface="+mn-ea"/>
                          <a:cs typeface="+mn-cs"/>
                        </a:rPr>
                        <a:t>A stochastic, population-based method that generates new solutions by combining existing population members.</a:t>
                      </a:r>
                      <a:endParaRPr lang="en-IN" sz="1500" dirty="0"/>
                    </a:p>
                  </a:txBody>
                  <a:tcPr/>
                </a:tc>
                <a:tc>
                  <a:txBody>
                    <a:bodyPr/>
                    <a:lstStyle/>
                    <a:p>
                      <a:r>
                        <a:rPr lang="en-US" sz="1600" b="0" i="0" dirty="0">
                          <a:solidFill>
                            <a:schemeClr val="dk1"/>
                          </a:solidFill>
                          <a:effectLst/>
                          <a:latin typeface="+mn-lt"/>
                          <a:ea typeface="+mn-ea"/>
                          <a:cs typeface="+mn-cs"/>
                        </a:rPr>
                        <a:t>Continuous parameter optimization, especially for complex, non-differentiable problems.</a:t>
                      </a:r>
                      <a:endParaRPr lang="en-IN" sz="1500" dirty="0"/>
                    </a:p>
                  </a:txBody>
                  <a:tcPr/>
                </a:tc>
                <a:extLst>
                  <a:ext uri="{0D108BD9-81ED-4DB2-BD59-A6C34878D82A}">
                    <a16:rowId xmlns:a16="http://schemas.microsoft.com/office/drawing/2014/main" val="510858152"/>
                  </a:ext>
                </a:extLst>
              </a:tr>
            </a:tbl>
          </a:graphicData>
        </a:graphic>
      </p:graphicFrame>
    </p:spTree>
    <p:extLst>
      <p:ext uri="{BB962C8B-B14F-4D97-AF65-F5344CB8AC3E}">
        <p14:creationId xmlns:p14="http://schemas.microsoft.com/office/powerpoint/2010/main" val="3202509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5E258-6D5A-7B04-92EA-417ED6BA598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C796FB-0780-F34C-36A2-4698EE9F34EC}"/>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F349584-18D1-1D6A-796C-A4687E3A227B}"/>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333828E-740B-3854-5818-F09F9CDF7B4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B182BE9-5910-A28E-C4D5-C3CF72890199}"/>
              </a:ext>
            </a:extLst>
          </p:cNvPr>
          <p:cNvSpPr txBox="1">
            <a:spLocks/>
          </p:cNvSpPr>
          <p:nvPr/>
        </p:nvSpPr>
        <p:spPr>
          <a:xfrm>
            <a:off x="51885" y="1216968"/>
            <a:ext cx="8624937"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a:p>
            <a:pPr marL="12700" marR="5080"/>
            <a:r>
              <a:rPr lang="en-US" sz="1600" kern="0" spc="-80" dirty="0">
                <a:solidFill>
                  <a:schemeClr val="accent2"/>
                </a:solidFill>
              </a:rPr>
              <a:t>Evolutionary optimization techniques in ML</a:t>
            </a:r>
          </a:p>
          <a:p>
            <a:pPr marL="12700" marR="5080"/>
            <a:endParaRPr lang="en-US" sz="1500" kern="0" spc="-80" dirty="0">
              <a:solidFill>
                <a:schemeClr val="accent2"/>
              </a:solidFill>
            </a:endParaRPr>
          </a:p>
        </p:txBody>
      </p:sp>
      <p:graphicFrame>
        <p:nvGraphicFramePr>
          <p:cNvPr id="2" name="Table 1">
            <a:extLst>
              <a:ext uri="{FF2B5EF4-FFF2-40B4-BE49-F238E27FC236}">
                <a16:creationId xmlns:a16="http://schemas.microsoft.com/office/drawing/2014/main" id="{0E89323A-DAB1-6A5B-E025-E55C2F64853E}"/>
              </a:ext>
            </a:extLst>
          </p:cNvPr>
          <p:cNvGraphicFramePr>
            <a:graphicFrameLocks noGrp="1"/>
          </p:cNvGraphicFramePr>
          <p:nvPr/>
        </p:nvGraphicFramePr>
        <p:xfrm>
          <a:off x="76199" y="1717040"/>
          <a:ext cx="8991600" cy="4058920"/>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836689321"/>
                    </a:ext>
                  </a:extLst>
                </a:gridCol>
                <a:gridCol w="2997200">
                  <a:extLst>
                    <a:ext uri="{9D8B030D-6E8A-4147-A177-3AD203B41FA5}">
                      <a16:colId xmlns:a16="http://schemas.microsoft.com/office/drawing/2014/main" val="1473836249"/>
                    </a:ext>
                  </a:extLst>
                </a:gridCol>
                <a:gridCol w="2997200">
                  <a:extLst>
                    <a:ext uri="{9D8B030D-6E8A-4147-A177-3AD203B41FA5}">
                      <a16:colId xmlns:a16="http://schemas.microsoft.com/office/drawing/2014/main" val="1844113098"/>
                    </a:ext>
                  </a:extLst>
                </a:gridCol>
              </a:tblGrid>
              <a:tr h="370840">
                <a:tc>
                  <a:txBody>
                    <a:bodyPr/>
                    <a:lstStyle/>
                    <a:p>
                      <a:r>
                        <a:rPr lang="en-US" dirty="0"/>
                        <a:t>Technique</a:t>
                      </a:r>
                      <a:endParaRPr lang="en-IN" dirty="0"/>
                    </a:p>
                  </a:txBody>
                  <a:tcPr/>
                </a:tc>
                <a:tc>
                  <a:txBody>
                    <a:bodyPr/>
                    <a:lstStyle/>
                    <a:p>
                      <a:r>
                        <a:rPr lang="en-US" dirty="0"/>
                        <a:t>How it Works</a:t>
                      </a:r>
                      <a:endParaRPr lang="en-IN" dirty="0"/>
                    </a:p>
                  </a:txBody>
                  <a:tcPr/>
                </a:tc>
                <a:tc>
                  <a:txBody>
                    <a:bodyPr/>
                    <a:lstStyle/>
                    <a:p>
                      <a:r>
                        <a:rPr lang="en-US" dirty="0"/>
                        <a:t>Used For</a:t>
                      </a:r>
                      <a:endParaRPr lang="en-IN" dirty="0"/>
                    </a:p>
                  </a:txBody>
                  <a:tcPr/>
                </a:tc>
                <a:extLst>
                  <a:ext uri="{0D108BD9-81ED-4DB2-BD59-A6C34878D82A}">
                    <a16:rowId xmlns:a16="http://schemas.microsoft.com/office/drawing/2014/main" val="3026653135"/>
                  </a:ext>
                </a:extLst>
              </a:tr>
              <a:tr h="370840">
                <a:tc>
                  <a:txBody>
                    <a:bodyPr/>
                    <a:lstStyle/>
                    <a:p>
                      <a:r>
                        <a:rPr lang="en-IN" b="1" i="0" dirty="0">
                          <a:solidFill>
                            <a:schemeClr val="dk1"/>
                          </a:solidFill>
                          <a:effectLst/>
                          <a:latin typeface="+mn-lt"/>
                          <a:ea typeface="+mn-ea"/>
                          <a:cs typeface="+mn-cs"/>
                        </a:rPr>
                        <a:t>Particle Swarm Optimization (PSO)</a:t>
                      </a:r>
                      <a:endParaRPr lang="en-IN" dirty="0"/>
                    </a:p>
                  </a:txBody>
                  <a:tcPr/>
                </a:tc>
                <a:tc>
                  <a:txBody>
                    <a:bodyPr/>
                    <a:lstStyle/>
                    <a:p>
                      <a:r>
                        <a:rPr lang="en-US" sz="1400" b="0" i="0" dirty="0">
                          <a:solidFill>
                            <a:schemeClr val="dk1"/>
                          </a:solidFill>
                          <a:effectLst/>
                          <a:latin typeface="+mn-lt"/>
                          <a:ea typeface="+mn-ea"/>
                          <a:cs typeface="+mn-cs"/>
                        </a:rPr>
                        <a:t>Inspired by the social behavior of bird flocks or fish schooling. A population of candidate solutions ("particles") moves through the search space, adjusting their positions based on their own best-known position and the swarm's global best position.</a:t>
                      </a:r>
                      <a:endParaRPr lang="en-IN" sz="1300" dirty="0"/>
                    </a:p>
                  </a:txBody>
                  <a:tcPr/>
                </a:tc>
                <a:tc>
                  <a:txBody>
                    <a:bodyPr/>
                    <a:lstStyle/>
                    <a:p>
                      <a:r>
                        <a:rPr lang="en-US" sz="1400" b="0" i="0" dirty="0">
                          <a:solidFill>
                            <a:schemeClr val="dk1"/>
                          </a:solidFill>
                          <a:effectLst/>
                          <a:latin typeface="+mn-lt"/>
                          <a:ea typeface="+mn-ea"/>
                          <a:cs typeface="+mn-cs"/>
                        </a:rPr>
                        <a:t>Hyperparameter tuning, feature selection, and training neural networks.</a:t>
                      </a:r>
                      <a:endParaRPr lang="en-IN" sz="1300" dirty="0"/>
                    </a:p>
                  </a:txBody>
                  <a:tcPr/>
                </a:tc>
                <a:extLst>
                  <a:ext uri="{0D108BD9-81ED-4DB2-BD59-A6C34878D82A}">
                    <a16:rowId xmlns:a16="http://schemas.microsoft.com/office/drawing/2014/main" val="3020732272"/>
                  </a:ext>
                </a:extLst>
              </a:tr>
              <a:tr h="370840">
                <a:tc>
                  <a:txBody>
                    <a:bodyPr/>
                    <a:lstStyle/>
                    <a:p>
                      <a:r>
                        <a:rPr lang="en-IN" b="1" i="0" dirty="0">
                          <a:solidFill>
                            <a:schemeClr val="dk1"/>
                          </a:solidFill>
                          <a:effectLst/>
                          <a:latin typeface="+mn-lt"/>
                          <a:ea typeface="+mn-ea"/>
                          <a:cs typeface="+mn-cs"/>
                        </a:rPr>
                        <a:t>Evolutionary Strategies (ES</a:t>
                      </a:r>
                      <a:endParaRPr lang="en-IN" dirty="0"/>
                    </a:p>
                  </a:txBody>
                  <a:tcPr/>
                </a:tc>
                <a:tc>
                  <a:txBody>
                    <a:bodyPr/>
                    <a:lstStyle/>
                    <a:p>
                      <a:r>
                        <a:rPr lang="en-US" sz="1400" b="0" i="0" dirty="0">
                          <a:solidFill>
                            <a:schemeClr val="dk1"/>
                          </a:solidFill>
                          <a:effectLst/>
                          <a:latin typeface="+mn-lt"/>
                          <a:ea typeface="+mn-ea"/>
                          <a:cs typeface="+mn-cs"/>
                        </a:rPr>
                        <a:t>Optimization techniques specifically designed for continuous parameter problems, often using self-adaptive mutation rates.</a:t>
                      </a:r>
                      <a:endParaRPr lang="en-IN" sz="1300" dirty="0"/>
                    </a:p>
                  </a:txBody>
                  <a:tcPr/>
                </a:tc>
                <a:tc>
                  <a:txBody>
                    <a:bodyPr/>
                    <a:lstStyle/>
                    <a:p>
                      <a:r>
                        <a:rPr lang="en-US" sz="1400" b="0" i="0" dirty="0">
                          <a:solidFill>
                            <a:schemeClr val="dk1"/>
                          </a:solidFill>
                          <a:effectLst/>
                          <a:latin typeface="+mn-lt"/>
                          <a:ea typeface="+mn-ea"/>
                          <a:cs typeface="+mn-cs"/>
                        </a:rPr>
                        <a:t>Solving complex optimization problems, such as black-box optimization.</a:t>
                      </a:r>
                      <a:endParaRPr lang="en-IN" sz="1300" dirty="0"/>
                    </a:p>
                  </a:txBody>
                  <a:tcPr/>
                </a:tc>
                <a:extLst>
                  <a:ext uri="{0D108BD9-81ED-4DB2-BD59-A6C34878D82A}">
                    <a16:rowId xmlns:a16="http://schemas.microsoft.com/office/drawing/2014/main" val="2388312917"/>
                  </a:ext>
                </a:extLst>
              </a:tr>
              <a:tr h="370840">
                <a:tc>
                  <a:txBody>
                    <a:bodyPr/>
                    <a:lstStyle/>
                    <a:p>
                      <a:r>
                        <a:rPr lang="en-IN" b="1" i="0" dirty="0">
                          <a:solidFill>
                            <a:schemeClr val="dk1"/>
                          </a:solidFill>
                          <a:effectLst/>
                          <a:latin typeface="+mn-lt"/>
                          <a:ea typeface="+mn-ea"/>
                          <a:cs typeface="+mn-cs"/>
                        </a:rPr>
                        <a:t>Simulated Annealing (SA)</a:t>
                      </a:r>
                      <a:endParaRPr lang="en-IN" dirty="0"/>
                    </a:p>
                  </a:txBody>
                  <a:tcPr/>
                </a:tc>
                <a:tc>
                  <a:txBody>
                    <a:bodyPr/>
                    <a:lstStyle/>
                    <a:p>
                      <a:r>
                        <a:rPr lang="en-US" sz="1400" b="0" i="0" dirty="0">
                          <a:solidFill>
                            <a:schemeClr val="dk1"/>
                          </a:solidFill>
                          <a:effectLst/>
                          <a:latin typeface="+mn-lt"/>
                          <a:ea typeface="+mn-ea"/>
                          <a:cs typeface="+mn-cs"/>
                        </a:rPr>
                        <a:t>A trajectory-based metaheuristic that accepts worse solutions with a certain probability that decreases over time. This helps the algorithm avoid getting trapped in local minima.</a:t>
                      </a:r>
                      <a:endParaRPr lang="en-IN" sz="1300" dirty="0"/>
                    </a:p>
                  </a:txBody>
                  <a:tcPr/>
                </a:tc>
                <a:tc>
                  <a:txBody>
                    <a:bodyPr/>
                    <a:lstStyle/>
                    <a:p>
                      <a:r>
                        <a:rPr lang="en-US" sz="1400" b="0" i="0" dirty="0">
                          <a:solidFill>
                            <a:schemeClr val="dk1"/>
                          </a:solidFill>
                          <a:effectLst/>
                          <a:latin typeface="+mn-lt"/>
                          <a:ea typeface="+mn-ea"/>
                          <a:cs typeface="+mn-cs"/>
                        </a:rPr>
                        <a:t>Optimizing neural network weights and for hyperparameter tuning.</a:t>
                      </a:r>
                      <a:endParaRPr lang="en-IN" sz="1300" dirty="0"/>
                    </a:p>
                  </a:txBody>
                  <a:tcPr/>
                </a:tc>
                <a:extLst>
                  <a:ext uri="{0D108BD9-81ED-4DB2-BD59-A6C34878D82A}">
                    <a16:rowId xmlns:a16="http://schemas.microsoft.com/office/drawing/2014/main" val="2263369378"/>
                  </a:ext>
                </a:extLst>
              </a:tr>
            </a:tbl>
          </a:graphicData>
        </a:graphic>
      </p:graphicFrame>
    </p:spTree>
    <p:extLst>
      <p:ext uri="{BB962C8B-B14F-4D97-AF65-F5344CB8AC3E}">
        <p14:creationId xmlns:p14="http://schemas.microsoft.com/office/powerpoint/2010/main" val="21730634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2FFC9-1012-1DFE-DCCA-71EF3B2EFA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84AADA-DD61-B4F0-72DA-62963AE3507F}"/>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04B03B7-EF59-64C0-D5F5-D1B626FFF242}"/>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BFF6B5E-48C5-0C43-01E3-9E3A54EC838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4BDFEF6-77EE-0674-94CB-8BB0E06957A7}"/>
              </a:ext>
            </a:extLst>
          </p:cNvPr>
          <p:cNvSpPr txBox="1">
            <a:spLocks/>
          </p:cNvSpPr>
          <p:nvPr/>
        </p:nvSpPr>
        <p:spPr>
          <a:xfrm>
            <a:off x="51885" y="1216968"/>
            <a:ext cx="8624937" cy="28623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a:p>
            <a:pPr marL="12700" marR="5080"/>
            <a:r>
              <a:rPr lang="en-US" sz="1600" kern="0" spc="-80" dirty="0">
                <a:solidFill>
                  <a:schemeClr val="accent2"/>
                </a:solidFill>
              </a:rPr>
              <a:t>Hybrid </a:t>
            </a:r>
            <a:r>
              <a:rPr lang="en-US" sz="1600" kern="0" spc="-80" dirty="0" err="1">
                <a:solidFill>
                  <a:schemeClr val="accent2"/>
                </a:solidFill>
              </a:rPr>
              <a:t>Optimisation</a:t>
            </a:r>
            <a:r>
              <a:rPr lang="en-US" sz="1600" kern="0" spc="-80" dirty="0">
                <a:solidFill>
                  <a:schemeClr val="accent2"/>
                </a:solidFill>
              </a:rPr>
              <a:t> techniques in ML</a:t>
            </a:r>
          </a:p>
          <a:p>
            <a:pPr marL="12700" marR="5080"/>
            <a:r>
              <a:rPr lang="en-US" sz="1400" kern="0" spc="-80" dirty="0">
                <a:solidFill>
                  <a:schemeClr val="accent6"/>
                </a:solidFill>
              </a:rPr>
              <a:t>In many cases, hybrid methods combine the strengths of both classical and evolutionary approaches to tackle complex challenges more effectively. </a:t>
            </a:r>
          </a:p>
          <a:p>
            <a:pPr marL="12700" marR="5080"/>
            <a:r>
              <a:rPr lang="en-US" sz="1400" kern="0" spc="-80" dirty="0">
                <a:solidFill>
                  <a:schemeClr val="accent2"/>
                </a:solidFill>
              </a:rPr>
              <a:t>Classical + Evolutionary: </a:t>
            </a:r>
            <a:r>
              <a:rPr lang="en-US" sz="1400" kern="0" spc="-80" dirty="0">
                <a:solidFill>
                  <a:schemeClr val="accent6"/>
                </a:solidFill>
              </a:rPr>
              <a:t>Evolutionary algorithms can be used for global search to find promising regions, while classical gradient-based methods can be used for fine-tuning within those regions.</a:t>
            </a:r>
          </a:p>
          <a:p>
            <a:pPr marL="12700" marR="5080"/>
            <a:r>
              <a:rPr lang="en-US" sz="1400" kern="0" spc="-80" dirty="0">
                <a:solidFill>
                  <a:schemeClr val="accent2"/>
                </a:solidFill>
              </a:rPr>
              <a:t>Evolutionary for Hyperparameter Tuning: </a:t>
            </a:r>
            <a:r>
              <a:rPr lang="en-US" sz="1400" kern="0" spc="-80" dirty="0">
                <a:solidFill>
                  <a:schemeClr val="accent6"/>
                </a:solidFill>
              </a:rPr>
              <a:t>EAs are often used to find optimal hyperparameters (e.g., learning rate, number of layers) for deep learning models, which are then trained using classical gradient-based methods.</a:t>
            </a:r>
          </a:p>
          <a:p>
            <a:pPr marL="12700" marR="5080"/>
            <a:r>
              <a:rPr lang="en-US" sz="1400" kern="0" spc="-80" dirty="0">
                <a:solidFill>
                  <a:schemeClr val="accent2"/>
                </a:solidFill>
              </a:rPr>
              <a:t>Combining Models: </a:t>
            </a:r>
            <a:r>
              <a:rPr lang="en-US" sz="1400" kern="0" spc="-80" dirty="0">
                <a:solidFill>
                  <a:schemeClr val="accent6"/>
                </a:solidFill>
              </a:rPr>
              <a:t>Hybrid machine learning can involve combining different algorithms in a layered or parallel architecture. For example, deep learning models can be used for feature extraction, with a traditional ML model for the final classification. </a:t>
            </a: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3175247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D5F89-E9D1-08FA-0AC9-D24DC588F59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1460B7C-F8F0-2180-8566-41A0457BCCAD}"/>
              </a:ext>
            </a:extLst>
          </p:cNvPr>
          <p:cNvSpPr/>
          <p:nvPr/>
        </p:nvSpPr>
        <p:spPr>
          <a:xfrm>
            <a:off x="1671320" y="97096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78B60A-0D43-A6F3-D2C5-3DC6C2BFAB4D}"/>
              </a:ext>
            </a:extLst>
          </p:cNvPr>
          <p:cNvSpPr/>
          <p:nvPr/>
        </p:nvSpPr>
        <p:spPr>
          <a:xfrm>
            <a:off x="1671320" y="79798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413A531-BB96-004B-9598-032E6CE01812}"/>
              </a:ext>
            </a:extLst>
          </p:cNvPr>
          <p:cNvGraphicFramePr/>
          <p:nvPr/>
        </p:nvGraphicFramePr>
        <p:xfrm>
          <a:off x="-178118" y="-155154"/>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2289E5B-61F6-7BBF-A186-B1DE9FEC68A5}"/>
              </a:ext>
            </a:extLst>
          </p:cNvPr>
          <p:cNvSpPr txBox="1">
            <a:spLocks/>
          </p:cNvSpPr>
          <p:nvPr/>
        </p:nvSpPr>
        <p:spPr>
          <a:xfrm>
            <a:off x="35560" y="1084629"/>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dirty="0">
                <a:solidFill>
                  <a:srgbClr val="1F2328"/>
                </a:solidFill>
                <a:latin typeface="-apple-system"/>
              </a:rPr>
              <a:t> </a:t>
            </a:r>
            <a:r>
              <a:rPr lang="en-US" sz="1500" kern="0" spc="-80" dirty="0">
                <a:solidFill>
                  <a:schemeClr val="accent2"/>
                </a:solidFill>
              </a:rPr>
              <a:t>How Classical/Evolutionary </a:t>
            </a:r>
            <a:r>
              <a:rPr lang="en-US" sz="1500" kern="0" spc="-80" dirty="0" err="1">
                <a:solidFill>
                  <a:schemeClr val="accent2"/>
                </a:solidFill>
              </a:rPr>
              <a:t>Optimisation</a:t>
            </a:r>
            <a:r>
              <a:rPr lang="en-US" sz="1500" kern="0" spc="-80" dirty="0">
                <a:solidFill>
                  <a:schemeClr val="accent2"/>
                </a:solidFill>
              </a:rPr>
              <a:t> is(/can be) used in ML</a:t>
            </a:r>
          </a:p>
          <a:p>
            <a:pPr marL="12700" marR="5080"/>
            <a:r>
              <a:rPr lang="en-US" sz="1500" kern="0" spc="-80" dirty="0">
                <a:solidFill>
                  <a:schemeClr val="accent2"/>
                </a:solidFill>
              </a:rPr>
              <a:t>For Further Exploration </a:t>
            </a:r>
          </a:p>
          <a:p>
            <a:pPr marL="12700" marR="5080"/>
            <a:r>
              <a:rPr lang="en-US" sz="1200" dirty="0">
                <a:hlinkClick r:id="rId7"/>
              </a:rPr>
              <a:t>Optimization for Data Science – </a:t>
            </a:r>
            <a:r>
              <a:rPr lang="en-US" sz="1200" dirty="0" err="1">
                <a:hlinkClick r:id="rId7"/>
              </a:rPr>
              <a:t>GeeksforGeeks</a:t>
            </a:r>
            <a:endParaRPr lang="en-US" sz="1200" dirty="0"/>
          </a:p>
          <a:p>
            <a:pPr marL="12700" marR="5080"/>
            <a:r>
              <a:rPr lang="en-US" sz="1200" dirty="0">
                <a:hlinkClick r:id="rId8"/>
              </a:rPr>
              <a:t>Optimization Algorithms in Machine Learning - </a:t>
            </a:r>
            <a:r>
              <a:rPr lang="en-US" sz="1200" dirty="0" err="1">
                <a:hlinkClick r:id="rId8"/>
              </a:rPr>
              <a:t>GeeksforGeeks</a:t>
            </a:r>
            <a:endParaRPr lang="en-US" sz="1200" kern="0" spc="-80" dirty="0">
              <a:solidFill>
                <a:schemeClr val="accent2"/>
              </a:solidFill>
            </a:endParaRPr>
          </a:p>
          <a:p>
            <a:pPr marL="12700" marR="5080"/>
            <a:r>
              <a:rPr lang="en-US" sz="1200" dirty="0">
                <a:hlinkClick r:id="rId9"/>
              </a:rPr>
              <a:t>Convex vs. Non-Convex Functions</a:t>
            </a:r>
            <a:endParaRPr lang="en-US" sz="1200" dirty="0"/>
          </a:p>
          <a:p>
            <a:pPr marL="12700" marR="5080"/>
            <a:r>
              <a:rPr lang="en-US" sz="1200" dirty="0">
                <a:hlinkClick r:id="rId10"/>
              </a:rPr>
              <a:t>Taxonomy of optimization methods</a:t>
            </a:r>
            <a:endParaRPr lang="en-US" sz="1200" dirty="0"/>
          </a:p>
          <a:p>
            <a:pPr marL="12700" marR="5080"/>
            <a:r>
              <a:rPr lang="en-US" sz="1200" dirty="0">
                <a:hlinkClick r:id="rId11"/>
              </a:rPr>
              <a:t>Hands-On Mathematical Optimization with Python</a:t>
            </a:r>
            <a:endParaRPr lang="en-US" sz="1200" dirty="0"/>
          </a:p>
          <a:p>
            <a:pPr marL="12700" marR="5080"/>
            <a:r>
              <a:rPr lang="en-US" sz="1200" dirty="0">
                <a:hlinkClick r:id="rId12"/>
              </a:rPr>
              <a:t>Algorithms for Convex Optimization</a:t>
            </a:r>
            <a:endParaRPr lang="en-US" sz="1200" dirty="0"/>
          </a:p>
          <a:p>
            <a:pPr marL="12700" marR="5080"/>
            <a:r>
              <a:rPr lang="en-US" sz="1200" dirty="0">
                <a:hlinkClick r:id="rId13"/>
              </a:rPr>
              <a:t>About OR-Tools  |  Google for Developers</a:t>
            </a:r>
            <a:endParaRPr lang="en-US" sz="1200" dirty="0"/>
          </a:p>
          <a:p>
            <a:pPr marL="12700" marR="5080"/>
            <a:r>
              <a:rPr lang="en-US" sz="1200" dirty="0">
                <a:hlinkClick r:id="rId14"/>
              </a:rPr>
              <a:t>Awesome-Operations-Research</a:t>
            </a:r>
            <a:endParaRPr lang="en-US" sz="1200" dirty="0"/>
          </a:p>
          <a:p>
            <a:pPr marL="12700" marR="5080"/>
            <a:r>
              <a:rPr lang="en-IN" sz="1200" dirty="0">
                <a:hlinkClick r:id="rId15"/>
              </a:rPr>
              <a:t>Parallel Numerical Algorithms</a:t>
            </a:r>
            <a:endParaRPr lang="en-IN" sz="1200" dirty="0"/>
          </a:p>
          <a:p>
            <a:pPr marL="12700" marR="5080"/>
            <a:r>
              <a:rPr lang="en-IN" sz="1200" dirty="0">
                <a:hlinkClick r:id="rId16"/>
              </a:rPr>
              <a:t>Algorithms for Optimization</a:t>
            </a:r>
            <a:endParaRPr lang="en-IN" sz="1200" dirty="0"/>
          </a:p>
          <a:p>
            <a:pPr marL="12700" marR="5080"/>
            <a:r>
              <a:rPr lang="en-US" sz="1200" dirty="0">
                <a:hlinkClick r:id="rId17"/>
              </a:rPr>
              <a:t>An Introduction to Bayesian Thinking</a:t>
            </a:r>
            <a:endParaRPr lang="en-US" sz="1200" dirty="0"/>
          </a:p>
          <a:p>
            <a:pPr marL="12700" marR="5080"/>
            <a:r>
              <a:rPr lang="en-IN" sz="1200" dirty="0">
                <a:hlinkClick r:id="rId18"/>
              </a:rPr>
              <a:t>Bayesian Optimisation</a:t>
            </a:r>
            <a:endParaRPr lang="en-IN" sz="1200" dirty="0"/>
          </a:p>
          <a:p>
            <a:pPr marL="12700" marR="5080"/>
            <a:r>
              <a:rPr lang="en-US" sz="1200" dirty="0">
                <a:hlinkClick r:id="rId19"/>
              </a:rPr>
              <a:t>Bayesian Data Analysis</a:t>
            </a:r>
            <a:endParaRPr lang="en-IN" sz="1200" dirty="0"/>
          </a:p>
          <a:p>
            <a:pPr marL="12700" marR="5080"/>
            <a:r>
              <a:rPr lang="en-US" sz="1200" dirty="0">
                <a:hlinkClick r:id="rId20"/>
              </a:rPr>
              <a:t>Bayesian Modeling and Computation in Python</a:t>
            </a:r>
            <a:endParaRPr lang="en-US" sz="1200" dirty="0"/>
          </a:p>
          <a:p>
            <a:pPr marL="12700" marR="5080"/>
            <a:r>
              <a:rPr lang="en-US" sz="1200" dirty="0">
                <a:hlinkClick r:id="rId21"/>
              </a:rPr>
              <a:t>Evolution Strategies From Scratch in Python</a:t>
            </a:r>
            <a:endParaRPr lang="en-US" sz="1200" dirty="0"/>
          </a:p>
          <a:p>
            <a:pPr marL="12700" marR="5080"/>
            <a:r>
              <a:rPr lang="en-IN" sz="1200" dirty="0">
                <a:hlinkClick r:id="rId22"/>
              </a:rPr>
              <a:t>Genetic Algorithms And Artificial </a:t>
            </a:r>
            <a:r>
              <a:rPr lang="en-IN" sz="1200" dirty="0" err="1">
                <a:hlinkClick r:id="rId22"/>
              </a:rPr>
              <a:t>NeuralNets</a:t>
            </a:r>
            <a:r>
              <a:rPr lang="en-IN" sz="1200" dirty="0">
                <a:hlinkClick r:id="rId22"/>
              </a:rPr>
              <a:t> in Vanilla JS</a:t>
            </a:r>
            <a:endParaRPr lang="en-IN" sz="1200" dirty="0"/>
          </a:p>
          <a:p>
            <a:pPr marL="12700" marR="5080"/>
            <a:r>
              <a:rPr lang="en-US" sz="1200" dirty="0">
                <a:hlinkClick r:id="rId23"/>
              </a:rPr>
              <a:t>Introduction to Evolutionary Algorithms | </a:t>
            </a:r>
            <a:r>
              <a:rPr lang="en-US" sz="1200" dirty="0" err="1">
                <a:hlinkClick r:id="rId23"/>
              </a:rPr>
              <a:t>IntechOpen</a:t>
            </a:r>
            <a:endParaRPr lang="en-IN" sz="1200" dirty="0"/>
          </a:p>
          <a:p>
            <a:pPr marL="12700" marR="5080"/>
            <a:r>
              <a:rPr lang="en-IN" sz="1200" dirty="0">
                <a:hlinkClick r:id="rId24"/>
              </a:rPr>
              <a:t>Clever Algorithms</a:t>
            </a:r>
            <a:endParaRPr lang="en-IN" sz="1200" dirty="0"/>
          </a:p>
          <a:p>
            <a:pPr marL="12700" marR="5080"/>
            <a:r>
              <a:rPr lang="en-US" sz="1200" dirty="0">
                <a:hlinkClick r:id="rId25"/>
              </a:rPr>
              <a:t>Genetic-Algorithms</a:t>
            </a:r>
            <a:endParaRPr lang="en-US" sz="1200" dirty="0"/>
          </a:p>
          <a:p>
            <a:pPr marL="12700" marR="5080"/>
            <a:r>
              <a:rPr lang="en-US" sz="1200" dirty="0">
                <a:hlinkClick r:id="rId26"/>
              </a:rPr>
              <a:t>Artificial-Intelligence-for-Big-Data</a:t>
            </a:r>
            <a:endParaRPr lang="en-US" sz="1200" dirty="0"/>
          </a:p>
          <a:p>
            <a:pPr marL="12700" marR="5080"/>
            <a:r>
              <a:rPr lang="en-US" sz="1200" dirty="0">
                <a:hlinkClick r:id="rId27"/>
              </a:rPr>
              <a:t>Hands-On-Genetic-Algorithms-with-Python</a:t>
            </a:r>
            <a:endParaRPr lang="en-US" sz="1200" dirty="0"/>
          </a:p>
          <a:p>
            <a:pPr marL="12700" marR="5080"/>
            <a:r>
              <a:rPr lang="en-IN" sz="1200" dirty="0">
                <a:hlinkClick r:id="rId28"/>
              </a:rPr>
              <a:t>Principles of Soft Computing,</a:t>
            </a:r>
            <a:endParaRPr lang="en-IN" sz="1200" dirty="0"/>
          </a:p>
          <a:p>
            <a:pPr marL="12700" marR="5080"/>
            <a:r>
              <a:rPr lang="en-IN" sz="1200" dirty="0">
                <a:hlinkClick r:id="rId29"/>
              </a:rPr>
              <a:t>Optimisation under </a:t>
            </a:r>
            <a:r>
              <a:rPr lang="en-IN" sz="1200" dirty="0" err="1">
                <a:hlinkClick r:id="rId29"/>
              </a:rPr>
              <a:t>Uncertainity</a:t>
            </a:r>
            <a:endParaRPr lang="en-IN" sz="1200" dirty="0"/>
          </a:p>
          <a:p>
            <a:pPr marL="12700" marR="5080"/>
            <a:r>
              <a:rPr lang="en-IN" sz="1200" dirty="0">
                <a:hlinkClick r:id="rId30"/>
              </a:rPr>
              <a:t>Decision AI</a:t>
            </a:r>
            <a:endParaRPr lang="en-IN" sz="1200" dirty="0"/>
          </a:p>
          <a:p>
            <a:pPr marL="12700" marR="5080"/>
            <a:endParaRPr lang="en-US" sz="1400" kern="0" spc="-80" dirty="0">
              <a:solidFill>
                <a:schemeClr val="accent2"/>
              </a:solidFill>
            </a:endParaRPr>
          </a:p>
        </p:txBody>
      </p:sp>
    </p:spTree>
    <p:extLst>
      <p:ext uri="{BB962C8B-B14F-4D97-AF65-F5344CB8AC3E}">
        <p14:creationId xmlns:p14="http://schemas.microsoft.com/office/powerpoint/2010/main" val="20628894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89113-66E7-2481-EC2B-38A3E93DC32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E6626BE-6FAE-B5D3-7C8F-AE36DE412956}"/>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7A98900-2546-5F45-8F5B-9AB3D411176D}"/>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D3C3D7-9F0E-0D4C-133E-259B9FB3D98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7E190B6-8C16-13BF-7696-A3B669A88819}"/>
              </a:ext>
            </a:extLst>
          </p:cNvPr>
          <p:cNvSpPr txBox="1">
            <a:spLocks/>
          </p:cNvSpPr>
          <p:nvPr/>
        </p:nvSpPr>
        <p:spPr>
          <a:xfrm>
            <a:off x="51885" y="1252478"/>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Geometry and Topology is(/can be) used in ML</a:t>
            </a:r>
          </a:p>
          <a:p>
            <a:r>
              <a:rPr lang="en-US" sz="1400" kern="0" spc="-80" dirty="0">
                <a:solidFill>
                  <a:schemeClr val="accent6"/>
                </a:solidFill>
              </a:rPr>
              <a:t>Geometry and topology are used in machine learning to extract, represent, and understand the underlying structure of data. Geometry focuses on quantitative, local details like distance, while topology analyzes the global, qualitative properties such as connectivity and holes, often through techniques like </a:t>
            </a:r>
            <a:r>
              <a:rPr lang="en-US" sz="1400" kern="0" spc="-80" dirty="0">
                <a:solidFill>
                  <a:schemeClr val="accent6"/>
                </a:solidFill>
                <a:hlinkClick r:id="rId7">
                  <a:extLst>
                    <a:ext uri="{A12FA001-AC4F-418D-AE19-62706E023703}">
                      <ahyp:hlinkClr xmlns:ahyp="http://schemas.microsoft.com/office/drawing/2018/hyperlinkcolor" val="tx"/>
                    </a:ext>
                  </a:extLst>
                </a:hlinkClick>
              </a:rPr>
              <a:t>persistent homology</a:t>
            </a:r>
            <a:r>
              <a:rPr lang="en-US" sz="1400" kern="0" spc="-80" dirty="0">
                <a:solidFill>
                  <a:schemeClr val="accent6"/>
                </a:solidFill>
              </a:rPr>
              <a:t>. Applications include creating more robust models, reducing dimensionality, improving non-linear models, and analyzing complex data like graphs and point clouds by incorporating topological features as inductive biases. </a:t>
            </a:r>
          </a:p>
          <a:p>
            <a:r>
              <a:rPr lang="en-US" sz="1400" kern="0" spc="-80" dirty="0">
                <a:solidFill>
                  <a:schemeClr val="accent2"/>
                </a:solidFill>
              </a:rPr>
              <a:t>Geometry in machine learning</a:t>
            </a:r>
          </a:p>
          <a:p>
            <a:r>
              <a:rPr lang="en-US" sz="1400" kern="0" spc="-80" dirty="0">
                <a:solidFill>
                  <a:schemeClr val="accent2"/>
                </a:solidFill>
              </a:rPr>
              <a:t>Local structure: </a:t>
            </a:r>
          </a:p>
          <a:p>
            <a:r>
              <a:rPr lang="en-US" sz="1400" kern="0" spc="-80" dirty="0">
                <a:solidFill>
                  <a:schemeClr val="accent6"/>
                </a:solidFill>
              </a:rPr>
              <a:t>Geometry deals with the fine details of data, such as distances between points. This is leveraged in loss functions for generative models and regularization techniques, which rely on the underlying Euclidean geometry of feature spaces. </a:t>
            </a:r>
          </a:p>
          <a:p>
            <a:r>
              <a:rPr lang="en-US" sz="1400" kern="0" spc="-80" dirty="0">
                <a:solidFill>
                  <a:schemeClr val="accent2"/>
                </a:solidFill>
              </a:rPr>
              <a:t>Non-linear models: </a:t>
            </a:r>
          </a:p>
          <a:p>
            <a:r>
              <a:rPr lang="en-US" sz="1400" kern="0" spc="-80" dirty="0">
                <a:solidFill>
                  <a:schemeClr val="accent6"/>
                </a:solidFill>
              </a:rPr>
              <a:t>Geometric concepts are used in non-linear dimensionality reduction techniques to find meaningful low-dimensional representations of high-dimensional data. </a:t>
            </a:r>
          </a:p>
          <a:p>
            <a:r>
              <a:rPr lang="en-US" sz="1400" kern="0" spc="-80" dirty="0">
                <a:solidFill>
                  <a:schemeClr val="accent2"/>
                </a:solidFill>
              </a:rPr>
              <a:t>Geometric deep learning: </a:t>
            </a:r>
          </a:p>
          <a:p>
            <a:r>
              <a:rPr lang="en-US" sz="1400" kern="0" spc="-80" dirty="0">
                <a:solidFill>
                  <a:schemeClr val="accent6"/>
                </a:solidFill>
              </a:rPr>
              <a:t>This field applies geometric principles to deep learning architectures, especially for data with inherent structural properties like graphs or manifolds. </a:t>
            </a:r>
          </a:p>
          <a:p>
            <a:r>
              <a:rPr lang="en-US" sz="1400" kern="0" spc="-80" dirty="0">
                <a:solidFill>
                  <a:schemeClr val="accent2"/>
                </a:solidFill>
              </a:rPr>
              <a:t>Topology in machine learning</a:t>
            </a:r>
          </a:p>
          <a:p>
            <a:r>
              <a:rPr lang="en-US" sz="1400" kern="0" spc="-80" dirty="0">
                <a:solidFill>
                  <a:schemeClr val="accent2"/>
                </a:solidFill>
              </a:rPr>
              <a:t>Global structure: </a:t>
            </a:r>
          </a:p>
          <a:p>
            <a:r>
              <a:rPr lang="en-US" sz="1400" kern="0" spc="-80" dirty="0">
                <a:solidFill>
                  <a:schemeClr val="accent6"/>
                </a:solidFill>
              </a:rPr>
              <a:t>Topology focuses on fundamental properties that are invariant under continuous deformations, like stretching or bending, such as connectivity and the presence of holes. </a:t>
            </a:r>
          </a:p>
        </p:txBody>
      </p:sp>
    </p:spTree>
    <p:extLst>
      <p:ext uri="{BB962C8B-B14F-4D97-AF65-F5344CB8AC3E}">
        <p14:creationId xmlns:p14="http://schemas.microsoft.com/office/powerpoint/2010/main" val="36399712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D16C9-76F1-B965-538E-BB1BA479B3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1D5322-416B-DC50-A688-71B0416EF18E}"/>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6D7FC41-1CAE-DF39-0C34-B67B89F8E75C}"/>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2F7922E-CAC0-4F87-A918-92E8BADC61A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4F82F9C-CEB7-61D4-02CC-50D023A68CA5}"/>
              </a:ext>
            </a:extLst>
          </p:cNvPr>
          <p:cNvSpPr txBox="1">
            <a:spLocks/>
          </p:cNvSpPr>
          <p:nvPr/>
        </p:nvSpPr>
        <p:spPr>
          <a:xfrm>
            <a:off x="51885" y="1252478"/>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Geometry and Topology is(/can be) used in ML</a:t>
            </a:r>
          </a:p>
          <a:p>
            <a:r>
              <a:rPr lang="en-US" sz="1400" kern="0" spc="-80" dirty="0">
                <a:solidFill>
                  <a:schemeClr val="accent2"/>
                </a:solidFill>
                <a:hlinkClick r:id="rId7">
                  <a:extLst>
                    <a:ext uri="{A12FA001-AC4F-418D-AE19-62706E023703}">
                      <ahyp:hlinkClr xmlns:ahyp="http://schemas.microsoft.com/office/drawing/2018/hyperlinkcolor" val="tx"/>
                    </a:ext>
                  </a:extLst>
                </a:hlinkClick>
              </a:rPr>
              <a:t>Topological Data Analysis</a:t>
            </a:r>
            <a:r>
              <a:rPr lang="en-US" sz="1400" kern="0" spc="-80" dirty="0">
                <a:solidFill>
                  <a:schemeClr val="accent2"/>
                </a:solidFill>
              </a:rPr>
              <a:t> (TDA): </a:t>
            </a:r>
          </a:p>
          <a:p>
            <a:r>
              <a:rPr lang="en-US" sz="1400" kern="0" spc="-80" dirty="0">
                <a:solidFill>
                  <a:schemeClr val="accent6"/>
                </a:solidFill>
              </a:rPr>
              <a:t>A core application, where techniques like persistent homology analyze the topological features of data at multiple scales. </a:t>
            </a:r>
          </a:p>
          <a:p>
            <a:r>
              <a:rPr lang="en-US" sz="1400" kern="0" spc="-80" dirty="0">
                <a:solidFill>
                  <a:schemeClr val="accent2"/>
                </a:solidFill>
              </a:rPr>
              <a:t>Process: </a:t>
            </a:r>
            <a:r>
              <a:rPr lang="en-US" sz="1400" kern="0" spc="-80" dirty="0">
                <a:solidFill>
                  <a:schemeClr val="accent6"/>
                </a:solidFill>
              </a:rPr>
              <a:t>A point cloud is "grown" and its topological features (like connected components, cycles, and voids) are tracked as they appear and persist over different scales. </a:t>
            </a:r>
          </a:p>
          <a:p>
            <a:r>
              <a:rPr lang="en-US" sz="1400" kern="0" spc="-80" dirty="0">
                <a:solidFill>
                  <a:schemeClr val="accent2"/>
                </a:solidFill>
              </a:rPr>
              <a:t>Representation: </a:t>
            </a:r>
            <a:r>
              <a:rPr lang="en-US" sz="1400" kern="0" spc="-80" dirty="0">
                <a:solidFill>
                  <a:schemeClr val="accent6"/>
                </a:solidFill>
              </a:rPr>
              <a:t>This process generates a persistence diagram, which captures the lifespan of these features and can be used as a form of data representation. </a:t>
            </a:r>
          </a:p>
          <a:p>
            <a:r>
              <a:rPr lang="en-US" sz="1400" kern="0" spc="-80" dirty="0">
                <a:solidFill>
                  <a:schemeClr val="accent2"/>
                </a:solidFill>
              </a:rPr>
              <a:t>Feature extraction: </a:t>
            </a:r>
          </a:p>
          <a:p>
            <a:r>
              <a:rPr lang="en-US" sz="1400" kern="0" spc="-80" dirty="0">
                <a:solidFill>
                  <a:schemeClr val="accent6"/>
                </a:solidFill>
              </a:rPr>
              <a:t>Topological features from persistence diagrams can be used to create a new, richer representation of the data that is then fed into a standard machine learning classifier. </a:t>
            </a:r>
          </a:p>
          <a:p>
            <a:r>
              <a:rPr lang="en-US" sz="1400" kern="0" spc="-80" dirty="0">
                <a:solidFill>
                  <a:schemeClr val="accent2"/>
                </a:solidFill>
              </a:rPr>
              <a:t>Inductive biases: </a:t>
            </a:r>
          </a:p>
          <a:p>
            <a:r>
              <a:rPr lang="en-US" sz="1400" kern="0" spc="-80" dirty="0">
                <a:solidFill>
                  <a:schemeClr val="accent6"/>
                </a:solidFill>
              </a:rPr>
              <a:t>Topological information can be directly integrated into models as a form of "inductive bias," guiding the model to learn features that might otherwise be missed and potentially increasing model accuracy. </a:t>
            </a:r>
          </a:p>
          <a:p>
            <a:r>
              <a:rPr lang="en-US" sz="1400" kern="0" spc="-80" dirty="0">
                <a:solidFill>
                  <a:schemeClr val="accent2"/>
                </a:solidFill>
              </a:rPr>
              <a:t>Differentiable integration: </a:t>
            </a:r>
          </a:p>
          <a:p>
            <a:r>
              <a:rPr lang="en-US" sz="1400" kern="0" spc="-80" dirty="0">
                <a:solidFill>
                  <a:schemeClr val="accent6"/>
                </a:solidFill>
              </a:rPr>
              <a:t>New methods allow for backpropagation through topological computations, enabling end-to-end learning where a topology-based loss term can be optimized. </a:t>
            </a:r>
          </a:p>
          <a:p>
            <a:r>
              <a:rPr lang="en-US" sz="1400" kern="0" spc="-80" dirty="0">
                <a:solidFill>
                  <a:schemeClr val="accent2"/>
                </a:solidFill>
              </a:rPr>
              <a:t>Applications and benefits</a:t>
            </a:r>
          </a:p>
          <a:p>
            <a:r>
              <a:rPr lang="en-US" sz="1400" kern="0" spc="-80" dirty="0">
                <a:solidFill>
                  <a:schemeClr val="accent2"/>
                </a:solidFill>
              </a:rPr>
              <a:t>Data analysis: </a:t>
            </a:r>
          </a:p>
          <a:p>
            <a:r>
              <a:rPr lang="en-US" sz="1400" kern="0" spc="-80" dirty="0">
                <a:solidFill>
                  <a:schemeClr val="accent6"/>
                </a:solidFill>
              </a:rPr>
              <a:t>Both geometry and topology help in understanding the intrinsic structure of complex datasets, from images and graphs to time series and point clouds. </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8969223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B3F38-A709-9EBC-A89B-18F2F27F6D6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3132A6-91BF-3AC9-3916-3F06B63577A9}"/>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397F8E-AF28-C12A-8378-C2409107E658}"/>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5859CA3-BFC2-6722-496D-5EFB866D3179}"/>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5B698F9-B7FC-F0BF-DC19-51A99B8C3EE9}"/>
              </a:ext>
            </a:extLst>
          </p:cNvPr>
          <p:cNvSpPr txBox="1">
            <a:spLocks/>
          </p:cNvSpPr>
          <p:nvPr/>
        </p:nvSpPr>
        <p:spPr>
          <a:xfrm>
            <a:off x="51885" y="1252478"/>
            <a:ext cx="8624937" cy="43396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Geometry and Topology is(/can be) used in ML</a:t>
            </a:r>
          </a:p>
          <a:p>
            <a:r>
              <a:rPr lang="en-US" sz="1400" kern="0" spc="-80" dirty="0">
                <a:solidFill>
                  <a:schemeClr val="accent2"/>
                </a:solidFill>
              </a:rPr>
              <a:t>Model enhancement: </a:t>
            </a:r>
          </a:p>
          <a:p>
            <a:r>
              <a:rPr lang="en-US" sz="1400" kern="0" spc="-80" dirty="0">
                <a:solidFill>
                  <a:schemeClr val="accent6"/>
                </a:solidFill>
              </a:rPr>
              <a:t>They are used to build more robust and powerful models by providing tools for dimensionality reduction, feature engineering, and embedding prior knowledge about the data's shape. </a:t>
            </a:r>
          </a:p>
          <a:p>
            <a:r>
              <a:rPr lang="en-US" sz="1400" kern="0" spc="-80" dirty="0">
                <a:solidFill>
                  <a:schemeClr val="accent2"/>
                </a:solidFill>
              </a:rPr>
              <a:t>Interpreting complex data: </a:t>
            </a:r>
          </a:p>
          <a:p>
            <a:r>
              <a:rPr lang="en-US" sz="1400" kern="0" spc="-80" dirty="0">
                <a:solidFill>
                  <a:schemeClr val="accent6"/>
                </a:solidFill>
              </a:rPr>
              <a:t>They provide a framework for making sense of complex data where traditional methods may fail, such as identifying patterns in the chemical composition of superalloys or understanding the structure of relational data in a social network. </a:t>
            </a:r>
          </a:p>
          <a:p>
            <a:endParaRPr lang="en-US" sz="1400" kern="0" spc="-80" dirty="0">
              <a:solidFill>
                <a:schemeClr val="accent6"/>
              </a:solidFill>
            </a:endParaRPr>
          </a:p>
          <a:p>
            <a:r>
              <a:rPr lang="en-US" sz="1400" kern="0" spc="-80" dirty="0">
                <a:solidFill>
                  <a:schemeClr val="accent2"/>
                </a:solidFill>
              </a:rPr>
              <a:t>For Further Exploration</a:t>
            </a:r>
          </a:p>
          <a:p>
            <a:r>
              <a:rPr lang="en-US" sz="1400" dirty="0">
                <a:hlinkClick r:id="rId7"/>
              </a:rPr>
              <a:t>The Shape of Data</a:t>
            </a:r>
            <a:endParaRPr lang="en-US" sz="1400" dirty="0"/>
          </a:p>
          <a:p>
            <a:r>
              <a:rPr lang="en-US" sz="1400" dirty="0">
                <a:hlinkClick r:id="rId8"/>
              </a:rPr>
              <a:t>Shapes, Spaces, Simplices, and Structure: Geometry, Topology, and Machine Learning</a:t>
            </a:r>
            <a:endParaRPr lang="en-US" sz="1400" dirty="0"/>
          </a:p>
          <a:p>
            <a:r>
              <a:rPr lang="en-US" sz="1400" dirty="0">
                <a:hlinkClick r:id="rId9"/>
              </a:rPr>
              <a:t>Of Shapes and Spaces: Geometry, Topology, and Machine Learning</a:t>
            </a:r>
            <a:endParaRPr lang="en-US" sz="1400" dirty="0"/>
          </a:p>
          <a:p>
            <a:r>
              <a:rPr lang="en-US" sz="1400" dirty="0">
                <a:hlinkClick r:id="rId10"/>
              </a:rPr>
              <a:t>Topological Data Analysis for Machine Learning I: Algebraic Topology</a:t>
            </a:r>
            <a:endParaRPr lang="en-US" sz="1400" dirty="0"/>
          </a:p>
          <a:p>
            <a:r>
              <a:rPr lang="en-US" sz="1400" dirty="0">
                <a:hlinkClick r:id="rId11"/>
              </a:rPr>
              <a:t>Topological Machine Learning II: Topology-Based Graph Learning</a:t>
            </a:r>
            <a:endParaRPr lang="en-US" sz="1400" dirty="0"/>
          </a:p>
          <a:p>
            <a:r>
              <a:rPr lang="en-US" sz="1400" dirty="0">
                <a:hlinkClick r:id="rId12"/>
              </a:rPr>
              <a:t>An Introduction to Topological Data Analysis</a:t>
            </a:r>
            <a:endParaRPr lang="en-US" sz="1400" dirty="0"/>
          </a:p>
          <a:p>
            <a:endParaRPr lang="en-US" sz="1400" kern="0" spc="-80" dirty="0">
              <a:solidFill>
                <a:schemeClr val="accent2"/>
              </a:solidFill>
            </a:endParaRPr>
          </a:p>
          <a:p>
            <a:br>
              <a:rPr lang="en-US" sz="1400" kern="0" spc="-80" dirty="0">
                <a:solidFill>
                  <a:schemeClr val="accent6"/>
                </a:solidFill>
              </a:rPr>
            </a:br>
            <a:endParaRPr lang="en-US" sz="14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516479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CE1B-C160-2EBB-1F73-B251A077C58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9491BA-3CEA-5DAC-1EF5-9E329A0615E3}"/>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3FC9AC-F5C0-DA05-F288-EED5D1EBE3DE}"/>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1E55D7B-EFB2-5197-67E8-5368FF94E3A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9CAFA5F-D784-12DB-F6BA-0ECD74DD2395}"/>
              </a:ext>
            </a:extLst>
          </p:cNvPr>
          <p:cNvSpPr txBox="1">
            <a:spLocks/>
          </p:cNvSpPr>
          <p:nvPr/>
        </p:nvSpPr>
        <p:spPr>
          <a:xfrm>
            <a:off x="51885" y="1252478"/>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Information Theory is(/can be) used in ML</a:t>
            </a:r>
          </a:p>
          <a:p>
            <a:r>
              <a:rPr lang="en-US" sz="1400" kern="0" spc="-80" dirty="0">
                <a:solidFill>
                  <a:schemeClr val="accent6"/>
                </a:solidFill>
              </a:rPr>
              <a:t>Information theory is used in machine learning to provide a mathematical foundation for concepts like entropy and mutual information, which are applied in algorithms for feature selection, model evaluation, and building decision trees. Key applications include using cross-entropy as a loss function, employing information gain for splitting in decision trees, and minimizing </a:t>
            </a:r>
            <a:r>
              <a:rPr lang="en-US" sz="1400" kern="0" spc="-80" dirty="0">
                <a:solidFill>
                  <a:schemeClr val="accent6"/>
                </a:solidFill>
                <a:hlinkClick r:id="rId7">
                  <a:extLst>
                    <a:ext uri="{A12FA001-AC4F-418D-AE19-62706E023703}">
                      <ahyp:hlinkClr xmlns:ahyp="http://schemas.microsoft.com/office/drawing/2018/hyperlinkcolor" val="tx"/>
                    </a:ext>
                  </a:extLst>
                </a:hlinkClick>
              </a:rPr>
              <a:t>KL divergence</a:t>
            </a:r>
            <a:r>
              <a:rPr lang="en-US" sz="1400" kern="0" spc="-80" dirty="0">
                <a:solidFill>
                  <a:schemeClr val="accent6"/>
                </a:solidFill>
              </a:rPr>
              <a:t> in tasks like training Variational Autoencoders. </a:t>
            </a:r>
          </a:p>
          <a:p>
            <a:r>
              <a:rPr lang="en-US" sz="1400" kern="0" spc="-80" dirty="0">
                <a:solidFill>
                  <a:schemeClr val="accent2"/>
                </a:solidFill>
              </a:rPr>
              <a:t>Key concepts and applications</a:t>
            </a:r>
          </a:p>
          <a:p>
            <a:r>
              <a:rPr lang="en-US" sz="1400" kern="0" spc="-80" dirty="0">
                <a:solidFill>
                  <a:schemeClr val="accent2"/>
                </a:solidFill>
                <a:hlinkClick r:id="rId8">
                  <a:extLst>
                    <a:ext uri="{A12FA001-AC4F-418D-AE19-62706E023703}">
                      <ahyp:hlinkClr xmlns:ahyp="http://schemas.microsoft.com/office/drawing/2018/hyperlinkcolor" val="tx"/>
                    </a:ext>
                  </a:extLst>
                </a:hlinkClick>
              </a:rPr>
              <a:t>Entropy</a:t>
            </a:r>
            <a:r>
              <a:rPr lang="en-US" sz="1400" kern="0" spc="-80" dirty="0">
                <a:solidFill>
                  <a:schemeClr val="accent2"/>
                </a:solidFill>
              </a:rPr>
              <a:t>: </a:t>
            </a:r>
          </a:p>
          <a:p>
            <a:r>
              <a:rPr lang="en-US" sz="1400" kern="0" spc="-80" dirty="0">
                <a:solidFill>
                  <a:schemeClr val="accent6"/>
                </a:solidFill>
              </a:rPr>
              <a:t>Measures the uncertainty or randomness in a variable.</a:t>
            </a:r>
          </a:p>
          <a:p>
            <a:r>
              <a:rPr lang="en-US" sz="1400" kern="0" spc="-80" dirty="0">
                <a:solidFill>
                  <a:schemeClr val="accent2"/>
                </a:solidFill>
              </a:rPr>
              <a:t>Decision Trees:</a:t>
            </a:r>
            <a:r>
              <a:rPr lang="en-US" sz="1400" kern="0" spc="-80" dirty="0">
                <a:solidFill>
                  <a:schemeClr val="accent6"/>
                </a:solidFill>
              </a:rPr>
              <a:t> Used to determine the best attribute to split on by calculating the "information gain," which is the reduction in entropy achieved by the split. </a:t>
            </a:r>
          </a:p>
          <a:p>
            <a:r>
              <a:rPr lang="en-US" sz="1400" kern="0" spc="-80" dirty="0">
                <a:solidFill>
                  <a:schemeClr val="accent2"/>
                </a:solidFill>
              </a:rPr>
              <a:t>Class Imbalance: </a:t>
            </a:r>
            <a:r>
              <a:rPr lang="en-US" sz="1400" kern="0" spc="-80" dirty="0">
                <a:solidFill>
                  <a:schemeClr val="accent6"/>
                </a:solidFill>
              </a:rPr>
              <a:t>Entropy can quantify the imbalance in a target class distribution. A perfectly balanced dataset has maximum entropy. </a:t>
            </a:r>
          </a:p>
          <a:p>
            <a:r>
              <a:rPr lang="en-US" sz="1400" kern="0" spc="-80" dirty="0">
                <a:solidFill>
                  <a:schemeClr val="accent2"/>
                </a:solidFill>
                <a:hlinkClick r:id="rId9">
                  <a:extLst>
                    <a:ext uri="{A12FA001-AC4F-418D-AE19-62706E023703}">
                      <ahyp:hlinkClr xmlns:ahyp="http://schemas.microsoft.com/office/drawing/2018/hyperlinkcolor" val="tx"/>
                    </a:ext>
                  </a:extLst>
                </a:hlinkClick>
              </a:rPr>
              <a:t>Mutual Information</a:t>
            </a:r>
            <a:r>
              <a:rPr lang="en-US" sz="1400" kern="0" spc="-80" dirty="0">
                <a:solidFill>
                  <a:schemeClr val="accent2"/>
                </a:solidFill>
              </a:rPr>
              <a:t>: </a:t>
            </a:r>
          </a:p>
          <a:p>
            <a:r>
              <a:rPr lang="en-US" sz="1400" kern="0" spc="-80" dirty="0">
                <a:solidFill>
                  <a:schemeClr val="accent6"/>
                </a:solidFill>
              </a:rPr>
              <a:t>Measures the amount of information one variable contains about another.</a:t>
            </a:r>
          </a:p>
          <a:p>
            <a:r>
              <a:rPr lang="en-US" sz="1400" kern="0" spc="-80" dirty="0">
                <a:solidFill>
                  <a:schemeClr val="accent2"/>
                </a:solidFill>
              </a:rPr>
              <a:t>Feature Selection: </a:t>
            </a:r>
            <a:r>
              <a:rPr lang="en-US" sz="1400" kern="0" spc="-80" dirty="0">
                <a:solidFill>
                  <a:schemeClr val="accent6"/>
                </a:solidFill>
              </a:rPr>
              <a:t>Can be used to find features that have a high mutual information with the target variable, indicating they are relevant predictors. </a:t>
            </a:r>
          </a:p>
          <a:p>
            <a:r>
              <a:rPr lang="en-US" sz="1400" kern="0" spc="-80" dirty="0">
                <a:solidFill>
                  <a:schemeClr val="accent2"/>
                </a:solidFill>
              </a:rPr>
              <a:t>Model Training:</a:t>
            </a:r>
            <a:r>
              <a:rPr lang="en-US" sz="1400" kern="0" spc="-80" dirty="0">
                <a:solidFill>
                  <a:schemeClr val="accent6"/>
                </a:solidFill>
              </a:rPr>
              <a:t> Maximizing mutual information can be a goal in certain models, such as those trying to learn a representation that captures as much information about the target as possible. </a:t>
            </a:r>
          </a:p>
          <a:p>
            <a:r>
              <a:rPr lang="en-US" sz="1400" kern="0" spc="-80" dirty="0" err="1">
                <a:solidFill>
                  <a:schemeClr val="accent2"/>
                </a:solidFill>
                <a:hlinkClick r:id="rId10">
                  <a:extLst>
                    <a:ext uri="{A12FA001-AC4F-418D-AE19-62706E023703}">
                      <ahyp:hlinkClr xmlns:ahyp="http://schemas.microsoft.com/office/drawing/2018/hyperlinkcolor" val="tx"/>
                    </a:ext>
                  </a:extLst>
                </a:hlinkClick>
              </a:rPr>
              <a:t>Kullback-Leibler</a:t>
            </a:r>
            <a:r>
              <a:rPr lang="en-US" sz="1400" kern="0" spc="-80" dirty="0">
                <a:solidFill>
                  <a:schemeClr val="accent2"/>
                </a:solidFill>
                <a:hlinkClick r:id="rId10">
                  <a:extLst>
                    <a:ext uri="{A12FA001-AC4F-418D-AE19-62706E023703}">
                      <ahyp:hlinkClr xmlns:ahyp="http://schemas.microsoft.com/office/drawing/2018/hyperlinkcolor" val="tx"/>
                    </a:ext>
                  </a:extLst>
                </a:hlinkClick>
              </a:rPr>
              <a:t> (KL) Divergence</a:t>
            </a:r>
            <a:r>
              <a:rPr lang="en-US" sz="1400" kern="0" spc="-80" dirty="0">
                <a:solidFill>
                  <a:schemeClr val="accent2"/>
                </a:solidFill>
              </a:rPr>
              <a:t>: </a:t>
            </a:r>
          </a:p>
          <a:p>
            <a:r>
              <a:rPr lang="en-US" sz="1400" kern="0" spc="-80" dirty="0">
                <a:solidFill>
                  <a:schemeClr val="accent6"/>
                </a:solidFill>
              </a:rPr>
              <a:t>Measures the difference between two probability distributions.</a:t>
            </a:r>
          </a:p>
          <a:p>
            <a:endParaRPr lang="en-US" sz="1400" kern="0" spc="-80" dirty="0">
              <a:solidFill>
                <a:schemeClr val="accent6"/>
              </a:solidFill>
            </a:endParaRPr>
          </a:p>
          <a:p>
            <a:endParaRPr lang="en-US" sz="1400" kern="0" spc="-80" dirty="0">
              <a:solidFill>
                <a:schemeClr val="accent2"/>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148061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CA9C-8498-79FC-A19F-460E410688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FBF81F-7488-74D5-DFE9-EA7EA3FED8C3}"/>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4EF7E7-7262-3682-B234-D2DC703CC758}"/>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430ADFA-5594-A27D-FB8A-AD0E43A8B9F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A50F1F4-8809-90E7-788D-4486D0807A5F}"/>
              </a:ext>
            </a:extLst>
          </p:cNvPr>
          <p:cNvSpPr txBox="1">
            <a:spLocks/>
          </p:cNvSpPr>
          <p:nvPr/>
        </p:nvSpPr>
        <p:spPr>
          <a:xfrm>
            <a:off x="51885" y="1252478"/>
            <a:ext cx="8624937" cy="39395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Information Theory is(/can be) used in ML</a:t>
            </a:r>
          </a:p>
          <a:p>
            <a:r>
              <a:rPr lang="en-US" sz="1400" kern="0" spc="-80" dirty="0">
                <a:solidFill>
                  <a:schemeClr val="accent2"/>
                </a:solidFill>
              </a:rPr>
              <a:t>Model Regularization:</a:t>
            </a:r>
            <a:r>
              <a:rPr lang="en-US" sz="1400" kern="0" spc="-80" dirty="0">
                <a:solidFill>
                  <a:schemeClr val="accent6"/>
                </a:solidFill>
              </a:rPr>
              <a:t> Often used in the training of models like Variational Autoencoders (VAEs) to make the latent space more structured by minimizing the difference between the approximate and target distributions. </a:t>
            </a:r>
          </a:p>
          <a:p>
            <a:r>
              <a:rPr lang="en-US" sz="1400" kern="0" spc="-80" dirty="0">
                <a:solidFill>
                  <a:schemeClr val="accent2"/>
                </a:solidFill>
              </a:rPr>
              <a:t>Loss Function: </a:t>
            </a:r>
            <a:r>
              <a:rPr lang="en-US" sz="1400" kern="0" spc="-80" dirty="0">
                <a:solidFill>
                  <a:schemeClr val="accent6"/>
                </a:solidFill>
              </a:rPr>
              <a:t>A related concept, cross-entropy, is directly derived from information theory and is used as a loss function in many classification algorithms. </a:t>
            </a:r>
          </a:p>
          <a:p>
            <a:r>
              <a:rPr lang="en-US" sz="1400" kern="0" spc="-80" dirty="0">
                <a:solidFill>
                  <a:schemeClr val="accent2"/>
                </a:solidFill>
                <a:hlinkClick r:id="rId7">
                  <a:extLst>
                    <a:ext uri="{A12FA001-AC4F-418D-AE19-62706E023703}">
                      <ahyp:hlinkClr xmlns:ahyp="http://schemas.microsoft.com/office/drawing/2018/hyperlinkcolor" val="tx"/>
                    </a:ext>
                  </a:extLst>
                </a:hlinkClick>
              </a:rPr>
              <a:t>Cross-Entropy</a:t>
            </a:r>
            <a:r>
              <a:rPr lang="en-US" sz="1400" kern="0" spc="-80" dirty="0">
                <a:solidFill>
                  <a:schemeClr val="accent2"/>
                </a:solidFill>
              </a:rPr>
              <a:t>: </a:t>
            </a:r>
          </a:p>
          <a:p>
            <a:r>
              <a:rPr lang="en-US" sz="1400" kern="0" spc="-80" dirty="0">
                <a:solidFill>
                  <a:schemeClr val="accent6"/>
                </a:solidFill>
              </a:rPr>
              <a:t>A measure of the difference between two probability distributions, commonly used as a loss function in classification tasks. The goal is to minimize the cross-entropy between the predicted distribution and the true distribution of the labels. </a:t>
            </a:r>
          </a:p>
          <a:p>
            <a:endParaRPr lang="en-US" sz="1400" kern="0" spc="-80" dirty="0">
              <a:solidFill>
                <a:schemeClr val="accent6"/>
              </a:solidFill>
            </a:endParaRPr>
          </a:p>
          <a:p>
            <a:r>
              <a:rPr lang="en-US" sz="1400" kern="0" spc="-80" dirty="0">
                <a:solidFill>
                  <a:schemeClr val="accent2"/>
                </a:solidFill>
              </a:rPr>
              <a:t>For Further Exploration</a:t>
            </a:r>
          </a:p>
          <a:p>
            <a:r>
              <a:rPr lang="en-IN" sz="1400" dirty="0">
                <a:hlinkClick r:id="rId8"/>
              </a:rPr>
              <a:t>Information theory – Wikipedia</a:t>
            </a:r>
            <a:endParaRPr lang="en-IN" sz="1400" dirty="0"/>
          </a:p>
          <a:p>
            <a:r>
              <a:rPr lang="en-US" sz="1400" dirty="0">
                <a:hlinkClick r:id="rId9"/>
              </a:rPr>
              <a:t>Information Theory, Inference, and Learning Algorithms</a:t>
            </a:r>
            <a:endParaRPr lang="en-US" sz="1400" dirty="0"/>
          </a:p>
          <a:p>
            <a:r>
              <a:rPr lang="en-US" sz="1400" dirty="0">
                <a:hlinkClick r:id="rId10"/>
              </a:rPr>
              <a:t>How are information and Decision Theory used in Statistics?</a:t>
            </a:r>
            <a:endParaRPr lang="en-US" sz="1400" dirty="0"/>
          </a:p>
          <a:p>
            <a:endParaRPr lang="en-US" sz="1400" kern="0" spc="-80" dirty="0">
              <a:solidFill>
                <a:schemeClr val="accent2"/>
              </a:solidFill>
            </a:endParaRPr>
          </a:p>
          <a:p>
            <a:endParaRPr lang="en-US" sz="14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8761468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9CB2-844A-288F-A2B9-8EE19342DF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1A9BDF-A0C0-6966-345A-03669BFA1393}"/>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CB81311-2A70-C68E-22B2-2D374450E85E}"/>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EA5E38E-4164-844A-E1A2-9975CA7DAF6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1E37337-8FB3-D6B8-7917-4A6A57080BC4}"/>
              </a:ext>
            </a:extLst>
          </p:cNvPr>
          <p:cNvSpPr txBox="1">
            <a:spLocks/>
          </p:cNvSpPr>
          <p:nvPr/>
        </p:nvSpPr>
        <p:spPr>
          <a:xfrm>
            <a:off x="51885" y="120699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Abstract Algebra is(/can be) used in ML</a:t>
            </a:r>
          </a:p>
          <a:p>
            <a:pPr marL="12700" marR="5080"/>
            <a:r>
              <a:rPr lang="en-US" sz="1500" kern="0" spc="-80" dirty="0">
                <a:solidFill>
                  <a:schemeClr val="accent2"/>
                </a:solidFill>
              </a:rPr>
              <a:t>Specific applications</a:t>
            </a:r>
          </a:p>
          <a:p>
            <a:pPr marL="12700" marR="5080"/>
            <a:r>
              <a:rPr lang="en-US" sz="1500" kern="0" spc="-80" dirty="0">
                <a:solidFill>
                  <a:schemeClr val="accent2"/>
                </a:solidFill>
              </a:rPr>
              <a:t>Topological Data Analysis (TDA): </a:t>
            </a:r>
            <a:r>
              <a:rPr lang="en-US" sz="1500" kern="0" spc="-80" dirty="0">
                <a:solidFill>
                  <a:schemeClr val="accent6"/>
                </a:solidFill>
              </a:rPr>
              <a:t>Algebraic topology, a subfield of abstract algebra, is used to analyze the "shape" of data. Concepts like homology and </a:t>
            </a:r>
            <a:r>
              <a:rPr lang="en-US" sz="1500" kern="0" spc="-80" dirty="0" err="1">
                <a:solidFill>
                  <a:schemeClr val="accent6"/>
                </a:solidFill>
              </a:rPr>
              <a:t>homotopy</a:t>
            </a:r>
            <a:r>
              <a:rPr lang="en-US" sz="1500" kern="0" spc="-80" dirty="0">
                <a:solidFill>
                  <a:schemeClr val="accent6"/>
                </a:solidFill>
              </a:rPr>
              <a:t> are applied to data to find insights that are not apparent with traditional methods. </a:t>
            </a:r>
          </a:p>
          <a:p>
            <a:pPr marL="12700" marR="5080"/>
            <a:r>
              <a:rPr lang="en-US" sz="1500" kern="0" spc="-80" dirty="0">
                <a:solidFill>
                  <a:schemeClr val="accent2"/>
                </a:solidFill>
              </a:rPr>
              <a:t>Representing symmetries:</a:t>
            </a:r>
            <a:r>
              <a:rPr lang="en-US" sz="1500" kern="0" spc="-80" dirty="0">
                <a:solidFill>
                  <a:schemeClr val="accent6"/>
                </a:solidFill>
              </a:rPr>
              <a:t> Group theory is used to represent and process data that has symmetries, such as image data where rotations or translations of an object should be treated as the same. </a:t>
            </a:r>
          </a:p>
          <a:p>
            <a:pPr marL="12700" marR="5080"/>
            <a:r>
              <a:rPr lang="en-US" sz="1500" kern="0" spc="-80" dirty="0">
                <a:solidFill>
                  <a:schemeClr val="accent2"/>
                </a:solidFill>
              </a:rPr>
              <a:t>Frameworks and formalization: </a:t>
            </a:r>
            <a:r>
              <a:rPr lang="en-US" sz="1500" kern="0" spc="-80" dirty="0">
                <a:solidFill>
                  <a:schemeClr val="accent6"/>
                </a:solidFill>
              </a:rPr>
              <a:t>Abstract algebraic structures can provide a unified way to describe different ML tasks. For example, one can define an algebraic framework for tasks like performance estimation and classification by using additive operations and for diagnosis and optimization by using subtractive operations. </a:t>
            </a:r>
          </a:p>
          <a:p>
            <a:pPr marL="12700" marR="5080"/>
            <a:r>
              <a:rPr lang="en-US" sz="1500" kern="0" spc="-80" dirty="0">
                <a:solidFill>
                  <a:schemeClr val="accent2"/>
                </a:solidFill>
              </a:rPr>
              <a:t>Algorithm design and theory:</a:t>
            </a:r>
          </a:p>
          <a:p>
            <a:pPr marL="12700" marR="5080"/>
            <a:r>
              <a:rPr lang="en-US" sz="1500" kern="0" spc="-80" dirty="0">
                <a:solidFill>
                  <a:schemeClr val="accent6"/>
                </a:solidFill>
              </a:rPr>
              <a:t>Abstract algebra provides the foundation for linear algebra, which is crucial for most ML computations and is used to analyze the behavior of algorithms. It helps in creating more general and robust algorithms, such as a method for parameter-free, discrete machine learning based on finding minimal algebraic representations of data. </a:t>
            </a:r>
          </a:p>
          <a:p>
            <a:pPr marL="12700" marR="5080"/>
            <a:r>
              <a:rPr lang="en-US" sz="1500" kern="0" spc="-80" dirty="0">
                <a:solidFill>
                  <a:schemeClr val="accent6"/>
                </a:solidFill>
              </a:rPr>
              <a:t>Category theory, which formalizes the relationships between different algebraic structures, has been used to develop methods like UMAP (Uniform Manifold Approximation and Projection). </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7044976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5A93-428A-ABA5-819C-09ED8D6A334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394FA6-BCC8-70B5-5786-5BEC1FA4CF66}"/>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06EC77-3A76-8E54-AFBA-F3C0A908B78E}"/>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C3A2012-8EA6-07FF-58EB-CF270A229E4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5982022-0994-181D-621F-27340ACBC225}"/>
              </a:ext>
            </a:extLst>
          </p:cNvPr>
          <p:cNvSpPr txBox="1">
            <a:spLocks/>
          </p:cNvSpPr>
          <p:nvPr/>
        </p:nvSpPr>
        <p:spPr>
          <a:xfrm>
            <a:off x="51885" y="1206992"/>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i="0" dirty="0">
                <a:solidFill>
                  <a:srgbClr val="1F2328"/>
                </a:solidFill>
                <a:effectLst/>
                <a:latin typeface="-apple-system"/>
              </a:rPr>
              <a:t> </a:t>
            </a:r>
            <a:r>
              <a:rPr lang="en-US" sz="1500" kern="0" spc="-80" dirty="0">
                <a:solidFill>
                  <a:schemeClr val="accent2"/>
                </a:solidFill>
              </a:rPr>
              <a:t>How Chaos and Fractal Theory is(/can be) used in ML</a:t>
            </a:r>
          </a:p>
          <a:p>
            <a:pPr marL="12700" marR="5080"/>
            <a:r>
              <a:rPr lang="en-US" sz="1500" kern="0" spc="-80" dirty="0">
                <a:solidFill>
                  <a:schemeClr val="accent2"/>
                </a:solidFill>
              </a:rPr>
              <a:t>Applications of chaos theory in ML</a:t>
            </a:r>
          </a:p>
          <a:p>
            <a:pPr marL="12700" marR="5080"/>
            <a:r>
              <a:rPr lang="en-US" sz="1500" kern="0" spc="-80" dirty="0">
                <a:solidFill>
                  <a:schemeClr val="accent6"/>
                </a:solidFill>
              </a:rPr>
              <a:t>Chaos theory studies complex, deterministic nonlinear systems that are highly sensitive to initial conditions, a concept popularized as the "butterfly effect". Despite their unpredictability, these systems have underlying structure that ML can help model and forecast, especially over shorter time horizons.</a:t>
            </a:r>
          </a:p>
          <a:p>
            <a:pPr marL="12700" marR="5080"/>
            <a:r>
              <a:rPr lang="en-US" sz="1500" kern="0" spc="-80" dirty="0">
                <a:solidFill>
                  <a:schemeClr val="accent2"/>
                </a:solidFill>
              </a:rPr>
              <a:t>Time-series forecasting</a:t>
            </a:r>
          </a:p>
          <a:p>
            <a:pPr marL="12700" marR="5080"/>
            <a:r>
              <a:rPr lang="en-US" sz="1500" kern="0" spc="-80" dirty="0">
                <a:solidFill>
                  <a:schemeClr val="accent6"/>
                </a:solidFill>
              </a:rPr>
              <a:t>Chaotic time-series data, which can appear random, are generated by complex systems like weather patterns, financial markets, and fluid dynamics.</a:t>
            </a:r>
          </a:p>
          <a:p>
            <a:pPr marL="12700" marR="5080"/>
            <a:r>
              <a:rPr lang="en-US" sz="1500" kern="0" spc="-80" dirty="0">
                <a:solidFill>
                  <a:schemeClr val="accent2"/>
                </a:solidFill>
              </a:rPr>
              <a:t>Techniques:</a:t>
            </a:r>
            <a:r>
              <a:rPr lang="en-US" sz="1500" kern="0" spc="-80" dirty="0">
                <a:solidFill>
                  <a:schemeClr val="accent6"/>
                </a:solidFill>
              </a:rPr>
              <a:t> By combining chaos theory with recurrent neural networks (RNNs) and Long Short-Term Memory (LSTM) networks, ML models can predict the short-term behavior of these systems with greater accuracy.</a:t>
            </a:r>
          </a:p>
          <a:p>
            <a:pPr marL="12700" marR="5080"/>
            <a:r>
              <a:rPr lang="en-US" sz="1500" kern="0" spc="-80" dirty="0">
                <a:solidFill>
                  <a:schemeClr val="accent2"/>
                </a:solidFill>
              </a:rPr>
              <a:t>Method: </a:t>
            </a:r>
            <a:r>
              <a:rPr lang="en-US" sz="1500" kern="0" spc="-80" dirty="0">
                <a:solidFill>
                  <a:schemeClr val="accent6"/>
                </a:solidFill>
              </a:rPr>
              <a:t>A time-series is first reconstructed into a multi-dimensional phase space using techniques like </a:t>
            </a:r>
            <a:r>
              <a:rPr lang="en-US" sz="1500" kern="0" spc="-80" dirty="0" err="1">
                <a:solidFill>
                  <a:schemeClr val="accent6"/>
                </a:solidFill>
              </a:rPr>
              <a:t>Takens</a:t>
            </a:r>
            <a:r>
              <a:rPr lang="en-US" sz="1500" kern="0" spc="-80" dirty="0">
                <a:solidFill>
                  <a:schemeClr val="accent6"/>
                </a:solidFill>
              </a:rPr>
              <a:t>' embedding theorem. The reconstructed phase space points are then used to train a neural network, which can learn the underlying dynamics to forecast future</a:t>
            </a:r>
          </a:p>
          <a:p>
            <a:pPr marL="12700" marR="5080"/>
            <a:r>
              <a:rPr lang="en-US" sz="1500" kern="0" spc="-80" dirty="0">
                <a:solidFill>
                  <a:schemeClr val="accent6"/>
                </a:solidFill>
              </a:rPr>
              <a:t>values.</a:t>
            </a:r>
          </a:p>
          <a:p>
            <a:pPr marL="12700" marR="5080"/>
            <a:r>
              <a:rPr lang="en-US" sz="1500" kern="0" spc="-80" dirty="0">
                <a:solidFill>
                  <a:schemeClr val="accent2"/>
                </a:solidFill>
              </a:rPr>
              <a:t>Example: </a:t>
            </a:r>
            <a:r>
              <a:rPr lang="en-US" sz="1500" kern="0" spc="-80" dirty="0">
                <a:solidFill>
                  <a:schemeClr val="accent6"/>
                </a:solidFill>
              </a:rPr>
              <a:t>For forecasting electricity prices, wind power, and stock market indices, hybrid models using neural networks and chaos theory have proven more effective than traditional methods.</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336667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7660-7A96-AC14-D839-F1B3BA4F25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FC7EBB-FE2F-DAB4-BA47-503821EE177C}"/>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7237D1-D32A-57D7-C7E2-70A1D7EC9120}"/>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E2433B3-F404-25C4-116B-7704BE73AB9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24BA9BA-A7A6-76D7-42F6-7032D9D4D789}"/>
              </a:ext>
            </a:extLst>
          </p:cNvPr>
          <p:cNvSpPr txBox="1">
            <a:spLocks/>
          </p:cNvSpPr>
          <p:nvPr/>
        </p:nvSpPr>
        <p:spPr>
          <a:xfrm>
            <a:off x="51885" y="1206992"/>
            <a:ext cx="8624937" cy="39241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dirty="0">
                <a:solidFill>
                  <a:srgbClr val="1F2328"/>
                </a:solidFill>
                <a:latin typeface="-apple-system"/>
              </a:rPr>
              <a:t> </a:t>
            </a:r>
            <a:r>
              <a:rPr lang="en-US" sz="1500" kern="0" spc="-80" dirty="0">
                <a:solidFill>
                  <a:schemeClr val="accent2"/>
                </a:solidFill>
              </a:rPr>
              <a:t>How Chaos and Fractal Theory is(/can be) used in ML</a:t>
            </a:r>
          </a:p>
          <a:p>
            <a:pPr marL="12700" marR="5080"/>
            <a:r>
              <a:rPr lang="en-US" sz="1500" kern="0" spc="-80" dirty="0">
                <a:solidFill>
                  <a:schemeClr val="accent2"/>
                </a:solidFill>
              </a:rPr>
              <a:t>Understanding complex systems</a:t>
            </a:r>
          </a:p>
          <a:p>
            <a:pPr marL="12700" marR="5080"/>
            <a:r>
              <a:rPr lang="en-US" sz="1500" kern="0" spc="-80" dirty="0">
                <a:solidFill>
                  <a:schemeClr val="accent6"/>
                </a:solidFill>
              </a:rPr>
              <a:t>ML helps in understanding the underlying dynamics of chaotic systems, which is difficult with traditional analytical methods.</a:t>
            </a:r>
          </a:p>
          <a:p>
            <a:pPr marL="12700" marR="5080"/>
            <a:r>
              <a:rPr lang="en-US" sz="1500" kern="0" spc="-80" dirty="0">
                <a:solidFill>
                  <a:schemeClr val="accent2"/>
                </a:solidFill>
              </a:rPr>
              <a:t>Modeling: </a:t>
            </a:r>
            <a:r>
              <a:rPr lang="en-US" sz="1500" kern="0" spc="-80" dirty="0">
                <a:solidFill>
                  <a:schemeClr val="accent6"/>
                </a:solidFill>
              </a:rPr>
              <a:t>Studies have shown that some ML models, like reservoir computing, can effectively model and mimic chaotic systems from observed data alone.</a:t>
            </a:r>
          </a:p>
          <a:p>
            <a:pPr marL="12700" marR="5080"/>
            <a:r>
              <a:rPr lang="en-US" sz="1500" kern="0" spc="-80" dirty="0">
                <a:solidFill>
                  <a:schemeClr val="accent2"/>
                </a:solidFill>
              </a:rPr>
              <a:t>Characterization: </a:t>
            </a:r>
            <a:r>
              <a:rPr lang="en-US" sz="1500" kern="0" spc="-80" dirty="0">
                <a:solidFill>
                  <a:schemeClr val="accent6"/>
                </a:solidFill>
              </a:rPr>
              <a:t>Researchers use ML to predict properties of chaotic systems, such as their spatial extent or attractor dimension, providing deeper insights into their behavior.</a:t>
            </a:r>
          </a:p>
          <a:p>
            <a:pPr marL="12700" marR="5080"/>
            <a:r>
              <a:rPr lang="en-US" sz="1500" kern="0" spc="-80" dirty="0">
                <a:solidFill>
                  <a:schemeClr val="accent2"/>
                </a:solidFill>
              </a:rPr>
              <a:t>Initialization: </a:t>
            </a:r>
            <a:r>
              <a:rPr lang="en-US" sz="1500" kern="0" spc="-80" dirty="0">
                <a:solidFill>
                  <a:schemeClr val="accent6"/>
                </a:solidFill>
              </a:rPr>
              <a:t>Chaotic maps, such as the Chen system, can be used to generate chaotic sequences that initialize the weights and biases of neural networks. This can lead to faster convergence and more robust training compared to standard initialization methods.</a:t>
            </a:r>
          </a:p>
          <a:p>
            <a:pPr marL="12700" marR="5080"/>
            <a:r>
              <a:rPr lang="en-US" sz="1500" kern="0" spc="-80" dirty="0">
                <a:solidFill>
                  <a:schemeClr val="accent2"/>
                </a:solidFill>
              </a:rPr>
              <a:t>Feature extraction</a:t>
            </a:r>
          </a:p>
          <a:p>
            <a:pPr marL="12700" marR="5080"/>
            <a:r>
              <a:rPr lang="en-US" sz="1500" kern="0" spc="-80" dirty="0">
                <a:solidFill>
                  <a:schemeClr val="accent6"/>
                </a:solidFill>
              </a:rPr>
              <a:t>In complex data with hidden dynamics, chaos theory can be used for feature extraction.</a:t>
            </a:r>
          </a:p>
          <a:p>
            <a:pPr marL="12700" marR="5080"/>
            <a:r>
              <a:rPr lang="en-US" sz="1500" kern="0" spc="-80" dirty="0">
                <a:solidFill>
                  <a:schemeClr val="accent2"/>
                </a:solidFill>
              </a:rPr>
              <a:t>Chaotic learning:</a:t>
            </a:r>
            <a:r>
              <a:rPr lang="en-US" sz="1500" kern="0" spc="-80" dirty="0">
                <a:solidFill>
                  <a:schemeClr val="accent6"/>
                </a:solidFill>
              </a:rPr>
              <a:t> A novel paradigm known as "chaotic learning" involves embedding real-world data (e.g., brain EEG signals, protein data) into a chaotic dynamical system. Statistical features are then extracted from the resulting chaotic trajectories and used to train an ML model for downstream prediction tasks.</a:t>
            </a:r>
          </a:p>
        </p:txBody>
      </p:sp>
    </p:spTree>
    <p:extLst>
      <p:ext uri="{BB962C8B-B14F-4D97-AF65-F5344CB8AC3E}">
        <p14:creationId xmlns:p14="http://schemas.microsoft.com/office/powerpoint/2010/main" val="29224207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427F9-54DE-7DD3-C4E6-5BBBE08EAB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2DAFEF-8612-4888-8A0E-82F3F62AD57E}"/>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874AEB-6F08-5C2F-2865-AFF3D9B755B3}"/>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1260EF-C7F2-83B3-207C-1818C59B63C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A7625DE-774B-DC03-92C0-29DBDF564527}"/>
              </a:ext>
            </a:extLst>
          </p:cNvPr>
          <p:cNvSpPr txBox="1">
            <a:spLocks/>
          </p:cNvSpPr>
          <p:nvPr/>
        </p:nvSpPr>
        <p:spPr>
          <a:xfrm>
            <a:off x="51885" y="120699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dirty="0">
                <a:solidFill>
                  <a:srgbClr val="1F2328"/>
                </a:solidFill>
                <a:latin typeface="-apple-system"/>
              </a:rPr>
              <a:t> </a:t>
            </a:r>
            <a:r>
              <a:rPr lang="en-US" sz="1500" kern="0" spc="-80" dirty="0">
                <a:solidFill>
                  <a:schemeClr val="accent2"/>
                </a:solidFill>
              </a:rPr>
              <a:t>How Chaos and Fractal Theory is(/can be) used in ML</a:t>
            </a:r>
          </a:p>
          <a:p>
            <a:pPr marL="12700" marR="5080"/>
            <a:r>
              <a:rPr lang="en-US" sz="1500" kern="0" spc="-80" dirty="0">
                <a:solidFill>
                  <a:schemeClr val="accent2"/>
                </a:solidFill>
              </a:rPr>
              <a:t>Applications of fractal theory in ML</a:t>
            </a:r>
          </a:p>
          <a:p>
            <a:pPr marL="12700" marR="5080"/>
            <a:r>
              <a:rPr lang="en-US" sz="1500" kern="0" spc="-80" dirty="0">
                <a:solidFill>
                  <a:schemeClr val="accent6"/>
                </a:solidFill>
              </a:rPr>
              <a:t>Fractal geometry describes shapes that exhibit self-similarity at different scales, a property found in many natural and complex objects. In ML, fractal theory is used to characterize the complexity of data and to inform the design of learning algorithms.</a:t>
            </a:r>
          </a:p>
          <a:p>
            <a:pPr marL="12700" marR="5080"/>
            <a:r>
              <a:rPr lang="en-US" sz="1500" kern="0" spc="-80" dirty="0">
                <a:solidFill>
                  <a:schemeClr val="accent2"/>
                </a:solidFill>
              </a:rPr>
              <a:t>Image processing and computer vision</a:t>
            </a:r>
          </a:p>
          <a:p>
            <a:pPr marL="12700" marR="5080"/>
            <a:r>
              <a:rPr lang="en-US" sz="1500" kern="0" spc="-80" dirty="0">
                <a:solidFill>
                  <a:schemeClr val="accent6"/>
                </a:solidFill>
              </a:rPr>
              <a:t>Fractal features provide a robust and scale-invariant way to characterize image textures, a task where traditional methods can struggle.</a:t>
            </a:r>
          </a:p>
          <a:p>
            <a:pPr marL="12700" marR="5080"/>
            <a:r>
              <a:rPr lang="en-US" sz="1500" kern="0" spc="-80" dirty="0">
                <a:solidFill>
                  <a:schemeClr val="accent2"/>
                </a:solidFill>
              </a:rPr>
              <a:t>Texture analysis:</a:t>
            </a:r>
            <a:r>
              <a:rPr lang="en-US" sz="1500" kern="0" spc="-80" dirty="0">
                <a:solidFill>
                  <a:schemeClr val="accent6"/>
                </a:solidFill>
              </a:rPr>
              <a:t> The fractal dimension, a non-integer value that quantifies an object's complexity, can be used as a powerful feature for classifying different types of textures.</a:t>
            </a:r>
          </a:p>
          <a:p>
            <a:pPr marL="12700" marR="5080"/>
            <a:r>
              <a:rPr lang="en-US" sz="1500" kern="0" spc="-80" dirty="0">
                <a:solidFill>
                  <a:schemeClr val="accent2"/>
                </a:solidFill>
              </a:rPr>
              <a:t>Feature extraction:</a:t>
            </a:r>
            <a:r>
              <a:rPr lang="en-US" sz="1500" kern="0" spc="-80" dirty="0">
                <a:solidFill>
                  <a:schemeClr val="accent6"/>
                </a:solidFill>
              </a:rPr>
              <a:t> In computer vision, fractal features help identify unique patterns missed by conventional methods, leading to more accurate classification, segmentation, and reconstruction.</a:t>
            </a:r>
          </a:p>
          <a:p>
            <a:pPr marL="12700" marR="5080"/>
            <a:r>
              <a:rPr lang="en-US" sz="1500" kern="0" spc="-80" dirty="0">
                <a:solidFill>
                  <a:schemeClr val="accent2"/>
                </a:solidFill>
              </a:rPr>
              <a:t>Algorithmic design:</a:t>
            </a:r>
            <a:r>
              <a:rPr lang="en-US" sz="1500" kern="0" spc="-80" dirty="0">
                <a:solidFill>
                  <a:schemeClr val="accent6"/>
                </a:solidFill>
              </a:rPr>
              <a:t> Advanced techniques like multi-scale fractal residual networks are used to improve the reconstruction of high-resolution images from low-resolution ones.</a:t>
            </a:r>
          </a:p>
          <a:p>
            <a:pPr marL="12700" marR="5080"/>
            <a:r>
              <a:rPr lang="en-US" sz="1500" kern="0" spc="-80" dirty="0">
                <a:solidFill>
                  <a:schemeClr val="accent2"/>
                </a:solidFill>
              </a:rPr>
              <a:t>Feature extraction from signals</a:t>
            </a:r>
          </a:p>
          <a:p>
            <a:pPr marL="12700" marR="5080"/>
            <a:r>
              <a:rPr lang="en-US" sz="1500" kern="0" spc="-80" dirty="0">
                <a:solidFill>
                  <a:schemeClr val="accent6"/>
                </a:solidFill>
              </a:rPr>
              <a:t>Fractal dimension analysis is useful for extracting key features from complex biological and engineering signals.</a:t>
            </a:r>
          </a:p>
          <a:p>
            <a:pPr marL="12700" marR="5080"/>
            <a:r>
              <a:rPr lang="en-US" sz="1500" kern="0" spc="-80" dirty="0">
                <a:solidFill>
                  <a:schemeClr val="accent2"/>
                </a:solidFill>
              </a:rPr>
              <a:t>EEG analysis:</a:t>
            </a:r>
            <a:r>
              <a:rPr lang="en-US" sz="1500" kern="0" spc="-80" dirty="0">
                <a:solidFill>
                  <a:schemeClr val="accent6"/>
                </a:solidFill>
              </a:rPr>
              <a:t> For diagnosing neurological disorders like Alzheimer's or schizophrenia, fractal dimensions can be extracted from segments of EEG signals to represent changes in brain activity. This significantly reduces the dimensionality of the data while preserving crucial information.</a:t>
            </a:r>
          </a:p>
        </p:txBody>
      </p:sp>
    </p:spTree>
    <p:extLst>
      <p:ext uri="{BB962C8B-B14F-4D97-AF65-F5344CB8AC3E}">
        <p14:creationId xmlns:p14="http://schemas.microsoft.com/office/powerpoint/2010/main" val="2056401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52D0-25B5-E08C-C5DA-7337757E9C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E7E417-0C9E-1787-F4DB-16CC83705A60}"/>
              </a:ext>
            </a:extLst>
          </p:cNvPr>
          <p:cNvSpPr/>
          <p:nvPr/>
        </p:nvSpPr>
        <p:spPr>
          <a:xfrm>
            <a:off x="1671319" y="10898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7809912-9323-4BA1-2050-727FF5A983EB}"/>
              </a:ext>
            </a:extLst>
          </p:cNvPr>
          <p:cNvSpPr/>
          <p:nvPr/>
        </p:nvSpPr>
        <p:spPr>
          <a:xfrm>
            <a:off x="1671319" y="90627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8ED763-CE45-F1F8-87EE-1AC04AE00BA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AB98F0C-3BC3-79CA-7EE2-0B08201329FC}"/>
              </a:ext>
            </a:extLst>
          </p:cNvPr>
          <p:cNvSpPr txBox="1">
            <a:spLocks/>
          </p:cNvSpPr>
          <p:nvPr/>
        </p:nvSpPr>
        <p:spPr>
          <a:xfrm>
            <a:off x="51885" y="1206992"/>
            <a:ext cx="8624937" cy="27699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b="0" dirty="0">
                <a:solidFill>
                  <a:srgbClr val="1F2328"/>
                </a:solidFill>
                <a:latin typeface="-apple-system"/>
              </a:rPr>
              <a:t> </a:t>
            </a:r>
            <a:r>
              <a:rPr lang="en-US" sz="1500" kern="0" spc="-80" dirty="0">
                <a:solidFill>
                  <a:schemeClr val="accent2"/>
                </a:solidFill>
              </a:rPr>
              <a:t>How Chaos and Fractal Theory is(/can be) used in ML</a:t>
            </a:r>
          </a:p>
          <a:p>
            <a:pPr marL="12700" marR="5080"/>
            <a:r>
              <a:rPr lang="en-US" sz="1500" kern="0" spc="-80" dirty="0">
                <a:solidFill>
                  <a:schemeClr val="accent2"/>
                </a:solidFill>
              </a:rPr>
              <a:t>Signal recognition: </a:t>
            </a:r>
            <a:r>
              <a:rPr lang="en-US" sz="1500" kern="0" spc="-80" dirty="0">
                <a:solidFill>
                  <a:schemeClr val="accent6"/>
                </a:solidFill>
              </a:rPr>
              <a:t>In communication, fractal features can be extracted from modulated signals and fed into ML classifiers like Random Forest to identify the signal type with high accuracy, even in noisy environments.</a:t>
            </a:r>
          </a:p>
          <a:p>
            <a:pPr marL="12700" marR="5080"/>
            <a:r>
              <a:rPr lang="en-US" sz="1500" kern="0" spc="-80" dirty="0">
                <a:solidFill>
                  <a:schemeClr val="accent2"/>
                </a:solidFill>
              </a:rPr>
              <a:t>Improved neural network architectures</a:t>
            </a:r>
          </a:p>
          <a:p>
            <a:pPr marL="12700" marR="5080"/>
            <a:r>
              <a:rPr lang="en-US" sz="1500" kern="0" spc="-80" dirty="0">
                <a:solidFill>
                  <a:schemeClr val="accent6"/>
                </a:solidFill>
              </a:rPr>
              <a:t>The principles of fractal geometry have inspired new approaches for designing and training ML models.</a:t>
            </a:r>
          </a:p>
          <a:p>
            <a:pPr marL="12700" marR="5080"/>
            <a:r>
              <a:rPr lang="en-US" sz="1500" kern="0" spc="-80" dirty="0">
                <a:solidFill>
                  <a:schemeClr val="accent2"/>
                </a:solidFill>
              </a:rPr>
              <a:t> Fractal networks: </a:t>
            </a:r>
            <a:r>
              <a:rPr lang="en-US" sz="1500" kern="0" spc="-80" dirty="0">
                <a:solidFill>
                  <a:schemeClr val="accent6"/>
                </a:solidFill>
              </a:rPr>
              <a:t>These networks prioritize patterns over absolute values and leverage self-similarity to learn from smaller datasets. </a:t>
            </a:r>
          </a:p>
          <a:p>
            <a:pPr marL="12700" marR="5080"/>
            <a:r>
              <a:rPr lang="en-US" sz="1500" kern="0" spc="-80" dirty="0">
                <a:solidFill>
                  <a:schemeClr val="accent2"/>
                </a:solidFill>
              </a:rPr>
              <a:t>Training stability:</a:t>
            </a:r>
            <a:r>
              <a:rPr lang="en-US" sz="1500" kern="0" spc="-80" dirty="0">
                <a:solidFill>
                  <a:schemeClr val="accent6"/>
                </a:solidFill>
              </a:rPr>
              <a:t> The relationship between neural network training and fractals has been explored, revealing that the boundary of a network's trainability is itself fractal. This can provide insights into designing more robust and adaptable networks</a:t>
            </a:r>
          </a:p>
        </p:txBody>
      </p:sp>
    </p:spTree>
    <p:extLst>
      <p:ext uri="{BB962C8B-B14F-4D97-AF65-F5344CB8AC3E}">
        <p14:creationId xmlns:p14="http://schemas.microsoft.com/office/powerpoint/2010/main" val="39097446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AB16C-7DB8-DD69-2010-CA83218BCC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51E804-7EB8-AC80-905D-8F134ABE4726}"/>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CE2BE83-6C83-F983-BF61-D2F707B3FBD0}"/>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062351B-9A5B-9CBA-1D74-C1CAD84DF10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58D75B35-9CA7-B0FC-B4CE-511FDA77AB34}"/>
              </a:ext>
            </a:extLst>
          </p:cNvPr>
          <p:cNvSpPr txBox="1">
            <a:spLocks/>
          </p:cNvSpPr>
          <p:nvPr/>
        </p:nvSpPr>
        <p:spPr>
          <a:xfrm>
            <a:off x="51886" y="1275912"/>
            <a:ext cx="8624937" cy="24514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70" dirty="0">
                <a:hlinkClick r:id="rId7"/>
              </a:rPr>
              <a:t>The Roadmap of Mathematics for Machine Learning</a:t>
            </a:r>
            <a:endParaRPr lang="en-US" sz="1170" dirty="0"/>
          </a:p>
          <a:p>
            <a:pPr marL="12700" marR="5080"/>
            <a:r>
              <a:rPr lang="en-IN" sz="1170" dirty="0">
                <a:hlinkClick r:id="rId8"/>
              </a:rPr>
              <a:t>Some Great Resources to understand the Maths Behind AI</a:t>
            </a:r>
            <a:endParaRPr lang="en-IN" sz="1170" dirty="0"/>
          </a:p>
          <a:p>
            <a:pPr marL="12700" marR="5080"/>
            <a:r>
              <a:rPr lang="en-IN" sz="1200" dirty="0">
                <a:hlinkClick r:id="rId9"/>
              </a:rPr>
              <a:t>Probability and Statistics - </a:t>
            </a:r>
            <a:r>
              <a:rPr lang="en-IN" sz="1200" dirty="0" err="1">
                <a:hlinkClick r:id="rId9"/>
              </a:rPr>
              <a:t>GeeksforGeeks</a:t>
            </a:r>
            <a:endParaRPr lang="en-US" sz="1170" kern="0" spc="-80" dirty="0">
              <a:solidFill>
                <a:schemeClr val="accent2"/>
              </a:solidFill>
            </a:endParaRPr>
          </a:p>
          <a:p>
            <a:pPr marL="12700" marR="5080"/>
            <a:r>
              <a:rPr lang="en-IN" sz="1170" dirty="0">
                <a:hlinkClick r:id="rId10"/>
              </a:rPr>
              <a:t>Bookshelves - Mathematics </a:t>
            </a:r>
            <a:r>
              <a:rPr lang="en-IN" sz="1170" dirty="0" err="1">
                <a:hlinkClick r:id="rId10"/>
              </a:rPr>
              <a:t>LibreTexts</a:t>
            </a:r>
            <a:endParaRPr lang="en-US" sz="1170" kern="0" spc="-80" dirty="0">
              <a:solidFill>
                <a:schemeClr val="accent2"/>
              </a:solidFill>
            </a:endParaRPr>
          </a:p>
          <a:p>
            <a:pPr marL="12700" marR="5080"/>
            <a:r>
              <a:rPr lang="en-IN" sz="1170" dirty="0">
                <a:hlinkClick r:id="rId11"/>
              </a:rPr>
              <a:t>Bookshelves - Statistics </a:t>
            </a:r>
            <a:r>
              <a:rPr lang="en-IN" sz="1170" dirty="0" err="1">
                <a:hlinkClick r:id="rId11"/>
              </a:rPr>
              <a:t>LibreTexts</a:t>
            </a:r>
            <a:endParaRPr lang="en-IN" sz="1170" dirty="0"/>
          </a:p>
          <a:p>
            <a:pPr marL="12700" marR="5080"/>
            <a:r>
              <a:rPr lang="en-US" sz="1170" dirty="0">
                <a:hlinkClick r:id="rId12"/>
              </a:rPr>
              <a:t>Green Tea Press – Free books by Allen B. Downey</a:t>
            </a:r>
            <a:endParaRPr lang="en-US" sz="1170" dirty="0"/>
          </a:p>
          <a:p>
            <a:pPr marL="12700" marR="5080"/>
            <a:r>
              <a:rPr lang="en-US" sz="1170" dirty="0">
                <a:hlinkClick r:id="rId13"/>
              </a:rPr>
              <a:t>List of mathematical functions </a:t>
            </a:r>
            <a:r>
              <a:rPr lang="en-US" sz="1170" dirty="0">
                <a:hlinkClick r:id="rId14"/>
              </a:rPr>
              <a:t>–</a:t>
            </a:r>
            <a:r>
              <a:rPr lang="en-US" sz="1170" dirty="0">
                <a:hlinkClick r:id="rId13"/>
              </a:rPr>
              <a:t> Wikipedia</a:t>
            </a:r>
            <a:endParaRPr lang="en-US" sz="1170" dirty="0"/>
          </a:p>
          <a:p>
            <a:pPr marL="12700" marR="5080"/>
            <a:r>
              <a:rPr lang="en-IN" sz="1170" dirty="0">
                <a:hlinkClick r:id="rId15"/>
              </a:rPr>
              <a:t>Mathematical model </a:t>
            </a:r>
            <a:r>
              <a:rPr lang="en-IN" sz="1170" dirty="0">
                <a:hlinkClick r:id="rId16"/>
              </a:rPr>
              <a:t>–</a:t>
            </a:r>
            <a:r>
              <a:rPr lang="en-IN" sz="1170" dirty="0">
                <a:hlinkClick r:id="rId15"/>
              </a:rPr>
              <a:t> Wikipedia</a:t>
            </a:r>
            <a:endParaRPr lang="en-IN" sz="1170" dirty="0"/>
          </a:p>
          <a:p>
            <a:pPr marL="12700" marR="5080"/>
            <a:r>
              <a:rPr lang="en-IN" sz="1170" dirty="0">
                <a:hlinkClick r:id="rId17"/>
              </a:rPr>
              <a:t>Numerical analysis - Wikipedia</a:t>
            </a:r>
            <a:endParaRPr lang="en-IN" sz="1170" dirty="0"/>
          </a:p>
          <a:p>
            <a:pPr marL="12700" marR="5080"/>
            <a:r>
              <a:rPr lang="en-US" sz="1170" dirty="0">
                <a:hlinkClick r:id="rId16"/>
              </a:rPr>
              <a:t>Numerical Algorithms: Methods for Computer Vision, Machine Learning, and Graphics</a:t>
            </a:r>
            <a:endParaRPr lang="en-US" sz="1170" dirty="0"/>
          </a:p>
          <a:p>
            <a:pPr marL="12700" marR="5080"/>
            <a:r>
              <a:rPr lang="en-IN" sz="1200" dirty="0">
                <a:hlinkClick r:id="rId18"/>
              </a:rPr>
              <a:t>Mike X Cohen</a:t>
            </a:r>
            <a:endParaRPr lang="en-US" sz="1170" dirty="0"/>
          </a:p>
          <a:p>
            <a:pPr marL="12700" marR="5080"/>
            <a:endParaRPr lang="en-US" sz="1500" dirty="0"/>
          </a:p>
          <a:p>
            <a:pPr marL="12700" marR="5080"/>
            <a:endParaRPr lang="en-US" sz="1500" kern="0" spc="-80" dirty="0">
              <a:solidFill>
                <a:schemeClr val="accent2"/>
              </a:solidFill>
            </a:endParaRPr>
          </a:p>
        </p:txBody>
      </p:sp>
    </p:spTree>
    <p:extLst>
      <p:ext uri="{BB962C8B-B14F-4D97-AF65-F5344CB8AC3E}">
        <p14:creationId xmlns:p14="http://schemas.microsoft.com/office/powerpoint/2010/main" val="3194289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3538A-4822-2101-09E3-B62C33A6650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5B97D7-F46A-1976-2162-565137EB80E5}"/>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A6F8CA-6638-1C5A-739D-8A09E047A438}"/>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49AF6A1-26C5-6BF4-CDBD-5F0EE80F5E56}"/>
              </a:ext>
            </a:extLst>
          </p:cNvPr>
          <p:cNvGraphicFramePr/>
          <p:nvPr>
            <p:extLst>
              <p:ext uri="{D42A27DB-BD31-4B8C-83A1-F6EECF244321}">
                <p14:modId xmlns:p14="http://schemas.microsoft.com/office/powerpoint/2010/main" val="176921862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0B5F32E1-C921-4E1D-8C3E-28C89950E98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674" y="1194404"/>
            <a:ext cx="9144000" cy="434261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468B08BF-405B-889E-CCA8-7EBB4C04CEDF}"/>
              </a:ext>
            </a:extLst>
          </p:cNvPr>
          <p:cNvSpPr txBox="1">
            <a:spLocks/>
          </p:cNvSpPr>
          <p:nvPr/>
        </p:nvSpPr>
        <p:spPr>
          <a:xfrm>
            <a:off x="21274" y="5404991"/>
            <a:ext cx="8624937" cy="5386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100" dirty="0">
                <a:hlinkClick r:id="rId8"/>
              </a:rPr>
              <a:t>Introduction to CRISP DM Framework for Data Science and Machine Learning</a:t>
            </a:r>
            <a:endParaRPr lang="en-US" sz="1100" dirty="0"/>
          </a:p>
        </p:txBody>
      </p:sp>
    </p:spTree>
    <p:extLst>
      <p:ext uri="{BB962C8B-B14F-4D97-AF65-F5344CB8AC3E}">
        <p14:creationId xmlns:p14="http://schemas.microsoft.com/office/powerpoint/2010/main" val="6923493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89565-3856-8532-CA23-2C9AEB691D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D654EB-1E21-8A78-521E-E5BAB3608F05}"/>
              </a:ext>
            </a:extLst>
          </p:cNvPr>
          <p:cNvSpPr/>
          <p:nvPr/>
        </p:nvSpPr>
        <p:spPr>
          <a:xfrm>
            <a:off x="1666239" y="100296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C57F93-3158-F0BD-11A3-611CEE0D5659}"/>
              </a:ext>
            </a:extLst>
          </p:cNvPr>
          <p:cNvSpPr/>
          <p:nvPr/>
        </p:nvSpPr>
        <p:spPr>
          <a:xfrm>
            <a:off x="1666240" y="83861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204560F-D2C9-B0FE-875C-195A1E144BC0}"/>
              </a:ext>
            </a:extLst>
          </p:cNvPr>
          <p:cNvGraphicFramePr/>
          <p:nvPr>
            <p:extLst>
              <p:ext uri="{D42A27DB-BD31-4B8C-83A1-F6EECF244321}">
                <p14:modId xmlns:p14="http://schemas.microsoft.com/office/powerpoint/2010/main" val="1933248525"/>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descr="Feature Engineeering flow chart diagram">
            <a:extLst>
              <a:ext uri="{FF2B5EF4-FFF2-40B4-BE49-F238E27FC236}">
                <a16:creationId xmlns:a16="http://schemas.microsoft.com/office/drawing/2014/main" id="{68A3AA4F-F15E-1D9C-4C78-B068241255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1138463"/>
            <a:ext cx="4114799" cy="442413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23A967F-2BD5-4102-4A52-719D2E975D96}"/>
              </a:ext>
            </a:extLst>
          </p:cNvPr>
          <p:cNvPicPr>
            <a:picLocks noChangeAspect="1"/>
          </p:cNvPicPr>
          <p:nvPr/>
        </p:nvPicPr>
        <p:blipFill>
          <a:blip r:embed="rId8"/>
          <a:stretch>
            <a:fillRect/>
          </a:stretch>
        </p:blipFill>
        <p:spPr>
          <a:xfrm>
            <a:off x="81412" y="1138462"/>
            <a:ext cx="4443914" cy="4424137"/>
          </a:xfrm>
          <a:prstGeom prst="rect">
            <a:avLst/>
          </a:prstGeom>
        </p:spPr>
      </p:pic>
    </p:spTree>
    <p:extLst>
      <p:ext uri="{BB962C8B-B14F-4D97-AF65-F5344CB8AC3E}">
        <p14:creationId xmlns:p14="http://schemas.microsoft.com/office/powerpoint/2010/main" val="2166821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32FFA-2F3D-AF54-7485-B8229A695B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D9FE152-9D9E-EBDD-A074-CCE9B3632F6D}"/>
              </a:ext>
            </a:extLst>
          </p:cNvPr>
          <p:cNvSpPr/>
          <p:nvPr/>
        </p:nvSpPr>
        <p:spPr>
          <a:xfrm>
            <a:off x="1666239" y="100296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51049A0-939D-6568-B6ED-73B35E1D3720}"/>
              </a:ext>
            </a:extLst>
          </p:cNvPr>
          <p:cNvSpPr/>
          <p:nvPr/>
        </p:nvSpPr>
        <p:spPr>
          <a:xfrm>
            <a:off x="1666240" y="83861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02A6B8-D08C-077A-6C91-92381EF11019}"/>
              </a:ext>
            </a:extLst>
          </p:cNvPr>
          <p:cNvGraphicFramePr/>
          <p:nvPr>
            <p:extLst>
              <p:ext uri="{D42A27DB-BD31-4B8C-83A1-F6EECF244321}">
                <p14:modId xmlns:p14="http://schemas.microsoft.com/office/powerpoint/2010/main" val="356928461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28283417-8029-9812-93EB-8215FCFBD888}"/>
              </a:ext>
            </a:extLst>
          </p:cNvPr>
          <p:cNvSpPr txBox="1">
            <a:spLocks/>
          </p:cNvSpPr>
          <p:nvPr/>
        </p:nvSpPr>
        <p:spPr>
          <a:xfrm>
            <a:off x="0" y="1107009"/>
            <a:ext cx="9015912"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00" dirty="0">
                <a:hlinkClick r:id="rId7"/>
              </a:rPr>
              <a:t>A Comprehensive Guide to Mastering Exploratory Data Analysis</a:t>
            </a:r>
            <a:endParaRPr lang="en-US" sz="1100" dirty="0"/>
          </a:p>
          <a:p>
            <a:pPr marL="12700" marR="5080"/>
            <a:r>
              <a:rPr lang="en-US" sz="1100" dirty="0">
                <a:hlinkClick r:id="rId8"/>
              </a:rPr>
              <a:t>Exploratory vs. Confirmatory Analysis: Key Differences</a:t>
            </a:r>
            <a:endParaRPr lang="en-US" sz="1100" dirty="0"/>
          </a:p>
          <a:p>
            <a:pPr marL="12700" marR="5080"/>
            <a:r>
              <a:rPr lang="en-US" sz="1100" dirty="0" err="1">
                <a:hlinkClick r:id="rId9"/>
              </a:rPr>
              <a:t>Datapreparation</a:t>
            </a:r>
            <a:r>
              <a:rPr lang="en-US" sz="1100" dirty="0">
                <a:hlinkClick r:id="rId9"/>
              </a:rPr>
              <a:t>-Handbook</a:t>
            </a:r>
            <a:endParaRPr lang="en-US" sz="1100" dirty="0"/>
          </a:p>
          <a:p>
            <a:pPr marL="12700" marR="5080"/>
            <a:r>
              <a:rPr lang="en-US" sz="1100" dirty="0">
                <a:hlinkClick r:id="rId10"/>
              </a:rPr>
              <a:t>The-Well-Grounded-Data-Analyst</a:t>
            </a:r>
            <a:endParaRPr lang="en-US" sz="1100" dirty="0"/>
          </a:p>
          <a:p>
            <a:pPr marL="12700" marR="5080"/>
            <a:r>
              <a:rPr lang="en-US" sz="1100" dirty="0">
                <a:hlinkClick r:id="rId11"/>
              </a:rPr>
              <a:t>Data: A Collection of Problems from Many Fields for the Student and Research Worker</a:t>
            </a:r>
            <a:endParaRPr lang="en-US" sz="1100" dirty="0"/>
          </a:p>
          <a:p>
            <a:pPr marL="12700" marR="5080"/>
            <a:r>
              <a:rPr lang="en-US" sz="1100" dirty="0">
                <a:hlinkClick r:id="rId12"/>
              </a:rPr>
              <a:t>What are the most effective data cleaning and validation tools?</a:t>
            </a:r>
            <a:endParaRPr lang="en-US" sz="1100" dirty="0"/>
          </a:p>
          <a:p>
            <a:pPr marL="12700" marR="5080"/>
            <a:r>
              <a:rPr lang="en-US" sz="1100" dirty="0">
                <a:hlinkClick r:id="rId13"/>
              </a:rPr>
              <a:t>Detecting and Treating Outliers | Treating the odd one out!</a:t>
            </a:r>
            <a:endParaRPr lang="en-US" sz="1100" dirty="0"/>
          </a:p>
          <a:p>
            <a:pPr marL="12700" marR="5080"/>
            <a:r>
              <a:rPr lang="en-IN" sz="1100" dirty="0">
                <a:hlinkClick r:id="rId14"/>
              </a:rPr>
              <a:t>Outlier Detection in Python</a:t>
            </a:r>
            <a:endParaRPr lang="en-US" sz="1100" dirty="0"/>
          </a:p>
          <a:p>
            <a:pPr marL="12700" marR="5080"/>
            <a:r>
              <a:rPr lang="en-US" sz="1100" dirty="0">
                <a:hlinkClick r:id="rId15"/>
              </a:rPr>
              <a:t>How to Handle Big-p, Little-n (p &gt;&gt; n) in Machine Learning - MachineLearningMastery.com</a:t>
            </a:r>
            <a:endParaRPr lang="en-US" sz="1100" dirty="0"/>
          </a:p>
          <a:p>
            <a:pPr marL="12700" marR="5080"/>
            <a:r>
              <a:rPr lang="en-US" sz="1100" dirty="0">
                <a:hlinkClick r:id="rId16"/>
              </a:rPr>
              <a:t>Data Leakage in Machine Learning - MachineLearningMastery.com</a:t>
            </a:r>
            <a:endParaRPr lang="en-US" sz="1100" dirty="0"/>
          </a:p>
          <a:p>
            <a:pPr marL="12700" marR="5080"/>
            <a:r>
              <a:rPr lang="en-IN" sz="1100" dirty="0">
                <a:hlinkClick r:id="rId17"/>
              </a:rPr>
              <a:t>Fundamentals of Data Visualization</a:t>
            </a:r>
            <a:endParaRPr lang="en-IN" sz="1100" dirty="0"/>
          </a:p>
          <a:p>
            <a:pPr marL="12700" marR="5080"/>
            <a:r>
              <a:rPr lang="en-US" sz="1100" dirty="0">
                <a:hlinkClick r:id="rId18"/>
              </a:rPr>
              <a:t>Data Cleaning In 5 Easy Steps + Examples</a:t>
            </a:r>
            <a:endParaRPr lang="en-US" sz="1100" dirty="0"/>
          </a:p>
          <a:p>
            <a:pPr marL="12700" marR="5080"/>
            <a:r>
              <a:rPr lang="en-US" sz="1100" dirty="0">
                <a:hlinkClick r:id="rId19"/>
              </a:rPr>
              <a:t>Cleaning-Data-for-Effective-Data-Science</a:t>
            </a:r>
            <a:endParaRPr lang="en-US" sz="1100" dirty="0"/>
          </a:p>
          <a:p>
            <a:pPr marL="12700" marR="5080"/>
            <a:r>
              <a:rPr lang="en-US" sz="1100" dirty="0">
                <a:hlinkClick r:id="rId20"/>
              </a:rPr>
              <a:t>Python-Data-Cleaning-Cookbook-Second-Edition</a:t>
            </a:r>
            <a:endParaRPr lang="en-US" sz="1100" dirty="0"/>
          </a:p>
          <a:p>
            <a:pPr marL="12700" marR="5080"/>
            <a:r>
              <a:rPr lang="en-US" sz="1100" dirty="0">
                <a:hlinkClick r:id="rId21"/>
              </a:rPr>
              <a:t>Python-Data-Cleaning-and-Preparation-Best-Practices</a:t>
            </a:r>
            <a:endParaRPr lang="en-US" sz="1100" dirty="0"/>
          </a:p>
          <a:p>
            <a:pPr marL="12700" marR="5080"/>
            <a:r>
              <a:rPr lang="en-US" sz="1100" dirty="0">
                <a:hlinkClick r:id="rId22"/>
              </a:rPr>
              <a:t>Data-Cleaning-and-Exploration-with-Machine-Learning</a:t>
            </a:r>
            <a:endParaRPr lang="en-US" sz="1100" dirty="0"/>
          </a:p>
          <a:p>
            <a:pPr marL="12700" marR="5080"/>
            <a:r>
              <a:rPr lang="en-US" sz="1100" dirty="0">
                <a:hlinkClick r:id="rId23"/>
              </a:rPr>
              <a:t>Practical-Data-Science-using-Python</a:t>
            </a:r>
            <a:endParaRPr lang="en-US" sz="1100" dirty="0"/>
          </a:p>
          <a:p>
            <a:pPr marL="12700" marR="5080"/>
            <a:r>
              <a:rPr lang="en-US" sz="1100" dirty="0">
                <a:hlinkClick r:id="rId24"/>
              </a:rPr>
              <a:t>Practical-Data-Science-with-Python</a:t>
            </a:r>
            <a:endParaRPr lang="en-US" sz="1100" dirty="0"/>
          </a:p>
          <a:p>
            <a:pPr marL="12700" marR="5080"/>
            <a:r>
              <a:rPr lang="en-US" sz="1100" dirty="0">
                <a:hlinkClick r:id="rId25"/>
              </a:rPr>
              <a:t>Data Science from Scratch</a:t>
            </a:r>
            <a:endParaRPr lang="en-US" sz="1100" dirty="0"/>
          </a:p>
          <a:p>
            <a:pPr marL="12700" marR="5080"/>
            <a:r>
              <a:rPr lang="en-US" sz="1100" dirty="0">
                <a:hlinkClick r:id="rId26"/>
              </a:rPr>
              <a:t>Applied-Geospatial-Data-Science-with-Python</a:t>
            </a:r>
            <a:endParaRPr lang="en-US" sz="1100" dirty="0"/>
          </a:p>
          <a:p>
            <a:pPr marL="12700" marR="5080"/>
            <a:r>
              <a:rPr lang="en-US" sz="1100" dirty="0">
                <a:hlinkClick r:id="rId27"/>
              </a:rPr>
              <a:t>Missing data books – The Stats Geek</a:t>
            </a:r>
            <a:endParaRPr lang="en-US" sz="1100" dirty="0"/>
          </a:p>
          <a:p>
            <a:pPr marL="12700" marR="5080"/>
            <a:r>
              <a:rPr lang="en-US" sz="1100" dirty="0">
                <a:hlinkClick r:id="rId28"/>
              </a:rPr>
              <a:t>What is Feature Engineering? </a:t>
            </a:r>
            <a:endParaRPr lang="en-US" sz="1100" dirty="0"/>
          </a:p>
          <a:p>
            <a:pPr marL="12700" marR="5080"/>
            <a:r>
              <a:rPr lang="en-US" sz="1100" dirty="0">
                <a:hlinkClick r:id="rId29"/>
              </a:rPr>
              <a:t>What is Feature Scaling and Why is it Important?</a:t>
            </a:r>
            <a:r>
              <a:rPr lang="en-US" sz="1100" dirty="0"/>
              <a:t> </a:t>
            </a:r>
          </a:p>
          <a:p>
            <a:pPr marL="12700" marR="5080"/>
            <a:r>
              <a:rPr lang="en-US" sz="1100" dirty="0">
                <a:hlinkClick r:id="rId30"/>
              </a:rPr>
              <a:t>Feature Selection in Machine Learning</a:t>
            </a:r>
            <a:endParaRPr lang="en-US" sz="1100" dirty="0"/>
          </a:p>
          <a:p>
            <a:pPr marL="12700" marR="5080"/>
            <a:r>
              <a:rPr lang="en-IN" sz="1100" dirty="0">
                <a:hlinkClick r:id="rId31"/>
              </a:rPr>
              <a:t>Transfer Entropy for Feature Selection</a:t>
            </a:r>
            <a:endParaRPr lang="en-IN" sz="1100" dirty="0"/>
          </a:p>
          <a:p>
            <a:pPr marL="12700" marR="5080"/>
            <a:r>
              <a:rPr lang="en-IN" sz="1100" dirty="0">
                <a:hlinkClick r:id="rId32"/>
              </a:rPr>
              <a:t>Assumption Selection and Feature Selection</a:t>
            </a:r>
            <a:endParaRPr lang="en-IN" sz="1100" dirty="0"/>
          </a:p>
          <a:p>
            <a:pPr marL="12700" marR="5080"/>
            <a:r>
              <a:rPr lang="en-US" sz="1100" dirty="0">
                <a:hlinkClick r:id="rId33"/>
              </a:rPr>
              <a:t>Categorical data: Feature crosses</a:t>
            </a:r>
            <a:endParaRPr lang="en-US" sz="1100" dirty="0"/>
          </a:p>
          <a:p>
            <a:pPr marL="12700" marR="5080"/>
            <a:r>
              <a:rPr lang="en-US" sz="1100" dirty="0">
                <a:hlinkClick r:id="rId34"/>
              </a:rPr>
              <a:t>Python-Feature-Engineering-Cookbook</a:t>
            </a:r>
            <a:endParaRPr lang="en-US" sz="1100" dirty="0"/>
          </a:p>
          <a:p>
            <a:pPr marL="12700" marR="5080"/>
            <a:r>
              <a:rPr lang="en-US" sz="1100" dirty="0">
                <a:hlinkClick r:id="rId35"/>
              </a:rPr>
              <a:t>Feature Engineering for Machine Learning</a:t>
            </a:r>
            <a:endParaRPr lang="en-US" sz="1100" dirty="0"/>
          </a:p>
        </p:txBody>
      </p:sp>
    </p:spTree>
    <p:extLst>
      <p:ext uri="{BB962C8B-B14F-4D97-AF65-F5344CB8AC3E}">
        <p14:creationId xmlns:p14="http://schemas.microsoft.com/office/powerpoint/2010/main" val="15382609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A29E-A425-F277-BACC-C3ABABA54F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08D867B-5890-9667-1CD3-D9CB89FC3084}"/>
              </a:ext>
            </a:extLst>
          </p:cNvPr>
          <p:cNvSpPr/>
          <p:nvPr/>
        </p:nvSpPr>
        <p:spPr>
          <a:xfrm>
            <a:off x="1645919"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D1F09E-0806-7C64-9AB9-B3DA94BFB820}"/>
              </a:ext>
            </a:extLst>
          </p:cNvPr>
          <p:cNvSpPr/>
          <p:nvPr/>
        </p:nvSpPr>
        <p:spPr>
          <a:xfrm>
            <a:off x="1645919" y="6858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0C14DEA-46E4-5616-7F06-D14CFFECCC56}"/>
              </a:ext>
            </a:extLst>
          </p:cNvPr>
          <p:cNvGraphicFramePr/>
          <p:nvPr>
            <p:extLst>
              <p:ext uri="{D42A27DB-BD31-4B8C-83A1-F6EECF244321}">
                <p14:modId xmlns:p14="http://schemas.microsoft.com/office/powerpoint/2010/main" val="1962313620"/>
              </p:ext>
            </p:extLst>
          </p:nvPr>
        </p:nvGraphicFramePr>
        <p:xfrm>
          <a:off x="-17146" y="17829"/>
          <a:ext cx="9084945" cy="667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Sampling process steps.">
            <a:extLst>
              <a:ext uri="{FF2B5EF4-FFF2-40B4-BE49-F238E27FC236}">
                <a16:creationId xmlns:a16="http://schemas.microsoft.com/office/drawing/2014/main" id="{020D3353-E9A9-7A66-1803-45F499CBE7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951864"/>
            <a:ext cx="8305800" cy="3772536"/>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1B119B50-7237-C302-DDFF-B34F93B7B8F4}"/>
              </a:ext>
            </a:extLst>
          </p:cNvPr>
          <p:cNvSpPr txBox="1">
            <a:spLocks/>
          </p:cNvSpPr>
          <p:nvPr/>
        </p:nvSpPr>
        <p:spPr>
          <a:xfrm>
            <a:off x="0" y="4789438"/>
            <a:ext cx="9015912" cy="115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US" sz="1200" dirty="0">
                <a:hlinkClick r:id="rId8"/>
              </a:rPr>
              <a:t>About Sampling</a:t>
            </a:r>
            <a:endParaRPr lang="en-US" sz="1200" dirty="0"/>
          </a:p>
          <a:p>
            <a:pPr marL="12700" marR="5080"/>
            <a:r>
              <a:rPr lang="en-IN" sz="1200" dirty="0">
                <a:hlinkClick r:id="rId9"/>
              </a:rPr>
              <a:t>Sampling Methods | Types, Techniques &amp; Examples</a:t>
            </a:r>
            <a:endParaRPr lang="en-IN" sz="1200" dirty="0"/>
          </a:p>
          <a:p>
            <a:pPr marL="12700" marR="5080"/>
            <a:r>
              <a:rPr lang="en-US" sz="1200" dirty="0">
                <a:hlinkClick r:id="rId10"/>
              </a:rPr>
              <a:t>Population vs Sampling Frame vs Sample</a:t>
            </a:r>
            <a:endParaRPr lang="en-US" sz="1200" dirty="0"/>
          </a:p>
          <a:p>
            <a:pPr marL="12700" marR="5080"/>
            <a:r>
              <a:rPr lang="en-US" sz="1200" dirty="0">
                <a:hlinkClick r:id="rId11"/>
              </a:rPr>
              <a:t>How does sampling frame and sampling unit influence your sample size calculation?</a:t>
            </a:r>
            <a:endParaRPr lang="en-US" sz="1200" dirty="0"/>
          </a:p>
          <a:p>
            <a:pPr marL="12700" marR="5080"/>
            <a:r>
              <a:rPr lang="en-US" sz="1200" dirty="0">
                <a:hlinkClick r:id="rId12"/>
              </a:rPr>
              <a:t>Statistics and Probability | Khan Academy</a:t>
            </a:r>
            <a:endParaRPr lang="en-US" sz="1200" kern="0" spc="-80" dirty="0">
              <a:solidFill>
                <a:schemeClr val="accent2"/>
              </a:solidFill>
            </a:endParaRPr>
          </a:p>
        </p:txBody>
      </p:sp>
    </p:spTree>
    <p:extLst>
      <p:ext uri="{BB962C8B-B14F-4D97-AF65-F5344CB8AC3E}">
        <p14:creationId xmlns:p14="http://schemas.microsoft.com/office/powerpoint/2010/main" val="1822164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C862-2D54-AE3D-845D-808089E4B8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279BD0-55FA-50DB-8937-966E0BA0AFAE}"/>
              </a:ext>
            </a:extLst>
          </p:cNvPr>
          <p:cNvSpPr/>
          <p:nvPr/>
        </p:nvSpPr>
        <p:spPr>
          <a:xfrm>
            <a:off x="1645919"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CC2B4B7-C399-4AFD-3D8A-3E14C2371B75}"/>
              </a:ext>
            </a:extLst>
          </p:cNvPr>
          <p:cNvSpPr/>
          <p:nvPr/>
        </p:nvSpPr>
        <p:spPr>
          <a:xfrm>
            <a:off x="1645919" y="6858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4A758DD-C2C0-20D4-4A77-03422DEE9CA3}"/>
              </a:ext>
            </a:extLst>
          </p:cNvPr>
          <p:cNvGraphicFramePr/>
          <p:nvPr>
            <p:extLst>
              <p:ext uri="{D42A27DB-BD31-4B8C-83A1-F6EECF244321}">
                <p14:modId xmlns:p14="http://schemas.microsoft.com/office/powerpoint/2010/main" val="239332258"/>
              </p:ext>
            </p:extLst>
          </p:nvPr>
        </p:nvGraphicFramePr>
        <p:xfrm>
          <a:off x="-17146" y="17829"/>
          <a:ext cx="9084945" cy="667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FB791C0B-7CF9-087C-86FC-CDD68F809A68}"/>
              </a:ext>
            </a:extLst>
          </p:cNvPr>
          <p:cNvSpPr txBox="1">
            <a:spLocks/>
          </p:cNvSpPr>
          <p:nvPr/>
        </p:nvSpPr>
        <p:spPr>
          <a:xfrm>
            <a:off x="107768" y="995679"/>
            <a:ext cx="9015912"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6"/>
                </a:solidFill>
                <a:cs typeface="+mn-cs"/>
              </a:rPr>
              <a:t>In Classification, even after sampling(or even without any sampling) there might be a case of Imbalanced Data(e.g. in a classification task, there can be 3 classes &amp; majority of input data pointing to class 1 &amp; a very low minority of input data pointing to class2 &amp; class3) &amp; to tackle Imbalanced data, mainly re-sampling training data or loss functions like class-balanced loss</a:t>
            </a:r>
            <a:r>
              <a:rPr lang="en-US" sz="2000" kern="0" spc="-220" dirty="0">
                <a:solidFill>
                  <a:schemeClr val="accent6"/>
                </a:solidFill>
                <a:cs typeface="+mn-cs"/>
              </a:rPr>
              <a:t> </a:t>
            </a:r>
            <a:r>
              <a:rPr lang="en-US" sz="2000" kern="0" spc="-80" dirty="0">
                <a:solidFill>
                  <a:schemeClr val="accent6"/>
                </a:solidFill>
                <a:cs typeface="+mn-cs"/>
              </a:rPr>
              <a:t>or focal loss are used. </a:t>
            </a:r>
          </a:p>
          <a:p>
            <a:pPr marL="12700" marR="5080"/>
            <a:endParaRPr lang="en-US" sz="2000" kern="0" spc="-80" dirty="0">
              <a:solidFill>
                <a:schemeClr val="accent6"/>
              </a:solidFill>
              <a:cs typeface="+mn-cs"/>
            </a:endParaRPr>
          </a:p>
          <a:p>
            <a:pPr marL="12700" marR="5080"/>
            <a:endParaRPr lang="en-US" sz="2000" kern="0" spc="-80" dirty="0">
              <a:solidFill>
                <a:schemeClr val="accent6"/>
              </a:solidFill>
              <a:cs typeface="+mn-cs"/>
            </a:endParaRPr>
          </a:p>
          <a:p>
            <a:pPr marL="12700" marR="5080"/>
            <a:endParaRPr lang="en-US" sz="2000" kern="0" spc="-80" dirty="0">
              <a:solidFill>
                <a:schemeClr val="accent6"/>
              </a:solidFill>
              <a:cs typeface="+mn-cs"/>
            </a:endParaRPr>
          </a:p>
          <a:p>
            <a:pPr marL="12700" marR="5080"/>
            <a:r>
              <a:rPr lang="en-US" sz="2000" kern="0" spc="-80" dirty="0">
                <a:solidFill>
                  <a:schemeClr val="accent2"/>
                </a:solidFill>
              </a:rPr>
              <a:t>For Further Exploration –</a:t>
            </a:r>
          </a:p>
          <a:p>
            <a:pPr marL="12700" marR="5080"/>
            <a:r>
              <a:rPr lang="en-US" sz="2000" dirty="0">
                <a:hlinkClick r:id="rId7"/>
              </a:rPr>
              <a:t>CB Loss: Class-Balanced Loss Based on Effective Number of Samples</a:t>
            </a:r>
            <a:endParaRPr lang="en-US" sz="2000" dirty="0"/>
          </a:p>
          <a:p>
            <a:pPr marL="12700" marR="5080"/>
            <a:r>
              <a:rPr lang="en-US" sz="2000" dirty="0">
                <a:hlinkClick r:id="rId8"/>
              </a:rPr>
              <a:t>Focal Loss : A better alternative for Cross-Entropy</a:t>
            </a:r>
            <a:endParaRPr lang="en-US" sz="2000" kern="0" spc="-220" dirty="0">
              <a:solidFill>
                <a:schemeClr val="accent6"/>
              </a:solidFill>
            </a:endParaRPr>
          </a:p>
          <a:p>
            <a:pPr marL="12700" marR="5080"/>
            <a:r>
              <a:rPr lang="en-US" sz="2000" dirty="0">
                <a:hlinkClick r:id="rId9"/>
              </a:rPr>
              <a:t>Cost-Sensitive Learning for Imbalanced Classification</a:t>
            </a:r>
            <a:endParaRPr lang="en-US" sz="2000" dirty="0"/>
          </a:p>
          <a:p>
            <a:pPr marL="12700" marR="5080"/>
            <a:r>
              <a:rPr lang="en-IN" sz="2000" dirty="0">
                <a:hlinkClick r:id="rId10"/>
              </a:rPr>
              <a:t>www.cheatsheets.aqeel-anwar.com</a:t>
            </a:r>
            <a:endParaRPr lang="en-US" sz="2000" kern="0" spc="-80" dirty="0">
              <a:solidFill>
                <a:schemeClr val="accent2"/>
              </a:solidFill>
            </a:endParaRPr>
          </a:p>
          <a:p>
            <a:pPr marL="12700" marR="5080"/>
            <a:r>
              <a:rPr lang="en-US" sz="2000" dirty="0">
                <a:hlinkClick r:id="rId11"/>
              </a:rPr>
              <a:t>Difference in Proportions of Labels (DPL) - Amazon SageMaker AI</a:t>
            </a:r>
            <a:endParaRPr lang="en-US" sz="2000" dirty="0"/>
          </a:p>
          <a:p>
            <a:pPr marL="12700" marR="5080"/>
            <a:r>
              <a:rPr lang="en-US" sz="2000" dirty="0">
                <a:hlinkClick r:id="rId12"/>
              </a:rPr>
              <a:t>10 Techniques to handle imbalance class in Machine Learning</a:t>
            </a:r>
            <a:endParaRPr lang="en-US" sz="2000" kern="0" spc="-80" dirty="0">
              <a:solidFill>
                <a:schemeClr val="accent2"/>
              </a:solidFill>
            </a:endParaRPr>
          </a:p>
          <a:p>
            <a:pPr marL="12700" marR="5080"/>
            <a:endParaRPr lang="en-US" sz="2000" kern="0" spc="-80" dirty="0">
              <a:solidFill>
                <a:schemeClr val="accent6"/>
              </a:solidFill>
              <a:cs typeface="+mn-cs"/>
            </a:endParaRPr>
          </a:p>
        </p:txBody>
      </p:sp>
    </p:spTree>
    <p:extLst>
      <p:ext uri="{BB962C8B-B14F-4D97-AF65-F5344CB8AC3E}">
        <p14:creationId xmlns:p14="http://schemas.microsoft.com/office/powerpoint/2010/main" val="2475515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DEEF4-F14C-0145-5527-67D07F5AD868}"/>
            </a:ext>
          </a:extLst>
        </p:cNvPr>
        <p:cNvGrpSpPr/>
        <p:nvPr/>
      </p:nvGrpSpPr>
      <p:grpSpPr>
        <a:xfrm>
          <a:off x="0" y="0"/>
          <a:ext cx="0" cy="0"/>
          <a:chOff x="0" y="0"/>
          <a:chExt cx="0" cy="0"/>
        </a:xfrm>
      </p:grpSpPr>
      <p:pic>
        <p:nvPicPr>
          <p:cNvPr id="1026" name="Picture 2" descr=" Model Selection">
            <a:extLst>
              <a:ext uri="{FF2B5EF4-FFF2-40B4-BE49-F238E27FC236}">
                <a16:creationId xmlns:a16="http://schemas.microsoft.com/office/drawing/2014/main" id="{2B26A074-FFE2-70CB-AB8D-8E880E0CB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39" y="3802679"/>
            <a:ext cx="8991600" cy="208514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EB84226-3E54-04F3-FA01-87ED4F503928}"/>
              </a:ext>
            </a:extLst>
          </p:cNvPr>
          <p:cNvPicPr>
            <a:picLocks noChangeAspect="1"/>
          </p:cNvPicPr>
          <p:nvPr/>
        </p:nvPicPr>
        <p:blipFill>
          <a:blip r:embed="rId3"/>
          <a:stretch>
            <a:fillRect/>
          </a:stretch>
        </p:blipFill>
        <p:spPr>
          <a:xfrm>
            <a:off x="30480" y="1377399"/>
            <a:ext cx="9144000" cy="2355790"/>
          </a:xfrm>
          <a:prstGeom prst="rect">
            <a:avLst/>
          </a:prstGeom>
        </p:spPr>
      </p:pic>
      <p:sp>
        <p:nvSpPr>
          <p:cNvPr id="3" name="object 4">
            <a:extLst>
              <a:ext uri="{FF2B5EF4-FFF2-40B4-BE49-F238E27FC236}">
                <a16:creationId xmlns:a16="http://schemas.microsoft.com/office/drawing/2014/main" id="{C62AAA78-4383-C713-77D0-A51BE11A1698}"/>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2E5267AB-A249-F20D-B856-2B581E9D823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05A168B1-89EF-66DD-CC43-BF71AAF8EB0F}"/>
              </a:ext>
            </a:extLst>
          </p:cNvPr>
          <p:cNvGraphicFramePr/>
          <p:nvPr>
            <p:extLst>
              <p:ext uri="{D42A27DB-BD31-4B8C-83A1-F6EECF244321}">
                <p14:modId xmlns:p14="http://schemas.microsoft.com/office/powerpoint/2010/main" val="1228292354"/>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937894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1F94F-5C70-4CAD-54CC-311D644EA9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3DC100-1509-40B0-DDA1-F94A4EDF00B9}"/>
              </a:ext>
            </a:extLst>
          </p:cNvPr>
          <p:cNvSpPr txBox="1">
            <a:spLocks/>
          </p:cNvSpPr>
          <p:nvPr/>
        </p:nvSpPr>
        <p:spPr>
          <a:xfrm>
            <a:off x="41725" y="1351999"/>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buNone/>
            </a:pPr>
            <a:r>
              <a:rPr lang="en-US" sz="1600" kern="0" spc="-220" dirty="0">
                <a:solidFill>
                  <a:schemeClr val="accent2"/>
                </a:solidFill>
              </a:rPr>
              <a:t>Data </a:t>
            </a:r>
            <a:r>
              <a:rPr lang="en-US" sz="1600" kern="0" spc="-220" dirty="0" err="1">
                <a:solidFill>
                  <a:schemeClr val="accent2"/>
                </a:solidFill>
              </a:rPr>
              <a:t>Seggregation</a:t>
            </a:r>
            <a:r>
              <a:rPr lang="en-US" sz="1600" kern="0" spc="-220" dirty="0">
                <a:solidFill>
                  <a:schemeClr val="accent6"/>
                </a:solidFill>
              </a:rPr>
              <a:t> - </a:t>
            </a:r>
            <a:r>
              <a:rPr lang="en-US" sz="1600" kern="0" spc="-80" dirty="0">
                <a:solidFill>
                  <a:schemeClr val="accent6"/>
                </a:solidFill>
              </a:rPr>
              <a:t>The input data needs to be segregated into – </a:t>
            </a:r>
          </a:p>
          <a:p>
            <a:pPr algn="l">
              <a:buNone/>
            </a:pPr>
            <a:endParaRPr lang="en-US" sz="1600" kern="0" spc="-80" dirty="0">
              <a:solidFill>
                <a:schemeClr val="accent6"/>
              </a:solidFill>
            </a:endParaRPr>
          </a:p>
          <a:p>
            <a:pPr algn="l"/>
            <a:r>
              <a:rPr lang="en-US" sz="1600" kern="0" spc="-80" dirty="0" err="1">
                <a:solidFill>
                  <a:schemeClr val="accent2"/>
                </a:solidFill>
              </a:rPr>
              <a:t>i</a:t>
            </a:r>
            <a:r>
              <a:rPr lang="en-US" sz="1600" kern="0" spc="-80" dirty="0">
                <a:solidFill>
                  <a:schemeClr val="accent2"/>
                </a:solidFill>
              </a:rPr>
              <a:t>) Training set</a:t>
            </a:r>
            <a:r>
              <a:rPr lang="en-US" sz="1600" kern="0" spc="-80" dirty="0">
                <a:solidFill>
                  <a:schemeClr val="accent6"/>
                </a:solidFill>
              </a:rPr>
              <a:t> - say 60%.this is the data that we will train our model(say to fit the model to the data i.e. to find the function f) </a:t>
            </a:r>
          </a:p>
          <a:p>
            <a:pPr marL="514350" indent="-514350" algn="l">
              <a:buAutoNum type="romanLcParenR"/>
            </a:pPr>
            <a:endParaRPr lang="en-US" sz="1600" kern="0" spc="-80" dirty="0">
              <a:solidFill>
                <a:schemeClr val="accent6"/>
              </a:solidFill>
            </a:endParaRPr>
          </a:p>
          <a:p>
            <a:pPr algn="l"/>
            <a:r>
              <a:rPr lang="en-US" sz="1600" kern="0" spc="-80" dirty="0">
                <a:solidFill>
                  <a:schemeClr val="accent2"/>
                </a:solidFill>
              </a:rPr>
              <a:t>ii) Validation set</a:t>
            </a:r>
            <a:r>
              <a:rPr lang="en-US" sz="1600" kern="0" spc="-80" dirty="0">
                <a:solidFill>
                  <a:schemeClr val="accent6"/>
                </a:solidFill>
              </a:rPr>
              <a:t> - say 20%. this is needed to validate how good is our model &amp; used in the Evaluation phase. Above segregation can be done based on 60-20(or some other % based distribution) rule or something as complex as</a:t>
            </a:r>
            <a:r>
              <a:rPr lang="en-US" sz="1600" kern="0" spc="-220" dirty="0">
                <a:solidFill>
                  <a:schemeClr val="accent6"/>
                </a:solidFill>
              </a:rPr>
              <a:t> </a:t>
            </a:r>
            <a:r>
              <a:rPr lang="en-US" sz="1600" dirty="0">
                <a:hlinkClick r:id="rId2"/>
              </a:rPr>
              <a:t>k-fold Cross-Validation</a:t>
            </a:r>
            <a:endParaRPr lang="en-US" sz="1600" dirty="0"/>
          </a:p>
          <a:p>
            <a:pPr algn="l"/>
            <a:endParaRPr lang="en-US" sz="1600" kern="0" spc="-220" dirty="0">
              <a:solidFill>
                <a:schemeClr val="accent6"/>
              </a:solidFill>
            </a:endParaRPr>
          </a:p>
          <a:p>
            <a:r>
              <a:rPr lang="en-US" sz="1600" kern="0" spc="-220" dirty="0">
                <a:solidFill>
                  <a:schemeClr val="accent2"/>
                </a:solidFill>
              </a:rPr>
              <a:t>iii) </a:t>
            </a:r>
            <a:r>
              <a:rPr lang="en-US" sz="1600" kern="0" spc="-80" dirty="0">
                <a:solidFill>
                  <a:schemeClr val="accent2"/>
                </a:solidFill>
              </a:rPr>
              <a:t>Test set</a:t>
            </a:r>
            <a:r>
              <a:rPr lang="en-US" sz="1600" kern="0" spc="-80" dirty="0">
                <a:solidFill>
                  <a:schemeClr val="accent6"/>
                </a:solidFill>
              </a:rPr>
              <a:t> - say 20%. This is needed to provide an unbiased evaluation of a final model to fit on the training dataset. </a:t>
            </a:r>
          </a:p>
          <a:p>
            <a:endParaRPr lang="en-US" sz="1600" kern="0" spc="-80" dirty="0">
              <a:solidFill>
                <a:schemeClr val="accent6"/>
              </a:solidFill>
            </a:endParaRPr>
          </a:p>
          <a:p>
            <a:r>
              <a:rPr lang="en-US" sz="1600" kern="0" spc="-80" dirty="0">
                <a:solidFill>
                  <a:schemeClr val="accent6"/>
                </a:solidFill>
              </a:rPr>
              <a:t>The training, validation &amp; test set are all in general assumed to be drawn from the same underlying distribution.</a:t>
            </a:r>
          </a:p>
          <a:p>
            <a:endParaRPr lang="en-US" sz="1600" kern="0" spc="-80" dirty="0">
              <a:solidFill>
                <a:schemeClr val="accent6"/>
              </a:solidFill>
            </a:endParaRPr>
          </a:p>
          <a:p>
            <a:r>
              <a:rPr lang="en-US" sz="1600" kern="0" spc="-80" dirty="0">
                <a:solidFill>
                  <a:schemeClr val="accent2"/>
                </a:solidFill>
              </a:rPr>
              <a:t>For Further Exploration</a:t>
            </a:r>
          </a:p>
          <a:p>
            <a:r>
              <a:rPr lang="en-US" sz="1600" dirty="0">
                <a:hlinkClick r:id="rId3"/>
              </a:rPr>
              <a:t>What is the Difference Between Test and Validation Datasets</a:t>
            </a:r>
            <a:r>
              <a:rPr lang="en-US" sz="1600" kern="0" spc="-220" dirty="0">
                <a:solidFill>
                  <a:schemeClr val="accent6"/>
                </a:solidFill>
              </a:rPr>
              <a:t> </a:t>
            </a:r>
          </a:p>
          <a:p>
            <a:r>
              <a:rPr lang="en-US" sz="1600" dirty="0">
                <a:hlinkClick r:id="rId4"/>
              </a:rPr>
              <a:t>Time based splitting and determining if Train &amp; Test data come from the same distribution</a:t>
            </a:r>
            <a:endParaRPr lang="en-US" sz="1600" dirty="0"/>
          </a:p>
        </p:txBody>
      </p:sp>
      <p:sp>
        <p:nvSpPr>
          <p:cNvPr id="3" name="object 4">
            <a:extLst>
              <a:ext uri="{FF2B5EF4-FFF2-40B4-BE49-F238E27FC236}">
                <a16:creationId xmlns:a16="http://schemas.microsoft.com/office/drawing/2014/main" id="{CB92162C-CA73-7F12-3912-BDAAA53F071F}"/>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DD10965D-EF8A-CBDA-8002-D99EF7F297B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4FACB1F8-0185-EE80-5F3F-245E89F215A7}"/>
              </a:ext>
            </a:extLst>
          </p:cNvPr>
          <p:cNvGraphicFramePr/>
          <p:nvPr>
            <p:extLst>
              <p:ext uri="{D42A27DB-BD31-4B8C-83A1-F6EECF244321}">
                <p14:modId xmlns:p14="http://schemas.microsoft.com/office/powerpoint/2010/main" val="171810232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2874115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1E28F-B0E9-108C-2693-15D33B09F78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7936FAF-A840-4A46-D0CE-B71D699B30DE}"/>
              </a:ext>
            </a:extLst>
          </p:cNvPr>
          <p:cNvSpPr txBox="1">
            <a:spLocks/>
          </p:cNvSpPr>
          <p:nvPr/>
        </p:nvSpPr>
        <p:spPr>
          <a:xfrm>
            <a:off x="41725" y="1351999"/>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buNone/>
            </a:pPr>
            <a:r>
              <a:rPr lang="en-US" sz="1600" kern="0" spc="-220" dirty="0">
                <a:solidFill>
                  <a:schemeClr val="accent2"/>
                </a:solidFill>
              </a:rPr>
              <a:t>Model Selection &amp; Training</a:t>
            </a:r>
            <a:r>
              <a:rPr lang="en-US" sz="1600" kern="0" spc="-220" dirty="0">
                <a:solidFill>
                  <a:schemeClr val="accent6"/>
                </a:solidFill>
              </a:rPr>
              <a:t> - </a:t>
            </a:r>
            <a:r>
              <a:rPr lang="en-US" sz="1600" kern="0" spc="-80" dirty="0">
                <a:solidFill>
                  <a:schemeClr val="accent6"/>
                </a:solidFill>
              </a:rPr>
              <a:t>Do the training on the training set to fit/find the model. Here a decision you have to take is to use classical ML or DL algos. General thumb rule is to use classical ML algos for structured/tabular data(except time-series data &amp; graph data) &amp; to use DL techniques for unstructured data(text, speech, music, images, videos </a:t>
            </a:r>
            <a:r>
              <a:rPr lang="en-US" sz="1600" kern="0" spc="-80" dirty="0" err="1">
                <a:solidFill>
                  <a:schemeClr val="accent6"/>
                </a:solidFill>
              </a:rPr>
              <a:t>etc</a:t>
            </a:r>
            <a:r>
              <a:rPr lang="en-US" sz="1600" kern="0" spc="-80" dirty="0">
                <a:solidFill>
                  <a:schemeClr val="accent6"/>
                </a:solidFill>
              </a:rPr>
              <a:t>), time-series data &amp; graph data. Also, in case of classical ML algos, understanding of tree based models(number of trees &amp; levels within the trees </a:t>
            </a:r>
            <a:r>
              <a:rPr lang="en-US" sz="1600" kern="0" spc="-80" dirty="0" err="1">
                <a:solidFill>
                  <a:schemeClr val="accent6"/>
                </a:solidFill>
              </a:rPr>
              <a:t>etc</a:t>
            </a:r>
            <a:r>
              <a:rPr lang="en-US" sz="1600" kern="0" spc="-80" dirty="0">
                <a:solidFill>
                  <a:schemeClr val="accent6"/>
                </a:solidFill>
              </a:rPr>
              <a:t>) is crucial too. </a:t>
            </a:r>
          </a:p>
          <a:p>
            <a:pPr algn="l">
              <a:buNone/>
            </a:pPr>
            <a:r>
              <a:rPr lang="en-US" sz="1600" kern="0" spc="-80" dirty="0">
                <a:solidFill>
                  <a:schemeClr val="accent6"/>
                </a:solidFill>
              </a:rPr>
              <a:t>Refer </a:t>
            </a:r>
            <a:r>
              <a:rPr lang="en-US" sz="1200" dirty="0">
                <a:hlinkClick r:id="rId2"/>
              </a:rPr>
              <a:t>Tree Based Machine Learning Algorithms </a:t>
            </a:r>
            <a:r>
              <a:rPr lang="en-US" sz="1600" kern="0" spc="-80" dirty="0">
                <a:solidFill>
                  <a:schemeClr val="accent6"/>
                </a:solidFill>
              </a:rPr>
              <a:t>&amp; </a:t>
            </a:r>
            <a:r>
              <a:rPr lang="en-US" sz="1200" dirty="0">
                <a:hlinkClick r:id="rId3"/>
              </a:rPr>
              <a:t>The Effects of the Depth and Number of Trees in a Random Forest</a:t>
            </a:r>
            <a:r>
              <a:rPr lang="en-US" sz="1050" dirty="0"/>
              <a:t> </a:t>
            </a:r>
            <a:r>
              <a:rPr lang="en-US" sz="1600" kern="0" spc="-80" dirty="0">
                <a:solidFill>
                  <a:schemeClr val="accent6"/>
                </a:solidFill>
              </a:rPr>
              <a:t>for more info. </a:t>
            </a:r>
          </a:p>
          <a:p>
            <a:pPr algn="l">
              <a:buNone/>
            </a:pPr>
            <a:endParaRPr lang="en-US" sz="1600" kern="0" spc="-80" dirty="0">
              <a:solidFill>
                <a:schemeClr val="accent6"/>
              </a:solidFill>
            </a:endParaRPr>
          </a:p>
          <a:p>
            <a:pPr algn="l">
              <a:buNone/>
            </a:pPr>
            <a:r>
              <a:rPr lang="en-US" sz="1600" kern="0" spc="-80" dirty="0">
                <a:solidFill>
                  <a:schemeClr val="accent6"/>
                </a:solidFill>
              </a:rPr>
              <a:t>An important concept related to training is Cost/Loss function(which needs to be converged so that the error &lt;= threshold value &amp; thereby we will get the optimal parameter values)</a:t>
            </a:r>
          </a:p>
          <a:p>
            <a:pPr algn="l">
              <a:buNone/>
            </a:pPr>
            <a:endParaRPr lang="en-US" sz="1600" kern="0" spc="-80" dirty="0">
              <a:solidFill>
                <a:schemeClr val="accent6"/>
              </a:solidFill>
            </a:endParaRPr>
          </a:p>
          <a:p>
            <a:r>
              <a:rPr lang="en-US" sz="1600" dirty="0">
                <a:solidFill>
                  <a:schemeClr val="accent2"/>
                </a:solidFill>
              </a:rPr>
              <a:t>ML Taks and Loss Functions Choices</a:t>
            </a:r>
          </a:p>
          <a:p>
            <a:r>
              <a:rPr lang="en-US" sz="1600" kern="0" spc="-80" dirty="0">
                <a:solidFill>
                  <a:schemeClr val="accent6"/>
                </a:solidFill>
              </a:rPr>
              <a:t>The selection of a loss function in machine learning is dictated by several factors, primarily the nature of the task and the characteristics of the data. </a:t>
            </a:r>
          </a:p>
          <a:p>
            <a:endParaRPr lang="en-US" sz="1600" dirty="0">
              <a:solidFill>
                <a:schemeClr val="accent2"/>
              </a:solidFill>
            </a:endParaRPr>
          </a:p>
        </p:txBody>
      </p:sp>
      <p:sp>
        <p:nvSpPr>
          <p:cNvPr id="3" name="object 4">
            <a:extLst>
              <a:ext uri="{FF2B5EF4-FFF2-40B4-BE49-F238E27FC236}">
                <a16:creationId xmlns:a16="http://schemas.microsoft.com/office/drawing/2014/main" id="{675EA180-62AA-DFD6-A2BC-8DAF2B6D787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42128466-2B5F-1281-C62E-F74BAFF595A3}"/>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7801E83B-403D-4D73-C5CA-CAF00F0FB402}"/>
              </a:ext>
            </a:extLst>
          </p:cNvPr>
          <p:cNvGraphicFramePr/>
          <p:nvPr>
            <p:extLst>
              <p:ext uri="{D42A27DB-BD31-4B8C-83A1-F6EECF244321}">
                <p14:modId xmlns:p14="http://schemas.microsoft.com/office/powerpoint/2010/main" val="210482576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031340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04A7B-BA93-3823-5713-05FE2748DB5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D7668D4-189F-92DE-F1B4-6B425BD68AEC}"/>
              </a:ext>
            </a:extLst>
          </p:cNvPr>
          <p:cNvSpPr txBox="1">
            <a:spLocks/>
          </p:cNvSpPr>
          <p:nvPr/>
        </p:nvSpPr>
        <p:spPr>
          <a:xfrm>
            <a:off x="41725" y="1351999"/>
            <a:ext cx="8624937" cy="56630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rPr>
              <a:t>ML Taks and Loss Functions Choices</a:t>
            </a:r>
          </a:p>
          <a:p>
            <a:r>
              <a:rPr lang="en-US" sz="1600" kern="0" spc="-80" dirty="0">
                <a:solidFill>
                  <a:schemeClr val="accent2"/>
                </a:solidFill>
              </a:rPr>
              <a:t>1. Task Type:</a:t>
            </a:r>
          </a:p>
          <a:p>
            <a:r>
              <a:rPr lang="en-US" sz="1600" kern="0" spc="-80" dirty="0">
                <a:solidFill>
                  <a:schemeClr val="accent2"/>
                </a:solidFill>
              </a:rPr>
              <a:t>Regression Tasks (predicting continuous values):</a:t>
            </a:r>
          </a:p>
          <a:p>
            <a:r>
              <a:rPr lang="en-US" sz="1600" kern="0" spc="-80" dirty="0">
                <a:solidFill>
                  <a:schemeClr val="accent2"/>
                </a:solidFill>
              </a:rPr>
              <a:t>Mean Squared Error (MSE) / L2 Loss: </a:t>
            </a:r>
            <a:r>
              <a:rPr lang="en-US" sz="1600" kern="0" spc="-80" dirty="0">
                <a:solidFill>
                  <a:schemeClr val="accent6"/>
                </a:solidFill>
              </a:rPr>
              <a:t>Commonly used, penalizes larger errors more significantly due to squaring. Suitable when large errors are particularly undesirable and</a:t>
            </a:r>
            <a:endParaRPr lang="en-US" sz="1600" dirty="0">
              <a:solidFill>
                <a:schemeClr val="accent2"/>
              </a:solidFill>
            </a:endParaRPr>
          </a:p>
          <a:p>
            <a:r>
              <a:rPr lang="en-US" sz="1600" kern="0" spc="-80" dirty="0">
                <a:solidFill>
                  <a:schemeClr val="accent6"/>
                </a:solidFill>
              </a:rPr>
              <a:t>the data is relatively free of extreme outliers.</a:t>
            </a:r>
          </a:p>
          <a:p>
            <a:r>
              <a:rPr lang="en-US" sz="1600" kern="0" spc="-80" dirty="0">
                <a:solidFill>
                  <a:schemeClr val="accent2"/>
                </a:solidFill>
              </a:rPr>
              <a:t>Mean Absolute Error (MAE) / L1 Loss: </a:t>
            </a:r>
            <a:r>
              <a:rPr lang="en-US" sz="1600" kern="0" spc="-80" dirty="0">
                <a:solidFill>
                  <a:schemeClr val="accent6"/>
                </a:solidFill>
              </a:rPr>
              <a:t>More robust to outliers as it considers absolute differences. Useful when the data contains significant outliers that could disproportionately affect MSE.</a:t>
            </a:r>
          </a:p>
          <a:p>
            <a:r>
              <a:rPr lang="en-US" sz="1600" kern="0" spc="-80" dirty="0">
                <a:solidFill>
                  <a:schemeClr val="accent2"/>
                </a:solidFill>
              </a:rPr>
              <a:t>Huber Loss:</a:t>
            </a:r>
            <a:r>
              <a:rPr lang="en-US" sz="1600" kern="0" spc="-80" dirty="0">
                <a:solidFill>
                  <a:schemeClr val="accent6"/>
                </a:solidFill>
              </a:rPr>
              <a:t> A hybrid, combining the advantages of MSE and MAE. It behaves like MSE for small errors and MAE for large errors, offering robustness to outliers while maintaining differentiability.</a:t>
            </a:r>
          </a:p>
          <a:p>
            <a:r>
              <a:rPr lang="en-US" sz="1600" kern="0" spc="-80" dirty="0">
                <a:solidFill>
                  <a:schemeClr val="accent2"/>
                </a:solidFill>
              </a:rPr>
              <a:t>Classification Tasks (predicting discrete labels):</a:t>
            </a:r>
          </a:p>
          <a:p>
            <a:r>
              <a:rPr lang="en-US" sz="1600" kern="0" spc="-80" dirty="0">
                <a:solidFill>
                  <a:schemeClr val="accent2"/>
                </a:solidFill>
              </a:rPr>
              <a:t>Binary Cross-Entropy: </a:t>
            </a:r>
            <a:r>
              <a:rPr lang="en-US" sz="1600" kern="0" spc="-80" dirty="0">
                <a:solidFill>
                  <a:schemeClr val="accent6"/>
                </a:solidFill>
              </a:rPr>
              <a:t>For binary classification problems (two classes). Measures the dissimilarity between predicted probabilities and true labels.</a:t>
            </a:r>
          </a:p>
          <a:p>
            <a:r>
              <a:rPr lang="en-US" sz="1600" kern="0" spc="-80" dirty="0">
                <a:solidFill>
                  <a:schemeClr val="accent2"/>
                </a:solidFill>
              </a:rPr>
              <a:t>Categorical Cross-Entropy: </a:t>
            </a:r>
            <a:r>
              <a:rPr lang="en-US" sz="1600" kern="0" spc="-80" dirty="0">
                <a:solidFill>
                  <a:schemeClr val="accent6"/>
                </a:solidFill>
              </a:rPr>
              <a:t>For multi-class classification problems (more than two classes) where each instance belongs to exactly one class.</a:t>
            </a:r>
          </a:p>
          <a:p>
            <a:r>
              <a:rPr lang="en-US" sz="1600" kern="0" spc="-80" dirty="0">
                <a:solidFill>
                  <a:schemeClr val="accent2"/>
                </a:solidFill>
              </a:rPr>
              <a:t>Sparse Categorical Cross-Entropy: </a:t>
            </a:r>
            <a:r>
              <a:rPr lang="en-US" sz="1600" kern="0" spc="-80" dirty="0">
                <a:solidFill>
                  <a:schemeClr val="accent6"/>
                </a:solidFill>
              </a:rPr>
              <a:t>Similar to categorical cross-entropy but used when labels are integers directly (not one-hot encoded).</a:t>
            </a:r>
          </a:p>
          <a:p>
            <a:endParaRPr lang="en-US" sz="1600" kern="0" spc="-80" dirty="0">
              <a:solidFill>
                <a:schemeClr val="accent6"/>
              </a:solidFill>
            </a:endParaRPr>
          </a:p>
          <a:p>
            <a:endParaRPr lang="en-US" sz="1600" kern="0" spc="-80" dirty="0">
              <a:solidFill>
                <a:schemeClr val="accent6"/>
              </a:solidFill>
            </a:endParaRPr>
          </a:p>
          <a:p>
            <a:endParaRPr lang="en-US" sz="1600" dirty="0">
              <a:solidFill>
                <a:schemeClr val="accent2"/>
              </a:solidFill>
            </a:endParaRPr>
          </a:p>
          <a:p>
            <a:endParaRPr lang="en-US" sz="1600" dirty="0">
              <a:solidFill>
                <a:schemeClr val="accent2"/>
              </a:solidFill>
            </a:endParaRPr>
          </a:p>
        </p:txBody>
      </p:sp>
      <p:sp>
        <p:nvSpPr>
          <p:cNvPr id="3" name="object 4">
            <a:extLst>
              <a:ext uri="{FF2B5EF4-FFF2-40B4-BE49-F238E27FC236}">
                <a16:creationId xmlns:a16="http://schemas.microsoft.com/office/drawing/2014/main" id="{FD21C150-9141-F2C7-39F1-A14769B6AB0F}"/>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A97D919C-D7BA-52A9-7624-CBF16E9FB2A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9D0055B1-C842-B424-01BB-3098491DB01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5295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88B8C-439D-EA4B-C20A-5EED24EF6B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165AFE7-30F7-FE24-9BEA-A1091EB0997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A4D57E33-4679-7E31-18CA-D9135AE5CD7D}"/>
              </a:ext>
            </a:extLst>
          </p:cNvPr>
          <p:cNvSpPr txBox="1"/>
          <p:nvPr/>
        </p:nvSpPr>
        <p:spPr>
          <a:xfrm>
            <a:off x="0" y="1231642"/>
            <a:ext cx="8991600" cy="4185761"/>
          </a:xfrm>
          <a:prstGeom prst="rect">
            <a:avLst/>
          </a:prstGeom>
          <a:noFill/>
        </p:spPr>
        <p:txBody>
          <a:bodyPr wrap="square">
            <a:spAutoFit/>
          </a:bodyPr>
          <a:lstStyle/>
          <a:p>
            <a:r>
              <a:rPr lang="en-US" sz="1400" b="1" kern="0" spc="-80" dirty="0">
                <a:solidFill>
                  <a:schemeClr val="accent2"/>
                </a:solidFill>
                <a:latin typeface="Lucida Sans"/>
                <a:ea typeface="+mj-ea"/>
              </a:rPr>
              <a:t>ML Taks and Loss Functions Choices</a:t>
            </a:r>
          </a:p>
          <a:p>
            <a:r>
              <a:rPr lang="en-US" sz="1400" b="1" kern="0" spc="-80" dirty="0">
                <a:solidFill>
                  <a:schemeClr val="accent2"/>
                </a:solidFill>
                <a:latin typeface="Lucida Sans"/>
                <a:ea typeface="+mj-ea"/>
              </a:rPr>
              <a:t>Hinge Loss: </a:t>
            </a:r>
            <a:r>
              <a:rPr lang="en-US" sz="1400" b="1" kern="0" spc="-80" dirty="0">
                <a:solidFill>
                  <a:schemeClr val="accent6"/>
                </a:solidFill>
                <a:latin typeface="Lucida Sans"/>
                <a:ea typeface="+mj-ea"/>
              </a:rPr>
              <a:t>Primarily used for Support Vector Machines (SVMs), encourages a clear margin between classes.</a:t>
            </a:r>
          </a:p>
          <a:p>
            <a:r>
              <a:rPr lang="en-US" sz="1400" b="1" kern="0" spc="-80" dirty="0">
                <a:solidFill>
                  <a:schemeClr val="accent2"/>
                </a:solidFill>
                <a:latin typeface="Lucida Sans"/>
                <a:ea typeface="+mj-ea"/>
              </a:rPr>
              <a:t>2. Data Characteristics:</a:t>
            </a:r>
          </a:p>
          <a:p>
            <a:r>
              <a:rPr lang="en-US" sz="1400" b="1" kern="0" spc="-80" dirty="0">
                <a:solidFill>
                  <a:schemeClr val="accent2"/>
                </a:solidFill>
                <a:latin typeface="Lucida Sans"/>
                <a:ea typeface="+mj-ea"/>
              </a:rPr>
              <a:t>Outliers: </a:t>
            </a:r>
            <a:r>
              <a:rPr lang="en-US" sz="1400" b="1" kern="0" spc="-80" dirty="0">
                <a:solidFill>
                  <a:schemeClr val="accent6"/>
                </a:solidFill>
                <a:latin typeface="Lucida Sans"/>
                <a:ea typeface="+mj-ea"/>
              </a:rPr>
              <a:t>If the dataset contains significant outliers, loss functions like MAE or Huber Loss are preferred over MSE due to their robustness.</a:t>
            </a:r>
          </a:p>
          <a:p>
            <a:r>
              <a:rPr lang="en-US" sz="1400" b="1" kern="0" spc="-80" dirty="0">
                <a:solidFill>
                  <a:schemeClr val="accent2"/>
                </a:solidFill>
                <a:latin typeface="Lucida Sans"/>
                <a:ea typeface="+mj-ea"/>
              </a:rPr>
              <a:t>Class Imbalance: </a:t>
            </a:r>
            <a:r>
              <a:rPr lang="en-US" sz="1400" b="1" kern="0" spc="-80" dirty="0">
                <a:solidFill>
                  <a:schemeClr val="accent6"/>
                </a:solidFill>
                <a:latin typeface="Lucida Sans"/>
                <a:ea typeface="+mj-ea"/>
              </a:rPr>
              <a:t>In classification tasks with imbalanced classes, specialized loss functions like Focal Loss can be beneficial, as they give more weight to misclassified minority class samples.</a:t>
            </a:r>
          </a:p>
          <a:p>
            <a:r>
              <a:rPr lang="en-US" sz="1400" b="1" kern="0" spc="-80" dirty="0">
                <a:solidFill>
                  <a:schemeClr val="accent2"/>
                </a:solidFill>
                <a:latin typeface="Lucida Sans"/>
                <a:ea typeface="+mj-ea"/>
              </a:rPr>
              <a:t>3. Model Type and Optimization:</a:t>
            </a:r>
          </a:p>
          <a:p>
            <a:r>
              <a:rPr lang="en-US" sz="1400" b="1" kern="0" spc="-80" dirty="0">
                <a:solidFill>
                  <a:schemeClr val="accent2"/>
                </a:solidFill>
                <a:latin typeface="Lucida Sans"/>
                <a:ea typeface="+mj-ea"/>
              </a:rPr>
              <a:t>Differentiability:</a:t>
            </a:r>
            <a:r>
              <a:rPr lang="en-US" sz="1400" b="1" kern="0" spc="-80" dirty="0">
                <a:solidFill>
                  <a:schemeClr val="accent6"/>
                </a:solidFill>
                <a:latin typeface="Lucida Sans"/>
                <a:ea typeface="+mj-ea"/>
              </a:rPr>
              <a:t> Most optimization algorithms, especially gradient-based methods, require the loss function to be differentiable to compute gradients effectively. This is why non-differentiable functions like 0-1 loss are rarely used directly for optimization.</a:t>
            </a:r>
          </a:p>
          <a:p>
            <a:r>
              <a:rPr lang="en-US" sz="1400" b="1" kern="0" spc="-80" dirty="0">
                <a:solidFill>
                  <a:schemeClr val="accent2"/>
                </a:solidFill>
                <a:latin typeface="Lucida Sans"/>
                <a:ea typeface="+mj-ea"/>
              </a:rPr>
              <a:t>Output Layer Activation:</a:t>
            </a:r>
            <a:r>
              <a:rPr lang="en-US" sz="1400" b="1" kern="0" spc="-80" dirty="0">
                <a:solidFill>
                  <a:schemeClr val="accent6"/>
                </a:solidFill>
                <a:latin typeface="Lucida Sans"/>
                <a:ea typeface="+mj-ea"/>
              </a:rPr>
              <a:t> The choice of loss function is often coupled with the activation function of the output layer. For example, a </a:t>
            </a:r>
            <a:r>
              <a:rPr lang="en-US" sz="1400" b="1" kern="0" spc="-80" dirty="0" err="1">
                <a:solidFill>
                  <a:schemeClr val="accent6"/>
                </a:solidFill>
                <a:latin typeface="Lucida Sans"/>
                <a:ea typeface="+mj-ea"/>
              </a:rPr>
              <a:t>softmax</a:t>
            </a:r>
            <a:r>
              <a:rPr lang="en-US" sz="1400" b="1" kern="0" spc="-80" dirty="0">
                <a:solidFill>
                  <a:schemeClr val="accent6"/>
                </a:solidFill>
                <a:latin typeface="Lucida Sans"/>
                <a:ea typeface="+mj-ea"/>
              </a:rPr>
              <a:t> activation in the output layer for multi-class classification is typically paired with categorical cross-entropy loss. </a:t>
            </a:r>
          </a:p>
          <a:p>
            <a:r>
              <a:rPr lang="en-US" sz="1400" b="1" kern="0" spc="-80" dirty="0">
                <a:solidFill>
                  <a:schemeClr val="accent2"/>
                </a:solidFill>
                <a:latin typeface="Lucida Sans"/>
                <a:ea typeface="+mj-ea"/>
              </a:rPr>
              <a:t>4. Performance Metrics and Interpretability:</a:t>
            </a:r>
          </a:p>
          <a:p>
            <a:r>
              <a:rPr lang="en-US" sz="1400" b="1" kern="0" spc="-80" dirty="0">
                <a:solidFill>
                  <a:schemeClr val="accent6"/>
                </a:solidFill>
                <a:latin typeface="Lucida Sans"/>
                <a:ea typeface="+mj-ea"/>
              </a:rPr>
              <a:t>Consider the primary performance metric you aim to optimize (e.g., accuracy, F1-score, precision, recall). The loss function should ideally align with this </a:t>
            </a:r>
            <a:r>
              <a:rPr lang="en-US" sz="1400" b="1" kern="0" spc="-80" dirty="0" err="1">
                <a:solidFill>
                  <a:schemeClr val="accent6"/>
                </a:solidFill>
                <a:latin typeface="Lucida Sans"/>
                <a:ea typeface="+mj-ea"/>
              </a:rPr>
              <a:t>metric.Some</a:t>
            </a:r>
            <a:r>
              <a:rPr lang="en-US" sz="1400" b="1" kern="0" spc="-80" dirty="0">
                <a:solidFill>
                  <a:schemeClr val="accent6"/>
                </a:solidFill>
                <a:latin typeface="Lucida Sans"/>
                <a:ea typeface="+mj-ea"/>
              </a:rPr>
              <a:t> loss functions offer more intuitive interpretations of error than others, which can be valuable for understanding model behavior.</a:t>
            </a:r>
          </a:p>
        </p:txBody>
      </p:sp>
      <p:sp>
        <p:nvSpPr>
          <p:cNvPr id="8" name="object 4">
            <a:extLst>
              <a:ext uri="{FF2B5EF4-FFF2-40B4-BE49-F238E27FC236}">
                <a16:creationId xmlns:a16="http://schemas.microsoft.com/office/drawing/2014/main" id="{691F1EC3-FA9B-5DA5-0F4D-FFED52A75528}"/>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1233774-3875-42AA-1F48-8939090F020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09A4C1D-A5E4-0391-FE42-A51280869D60}"/>
              </a:ext>
            </a:extLst>
          </p:cNvPr>
          <p:cNvGraphicFramePr/>
          <p:nvPr>
            <p:extLst>
              <p:ext uri="{D42A27DB-BD31-4B8C-83A1-F6EECF244321}">
                <p14:modId xmlns:p14="http://schemas.microsoft.com/office/powerpoint/2010/main" val="182489662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76313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AA7AF-B22B-423D-86F3-DA2FDC77B90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B3DCBA-CA06-C78C-89BE-F1979E6EACBF}"/>
              </a:ext>
            </a:extLst>
          </p:cNvPr>
          <p:cNvSpPr txBox="1">
            <a:spLocks/>
          </p:cNvSpPr>
          <p:nvPr/>
        </p:nvSpPr>
        <p:spPr>
          <a:xfrm>
            <a:off x="41725" y="1351999"/>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dirty="0">
                <a:solidFill>
                  <a:schemeClr val="accent2"/>
                </a:solidFill>
              </a:rPr>
              <a:t>ML Taks and Loss Functions Choices</a:t>
            </a:r>
          </a:p>
          <a:p>
            <a:r>
              <a:rPr lang="en-US" sz="1600" kern="0" spc="-80" dirty="0">
                <a:solidFill>
                  <a:schemeClr val="accent2"/>
                </a:solidFill>
              </a:rPr>
              <a:t>In summary</a:t>
            </a:r>
            <a:r>
              <a:rPr lang="en-US" sz="1600" kern="0" spc="-80" dirty="0">
                <a:solidFill>
                  <a:schemeClr val="accent6"/>
                </a:solidFill>
              </a:rPr>
              <a:t>, the decision involves understanding the problem's nature (regression vs. classification), the data's properties (outliers, imbalance), and the model's requirements for optimization. Often, starting with a common and well-understood loss function for your task type (e.g., MSE for regression, cross-entropy for classification) and then adjusting based on specific data characteristics or performance needs is a practical approach</a:t>
            </a:r>
            <a:endParaRPr lang="en-US" sz="1800" kern="0" spc="-220" dirty="0">
              <a:solidFill>
                <a:schemeClr val="accent6"/>
              </a:solidFill>
            </a:endParaRPr>
          </a:p>
          <a:p>
            <a:endParaRPr lang="en-US" sz="1600" dirty="0">
              <a:solidFill>
                <a:schemeClr val="accent2"/>
              </a:solidFill>
            </a:endParaRPr>
          </a:p>
          <a:p>
            <a:r>
              <a:rPr lang="en-US" sz="1600" kern="0" spc="-80" dirty="0">
                <a:solidFill>
                  <a:schemeClr val="accent6"/>
                </a:solidFill>
              </a:rPr>
              <a:t>Also, instead of just minimizing the loss function it’s better to minimize the objective function wherein </a:t>
            </a:r>
            <a:r>
              <a:rPr lang="en-US" sz="1600" kern="0" spc="-80" dirty="0">
                <a:solidFill>
                  <a:schemeClr val="accent2"/>
                </a:solidFill>
              </a:rPr>
              <a:t>objective function = loss function + </a:t>
            </a:r>
            <a:r>
              <a:rPr lang="en-US" sz="1600" kern="0" spc="-80" dirty="0" err="1">
                <a:solidFill>
                  <a:schemeClr val="accent2"/>
                </a:solidFill>
              </a:rPr>
              <a:t>regulization</a:t>
            </a:r>
            <a:r>
              <a:rPr lang="en-US" sz="1600" kern="0" spc="-80" dirty="0">
                <a:solidFill>
                  <a:schemeClr val="accent6"/>
                </a:solidFill>
              </a:rPr>
              <a:t>. This approach can handle overfitting of the model to training data.</a:t>
            </a:r>
          </a:p>
          <a:p>
            <a:endParaRPr lang="en-US" sz="1600" kern="0" spc="-80" dirty="0">
              <a:solidFill>
                <a:schemeClr val="accent6"/>
              </a:solidFill>
            </a:endParaRPr>
          </a:p>
          <a:p>
            <a:pPr algn="l">
              <a:buNone/>
            </a:pPr>
            <a:r>
              <a:rPr lang="en-US" sz="1600" kern="0" spc="-80" dirty="0">
                <a:solidFill>
                  <a:schemeClr val="accent2"/>
                </a:solidFill>
              </a:rPr>
              <a:t>For Further Exploration</a:t>
            </a:r>
          </a:p>
          <a:p>
            <a:pPr algn="l"/>
            <a:r>
              <a:rPr lang="en-IN" sz="1400" dirty="0">
                <a:hlinkClick r:id="rId2"/>
              </a:rPr>
              <a:t>Loss function – Wikipedia</a:t>
            </a:r>
            <a:r>
              <a:rPr lang="en-IN" sz="1400" dirty="0"/>
              <a:t>,</a:t>
            </a:r>
            <a:r>
              <a:rPr lang="en-US" sz="1400" kern="0" spc="-220" dirty="0">
                <a:solidFill>
                  <a:schemeClr val="accent6"/>
                </a:solidFill>
              </a:rPr>
              <a:t> </a:t>
            </a:r>
            <a:r>
              <a:rPr lang="en-US" sz="1400" dirty="0">
                <a:hlinkClick r:id="rId3"/>
              </a:rPr>
              <a:t>How are the cost functions for Neural Networks derived</a:t>
            </a:r>
            <a:r>
              <a:rPr lang="en-US" sz="1400" dirty="0"/>
              <a:t> </a:t>
            </a:r>
            <a:endParaRPr lang="en-US" sz="1400" kern="0" spc="-220" dirty="0">
              <a:solidFill>
                <a:schemeClr val="accent6"/>
              </a:solidFill>
            </a:endParaRPr>
          </a:p>
          <a:p>
            <a:pPr algn="l"/>
            <a:r>
              <a:rPr lang="en-US" sz="1400" dirty="0">
                <a:hlinkClick r:id="rId4"/>
              </a:rPr>
              <a:t>Difference Between the Cost, Loss, and the Objective Function </a:t>
            </a:r>
            <a:endParaRPr lang="en-US" sz="1400" dirty="0"/>
          </a:p>
          <a:p>
            <a:pPr algn="l"/>
            <a:r>
              <a:rPr lang="en-US" sz="1400" dirty="0">
                <a:hlinkClick r:id="rId5"/>
              </a:rPr>
              <a:t>A Simple Understanding of the ML Landscape with Various Cost Functions!</a:t>
            </a:r>
            <a:r>
              <a:rPr lang="en-US" sz="1400" dirty="0"/>
              <a:t>,</a:t>
            </a:r>
            <a:r>
              <a:rPr lang="en-US" sz="1400" kern="0" spc="-220" dirty="0">
                <a:solidFill>
                  <a:schemeClr val="accent6"/>
                </a:solidFill>
              </a:rPr>
              <a:t> </a:t>
            </a:r>
          </a:p>
          <a:p>
            <a:pPr algn="l"/>
            <a:r>
              <a:rPr lang="en-US" sz="1400" dirty="0">
                <a:hlinkClick r:id="rId6"/>
              </a:rPr>
              <a:t>The Role of Cost Functions in Machine Learning</a:t>
            </a:r>
            <a:endParaRPr lang="en-US" sz="1400" dirty="0"/>
          </a:p>
          <a:p>
            <a:pPr algn="l"/>
            <a:r>
              <a:rPr lang="en-US" sz="1400" dirty="0">
                <a:hlinkClick r:id="rId7"/>
              </a:rPr>
              <a:t>What is Cost Function in Machine Learning </a:t>
            </a:r>
            <a:endParaRPr lang="en-US" sz="1400" kern="0" spc="-220" dirty="0">
              <a:solidFill>
                <a:schemeClr val="accent6"/>
              </a:solidFill>
            </a:endParaRPr>
          </a:p>
          <a:p>
            <a:pPr algn="l"/>
            <a:r>
              <a:rPr lang="en-US" sz="1400" dirty="0">
                <a:hlinkClick r:id="rId8"/>
              </a:rPr>
              <a:t>A list of cost functions used in neural networks, alongside applications</a:t>
            </a:r>
            <a:endParaRPr lang="en-US" sz="1400" dirty="0"/>
          </a:p>
          <a:p>
            <a:r>
              <a:rPr lang="en-US" sz="1400" dirty="0" err="1">
                <a:hlinkClick r:id="rId9"/>
              </a:rPr>
              <a:t>Keras</a:t>
            </a:r>
            <a:r>
              <a:rPr lang="en-US" sz="1400" dirty="0">
                <a:hlinkClick r:id="rId9"/>
              </a:rPr>
              <a:t> Loss Functions: Everything You Need to Know</a:t>
            </a:r>
            <a:r>
              <a:rPr lang="en-US" sz="1400" dirty="0"/>
              <a:t> </a:t>
            </a:r>
            <a:endParaRPr lang="en-US" sz="1400" kern="0" spc="-220" dirty="0">
              <a:solidFill>
                <a:schemeClr val="accent6"/>
              </a:solidFill>
            </a:endParaRPr>
          </a:p>
          <a:p>
            <a:r>
              <a:rPr lang="en-US" sz="1400" dirty="0" err="1">
                <a:hlinkClick r:id="rId10"/>
              </a:rPr>
              <a:t>PyTorch</a:t>
            </a:r>
            <a:r>
              <a:rPr lang="en-US" sz="1400" dirty="0">
                <a:hlinkClick r:id="rId10"/>
              </a:rPr>
              <a:t> Loss Functions: The Ultimate Guide</a:t>
            </a:r>
            <a:endParaRPr lang="en-US" sz="1400" dirty="0"/>
          </a:p>
          <a:p>
            <a:pPr algn="l"/>
            <a:endParaRPr lang="en-US" sz="1400" kern="0" spc="-220" dirty="0">
              <a:solidFill>
                <a:schemeClr val="accent6"/>
              </a:solidFill>
            </a:endParaRPr>
          </a:p>
        </p:txBody>
      </p:sp>
      <p:sp>
        <p:nvSpPr>
          <p:cNvPr id="3" name="object 4">
            <a:extLst>
              <a:ext uri="{FF2B5EF4-FFF2-40B4-BE49-F238E27FC236}">
                <a16:creationId xmlns:a16="http://schemas.microsoft.com/office/drawing/2014/main" id="{9C99488E-9A06-698B-47F2-67363EA7B04D}"/>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6C24C051-2FF7-A354-FC6B-A19EFCBEE36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B0F9EB10-B205-5A3F-17CE-36F0C4E0CCF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089194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75C7-6952-D7E5-A190-51663CB078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5743F2-B703-EB0A-596D-621F43C14A8C}"/>
              </a:ext>
            </a:extLst>
          </p:cNvPr>
          <p:cNvSpPr txBox="1">
            <a:spLocks/>
          </p:cNvSpPr>
          <p:nvPr/>
        </p:nvSpPr>
        <p:spPr>
          <a:xfrm>
            <a:off x="0" y="1303739"/>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a:r>
              <a:rPr lang="en-US" sz="1600" dirty="0">
                <a:solidFill>
                  <a:schemeClr val="accent2"/>
                </a:solidFill>
              </a:rPr>
              <a:t>ML Taks and </a:t>
            </a:r>
            <a:r>
              <a:rPr lang="en-US" sz="1600" dirty="0" err="1">
                <a:solidFill>
                  <a:schemeClr val="accent2"/>
                </a:solidFill>
              </a:rPr>
              <a:t>Optimisation</a:t>
            </a:r>
            <a:r>
              <a:rPr lang="en-US" sz="1600" dirty="0">
                <a:solidFill>
                  <a:schemeClr val="accent2"/>
                </a:solidFill>
              </a:rPr>
              <a:t> Techniques Choices</a:t>
            </a:r>
          </a:p>
          <a:p>
            <a:r>
              <a:rPr lang="en-US" sz="1600" kern="0" spc="-80" dirty="0">
                <a:solidFill>
                  <a:schemeClr val="accent6"/>
                </a:solidFill>
              </a:rPr>
              <a:t>Another important concept is to use some </a:t>
            </a:r>
            <a:r>
              <a:rPr lang="en-US" sz="1600" kern="0" spc="-80" dirty="0" err="1">
                <a:solidFill>
                  <a:schemeClr val="accent6"/>
                </a:solidFill>
              </a:rPr>
              <a:t>Optimisation</a:t>
            </a:r>
            <a:r>
              <a:rPr lang="en-US" sz="1600" kern="0" spc="-80" dirty="0">
                <a:solidFill>
                  <a:schemeClr val="accent6"/>
                </a:solidFill>
              </a:rPr>
              <a:t> technique(s) to </a:t>
            </a:r>
            <a:r>
              <a:rPr lang="en-US" sz="1600" kern="0" spc="-80" dirty="0" err="1">
                <a:solidFill>
                  <a:schemeClr val="accent6"/>
                </a:solidFill>
              </a:rPr>
              <a:t>optimise</a:t>
            </a:r>
            <a:r>
              <a:rPr lang="en-US" sz="1600" kern="0" spc="-80" dirty="0">
                <a:solidFill>
                  <a:schemeClr val="accent6"/>
                </a:solidFill>
              </a:rPr>
              <a:t> the cost function (e.g. to </a:t>
            </a:r>
            <a:r>
              <a:rPr lang="en-US" sz="1600" kern="0" spc="-80" dirty="0" err="1">
                <a:solidFill>
                  <a:schemeClr val="accent6"/>
                </a:solidFill>
              </a:rPr>
              <a:t>minimise</a:t>
            </a:r>
            <a:r>
              <a:rPr lang="en-US" sz="1600" kern="0" spc="-80" dirty="0">
                <a:solidFill>
                  <a:schemeClr val="accent6"/>
                </a:solidFill>
              </a:rPr>
              <a:t> the loss) . Generally, for deterministic &amp; stochastic/probabilistic data we use different techniques. Choosing the right optimization technique for a specific machine learning task involves considering several factors related to the problem, the data, and the model itself.</a:t>
            </a:r>
          </a:p>
          <a:p>
            <a:r>
              <a:rPr lang="en-US" sz="1600" kern="0" spc="-80" dirty="0">
                <a:solidFill>
                  <a:schemeClr val="accent2"/>
                </a:solidFill>
              </a:rPr>
              <a:t>1. Problem Type and Model:</a:t>
            </a:r>
          </a:p>
          <a:p>
            <a:r>
              <a:rPr lang="en-US" sz="1600" kern="0" spc="-80" dirty="0">
                <a:solidFill>
                  <a:schemeClr val="accent2"/>
                </a:solidFill>
              </a:rPr>
              <a:t>Supervised Learning (Regression/Classification): </a:t>
            </a:r>
          </a:p>
          <a:p>
            <a:r>
              <a:rPr lang="en-US" sz="1600" kern="0" spc="-80" dirty="0">
                <a:solidFill>
                  <a:schemeClr val="accent6"/>
                </a:solidFill>
              </a:rPr>
              <a:t>For tasks with a clear target variable, gradient-based optimizers like Stochastic Gradient Descent (SGD), Adam, RMSprop, or </a:t>
            </a:r>
            <a:r>
              <a:rPr lang="en-US" sz="1600" kern="0" spc="-80" dirty="0" err="1">
                <a:solidFill>
                  <a:schemeClr val="accent6"/>
                </a:solidFill>
              </a:rPr>
              <a:t>Adagrad</a:t>
            </a:r>
            <a:r>
              <a:rPr lang="en-US" sz="1600" kern="0" spc="-80" dirty="0">
                <a:solidFill>
                  <a:schemeClr val="accent6"/>
                </a:solidFill>
              </a:rPr>
              <a:t> are commonly used, especially in deep learning. The choice among these often depends on the specific neural network architecture and dataset characteristics.</a:t>
            </a:r>
          </a:p>
          <a:p>
            <a:r>
              <a:rPr lang="en-US" sz="1600" kern="0" spc="-80" dirty="0">
                <a:solidFill>
                  <a:schemeClr val="accent2"/>
                </a:solidFill>
              </a:rPr>
              <a:t>Unsupervised Learning: </a:t>
            </a:r>
          </a:p>
          <a:p>
            <a:r>
              <a:rPr lang="en-US" sz="1600" kern="0" spc="-80" dirty="0">
                <a:solidFill>
                  <a:schemeClr val="accent6"/>
                </a:solidFill>
              </a:rPr>
              <a:t>Optimization in unsupervised learning often focuses on minimizing reconstruction error (e.g., in autoencoders) or maximizing separation (e.g., in clustering). The optimization techniques used will align with the objective function of the chosen unsupervised algorithm.</a:t>
            </a:r>
          </a:p>
          <a:p>
            <a:r>
              <a:rPr lang="en-US" sz="1600" kern="0" spc="-80" dirty="0">
                <a:solidFill>
                  <a:schemeClr val="accent2"/>
                </a:solidFill>
              </a:rPr>
              <a:t>Reinforcement Learning: </a:t>
            </a:r>
          </a:p>
          <a:p>
            <a:r>
              <a:rPr lang="en-US" sz="1600" kern="0" spc="-80" dirty="0">
                <a:solidFill>
                  <a:schemeClr val="accent6"/>
                </a:solidFill>
              </a:rPr>
              <a:t>Optimization in reinforcement learning involves maximizing a cumulative reward, often</a:t>
            </a:r>
            <a:endParaRPr lang="en-US" sz="1600" dirty="0">
              <a:solidFill>
                <a:schemeClr val="accent2"/>
              </a:solidFill>
            </a:endParaRPr>
          </a:p>
          <a:p>
            <a:pPr algn="l"/>
            <a:endParaRPr lang="en-US" sz="1400" kern="0" spc="-220" dirty="0">
              <a:solidFill>
                <a:schemeClr val="accent6"/>
              </a:solidFill>
            </a:endParaRPr>
          </a:p>
        </p:txBody>
      </p:sp>
      <p:sp>
        <p:nvSpPr>
          <p:cNvPr id="3" name="object 4">
            <a:extLst>
              <a:ext uri="{FF2B5EF4-FFF2-40B4-BE49-F238E27FC236}">
                <a16:creationId xmlns:a16="http://schemas.microsoft.com/office/drawing/2014/main" id="{2817BF16-ED37-4A2A-9287-FE67A089D28B}"/>
              </a:ext>
            </a:extLst>
          </p:cNvPr>
          <p:cNvSpPr/>
          <p:nvPr/>
        </p:nvSpPr>
        <p:spPr>
          <a:xfrm>
            <a:off x="1661158" y="11690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916BEE1B-CFCF-2F68-7573-F7D45098E1A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A0CDA703-30AB-18B0-9F04-E8981DCCB71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67073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56AD-B260-7FF3-3650-0360F881E3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FEB3D9-C518-7DC4-A161-87FCFB903AFF}"/>
              </a:ext>
            </a:extLst>
          </p:cNvPr>
          <p:cNvSpPr txBox="1">
            <a:spLocks/>
          </p:cNvSpPr>
          <p:nvPr/>
        </p:nvSpPr>
        <p:spPr>
          <a:xfrm>
            <a:off x="0" y="1303739"/>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a:r>
              <a:rPr lang="en-US" sz="1600" dirty="0">
                <a:solidFill>
                  <a:schemeClr val="accent2"/>
                </a:solidFill>
              </a:rPr>
              <a:t>ML Taks and </a:t>
            </a:r>
            <a:r>
              <a:rPr lang="en-US" sz="1600" dirty="0" err="1">
                <a:solidFill>
                  <a:schemeClr val="accent2"/>
                </a:solidFill>
              </a:rPr>
              <a:t>Optimisation</a:t>
            </a:r>
            <a:r>
              <a:rPr lang="en-US" sz="1600" dirty="0">
                <a:solidFill>
                  <a:schemeClr val="accent2"/>
                </a:solidFill>
              </a:rPr>
              <a:t> Techniques Choices</a:t>
            </a:r>
          </a:p>
          <a:p>
            <a:r>
              <a:rPr lang="en-US" sz="1600" kern="0" spc="-80" dirty="0">
                <a:solidFill>
                  <a:schemeClr val="accent6"/>
                </a:solidFill>
              </a:rPr>
              <a:t>using techniques like policy gradient methods or Q-learning, which have their own specialized optimization approaches.</a:t>
            </a:r>
          </a:p>
          <a:p>
            <a:r>
              <a:rPr lang="en-US" sz="1600" kern="0" spc="-80" dirty="0">
                <a:solidFill>
                  <a:schemeClr val="accent2"/>
                </a:solidFill>
              </a:rPr>
              <a:t>2. Data Characteristics:</a:t>
            </a:r>
          </a:p>
          <a:p>
            <a:r>
              <a:rPr lang="en-US" sz="1600" kern="0" spc="-80" dirty="0">
                <a:solidFill>
                  <a:schemeClr val="accent2"/>
                </a:solidFill>
              </a:rPr>
              <a:t>Data Size: </a:t>
            </a:r>
          </a:p>
          <a:p>
            <a:r>
              <a:rPr lang="en-US" sz="1600" kern="0" spc="-80" dirty="0">
                <a:solidFill>
                  <a:schemeClr val="accent6"/>
                </a:solidFill>
              </a:rPr>
              <a:t>For very large datasets, stochastic optimizers (like SGD or Adam with mini-batches) are preferred as they update model parameters using small subsets of data, making training computationally feasible.</a:t>
            </a:r>
          </a:p>
          <a:p>
            <a:r>
              <a:rPr lang="en-US" sz="1600" kern="0" spc="-80" dirty="0">
                <a:solidFill>
                  <a:schemeClr val="accent2"/>
                </a:solidFill>
              </a:rPr>
              <a:t>Data Sparsity: </a:t>
            </a:r>
          </a:p>
          <a:p>
            <a:r>
              <a:rPr lang="en-US" sz="1600" kern="0" spc="-80" dirty="0">
                <a:solidFill>
                  <a:schemeClr val="accent6"/>
                </a:solidFill>
              </a:rPr>
              <a:t>Optimizers that adapt learning rates per parameter, such as </a:t>
            </a:r>
            <a:r>
              <a:rPr lang="en-US" sz="1600" kern="0" spc="-80" dirty="0" err="1">
                <a:solidFill>
                  <a:schemeClr val="accent6"/>
                </a:solidFill>
              </a:rPr>
              <a:t>Adagrad</a:t>
            </a:r>
            <a:r>
              <a:rPr lang="en-US" sz="1600" kern="0" spc="-80" dirty="0">
                <a:solidFill>
                  <a:schemeClr val="accent6"/>
                </a:solidFill>
              </a:rPr>
              <a:t>, RMSprop, or Adam, can be beneficial for sparse data as they can assign larger learning rates to less frequently occurring features.</a:t>
            </a:r>
          </a:p>
          <a:p>
            <a:r>
              <a:rPr lang="en-US" sz="1600" kern="0" spc="-80" dirty="0">
                <a:solidFill>
                  <a:schemeClr val="accent2"/>
                </a:solidFill>
              </a:rPr>
              <a:t>Data Noise: </a:t>
            </a:r>
          </a:p>
          <a:p>
            <a:r>
              <a:rPr lang="en-US" sz="1600" kern="0" spc="-80" dirty="0">
                <a:solidFill>
                  <a:schemeClr val="accent6"/>
                </a:solidFill>
              </a:rPr>
              <a:t>Robust optimizers or techniques with regularization can help mitigate the impact of noisy data.</a:t>
            </a:r>
          </a:p>
          <a:p>
            <a:r>
              <a:rPr lang="en-US" sz="1600" kern="0" spc="-80" dirty="0">
                <a:solidFill>
                  <a:schemeClr val="accent2"/>
                </a:solidFill>
              </a:rPr>
              <a:t>3. Computational Resources and Training Time:</a:t>
            </a:r>
          </a:p>
          <a:p>
            <a:r>
              <a:rPr lang="en-US" sz="1600" kern="0" spc="-80" dirty="0">
                <a:solidFill>
                  <a:schemeClr val="accent2"/>
                </a:solidFill>
              </a:rPr>
              <a:t>Computational Power: </a:t>
            </a:r>
          </a:p>
          <a:p>
            <a:r>
              <a:rPr lang="en-US" sz="1600" kern="0" spc="-80" dirty="0">
                <a:solidFill>
                  <a:schemeClr val="accent6"/>
                </a:solidFill>
              </a:rPr>
              <a:t>Some optimizers, like Adam, can be more computationally intensive than basic SGD. The available hardware (CPU/GPU) and memory can influence the choice.</a:t>
            </a:r>
          </a:p>
          <a:p>
            <a:pPr lvl="0"/>
            <a:endParaRPr lang="en-US" sz="1600" dirty="0">
              <a:solidFill>
                <a:schemeClr val="accent2"/>
              </a:solidFill>
            </a:endParaRPr>
          </a:p>
          <a:p>
            <a:pPr algn="l"/>
            <a:endParaRPr lang="en-US" sz="1400" kern="0" spc="-220" dirty="0">
              <a:solidFill>
                <a:schemeClr val="accent6"/>
              </a:solidFill>
            </a:endParaRPr>
          </a:p>
        </p:txBody>
      </p:sp>
      <p:sp>
        <p:nvSpPr>
          <p:cNvPr id="3" name="object 4">
            <a:extLst>
              <a:ext uri="{FF2B5EF4-FFF2-40B4-BE49-F238E27FC236}">
                <a16:creationId xmlns:a16="http://schemas.microsoft.com/office/drawing/2014/main" id="{15D44E5F-FDCE-79BA-D541-220D162A85F2}"/>
              </a:ext>
            </a:extLst>
          </p:cNvPr>
          <p:cNvSpPr/>
          <p:nvPr/>
        </p:nvSpPr>
        <p:spPr>
          <a:xfrm>
            <a:off x="1661158" y="11690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4831F9E5-E01D-94A8-D8B0-F1CC9784E9FA}"/>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06896A54-C766-73A1-AB96-01259184945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7366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13362-8513-2F5E-3AF7-361FB50C21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8A4747-96EC-B7E1-C1A4-E411FD666507}"/>
              </a:ext>
            </a:extLst>
          </p:cNvPr>
          <p:cNvSpPr txBox="1">
            <a:spLocks/>
          </p:cNvSpPr>
          <p:nvPr/>
        </p:nvSpPr>
        <p:spPr>
          <a:xfrm>
            <a:off x="0" y="1303739"/>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a:r>
              <a:rPr lang="en-US" sz="1600" dirty="0">
                <a:solidFill>
                  <a:schemeClr val="accent2"/>
                </a:solidFill>
              </a:rPr>
              <a:t>ML Taks and </a:t>
            </a:r>
            <a:r>
              <a:rPr lang="en-US" sz="1600" dirty="0" err="1">
                <a:solidFill>
                  <a:schemeClr val="accent2"/>
                </a:solidFill>
              </a:rPr>
              <a:t>Optimisation</a:t>
            </a:r>
            <a:r>
              <a:rPr lang="en-US" sz="1600" dirty="0">
                <a:solidFill>
                  <a:schemeClr val="accent2"/>
                </a:solidFill>
              </a:rPr>
              <a:t> Techniques Choices</a:t>
            </a:r>
          </a:p>
          <a:p>
            <a:r>
              <a:rPr lang="en-US" sz="1600" kern="0" spc="-80" dirty="0">
                <a:solidFill>
                  <a:schemeClr val="accent2"/>
                </a:solidFill>
              </a:rPr>
              <a:t>Training Time: </a:t>
            </a:r>
          </a:p>
          <a:p>
            <a:r>
              <a:rPr lang="en-US" sz="1600" kern="0" spc="-80" dirty="0">
                <a:solidFill>
                  <a:schemeClr val="accent6"/>
                </a:solidFill>
              </a:rPr>
              <a:t>Optimizers that converge faster are often preferred, especially for large models or datasets where training time is a significant concern. Adaptive learning rate optimizers often offer faster convergence.</a:t>
            </a:r>
          </a:p>
          <a:p>
            <a:r>
              <a:rPr lang="en-US" sz="1600" kern="0" spc="-80" dirty="0">
                <a:solidFill>
                  <a:schemeClr val="accent2"/>
                </a:solidFill>
              </a:rPr>
              <a:t>4. Model Complexity and Architecture:</a:t>
            </a:r>
          </a:p>
          <a:p>
            <a:r>
              <a:rPr lang="en-US" sz="1600" kern="0" spc="-80" dirty="0">
                <a:solidFill>
                  <a:schemeClr val="accent2"/>
                </a:solidFill>
              </a:rPr>
              <a:t>Deep Learning Models: </a:t>
            </a:r>
          </a:p>
          <a:p>
            <a:r>
              <a:rPr lang="en-US" sz="1600" kern="0" spc="-80" dirty="0">
                <a:solidFill>
                  <a:schemeClr val="accent6"/>
                </a:solidFill>
              </a:rPr>
              <a:t>Adaptive learning rate optimizers (Adam, RMSprop) are widely used and often perform well for deep neural networks due to their ability to handle complex loss landscapes and vanishing/exploding gradients.</a:t>
            </a:r>
          </a:p>
          <a:p>
            <a:r>
              <a:rPr lang="en-US" sz="1600" kern="0" spc="-80" dirty="0">
                <a:solidFill>
                  <a:schemeClr val="accent2"/>
                </a:solidFill>
              </a:rPr>
              <a:t>Simpler Models: </a:t>
            </a:r>
          </a:p>
          <a:p>
            <a:r>
              <a:rPr lang="en-US" sz="1600" kern="0" spc="-80" dirty="0">
                <a:solidFill>
                  <a:schemeClr val="accent6"/>
                </a:solidFill>
              </a:rPr>
              <a:t>For linear models or simpler machine learning algorithms, basic gradient descent variants or even closed-form solutions might be sufficient and more computationally efficient.</a:t>
            </a:r>
          </a:p>
          <a:p>
            <a:r>
              <a:rPr lang="en-US" sz="1600" kern="0" spc="-80" dirty="0">
                <a:solidFill>
                  <a:schemeClr val="accent2"/>
                </a:solidFill>
              </a:rPr>
              <a:t>5. Hyperparameter Tuning and Experimentation:</a:t>
            </a:r>
          </a:p>
          <a:p>
            <a:r>
              <a:rPr lang="en-US" sz="1600" kern="0" spc="-80" dirty="0">
                <a:solidFill>
                  <a:schemeClr val="accent2"/>
                </a:solidFill>
              </a:rPr>
              <a:t>Hyperparameter Sensitivity: </a:t>
            </a:r>
          </a:p>
          <a:p>
            <a:r>
              <a:rPr lang="en-US" sz="1600" kern="0" spc="-80" dirty="0">
                <a:solidFill>
                  <a:schemeClr val="accent6"/>
                </a:solidFill>
              </a:rPr>
              <a:t>Different optimizers have varying sensitivities to their hyperparameters (e.g., learning rate, momentum). Careful tuning is often required to achieve optimal performance.</a:t>
            </a:r>
          </a:p>
          <a:p>
            <a:endParaRPr lang="en-US" sz="1600" kern="0" spc="-80" dirty="0">
              <a:solidFill>
                <a:schemeClr val="accent6"/>
              </a:solidFill>
            </a:endParaRPr>
          </a:p>
          <a:p>
            <a:endParaRPr lang="en-US" sz="1600" kern="0" spc="-80" dirty="0">
              <a:solidFill>
                <a:schemeClr val="accent6"/>
              </a:solidFill>
            </a:endParaRPr>
          </a:p>
          <a:p>
            <a:pPr lvl="0"/>
            <a:endParaRPr lang="en-US" sz="1600" dirty="0">
              <a:solidFill>
                <a:schemeClr val="accent2"/>
              </a:solidFill>
            </a:endParaRPr>
          </a:p>
          <a:p>
            <a:pPr algn="l"/>
            <a:endParaRPr lang="en-US" sz="1400" kern="0" spc="-220" dirty="0">
              <a:solidFill>
                <a:schemeClr val="accent6"/>
              </a:solidFill>
            </a:endParaRPr>
          </a:p>
        </p:txBody>
      </p:sp>
      <p:sp>
        <p:nvSpPr>
          <p:cNvPr id="3" name="object 4">
            <a:extLst>
              <a:ext uri="{FF2B5EF4-FFF2-40B4-BE49-F238E27FC236}">
                <a16:creationId xmlns:a16="http://schemas.microsoft.com/office/drawing/2014/main" id="{B9CC3D84-3DEE-3294-5F8C-266B420189B3}"/>
              </a:ext>
            </a:extLst>
          </p:cNvPr>
          <p:cNvSpPr/>
          <p:nvPr/>
        </p:nvSpPr>
        <p:spPr>
          <a:xfrm>
            <a:off x="1661158" y="11690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ABAFD9F4-88E6-6925-7926-959F223039A2}"/>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05944CB5-FD5D-D011-DE90-2FE2AB2B051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71170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53A6C-49CF-E2DB-4115-EECB368EDF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FAB7D9-C484-8135-0ACA-C0A0F7DE9AD5}"/>
              </a:ext>
            </a:extLst>
          </p:cNvPr>
          <p:cNvSpPr txBox="1">
            <a:spLocks/>
          </p:cNvSpPr>
          <p:nvPr/>
        </p:nvSpPr>
        <p:spPr>
          <a:xfrm>
            <a:off x="41725" y="1351999"/>
            <a:ext cx="8624937" cy="34778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dirty="0">
                <a:solidFill>
                  <a:schemeClr val="accent2"/>
                </a:solidFill>
              </a:rPr>
              <a:t>ML Taks and </a:t>
            </a:r>
            <a:r>
              <a:rPr lang="en-US" sz="1400" dirty="0" err="1">
                <a:solidFill>
                  <a:schemeClr val="accent2"/>
                </a:solidFill>
              </a:rPr>
              <a:t>Optimisation</a:t>
            </a:r>
            <a:r>
              <a:rPr lang="en-US" sz="1400" dirty="0">
                <a:solidFill>
                  <a:schemeClr val="accent2"/>
                </a:solidFill>
              </a:rPr>
              <a:t> Techniques Choices</a:t>
            </a:r>
          </a:p>
          <a:p>
            <a:endParaRPr lang="en-US" sz="1400" kern="0" spc="-80" dirty="0">
              <a:solidFill>
                <a:schemeClr val="accent6"/>
              </a:solidFill>
            </a:endParaRPr>
          </a:p>
          <a:p>
            <a:r>
              <a:rPr lang="en-US" sz="1400" kern="0" spc="-80" dirty="0">
                <a:solidFill>
                  <a:schemeClr val="accent6"/>
                </a:solidFill>
              </a:rPr>
              <a:t>Similar logic can be extended to deterministic/probabilistic Embeddings. Embeddings will be discussed later. Now the  aforementioned </a:t>
            </a:r>
            <a:r>
              <a:rPr lang="en-US" sz="1400" kern="0" spc="-80" dirty="0" err="1">
                <a:solidFill>
                  <a:schemeClr val="accent6"/>
                </a:solidFill>
              </a:rPr>
              <a:t>optimisation</a:t>
            </a:r>
            <a:r>
              <a:rPr lang="en-US" sz="1400" kern="0" spc="-80" dirty="0">
                <a:solidFill>
                  <a:schemeClr val="accent6"/>
                </a:solidFill>
              </a:rPr>
              <a:t> techniques are to estimate optimal values of parameters of the function &amp; not hyper-parameters, a concept explained later</a:t>
            </a:r>
          </a:p>
          <a:p>
            <a:pPr algn="l">
              <a:buNone/>
            </a:pPr>
            <a:endParaRPr lang="en-US" sz="1400" dirty="0">
              <a:solidFill>
                <a:schemeClr val="accent2"/>
              </a:solidFill>
            </a:endParaRPr>
          </a:p>
          <a:p>
            <a:pPr algn="l">
              <a:buNone/>
            </a:pPr>
            <a:r>
              <a:rPr lang="en-US" sz="1400" dirty="0">
                <a:solidFill>
                  <a:schemeClr val="accent2"/>
                </a:solidFill>
              </a:rPr>
              <a:t>For Further Exploration</a:t>
            </a:r>
          </a:p>
          <a:p>
            <a:pPr algn="l">
              <a:buNone/>
            </a:pPr>
            <a:r>
              <a:rPr lang="en-US" sz="1400" dirty="0">
                <a:hlinkClick r:id="rId2"/>
              </a:rPr>
              <a:t>Essential-Math-For-AI</a:t>
            </a:r>
            <a:endParaRPr lang="en-US" sz="1400" dirty="0"/>
          </a:p>
          <a:p>
            <a:r>
              <a:rPr lang="en-US" sz="1400" dirty="0">
                <a:hlinkClick r:id="rId3"/>
              </a:rPr>
              <a:t>Calculate Maximum Likelihood Estimator with Newton-Raphson Method using R</a:t>
            </a:r>
            <a:r>
              <a:rPr lang="en-US" sz="1400" dirty="0"/>
              <a:t>(</a:t>
            </a:r>
            <a:r>
              <a:rPr lang="en-US" sz="1400" kern="0" spc="-220" dirty="0">
                <a:solidFill>
                  <a:schemeClr val="accent6"/>
                </a:solidFill>
              </a:rPr>
              <a:t>MLE and Joint Probability Distribution to be used for independent events) </a:t>
            </a:r>
          </a:p>
          <a:p>
            <a:r>
              <a:rPr lang="en-US" sz="1400" dirty="0" err="1">
                <a:hlinkClick r:id="rId4"/>
              </a:rPr>
              <a:t>Bayesian_Inference_Basic_Tutorial</a:t>
            </a:r>
            <a:r>
              <a:rPr lang="en-US" sz="1400" kern="0" spc="-220" dirty="0">
                <a:solidFill>
                  <a:schemeClr val="accent6"/>
                </a:solidFill>
              </a:rPr>
              <a:t>(</a:t>
            </a:r>
            <a:r>
              <a:rPr lang="en-US" sz="1400" kern="0" spc="-80" dirty="0">
                <a:solidFill>
                  <a:schemeClr val="accent6"/>
                </a:solidFill>
              </a:rPr>
              <a:t>Bayesian Inference to be used for dependent events)</a:t>
            </a:r>
          </a:p>
          <a:p>
            <a:r>
              <a:rPr lang="en-US" sz="1400" dirty="0">
                <a:solidFill>
                  <a:srgbClr val="0070C0"/>
                </a:solidFill>
                <a:hlinkClick r:id="rId5">
                  <a:extLst>
                    <a:ext uri="{A12FA001-AC4F-418D-AE19-62706E023703}">
                      <ahyp:hlinkClr xmlns:ahyp="http://schemas.microsoft.com/office/drawing/2018/hyperlinkcolor" val="tx"/>
                    </a:ext>
                  </a:extLst>
                </a:hlinkClick>
              </a:rPr>
              <a:t>MLE, MAP and Bayesian Inference</a:t>
            </a:r>
            <a:r>
              <a:rPr lang="en-US" sz="1400" kern="0" spc="-80" dirty="0">
                <a:solidFill>
                  <a:schemeClr val="accent6"/>
                </a:solidFill>
              </a:rPr>
              <a:t>. </a:t>
            </a:r>
          </a:p>
          <a:p>
            <a:pPr algn="l">
              <a:buNone/>
            </a:pPr>
            <a:r>
              <a:rPr lang="en-US" sz="1400" dirty="0">
                <a:hlinkClick r:id="rId6"/>
              </a:rPr>
              <a:t>Understanding Optimization Algorithms in Machine Learning</a:t>
            </a:r>
            <a:r>
              <a:rPr lang="en-US" sz="1400" dirty="0"/>
              <a:t> </a:t>
            </a:r>
          </a:p>
          <a:p>
            <a:pPr algn="l">
              <a:buNone/>
            </a:pPr>
            <a:r>
              <a:rPr lang="en-US" sz="1400" dirty="0">
                <a:hlinkClick r:id="rId7"/>
              </a:rPr>
              <a:t>Optimization Essentials for Machine Learning</a:t>
            </a:r>
            <a:r>
              <a:rPr lang="en-US" sz="1400" dirty="0"/>
              <a:t> </a:t>
            </a:r>
            <a:endParaRPr lang="en-US" sz="1400" kern="0" spc="-220" dirty="0">
              <a:solidFill>
                <a:schemeClr val="accent6"/>
              </a:solidFill>
            </a:endParaRPr>
          </a:p>
          <a:p>
            <a:pPr algn="l">
              <a:buNone/>
            </a:pPr>
            <a:r>
              <a:rPr lang="en-US" sz="1400" dirty="0">
                <a:hlinkClick r:id="rId8"/>
              </a:rPr>
              <a:t>6 Continuous </a:t>
            </a:r>
            <a:r>
              <a:rPr lang="en-US" sz="1400" dirty="0" err="1">
                <a:hlinkClick r:id="rId8"/>
              </a:rPr>
              <a:t>Optimisation</a:t>
            </a:r>
            <a:r>
              <a:rPr lang="en-US" sz="1400" dirty="0">
                <a:hlinkClick r:id="rId8"/>
              </a:rPr>
              <a:t> with Iterative Algorithms</a:t>
            </a:r>
            <a:endParaRPr lang="en-US" sz="1400" dirty="0"/>
          </a:p>
          <a:p>
            <a:pPr algn="l">
              <a:buNone/>
            </a:pPr>
            <a:endParaRPr lang="en-US" sz="1400" dirty="0"/>
          </a:p>
        </p:txBody>
      </p:sp>
      <p:sp>
        <p:nvSpPr>
          <p:cNvPr id="3" name="object 4">
            <a:extLst>
              <a:ext uri="{FF2B5EF4-FFF2-40B4-BE49-F238E27FC236}">
                <a16:creationId xmlns:a16="http://schemas.microsoft.com/office/drawing/2014/main" id="{75B2A068-554A-FBFF-9159-442CEC473F93}"/>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04A3B116-8879-6B50-176A-338E5BD6944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68ADF08A-09D5-FA0B-440D-C68D7050A756}"/>
              </a:ext>
            </a:extLst>
          </p:cNvPr>
          <p:cNvGraphicFramePr/>
          <p:nvPr>
            <p:extLst>
              <p:ext uri="{D42A27DB-BD31-4B8C-83A1-F6EECF244321}">
                <p14:modId xmlns:p14="http://schemas.microsoft.com/office/powerpoint/2010/main" val="2140948991"/>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9083682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F16A0-F363-CF71-0FF7-AB0E3750FF8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E1624A-DAF9-55FE-BC01-3FD65196836A}"/>
              </a:ext>
            </a:extLst>
          </p:cNvPr>
          <p:cNvSpPr txBox="1">
            <a:spLocks/>
          </p:cNvSpPr>
          <p:nvPr/>
        </p:nvSpPr>
        <p:spPr>
          <a:xfrm>
            <a:off x="76200" y="1377399"/>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dirty="0">
                <a:solidFill>
                  <a:schemeClr val="accent2"/>
                </a:solidFill>
              </a:rPr>
              <a:t>ML Taks and Evaluation Metrics Choices</a:t>
            </a:r>
          </a:p>
          <a:p>
            <a:r>
              <a:rPr lang="en-US" sz="1400" kern="0" spc="-80" dirty="0">
                <a:solidFill>
                  <a:schemeClr val="accent6"/>
                </a:solidFill>
              </a:rPr>
              <a:t>We calculate various evaluation metrics, based on which we decide how good our model is, for various ML tasks using the validation set </a:t>
            </a:r>
            <a:r>
              <a:rPr lang="en-US" sz="1400" kern="0" spc="-80" dirty="0" err="1">
                <a:solidFill>
                  <a:schemeClr val="accent6"/>
                </a:solidFill>
              </a:rPr>
              <a:t>data.To</a:t>
            </a:r>
            <a:r>
              <a:rPr lang="en-US" sz="1400" kern="0" spc="-80" dirty="0">
                <a:solidFill>
                  <a:schemeClr val="accent6"/>
                </a:solidFill>
              </a:rPr>
              <a:t> choose ML evaluation metrics, first identify the task type (classification, regression), then consider business goals and the costs of different errors. For example, in a medical diagnosis task, a false negative is more costly, so recall is more important than accuracy. For imbalanced datasets, focus on metrics like F1-score, precision, or recall instead of accuracy. </a:t>
            </a:r>
          </a:p>
          <a:p>
            <a:r>
              <a:rPr lang="en-US" sz="1400" kern="0" spc="-80" dirty="0">
                <a:solidFill>
                  <a:schemeClr val="accent2"/>
                </a:solidFill>
              </a:rPr>
              <a:t>Classification tasks</a:t>
            </a:r>
          </a:p>
          <a:p>
            <a:r>
              <a:rPr lang="en-US" sz="1400" kern="0" spc="-80" dirty="0">
                <a:solidFill>
                  <a:schemeClr val="accent2"/>
                </a:solidFill>
              </a:rPr>
              <a:t>When classes are balanced or both false positives and false negatives are equally costly:</a:t>
            </a:r>
          </a:p>
          <a:p>
            <a:r>
              <a:rPr lang="en-US" sz="1400" kern="0" spc="-80" dirty="0">
                <a:solidFill>
                  <a:schemeClr val="accent2"/>
                </a:solidFill>
              </a:rPr>
              <a:t>Accuracy: </a:t>
            </a:r>
            <a:r>
              <a:rPr lang="en-US" sz="1400" kern="0" spc="-80" dirty="0">
                <a:solidFill>
                  <a:schemeClr val="accent6"/>
                </a:solidFill>
              </a:rPr>
              <a:t>The simplest metric, representing the proportion of correct predictions out of all predictions. </a:t>
            </a:r>
          </a:p>
          <a:p>
            <a:r>
              <a:rPr lang="en-US" sz="1400" kern="0" spc="-80" dirty="0">
                <a:solidFill>
                  <a:schemeClr val="accent2"/>
                </a:solidFill>
              </a:rPr>
              <a:t>When a false positive is more costly:</a:t>
            </a:r>
          </a:p>
          <a:p>
            <a:r>
              <a:rPr lang="en-US" sz="1400" kern="0" spc="-80" dirty="0">
                <a:solidFill>
                  <a:schemeClr val="accent2"/>
                </a:solidFill>
              </a:rPr>
              <a:t>Precision: </a:t>
            </a:r>
            <a:r>
              <a:rPr lang="en-US" sz="1400" kern="0" spc="-80" dirty="0">
                <a:solidFill>
                  <a:schemeClr val="accent6"/>
                </a:solidFill>
              </a:rPr>
              <a:t>The proportion of predicted positive instances that were actually positive. It measures how many of the things you "called" as positive were actually positive. </a:t>
            </a:r>
          </a:p>
          <a:p>
            <a:r>
              <a:rPr lang="en-US" sz="1400" kern="0" spc="-80" dirty="0">
                <a:solidFill>
                  <a:schemeClr val="accent2"/>
                </a:solidFill>
              </a:rPr>
              <a:t>When a false negative is more costly:</a:t>
            </a:r>
          </a:p>
          <a:p>
            <a:r>
              <a:rPr lang="en-US" sz="1400" kern="0" spc="-80" dirty="0">
                <a:solidFill>
                  <a:schemeClr val="accent2"/>
                </a:solidFill>
              </a:rPr>
              <a:t>Recall (Sensitivity):</a:t>
            </a:r>
            <a:r>
              <a:rPr lang="en-US" sz="1400" kern="0" spc="-80" dirty="0">
                <a:solidFill>
                  <a:schemeClr val="accent6"/>
                </a:solidFill>
              </a:rPr>
              <a:t> The proportion of actual positive instances that were correctly identified. It measures how many of the true positives were correctly identified. </a:t>
            </a:r>
          </a:p>
          <a:p>
            <a:r>
              <a:rPr lang="en-US" sz="1400" kern="0" spc="-80" dirty="0">
                <a:solidFill>
                  <a:schemeClr val="accent2"/>
                </a:solidFill>
              </a:rPr>
              <a:t>When both false positives and false negatives are important:</a:t>
            </a:r>
          </a:p>
          <a:p>
            <a:r>
              <a:rPr lang="en-US" sz="1400" kern="0" spc="-80" dirty="0">
                <a:solidFill>
                  <a:schemeClr val="accent2"/>
                </a:solidFill>
              </a:rPr>
              <a:t>F1-Score: </a:t>
            </a:r>
            <a:r>
              <a:rPr lang="en-US" sz="1400" kern="0" spc="-80" dirty="0">
                <a:solidFill>
                  <a:schemeClr val="accent6"/>
                </a:solidFill>
              </a:rPr>
              <a:t>The harmonic mean of precision and recall, providing a single metric that balances both. </a:t>
            </a:r>
          </a:p>
          <a:p>
            <a:r>
              <a:rPr lang="en-US" sz="1400" kern="0" spc="-80" dirty="0">
                <a:solidFill>
                  <a:schemeClr val="accent2"/>
                </a:solidFill>
              </a:rPr>
              <a:t>For multi-class classification, especially with an imbalanced dataset:</a:t>
            </a:r>
          </a:p>
          <a:p>
            <a:r>
              <a:rPr lang="en-US" sz="1400" kern="0" spc="-80" dirty="0">
                <a:solidFill>
                  <a:schemeClr val="accent2"/>
                </a:solidFill>
              </a:rPr>
              <a:t>Micro-accuracy: </a:t>
            </a:r>
            <a:r>
              <a:rPr lang="en-US" sz="1400" kern="0" spc="-80" dirty="0">
                <a:solidFill>
                  <a:schemeClr val="accent6"/>
                </a:solidFill>
              </a:rPr>
              <a:t>Often a good choice for aligning with business needs in multi-class problems. </a:t>
            </a:r>
          </a:p>
          <a:p>
            <a:endParaRPr lang="en-US" sz="1400" kern="0" spc="-80" dirty="0">
              <a:solidFill>
                <a:schemeClr val="accent6"/>
              </a:solidFill>
            </a:endParaRPr>
          </a:p>
          <a:p>
            <a:pPr algn="l">
              <a:buNone/>
            </a:pPr>
            <a:endParaRPr lang="en-US" sz="1400" dirty="0"/>
          </a:p>
        </p:txBody>
      </p:sp>
      <p:sp>
        <p:nvSpPr>
          <p:cNvPr id="3" name="object 4">
            <a:extLst>
              <a:ext uri="{FF2B5EF4-FFF2-40B4-BE49-F238E27FC236}">
                <a16:creationId xmlns:a16="http://schemas.microsoft.com/office/drawing/2014/main" id="{09503670-C55E-1868-9FE8-98488881451F}"/>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7E754AA6-6BFC-0B40-46C9-4A2E2CB66F2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08EEC1FF-20CB-4160-5CAE-46E8DB44932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86841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94F3-9CBA-58C8-29EB-AA96970320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7443D2D-5936-CF00-4E7E-A017874768CD}"/>
              </a:ext>
            </a:extLst>
          </p:cNvPr>
          <p:cNvSpPr txBox="1">
            <a:spLocks/>
          </p:cNvSpPr>
          <p:nvPr/>
        </p:nvSpPr>
        <p:spPr>
          <a:xfrm>
            <a:off x="76200" y="1377399"/>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dirty="0">
                <a:solidFill>
                  <a:schemeClr val="accent2"/>
                </a:solidFill>
              </a:rPr>
              <a:t>ML Taks and Evaluation Metrics Choices</a:t>
            </a:r>
          </a:p>
          <a:p>
            <a:r>
              <a:rPr lang="en-US" sz="1400" kern="0" spc="-80" dirty="0">
                <a:solidFill>
                  <a:schemeClr val="accent2"/>
                </a:solidFill>
              </a:rPr>
              <a:t>Regression tasks</a:t>
            </a:r>
          </a:p>
          <a:p>
            <a:r>
              <a:rPr lang="en-US" sz="1400" kern="0" spc="-80" dirty="0">
                <a:solidFill>
                  <a:schemeClr val="accent2"/>
                </a:solidFill>
              </a:rPr>
              <a:t>To understand the magnitude of errors:</a:t>
            </a:r>
          </a:p>
          <a:p>
            <a:r>
              <a:rPr lang="en-US" sz="1400" kern="0" spc="-80" dirty="0">
                <a:solidFill>
                  <a:schemeClr val="accent2"/>
                </a:solidFill>
              </a:rPr>
              <a:t>Mean Absolute Error (MAE): </a:t>
            </a:r>
            <a:r>
              <a:rPr lang="en-US" sz="1400" kern="0" spc="-80" dirty="0">
                <a:solidFill>
                  <a:schemeClr val="accent6"/>
                </a:solidFill>
              </a:rPr>
              <a:t>The average of the absolute errors. It is less sensitive to outliers than MSE. </a:t>
            </a:r>
          </a:p>
          <a:p>
            <a:r>
              <a:rPr lang="en-US" sz="1400" kern="0" spc="-80" dirty="0">
                <a:solidFill>
                  <a:schemeClr val="accent2"/>
                </a:solidFill>
              </a:rPr>
              <a:t>Mean Squared Error (MSE): </a:t>
            </a:r>
            <a:r>
              <a:rPr lang="en-US" sz="1400" kern="0" spc="-80" dirty="0">
                <a:solidFill>
                  <a:schemeClr val="accent6"/>
                </a:solidFill>
              </a:rPr>
              <a:t>The average of the squared errors. It penalizes larger errors more heavily than MAE. </a:t>
            </a:r>
          </a:p>
          <a:p>
            <a:r>
              <a:rPr lang="en-US" sz="1400" kern="0" spc="-80" dirty="0">
                <a:solidFill>
                  <a:schemeClr val="accent2"/>
                </a:solidFill>
              </a:rPr>
              <a:t>Root Mean Squared Error (RMSE): </a:t>
            </a:r>
            <a:r>
              <a:rPr lang="en-US" sz="1400" kern="0" spc="-80" dirty="0">
                <a:solidFill>
                  <a:schemeClr val="accent6"/>
                </a:solidFill>
              </a:rPr>
              <a:t>The square root of the MSE. It provides error in the same units as the target variable and is also sensitive to outliers. </a:t>
            </a:r>
          </a:p>
          <a:p>
            <a:r>
              <a:rPr lang="en-US" sz="1400" kern="0" spc="-80" dirty="0">
                <a:solidFill>
                  <a:schemeClr val="accent2"/>
                </a:solidFill>
              </a:rPr>
              <a:t>To account for business preferences:</a:t>
            </a:r>
          </a:p>
          <a:p>
            <a:r>
              <a:rPr lang="en-US" sz="1400" kern="0" spc="-80" dirty="0">
                <a:solidFill>
                  <a:schemeClr val="accent6"/>
                </a:solidFill>
              </a:rPr>
              <a:t>Consider a specific metric based on whether over-forecasting or under-forecasting is more problematic. </a:t>
            </a:r>
          </a:p>
          <a:p>
            <a:r>
              <a:rPr lang="en-US" sz="1400" kern="0" spc="-80" dirty="0">
                <a:solidFill>
                  <a:schemeClr val="accent2"/>
                </a:solidFill>
              </a:rPr>
              <a:t>General guidelines</a:t>
            </a:r>
          </a:p>
          <a:p>
            <a:r>
              <a:rPr lang="en-US" sz="1400" kern="0" spc="-80" dirty="0">
                <a:solidFill>
                  <a:schemeClr val="accent2"/>
                </a:solidFill>
              </a:rPr>
              <a:t>Understand the problem and business objectives:</a:t>
            </a:r>
            <a:r>
              <a:rPr lang="en-US" sz="1400" kern="0" spc="-80" dirty="0">
                <a:solidFill>
                  <a:schemeClr val="accent6"/>
                </a:solidFill>
              </a:rPr>
              <a:t> The most important factor is aligning the metric with the actual goal of the project. </a:t>
            </a:r>
          </a:p>
          <a:p>
            <a:r>
              <a:rPr lang="en-US" sz="1400" kern="0" spc="-80" dirty="0">
                <a:solidFill>
                  <a:schemeClr val="accent2"/>
                </a:solidFill>
              </a:rPr>
              <a:t>Consider the cost of errors:</a:t>
            </a:r>
            <a:r>
              <a:rPr lang="en-US" sz="1400" kern="0" spc="-80" dirty="0">
                <a:solidFill>
                  <a:schemeClr val="accent6"/>
                </a:solidFill>
              </a:rPr>
              <a:t> What are the consequences of a false positive versus a false negative? </a:t>
            </a:r>
          </a:p>
          <a:p>
            <a:r>
              <a:rPr lang="en-US" sz="1400" kern="0" spc="-80" dirty="0">
                <a:solidFill>
                  <a:schemeClr val="accent2"/>
                </a:solidFill>
              </a:rPr>
              <a:t>Be aware of data distribution: </a:t>
            </a:r>
            <a:r>
              <a:rPr lang="en-US" sz="1400" kern="0" spc="-80" dirty="0">
                <a:solidFill>
                  <a:schemeClr val="accent6"/>
                </a:solidFill>
              </a:rPr>
              <a:t>For imbalanced datasets, standard accuracy can be misleading. Choose metrics like F1-score, precision, or recall. </a:t>
            </a:r>
          </a:p>
          <a:p>
            <a:r>
              <a:rPr lang="en-US" sz="1400" kern="0" spc="-80" dirty="0">
                <a:solidFill>
                  <a:schemeClr val="accent2"/>
                </a:solidFill>
              </a:rPr>
              <a:t>Evaluate multiple metrics: </a:t>
            </a:r>
            <a:r>
              <a:rPr lang="en-US" sz="1400" kern="0" spc="-80" dirty="0">
                <a:solidFill>
                  <a:schemeClr val="accent6"/>
                </a:solidFill>
              </a:rPr>
              <a:t>Don't rely on a single metric. Using a combination provides a more comprehensive understanding of your model's performance.</a:t>
            </a:r>
          </a:p>
          <a:p>
            <a:endParaRPr lang="en-US" sz="1400" kern="0" spc="-80" dirty="0">
              <a:solidFill>
                <a:schemeClr val="accent6"/>
              </a:solidFill>
            </a:endParaRPr>
          </a:p>
          <a:p>
            <a:r>
              <a:rPr lang="en-US" sz="1600" kern="0" spc="-220" dirty="0">
                <a:solidFill>
                  <a:schemeClr val="accent2"/>
                </a:solidFill>
              </a:rPr>
              <a:t>Prediction</a:t>
            </a:r>
            <a:r>
              <a:rPr lang="en-US" sz="1600" kern="0" spc="-220" dirty="0">
                <a:solidFill>
                  <a:schemeClr val="accent6"/>
                </a:solidFill>
              </a:rPr>
              <a:t> – the final stage wherein, </a:t>
            </a:r>
            <a:r>
              <a:rPr lang="en-US" sz="1400" kern="0" spc="-80" dirty="0">
                <a:solidFill>
                  <a:schemeClr val="accent6"/>
                </a:solidFill>
              </a:rPr>
              <a:t>if we are satisfied with the evaluation metrics then predict the outcome on our test(&amp; actual) data</a:t>
            </a:r>
            <a:r>
              <a:rPr lang="en-US" sz="1600" kern="0" spc="-220" dirty="0">
                <a:solidFill>
                  <a:schemeClr val="accent6"/>
                </a:solidFill>
              </a:rPr>
              <a:t>.</a:t>
            </a:r>
            <a:endParaRPr lang="en-US" sz="1600" b="0" dirty="0">
              <a:solidFill>
                <a:srgbClr val="1F2328"/>
              </a:solidFill>
              <a:latin typeface="-apple-system"/>
            </a:endParaRPr>
          </a:p>
          <a:p>
            <a:endParaRPr lang="en-US" sz="1400" kern="0" spc="-80" dirty="0">
              <a:solidFill>
                <a:schemeClr val="accent6"/>
              </a:solidFill>
            </a:endParaRPr>
          </a:p>
          <a:p>
            <a:endParaRPr lang="en-US" sz="1400" kern="0" spc="-80" dirty="0">
              <a:solidFill>
                <a:schemeClr val="accent6"/>
              </a:solidFill>
            </a:endParaRPr>
          </a:p>
          <a:p>
            <a:pPr algn="l">
              <a:buNone/>
            </a:pPr>
            <a:endParaRPr lang="en-US" sz="1400" dirty="0"/>
          </a:p>
        </p:txBody>
      </p:sp>
      <p:sp>
        <p:nvSpPr>
          <p:cNvPr id="3" name="object 4">
            <a:extLst>
              <a:ext uri="{FF2B5EF4-FFF2-40B4-BE49-F238E27FC236}">
                <a16:creationId xmlns:a16="http://schemas.microsoft.com/office/drawing/2014/main" id="{907F7E2C-5ED5-F4BD-AEDB-99AAEE226BD4}"/>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5E231388-632F-9CB1-5F2C-236107E67B1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A20872EE-1B02-206D-FAC7-9D58CC6A16F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00231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AF395-1DBF-392D-87F8-B0BBED455D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F16F02F-62A7-BF4C-3210-2E5CB80DCF7A}"/>
              </a:ext>
            </a:extLst>
          </p:cNvPr>
          <p:cNvSpPr txBox="1">
            <a:spLocks/>
          </p:cNvSpPr>
          <p:nvPr/>
        </p:nvSpPr>
        <p:spPr>
          <a:xfrm>
            <a:off x="76200" y="1377399"/>
            <a:ext cx="8624937" cy="19659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dirty="0">
                <a:solidFill>
                  <a:schemeClr val="accent2"/>
                </a:solidFill>
              </a:rPr>
              <a:t>ML Taks and Evaluation Metrics Choices</a:t>
            </a:r>
          </a:p>
          <a:p>
            <a:r>
              <a:rPr lang="en-US" sz="1400" kern="0" spc="-80" dirty="0">
                <a:solidFill>
                  <a:schemeClr val="accent2"/>
                </a:solidFill>
              </a:rPr>
              <a:t>For Further Exploration</a:t>
            </a:r>
          </a:p>
          <a:p>
            <a:r>
              <a:rPr lang="en-US" sz="1400" dirty="0">
                <a:hlinkClick r:id="rId2"/>
              </a:rPr>
              <a:t>Evaluation Metrics for Your Regression Model</a:t>
            </a:r>
            <a:endParaRPr lang="en-US" sz="1400" dirty="0"/>
          </a:p>
          <a:p>
            <a:r>
              <a:rPr lang="en-US" sz="1400" dirty="0">
                <a:hlinkClick r:id="rId3"/>
              </a:rPr>
              <a:t>How to Evaluate Clustering Algorithms?</a:t>
            </a:r>
            <a:endParaRPr lang="en-US" sz="1400" dirty="0"/>
          </a:p>
          <a:p>
            <a:r>
              <a:rPr lang="en-US" sz="1400" dirty="0">
                <a:hlinkClick r:id="rId4"/>
              </a:rPr>
              <a:t>Performance Metrics in Machine Learning</a:t>
            </a:r>
            <a:endParaRPr lang="en-US" sz="1400" dirty="0"/>
          </a:p>
          <a:p>
            <a:r>
              <a:rPr lang="en-US" sz="1400" dirty="0">
                <a:hlinkClick r:id="rId5"/>
              </a:rPr>
              <a:t>Fundamentals of Machine Learning Model Evaluation</a:t>
            </a:r>
            <a:endParaRPr lang="en-US" sz="1400" dirty="0"/>
          </a:p>
          <a:p>
            <a:r>
              <a:rPr lang="en-IN" sz="1400" dirty="0">
                <a:hlinkClick r:id="rId6"/>
              </a:rPr>
              <a:t>Sensitivity and Specificity</a:t>
            </a:r>
            <a:endParaRPr lang="en-US" sz="1400" kern="0" spc="-80" dirty="0">
              <a:solidFill>
                <a:schemeClr val="accent2"/>
              </a:solidFill>
            </a:endParaRPr>
          </a:p>
          <a:p>
            <a:endParaRPr lang="en-US" sz="1400" kern="0" spc="-80" dirty="0">
              <a:solidFill>
                <a:schemeClr val="accent6"/>
              </a:solidFill>
            </a:endParaRPr>
          </a:p>
          <a:p>
            <a:pPr algn="l">
              <a:buNone/>
            </a:pPr>
            <a:endParaRPr lang="en-US" sz="1400" dirty="0"/>
          </a:p>
        </p:txBody>
      </p:sp>
      <p:sp>
        <p:nvSpPr>
          <p:cNvPr id="3" name="object 4">
            <a:extLst>
              <a:ext uri="{FF2B5EF4-FFF2-40B4-BE49-F238E27FC236}">
                <a16:creationId xmlns:a16="http://schemas.microsoft.com/office/drawing/2014/main" id="{8FB8570D-EF56-2516-325D-4170ED414EE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A80ED58B-454E-F2E9-0A15-6C831B86F1A3}"/>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E14B7512-3EDB-19FD-9789-C38D67D17F4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2284490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65B46-C2C9-6F2A-25D7-638AF8496D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57A4FB-116B-03D0-2B47-7077A69ED3F4}"/>
              </a:ext>
            </a:extLst>
          </p:cNvPr>
          <p:cNvSpPr txBox="1">
            <a:spLocks/>
          </p:cNvSpPr>
          <p:nvPr/>
        </p:nvSpPr>
        <p:spPr>
          <a:xfrm>
            <a:off x="35560" y="1259840"/>
            <a:ext cx="8624937" cy="47666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buNone/>
            </a:pPr>
            <a:r>
              <a:rPr lang="en-US" sz="1400" dirty="0">
                <a:solidFill>
                  <a:schemeClr val="accent2"/>
                </a:solidFill>
              </a:rPr>
              <a:t>Model Experimentation(Retraining[if needed]) </a:t>
            </a:r>
            <a:r>
              <a:rPr lang="en-US" sz="1575" kern="0" spc="-220" dirty="0">
                <a:solidFill>
                  <a:schemeClr val="accent6"/>
                </a:solidFill>
              </a:rPr>
              <a:t>- </a:t>
            </a:r>
            <a:r>
              <a:rPr lang="en-US" sz="1400" kern="0" spc="-80" dirty="0">
                <a:solidFill>
                  <a:schemeClr val="accent6"/>
                </a:solidFill>
              </a:rPr>
              <a:t>if we are not satisfied with the evaluation metrics, we can try any/some/all the following – </a:t>
            </a:r>
          </a:p>
          <a:p>
            <a:r>
              <a:rPr lang="en-US" sz="1400" kern="0" spc="-80" dirty="0">
                <a:solidFill>
                  <a:schemeClr val="accent6"/>
                </a:solidFill>
              </a:rPr>
              <a:t>a) cleaning the data more in some other ways or re-sampling or trying other different ways of feature engineering </a:t>
            </a:r>
          </a:p>
          <a:p>
            <a:r>
              <a:rPr lang="en-US" sz="1400" kern="0" spc="-80" dirty="0">
                <a:solidFill>
                  <a:schemeClr val="accent6"/>
                </a:solidFill>
              </a:rPr>
              <a:t>b) using some different ML algo </a:t>
            </a:r>
          </a:p>
          <a:p>
            <a:r>
              <a:rPr lang="en-US" sz="1400" kern="0" spc="-80" dirty="0">
                <a:solidFill>
                  <a:schemeClr val="accent6"/>
                </a:solidFill>
              </a:rPr>
              <a:t>c) changing the cost function or parameter </a:t>
            </a:r>
            <a:r>
              <a:rPr lang="en-US" sz="1400" kern="0" spc="-80" dirty="0" err="1">
                <a:solidFill>
                  <a:schemeClr val="accent6"/>
                </a:solidFill>
              </a:rPr>
              <a:t>optimiser</a:t>
            </a:r>
            <a:r>
              <a:rPr lang="en-US" sz="1400" kern="0" spc="-80" dirty="0">
                <a:solidFill>
                  <a:schemeClr val="accent6"/>
                </a:solidFill>
              </a:rPr>
              <a:t> or both </a:t>
            </a:r>
          </a:p>
          <a:p>
            <a:r>
              <a:rPr lang="en-US" sz="1400" kern="0" spc="-80" dirty="0">
                <a:solidFill>
                  <a:schemeClr val="accent6"/>
                </a:solidFill>
              </a:rPr>
              <a:t>d) </a:t>
            </a:r>
            <a:r>
              <a:rPr lang="en-US" sz="1400" kern="0" spc="-80" dirty="0" err="1">
                <a:solidFill>
                  <a:schemeClr val="accent6"/>
                </a:solidFill>
              </a:rPr>
              <a:t>Regularisation</a:t>
            </a:r>
            <a:r>
              <a:rPr lang="en-US" sz="1400" kern="0" spc="-80" dirty="0">
                <a:solidFill>
                  <a:schemeClr val="accent6"/>
                </a:solidFill>
              </a:rPr>
              <a:t> - if your model works great with the training data but works very poorly with actual/test data that means the data is over-fitted &amp; to overcome overfitting, we use various </a:t>
            </a:r>
            <a:r>
              <a:rPr lang="en-US" sz="1400" kern="0" spc="-80" dirty="0" err="1">
                <a:solidFill>
                  <a:schemeClr val="accent6"/>
                </a:solidFill>
              </a:rPr>
              <a:t>regularisation</a:t>
            </a:r>
            <a:r>
              <a:rPr lang="en-US" sz="1400" kern="0" spc="-80" dirty="0">
                <a:solidFill>
                  <a:schemeClr val="accent6"/>
                </a:solidFill>
              </a:rPr>
              <a:t> techniques e.g. in regression we can use lasso(L1)/ridge(L2) while in DL networks we can use Dropout(&amp; other) technique(s). In general Regularization takes into account the model’s complexity or capacity; we incur a penalty for overly complex models. It can prevent the parameters of the model from getting too large the assumption being that large weights mean more complex models &amp; vice versa. </a:t>
            </a:r>
          </a:p>
          <a:p>
            <a:r>
              <a:rPr lang="en-US" sz="1400" kern="0" spc="-80" dirty="0">
                <a:solidFill>
                  <a:schemeClr val="accent2"/>
                </a:solidFill>
              </a:rPr>
              <a:t>Various </a:t>
            </a:r>
            <a:r>
              <a:rPr lang="en-US" sz="1400" kern="0" spc="-80" dirty="0" err="1">
                <a:solidFill>
                  <a:schemeClr val="accent2"/>
                </a:solidFill>
              </a:rPr>
              <a:t>Regularisation</a:t>
            </a:r>
            <a:r>
              <a:rPr lang="en-US" sz="1400" kern="0" spc="-80" dirty="0">
                <a:solidFill>
                  <a:schemeClr val="accent2"/>
                </a:solidFill>
              </a:rPr>
              <a:t> Techniques</a:t>
            </a:r>
          </a:p>
          <a:p>
            <a:r>
              <a:rPr lang="en-US" sz="1400" kern="0" spc="-80" dirty="0">
                <a:solidFill>
                  <a:schemeClr val="accent6"/>
                </a:solidFill>
              </a:rPr>
              <a:t>Regularization techniques in machine learning are employed to prevent overfitting and improve the generalization ability of models. Overfitting occurs when a model learns the training data too well, including noise, and performs poorly on unseen data. Here are various common regularization techniques:</a:t>
            </a:r>
          </a:p>
          <a:p>
            <a:r>
              <a:rPr lang="en-US" sz="1400" kern="0" spc="-80" dirty="0">
                <a:solidFill>
                  <a:schemeClr val="accent2"/>
                </a:solidFill>
              </a:rPr>
              <a:t>1. L1 Regularization (Lasso Regression):</a:t>
            </a:r>
          </a:p>
          <a:p>
            <a:r>
              <a:rPr lang="en-US" sz="1400" kern="0" spc="-80" dirty="0">
                <a:solidFill>
                  <a:schemeClr val="accent6"/>
                </a:solidFill>
              </a:rPr>
              <a:t>Adds a penalty equal to the absolute value of the magnitude of the coefficients to the loss function.</a:t>
            </a:r>
          </a:p>
          <a:p>
            <a:r>
              <a:rPr lang="en-US" sz="1400" kern="0" spc="-80" dirty="0">
                <a:solidFill>
                  <a:schemeClr val="accent6"/>
                </a:solidFill>
              </a:rPr>
              <a:t>Promotes sparsity in the model, effectively performing feature selection by shrinking some coefficients to zero.</a:t>
            </a:r>
          </a:p>
        </p:txBody>
      </p:sp>
      <p:sp>
        <p:nvSpPr>
          <p:cNvPr id="3" name="object 4">
            <a:extLst>
              <a:ext uri="{FF2B5EF4-FFF2-40B4-BE49-F238E27FC236}">
                <a16:creationId xmlns:a16="http://schemas.microsoft.com/office/drawing/2014/main" id="{D675AB4F-843C-DE75-4634-F86F51899DF8}"/>
              </a:ext>
            </a:extLst>
          </p:cNvPr>
          <p:cNvSpPr/>
          <p:nvPr/>
        </p:nvSpPr>
        <p:spPr>
          <a:xfrm>
            <a:off x="165099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48E31410-3C2D-DAF3-AEAD-5D0BA2BA9591}"/>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9695A7AD-85E6-1DFC-EFE3-B800EE0FC5B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9527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EDC45-5DDB-734B-0955-872D9DDA0B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8A71C83-6827-A5B7-357C-2ED456DE9254}"/>
              </a:ext>
            </a:extLst>
          </p:cNvPr>
          <p:cNvSpPr txBox="1">
            <a:spLocks/>
          </p:cNvSpPr>
          <p:nvPr/>
        </p:nvSpPr>
        <p:spPr>
          <a:xfrm>
            <a:off x="41725" y="1252220"/>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Various </a:t>
            </a:r>
            <a:r>
              <a:rPr lang="en-US" sz="1400" kern="0" spc="-80" dirty="0" err="1">
                <a:solidFill>
                  <a:schemeClr val="accent2"/>
                </a:solidFill>
              </a:rPr>
              <a:t>Regularisation</a:t>
            </a:r>
            <a:r>
              <a:rPr lang="en-US" sz="1400" kern="0" spc="-80" dirty="0">
                <a:solidFill>
                  <a:schemeClr val="accent2"/>
                </a:solidFill>
              </a:rPr>
              <a:t> Techniques</a:t>
            </a:r>
          </a:p>
          <a:p>
            <a:r>
              <a:rPr lang="en-US" sz="1400" kern="0" spc="-80" dirty="0">
                <a:solidFill>
                  <a:schemeClr val="accent2"/>
                </a:solidFill>
              </a:rPr>
              <a:t>2. L2 Regularization (Ridge Regression):</a:t>
            </a:r>
          </a:p>
          <a:p>
            <a:r>
              <a:rPr lang="en-US" sz="1400" kern="0" spc="-80" dirty="0">
                <a:solidFill>
                  <a:schemeClr val="accent6"/>
                </a:solidFill>
              </a:rPr>
              <a:t>Adds a penalty equal to the squared magnitude of the coefficients to the loss function.</a:t>
            </a:r>
          </a:p>
          <a:p>
            <a:r>
              <a:rPr lang="en-US" sz="1400" kern="0" spc="-80" dirty="0">
                <a:solidFill>
                  <a:schemeClr val="accent6"/>
                </a:solidFill>
              </a:rPr>
              <a:t>Shrinks coefficients towards zero, but rarely to exactly zero, thus reducing their impact without eliminating features.</a:t>
            </a:r>
          </a:p>
          <a:p>
            <a:r>
              <a:rPr lang="en-US" sz="1400" kern="0" spc="-80" dirty="0">
                <a:solidFill>
                  <a:schemeClr val="accent2"/>
                </a:solidFill>
              </a:rPr>
              <a:t>3. Elastic Net Regularization:</a:t>
            </a:r>
          </a:p>
          <a:p>
            <a:r>
              <a:rPr lang="en-US" sz="1400" kern="0" spc="-80" dirty="0">
                <a:solidFill>
                  <a:schemeClr val="accent6"/>
                </a:solidFill>
              </a:rPr>
              <a:t>Combines both L1 and L2 regularization </a:t>
            </a:r>
            <a:r>
              <a:rPr lang="en-US" sz="1400" kern="0" spc="-80" dirty="0" err="1">
                <a:solidFill>
                  <a:schemeClr val="accent6"/>
                </a:solidFill>
              </a:rPr>
              <a:t>penalties.Useful</a:t>
            </a:r>
            <a:r>
              <a:rPr lang="en-US" sz="1400" kern="0" spc="-80" dirty="0">
                <a:solidFill>
                  <a:schemeClr val="accent6"/>
                </a:solidFill>
              </a:rPr>
              <a:t> when there are highly correlated features, offering the benefits of both feature selection (from L1) and coefficient shrinkage (from L2).</a:t>
            </a:r>
          </a:p>
          <a:p>
            <a:r>
              <a:rPr lang="en-US" sz="1400" kern="0" spc="-80" dirty="0">
                <a:solidFill>
                  <a:schemeClr val="accent2"/>
                </a:solidFill>
              </a:rPr>
              <a:t>4. Dropout (for Neural Networks):</a:t>
            </a:r>
          </a:p>
          <a:p>
            <a:r>
              <a:rPr lang="en-US" sz="1400" kern="0" spc="-80" dirty="0">
                <a:solidFill>
                  <a:schemeClr val="accent6"/>
                </a:solidFill>
              </a:rPr>
              <a:t>During training, randomly sets a fraction of neurons to zero at each </a:t>
            </a:r>
            <a:r>
              <a:rPr lang="en-US" sz="1400" kern="0" spc="-80" dirty="0" err="1">
                <a:solidFill>
                  <a:schemeClr val="accent6"/>
                </a:solidFill>
              </a:rPr>
              <a:t>update.Prevents</a:t>
            </a:r>
            <a:r>
              <a:rPr lang="en-US" sz="1400" kern="0" spc="-80" dirty="0">
                <a:solidFill>
                  <a:schemeClr val="accent6"/>
                </a:solidFill>
              </a:rPr>
              <a:t> complex co-adaptations between neurons and forces the network to learn more robust features.</a:t>
            </a:r>
          </a:p>
          <a:p>
            <a:r>
              <a:rPr lang="en-US" sz="1400" kern="0" spc="-80" dirty="0">
                <a:solidFill>
                  <a:schemeClr val="accent2"/>
                </a:solidFill>
              </a:rPr>
              <a:t>5. Early Stopping:</a:t>
            </a:r>
          </a:p>
          <a:p>
            <a:r>
              <a:rPr lang="en-US" sz="1400" kern="0" spc="-80" dirty="0">
                <a:solidFill>
                  <a:schemeClr val="accent6"/>
                </a:solidFill>
              </a:rPr>
              <a:t>Monitors the model's performance on a validation set during </a:t>
            </a:r>
            <a:r>
              <a:rPr lang="en-US" sz="1400" kern="0" spc="-80" dirty="0" err="1">
                <a:solidFill>
                  <a:schemeClr val="accent6"/>
                </a:solidFill>
              </a:rPr>
              <a:t>training.Stops</a:t>
            </a:r>
            <a:r>
              <a:rPr lang="en-US" sz="1400" kern="0" spc="-80" dirty="0">
                <a:solidFill>
                  <a:schemeClr val="accent6"/>
                </a:solidFill>
              </a:rPr>
              <a:t> training when the performance on the validation set starts to degrade, preventing the model from overfitting to the training data.</a:t>
            </a:r>
          </a:p>
          <a:p>
            <a:r>
              <a:rPr lang="en-US" sz="1400" kern="0" spc="-80" dirty="0">
                <a:solidFill>
                  <a:schemeClr val="accent2"/>
                </a:solidFill>
              </a:rPr>
              <a:t>6. Data Augmentation:</a:t>
            </a:r>
          </a:p>
          <a:p>
            <a:r>
              <a:rPr lang="en-US" sz="1400" kern="0" spc="-80" dirty="0">
                <a:solidFill>
                  <a:schemeClr val="accent6"/>
                </a:solidFill>
              </a:rPr>
              <a:t>Artificially increases the size and diversity of the training dataset by creating modified versions of existing data (e.g., rotating images, adding noise to audio).Helps the model learn more robust features and reduces reliance on specific training examples.</a:t>
            </a:r>
          </a:p>
          <a:p>
            <a:r>
              <a:rPr lang="en-US" sz="1400" kern="0" spc="-80" dirty="0">
                <a:solidFill>
                  <a:schemeClr val="accent2"/>
                </a:solidFill>
              </a:rPr>
              <a:t>7. Batch Normalization:</a:t>
            </a:r>
          </a:p>
          <a:p>
            <a:r>
              <a:rPr lang="en-US" sz="1400" kern="0" spc="-80" dirty="0">
                <a:solidFill>
                  <a:schemeClr val="accent6"/>
                </a:solidFill>
              </a:rPr>
              <a:t>Normalizes the inputs of each layer in a neural network, reducing internal covariate shift.</a:t>
            </a:r>
          </a:p>
          <a:p>
            <a:r>
              <a:rPr lang="en-US" sz="1400" kern="0" spc="-80" dirty="0">
                <a:solidFill>
                  <a:schemeClr val="accent6"/>
                </a:solidFill>
              </a:rPr>
              <a:t>Allows for higher learning rates and makes the training process more stable, indirectly acting as a</a:t>
            </a:r>
          </a:p>
          <a:p>
            <a:endParaRPr lang="en-US" sz="1400" kern="0" spc="-80" dirty="0">
              <a:solidFill>
                <a:schemeClr val="accent6"/>
              </a:solidFill>
            </a:endParaRPr>
          </a:p>
        </p:txBody>
      </p:sp>
      <p:sp>
        <p:nvSpPr>
          <p:cNvPr id="3" name="object 4">
            <a:extLst>
              <a:ext uri="{FF2B5EF4-FFF2-40B4-BE49-F238E27FC236}">
                <a16:creationId xmlns:a16="http://schemas.microsoft.com/office/drawing/2014/main" id="{1C853692-D184-EC07-F0D4-428C55EE5391}"/>
              </a:ext>
            </a:extLst>
          </p:cNvPr>
          <p:cNvSpPr/>
          <p:nvPr/>
        </p:nvSpPr>
        <p:spPr>
          <a:xfrm>
            <a:off x="1661159" y="113855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664D7CA6-8D22-CA69-5B00-88748EE6F946}"/>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7F1F7E79-FBD2-B1DF-065E-FC535CAECE6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48479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CA4F-1BC4-52AF-105D-174B5E4D5CE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FB37A3D-DA35-E2F2-ACF7-97ED3EBD8CDE}"/>
              </a:ext>
            </a:extLst>
          </p:cNvPr>
          <p:cNvSpPr txBox="1">
            <a:spLocks/>
          </p:cNvSpPr>
          <p:nvPr/>
        </p:nvSpPr>
        <p:spPr>
          <a:xfrm>
            <a:off x="41725" y="1351999"/>
            <a:ext cx="8624937" cy="48090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Various </a:t>
            </a:r>
            <a:r>
              <a:rPr lang="en-US" sz="1400" kern="0" spc="-80" dirty="0" err="1">
                <a:solidFill>
                  <a:schemeClr val="accent2"/>
                </a:solidFill>
              </a:rPr>
              <a:t>Regularisation</a:t>
            </a:r>
            <a:r>
              <a:rPr lang="en-US" sz="1400" kern="0" spc="-80" dirty="0">
                <a:solidFill>
                  <a:schemeClr val="accent2"/>
                </a:solidFill>
              </a:rPr>
              <a:t> Techniques</a:t>
            </a:r>
          </a:p>
          <a:p>
            <a:r>
              <a:rPr lang="en-US" sz="1400" kern="0" spc="-80" dirty="0" err="1">
                <a:solidFill>
                  <a:schemeClr val="accent6"/>
                </a:solidFill>
              </a:rPr>
              <a:t>regularizer</a:t>
            </a:r>
            <a:r>
              <a:rPr lang="en-US" sz="1400" kern="0" spc="-80" dirty="0">
                <a:solidFill>
                  <a:schemeClr val="accent6"/>
                </a:solidFill>
              </a:rPr>
              <a:t>.</a:t>
            </a:r>
            <a:endParaRPr lang="en-US" sz="1400" kern="0" spc="-80" dirty="0">
              <a:solidFill>
                <a:schemeClr val="accent2"/>
              </a:solidFill>
            </a:endParaRPr>
          </a:p>
          <a:p>
            <a:r>
              <a:rPr lang="en-US" sz="1400" kern="0" spc="-80" dirty="0">
                <a:solidFill>
                  <a:schemeClr val="accent2"/>
                </a:solidFill>
              </a:rPr>
              <a:t>8. Weight Decay:</a:t>
            </a:r>
          </a:p>
          <a:p>
            <a:r>
              <a:rPr lang="en-US" sz="1400" kern="0" spc="-80" dirty="0">
                <a:solidFill>
                  <a:schemeClr val="accent6"/>
                </a:solidFill>
              </a:rPr>
              <a:t>A form of L2 regularization specifically applied to the weights in neural networks, where weights are gradually reduced over time during training.</a:t>
            </a:r>
          </a:p>
          <a:p>
            <a:r>
              <a:rPr lang="en-US" sz="1400" kern="0" spc="-80" dirty="0">
                <a:solidFill>
                  <a:schemeClr val="accent2"/>
                </a:solidFill>
              </a:rPr>
              <a:t>9. Pruning (for Decision Trees and Ensembles):</a:t>
            </a:r>
          </a:p>
          <a:p>
            <a:r>
              <a:rPr lang="en-US" sz="1400" kern="0" spc="-80" dirty="0">
                <a:solidFill>
                  <a:schemeClr val="accent6"/>
                </a:solidFill>
              </a:rPr>
              <a:t>Reduces the complexity of tree-based models by removing branches or nodes that provide little predictive power.</a:t>
            </a:r>
          </a:p>
          <a:p>
            <a:r>
              <a:rPr lang="en-US" sz="1400" kern="0" spc="-80" dirty="0">
                <a:solidFill>
                  <a:schemeClr val="accent6"/>
                </a:solidFill>
              </a:rPr>
              <a:t>The choice of regularization technique and its specific parameters often depends on the type of model, the characteristics of the dataset, and the observed level of overfitting. Often, a combination of these techniques yields the best results. </a:t>
            </a:r>
          </a:p>
          <a:p>
            <a:endParaRPr lang="en-US" sz="1600" kern="0" spc="-80" dirty="0">
              <a:solidFill>
                <a:schemeClr val="accent2"/>
              </a:solidFill>
            </a:endParaRPr>
          </a:p>
          <a:p>
            <a:r>
              <a:rPr lang="en-US" sz="1600" kern="0" spc="-80" dirty="0">
                <a:solidFill>
                  <a:schemeClr val="accent2"/>
                </a:solidFill>
              </a:rPr>
              <a:t>For Further Exploration</a:t>
            </a:r>
          </a:p>
          <a:p>
            <a:r>
              <a:rPr lang="en-US" sz="1250" dirty="0">
                <a:hlinkClick r:id="rId2"/>
              </a:rPr>
              <a:t>Intuitive Understanding of Bias and Variance Trade-Off</a:t>
            </a:r>
            <a:endParaRPr lang="en-US" sz="1250" dirty="0"/>
          </a:p>
          <a:p>
            <a:r>
              <a:rPr lang="en-US" sz="1250" dirty="0">
                <a:hlinkClick r:id="rId3"/>
              </a:rPr>
              <a:t>Machine Learning Fundamentals: Bias and Variance</a:t>
            </a:r>
            <a:r>
              <a:rPr lang="en-US" sz="1250" kern="0" spc="-220" dirty="0">
                <a:solidFill>
                  <a:schemeClr val="accent6"/>
                </a:solidFill>
              </a:rPr>
              <a:t>. </a:t>
            </a:r>
          </a:p>
          <a:p>
            <a:r>
              <a:rPr lang="en-IN" sz="1250" dirty="0">
                <a:hlinkClick r:id="rId4"/>
              </a:rPr>
              <a:t>Understanding the Bias-Variance </a:t>
            </a:r>
            <a:r>
              <a:rPr lang="en-IN" sz="1250" dirty="0" err="1">
                <a:hlinkClick r:id="rId4"/>
              </a:rPr>
              <a:t>Tradeoff</a:t>
            </a:r>
            <a:endParaRPr lang="en-IN" sz="1250" dirty="0"/>
          </a:p>
          <a:p>
            <a:r>
              <a:rPr lang="en-US" sz="1250" dirty="0">
                <a:hlinkClick r:id="rId5"/>
              </a:rPr>
              <a:t>5 ways to achieve right balance of Bias and Variance in ML model</a:t>
            </a:r>
            <a:r>
              <a:rPr lang="en-US" sz="1250" dirty="0"/>
              <a:t> </a:t>
            </a:r>
          </a:p>
          <a:p>
            <a:r>
              <a:rPr lang="en-US" sz="1250" dirty="0">
                <a:hlinkClick r:id="rId6"/>
              </a:rPr>
              <a:t>How To Address Bias-Variance Tradeoff in Machine Learning</a:t>
            </a:r>
            <a:r>
              <a:rPr lang="en-US" sz="1250" dirty="0"/>
              <a:t> </a:t>
            </a:r>
            <a:endParaRPr lang="en-US" sz="1250" kern="0" spc="-220" dirty="0">
              <a:solidFill>
                <a:schemeClr val="accent6"/>
              </a:solidFill>
            </a:endParaRPr>
          </a:p>
          <a:p>
            <a:r>
              <a:rPr lang="en-US" sz="1250" dirty="0">
                <a:hlinkClick r:id="rId7"/>
              </a:rPr>
              <a:t>L2 vs L1 Regularization in Machine Learning</a:t>
            </a:r>
            <a:endParaRPr lang="en-US" sz="1250" dirty="0"/>
          </a:p>
          <a:p>
            <a:r>
              <a:rPr lang="en-IN" sz="1250" dirty="0">
                <a:hlinkClick r:id="rId8"/>
              </a:rPr>
              <a:t>Everything you wanted to know about Lasso &amp; Ridge Regression</a:t>
            </a:r>
            <a:r>
              <a:rPr lang="en-US" sz="1250" kern="0" spc="-220" dirty="0">
                <a:solidFill>
                  <a:schemeClr val="accent6"/>
                </a:solidFill>
              </a:rPr>
              <a:t> </a:t>
            </a:r>
            <a:endParaRPr lang="en-US" sz="1250" kern="0" spc="-80" dirty="0">
              <a:solidFill>
                <a:schemeClr val="accent6"/>
              </a:solidFill>
            </a:endParaRPr>
          </a:p>
          <a:p>
            <a:r>
              <a:rPr lang="en-IN" sz="1250" dirty="0">
                <a:hlinkClick r:id="rId9"/>
              </a:rPr>
              <a:t>Regularization (mathematics) - Wikipedia </a:t>
            </a:r>
            <a:endParaRPr lang="en-IN" sz="1250" dirty="0"/>
          </a:p>
          <a:p>
            <a:r>
              <a:rPr lang="en-US" sz="1250" dirty="0">
                <a:hlinkClick r:id="rId10"/>
              </a:rPr>
              <a:t>The-Regularization-Cookbook</a:t>
            </a:r>
            <a:r>
              <a:rPr lang="en-US" sz="1250" dirty="0"/>
              <a:t>.</a:t>
            </a:r>
          </a:p>
          <a:p>
            <a:endParaRPr lang="en-US" sz="1400" kern="0" spc="-80" dirty="0">
              <a:solidFill>
                <a:schemeClr val="accent6"/>
              </a:solidFill>
            </a:endParaRPr>
          </a:p>
        </p:txBody>
      </p:sp>
      <p:sp>
        <p:nvSpPr>
          <p:cNvPr id="3" name="object 4">
            <a:extLst>
              <a:ext uri="{FF2B5EF4-FFF2-40B4-BE49-F238E27FC236}">
                <a16:creationId xmlns:a16="http://schemas.microsoft.com/office/drawing/2014/main" id="{FFDD2995-865B-0E2D-1BF1-9F06269EA338}"/>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917FA8E4-BD22-1B2E-9602-A7694E69AFDA}"/>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C1F53CEA-83B8-F006-80DD-200E0A541F7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31062772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452FA-1627-DB0B-F068-F35F741699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26F778-ED7D-46E7-387D-68DC34BDF64E}"/>
              </a:ext>
            </a:extLst>
          </p:cNvPr>
          <p:cNvSpPr txBox="1">
            <a:spLocks/>
          </p:cNvSpPr>
          <p:nvPr/>
        </p:nvSpPr>
        <p:spPr>
          <a:xfrm>
            <a:off x="41725" y="1351999"/>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err="1">
                <a:solidFill>
                  <a:schemeClr val="accent2"/>
                </a:solidFill>
              </a:rPr>
              <a:t>HyperParameter</a:t>
            </a:r>
            <a:r>
              <a:rPr lang="en-US" sz="1400" kern="0" spc="-80" dirty="0">
                <a:solidFill>
                  <a:schemeClr val="accent2"/>
                </a:solidFill>
              </a:rPr>
              <a:t> tuning - </a:t>
            </a:r>
            <a:r>
              <a:rPr lang="en-US" sz="1400" kern="0" spc="-220" dirty="0">
                <a:solidFill>
                  <a:schemeClr val="accent6"/>
                </a:solidFill>
              </a:rPr>
              <a:t> </a:t>
            </a:r>
            <a:r>
              <a:rPr lang="en-US" sz="1400" kern="0" spc="-80" dirty="0">
                <a:solidFill>
                  <a:schemeClr val="accent6"/>
                </a:solidFill>
              </a:rPr>
              <a:t>Any ML process can be defined as </a:t>
            </a:r>
            <a:r>
              <a:rPr lang="en-US" sz="1400" kern="0" spc="-80" dirty="0">
                <a:solidFill>
                  <a:schemeClr val="accent2"/>
                </a:solidFill>
              </a:rPr>
              <a:t>ML = (Representation) + Objective/Training function + </a:t>
            </a:r>
            <a:r>
              <a:rPr lang="en-US" sz="1400" kern="0" spc="-80" dirty="0" err="1">
                <a:solidFill>
                  <a:schemeClr val="accent2"/>
                </a:solidFill>
              </a:rPr>
              <a:t>Optimisation</a:t>
            </a:r>
            <a:r>
              <a:rPr lang="en-US" sz="1400" kern="0" spc="-80" dirty="0">
                <a:solidFill>
                  <a:schemeClr val="accent2"/>
                </a:solidFill>
              </a:rPr>
              <a:t>(</a:t>
            </a:r>
            <a:r>
              <a:rPr lang="en-US" sz="1400" kern="0" spc="-80" dirty="0">
                <a:solidFill>
                  <a:schemeClr val="accent6"/>
                </a:solidFill>
              </a:rPr>
              <a:t>e.g. </a:t>
            </a:r>
            <a:r>
              <a:rPr lang="en-US" sz="1400" kern="0" spc="-80" dirty="0" err="1">
                <a:solidFill>
                  <a:schemeClr val="accent6"/>
                </a:solidFill>
              </a:rPr>
              <a:t>minimise</a:t>
            </a:r>
            <a:r>
              <a:rPr lang="en-US" sz="1400" kern="0" spc="-80" dirty="0">
                <a:solidFill>
                  <a:schemeClr val="accent6"/>
                </a:solidFill>
              </a:rPr>
              <a:t> some loss function or converge a function or find the MLE of some joint Probability Distribution) . As of now, just keep in mind that Representation is needed only for unstructured data(&amp; not needed for structured/tabular data) &amp; we need to do </a:t>
            </a:r>
            <a:r>
              <a:rPr lang="en-US" sz="1400" kern="0" spc="-80" dirty="0" err="1">
                <a:solidFill>
                  <a:schemeClr val="accent6"/>
                </a:solidFill>
              </a:rPr>
              <a:t>optimisation</a:t>
            </a:r>
            <a:r>
              <a:rPr lang="en-US" sz="1400" kern="0" spc="-80" dirty="0">
                <a:solidFill>
                  <a:schemeClr val="accent6"/>
                </a:solidFill>
              </a:rPr>
              <a:t> in any ML algo for any data(structured/unstructured) &amp; while doing that we use some parameters called </a:t>
            </a:r>
            <a:r>
              <a:rPr lang="en-US" sz="1400" kern="0" spc="-80" dirty="0" err="1">
                <a:solidFill>
                  <a:schemeClr val="accent6"/>
                </a:solidFill>
              </a:rPr>
              <a:t>HyperParameters</a:t>
            </a:r>
            <a:r>
              <a:rPr lang="en-US" sz="1400" kern="0" spc="-80" dirty="0">
                <a:solidFill>
                  <a:schemeClr val="accent6"/>
                </a:solidFill>
              </a:rPr>
              <a:t>(e.g. epoch size, batch size, learning rate </a:t>
            </a:r>
            <a:r>
              <a:rPr lang="en-US" sz="1400" kern="0" spc="-80" dirty="0" err="1">
                <a:solidFill>
                  <a:schemeClr val="accent6"/>
                </a:solidFill>
              </a:rPr>
              <a:t>etc</a:t>
            </a:r>
            <a:r>
              <a:rPr lang="en-US" sz="1400" kern="0" spc="-80" dirty="0">
                <a:solidFill>
                  <a:schemeClr val="accent6"/>
                </a:solidFill>
              </a:rPr>
              <a:t>). The difference between parameters &amp; hyper-parameters is that parameters are kind of outputs we want to find out to define the model properly while hyper-parameters are configurable input parameters that we use as part of the </a:t>
            </a:r>
            <a:r>
              <a:rPr lang="en-US" sz="1400" kern="0" spc="-80" dirty="0" err="1">
                <a:solidFill>
                  <a:schemeClr val="accent6"/>
                </a:solidFill>
              </a:rPr>
              <a:t>optimisation</a:t>
            </a:r>
            <a:r>
              <a:rPr lang="en-US" sz="1400" kern="0" spc="-80" dirty="0">
                <a:solidFill>
                  <a:schemeClr val="accent6"/>
                </a:solidFill>
              </a:rPr>
              <a:t> process.</a:t>
            </a:r>
          </a:p>
          <a:p>
            <a:endParaRPr lang="en-US" sz="1400" kern="0" spc="-80" dirty="0">
              <a:solidFill>
                <a:schemeClr val="accent2"/>
              </a:solidFill>
            </a:endParaRPr>
          </a:p>
          <a:p>
            <a:r>
              <a:rPr lang="en-US" sz="1400" kern="0" spc="-80" dirty="0">
                <a:solidFill>
                  <a:schemeClr val="accent2"/>
                </a:solidFill>
              </a:rPr>
              <a:t>Various Hyperparameter Tuning Techniques</a:t>
            </a:r>
          </a:p>
          <a:p>
            <a:r>
              <a:rPr lang="en-US" sz="1400" kern="0" spc="-80" dirty="0">
                <a:solidFill>
                  <a:schemeClr val="accent6"/>
                </a:solidFill>
              </a:rPr>
              <a:t>Hyperparameter tuning is a critical step in machine learning to optimize model performance. Several techniques are employed to find the best set of hyperparameters for a given model and dataset:</a:t>
            </a:r>
          </a:p>
          <a:p>
            <a:r>
              <a:rPr lang="en-US" sz="1400" kern="0" spc="-80" dirty="0">
                <a:solidFill>
                  <a:schemeClr val="accent2"/>
                </a:solidFill>
              </a:rPr>
              <a:t>Grid Search:</a:t>
            </a:r>
          </a:p>
          <a:p>
            <a:r>
              <a:rPr lang="en-US" sz="1400" kern="0" spc="-80" dirty="0">
                <a:solidFill>
                  <a:schemeClr val="accent6"/>
                </a:solidFill>
              </a:rPr>
              <a:t>This technique involves defining a set of hyperparameter values to explore for each hyperparameter.</a:t>
            </a:r>
          </a:p>
          <a:p>
            <a:r>
              <a:rPr lang="en-US" sz="1400" kern="0" spc="-80" dirty="0">
                <a:solidFill>
                  <a:schemeClr val="accent6"/>
                </a:solidFill>
              </a:rPr>
              <a:t>The model is then trained and evaluated for every possible combination of these values.</a:t>
            </a:r>
          </a:p>
          <a:p>
            <a:r>
              <a:rPr lang="en-US" sz="1400" kern="0" spc="-80" dirty="0">
                <a:solidFill>
                  <a:schemeClr val="accent6"/>
                </a:solidFill>
              </a:rPr>
              <a:t>The combination yielding the best performance metric (e.g., accuracy, F1-score) is selected.</a:t>
            </a:r>
          </a:p>
          <a:p>
            <a:r>
              <a:rPr lang="en-US" sz="1400" kern="0" spc="-80" dirty="0">
                <a:solidFill>
                  <a:schemeClr val="accent2"/>
                </a:solidFill>
              </a:rPr>
              <a:t>Pros: </a:t>
            </a:r>
            <a:r>
              <a:rPr lang="en-US" sz="1400" kern="0" spc="-80" dirty="0">
                <a:solidFill>
                  <a:schemeClr val="accent6"/>
                </a:solidFill>
              </a:rPr>
              <a:t>Thorough and guarantees finding the best combination within the defined grid.</a:t>
            </a:r>
          </a:p>
          <a:p>
            <a:r>
              <a:rPr lang="en-US" sz="1400" kern="0" spc="-80" dirty="0">
                <a:solidFill>
                  <a:schemeClr val="accent2"/>
                </a:solidFill>
              </a:rPr>
              <a:t>Cons:</a:t>
            </a:r>
            <a:r>
              <a:rPr lang="en-US" sz="1400" kern="0" spc="-80" dirty="0">
                <a:solidFill>
                  <a:schemeClr val="accent6"/>
                </a:solidFill>
              </a:rPr>
              <a:t> Computationally expensive, especially with a large number of hyperparameters or a wide range of values.</a:t>
            </a:r>
          </a:p>
          <a:p>
            <a:endParaRPr lang="en-US" sz="1400" kern="0" spc="-80" dirty="0">
              <a:solidFill>
                <a:schemeClr val="accent6"/>
              </a:solidFill>
            </a:endParaRPr>
          </a:p>
        </p:txBody>
      </p:sp>
      <p:sp>
        <p:nvSpPr>
          <p:cNvPr id="3" name="object 4">
            <a:extLst>
              <a:ext uri="{FF2B5EF4-FFF2-40B4-BE49-F238E27FC236}">
                <a16:creationId xmlns:a16="http://schemas.microsoft.com/office/drawing/2014/main" id="{C300A149-EE3D-A9C9-7714-8AD4043CBF63}"/>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299122F6-8A4E-1B29-22AB-0870934530E2}"/>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92F41B22-4362-B294-C2B0-A629F826AC8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47144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FCFB2-0B31-7CE6-ADC3-243B7AF3C5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6849A4-5B44-49D8-5C9E-F2ECE7DBA744}"/>
              </a:ext>
            </a:extLst>
          </p:cNvPr>
          <p:cNvSpPr txBox="1">
            <a:spLocks/>
          </p:cNvSpPr>
          <p:nvPr/>
        </p:nvSpPr>
        <p:spPr>
          <a:xfrm>
            <a:off x="41725" y="1351999"/>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Various Hyperparameter Tuning Techniques</a:t>
            </a:r>
          </a:p>
          <a:p>
            <a:r>
              <a:rPr lang="en-US" sz="1400" kern="0" spc="-80" dirty="0">
                <a:solidFill>
                  <a:schemeClr val="accent2"/>
                </a:solidFill>
              </a:rPr>
              <a:t>Random Search:</a:t>
            </a:r>
          </a:p>
          <a:p>
            <a:r>
              <a:rPr lang="en-US" sz="1400" kern="0" spc="-80" dirty="0">
                <a:solidFill>
                  <a:schemeClr val="accent6"/>
                </a:solidFill>
              </a:rPr>
              <a:t>Instead of exhaustively trying all combinations, Random Search samples hyperparameter values randomly from a defined distribution for each </a:t>
            </a:r>
            <a:r>
              <a:rPr lang="en-US" sz="1400" kern="0" spc="-80" dirty="0" err="1">
                <a:solidFill>
                  <a:schemeClr val="accent6"/>
                </a:solidFill>
              </a:rPr>
              <a:t>hyperparameter.This</a:t>
            </a:r>
            <a:r>
              <a:rPr lang="en-US" sz="1400" kern="0" spc="-80" dirty="0">
                <a:solidFill>
                  <a:schemeClr val="accent6"/>
                </a:solidFill>
              </a:rPr>
              <a:t> allows for a more efficient exploration of the search space, often finding good solutions faster than Grid Search, especially in high-dimensional spaces.</a:t>
            </a:r>
          </a:p>
          <a:p>
            <a:r>
              <a:rPr lang="en-US" sz="1400" kern="0" spc="-80" dirty="0">
                <a:solidFill>
                  <a:schemeClr val="accent2"/>
                </a:solidFill>
              </a:rPr>
              <a:t>Pros: </a:t>
            </a:r>
            <a:r>
              <a:rPr lang="en-US" sz="1400" kern="0" spc="-80" dirty="0">
                <a:solidFill>
                  <a:schemeClr val="accent6"/>
                </a:solidFill>
              </a:rPr>
              <a:t>More efficient than Grid Search for large search spaces, often finds good solutions quickly. </a:t>
            </a:r>
          </a:p>
          <a:p>
            <a:r>
              <a:rPr lang="en-US" sz="1400" kern="0" spc="-80" dirty="0">
                <a:solidFill>
                  <a:schemeClr val="accent2"/>
                </a:solidFill>
              </a:rPr>
              <a:t>Cons: </a:t>
            </a:r>
            <a:r>
              <a:rPr lang="en-US" sz="1400" kern="0" spc="-80" dirty="0">
                <a:solidFill>
                  <a:schemeClr val="accent6"/>
                </a:solidFill>
              </a:rPr>
              <a:t>Does not guarantee finding the absolute best combination, as it relies on random sampling.</a:t>
            </a:r>
          </a:p>
          <a:p>
            <a:r>
              <a:rPr lang="en-US" sz="1400" kern="0" spc="-80" dirty="0">
                <a:solidFill>
                  <a:schemeClr val="accent2"/>
                </a:solidFill>
              </a:rPr>
              <a:t>Bayesian Optimization:</a:t>
            </a:r>
          </a:p>
          <a:p>
            <a:r>
              <a:rPr lang="en-US" sz="1400" kern="0" spc="-80" dirty="0">
                <a:solidFill>
                  <a:schemeClr val="accent6"/>
                </a:solidFill>
              </a:rPr>
              <a:t>This method uses a probabilistic model (e.g., Gaussian Process) to model the relationship between hyperparameters and the objective function (e.g., validation loss).It iteratively selects the next set of hyperparameters to evaluate based on the model's predictions and uncertainty, aiming to find the optimum with fewer evaluations.</a:t>
            </a:r>
          </a:p>
          <a:p>
            <a:r>
              <a:rPr lang="en-US" sz="1400" kern="0" spc="-80" dirty="0">
                <a:solidFill>
                  <a:schemeClr val="accent2"/>
                </a:solidFill>
              </a:rPr>
              <a:t>Pros: </a:t>
            </a:r>
            <a:r>
              <a:rPr lang="en-US" sz="1400" kern="0" spc="-80" dirty="0">
                <a:solidFill>
                  <a:schemeClr val="accent6"/>
                </a:solidFill>
              </a:rPr>
              <a:t>Efficient for complex search spaces and typically requires fewer iterations than Grid or Random Search. </a:t>
            </a:r>
          </a:p>
          <a:p>
            <a:r>
              <a:rPr lang="en-US" sz="1400" kern="0" spc="-80" dirty="0">
                <a:solidFill>
                  <a:schemeClr val="accent2"/>
                </a:solidFill>
              </a:rPr>
              <a:t>Cons:</a:t>
            </a:r>
            <a:r>
              <a:rPr lang="en-US" sz="1400" kern="0" spc="-80" dirty="0">
                <a:solidFill>
                  <a:schemeClr val="accent6"/>
                </a:solidFill>
              </a:rPr>
              <a:t> Can be more complex to implement and computationally more demanding per iteration than simpler methods.</a:t>
            </a:r>
          </a:p>
          <a:p>
            <a:r>
              <a:rPr lang="en-US" sz="1400" kern="0" spc="-80" dirty="0">
                <a:solidFill>
                  <a:schemeClr val="accent2"/>
                </a:solidFill>
              </a:rPr>
              <a:t>Genetic Algorithms (Evolutionary Algorithms):</a:t>
            </a:r>
          </a:p>
          <a:p>
            <a:r>
              <a:rPr lang="en-US" sz="1400" kern="0" spc="-80" dirty="0">
                <a:solidFill>
                  <a:schemeClr val="accent6"/>
                </a:solidFill>
              </a:rPr>
              <a:t>Inspired by natural selection, these algorithms maintain a "population" of hyperparameter combinations.</a:t>
            </a:r>
          </a:p>
          <a:p>
            <a:r>
              <a:rPr lang="en-US" sz="1400" kern="0" spc="-80" dirty="0">
                <a:solidFill>
                  <a:schemeClr val="accent6"/>
                </a:solidFill>
              </a:rPr>
              <a:t>Through processes like selection, crossover, and mutation, new generations of hyperparameter sets are created, aiming to improve performance over time.</a:t>
            </a:r>
          </a:p>
          <a:p>
            <a:endParaRPr lang="en-US" sz="1400" kern="0" spc="-80" dirty="0">
              <a:solidFill>
                <a:schemeClr val="accent6"/>
              </a:solidFill>
            </a:endParaRPr>
          </a:p>
        </p:txBody>
      </p:sp>
      <p:sp>
        <p:nvSpPr>
          <p:cNvPr id="3" name="object 4">
            <a:extLst>
              <a:ext uri="{FF2B5EF4-FFF2-40B4-BE49-F238E27FC236}">
                <a16:creationId xmlns:a16="http://schemas.microsoft.com/office/drawing/2014/main" id="{EDACA4CC-9C43-0CE9-C4C4-73174407CFA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70AD18C4-3BA0-20C8-E7B2-666E1530C15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6A28B911-60C6-5803-3F1A-06D39F4EA72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14694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DA80A-D192-6824-1F84-5A83FCC847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46C7DD-140C-FAC4-F8D7-F2C0B1F71B6E}"/>
              </a:ext>
            </a:extLst>
          </p:cNvPr>
          <p:cNvSpPr txBox="1">
            <a:spLocks/>
          </p:cNvSpPr>
          <p:nvPr/>
        </p:nvSpPr>
        <p:spPr>
          <a:xfrm>
            <a:off x="41725" y="1351999"/>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Various Hyperparameter Tuning Techniques</a:t>
            </a:r>
          </a:p>
          <a:p>
            <a:r>
              <a:rPr lang="en-US" sz="1400" kern="0" spc="-80" dirty="0">
                <a:solidFill>
                  <a:schemeClr val="accent2"/>
                </a:solidFill>
              </a:rPr>
              <a:t>Pros: </a:t>
            </a:r>
            <a:r>
              <a:rPr lang="en-US" sz="1400" kern="0" spc="-80" dirty="0">
                <a:solidFill>
                  <a:schemeClr val="accent6"/>
                </a:solidFill>
              </a:rPr>
              <a:t>Suitable for highly complex search spaces and can explore non-linear relationships between hyperparameters.</a:t>
            </a:r>
          </a:p>
          <a:p>
            <a:r>
              <a:rPr lang="en-US" sz="1400" kern="0" spc="-80" dirty="0">
                <a:solidFill>
                  <a:schemeClr val="accent2"/>
                </a:solidFill>
              </a:rPr>
              <a:t>Cons:</a:t>
            </a:r>
            <a:r>
              <a:rPr lang="en-US" sz="1400" kern="0" spc="-80" dirty="0">
                <a:solidFill>
                  <a:schemeClr val="accent6"/>
                </a:solidFill>
              </a:rPr>
              <a:t> Can be computationally intensive and require careful tuning of the algorithm's own parameters.</a:t>
            </a:r>
          </a:p>
          <a:p>
            <a:r>
              <a:rPr lang="en-US" sz="1400" kern="0" spc="-80" dirty="0">
                <a:solidFill>
                  <a:schemeClr val="accent2"/>
                </a:solidFill>
              </a:rPr>
              <a:t>Hyperband:</a:t>
            </a:r>
          </a:p>
          <a:p>
            <a:r>
              <a:rPr lang="en-US" sz="1400" kern="0" spc="-80" dirty="0">
                <a:solidFill>
                  <a:schemeClr val="accent6"/>
                </a:solidFill>
              </a:rPr>
              <a:t>This technique is designed for efficient resource allocation during hyperparameter optimization.</a:t>
            </a:r>
          </a:p>
          <a:p>
            <a:r>
              <a:rPr lang="en-US" sz="1400" kern="0" spc="-80" dirty="0">
                <a:solidFill>
                  <a:schemeClr val="accent6"/>
                </a:solidFill>
              </a:rPr>
              <a:t>It adaptively allocates resources (e.g., training epochs) to promising hyperparameter configurations, discarding poorly performing ones early on.</a:t>
            </a:r>
          </a:p>
          <a:p>
            <a:r>
              <a:rPr lang="en-US" sz="1400" kern="0" spc="-80" dirty="0">
                <a:solidFill>
                  <a:schemeClr val="accent2"/>
                </a:solidFill>
              </a:rPr>
              <a:t>Pros: </a:t>
            </a:r>
            <a:r>
              <a:rPr lang="en-US" sz="1400" kern="0" spc="-80" dirty="0">
                <a:solidFill>
                  <a:schemeClr val="accent6"/>
                </a:solidFill>
              </a:rPr>
              <a:t>Efficiently allocates resources, making it suitable for scenarios with limited computational resources or time. </a:t>
            </a:r>
          </a:p>
          <a:p>
            <a:r>
              <a:rPr lang="en-US" sz="1400" kern="0" spc="-80" dirty="0">
                <a:solidFill>
                  <a:schemeClr val="accent2"/>
                </a:solidFill>
              </a:rPr>
              <a:t>Cons: </a:t>
            </a:r>
            <a:r>
              <a:rPr lang="en-US" sz="1400" kern="0" spc="-80" dirty="0">
                <a:solidFill>
                  <a:schemeClr val="accent6"/>
                </a:solidFill>
              </a:rPr>
              <a:t>Can be more complex to set up than simpler methods.</a:t>
            </a:r>
          </a:p>
          <a:p>
            <a:r>
              <a:rPr lang="en-US" sz="1400" kern="0" spc="-80" dirty="0">
                <a:solidFill>
                  <a:schemeClr val="accent6"/>
                </a:solidFill>
              </a:rPr>
              <a:t>Choosing the right technique depends on factors such as the complexity of the model, the size of the hyperparameter search space, and available computational resources. Often, a combination of these techniques or a more advanced library like </a:t>
            </a:r>
            <a:r>
              <a:rPr lang="en-US" sz="1400" kern="0" spc="-80" dirty="0" err="1">
                <a:solidFill>
                  <a:schemeClr val="accent6"/>
                </a:solidFill>
              </a:rPr>
              <a:t>Optuna</a:t>
            </a:r>
            <a:r>
              <a:rPr lang="en-US" sz="1400" kern="0" spc="-80" dirty="0">
                <a:solidFill>
                  <a:schemeClr val="accent6"/>
                </a:solidFill>
              </a:rPr>
              <a:t> or </a:t>
            </a:r>
            <a:r>
              <a:rPr lang="en-US" sz="1400" kern="0" spc="-80" dirty="0" err="1">
                <a:solidFill>
                  <a:schemeClr val="accent6"/>
                </a:solidFill>
              </a:rPr>
              <a:t>HyperOpt</a:t>
            </a:r>
            <a:r>
              <a:rPr lang="en-US" sz="1400" kern="0" spc="-80" dirty="0">
                <a:solidFill>
                  <a:schemeClr val="accent6"/>
                </a:solidFill>
              </a:rPr>
              <a:t> is used for practical hyperparameter tuning.</a:t>
            </a:r>
          </a:p>
          <a:p>
            <a:r>
              <a:rPr lang="en-US" sz="1400" kern="0" spc="-80" dirty="0">
                <a:solidFill>
                  <a:schemeClr val="accent2"/>
                </a:solidFill>
              </a:rPr>
              <a:t>For Further Exploration</a:t>
            </a:r>
          </a:p>
          <a:p>
            <a:r>
              <a:rPr lang="en-US" sz="1400" dirty="0">
                <a:hlinkClick r:id="rId2"/>
              </a:rPr>
              <a:t>ML Optimization Methods and Techniques</a:t>
            </a:r>
            <a:endParaRPr lang="en-US" sz="1400" dirty="0"/>
          </a:p>
          <a:p>
            <a:r>
              <a:rPr lang="en-US" sz="1400" dirty="0">
                <a:hlinkClick r:id="rId3"/>
              </a:rPr>
              <a:t>A Gentle Introduction to Premature Convergence</a:t>
            </a:r>
            <a:endParaRPr lang="en-US" sz="1400" dirty="0"/>
          </a:p>
          <a:p>
            <a:r>
              <a:rPr lang="en-US" sz="1400" dirty="0">
                <a:hlinkClick r:id="rId4"/>
              </a:rPr>
              <a:t>Difference Between a Batch and an Epoch in a Neural Network</a:t>
            </a:r>
            <a:r>
              <a:rPr lang="en-US" sz="1400" dirty="0"/>
              <a:t> </a:t>
            </a:r>
            <a:endParaRPr lang="en-US" sz="1400" kern="0" spc="-220" dirty="0">
              <a:solidFill>
                <a:schemeClr val="accent6"/>
              </a:solidFill>
            </a:endParaRPr>
          </a:p>
          <a:p>
            <a:r>
              <a:rPr lang="en-US" sz="1400" dirty="0">
                <a:hlinkClick r:id="rId5"/>
              </a:rPr>
              <a:t>How to Configure the Learning Rate When Training Deep Learning Neural Networks</a:t>
            </a:r>
            <a:endParaRPr lang="en-US" sz="1400" dirty="0"/>
          </a:p>
          <a:p>
            <a:r>
              <a:rPr lang="en-IN" sz="1400" dirty="0">
                <a:hlinkClick r:id="rId6"/>
              </a:rPr>
              <a:t>Hyperparameter-Tuning-with-Python</a:t>
            </a:r>
            <a:endParaRPr lang="en-IN" sz="1400" dirty="0"/>
          </a:p>
          <a:p>
            <a:endParaRPr lang="en-IN" sz="1400" dirty="0"/>
          </a:p>
          <a:p>
            <a:endParaRPr lang="en-IN" sz="1400" dirty="0"/>
          </a:p>
        </p:txBody>
      </p:sp>
      <p:sp>
        <p:nvSpPr>
          <p:cNvPr id="3" name="object 4">
            <a:extLst>
              <a:ext uri="{FF2B5EF4-FFF2-40B4-BE49-F238E27FC236}">
                <a16:creationId xmlns:a16="http://schemas.microsoft.com/office/drawing/2014/main" id="{58A1ED21-F1FE-CE21-FE21-B96D6B839AA8}"/>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5">
            <a:extLst>
              <a:ext uri="{FF2B5EF4-FFF2-40B4-BE49-F238E27FC236}">
                <a16:creationId xmlns:a16="http://schemas.microsoft.com/office/drawing/2014/main" id="{1D3E9AE9-5FCE-78DB-EC81-8EF5D50E379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8" name="Diagram 7">
            <a:extLst>
              <a:ext uri="{FF2B5EF4-FFF2-40B4-BE49-F238E27FC236}">
                <a16:creationId xmlns:a16="http://schemas.microsoft.com/office/drawing/2014/main" id="{E7D5CDB9-D2F6-2191-A54B-D8FF61A93F8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110595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DA7B6-0525-350B-971A-4A0D94A6F25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137F69-DC06-B706-3A41-08EC8CB98FC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F79CBE4C-7B12-67C9-B864-EB9CA43E267E}"/>
              </a:ext>
            </a:extLst>
          </p:cNvPr>
          <p:cNvSpPr txBox="1"/>
          <p:nvPr/>
        </p:nvSpPr>
        <p:spPr>
          <a:xfrm>
            <a:off x="0" y="1231642"/>
            <a:ext cx="8991600" cy="2769989"/>
          </a:xfrm>
          <a:prstGeom prst="rect">
            <a:avLst/>
          </a:prstGeom>
          <a:noFill/>
        </p:spPr>
        <p:txBody>
          <a:bodyPr wrap="square">
            <a:spAutoFit/>
          </a:bodyPr>
          <a:lstStyle/>
          <a:p>
            <a:pPr marL="12700" marR="5080"/>
            <a:r>
              <a:rPr lang="en-US" sz="1500" b="1" kern="0" spc="-220" dirty="0">
                <a:solidFill>
                  <a:schemeClr val="accent2"/>
                </a:solidFill>
                <a:latin typeface="Lucida Sans"/>
                <a:ea typeface="+mj-ea"/>
                <a:hlinkClick r:id="rId2">
                  <a:extLst>
                    <a:ext uri="{A12FA001-AC4F-418D-AE19-62706E023703}">
                      <ahyp:hlinkClr xmlns:ahyp="http://schemas.microsoft.com/office/drawing/2018/hyperlinkcolor" val="tx"/>
                    </a:ext>
                  </a:extLst>
                </a:hlinkClick>
              </a:rPr>
              <a:t>For Further Exploration - </a:t>
            </a:r>
          </a:p>
          <a:p>
            <a:pPr marL="12700" marR="5080"/>
            <a:r>
              <a:rPr lang="en-US" sz="1600" dirty="0">
                <a:hlinkClick r:id="rId2"/>
              </a:rPr>
              <a:t>Steps in Machine Learning: A Comprehensive Guide</a:t>
            </a:r>
            <a:endParaRPr lang="en-US" sz="1600" dirty="0"/>
          </a:p>
          <a:p>
            <a:pPr marL="12700" marR="5080"/>
            <a:r>
              <a:rPr lang="en-US" sz="1600" dirty="0">
                <a:hlinkClick r:id="rId3"/>
              </a:rPr>
              <a:t>4 Stages of the Machine Learning (ML) Modeling Cycle</a:t>
            </a:r>
            <a:endParaRPr lang="en-US" sz="1600" dirty="0"/>
          </a:p>
          <a:p>
            <a:pPr marL="12700" marR="5080"/>
            <a:r>
              <a:rPr lang="en-US" sz="1600" dirty="0">
                <a:hlinkClick r:id="rId4"/>
              </a:rPr>
              <a:t>About-loss-and-loss-functions</a:t>
            </a:r>
            <a:endParaRPr lang="en-US" sz="1600" dirty="0"/>
          </a:p>
          <a:p>
            <a:pPr marL="12700" marR="5080"/>
            <a:r>
              <a:rPr lang="en-US" sz="1600" dirty="0">
                <a:hlinkClick r:id="rId5"/>
              </a:rPr>
              <a:t>The-Little-Book-of-ML-Metrics</a:t>
            </a:r>
            <a:r>
              <a:rPr lang="en-US" sz="1600" b="0" i="0" dirty="0">
                <a:solidFill>
                  <a:srgbClr val="001D35"/>
                </a:solidFill>
                <a:effectLst/>
                <a:latin typeface="Google Sans"/>
              </a:rPr>
              <a:t> </a:t>
            </a:r>
          </a:p>
          <a:p>
            <a:pPr marL="12700" marR="5080"/>
            <a:r>
              <a:rPr lang="en-US" sz="1600" dirty="0">
                <a:hlinkClick r:id="rId6"/>
              </a:rPr>
              <a:t>Calibration of Machine Learning Models</a:t>
            </a:r>
            <a:endParaRPr lang="en-US" sz="1600" dirty="0"/>
          </a:p>
          <a:p>
            <a:pPr marL="12700" marR="5080"/>
            <a:r>
              <a:rPr lang="en-US" sz="1600" dirty="0">
                <a:hlinkClick r:id="rId7"/>
              </a:rPr>
              <a:t>How to select a machine learning algorithm - Azure Machine Learning | Microsoft Learn</a:t>
            </a:r>
            <a:endParaRPr lang="en-US" sz="1600" dirty="0"/>
          </a:p>
          <a:p>
            <a:pPr marL="12700" marR="5080"/>
            <a:r>
              <a:rPr lang="en-US" sz="1600" dirty="0">
                <a:hlinkClick r:id="rId8"/>
              </a:rPr>
              <a:t>Machine Learning Algorithm Cheat Sheet</a:t>
            </a:r>
            <a:endParaRPr lang="en-US" sz="1600" dirty="0"/>
          </a:p>
          <a:p>
            <a:pPr marL="12700" marR="5080"/>
            <a:r>
              <a:rPr lang="en-US" sz="1600" dirty="0">
                <a:hlinkClick r:id="rId9"/>
              </a:rPr>
              <a:t>Hands-On-Simulation-Modeling-with-Python</a:t>
            </a:r>
            <a:endParaRPr lang="en-US" sz="1600" dirty="0"/>
          </a:p>
          <a:p>
            <a:pPr marL="12700" marR="5080"/>
            <a:r>
              <a:rPr lang="en-US" sz="1600" dirty="0" err="1">
                <a:hlinkClick r:id="rId10"/>
              </a:rPr>
              <a:t>PracticalSimulations</a:t>
            </a:r>
            <a:endParaRPr lang="en-US" sz="1600" dirty="0"/>
          </a:p>
          <a:p>
            <a:pPr algn="l"/>
            <a:endParaRPr lang="en-US" sz="1500" b="1" kern="0" spc="-220" dirty="0">
              <a:solidFill>
                <a:schemeClr val="accent6"/>
              </a:solidFill>
              <a:latin typeface="Lucida Sans"/>
              <a:ea typeface="+mj-ea"/>
            </a:endParaRPr>
          </a:p>
        </p:txBody>
      </p:sp>
      <p:sp>
        <p:nvSpPr>
          <p:cNvPr id="8" name="object 4">
            <a:extLst>
              <a:ext uri="{FF2B5EF4-FFF2-40B4-BE49-F238E27FC236}">
                <a16:creationId xmlns:a16="http://schemas.microsoft.com/office/drawing/2014/main" id="{0BA821EA-C82A-E3D7-E1FE-F20AC3B8B54C}"/>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9EEDA4C-FD98-9937-51E5-2D9CDEA2F82C}"/>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972965D-E137-76A3-F871-F7E7AE315344}"/>
              </a:ext>
            </a:extLst>
          </p:cNvPr>
          <p:cNvGraphicFramePr/>
          <p:nvPr>
            <p:extLst>
              <p:ext uri="{D42A27DB-BD31-4B8C-83A1-F6EECF244321}">
                <p14:modId xmlns:p14="http://schemas.microsoft.com/office/powerpoint/2010/main" val="405700573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6835581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0988-FA91-EE96-B5AD-0AFE023E4B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F87B8D2-3F8D-A8E0-86D0-C3D6EBF85EC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A0D13D70-C4F5-2127-C8BD-C516987FACC6}"/>
              </a:ext>
            </a:extLst>
          </p:cNvPr>
          <p:cNvSpPr txBox="1"/>
          <p:nvPr/>
        </p:nvSpPr>
        <p:spPr>
          <a:xfrm>
            <a:off x="0" y="1231642"/>
            <a:ext cx="8991600" cy="4955203"/>
          </a:xfrm>
          <a:prstGeom prst="rect">
            <a:avLst/>
          </a:prstGeom>
          <a:noFill/>
        </p:spPr>
        <p:txBody>
          <a:bodyPr wrap="square">
            <a:spAutoFit/>
          </a:bodyPr>
          <a:lstStyle/>
          <a:p>
            <a:pPr algn="l">
              <a:buNone/>
            </a:pPr>
            <a:r>
              <a:rPr lang="en-US" sz="1050" b="1" kern="0" spc="-80" dirty="0">
                <a:solidFill>
                  <a:schemeClr val="accent6"/>
                </a:solidFill>
                <a:latin typeface="Lucida Sans"/>
                <a:ea typeface="+mj-ea"/>
              </a:rPr>
              <a:t>In Machine Learning (ML), experiments and their design are crucial for optimizing model performance and understanding their behavior. Design of Experiments (DOE) helps systematically explore and identify the best combinations of hyperparameters, leading to improved model accuracy. ML experiments also involve comparing different algorithms and fine-tuning models to ensure they generalize well to unseen data. </a:t>
            </a:r>
          </a:p>
          <a:p>
            <a:pPr algn="l">
              <a:buNone/>
            </a:pPr>
            <a:r>
              <a:rPr lang="en-US" sz="1050" b="1" kern="0" spc="-80" dirty="0">
                <a:solidFill>
                  <a:schemeClr val="accent2"/>
                </a:solidFill>
                <a:latin typeface="Lucida Sans"/>
                <a:ea typeface="+mj-ea"/>
              </a:rPr>
              <a:t>How Experiments Are Used in ML:</a:t>
            </a:r>
          </a:p>
          <a:p>
            <a:pPr algn="l">
              <a:buNone/>
            </a:pPr>
            <a:r>
              <a:rPr lang="en-US" sz="1050" b="1" kern="0" spc="-80" dirty="0">
                <a:solidFill>
                  <a:schemeClr val="accent2"/>
                </a:solidFill>
                <a:latin typeface="Lucida Sans"/>
                <a:ea typeface="+mj-ea"/>
              </a:rPr>
              <a:t>Optimizing Model Performance: </a:t>
            </a:r>
            <a:r>
              <a:rPr lang="en-US" sz="1050" b="1" kern="0" spc="-80" dirty="0">
                <a:solidFill>
                  <a:schemeClr val="accent6"/>
                </a:solidFill>
                <a:latin typeface="Lucida Sans"/>
                <a:ea typeface="+mj-ea"/>
              </a:rPr>
              <a:t>DOE techniques help systematically explore the hyperparameter space to find the optimal configuration for a given model. </a:t>
            </a:r>
          </a:p>
          <a:p>
            <a:pPr algn="l">
              <a:buNone/>
            </a:pPr>
            <a:r>
              <a:rPr lang="en-US" sz="1050" b="1" kern="0" spc="-80" dirty="0">
                <a:solidFill>
                  <a:schemeClr val="accent2"/>
                </a:solidFill>
                <a:latin typeface="Lucida Sans"/>
                <a:ea typeface="+mj-ea"/>
              </a:rPr>
              <a:t>Comparing Algorithms: </a:t>
            </a:r>
            <a:r>
              <a:rPr lang="en-US" sz="1050" b="1" kern="0" spc="-80" dirty="0">
                <a:solidFill>
                  <a:schemeClr val="accent6"/>
                </a:solidFill>
                <a:latin typeface="Lucida Sans"/>
                <a:ea typeface="+mj-ea"/>
              </a:rPr>
              <a:t>Experiments allow for comparing the effectiveness of different machine learning algorithms and methods. </a:t>
            </a:r>
          </a:p>
          <a:p>
            <a:pPr algn="l">
              <a:buNone/>
            </a:pPr>
            <a:r>
              <a:rPr lang="en-US" sz="1050" b="1" kern="0" spc="-80" dirty="0">
                <a:solidFill>
                  <a:schemeClr val="accent2"/>
                </a:solidFill>
                <a:latin typeface="Lucida Sans"/>
                <a:ea typeface="+mj-ea"/>
              </a:rPr>
              <a:t>Evaluating Model Generalization:</a:t>
            </a:r>
            <a:r>
              <a:rPr lang="en-US" sz="1050" b="1" kern="0" spc="-80" dirty="0">
                <a:solidFill>
                  <a:schemeClr val="accent6"/>
                </a:solidFill>
                <a:latin typeface="Lucida Sans"/>
                <a:ea typeface="+mj-ea"/>
              </a:rPr>
              <a:t> Cross-validation and other techniques are used in experiments to assess how well a model generalizes to new, unseen data. </a:t>
            </a:r>
          </a:p>
          <a:p>
            <a:pPr algn="l">
              <a:buNone/>
            </a:pPr>
            <a:r>
              <a:rPr lang="en-US" sz="1050" b="1" kern="0" spc="-80" dirty="0">
                <a:solidFill>
                  <a:schemeClr val="accent2"/>
                </a:solidFill>
                <a:latin typeface="Lucida Sans"/>
                <a:ea typeface="+mj-ea"/>
              </a:rPr>
              <a:t>Fine-tuning Models: </a:t>
            </a:r>
            <a:r>
              <a:rPr lang="en-US" sz="1050" b="1" kern="0" spc="-80" dirty="0">
                <a:solidFill>
                  <a:schemeClr val="accent6"/>
                </a:solidFill>
                <a:latin typeface="Lucida Sans"/>
                <a:ea typeface="+mj-ea"/>
              </a:rPr>
              <a:t>Experiments help in fine-tuning model parameters and architectures to improve performance. </a:t>
            </a:r>
          </a:p>
          <a:p>
            <a:pPr algn="l">
              <a:buNone/>
            </a:pPr>
            <a:r>
              <a:rPr lang="en-US" sz="1050" b="1" kern="0" spc="-80" dirty="0">
                <a:solidFill>
                  <a:schemeClr val="accent2"/>
                </a:solidFill>
                <a:latin typeface="Lucida Sans"/>
                <a:ea typeface="+mj-ea"/>
              </a:rPr>
              <a:t>Understanding Model Behavior: </a:t>
            </a:r>
            <a:r>
              <a:rPr lang="en-US" sz="1050" b="1" kern="0" spc="-80" dirty="0">
                <a:solidFill>
                  <a:schemeClr val="accent6"/>
                </a:solidFill>
                <a:latin typeface="Lucida Sans"/>
                <a:ea typeface="+mj-ea"/>
              </a:rPr>
              <a:t>By systematically varying inputs and observing outputs, experiments provide insights into how models behave. </a:t>
            </a:r>
          </a:p>
          <a:p>
            <a:pPr algn="l">
              <a:buNone/>
            </a:pPr>
            <a:r>
              <a:rPr lang="en-US" sz="1050" b="1" kern="0" spc="-80" dirty="0">
                <a:solidFill>
                  <a:schemeClr val="accent2"/>
                </a:solidFill>
                <a:latin typeface="Lucida Sans"/>
                <a:ea typeface="+mj-ea"/>
              </a:rPr>
              <a:t>Reproducibility:</a:t>
            </a:r>
            <a:r>
              <a:rPr lang="en-US" sz="1050" b="1" kern="0" spc="-80" dirty="0">
                <a:solidFill>
                  <a:schemeClr val="accent6"/>
                </a:solidFill>
                <a:latin typeface="Lucida Sans"/>
                <a:ea typeface="+mj-ea"/>
              </a:rPr>
              <a:t> Meticulous documentation and version control are essential in ML experiments to ensure results can be replicated. </a:t>
            </a:r>
          </a:p>
          <a:p>
            <a:pPr algn="l">
              <a:buNone/>
            </a:pPr>
            <a:r>
              <a:rPr lang="en-US" sz="1050" b="1" kern="0" spc="-80" dirty="0">
                <a:solidFill>
                  <a:schemeClr val="accent2"/>
                </a:solidFill>
                <a:latin typeface="Lucida Sans"/>
                <a:ea typeface="+mj-ea"/>
              </a:rPr>
              <a:t>Design of Experiments (DOE) in ML: </a:t>
            </a:r>
          </a:p>
          <a:p>
            <a:pPr algn="l">
              <a:buNone/>
            </a:pPr>
            <a:r>
              <a:rPr lang="en-US" sz="1050" b="1" kern="0" spc="-80" dirty="0">
                <a:solidFill>
                  <a:schemeClr val="accent2"/>
                </a:solidFill>
                <a:latin typeface="Lucida Sans"/>
                <a:ea typeface="+mj-ea"/>
              </a:rPr>
              <a:t>Systematic Exploration:</a:t>
            </a:r>
            <a:r>
              <a:rPr lang="en-US" sz="1050" b="1" kern="0" spc="-80" dirty="0">
                <a:solidFill>
                  <a:schemeClr val="accent6"/>
                </a:solidFill>
                <a:latin typeface="Lucida Sans"/>
                <a:ea typeface="+mj-ea"/>
              </a:rPr>
              <a:t> DOE provides a structured way to test different combinations of factors (e.g., hyperparameters, features). </a:t>
            </a:r>
          </a:p>
          <a:p>
            <a:pPr algn="l">
              <a:buNone/>
            </a:pPr>
            <a:r>
              <a:rPr lang="en-US" sz="1050" b="1" kern="0" spc="-80" dirty="0">
                <a:solidFill>
                  <a:schemeClr val="accent6"/>
                </a:solidFill>
                <a:latin typeface="Lucida Sans"/>
                <a:ea typeface="+mj-ea"/>
              </a:rPr>
              <a:t>Identifying Optimal Combinations: It helps identify the best combinations of variables to achieve the desired outcome (e.g., optimal model performance). </a:t>
            </a:r>
          </a:p>
          <a:p>
            <a:pPr algn="l">
              <a:buNone/>
            </a:pPr>
            <a:r>
              <a:rPr lang="en-US" sz="1050" b="1" kern="0" spc="-80" dirty="0">
                <a:solidFill>
                  <a:schemeClr val="accent2"/>
                </a:solidFill>
                <a:latin typeface="Lucida Sans"/>
                <a:ea typeface="+mj-ea"/>
              </a:rPr>
              <a:t>Handling Non-Linear Relationship</a:t>
            </a:r>
            <a:r>
              <a:rPr lang="en-US" sz="1050" b="1" kern="0" spc="-80" dirty="0">
                <a:solidFill>
                  <a:schemeClr val="accent6"/>
                </a:solidFill>
                <a:latin typeface="Lucida Sans"/>
                <a:ea typeface="+mj-ea"/>
              </a:rPr>
              <a:t>s: ML models can handle complex, non-linear relationships, unlike traditional statistical DOE approaches, which often assume linearity. </a:t>
            </a:r>
          </a:p>
          <a:p>
            <a:pPr algn="l">
              <a:buNone/>
            </a:pPr>
            <a:r>
              <a:rPr lang="en-US" sz="1050" b="1" kern="0" spc="-80" dirty="0">
                <a:solidFill>
                  <a:schemeClr val="accent2"/>
                </a:solidFill>
                <a:latin typeface="Lucida Sans"/>
                <a:ea typeface="+mj-ea"/>
              </a:rPr>
              <a:t>Data Generation:</a:t>
            </a:r>
            <a:r>
              <a:rPr lang="en-US" sz="1050" b="1" kern="0" spc="-80" dirty="0">
                <a:solidFill>
                  <a:schemeClr val="accent6"/>
                </a:solidFill>
                <a:latin typeface="Lucida Sans"/>
                <a:ea typeface="+mj-ea"/>
              </a:rPr>
              <a:t> DOE can be used to generate informative datasets when data is scarce or expensive to collect. </a:t>
            </a:r>
          </a:p>
          <a:p>
            <a:pPr algn="l">
              <a:buNone/>
            </a:pPr>
            <a:r>
              <a:rPr lang="en-US" sz="1050" b="1" kern="0" spc="-80" dirty="0">
                <a:solidFill>
                  <a:schemeClr val="accent2"/>
                </a:solidFill>
                <a:latin typeface="Lucida Sans"/>
                <a:ea typeface="+mj-ea"/>
              </a:rPr>
              <a:t>Key Aspects of ML Experiments: </a:t>
            </a:r>
          </a:p>
          <a:p>
            <a:pPr algn="l">
              <a:buNone/>
            </a:pPr>
            <a:r>
              <a:rPr lang="en-US" sz="1050" b="1" kern="0" spc="-80" dirty="0">
                <a:solidFill>
                  <a:schemeClr val="accent2"/>
                </a:solidFill>
                <a:latin typeface="Lucida Sans"/>
                <a:ea typeface="+mj-ea"/>
              </a:rPr>
              <a:t>Define Objectives and Hypotheses:</a:t>
            </a:r>
            <a:r>
              <a:rPr lang="en-US" sz="1050" b="1" kern="0" spc="-80" dirty="0">
                <a:solidFill>
                  <a:schemeClr val="accent6"/>
                </a:solidFill>
                <a:latin typeface="Lucida Sans"/>
                <a:ea typeface="+mj-ea"/>
              </a:rPr>
              <a:t> Clearly state what you want to achieve and any hypotheses you are testing. </a:t>
            </a:r>
          </a:p>
          <a:p>
            <a:pPr algn="l">
              <a:buNone/>
            </a:pPr>
            <a:r>
              <a:rPr lang="en-US" sz="1050" b="1" kern="0" spc="-80" dirty="0">
                <a:solidFill>
                  <a:schemeClr val="accent2"/>
                </a:solidFill>
                <a:latin typeface="Lucida Sans"/>
                <a:ea typeface="+mj-ea"/>
              </a:rPr>
              <a:t>Choose Data and Methods: </a:t>
            </a:r>
            <a:r>
              <a:rPr lang="en-US" sz="1050" b="1" kern="0" spc="-80" dirty="0">
                <a:solidFill>
                  <a:schemeClr val="accent6"/>
                </a:solidFill>
                <a:latin typeface="Lucida Sans"/>
                <a:ea typeface="+mj-ea"/>
              </a:rPr>
              <a:t>Select appropriate datasets and machine learning algorithms for your experiment. </a:t>
            </a:r>
          </a:p>
          <a:p>
            <a:pPr algn="l">
              <a:buNone/>
            </a:pPr>
            <a:r>
              <a:rPr lang="en-US" sz="1050" b="1" kern="0" spc="-80" dirty="0">
                <a:solidFill>
                  <a:schemeClr val="accent2"/>
                </a:solidFill>
                <a:latin typeface="Lucida Sans"/>
                <a:ea typeface="+mj-ea"/>
              </a:rPr>
              <a:t>Design Experimental Setup:</a:t>
            </a:r>
            <a:r>
              <a:rPr lang="en-US" sz="1050" b="1" kern="0" spc="-80" dirty="0">
                <a:solidFill>
                  <a:schemeClr val="accent6"/>
                </a:solidFill>
                <a:latin typeface="Lucida Sans"/>
                <a:ea typeface="+mj-ea"/>
              </a:rPr>
              <a:t> Determine how you will manipulate variables, collect data, and analyze results. </a:t>
            </a:r>
          </a:p>
          <a:p>
            <a:pPr algn="l">
              <a:buNone/>
            </a:pPr>
            <a:r>
              <a:rPr lang="en-US" sz="1050" b="1" kern="0" spc="-80" dirty="0">
                <a:solidFill>
                  <a:schemeClr val="accent2"/>
                </a:solidFill>
                <a:latin typeface="Lucida Sans"/>
                <a:ea typeface="+mj-ea"/>
              </a:rPr>
              <a:t>Cross-validation:</a:t>
            </a:r>
            <a:r>
              <a:rPr lang="en-US" sz="1050" b="1" kern="0" spc="-80" dirty="0">
                <a:solidFill>
                  <a:schemeClr val="accent6"/>
                </a:solidFill>
                <a:latin typeface="Lucida Sans"/>
                <a:ea typeface="+mj-ea"/>
              </a:rPr>
              <a:t> Use cross-validation techniques to ensure the model's performance is not overly reliant on a specific split of the data. </a:t>
            </a:r>
          </a:p>
          <a:p>
            <a:pPr algn="l">
              <a:buNone/>
            </a:pPr>
            <a:r>
              <a:rPr lang="en-US" sz="1050" b="1" kern="0" spc="-80" dirty="0">
                <a:solidFill>
                  <a:schemeClr val="accent2"/>
                </a:solidFill>
                <a:latin typeface="Lucida Sans"/>
                <a:ea typeface="+mj-ea"/>
              </a:rPr>
              <a:t>Experiment Tracking:</a:t>
            </a:r>
            <a:r>
              <a:rPr lang="en-US" sz="1050" b="1" kern="0" spc="-80" dirty="0">
                <a:solidFill>
                  <a:schemeClr val="accent6"/>
                </a:solidFill>
                <a:latin typeface="Lucida Sans"/>
                <a:ea typeface="+mj-ea"/>
              </a:rPr>
              <a:t> Utilize tools like </a:t>
            </a:r>
            <a:r>
              <a:rPr lang="en-US" sz="1050" b="1" kern="0" spc="-80" dirty="0" err="1">
                <a:solidFill>
                  <a:schemeClr val="accent6"/>
                </a:solidFill>
                <a:latin typeface="Lucida Sans"/>
                <a:ea typeface="+mj-ea"/>
              </a:rPr>
              <a:t>MLflow</a:t>
            </a:r>
            <a:r>
              <a:rPr lang="en-US" sz="1050" b="1" kern="0" spc="-80" dirty="0">
                <a:solidFill>
                  <a:schemeClr val="accent6"/>
                </a:solidFill>
                <a:latin typeface="Lucida Sans"/>
                <a:ea typeface="+mj-ea"/>
              </a:rPr>
              <a:t> or </a:t>
            </a:r>
            <a:r>
              <a:rPr lang="en-US" sz="1050" b="1" kern="0" spc="-80" dirty="0" err="1">
                <a:solidFill>
                  <a:schemeClr val="accent6"/>
                </a:solidFill>
                <a:latin typeface="Lucida Sans"/>
                <a:ea typeface="+mj-ea"/>
              </a:rPr>
              <a:t>TensorBoard</a:t>
            </a:r>
            <a:r>
              <a:rPr lang="en-US" sz="1050" b="1" kern="0" spc="-80" dirty="0">
                <a:solidFill>
                  <a:schemeClr val="accent6"/>
                </a:solidFill>
                <a:latin typeface="Lucida Sans"/>
                <a:ea typeface="+mj-ea"/>
              </a:rPr>
              <a:t> to log experiment parameters and results. </a:t>
            </a:r>
          </a:p>
          <a:p>
            <a:pPr algn="l">
              <a:buNone/>
            </a:pPr>
            <a:r>
              <a:rPr lang="en-US" sz="1050" b="1" kern="0" spc="-80" dirty="0">
                <a:solidFill>
                  <a:schemeClr val="accent2"/>
                </a:solidFill>
                <a:latin typeface="Lucida Sans"/>
                <a:ea typeface="+mj-ea"/>
              </a:rPr>
              <a:t>Analyze and Interpret Results: </a:t>
            </a:r>
            <a:r>
              <a:rPr lang="en-US" sz="1050" b="1" kern="0" spc="-80" dirty="0">
                <a:solidFill>
                  <a:schemeClr val="accent6"/>
                </a:solidFill>
                <a:latin typeface="Lucida Sans"/>
                <a:ea typeface="+mj-ea"/>
              </a:rPr>
              <a:t>Draw conclusions from your experiment and use them to inform further development</a:t>
            </a:r>
          </a:p>
          <a:p>
            <a:pPr algn="l">
              <a:buNone/>
            </a:pPr>
            <a:r>
              <a:rPr lang="en-US" sz="1050" b="1" kern="0" spc="-80" dirty="0">
                <a:solidFill>
                  <a:schemeClr val="accent2"/>
                </a:solidFill>
                <a:latin typeface="Lucida Sans"/>
                <a:ea typeface="+mj-ea"/>
              </a:rPr>
              <a:t>For Further Exploration – </a:t>
            </a:r>
          </a:p>
          <a:p>
            <a:pPr algn="l">
              <a:buNone/>
            </a:pPr>
            <a:r>
              <a:rPr lang="en-US" sz="1100" dirty="0">
                <a:hlinkClick r:id="rId2"/>
              </a:rPr>
              <a:t>Machine Learning Experiments Done Right</a:t>
            </a:r>
            <a:endParaRPr lang="en-US" sz="1100" dirty="0"/>
          </a:p>
          <a:p>
            <a:r>
              <a:rPr lang="en-US" sz="1100" dirty="0">
                <a:hlinkClick r:id="rId3"/>
              </a:rPr>
              <a:t>The Design of Experiments - Wikipedia</a:t>
            </a:r>
            <a:endParaRPr lang="en-US" sz="1100" b="1" kern="0" spc="-80" dirty="0">
              <a:solidFill>
                <a:schemeClr val="accent2"/>
              </a:solidFill>
              <a:latin typeface="Lucida Sans"/>
              <a:ea typeface="+mj-ea"/>
            </a:endParaRPr>
          </a:p>
        </p:txBody>
      </p:sp>
      <p:sp>
        <p:nvSpPr>
          <p:cNvPr id="8" name="object 4">
            <a:extLst>
              <a:ext uri="{FF2B5EF4-FFF2-40B4-BE49-F238E27FC236}">
                <a16:creationId xmlns:a16="http://schemas.microsoft.com/office/drawing/2014/main" id="{0A5BD297-22A2-0B1F-E125-8181CACA1F9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F11F999-0E72-E41A-B8E7-E8EB80216A9E}"/>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C188C93-1C30-AE59-755F-D4309C0B9966}"/>
              </a:ext>
            </a:extLst>
          </p:cNvPr>
          <p:cNvGraphicFramePr/>
          <p:nvPr>
            <p:extLst>
              <p:ext uri="{D42A27DB-BD31-4B8C-83A1-F6EECF244321}">
                <p14:modId xmlns:p14="http://schemas.microsoft.com/office/powerpoint/2010/main" val="300072375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121351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954F1-F146-B7B3-59F4-EE5D9E92EC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F785E5-FCCB-AB94-22CE-EA1D5B7AB02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3B5CE4B2-12CC-E4A2-1FDF-C5D92EBD5F94}"/>
              </a:ext>
            </a:extLst>
          </p:cNvPr>
          <p:cNvSpPr txBox="1"/>
          <p:nvPr/>
        </p:nvSpPr>
        <p:spPr>
          <a:xfrm>
            <a:off x="0" y="1231642"/>
            <a:ext cx="8991600" cy="4493538"/>
          </a:xfrm>
          <a:prstGeom prst="rect">
            <a:avLst/>
          </a:prstGeom>
          <a:noFill/>
        </p:spPr>
        <p:txBody>
          <a:bodyPr wrap="square">
            <a:spAutoFit/>
          </a:bodyPr>
          <a:lstStyle/>
          <a:p>
            <a:pPr algn="l">
              <a:buNone/>
            </a:pPr>
            <a:r>
              <a:rPr lang="en-US" sz="1100" b="1" kern="0" spc="-80" dirty="0">
                <a:solidFill>
                  <a:schemeClr val="accent6"/>
                </a:solidFill>
                <a:latin typeface="Lucida Sans"/>
                <a:ea typeface="+mj-ea"/>
              </a:rPr>
              <a:t>Several factors influence the size of a machine learning (ML) model, including the number of parameters, the type of data, and the model architecture. Data quality, feature selection, and the choice of algorithm also play a role. </a:t>
            </a:r>
          </a:p>
          <a:p>
            <a:pPr algn="l">
              <a:buNone/>
            </a:pPr>
            <a:r>
              <a:rPr lang="en-US" sz="1100" b="1" kern="0" spc="-80" dirty="0">
                <a:solidFill>
                  <a:schemeClr val="accent6"/>
                </a:solidFill>
                <a:latin typeface="Lucida Sans"/>
                <a:ea typeface="+mj-ea"/>
              </a:rPr>
              <a:t>Detailed Breakdown:</a:t>
            </a:r>
          </a:p>
          <a:p>
            <a:pPr algn="l">
              <a:buNone/>
            </a:pPr>
            <a:r>
              <a:rPr lang="en-US" sz="1100" b="1" kern="0" spc="-80" dirty="0">
                <a:solidFill>
                  <a:schemeClr val="accent2"/>
                </a:solidFill>
                <a:latin typeface="Lucida Sans"/>
                <a:ea typeface="+mj-ea"/>
              </a:rPr>
              <a:t>1. Model Architecture: </a:t>
            </a:r>
            <a:r>
              <a:rPr lang="en-US" sz="1100" b="1" kern="0" spc="-80" dirty="0">
                <a:solidFill>
                  <a:schemeClr val="accent6"/>
                </a:solidFill>
                <a:latin typeface="Lucida Sans"/>
                <a:ea typeface="+mj-ea"/>
              </a:rPr>
              <a:t>The complexity of the model's architecture directly impacts its size. For example, deep neural networks with many layers and connections will generally have a larger number of parameters compared to simpler linear models. </a:t>
            </a:r>
          </a:p>
          <a:p>
            <a:pPr algn="l">
              <a:buNone/>
            </a:pPr>
            <a:r>
              <a:rPr lang="en-US" sz="1100" b="1" kern="0" spc="-80" dirty="0">
                <a:solidFill>
                  <a:schemeClr val="accent2"/>
                </a:solidFill>
                <a:latin typeface="Lucida Sans"/>
                <a:ea typeface="+mj-ea"/>
              </a:rPr>
              <a:t>2. Number of Parameters</a:t>
            </a:r>
            <a:r>
              <a:rPr lang="en-US" sz="1100" b="1" kern="0" spc="-80" dirty="0">
                <a:solidFill>
                  <a:schemeClr val="accent6"/>
                </a:solidFill>
                <a:latin typeface="Lucida Sans"/>
                <a:ea typeface="+mj-ea"/>
              </a:rPr>
              <a:t>: The number of learnable parameters (weights and biases) within the model determines its size. More parameters mean a larger model. </a:t>
            </a:r>
          </a:p>
          <a:p>
            <a:pPr algn="l">
              <a:buNone/>
            </a:pPr>
            <a:r>
              <a:rPr lang="en-US" sz="1100" b="1" kern="0" spc="-80" dirty="0">
                <a:solidFill>
                  <a:schemeClr val="accent2"/>
                </a:solidFill>
                <a:latin typeface="Lucida Sans"/>
                <a:ea typeface="+mj-ea"/>
              </a:rPr>
              <a:t>3. Data Type and Complexity:</a:t>
            </a:r>
            <a:r>
              <a:rPr lang="en-US" sz="1100" b="1" kern="0" spc="-80" dirty="0">
                <a:solidFill>
                  <a:schemeClr val="accent6"/>
                </a:solidFill>
                <a:latin typeface="Lucida Sans"/>
                <a:ea typeface="+mj-ea"/>
              </a:rPr>
              <a:t> The type of data used to train the model (e.g., images, text, tabular data) and the complexity of the relationships within the data can influence the model size. For instance, image recognition models often require significantly larger models compared to simpler regression tasks. </a:t>
            </a:r>
          </a:p>
          <a:p>
            <a:pPr algn="l">
              <a:buNone/>
            </a:pPr>
            <a:r>
              <a:rPr lang="en-US" sz="1100" b="1" kern="0" spc="-80" dirty="0">
                <a:solidFill>
                  <a:schemeClr val="accent2"/>
                </a:solidFill>
                <a:latin typeface="Lucida Sans"/>
                <a:ea typeface="+mj-ea"/>
              </a:rPr>
              <a:t>4. Feature Selection: </a:t>
            </a:r>
            <a:r>
              <a:rPr lang="en-US" sz="1100" b="1" kern="0" spc="-80" dirty="0">
                <a:solidFill>
                  <a:schemeClr val="accent6"/>
                </a:solidFill>
                <a:latin typeface="Lucida Sans"/>
                <a:ea typeface="+mj-ea"/>
              </a:rPr>
              <a:t>The number of features used by the model can also impact its size. More features may necessitate a more complex model with a larger parameter set. </a:t>
            </a:r>
          </a:p>
          <a:p>
            <a:pPr algn="l">
              <a:buNone/>
            </a:pPr>
            <a:r>
              <a:rPr lang="en-US" sz="1100" b="1" kern="0" spc="-80" dirty="0">
                <a:solidFill>
                  <a:schemeClr val="accent2"/>
                </a:solidFill>
                <a:latin typeface="Lucida Sans"/>
                <a:ea typeface="+mj-ea"/>
              </a:rPr>
              <a:t>5. Algorithm Choice: </a:t>
            </a:r>
            <a:r>
              <a:rPr lang="en-US" sz="1100" b="1" kern="0" spc="-80" dirty="0">
                <a:solidFill>
                  <a:schemeClr val="accent6"/>
                </a:solidFill>
                <a:latin typeface="Lucida Sans"/>
                <a:ea typeface="+mj-ea"/>
              </a:rPr>
              <a:t>The specific ML algorithm chosen can influence the model's size and complexity. Some algorithms, like support vector machines (SVM) or decision trees, can be implemented with fewer parameters compared to neural networks. </a:t>
            </a:r>
          </a:p>
          <a:p>
            <a:pPr algn="l">
              <a:buNone/>
            </a:pPr>
            <a:r>
              <a:rPr lang="en-US" sz="1100" b="1" kern="0" spc="-80" dirty="0">
                <a:solidFill>
                  <a:schemeClr val="accent2"/>
                </a:solidFill>
                <a:latin typeface="Lucida Sans"/>
                <a:ea typeface="+mj-ea"/>
              </a:rPr>
              <a:t>6. Data Quality and Quantity: </a:t>
            </a:r>
            <a:r>
              <a:rPr lang="en-US" sz="1100" b="1" kern="0" spc="-80" dirty="0">
                <a:solidFill>
                  <a:schemeClr val="accent6"/>
                </a:solidFill>
                <a:latin typeface="Lucida Sans"/>
                <a:ea typeface="+mj-ea"/>
              </a:rPr>
              <a:t>The quality and quantity of the training data can impact the size of the model needed to achieve a desired level of performance. Larger datasets with more complex patterns may require larger models. </a:t>
            </a:r>
          </a:p>
          <a:p>
            <a:pPr algn="l">
              <a:buNone/>
            </a:pPr>
            <a:r>
              <a:rPr lang="en-US" sz="1100" b="1" kern="0" spc="-80" dirty="0">
                <a:solidFill>
                  <a:schemeClr val="accent2"/>
                </a:solidFill>
                <a:latin typeface="Lucida Sans"/>
                <a:ea typeface="+mj-ea"/>
              </a:rPr>
              <a:t>7. Computational Constraints: </a:t>
            </a:r>
            <a:r>
              <a:rPr lang="en-US" sz="1100" b="1" kern="0" spc="-80" dirty="0">
                <a:solidFill>
                  <a:schemeClr val="accent6"/>
                </a:solidFill>
                <a:latin typeface="Lucida Sans"/>
                <a:ea typeface="+mj-ea"/>
              </a:rPr>
              <a:t>Practical considerations like available computing resources (memory, processing power) can also influence the choice of model size. A smaller model may be preferred if computational constraints are a major concern. </a:t>
            </a:r>
          </a:p>
          <a:p>
            <a:pPr algn="l">
              <a:buNone/>
            </a:pPr>
            <a:r>
              <a:rPr lang="en-US" sz="1100" b="1" kern="0" spc="-80" dirty="0">
                <a:solidFill>
                  <a:schemeClr val="accent2"/>
                </a:solidFill>
                <a:latin typeface="Lucida Sans"/>
                <a:ea typeface="+mj-ea"/>
              </a:rPr>
              <a:t>8. Data Dimensionality: </a:t>
            </a:r>
            <a:r>
              <a:rPr lang="en-US" sz="1100" b="1" kern="0" spc="-80" dirty="0">
                <a:solidFill>
                  <a:schemeClr val="accent6"/>
                </a:solidFill>
                <a:latin typeface="Lucida Sans"/>
                <a:ea typeface="+mj-ea"/>
              </a:rPr>
              <a:t>The number of features or variables in the dataset directly affects the model's complexity and size. </a:t>
            </a:r>
          </a:p>
          <a:p>
            <a:pPr algn="l">
              <a:buNone/>
            </a:pPr>
            <a:r>
              <a:rPr lang="en-US" sz="1100" b="1" kern="0" spc="-80" dirty="0">
                <a:solidFill>
                  <a:schemeClr val="accent2"/>
                </a:solidFill>
                <a:latin typeface="Lucida Sans"/>
                <a:ea typeface="+mj-ea"/>
              </a:rPr>
              <a:t>9. Hyperparameter Tuning: </a:t>
            </a:r>
            <a:r>
              <a:rPr lang="en-US" sz="1100" b="1" kern="0" spc="-80" dirty="0">
                <a:solidFill>
                  <a:schemeClr val="accent6"/>
                </a:solidFill>
                <a:latin typeface="Lucida Sans"/>
                <a:ea typeface="+mj-ea"/>
              </a:rPr>
              <a:t>Adjusting hyperparameters (e.g., learning rate, regularization parameters) can also influence the model's complexity and size</a:t>
            </a:r>
          </a:p>
          <a:p>
            <a:pPr algn="l">
              <a:buNone/>
            </a:pPr>
            <a:r>
              <a:rPr lang="en-US" sz="1100" b="1" kern="0" spc="-80" dirty="0">
                <a:solidFill>
                  <a:schemeClr val="accent2"/>
                </a:solidFill>
                <a:latin typeface="Lucida Sans"/>
                <a:ea typeface="+mj-ea"/>
              </a:rPr>
              <a:t>10. Training Techniques</a:t>
            </a:r>
            <a:r>
              <a:rPr lang="en-US" sz="1100" b="1" kern="0" spc="-80" dirty="0">
                <a:solidFill>
                  <a:schemeClr val="accent6"/>
                </a:solidFill>
                <a:latin typeface="Lucida Sans"/>
                <a:ea typeface="+mj-ea"/>
              </a:rPr>
              <a:t>: The specific training methods and techniques used can also affect the model size. For example, regularization techniques can help prevent overfitting and reduce model complexity, while techniques like fine-tuning can adapt pre-trained models to new tasks, potentially impacting the final model size</a:t>
            </a:r>
          </a:p>
          <a:p>
            <a:pPr algn="l">
              <a:buNone/>
            </a:pPr>
            <a:r>
              <a:rPr lang="en-US" sz="1100" b="1" kern="0" spc="-80" dirty="0">
                <a:solidFill>
                  <a:schemeClr val="accent6"/>
                </a:solidFill>
                <a:latin typeface="Lucida Sans"/>
                <a:ea typeface="+mj-ea"/>
              </a:rPr>
              <a:t>In summary, the size of an ML model is a multifaceted aspect influenced by the interplay of model architecture, data characteristics, algorithm choice, and practical considerations. </a:t>
            </a:r>
          </a:p>
        </p:txBody>
      </p:sp>
      <p:sp>
        <p:nvSpPr>
          <p:cNvPr id="8" name="object 4">
            <a:extLst>
              <a:ext uri="{FF2B5EF4-FFF2-40B4-BE49-F238E27FC236}">
                <a16:creationId xmlns:a16="http://schemas.microsoft.com/office/drawing/2014/main" id="{1C09316B-D8E7-7D49-8405-1B4CC5CF9281}"/>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7921407-B14B-5865-9AD6-92CE1AAC531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6D969B2-27E4-FA55-A53B-DBF796FE7875}"/>
              </a:ext>
            </a:extLst>
          </p:cNvPr>
          <p:cNvGraphicFramePr/>
          <p:nvPr>
            <p:extLst>
              <p:ext uri="{D42A27DB-BD31-4B8C-83A1-F6EECF244321}">
                <p14:modId xmlns:p14="http://schemas.microsoft.com/office/powerpoint/2010/main" val="44644568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76866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286F7-CBD2-FBAD-88AB-1551142DCC2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D06FB2B-EBDA-954D-1397-E449F851A43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CBD23EE7-5CDD-A332-8582-A4BEDADBE828}"/>
              </a:ext>
            </a:extLst>
          </p:cNvPr>
          <p:cNvSpPr txBox="1"/>
          <p:nvPr/>
        </p:nvSpPr>
        <p:spPr>
          <a:xfrm>
            <a:off x="0" y="1231642"/>
            <a:ext cx="8991600" cy="4693593"/>
          </a:xfrm>
          <a:prstGeom prst="rect">
            <a:avLst/>
          </a:prstGeom>
          <a:noFill/>
        </p:spPr>
        <p:txBody>
          <a:bodyPr wrap="square">
            <a:spAutoFit/>
          </a:bodyPr>
          <a:lstStyle/>
          <a:p>
            <a:pPr algn="l">
              <a:buNone/>
            </a:pPr>
            <a:r>
              <a:rPr lang="en-US" sz="1300" b="1" kern="0" spc="-80" dirty="0">
                <a:solidFill>
                  <a:schemeClr val="accent6"/>
                </a:solidFill>
                <a:latin typeface="Lucida Sans"/>
                <a:ea typeface="+mj-ea"/>
              </a:rPr>
              <a:t>Reducing model size involves techniques like altering data types, pruning, updating feature selection, and compression, all aimed at minimizing the size of a machine learning model while maintaining or even improving its accuracy, making it more efficient and deployable on resource-constrained devices. </a:t>
            </a:r>
          </a:p>
          <a:p>
            <a:pPr algn="l">
              <a:buNone/>
            </a:pPr>
            <a:r>
              <a:rPr lang="en-US" sz="1300" b="1" kern="0" spc="-80" dirty="0">
                <a:solidFill>
                  <a:schemeClr val="accent2"/>
                </a:solidFill>
                <a:latin typeface="Lucida Sans"/>
                <a:ea typeface="+mj-ea"/>
              </a:rPr>
              <a:t>Key methods for reducing model size:</a:t>
            </a:r>
          </a:p>
          <a:p>
            <a:pPr algn="l">
              <a:buNone/>
            </a:pPr>
            <a:r>
              <a:rPr lang="en-US" sz="1300" b="1" kern="0" spc="-80" dirty="0">
                <a:solidFill>
                  <a:schemeClr val="accent2"/>
                </a:solidFill>
                <a:latin typeface="Lucida Sans"/>
                <a:ea typeface="+mj-ea"/>
              </a:rPr>
              <a:t>Data Type Quantization: </a:t>
            </a:r>
            <a:r>
              <a:rPr lang="en-US" sz="1300" b="1" kern="0" spc="-80" dirty="0">
                <a:solidFill>
                  <a:schemeClr val="accent6"/>
                </a:solidFill>
                <a:latin typeface="Lucida Sans"/>
                <a:ea typeface="+mj-ea"/>
              </a:rPr>
              <a:t>Reducing the precision of numerical data types (e.g., from 32-bit floats to 8-bit integers) can significantly decrease model size with minimal accuracy loss, especially for certain tasks like image classification. </a:t>
            </a:r>
          </a:p>
          <a:p>
            <a:pPr algn="l">
              <a:buNone/>
            </a:pPr>
            <a:r>
              <a:rPr lang="en-US" sz="1300" b="1" kern="0" spc="-80" dirty="0">
                <a:solidFill>
                  <a:schemeClr val="accent2"/>
                </a:solidFill>
                <a:latin typeface="Lucida Sans"/>
                <a:ea typeface="+mj-ea"/>
              </a:rPr>
              <a:t>Pruning: </a:t>
            </a:r>
            <a:r>
              <a:rPr lang="en-US" sz="1300" b="1" kern="0" spc="-80" dirty="0">
                <a:solidFill>
                  <a:schemeClr val="accent6"/>
                </a:solidFill>
                <a:latin typeface="Lucida Sans"/>
                <a:ea typeface="+mj-ea"/>
              </a:rPr>
              <a:t>This involves removing unimportant connections or neurons from a neural network, effectively reducing its size while maintaining performance. </a:t>
            </a:r>
          </a:p>
          <a:p>
            <a:pPr algn="l">
              <a:buNone/>
            </a:pPr>
            <a:r>
              <a:rPr lang="en-US" sz="1300" b="1" kern="0" spc="-80" dirty="0">
                <a:solidFill>
                  <a:schemeClr val="accent6"/>
                </a:solidFill>
                <a:latin typeface="Lucida Sans"/>
                <a:ea typeface="+mj-ea"/>
              </a:rPr>
              <a:t>Different pruning techniques exist, such as structured pruning (removing entire layers or groups of neurons) and unstructured pruning (removing individual weights). </a:t>
            </a:r>
          </a:p>
          <a:p>
            <a:pPr algn="l">
              <a:buNone/>
            </a:pPr>
            <a:r>
              <a:rPr lang="en-US" sz="1300" b="1" kern="0" spc="-80" dirty="0">
                <a:solidFill>
                  <a:schemeClr val="accent2"/>
                </a:solidFill>
                <a:latin typeface="Lucida Sans"/>
                <a:ea typeface="+mj-ea"/>
              </a:rPr>
              <a:t>Feature Selection</a:t>
            </a:r>
            <a:r>
              <a:rPr lang="en-US" sz="1300" b="1" kern="0" spc="-80" dirty="0">
                <a:solidFill>
                  <a:schemeClr val="accent6"/>
                </a:solidFill>
                <a:latin typeface="Lucida Sans"/>
                <a:ea typeface="+mj-ea"/>
              </a:rPr>
              <a:t>: Identifying and removing irrelevant features from the training data can lead to a smaller model with improved accuracy by focusing on the most important features. </a:t>
            </a:r>
          </a:p>
          <a:p>
            <a:pPr algn="l">
              <a:buNone/>
            </a:pPr>
            <a:r>
              <a:rPr lang="en-US" sz="1300" b="1" kern="0" spc="-80" dirty="0">
                <a:solidFill>
                  <a:schemeClr val="accent6"/>
                </a:solidFill>
                <a:latin typeface="Lucida Sans"/>
                <a:ea typeface="+mj-ea"/>
              </a:rPr>
              <a:t>Techniques like feature importance analysis or correlation analysis can help in selecting the most relevant features. </a:t>
            </a:r>
          </a:p>
          <a:p>
            <a:pPr algn="l">
              <a:buNone/>
            </a:pPr>
            <a:r>
              <a:rPr lang="en-US" sz="1300" b="1" kern="0" spc="-80" dirty="0">
                <a:solidFill>
                  <a:schemeClr val="accent2"/>
                </a:solidFill>
                <a:latin typeface="Lucida Sans"/>
                <a:ea typeface="+mj-ea"/>
              </a:rPr>
              <a:t>Compression: </a:t>
            </a:r>
            <a:r>
              <a:rPr lang="en-US" sz="1300" b="1" kern="0" spc="-80" dirty="0">
                <a:solidFill>
                  <a:schemeClr val="accent6"/>
                </a:solidFill>
                <a:latin typeface="Lucida Sans"/>
                <a:ea typeface="+mj-ea"/>
              </a:rPr>
              <a:t>Various compression techniques can be applied to model parameters, including knowledge distillation, low-rank approximation, and quantization, to reduce the overall model size while preserving accuracy. </a:t>
            </a:r>
          </a:p>
          <a:p>
            <a:pPr algn="l">
              <a:buNone/>
            </a:pPr>
            <a:r>
              <a:rPr lang="en-US" sz="1300" b="1" kern="0" spc="-80" dirty="0">
                <a:solidFill>
                  <a:schemeClr val="accent2"/>
                </a:solidFill>
                <a:latin typeface="Lucida Sans"/>
                <a:ea typeface="+mj-ea"/>
              </a:rPr>
              <a:t>Benefits of reducing model size:</a:t>
            </a:r>
          </a:p>
          <a:p>
            <a:pPr algn="l">
              <a:buNone/>
            </a:pPr>
            <a:r>
              <a:rPr lang="en-US" sz="1300" b="1" kern="0" spc="-80" dirty="0">
                <a:solidFill>
                  <a:schemeClr val="accent2"/>
                </a:solidFill>
                <a:latin typeface="Lucida Sans"/>
                <a:ea typeface="+mj-ea"/>
              </a:rPr>
              <a:t>Faster inference:</a:t>
            </a:r>
            <a:r>
              <a:rPr lang="en-US" sz="1300" b="1" kern="0" spc="-80" dirty="0">
                <a:solidFill>
                  <a:schemeClr val="accent6"/>
                </a:solidFill>
                <a:latin typeface="Lucida Sans"/>
                <a:ea typeface="+mj-ea"/>
              </a:rPr>
              <a:t> Smaller models require less computation and memory, leading to faster prediction times.</a:t>
            </a:r>
          </a:p>
          <a:p>
            <a:pPr algn="l">
              <a:buNone/>
            </a:pPr>
            <a:r>
              <a:rPr lang="en-US" sz="1300" b="1" kern="0" spc="-80" dirty="0">
                <a:solidFill>
                  <a:schemeClr val="accent2"/>
                </a:solidFill>
                <a:latin typeface="Lucida Sans"/>
                <a:ea typeface="+mj-ea"/>
              </a:rPr>
              <a:t>Lower storage requirements:</a:t>
            </a:r>
            <a:r>
              <a:rPr lang="en-US" sz="1300" b="1" kern="0" spc="-80" dirty="0">
                <a:solidFill>
                  <a:schemeClr val="accent6"/>
                </a:solidFill>
                <a:latin typeface="Lucida Sans"/>
                <a:ea typeface="+mj-ea"/>
              </a:rPr>
              <a:t> Smaller models take up less space on disk, making them easier to deploy on devices with limited storage.</a:t>
            </a:r>
          </a:p>
          <a:p>
            <a:pPr algn="l">
              <a:buNone/>
            </a:pPr>
            <a:r>
              <a:rPr lang="en-US" sz="1300" b="1" kern="0" spc="-80" dirty="0">
                <a:solidFill>
                  <a:schemeClr val="accent2"/>
                </a:solidFill>
                <a:latin typeface="Lucida Sans"/>
                <a:ea typeface="+mj-ea"/>
              </a:rPr>
              <a:t>Improved energy efficiency:</a:t>
            </a:r>
            <a:r>
              <a:rPr lang="en-US" sz="1300" b="1" kern="0" spc="-80" dirty="0">
                <a:solidFill>
                  <a:schemeClr val="accent6"/>
                </a:solidFill>
                <a:latin typeface="Lucida Sans"/>
                <a:ea typeface="+mj-ea"/>
              </a:rPr>
              <a:t> Reduced computation leads to lower energy consumption.</a:t>
            </a:r>
          </a:p>
          <a:p>
            <a:pPr algn="l">
              <a:buNone/>
            </a:pPr>
            <a:r>
              <a:rPr lang="en-US" sz="1300" b="1" kern="0" spc="-80" dirty="0">
                <a:solidFill>
                  <a:schemeClr val="accent2"/>
                </a:solidFill>
                <a:latin typeface="Lucida Sans"/>
                <a:ea typeface="+mj-ea"/>
              </a:rPr>
              <a:t>Portability</a:t>
            </a:r>
            <a:r>
              <a:rPr lang="en-US" sz="1300" b="1" kern="0" spc="-80" dirty="0">
                <a:solidFill>
                  <a:schemeClr val="accent6"/>
                </a:solidFill>
                <a:latin typeface="Lucida Sans"/>
                <a:ea typeface="+mj-ea"/>
              </a:rPr>
              <a:t>: Smaller models can be more easily deployed on edge devices with limited resource</a:t>
            </a:r>
          </a:p>
          <a:p>
            <a:pPr algn="l">
              <a:buNone/>
            </a:pPr>
            <a:endParaRPr lang="en-US" sz="1300" b="1" kern="0" spc="-80" dirty="0">
              <a:solidFill>
                <a:schemeClr val="accent6"/>
              </a:solidFill>
              <a:latin typeface="Lucida Sans"/>
              <a:ea typeface="+mj-ea"/>
            </a:endParaRPr>
          </a:p>
          <a:p>
            <a:pPr algn="l">
              <a:buNone/>
            </a:pPr>
            <a:endParaRPr lang="en-US" sz="1300" b="1" kern="0" spc="-80" dirty="0">
              <a:solidFill>
                <a:schemeClr val="accent6"/>
              </a:solidFill>
              <a:latin typeface="Lucida Sans"/>
              <a:ea typeface="+mj-ea"/>
            </a:endParaRPr>
          </a:p>
        </p:txBody>
      </p:sp>
      <p:sp>
        <p:nvSpPr>
          <p:cNvPr id="8" name="object 4">
            <a:extLst>
              <a:ext uri="{FF2B5EF4-FFF2-40B4-BE49-F238E27FC236}">
                <a16:creationId xmlns:a16="http://schemas.microsoft.com/office/drawing/2014/main" id="{CEB9FCE7-8581-8953-3656-3668811B76DF}"/>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6FA36C1-E507-AB83-08AE-5FD9C261C03C}"/>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C412445-2CFC-6A4E-C8F8-691F036E9FB5}"/>
              </a:ext>
            </a:extLst>
          </p:cNvPr>
          <p:cNvGraphicFramePr/>
          <p:nvPr>
            <p:extLst>
              <p:ext uri="{D42A27DB-BD31-4B8C-83A1-F6EECF244321}">
                <p14:modId xmlns:p14="http://schemas.microsoft.com/office/powerpoint/2010/main" val="2887481794"/>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922CD5F-2493-D5F1-647E-CCDB77C68C81}"/>
              </a:ext>
            </a:extLst>
          </p:cNvPr>
          <p:cNvSpPr txBox="1">
            <a:spLocks/>
          </p:cNvSpPr>
          <p:nvPr/>
        </p:nvSpPr>
        <p:spPr>
          <a:xfrm>
            <a:off x="76200" y="5420380"/>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For Further Exploration –</a:t>
            </a:r>
          </a:p>
          <a:p>
            <a:pPr marL="12700" marR="5080"/>
            <a:r>
              <a:rPr lang="en-US" sz="1200" dirty="0">
                <a:hlinkClick r:id="rId7"/>
              </a:rPr>
              <a:t>5 Key Factors Determining Model Complexity: A Data Overview</a:t>
            </a:r>
            <a:endParaRPr lang="en-IN" sz="1200" dirty="0"/>
          </a:p>
          <a:p>
            <a:pPr marL="12700" marR="5080"/>
            <a:r>
              <a:rPr lang="en-US" sz="1200" dirty="0">
                <a:hlinkClick r:id="rId8"/>
              </a:rPr>
              <a:t>Reduce Memory Footprint of Deep Neural Networks</a:t>
            </a:r>
            <a:endParaRPr lang="en-US" sz="1200" dirty="0"/>
          </a:p>
        </p:txBody>
      </p:sp>
    </p:spTree>
    <p:extLst>
      <p:ext uri="{BB962C8B-B14F-4D97-AF65-F5344CB8AC3E}">
        <p14:creationId xmlns:p14="http://schemas.microsoft.com/office/powerpoint/2010/main" val="19988847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AC93-DA61-735C-E2F7-7B9D66EF116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240A25-7F4C-2F46-DB06-07C37D3BEFD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407A01C6-04C5-C9A4-DAC0-DAE0335E2E9D}"/>
              </a:ext>
            </a:extLst>
          </p:cNvPr>
          <p:cNvSpPr txBox="1"/>
          <p:nvPr/>
        </p:nvSpPr>
        <p:spPr>
          <a:xfrm>
            <a:off x="-12066" y="1211218"/>
            <a:ext cx="8991600" cy="3985706"/>
          </a:xfrm>
          <a:prstGeom prst="rect">
            <a:avLst/>
          </a:prstGeom>
          <a:noFill/>
        </p:spPr>
        <p:txBody>
          <a:bodyPr wrap="square">
            <a:spAutoFit/>
          </a:bodyPr>
          <a:lstStyle/>
          <a:p>
            <a:pPr algn="l">
              <a:buNone/>
            </a:pPr>
            <a:r>
              <a:rPr lang="en-US" sz="1100" b="1" kern="0" spc="-80" dirty="0">
                <a:solidFill>
                  <a:schemeClr val="accent6"/>
                </a:solidFill>
                <a:latin typeface="Lucida Sans"/>
                <a:ea typeface="+mj-ea"/>
              </a:rPr>
              <a:t>To improve machine learning model performance, consider data augmentation, feature engineering, hyperparameter tuning, and ensemble methods, along with regular model monitoring and evaluation. Additionally, addressing data issues like missing values and outliers, and choosing the right algorithms are crucial. </a:t>
            </a:r>
          </a:p>
          <a:p>
            <a:pPr algn="l">
              <a:buNone/>
            </a:pPr>
            <a:r>
              <a:rPr lang="en-US" sz="1100" b="1" kern="0" spc="-80" dirty="0">
                <a:solidFill>
                  <a:schemeClr val="accent6"/>
                </a:solidFill>
                <a:latin typeface="Lucida Sans"/>
                <a:ea typeface="+mj-ea"/>
              </a:rPr>
              <a:t>Here's a more detailed breakdown:</a:t>
            </a:r>
          </a:p>
          <a:p>
            <a:pPr algn="l">
              <a:buNone/>
            </a:pPr>
            <a:r>
              <a:rPr lang="en-US" sz="1100" b="1" kern="0" spc="-80" dirty="0">
                <a:solidFill>
                  <a:schemeClr val="accent2"/>
                </a:solidFill>
                <a:latin typeface="Lucida Sans"/>
                <a:ea typeface="+mj-ea"/>
              </a:rPr>
              <a:t>1. Data is King:</a:t>
            </a:r>
          </a:p>
          <a:p>
            <a:pPr algn="l">
              <a:buNone/>
            </a:pPr>
            <a:r>
              <a:rPr lang="en-US" sz="1100" b="1" kern="0" spc="-80" dirty="0">
                <a:solidFill>
                  <a:schemeClr val="accent2"/>
                </a:solidFill>
                <a:latin typeface="Lucida Sans"/>
                <a:ea typeface="+mj-ea"/>
              </a:rPr>
              <a:t>Data Augmentation: </a:t>
            </a:r>
            <a:r>
              <a:rPr lang="en-US" sz="1100" b="1" kern="0" spc="-80" dirty="0">
                <a:solidFill>
                  <a:schemeClr val="accent6"/>
                </a:solidFill>
                <a:latin typeface="Lucida Sans"/>
                <a:ea typeface="+mj-ea"/>
              </a:rPr>
              <a:t>Increase the size and diversity of your training data by adding synthetic or transformed examples. </a:t>
            </a:r>
          </a:p>
          <a:p>
            <a:pPr algn="l">
              <a:buNone/>
            </a:pPr>
            <a:r>
              <a:rPr lang="en-US" sz="1100" b="1" kern="0" spc="-80" dirty="0">
                <a:solidFill>
                  <a:schemeClr val="accent2"/>
                </a:solidFill>
                <a:latin typeface="Lucida Sans"/>
                <a:ea typeface="+mj-ea"/>
              </a:rPr>
              <a:t>Feature Engineering:</a:t>
            </a:r>
            <a:r>
              <a:rPr lang="en-US" sz="1100" b="1" kern="0" spc="-80" dirty="0">
                <a:solidFill>
                  <a:schemeClr val="accent6"/>
                </a:solidFill>
                <a:latin typeface="Lucida Sans"/>
                <a:ea typeface="+mj-ea"/>
              </a:rPr>
              <a:t> Create new features or transform existing ones to better represent the data and improve model accuracy. </a:t>
            </a:r>
          </a:p>
          <a:p>
            <a:pPr algn="l">
              <a:buNone/>
            </a:pPr>
            <a:r>
              <a:rPr lang="en-US" sz="1100" b="1" kern="0" spc="-80" dirty="0">
                <a:solidFill>
                  <a:schemeClr val="accent2"/>
                </a:solidFill>
                <a:latin typeface="Lucida Sans"/>
                <a:ea typeface="+mj-ea"/>
              </a:rPr>
              <a:t>Data Cleaning: </a:t>
            </a:r>
            <a:r>
              <a:rPr lang="en-US" sz="1100" b="1" kern="0" spc="-80" dirty="0">
                <a:solidFill>
                  <a:schemeClr val="accent6"/>
                </a:solidFill>
                <a:latin typeface="Lucida Sans"/>
                <a:ea typeface="+mj-ea"/>
              </a:rPr>
              <a:t>Handle missing values and outliers appropriately to prevent them from negatively impacting the model. </a:t>
            </a:r>
          </a:p>
          <a:p>
            <a:pPr algn="l">
              <a:buNone/>
            </a:pPr>
            <a:r>
              <a:rPr lang="en-US" sz="1100" b="1" kern="0" spc="-80" dirty="0">
                <a:solidFill>
                  <a:schemeClr val="accent2"/>
                </a:solidFill>
                <a:latin typeface="Lucida Sans"/>
                <a:ea typeface="+mj-ea"/>
              </a:rPr>
              <a:t>Data Preprocessing: </a:t>
            </a:r>
            <a:r>
              <a:rPr lang="en-US" sz="1100" b="1" kern="0" spc="-80" dirty="0">
                <a:solidFill>
                  <a:schemeClr val="accent6"/>
                </a:solidFill>
                <a:latin typeface="Lucida Sans"/>
                <a:ea typeface="+mj-ea"/>
              </a:rPr>
              <a:t>Ensure your data is properly formatted and scaled before feeding it into the model. </a:t>
            </a:r>
          </a:p>
          <a:p>
            <a:pPr algn="l">
              <a:buNone/>
            </a:pPr>
            <a:r>
              <a:rPr lang="en-US" sz="1100" b="1" kern="0" spc="-80" dirty="0">
                <a:solidFill>
                  <a:schemeClr val="accent2"/>
                </a:solidFill>
                <a:latin typeface="Lucida Sans"/>
                <a:ea typeface="+mj-ea"/>
              </a:rPr>
              <a:t>2. Model Selection and Optimization:</a:t>
            </a:r>
          </a:p>
          <a:p>
            <a:pPr algn="l">
              <a:buNone/>
            </a:pPr>
            <a:r>
              <a:rPr lang="en-US" sz="1100" b="1" kern="0" spc="-80" dirty="0">
                <a:solidFill>
                  <a:schemeClr val="accent2"/>
                </a:solidFill>
                <a:latin typeface="Lucida Sans"/>
                <a:ea typeface="+mj-ea"/>
              </a:rPr>
              <a:t>Algorithm Choice: </a:t>
            </a:r>
            <a:r>
              <a:rPr lang="en-US" sz="1100" b="1" kern="0" spc="-80" dirty="0">
                <a:solidFill>
                  <a:schemeClr val="accent6"/>
                </a:solidFill>
                <a:latin typeface="Lucida Sans"/>
                <a:ea typeface="+mj-ea"/>
              </a:rPr>
              <a:t>Select an appropriate algorithm for your problem and data, and consider trying multiple algorithms and comparing their performance. </a:t>
            </a:r>
          </a:p>
          <a:p>
            <a:pPr algn="l">
              <a:buNone/>
            </a:pPr>
            <a:r>
              <a:rPr lang="en-US" sz="1100" b="1" kern="0" spc="-80" dirty="0">
                <a:solidFill>
                  <a:schemeClr val="accent2"/>
                </a:solidFill>
                <a:latin typeface="Lucida Sans"/>
                <a:ea typeface="+mj-ea"/>
              </a:rPr>
              <a:t>Hyperparameter Tuning: </a:t>
            </a:r>
            <a:r>
              <a:rPr lang="en-US" sz="1100" b="1" kern="0" spc="-80" dirty="0">
                <a:solidFill>
                  <a:schemeClr val="accent6"/>
                </a:solidFill>
                <a:latin typeface="Lucida Sans"/>
                <a:ea typeface="+mj-ea"/>
              </a:rPr>
              <a:t>Optimize the model's hyperparameters (settings that control the learning process) using techniques like grid search or Bayesian optimization. </a:t>
            </a:r>
          </a:p>
          <a:p>
            <a:pPr algn="l">
              <a:buNone/>
            </a:pPr>
            <a:r>
              <a:rPr lang="en-US" sz="1100" b="1" kern="0" spc="-80" dirty="0">
                <a:solidFill>
                  <a:schemeClr val="accent2"/>
                </a:solidFill>
                <a:latin typeface="Lucida Sans"/>
                <a:ea typeface="+mj-ea"/>
              </a:rPr>
              <a:t>Ensemble Methods: </a:t>
            </a:r>
            <a:r>
              <a:rPr lang="en-US" sz="1100" b="1" kern="0" spc="-80" dirty="0">
                <a:solidFill>
                  <a:schemeClr val="accent6"/>
                </a:solidFill>
                <a:latin typeface="Lucida Sans"/>
                <a:ea typeface="+mj-ea"/>
              </a:rPr>
              <a:t>Combine multiple models to improve overall performance and reduce variance. </a:t>
            </a:r>
          </a:p>
          <a:p>
            <a:pPr algn="l">
              <a:buNone/>
            </a:pPr>
            <a:r>
              <a:rPr lang="en-US" sz="1100" b="1" kern="0" spc="-80" dirty="0">
                <a:solidFill>
                  <a:schemeClr val="accent2"/>
                </a:solidFill>
                <a:latin typeface="Lucida Sans"/>
                <a:ea typeface="+mj-ea"/>
              </a:rPr>
              <a:t>3. Monitoring and Evaluation:</a:t>
            </a:r>
          </a:p>
          <a:p>
            <a:pPr algn="l">
              <a:buNone/>
            </a:pPr>
            <a:r>
              <a:rPr lang="en-US" sz="1100" b="1" kern="0" spc="-80" dirty="0">
                <a:solidFill>
                  <a:schemeClr val="accent2"/>
                </a:solidFill>
                <a:latin typeface="Lucida Sans"/>
                <a:ea typeface="+mj-ea"/>
              </a:rPr>
              <a:t>Regular Evaluation: </a:t>
            </a:r>
            <a:r>
              <a:rPr lang="en-US" sz="1100" b="1" kern="0" spc="-80" dirty="0">
                <a:solidFill>
                  <a:schemeClr val="accent6"/>
                </a:solidFill>
                <a:latin typeface="Lucida Sans"/>
                <a:ea typeface="+mj-ea"/>
              </a:rPr>
              <a:t>Track model performance using appropriate metrics and compare it against a benchmark. </a:t>
            </a:r>
          </a:p>
          <a:p>
            <a:pPr algn="l">
              <a:buNone/>
            </a:pPr>
            <a:r>
              <a:rPr lang="en-US" sz="1100" b="1" kern="0" spc="-80" dirty="0">
                <a:solidFill>
                  <a:schemeClr val="accent2"/>
                </a:solidFill>
                <a:latin typeface="Lucida Sans"/>
                <a:ea typeface="+mj-ea"/>
              </a:rPr>
              <a:t>Model Drift:</a:t>
            </a:r>
            <a:r>
              <a:rPr lang="en-US" sz="1100" b="1" kern="0" spc="-80" dirty="0">
                <a:solidFill>
                  <a:schemeClr val="accent6"/>
                </a:solidFill>
                <a:latin typeface="Lucida Sans"/>
                <a:ea typeface="+mj-ea"/>
              </a:rPr>
              <a:t> Detect and address changes in the data distribution that can lead to model performance degradation. </a:t>
            </a:r>
          </a:p>
          <a:p>
            <a:pPr algn="l">
              <a:buNone/>
            </a:pPr>
            <a:r>
              <a:rPr lang="en-US" sz="1100" b="1" kern="0" spc="-80" dirty="0">
                <a:solidFill>
                  <a:schemeClr val="accent2"/>
                </a:solidFill>
                <a:latin typeface="Lucida Sans"/>
                <a:ea typeface="+mj-ea"/>
              </a:rPr>
              <a:t>Feedback Loops</a:t>
            </a:r>
            <a:r>
              <a:rPr lang="en-US" sz="1100" b="1" kern="0" spc="-80" dirty="0">
                <a:solidFill>
                  <a:schemeClr val="accent6"/>
                </a:solidFill>
                <a:latin typeface="Lucida Sans"/>
                <a:ea typeface="+mj-ea"/>
              </a:rPr>
              <a:t>: Implement feedback loops to learn from mistakes and adapt to new data. </a:t>
            </a:r>
          </a:p>
          <a:p>
            <a:pPr algn="l">
              <a:buNone/>
            </a:pPr>
            <a:r>
              <a:rPr lang="en-US" sz="1100" b="1" kern="0" spc="-80" dirty="0">
                <a:solidFill>
                  <a:schemeClr val="accent2"/>
                </a:solidFill>
                <a:latin typeface="Lucida Sans"/>
                <a:ea typeface="+mj-ea"/>
              </a:rPr>
              <a:t>4. Other Important Considerations:</a:t>
            </a:r>
          </a:p>
          <a:p>
            <a:pPr algn="l">
              <a:buNone/>
            </a:pPr>
            <a:r>
              <a:rPr lang="en-US" sz="1100" b="1" kern="0" spc="-80" dirty="0">
                <a:solidFill>
                  <a:schemeClr val="accent2"/>
                </a:solidFill>
                <a:latin typeface="Lucida Sans"/>
                <a:ea typeface="+mj-ea"/>
              </a:rPr>
              <a:t>Feature Selection: </a:t>
            </a:r>
            <a:r>
              <a:rPr lang="en-US" sz="1100" b="1" kern="0" spc="-80" dirty="0">
                <a:solidFill>
                  <a:schemeClr val="accent6"/>
                </a:solidFill>
                <a:latin typeface="Lucida Sans"/>
                <a:ea typeface="+mj-ea"/>
              </a:rPr>
              <a:t>Select the most relevant features for your model to reduce complexity and improve performance. </a:t>
            </a:r>
          </a:p>
          <a:p>
            <a:pPr algn="l">
              <a:buNone/>
            </a:pPr>
            <a:r>
              <a:rPr lang="en-US" sz="1100" b="1" kern="0" spc="-80" dirty="0">
                <a:solidFill>
                  <a:schemeClr val="accent2"/>
                </a:solidFill>
                <a:latin typeface="Lucida Sans"/>
                <a:ea typeface="+mj-ea"/>
              </a:rPr>
              <a:t>Regularization: </a:t>
            </a:r>
            <a:r>
              <a:rPr lang="en-US" sz="1100" b="1" kern="0" spc="-80" dirty="0">
                <a:solidFill>
                  <a:schemeClr val="accent6"/>
                </a:solidFill>
                <a:latin typeface="Lucida Sans"/>
                <a:ea typeface="+mj-ea"/>
              </a:rPr>
              <a:t>Use techniques like regularization to prevent overfitting and improve generalization. </a:t>
            </a:r>
          </a:p>
          <a:p>
            <a:pPr algn="l">
              <a:buNone/>
            </a:pPr>
            <a:r>
              <a:rPr lang="en-US" sz="1100" b="1" kern="0" spc="-80" dirty="0">
                <a:solidFill>
                  <a:schemeClr val="accent2"/>
                </a:solidFill>
                <a:latin typeface="Lucida Sans"/>
                <a:ea typeface="+mj-ea"/>
              </a:rPr>
              <a:t>Cross-Validation: </a:t>
            </a:r>
            <a:r>
              <a:rPr lang="en-US" sz="1100" b="1" kern="0" spc="-80" dirty="0">
                <a:solidFill>
                  <a:schemeClr val="accent6"/>
                </a:solidFill>
                <a:latin typeface="Lucida Sans"/>
                <a:ea typeface="+mj-ea"/>
              </a:rPr>
              <a:t>Use cross-validation to assess model performance on unseen data and evaluate model stability. </a:t>
            </a:r>
          </a:p>
        </p:txBody>
      </p:sp>
      <p:sp>
        <p:nvSpPr>
          <p:cNvPr id="8" name="object 4">
            <a:extLst>
              <a:ext uri="{FF2B5EF4-FFF2-40B4-BE49-F238E27FC236}">
                <a16:creationId xmlns:a16="http://schemas.microsoft.com/office/drawing/2014/main" id="{437AA0C5-3E84-906C-B772-467F1FEE0A23}"/>
              </a:ext>
            </a:extLst>
          </p:cNvPr>
          <p:cNvSpPr/>
          <p:nvPr/>
        </p:nvSpPr>
        <p:spPr>
          <a:xfrm>
            <a:off x="1661158" y="114327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B5187DC-6AD8-4110-2C3C-9BD8EE5BDFF1}"/>
              </a:ext>
            </a:extLst>
          </p:cNvPr>
          <p:cNvSpPr/>
          <p:nvPr/>
        </p:nvSpPr>
        <p:spPr>
          <a:xfrm>
            <a:off x="1661158" y="96580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4EB6768-812E-067E-758F-6E8849D161E8}"/>
              </a:ext>
            </a:extLst>
          </p:cNvPr>
          <p:cNvGraphicFramePr/>
          <p:nvPr>
            <p:extLst>
              <p:ext uri="{D42A27DB-BD31-4B8C-83A1-F6EECF244321}">
                <p14:modId xmlns:p14="http://schemas.microsoft.com/office/powerpoint/2010/main" val="158262419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C33C149-CBF5-5062-4D40-BD72068E3F60}"/>
              </a:ext>
            </a:extLst>
          </p:cNvPr>
          <p:cNvSpPr txBox="1">
            <a:spLocks/>
          </p:cNvSpPr>
          <p:nvPr/>
        </p:nvSpPr>
        <p:spPr>
          <a:xfrm>
            <a:off x="41725" y="5105400"/>
            <a:ext cx="8624937"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For Further Exploration –</a:t>
            </a:r>
          </a:p>
          <a:p>
            <a:pPr marL="12700" marR="5080"/>
            <a:r>
              <a:rPr lang="en-IN" sz="1000" dirty="0">
                <a:hlinkClick r:id="rId7"/>
              </a:rPr>
              <a:t>A Complete Guide to Data Augmentation | </a:t>
            </a:r>
            <a:r>
              <a:rPr lang="en-IN" sz="1000" dirty="0" err="1">
                <a:hlinkClick r:id="rId7"/>
              </a:rPr>
              <a:t>DataCamp</a:t>
            </a:r>
            <a:endParaRPr lang="en-IN" sz="1000" dirty="0"/>
          </a:p>
          <a:p>
            <a:pPr marL="12700" marR="5080"/>
            <a:r>
              <a:rPr lang="en-US" sz="1000" dirty="0">
                <a:hlinkClick r:id="rId8"/>
              </a:rPr>
              <a:t>How to Improve ML Models [Lessons From Ex-Amazon]</a:t>
            </a:r>
            <a:endParaRPr lang="en-US" sz="1000" dirty="0"/>
          </a:p>
          <a:p>
            <a:pPr marL="12700" marR="5080"/>
            <a:r>
              <a:rPr lang="en-US" sz="1000" dirty="0">
                <a:hlinkClick r:id="rId9"/>
              </a:rPr>
              <a:t>Why is my machine learning model not converging? | </a:t>
            </a:r>
            <a:r>
              <a:rPr lang="en-US" sz="1000" dirty="0" err="1">
                <a:hlinkClick r:id="rId9"/>
              </a:rPr>
              <a:t>HopHR</a:t>
            </a:r>
            <a:endParaRPr lang="en-US" sz="1000" dirty="0"/>
          </a:p>
          <a:p>
            <a:pPr marL="12700" marR="5080"/>
            <a:r>
              <a:rPr lang="en-US" sz="1000" dirty="0">
                <a:hlinkClick r:id="rId10"/>
              </a:rPr>
              <a:t>Data-Augmentation-with-Python</a:t>
            </a:r>
            <a:endParaRPr lang="en-US" sz="1000" dirty="0"/>
          </a:p>
        </p:txBody>
      </p:sp>
    </p:spTree>
    <p:extLst>
      <p:ext uri="{BB962C8B-B14F-4D97-AF65-F5344CB8AC3E}">
        <p14:creationId xmlns:p14="http://schemas.microsoft.com/office/powerpoint/2010/main" val="14389578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6A390-ACE9-DFE0-3F67-A94F30CA49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F63CCD-4906-52A6-7449-E5BEDEECF6BC}"/>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7" name="TextBox 6">
            <a:extLst>
              <a:ext uri="{FF2B5EF4-FFF2-40B4-BE49-F238E27FC236}">
                <a16:creationId xmlns:a16="http://schemas.microsoft.com/office/drawing/2014/main" id="{3E954E58-C75D-5F01-E819-C9D7B5BA502B}"/>
              </a:ext>
            </a:extLst>
          </p:cNvPr>
          <p:cNvSpPr txBox="1"/>
          <p:nvPr/>
        </p:nvSpPr>
        <p:spPr>
          <a:xfrm>
            <a:off x="0" y="1231642"/>
            <a:ext cx="8991600" cy="4662815"/>
          </a:xfrm>
          <a:prstGeom prst="rect">
            <a:avLst/>
          </a:prstGeom>
          <a:noFill/>
        </p:spPr>
        <p:txBody>
          <a:bodyPr wrap="square">
            <a:spAutoFit/>
          </a:bodyPr>
          <a:lstStyle/>
          <a:p>
            <a:pPr algn="l">
              <a:buNone/>
            </a:pPr>
            <a:r>
              <a:rPr lang="en-US" sz="1100" b="1" kern="0" spc="-80" dirty="0">
                <a:solidFill>
                  <a:schemeClr val="accent6"/>
                </a:solidFill>
                <a:latin typeface="Lucida Sans"/>
                <a:ea typeface="+mj-ea"/>
              </a:rPr>
              <a:t>Business metrics are crucial for evaluating the real-world value and impact of machine learning (ML) models. These metrics go beyond purely technical performance and focus on how the model affects key business outcomes. Metrics like Return on Investment (ROI), Customer Lifetime Value (CLTV), and the reduction in operational costs are essential for demonstrating the model's value to the business. </a:t>
            </a:r>
          </a:p>
          <a:p>
            <a:pPr algn="l">
              <a:buNone/>
            </a:pPr>
            <a:r>
              <a:rPr lang="en-US" sz="1100" b="1" kern="0" spc="-80" dirty="0">
                <a:solidFill>
                  <a:schemeClr val="accent6"/>
                </a:solidFill>
                <a:latin typeface="Lucida Sans"/>
                <a:ea typeface="+mj-ea"/>
              </a:rPr>
              <a:t>Key Business Metrics for Evaluating ML Models:</a:t>
            </a:r>
          </a:p>
          <a:p>
            <a:pPr algn="l">
              <a:buNone/>
            </a:pPr>
            <a:r>
              <a:rPr lang="en-US" sz="1100" b="1" kern="0" spc="-80" dirty="0">
                <a:solidFill>
                  <a:schemeClr val="accent2"/>
                </a:solidFill>
                <a:latin typeface="Lucida Sans"/>
                <a:ea typeface="+mj-ea"/>
              </a:rPr>
              <a:t>Return on Investment (ROI):</a:t>
            </a:r>
            <a:r>
              <a:rPr lang="en-US" sz="1100" b="1" kern="0" spc="-80" dirty="0">
                <a:solidFill>
                  <a:schemeClr val="accent6"/>
                </a:solidFill>
                <a:latin typeface="Lucida Sans"/>
                <a:ea typeface="+mj-ea"/>
              </a:rPr>
              <a:t>This measures the financial gain or loss of an investment in an ML model. ROI helps determine the model's profitability and justifies the cost of development and deployment.</a:t>
            </a:r>
          </a:p>
          <a:p>
            <a:pPr algn="l">
              <a:buNone/>
            </a:pPr>
            <a:r>
              <a:rPr lang="en-US" sz="1100" b="1" kern="0" spc="-80" dirty="0">
                <a:solidFill>
                  <a:schemeClr val="accent2"/>
                </a:solidFill>
                <a:latin typeface="Lucida Sans"/>
                <a:ea typeface="+mj-ea"/>
              </a:rPr>
              <a:t>Customer Lifetime Value (CLTV):</a:t>
            </a:r>
            <a:r>
              <a:rPr lang="en-US" sz="1100" b="1" kern="0" spc="-80" dirty="0">
                <a:solidFill>
                  <a:schemeClr val="accent6"/>
                </a:solidFill>
                <a:latin typeface="Lucida Sans"/>
                <a:ea typeface="+mj-ea"/>
              </a:rPr>
              <a:t>ML models can be used to predict customer behavior and improve customer retention, ultimately increasing CLTV.</a:t>
            </a:r>
          </a:p>
          <a:p>
            <a:pPr algn="l">
              <a:buNone/>
            </a:pPr>
            <a:r>
              <a:rPr lang="en-US" sz="1100" b="1" kern="0" spc="-80" dirty="0">
                <a:solidFill>
                  <a:schemeClr val="accent2"/>
                </a:solidFill>
                <a:latin typeface="Lucida Sans"/>
                <a:ea typeface="+mj-ea"/>
              </a:rPr>
              <a:t>Operational Cost Reduction: </a:t>
            </a:r>
            <a:r>
              <a:rPr lang="en-US" sz="1100" b="1" kern="0" spc="-80" dirty="0">
                <a:solidFill>
                  <a:schemeClr val="accent6"/>
                </a:solidFill>
                <a:latin typeface="Lucida Sans"/>
                <a:ea typeface="+mj-ea"/>
              </a:rPr>
              <a:t>ML models can automate tasks, improve efficiency, and reduce human intervention, leading to cost savings.</a:t>
            </a:r>
          </a:p>
          <a:p>
            <a:pPr algn="l">
              <a:buNone/>
            </a:pPr>
            <a:r>
              <a:rPr lang="en-US" sz="1100" b="1" kern="0" spc="-80" dirty="0">
                <a:solidFill>
                  <a:schemeClr val="accent2"/>
                </a:solidFill>
                <a:latin typeface="Lucida Sans"/>
                <a:ea typeface="+mj-ea"/>
              </a:rPr>
              <a:t>Sales Growth</a:t>
            </a:r>
            <a:r>
              <a:rPr lang="en-US" sz="1100" b="1" kern="0" spc="-80" dirty="0">
                <a:solidFill>
                  <a:schemeClr val="accent6"/>
                </a:solidFill>
                <a:latin typeface="Lucida Sans"/>
                <a:ea typeface="+mj-ea"/>
              </a:rPr>
              <a:t>: ML models can be used to optimize marketing campaigns, personalize customer experiences, and drive sales.</a:t>
            </a:r>
          </a:p>
          <a:p>
            <a:pPr algn="l">
              <a:buNone/>
            </a:pPr>
            <a:r>
              <a:rPr lang="en-US" sz="1100" b="1" kern="0" spc="-80" dirty="0">
                <a:solidFill>
                  <a:schemeClr val="accent2"/>
                </a:solidFill>
                <a:latin typeface="Lucida Sans"/>
                <a:ea typeface="+mj-ea"/>
              </a:rPr>
              <a:t>Improved Customer Satisfaction :</a:t>
            </a:r>
            <a:r>
              <a:rPr lang="en-US" sz="1100" b="1" kern="0" spc="-80" dirty="0">
                <a:solidFill>
                  <a:schemeClr val="accent6"/>
                </a:solidFill>
                <a:latin typeface="Lucida Sans"/>
                <a:ea typeface="+mj-ea"/>
              </a:rPr>
              <a:t>By understanding customer needs and preferences, ML models can help businesses provide better products and services, leading to increased satisfaction.</a:t>
            </a:r>
          </a:p>
          <a:p>
            <a:pPr algn="l">
              <a:buNone/>
            </a:pPr>
            <a:r>
              <a:rPr lang="en-US" sz="1100" b="1" kern="0" spc="-80" dirty="0">
                <a:solidFill>
                  <a:schemeClr val="accent2"/>
                </a:solidFill>
                <a:latin typeface="Lucida Sans"/>
                <a:ea typeface="+mj-ea"/>
              </a:rPr>
              <a:t>Reduced Risk and Fraud</a:t>
            </a:r>
            <a:r>
              <a:rPr lang="en-US" sz="1100" b="1" kern="0" spc="-80" dirty="0">
                <a:solidFill>
                  <a:schemeClr val="accent6"/>
                </a:solidFill>
                <a:latin typeface="Lucida Sans"/>
                <a:ea typeface="+mj-ea"/>
              </a:rPr>
              <a:t>: ML models can identify and prevent fraudulent activities, protect sensitive data, and mitigate financial risks.</a:t>
            </a:r>
          </a:p>
          <a:p>
            <a:pPr algn="l">
              <a:buNone/>
            </a:pPr>
            <a:r>
              <a:rPr lang="en-US" sz="1100" b="1" kern="0" spc="-80" dirty="0">
                <a:solidFill>
                  <a:schemeClr val="accent6"/>
                </a:solidFill>
                <a:latin typeface="Lucida Sans"/>
                <a:ea typeface="+mj-ea"/>
              </a:rPr>
              <a:t>Increased </a:t>
            </a:r>
            <a:r>
              <a:rPr lang="en-US" sz="1100" b="1" kern="0" spc="-80" dirty="0" err="1">
                <a:solidFill>
                  <a:schemeClr val="accent6"/>
                </a:solidFill>
                <a:latin typeface="Lucida Sans"/>
                <a:ea typeface="+mj-ea"/>
              </a:rPr>
              <a:t>Productivity:ML</a:t>
            </a:r>
            <a:r>
              <a:rPr lang="en-US" sz="1100" b="1" kern="0" spc="-80" dirty="0">
                <a:solidFill>
                  <a:schemeClr val="accent6"/>
                </a:solidFill>
                <a:latin typeface="Lucida Sans"/>
                <a:ea typeface="+mj-ea"/>
              </a:rPr>
              <a:t> models can automate tasks, streamline workflows, and enable employees to focus on higher-value activities, boosting productivity.</a:t>
            </a:r>
          </a:p>
          <a:p>
            <a:pPr algn="l">
              <a:buNone/>
            </a:pPr>
            <a:r>
              <a:rPr lang="en-US" sz="1100" b="1" kern="0" spc="-80" dirty="0">
                <a:solidFill>
                  <a:schemeClr val="accent2"/>
                </a:solidFill>
                <a:latin typeface="Lucida Sans"/>
                <a:ea typeface="+mj-ea"/>
              </a:rPr>
              <a:t>Faster Decision-Making: </a:t>
            </a:r>
            <a:r>
              <a:rPr lang="en-US" sz="1100" b="1" kern="0" spc="-80" dirty="0">
                <a:solidFill>
                  <a:schemeClr val="accent6"/>
                </a:solidFill>
                <a:latin typeface="Lucida Sans"/>
                <a:ea typeface="+mj-ea"/>
              </a:rPr>
              <a:t>ML models can provide real-time insights and predictions, enabling faster and more informed decision-making.</a:t>
            </a:r>
          </a:p>
          <a:p>
            <a:pPr algn="l">
              <a:buNone/>
            </a:pPr>
            <a:r>
              <a:rPr lang="en-US" sz="1100" b="1" kern="0" spc="-80" dirty="0">
                <a:solidFill>
                  <a:schemeClr val="accent6"/>
                </a:solidFill>
                <a:latin typeface="Lucida Sans"/>
                <a:ea typeface="+mj-ea"/>
              </a:rPr>
              <a:t>Improved Supply Chain </a:t>
            </a:r>
            <a:r>
              <a:rPr lang="en-US" sz="1100" b="1" kern="0" spc="-80" dirty="0" err="1">
                <a:solidFill>
                  <a:schemeClr val="accent6"/>
                </a:solidFill>
                <a:latin typeface="Lucida Sans"/>
                <a:ea typeface="+mj-ea"/>
              </a:rPr>
              <a:t>Efficiency:ML</a:t>
            </a:r>
            <a:r>
              <a:rPr lang="en-US" sz="1100" b="1" kern="0" spc="-80" dirty="0">
                <a:solidFill>
                  <a:schemeClr val="accent6"/>
                </a:solidFill>
                <a:latin typeface="Lucida Sans"/>
                <a:ea typeface="+mj-ea"/>
              </a:rPr>
              <a:t> models can optimize inventory management, predict demand, and improve logistics, leading to increased efficiency.</a:t>
            </a:r>
          </a:p>
          <a:p>
            <a:pPr algn="l">
              <a:buNone/>
            </a:pPr>
            <a:r>
              <a:rPr lang="en-US" sz="1100" b="1" kern="0" spc="-80" dirty="0">
                <a:solidFill>
                  <a:schemeClr val="accent2"/>
                </a:solidFill>
                <a:latin typeface="Lucida Sans"/>
                <a:ea typeface="+mj-ea"/>
              </a:rPr>
              <a:t>Enhanced Product Development</a:t>
            </a:r>
            <a:r>
              <a:rPr lang="en-US" sz="1100" b="1" kern="0" spc="-80" dirty="0">
                <a:solidFill>
                  <a:schemeClr val="accent6"/>
                </a:solidFill>
                <a:latin typeface="Lucida Sans"/>
                <a:ea typeface="+mj-ea"/>
              </a:rPr>
              <a:t>: ML models can help identify trends, understand customer preferences, and improve product development. </a:t>
            </a:r>
          </a:p>
          <a:p>
            <a:pPr algn="l">
              <a:buNone/>
            </a:pPr>
            <a:r>
              <a:rPr lang="en-US" sz="1100" b="1" kern="0" spc="-80" dirty="0">
                <a:solidFill>
                  <a:schemeClr val="accent6"/>
                </a:solidFill>
                <a:latin typeface="Lucida Sans"/>
                <a:ea typeface="+mj-ea"/>
              </a:rPr>
              <a:t>Why Business Metrics Matter:</a:t>
            </a:r>
          </a:p>
          <a:p>
            <a:pPr algn="l">
              <a:buNone/>
            </a:pPr>
            <a:r>
              <a:rPr lang="en-US" sz="1100" b="1" kern="0" spc="-80" dirty="0">
                <a:solidFill>
                  <a:schemeClr val="accent2"/>
                </a:solidFill>
                <a:latin typeface="Lucida Sans"/>
                <a:ea typeface="+mj-ea"/>
              </a:rPr>
              <a:t>Demonstrates Value: </a:t>
            </a:r>
            <a:r>
              <a:rPr lang="en-US" sz="1100" b="1" kern="0" spc="-80" dirty="0">
                <a:solidFill>
                  <a:schemeClr val="accent6"/>
                </a:solidFill>
                <a:latin typeface="Lucida Sans"/>
                <a:ea typeface="+mj-ea"/>
              </a:rPr>
              <a:t>Business metrics provide a clear and tangible measure of the value that an ML model brings to the organization.</a:t>
            </a:r>
          </a:p>
          <a:p>
            <a:pPr algn="l">
              <a:buNone/>
            </a:pPr>
            <a:r>
              <a:rPr lang="en-US" sz="1100" b="1" kern="0" spc="-80" dirty="0">
                <a:solidFill>
                  <a:schemeClr val="accent2"/>
                </a:solidFill>
                <a:latin typeface="Lucida Sans"/>
                <a:ea typeface="+mj-ea"/>
              </a:rPr>
              <a:t>Justifies Investment: </a:t>
            </a:r>
            <a:r>
              <a:rPr lang="en-US" sz="1100" b="1" kern="0" spc="-80" dirty="0">
                <a:solidFill>
                  <a:schemeClr val="accent6"/>
                </a:solidFill>
                <a:latin typeface="Lucida Sans"/>
                <a:ea typeface="+mj-ea"/>
              </a:rPr>
              <a:t>They help justify the investment in ML development and deployment by showing the return on that investment.</a:t>
            </a:r>
          </a:p>
          <a:p>
            <a:pPr algn="l">
              <a:buNone/>
            </a:pPr>
            <a:r>
              <a:rPr lang="en-US" sz="1100" b="1" kern="0" spc="-80" dirty="0">
                <a:solidFill>
                  <a:schemeClr val="accent2"/>
                </a:solidFill>
                <a:latin typeface="Lucida Sans"/>
                <a:ea typeface="+mj-ea"/>
              </a:rPr>
              <a:t>Guides Decision-</a:t>
            </a:r>
            <a:r>
              <a:rPr lang="en-US" sz="1100" b="1" kern="0" spc="-80" dirty="0">
                <a:solidFill>
                  <a:schemeClr val="accent6"/>
                </a:solidFill>
                <a:latin typeface="Lucida Sans"/>
                <a:ea typeface="+mj-ea"/>
              </a:rPr>
              <a:t> </a:t>
            </a:r>
            <a:r>
              <a:rPr lang="en-US" sz="1100" b="1" kern="0" spc="-80" dirty="0" err="1">
                <a:solidFill>
                  <a:schemeClr val="accent6"/>
                </a:solidFill>
                <a:latin typeface="Lucida Sans"/>
                <a:ea typeface="+mj-ea"/>
              </a:rPr>
              <a:t>Making:Business</a:t>
            </a:r>
            <a:r>
              <a:rPr lang="en-US" sz="1100" b="1" kern="0" spc="-80" dirty="0">
                <a:solidFill>
                  <a:schemeClr val="accent6"/>
                </a:solidFill>
                <a:latin typeface="Lucida Sans"/>
                <a:ea typeface="+mj-ea"/>
              </a:rPr>
              <a:t> metrics inform decision-making about which ML models to prioritize and how to optimize their performance.</a:t>
            </a:r>
          </a:p>
          <a:p>
            <a:pPr algn="l">
              <a:buNone/>
            </a:pPr>
            <a:r>
              <a:rPr lang="en-US" sz="1100" b="1" kern="0" spc="-80" dirty="0">
                <a:solidFill>
                  <a:schemeClr val="accent2"/>
                </a:solidFill>
                <a:latin typeface="Lucida Sans"/>
                <a:ea typeface="+mj-ea"/>
              </a:rPr>
              <a:t>Measures Success: </a:t>
            </a:r>
            <a:r>
              <a:rPr lang="en-US" sz="1100" b="1" kern="0" spc="-80" dirty="0">
                <a:solidFill>
                  <a:schemeClr val="accent6"/>
                </a:solidFill>
                <a:latin typeface="Lucida Sans"/>
                <a:ea typeface="+mj-ea"/>
              </a:rPr>
              <a:t>They provide a framework for measuring the success of ML initiatives and ensuring that they align with business goals.</a:t>
            </a:r>
          </a:p>
          <a:p>
            <a:pPr algn="l">
              <a:buNone/>
            </a:pPr>
            <a:r>
              <a:rPr lang="en-US" sz="1100" b="1" kern="0" spc="-80" dirty="0">
                <a:solidFill>
                  <a:schemeClr val="accent2"/>
                </a:solidFill>
                <a:latin typeface="Lucida Sans"/>
                <a:ea typeface="+mj-ea"/>
              </a:rPr>
              <a:t>Informs Future Investments:</a:t>
            </a:r>
            <a:r>
              <a:rPr lang="en-US" sz="1100" b="1" kern="0" spc="-80" dirty="0">
                <a:solidFill>
                  <a:schemeClr val="accent6"/>
                </a:solidFill>
                <a:latin typeface="Lucida Sans"/>
                <a:ea typeface="+mj-ea"/>
              </a:rPr>
              <a:t> By tracking business metrics, organizations can learn from their ML experiences and make more informed decisions about future investments. </a:t>
            </a:r>
          </a:p>
        </p:txBody>
      </p:sp>
      <p:sp>
        <p:nvSpPr>
          <p:cNvPr id="8" name="object 4">
            <a:extLst>
              <a:ext uri="{FF2B5EF4-FFF2-40B4-BE49-F238E27FC236}">
                <a16:creationId xmlns:a16="http://schemas.microsoft.com/office/drawing/2014/main" id="{8D75656F-B3F1-0157-01B9-61EAFFDDEB2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D4066E3-A711-DCAC-76FA-A80ABEA7B5F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314457A-99F0-4557-4FD9-F27E4532448A}"/>
              </a:ext>
            </a:extLst>
          </p:cNvPr>
          <p:cNvGraphicFramePr/>
          <p:nvPr>
            <p:extLst>
              <p:ext uri="{D42A27DB-BD31-4B8C-83A1-F6EECF244321}">
                <p14:modId xmlns:p14="http://schemas.microsoft.com/office/powerpoint/2010/main" val="1394182204"/>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84361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9F278-EA60-0159-4DC6-819138EE9A6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563F0FE-D0CC-0E4E-86D2-4C946C430ADC}"/>
              </a:ext>
            </a:extLst>
          </p:cNvPr>
          <p:cNvSpPr/>
          <p:nvPr/>
        </p:nvSpPr>
        <p:spPr>
          <a:xfrm>
            <a:off x="1645919"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C8D984-9C51-3A5F-1334-3E8CAA3AD782}"/>
              </a:ext>
            </a:extLst>
          </p:cNvPr>
          <p:cNvSpPr/>
          <p:nvPr/>
        </p:nvSpPr>
        <p:spPr>
          <a:xfrm>
            <a:off x="1645919" y="6858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1766986-D2DC-B9E3-3E9C-59E34FD7786E}"/>
              </a:ext>
            </a:extLst>
          </p:cNvPr>
          <p:cNvGraphicFramePr/>
          <p:nvPr/>
        </p:nvGraphicFramePr>
        <p:xfrm>
          <a:off x="-17146" y="17829"/>
          <a:ext cx="9084945" cy="667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48C0029-4A13-1AB7-4D0E-185D883EBB6B}"/>
              </a:ext>
            </a:extLst>
          </p:cNvPr>
          <p:cNvSpPr txBox="1">
            <a:spLocks/>
          </p:cNvSpPr>
          <p:nvPr/>
        </p:nvSpPr>
        <p:spPr>
          <a:xfrm>
            <a:off x="0" y="995679"/>
            <a:ext cx="9015912"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50" kern="0" spc="-80" dirty="0">
                <a:solidFill>
                  <a:schemeClr val="accent6"/>
                </a:solidFill>
                <a:cs typeface="+mn-cs"/>
              </a:rPr>
              <a:t>Statistical tests are primarily performed during the data exploration, feature selection, and model evaluation phases of a machine learning workflow. They help in understanding data distributions, identifying significant relationships between features and the target variable, and assessing model performance. </a:t>
            </a:r>
          </a:p>
          <a:p>
            <a:pPr marL="12700" marR="5080"/>
            <a:r>
              <a:rPr lang="en-US" sz="1550" kern="0" spc="-80" dirty="0">
                <a:solidFill>
                  <a:schemeClr val="accent2"/>
                </a:solidFill>
                <a:cs typeface="+mn-cs"/>
              </a:rPr>
              <a:t>Data Exploration:</a:t>
            </a:r>
            <a:r>
              <a:rPr lang="en-US" sz="1550" kern="0" spc="-80" dirty="0">
                <a:solidFill>
                  <a:schemeClr val="accent6"/>
                </a:solidFill>
                <a:cs typeface="+mn-cs"/>
              </a:rPr>
              <a:t> Statistical tests are used to analyze data distributions, identify outliers, and understand relationships between variables. This helps in gaining insights into the data and identifying potential issues that need to be addressed during data preparation. </a:t>
            </a:r>
          </a:p>
          <a:p>
            <a:pPr marL="12700" marR="5080"/>
            <a:endParaRPr lang="en-US" sz="1550" kern="0" spc="-80" dirty="0">
              <a:solidFill>
                <a:schemeClr val="accent6"/>
              </a:solidFill>
              <a:cs typeface="+mn-cs"/>
            </a:endParaRPr>
          </a:p>
          <a:p>
            <a:pPr marL="12700" marR="5080"/>
            <a:r>
              <a:rPr lang="en-US" sz="1550" kern="0" spc="-80" dirty="0">
                <a:solidFill>
                  <a:schemeClr val="accent2"/>
                </a:solidFill>
                <a:cs typeface="+mn-cs"/>
              </a:rPr>
              <a:t>Feature Selection:</a:t>
            </a:r>
            <a:r>
              <a:rPr lang="en-US" sz="1550" kern="0" spc="-80" dirty="0">
                <a:solidFill>
                  <a:schemeClr val="accent6"/>
                </a:solidFill>
                <a:cs typeface="+mn-cs"/>
              </a:rPr>
              <a:t> Statistical tests, like the t-test and ANOVA, are used to assess the statistical significance of different features in predicting the target variable. This helps in selecting the most relevant features for model training. </a:t>
            </a:r>
          </a:p>
          <a:p>
            <a:pPr marL="12700" marR="5080"/>
            <a:endParaRPr lang="en-US" sz="1550" kern="0" spc="-80" dirty="0">
              <a:solidFill>
                <a:schemeClr val="accent6"/>
              </a:solidFill>
              <a:cs typeface="+mn-cs"/>
            </a:endParaRPr>
          </a:p>
          <a:p>
            <a:pPr marL="12700" marR="5080"/>
            <a:r>
              <a:rPr lang="en-US" sz="1550" kern="0" spc="-80" dirty="0">
                <a:solidFill>
                  <a:schemeClr val="accent2"/>
                </a:solidFill>
                <a:cs typeface="+mn-cs"/>
              </a:rPr>
              <a:t>Model Evaluation:</a:t>
            </a:r>
            <a:r>
              <a:rPr lang="en-US" sz="1550" kern="0" spc="-80" dirty="0">
                <a:solidFill>
                  <a:schemeClr val="accent6"/>
                </a:solidFill>
                <a:cs typeface="+mn-cs"/>
              </a:rPr>
              <a:t> After model training, statistical tests are used to evaluate the model's performance on unseen data and assess its ability to generalize. Techniques like cross-validation and hypothesis testing are employed to evaluate the model's accuracy, precision, recall, and other relevant metrics. </a:t>
            </a:r>
          </a:p>
          <a:p>
            <a:pPr marL="12700" marR="5080"/>
            <a:r>
              <a:rPr lang="en-US" sz="1550" kern="0" spc="-80" dirty="0">
                <a:solidFill>
                  <a:schemeClr val="accent6"/>
                </a:solidFill>
                <a:cs typeface="+mn-cs"/>
              </a:rPr>
              <a:t>In essence, statistical tests are integral to various stages of the machine learning workflow, ensuring that the analysis and model development process is data-driven and statistically sound. </a:t>
            </a:r>
          </a:p>
          <a:p>
            <a:pPr marL="12700" marR="5080"/>
            <a:endParaRPr lang="en-US" sz="1500" kern="0" spc="-80" dirty="0">
              <a:solidFill>
                <a:schemeClr val="accent6"/>
              </a:solidFill>
              <a:cs typeface="+mn-cs"/>
            </a:endParaRPr>
          </a:p>
          <a:p>
            <a:pPr marL="12700" marR="5080"/>
            <a:r>
              <a:rPr lang="en-US" sz="1500" kern="0" spc="-80" dirty="0">
                <a:solidFill>
                  <a:schemeClr val="accent2"/>
                </a:solidFill>
                <a:cs typeface="+mn-cs"/>
              </a:rPr>
              <a:t>For Further Exploration – </a:t>
            </a:r>
          </a:p>
          <a:p>
            <a:pPr marL="12700" marR="5080"/>
            <a:r>
              <a:rPr lang="en-US" sz="1400" dirty="0">
                <a:hlinkClick r:id="rId7"/>
              </a:rPr>
              <a:t>Choosing the Right Statistical Test | Types &amp; Examples</a:t>
            </a:r>
            <a:endParaRPr lang="en-US" sz="1400" kern="0" spc="-80" dirty="0">
              <a:solidFill>
                <a:schemeClr val="accent2"/>
              </a:solidFill>
              <a:cs typeface="+mn-cs"/>
            </a:endParaRPr>
          </a:p>
        </p:txBody>
      </p:sp>
    </p:spTree>
    <p:extLst>
      <p:ext uri="{BB962C8B-B14F-4D97-AF65-F5344CB8AC3E}">
        <p14:creationId xmlns:p14="http://schemas.microsoft.com/office/powerpoint/2010/main" val="3034370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849F5-6E93-F5DB-9165-01C5756CD0BC}"/>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3E4270D5-ABE4-DCFC-7FBD-30B34C3AA451}"/>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3CBE13E-E7E8-4745-2DFB-C02CB0CDA236}"/>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7443C36-04DC-E4B2-9E3A-9A9C05BCCEFE}"/>
              </a:ext>
            </a:extLst>
          </p:cNvPr>
          <p:cNvGraphicFramePr/>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8E68CDCE-0CBD-FB52-08EB-28124440810D}"/>
              </a:ext>
            </a:extLst>
          </p:cNvPr>
          <p:cNvSpPr/>
          <p:nvPr/>
        </p:nvSpPr>
        <p:spPr>
          <a:xfrm>
            <a:off x="4572000" y="633588"/>
            <a:ext cx="1828800" cy="417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ML Techniques</a:t>
            </a:r>
            <a:endParaRPr lang="en-IN" dirty="0"/>
          </a:p>
        </p:txBody>
      </p:sp>
      <p:sp>
        <p:nvSpPr>
          <p:cNvPr id="4" name="Rectangle 3">
            <a:extLst>
              <a:ext uri="{FF2B5EF4-FFF2-40B4-BE49-F238E27FC236}">
                <a16:creationId xmlns:a16="http://schemas.microsoft.com/office/drawing/2014/main" id="{D03DC3D6-215F-A0D6-115D-C621FC98CD30}"/>
              </a:ext>
            </a:extLst>
          </p:cNvPr>
          <p:cNvSpPr/>
          <p:nvPr/>
        </p:nvSpPr>
        <p:spPr>
          <a:xfrm>
            <a:off x="-1906" y="1039790"/>
            <a:ext cx="4343400" cy="1540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Instance Based Learning - Doesn’t train any model but saves the training dataset &amp; prediction happens comparing instances in prediction phase against the saved training dataset(e.g. using distance metrics). Generally useful for small </a:t>
            </a:r>
            <a:r>
              <a:rPr lang="en-US" dirty="0" err="1"/>
              <a:t>datasets.E.g</a:t>
            </a:r>
            <a:r>
              <a:rPr lang="en-US" dirty="0"/>
              <a:t> - KNN</a:t>
            </a:r>
            <a:endParaRPr lang="en-IN" dirty="0"/>
          </a:p>
        </p:txBody>
      </p:sp>
      <p:sp>
        <p:nvSpPr>
          <p:cNvPr id="5" name="Rectangle 4">
            <a:extLst>
              <a:ext uri="{FF2B5EF4-FFF2-40B4-BE49-F238E27FC236}">
                <a16:creationId xmlns:a16="http://schemas.microsoft.com/office/drawing/2014/main" id="{0A780E5C-B880-5CB6-2BC6-0A45FDA923B3}"/>
              </a:ext>
            </a:extLst>
          </p:cNvPr>
          <p:cNvSpPr/>
          <p:nvPr/>
        </p:nvSpPr>
        <p:spPr>
          <a:xfrm>
            <a:off x="5410200" y="1141728"/>
            <a:ext cx="3657599" cy="1123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Based Learning – Trains a model based on training data &amp; uses the model for </a:t>
            </a:r>
            <a:r>
              <a:rPr lang="en-US" dirty="0" err="1"/>
              <a:t>prediction.Generally</a:t>
            </a:r>
            <a:r>
              <a:rPr lang="en-US" dirty="0"/>
              <a:t> used for large datasets</a:t>
            </a:r>
            <a:endParaRPr lang="en-IN" dirty="0"/>
          </a:p>
        </p:txBody>
      </p:sp>
      <p:cxnSp>
        <p:nvCxnSpPr>
          <p:cNvPr id="12" name="Straight Arrow Connector 11">
            <a:extLst>
              <a:ext uri="{FF2B5EF4-FFF2-40B4-BE49-F238E27FC236}">
                <a16:creationId xmlns:a16="http://schemas.microsoft.com/office/drawing/2014/main" id="{59C64F98-31F1-3A29-CEB2-FA589E7BDE1D}"/>
              </a:ext>
            </a:extLst>
          </p:cNvPr>
          <p:cNvCxnSpPr>
            <a:cxnSpLocks/>
            <a:stCxn id="3" idx="1"/>
            <a:endCxn id="4" idx="0"/>
          </p:cNvCxnSpPr>
          <p:nvPr/>
        </p:nvCxnSpPr>
        <p:spPr>
          <a:xfrm flipH="1">
            <a:off x="2169794" y="842184"/>
            <a:ext cx="2402206" cy="1976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942E33B5-7C2B-1372-B2A2-F4614A0B52A5}"/>
              </a:ext>
            </a:extLst>
          </p:cNvPr>
          <p:cNvCxnSpPr>
            <a:cxnSpLocks/>
            <a:stCxn id="3" idx="3"/>
            <a:endCxn id="5" idx="0"/>
          </p:cNvCxnSpPr>
          <p:nvPr/>
        </p:nvCxnSpPr>
        <p:spPr>
          <a:xfrm>
            <a:off x="6400800" y="842184"/>
            <a:ext cx="838200" cy="2995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9" name="Rectangle 28">
            <a:extLst>
              <a:ext uri="{FF2B5EF4-FFF2-40B4-BE49-F238E27FC236}">
                <a16:creationId xmlns:a16="http://schemas.microsoft.com/office/drawing/2014/main" id="{1DE14578-38AB-FD97-93CA-E631C97EFE64}"/>
              </a:ext>
            </a:extLst>
          </p:cNvPr>
          <p:cNvSpPr/>
          <p:nvPr/>
        </p:nvSpPr>
        <p:spPr>
          <a:xfrm>
            <a:off x="76200" y="2935609"/>
            <a:ext cx="1219200" cy="417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Regression</a:t>
            </a:r>
            <a:endParaRPr lang="en-IN" dirty="0"/>
          </a:p>
        </p:txBody>
      </p:sp>
      <p:sp>
        <p:nvSpPr>
          <p:cNvPr id="30" name="Rectangle 29">
            <a:extLst>
              <a:ext uri="{FF2B5EF4-FFF2-40B4-BE49-F238E27FC236}">
                <a16:creationId xmlns:a16="http://schemas.microsoft.com/office/drawing/2014/main" id="{BA318330-8B5F-4F11-1E19-AE4BA5EF984A}"/>
              </a:ext>
            </a:extLst>
          </p:cNvPr>
          <p:cNvSpPr/>
          <p:nvPr/>
        </p:nvSpPr>
        <p:spPr>
          <a:xfrm>
            <a:off x="1752600" y="3011809"/>
            <a:ext cx="1411606" cy="417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a:t>
            </a:r>
            <a:endParaRPr lang="en-IN" dirty="0"/>
          </a:p>
        </p:txBody>
      </p:sp>
      <p:sp>
        <p:nvSpPr>
          <p:cNvPr id="31" name="Rectangle 30">
            <a:extLst>
              <a:ext uri="{FF2B5EF4-FFF2-40B4-BE49-F238E27FC236}">
                <a16:creationId xmlns:a16="http://schemas.microsoft.com/office/drawing/2014/main" id="{A2A4CDBA-2C79-DD5A-5212-E662448FA44E}"/>
              </a:ext>
            </a:extLst>
          </p:cNvPr>
          <p:cNvSpPr/>
          <p:nvPr/>
        </p:nvSpPr>
        <p:spPr>
          <a:xfrm>
            <a:off x="36194" y="4002409"/>
            <a:ext cx="2021206" cy="874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Clustering</a:t>
            </a:r>
          </a:p>
          <a:p>
            <a:pPr algn="ctr"/>
            <a:r>
              <a:rPr lang="en-US" dirty="0" err="1"/>
              <a:t>E.g</a:t>
            </a:r>
            <a:r>
              <a:rPr lang="en-US" dirty="0"/>
              <a:t> -  K-Means /Hierarchical</a:t>
            </a:r>
            <a:endParaRPr lang="en-IN" dirty="0"/>
          </a:p>
        </p:txBody>
      </p:sp>
      <p:sp>
        <p:nvSpPr>
          <p:cNvPr id="32" name="Rectangle 31">
            <a:extLst>
              <a:ext uri="{FF2B5EF4-FFF2-40B4-BE49-F238E27FC236}">
                <a16:creationId xmlns:a16="http://schemas.microsoft.com/office/drawing/2014/main" id="{72CE5E96-0325-2E76-62E6-47630FF2743E}"/>
              </a:ext>
            </a:extLst>
          </p:cNvPr>
          <p:cNvSpPr/>
          <p:nvPr/>
        </p:nvSpPr>
        <p:spPr>
          <a:xfrm>
            <a:off x="2286000" y="4002409"/>
            <a:ext cx="1676400" cy="8743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Dimensionality Reduction</a:t>
            </a:r>
          </a:p>
          <a:p>
            <a:pPr algn="ctr"/>
            <a:r>
              <a:rPr lang="en-US" dirty="0" err="1"/>
              <a:t>E.g</a:t>
            </a:r>
            <a:r>
              <a:rPr lang="en-US" dirty="0"/>
              <a:t> – DROP/DEL</a:t>
            </a:r>
            <a:endParaRPr lang="en-IN" dirty="0"/>
          </a:p>
        </p:txBody>
      </p:sp>
      <p:cxnSp>
        <p:nvCxnSpPr>
          <p:cNvPr id="33" name="Straight Arrow Connector 32">
            <a:extLst>
              <a:ext uri="{FF2B5EF4-FFF2-40B4-BE49-F238E27FC236}">
                <a16:creationId xmlns:a16="http://schemas.microsoft.com/office/drawing/2014/main" id="{9C52E21D-4E5C-9CC8-0045-C035F7467903}"/>
              </a:ext>
            </a:extLst>
          </p:cNvPr>
          <p:cNvCxnSpPr>
            <a:cxnSpLocks/>
            <a:endCxn id="29" idx="0"/>
          </p:cNvCxnSpPr>
          <p:nvPr/>
        </p:nvCxnSpPr>
        <p:spPr>
          <a:xfrm flipH="1">
            <a:off x="685800" y="2569892"/>
            <a:ext cx="1371600" cy="3657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49C7CF73-5864-DC45-3C66-66C6E98B5CC7}"/>
              </a:ext>
            </a:extLst>
          </p:cNvPr>
          <p:cNvCxnSpPr>
            <a:cxnSpLocks/>
            <a:endCxn id="30" idx="0"/>
          </p:cNvCxnSpPr>
          <p:nvPr/>
        </p:nvCxnSpPr>
        <p:spPr>
          <a:xfrm>
            <a:off x="1981200" y="2569892"/>
            <a:ext cx="477203" cy="4419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156C60B0-DA75-B3AC-662F-6D00C8513DAB}"/>
              </a:ext>
            </a:extLst>
          </p:cNvPr>
          <p:cNvCxnSpPr>
            <a:cxnSpLocks/>
            <a:endCxn id="31" idx="0"/>
          </p:cNvCxnSpPr>
          <p:nvPr/>
        </p:nvCxnSpPr>
        <p:spPr>
          <a:xfrm flipH="1">
            <a:off x="1046797" y="2569892"/>
            <a:ext cx="1010603" cy="14325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E12FB6E6-0C19-23DB-B1AA-4EAA14657EF2}"/>
              </a:ext>
            </a:extLst>
          </p:cNvPr>
          <p:cNvCxnSpPr>
            <a:cxnSpLocks/>
            <a:endCxn id="32" idx="0"/>
          </p:cNvCxnSpPr>
          <p:nvPr/>
        </p:nvCxnSpPr>
        <p:spPr>
          <a:xfrm>
            <a:off x="2001461" y="2568810"/>
            <a:ext cx="1122739" cy="143359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1F372308-3F48-FEAA-25F8-53BAA58D11C6}"/>
              </a:ext>
            </a:extLst>
          </p:cNvPr>
          <p:cNvSpPr/>
          <p:nvPr/>
        </p:nvSpPr>
        <p:spPr>
          <a:xfrm>
            <a:off x="3429000" y="2852941"/>
            <a:ext cx="1219200"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Linear Models</a:t>
            </a:r>
            <a:endParaRPr lang="en-IN" dirty="0"/>
          </a:p>
        </p:txBody>
      </p:sp>
      <p:sp>
        <p:nvSpPr>
          <p:cNvPr id="20" name="Rectangle 19">
            <a:extLst>
              <a:ext uri="{FF2B5EF4-FFF2-40B4-BE49-F238E27FC236}">
                <a16:creationId xmlns:a16="http://schemas.microsoft.com/office/drawing/2014/main" id="{E006FCA5-718A-FE44-52C1-665CAFDF8091}"/>
              </a:ext>
            </a:extLst>
          </p:cNvPr>
          <p:cNvSpPr/>
          <p:nvPr/>
        </p:nvSpPr>
        <p:spPr>
          <a:xfrm>
            <a:off x="4800600" y="2842486"/>
            <a:ext cx="1219200"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Non-Linear Models</a:t>
            </a:r>
            <a:endParaRPr lang="en-IN" dirty="0"/>
          </a:p>
        </p:txBody>
      </p:sp>
      <p:sp>
        <p:nvSpPr>
          <p:cNvPr id="21" name="Rectangle 20">
            <a:extLst>
              <a:ext uri="{FF2B5EF4-FFF2-40B4-BE49-F238E27FC236}">
                <a16:creationId xmlns:a16="http://schemas.microsoft.com/office/drawing/2014/main" id="{F31A8452-0C62-E806-DBB5-ED313B6B1AA8}"/>
              </a:ext>
            </a:extLst>
          </p:cNvPr>
          <p:cNvSpPr/>
          <p:nvPr/>
        </p:nvSpPr>
        <p:spPr>
          <a:xfrm>
            <a:off x="6146800" y="2842486"/>
            <a:ext cx="1320800"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Differential Models</a:t>
            </a:r>
            <a:endParaRPr lang="en-IN" dirty="0"/>
          </a:p>
        </p:txBody>
      </p:sp>
      <p:sp>
        <p:nvSpPr>
          <p:cNvPr id="22" name="Rectangle 21">
            <a:extLst>
              <a:ext uri="{FF2B5EF4-FFF2-40B4-BE49-F238E27FC236}">
                <a16:creationId xmlns:a16="http://schemas.microsoft.com/office/drawing/2014/main" id="{79D154FF-C5D5-62AE-87DB-261BD6B8BFF4}"/>
              </a:ext>
            </a:extLst>
          </p:cNvPr>
          <p:cNvSpPr/>
          <p:nvPr/>
        </p:nvSpPr>
        <p:spPr>
          <a:xfrm>
            <a:off x="7620000" y="2852941"/>
            <a:ext cx="1371599"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Hierarchical</a:t>
            </a:r>
          </a:p>
          <a:p>
            <a:pPr algn="ctr"/>
            <a:r>
              <a:rPr lang="en-US" dirty="0"/>
              <a:t>Models</a:t>
            </a:r>
            <a:endParaRPr lang="en-IN" dirty="0"/>
          </a:p>
        </p:txBody>
      </p:sp>
      <p:sp>
        <p:nvSpPr>
          <p:cNvPr id="23" name="Rectangle 22">
            <a:extLst>
              <a:ext uri="{FF2B5EF4-FFF2-40B4-BE49-F238E27FC236}">
                <a16:creationId xmlns:a16="http://schemas.microsoft.com/office/drawing/2014/main" id="{833CB69C-C121-5725-78D7-99646D765D28}"/>
              </a:ext>
            </a:extLst>
          </p:cNvPr>
          <p:cNvSpPr/>
          <p:nvPr/>
        </p:nvSpPr>
        <p:spPr>
          <a:xfrm>
            <a:off x="7696200" y="3637022"/>
            <a:ext cx="1371599"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Bayesian</a:t>
            </a:r>
          </a:p>
          <a:p>
            <a:pPr algn="ctr"/>
            <a:r>
              <a:rPr lang="en-US" dirty="0"/>
              <a:t>Models</a:t>
            </a:r>
            <a:endParaRPr lang="en-IN" dirty="0"/>
          </a:p>
        </p:txBody>
      </p:sp>
      <p:sp>
        <p:nvSpPr>
          <p:cNvPr id="24" name="Rectangle 23">
            <a:extLst>
              <a:ext uri="{FF2B5EF4-FFF2-40B4-BE49-F238E27FC236}">
                <a16:creationId xmlns:a16="http://schemas.microsoft.com/office/drawing/2014/main" id="{044AAD60-DFA9-7F4E-0673-3E55C4E6B988}"/>
              </a:ext>
            </a:extLst>
          </p:cNvPr>
          <p:cNvSpPr/>
          <p:nvPr/>
        </p:nvSpPr>
        <p:spPr>
          <a:xfrm>
            <a:off x="151924" y="5241613"/>
            <a:ext cx="2098040" cy="569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Regression (using Equations)</a:t>
            </a:r>
            <a:endParaRPr lang="en-IN" dirty="0"/>
          </a:p>
        </p:txBody>
      </p:sp>
      <p:sp>
        <p:nvSpPr>
          <p:cNvPr id="26" name="Rectangle 25">
            <a:extLst>
              <a:ext uri="{FF2B5EF4-FFF2-40B4-BE49-F238E27FC236}">
                <a16:creationId xmlns:a16="http://schemas.microsoft.com/office/drawing/2014/main" id="{34353F52-6C44-6333-14B8-CBEC26740D05}"/>
              </a:ext>
            </a:extLst>
          </p:cNvPr>
          <p:cNvSpPr/>
          <p:nvPr/>
        </p:nvSpPr>
        <p:spPr>
          <a:xfrm>
            <a:off x="2514600" y="5241440"/>
            <a:ext cx="2098040" cy="569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Classification(using In-Equalities)</a:t>
            </a:r>
            <a:endParaRPr lang="en-IN" dirty="0"/>
          </a:p>
        </p:txBody>
      </p:sp>
      <p:cxnSp>
        <p:nvCxnSpPr>
          <p:cNvPr id="27" name="Straight Arrow Connector 26">
            <a:extLst>
              <a:ext uri="{FF2B5EF4-FFF2-40B4-BE49-F238E27FC236}">
                <a16:creationId xmlns:a16="http://schemas.microsoft.com/office/drawing/2014/main" id="{2389A8B3-4E08-6E7D-527D-90CE8839C47F}"/>
              </a:ext>
            </a:extLst>
          </p:cNvPr>
          <p:cNvCxnSpPr>
            <a:cxnSpLocks/>
            <a:stCxn id="5" idx="2"/>
            <a:endCxn id="18" idx="0"/>
          </p:cNvCxnSpPr>
          <p:nvPr/>
        </p:nvCxnSpPr>
        <p:spPr>
          <a:xfrm flipH="1">
            <a:off x="4038600" y="2265092"/>
            <a:ext cx="3200400" cy="5878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D008626B-E72A-12AC-4922-D85549F452BD}"/>
              </a:ext>
            </a:extLst>
          </p:cNvPr>
          <p:cNvCxnSpPr>
            <a:cxnSpLocks/>
            <a:stCxn id="5" idx="2"/>
            <a:endCxn id="20" idx="0"/>
          </p:cNvCxnSpPr>
          <p:nvPr/>
        </p:nvCxnSpPr>
        <p:spPr>
          <a:xfrm flipH="1">
            <a:off x="5410200" y="2265092"/>
            <a:ext cx="1828800" cy="57739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5A4E1958-5F35-6C67-EEE9-E0B744C29B37}"/>
              </a:ext>
            </a:extLst>
          </p:cNvPr>
          <p:cNvCxnSpPr>
            <a:cxnSpLocks/>
            <a:stCxn id="5" idx="2"/>
            <a:endCxn id="21" idx="0"/>
          </p:cNvCxnSpPr>
          <p:nvPr/>
        </p:nvCxnSpPr>
        <p:spPr>
          <a:xfrm flipH="1">
            <a:off x="6807200" y="2265092"/>
            <a:ext cx="431800" cy="577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71A659E-8757-ADF1-FD2B-4AADB6C955FF}"/>
              </a:ext>
            </a:extLst>
          </p:cNvPr>
          <p:cNvCxnSpPr>
            <a:cxnSpLocks/>
            <a:stCxn id="5" idx="2"/>
            <a:endCxn id="22" idx="0"/>
          </p:cNvCxnSpPr>
          <p:nvPr/>
        </p:nvCxnSpPr>
        <p:spPr>
          <a:xfrm>
            <a:off x="7239000" y="2265092"/>
            <a:ext cx="1066800" cy="5878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334C70A3-CEB9-31E4-9E8F-E4CF62FE8041}"/>
              </a:ext>
            </a:extLst>
          </p:cNvPr>
          <p:cNvCxnSpPr>
            <a:cxnSpLocks/>
            <a:stCxn id="5" idx="2"/>
            <a:endCxn id="23" idx="0"/>
          </p:cNvCxnSpPr>
          <p:nvPr/>
        </p:nvCxnSpPr>
        <p:spPr>
          <a:xfrm>
            <a:off x="7239000" y="2265092"/>
            <a:ext cx="1143000" cy="137193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23954B64-DF79-2F07-9C2F-717667189B5B}"/>
              </a:ext>
            </a:extLst>
          </p:cNvPr>
          <p:cNvCxnSpPr>
            <a:cxnSpLocks/>
            <a:stCxn id="18" idx="2"/>
            <a:endCxn id="24" idx="0"/>
          </p:cNvCxnSpPr>
          <p:nvPr/>
        </p:nvCxnSpPr>
        <p:spPr>
          <a:xfrm flipH="1">
            <a:off x="1200944" y="3363255"/>
            <a:ext cx="2837656" cy="187835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D74F49D0-B6E4-0552-6735-3ED69F1C3ED7}"/>
              </a:ext>
            </a:extLst>
          </p:cNvPr>
          <p:cNvCxnSpPr>
            <a:cxnSpLocks/>
            <a:stCxn id="20" idx="2"/>
            <a:endCxn id="24" idx="0"/>
          </p:cNvCxnSpPr>
          <p:nvPr/>
        </p:nvCxnSpPr>
        <p:spPr>
          <a:xfrm flipH="1">
            <a:off x="1200944" y="3352800"/>
            <a:ext cx="4209256" cy="18888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A26EFCC4-3E8F-284F-5FD7-450FDD7CA948}"/>
              </a:ext>
            </a:extLst>
          </p:cNvPr>
          <p:cNvCxnSpPr>
            <a:cxnSpLocks/>
            <a:stCxn id="21" idx="2"/>
            <a:endCxn id="24" idx="0"/>
          </p:cNvCxnSpPr>
          <p:nvPr/>
        </p:nvCxnSpPr>
        <p:spPr>
          <a:xfrm flipH="1">
            <a:off x="1200944" y="3352800"/>
            <a:ext cx="5606256" cy="18888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4B979BA0-F093-27F3-F601-DA0BBA4724D6}"/>
              </a:ext>
            </a:extLst>
          </p:cNvPr>
          <p:cNvCxnSpPr>
            <a:cxnSpLocks/>
            <a:stCxn id="18" idx="2"/>
            <a:endCxn id="26" idx="0"/>
          </p:cNvCxnSpPr>
          <p:nvPr/>
        </p:nvCxnSpPr>
        <p:spPr>
          <a:xfrm flipH="1">
            <a:off x="3563620" y="3363255"/>
            <a:ext cx="474980" cy="187818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23B8F403-E913-703C-4AF2-DF186B003EE1}"/>
              </a:ext>
            </a:extLst>
          </p:cNvPr>
          <p:cNvCxnSpPr>
            <a:cxnSpLocks/>
            <a:stCxn id="20" idx="2"/>
            <a:endCxn id="26" idx="0"/>
          </p:cNvCxnSpPr>
          <p:nvPr/>
        </p:nvCxnSpPr>
        <p:spPr>
          <a:xfrm flipH="1">
            <a:off x="3563620" y="3352800"/>
            <a:ext cx="1846580" cy="18886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24A7E2F8-507B-8B39-933C-352C1094A114}"/>
              </a:ext>
            </a:extLst>
          </p:cNvPr>
          <p:cNvCxnSpPr>
            <a:cxnSpLocks/>
            <a:stCxn id="21" idx="2"/>
            <a:endCxn id="26" idx="0"/>
          </p:cNvCxnSpPr>
          <p:nvPr/>
        </p:nvCxnSpPr>
        <p:spPr>
          <a:xfrm flipH="1">
            <a:off x="3563620" y="3352800"/>
            <a:ext cx="3243580" cy="18886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8" name="Rectangle 67">
            <a:extLst>
              <a:ext uri="{FF2B5EF4-FFF2-40B4-BE49-F238E27FC236}">
                <a16:creationId xmlns:a16="http://schemas.microsoft.com/office/drawing/2014/main" id="{D09F24DD-C650-0040-FA52-0DE9F602F8F3}"/>
              </a:ext>
            </a:extLst>
          </p:cNvPr>
          <p:cNvSpPr/>
          <p:nvPr/>
        </p:nvSpPr>
        <p:spPr>
          <a:xfrm>
            <a:off x="7772400" y="4442686"/>
            <a:ext cx="1219200"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NN/DL</a:t>
            </a:r>
          </a:p>
          <a:p>
            <a:pPr algn="ctr"/>
            <a:r>
              <a:rPr lang="en-US" dirty="0"/>
              <a:t>Models</a:t>
            </a:r>
            <a:endParaRPr lang="en-IN" dirty="0"/>
          </a:p>
        </p:txBody>
      </p:sp>
      <p:sp>
        <p:nvSpPr>
          <p:cNvPr id="71" name="Rectangle 70">
            <a:extLst>
              <a:ext uri="{FF2B5EF4-FFF2-40B4-BE49-F238E27FC236}">
                <a16:creationId xmlns:a16="http://schemas.microsoft.com/office/drawing/2014/main" id="{70B65ED8-7382-EC4C-7FDC-B816CCF3D26F}"/>
              </a:ext>
            </a:extLst>
          </p:cNvPr>
          <p:cNvSpPr/>
          <p:nvPr/>
        </p:nvSpPr>
        <p:spPr>
          <a:xfrm>
            <a:off x="7238999" y="5151120"/>
            <a:ext cx="1676400" cy="721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Density/Energy Models</a:t>
            </a:r>
            <a:endParaRPr lang="en-IN" dirty="0"/>
          </a:p>
        </p:txBody>
      </p:sp>
      <p:cxnSp>
        <p:nvCxnSpPr>
          <p:cNvPr id="72" name="Straight Arrow Connector 71">
            <a:extLst>
              <a:ext uri="{FF2B5EF4-FFF2-40B4-BE49-F238E27FC236}">
                <a16:creationId xmlns:a16="http://schemas.microsoft.com/office/drawing/2014/main" id="{4E30DC9E-A0A3-CFA4-B333-489A64189506}"/>
              </a:ext>
            </a:extLst>
          </p:cNvPr>
          <p:cNvCxnSpPr>
            <a:cxnSpLocks/>
            <a:stCxn id="20" idx="2"/>
            <a:endCxn id="68" idx="0"/>
          </p:cNvCxnSpPr>
          <p:nvPr/>
        </p:nvCxnSpPr>
        <p:spPr>
          <a:xfrm>
            <a:off x="5410200" y="3352800"/>
            <a:ext cx="2971800" cy="108988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5" name="Straight Arrow Connector 74">
            <a:extLst>
              <a:ext uri="{FF2B5EF4-FFF2-40B4-BE49-F238E27FC236}">
                <a16:creationId xmlns:a16="http://schemas.microsoft.com/office/drawing/2014/main" id="{E4544E57-1447-EBA1-9EEF-12BFD3CC5539}"/>
              </a:ext>
            </a:extLst>
          </p:cNvPr>
          <p:cNvCxnSpPr>
            <a:cxnSpLocks/>
            <a:stCxn id="5" idx="2"/>
            <a:endCxn id="71" idx="0"/>
          </p:cNvCxnSpPr>
          <p:nvPr/>
        </p:nvCxnSpPr>
        <p:spPr>
          <a:xfrm>
            <a:off x="7239000" y="2265092"/>
            <a:ext cx="838199" cy="28860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9" name="Straight Arrow Connector 78">
            <a:extLst>
              <a:ext uri="{FF2B5EF4-FFF2-40B4-BE49-F238E27FC236}">
                <a16:creationId xmlns:a16="http://schemas.microsoft.com/office/drawing/2014/main" id="{E37E2976-CE57-D28D-E844-E9EC52B7D89C}"/>
              </a:ext>
            </a:extLst>
          </p:cNvPr>
          <p:cNvCxnSpPr>
            <a:cxnSpLocks/>
            <a:stCxn id="23" idx="1"/>
            <a:endCxn id="24" idx="3"/>
          </p:cNvCxnSpPr>
          <p:nvPr/>
        </p:nvCxnSpPr>
        <p:spPr>
          <a:xfrm flipH="1">
            <a:off x="2249964" y="3892179"/>
            <a:ext cx="5446236" cy="163423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2" name="Straight Arrow Connector 81">
            <a:extLst>
              <a:ext uri="{FF2B5EF4-FFF2-40B4-BE49-F238E27FC236}">
                <a16:creationId xmlns:a16="http://schemas.microsoft.com/office/drawing/2014/main" id="{721F25E5-E27B-9FCF-5223-1DDC46293861}"/>
              </a:ext>
            </a:extLst>
          </p:cNvPr>
          <p:cNvCxnSpPr>
            <a:cxnSpLocks/>
            <a:stCxn id="23" idx="1"/>
            <a:endCxn id="26" idx="0"/>
          </p:cNvCxnSpPr>
          <p:nvPr/>
        </p:nvCxnSpPr>
        <p:spPr>
          <a:xfrm flipH="1">
            <a:off x="3563620" y="3892179"/>
            <a:ext cx="4132580" cy="134926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5E1E22C5-EADD-1B1A-B92C-E0B83170961E}"/>
              </a:ext>
            </a:extLst>
          </p:cNvPr>
          <p:cNvCxnSpPr>
            <a:cxnSpLocks/>
            <a:stCxn id="68" idx="1"/>
            <a:endCxn id="24" idx="3"/>
          </p:cNvCxnSpPr>
          <p:nvPr/>
        </p:nvCxnSpPr>
        <p:spPr>
          <a:xfrm flipH="1">
            <a:off x="2249964" y="4697843"/>
            <a:ext cx="5522436" cy="8285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DAC3A426-F356-44CB-1F55-0AFE9887A121}"/>
              </a:ext>
            </a:extLst>
          </p:cNvPr>
          <p:cNvCxnSpPr>
            <a:cxnSpLocks/>
            <a:stCxn id="68" idx="1"/>
            <a:endCxn id="26" idx="3"/>
          </p:cNvCxnSpPr>
          <p:nvPr/>
        </p:nvCxnSpPr>
        <p:spPr>
          <a:xfrm flipH="1">
            <a:off x="4612640" y="4697843"/>
            <a:ext cx="3159760" cy="82839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1" name="Rectangle 90">
            <a:extLst>
              <a:ext uri="{FF2B5EF4-FFF2-40B4-BE49-F238E27FC236}">
                <a16:creationId xmlns:a16="http://schemas.microsoft.com/office/drawing/2014/main" id="{FED23928-C671-C7F6-0A83-5693EC3AF08A}"/>
              </a:ext>
            </a:extLst>
          </p:cNvPr>
          <p:cNvSpPr/>
          <p:nvPr/>
        </p:nvSpPr>
        <p:spPr>
          <a:xfrm>
            <a:off x="5278356" y="4085155"/>
            <a:ext cx="1219200" cy="510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MDP</a:t>
            </a:r>
          </a:p>
          <a:p>
            <a:pPr algn="ctr"/>
            <a:r>
              <a:rPr lang="en-US" dirty="0"/>
              <a:t>Models</a:t>
            </a:r>
            <a:endParaRPr lang="en-IN" dirty="0"/>
          </a:p>
        </p:txBody>
      </p:sp>
      <p:cxnSp>
        <p:nvCxnSpPr>
          <p:cNvPr id="102" name="Straight Arrow Connector 101">
            <a:extLst>
              <a:ext uri="{FF2B5EF4-FFF2-40B4-BE49-F238E27FC236}">
                <a16:creationId xmlns:a16="http://schemas.microsoft.com/office/drawing/2014/main" id="{41AF5D2F-3C92-5A2B-17CB-B23629D30186}"/>
              </a:ext>
            </a:extLst>
          </p:cNvPr>
          <p:cNvCxnSpPr>
            <a:cxnSpLocks/>
            <a:stCxn id="5" idx="2"/>
            <a:endCxn id="91" idx="0"/>
          </p:cNvCxnSpPr>
          <p:nvPr/>
        </p:nvCxnSpPr>
        <p:spPr>
          <a:xfrm flipH="1">
            <a:off x="5887956" y="2265092"/>
            <a:ext cx="1351044" cy="182006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7" name="Rectangle 116">
            <a:extLst>
              <a:ext uri="{FF2B5EF4-FFF2-40B4-BE49-F238E27FC236}">
                <a16:creationId xmlns:a16="http://schemas.microsoft.com/office/drawing/2014/main" id="{144A549B-AFF8-D449-6164-59A2F0E31FDC}"/>
              </a:ext>
            </a:extLst>
          </p:cNvPr>
          <p:cNvSpPr/>
          <p:nvPr/>
        </p:nvSpPr>
        <p:spPr>
          <a:xfrm>
            <a:off x="4981058" y="5247613"/>
            <a:ext cx="2098040" cy="569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Dimensionality Reduction</a:t>
            </a:r>
            <a:endParaRPr lang="en-IN" dirty="0"/>
          </a:p>
        </p:txBody>
      </p:sp>
      <p:cxnSp>
        <p:nvCxnSpPr>
          <p:cNvPr id="118" name="Straight Arrow Connector 117">
            <a:extLst>
              <a:ext uri="{FF2B5EF4-FFF2-40B4-BE49-F238E27FC236}">
                <a16:creationId xmlns:a16="http://schemas.microsoft.com/office/drawing/2014/main" id="{DB6BDB3D-A3EB-6ABB-1526-424BEB1ACB9B}"/>
              </a:ext>
            </a:extLst>
          </p:cNvPr>
          <p:cNvCxnSpPr>
            <a:cxnSpLocks/>
            <a:stCxn id="18" idx="2"/>
            <a:endCxn id="117" idx="0"/>
          </p:cNvCxnSpPr>
          <p:nvPr/>
        </p:nvCxnSpPr>
        <p:spPr>
          <a:xfrm>
            <a:off x="4038600" y="3363255"/>
            <a:ext cx="1991478" cy="188435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74707635-03A4-BE94-6196-DB0757B62DE6}"/>
              </a:ext>
            </a:extLst>
          </p:cNvPr>
          <p:cNvCxnSpPr>
            <a:cxnSpLocks/>
            <a:stCxn id="20" idx="2"/>
            <a:endCxn id="117" idx="0"/>
          </p:cNvCxnSpPr>
          <p:nvPr/>
        </p:nvCxnSpPr>
        <p:spPr>
          <a:xfrm>
            <a:off x="5410200" y="3352800"/>
            <a:ext cx="619878" cy="18948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4" name="Straight Arrow Connector 123">
            <a:extLst>
              <a:ext uri="{FF2B5EF4-FFF2-40B4-BE49-F238E27FC236}">
                <a16:creationId xmlns:a16="http://schemas.microsoft.com/office/drawing/2014/main" id="{7FD368A8-C28B-3CD4-0B05-B9B110495623}"/>
              </a:ext>
            </a:extLst>
          </p:cNvPr>
          <p:cNvCxnSpPr>
            <a:cxnSpLocks/>
            <a:stCxn id="21" idx="2"/>
            <a:endCxn id="117" idx="0"/>
          </p:cNvCxnSpPr>
          <p:nvPr/>
        </p:nvCxnSpPr>
        <p:spPr>
          <a:xfrm flipH="1">
            <a:off x="6030078" y="3352800"/>
            <a:ext cx="777122" cy="18948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662690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DC68-18B8-FD81-1C8F-1C56602CBFDF}"/>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C9511EC5-5C94-DEC0-F87E-1973ACEC5C88}"/>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5DC537F-DE72-B357-E9CF-B4C079AED0E8}"/>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0C48748-A301-1AA6-4F0F-F686658C2383}"/>
              </a:ext>
            </a:extLst>
          </p:cNvPr>
          <p:cNvGraphicFramePr/>
          <p:nvPr>
            <p:extLst>
              <p:ext uri="{D42A27DB-BD31-4B8C-83A1-F6EECF244321}">
                <p14:modId xmlns:p14="http://schemas.microsoft.com/office/powerpoint/2010/main" val="3026057295"/>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4DA5C47-128E-22F4-E6E8-C9A746DD7C8E}"/>
              </a:ext>
            </a:extLst>
          </p:cNvPr>
          <p:cNvSpPr txBox="1">
            <a:spLocks/>
          </p:cNvSpPr>
          <p:nvPr/>
        </p:nvSpPr>
        <p:spPr>
          <a:xfrm>
            <a:off x="94616" y="874392"/>
            <a:ext cx="9084944"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6"/>
                </a:solidFill>
              </a:rPr>
              <a:t>Some salient points from the previous slide – </a:t>
            </a:r>
          </a:p>
          <a:p>
            <a:pPr marL="241300" marR="5080" indent="-228600">
              <a:buAutoNum type="alphaLcParenR"/>
            </a:pPr>
            <a:r>
              <a:rPr lang="en-US" sz="1250" kern="0" spc="-80" dirty="0">
                <a:solidFill>
                  <a:schemeClr val="accent6"/>
                </a:solidFill>
              </a:rPr>
              <a:t>MDP stands for Markov Decision Process which is the base/foundation for almost all Reinforcement Learning Algos while NN/DL stands for Neural-Network/Deep-Learning.</a:t>
            </a:r>
          </a:p>
          <a:p>
            <a:pPr marL="241300" marR="5080" indent="-228600">
              <a:buAutoNum type="alphaLcParenR"/>
            </a:pPr>
            <a:r>
              <a:rPr lang="en-US" sz="1250" kern="0" spc="-80" dirty="0">
                <a:solidFill>
                  <a:schemeClr val="accent6"/>
                </a:solidFill>
              </a:rPr>
              <a:t>Density/Energy based model use Information Theory as their mathematical foundation in general. DBSCAN(used for Clustering) &amp; Diffusion techniques(used for image generation) are examples of Energy/Density based Learning.</a:t>
            </a:r>
          </a:p>
          <a:p>
            <a:pPr marL="241300" marR="5080" indent="-228600">
              <a:buAutoNum type="alphaLcParenR"/>
            </a:pPr>
            <a:r>
              <a:rPr lang="en-US" sz="1250" kern="0" spc="-80" dirty="0">
                <a:solidFill>
                  <a:schemeClr val="accent6"/>
                </a:solidFill>
              </a:rPr>
              <a:t>We can have models which are combination of models e.g. Decision Tree/Random Forests(an ensemble of Decision trees) is a Hierarchical Energy/Density based model to solve nonlinear problems(similar to kernel methods).</a:t>
            </a:r>
          </a:p>
          <a:p>
            <a:pPr marL="241300" marR="5080" indent="-228600">
              <a:buAutoNum type="alphaLcParenR" startAt="4"/>
            </a:pPr>
            <a:r>
              <a:rPr lang="en-US" sz="1250" kern="0" spc="-80" dirty="0">
                <a:solidFill>
                  <a:schemeClr val="accent6"/>
                </a:solidFill>
              </a:rPr>
              <a:t>Differential Models uses (Ordinary/Partial) Differential Equations/In-Equalities as the training model for </a:t>
            </a:r>
            <a:r>
              <a:rPr lang="en-US" sz="1250" kern="0" spc="-80" dirty="0" err="1">
                <a:solidFill>
                  <a:schemeClr val="accent6"/>
                </a:solidFill>
              </a:rPr>
              <a:t>SciML</a:t>
            </a:r>
            <a:r>
              <a:rPr lang="en-US" sz="1250" kern="0" spc="-80" dirty="0">
                <a:solidFill>
                  <a:schemeClr val="accent6"/>
                </a:solidFill>
              </a:rPr>
              <a:t> based regression and classification </a:t>
            </a:r>
            <a:r>
              <a:rPr lang="en-US" sz="1250" kern="0" spc="-80" dirty="0" err="1">
                <a:solidFill>
                  <a:schemeClr val="accent6"/>
                </a:solidFill>
              </a:rPr>
              <a:t>tasks.For</a:t>
            </a:r>
            <a:r>
              <a:rPr lang="en-US" sz="1250" kern="0" spc="-80" dirty="0">
                <a:solidFill>
                  <a:schemeClr val="accent6"/>
                </a:solidFill>
              </a:rPr>
              <a:t> </a:t>
            </a:r>
            <a:r>
              <a:rPr lang="en-US" sz="1250" kern="0" spc="-80" dirty="0" err="1">
                <a:solidFill>
                  <a:schemeClr val="accent6"/>
                </a:solidFill>
              </a:rPr>
              <a:t>SciML</a:t>
            </a:r>
            <a:r>
              <a:rPr lang="en-US" sz="1250" kern="0" spc="-80" dirty="0">
                <a:solidFill>
                  <a:schemeClr val="accent6"/>
                </a:solidFill>
              </a:rPr>
              <a:t>, can refer </a:t>
            </a:r>
            <a:r>
              <a:rPr lang="en-US" sz="1200" dirty="0">
                <a:hlinkClick r:id="rId7"/>
              </a:rPr>
              <a:t>Scientific Machine Learning (</a:t>
            </a:r>
            <a:r>
              <a:rPr lang="en-US" sz="1200" dirty="0" err="1">
                <a:hlinkClick r:id="rId7"/>
              </a:rPr>
              <a:t>SciML</a:t>
            </a:r>
            <a:r>
              <a:rPr lang="en-US" sz="1200" dirty="0">
                <a:hlinkClick r:id="rId7"/>
              </a:rPr>
              <a:t>)</a:t>
            </a:r>
            <a:r>
              <a:rPr lang="en-US" sz="1200" kern="0" spc="-80" dirty="0">
                <a:solidFill>
                  <a:schemeClr val="accent2"/>
                </a:solidFill>
              </a:rPr>
              <a:t> </a:t>
            </a:r>
            <a:r>
              <a:rPr lang="en-US" sz="1250" kern="0" spc="-80" dirty="0">
                <a:solidFill>
                  <a:schemeClr val="accent6"/>
                </a:solidFill>
              </a:rPr>
              <a:t>&amp; </a:t>
            </a:r>
            <a:r>
              <a:rPr lang="en-US" sz="1200" dirty="0" err="1">
                <a:hlinkClick r:id="rId8"/>
              </a:rPr>
              <a:t>SciML</a:t>
            </a:r>
            <a:r>
              <a:rPr lang="en-US" sz="1200" dirty="0">
                <a:hlinkClick r:id="rId8"/>
              </a:rPr>
              <a:t>: Open Source </a:t>
            </a:r>
            <a:r>
              <a:rPr lang="en-US" sz="1250" kern="0" spc="-80" dirty="0">
                <a:solidFill>
                  <a:schemeClr val="accent6"/>
                </a:solidFill>
                <a:hlinkClick r:id="rId8">
                  <a:extLst>
                    <a:ext uri="{A12FA001-AC4F-418D-AE19-62706E023703}">
                      <ahyp:hlinkClr xmlns:ahyp="http://schemas.microsoft.com/office/drawing/2018/hyperlinkcolor" val="tx"/>
                    </a:ext>
                  </a:extLst>
                </a:hlinkClick>
              </a:rPr>
              <a:t>Software for Scientific Machine Learning, Physics-Informed AI, and Differentiable Programming</a:t>
            </a:r>
            <a:endParaRPr lang="en-US" sz="1250" kern="0" spc="-80" dirty="0">
              <a:solidFill>
                <a:schemeClr val="accent6"/>
              </a:solidFill>
            </a:endParaRPr>
          </a:p>
          <a:p>
            <a:pPr marL="241300" marR="5080" indent="-228600">
              <a:buAutoNum type="alphaLcParenR" startAt="4"/>
            </a:pPr>
            <a:r>
              <a:rPr lang="en-US" sz="1250" kern="0" spc="-80" dirty="0">
                <a:solidFill>
                  <a:schemeClr val="accent6"/>
                </a:solidFill>
              </a:rPr>
              <a:t>KNN is a non-linear algo</a:t>
            </a:r>
          </a:p>
          <a:p>
            <a:pPr marL="241300" marR="5080" indent="-228600">
              <a:buAutoNum type="alphaLcParenR" startAt="4"/>
            </a:pPr>
            <a:endParaRPr lang="en-US" sz="1200" kern="0" spc="-80" dirty="0">
              <a:solidFill>
                <a:schemeClr val="accent2"/>
              </a:solidFill>
            </a:endParaRPr>
          </a:p>
          <a:p>
            <a:pPr marL="12700" marR="5080"/>
            <a:r>
              <a:rPr lang="en-US" sz="1350" kern="0" spc="-80" dirty="0">
                <a:solidFill>
                  <a:schemeClr val="accent2"/>
                </a:solidFill>
              </a:rPr>
              <a:t>For Further Exploration –</a:t>
            </a:r>
          </a:p>
          <a:p>
            <a:pPr marL="12700" marR="5080"/>
            <a:r>
              <a:rPr lang="en-US" sz="1100" dirty="0">
                <a:hlinkClick r:id="rId9"/>
              </a:rPr>
              <a:t>A Tour of Machine Learning Algorithms</a:t>
            </a:r>
            <a:endParaRPr lang="en-US" sz="1100" dirty="0"/>
          </a:p>
          <a:p>
            <a:pPr marL="12700" marR="5080"/>
            <a:r>
              <a:rPr lang="en-IN" sz="1100" dirty="0">
                <a:hlinkClick r:id="rId10"/>
              </a:rPr>
              <a:t>Machine Learning Algorithms </a:t>
            </a:r>
            <a:endParaRPr lang="en-IN" sz="1100" dirty="0"/>
          </a:p>
          <a:p>
            <a:pPr marL="12700" marR="5080"/>
            <a:r>
              <a:rPr lang="en-US" sz="1100" dirty="0">
                <a:hlinkClick r:id="rId11"/>
              </a:rPr>
              <a:t>Why is it recommended to choose an odd value for K in K nearest neighbors</a:t>
            </a:r>
            <a:endParaRPr lang="en-US" sz="1100" dirty="0"/>
          </a:p>
          <a:p>
            <a:pPr marL="12700" marR="5080"/>
            <a:r>
              <a:rPr lang="en-US" sz="1100" dirty="0">
                <a:hlinkClick r:id="rId12"/>
              </a:rPr>
              <a:t>Understanding K-Nearest Neighbors (KNN) Regression in Machine Learning</a:t>
            </a:r>
            <a:endParaRPr lang="en-US" sz="1100" dirty="0"/>
          </a:p>
          <a:p>
            <a:pPr marL="12700" marR="5080"/>
            <a:r>
              <a:rPr lang="en-US" sz="1100" dirty="0">
                <a:hlinkClick r:id="rId13"/>
              </a:rPr>
              <a:t>What is Classification Threshold</a:t>
            </a:r>
            <a:endParaRPr lang="en-US" sz="1100" dirty="0"/>
          </a:p>
          <a:p>
            <a:pPr marL="12700" marR="5080"/>
            <a:r>
              <a:rPr lang="en-US" sz="1100" dirty="0">
                <a:hlinkClick r:id="rId14"/>
              </a:rPr>
              <a:t>Clustering in Machine Learning | </a:t>
            </a:r>
            <a:r>
              <a:rPr lang="en-US" sz="1100" dirty="0" err="1">
                <a:hlinkClick r:id="rId14"/>
              </a:rPr>
              <a:t>GeeksforGeeks</a:t>
            </a:r>
            <a:endParaRPr lang="en-US" sz="1100" dirty="0"/>
          </a:p>
          <a:p>
            <a:pPr marL="12700" marR="5080"/>
            <a:r>
              <a:rPr lang="en-US" sz="1100" dirty="0">
                <a:hlinkClick r:id="rId15"/>
              </a:rPr>
              <a:t>Types of Linkages in Hierarchical Clustering</a:t>
            </a:r>
            <a:endParaRPr lang="en-US" sz="1100" dirty="0"/>
          </a:p>
          <a:p>
            <a:pPr marL="12700" marR="5080"/>
            <a:r>
              <a:rPr lang="en-IN" sz="1100" dirty="0">
                <a:hlinkClick r:id="rId16"/>
              </a:rPr>
              <a:t>Understanding Dimensionality Reduction | </a:t>
            </a:r>
            <a:r>
              <a:rPr lang="en-IN" sz="1100" dirty="0" err="1">
                <a:hlinkClick r:id="rId16"/>
              </a:rPr>
              <a:t>DataCamp</a:t>
            </a:r>
            <a:endParaRPr lang="en-IN" sz="1100" dirty="0"/>
          </a:p>
          <a:p>
            <a:pPr marL="12700" marR="5080"/>
            <a:r>
              <a:rPr lang="en-US" sz="1100" dirty="0">
                <a:hlinkClick r:id="rId17"/>
              </a:rPr>
              <a:t>Machine-Learning-Algorithms</a:t>
            </a:r>
            <a:endParaRPr lang="en-US" sz="1100" dirty="0"/>
          </a:p>
          <a:p>
            <a:pPr marL="12700" marR="5080"/>
            <a:r>
              <a:rPr lang="en-US" sz="1100" dirty="0">
                <a:hlinkClick r:id="rId18"/>
              </a:rPr>
              <a:t>Mastering-Machine-Learning-Algorithms</a:t>
            </a:r>
            <a:endParaRPr lang="en-US" sz="1100" dirty="0"/>
          </a:p>
          <a:p>
            <a:pPr marL="12700" marR="5080"/>
            <a:r>
              <a:rPr lang="en-US" sz="1100" dirty="0">
                <a:hlinkClick r:id="rId19"/>
              </a:rPr>
              <a:t>HandsOn-Unsupervised-Learning-with-Python</a:t>
            </a:r>
            <a:endParaRPr lang="en-US" sz="1100" dirty="0"/>
          </a:p>
          <a:p>
            <a:pPr marL="12700" marR="5080"/>
            <a:r>
              <a:rPr lang="en-US" sz="1100" dirty="0">
                <a:hlinkClick r:id="rId20"/>
              </a:rPr>
              <a:t>Hands-on Unsupervised Learning Using Python</a:t>
            </a:r>
            <a:endParaRPr lang="en-US" sz="1100" dirty="0"/>
          </a:p>
          <a:p>
            <a:pPr marL="12700" marR="5080"/>
            <a:r>
              <a:rPr lang="en-IN" sz="1100" dirty="0">
                <a:hlinkClick r:id="rId21"/>
              </a:rPr>
              <a:t>ML algorithms in depth</a:t>
            </a:r>
            <a:endParaRPr lang="en-IN" sz="1100" dirty="0"/>
          </a:p>
          <a:p>
            <a:pPr marL="12700" marR="5080"/>
            <a:r>
              <a:rPr lang="en-US" sz="1100" dirty="0">
                <a:hlinkClick r:id="rId22"/>
              </a:rPr>
              <a:t>How to Compare Machine Learning Models and Algorithms</a:t>
            </a:r>
            <a:endParaRPr lang="en-US" sz="1100" dirty="0"/>
          </a:p>
          <a:p>
            <a:pPr marL="12700" marR="5080"/>
            <a:r>
              <a:rPr lang="en-US" sz="1100" dirty="0">
                <a:hlinkClick r:id="rId23"/>
              </a:rPr>
              <a:t>Choosing the right estimator — scikit-learn 1.6.1 documentation</a:t>
            </a:r>
            <a:endParaRPr lang="en-US" sz="1100" dirty="0"/>
          </a:p>
          <a:p>
            <a:pPr marL="12700" marR="5080"/>
            <a:endParaRPr lang="en-US" sz="1200" dirty="0"/>
          </a:p>
        </p:txBody>
      </p:sp>
    </p:spTree>
    <p:extLst>
      <p:ext uri="{BB962C8B-B14F-4D97-AF65-F5344CB8AC3E}">
        <p14:creationId xmlns:p14="http://schemas.microsoft.com/office/powerpoint/2010/main" val="19799429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7316-C49F-5433-B1A8-209FC525EC9E}"/>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01023A2B-8972-8883-2C18-5960EC925514}"/>
              </a:ext>
            </a:extLst>
          </p:cNvPr>
          <p:cNvSpPr/>
          <p:nvPr/>
        </p:nvSpPr>
        <p:spPr>
          <a:xfrm flipV="1">
            <a:off x="1661158" y="787556"/>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177D92B-49A0-21A5-6A88-8E0A284BB577}"/>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47D06B34-7250-5832-51AC-078DC4560F09}"/>
              </a:ext>
            </a:extLst>
          </p:cNvPr>
          <p:cNvGraphicFramePr/>
          <p:nvPr>
            <p:extLst>
              <p:ext uri="{D42A27DB-BD31-4B8C-83A1-F6EECF244321}">
                <p14:modId xmlns:p14="http://schemas.microsoft.com/office/powerpoint/2010/main" val="679333054"/>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8285F981-A159-D6B8-0BA4-F9BB2B0800CA}"/>
              </a:ext>
            </a:extLst>
          </p:cNvPr>
          <p:cNvSpPr txBox="1">
            <a:spLocks/>
          </p:cNvSpPr>
          <p:nvPr/>
        </p:nvSpPr>
        <p:spPr>
          <a:xfrm>
            <a:off x="29528" y="929320"/>
            <a:ext cx="9084944" cy="50967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75" kern="0" spc="-80" dirty="0">
                <a:solidFill>
                  <a:schemeClr val="accent6"/>
                </a:solidFill>
              </a:rPr>
              <a:t>Regression algorithms are used to predict a continuous outcome based on one or more independent variables. Common types include linear regression, polynomial regression, and regression trees. Each algorithm has its strengths and weaknesses, and the best choice depends on the nature of the data and the relationships being modeled. </a:t>
            </a:r>
          </a:p>
          <a:p>
            <a:pPr marL="12700" marR="5080"/>
            <a:r>
              <a:rPr lang="en-US" sz="1375" kern="0" spc="-80" dirty="0">
                <a:solidFill>
                  <a:schemeClr val="accent2"/>
                </a:solidFill>
              </a:rPr>
              <a:t>Linear Regression</a:t>
            </a:r>
            <a:r>
              <a:rPr lang="en-US" sz="1375" kern="0" spc="-80" dirty="0">
                <a:solidFill>
                  <a:schemeClr val="accent6"/>
                </a:solidFill>
              </a:rPr>
              <a:t>:</a:t>
            </a:r>
          </a:p>
          <a:p>
            <a:pPr marL="12700" marR="5080"/>
            <a:r>
              <a:rPr lang="en-US" sz="1375" kern="0" spc="-80" dirty="0">
                <a:solidFill>
                  <a:schemeClr val="accent2"/>
                </a:solidFill>
              </a:rPr>
              <a:t>Pros:</a:t>
            </a:r>
            <a:r>
              <a:rPr lang="en-US" sz="1375" kern="0" spc="-80" dirty="0">
                <a:solidFill>
                  <a:schemeClr val="accent6"/>
                </a:solidFill>
              </a:rPr>
              <a:t> Simple to implement, interpret, and computationally efficient. It provides clear insights into the relationships between variables. </a:t>
            </a:r>
          </a:p>
          <a:p>
            <a:pPr marL="12700" marR="5080"/>
            <a:r>
              <a:rPr lang="en-US" sz="1375" kern="0" spc="-80" dirty="0">
                <a:solidFill>
                  <a:schemeClr val="accent2"/>
                </a:solidFill>
              </a:rPr>
              <a:t>Cons</a:t>
            </a:r>
            <a:r>
              <a:rPr lang="en-US" sz="1375" kern="0" spc="-80" dirty="0">
                <a:solidFill>
                  <a:schemeClr val="accent6"/>
                </a:solidFill>
              </a:rPr>
              <a:t>: Struggles </a:t>
            </a:r>
            <a:r>
              <a:rPr lang="en-US" sz="1370" kern="0" spc="-80" dirty="0">
                <a:solidFill>
                  <a:schemeClr val="accent6"/>
                </a:solidFill>
              </a:rPr>
              <a:t>with</a:t>
            </a:r>
            <a:r>
              <a:rPr lang="en-US" sz="1375" kern="0" spc="-80" dirty="0">
                <a:solidFill>
                  <a:schemeClr val="accent6"/>
                </a:solidFill>
              </a:rPr>
              <a:t> complex, non-linear data, sensitive to outliers, and assumes independence, homoscedasticity, and normality, which may not hold in many real-world scenarios. </a:t>
            </a:r>
          </a:p>
          <a:p>
            <a:pPr marL="12700" marR="5080"/>
            <a:r>
              <a:rPr lang="en-US" sz="1375" kern="0" spc="-80" dirty="0">
                <a:solidFill>
                  <a:schemeClr val="accent2"/>
                </a:solidFill>
              </a:rPr>
              <a:t>When to use:</a:t>
            </a:r>
            <a:r>
              <a:rPr lang="en-US" sz="1375" kern="0" spc="-80" dirty="0">
                <a:solidFill>
                  <a:schemeClr val="accent6"/>
                </a:solidFill>
              </a:rPr>
              <a:t> When the relationship between the independent and dependent variables is believed to be linear, or when you need a simple and interpretable model. </a:t>
            </a:r>
          </a:p>
          <a:p>
            <a:pPr marL="12700" marR="5080"/>
            <a:r>
              <a:rPr lang="en-US" sz="1375" kern="0" spc="-80" dirty="0">
                <a:solidFill>
                  <a:schemeClr val="accent2"/>
                </a:solidFill>
              </a:rPr>
              <a:t>Polynomial Regression:</a:t>
            </a:r>
          </a:p>
          <a:p>
            <a:pPr marL="12700" marR="5080"/>
            <a:r>
              <a:rPr lang="en-US" sz="1375" kern="0" spc="-80" dirty="0">
                <a:solidFill>
                  <a:schemeClr val="accent6"/>
                </a:solidFill>
              </a:rPr>
              <a:t>Pros: Can capture non-linear relationships by adding polynomial terms to the model.</a:t>
            </a:r>
          </a:p>
          <a:p>
            <a:pPr marL="12700" marR="5080"/>
            <a:r>
              <a:rPr lang="en-US" sz="1375" kern="0" spc="-80" dirty="0">
                <a:solidFill>
                  <a:schemeClr val="accent2"/>
                </a:solidFill>
              </a:rPr>
              <a:t>Cons:</a:t>
            </a:r>
            <a:r>
              <a:rPr lang="en-US" sz="1375" kern="0" spc="-80" dirty="0">
                <a:solidFill>
                  <a:schemeClr val="accent6"/>
                </a:solidFill>
              </a:rPr>
              <a:t> Can be computationally more intensive than linear regression, and overfitting is a risk if the polynomial degree is too high.</a:t>
            </a:r>
          </a:p>
          <a:p>
            <a:pPr marL="12700" marR="5080"/>
            <a:r>
              <a:rPr lang="en-US" sz="1375" kern="0" spc="-80" dirty="0">
                <a:solidFill>
                  <a:schemeClr val="accent2"/>
                </a:solidFill>
              </a:rPr>
              <a:t>When to use:</a:t>
            </a:r>
            <a:r>
              <a:rPr lang="en-US" sz="1375" kern="0" spc="-80" dirty="0">
                <a:solidFill>
                  <a:schemeClr val="accent6"/>
                </a:solidFill>
              </a:rPr>
              <a:t> When the data exhibits a curvilinear relationship that can be reasonably approximated by a polynomial curve. </a:t>
            </a:r>
          </a:p>
          <a:p>
            <a:pPr marL="12700" marR="5080"/>
            <a:r>
              <a:rPr lang="en-US" sz="1375" kern="0" spc="-80" dirty="0">
                <a:solidFill>
                  <a:schemeClr val="accent2"/>
                </a:solidFill>
              </a:rPr>
              <a:t>Regression Trees (Decision Trees):</a:t>
            </a:r>
          </a:p>
          <a:p>
            <a:pPr marL="12700" marR="5080"/>
            <a:r>
              <a:rPr lang="en-US" sz="1375" kern="0" spc="-80" dirty="0">
                <a:solidFill>
                  <a:schemeClr val="accent2"/>
                </a:solidFill>
              </a:rPr>
              <a:t>Pros</a:t>
            </a:r>
            <a:r>
              <a:rPr lang="en-US" sz="1375" kern="0" spc="-80" dirty="0">
                <a:solidFill>
                  <a:schemeClr val="accent6"/>
                </a:solidFill>
              </a:rPr>
              <a:t>: Can capture complex, non-linear relationships, good for handling categorical features, and can be visualized.</a:t>
            </a:r>
          </a:p>
          <a:p>
            <a:pPr marL="12700" marR="5080"/>
            <a:r>
              <a:rPr lang="en-US" sz="1375" kern="0" spc="-80" dirty="0">
                <a:solidFill>
                  <a:schemeClr val="accent2"/>
                </a:solidFill>
              </a:rPr>
              <a:t>Cons</a:t>
            </a:r>
            <a:r>
              <a:rPr lang="en-US" sz="1375" kern="0" spc="-80" dirty="0">
                <a:solidFill>
                  <a:schemeClr val="accent6"/>
                </a:solidFill>
              </a:rPr>
              <a:t>: Prone to overfitting, can be sensitive to small changes in the data, and can be difficult to interpret if they become very deep.</a:t>
            </a:r>
          </a:p>
          <a:p>
            <a:pPr marL="12700" marR="5080"/>
            <a:r>
              <a:rPr lang="en-US" sz="1375" kern="0" spc="-80" dirty="0">
                <a:solidFill>
                  <a:schemeClr val="accent2"/>
                </a:solidFill>
              </a:rPr>
              <a:t>When to use:</a:t>
            </a:r>
            <a:r>
              <a:rPr lang="en-US" sz="1375" kern="0" spc="-80" dirty="0">
                <a:solidFill>
                  <a:schemeClr val="accent6"/>
                </a:solidFill>
              </a:rPr>
              <a:t> When the data is complex, non-linear, or when you want to incorporate both numerical and categorical features in your mode</a:t>
            </a:r>
          </a:p>
        </p:txBody>
      </p:sp>
    </p:spTree>
    <p:extLst>
      <p:ext uri="{BB962C8B-B14F-4D97-AF65-F5344CB8AC3E}">
        <p14:creationId xmlns:p14="http://schemas.microsoft.com/office/powerpoint/2010/main" val="34656887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051A8-781B-44E5-47CD-231732186023}"/>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A799AF22-3561-F824-B847-55CD15301EF9}"/>
              </a:ext>
            </a:extLst>
          </p:cNvPr>
          <p:cNvSpPr/>
          <p:nvPr/>
        </p:nvSpPr>
        <p:spPr>
          <a:xfrm flipV="1">
            <a:off x="1666238" y="760092"/>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70EB264-FCF0-D247-81C0-BD8756E99309}"/>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C9D8170-5002-A3B8-5A1F-57DC1EF0F9FA}"/>
              </a:ext>
            </a:extLst>
          </p:cNvPr>
          <p:cNvGraphicFramePr/>
          <p:nvPr>
            <p:extLst>
              <p:ext uri="{D42A27DB-BD31-4B8C-83A1-F6EECF244321}">
                <p14:modId xmlns:p14="http://schemas.microsoft.com/office/powerpoint/2010/main" val="1774556007"/>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DAD78329-903C-C6D5-4A70-27CEAD32E27B}"/>
              </a:ext>
            </a:extLst>
          </p:cNvPr>
          <p:cNvSpPr txBox="1">
            <a:spLocks/>
          </p:cNvSpPr>
          <p:nvPr/>
        </p:nvSpPr>
        <p:spPr>
          <a:xfrm>
            <a:off x="94616" y="874392"/>
            <a:ext cx="9084944"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Classification algorithms are used to categorize data into distinct classes. Popular choices include K-Nearest Neighbors (KNN), Naive Bayes, Support Vector Machines (SVM), Decision Trees, Random Forests, and Logistic Regression. Each has pros and cons, and the best choice depends on factors like data size, complexity, and interpretability requirements. </a:t>
            </a:r>
          </a:p>
          <a:p>
            <a:pPr marL="12700" marR="5080"/>
            <a:r>
              <a:rPr lang="en-US" sz="1500" kern="0" spc="-80" dirty="0">
                <a:solidFill>
                  <a:schemeClr val="accent2"/>
                </a:solidFill>
              </a:rPr>
              <a:t>1. K-Nearest Neighbors (KNN):</a:t>
            </a:r>
          </a:p>
          <a:p>
            <a:pPr marL="12700" marR="5080"/>
            <a:r>
              <a:rPr lang="en-US" sz="1500" kern="0" spc="-80" dirty="0">
                <a:solidFill>
                  <a:schemeClr val="accent2"/>
                </a:solidFill>
              </a:rPr>
              <a:t>Pros</a:t>
            </a:r>
            <a:r>
              <a:rPr lang="en-US" sz="1500" kern="0" spc="-80" dirty="0">
                <a:solidFill>
                  <a:schemeClr val="accent6"/>
                </a:solidFill>
              </a:rPr>
              <a:t>: Simple to understand and implement, handles both numerical and categorical data, and can be visualized easily. </a:t>
            </a:r>
          </a:p>
          <a:p>
            <a:pPr marL="12700" marR="5080"/>
            <a:r>
              <a:rPr lang="en-US" sz="1500" kern="0" spc="-80" dirty="0">
                <a:solidFill>
                  <a:schemeClr val="accent2"/>
                </a:solidFill>
              </a:rPr>
              <a:t>Cons</a:t>
            </a:r>
            <a:r>
              <a:rPr lang="en-US" sz="1500" kern="0" spc="-80" dirty="0">
                <a:solidFill>
                  <a:schemeClr val="accent6"/>
                </a:solidFill>
              </a:rPr>
              <a:t>: Can be prone to overfitting, especially with many features, and performance can be unstable with small data variations. </a:t>
            </a:r>
          </a:p>
          <a:p>
            <a:pPr marL="12700" marR="5080"/>
            <a:r>
              <a:rPr lang="en-US" sz="1500" kern="0" spc="-80" dirty="0">
                <a:solidFill>
                  <a:schemeClr val="accent2"/>
                </a:solidFill>
              </a:rPr>
              <a:t>When to use:</a:t>
            </a:r>
            <a:r>
              <a:rPr lang="en-US" sz="1500" kern="0" spc="-80" dirty="0">
                <a:solidFill>
                  <a:schemeClr val="accent6"/>
                </a:solidFill>
              </a:rPr>
              <a:t> Small to medium-sized datasets where interpretability and simplicity are important. </a:t>
            </a:r>
          </a:p>
          <a:p>
            <a:pPr marL="12700" marR="5080"/>
            <a:r>
              <a:rPr lang="en-US" sz="1500" kern="0" spc="-80" dirty="0">
                <a:solidFill>
                  <a:schemeClr val="accent2"/>
                </a:solidFill>
              </a:rPr>
              <a:t>2. Naive Bayes:</a:t>
            </a:r>
          </a:p>
          <a:p>
            <a:pPr marL="12700" marR="5080"/>
            <a:r>
              <a:rPr lang="en-US" sz="1500" kern="0" spc="-80" dirty="0">
                <a:solidFill>
                  <a:schemeClr val="accent2"/>
                </a:solidFill>
              </a:rPr>
              <a:t>Pros:</a:t>
            </a:r>
            <a:r>
              <a:rPr lang="en-US" sz="1500" kern="0" spc="-80" dirty="0">
                <a:solidFill>
                  <a:schemeClr val="accent6"/>
                </a:solidFill>
              </a:rPr>
              <a:t> Simple, computationally efficient, requires less training data, and can handle both continuous and discrete data. </a:t>
            </a:r>
          </a:p>
          <a:p>
            <a:pPr marL="12700" marR="5080"/>
            <a:r>
              <a:rPr lang="en-US" sz="1500" kern="0" spc="-80" dirty="0">
                <a:solidFill>
                  <a:schemeClr val="accent2"/>
                </a:solidFill>
              </a:rPr>
              <a:t>Cons:</a:t>
            </a:r>
            <a:r>
              <a:rPr lang="en-US" sz="1500" kern="0" spc="-80" dirty="0">
                <a:solidFill>
                  <a:schemeClr val="accent6"/>
                </a:solidFill>
              </a:rPr>
              <a:t> Relies on a strong assumption of feature independence, which might not always hold true in real-world data. </a:t>
            </a:r>
          </a:p>
          <a:p>
            <a:pPr marL="12700" marR="5080"/>
            <a:r>
              <a:rPr lang="en-US" sz="1500" kern="0" spc="-80" dirty="0">
                <a:solidFill>
                  <a:schemeClr val="accent2"/>
                </a:solidFill>
              </a:rPr>
              <a:t>When to use:</a:t>
            </a:r>
            <a:r>
              <a:rPr lang="en-US" sz="1500" kern="0" spc="-80" dirty="0">
                <a:solidFill>
                  <a:schemeClr val="accent6"/>
                </a:solidFill>
              </a:rPr>
              <a:t> Simple classification problems, especially with a limited amount of data. </a:t>
            </a:r>
          </a:p>
          <a:p>
            <a:pPr marL="12700" marR="5080"/>
            <a:r>
              <a:rPr lang="en-US" sz="1500" kern="0" spc="-80" dirty="0">
                <a:solidFill>
                  <a:schemeClr val="accent2"/>
                </a:solidFill>
              </a:rPr>
              <a:t>3. Support Vector Machines (SVM):</a:t>
            </a:r>
          </a:p>
          <a:p>
            <a:pPr marL="12700" marR="5080"/>
            <a:r>
              <a:rPr lang="en-US" sz="1500" kern="0" spc="-80" dirty="0">
                <a:solidFill>
                  <a:schemeClr val="accent2"/>
                </a:solidFill>
              </a:rPr>
              <a:t>Pros:</a:t>
            </a:r>
            <a:r>
              <a:rPr lang="en-US" sz="1500" kern="0" spc="-80" dirty="0">
                <a:solidFill>
                  <a:schemeClr val="accent6"/>
                </a:solidFill>
              </a:rPr>
              <a:t> Effective in high-dimensional spaces, memory-efficient, and less influenced by outliers.</a:t>
            </a:r>
          </a:p>
          <a:p>
            <a:pPr marL="12700" marR="5080"/>
            <a:r>
              <a:rPr lang="en-US" sz="1500" kern="0" spc="-80" dirty="0">
                <a:solidFill>
                  <a:schemeClr val="accent2"/>
                </a:solidFill>
              </a:rPr>
              <a:t>Cons:</a:t>
            </a:r>
            <a:r>
              <a:rPr lang="en-US" sz="1500" kern="0" spc="-80" dirty="0">
                <a:solidFill>
                  <a:schemeClr val="accent6"/>
                </a:solidFill>
              </a:rPr>
              <a:t> Computationally expensive, no direct probability estimates, and requires careful kernel function selection.</a:t>
            </a:r>
          </a:p>
          <a:p>
            <a:pPr marL="12700" marR="5080"/>
            <a:r>
              <a:rPr lang="en-US" sz="1500" kern="0" spc="-80" dirty="0">
                <a:solidFill>
                  <a:schemeClr val="accent2"/>
                </a:solidFill>
              </a:rPr>
              <a:t>When to use:</a:t>
            </a:r>
            <a:r>
              <a:rPr lang="en-US" sz="1500" kern="0" spc="-80" dirty="0">
                <a:solidFill>
                  <a:schemeClr val="accent6"/>
                </a:solidFill>
              </a:rPr>
              <a:t> Data with clear separation between classes, or when dealing with high-dimensional data.</a:t>
            </a:r>
            <a:r>
              <a:rPr lang="en-US" sz="1500" kern="0" spc="-80" dirty="0">
                <a:solidFill>
                  <a:schemeClr val="accent2"/>
                </a:solidFill>
              </a:rPr>
              <a:t> </a:t>
            </a:r>
          </a:p>
        </p:txBody>
      </p:sp>
    </p:spTree>
    <p:extLst>
      <p:ext uri="{BB962C8B-B14F-4D97-AF65-F5344CB8AC3E}">
        <p14:creationId xmlns:p14="http://schemas.microsoft.com/office/powerpoint/2010/main" val="15267402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22D26-F390-D3D3-CE3B-7731107A3449}"/>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332B2505-6543-0A72-C19D-A9CA0A24B686}"/>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95C96C1-DF4D-DED0-D7AA-7B94868D7150}"/>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72DE517-1723-6E97-9B95-44F7B114EFAE}"/>
              </a:ext>
            </a:extLst>
          </p:cNvPr>
          <p:cNvGraphicFramePr/>
          <p:nvPr>
            <p:extLst>
              <p:ext uri="{D42A27DB-BD31-4B8C-83A1-F6EECF244321}">
                <p14:modId xmlns:p14="http://schemas.microsoft.com/office/powerpoint/2010/main" val="153151010"/>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0C55FCE0-F353-EB20-A02D-E36F1DE1EBF5}"/>
              </a:ext>
            </a:extLst>
          </p:cNvPr>
          <p:cNvSpPr txBox="1">
            <a:spLocks/>
          </p:cNvSpPr>
          <p:nvPr/>
        </p:nvSpPr>
        <p:spPr>
          <a:xfrm>
            <a:off x="94616" y="935772"/>
            <a:ext cx="9084944" cy="40934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4. Decision Trees:</a:t>
            </a:r>
          </a:p>
          <a:p>
            <a:pPr marL="12700" marR="5080"/>
            <a:r>
              <a:rPr lang="en-US" sz="1400" kern="0" spc="-80" dirty="0">
                <a:solidFill>
                  <a:schemeClr val="accent2"/>
                </a:solidFill>
              </a:rPr>
              <a:t>Pros</a:t>
            </a:r>
            <a:r>
              <a:rPr lang="en-US" sz="1400" kern="0" spc="-80" dirty="0">
                <a:solidFill>
                  <a:schemeClr val="accent6"/>
                </a:solidFill>
              </a:rPr>
              <a:t>: Easy to interpret and visualize, can handle both numerical and categorical data, and don't require feature scaling.</a:t>
            </a:r>
          </a:p>
          <a:p>
            <a:pPr marL="12700" marR="5080"/>
            <a:r>
              <a:rPr lang="en-US" sz="1400" kern="0" spc="-80" dirty="0">
                <a:solidFill>
                  <a:schemeClr val="accent2"/>
                </a:solidFill>
              </a:rPr>
              <a:t>Cons</a:t>
            </a:r>
            <a:r>
              <a:rPr lang="en-US" sz="1400" kern="0" spc="-80" dirty="0">
                <a:solidFill>
                  <a:schemeClr val="accent6"/>
                </a:solidFill>
              </a:rPr>
              <a:t>: Prone to overfitting, especially with deep trees, and can be unstable with small changes in the training data.</a:t>
            </a:r>
          </a:p>
          <a:p>
            <a:pPr marL="12700" marR="5080"/>
            <a:r>
              <a:rPr lang="en-US" sz="1400" kern="0" spc="-80" dirty="0">
                <a:solidFill>
                  <a:schemeClr val="accent6"/>
                </a:solidFill>
              </a:rPr>
              <a:t>When to use: When interpretability and understanding the decision-making process are crucial. </a:t>
            </a:r>
          </a:p>
          <a:p>
            <a:pPr marL="12700" marR="5080"/>
            <a:r>
              <a:rPr lang="en-US" sz="1400" kern="0" spc="-80" dirty="0">
                <a:solidFill>
                  <a:schemeClr val="accent6"/>
                </a:solidFill>
              </a:rPr>
              <a:t>5. </a:t>
            </a:r>
            <a:r>
              <a:rPr lang="en-US" sz="1400" kern="0" spc="-80" dirty="0">
                <a:solidFill>
                  <a:schemeClr val="accent2"/>
                </a:solidFill>
              </a:rPr>
              <a:t>Random Forests:</a:t>
            </a:r>
          </a:p>
          <a:p>
            <a:pPr marL="12700" marR="5080"/>
            <a:r>
              <a:rPr lang="en-US" sz="1400" kern="0" spc="-80" dirty="0">
                <a:solidFill>
                  <a:schemeClr val="accent2"/>
                </a:solidFill>
              </a:rPr>
              <a:t>Pros</a:t>
            </a:r>
            <a:r>
              <a:rPr lang="en-US" sz="1400" kern="0" spc="-80" dirty="0">
                <a:solidFill>
                  <a:schemeClr val="accent6"/>
                </a:solidFill>
              </a:rPr>
              <a:t>: Generally more robust and accurate than single decision trees, less prone to overfitting, and can handle missing values well.</a:t>
            </a:r>
          </a:p>
          <a:p>
            <a:pPr marL="12700" marR="5080"/>
            <a:r>
              <a:rPr lang="en-US" sz="1400" kern="0" spc="-80" dirty="0">
                <a:solidFill>
                  <a:schemeClr val="accent2"/>
                </a:solidFill>
              </a:rPr>
              <a:t>Cons</a:t>
            </a:r>
            <a:r>
              <a:rPr lang="en-US" sz="1400" kern="0" spc="-80" dirty="0">
                <a:solidFill>
                  <a:schemeClr val="accent6"/>
                </a:solidFill>
              </a:rPr>
              <a:t>: Can be harder to interpret than single decision trees, and may require more computational resources.</a:t>
            </a:r>
          </a:p>
          <a:p>
            <a:pPr marL="12700" marR="5080"/>
            <a:r>
              <a:rPr lang="en-US" sz="1400" kern="0" spc="-80" dirty="0">
                <a:solidFill>
                  <a:schemeClr val="accent2"/>
                </a:solidFill>
              </a:rPr>
              <a:t>When to use: </a:t>
            </a:r>
            <a:r>
              <a:rPr lang="en-US" sz="1400" kern="0" spc="-80" dirty="0">
                <a:solidFill>
                  <a:schemeClr val="accent6"/>
                </a:solidFill>
              </a:rPr>
              <a:t>When a more accurate and robust model is needed than a single decision tree, and interpretability is less critical. </a:t>
            </a:r>
          </a:p>
          <a:p>
            <a:pPr marL="12700" marR="5080"/>
            <a:r>
              <a:rPr lang="en-US" sz="1400" kern="0" spc="-80" dirty="0">
                <a:solidFill>
                  <a:schemeClr val="accent2"/>
                </a:solidFill>
              </a:rPr>
              <a:t>6. Logistic Regression:</a:t>
            </a:r>
          </a:p>
          <a:p>
            <a:pPr marL="12700" marR="5080"/>
            <a:r>
              <a:rPr lang="en-US" sz="1400" kern="0" spc="-80" dirty="0">
                <a:solidFill>
                  <a:schemeClr val="accent2"/>
                </a:solidFill>
              </a:rPr>
              <a:t>Pros: </a:t>
            </a:r>
            <a:r>
              <a:rPr lang="en-US" sz="1400" kern="0" spc="-80" dirty="0">
                <a:solidFill>
                  <a:schemeClr val="accent6"/>
                </a:solidFill>
              </a:rPr>
              <a:t>Simplicity, ease of understanding and implementation, interpretable coefficients, and can handle both binary and multi-class classification. </a:t>
            </a:r>
          </a:p>
          <a:p>
            <a:pPr marL="12700" marR="5080"/>
            <a:r>
              <a:rPr lang="en-US" sz="1400" kern="0" spc="-80" dirty="0">
                <a:solidFill>
                  <a:schemeClr val="accent2"/>
                </a:solidFill>
              </a:rPr>
              <a:t>Cons: </a:t>
            </a:r>
            <a:r>
              <a:rPr lang="en-US" sz="1400" kern="0" spc="-80" dirty="0">
                <a:solidFill>
                  <a:schemeClr val="accent6"/>
                </a:solidFill>
              </a:rPr>
              <a:t>Assumes a linear relationship between variables, may not be suitable for highly non-linear data, and can be susceptible to overfitting. </a:t>
            </a:r>
          </a:p>
          <a:p>
            <a:pPr marL="12700" marR="5080"/>
            <a:r>
              <a:rPr lang="en-US" sz="1400" kern="0" spc="-80" dirty="0">
                <a:solidFill>
                  <a:schemeClr val="accent2"/>
                </a:solidFill>
              </a:rPr>
              <a:t>When to use</a:t>
            </a:r>
            <a:r>
              <a:rPr lang="en-US" sz="1400" kern="0" spc="-80" dirty="0">
                <a:solidFill>
                  <a:schemeClr val="accent6"/>
                </a:solidFill>
              </a:rPr>
              <a:t>: Simple binary or multi-class classification problems, especially when interpretability and ease of understanding are important. </a:t>
            </a:r>
          </a:p>
        </p:txBody>
      </p:sp>
    </p:spTree>
    <p:extLst>
      <p:ext uri="{BB962C8B-B14F-4D97-AF65-F5344CB8AC3E}">
        <p14:creationId xmlns:p14="http://schemas.microsoft.com/office/powerpoint/2010/main" val="6801993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0D26-E1AE-5092-1241-0A6D7EBAC468}"/>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759AE5A1-EBDB-D8CA-41E9-ADC03A3642A8}"/>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804FB52-775A-EDDE-79DF-D5F69C74C788}"/>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3DA18EC-4744-5619-D22E-6848FECBF760}"/>
              </a:ext>
            </a:extLst>
          </p:cNvPr>
          <p:cNvGraphicFramePr/>
          <p:nvPr>
            <p:extLst>
              <p:ext uri="{D42A27DB-BD31-4B8C-83A1-F6EECF244321}">
                <p14:modId xmlns:p14="http://schemas.microsoft.com/office/powerpoint/2010/main" val="1519406726"/>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EDD5D248-DCD8-9C67-B7DE-2906A7C20774}"/>
              </a:ext>
            </a:extLst>
          </p:cNvPr>
          <p:cNvSpPr txBox="1">
            <a:spLocks/>
          </p:cNvSpPr>
          <p:nvPr/>
        </p:nvSpPr>
        <p:spPr>
          <a:xfrm>
            <a:off x="94616" y="874392"/>
            <a:ext cx="9084944"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Clustering algorithms group similar data points together. K-means, hierarchical clustering, and density-based clustering are popular choices. K-means is efficient for spherical clusters but sensitive to outliers and requires defining the number of clusters. Hierarchical clustering offers a hierarchical view of clusters but can be computationally expensive. Density-based clustering finds clusters of arbitrary shapes and is robust to outliers but struggles with high-dimensional data and varying densities. </a:t>
            </a:r>
          </a:p>
          <a:p>
            <a:pPr marL="12700" marR="5080"/>
            <a:r>
              <a:rPr lang="en-US" sz="1400" kern="0" spc="-80" dirty="0">
                <a:solidFill>
                  <a:schemeClr val="accent6"/>
                </a:solidFill>
              </a:rPr>
              <a:t>Here's a more detailed look:</a:t>
            </a:r>
          </a:p>
          <a:p>
            <a:pPr marL="12700" marR="5080"/>
            <a:r>
              <a:rPr lang="en-US" sz="1400" kern="0" spc="-80" dirty="0">
                <a:solidFill>
                  <a:schemeClr val="accent2"/>
                </a:solidFill>
              </a:rPr>
              <a:t>1. K-Means Clustering:</a:t>
            </a:r>
          </a:p>
          <a:p>
            <a:pPr marL="12700" marR="5080"/>
            <a:r>
              <a:rPr lang="en-US" sz="1400" kern="0" spc="-80" dirty="0">
                <a:solidFill>
                  <a:schemeClr val="accent2"/>
                </a:solidFill>
              </a:rPr>
              <a:t>How it works:</a:t>
            </a:r>
            <a:r>
              <a:rPr lang="en-US" sz="1400" kern="0" spc="-80" dirty="0">
                <a:solidFill>
                  <a:schemeClr val="accent6"/>
                </a:solidFill>
              </a:rPr>
              <a:t> Assigns data points to clusters based on distance from cluster centroids (means). </a:t>
            </a:r>
          </a:p>
          <a:p>
            <a:pPr marL="12700" marR="5080"/>
            <a:r>
              <a:rPr lang="en-US" sz="1400" kern="0" spc="-80" dirty="0">
                <a:solidFill>
                  <a:schemeClr val="accent2"/>
                </a:solidFill>
              </a:rPr>
              <a:t>Pros</a:t>
            </a:r>
            <a:r>
              <a:rPr lang="en-US" sz="1400" kern="0" spc="-80" dirty="0">
                <a:solidFill>
                  <a:schemeClr val="accent6"/>
                </a:solidFill>
              </a:rPr>
              <a:t>: Simple, fast, and widely used. </a:t>
            </a:r>
          </a:p>
          <a:p>
            <a:pPr marL="12700" marR="5080"/>
            <a:r>
              <a:rPr lang="en-US" sz="1400" kern="0" spc="-80" dirty="0">
                <a:solidFill>
                  <a:schemeClr val="accent2"/>
                </a:solidFill>
              </a:rPr>
              <a:t>Cons</a:t>
            </a:r>
            <a:r>
              <a:rPr lang="en-US" sz="1400" kern="0" spc="-80" dirty="0">
                <a:solidFill>
                  <a:schemeClr val="accent6"/>
                </a:solidFill>
              </a:rPr>
              <a:t>: Requires specifying the number of clusters in advance, sensitive to outliers and initial centroid placement, and performs poorly with non-spherical clusters. </a:t>
            </a:r>
          </a:p>
          <a:p>
            <a:pPr marL="12700" marR="5080"/>
            <a:r>
              <a:rPr lang="en-US" sz="1400" kern="0" spc="-80" dirty="0">
                <a:solidFill>
                  <a:schemeClr val="accent2"/>
                </a:solidFill>
              </a:rPr>
              <a:t>When to use:</a:t>
            </a:r>
            <a:r>
              <a:rPr lang="en-US" sz="1400" kern="0" spc="-80" dirty="0">
                <a:solidFill>
                  <a:schemeClr val="accent6"/>
                </a:solidFill>
              </a:rPr>
              <a:t> When clusters are roughly spherical and similar in size, and you have a good idea of the number of clusters. </a:t>
            </a:r>
          </a:p>
          <a:p>
            <a:pPr marL="12700" marR="5080"/>
            <a:r>
              <a:rPr lang="en-US" sz="1400" kern="0" spc="-80" dirty="0">
                <a:solidFill>
                  <a:schemeClr val="accent2"/>
                </a:solidFill>
              </a:rPr>
              <a:t>2. Hierarchical Clustering:</a:t>
            </a:r>
          </a:p>
          <a:p>
            <a:pPr marL="12700" marR="5080"/>
            <a:r>
              <a:rPr lang="en-US" sz="1400" kern="0" spc="-80" dirty="0">
                <a:solidFill>
                  <a:schemeClr val="accent2"/>
                </a:solidFill>
              </a:rPr>
              <a:t>How it works</a:t>
            </a:r>
            <a:r>
              <a:rPr lang="en-US" sz="1400" kern="0" spc="-80" dirty="0">
                <a:solidFill>
                  <a:schemeClr val="accent6"/>
                </a:solidFill>
              </a:rPr>
              <a:t>: Builds a hierarchy of clusters, starting with individual data points and merging them based on similarity.</a:t>
            </a:r>
          </a:p>
          <a:p>
            <a:pPr marL="12700" marR="5080"/>
            <a:r>
              <a:rPr lang="en-US" sz="1400" kern="0" spc="-80" dirty="0">
                <a:solidFill>
                  <a:schemeClr val="accent2"/>
                </a:solidFill>
              </a:rPr>
              <a:t>Pros</a:t>
            </a:r>
            <a:r>
              <a:rPr lang="en-US" sz="1400" kern="0" spc="-80" dirty="0">
                <a:solidFill>
                  <a:schemeClr val="accent6"/>
                </a:solidFill>
              </a:rPr>
              <a:t>: Provides a hierarchical view of clusters, doesn't require specifying the number of clusters in advance, and can be insightful for exploratory data analysis.</a:t>
            </a:r>
          </a:p>
          <a:p>
            <a:pPr marL="12700" marR="5080"/>
            <a:r>
              <a:rPr lang="en-US" sz="1400" kern="0" spc="-80" dirty="0">
                <a:solidFill>
                  <a:schemeClr val="accent2"/>
                </a:solidFill>
              </a:rPr>
              <a:t>Cons</a:t>
            </a:r>
            <a:r>
              <a:rPr lang="en-US" sz="1400" kern="0" spc="-80" dirty="0">
                <a:solidFill>
                  <a:schemeClr val="accent6"/>
                </a:solidFill>
              </a:rPr>
              <a:t>: Can be computationally expensive for large datasets, sensitive to the choice of distance metric, and can be difficult to interpret the hierarchy.</a:t>
            </a:r>
          </a:p>
          <a:p>
            <a:pPr marL="12700" marR="5080"/>
            <a:r>
              <a:rPr lang="en-US" sz="1400" kern="0" spc="-80" dirty="0">
                <a:solidFill>
                  <a:schemeClr val="accent2"/>
                </a:solidFill>
              </a:rPr>
              <a:t>When to use:</a:t>
            </a:r>
            <a:r>
              <a:rPr lang="en-US" sz="1400" kern="0" spc="-80" dirty="0">
                <a:solidFill>
                  <a:schemeClr val="accent6"/>
                </a:solidFill>
              </a:rPr>
              <a:t> When exploring the structure of data and visualizing the relationships between clusters is important. </a:t>
            </a:r>
          </a:p>
        </p:txBody>
      </p:sp>
    </p:spTree>
    <p:extLst>
      <p:ext uri="{BB962C8B-B14F-4D97-AF65-F5344CB8AC3E}">
        <p14:creationId xmlns:p14="http://schemas.microsoft.com/office/powerpoint/2010/main" val="21847177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90371-1080-BF1A-5DDD-BA0931F0D0DA}"/>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191C227F-7CB8-85E7-297D-BB8A545E3B21}"/>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B1A6CC7-0CDD-966F-EE8E-08D4D0237B9E}"/>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8DAF09A-14A8-D0B8-D0C8-6BEB212B83F9}"/>
              </a:ext>
            </a:extLst>
          </p:cNvPr>
          <p:cNvGraphicFramePr/>
          <p:nvPr>
            <p:extLst>
              <p:ext uri="{D42A27DB-BD31-4B8C-83A1-F6EECF244321}">
                <p14:modId xmlns:p14="http://schemas.microsoft.com/office/powerpoint/2010/main" val="3367066154"/>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A32578A9-041C-E5FB-E719-ABAC5C14E907}"/>
              </a:ext>
            </a:extLst>
          </p:cNvPr>
          <p:cNvSpPr txBox="1">
            <a:spLocks/>
          </p:cNvSpPr>
          <p:nvPr/>
        </p:nvSpPr>
        <p:spPr>
          <a:xfrm>
            <a:off x="94616" y="874392"/>
            <a:ext cx="9084944"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3. Density-Based Clustering (e.g., DBSCAN):</a:t>
            </a:r>
          </a:p>
          <a:p>
            <a:pPr marL="12700" marR="5080"/>
            <a:r>
              <a:rPr lang="en-US" sz="1300" kern="0" spc="-80" dirty="0">
                <a:solidFill>
                  <a:schemeClr val="accent6"/>
                </a:solidFill>
              </a:rPr>
              <a:t>How it works: Groups together data points that are densely packed together, separating them from areas of low density.</a:t>
            </a:r>
          </a:p>
          <a:p>
            <a:pPr marL="12700" marR="5080"/>
            <a:r>
              <a:rPr lang="en-US" sz="1300" kern="0" spc="-80" dirty="0">
                <a:solidFill>
                  <a:schemeClr val="accent2"/>
                </a:solidFill>
              </a:rPr>
              <a:t>Pros</a:t>
            </a:r>
            <a:r>
              <a:rPr lang="en-US" sz="1300" kern="0" spc="-80" dirty="0">
                <a:solidFill>
                  <a:schemeClr val="accent6"/>
                </a:solidFill>
              </a:rPr>
              <a:t>: Doesn't require specifying the number of clusters in advance, finds clusters of arbitrary shapes, and is robust to outliers.</a:t>
            </a:r>
          </a:p>
          <a:p>
            <a:pPr marL="12700" marR="5080"/>
            <a:r>
              <a:rPr lang="en-US" sz="1300" kern="0" spc="-80" dirty="0">
                <a:solidFill>
                  <a:schemeClr val="accent2"/>
                </a:solidFill>
              </a:rPr>
              <a:t>Cons</a:t>
            </a:r>
            <a:r>
              <a:rPr lang="en-US" sz="1300" kern="0" spc="-80" dirty="0">
                <a:solidFill>
                  <a:schemeClr val="accent6"/>
                </a:solidFill>
              </a:rPr>
              <a:t>: Struggles with clusters of varying densities, high-dimensional data, and can be sensitive to parameter tuning.</a:t>
            </a:r>
          </a:p>
          <a:p>
            <a:pPr marL="12700" marR="5080"/>
            <a:r>
              <a:rPr lang="en-US" sz="1300" kern="0" spc="-80" dirty="0">
                <a:solidFill>
                  <a:schemeClr val="accent2"/>
                </a:solidFill>
              </a:rPr>
              <a:t>When to use</a:t>
            </a:r>
            <a:r>
              <a:rPr lang="en-US" sz="1300" kern="0" spc="-80" dirty="0">
                <a:solidFill>
                  <a:schemeClr val="accent6"/>
                </a:solidFill>
              </a:rPr>
              <a:t>: When you want to find clusters of arbitrary shapes, have data with varying densities, and don't want to specify the number of clusters in advance. </a:t>
            </a:r>
          </a:p>
          <a:p>
            <a:pPr marL="12700" marR="5080"/>
            <a:r>
              <a:rPr lang="en-US" sz="1300" kern="0" spc="-80" dirty="0">
                <a:solidFill>
                  <a:schemeClr val="accent2"/>
                </a:solidFill>
              </a:rPr>
              <a:t>4. Other Clustering Algorithms:</a:t>
            </a:r>
          </a:p>
          <a:p>
            <a:pPr marL="12700" marR="5080"/>
            <a:r>
              <a:rPr lang="en-US" sz="1300" kern="0" spc="-80" dirty="0">
                <a:solidFill>
                  <a:schemeClr val="accent2"/>
                </a:solidFill>
              </a:rPr>
              <a:t>Affinity Propagation</a:t>
            </a:r>
            <a:r>
              <a:rPr lang="en-US" sz="1300" kern="0" spc="-80" dirty="0">
                <a:solidFill>
                  <a:schemeClr val="accent6"/>
                </a:solidFill>
              </a:rPr>
              <a:t>: Uses message passing to find cluster representatives and is robust to outliers, but can be computationally expensive. </a:t>
            </a:r>
          </a:p>
          <a:p>
            <a:pPr marL="12700" marR="5080"/>
            <a:r>
              <a:rPr lang="en-US" sz="1300" kern="0" spc="-80" dirty="0">
                <a:solidFill>
                  <a:schemeClr val="accent2"/>
                </a:solidFill>
              </a:rPr>
              <a:t>Distribution-based Clustering:</a:t>
            </a:r>
            <a:r>
              <a:rPr lang="en-US" sz="1300" kern="0" spc="-80" dirty="0">
                <a:solidFill>
                  <a:schemeClr val="accent6"/>
                </a:solidFill>
              </a:rPr>
              <a:t> Assumes data is generated from probabilistic distributions and estimates the parameters of these distributions. </a:t>
            </a:r>
          </a:p>
          <a:p>
            <a:pPr marL="12700" marR="5080"/>
            <a:r>
              <a:rPr lang="en-US" sz="1300" kern="0" spc="-80" dirty="0">
                <a:solidFill>
                  <a:schemeClr val="accent2"/>
                </a:solidFill>
              </a:rPr>
              <a:t>Soft Clustering:</a:t>
            </a:r>
            <a:r>
              <a:rPr lang="en-US" sz="1300" kern="0" spc="-80" dirty="0">
                <a:solidFill>
                  <a:schemeClr val="accent6"/>
                </a:solidFill>
              </a:rPr>
              <a:t> Allows data points to belong to multiple clusters simultaneously, which is useful when boundaries are not clear-cut. </a:t>
            </a:r>
          </a:p>
          <a:p>
            <a:pPr marL="12700" marR="5080"/>
            <a:r>
              <a:rPr lang="en-US" sz="1300" kern="0" spc="-80" dirty="0">
                <a:solidFill>
                  <a:schemeClr val="accent2"/>
                </a:solidFill>
              </a:rPr>
              <a:t>Choosing the Right Algorithm</a:t>
            </a:r>
            <a:r>
              <a:rPr lang="en-US" sz="1300" kern="0" spc="-80" dirty="0">
                <a:solidFill>
                  <a:schemeClr val="accent6"/>
                </a:solidFill>
              </a:rPr>
              <a:t>: The best algorithm depends on the characteristics of your data, the goals of your analysis, and the available computational resources. </a:t>
            </a:r>
          </a:p>
          <a:p>
            <a:pPr marL="12700" marR="5080"/>
            <a:r>
              <a:rPr lang="en-US" sz="1300" kern="0" spc="-80" dirty="0">
                <a:solidFill>
                  <a:schemeClr val="accent2"/>
                </a:solidFill>
              </a:rPr>
              <a:t>Consider the following:</a:t>
            </a:r>
            <a:r>
              <a:rPr lang="en-US" sz="1300" kern="0" spc="-80" dirty="0">
                <a:solidFill>
                  <a:schemeClr val="accent6"/>
                </a:solidFill>
              </a:rPr>
              <a:t> </a:t>
            </a:r>
          </a:p>
          <a:p>
            <a:pPr marL="12700" marR="5080"/>
            <a:r>
              <a:rPr lang="en-US" sz="1300" kern="0" spc="-80" dirty="0">
                <a:solidFill>
                  <a:schemeClr val="accent2"/>
                </a:solidFill>
              </a:rPr>
              <a:t>Data Shape:</a:t>
            </a:r>
            <a:r>
              <a:rPr lang="en-US" sz="1300" kern="0" spc="-80" dirty="0">
                <a:solidFill>
                  <a:schemeClr val="accent6"/>
                </a:solidFill>
              </a:rPr>
              <a:t> Are clusters roughly spherical or have arbitrary shapes? </a:t>
            </a:r>
          </a:p>
          <a:p>
            <a:pPr marL="12700" marR="5080"/>
            <a:r>
              <a:rPr lang="en-US" sz="1300" kern="0" spc="-80" dirty="0">
                <a:solidFill>
                  <a:schemeClr val="accent2"/>
                </a:solidFill>
              </a:rPr>
              <a:t>Number of Clusters:</a:t>
            </a:r>
            <a:r>
              <a:rPr lang="en-US" sz="1300" kern="0" spc="-80" dirty="0">
                <a:solidFill>
                  <a:schemeClr val="accent6"/>
                </a:solidFill>
              </a:rPr>
              <a:t> Do you know the number of clusters in advance, or are you exploring the data? </a:t>
            </a:r>
          </a:p>
          <a:p>
            <a:pPr marL="12700" marR="5080"/>
            <a:r>
              <a:rPr lang="en-US" sz="1300" kern="0" spc="-80" dirty="0">
                <a:solidFill>
                  <a:schemeClr val="accent2"/>
                </a:solidFill>
              </a:rPr>
              <a:t>Outliers</a:t>
            </a:r>
            <a:r>
              <a:rPr lang="en-US" sz="1300" kern="0" spc="-80" dirty="0">
                <a:solidFill>
                  <a:schemeClr val="accent6"/>
                </a:solidFill>
              </a:rPr>
              <a:t>: Are there many outliers in the data? </a:t>
            </a:r>
          </a:p>
          <a:p>
            <a:pPr marL="12700" marR="5080"/>
            <a:r>
              <a:rPr lang="en-US" sz="1300" kern="0" spc="-80" dirty="0">
                <a:solidFill>
                  <a:schemeClr val="accent2"/>
                </a:solidFill>
              </a:rPr>
              <a:t>Data Size and Dimensionality</a:t>
            </a:r>
            <a:r>
              <a:rPr lang="en-US" sz="1300" kern="0" spc="-80" dirty="0">
                <a:solidFill>
                  <a:schemeClr val="accent6"/>
                </a:solidFill>
              </a:rPr>
              <a:t>: Are you dealing with large or high-dimensional datasets? </a:t>
            </a:r>
          </a:p>
          <a:p>
            <a:pPr marL="12700" marR="5080"/>
            <a:r>
              <a:rPr lang="en-US" sz="1300" kern="0" spc="-80" dirty="0">
                <a:solidFill>
                  <a:schemeClr val="accent2"/>
                </a:solidFill>
              </a:rPr>
              <a:t>Computational Resources:</a:t>
            </a:r>
            <a:r>
              <a:rPr lang="en-US" sz="1300" kern="0" spc="-80" dirty="0">
                <a:solidFill>
                  <a:schemeClr val="accent6"/>
                </a:solidFill>
              </a:rPr>
              <a:t> Do you have the time and resources to run computationally intensive algorithms? </a:t>
            </a:r>
          </a:p>
          <a:p>
            <a:pPr marL="12700" marR="5080"/>
            <a:endParaRPr lang="en-US" sz="1300" kern="0" spc="-80" dirty="0">
              <a:solidFill>
                <a:schemeClr val="accent6"/>
              </a:solidFill>
            </a:endParaRPr>
          </a:p>
          <a:p>
            <a:pPr marL="12700" marR="5080"/>
            <a:r>
              <a:rPr lang="en-US" sz="1400" kern="0" spc="-80" dirty="0">
                <a:solidFill>
                  <a:schemeClr val="accent2"/>
                </a:solidFill>
              </a:rPr>
              <a:t>For Further Exploration-</a:t>
            </a:r>
          </a:p>
          <a:p>
            <a:pPr marL="12700" marR="5080"/>
            <a:r>
              <a:rPr lang="en-IN" sz="1000" dirty="0">
                <a:hlinkClick r:id="rId7"/>
              </a:rPr>
              <a:t>Cluster analysis</a:t>
            </a:r>
            <a:endParaRPr lang="en-IN" sz="1000" dirty="0"/>
          </a:p>
          <a:p>
            <a:pPr marL="12700" marR="5080"/>
            <a:r>
              <a:rPr lang="en-US" sz="1000" dirty="0">
                <a:hlinkClick r:id="rId8"/>
              </a:rPr>
              <a:t>Technical Report, SC_TR_00021 Clusters</a:t>
            </a:r>
            <a:endParaRPr lang="en-US" sz="1300" kern="0" spc="-80" dirty="0">
              <a:solidFill>
                <a:schemeClr val="accent6"/>
              </a:solidFill>
            </a:endParaRPr>
          </a:p>
        </p:txBody>
      </p:sp>
    </p:spTree>
    <p:extLst>
      <p:ext uri="{BB962C8B-B14F-4D97-AF65-F5344CB8AC3E}">
        <p14:creationId xmlns:p14="http://schemas.microsoft.com/office/powerpoint/2010/main" val="4238993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77E1B-8818-D866-2229-B5A8B6CCCA4E}"/>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FA08C2D3-777F-E7D7-BE4D-801C420D9936}"/>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BB1477B-DF67-13FF-8328-2FD28F5A9692}"/>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9812424-FE1E-1400-E2A5-6E8F05079FEF}"/>
              </a:ext>
            </a:extLst>
          </p:cNvPr>
          <p:cNvGraphicFramePr/>
          <p:nvPr>
            <p:extLst>
              <p:ext uri="{D42A27DB-BD31-4B8C-83A1-F6EECF244321}">
                <p14:modId xmlns:p14="http://schemas.microsoft.com/office/powerpoint/2010/main" val="149515607"/>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538DDA25-0140-63E3-33F3-CA8194DFB7DB}"/>
              </a:ext>
            </a:extLst>
          </p:cNvPr>
          <p:cNvSpPr txBox="1">
            <a:spLocks/>
          </p:cNvSpPr>
          <p:nvPr/>
        </p:nvSpPr>
        <p:spPr>
          <a:xfrm>
            <a:off x="94616" y="874392"/>
            <a:ext cx="9084944" cy="51214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80" kern="0" spc="-80" dirty="0">
                <a:solidFill>
                  <a:schemeClr val="accent6"/>
                </a:solidFill>
              </a:rPr>
              <a:t>Dimensionality reduction algorithms reduce the number of variables (features) in a dataset while preserving the most important information, improving computational efficiency and data visualization. Common algorithms include Principal Component Analysis (PCA), which transforms data into orthogonal axes, and techniques like t-SNE and UMAP, which are popular for visualizing high-dimensional data in lower dimensions. </a:t>
            </a:r>
          </a:p>
          <a:p>
            <a:pPr marL="12700" marR="5080"/>
            <a:r>
              <a:rPr lang="en-US" sz="1280" kern="0" spc="-80" dirty="0">
                <a:solidFill>
                  <a:schemeClr val="accent2"/>
                </a:solidFill>
              </a:rPr>
              <a:t>Popular Dimensionality Reduction Algorithms:</a:t>
            </a:r>
          </a:p>
          <a:p>
            <a:pPr marL="12700" marR="5080"/>
            <a:r>
              <a:rPr lang="en-US" sz="1280" kern="0" spc="-80" dirty="0">
                <a:solidFill>
                  <a:schemeClr val="accent2"/>
                </a:solidFill>
              </a:rPr>
              <a:t>1. Principal Component Analysis (PCA):</a:t>
            </a:r>
          </a:p>
          <a:p>
            <a:pPr marL="12700" marR="5080"/>
            <a:r>
              <a:rPr lang="en-US" sz="1280" kern="0" spc="-80" dirty="0">
                <a:solidFill>
                  <a:schemeClr val="accent2"/>
                </a:solidFill>
              </a:rPr>
              <a:t>Pros</a:t>
            </a:r>
            <a:r>
              <a:rPr lang="en-US" sz="1280" kern="0" spc="-80" dirty="0">
                <a:solidFill>
                  <a:schemeClr val="accent6"/>
                </a:solidFill>
              </a:rPr>
              <a:t>: </a:t>
            </a:r>
          </a:p>
          <a:p>
            <a:pPr marL="12700" marR="5080"/>
            <a:r>
              <a:rPr lang="en-US" sz="1280" kern="0" spc="-80" dirty="0">
                <a:solidFill>
                  <a:schemeClr val="accent6"/>
                </a:solidFill>
              </a:rPr>
              <a:t>Reduces dimensionality by identifying principal components that capture the most variance in the data. </a:t>
            </a:r>
          </a:p>
          <a:p>
            <a:pPr marL="12700" marR="5080"/>
            <a:r>
              <a:rPr lang="en-US" sz="1280" kern="0" spc="-80" dirty="0">
                <a:solidFill>
                  <a:schemeClr val="accent6"/>
                </a:solidFill>
              </a:rPr>
              <a:t>Useful for data compression and noise reduction. </a:t>
            </a:r>
          </a:p>
          <a:p>
            <a:pPr marL="12700" marR="5080"/>
            <a:r>
              <a:rPr lang="en-US" sz="1280" kern="0" spc="-80" dirty="0">
                <a:solidFill>
                  <a:schemeClr val="accent6"/>
                </a:solidFill>
              </a:rPr>
              <a:t>Can be used for data visualization. </a:t>
            </a:r>
          </a:p>
          <a:p>
            <a:pPr marL="12700" marR="5080"/>
            <a:r>
              <a:rPr lang="en-US" sz="1280" kern="0" spc="-80" dirty="0">
                <a:solidFill>
                  <a:schemeClr val="accent2"/>
                </a:solidFill>
              </a:rPr>
              <a:t>Cons</a:t>
            </a:r>
            <a:r>
              <a:rPr lang="en-US" sz="1280" kern="0" spc="-80" dirty="0">
                <a:solidFill>
                  <a:schemeClr val="accent6"/>
                </a:solidFill>
              </a:rPr>
              <a:t>:</a:t>
            </a:r>
          </a:p>
          <a:p>
            <a:pPr marL="12700" marR="5080"/>
            <a:r>
              <a:rPr lang="en-US" sz="1280" kern="0" spc="-80" dirty="0">
                <a:solidFill>
                  <a:schemeClr val="accent6"/>
                </a:solidFill>
              </a:rPr>
              <a:t>May not be suitable for nonlinear data. </a:t>
            </a:r>
          </a:p>
          <a:p>
            <a:pPr marL="12700" marR="5080"/>
            <a:r>
              <a:rPr lang="en-US" sz="1280" kern="0" spc="-80" dirty="0">
                <a:solidFill>
                  <a:schemeClr val="accent6"/>
                </a:solidFill>
              </a:rPr>
              <a:t>Can lose information if not used carefully. </a:t>
            </a:r>
          </a:p>
          <a:p>
            <a:pPr marL="12700" marR="5080"/>
            <a:r>
              <a:rPr lang="en-US" sz="1280" kern="0" spc="-80" dirty="0">
                <a:solidFill>
                  <a:schemeClr val="accent2"/>
                </a:solidFill>
              </a:rPr>
              <a:t>When to use:</a:t>
            </a:r>
          </a:p>
          <a:p>
            <a:pPr marL="12700" marR="5080"/>
            <a:r>
              <a:rPr lang="en-US" sz="1280" kern="0" spc="-80" dirty="0">
                <a:solidFill>
                  <a:schemeClr val="accent6"/>
                </a:solidFill>
              </a:rPr>
              <a:t>When you have high-dimensional data that can be well represented by a smaller set of principal components. </a:t>
            </a:r>
          </a:p>
          <a:p>
            <a:pPr marL="12700" marR="5080"/>
            <a:r>
              <a:rPr lang="en-US" sz="1280" kern="0" spc="-80" dirty="0">
                <a:solidFill>
                  <a:schemeClr val="accent6"/>
                </a:solidFill>
              </a:rPr>
              <a:t>When you want to reduce the complexity of your data for better visualization or model performance. </a:t>
            </a:r>
          </a:p>
          <a:p>
            <a:pPr marL="12700" marR="5080"/>
            <a:r>
              <a:rPr lang="en-US" sz="1280" kern="0" spc="-80" dirty="0">
                <a:solidFill>
                  <a:schemeClr val="accent6"/>
                </a:solidFill>
              </a:rPr>
              <a:t>2.</a:t>
            </a:r>
            <a:r>
              <a:rPr lang="en-US" sz="1280" kern="0" spc="-80" dirty="0">
                <a:solidFill>
                  <a:schemeClr val="accent2"/>
                </a:solidFill>
              </a:rPr>
              <a:t> t-distributed Stochastic</a:t>
            </a:r>
            <a:r>
              <a:rPr lang="en-US" sz="1280" kern="0" spc="-80" dirty="0">
                <a:solidFill>
                  <a:schemeClr val="accent6"/>
                </a:solidFill>
              </a:rPr>
              <a:t> Neighbor Embedding (t-SNE) and Uniform Manifold Approximation and Projection (UMAP):</a:t>
            </a:r>
          </a:p>
          <a:p>
            <a:pPr marL="12700" marR="5080"/>
            <a:r>
              <a:rPr lang="en-US" sz="1280" kern="0" spc="-80" dirty="0">
                <a:solidFill>
                  <a:schemeClr val="accent2"/>
                </a:solidFill>
              </a:rPr>
              <a:t>Pros</a:t>
            </a:r>
            <a:r>
              <a:rPr lang="en-US" sz="1280" kern="0" spc="-80" dirty="0">
                <a:solidFill>
                  <a:schemeClr val="accent6"/>
                </a:solidFill>
              </a:rPr>
              <a:t>:</a:t>
            </a:r>
          </a:p>
          <a:p>
            <a:pPr marL="12700" marR="5080"/>
            <a:r>
              <a:rPr lang="en-US" sz="1280" kern="0" spc="-80" dirty="0">
                <a:solidFill>
                  <a:schemeClr val="accent6"/>
                </a:solidFill>
              </a:rPr>
              <a:t>Excellent for visualizing high-dimensional data in lower dimensions. </a:t>
            </a:r>
          </a:p>
          <a:p>
            <a:pPr marL="12700" marR="5080"/>
            <a:r>
              <a:rPr lang="en-US" sz="1280" kern="0" spc="-80" dirty="0">
                <a:solidFill>
                  <a:schemeClr val="accent6"/>
                </a:solidFill>
              </a:rPr>
              <a:t>Useful for identifying clusters and patterns in data. </a:t>
            </a:r>
          </a:p>
          <a:p>
            <a:pPr marL="12700" marR="5080"/>
            <a:r>
              <a:rPr lang="en-US" sz="1280" kern="0" spc="-80" dirty="0">
                <a:solidFill>
                  <a:schemeClr val="accent2"/>
                </a:solidFill>
              </a:rPr>
              <a:t>Cons</a:t>
            </a:r>
            <a:r>
              <a:rPr lang="en-US" sz="1280" kern="0" spc="-80" dirty="0">
                <a:solidFill>
                  <a:schemeClr val="accent6"/>
                </a:solidFill>
              </a:rPr>
              <a:t>:</a:t>
            </a:r>
          </a:p>
          <a:p>
            <a:pPr marL="12700" marR="5080"/>
            <a:r>
              <a:rPr lang="en-US" sz="1280" kern="0" spc="-80" dirty="0">
                <a:solidFill>
                  <a:schemeClr val="accent6"/>
                </a:solidFill>
              </a:rPr>
              <a:t>Can be computationally expensive, especially with large datasets. </a:t>
            </a:r>
          </a:p>
          <a:p>
            <a:pPr marL="12700" marR="5080"/>
            <a:r>
              <a:rPr lang="en-US" sz="1280" kern="0" spc="-80" dirty="0">
                <a:solidFill>
                  <a:schemeClr val="accent6"/>
                </a:solidFill>
              </a:rPr>
              <a:t>May distort distances between points in high-dimensional space. </a:t>
            </a:r>
          </a:p>
          <a:p>
            <a:pPr marL="12700" marR="5080"/>
            <a:r>
              <a:rPr lang="en-US" sz="1280" kern="0" spc="-80" dirty="0">
                <a:solidFill>
                  <a:schemeClr val="accent2"/>
                </a:solidFill>
              </a:rPr>
              <a:t>When to use:</a:t>
            </a:r>
          </a:p>
          <a:p>
            <a:pPr marL="12700" marR="5080"/>
            <a:r>
              <a:rPr lang="en-US" sz="1280" kern="0" spc="-80" dirty="0">
                <a:solidFill>
                  <a:schemeClr val="accent6"/>
                </a:solidFill>
              </a:rPr>
              <a:t>When you want to visualize the structure of your data in 2D or 3D space. </a:t>
            </a:r>
          </a:p>
          <a:p>
            <a:pPr marL="12700" marR="5080"/>
            <a:r>
              <a:rPr lang="en-US" sz="1280" kern="0" spc="-80" dirty="0">
                <a:solidFill>
                  <a:schemeClr val="accent6"/>
                </a:solidFill>
              </a:rPr>
              <a:t>When you want to explore patterns and clusters in high-dimensional data. </a:t>
            </a:r>
          </a:p>
        </p:txBody>
      </p:sp>
    </p:spTree>
    <p:extLst>
      <p:ext uri="{BB962C8B-B14F-4D97-AF65-F5344CB8AC3E}">
        <p14:creationId xmlns:p14="http://schemas.microsoft.com/office/powerpoint/2010/main" val="25520734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BBA0-17F0-F1D4-B7AD-0E3CB2A58F56}"/>
            </a:ext>
          </a:extLst>
        </p:cNvPr>
        <p:cNvGrpSpPr/>
        <p:nvPr/>
      </p:nvGrpSpPr>
      <p:grpSpPr>
        <a:xfrm>
          <a:off x="0" y="0"/>
          <a:ext cx="0" cy="0"/>
          <a:chOff x="0" y="0"/>
          <a:chExt cx="0" cy="0"/>
        </a:xfrm>
      </p:grpSpPr>
      <p:sp>
        <p:nvSpPr>
          <p:cNvPr id="9" name="object 4">
            <a:extLst>
              <a:ext uri="{FF2B5EF4-FFF2-40B4-BE49-F238E27FC236}">
                <a16:creationId xmlns:a16="http://schemas.microsoft.com/office/drawing/2014/main" id="{BDB821BF-3DA5-9308-6B9A-782154F64C7E}"/>
              </a:ext>
            </a:extLst>
          </p:cNvPr>
          <p:cNvSpPr/>
          <p:nvPr/>
        </p:nvSpPr>
        <p:spPr>
          <a:xfrm flipV="1">
            <a:off x="1661157" y="760728"/>
            <a:ext cx="2693035" cy="77472"/>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33797EF-18E5-D4C2-5434-223A0586969A}"/>
              </a:ext>
            </a:extLst>
          </p:cNvPr>
          <p:cNvSpPr/>
          <p:nvPr/>
        </p:nvSpPr>
        <p:spPr>
          <a:xfrm>
            <a:off x="1661158"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9400C17-2351-A652-3CB4-F03985F01560}"/>
              </a:ext>
            </a:extLst>
          </p:cNvPr>
          <p:cNvGraphicFramePr/>
          <p:nvPr>
            <p:extLst>
              <p:ext uri="{D42A27DB-BD31-4B8C-83A1-F6EECF244321}">
                <p14:modId xmlns:p14="http://schemas.microsoft.com/office/powerpoint/2010/main" val="3131014292"/>
              </p:ext>
            </p:extLst>
          </p:nvPr>
        </p:nvGraphicFramePr>
        <p:xfrm>
          <a:off x="-17146" y="17829"/>
          <a:ext cx="9084945" cy="591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bject 2">
            <a:extLst>
              <a:ext uri="{FF2B5EF4-FFF2-40B4-BE49-F238E27FC236}">
                <a16:creationId xmlns:a16="http://schemas.microsoft.com/office/drawing/2014/main" id="{3590179F-B630-E32A-1C77-F30DB0EA3FE7}"/>
              </a:ext>
            </a:extLst>
          </p:cNvPr>
          <p:cNvSpPr txBox="1">
            <a:spLocks/>
          </p:cNvSpPr>
          <p:nvPr/>
        </p:nvSpPr>
        <p:spPr>
          <a:xfrm>
            <a:off x="94616" y="874392"/>
            <a:ext cx="9084944"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3. Linear Discriminant Analysis (LDA)</a:t>
            </a:r>
            <a:r>
              <a:rPr lang="en-US" sz="1500" kern="0" spc="-80" dirty="0">
                <a:solidFill>
                  <a:schemeClr val="accent6"/>
                </a:solidFill>
              </a:rPr>
              <a:t>:</a:t>
            </a:r>
          </a:p>
          <a:p>
            <a:pPr marL="12700" marR="5080"/>
            <a:r>
              <a:rPr lang="en-US" sz="1500" kern="0" spc="-80" dirty="0">
                <a:solidFill>
                  <a:schemeClr val="accent2"/>
                </a:solidFill>
              </a:rPr>
              <a:t>Pros</a:t>
            </a:r>
            <a:r>
              <a:rPr lang="en-US" sz="1500" kern="0" spc="-80" dirty="0">
                <a:solidFill>
                  <a:schemeClr val="accent6"/>
                </a:solidFill>
              </a:rPr>
              <a:t>:</a:t>
            </a:r>
          </a:p>
          <a:p>
            <a:pPr marL="12700" marR="5080"/>
            <a:r>
              <a:rPr lang="en-US" sz="1500" kern="0" spc="-80" dirty="0">
                <a:solidFill>
                  <a:schemeClr val="accent6"/>
                </a:solidFill>
              </a:rPr>
              <a:t>Reduces dimensionality while maximizing the separation between different classes. </a:t>
            </a:r>
          </a:p>
          <a:p>
            <a:pPr marL="12700" marR="5080"/>
            <a:r>
              <a:rPr lang="en-US" sz="1500" kern="0" spc="-80" dirty="0">
                <a:solidFill>
                  <a:schemeClr val="accent2"/>
                </a:solidFill>
              </a:rPr>
              <a:t>Cons</a:t>
            </a:r>
            <a:r>
              <a:rPr lang="en-US" sz="1500" kern="0" spc="-80" dirty="0">
                <a:solidFill>
                  <a:schemeClr val="accent6"/>
                </a:solidFill>
              </a:rPr>
              <a:t>:</a:t>
            </a:r>
          </a:p>
          <a:p>
            <a:pPr marL="12700" marR="5080"/>
            <a:r>
              <a:rPr lang="en-US" sz="1500" kern="0" spc="-80" dirty="0">
                <a:solidFill>
                  <a:schemeClr val="accent6"/>
                </a:solidFill>
              </a:rPr>
              <a:t>Assumes data is normally distributed and that classes have the same covariance. </a:t>
            </a:r>
          </a:p>
          <a:p>
            <a:pPr marL="12700" marR="5080"/>
            <a:r>
              <a:rPr lang="en-US" sz="1500" kern="0" spc="-80" dirty="0">
                <a:solidFill>
                  <a:schemeClr val="accent2"/>
                </a:solidFill>
              </a:rPr>
              <a:t>When to use:</a:t>
            </a:r>
          </a:p>
          <a:p>
            <a:pPr marL="12700" marR="5080"/>
            <a:r>
              <a:rPr lang="en-US" sz="1500" kern="0" spc="-80" dirty="0">
                <a:solidFill>
                  <a:schemeClr val="accent6"/>
                </a:solidFill>
              </a:rPr>
              <a:t>In supervised learning scenarios where you want to separate different classes. </a:t>
            </a:r>
          </a:p>
          <a:p>
            <a:pPr marL="12700" marR="5080"/>
            <a:r>
              <a:rPr lang="en-US" sz="1500" kern="0" spc="-80" dirty="0">
                <a:solidFill>
                  <a:schemeClr val="accent2"/>
                </a:solidFill>
              </a:rPr>
              <a:t>4. Feature Selection:</a:t>
            </a:r>
          </a:p>
          <a:p>
            <a:pPr marL="12700" marR="5080"/>
            <a:r>
              <a:rPr lang="en-US" sz="1500" kern="0" spc="-80" dirty="0">
                <a:solidFill>
                  <a:schemeClr val="accent2"/>
                </a:solidFill>
              </a:rPr>
              <a:t>Pros:</a:t>
            </a:r>
          </a:p>
          <a:p>
            <a:pPr marL="12700" marR="5080"/>
            <a:r>
              <a:rPr lang="en-US" sz="1500" kern="0" spc="-80" dirty="0">
                <a:solidFill>
                  <a:schemeClr val="accent6"/>
                </a:solidFill>
              </a:rPr>
              <a:t>Removes irrelevant or redundant features, improving model performance. </a:t>
            </a:r>
          </a:p>
          <a:p>
            <a:pPr marL="12700" marR="5080"/>
            <a:r>
              <a:rPr lang="en-US" sz="1500" kern="0" spc="-80" dirty="0">
                <a:solidFill>
                  <a:schemeClr val="accent2"/>
                </a:solidFill>
              </a:rPr>
              <a:t>Cons:</a:t>
            </a:r>
          </a:p>
          <a:p>
            <a:pPr marL="12700" marR="5080"/>
            <a:r>
              <a:rPr lang="en-US" sz="1500" kern="0" spc="-80" dirty="0">
                <a:solidFill>
                  <a:schemeClr val="accent6"/>
                </a:solidFill>
              </a:rPr>
              <a:t>Can be computationally intensive to find the optimal feature subset. </a:t>
            </a:r>
          </a:p>
          <a:p>
            <a:pPr marL="12700" marR="5080"/>
            <a:r>
              <a:rPr lang="en-US" sz="1500" kern="0" spc="-80" dirty="0">
                <a:solidFill>
                  <a:schemeClr val="accent2"/>
                </a:solidFill>
              </a:rPr>
              <a:t>When to use:</a:t>
            </a:r>
          </a:p>
          <a:p>
            <a:pPr marL="12700" marR="5080"/>
            <a:r>
              <a:rPr lang="en-US" sz="1500" kern="0" spc="-80" dirty="0">
                <a:solidFill>
                  <a:schemeClr val="accent6"/>
                </a:solidFill>
              </a:rPr>
              <a:t>When you want to identify the most relevant features for a specific task. </a:t>
            </a:r>
          </a:p>
          <a:p>
            <a:pPr marL="12700" marR="5080"/>
            <a:endParaRPr lang="en-US" sz="1500" kern="0" spc="-80" dirty="0">
              <a:solidFill>
                <a:schemeClr val="accent6"/>
              </a:solidFill>
            </a:endParaRPr>
          </a:p>
          <a:p>
            <a:pPr marL="12700" marR="5080"/>
            <a:r>
              <a:rPr lang="en-US" sz="1100" kern="0" spc="-80" dirty="0">
                <a:solidFill>
                  <a:schemeClr val="accent2"/>
                </a:solidFill>
              </a:rPr>
              <a:t>For Further Exploration-</a:t>
            </a:r>
          </a:p>
          <a:p>
            <a:pPr marL="12700" marR="5080"/>
            <a:r>
              <a:rPr lang="en-US" sz="1100" dirty="0">
                <a:hlinkClick r:id="rId7"/>
              </a:rPr>
              <a:t>Stanford CS229: Machine Learning | Summer 2019</a:t>
            </a:r>
            <a:endParaRPr lang="en-US" sz="1100" dirty="0"/>
          </a:p>
          <a:p>
            <a:pPr marL="12700" marR="5080"/>
            <a:r>
              <a:rPr lang="en-IN" sz="1100" dirty="0">
                <a:hlinkClick r:id="rId8"/>
              </a:rPr>
              <a:t>Eigenvalues and eigenvectors</a:t>
            </a:r>
            <a:r>
              <a:rPr lang="en-IN" sz="1100" dirty="0"/>
              <a:t> </a:t>
            </a:r>
            <a:r>
              <a:rPr lang="en-IN" sz="1100" kern="0" spc="-80" dirty="0">
                <a:solidFill>
                  <a:schemeClr val="accent6"/>
                </a:solidFill>
              </a:rPr>
              <a:t>(Principal Components are the Eigenvectors of the covariance matrix)</a:t>
            </a:r>
            <a:endParaRPr lang="en-US" sz="1100" kern="0" spc="-80" dirty="0">
              <a:solidFill>
                <a:schemeClr val="accent6"/>
              </a:solidFill>
            </a:endParaRPr>
          </a:p>
          <a:p>
            <a:pPr marL="12700" marR="5080"/>
            <a:r>
              <a:rPr lang="en-IN" sz="1100" dirty="0">
                <a:hlinkClick r:id="rId9"/>
              </a:rPr>
              <a:t>Principal Component Analysis (PCA)</a:t>
            </a:r>
            <a:endParaRPr lang="en-US" sz="1100" dirty="0"/>
          </a:p>
          <a:p>
            <a:pPr marL="12700" marR="5080"/>
            <a:r>
              <a:rPr lang="fr-FR" sz="1100" dirty="0">
                <a:hlinkClick r:id="rId10"/>
              </a:rPr>
              <a:t>Lecture: Principal </a:t>
            </a:r>
            <a:r>
              <a:rPr lang="fr-FR" sz="1100" dirty="0" err="1">
                <a:hlinkClick r:id="rId10"/>
              </a:rPr>
              <a:t>Componenet</a:t>
            </a:r>
            <a:r>
              <a:rPr lang="fr-FR" sz="1100" dirty="0">
                <a:hlinkClick r:id="rId10"/>
              </a:rPr>
              <a:t> </a:t>
            </a:r>
            <a:r>
              <a:rPr lang="fr-FR" sz="1100" dirty="0" err="1">
                <a:hlinkClick r:id="rId10"/>
              </a:rPr>
              <a:t>Analysis</a:t>
            </a:r>
            <a:r>
              <a:rPr lang="fr-FR" sz="1100" dirty="0">
                <a:hlinkClick r:id="rId10"/>
              </a:rPr>
              <a:t> (PCA)</a:t>
            </a:r>
            <a:endParaRPr lang="en-US" sz="1100" dirty="0"/>
          </a:p>
          <a:p>
            <a:pPr marL="12700" marR="5080"/>
            <a:r>
              <a:rPr lang="en-US" sz="1100" dirty="0">
                <a:hlinkClick r:id="rId11"/>
              </a:rPr>
              <a:t>Singular Value Decomposition as Simply as Possible</a:t>
            </a:r>
            <a:endParaRPr lang="en-US" sz="1100" dirty="0"/>
          </a:p>
          <a:p>
            <a:pPr marL="12700" marR="5080"/>
            <a:r>
              <a:rPr lang="en-US" sz="1100" dirty="0">
                <a:hlinkClick r:id="rId12"/>
              </a:rPr>
              <a:t>Top 10 Dimensionality Reduction Techniques for Machine Learning(ML) in 2025</a:t>
            </a:r>
            <a:endParaRPr lang="en-US" sz="1100" dirty="0"/>
          </a:p>
          <a:p>
            <a:pPr marL="12700" marR="5080"/>
            <a:r>
              <a:rPr lang="en-IN" sz="1100" dirty="0">
                <a:hlinkClick r:id="rId13"/>
              </a:rPr>
              <a:t>Dimension Reduction</a:t>
            </a:r>
            <a:endParaRPr lang="en-IN" sz="1100" dirty="0"/>
          </a:p>
          <a:p>
            <a:pPr marL="12700" marR="5080"/>
            <a:r>
              <a:rPr lang="en-US" sz="1100" dirty="0">
                <a:hlinkClick r:id="rId14"/>
              </a:rPr>
              <a:t>Geometric Structure of High-Dimensional Data and Dimensionality Reduction</a:t>
            </a:r>
            <a:endParaRPr lang="en-IN" sz="1100" dirty="0"/>
          </a:p>
          <a:p>
            <a:pPr marL="12700" marR="5080"/>
            <a:r>
              <a:rPr lang="en-IN" sz="1100" dirty="0">
                <a:hlinkClick r:id="rId15"/>
              </a:rPr>
              <a:t>Nonlinear dimensionality reduction</a:t>
            </a:r>
            <a:endParaRPr lang="en-US" sz="1100" dirty="0"/>
          </a:p>
        </p:txBody>
      </p:sp>
    </p:spTree>
    <p:extLst>
      <p:ext uri="{BB962C8B-B14F-4D97-AF65-F5344CB8AC3E}">
        <p14:creationId xmlns:p14="http://schemas.microsoft.com/office/powerpoint/2010/main" val="6650235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36D05-8045-484B-F923-402FCCE6AA1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F8A91D-B25F-9781-2AA6-7463A0AEB83D}"/>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1AE119-0306-0E56-EE61-3ACEF448BCCB}"/>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EF3607E-2DEB-48C0-EA8C-0A4A7170F342}"/>
              </a:ext>
            </a:extLst>
          </p:cNvPr>
          <p:cNvGraphicFramePr/>
          <p:nvPr>
            <p:extLst>
              <p:ext uri="{D42A27DB-BD31-4B8C-83A1-F6EECF244321}">
                <p14:modId xmlns:p14="http://schemas.microsoft.com/office/powerpoint/2010/main" val="107313736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1F5AC6F-41A8-4A59-8499-A10D37CD36EC}"/>
              </a:ext>
            </a:extLst>
          </p:cNvPr>
          <p:cNvSpPr txBox="1">
            <a:spLocks/>
          </p:cNvSpPr>
          <p:nvPr/>
        </p:nvSpPr>
        <p:spPr>
          <a:xfrm>
            <a:off x="51886" y="1335165"/>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To train non-linear models in machine learning, consider using algorithms like decision trees, random forests, support vector machines (SVMs) with kernel functions, or neural networks. Additionally, feature engineering techniques, including creating polynomial features or interactions, can help capture complex relationships in the data. Regularization methods and ensemble learning can also improve model performance and prevent overfitting. </a:t>
            </a:r>
          </a:p>
          <a:p>
            <a:pPr marL="12700" marR="5080"/>
            <a:endParaRPr lang="en-US" sz="1400" kern="0" spc="-80" dirty="0">
              <a:solidFill>
                <a:schemeClr val="accent6"/>
              </a:solidFill>
            </a:endParaRPr>
          </a:p>
          <a:p>
            <a:pPr marL="12700" marR="5080"/>
            <a:r>
              <a:rPr lang="en-US" sz="1400" kern="0" spc="-80" dirty="0">
                <a:solidFill>
                  <a:schemeClr val="accent6"/>
                </a:solidFill>
              </a:rPr>
              <a:t>Here's a more detailed breakdown:</a:t>
            </a:r>
          </a:p>
          <a:p>
            <a:pPr marL="12700" marR="5080"/>
            <a:endParaRPr lang="en-US" sz="1400" kern="0" spc="-80" dirty="0">
              <a:solidFill>
                <a:schemeClr val="accent6"/>
              </a:solidFill>
            </a:endParaRPr>
          </a:p>
          <a:p>
            <a:pPr marL="12700" marR="5080"/>
            <a:r>
              <a:rPr lang="en-US" sz="1400" kern="0" spc="-80" dirty="0">
                <a:solidFill>
                  <a:schemeClr val="accent2"/>
                </a:solidFill>
              </a:rPr>
              <a:t>1. Non-linear Algorithms: </a:t>
            </a:r>
          </a:p>
          <a:p>
            <a:pPr marL="12700" marR="5080"/>
            <a:r>
              <a:rPr lang="en-US" sz="1400" kern="0" spc="-80" dirty="0">
                <a:solidFill>
                  <a:schemeClr val="accent2"/>
                </a:solidFill>
              </a:rPr>
              <a:t>•Decision Trees and Random Forests</a:t>
            </a:r>
            <a:r>
              <a:rPr lang="en-US" sz="1400" kern="0" spc="-80" dirty="0">
                <a:solidFill>
                  <a:schemeClr val="accent6"/>
                </a:solidFill>
              </a:rPr>
              <a:t>: These algorithms naturally handle non-linear relationships by partitioning the data space into regions based on different features. Random Forests, which are an ensemble of decision trees, can further improve generalization and capture non-linear patterns. </a:t>
            </a:r>
          </a:p>
          <a:p>
            <a:pPr marL="12700" marR="5080"/>
            <a:r>
              <a:rPr lang="en-US" sz="1400" kern="0" spc="-80" dirty="0">
                <a:solidFill>
                  <a:schemeClr val="accent2"/>
                </a:solidFill>
              </a:rPr>
              <a:t>•Support Vector Machines (SVMs) with Kernels:</a:t>
            </a:r>
            <a:r>
              <a:rPr lang="en-US" sz="1400" kern="0" spc="-80" dirty="0">
                <a:solidFill>
                  <a:schemeClr val="accent6"/>
                </a:solidFill>
              </a:rPr>
              <a:t> SVMs can be used for both classification and regression. By employing kernel functions (e.g., radial basis function, polynomial), SVMs can map data into higher-dimensional spaces to find non-linear separating hyperplanes. </a:t>
            </a:r>
          </a:p>
          <a:p>
            <a:pPr marL="12700" marR="5080"/>
            <a:r>
              <a:rPr lang="en-US" sz="1400" kern="0" spc="-80" dirty="0">
                <a:solidFill>
                  <a:schemeClr val="accent2"/>
                </a:solidFill>
              </a:rPr>
              <a:t>•Neural Networks:</a:t>
            </a:r>
            <a:r>
              <a:rPr lang="en-US" sz="1400" kern="0" spc="-80" dirty="0">
                <a:solidFill>
                  <a:schemeClr val="accent6"/>
                </a:solidFill>
              </a:rPr>
              <a:t> These models are highly flexible and can learn complex non-linear relationships by adjusting weights and biases during training. They utilize non-linear activation functions at each node to capture intricate patterns. </a:t>
            </a:r>
          </a:p>
          <a:p>
            <a:pPr marL="12700" marR="5080"/>
            <a:r>
              <a:rPr lang="en-US" sz="1400" kern="0" spc="-80" dirty="0">
                <a:solidFill>
                  <a:schemeClr val="accent2"/>
                </a:solidFill>
              </a:rPr>
              <a:t>•K-Nearest Neighbors (KNN)</a:t>
            </a:r>
            <a:r>
              <a:rPr lang="en-US" sz="1400" kern="0" spc="-80" dirty="0">
                <a:solidFill>
                  <a:schemeClr val="accent6"/>
                </a:solidFill>
              </a:rPr>
              <a:t>: This algorithm predicts based on the average of the nearest neighbors, which can be effective in capturing local non-linearities. </a:t>
            </a:r>
            <a:endParaRPr lang="en-US" sz="1400" kern="0" spc="-80" dirty="0">
              <a:solidFill>
                <a:schemeClr val="accent2"/>
              </a:solidFill>
            </a:endParaRPr>
          </a:p>
        </p:txBody>
      </p:sp>
    </p:spTree>
    <p:extLst>
      <p:ext uri="{BB962C8B-B14F-4D97-AF65-F5344CB8AC3E}">
        <p14:creationId xmlns:p14="http://schemas.microsoft.com/office/powerpoint/2010/main" val="23190937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BD604-A03B-296A-6775-28CCB1CE21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CA0EFD-17CA-6EAD-8382-87F69111BFF5}"/>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9867E4-9146-0184-7855-1723C0496E76}"/>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921DE8F-0964-B8B0-9E34-AF0CDEE004C1}"/>
              </a:ext>
            </a:extLst>
          </p:cNvPr>
          <p:cNvGraphicFramePr/>
          <p:nvPr>
            <p:extLst>
              <p:ext uri="{D42A27DB-BD31-4B8C-83A1-F6EECF244321}">
                <p14:modId xmlns:p14="http://schemas.microsoft.com/office/powerpoint/2010/main" val="351649012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6C97ECF-D828-4AD6-CEA0-FA2F21AE74FC}"/>
              </a:ext>
            </a:extLst>
          </p:cNvPr>
          <p:cNvSpPr txBox="1">
            <a:spLocks/>
          </p:cNvSpPr>
          <p:nvPr/>
        </p:nvSpPr>
        <p:spPr>
          <a:xfrm>
            <a:off x="51886" y="1335165"/>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2. Feature Engineering:</a:t>
            </a:r>
            <a:r>
              <a:rPr lang="en-US" sz="1300" kern="0" spc="-80" dirty="0">
                <a:solidFill>
                  <a:schemeClr val="accent6"/>
                </a:solidFill>
              </a:rPr>
              <a:t> </a:t>
            </a:r>
          </a:p>
          <a:p>
            <a:pPr marL="12700" marR="5080"/>
            <a:r>
              <a:rPr lang="en-US" sz="1300" kern="0" spc="-80" dirty="0">
                <a:solidFill>
                  <a:schemeClr val="accent2"/>
                </a:solidFill>
              </a:rPr>
              <a:t>•Polynomial Features</a:t>
            </a:r>
            <a:r>
              <a:rPr lang="en-US" sz="1300" kern="0" spc="-80" dirty="0">
                <a:solidFill>
                  <a:schemeClr val="accent6"/>
                </a:solidFill>
              </a:rPr>
              <a:t>: Adding polynomial terms (e.g., x², x³) to your features can help capture curved relationships</a:t>
            </a:r>
          </a:p>
          <a:p>
            <a:pPr marL="12700" marR="5080"/>
            <a:r>
              <a:rPr lang="en-US" sz="1300" kern="0" spc="-80" dirty="0">
                <a:solidFill>
                  <a:schemeClr val="accent2"/>
                </a:solidFill>
              </a:rPr>
              <a:t>•Interaction Features:</a:t>
            </a:r>
            <a:r>
              <a:rPr lang="en-US" sz="1300" kern="0" spc="-80" dirty="0">
                <a:solidFill>
                  <a:schemeClr val="accent6"/>
                </a:solidFill>
              </a:rPr>
              <a:t> Creating combinations of existing features (e.g., x1 * x2) can reveal non-linear interactions between variables. </a:t>
            </a:r>
          </a:p>
          <a:p>
            <a:pPr marL="12700" marR="5080"/>
            <a:r>
              <a:rPr lang="en-US" sz="1300" kern="0" spc="-80" dirty="0">
                <a:solidFill>
                  <a:schemeClr val="accent2"/>
                </a:solidFill>
              </a:rPr>
              <a:t>•Non-linear Transformations</a:t>
            </a:r>
            <a:r>
              <a:rPr lang="en-US" sz="1300" kern="0" spc="-80" dirty="0">
                <a:solidFill>
                  <a:schemeClr val="accent6"/>
                </a:solidFill>
              </a:rPr>
              <a:t>: Applying functions like logarithms or square roots to features can sometimes make relationships more linear or easier to model. </a:t>
            </a:r>
          </a:p>
          <a:p>
            <a:pPr marL="12700" marR="5080"/>
            <a:r>
              <a:rPr lang="en-US" sz="1300" kern="0" spc="-80" dirty="0">
                <a:solidFill>
                  <a:schemeClr val="accent2"/>
                </a:solidFill>
              </a:rPr>
              <a:t>3. Regularization and Model Tuning: </a:t>
            </a:r>
          </a:p>
          <a:p>
            <a:pPr marL="12700" marR="5080"/>
            <a:r>
              <a:rPr lang="en-US" sz="1300" kern="0" spc="-80" dirty="0">
                <a:solidFill>
                  <a:schemeClr val="accent2"/>
                </a:solidFill>
              </a:rPr>
              <a:t>•Regularization: </a:t>
            </a:r>
            <a:r>
              <a:rPr lang="en-US" sz="1300" kern="0" spc="-80" dirty="0">
                <a:solidFill>
                  <a:schemeClr val="accent6"/>
                </a:solidFill>
              </a:rPr>
              <a:t>Techniques like Ridge or Lasso regression help prevent overfitting by penalizing large coefficients in the model</a:t>
            </a:r>
          </a:p>
          <a:p>
            <a:pPr marL="12700" marR="5080"/>
            <a:r>
              <a:rPr lang="en-US" sz="1300" kern="0" spc="-80" dirty="0">
                <a:solidFill>
                  <a:schemeClr val="accent2"/>
                </a:solidFill>
              </a:rPr>
              <a:t>•Hyperparameter Tuning</a:t>
            </a:r>
            <a:r>
              <a:rPr lang="en-US" sz="1300" kern="0" spc="-80" dirty="0">
                <a:solidFill>
                  <a:schemeClr val="accent6"/>
                </a:solidFill>
              </a:rPr>
              <a:t>: Experiment with different model parameters (e.g., learning rate for neural networks, kernel parameter for SVM) to find the optimal configuration for your data. </a:t>
            </a:r>
          </a:p>
          <a:p>
            <a:pPr marL="12700" marR="5080"/>
            <a:r>
              <a:rPr lang="en-US" sz="1300" kern="0" spc="-80" dirty="0">
                <a:solidFill>
                  <a:schemeClr val="accent2"/>
                </a:solidFill>
              </a:rPr>
              <a:t>•Cross-validation:</a:t>
            </a:r>
            <a:r>
              <a:rPr lang="en-US" sz="1300" kern="0" spc="-80" dirty="0">
                <a:solidFill>
                  <a:schemeClr val="accent6"/>
                </a:solidFill>
              </a:rPr>
              <a:t> Use cross-validation techniques to ensure your model generalizes well to unseen data. </a:t>
            </a:r>
          </a:p>
          <a:p>
            <a:pPr marL="12700" marR="5080"/>
            <a:r>
              <a:rPr lang="en-US" sz="1300" kern="0" spc="-80" dirty="0">
                <a:solidFill>
                  <a:schemeClr val="accent2"/>
                </a:solidFill>
              </a:rPr>
              <a:t>4. Ensemble Methods</a:t>
            </a:r>
            <a:r>
              <a:rPr lang="en-US" sz="1300" kern="0" spc="-80" dirty="0">
                <a:solidFill>
                  <a:schemeClr val="accent6"/>
                </a:solidFill>
              </a:rPr>
              <a:t>: </a:t>
            </a:r>
          </a:p>
          <a:p>
            <a:pPr marL="12700" marR="5080"/>
            <a:r>
              <a:rPr lang="en-US" sz="1300" kern="0" spc="-80" dirty="0">
                <a:solidFill>
                  <a:schemeClr val="accent2"/>
                </a:solidFill>
              </a:rPr>
              <a:t>•Ensemble Learning</a:t>
            </a:r>
            <a:r>
              <a:rPr lang="en-US" sz="1300" kern="0" spc="-80" dirty="0">
                <a:solidFill>
                  <a:schemeClr val="accent6"/>
                </a:solidFill>
              </a:rPr>
              <a:t>: Combining the predictions of multiple non-linear models can often lead to improved accuracy and robustness. Examples include bagging (e.g., Random Forests) and boosting (e.g., Gradient Boosting). </a:t>
            </a:r>
          </a:p>
          <a:p>
            <a:pPr marL="12700" marR="5080"/>
            <a:r>
              <a:rPr lang="en-US" sz="1300" kern="0" spc="-80" dirty="0">
                <a:solidFill>
                  <a:schemeClr val="accent2"/>
                </a:solidFill>
              </a:rPr>
              <a:t>5. Evaluation and Tuning: </a:t>
            </a:r>
          </a:p>
          <a:p>
            <a:pPr marL="12700" marR="5080"/>
            <a:r>
              <a:rPr lang="en-US" sz="1300" kern="0" spc="-80" dirty="0">
                <a:solidFill>
                  <a:schemeClr val="accent2"/>
                </a:solidFill>
              </a:rPr>
              <a:t>•Residual Analysis:</a:t>
            </a:r>
          </a:p>
          <a:p>
            <a:pPr marL="12700" marR="5080"/>
            <a:r>
              <a:rPr lang="en-US" sz="1300" kern="0" spc="-80" dirty="0">
                <a:solidFill>
                  <a:schemeClr val="accent6"/>
                </a:solidFill>
              </a:rPr>
              <a:t>Examine the differences between predicted and actual values to assess the goodness-of-fit of your model</a:t>
            </a:r>
          </a:p>
          <a:p>
            <a:pPr marL="12700" marR="5080"/>
            <a:r>
              <a:rPr lang="en-US" sz="1300" kern="0" spc="-80" dirty="0">
                <a:solidFill>
                  <a:schemeClr val="accent2"/>
                </a:solidFill>
              </a:rPr>
              <a:t>•Performance Metrics:</a:t>
            </a:r>
          </a:p>
          <a:p>
            <a:pPr marL="12700" marR="5080"/>
            <a:r>
              <a:rPr lang="en-US" sz="1300" kern="0" spc="-80" dirty="0">
                <a:solidFill>
                  <a:schemeClr val="accent6"/>
                </a:solidFill>
              </a:rPr>
              <a:t>Use appropriate metrics (e.g., MSE, R²) to evaluate the model's performance and identify areas for improvement</a:t>
            </a:r>
          </a:p>
        </p:txBody>
      </p:sp>
      <p:sp>
        <p:nvSpPr>
          <p:cNvPr id="3" name="object 2">
            <a:extLst>
              <a:ext uri="{FF2B5EF4-FFF2-40B4-BE49-F238E27FC236}">
                <a16:creationId xmlns:a16="http://schemas.microsoft.com/office/drawing/2014/main" id="{BA997AC0-EBEC-EA02-BD91-1BD1FBB75391}"/>
              </a:ext>
            </a:extLst>
          </p:cNvPr>
          <p:cNvSpPr txBox="1">
            <a:spLocks/>
          </p:cNvSpPr>
          <p:nvPr/>
        </p:nvSpPr>
        <p:spPr>
          <a:xfrm>
            <a:off x="35560" y="5467290"/>
            <a:ext cx="8624937" cy="4001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200" dirty="0">
                <a:hlinkClick r:id="rId7"/>
              </a:rPr>
              <a:t>How (and why) are random forests able to represent both linear and non linear data</a:t>
            </a:r>
            <a:endParaRPr lang="en-US" sz="1200" kern="0" spc="-80" dirty="0">
              <a:solidFill>
                <a:schemeClr val="accent2"/>
              </a:solidFill>
            </a:endParaRPr>
          </a:p>
        </p:txBody>
      </p:sp>
    </p:spTree>
    <p:extLst>
      <p:ext uri="{BB962C8B-B14F-4D97-AF65-F5344CB8AC3E}">
        <p14:creationId xmlns:p14="http://schemas.microsoft.com/office/powerpoint/2010/main" val="37084913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2693E-21A5-9DB0-9371-A877D27CDE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9D09B8-2B61-B715-0A08-117A427E7593}"/>
              </a:ext>
            </a:extLst>
          </p:cNvPr>
          <p:cNvSpPr/>
          <p:nvPr/>
        </p:nvSpPr>
        <p:spPr>
          <a:xfrm>
            <a:off x="1666239" y="91413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C87FB58-8EF0-F811-CAF2-90C08A291CFC}"/>
              </a:ext>
            </a:extLst>
          </p:cNvPr>
          <p:cNvSpPr/>
          <p:nvPr/>
        </p:nvSpPr>
        <p:spPr>
          <a:xfrm>
            <a:off x="1671320" y="7646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16D8911-D353-5D8C-5EF7-C3BFE729B821}"/>
              </a:ext>
            </a:extLst>
          </p:cNvPr>
          <p:cNvGraphicFramePr/>
          <p:nvPr>
            <p:extLst>
              <p:ext uri="{D42A27DB-BD31-4B8C-83A1-F6EECF244321}">
                <p14:modId xmlns:p14="http://schemas.microsoft.com/office/powerpoint/2010/main" val="4057903971"/>
              </p:ext>
            </p:extLst>
          </p:nvPr>
        </p:nvGraphicFramePr>
        <p:xfrm>
          <a:off x="-15240" y="-178360"/>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50F380E-D9B5-CEA5-D9FB-26A67401BB56}"/>
              </a:ext>
            </a:extLst>
          </p:cNvPr>
          <p:cNvSpPr txBox="1">
            <a:spLocks/>
          </p:cNvSpPr>
          <p:nvPr/>
        </p:nvSpPr>
        <p:spPr>
          <a:xfrm>
            <a:off x="35559" y="1040026"/>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Decision trees can handle non-linear regression and classification problems by partitioning the data space into different regions, where each region is associated with a specific prediction or class label. This allows them to capture complex relationships between features and target variables without requiring explicit feature transformations or polynomial terms, unlike linear models. </a:t>
            </a:r>
          </a:p>
          <a:p>
            <a:pPr marL="12700" marR="5080"/>
            <a:r>
              <a:rPr lang="en-US" sz="1400" kern="0" spc="-80" dirty="0">
                <a:solidFill>
                  <a:schemeClr val="accent6"/>
                </a:solidFill>
              </a:rPr>
              <a:t>Here's a more detailed explanation:</a:t>
            </a:r>
          </a:p>
          <a:p>
            <a:pPr marL="12700" marR="5080"/>
            <a:r>
              <a:rPr lang="en-US" sz="1400" kern="0" spc="-80" dirty="0">
                <a:solidFill>
                  <a:schemeClr val="accent2"/>
                </a:solidFill>
              </a:rPr>
              <a:t>1. Decision Tree Structure and Non-linear Relationships:</a:t>
            </a:r>
          </a:p>
          <a:p>
            <a:pPr marL="12700" marR="5080"/>
            <a:r>
              <a:rPr lang="en-US" sz="1400" kern="0" spc="-80" dirty="0">
                <a:solidFill>
                  <a:schemeClr val="accent6"/>
                </a:solidFill>
              </a:rPr>
              <a:t>Decision trees build a tree-like structure where each internal node represents a decision based on a feature, and each branch represents a possible outcome of that </a:t>
            </a:r>
            <a:r>
              <a:rPr lang="en-US" sz="1400" kern="0" spc="-80" dirty="0" err="1">
                <a:solidFill>
                  <a:schemeClr val="accent6"/>
                </a:solidFill>
              </a:rPr>
              <a:t>decision.The</a:t>
            </a:r>
            <a:r>
              <a:rPr lang="en-US" sz="1400" kern="0" spc="-80" dirty="0">
                <a:solidFill>
                  <a:schemeClr val="accent6"/>
                </a:solidFill>
              </a:rPr>
              <a:t> leaf nodes represent the final predictions or class labels. This hierarchical structure allows the tree to create non-linear decision boundaries, effectively dividing the data space into different </a:t>
            </a:r>
            <a:r>
              <a:rPr lang="en-US" sz="1400" kern="0" spc="-80" dirty="0" err="1">
                <a:solidFill>
                  <a:schemeClr val="accent6"/>
                </a:solidFill>
              </a:rPr>
              <a:t>regions.Unlike</a:t>
            </a:r>
            <a:r>
              <a:rPr lang="en-US" sz="1400" kern="0" spc="-80" dirty="0">
                <a:solidFill>
                  <a:schemeClr val="accent6"/>
                </a:solidFill>
              </a:rPr>
              <a:t> linear regression, which assumes a linear relationship between features and the target variable, decision trees can capture complex, non-linear patterns by creating different decision boundaries in various parts of the data space. </a:t>
            </a:r>
          </a:p>
          <a:p>
            <a:pPr marL="12700" marR="5080"/>
            <a:r>
              <a:rPr lang="en-US" sz="1400" kern="0" spc="-80" dirty="0">
                <a:solidFill>
                  <a:schemeClr val="accent2"/>
                </a:solidFill>
              </a:rPr>
              <a:t>2. How Decision Trees Handle Regression:</a:t>
            </a:r>
          </a:p>
          <a:p>
            <a:pPr marL="12700" marR="5080"/>
            <a:r>
              <a:rPr lang="en-US" sz="1400" kern="0" spc="-80" dirty="0">
                <a:solidFill>
                  <a:schemeClr val="accent2"/>
                </a:solidFill>
              </a:rPr>
              <a:t>Predicting Continuous Values:</a:t>
            </a:r>
            <a:r>
              <a:rPr lang="en-US" sz="1400" kern="0" spc="-80" dirty="0">
                <a:solidFill>
                  <a:schemeClr val="accent6"/>
                </a:solidFill>
              </a:rPr>
              <a:t> In regression, the goal is to predict a continuous target variable (e.g., house price, temperature).</a:t>
            </a:r>
          </a:p>
          <a:p>
            <a:pPr marL="12700" marR="5080"/>
            <a:r>
              <a:rPr lang="en-US" sz="1400" kern="0" spc="-80" dirty="0">
                <a:solidFill>
                  <a:schemeClr val="accent2"/>
                </a:solidFill>
              </a:rPr>
              <a:t>Leaf Nodes as Predictions</a:t>
            </a:r>
            <a:r>
              <a:rPr lang="en-US" sz="1400" kern="0" spc="-80" dirty="0">
                <a:solidFill>
                  <a:schemeClr val="accent6"/>
                </a:solidFill>
              </a:rPr>
              <a:t>: Decision trees predict continuous values by assigning a value to each leaf node.</a:t>
            </a:r>
          </a:p>
          <a:p>
            <a:pPr marL="12700" marR="5080"/>
            <a:r>
              <a:rPr lang="en-US" sz="1400" kern="0" spc="-80" dirty="0">
                <a:solidFill>
                  <a:schemeClr val="accent2"/>
                </a:solidFill>
              </a:rPr>
              <a:t>Partitioning for Regression</a:t>
            </a:r>
            <a:r>
              <a:rPr lang="en-US" sz="1400" kern="0" spc="-80" dirty="0">
                <a:solidFill>
                  <a:schemeClr val="accent6"/>
                </a:solidFill>
              </a:rPr>
              <a:t>: The tree partitions the data space into different regions, and each region has a corresponding predicted value in its leaf node.</a:t>
            </a:r>
          </a:p>
          <a:p>
            <a:pPr marL="12700" marR="5080"/>
            <a:r>
              <a:rPr lang="en-US" sz="1400" kern="0" spc="-80" dirty="0">
                <a:solidFill>
                  <a:schemeClr val="accent2"/>
                </a:solidFill>
              </a:rPr>
              <a:t>Non-linear Boundaries</a:t>
            </a:r>
            <a:r>
              <a:rPr lang="en-US" sz="1400" kern="0" spc="-80" dirty="0">
                <a:solidFill>
                  <a:schemeClr val="accent6"/>
                </a:solidFill>
              </a:rPr>
              <a:t>: The non-linear decision boundaries created by the tree allow it to capture complex relationships where the relationship between features and the target variable isn't a simple linear function. </a:t>
            </a:r>
          </a:p>
        </p:txBody>
      </p:sp>
    </p:spTree>
    <p:extLst>
      <p:ext uri="{BB962C8B-B14F-4D97-AF65-F5344CB8AC3E}">
        <p14:creationId xmlns:p14="http://schemas.microsoft.com/office/powerpoint/2010/main" val="1752253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2E5C5-56CD-28F0-ADB7-3B61B91167F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E85FF0-46C7-5FD0-79CD-4BED56BFF7D3}"/>
              </a:ext>
            </a:extLst>
          </p:cNvPr>
          <p:cNvSpPr/>
          <p:nvPr/>
        </p:nvSpPr>
        <p:spPr>
          <a:xfrm>
            <a:off x="1666239" y="91413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566FC8-633C-A278-DC40-2A179922E43E}"/>
              </a:ext>
            </a:extLst>
          </p:cNvPr>
          <p:cNvSpPr/>
          <p:nvPr/>
        </p:nvSpPr>
        <p:spPr>
          <a:xfrm>
            <a:off x="1671320" y="7646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A5FD0EB-3ADE-96C5-1EEB-2C500130F717}"/>
              </a:ext>
            </a:extLst>
          </p:cNvPr>
          <p:cNvGraphicFramePr/>
          <p:nvPr>
            <p:extLst>
              <p:ext uri="{D42A27DB-BD31-4B8C-83A1-F6EECF244321}">
                <p14:modId xmlns:p14="http://schemas.microsoft.com/office/powerpoint/2010/main" val="2450721125"/>
              </p:ext>
            </p:extLst>
          </p:nvPr>
        </p:nvGraphicFramePr>
        <p:xfrm>
          <a:off x="0" y="-19355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DA3A178-7DFA-8C24-BB35-A35618628F36}"/>
              </a:ext>
            </a:extLst>
          </p:cNvPr>
          <p:cNvSpPr txBox="1">
            <a:spLocks/>
          </p:cNvSpPr>
          <p:nvPr/>
        </p:nvSpPr>
        <p:spPr>
          <a:xfrm>
            <a:off x="31383" y="1049953"/>
            <a:ext cx="8624937" cy="40934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3. How Decision Trees Handle Classification:</a:t>
            </a:r>
          </a:p>
          <a:p>
            <a:pPr marL="12700" marR="5080"/>
            <a:r>
              <a:rPr lang="en-US" sz="1400" kern="0" spc="-80" dirty="0">
                <a:solidFill>
                  <a:schemeClr val="accent2"/>
                </a:solidFill>
              </a:rPr>
              <a:t>Predicting Discrete Classes:</a:t>
            </a:r>
            <a:r>
              <a:rPr lang="en-US" sz="1400" kern="0" spc="-80" dirty="0">
                <a:solidFill>
                  <a:schemeClr val="accent6"/>
                </a:solidFill>
              </a:rPr>
              <a:t> In classification, the goal is to predict a discrete class label (e.g., spam or not spam, cat or dog).</a:t>
            </a:r>
          </a:p>
          <a:p>
            <a:pPr marL="12700" marR="5080"/>
            <a:r>
              <a:rPr lang="en-US" sz="1400" kern="0" spc="-80" dirty="0">
                <a:solidFill>
                  <a:schemeClr val="accent2"/>
                </a:solidFill>
              </a:rPr>
              <a:t>Leaf Nodes as Class Labels:</a:t>
            </a:r>
            <a:r>
              <a:rPr lang="en-US" sz="1400" kern="0" spc="-80" dirty="0">
                <a:solidFill>
                  <a:schemeClr val="accent6"/>
                </a:solidFill>
              </a:rPr>
              <a:t> Decision trees predict class labels by assigning a class label to each leaf node.</a:t>
            </a:r>
          </a:p>
          <a:p>
            <a:pPr marL="12700" marR="5080"/>
            <a:r>
              <a:rPr lang="en-US" sz="1400" kern="0" spc="-80" dirty="0">
                <a:solidFill>
                  <a:schemeClr val="accent2"/>
                </a:solidFill>
              </a:rPr>
              <a:t>Partitioning for Classification:</a:t>
            </a:r>
            <a:r>
              <a:rPr lang="en-US" sz="1400" kern="0" spc="-80" dirty="0">
                <a:solidFill>
                  <a:schemeClr val="accent6"/>
                </a:solidFill>
              </a:rPr>
              <a:t> The tree partitions the data space into different regions, and each region is associated with a specific class label in its leaf node.</a:t>
            </a:r>
          </a:p>
          <a:p>
            <a:pPr marL="12700" marR="5080"/>
            <a:r>
              <a:rPr lang="en-US" sz="1400" kern="0" spc="-80" dirty="0">
                <a:solidFill>
                  <a:schemeClr val="accent2"/>
                </a:solidFill>
              </a:rPr>
              <a:t>Non-linear Decision Boundaries:</a:t>
            </a:r>
            <a:r>
              <a:rPr lang="en-US" sz="1400" kern="0" spc="-80" dirty="0">
                <a:solidFill>
                  <a:schemeClr val="accent6"/>
                </a:solidFill>
              </a:rPr>
              <a:t> The non-linear decision boundaries allow the tree to separate the data into different classes based on complex, non-linear relationships between features and class labels. </a:t>
            </a:r>
          </a:p>
          <a:p>
            <a:pPr marL="12700" marR="5080"/>
            <a:r>
              <a:rPr lang="en-US" sz="1400" kern="0" spc="-80" dirty="0">
                <a:solidFill>
                  <a:schemeClr val="accent2"/>
                </a:solidFill>
              </a:rPr>
              <a:t>4. Advantages of Decision Trees for Non-linear Problems:</a:t>
            </a:r>
          </a:p>
          <a:p>
            <a:pPr marL="12700" marR="5080"/>
            <a:r>
              <a:rPr lang="en-US" sz="1400" kern="0" spc="-80" dirty="0">
                <a:solidFill>
                  <a:schemeClr val="accent2"/>
                </a:solidFill>
              </a:rPr>
              <a:t>No Feature Transformation Needed:</a:t>
            </a:r>
            <a:r>
              <a:rPr lang="en-US" sz="1400" kern="0" spc="-80" dirty="0">
                <a:solidFill>
                  <a:schemeClr val="accent6"/>
                </a:solidFill>
              </a:rPr>
              <a:t> Unlike some linear models that require feature transformations or polynomial terms, decision trees can directly handle non-linear relationships without preprocessing. </a:t>
            </a:r>
          </a:p>
          <a:p>
            <a:pPr marL="12700" marR="5080"/>
            <a:r>
              <a:rPr lang="en-US" sz="1400" kern="0" spc="-80" dirty="0">
                <a:solidFill>
                  <a:schemeClr val="accent2"/>
                </a:solidFill>
              </a:rPr>
              <a:t>Handling High-dimensional Data:</a:t>
            </a:r>
            <a:r>
              <a:rPr lang="en-US" sz="1400" kern="0" spc="-80" dirty="0">
                <a:solidFill>
                  <a:schemeClr val="accent6"/>
                </a:solidFill>
              </a:rPr>
              <a:t> Decision trees can effectively handle high-dimensional data, where the number of features is large. </a:t>
            </a:r>
          </a:p>
          <a:p>
            <a:pPr marL="12700" marR="5080"/>
            <a:r>
              <a:rPr lang="en-US" sz="1400" kern="0" spc="-80" dirty="0">
                <a:solidFill>
                  <a:schemeClr val="accent2"/>
                </a:solidFill>
              </a:rPr>
              <a:t>Interpretability</a:t>
            </a:r>
            <a:r>
              <a:rPr lang="en-US" sz="1400" kern="0" spc="-80" dirty="0">
                <a:solidFill>
                  <a:schemeClr val="accent6"/>
                </a:solidFill>
              </a:rPr>
              <a:t>: The tree structure makes it easy to understand the decision-making process and interpret the model's behavior. </a:t>
            </a:r>
          </a:p>
          <a:p>
            <a:pPr marL="12700" marR="5080"/>
            <a:r>
              <a:rPr lang="en-US" sz="1400" kern="0" spc="-80" dirty="0">
                <a:solidFill>
                  <a:schemeClr val="accent2"/>
                </a:solidFill>
              </a:rPr>
              <a:t>In summary: </a:t>
            </a:r>
            <a:r>
              <a:rPr lang="en-US" sz="1400" kern="0" spc="-80" dirty="0">
                <a:solidFill>
                  <a:schemeClr val="accent6"/>
                </a:solidFill>
              </a:rPr>
              <a:t>Decision trees excel at handling non-linear regression and classification problems by partitioning the data space into different regions, allowing them to capture complex relationships without the need for feature transformations or polynomial terms</a:t>
            </a:r>
          </a:p>
        </p:txBody>
      </p:sp>
      <p:sp>
        <p:nvSpPr>
          <p:cNvPr id="3" name="object 2">
            <a:extLst>
              <a:ext uri="{FF2B5EF4-FFF2-40B4-BE49-F238E27FC236}">
                <a16:creationId xmlns:a16="http://schemas.microsoft.com/office/drawing/2014/main" id="{ED3E934A-1B65-AADC-A532-DC98AA19F367}"/>
              </a:ext>
            </a:extLst>
          </p:cNvPr>
          <p:cNvSpPr txBox="1">
            <a:spLocks/>
          </p:cNvSpPr>
          <p:nvPr/>
        </p:nvSpPr>
        <p:spPr>
          <a:xfrm>
            <a:off x="0" y="5358825"/>
            <a:ext cx="8624937" cy="5847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200" dirty="0">
                <a:hlinkClick r:id="rId7"/>
              </a:rPr>
              <a:t>How can decision trees improve regression analysis?</a:t>
            </a:r>
            <a:endParaRPr lang="en-US" sz="1200" dirty="0"/>
          </a:p>
          <a:p>
            <a:pPr marL="12700" marR="5080"/>
            <a:r>
              <a:rPr lang="en-US" sz="1200" dirty="0">
                <a:hlinkClick r:id="rId8"/>
              </a:rPr>
              <a:t>CART (Classification And Regression Tree) in Machine Learning | </a:t>
            </a:r>
            <a:r>
              <a:rPr lang="en-US" sz="1200" dirty="0" err="1">
                <a:hlinkClick r:id="rId8"/>
              </a:rPr>
              <a:t>GeeksforGeeks</a:t>
            </a:r>
            <a:endParaRPr lang="en-US" sz="1200" dirty="0"/>
          </a:p>
        </p:txBody>
      </p:sp>
    </p:spTree>
    <p:extLst>
      <p:ext uri="{BB962C8B-B14F-4D97-AF65-F5344CB8AC3E}">
        <p14:creationId xmlns:p14="http://schemas.microsoft.com/office/powerpoint/2010/main" val="27093481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B1CED-2E05-0988-0645-8562CBDF70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4D537B9-EC08-9778-A272-DAADB90ABCFE}"/>
              </a:ext>
            </a:extLst>
          </p:cNvPr>
          <p:cNvSpPr/>
          <p:nvPr/>
        </p:nvSpPr>
        <p:spPr>
          <a:xfrm>
            <a:off x="1666239" y="91413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8BFDB6E-56A8-B1D1-505D-CCF26FC2F963}"/>
              </a:ext>
            </a:extLst>
          </p:cNvPr>
          <p:cNvSpPr/>
          <p:nvPr/>
        </p:nvSpPr>
        <p:spPr>
          <a:xfrm>
            <a:off x="1671320" y="7646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62A4C12-B1EE-ED36-EF4E-13745059F823}"/>
              </a:ext>
            </a:extLst>
          </p:cNvPr>
          <p:cNvGraphicFramePr/>
          <p:nvPr>
            <p:extLst>
              <p:ext uri="{D42A27DB-BD31-4B8C-83A1-F6EECF244321}">
                <p14:modId xmlns:p14="http://schemas.microsoft.com/office/powerpoint/2010/main" val="3422083731"/>
              </p:ext>
            </p:extLst>
          </p:nvPr>
        </p:nvGraphicFramePr>
        <p:xfrm>
          <a:off x="-15240" y="-188520"/>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C8C0350-FF89-3036-ACA7-D74B43E53E86}"/>
              </a:ext>
            </a:extLst>
          </p:cNvPr>
          <p:cNvSpPr txBox="1">
            <a:spLocks/>
          </p:cNvSpPr>
          <p:nvPr/>
        </p:nvSpPr>
        <p:spPr>
          <a:xfrm>
            <a:off x="46805" y="1063649"/>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Kernel methods enable linear models to solve nonlinear problems by implicitly mapping data into a higher-dimensional feature space where the data becomes linearly separable. This is achieved through a kernel function, which computes the inner product of data points in the transformed space, without explicitly calculating the higher-dimensional coordinates. </a:t>
            </a:r>
          </a:p>
          <a:p>
            <a:pPr marL="12700" marR="5080"/>
            <a:r>
              <a:rPr lang="en-US" sz="1500" kern="0" spc="-80" dirty="0">
                <a:solidFill>
                  <a:schemeClr val="accent6"/>
                </a:solidFill>
              </a:rPr>
              <a:t>Here's a more detailed breakdown:</a:t>
            </a:r>
          </a:p>
          <a:p>
            <a:pPr marL="12700" marR="5080"/>
            <a:r>
              <a:rPr lang="en-US" sz="1500" kern="0" spc="-80" dirty="0">
                <a:solidFill>
                  <a:schemeClr val="accent2"/>
                </a:solidFill>
              </a:rPr>
              <a:t>1. Mapping to a Higher-Dimensional Space:</a:t>
            </a:r>
          </a:p>
          <a:p>
            <a:pPr marL="12700" marR="5080"/>
            <a:r>
              <a:rPr lang="en-US" sz="1500" kern="0" spc="-80" dirty="0">
                <a:solidFill>
                  <a:schemeClr val="accent6"/>
                </a:solidFill>
              </a:rPr>
              <a:t>Kernel methods leverage a "kernel trick" to map the original data points from the input space (where the problem appears nonlinear) to a higher-dimensional feature </a:t>
            </a:r>
            <a:r>
              <a:rPr lang="en-US" sz="1500" kern="0" spc="-80" dirty="0" err="1">
                <a:solidFill>
                  <a:schemeClr val="accent6"/>
                </a:solidFill>
              </a:rPr>
              <a:t>space.This</a:t>
            </a:r>
            <a:r>
              <a:rPr lang="en-US" sz="1500" kern="0" spc="-80" dirty="0">
                <a:solidFill>
                  <a:schemeClr val="accent6"/>
                </a:solidFill>
              </a:rPr>
              <a:t> mapping is often implicit, meaning the data points are not explicitly transformed, but the kernel function indirectly calculates their similarity in the higher-dimensional space. </a:t>
            </a:r>
          </a:p>
          <a:p>
            <a:pPr marL="12700" marR="5080"/>
            <a:r>
              <a:rPr lang="en-US" sz="1500" kern="0" spc="-80" dirty="0">
                <a:solidFill>
                  <a:schemeClr val="accent2"/>
                </a:solidFill>
              </a:rPr>
              <a:t>2. Exploiting Linear Separability in the Feature Space:</a:t>
            </a:r>
          </a:p>
          <a:p>
            <a:pPr marL="12700" marR="5080"/>
            <a:r>
              <a:rPr lang="en-US" sz="1500" kern="0" spc="-80" dirty="0">
                <a:solidFill>
                  <a:schemeClr val="accent6"/>
                </a:solidFill>
              </a:rPr>
              <a:t>In the higher-dimensional feature space, the data might become linearly separable, allowing linear models like Support Vector Machines (SVMs) to effectively find a hyperplane that separates the </a:t>
            </a:r>
            <a:r>
              <a:rPr lang="en-US" sz="1500" kern="0" spc="-80" dirty="0" err="1">
                <a:solidFill>
                  <a:schemeClr val="accent6"/>
                </a:solidFill>
              </a:rPr>
              <a:t>classes.This</a:t>
            </a:r>
            <a:r>
              <a:rPr lang="en-US" sz="1500" kern="0" spc="-80" dirty="0">
                <a:solidFill>
                  <a:schemeClr val="accent6"/>
                </a:solidFill>
              </a:rPr>
              <a:t> hyperplane, which is linear in the feature space, translates to a potentially complex, nonlinear decision boundary in the original input space.</a:t>
            </a:r>
          </a:p>
          <a:p>
            <a:pPr marL="12700" marR="5080"/>
            <a:r>
              <a:rPr lang="en-US" sz="1500" kern="0" spc="-80" dirty="0">
                <a:solidFill>
                  <a:schemeClr val="accent2"/>
                </a:solidFill>
              </a:rPr>
              <a:t>3. Kernel Functions and Inner </a:t>
            </a:r>
            <a:r>
              <a:rPr lang="en-US" sz="1500" kern="0" spc="-80" dirty="0" err="1">
                <a:solidFill>
                  <a:schemeClr val="accent2"/>
                </a:solidFill>
              </a:rPr>
              <a:t>Products:</a:t>
            </a:r>
            <a:r>
              <a:rPr lang="en-US" sz="1500" kern="0" spc="-80" dirty="0" err="1">
                <a:solidFill>
                  <a:schemeClr val="accent6"/>
                </a:solidFill>
              </a:rPr>
              <a:t>The</a:t>
            </a:r>
            <a:r>
              <a:rPr lang="en-US" sz="1500" kern="0" spc="-80" dirty="0">
                <a:solidFill>
                  <a:schemeClr val="accent6"/>
                </a:solidFill>
              </a:rPr>
              <a:t> key to this process is the kernel function, which calculates the inner product of data points in the feature space. </a:t>
            </a:r>
          </a:p>
          <a:p>
            <a:pPr marL="12700" marR="5080"/>
            <a:r>
              <a:rPr lang="en-US" sz="1500" kern="0" spc="-80" dirty="0">
                <a:solidFill>
                  <a:schemeClr val="accent6"/>
                </a:solidFill>
              </a:rPr>
              <a:t>Various kernel functions exist, such as polynomial kernels, radial basis function (RBF) kernels, and sigmoid kernels, each with different mapping properties. </a:t>
            </a:r>
          </a:p>
          <a:p>
            <a:pPr marL="12700" marR="5080"/>
            <a:r>
              <a:rPr lang="en-US" sz="1500" kern="0" spc="-80" dirty="0">
                <a:solidFill>
                  <a:schemeClr val="accent6"/>
                </a:solidFill>
              </a:rPr>
              <a:t>The choice of kernel function influences the complexity of the learned decision boundary and the model's ability to capture nonlinear relationships. </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2548249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EE6E-88D1-7FEE-3AE6-097DDE8A2F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476950-B493-49E7-9365-EB386BB2E21C}"/>
              </a:ext>
            </a:extLst>
          </p:cNvPr>
          <p:cNvSpPr/>
          <p:nvPr/>
        </p:nvSpPr>
        <p:spPr>
          <a:xfrm>
            <a:off x="1666239" y="91413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E3B893-144F-34DA-6F33-999C33F8DB9C}"/>
              </a:ext>
            </a:extLst>
          </p:cNvPr>
          <p:cNvSpPr/>
          <p:nvPr/>
        </p:nvSpPr>
        <p:spPr>
          <a:xfrm>
            <a:off x="1671320" y="7646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18877A4-37CC-ABB3-0082-07FDB7CD9C43}"/>
              </a:ext>
            </a:extLst>
          </p:cNvPr>
          <p:cNvGraphicFramePr/>
          <p:nvPr>
            <p:extLst>
              <p:ext uri="{D42A27DB-BD31-4B8C-83A1-F6EECF244321}">
                <p14:modId xmlns:p14="http://schemas.microsoft.com/office/powerpoint/2010/main" val="2632637608"/>
              </p:ext>
            </p:extLst>
          </p:nvPr>
        </p:nvGraphicFramePr>
        <p:xfrm>
          <a:off x="0" y="-214212"/>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A8448EF-6291-ECAC-AA46-1F0FB1EF4A55}"/>
              </a:ext>
            </a:extLst>
          </p:cNvPr>
          <p:cNvSpPr txBox="1">
            <a:spLocks/>
          </p:cNvSpPr>
          <p:nvPr/>
        </p:nvSpPr>
        <p:spPr>
          <a:xfrm>
            <a:off x="0" y="1063649"/>
            <a:ext cx="8624937" cy="30008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4. Benefits of Kernel Methods:</a:t>
            </a:r>
          </a:p>
          <a:p>
            <a:pPr marL="12700" marR="5080"/>
            <a:r>
              <a:rPr lang="en-US" sz="1500" kern="0" spc="-80" dirty="0" err="1">
                <a:solidFill>
                  <a:schemeClr val="accent2"/>
                </a:solidFill>
              </a:rPr>
              <a:t>Flexibility:</a:t>
            </a:r>
            <a:r>
              <a:rPr lang="en-US" sz="1500" kern="0" spc="-80" dirty="0" err="1">
                <a:solidFill>
                  <a:schemeClr val="accent6"/>
                </a:solidFill>
              </a:rPr>
              <a:t>Kernel</a:t>
            </a:r>
            <a:r>
              <a:rPr lang="en-US" sz="1500" kern="0" spc="-80" dirty="0">
                <a:solidFill>
                  <a:schemeClr val="accent6"/>
                </a:solidFill>
              </a:rPr>
              <a:t> methods can handle complex, nonlinear relationships in the data, allowing for more accurate classification and regression models. </a:t>
            </a:r>
          </a:p>
          <a:p>
            <a:pPr marL="12700" marR="5080"/>
            <a:r>
              <a:rPr lang="en-US" sz="1500" kern="0" spc="-80" dirty="0" err="1">
                <a:solidFill>
                  <a:schemeClr val="accent2"/>
                </a:solidFill>
              </a:rPr>
              <a:t>Efficiency:</a:t>
            </a:r>
            <a:r>
              <a:rPr lang="en-US" sz="1500" kern="0" spc="-80" dirty="0" err="1">
                <a:solidFill>
                  <a:schemeClr val="accent6"/>
                </a:solidFill>
              </a:rPr>
              <a:t>The</a:t>
            </a:r>
            <a:r>
              <a:rPr lang="en-US" sz="1500" kern="0" spc="-80" dirty="0">
                <a:solidFill>
                  <a:schemeClr val="accent6"/>
                </a:solidFill>
              </a:rPr>
              <a:t> "kernel trick" allows computations to be performed in the original input space, even though the mapping happens in a higher-dimensional space, avoiding the need to explicitly compute and store data in the higher-dimensional space. </a:t>
            </a:r>
          </a:p>
          <a:p>
            <a:pPr marL="12700" marR="5080"/>
            <a:r>
              <a:rPr lang="en-US" sz="1500" kern="0" spc="-80" dirty="0" err="1">
                <a:solidFill>
                  <a:schemeClr val="accent2"/>
                </a:solidFill>
              </a:rPr>
              <a:t>Versatility</a:t>
            </a:r>
            <a:r>
              <a:rPr lang="en-US" sz="1500" kern="0" spc="-80" dirty="0" err="1">
                <a:solidFill>
                  <a:schemeClr val="accent6"/>
                </a:solidFill>
              </a:rPr>
              <a:t>:Kernel</a:t>
            </a:r>
            <a:r>
              <a:rPr lang="en-US" sz="1500" kern="0" spc="-80" dirty="0">
                <a:solidFill>
                  <a:schemeClr val="accent6"/>
                </a:solidFill>
              </a:rPr>
              <a:t> methods are widely used in various machine learning tasks, including classification, regression, and feature extraction. </a:t>
            </a:r>
          </a:p>
          <a:p>
            <a:pPr marL="12700" marR="5080"/>
            <a:endParaRPr lang="en-US" sz="1500" kern="0" spc="-80" dirty="0">
              <a:solidFill>
                <a:schemeClr val="accent6"/>
              </a:solidFill>
            </a:endParaRPr>
          </a:p>
          <a:p>
            <a:pPr marL="12700" marR="5080"/>
            <a:r>
              <a:rPr lang="en-US" sz="1500" kern="0" spc="-80" dirty="0">
                <a:solidFill>
                  <a:schemeClr val="accent2"/>
                </a:solidFill>
              </a:rPr>
              <a:t>In summary: </a:t>
            </a:r>
            <a:r>
              <a:rPr lang="en-US" sz="1500" kern="0" spc="-80" dirty="0">
                <a:solidFill>
                  <a:schemeClr val="accent6"/>
                </a:solidFill>
              </a:rPr>
              <a:t>Kernel methods provide a powerful approach for solving nonlinear problems by leveraging linear models in a transformed, higher-dimensional space, achieved through the use of kernel functions that implicitly compute the inner products of data points in the transformed space. </a:t>
            </a:r>
          </a:p>
        </p:txBody>
      </p:sp>
      <p:sp>
        <p:nvSpPr>
          <p:cNvPr id="3" name="object 2">
            <a:extLst>
              <a:ext uri="{FF2B5EF4-FFF2-40B4-BE49-F238E27FC236}">
                <a16:creationId xmlns:a16="http://schemas.microsoft.com/office/drawing/2014/main" id="{39D68BEE-4CF6-7BCE-08ED-38B66B3F1037}"/>
              </a:ext>
            </a:extLst>
          </p:cNvPr>
          <p:cNvSpPr txBox="1">
            <a:spLocks/>
          </p:cNvSpPr>
          <p:nvPr/>
        </p:nvSpPr>
        <p:spPr>
          <a:xfrm>
            <a:off x="0" y="4648200"/>
            <a:ext cx="8624937" cy="15081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200" dirty="0">
                <a:hlinkClick r:id="rId7"/>
              </a:rPr>
              <a:t>How do Kernels Learn Non-Linear Functions?</a:t>
            </a:r>
            <a:endParaRPr lang="en-US" sz="1200" dirty="0"/>
          </a:p>
          <a:p>
            <a:pPr marL="12700" marR="5080"/>
            <a:r>
              <a:rPr lang="en-US" sz="1200" dirty="0">
                <a:hlinkClick r:id="rId8"/>
              </a:rPr>
              <a:t>Exploring the Kernel Trick's Role in Enhancing Nonlinear Classification</a:t>
            </a:r>
            <a:endParaRPr lang="en-US" sz="1200" dirty="0"/>
          </a:p>
          <a:p>
            <a:pPr marL="12700" marR="5080"/>
            <a:r>
              <a:rPr lang="en-IN" sz="1200" dirty="0">
                <a:hlinkClick r:id="rId9"/>
              </a:rPr>
              <a:t>Intuition Behind Kernels in Machine Learning</a:t>
            </a:r>
            <a:endParaRPr lang="en-IN" sz="1200" dirty="0"/>
          </a:p>
          <a:p>
            <a:pPr marL="12700" marR="5080"/>
            <a:r>
              <a:rPr lang="en-IN" sz="1200" dirty="0">
                <a:hlinkClick r:id="rId10"/>
              </a:rPr>
              <a:t>Kernel Cookbook</a:t>
            </a:r>
            <a:endParaRPr lang="en-IN" sz="1200" dirty="0"/>
          </a:p>
          <a:p>
            <a:pPr marL="12700" marR="5080"/>
            <a:r>
              <a:rPr lang="en-US" sz="1200" dirty="0">
                <a:hlinkClick r:id="rId11"/>
              </a:rPr>
              <a:t>Learning: Support Vector Machines</a:t>
            </a:r>
            <a:endParaRPr lang="en-US" sz="1200" dirty="0"/>
          </a:p>
          <a:p>
            <a:pPr marL="12700" marR="5080"/>
            <a:r>
              <a:rPr lang="en-US" sz="1200" dirty="0">
                <a:hlinkClick r:id="rId12"/>
              </a:rPr>
              <a:t>Learning with Kernels: Support Vector Machines, Regularization, Optimization, and Beyond</a:t>
            </a:r>
            <a:endParaRPr lang="en-US" sz="1200" dirty="0"/>
          </a:p>
          <a:p>
            <a:pPr marL="12700" marR="5080"/>
            <a:endParaRPr lang="en-US" sz="1200" dirty="0"/>
          </a:p>
        </p:txBody>
      </p:sp>
    </p:spTree>
    <p:extLst>
      <p:ext uri="{BB962C8B-B14F-4D97-AF65-F5344CB8AC3E}">
        <p14:creationId xmlns:p14="http://schemas.microsoft.com/office/powerpoint/2010/main" val="24675664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256E4-1FFF-18DE-A236-D9AC1ADB76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CEB5130-3607-23A4-4B48-0A4CB414EE89}"/>
              </a:ext>
            </a:extLst>
          </p:cNvPr>
          <p:cNvSpPr/>
          <p:nvPr/>
        </p:nvSpPr>
        <p:spPr>
          <a:xfrm>
            <a:off x="1671319" y="953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51303A-E0FE-2763-3151-08647D97AA2E}"/>
              </a:ext>
            </a:extLst>
          </p:cNvPr>
          <p:cNvSpPr/>
          <p:nvPr/>
        </p:nvSpPr>
        <p:spPr>
          <a:xfrm>
            <a:off x="1671319" y="1105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06F00AA-A318-6A6C-E22C-59F84822EB4C}"/>
              </a:ext>
            </a:extLst>
          </p:cNvPr>
          <p:cNvGraphicFramePr/>
          <p:nvPr>
            <p:extLst>
              <p:ext uri="{D42A27DB-BD31-4B8C-83A1-F6EECF244321}">
                <p14:modId xmlns:p14="http://schemas.microsoft.com/office/powerpoint/2010/main" val="2946993564"/>
              </p:ext>
            </p:extLst>
          </p:nvPr>
        </p:nvGraphicFramePr>
        <p:xfrm>
          <a:off x="-20320" y="-19369"/>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E139EBD-0FD9-AA32-6074-29FE943794E3}"/>
              </a:ext>
            </a:extLst>
          </p:cNvPr>
          <p:cNvSpPr txBox="1">
            <a:spLocks/>
          </p:cNvSpPr>
          <p:nvPr/>
        </p:nvSpPr>
        <p:spPr>
          <a:xfrm>
            <a:off x="-20320" y="1406128"/>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Kernel methods offer the advantage of handling non-linear relationships in data by implicitly mapping it into a higher-dimensional space, while decision trees are known for their simplicity and interpretability. However, kernel methods can be computationally expensive and sensitive to noise and hyperparameters, while decision trees are prone to overfitting and instability to data changes. </a:t>
            </a:r>
          </a:p>
          <a:p>
            <a:pPr marL="12700" marR="5080"/>
            <a:r>
              <a:rPr lang="en-US" sz="1400" kern="0" spc="-80" dirty="0">
                <a:solidFill>
                  <a:schemeClr val="accent2"/>
                </a:solidFill>
              </a:rPr>
              <a:t>Kernel Methods:</a:t>
            </a:r>
          </a:p>
          <a:p>
            <a:pPr marL="12700" marR="5080"/>
            <a:r>
              <a:rPr lang="en-US" sz="1400" kern="0" spc="-80" dirty="0">
                <a:solidFill>
                  <a:schemeClr val="accent2"/>
                </a:solidFill>
              </a:rPr>
              <a:t>Pros</a:t>
            </a:r>
            <a:r>
              <a:rPr lang="en-US" sz="1400" kern="0" spc="-80" dirty="0">
                <a:solidFill>
                  <a:schemeClr val="accent6"/>
                </a:solidFill>
              </a:rPr>
              <a:t>:</a:t>
            </a:r>
          </a:p>
          <a:p>
            <a:pPr marL="12700" marR="5080"/>
            <a:r>
              <a:rPr lang="en-US" sz="1400" kern="0" spc="-80" dirty="0">
                <a:solidFill>
                  <a:schemeClr val="accent2"/>
                </a:solidFill>
              </a:rPr>
              <a:t>Handles nonlinear relationships:</a:t>
            </a:r>
            <a:r>
              <a:rPr lang="en-US" sz="1400" kern="0" spc="-80" dirty="0">
                <a:solidFill>
                  <a:schemeClr val="accent6"/>
                </a:solidFill>
              </a:rPr>
              <a:t> Kernel methods, like SVMs, can effectively capture complex patterns in data by mapping it into higher-dimensional spaces, where linear methods can be applied. </a:t>
            </a:r>
          </a:p>
          <a:p>
            <a:pPr marL="12700" marR="5080"/>
            <a:r>
              <a:rPr lang="en-US" sz="1400" kern="0" spc="-80" dirty="0">
                <a:solidFill>
                  <a:schemeClr val="accent2"/>
                </a:solidFill>
              </a:rPr>
              <a:t>Versatile: </a:t>
            </a:r>
            <a:r>
              <a:rPr lang="en-US" sz="1400" kern="0" spc="-80" dirty="0">
                <a:solidFill>
                  <a:schemeClr val="accent6"/>
                </a:solidFill>
              </a:rPr>
              <a:t>They can be used for both classification and regression problems. </a:t>
            </a:r>
          </a:p>
          <a:p>
            <a:pPr marL="12700" marR="5080"/>
            <a:r>
              <a:rPr lang="en-US" sz="1400" kern="0" spc="-80" dirty="0">
                <a:solidFill>
                  <a:schemeClr val="accent2"/>
                </a:solidFill>
              </a:rPr>
              <a:t>Effective with limited data:</a:t>
            </a:r>
            <a:r>
              <a:rPr lang="en-US" sz="1400" kern="0" spc="-80" dirty="0">
                <a:solidFill>
                  <a:schemeClr val="accent6"/>
                </a:solidFill>
              </a:rPr>
              <a:t> Kernel methods can perform well even with a small amount of training data. </a:t>
            </a:r>
          </a:p>
          <a:p>
            <a:pPr marL="12700" marR="5080"/>
            <a:r>
              <a:rPr lang="en-US" sz="1400" kern="0" spc="-80" dirty="0">
                <a:solidFill>
                  <a:schemeClr val="accent2"/>
                </a:solidFill>
              </a:rPr>
              <a:t>Robustness:</a:t>
            </a:r>
            <a:r>
              <a:rPr lang="en-US" sz="1400" kern="0" spc="-80" dirty="0">
                <a:solidFill>
                  <a:schemeClr val="accent6"/>
                </a:solidFill>
              </a:rPr>
              <a:t> They can be relatively robust to noise and outliers. </a:t>
            </a:r>
          </a:p>
          <a:p>
            <a:pPr marL="12700" marR="5080"/>
            <a:r>
              <a:rPr lang="en-US" sz="1400" kern="0" spc="-80" dirty="0">
                <a:solidFill>
                  <a:schemeClr val="accent2"/>
                </a:solidFill>
              </a:rPr>
              <a:t>Cons</a:t>
            </a:r>
            <a:r>
              <a:rPr lang="en-US" sz="1400" kern="0" spc="-80" dirty="0">
                <a:solidFill>
                  <a:schemeClr val="accent6"/>
                </a:solidFill>
              </a:rPr>
              <a:t>:</a:t>
            </a:r>
          </a:p>
          <a:p>
            <a:pPr marL="12700" marR="5080"/>
            <a:r>
              <a:rPr lang="en-US" sz="1400" kern="0" spc="-80" dirty="0">
                <a:solidFill>
                  <a:schemeClr val="accent2"/>
                </a:solidFill>
              </a:rPr>
              <a:t>Computational cost</a:t>
            </a:r>
            <a:r>
              <a:rPr lang="en-US" sz="1400" kern="0" spc="-80" dirty="0">
                <a:solidFill>
                  <a:schemeClr val="accent6"/>
                </a:solidFill>
              </a:rPr>
              <a:t>: Training kernel methods, especially for large datasets, can be computationally expensive due to the kernel matrix. </a:t>
            </a:r>
          </a:p>
          <a:p>
            <a:pPr marL="12700" marR="5080"/>
            <a:r>
              <a:rPr lang="en-US" sz="1400" kern="0" spc="-80" dirty="0">
                <a:solidFill>
                  <a:schemeClr val="accent2"/>
                </a:solidFill>
              </a:rPr>
              <a:t>Sensitive to hyperparameters:</a:t>
            </a:r>
            <a:r>
              <a:rPr lang="en-US" sz="1400" kern="0" spc="-80" dirty="0">
                <a:solidFill>
                  <a:schemeClr val="accent6"/>
                </a:solidFill>
              </a:rPr>
              <a:t> The choice of kernel function and its parameters can significantly impact performance, and tuning these hyperparameters can be challenging. </a:t>
            </a:r>
          </a:p>
          <a:p>
            <a:pPr marL="12700" marR="5080"/>
            <a:r>
              <a:rPr lang="en-US" sz="1400" kern="0" spc="-80" dirty="0">
                <a:solidFill>
                  <a:schemeClr val="accent2"/>
                </a:solidFill>
              </a:rPr>
              <a:t>Overfitting:</a:t>
            </a:r>
            <a:r>
              <a:rPr lang="en-US" sz="1400" kern="0" spc="-80" dirty="0">
                <a:solidFill>
                  <a:schemeClr val="accent6"/>
                </a:solidFill>
              </a:rPr>
              <a:t> Kernels can overfit the training data if not properly tuned. </a:t>
            </a:r>
          </a:p>
          <a:p>
            <a:pPr marL="12700" marR="5080"/>
            <a:r>
              <a:rPr lang="en-US" sz="1400" kern="0" spc="-80" dirty="0">
                <a:solidFill>
                  <a:schemeClr val="accent2"/>
                </a:solidFill>
              </a:rPr>
              <a:t>Curse of dimensionality</a:t>
            </a:r>
            <a:r>
              <a:rPr lang="en-US" sz="1400" kern="0" spc="-80" dirty="0">
                <a:solidFill>
                  <a:schemeClr val="accent6"/>
                </a:solidFill>
              </a:rPr>
              <a:t>: As the dimensionality of the feature space increases, the data can become sparse, making it harder to generalize. </a:t>
            </a:r>
          </a:p>
          <a:p>
            <a:pPr marL="12700" marR="5080"/>
            <a:r>
              <a:rPr lang="en-US" sz="1400" kern="0" spc="-80" dirty="0">
                <a:solidFill>
                  <a:schemeClr val="accent2"/>
                </a:solidFill>
              </a:rPr>
              <a:t>Instability</a:t>
            </a:r>
            <a:r>
              <a:rPr lang="en-US" sz="1400" kern="0" spc="-80" dirty="0">
                <a:solidFill>
                  <a:schemeClr val="accent6"/>
                </a:solidFill>
              </a:rPr>
              <a:t>: They can be sensitive to small changes in the training data. </a:t>
            </a:r>
          </a:p>
        </p:txBody>
      </p:sp>
    </p:spTree>
    <p:extLst>
      <p:ext uri="{BB962C8B-B14F-4D97-AF65-F5344CB8AC3E}">
        <p14:creationId xmlns:p14="http://schemas.microsoft.com/office/powerpoint/2010/main" val="30485895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AB57B-0C57-257B-AD72-D8FAD12133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4FB9B8-5F46-43CC-2B9E-A3AB5DC70257}"/>
              </a:ext>
            </a:extLst>
          </p:cNvPr>
          <p:cNvSpPr/>
          <p:nvPr/>
        </p:nvSpPr>
        <p:spPr>
          <a:xfrm>
            <a:off x="1666239" y="91413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845F3A-B9DE-89A4-6DCC-87F8A9FDF190}"/>
              </a:ext>
            </a:extLst>
          </p:cNvPr>
          <p:cNvSpPr/>
          <p:nvPr/>
        </p:nvSpPr>
        <p:spPr>
          <a:xfrm>
            <a:off x="1671320" y="7646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1A73CA-2C5C-021F-73FF-1BEF2E72055F}"/>
              </a:ext>
            </a:extLst>
          </p:cNvPr>
          <p:cNvGraphicFramePr/>
          <p:nvPr>
            <p:extLst>
              <p:ext uri="{D42A27DB-BD31-4B8C-83A1-F6EECF244321}">
                <p14:modId xmlns:p14="http://schemas.microsoft.com/office/powerpoint/2010/main" val="4165062790"/>
              </p:ext>
            </p:extLst>
          </p:nvPr>
        </p:nvGraphicFramePr>
        <p:xfrm>
          <a:off x="0" y="-205304"/>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2853DC4-CEED-B3B7-C95D-070E12409703}"/>
              </a:ext>
            </a:extLst>
          </p:cNvPr>
          <p:cNvSpPr txBox="1">
            <a:spLocks/>
          </p:cNvSpPr>
          <p:nvPr/>
        </p:nvSpPr>
        <p:spPr>
          <a:xfrm>
            <a:off x="0" y="1062243"/>
            <a:ext cx="8624937" cy="36625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Decision Trees:</a:t>
            </a:r>
          </a:p>
          <a:p>
            <a:pPr marL="12700" marR="5080"/>
            <a:r>
              <a:rPr lang="en-US" sz="1400" kern="0" spc="-80" dirty="0">
                <a:solidFill>
                  <a:schemeClr val="accent2"/>
                </a:solidFill>
              </a:rPr>
              <a:t>Pros</a:t>
            </a:r>
            <a:r>
              <a:rPr lang="en-US" sz="1400" kern="0" spc="-80" dirty="0">
                <a:solidFill>
                  <a:schemeClr val="accent6"/>
                </a:solidFill>
              </a:rPr>
              <a:t>:</a:t>
            </a:r>
          </a:p>
          <a:p>
            <a:pPr marL="12700" marR="5080"/>
            <a:r>
              <a:rPr lang="en-US" sz="1400" kern="0" spc="-80" dirty="0">
                <a:solidFill>
                  <a:schemeClr val="accent2"/>
                </a:solidFill>
              </a:rPr>
              <a:t>Interpretability</a:t>
            </a:r>
            <a:r>
              <a:rPr lang="en-US" sz="1400" kern="0" spc="-80" dirty="0">
                <a:solidFill>
                  <a:schemeClr val="accent6"/>
                </a:solidFill>
              </a:rPr>
              <a:t>: Decision trees are easy to understand and visualize, making it clear how decisions are made. </a:t>
            </a:r>
          </a:p>
          <a:p>
            <a:pPr marL="12700" marR="5080"/>
            <a:r>
              <a:rPr lang="en-US" sz="1400" kern="0" spc="-80" dirty="0">
                <a:solidFill>
                  <a:schemeClr val="accent2"/>
                </a:solidFill>
              </a:rPr>
              <a:t>Minimal data preprocessing:</a:t>
            </a:r>
            <a:r>
              <a:rPr lang="en-US" sz="1400" kern="0" spc="-80" dirty="0">
                <a:solidFill>
                  <a:schemeClr val="accent6"/>
                </a:solidFill>
              </a:rPr>
              <a:t> They require less data preprocessing compared to some other methods. </a:t>
            </a:r>
          </a:p>
          <a:p>
            <a:pPr marL="12700" marR="5080"/>
            <a:r>
              <a:rPr lang="en-US" sz="1400" kern="0" spc="-80" dirty="0">
                <a:solidFill>
                  <a:schemeClr val="accent2"/>
                </a:solidFill>
              </a:rPr>
              <a:t>Handles both numerical and categorical data</a:t>
            </a:r>
            <a:r>
              <a:rPr lang="en-US" sz="1400" kern="0" spc="-80" dirty="0">
                <a:solidFill>
                  <a:schemeClr val="accent6"/>
                </a:solidFill>
              </a:rPr>
              <a:t>: Decision trees can effectively handle both types of data. </a:t>
            </a:r>
          </a:p>
          <a:p>
            <a:pPr marL="12700" marR="5080"/>
            <a:r>
              <a:rPr lang="en-US" sz="1400" kern="0" spc="-80" dirty="0">
                <a:solidFill>
                  <a:schemeClr val="accent2"/>
                </a:solidFill>
              </a:rPr>
              <a:t>Fast training and prediction:</a:t>
            </a:r>
            <a:r>
              <a:rPr lang="en-US" sz="1400" kern="0" spc="-80" dirty="0">
                <a:solidFill>
                  <a:schemeClr val="accent6"/>
                </a:solidFill>
              </a:rPr>
              <a:t> They can be relatively fast to train and make predictions. </a:t>
            </a:r>
          </a:p>
          <a:p>
            <a:pPr marL="12700" marR="5080"/>
            <a:r>
              <a:rPr lang="en-US" sz="1400" kern="0" spc="-80" dirty="0">
                <a:solidFill>
                  <a:schemeClr val="accent2"/>
                </a:solidFill>
              </a:rPr>
              <a:t>Cons</a:t>
            </a:r>
            <a:r>
              <a:rPr lang="en-US" sz="1400" kern="0" spc="-80" dirty="0">
                <a:solidFill>
                  <a:schemeClr val="accent6"/>
                </a:solidFill>
              </a:rPr>
              <a:t>:</a:t>
            </a:r>
          </a:p>
          <a:p>
            <a:pPr marL="12700" marR="5080"/>
            <a:r>
              <a:rPr lang="en-US" sz="1400" kern="0" spc="-80" dirty="0">
                <a:solidFill>
                  <a:schemeClr val="accent2"/>
                </a:solidFill>
              </a:rPr>
              <a:t>Prone to overfitting</a:t>
            </a:r>
            <a:r>
              <a:rPr lang="en-US" sz="1400" kern="0" spc="-80" dirty="0">
                <a:solidFill>
                  <a:schemeClr val="accent6"/>
                </a:solidFill>
              </a:rPr>
              <a:t>: Deep trees can overfit the training data, leading to poor generalization. </a:t>
            </a:r>
          </a:p>
          <a:p>
            <a:pPr marL="12700" marR="5080"/>
            <a:r>
              <a:rPr lang="en-US" sz="1400" kern="0" spc="-80" dirty="0">
                <a:solidFill>
                  <a:schemeClr val="accent2"/>
                </a:solidFill>
              </a:rPr>
              <a:t>Instability</a:t>
            </a:r>
            <a:r>
              <a:rPr lang="en-US" sz="1400" kern="0" spc="-80" dirty="0">
                <a:solidFill>
                  <a:schemeClr val="accent6"/>
                </a:solidFill>
              </a:rPr>
              <a:t>: Small changes in the training data can lead to significant changes in the tree structure. </a:t>
            </a:r>
          </a:p>
          <a:p>
            <a:pPr marL="12700" marR="5080"/>
            <a:r>
              <a:rPr lang="en-US" sz="1400" kern="0" spc="-80" dirty="0">
                <a:solidFill>
                  <a:schemeClr val="accent2"/>
                </a:solidFill>
              </a:rPr>
              <a:t>Unstable to noise:</a:t>
            </a:r>
            <a:r>
              <a:rPr lang="en-US" sz="1400" kern="0" spc="-80" dirty="0">
                <a:solidFill>
                  <a:schemeClr val="accent6"/>
                </a:solidFill>
              </a:rPr>
              <a:t> They can be sensitive to noise in the data. </a:t>
            </a:r>
          </a:p>
          <a:p>
            <a:pPr marL="12700" marR="5080"/>
            <a:r>
              <a:rPr lang="en-US" sz="1400" kern="0" spc="-80" dirty="0">
                <a:solidFill>
                  <a:schemeClr val="accent2"/>
                </a:solidFill>
              </a:rPr>
              <a:t>Overfitting</a:t>
            </a:r>
            <a:r>
              <a:rPr lang="en-US" sz="1400" kern="0" spc="-80" dirty="0">
                <a:solidFill>
                  <a:schemeClr val="accent6"/>
                </a:solidFill>
              </a:rPr>
              <a:t>: Decision trees can overfit the training data, especially with deep trees on small datasets. </a:t>
            </a:r>
          </a:p>
          <a:p>
            <a:pPr marL="12700" marR="5080"/>
            <a:r>
              <a:rPr lang="en-US" sz="1400" kern="0" spc="-80" dirty="0">
                <a:solidFill>
                  <a:schemeClr val="accent2"/>
                </a:solidFill>
              </a:rPr>
              <a:t>Greedy algorithm</a:t>
            </a:r>
            <a:r>
              <a:rPr lang="en-US" sz="1400" kern="0" spc="-80" dirty="0">
                <a:solidFill>
                  <a:schemeClr val="accent6"/>
                </a:solidFill>
              </a:rPr>
              <a:t>: They make greedy decisions at each node, which may not always lead to the optimal solution. </a:t>
            </a:r>
          </a:p>
          <a:p>
            <a:pPr marL="12700" marR="5080"/>
            <a:r>
              <a:rPr lang="en-US" sz="1400" kern="0" spc="-80" dirty="0">
                <a:solidFill>
                  <a:schemeClr val="accent2"/>
                </a:solidFill>
              </a:rPr>
              <a:t>Computational cost on large datasets</a:t>
            </a:r>
            <a:r>
              <a:rPr lang="en-US" sz="1400" kern="0" spc="-80" dirty="0">
                <a:solidFill>
                  <a:schemeClr val="accent6"/>
                </a:solidFill>
              </a:rPr>
              <a:t>: Training decision trees on large datasets can be computationally expensive. </a:t>
            </a:r>
          </a:p>
          <a:p>
            <a:pPr marL="12700" marR="5080"/>
            <a:r>
              <a:rPr lang="en-US" sz="1400" kern="0" spc="-80" dirty="0">
                <a:solidFill>
                  <a:schemeClr val="accent2"/>
                </a:solidFill>
              </a:rPr>
              <a:t>Difficulty with unbalanced datasets</a:t>
            </a:r>
            <a:r>
              <a:rPr lang="en-US" sz="1400" kern="0" spc="-80" dirty="0">
                <a:solidFill>
                  <a:schemeClr val="accent6"/>
                </a:solidFill>
              </a:rPr>
              <a:t>: They may favor the majority class in unbalanced datasets. </a:t>
            </a:r>
          </a:p>
        </p:txBody>
      </p:sp>
    </p:spTree>
    <p:extLst>
      <p:ext uri="{BB962C8B-B14F-4D97-AF65-F5344CB8AC3E}">
        <p14:creationId xmlns:p14="http://schemas.microsoft.com/office/powerpoint/2010/main" val="11129852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5D3BA-2368-3E2A-AD9D-35A3E9FFF85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8758A2-ED45-9781-0A93-809EAC90243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0F182E-188B-572A-3620-E63F2D5D3882}"/>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9B6A787-5A16-63A9-853D-0CDF0344CF0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1277299-B981-F778-3245-6D10F249A641}"/>
              </a:ext>
            </a:extLst>
          </p:cNvPr>
          <p:cNvSpPr txBox="1">
            <a:spLocks/>
          </p:cNvSpPr>
          <p:nvPr/>
        </p:nvSpPr>
        <p:spPr>
          <a:xfrm>
            <a:off x="101601" y="4860781"/>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000" dirty="0">
                <a:hlinkClick r:id="rId7"/>
              </a:rPr>
              <a:t>Ensemble Methods in Machine Learning - </a:t>
            </a:r>
            <a:r>
              <a:rPr lang="en-US" sz="1000" dirty="0" err="1">
                <a:hlinkClick r:id="rId7"/>
              </a:rPr>
              <a:t>Prwatech</a:t>
            </a:r>
            <a:endParaRPr lang="en-US" sz="1400" kern="0" spc="-80" dirty="0">
              <a:solidFill>
                <a:schemeClr val="accent2"/>
              </a:solidFill>
            </a:endParaRPr>
          </a:p>
          <a:p>
            <a:pPr marL="12700" marR="5080"/>
            <a:r>
              <a:rPr lang="en-US" sz="1000" dirty="0">
                <a:hlinkClick r:id="rId8"/>
              </a:rPr>
              <a:t>Ensemble Learning Algorithms </a:t>
            </a:r>
            <a:r>
              <a:rPr lang="en-US" sz="1000" dirty="0" err="1">
                <a:hlinkClick r:id="rId8"/>
              </a:rPr>
              <a:t>Cheatsheet</a:t>
            </a:r>
            <a:endParaRPr lang="en-US" sz="1000" dirty="0"/>
          </a:p>
          <a:p>
            <a:pPr marL="12700" marR="5080"/>
            <a:r>
              <a:rPr lang="en-US" sz="1000" dirty="0">
                <a:hlinkClick r:id="rId9"/>
              </a:rPr>
              <a:t>Ensemble-Methods-Notebooks</a:t>
            </a:r>
            <a:endParaRPr lang="en-US" sz="1000" dirty="0"/>
          </a:p>
          <a:p>
            <a:pPr marL="12700" marR="5080"/>
            <a:r>
              <a:rPr lang="en-US" sz="1000" dirty="0">
                <a:hlinkClick r:id="rId10"/>
              </a:rPr>
              <a:t>Ensemble-Machine-Learning-Cookbook</a:t>
            </a:r>
            <a:endParaRPr lang="en-US" sz="1000" dirty="0"/>
          </a:p>
          <a:p>
            <a:pPr marL="12700" marR="5080"/>
            <a:r>
              <a:rPr lang="en-US" sz="1000" dirty="0">
                <a:hlinkClick r:id="rId11"/>
              </a:rPr>
              <a:t>Hands-On-Ensemble-Learning-with-Python</a:t>
            </a:r>
            <a:endParaRPr lang="en-US" sz="1400" kern="0" spc="-80" dirty="0">
              <a:solidFill>
                <a:schemeClr val="accent2"/>
              </a:solidFill>
            </a:endParaRPr>
          </a:p>
        </p:txBody>
      </p:sp>
      <p:pic>
        <p:nvPicPr>
          <p:cNvPr id="7" name="Picture 6">
            <a:extLst>
              <a:ext uri="{FF2B5EF4-FFF2-40B4-BE49-F238E27FC236}">
                <a16:creationId xmlns:a16="http://schemas.microsoft.com/office/drawing/2014/main" id="{1B04C8CC-A014-7D0F-161D-2964929BDB31}"/>
              </a:ext>
            </a:extLst>
          </p:cNvPr>
          <p:cNvPicPr>
            <a:picLocks noChangeAspect="1"/>
          </p:cNvPicPr>
          <p:nvPr/>
        </p:nvPicPr>
        <p:blipFill>
          <a:blip r:embed="rId12"/>
          <a:stretch>
            <a:fillRect/>
          </a:stretch>
        </p:blipFill>
        <p:spPr>
          <a:xfrm>
            <a:off x="0" y="1275913"/>
            <a:ext cx="9067799" cy="1391088"/>
          </a:xfrm>
          <a:prstGeom prst="rect">
            <a:avLst/>
          </a:prstGeom>
        </p:spPr>
      </p:pic>
      <p:pic>
        <p:nvPicPr>
          <p:cNvPr id="9" name="Picture 8">
            <a:extLst>
              <a:ext uri="{FF2B5EF4-FFF2-40B4-BE49-F238E27FC236}">
                <a16:creationId xmlns:a16="http://schemas.microsoft.com/office/drawing/2014/main" id="{CE55CE6F-9CA2-22C9-6B8E-9B1F0F77D2AC}"/>
              </a:ext>
            </a:extLst>
          </p:cNvPr>
          <p:cNvPicPr>
            <a:picLocks noChangeAspect="1"/>
          </p:cNvPicPr>
          <p:nvPr/>
        </p:nvPicPr>
        <p:blipFill>
          <a:blip r:embed="rId13"/>
          <a:stretch>
            <a:fillRect/>
          </a:stretch>
        </p:blipFill>
        <p:spPr>
          <a:xfrm>
            <a:off x="76201" y="2667001"/>
            <a:ext cx="8941027" cy="2178540"/>
          </a:xfrm>
          <a:prstGeom prst="rect">
            <a:avLst/>
          </a:prstGeom>
        </p:spPr>
      </p:pic>
    </p:spTree>
    <p:extLst>
      <p:ext uri="{BB962C8B-B14F-4D97-AF65-F5344CB8AC3E}">
        <p14:creationId xmlns:p14="http://schemas.microsoft.com/office/powerpoint/2010/main" val="1738069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AB48D-223D-B455-B898-459F28549C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A057BD-6534-085E-A226-3BE7E32257FE}"/>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2AEBC78-0290-F3F0-A52F-E0B32C4CBC12}"/>
              </a:ext>
            </a:extLst>
          </p:cNvPr>
          <p:cNvSpPr/>
          <p:nvPr/>
        </p:nvSpPr>
        <p:spPr>
          <a:xfrm>
            <a:off x="1671319" y="93190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F1D5FB9-1902-5A18-95D3-288F0BC9E18C}"/>
              </a:ext>
            </a:extLst>
          </p:cNvPr>
          <p:cNvSpPr/>
          <p:nvPr/>
        </p:nvSpPr>
        <p:spPr>
          <a:xfrm>
            <a:off x="1671319" y="76141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75C1EEB-03B9-30CC-222A-187E4F0E6A63}"/>
              </a:ext>
            </a:extLst>
          </p:cNvPr>
          <p:cNvGraphicFramePr/>
          <p:nvPr>
            <p:extLst>
              <p:ext uri="{D42A27DB-BD31-4B8C-83A1-F6EECF244321}">
                <p14:modId xmlns:p14="http://schemas.microsoft.com/office/powerpoint/2010/main" val="2521545045"/>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Understanding Forward and Backward Propagation in Neural Networks">
            <a:extLst>
              <a:ext uri="{FF2B5EF4-FFF2-40B4-BE49-F238E27FC236}">
                <a16:creationId xmlns:a16="http://schemas.microsoft.com/office/drawing/2014/main" id="{6F9B8A31-E762-D76E-6674-9B58E389E8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320" y="1076771"/>
            <a:ext cx="9144000" cy="471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4882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EBF7-F662-573E-527C-27A3EF29AAC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1E4596-A38A-54E4-E259-1E27DF39399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9DDDB87-5452-A53B-DBEF-22558573ADA7}"/>
              </a:ext>
            </a:extLst>
          </p:cNvPr>
          <p:cNvSpPr/>
          <p:nvPr/>
        </p:nvSpPr>
        <p:spPr>
          <a:xfrm>
            <a:off x="1671319" y="93190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F325521-82B5-A9DC-BC61-CBCD6CE55E8A}"/>
              </a:ext>
            </a:extLst>
          </p:cNvPr>
          <p:cNvSpPr/>
          <p:nvPr/>
        </p:nvSpPr>
        <p:spPr>
          <a:xfrm>
            <a:off x="1671319" y="76141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4CD076F3-2869-7705-B064-ABB86E8F173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D357742-7EB3-85E0-3C39-BD14684536B9}"/>
              </a:ext>
            </a:extLst>
          </p:cNvPr>
          <p:cNvSpPr txBox="1">
            <a:spLocks/>
          </p:cNvSpPr>
          <p:nvPr/>
        </p:nvSpPr>
        <p:spPr>
          <a:xfrm>
            <a:off x="51885" y="1102404"/>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cs typeface="+mn-cs"/>
              </a:rPr>
              <a:t>For Further Exploration –</a:t>
            </a:r>
          </a:p>
          <a:p>
            <a:pPr marL="12700" marR="5080"/>
            <a:r>
              <a:rPr lang="en-US" sz="1500" dirty="0">
                <a:hlinkClick r:id="rId7"/>
              </a:rPr>
              <a:t>DeepMind x UCL | Deep Learning Lectures</a:t>
            </a:r>
            <a:endParaRPr lang="en-US" sz="1500" kern="0" spc="-80" dirty="0">
              <a:solidFill>
                <a:schemeClr val="accent2"/>
              </a:solidFill>
            </a:endParaRPr>
          </a:p>
          <a:p>
            <a:pPr marL="12700" marR="5080"/>
            <a:r>
              <a:rPr lang="en-US" sz="1500" dirty="0">
                <a:hlinkClick r:id="rId8"/>
              </a:rPr>
              <a:t>Forward Propagation in Neural Networks</a:t>
            </a:r>
            <a:r>
              <a:rPr lang="en-US" sz="1500" dirty="0"/>
              <a:t>(</a:t>
            </a:r>
            <a:r>
              <a:rPr lang="en-US" sz="1500" kern="0" spc="-80" dirty="0">
                <a:solidFill>
                  <a:schemeClr val="accent6"/>
                </a:solidFill>
                <a:cs typeface="+mn-cs"/>
              </a:rPr>
              <a:t>Every link in the chain from start to end should be differentiable or </a:t>
            </a:r>
            <a:r>
              <a:rPr lang="en-US" sz="1500" kern="0" spc="-80" dirty="0" err="1">
                <a:solidFill>
                  <a:schemeClr val="accent6"/>
                </a:solidFill>
                <a:cs typeface="+mn-cs"/>
              </a:rPr>
              <a:t>atleast</a:t>
            </a:r>
            <a:r>
              <a:rPr lang="en-US" sz="1500" kern="0" spc="-80" dirty="0">
                <a:solidFill>
                  <a:schemeClr val="accent6"/>
                </a:solidFill>
                <a:cs typeface="+mn-cs"/>
              </a:rPr>
              <a:t> should be able to satisfactorily approximate the function’s derivative)</a:t>
            </a:r>
          </a:p>
          <a:p>
            <a:pPr marL="12700" marR="5080"/>
            <a:r>
              <a:rPr lang="en-IN" sz="1500" dirty="0">
                <a:hlinkClick r:id="rId9"/>
              </a:rPr>
              <a:t>Backpropagation - Wikipedia</a:t>
            </a:r>
            <a:endParaRPr lang="en-US" sz="1500" kern="0" spc="-80" dirty="0">
              <a:solidFill>
                <a:schemeClr val="accent6"/>
              </a:solidFill>
              <a:cs typeface="+mn-cs"/>
            </a:endParaRPr>
          </a:p>
          <a:p>
            <a:pPr marL="12700" marR="5080"/>
            <a:r>
              <a:rPr lang="en-US" sz="1500" dirty="0">
                <a:hlinkClick r:id="rId10"/>
              </a:rPr>
              <a:t>Activation functions in Neural Networks</a:t>
            </a:r>
            <a:endParaRPr lang="en-US" sz="1500" dirty="0"/>
          </a:p>
          <a:p>
            <a:pPr marL="12700" marR="5080"/>
            <a:r>
              <a:rPr lang="en-US" sz="1500" dirty="0">
                <a:hlinkClick r:id="rId11"/>
              </a:rPr>
              <a:t>What is Learning Rate in Machine Learning? | IBM</a:t>
            </a:r>
            <a:endParaRPr lang="en-US" sz="1500" dirty="0"/>
          </a:p>
          <a:p>
            <a:pPr marL="12700" marR="5080"/>
            <a:r>
              <a:rPr lang="en-US" sz="1500" dirty="0">
                <a:hlinkClick r:id="rId12"/>
              </a:rPr>
              <a:t>The need for small learning rates on large problems</a:t>
            </a:r>
            <a:endParaRPr lang="en-US" sz="1500" dirty="0"/>
          </a:p>
          <a:p>
            <a:pPr marL="12700" marR="5080"/>
            <a:r>
              <a:rPr lang="en-US" sz="1500" dirty="0">
                <a:hlinkClick r:id="rId13"/>
              </a:rPr>
              <a:t>Types Of Learning Rules in ANN | </a:t>
            </a:r>
            <a:r>
              <a:rPr lang="en-US" sz="1500" dirty="0" err="1">
                <a:hlinkClick r:id="rId13"/>
              </a:rPr>
              <a:t>GeeksforGeeks</a:t>
            </a:r>
            <a:endParaRPr lang="en-US" sz="1500" dirty="0"/>
          </a:p>
          <a:p>
            <a:pPr marL="12700" marR="5080"/>
            <a:r>
              <a:rPr lang="en-US" sz="1500" dirty="0">
                <a:hlinkClick r:id="rId14"/>
              </a:rPr>
              <a:t>Neural Network: Breaking The Symmetry | Towards Data Science</a:t>
            </a:r>
            <a:endParaRPr lang="en-US" sz="1500" dirty="0"/>
          </a:p>
          <a:p>
            <a:pPr marL="12700" marR="5080"/>
            <a:r>
              <a:rPr lang="en-US" sz="1500" dirty="0">
                <a:hlinkClick r:id="rId15"/>
              </a:rPr>
              <a:t>[D] Why we initialize the Neural Networks with random values in order to break the symmetr</a:t>
            </a:r>
            <a:r>
              <a:rPr lang="en-US" sz="1500" dirty="0">
                <a:hlinkClick r:id="rId16"/>
              </a:rPr>
              <a:t>y</a:t>
            </a:r>
            <a:endParaRPr lang="en-US" sz="1500" dirty="0"/>
          </a:p>
          <a:p>
            <a:pPr marL="12700" marR="5080"/>
            <a:r>
              <a:rPr lang="en-US" sz="1500" dirty="0">
                <a:hlinkClick r:id="rId16"/>
              </a:rPr>
              <a:t>Dropout in neural networks: what it is and how it works</a:t>
            </a:r>
            <a:endParaRPr lang="en-US" sz="1500" dirty="0"/>
          </a:p>
          <a:p>
            <a:pPr marL="12700" marR="5080"/>
            <a:r>
              <a:rPr lang="en-IN" sz="1500" dirty="0">
                <a:hlinkClick r:id="rId17"/>
              </a:rPr>
              <a:t>Loss Functions and Optimization Algorithms. Demystified.</a:t>
            </a:r>
            <a:endParaRPr lang="en-US" sz="1500" dirty="0"/>
          </a:p>
          <a:p>
            <a:pPr marL="12700" marR="5080"/>
            <a:r>
              <a:rPr lang="en-US" sz="1500" dirty="0">
                <a:hlinkClick r:id="rId18"/>
              </a:rPr>
              <a:t>Optimizers in Deep Learning</a:t>
            </a:r>
            <a:r>
              <a:rPr lang="en-US" sz="1500" b="0" i="0" dirty="0">
                <a:solidFill>
                  <a:srgbClr val="001D35"/>
                </a:solidFill>
                <a:effectLst/>
                <a:latin typeface="Google Sans"/>
              </a:rPr>
              <a:t> </a:t>
            </a:r>
          </a:p>
          <a:p>
            <a:pPr marL="12700" marR="5080"/>
            <a:r>
              <a:rPr lang="en-US" sz="1500" dirty="0">
                <a:hlinkClick r:id="rId19"/>
              </a:rPr>
              <a:t>Difference between Batch Gradient Descent and Stochastic Gradient Descent | </a:t>
            </a:r>
            <a:r>
              <a:rPr lang="en-US" sz="1500" dirty="0" err="1">
                <a:hlinkClick r:id="rId19"/>
              </a:rPr>
              <a:t>GeeksforGeeks</a:t>
            </a:r>
            <a:endParaRPr lang="en-US" sz="1500" b="0" i="0" dirty="0">
              <a:solidFill>
                <a:srgbClr val="001D35"/>
              </a:solidFill>
              <a:effectLst/>
              <a:latin typeface="Google Sans"/>
            </a:endParaRPr>
          </a:p>
          <a:p>
            <a:pPr marL="12700" marR="5080"/>
            <a:r>
              <a:rPr lang="en-IN" sz="1500" dirty="0">
                <a:hlinkClick r:id="rId20"/>
              </a:rPr>
              <a:t>Epoch vs. Batch vs. Iteration in Neural Networks</a:t>
            </a:r>
            <a:endParaRPr lang="en-IN" sz="1500" dirty="0"/>
          </a:p>
          <a:p>
            <a:pPr marL="12700" marR="5080"/>
            <a:r>
              <a:rPr lang="en-US" sz="1500" dirty="0">
                <a:hlinkClick r:id="rId21"/>
              </a:rPr>
              <a:t>Grokking-Deep-Learning</a:t>
            </a:r>
            <a:endParaRPr lang="en-US" sz="1500" dirty="0"/>
          </a:p>
          <a:p>
            <a:pPr marL="12700" marR="5080"/>
            <a:r>
              <a:rPr lang="en-US" sz="1500" dirty="0">
                <a:hlinkClick r:id="rId22"/>
              </a:rPr>
              <a:t>Enhancing-Deep-Learning-with-Bayesian-Inference</a:t>
            </a:r>
            <a:endParaRPr lang="en-US" sz="1500" dirty="0"/>
          </a:p>
          <a:p>
            <a:pPr marL="12700" marR="5080"/>
            <a:r>
              <a:rPr lang="en-US" sz="1500" dirty="0">
                <a:hlinkClick r:id="rId23"/>
              </a:rPr>
              <a:t>Probabilistic-Deep-Learning-with-TensorFlow</a:t>
            </a:r>
            <a:endParaRPr lang="en-US" sz="1500" dirty="0"/>
          </a:p>
        </p:txBody>
      </p:sp>
    </p:spTree>
    <p:extLst>
      <p:ext uri="{BB962C8B-B14F-4D97-AF65-F5344CB8AC3E}">
        <p14:creationId xmlns:p14="http://schemas.microsoft.com/office/powerpoint/2010/main" val="28446132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A4FB-B117-928B-4813-E10D557F48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46AF89-3567-3302-1D0B-321807A4950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F09364E-9337-0786-7A11-F3C8D5C3192E}"/>
              </a:ext>
            </a:extLst>
          </p:cNvPr>
          <p:cNvSpPr/>
          <p:nvPr/>
        </p:nvSpPr>
        <p:spPr>
          <a:xfrm>
            <a:off x="1661158" y="114024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3CE102F-FD1B-5577-075C-58BD78D6892A}"/>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B27FDF8-350F-6C12-93EB-C3EA005C1EFE}"/>
              </a:ext>
            </a:extLst>
          </p:cNvPr>
          <p:cNvGraphicFramePr/>
          <p:nvPr>
            <p:extLst>
              <p:ext uri="{D42A27DB-BD31-4B8C-83A1-F6EECF244321}">
                <p14:modId xmlns:p14="http://schemas.microsoft.com/office/powerpoint/2010/main" val="128684461"/>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a:extLst>
              <a:ext uri="{FF2B5EF4-FFF2-40B4-BE49-F238E27FC236}">
                <a16:creationId xmlns:a16="http://schemas.microsoft.com/office/drawing/2014/main" id="{056F0A22-DEDF-635C-DDCD-83595F67C9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58989"/>
            <a:ext cx="9144000" cy="3395378"/>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69C85843-F5BD-839C-96F9-A22E439D6FAC}"/>
              </a:ext>
            </a:extLst>
          </p:cNvPr>
          <p:cNvSpPr txBox="1">
            <a:spLocks/>
          </p:cNvSpPr>
          <p:nvPr/>
        </p:nvSpPr>
        <p:spPr>
          <a:xfrm>
            <a:off x="41724" y="4828859"/>
            <a:ext cx="8624937" cy="107721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000" kern="0" spc="-80" dirty="0">
                <a:solidFill>
                  <a:schemeClr val="accent2"/>
                </a:solidFill>
                <a:cs typeface="+mn-cs"/>
              </a:rPr>
              <a:t>For Further Exploration –</a:t>
            </a:r>
          </a:p>
          <a:p>
            <a:pPr marL="12700" marR="5080"/>
            <a:r>
              <a:rPr lang="en-US" sz="1000" dirty="0">
                <a:hlinkClick r:id="rId8"/>
              </a:rPr>
              <a:t>Implementing Models of Artificial Neural Network | </a:t>
            </a:r>
            <a:r>
              <a:rPr lang="en-US" sz="1000" dirty="0" err="1">
                <a:hlinkClick r:id="rId8"/>
              </a:rPr>
              <a:t>GeeksforGeeks</a:t>
            </a:r>
            <a:endParaRPr lang="en-IN" sz="1000" b="0" dirty="0">
              <a:solidFill>
                <a:srgbClr val="001D35"/>
              </a:solidFill>
              <a:latin typeface="Google Sans"/>
            </a:endParaRPr>
          </a:p>
          <a:p>
            <a:pPr marL="12700" marR="5080"/>
            <a:r>
              <a:rPr lang="en-US" sz="1000" dirty="0">
                <a:hlinkClick r:id="rId9"/>
              </a:rPr>
              <a:t>Hebbian Learning Rule with Implementation of AND Gate | </a:t>
            </a:r>
            <a:r>
              <a:rPr lang="en-US" sz="1000" dirty="0" err="1">
                <a:hlinkClick r:id="rId9"/>
              </a:rPr>
              <a:t>GeeksforGeeks</a:t>
            </a:r>
            <a:endParaRPr lang="en-US" sz="1000" dirty="0"/>
          </a:p>
          <a:p>
            <a:pPr marL="12700" marR="5080"/>
            <a:r>
              <a:rPr lang="en-IN" sz="1000" dirty="0">
                <a:hlinkClick r:id="rId10"/>
              </a:rPr>
              <a:t>Hopfield Neural Network | </a:t>
            </a:r>
            <a:r>
              <a:rPr lang="en-IN" sz="1000" dirty="0" err="1">
                <a:hlinkClick r:id="rId10"/>
              </a:rPr>
              <a:t>GeeksforGeeks</a:t>
            </a:r>
            <a:endParaRPr lang="en-IN" sz="1000" dirty="0"/>
          </a:p>
          <a:p>
            <a:pPr marL="12700" marR="5080"/>
            <a:r>
              <a:rPr lang="en-US" sz="1000" dirty="0">
                <a:hlinkClick r:id="rId11"/>
              </a:rPr>
              <a:t>Multilayer </a:t>
            </a:r>
            <a:r>
              <a:rPr lang="en-US" sz="1000" dirty="0" err="1">
                <a:hlinkClick r:id="rId11"/>
              </a:rPr>
              <a:t>Perceptrons</a:t>
            </a:r>
            <a:r>
              <a:rPr lang="en-US" sz="1000" dirty="0">
                <a:hlinkClick r:id="rId11"/>
              </a:rPr>
              <a:t> in Machine Learning: A Comprehensive Guide</a:t>
            </a:r>
            <a:endParaRPr lang="en-US" sz="1000" dirty="0"/>
          </a:p>
          <a:p>
            <a:pPr marL="12700" marR="5080"/>
            <a:r>
              <a:rPr lang="en-US" sz="1000" dirty="0">
                <a:hlinkClick r:id="rId12"/>
              </a:rPr>
              <a:t>Hierarchical Feature Learning Explained</a:t>
            </a:r>
            <a:endParaRPr lang="en-US" sz="1000" dirty="0"/>
          </a:p>
          <a:p>
            <a:pPr marL="12700" marR="5080"/>
            <a:r>
              <a:rPr lang="en-IN" sz="1000" dirty="0" err="1">
                <a:hlinkClick r:id="rId13"/>
              </a:rPr>
              <a:t>Neocognitron</a:t>
            </a:r>
            <a:endParaRPr lang="en-US" sz="1000" b="0" i="0" dirty="0">
              <a:solidFill>
                <a:srgbClr val="001D35"/>
              </a:solidFill>
              <a:effectLst/>
              <a:latin typeface="Google Sans"/>
            </a:endParaRPr>
          </a:p>
        </p:txBody>
      </p:sp>
    </p:spTree>
    <p:extLst>
      <p:ext uri="{BB962C8B-B14F-4D97-AF65-F5344CB8AC3E}">
        <p14:creationId xmlns:p14="http://schemas.microsoft.com/office/powerpoint/2010/main" val="22556838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F94BA-C949-8BF9-7E90-E4EB6D918D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8773B7A-4143-A4FF-38F0-BA5DD76AADBC}"/>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C23B9A52-F99D-2E58-2405-8B6735F0885D}"/>
              </a:ext>
            </a:extLst>
          </p:cNvPr>
          <p:cNvSpPr/>
          <p:nvPr/>
        </p:nvSpPr>
        <p:spPr>
          <a:xfrm>
            <a:off x="1661159" y="87459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1AB03F4-2F67-5158-F04E-9AB07C5E6B74}"/>
              </a:ext>
            </a:extLst>
          </p:cNvPr>
          <p:cNvSpPr/>
          <p:nvPr/>
        </p:nvSpPr>
        <p:spPr>
          <a:xfrm>
            <a:off x="1661159" y="73795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64DFC14-CADC-A5E1-6612-467B0ED2DC2E}"/>
              </a:ext>
            </a:extLst>
          </p:cNvPr>
          <p:cNvGraphicFramePr/>
          <p:nvPr>
            <p:extLst>
              <p:ext uri="{D42A27DB-BD31-4B8C-83A1-F6EECF244321}">
                <p14:modId xmlns:p14="http://schemas.microsoft.com/office/powerpoint/2010/main" val="259901359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39397CE-4CE4-45D0-0CE2-60668079AA59}"/>
              </a:ext>
            </a:extLst>
          </p:cNvPr>
          <p:cNvSpPr txBox="1">
            <a:spLocks/>
          </p:cNvSpPr>
          <p:nvPr/>
        </p:nvSpPr>
        <p:spPr>
          <a:xfrm>
            <a:off x="152400" y="988259"/>
            <a:ext cx="8624937" cy="484902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70" kern="0" spc="-80" dirty="0">
                <a:solidFill>
                  <a:schemeClr val="accent6"/>
                </a:solidFill>
                <a:cs typeface="+mn-cs"/>
              </a:rPr>
              <a:t>Kernel methods and neural networks (NNs) are both powerful tools in machine learning, and they share some conceptual and mathematical relationships. Here’s a detailed look at their connections:</a:t>
            </a:r>
          </a:p>
          <a:p>
            <a:pPr marL="12700" marR="5080"/>
            <a:r>
              <a:rPr lang="en-US" sz="1370" kern="0" spc="-80" dirty="0">
                <a:solidFill>
                  <a:schemeClr val="accent2"/>
                </a:solidFill>
                <a:cs typeface="+mn-cs"/>
              </a:rPr>
              <a:t>1. Feature Space Transformation</a:t>
            </a:r>
          </a:p>
          <a:p>
            <a:pPr marL="12700" marR="5080"/>
            <a:r>
              <a:rPr lang="en-US" sz="1370" kern="0" spc="-80" dirty="0">
                <a:solidFill>
                  <a:schemeClr val="accent2"/>
                </a:solidFill>
                <a:cs typeface="+mn-cs"/>
              </a:rPr>
              <a:t>Kernel Methods: </a:t>
            </a:r>
            <a:r>
              <a:rPr lang="en-US" sz="1370" kern="0" spc="-80" dirty="0">
                <a:solidFill>
                  <a:schemeClr val="accent6"/>
                </a:solidFill>
                <a:cs typeface="+mn-cs"/>
              </a:rPr>
              <a:t>Kernel methods (like Support Vector Machines) implicitly map input data into a high-dimensional feature space using a kernel function which computes the inner product of the transformed inputs without explicitly performing the transformation.</a:t>
            </a:r>
          </a:p>
          <a:p>
            <a:pPr marL="12700" marR="5080"/>
            <a:r>
              <a:rPr lang="en-US" sz="1370" kern="0" spc="-80" dirty="0">
                <a:solidFill>
                  <a:schemeClr val="accent2"/>
                </a:solidFill>
                <a:cs typeface="+mn-cs"/>
              </a:rPr>
              <a:t>Neural Networks:</a:t>
            </a:r>
            <a:r>
              <a:rPr lang="en-US" sz="1370" kern="0" spc="-80" dirty="0">
                <a:solidFill>
                  <a:schemeClr val="accent6"/>
                </a:solidFill>
                <a:cs typeface="+mn-cs"/>
              </a:rPr>
              <a:t> Neural networks also transform input data through multiple layers of non-linear transformations, effectively learning a feature space that can be very high-dimensional.</a:t>
            </a:r>
          </a:p>
          <a:p>
            <a:pPr marL="12700" marR="5080"/>
            <a:r>
              <a:rPr lang="en-US" sz="1370" kern="0" spc="-80" dirty="0">
                <a:solidFill>
                  <a:schemeClr val="accent2"/>
                </a:solidFill>
                <a:cs typeface="+mn-cs"/>
              </a:rPr>
              <a:t>2. Universal Approximation Theorem</a:t>
            </a:r>
          </a:p>
          <a:p>
            <a:pPr marL="12700" marR="5080"/>
            <a:r>
              <a:rPr lang="en-US" sz="1370" kern="0" spc="-80" dirty="0">
                <a:solidFill>
                  <a:schemeClr val="accent6"/>
                </a:solidFill>
                <a:cs typeface="+mn-cs"/>
              </a:rPr>
              <a:t>Both kernel methods and neural networks can approximate any continuous function given sufficient capacity (e.g., a sufficiently large network or a rich enough kernel). This is known as the Universal Approximation Theorem for neural networks and is conceptually similar to the ability of kernel methods to approximate functions based on their kernels. For a visual proof of the Universal Approximation Theorem, refer </a:t>
            </a:r>
            <a:r>
              <a:rPr lang="en-US" sz="1000" dirty="0">
                <a:hlinkClick r:id="rId7"/>
              </a:rPr>
              <a:t>Visual Proof that Neural Network can compute any function</a:t>
            </a:r>
            <a:r>
              <a:rPr lang="en-US" sz="1000" dirty="0"/>
              <a:t>.</a:t>
            </a:r>
          </a:p>
          <a:p>
            <a:pPr marL="12700" marR="5080"/>
            <a:r>
              <a:rPr lang="en-US" sz="1370" kern="0" spc="-80" dirty="0">
                <a:solidFill>
                  <a:schemeClr val="accent2"/>
                </a:solidFill>
                <a:cs typeface="+mn-cs"/>
              </a:rPr>
              <a:t>3. Reproducing Kernel Hilbert Space (RKHS)</a:t>
            </a:r>
          </a:p>
          <a:p>
            <a:pPr marL="12700" marR="5080"/>
            <a:r>
              <a:rPr lang="en-US" sz="1370" kern="0" spc="-80" dirty="0">
                <a:solidFill>
                  <a:schemeClr val="accent6"/>
                </a:solidFill>
                <a:cs typeface="+mn-cs"/>
              </a:rPr>
              <a:t>Kernel methods operate in a Reproducing Kernel Hilbert Space, where the kernel function defines the inner product. This space allows for the representation of functions as linear combinations of kernel functions.</a:t>
            </a:r>
          </a:p>
          <a:p>
            <a:pPr marL="12700" marR="5080"/>
            <a:r>
              <a:rPr lang="en-US" sz="1370" kern="0" spc="-80" dirty="0">
                <a:solidFill>
                  <a:schemeClr val="accent6"/>
                </a:solidFill>
                <a:cs typeface="+mn-cs"/>
              </a:rPr>
              <a:t>Neural networks can also be viewed as learning representations in a function space, where the learned weights and activations can be interpreted as defining a new function space.</a:t>
            </a:r>
          </a:p>
          <a:p>
            <a:pPr marL="12700" marR="5080"/>
            <a:r>
              <a:rPr lang="en-US" sz="1370" kern="0" spc="-80" dirty="0">
                <a:solidFill>
                  <a:schemeClr val="accent2"/>
                </a:solidFill>
                <a:cs typeface="+mn-cs"/>
              </a:rPr>
              <a:t>4. Connections through Regularization</a:t>
            </a:r>
          </a:p>
          <a:p>
            <a:pPr marL="12700" marR="5080"/>
            <a:r>
              <a:rPr lang="en-US" sz="1370" kern="0" spc="-80" dirty="0">
                <a:solidFill>
                  <a:schemeClr val="accent6"/>
                </a:solidFill>
                <a:cs typeface="+mn-cs"/>
              </a:rPr>
              <a:t>Regularization techniques in both paradigms are similar. For example, the regularization term in kernel methods often involves the norm of the weights in the RKHS, while in neural networks, techniques like L2 regularization control the weights in the network.</a:t>
            </a:r>
          </a:p>
        </p:txBody>
      </p:sp>
    </p:spTree>
    <p:extLst>
      <p:ext uri="{BB962C8B-B14F-4D97-AF65-F5344CB8AC3E}">
        <p14:creationId xmlns:p14="http://schemas.microsoft.com/office/powerpoint/2010/main" val="8606967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0CB9-68C7-C279-953A-F2FD2C6117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0B0AD7-4105-660D-500A-0C03CFD8304C}"/>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BF67EA6-A02F-05CF-FB81-FB53585B3A0F}"/>
              </a:ext>
            </a:extLst>
          </p:cNvPr>
          <p:cNvSpPr/>
          <p:nvPr/>
        </p:nvSpPr>
        <p:spPr>
          <a:xfrm>
            <a:off x="1661159" y="87459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82109A0-0E40-5363-4FAB-1C084057867D}"/>
              </a:ext>
            </a:extLst>
          </p:cNvPr>
          <p:cNvSpPr/>
          <p:nvPr/>
        </p:nvSpPr>
        <p:spPr>
          <a:xfrm>
            <a:off x="1661159" y="73795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9E44A1C-6DEF-93CB-9B1C-DB233ACE6455}"/>
              </a:ext>
            </a:extLst>
          </p:cNvPr>
          <p:cNvGraphicFramePr/>
          <p:nvPr>
            <p:extLst>
              <p:ext uri="{D42A27DB-BD31-4B8C-83A1-F6EECF244321}">
                <p14:modId xmlns:p14="http://schemas.microsoft.com/office/powerpoint/2010/main" val="31664807"/>
              </p:ext>
            </p:extLst>
          </p:nvPr>
        </p:nvGraphicFramePr>
        <p:xfrm>
          <a:off x="-17146" y="17828"/>
          <a:ext cx="9084945" cy="697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5E35A03-3FB7-727B-F0D4-5737B8657BD6}"/>
              </a:ext>
            </a:extLst>
          </p:cNvPr>
          <p:cNvSpPr txBox="1">
            <a:spLocks/>
          </p:cNvSpPr>
          <p:nvPr/>
        </p:nvSpPr>
        <p:spPr>
          <a:xfrm>
            <a:off x="152400" y="988259"/>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5. Kernelized Neural Networks </a:t>
            </a:r>
          </a:p>
          <a:p>
            <a:pPr marL="12700" marR="5080"/>
            <a:r>
              <a:rPr lang="en-US" sz="1400" kern="0" spc="-80" dirty="0">
                <a:solidFill>
                  <a:schemeClr val="accent6"/>
                </a:solidFill>
                <a:cs typeface="+mn-cs"/>
              </a:rPr>
              <a:t>Some neural networks can be interpreted as kernel methods. For instance, the output of a single-layer neural network with a specific activation function can be expressed in terms of a kernel function, making it possible to see connections between certain architectures and kernel methods.</a:t>
            </a:r>
          </a:p>
          <a:p>
            <a:pPr marL="12700" marR="5080"/>
            <a:r>
              <a:rPr lang="en-US" sz="1400" kern="0" spc="-80" dirty="0">
                <a:solidFill>
                  <a:schemeClr val="accent2"/>
                </a:solidFill>
                <a:cs typeface="+mn-cs"/>
              </a:rPr>
              <a:t>6. Implicit and Explicit Kernels</a:t>
            </a:r>
          </a:p>
          <a:p>
            <a:pPr marL="12700" marR="5080"/>
            <a:r>
              <a:rPr lang="en-US" sz="1400" kern="0" spc="-80" dirty="0">
                <a:solidFill>
                  <a:schemeClr val="accent6"/>
                </a:solidFill>
                <a:cs typeface="+mn-cs"/>
              </a:rPr>
              <a:t>In some cases, neural networks learn to use implicit kernels through their architecture. For example, convolutional neural networks (CNNs) can be seen as applying localized kernel operations (convolutions) to the input data.</a:t>
            </a:r>
          </a:p>
          <a:p>
            <a:pPr marL="12700" marR="5080"/>
            <a:r>
              <a:rPr lang="en-US" sz="1400" kern="0" spc="-80" dirty="0">
                <a:solidFill>
                  <a:schemeClr val="accent2"/>
                </a:solidFill>
                <a:cs typeface="+mn-cs"/>
              </a:rPr>
              <a:t>7. Gradient-Based Optimization vs. Kernel Methods</a:t>
            </a:r>
          </a:p>
          <a:p>
            <a:pPr marL="12700" marR="5080"/>
            <a:r>
              <a:rPr lang="en-US" sz="1400" kern="0" spc="-80" dirty="0">
                <a:solidFill>
                  <a:schemeClr val="accent6"/>
                </a:solidFill>
                <a:cs typeface="+mn-cs"/>
              </a:rPr>
              <a:t>Neural networks typically rely on gradient-based optimization techniques (like backpropagation), while kernel methods often employ optimization techniques to find the best hyperplane or decision boundary in the transformed space.</a:t>
            </a:r>
          </a:p>
          <a:p>
            <a:pPr marL="12700" marR="5080"/>
            <a:endParaRPr lang="en-US" sz="1400" kern="0" spc="-80" dirty="0">
              <a:solidFill>
                <a:schemeClr val="accent6"/>
              </a:solidFill>
              <a:cs typeface="+mn-cs"/>
            </a:endParaRPr>
          </a:p>
          <a:p>
            <a:pPr marL="12700" marR="5080"/>
            <a:r>
              <a:rPr lang="en-US" sz="1400" kern="0" spc="-80" dirty="0">
                <a:solidFill>
                  <a:schemeClr val="accent2"/>
                </a:solidFill>
                <a:cs typeface="+mn-cs"/>
              </a:rPr>
              <a:t>Conclusion</a:t>
            </a:r>
          </a:p>
          <a:p>
            <a:pPr marL="12700" marR="5080"/>
            <a:r>
              <a:rPr lang="en-US" sz="1400" kern="0" spc="-80" dirty="0">
                <a:solidFill>
                  <a:schemeClr val="accent6"/>
                </a:solidFill>
                <a:cs typeface="+mn-cs"/>
              </a:rPr>
              <a:t>While kernel methods and neural networks are distinct in their approaches and implementations, they share fundamental mathematical principles that allow them to model complex relationships in data. Understanding these connections can help in choosing the right method for a specific problem or in designing hybrid models that leverage the strengths of both </a:t>
            </a:r>
            <a:r>
              <a:rPr lang="en-US" sz="1400" kern="0" spc="-80" dirty="0" err="1">
                <a:solidFill>
                  <a:schemeClr val="accent6"/>
                </a:solidFill>
                <a:cs typeface="+mn-cs"/>
              </a:rPr>
              <a:t>approaches.In</a:t>
            </a:r>
            <a:r>
              <a:rPr lang="en-US" sz="1400" kern="0" spc="-80" dirty="0">
                <a:solidFill>
                  <a:schemeClr val="accent6"/>
                </a:solidFill>
                <a:cs typeface="+mn-cs"/>
              </a:rPr>
              <a:t> general, in the kernel trick, kernels have to be (hand) designed upfront but in Neural Networks, the features are learnt gradually &amp; eventually.</a:t>
            </a:r>
          </a:p>
          <a:p>
            <a:pPr marL="12700" marR="5080"/>
            <a:endParaRPr lang="en-US" sz="2000" kern="0" spc="-220" dirty="0">
              <a:solidFill>
                <a:schemeClr val="accent2"/>
              </a:solidFill>
            </a:endParaRPr>
          </a:p>
        </p:txBody>
      </p:sp>
    </p:spTree>
    <p:extLst>
      <p:ext uri="{BB962C8B-B14F-4D97-AF65-F5344CB8AC3E}">
        <p14:creationId xmlns:p14="http://schemas.microsoft.com/office/powerpoint/2010/main" val="406914007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9F080-0DD0-396D-35B8-8ED3AAEC8A7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2DF554-94AB-25EA-8F58-9F80DBC03F8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1E870CF2-7933-6AD1-E597-22EC600A5845}"/>
              </a:ext>
            </a:extLst>
          </p:cNvPr>
          <p:cNvSpPr/>
          <p:nvPr/>
        </p:nvSpPr>
        <p:spPr>
          <a:xfrm>
            <a:off x="1661159" y="87459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D35D8AA-D918-FD9A-5B49-87C838773715}"/>
              </a:ext>
            </a:extLst>
          </p:cNvPr>
          <p:cNvSpPr/>
          <p:nvPr/>
        </p:nvSpPr>
        <p:spPr>
          <a:xfrm>
            <a:off x="1661159" y="73795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B58A33D-853B-8288-3984-D2DDC8497AF0}"/>
              </a:ext>
            </a:extLst>
          </p:cNvPr>
          <p:cNvGraphicFramePr/>
          <p:nvPr>
            <p:extLst>
              <p:ext uri="{D42A27DB-BD31-4B8C-83A1-F6EECF244321}">
                <p14:modId xmlns:p14="http://schemas.microsoft.com/office/powerpoint/2010/main" val="3755518976"/>
              </p:ext>
            </p:extLst>
          </p:nvPr>
        </p:nvGraphicFramePr>
        <p:xfrm>
          <a:off x="-17146" y="17828"/>
          <a:ext cx="9084945" cy="697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5999B22-BCBD-18F3-F5E9-C66714BD5656}"/>
              </a:ext>
            </a:extLst>
          </p:cNvPr>
          <p:cNvSpPr txBox="1">
            <a:spLocks/>
          </p:cNvSpPr>
          <p:nvPr/>
        </p:nvSpPr>
        <p:spPr>
          <a:xfrm>
            <a:off x="152400" y="988259"/>
            <a:ext cx="8624937"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Neural networks can represent mathematical operations by mapping input data to output data through interconnected nodes, learning the relationships between them. These networks use a combination of weighted sums and activation functions to perform computations, essentially learning mathematical functions. This allows them to perform tasks like solving equations, recognizing patterns in data, and even extrapolating to predict solutions beyond the training data. </a:t>
            </a:r>
          </a:p>
          <a:p>
            <a:pPr marL="12700" marR="5080"/>
            <a:r>
              <a:rPr lang="en-US" sz="1400" kern="0" spc="-80" dirty="0">
                <a:solidFill>
                  <a:schemeClr val="accent2"/>
                </a:solidFill>
                <a:cs typeface="+mn-cs"/>
              </a:rPr>
              <a:t>1. Input and Weights:  </a:t>
            </a:r>
          </a:p>
          <a:p>
            <a:pPr marL="12700" marR="5080"/>
            <a:r>
              <a:rPr lang="en-US" sz="1400" kern="0" spc="-80" dirty="0">
                <a:solidFill>
                  <a:schemeClr val="accent6"/>
                </a:solidFill>
                <a:cs typeface="+mn-cs"/>
              </a:rPr>
              <a:t>•	Neural networks take numerical inputs (e.g., numbers, features from an image). </a:t>
            </a:r>
          </a:p>
          <a:p>
            <a:pPr marL="12700" marR="5080"/>
            <a:r>
              <a:rPr lang="en-US" sz="1400" kern="0" spc="-80" dirty="0">
                <a:solidFill>
                  <a:schemeClr val="accent6"/>
                </a:solidFill>
                <a:cs typeface="+mn-cs"/>
              </a:rPr>
              <a:t>•	Each input is connected to a node (neuron) in the next layer via a weight. These weights determine the strength of the connection and are adjusted during training. </a:t>
            </a:r>
          </a:p>
          <a:p>
            <a:pPr marL="12700" marR="5080"/>
            <a:r>
              <a:rPr lang="en-US" sz="1400" kern="0" spc="-80" dirty="0">
                <a:solidFill>
                  <a:schemeClr val="accent2"/>
                </a:solidFill>
                <a:cs typeface="+mn-cs"/>
              </a:rPr>
              <a:t>2. Weighted Sum: </a:t>
            </a:r>
          </a:p>
          <a:p>
            <a:pPr marL="12700" marR="5080"/>
            <a:r>
              <a:rPr lang="en-US" sz="1400" kern="0" spc="-80" dirty="0">
                <a:solidFill>
                  <a:schemeClr val="accent6"/>
                </a:solidFill>
                <a:cs typeface="+mn-cs"/>
              </a:rPr>
              <a:t>•	At each node, the inputs are multiplied by their corresponding weights, and the products are summed together. </a:t>
            </a:r>
          </a:p>
          <a:p>
            <a:pPr marL="12700" marR="5080"/>
            <a:r>
              <a:rPr lang="en-US" sz="1400" kern="0" spc="-80" dirty="0">
                <a:solidFill>
                  <a:schemeClr val="accent6"/>
                </a:solidFill>
                <a:cs typeface="+mn-cs"/>
              </a:rPr>
              <a:t>•	A bias term is often added to this sum as well. </a:t>
            </a:r>
          </a:p>
          <a:p>
            <a:pPr marL="12700" marR="5080"/>
            <a:r>
              <a:rPr lang="en-US" sz="1400" kern="0" spc="-80" dirty="0">
                <a:solidFill>
                  <a:schemeClr val="accent2"/>
                </a:solidFill>
                <a:cs typeface="+mn-cs"/>
              </a:rPr>
              <a:t>3. Activation Function: </a:t>
            </a:r>
          </a:p>
          <a:p>
            <a:pPr marL="12700" marR="5080"/>
            <a:r>
              <a:rPr lang="en-US" sz="1400" kern="0" spc="-80" dirty="0">
                <a:solidFill>
                  <a:schemeClr val="accent6"/>
                </a:solidFill>
                <a:cs typeface="+mn-cs"/>
              </a:rPr>
              <a:t>•	The weighted sum is then passed through an activation function. </a:t>
            </a:r>
          </a:p>
          <a:p>
            <a:pPr marL="12700" marR="5080"/>
            <a:r>
              <a:rPr lang="en-US" sz="1400" kern="0" spc="-80" dirty="0">
                <a:solidFill>
                  <a:schemeClr val="accent6"/>
                </a:solidFill>
                <a:cs typeface="+mn-cs"/>
              </a:rPr>
              <a:t>•	Activation functions introduce non-linearity, allowing the network to learn complex relationships. Examples include ReLU, Tanh, and Sigmoid. </a:t>
            </a:r>
          </a:p>
          <a:p>
            <a:pPr marL="12700" marR="5080"/>
            <a:r>
              <a:rPr lang="en-US" sz="1400" kern="0" spc="-80" dirty="0">
                <a:solidFill>
                  <a:schemeClr val="accent6"/>
                </a:solidFill>
                <a:cs typeface="+mn-cs"/>
              </a:rPr>
              <a:t>•	The output of the activation function becomes the input to the next node. </a:t>
            </a:r>
          </a:p>
          <a:p>
            <a:pPr marL="12700" marR="5080"/>
            <a:r>
              <a:rPr lang="en-US" sz="1400" kern="0" spc="-80" dirty="0">
                <a:solidFill>
                  <a:schemeClr val="accent2"/>
                </a:solidFill>
                <a:cs typeface="+mn-cs"/>
              </a:rPr>
              <a:t>4. Training and Learning: </a:t>
            </a:r>
          </a:p>
          <a:p>
            <a:pPr marL="12700" marR="5080"/>
            <a:r>
              <a:rPr lang="en-US" sz="1400" kern="0" spc="-80" dirty="0">
                <a:solidFill>
                  <a:schemeClr val="accent6"/>
                </a:solidFill>
                <a:cs typeface="+mn-cs"/>
              </a:rPr>
              <a:t>•	The network learns by adjusting the weights and biases to minimize the difference between its predictions and the actual values. </a:t>
            </a:r>
          </a:p>
          <a:p>
            <a:pPr marL="12700" marR="5080"/>
            <a:r>
              <a:rPr lang="en-US" sz="1400" kern="0" spc="-80" dirty="0">
                <a:solidFill>
                  <a:schemeClr val="accent6"/>
                </a:solidFill>
                <a:cs typeface="+mn-cs"/>
              </a:rPr>
              <a:t>•	This process is often called "backpropagation," where the error is calculated and used to update the weights and biases. </a:t>
            </a:r>
          </a:p>
          <a:p>
            <a:pPr marL="12700" marR="5080"/>
            <a:endParaRPr lang="en-US" sz="1400" kern="0" spc="-80" dirty="0">
              <a:solidFill>
                <a:schemeClr val="accent6"/>
              </a:solidFill>
              <a:cs typeface="+mn-cs"/>
            </a:endParaRPr>
          </a:p>
          <a:p>
            <a:pPr marL="12700" marR="5080"/>
            <a:endParaRPr lang="en-US" sz="2000" kern="0" spc="-220" dirty="0">
              <a:solidFill>
                <a:schemeClr val="accent2"/>
              </a:solidFill>
            </a:endParaRPr>
          </a:p>
        </p:txBody>
      </p:sp>
    </p:spTree>
    <p:extLst>
      <p:ext uri="{BB962C8B-B14F-4D97-AF65-F5344CB8AC3E}">
        <p14:creationId xmlns:p14="http://schemas.microsoft.com/office/powerpoint/2010/main" val="10738191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EE3C3-624C-8448-648D-5127C936FE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BDCCA6-0FA4-2567-0902-878D001E810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4E7AD9B1-7A4C-015F-0505-9644C54A4ECD}"/>
              </a:ext>
            </a:extLst>
          </p:cNvPr>
          <p:cNvSpPr/>
          <p:nvPr/>
        </p:nvSpPr>
        <p:spPr>
          <a:xfrm>
            <a:off x="1661159" y="87459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9CEDD40-081F-CE8A-D501-DDEC489CCA5C}"/>
              </a:ext>
            </a:extLst>
          </p:cNvPr>
          <p:cNvSpPr/>
          <p:nvPr/>
        </p:nvSpPr>
        <p:spPr>
          <a:xfrm>
            <a:off x="1661159" y="73795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55F7F89-FE46-4E8A-A45E-9838024A5007}"/>
              </a:ext>
            </a:extLst>
          </p:cNvPr>
          <p:cNvGraphicFramePr/>
          <p:nvPr>
            <p:extLst>
              <p:ext uri="{D42A27DB-BD31-4B8C-83A1-F6EECF244321}">
                <p14:modId xmlns:p14="http://schemas.microsoft.com/office/powerpoint/2010/main" val="1193085765"/>
              </p:ext>
            </p:extLst>
          </p:nvPr>
        </p:nvGraphicFramePr>
        <p:xfrm>
          <a:off x="-17146" y="17828"/>
          <a:ext cx="9084945" cy="697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1853466-DCDC-A72B-20F8-D2AF4E98246B}"/>
              </a:ext>
            </a:extLst>
          </p:cNvPr>
          <p:cNvSpPr txBox="1">
            <a:spLocks/>
          </p:cNvSpPr>
          <p:nvPr/>
        </p:nvSpPr>
        <p:spPr>
          <a:xfrm>
            <a:off x="152400" y="988259"/>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5. Mathematical Operations: </a:t>
            </a:r>
          </a:p>
          <a:p>
            <a:pPr marL="12700" marR="5080"/>
            <a:r>
              <a:rPr lang="en-US" sz="1400" kern="0" spc="-80" dirty="0">
                <a:solidFill>
                  <a:schemeClr val="accent6"/>
                </a:solidFill>
                <a:cs typeface="+mn-cs"/>
              </a:rPr>
              <a:t>•	By combining these steps across multiple layers, a neural network can learn to represent various mathematical operations. </a:t>
            </a:r>
          </a:p>
          <a:p>
            <a:pPr marL="12700" marR="5080"/>
            <a:r>
              <a:rPr lang="en-US" sz="1400" kern="0" spc="-80" dirty="0">
                <a:solidFill>
                  <a:schemeClr val="accent6"/>
                </a:solidFill>
                <a:cs typeface="+mn-cs"/>
              </a:rPr>
              <a:t>•	For example, by training a network to solve equations, it can learn the underlying mathematical functions and their relationships. </a:t>
            </a:r>
          </a:p>
          <a:p>
            <a:pPr marL="12700" marR="5080"/>
            <a:r>
              <a:rPr lang="en-US" sz="1400" kern="0" spc="-80" dirty="0">
                <a:solidFill>
                  <a:schemeClr val="accent6"/>
                </a:solidFill>
                <a:cs typeface="+mn-cs"/>
              </a:rPr>
              <a:t>•	They can also learn to generalize and extrapolate to solve problems beyond the training data. </a:t>
            </a:r>
          </a:p>
          <a:p>
            <a:pPr marL="12700" marR="5080"/>
            <a:r>
              <a:rPr lang="en-US" sz="1400" kern="0" spc="-80" dirty="0">
                <a:solidFill>
                  <a:schemeClr val="accent2"/>
                </a:solidFill>
                <a:cs typeface="+mn-cs"/>
              </a:rPr>
              <a:t>6. Examples: </a:t>
            </a:r>
          </a:p>
          <a:p>
            <a:pPr marL="12700" marR="5080"/>
            <a:r>
              <a:rPr lang="en-US" sz="1400" kern="0" spc="-80" dirty="0">
                <a:solidFill>
                  <a:schemeClr val="accent2"/>
                </a:solidFill>
                <a:cs typeface="+mn-cs"/>
              </a:rPr>
              <a:t>•	Equation Solving: </a:t>
            </a:r>
            <a:r>
              <a:rPr lang="en-US" sz="1400" kern="0" spc="-80" dirty="0">
                <a:solidFill>
                  <a:schemeClr val="accent6"/>
                </a:solidFill>
                <a:cs typeface="+mn-cs"/>
              </a:rPr>
              <a:t>A network can be trained to map input equations to their solutions, effectively learning how to solve them. </a:t>
            </a:r>
          </a:p>
          <a:p>
            <a:pPr marL="12700" marR="5080"/>
            <a:r>
              <a:rPr lang="en-US" sz="1400" kern="0" spc="-80" dirty="0">
                <a:solidFill>
                  <a:schemeClr val="accent2"/>
                </a:solidFill>
                <a:cs typeface="+mn-cs"/>
              </a:rPr>
              <a:t>•	Pattern Recognition:</a:t>
            </a:r>
            <a:r>
              <a:rPr lang="en-US" sz="1400" kern="0" spc="-80" dirty="0">
                <a:solidFill>
                  <a:schemeClr val="accent6"/>
                </a:solidFill>
                <a:cs typeface="+mn-cs"/>
              </a:rPr>
              <a:t> Neural networks can recognize patterns in data, which can be related to mathematical relationships. </a:t>
            </a:r>
          </a:p>
          <a:p>
            <a:pPr marL="12700" marR="5080"/>
            <a:r>
              <a:rPr lang="en-US" sz="1400" kern="0" spc="-80" dirty="0">
                <a:solidFill>
                  <a:schemeClr val="accent2"/>
                </a:solidFill>
                <a:cs typeface="+mn-cs"/>
              </a:rPr>
              <a:t>•	Arithmetic:</a:t>
            </a:r>
            <a:r>
              <a:rPr lang="en-US" sz="1400" kern="0" spc="-80" dirty="0">
                <a:solidFill>
                  <a:schemeClr val="accent6"/>
                </a:solidFill>
                <a:cs typeface="+mn-cs"/>
              </a:rPr>
              <a:t> Networks can be trained to perform basic arithmetic operations like addition, subtraction, and multiplication</a:t>
            </a:r>
          </a:p>
          <a:p>
            <a:pPr marL="12700" marR="5080"/>
            <a:r>
              <a:rPr lang="en-US" sz="1400" kern="0" spc="-80" dirty="0">
                <a:solidFill>
                  <a:schemeClr val="accent2"/>
                </a:solidFill>
                <a:cs typeface="+mn-cs"/>
              </a:rPr>
              <a:t>For Further Exploration-</a:t>
            </a:r>
          </a:p>
          <a:p>
            <a:pPr marL="12700" marR="5080"/>
            <a:r>
              <a:rPr lang="en-US" sz="1400" dirty="0">
                <a:hlinkClick r:id="rId7"/>
              </a:rPr>
              <a:t>Simple guide to Neural Arithmetic Logic Units (NALU): Explanation, Intuition and Code</a:t>
            </a:r>
            <a:r>
              <a:rPr lang="en-US" sz="1400" dirty="0"/>
              <a:t> </a:t>
            </a:r>
          </a:p>
          <a:p>
            <a:pPr marL="12700" marR="5080"/>
            <a:r>
              <a:rPr lang="en-US" sz="1400" dirty="0">
                <a:hlinkClick r:id="rId8"/>
              </a:rPr>
              <a:t>Can neural networks do arithmetic? A survey on the elementary numerical skills of state-of-the-art deep learning models</a:t>
            </a:r>
            <a:endParaRPr lang="en-US" sz="1400" dirty="0"/>
          </a:p>
          <a:p>
            <a:pPr marL="12700" marR="5080"/>
            <a:r>
              <a:rPr lang="en-US" sz="1400" dirty="0">
                <a:hlinkClick r:id="rId9"/>
              </a:rPr>
              <a:t>Neural networks to solve advanced mathematics equations</a:t>
            </a:r>
            <a:endParaRPr lang="en-US" sz="1400" kern="0" spc="-80" dirty="0">
              <a:solidFill>
                <a:schemeClr val="accent2"/>
              </a:solidFill>
              <a:cs typeface="+mn-cs"/>
            </a:endParaRPr>
          </a:p>
          <a:p>
            <a:pPr marL="12700" marR="5080"/>
            <a:r>
              <a:rPr lang="en-IN" sz="1400" dirty="0">
                <a:hlinkClick r:id="rId10"/>
              </a:rPr>
              <a:t>Mathematical Neural Networks</a:t>
            </a:r>
            <a:endParaRPr lang="en-IN" sz="1400" dirty="0"/>
          </a:p>
          <a:p>
            <a:pPr marL="12700" marR="5080"/>
            <a:r>
              <a:rPr lang="en-US" sz="1400" dirty="0">
                <a:hlinkClick r:id="rId11"/>
              </a:rPr>
              <a:t>A Neural Network Solves, Explains, and Generates University Math Problems by Program Synthesis and Few-Shot </a:t>
            </a:r>
            <a:endParaRPr lang="en-US" sz="1400" dirty="0"/>
          </a:p>
          <a:p>
            <a:pPr marL="12700" marR="5080"/>
            <a:r>
              <a:rPr lang="en-US" sz="1400" dirty="0">
                <a:hlinkClick r:id="rId12"/>
              </a:rPr>
              <a:t>The Representation Theory of Neural Networks</a:t>
            </a:r>
            <a:endParaRPr lang="en-US" sz="1400" kern="0" spc="-80" dirty="0">
              <a:solidFill>
                <a:schemeClr val="accent2"/>
              </a:solidFill>
              <a:cs typeface="+mn-cs"/>
            </a:endParaRPr>
          </a:p>
          <a:p>
            <a:pPr marL="12700" marR="5080"/>
            <a:r>
              <a:rPr lang="en-US" sz="1400" dirty="0">
                <a:hlinkClick r:id="rId13"/>
              </a:rPr>
              <a:t>Using Neural Networks in optimization problems</a:t>
            </a:r>
            <a:endParaRPr lang="en-US" sz="1400" kern="0" spc="-220" dirty="0">
              <a:solidFill>
                <a:schemeClr val="accent2"/>
              </a:solidFill>
            </a:endParaRPr>
          </a:p>
        </p:txBody>
      </p:sp>
    </p:spTree>
    <p:extLst>
      <p:ext uri="{BB962C8B-B14F-4D97-AF65-F5344CB8AC3E}">
        <p14:creationId xmlns:p14="http://schemas.microsoft.com/office/powerpoint/2010/main" val="279575516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892DB-B62F-8BBF-1C9D-FD82ED4B28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4181F5-38BD-671C-AAA7-340BF611024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33896B8-FFD9-E8A4-B06D-DB60E4A8E2AA}"/>
              </a:ext>
            </a:extLst>
          </p:cNvPr>
          <p:cNvSpPr/>
          <p:nvPr/>
        </p:nvSpPr>
        <p:spPr>
          <a:xfrm>
            <a:off x="1661159" y="87459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41CE9E6-3A56-FEDD-8F25-0430DE4FC143}"/>
              </a:ext>
            </a:extLst>
          </p:cNvPr>
          <p:cNvSpPr/>
          <p:nvPr/>
        </p:nvSpPr>
        <p:spPr>
          <a:xfrm>
            <a:off x="1661159" y="73795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48C9ACD-EC89-475F-63FD-74DEC90E7663}"/>
              </a:ext>
            </a:extLst>
          </p:cNvPr>
          <p:cNvGraphicFramePr/>
          <p:nvPr>
            <p:extLst>
              <p:ext uri="{D42A27DB-BD31-4B8C-83A1-F6EECF244321}">
                <p14:modId xmlns:p14="http://schemas.microsoft.com/office/powerpoint/2010/main" val="3198375061"/>
              </p:ext>
            </p:extLst>
          </p:nvPr>
        </p:nvGraphicFramePr>
        <p:xfrm>
          <a:off x="-17146" y="17828"/>
          <a:ext cx="9084945" cy="697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8E7A040-3F8A-2BEA-1094-86052F6D493F}"/>
              </a:ext>
            </a:extLst>
          </p:cNvPr>
          <p:cNvSpPr txBox="1">
            <a:spLocks/>
          </p:cNvSpPr>
          <p:nvPr/>
        </p:nvSpPr>
        <p:spPr>
          <a:xfrm>
            <a:off x="152400" y="988259"/>
            <a:ext cx="8624937" cy="50167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kern="0" spc="-80" dirty="0">
                <a:solidFill>
                  <a:schemeClr val="accent6"/>
                </a:solidFill>
                <a:cs typeface="+mn-cs"/>
              </a:rPr>
              <a:t>Heavily parameterized neural networks don't always overfit data due to a combination of factors, including their ability to learn complex, non-linear relationships, the use of regularization techniques, and the influence of large-scale training data. </a:t>
            </a:r>
          </a:p>
          <a:p>
            <a:pPr marL="12700" marR="5080"/>
            <a:r>
              <a:rPr lang="en-US" sz="1350" kern="0" spc="-80" dirty="0">
                <a:solidFill>
                  <a:schemeClr val="accent2"/>
                </a:solidFill>
                <a:cs typeface="+mn-cs"/>
              </a:rPr>
              <a:t>Here's a more detailed explanation:</a:t>
            </a:r>
          </a:p>
          <a:p>
            <a:pPr marL="12700" marR="5080"/>
            <a:r>
              <a:rPr lang="en-US" sz="1350" kern="0" spc="-80" dirty="0">
                <a:solidFill>
                  <a:schemeClr val="accent2"/>
                </a:solidFill>
                <a:cs typeface="+mn-cs"/>
              </a:rPr>
              <a:t>Capacity and Complexity: </a:t>
            </a:r>
            <a:r>
              <a:rPr lang="en-US" sz="1350" kern="0" spc="-80" dirty="0">
                <a:solidFill>
                  <a:schemeClr val="accent6"/>
                </a:solidFill>
                <a:cs typeface="+mn-cs"/>
              </a:rPr>
              <a:t>While a large number of parameters might seem to increase the risk of overfitting, neural networks can also use this capacity to learn more intricate patterns in the data, leading to better generalization. </a:t>
            </a:r>
          </a:p>
          <a:p>
            <a:pPr marL="12700" marR="5080"/>
            <a:r>
              <a:rPr lang="en-US" sz="1350" kern="0" spc="-80" dirty="0">
                <a:solidFill>
                  <a:schemeClr val="accent2"/>
                </a:solidFill>
                <a:cs typeface="+mn-cs"/>
              </a:rPr>
              <a:t>Regularization Techniques: </a:t>
            </a:r>
            <a:r>
              <a:rPr lang="en-US" sz="1350" kern="0" spc="-80" dirty="0">
                <a:solidFill>
                  <a:schemeClr val="accent6"/>
                </a:solidFill>
                <a:cs typeface="+mn-cs"/>
              </a:rPr>
              <a:t>Techniques like dropout, L1/L2 regularization, and data augmentation help to mitigate overfitting by reducing the model's complexity and preventing it from memorizing the training data. </a:t>
            </a:r>
          </a:p>
          <a:p>
            <a:pPr marL="12700" marR="5080"/>
            <a:r>
              <a:rPr lang="en-US" sz="1350" kern="0" spc="-80" dirty="0">
                <a:solidFill>
                  <a:schemeClr val="accent2"/>
                </a:solidFill>
                <a:cs typeface="+mn-cs"/>
              </a:rPr>
              <a:t>Large-scale Data</a:t>
            </a:r>
            <a:r>
              <a:rPr lang="en-US" sz="1350" kern="0" spc="-80" dirty="0">
                <a:solidFill>
                  <a:schemeClr val="accent6"/>
                </a:solidFill>
                <a:cs typeface="+mn-cs"/>
              </a:rPr>
              <a:t>: When trained on large datasets, neural networks can learn more robust and generalizable representations, even with a high number of parameters. </a:t>
            </a:r>
          </a:p>
          <a:p>
            <a:pPr marL="12700" marR="5080"/>
            <a:r>
              <a:rPr lang="en-US" sz="1350" kern="0" spc="-80" dirty="0">
                <a:solidFill>
                  <a:schemeClr val="accent2"/>
                </a:solidFill>
                <a:cs typeface="+mn-cs"/>
              </a:rPr>
              <a:t>Double Descent: </a:t>
            </a:r>
            <a:r>
              <a:rPr lang="en-US" sz="1350" kern="0" spc="-80" dirty="0">
                <a:solidFill>
                  <a:schemeClr val="accent6"/>
                </a:solidFill>
                <a:cs typeface="+mn-cs"/>
              </a:rPr>
              <a:t>The concept of double descent suggests that very complex models can actually generalize well when they have enough capacity, as they might find a "sweet spot" in the parameter space where they learn the underlying structure of the data rather than noise. </a:t>
            </a:r>
          </a:p>
          <a:p>
            <a:pPr marL="12700" marR="5080"/>
            <a:r>
              <a:rPr lang="en-US" sz="1350" kern="0" spc="-80" dirty="0">
                <a:solidFill>
                  <a:schemeClr val="accent2"/>
                </a:solidFill>
                <a:cs typeface="+mn-cs"/>
              </a:rPr>
              <a:t>Effective Low Complexity</a:t>
            </a:r>
            <a:r>
              <a:rPr lang="en-US" sz="1350" kern="0" spc="-80" dirty="0">
                <a:solidFill>
                  <a:schemeClr val="accent6"/>
                </a:solidFill>
                <a:cs typeface="+mn-cs"/>
              </a:rPr>
              <a:t>: Some research also suggests that heavily parameterized models may be effective at learning representations that have a relatively low "effective complexity" even though they have a large number of parameters. </a:t>
            </a:r>
          </a:p>
          <a:p>
            <a:pPr marL="12700" marR="5080"/>
            <a:r>
              <a:rPr lang="en-US" sz="1350" kern="0" spc="-80" dirty="0">
                <a:solidFill>
                  <a:schemeClr val="accent6"/>
                </a:solidFill>
                <a:cs typeface="+mn-cs"/>
              </a:rPr>
              <a:t>In essence, while the potential for overfitting exists with heavily parameterized models, various factors can work to mitigate this risk, allowing these models to achieve excellent generalization performance.</a:t>
            </a:r>
            <a:r>
              <a:rPr lang="en-US" sz="1400" kern="0" spc="-80" dirty="0">
                <a:solidFill>
                  <a:schemeClr val="accent6"/>
                </a:solidFill>
                <a:cs typeface="+mn-cs"/>
              </a:rPr>
              <a:t> </a:t>
            </a:r>
          </a:p>
          <a:p>
            <a:pPr marL="12700" marR="5080"/>
            <a:endParaRPr lang="en-US" sz="1400" kern="0" spc="-80" dirty="0">
              <a:solidFill>
                <a:schemeClr val="accent6"/>
              </a:solidFill>
              <a:cs typeface="+mn-cs"/>
            </a:endParaRPr>
          </a:p>
          <a:p>
            <a:pPr marL="12700" marR="5080"/>
            <a:r>
              <a:rPr lang="en-US" sz="1400" kern="0" spc="-80" dirty="0">
                <a:solidFill>
                  <a:schemeClr val="accent2"/>
                </a:solidFill>
                <a:cs typeface="+mn-cs"/>
              </a:rPr>
              <a:t>For further Exploration – </a:t>
            </a:r>
          </a:p>
          <a:p>
            <a:pPr marL="12700" marR="5080"/>
            <a:r>
              <a:rPr lang="en-IN" sz="1000" dirty="0">
                <a:hlinkClick r:id="rId7"/>
              </a:rPr>
              <a:t>Why over-parameterised deep neural networks don’t overfit?</a:t>
            </a:r>
            <a:endParaRPr lang="en-IN" sz="1000" dirty="0"/>
          </a:p>
          <a:p>
            <a:pPr marL="12700" marR="5080"/>
            <a:r>
              <a:rPr lang="en-IN" sz="1000" dirty="0">
                <a:hlinkClick r:id="rId8"/>
              </a:rPr>
              <a:t>The Overfitting Iceberg</a:t>
            </a:r>
            <a:endParaRPr lang="en-IN" sz="1000" dirty="0"/>
          </a:p>
          <a:p>
            <a:pPr marL="12700" marR="5080"/>
            <a:r>
              <a:rPr lang="en-US" sz="1000" dirty="0">
                <a:hlinkClick r:id="rId9"/>
              </a:rPr>
              <a:t>5 Techniques to Prevent Overfitting in Neural Networks</a:t>
            </a:r>
            <a:endParaRPr lang="en-US" sz="1000" dirty="0"/>
          </a:p>
          <a:p>
            <a:pPr marL="12700" marR="5080"/>
            <a:r>
              <a:rPr lang="en-US" sz="1000" dirty="0">
                <a:hlinkClick r:id="rId10"/>
              </a:rPr>
              <a:t>A Modern Take on the Bias-Variance Tradeoff in Neural Networks</a:t>
            </a:r>
            <a:endParaRPr lang="en-US" sz="1000" kern="0" spc="-220" dirty="0">
              <a:solidFill>
                <a:schemeClr val="accent2"/>
              </a:solidFill>
            </a:endParaRPr>
          </a:p>
        </p:txBody>
      </p:sp>
    </p:spTree>
    <p:extLst>
      <p:ext uri="{BB962C8B-B14F-4D97-AF65-F5344CB8AC3E}">
        <p14:creationId xmlns:p14="http://schemas.microsoft.com/office/powerpoint/2010/main" val="30806749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9FC4-846D-5798-DD1B-4C192DFB36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993B24-0509-9A5C-28A1-4CAB6113CC1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6393DA2-62B0-9C3B-F937-48912A45FA5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D9D8F6E-C57D-649B-E7EF-53857053F53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178BDD8-5D24-124E-AA6C-38917DEC672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D7977B4-B2FA-AC7C-70EB-B94AB261954A}"/>
              </a:ext>
            </a:extLst>
          </p:cNvPr>
          <p:cNvSpPr txBox="1">
            <a:spLocks/>
          </p:cNvSpPr>
          <p:nvPr/>
        </p:nvSpPr>
        <p:spPr>
          <a:xfrm>
            <a:off x="0" y="965753"/>
            <a:ext cx="8624937" cy="51306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500" kern="0" spc="-80" dirty="0">
                <a:solidFill>
                  <a:schemeClr val="accent6"/>
                </a:solidFill>
                <a:cs typeface="+mn-cs"/>
              </a:rPr>
              <a:t>Representation learning techniques are used to convert raw data into meaningful, structured patterns for machine learning. These methods help models understand the underlying semantics of the data by learning hierarchical features, from simple edges in an image to complex object shapes or abstract concepts in text and sound.</a:t>
            </a:r>
          </a:p>
          <a:p>
            <a:pPr marL="12700" marR="5080"/>
            <a:br>
              <a:rPr lang="en-US" sz="1500" kern="0" spc="-80" dirty="0">
                <a:solidFill>
                  <a:schemeClr val="accent6"/>
                </a:solidFill>
                <a:cs typeface="+mn-cs"/>
              </a:rPr>
            </a:br>
            <a:r>
              <a:rPr lang="en-US" sz="1500" kern="0" spc="-80" dirty="0">
                <a:solidFill>
                  <a:schemeClr val="accent2"/>
                </a:solidFill>
                <a:cs typeface="+mn-cs"/>
              </a:rPr>
              <a:t>For Text - </a:t>
            </a:r>
            <a:br>
              <a:rPr lang="en-US" sz="1500" kern="0" spc="-80" dirty="0">
                <a:solidFill>
                  <a:schemeClr val="accent6"/>
                </a:solidFill>
                <a:cs typeface="+mn-cs"/>
              </a:rPr>
            </a:br>
            <a:r>
              <a:rPr lang="en-US" sz="1500" kern="0" spc="-80" dirty="0">
                <a:solidFill>
                  <a:schemeClr val="accent2"/>
                </a:solidFill>
                <a:cs typeface="+mn-cs"/>
              </a:rPr>
              <a:t>Bag-of-Words (</a:t>
            </a:r>
            <a:r>
              <a:rPr lang="en-US" sz="1500" kern="0" spc="-80" dirty="0" err="1">
                <a:solidFill>
                  <a:schemeClr val="accent2"/>
                </a:solidFill>
                <a:cs typeface="+mn-cs"/>
              </a:rPr>
              <a:t>BoW</a:t>
            </a:r>
            <a:r>
              <a:rPr lang="en-US" sz="1500" kern="0" spc="-80" dirty="0">
                <a:solidFill>
                  <a:schemeClr val="accent2"/>
                </a:solidFill>
                <a:cs typeface="+mn-cs"/>
              </a:rPr>
              <a:t>):</a:t>
            </a:r>
            <a:br>
              <a:rPr lang="en-US" sz="1500" kern="0" spc="-80" dirty="0">
                <a:solidFill>
                  <a:schemeClr val="accent6"/>
                </a:solidFill>
                <a:cs typeface="+mn-cs"/>
              </a:rPr>
            </a:br>
            <a:r>
              <a:rPr lang="en-US" sz="1500" kern="0" spc="-80" dirty="0">
                <a:solidFill>
                  <a:schemeClr val="accent6"/>
                </a:solidFill>
                <a:cs typeface="+mn-cs"/>
              </a:rPr>
              <a:t>A foundational technique that represents text as an unordered set of words, ignoring word order but capturing word frequency.</a:t>
            </a:r>
            <a:br>
              <a:rPr lang="en-US" sz="1500" kern="0" spc="-80" dirty="0">
                <a:solidFill>
                  <a:schemeClr val="accent6"/>
                </a:solidFill>
                <a:cs typeface="+mn-cs"/>
              </a:rPr>
            </a:br>
            <a:r>
              <a:rPr lang="en-US" sz="1500" kern="0" spc="-80" dirty="0">
                <a:solidFill>
                  <a:schemeClr val="accent2"/>
                </a:solidFill>
                <a:cs typeface="+mn-cs"/>
              </a:rPr>
              <a:t>TF-IDF (Term Frequency-Inverse Document Frequency):</a:t>
            </a:r>
            <a:br>
              <a:rPr lang="en-US" sz="1500" kern="0" spc="-80" dirty="0">
                <a:solidFill>
                  <a:schemeClr val="accent6"/>
                </a:solidFill>
                <a:cs typeface="+mn-cs"/>
              </a:rPr>
            </a:br>
            <a:r>
              <a:rPr lang="en-US" sz="1500" kern="0" spc="-80" dirty="0">
                <a:solidFill>
                  <a:schemeClr val="accent6"/>
                </a:solidFill>
                <a:cs typeface="+mn-cs"/>
              </a:rPr>
              <a:t>A more sophisticated method that weights word importance based on how frequently a word appears in a document and how rare it is across the entire corpus.</a:t>
            </a:r>
          </a:p>
          <a:p>
            <a:pPr marL="12700" marR="5080"/>
            <a:r>
              <a:rPr lang="en-US" sz="1500" kern="0" spc="-80" dirty="0">
                <a:solidFill>
                  <a:schemeClr val="accent2"/>
                </a:solidFill>
                <a:cs typeface="+mn-cs"/>
              </a:rPr>
              <a:t>N-Gram- </a:t>
            </a:r>
          </a:p>
          <a:p>
            <a:pPr marL="12700" marR="5080"/>
            <a:r>
              <a:rPr lang="en-US" sz="1500" kern="0" spc="-80" dirty="0">
                <a:solidFill>
                  <a:schemeClr val="accent6"/>
                </a:solidFill>
                <a:cs typeface="+mn-cs"/>
              </a:rPr>
              <a:t>A statistical model that focuses on sequences of words, providing insights into the context and relationships between terms.</a:t>
            </a:r>
            <a:br>
              <a:rPr lang="en-US" sz="1500" kern="0" spc="-80" dirty="0">
                <a:solidFill>
                  <a:schemeClr val="accent6"/>
                </a:solidFill>
                <a:cs typeface="+mn-cs"/>
              </a:rPr>
            </a:br>
            <a:r>
              <a:rPr lang="en-US" sz="1500" kern="0" spc="-80" dirty="0">
                <a:solidFill>
                  <a:schemeClr val="accent2"/>
                </a:solidFill>
                <a:cs typeface="+mn-cs"/>
              </a:rPr>
              <a:t>Word Embeddings (e.g., Word2Vec):</a:t>
            </a:r>
            <a:br>
              <a:rPr lang="en-US" sz="1500" kern="0" spc="-80" dirty="0">
                <a:solidFill>
                  <a:schemeClr val="accent6"/>
                </a:solidFill>
                <a:cs typeface="+mn-cs"/>
              </a:rPr>
            </a:br>
            <a:r>
              <a:rPr lang="en-US" sz="1500" kern="0" spc="-80" dirty="0">
                <a:solidFill>
                  <a:schemeClr val="accent6"/>
                </a:solidFill>
                <a:cs typeface="+mn-cs"/>
              </a:rPr>
              <a:t>These methods map words into dense vector spaces, where words with similar meanings are closer together, allowing for analogical operations and a more abstract representation of concepts.</a:t>
            </a:r>
          </a:p>
          <a:p>
            <a:pPr marL="12700" marR="5080"/>
            <a:br>
              <a:rPr lang="en-US" sz="1420" kern="0" spc="-80" dirty="0">
                <a:solidFill>
                  <a:schemeClr val="accent6"/>
                </a:solidFill>
                <a:cs typeface="+mn-cs"/>
              </a:rPr>
            </a:br>
            <a:endParaRPr lang="en-US" sz="1420" kern="0" spc="-80" dirty="0">
              <a:solidFill>
                <a:schemeClr val="accent6"/>
              </a:solidFill>
              <a:cs typeface="+mn-cs"/>
            </a:endParaRPr>
          </a:p>
        </p:txBody>
      </p:sp>
    </p:spTree>
    <p:extLst>
      <p:ext uri="{BB962C8B-B14F-4D97-AF65-F5344CB8AC3E}">
        <p14:creationId xmlns:p14="http://schemas.microsoft.com/office/powerpoint/2010/main" val="23264678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87CBA-EEE0-B815-6D07-E57FC49AAF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84ACFB-300D-CEDC-33C7-EBF8DC677D3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861946E-A338-D2A8-4C16-224848FDBE4F}"/>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267C058-A9C6-534F-23EE-300246865810}"/>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451BFD9C-1438-E31C-5C8F-E8DAA9C41D3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D88E568-5A94-114E-3BF9-E8239A890068}"/>
              </a:ext>
            </a:extLst>
          </p:cNvPr>
          <p:cNvSpPr txBox="1">
            <a:spLocks/>
          </p:cNvSpPr>
          <p:nvPr/>
        </p:nvSpPr>
        <p:spPr>
          <a:xfrm>
            <a:off x="0" y="965753"/>
            <a:ext cx="8624937" cy="43704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200" kern="0" spc="-80" dirty="0">
                <a:solidFill>
                  <a:schemeClr val="accent2"/>
                </a:solidFill>
              </a:rPr>
              <a:t>For Images - </a:t>
            </a:r>
            <a:br>
              <a:rPr lang="en-US" sz="1200" kern="0" spc="-80" dirty="0">
                <a:solidFill>
                  <a:schemeClr val="accent6"/>
                </a:solidFill>
              </a:rPr>
            </a:br>
            <a:r>
              <a:rPr lang="en-US" sz="1200" kern="0" spc="-80" dirty="0">
                <a:solidFill>
                  <a:schemeClr val="accent2"/>
                </a:solidFill>
              </a:rPr>
              <a:t>Convolutional Neural Networks (CNNs):</a:t>
            </a:r>
            <a:br>
              <a:rPr lang="en-US" sz="1200" kern="0" spc="-80" dirty="0">
                <a:solidFill>
                  <a:schemeClr val="accent6"/>
                </a:solidFill>
              </a:rPr>
            </a:br>
            <a:r>
              <a:rPr lang="en-US" sz="1200" kern="0" spc="-80" dirty="0">
                <a:solidFill>
                  <a:schemeClr val="accent6"/>
                </a:solidFill>
              </a:rPr>
              <a:t>Deep learning models that automatically learn hierarchical features from raw pixel data. Early layers might detect edges, while deeper layers combine these into more complex representations of objects and scenes.</a:t>
            </a:r>
            <a:br>
              <a:rPr lang="en-US" sz="1200" kern="0" spc="-80" dirty="0">
                <a:solidFill>
                  <a:schemeClr val="accent6"/>
                </a:solidFill>
              </a:rPr>
            </a:br>
            <a:endParaRPr lang="en-US" sz="1200" kern="0" spc="-80" dirty="0">
              <a:solidFill>
                <a:schemeClr val="accent2"/>
              </a:solidFill>
            </a:endParaRPr>
          </a:p>
          <a:p>
            <a:pPr marL="12700" marR="5080"/>
            <a:r>
              <a:rPr lang="en-US" sz="1200" kern="0" spc="-80" dirty="0">
                <a:solidFill>
                  <a:schemeClr val="accent2"/>
                </a:solidFill>
              </a:rPr>
              <a:t>Contrastive Learning:</a:t>
            </a:r>
            <a:br>
              <a:rPr lang="en-US" sz="1200" kern="0" spc="-80" dirty="0">
                <a:solidFill>
                  <a:schemeClr val="accent6"/>
                </a:solidFill>
              </a:rPr>
            </a:br>
            <a:r>
              <a:rPr lang="en-US" sz="1200" kern="0" spc="-80" dirty="0">
                <a:solidFill>
                  <a:schemeClr val="accent6"/>
                </a:solidFill>
              </a:rPr>
              <a:t>A popular technique for learning visual representations by training models to pull similar images closer and push dissimilar ones apart in the feature space.</a:t>
            </a:r>
            <a:br>
              <a:rPr lang="en-US" sz="1200" kern="0" spc="-80" dirty="0">
                <a:solidFill>
                  <a:schemeClr val="accent6"/>
                </a:solidFill>
              </a:rPr>
            </a:br>
            <a:r>
              <a:rPr lang="en-US" sz="1200" kern="0" spc="-80" dirty="0">
                <a:solidFill>
                  <a:schemeClr val="accent2"/>
                </a:solidFill>
              </a:rPr>
              <a:t>Data Augmentation:</a:t>
            </a:r>
            <a:br>
              <a:rPr lang="en-US" sz="1200" kern="0" spc="-80" dirty="0">
                <a:solidFill>
                  <a:schemeClr val="accent6"/>
                </a:solidFill>
              </a:rPr>
            </a:br>
            <a:r>
              <a:rPr lang="en-US" sz="1200" kern="0" spc="-80" dirty="0">
                <a:solidFill>
                  <a:schemeClr val="accent6"/>
                </a:solidFill>
              </a:rPr>
              <a:t>Involves creating modified copies of existing images (e.g., rotations, flips) to increase the dataset size and improve the model's ability to generalize and learn robust features.</a:t>
            </a:r>
          </a:p>
          <a:p>
            <a:pPr marL="12700" marR="5080"/>
            <a:br>
              <a:rPr lang="en-US" sz="1200" kern="0" spc="-80" dirty="0">
                <a:solidFill>
                  <a:schemeClr val="accent6"/>
                </a:solidFill>
              </a:rPr>
            </a:br>
            <a:r>
              <a:rPr lang="en-US" sz="1200" kern="0" spc="-80" dirty="0">
                <a:solidFill>
                  <a:schemeClr val="accent2"/>
                </a:solidFill>
              </a:rPr>
              <a:t>For Sound - </a:t>
            </a:r>
            <a:br>
              <a:rPr lang="en-US" sz="1200" kern="0" spc="-80" dirty="0">
                <a:solidFill>
                  <a:schemeClr val="accent6"/>
                </a:solidFill>
              </a:rPr>
            </a:br>
            <a:r>
              <a:rPr lang="en-US" sz="1200" kern="0" spc="-80" dirty="0">
                <a:solidFill>
                  <a:schemeClr val="accent2"/>
                </a:solidFill>
              </a:rPr>
              <a:t>Spectrograms and CNNs:</a:t>
            </a:r>
            <a:br>
              <a:rPr lang="en-US" sz="1200" kern="0" spc="-80" dirty="0">
                <a:solidFill>
                  <a:schemeClr val="accent6"/>
                </a:solidFill>
              </a:rPr>
            </a:br>
            <a:r>
              <a:rPr lang="en-US" sz="1200" kern="0" spc="-80" dirty="0">
                <a:solidFill>
                  <a:schemeClr val="accent6"/>
                </a:solidFill>
              </a:rPr>
              <a:t>Audio signals can be converted into spectrograms, which visually represent the frequency content over time. CNNs can then be applied to these spectrograms to learn patterns for tasks like speech recognition.</a:t>
            </a:r>
            <a:br>
              <a:rPr lang="en-US" sz="1200" kern="0" spc="-80" dirty="0">
                <a:solidFill>
                  <a:schemeClr val="accent6"/>
                </a:solidFill>
              </a:rPr>
            </a:br>
            <a:r>
              <a:rPr lang="en-US" sz="1200" kern="0" spc="-80" dirty="0">
                <a:solidFill>
                  <a:schemeClr val="accent2"/>
                </a:solidFill>
              </a:rPr>
              <a:t>Embeddings:</a:t>
            </a:r>
            <a:br>
              <a:rPr lang="en-US" sz="1200" kern="0" spc="-80" dirty="0">
                <a:solidFill>
                  <a:schemeClr val="accent6"/>
                </a:solidFill>
              </a:rPr>
            </a:br>
            <a:r>
              <a:rPr lang="en-US" sz="1200" kern="0" spc="-80" dirty="0">
                <a:solidFill>
                  <a:schemeClr val="accent6"/>
                </a:solidFill>
              </a:rPr>
              <a:t>Similar to text, audio can be represented by embeddings that capture the semantic meaning of sounds, creating a numerical representation for downstream tasks.</a:t>
            </a:r>
            <a:br>
              <a:rPr lang="en-US" sz="1200" kern="0" spc="-80" dirty="0">
                <a:solidFill>
                  <a:schemeClr val="accent6"/>
                </a:solidFill>
              </a:rPr>
            </a:br>
            <a:r>
              <a:rPr lang="en-US" sz="1200" kern="0" spc="-80" dirty="0">
                <a:solidFill>
                  <a:schemeClr val="accent2"/>
                </a:solidFill>
              </a:rPr>
              <a:t>Contrastive Learning:</a:t>
            </a:r>
            <a:br>
              <a:rPr lang="en-US" sz="1200" kern="0" spc="-80" dirty="0">
                <a:solidFill>
                  <a:schemeClr val="accent6"/>
                </a:solidFill>
              </a:rPr>
            </a:br>
            <a:r>
              <a:rPr lang="en-US" sz="1200" kern="0" spc="-80" dirty="0">
                <a:solidFill>
                  <a:schemeClr val="accent6"/>
                </a:solidFill>
              </a:rPr>
              <a:t>This technique can also be applied to audio data, learning to distinguish between different sounds by placing similar audio segments closer in the learned representation space.</a:t>
            </a:r>
          </a:p>
        </p:txBody>
      </p:sp>
    </p:spTree>
    <p:extLst>
      <p:ext uri="{BB962C8B-B14F-4D97-AF65-F5344CB8AC3E}">
        <p14:creationId xmlns:p14="http://schemas.microsoft.com/office/powerpoint/2010/main" val="1578779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E2CC-2ACC-ABC5-E762-367458033FC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1CA3D4-B963-1F9F-A90F-0AB1BB520BB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1D7B6F7-BF1B-C27B-D8A8-E967F08B7744}"/>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FFCEF1A-6FB3-5B75-C841-E7A1BCF04016}"/>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EC82FAB-080D-B704-C414-D69B2827D6A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A3EC9AC-7319-EE91-C528-705DA697A622}"/>
              </a:ext>
            </a:extLst>
          </p:cNvPr>
          <p:cNvSpPr txBox="1">
            <a:spLocks/>
          </p:cNvSpPr>
          <p:nvPr/>
        </p:nvSpPr>
        <p:spPr>
          <a:xfrm>
            <a:off x="0" y="1148239"/>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220" dirty="0">
              <a:solidFill>
                <a:schemeClr val="accent2"/>
              </a:solidFill>
            </a:endParaRPr>
          </a:p>
          <a:p>
            <a:r>
              <a:rPr lang="en-US" sz="1000" kern="0" spc="-80" dirty="0">
                <a:solidFill>
                  <a:schemeClr val="accent6"/>
                </a:solidFill>
              </a:rPr>
              <a:t>The bag-of-words (</a:t>
            </a:r>
            <a:r>
              <a:rPr lang="en-US" sz="1000" kern="0" spc="-80" dirty="0" err="1">
                <a:solidFill>
                  <a:schemeClr val="accent6"/>
                </a:solidFill>
              </a:rPr>
              <a:t>BoW</a:t>
            </a:r>
            <a:r>
              <a:rPr lang="en-US" sz="1000" kern="0" spc="-80" dirty="0">
                <a:solidFill>
                  <a:schemeClr val="accent6"/>
                </a:solidFill>
              </a:rPr>
              <a:t>) model is applied in Natural Language Processing (NLP) and Information Retrieval for tasks such as document classification, sentiment analysis (e.g., analyzing customer reviews), and spam filtering. It's also used in </a:t>
            </a:r>
            <a:r>
              <a:rPr lang="en-US" sz="1000" kern="0" spc="-80" dirty="0">
                <a:solidFill>
                  <a:schemeClr val="accent6"/>
                </a:solidFill>
                <a:hlinkClick r:id="rId7">
                  <a:extLst>
                    <a:ext uri="{A12FA001-AC4F-418D-AE19-62706E023703}">
                      <ahyp:hlinkClr xmlns:ahyp="http://schemas.microsoft.com/office/drawing/2018/hyperlinkcolor" val="tx"/>
                    </a:ext>
                  </a:extLst>
                </a:hlinkClick>
              </a:rPr>
              <a:t>computer vision</a:t>
            </a:r>
            <a:r>
              <a:rPr lang="en-US" sz="1000" kern="0" spc="-80" dirty="0">
                <a:solidFill>
                  <a:schemeClr val="accent6"/>
                </a:solidFill>
              </a:rPr>
              <a:t> for image classification and retrieval by treating image features as "words". </a:t>
            </a:r>
            <a:r>
              <a:rPr lang="en-US" sz="1000" kern="0" spc="-80" dirty="0" err="1">
                <a:solidFill>
                  <a:schemeClr val="accent6"/>
                </a:solidFill>
              </a:rPr>
              <a:t>BoW</a:t>
            </a:r>
            <a:r>
              <a:rPr lang="en-US" sz="1000" kern="0" spc="-80" dirty="0">
                <a:solidFill>
                  <a:schemeClr val="accent6"/>
                </a:solidFill>
              </a:rPr>
              <a:t> serves as a feature generation tool, transforming text into a numerical vector of word frequencies, allowing machine learning models to process and understand it.</a:t>
            </a:r>
            <a:br>
              <a:rPr lang="en-US" sz="1000" kern="0" spc="-80" dirty="0">
                <a:solidFill>
                  <a:schemeClr val="accent6"/>
                </a:solidFill>
              </a:rPr>
            </a:br>
            <a:r>
              <a:rPr lang="en-US" sz="1000" kern="0" spc="-80" dirty="0">
                <a:solidFill>
                  <a:schemeClr val="accent6"/>
                </a:solidFill>
              </a:rPr>
              <a:t> </a:t>
            </a:r>
          </a:p>
          <a:p>
            <a:r>
              <a:rPr lang="en-US" sz="1000" kern="0" spc="-80" dirty="0">
                <a:solidFill>
                  <a:schemeClr val="accent2"/>
                </a:solidFill>
              </a:rPr>
              <a:t>Key applications in NLP:</a:t>
            </a:r>
          </a:p>
          <a:p>
            <a:r>
              <a:rPr lang="en-US" sz="1000" kern="0" spc="-80" dirty="0">
                <a:solidFill>
                  <a:schemeClr val="accent2"/>
                </a:solidFill>
                <a:hlinkClick r:id="rId8">
                  <a:extLst>
                    <a:ext uri="{A12FA001-AC4F-418D-AE19-62706E023703}">
                      <ahyp:hlinkClr xmlns:ahyp="http://schemas.microsoft.com/office/drawing/2018/hyperlinkcolor" val="tx"/>
                    </a:ext>
                  </a:extLst>
                </a:hlinkClick>
              </a:rPr>
              <a:t>Document Classification</a:t>
            </a:r>
            <a:r>
              <a:rPr lang="en-US" sz="1000" kern="0" spc="-80" dirty="0">
                <a:solidFill>
                  <a:schemeClr val="accent2"/>
                </a:solidFill>
              </a:rPr>
              <a:t>:</a:t>
            </a:r>
          </a:p>
          <a:p>
            <a:r>
              <a:rPr lang="en-US" sz="1000" kern="0" spc="-80" dirty="0">
                <a:solidFill>
                  <a:schemeClr val="accent6"/>
                </a:solidFill>
              </a:rPr>
              <a:t>Categorizing documents into predefined classes, like sorting legal texts or classifying customer support tickets. </a:t>
            </a:r>
          </a:p>
          <a:p>
            <a:r>
              <a:rPr lang="en-US" sz="1000" kern="0" spc="-80" dirty="0">
                <a:solidFill>
                  <a:schemeClr val="accent2"/>
                </a:solidFill>
                <a:hlinkClick r:id="rId9">
                  <a:extLst>
                    <a:ext uri="{A12FA001-AC4F-418D-AE19-62706E023703}">
                      <ahyp:hlinkClr xmlns:ahyp="http://schemas.microsoft.com/office/drawing/2018/hyperlinkcolor" val="tx"/>
                    </a:ext>
                  </a:extLst>
                </a:hlinkClick>
              </a:rPr>
              <a:t>Spam Filtering</a:t>
            </a:r>
            <a:r>
              <a:rPr lang="en-US" sz="1000" kern="0" spc="-80" dirty="0">
                <a:solidFill>
                  <a:schemeClr val="accent2"/>
                </a:solidFill>
              </a:rPr>
              <a:t>:</a:t>
            </a:r>
          </a:p>
          <a:p>
            <a:r>
              <a:rPr lang="en-US" sz="1000" kern="0" spc="-80" dirty="0">
                <a:solidFill>
                  <a:schemeClr val="accent6"/>
                </a:solidFill>
              </a:rPr>
              <a:t>Detecting and filtering unwanted emails by analyzing the frequency of certain words associated with spam. </a:t>
            </a:r>
          </a:p>
          <a:p>
            <a:r>
              <a:rPr lang="en-US" sz="1000" kern="0" spc="-80" dirty="0">
                <a:solidFill>
                  <a:schemeClr val="accent2"/>
                </a:solidFill>
                <a:hlinkClick r:id="rId10">
                  <a:extLst>
                    <a:ext uri="{A12FA001-AC4F-418D-AE19-62706E023703}">
                      <ahyp:hlinkClr xmlns:ahyp="http://schemas.microsoft.com/office/drawing/2018/hyperlinkcolor" val="tx"/>
                    </a:ext>
                  </a:extLst>
                </a:hlinkClick>
              </a:rPr>
              <a:t>Sentiment Analysis</a:t>
            </a:r>
            <a:r>
              <a:rPr lang="en-US" sz="1000" kern="0" spc="-80" dirty="0">
                <a:solidFill>
                  <a:schemeClr val="accent2"/>
                </a:solidFill>
              </a:rPr>
              <a:t>:</a:t>
            </a:r>
          </a:p>
          <a:p>
            <a:r>
              <a:rPr lang="en-US" sz="1000" kern="0" spc="-80" dirty="0">
                <a:solidFill>
                  <a:schemeClr val="accent6"/>
                </a:solidFill>
              </a:rPr>
              <a:t>Determining the overall sentiment (positive, negative, or neutral) expressed in text, such as customer reviews of products or services. </a:t>
            </a:r>
          </a:p>
          <a:p>
            <a:r>
              <a:rPr lang="en-US" sz="1000" kern="0" spc="-80" dirty="0">
                <a:solidFill>
                  <a:schemeClr val="accent2"/>
                </a:solidFill>
              </a:rPr>
              <a:t>Information Retrieval:</a:t>
            </a:r>
          </a:p>
          <a:p>
            <a:r>
              <a:rPr lang="en-US" sz="1000" kern="0" spc="-80" dirty="0">
                <a:solidFill>
                  <a:schemeClr val="accent6"/>
                </a:solidFill>
              </a:rPr>
              <a:t>Finding relevant documents based on user queries by matching word frequencies. </a:t>
            </a:r>
          </a:p>
          <a:p>
            <a:r>
              <a:rPr lang="en-US" sz="1000" kern="0" spc="-80" dirty="0">
                <a:solidFill>
                  <a:schemeClr val="accent2"/>
                </a:solidFill>
              </a:rPr>
              <a:t>Document Clustering:</a:t>
            </a:r>
          </a:p>
          <a:p>
            <a:r>
              <a:rPr lang="en-US" sz="1000" kern="0" spc="-80" dirty="0">
                <a:solidFill>
                  <a:schemeClr val="accent6"/>
                </a:solidFill>
              </a:rPr>
              <a:t>Grouping similar documents together based on their word content. </a:t>
            </a:r>
          </a:p>
          <a:p>
            <a:r>
              <a:rPr lang="en-US" sz="1000" kern="0" spc="-80" dirty="0">
                <a:solidFill>
                  <a:schemeClr val="accent2"/>
                </a:solidFill>
              </a:rPr>
              <a:t>Applications in Computer Vision: </a:t>
            </a:r>
          </a:p>
          <a:p>
            <a:r>
              <a:rPr lang="en-US" sz="1000" kern="0" spc="-80" dirty="0">
                <a:solidFill>
                  <a:schemeClr val="accent6"/>
                </a:solidFill>
                <a:hlinkClick r:id="rId11">
                  <a:extLst>
                    <a:ext uri="{A12FA001-AC4F-418D-AE19-62706E023703}">
                      <ahyp:hlinkClr xmlns:ahyp="http://schemas.microsoft.com/office/drawing/2018/hyperlinkcolor" val="tx"/>
                    </a:ext>
                  </a:extLst>
                </a:hlinkClick>
              </a:rPr>
              <a:t>Image Classification</a:t>
            </a:r>
            <a:r>
              <a:rPr lang="en-US" sz="1000" kern="0" spc="-80" dirty="0">
                <a:solidFill>
                  <a:schemeClr val="accent6"/>
                </a:solidFill>
              </a:rPr>
              <a:t>/Retrieval: Treating local image features as "visual words" to classify images or find similar ones within a dataset.</a:t>
            </a:r>
          </a:p>
          <a:p>
            <a:r>
              <a:rPr lang="en-US" sz="1000" kern="0" spc="-80" dirty="0">
                <a:solidFill>
                  <a:schemeClr val="accent2"/>
                </a:solidFill>
              </a:rPr>
              <a:t>How it works:</a:t>
            </a:r>
          </a:p>
          <a:p>
            <a:r>
              <a:rPr lang="en-US" sz="1000" kern="0" spc="-80" dirty="0">
                <a:solidFill>
                  <a:schemeClr val="accent6"/>
                </a:solidFill>
              </a:rPr>
              <a:t>The </a:t>
            </a:r>
            <a:r>
              <a:rPr lang="en-US" sz="1000" kern="0" spc="-80" dirty="0" err="1">
                <a:solidFill>
                  <a:schemeClr val="accent6"/>
                </a:solidFill>
                <a:hlinkClick r:id="rId12">
                  <a:extLst>
                    <a:ext uri="{A12FA001-AC4F-418D-AE19-62706E023703}">
                      <ahyp:hlinkClr xmlns:ahyp="http://schemas.microsoft.com/office/drawing/2018/hyperlinkcolor" val="tx"/>
                    </a:ext>
                  </a:extLst>
                </a:hlinkClick>
              </a:rPr>
              <a:t>BoW</a:t>
            </a:r>
            <a:r>
              <a:rPr lang="en-US" sz="1000" kern="0" spc="-80" dirty="0">
                <a:solidFill>
                  <a:schemeClr val="accent6"/>
                </a:solidFill>
                <a:hlinkClick r:id="rId12">
                  <a:extLst>
                    <a:ext uri="{A12FA001-AC4F-418D-AE19-62706E023703}">
                      <ahyp:hlinkClr xmlns:ahyp="http://schemas.microsoft.com/office/drawing/2018/hyperlinkcolor" val="tx"/>
                    </a:ext>
                  </a:extLst>
                </a:hlinkClick>
              </a:rPr>
              <a:t> model</a:t>
            </a:r>
            <a:r>
              <a:rPr lang="en-US" sz="1000" kern="0" spc="-80" dirty="0">
                <a:solidFill>
                  <a:schemeClr val="accent6"/>
                </a:solidFill>
              </a:rPr>
              <a:t> simplifies text by creating a "bag" of its words, disregarding grammar and word order. Each document or image is then represented as a vector of word or feature counts, which acts as a numerical feature for a machine learning model to use in tasks like classification. </a:t>
            </a:r>
          </a:p>
          <a:p>
            <a:r>
              <a:rPr lang="en-US" sz="1000" kern="0" spc="-80" dirty="0">
                <a:solidFill>
                  <a:schemeClr val="accent6"/>
                </a:solidFill>
              </a:rPr>
              <a:t>Why it's used:</a:t>
            </a:r>
          </a:p>
          <a:p>
            <a:r>
              <a:rPr lang="en-US" sz="1000" kern="0" spc="-80" dirty="0">
                <a:solidFill>
                  <a:schemeClr val="accent2"/>
                </a:solidFill>
              </a:rPr>
              <a:t>Simplicity:</a:t>
            </a:r>
          </a:p>
          <a:p>
            <a:r>
              <a:rPr lang="en-US" sz="1000" kern="0" spc="-80" dirty="0">
                <a:solidFill>
                  <a:schemeClr val="accent6"/>
                </a:solidFill>
              </a:rPr>
              <a:t>It is easy to implement and computationally efficient, making it a good starting point for many tasks. </a:t>
            </a:r>
          </a:p>
          <a:p>
            <a:r>
              <a:rPr lang="en-US" sz="1000" kern="0" spc="-80" dirty="0">
                <a:solidFill>
                  <a:schemeClr val="accent6"/>
                </a:solidFill>
              </a:rPr>
              <a:t>Feature Extraction:</a:t>
            </a:r>
          </a:p>
          <a:p>
            <a:r>
              <a:rPr lang="en-US" sz="1000" kern="0" spc="-80" dirty="0">
                <a:solidFill>
                  <a:schemeClr val="accent6"/>
                </a:solidFill>
              </a:rPr>
              <a:t>It converts unstructured text data into structured numerical data that machine learning algorithms can process. </a:t>
            </a:r>
          </a:p>
        </p:txBody>
      </p:sp>
      <p:sp>
        <p:nvSpPr>
          <p:cNvPr id="5" name="object 2">
            <a:extLst>
              <a:ext uri="{FF2B5EF4-FFF2-40B4-BE49-F238E27FC236}">
                <a16:creationId xmlns:a16="http://schemas.microsoft.com/office/drawing/2014/main" id="{6BAB0190-6CC1-357F-D99B-4C92EEB22B2A}"/>
              </a:ext>
            </a:extLst>
          </p:cNvPr>
          <p:cNvSpPr txBox="1">
            <a:spLocks/>
          </p:cNvSpPr>
          <p:nvPr/>
        </p:nvSpPr>
        <p:spPr>
          <a:xfrm>
            <a:off x="0" y="5558879"/>
            <a:ext cx="8624937" cy="3847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220" dirty="0">
                <a:solidFill>
                  <a:schemeClr val="accent2"/>
                </a:solidFill>
              </a:rPr>
              <a:t>For Further Exploration</a:t>
            </a:r>
          </a:p>
          <a:p>
            <a:pPr marL="12700" marR="5080"/>
            <a:r>
              <a:rPr lang="en-IN" sz="1000" dirty="0">
                <a:hlinkClick r:id="rId13"/>
              </a:rPr>
              <a:t>Bag-of-words model - Wikipedia</a:t>
            </a:r>
            <a:endParaRPr lang="en-US" sz="1000" kern="0" spc="-220" dirty="0">
              <a:solidFill>
                <a:schemeClr val="accent6"/>
              </a:solidFill>
            </a:endParaRPr>
          </a:p>
        </p:txBody>
      </p:sp>
    </p:spTree>
    <p:extLst>
      <p:ext uri="{BB962C8B-B14F-4D97-AF65-F5344CB8AC3E}">
        <p14:creationId xmlns:p14="http://schemas.microsoft.com/office/powerpoint/2010/main" val="17454719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4099-83ED-51F4-59A6-2AD4A9FE581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89E7DC-D62E-9DD1-09BD-A5D49E69126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98B820A-AC42-FAAD-7FE5-3A1FD33B4F0E}"/>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1B38EBF-0AC1-B269-FD33-06A360C7BD7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6DFB655-4BCA-C8D1-2FD6-50FAE5C6F1D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12B3B04-B015-B6C3-525D-F564BB87BEE3}"/>
              </a:ext>
            </a:extLst>
          </p:cNvPr>
          <p:cNvSpPr txBox="1">
            <a:spLocks/>
          </p:cNvSpPr>
          <p:nvPr/>
        </p:nvSpPr>
        <p:spPr>
          <a:xfrm>
            <a:off x="0" y="1148239"/>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220" dirty="0">
              <a:solidFill>
                <a:schemeClr val="accent2"/>
              </a:solidFill>
            </a:endParaRPr>
          </a:p>
          <a:p>
            <a:r>
              <a:rPr lang="en-US" sz="1200" kern="0" spc="-80" dirty="0">
                <a:solidFill>
                  <a:schemeClr val="accent6"/>
                </a:solidFill>
              </a:rPr>
              <a:t>The main problems with the Bag of Words (</a:t>
            </a:r>
            <a:r>
              <a:rPr lang="en-US" sz="1200" kern="0" spc="-80" dirty="0" err="1">
                <a:solidFill>
                  <a:schemeClr val="accent6"/>
                </a:solidFill>
              </a:rPr>
              <a:t>BoW</a:t>
            </a:r>
            <a:r>
              <a:rPr lang="en-US" sz="1200" kern="0" spc="-80" dirty="0">
                <a:solidFill>
                  <a:schemeClr val="accent6"/>
                </a:solidFill>
              </a:rPr>
              <a:t>) model are its insensitivity to word order and context, which leads to a loss of meaning and grammatical nuance. It also produces sparse, high-dimensional vectors, making it computationally difficult to model and learn from. Furthermore, </a:t>
            </a:r>
            <a:r>
              <a:rPr lang="en-US" sz="1200" kern="0" spc="-80" dirty="0" err="1">
                <a:solidFill>
                  <a:schemeClr val="accent6"/>
                </a:solidFill>
              </a:rPr>
              <a:t>BoW</a:t>
            </a:r>
            <a:r>
              <a:rPr lang="en-US" sz="1200" kern="0" spc="-80" dirty="0">
                <a:solidFill>
                  <a:schemeClr val="accent6"/>
                </a:solidFill>
              </a:rPr>
              <a:t> struggles with polysemy (words with multiple meanings) and struggles to recognize semantic relationships between words that co-occur frequently but are not directly related.</a:t>
            </a:r>
            <a:br>
              <a:rPr lang="en-US" sz="1200" kern="0" spc="-80" dirty="0">
                <a:solidFill>
                  <a:schemeClr val="accent6"/>
                </a:solidFill>
              </a:rPr>
            </a:br>
            <a:r>
              <a:rPr lang="en-US" sz="1200" kern="0" spc="-80" dirty="0">
                <a:solidFill>
                  <a:schemeClr val="accent6"/>
                </a:solidFill>
              </a:rPr>
              <a:t> </a:t>
            </a:r>
          </a:p>
          <a:p>
            <a:r>
              <a:rPr lang="en-US" sz="1200" kern="0" spc="-80" dirty="0">
                <a:solidFill>
                  <a:schemeClr val="accent2"/>
                </a:solidFill>
              </a:rPr>
              <a:t>Loss of Meaning and Context</a:t>
            </a:r>
          </a:p>
          <a:p>
            <a:r>
              <a:rPr lang="en-US" sz="1200" kern="0" spc="-80" dirty="0">
                <a:solidFill>
                  <a:schemeClr val="accent2"/>
                </a:solidFill>
              </a:rPr>
              <a:t>Ignores Word Order:</a:t>
            </a:r>
          </a:p>
          <a:p>
            <a:r>
              <a:rPr lang="en-US" sz="1200" kern="0" spc="-80" dirty="0">
                <a:solidFill>
                  <a:schemeClr val="accent6"/>
                </a:solidFill>
              </a:rPr>
              <a:t>The model treats words as a "bag," disregarding their order in a sentence. This means sentences with different meanings but the same words, like "I am happy" versus "I am not happy," can be represented identically. </a:t>
            </a:r>
          </a:p>
          <a:p>
            <a:r>
              <a:rPr lang="en-US" sz="1200" kern="0" spc="-80" dirty="0">
                <a:solidFill>
                  <a:schemeClr val="accent2"/>
                </a:solidFill>
              </a:rPr>
              <a:t>Lacks Semantic Information:</a:t>
            </a:r>
          </a:p>
          <a:p>
            <a:r>
              <a:rPr lang="en-US" sz="1200" kern="0" spc="-80" dirty="0" err="1">
                <a:solidFill>
                  <a:schemeClr val="accent6"/>
                </a:solidFill>
              </a:rPr>
              <a:t>BoW</a:t>
            </a:r>
            <a:r>
              <a:rPr lang="en-US" sz="1200" kern="0" spc="-80" dirty="0">
                <a:solidFill>
                  <a:schemeClr val="accent6"/>
                </a:solidFill>
              </a:rPr>
              <a:t> only captures the presence and frequency of words, not the underlying meaning or context. For instance, the word "Python" could refer to a programming language or a snake, a distinction </a:t>
            </a:r>
            <a:r>
              <a:rPr lang="en-US" sz="1200" kern="0" spc="-80" dirty="0" err="1">
                <a:solidFill>
                  <a:schemeClr val="accent6"/>
                </a:solidFill>
              </a:rPr>
              <a:t>BoW</a:t>
            </a:r>
            <a:r>
              <a:rPr lang="en-US" sz="1200" kern="0" spc="-80" dirty="0">
                <a:solidFill>
                  <a:schemeClr val="accent6"/>
                </a:solidFill>
              </a:rPr>
              <a:t> cannot make. </a:t>
            </a:r>
          </a:p>
          <a:p>
            <a:r>
              <a:rPr lang="en-US" sz="1200" kern="0" spc="-80" dirty="0">
                <a:solidFill>
                  <a:schemeClr val="accent6"/>
                </a:solidFill>
              </a:rPr>
              <a:t>Computational and Data Issues</a:t>
            </a:r>
          </a:p>
          <a:p>
            <a:r>
              <a:rPr lang="en-US" sz="1200" kern="0" spc="-80" dirty="0">
                <a:solidFill>
                  <a:schemeClr val="accent2"/>
                </a:solidFill>
              </a:rPr>
              <a:t>Sparsity:</a:t>
            </a:r>
          </a:p>
          <a:p>
            <a:r>
              <a:rPr lang="en-US" sz="1200" kern="0" spc="-80" dirty="0">
                <a:solidFill>
                  <a:schemeClr val="accent6"/>
                </a:solidFill>
              </a:rPr>
              <a:t>For large vocabularies, </a:t>
            </a:r>
            <a:r>
              <a:rPr lang="en-US" sz="1200" kern="0" spc="-80" dirty="0" err="1">
                <a:solidFill>
                  <a:schemeClr val="accent6"/>
                </a:solidFill>
              </a:rPr>
              <a:t>BoW</a:t>
            </a:r>
            <a:r>
              <a:rPr lang="en-US" sz="1200" kern="0" spc="-80" dirty="0">
                <a:solidFill>
                  <a:schemeClr val="accent6"/>
                </a:solidFill>
              </a:rPr>
              <a:t> models generate very large, but sparse, vectors with many zero entries. This increases computational complexity and makes it challenging for algorithms to learn effectively from the data. </a:t>
            </a:r>
          </a:p>
          <a:p>
            <a:r>
              <a:rPr lang="en-US" sz="1200" kern="0" spc="-80" dirty="0">
                <a:solidFill>
                  <a:schemeClr val="accent2"/>
                </a:solidFill>
              </a:rPr>
              <a:t>Vocabulary Size:</a:t>
            </a:r>
          </a:p>
          <a:p>
            <a:r>
              <a:rPr lang="en-US" sz="1200" kern="0" spc="-80" dirty="0">
                <a:solidFill>
                  <a:schemeClr val="accent6"/>
                </a:solidFill>
              </a:rPr>
              <a:t>Carefully managing the vocabulary is crucial. A large vocabulary leads to high dimensionality and sparsity, while an overly restrictive one might miss important information. </a:t>
            </a:r>
          </a:p>
          <a:p>
            <a:r>
              <a:rPr lang="en-US" sz="1200" kern="0" spc="-80" dirty="0">
                <a:solidFill>
                  <a:schemeClr val="accent2"/>
                </a:solidFill>
              </a:rPr>
              <a:t>Inability to Capture Complex Language Nuances</a:t>
            </a:r>
          </a:p>
          <a:p>
            <a:r>
              <a:rPr lang="en-US" sz="1200" kern="0" spc="-80" dirty="0">
                <a:solidFill>
                  <a:schemeClr val="accent2"/>
                </a:solidFill>
              </a:rPr>
              <a:t>No Grammatical Structure:</a:t>
            </a:r>
          </a:p>
          <a:p>
            <a:r>
              <a:rPr lang="en-US" sz="1200" kern="0" spc="-80" dirty="0">
                <a:solidFill>
                  <a:schemeClr val="accent6"/>
                </a:solidFill>
              </a:rPr>
              <a:t>Punctuation and grammatical structure are ignored during preprocessing, further stripping away meaning. </a:t>
            </a:r>
          </a:p>
          <a:p>
            <a:r>
              <a:rPr lang="en-US" sz="1200" kern="0" spc="-80" dirty="0">
                <a:solidFill>
                  <a:schemeClr val="accent2"/>
                </a:solidFill>
              </a:rPr>
              <a:t>Compound and Related Words:</a:t>
            </a:r>
          </a:p>
          <a:p>
            <a:r>
              <a:rPr lang="en-US" sz="1200" kern="0" spc="-80" dirty="0" err="1">
                <a:solidFill>
                  <a:schemeClr val="accent6"/>
                </a:solidFill>
              </a:rPr>
              <a:t>BoW</a:t>
            </a:r>
            <a:r>
              <a:rPr lang="en-US" sz="1200" kern="0" spc="-80" dirty="0">
                <a:solidFill>
                  <a:schemeClr val="accent6"/>
                </a:solidFill>
              </a:rPr>
              <a:t> treats multi-word phrases like "artificial intelligence" as separate words, losing their combined meaning. It also doesn't understand that "cake" and "baking" are more related than "cake" and "racing". </a:t>
            </a:r>
          </a:p>
        </p:txBody>
      </p:sp>
    </p:spTree>
    <p:extLst>
      <p:ext uri="{BB962C8B-B14F-4D97-AF65-F5344CB8AC3E}">
        <p14:creationId xmlns:p14="http://schemas.microsoft.com/office/powerpoint/2010/main" val="2480306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00AE-14AD-814E-FE8B-7A032450CB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C84FDA-A45F-97CD-FCA3-485F96C2C9D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7B69F25-56AA-B54C-49D1-45327D46173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2EE7163-EE59-3C2B-8180-58DE9E0EE879}"/>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606CAEE-6215-EC82-3039-A2F333F54FD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86C7522-3B01-F102-3A6F-0DCEAE958DDC}"/>
              </a:ext>
            </a:extLst>
          </p:cNvPr>
          <p:cNvSpPr txBox="1">
            <a:spLocks/>
          </p:cNvSpPr>
          <p:nvPr/>
        </p:nvSpPr>
        <p:spPr>
          <a:xfrm>
            <a:off x="41725" y="1140245"/>
            <a:ext cx="8624937" cy="43242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220" dirty="0">
              <a:solidFill>
                <a:schemeClr val="accent2"/>
              </a:solidFill>
            </a:endParaRPr>
          </a:p>
          <a:p>
            <a:r>
              <a:rPr lang="en-US" sz="900" kern="0" spc="-80" dirty="0">
                <a:solidFill>
                  <a:schemeClr val="accent6"/>
                </a:solidFill>
              </a:rPr>
              <a:t>The TF-IDF (Term Frequency-Inverse Document Frequency) model is used in many text mining and natural language processing (NLP) applications, such as information retrieval for search engines, text classification (e.g., spam filtering, sentiment analysis), keyword extraction to summarize documents, document similarity for content grouping, and building recommender systems. It works by assigning a numerical score to words, giving higher importance to terms that are frequent in a document but rare in the overall corpus.</a:t>
            </a:r>
          </a:p>
          <a:p>
            <a:endParaRPr lang="en-US" sz="900" kern="0" spc="-80" dirty="0">
              <a:solidFill>
                <a:schemeClr val="accent6"/>
              </a:solidFill>
            </a:endParaRPr>
          </a:p>
          <a:p>
            <a:r>
              <a:rPr lang="en-US" sz="900" kern="0" spc="-80" dirty="0">
                <a:solidFill>
                  <a:schemeClr val="accent2"/>
                </a:solidFill>
              </a:rPr>
              <a:t>Components:</a:t>
            </a:r>
          </a:p>
          <a:p>
            <a:r>
              <a:rPr lang="en-US" sz="900" kern="0" spc="-80" dirty="0">
                <a:solidFill>
                  <a:schemeClr val="accent2"/>
                </a:solidFill>
              </a:rPr>
              <a:t>Term Frequency (TF): </a:t>
            </a:r>
            <a:r>
              <a:rPr lang="en-US" sz="900" kern="0" spc="-80" dirty="0">
                <a:solidFill>
                  <a:schemeClr val="accent6"/>
                </a:solidFill>
              </a:rPr>
              <a:t>Measures how frequently a term appears in a document. It’s calculated as:</a:t>
            </a:r>
            <a:br>
              <a:rPr lang="en-US" sz="900" kern="0" spc="-80" dirty="0">
                <a:solidFill>
                  <a:schemeClr val="accent6"/>
                </a:solidFill>
              </a:rPr>
            </a:br>
            <a:r>
              <a:rPr lang="en-US" sz="900" kern="0" spc="-80" dirty="0">
                <a:solidFill>
                  <a:schemeClr val="accent6"/>
                </a:solidFill>
              </a:rPr>
              <a:t>TF(</a:t>
            </a:r>
            <a:r>
              <a:rPr lang="en-US" sz="900" kern="0" spc="-80" dirty="0" err="1">
                <a:solidFill>
                  <a:schemeClr val="accent6"/>
                </a:solidFill>
              </a:rPr>
              <a:t>t,d</a:t>
            </a:r>
            <a:r>
              <a:rPr lang="en-US" sz="900" kern="0" spc="-80" dirty="0">
                <a:solidFill>
                  <a:schemeClr val="accent6"/>
                </a:solidFill>
              </a:rPr>
              <a:t>)=Number of times term t appears in document </a:t>
            </a:r>
            <a:r>
              <a:rPr lang="en-US" sz="900" kern="0" spc="-80" dirty="0" err="1">
                <a:solidFill>
                  <a:schemeClr val="accent6"/>
                </a:solidFill>
              </a:rPr>
              <a:t>dTotal</a:t>
            </a:r>
            <a:r>
              <a:rPr lang="en-US" sz="900" kern="0" spc="-80" dirty="0">
                <a:solidFill>
                  <a:schemeClr val="accent6"/>
                </a:solidFill>
              </a:rPr>
              <a:t> number of terms in document d</a:t>
            </a:r>
          </a:p>
          <a:p>
            <a:r>
              <a:rPr lang="en-US" sz="900" kern="0" spc="-80" dirty="0">
                <a:solidFill>
                  <a:schemeClr val="accent2"/>
                </a:solidFill>
              </a:rPr>
              <a:t>Inverse Document Frequency (IDF): </a:t>
            </a:r>
            <a:r>
              <a:rPr lang="en-US" sz="900" kern="0" spc="-80" dirty="0">
                <a:solidFill>
                  <a:schemeClr val="accent6"/>
                </a:solidFill>
              </a:rPr>
              <a:t>Measures how important a term is across the corpus. It’s calculated as:</a:t>
            </a:r>
            <a:br>
              <a:rPr lang="en-US" sz="900" kern="0" spc="-80" dirty="0">
                <a:solidFill>
                  <a:schemeClr val="accent6"/>
                </a:solidFill>
              </a:rPr>
            </a:br>
            <a:r>
              <a:rPr lang="en-US" sz="900" kern="0" spc="-80" dirty="0">
                <a:solidFill>
                  <a:schemeClr val="accent6"/>
                </a:solidFill>
              </a:rPr>
              <a:t>IDF(</a:t>
            </a:r>
            <a:r>
              <a:rPr lang="en-US" sz="900" kern="0" spc="-80" dirty="0" err="1">
                <a:solidFill>
                  <a:schemeClr val="accent6"/>
                </a:solidFill>
              </a:rPr>
              <a:t>t,D</a:t>
            </a:r>
            <a:r>
              <a:rPr lang="en-US" sz="900" kern="0" spc="-80" dirty="0">
                <a:solidFill>
                  <a:schemeClr val="accent6"/>
                </a:solidFill>
              </a:rPr>
              <a:t>)=log(Total number of documents in corpus </a:t>
            </a:r>
            <a:r>
              <a:rPr lang="en-US" sz="900" kern="0" spc="-80" dirty="0" err="1">
                <a:solidFill>
                  <a:schemeClr val="accent6"/>
                </a:solidFill>
              </a:rPr>
              <a:t>DNumber</a:t>
            </a:r>
            <a:r>
              <a:rPr lang="en-US" sz="900" kern="0" spc="-80" dirty="0">
                <a:solidFill>
                  <a:schemeClr val="accent6"/>
                </a:solidFill>
              </a:rPr>
              <a:t> of documents containing term t)</a:t>
            </a:r>
          </a:p>
          <a:p>
            <a:br>
              <a:rPr lang="en-US" sz="900" kern="0" spc="-80" dirty="0">
                <a:solidFill>
                  <a:schemeClr val="accent6"/>
                </a:solidFill>
              </a:rPr>
            </a:br>
            <a:r>
              <a:rPr lang="en-US" sz="900" kern="0" spc="-80" dirty="0">
                <a:solidFill>
                  <a:schemeClr val="accent6"/>
                </a:solidFill>
              </a:rPr>
              <a:t> </a:t>
            </a:r>
          </a:p>
          <a:p>
            <a:r>
              <a:rPr lang="en-US" sz="900" kern="0" spc="-80" dirty="0">
                <a:solidFill>
                  <a:schemeClr val="accent2"/>
                </a:solidFill>
              </a:rPr>
              <a:t>Key Applications of TF-IDF:</a:t>
            </a:r>
          </a:p>
          <a:p>
            <a:r>
              <a:rPr lang="en-US" sz="900" kern="0" spc="-80" dirty="0">
                <a:solidFill>
                  <a:schemeClr val="accent2"/>
                </a:solidFill>
                <a:hlinkClick r:id="rId7">
                  <a:extLst>
                    <a:ext uri="{A12FA001-AC4F-418D-AE19-62706E023703}">
                      <ahyp:hlinkClr xmlns:ahyp="http://schemas.microsoft.com/office/drawing/2018/hyperlinkcolor" val="tx"/>
                    </a:ext>
                  </a:extLst>
                </a:hlinkClick>
              </a:rPr>
              <a:t>Information Retrieval</a:t>
            </a:r>
            <a:r>
              <a:rPr lang="en-US" sz="900" kern="0" spc="-80" dirty="0">
                <a:solidFill>
                  <a:schemeClr val="accent2"/>
                </a:solidFill>
              </a:rPr>
              <a:t>:</a:t>
            </a:r>
          </a:p>
          <a:p>
            <a:r>
              <a:rPr lang="en-US" sz="900" kern="0" spc="-80" dirty="0">
                <a:solidFill>
                  <a:schemeClr val="accent6"/>
                </a:solidFill>
              </a:rPr>
              <a:t>TF-IDF helps search engines determine the relevance of documents by ranking them based on how well they match a user's query, providing more accurate search results. </a:t>
            </a:r>
          </a:p>
          <a:p>
            <a:r>
              <a:rPr lang="en-US" sz="900" kern="0" spc="-80" dirty="0">
                <a:solidFill>
                  <a:schemeClr val="accent2"/>
                </a:solidFill>
                <a:hlinkClick r:id="rId8">
                  <a:extLst>
                    <a:ext uri="{A12FA001-AC4F-418D-AE19-62706E023703}">
                      <ahyp:hlinkClr xmlns:ahyp="http://schemas.microsoft.com/office/drawing/2018/hyperlinkcolor" val="tx"/>
                    </a:ext>
                  </a:extLst>
                </a:hlinkClick>
              </a:rPr>
              <a:t>Text Classification</a:t>
            </a:r>
            <a:r>
              <a:rPr lang="en-US" sz="900" kern="0" spc="-80" dirty="0">
                <a:solidFill>
                  <a:schemeClr val="accent2"/>
                </a:solidFill>
              </a:rPr>
              <a:t>:</a:t>
            </a:r>
          </a:p>
          <a:p>
            <a:r>
              <a:rPr lang="en-US" sz="900" kern="0" spc="-80" dirty="0">
                <a:solidFill>
                  <a:schemeClr val="accent6"/>
                </a:solidFill>
              </a:rPr>
              <a:t>It is used to categorize documents into different topics or classes. Examples include filtering spam emails and determining the sentiment (positive or negative) expressed in a text. </a:t>
            </a:r>
          </a:p>
          <a:p>
            <a:r>
              <a:rPr lang="en-US" sz="900" kern="0" spc="-80" dirty="0">
                <a:solidFill>
                  <a:schemeClr val="accent2"/>
                </a:solidFill>
                <a:hlinkClick r:id="rId9">
                  <a:extLst>
                    <a:ext uri="{A12FA001-AC4F-418D-AE19-62706E023703}">
                      <ahyp:hlinkClr xmlns:ahyp="http://schemas.microsoft.com/office/drawing/2018/hyperlinkcolor" val="tx"/>
                    </a:ext>
                  </a:extLst>
                </a:hlinkClick>
              </a:rPr>
              <a:t>Keyword Extraction</a:t>
            </a:r>
            <a:r>
              <a:rPr lang="en-US" sz="900" kern="0" spc="-80" dirty="0">
                <a:solidFill>
                  <a:schemeClr val="accent2"/>
                </a:solidFill>
              </a:rPr>
              <a:t>:</a:t>
            </a:r>
          </a:p>
          <a:p>
            <a:r>
              <a:rPr lang="en-US" sz="900" kern="0" spc="-80" dirty="0">
                <a:solidFill>
                  <a:schemeClr val="accent6"/>
                </a:solidFill>
              </a:rPr>
              <a:t>By identifying words with the highest TF-IDF scores, the model can extract key terms from a document, which can then be used for tagging or summarizing its main themes. </a:t>
            </a:r>
          </a:p>
          <a:p>
            <a:r>
              <a:rPr lang="en-US" sz="900" kern="0" spc="-80" dirty="0">
                <a:solidFill>
                  <a:schemeClr val="accent2"/>
                </a:solidFill>
                <a:hlinkClick r:id="rId10">
                  <a:extLst>
                    <a:ext uri="{A12FA001-AC4F-418D-AE19-62706E023703}">
                      <ahyp:hlinkClr xmlns:ahyp="http://schemas.microsoft.com/office/drawing/2018/hyperlinkcolor" val="tx"/>
                    </a:ext>
                  </a:extLst>
                </a:hlinkClick>
              </a:rPr>
              <a:t>Document Similarity &amp; Clustering</a:t>
            </a:r>
            <a:r>
              <a:rPr lang="en-US" sz="900" kern="0" spc="-80" dirty="0">
                <a:solidFill>
                  <a:schemeClr val="accent2"/>
                </a:solidFill>
              </a:rPr>
              <a:t>:</a:t>
            </a:r>
          </a:p>
          <a:p>
            <a:r>
              <a:rPr lang="en-US" sz="900" kern="0" spc="-80" dirty="0">
                <a:solidFill>
                  <a:schemeClr val="accent6"/>
                </a:solidFill>
              </a:rPr>
              <a:t>TF-IDF transforms documents into numerical vectors, allowing for the measurement of similarity between them. This capability is used to group similar documents together, such as clustering news articles or customer feedback. </a:t>
            </a:r>
          </a:p>
          <a:p>
            <a:r>
              <a:rPr lang="en-US" sz="900" kern="0" spc="-80" dirty="0">
                <a:solidFill>
                  <a:schemeClr val="accent2"/>
                </a:solidFill>
                <a:hlinkClick r:id="rId11">
                  <a:extLst>
                    <a:ext uri="{A12FA001-AC4F-418D-AE19-62706E023703}">
                      <ahyp:hlinkClr xmlns:ahyp="http://schemas.microsoft.com/office/drawing/2018/hyperlinkcolor" val="tx"/>
                    </a:ext>
                  </a:extLst>
                </a:hlinkClick>
              </a:rPr>
              <a:t>Recommender Systems</a:t>
            </a:r>
            <a:r>
              <a:rPr lang="en-US" sz="900" kern="0" spc="-80" dirty="0">
                <a:solidFill>
                  <a:schemeClr val="accent2"/>
                </a:solidFill>
              </a:rPr>
              <a:t>:</a:t>
            </a:r>
          </a:p>
          <a:p>
            <a:r>
              <a:rPr lang="en-US" sz="900" kern="0" spc="-80" dirty="0">
                <a:solidFill>
                  <a:schemeClr val="accent6"/>
                </a:solidFill>
              </a:rPr>
              <a:t>In recommender systems, TF-IDF can be used to analyze user preferences and item descriptions, enabling the recommendation of relevant content or products based on their textual similarities. </a:t>
            </a:r>
          </a:p>
          <a:p>
            <a:r>
              <a:rPr lang="en-US" sz="900" kern="0" spc="-80" dirty="0">
                <a:solidFill>
                  <a:schemeClr val="accent2"/>
                </a:solidFill>
              </a:rPr>
              <a:t>Fraud detection and cybersecurity:</a:t>
            </a:r>
          </a:p>
          <a:p>
            <a:r>
              <a:rPr lang="en-US" sz="900" kern="0" spc="-80" dirty="0">
                <a:solidFill>
                  <a:schemeClr val="accent6"/>
                </a:solidFill>
              </a:rPr>
              <a:t>By analyzing linguistic patterns in text-based data, TF-IDF can flag deviations from expected norms, which helps in detecting threats like phishing emails or fraudulent insurance claims. </a:t>
            </a:r>
          </a:p>
          <a:p>
            <a:endParaRPr lang="en-US" sz="1000" kern="0" spc="-80" dirty="0">
              <a:solidFill>
                <a:schemeClr val="accent6"/>
              </a:solidFill>
            </a:endParaRPr>
          </a:p>
        </p:txBody>
      </p:sp>
      <p:sp>
        <p:nvSpPr>
          <p:cNvPr id="4" name="object 2">
            <a:extLst>
              <a:ext uri="{FF2B5EF4-FFF2-40B4-BE49-F238E27FC236}">
                <a16:creationId xmlns:a16="http://schemas.microsoft.com/office/drawing/2014/main" id="{076FCD9D-3EAC-D286-BB3C-E1CFD6DCB057}"/>
              </a:ext>
            </a:extLst>
          </p:cNvPr>
          <p:cNvSpPr txBox="1">
            <a:spLocks/>
          </p:cNvSpPr>
          <p:nvPr/>
        </p:nvSpPr>
        <p:spPr>
          <a:xfrm>
            <a:off x="0" y="5541051"/>
            <a:ext cx="8624937" cy="3847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220" dirty="0">
                <a:solidFill>
                  <a:schemeClr val="accent2"/>
                </a:solidFill>
              </a:rPr>
              <a:t>For Further Exploration</a:t>
            </a:r>
          </a:p>
          <a:p>
            <a:pPr marL="12700" marR="5080"/>
            <a:r>
              <a:rPr lang="en-IN" sz="1000" dirty="0" err="1">
                <a:hlinkClick r:id="rId12"/>
              </a:rPr>
              <a:t>tf</a:t>
            </a:r>
            <a:r>
              <a:rPr lang="en-IN" sz="1000" dirty="0">
                <a:hlinkClick r:id="rId12"/>
              </a:rPr>
              <a:t>–</a:t>
            </a:r>
            <a:r>
              <a:rPr lang="en-IN" sz="1000" dirty="0" err="1">
                <a:hlinkClick r:id="rId12"/>
              </a:rPr>
              <a:t>idf</a:t>
            </a:r>
            <a:r>
              <a:rPr lang="en-IN" sz="1000" dirty="0">
                <a:hlinkClick r:id="rId12"/>
              </a:rPr>
              <a:t> - Wikipedia</a:t>
            </a:r>
            <a:endParaRPr lang="en-US" sz="1000" kern="0" spc="-220" dirty="0">
              <a:solidFill>
                <a:schemeClr val="accent6"/>
              </a:solidFill>
            </a:endParaRPr>
          </a:p>
        </p:txBody>
      </p:sp>
    </p:spTree>
    <p:extLst>
      <p:ext uri="{BB962C8B-B14F-4D97-AF65-F5344CB8AC3E}">
        <p14:creationId xmlns:p14="http://schemas.microsoft.com/office/powerpoint/2010/main" val="35451539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F55A5-FC30-ED31-4B63-47DE48E27C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76956E-6B9F-C131-8C41-34905E8934F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EE53E99-70D8-DF7E-14A7-8DED5445B861}"/>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52F059A-E425-E4A3-76E5-C9F51A677B94}"/>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3A5E460-8A5E-F41B-C5E9-75824047CAD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3C2CC19-9686-2667-FFB2-FC47BBA5FF81}"/>
              </a:ext>
            </a:extLst>
          </p:cNvPr>
          <p:cNvSpPr txBox="1">
            <a:spLocks/>
          </p:cNvSpPr>
          <p:nvPr/>
        </p:nvSpPr>
        <p:spPr>
          <a:xfrm>
            <a:off x="0" y="1148239"/>
            <a:ext cx="8624937" cy="43242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100" kern="0" spc="-220" dirty="0">
              <a:solidFill>
                <a:schemeClr val="accent2"/>
              </a:solidFill>
            </a:endParaRPr>
          </a:p>
          <a:p>
            <a:r>
              <a:rPr lang="en-US" sz="1000" kern="0" spc="-80" dirty="0">
                <a:solidFill>
                  <a:schemeClr val="accent6"/>
                </a:solidFill>
              </a:rPr>
              <a:t>Problems with the TF-IDF model include ignoring word order and semantics, a heavy reliance on raw word frequency that can lead to bias, difficulty in handling rare words, potential for sparse matrices in large datasets, and issues with longer documents causing length bias. The bag-of-words approach means TF-IDF doesn't understand context or relationships between words. </a:t>
            </a:r>
          </a:p>
          <a:p>
            <a:r>
              <a:rPr lang="en-US" sz="1000" kern="0" spc="-80" dirty="0">
                <a:solidFill>
                  <a:schemeClr val="accent2"/>
                </a:solidFill>
              </a:rPr>
              <a:t>Specific Problems and Limitations</a:t>
            </a:r>
          </a:p>
          <a:p>
            <a:r>
              <a:rPr lang="en-US" sz="1000" kern="0" spc="-80" dirty="0">
                <a:solidFill>
                  <a:schemeClr val="accent2"/>
                </a:solidFill>
              </a:rPr>
              <a:t>No semantic understanding:</a:t>
            </a:r>
          </a:p>
          <a:p>
            <a:r>
              <a:rPr lang="en-US" sz="1000" kern="0" spc="-80" dirty="0">
                <a:solidFill>
                  <a:schemeClr val="accent6"/>
                </a:solidFill>
              </a:rPr>
              <a:t>TF-IDF treats words as isolated units and doesn't grasp their meaning or the context in which they are used. This can lead to misinterpretations of text. </a:t>
            </a:r>
          </a:p>
          <a:p>
            <a:r>
              <a:rPr lang="en-US" sz="1000" kern="0" spc="-80" dirty="0">
                <a:solidFill>
                  <a:schemeClr val="accent6"/>
                </a:solidFill>
              </a:rPr>
              <a:t>Ignores word order:</a:t>
            </a:r>
          </a:p>
          <a:p>
            <a:r>
              <a:rPr lang="en-US" sz="1000" kern="0" spc="-80" dirty="0">
                <a:solidFill>
                  <a:schemeClr val="accent6"/>
                </a:solidFill>
              </a:rPr>
              <a:t>As a "bag-of-words" model, TF-IDF discards word sequence information. This can be problematic because word order can significantly alter the meaning of a sentence. </a:t>
            </a:r>
          </a:p>
          <a:p>
            <a:r>
              <a:rPr lang="en-US" sz="1000" kern="0" spc="-80" dirty="0">
                <a:solidFill>
                  <a:schemeClr val="accent2"/>
                </a:solidFill>
              </a:rPr>
              <a:t>Bias towards longer documents:</a:t>
            </a:r>
          </a:p>
          <a:p>
            <a:r>
              <a:rPr lang="en-US" sz="1000" kern="0" spc="-80" dirty="0">
                <a:solidFill>
                  <a:schemeClr val="accent6"/>
                </a:solidFill>
              </a:rPr>
              <a:t>Longer documents tend to have higher term frequencies for words, potentially skewing TF-IDF scores if not properly normalized. </a:t>
            </a:r>
          </a:p>
          <a:p>
            <a:r>
              <a:rPr lang="en-US" sz="1000" kern="0" spc="-80" dirty="0">
                <a:solidFill>
                  <a:schemeClr val="accent6"/>
                </a:solidFill>
              </a:rPr>
              <a:t>Sensitivity to rare words:</a:t>
            </a:r>
          </a:p>
          <a:p>
            <a:r>
              <a:rPr lang="en-US" sz="1000" kern="0" spc="-80" dirty="0">
                <a:solidFill>
                  <a:schemeClr val="accent6"/>
                </a:solidFill>
              </a:rPr>
              <a:t>Words that appear very infrequently in the corpus get a high Inverse Document Frequency (IDF) score, which can unfairly inflate their importance. </a:t>
            </a:r>
          </a:p>
          <a:p>
            <a:r>
              <a:rPr lang="en-US" sz="1000" kern="0" spc="-80" dirty="0">
                <a:solidFill>
                  <a:schemeClr val="accent2"/>
                </a:solidFill>
              </a:rPr>
              <a:t>Sparse matrices and memory:</a:t>
            </a:r>
          </a:p>
          <a:p>
            <a:r>
              <a:rPr lang="en-US" sz="1000" kern="0" spc="-80" dirty="0">
                <a:solidFill>
                  <a:schemeClr val="accent6"/>
                </a:solidFill>
              </a:rPr>
              <a:t>For very large datasets with numerous unique terms, the resulting TF-IDF matrix can become extremely large and sparse, leading to high memory consumption and difficulty in interpretation. </a:t>
            </a:r>
          </a:p>
          <a:p>
            <a:r>
              <a:rPr lang="en-US" sz="1000" kern="0" spc="-80" dirty="0">
                <a:solidFill>
                  <a:schemeClr val="accent2"/>
                </a:solidFill>
              </a:rPr>
              <a:t>Assumes word independence:</a:t>
            </a:r>
          </a:p>
          <a:p>
            <a:r>
              <a:rPr lang="en-US" sz="1000" kern="0" spc="-80" dirty="0">
                <a:solidFill>
                  <a:schemeClr val="accent6"/>
                </a:solidFill>
              </a:rPr>
              <a:t>TF-IDF treats words as independent entities, which is unrealistic for natural language where words are often related in complex ways. </a:t>
            </a:r>
          </a:p>
          <a:p>
            <a:r>
              <a:rPr lang="en-US" sz="1000" kern="0" spc="-80" dirty="0">
                <a:solidFill>
                  <a:schemeClr val="accent6"/>
                </a:solidFill>
              </a:rPr>
              <a:t>Doesn't account for stop words:</a:t>
            </a:r>
          </a:p>
          <a:p>
            <a:r>
              <a:rPr lang="en-US" sz="1000" kern="0" spc="-80" dirty="0">
                <a:solidFill>
                  <a:schemeClr val="accent6"/>
                </a:solidFill>
              </a:rPr>
              <a:t>Without a mechanism to handle common words (stop words), these frequent terms can be given undue weight in the feature building process. </a:t>
            </a:r>
          </a:p>
          <a:p>
            <a:r>
              <a:rPr lang="en-US" sz="1000" kern="0" spc="-80" dirty="0">
                <a:solidFill>
                  <a:schemeClr val="accent2"/>
                </a:solidFill>
              </a:rPr>
              <a:t>Why these limitations matter</a:t>
            </a:r>
          </a:p>
          <a:p>
            <a:r>
              <a:rPr lang="en-US" sz="1000" kern="0" spc="-80" dirty="0">
                <a:solidFill>
                  <a:schemeClr val="accent2"/>
                </a:solidFill>
              </a:rPr>
              <a:t>Contextual errors:</a:t>
            </a:r>
          </a:p>
          <a:p>
            <a:r>
              <a:rPr lang="en-US" sz="1000" kern="0" spc="-80" dirty="0">
                <a:solidFill>
                  <a:schemeClr val="accent6"/>
                </a:solidFill>
              </a:rPr>
              <a:t>The inability to understand context and word relationships can lead to incorrect classification or information retrieval results. </a:t>
            </a:r>
          </a:p>
          <a:p>
            <a:r>
              <a:rPr lang="en-US" sz="1000" kern="0" spc="-80" dirty="0">
                <a:solidFill>
                  <a:schemeClr val="accent2"/>
                </a:solidFill>
              </a:rPr>
              <a:t>Poor generalization:</a:t>
            </a:r>
          </a:p>
          <a:p>
            <a:r>
              <a:rPr lang="en-US" sz="1000" kern="0" spc="-80" dirty="0">
                <a:solidFill>
                  <a:schemeClr val="accent6"/>
                </a:solidFill>
              </a:rPr>
              <a:t>TF-IDF can struggle to generalize on large or complex datasets, potentially leading to significant performance drops on unseen data. </a:t>
            </a:r>
          </a:p>
          <a:p>
            <a:r>
              <a:rPr lang="en-US" sz="1000" kern="0" spc="-80" dirty="0">
                <a:solidFill>
                  <a:schemeClr val="accent2"/>
                </a:solidFill>
              </a:rPr>
              <a:t>Inaccurate importance:</a:t>
            </a:r>
          </a:p>
          <a:p>
            <a:r>
              <a:rPr lang="en-US" sz="1000" kern="0" spc="-80" dirty="0">
                <a:solidFill>
                  <a:schemeClr val="accent6"/>
                </a:solidFill>
              </a:rPr>
              <a:t>The scoring can sometimes misrepresent the actual importance of a word or phrase within a document, especially when semantics are crucial. </a:t>
            </a:r>
          </a:p>
        </p:txBody>
      </p:sp>
    </p:spTree>
    <p:extLst>
      <p:ext uri="{BB962C8B-B14F-4D97-AF65-F5344CB8AC3E}">
        <p14:creationId xmlns:p14="http://schemas.microsoft.com/office/powerpoint/2010/main" val="5716384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9379F-BB9E-618E-B4AB-B562BE7A86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9D83C3-7C22-549E-A798-CBCF0052DD2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1C54BD05-5DEF-D2DE-74B7-1F79D005591A}"/>
              </a:ext>
            </a:extLst>
          </p:cNvPr>
          <p:cNvSpPr/>
          <p:nvPr/>
        </p:nvSpPr>
        <p:spPr>
          <a:xfrm>
            <a:off x="1661159" y="113607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6F31032-8122-6E64-BF8E-2F6E6C234DC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B95066E-9671-2C18-FD60-AAD45798D9C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2F9A50C-21D3-A94D-14FA-CBC0924298A8}"/>
              </a:ext>
            </a:extLst>
          </p:cNvPr>
          <p:cNvSpPr txBox="1">
            <a:spLocks/>
          </p:cNvSpPr>
          <p:nvPr/>
        </p:nvSpPr>
        <p:spPr>
          <a:xfrm>
            <a:off x="-17146" y="1058145"/>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endParaRPr lang="en-US" sz="1000" kern="0" spc="-80" dirty="0">
              <a:solidFill>
                <a:schemeClr val="accent6"/>
              </a:solidFill>
            </a:endParaRPr>
          </a:p>
          <a:p>
            <a:r>
              <a:rPr lang="en-US" sz="1000" kern="0" spc="-80" dirty="0">
                <a:solidFill>
                  <a:schemeClr val="accent6"/>
                </a:solidFill>
              </a:rPr>
              <a:t>An n-gram model is a statistical language model that predicts the probability of a word occurring based on the preceding (n-1) words in a text sequence, trained on a corpus of text data. By breaking down text into sequential "n-grams" (like unigrams, bigrams, or trigrams), these models capture local context to improve applications such as speech recognition, machine translation, and text generation. Common applications leverage these models for predictive text, spell checking, and other text analytics tasks. </a:t>
            </a:r>
          </a:p>
          <a:p>
            <a:r>
              <a:rPr lang="en-US" sz="1000" kern="0" spc="-80" dirty="0">
                <a:solidFill>
                  <a:schemeClr val="accent2"/>
                </a:solidFill>
              </a:rPr>
              <a:t>How it Works</a:t>
            </a:r>
          </a:p>
          <a:p>
            <a:r>
              <a:rPr lang="en-US" sz="1000" kern="0" spc="-80" dirty="0">
                <a:solidFill>
                  <a:schemeClr val="accent2"/>
                </a:solidFill>
              </a:rPr>
              <a:t>1. N-grams:</a:t>
            </a:r>
          </a:p>
          <a:p>
            <a:r>
              <a:rPr lang="en-US" sz="1000" kern="0" spc="-80" dirty="0">
                <a:solidFill>
                  <a:schemeClr val="accent6"/>
                </a:solidFill>
              </a:rPr>
              <a:t>The process involves identifying sequences of 'n' consecutive words (or characters) in a text. </a:t>
            </a:r>
          </a:p>
          <a:p>
            <a:r>
              <a:rPr lang="en-US" sz="1000" kern="0" spc="-80" dirty="0">
                <a:solidFill>
                  <a:schemeClr val="accent6"/>
                </a:solidFill>
              </a:rPr>
              <a:t>Unigram (1-gram): A single word. </a:t>
            </a:r>
          </a:p>
          <a:p>
            <a:r>
              <a:rPr lang="en-US" sz="1000" kern="0" spc="-80" dirty="0">
                <a:solidFill>
                  <a:schemeClr val="accent6"/>
                </a:solidFill>
              </a:rPr>
              <a:t>Bigram (2-gram): Two consecutive words. </a:t>
            </a:r>
          </a:p>
          <a:p>
            <a:r>
              <a:rPr lang="en-US" sz="1000" kern="0" spc="-80" dirty="0">
                <a:solidFill>
                  <a:schemeClr val="accent6"/>
                </a:solidFill>
              </a:rPr>
              <a:t>Trigram (3-gram): Three consecutive words. </a:t>
            </a:r>
          </a:p>
          <a:p>
            <a:r>
              <a:rPr lang="en-US" sz="1000" kern="0" spc="-80" dirty="0">
                <a:solidFill>
                  <a:schemeClr val="accent2"/>
                </a:solidFill>
              </a:rPr>
              <a:t>2. Training:</a:t>
            </a:r>
          </a:p>
          <a:p>
            <a:r>
              <a:rPr lang="en-US" sz="1000" kern="0" spc="-80" dirty="0">
                <a:solidFill>
                  <a:schemeClr val="accent6"/>
                </a:solidFill>
              </a:rPr>
              <a:t>The model is trained on a large text corpus to count the frequency of these n-grams. </a:t>
            </a:r>
          </a:p>
          <a:p>
            <a:r>
              <a:rPr lang="en-US" sz="1000" kern="0" spc="-80" dirty="0">
                <a:solidFill>
                  <a:schemeClr val="accent2"/>
                </a:solidFill>
              </a:rPr>
              <a:t>3. Probability Estimation:</a:t>
            </a:r>
          </a:p>
          <a:p>
            <a:r>
              <a:rPr lang="en-US" sz="1000" kern="0" spc="-80" dirty="0">
                <a:solidFill>
                  <a:schemeClr val="accent6"/>
                </a:solidFill>
              </a:rPr>
              <a:t>Based on the frequency counts, the model estimates the probability of a word following a given sequence of (n-1) words. </a:t>
            </a:r>
          </a:p>
          <a:p>
            <a:r>
              <a:rPr lang="en-US" sz="1000" kern="0" spc="-80" dirty="0">
                <a:solidFill>
                  <a:schemeClr val="accent2"/>
                </a:solidFill>
              </a:rPr>
              <a:t>Example</a:t>
            </a:r>
          </a:p>
          <a:p>
            <a:r>
              <a:rPr lang="en-US" sz="1000" kern="0" spc="-80" dirty="0">
                <a:solidFill>
                  <a:schemeClr val="accent6"/>
                </a:solidFill>
              </a:rPr>
              <a:t>Consider the phrase "The quick brown...". </a:t>
            </a:r>
          </a:p>
          <a:p>
            <a:r>
              <a:rPr lang="en-US" sz="1000" kern="0" spc="-80" dirty="0">
                <a:solidFill>
                  <a:schemeClr val="accent2"/>
                </a:solidFill>
              </a:rPr>
              <a:t>Bigram Model:</a:t>
            </a:r>
          </a:p>
          <a:p>
            <a:r>
              <a:rPr lang="en-US" sz="1000" kern="0" spc="-80" dirty="0">
                <a:solidFill>
                  <a:schemeClr val="accent6"/>
                </a:solidFill>
              </a:rPr>
              <a:t>Given "brown," it predicts the most likely next word based on how often "brown" is followed by other words in the corpus. </a:t>
            </a:r>
          </a:p>
          <a:p>
            <a:r>
              <a:rPr lang="en-US" sz="1000" kern="0" spc="-80" dirty="0">
                <a:solidFill>
                  <a:schemeClr val="accent2"/>
                </a:solidFill>
              </a:rPr>
              <a:t>Trigram Model:</a:t>
            </a:r>
          </a:p>
          <a:p>
            <a:r>
              <a:rPr lang="en-US" sz="1000" kern="0" spc="-80" dirty="0">
                <a:solidFill>
                  <a:schemeClr val="accent6"/>
                </a:solidFill>
              </a:rPr>
              <a:t>Given "quick brown," it predicts the next word based on the context of those two preceding words. </a:t>
            </a:r>
          </a:p>
          <a:p>
            <a:r>
              <a:rPr lang="en-US" sz="1000" kern="0" spc="-80" dirty="0">
                <a:solidFill>
                  <a:schemeClr val="accent2"/>
                </a:solidFill>
              </a:rPr>
              <a:t>Applications</a:t>
            </a:r>
          </a:p>
          <a:p>
            <a:r>
              <a:rPr lang="en-US" sz="1000" kern="0" spc="-80" dirty="0">
                <a:solidFill>
                  <a:schemeClr val="accent6"/>
                </a:solidFill>
              </a:rPr>
              <a:t>N-gram models are used in various Natural Language Processing (NLP) tasks: </a:t>
            </a:r>
          </a:p>
          <a:p>
            <a:r>
              <a:rPr lang="en-US" sz="1000" kern="0" spc="-80" dirty="0">
                <a:solidFill>
                  <a:schemeClr val="accent2"/>
                </a:solidFill>
              </a:rPr>
              <a:t>Predictive Text: </a:t>
            </a:r>
            <a:r>
              <a:rPr lang="en-US" sz="1000" kern="0" spc="-80" dirty="0">
                <a:solidFill>
                  <a:schemeClr val="accent6"/>
                </a:solidFill>
              </a:rPr>
              <a:t>Suggesting the next word as you type.</a:t>
            </a:r>
          </a:p>
          <a:p>
            <a:r>
              <a:rPr lang="en-US" sz="1000" kern="0" spc="-80" dirty="0">
                <a:solidFill>
                  <a:schemeClr val="accent2"/>
                </a:solidFill>
              </a:rPr>
              <a:t>Speech Recognition: </a:t>
            </a:r>
            <a:r>
              <a:rPr lang="en-US" sz="1000" kern="0" spc="-80" dirty="0">
                <a:solidFill>
                  <a:schemeClr val="accent6"/>
                </a:solidFill>
              </a:rPr>
              <a:t>Helping to interpret spoken words.</a:t>
            </a:r>
          </a:p>
          <a:p>
            <a:r>
              <a:rPr lang="en-US" sz="1000" kern="0" spc="-80" dirty="0">
                <a:solidFill>
                  <a:schemeClr val="accent2"/>
                </a:solidFill>
              </a:rPr>
              <a:t>Machine Translation: </a:t>
            </a:r>
            <a:r>
              <a:rPr lang="en-US" sz="1000" kern="0" spc="-80" dirty="0">
                <a:solidFill>
                  <a:schemeClr val="accent6"/>
                </a:solidFill>
              </a:rPr>
              <a:t>Improving the accuracy of translated text.</a:t>
            </a:r>
          </a:p>
          <a:p>
            <a:r>
              <a:rPr lang="en-US" sz="1000" kern="0" spc="-80" dirty="0">
                <a:solidFill>
                  <a:schemeClr val="accent2"/>
                </a:solidFill>
              </a:rPr>
              <a:t>Spelling and Grammar Correction: </a:t>
            </a:r>
            <a:r>
              <a:rPr lang="en-US" sz="1000" kern="0" spc="-80" dirty="0">
                <a:solidFill>
                  <a:schemeClr val="accent6"/>
                </a:solidFill>
              </a:rPr>
              <a:t>Identifying and suggesting more probable word choices.</a:t>
            </a:r>
          </a:p>
          <a:p>
            <a:r>
              <a:rPr lang="en-US" sz="1000" kern="0" spc="-80" dirty="0">
                <a:solidFill>
                  <a:schemeClr val="accent2"/>
                </a:solidFill>
              </a:rPr>
              <a:t>Limitations </a:t>
            </a:r>
          </a:p>
          <a:p>
            <a:r>
              <a:rPr lang="en-US" sz="1000" kern="0" spc="-80" dirty="0">
                <a:solidFill>
                  <a:schemeClr val="accent2"/>
                </a:solidFill>
              </a:rPr>
              <a:t>Data Sparsity:</a:t>
            </a:r>
          </a:p>
          <a:p>
            <a:r>
              <a:rPr lang="en-US" sz="1000" kern="0" spc="-80" dirty="0">
                <a:solidFill>
                  <a:schemeClr val="accent6"/>
                </a:solidFill>
              </a:rPr>
              <a:t>With larger values of 'n', it becomes less likely to find repeated occurrences of the same n-gram, leading to sparse data.</a:t>
            </a:r>
          </a:p>
          <a:p>
            <a:r>
              <a:rPr lang="en-US" sz="1000" kern="0" spc="-80" dirty="0">
                <a:solidFill>
                  <a:schemeClr val="accent2"/>
                </a:solidFill>
              </a:rPr>
              <a:t>Lack of Long-Range Context:</a:t>
            </a:r>
          </a:p>
          <a:p>
            <a:r>
              <a:rPr lang="en-US" sz="1000" kern="0" spc="-80" dirty="0">
                <a:solidFill>
                  <a:schemeClr val="accent6"/>
                </a:solidFill>
              </a:rPr>
              <a:t>N-gram models only consider a limited, fixed context (the previous n-1 words), failing to capture broader sentence or document context.</a:t>
            </a:r>
          </a:p>
        </p:txBody>
      </p:sp>
    </p:spTree>
    <p:extLst>
      <p:ext uri="{BB962C8B-B14F-4D97-AF65-F5344CB8AC3E}">
        <p14:creationId xmlns:p14="http://schemas.microsoft.com/office/powerpoint/2010/main" val="7446272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2C06-1AD2-92BA-EF5D-30576300FD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7EB14F-54DB-C2C2-197A-806AD08894D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E724218-9D55-8424-1A73-FA6408DE68C7}"/>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62AA329-611B-1FA2-F118-C8FFA525E83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4D25188-E57E-64BD-B68D-AED9A29D29B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1CEFC803-7E9F-FD29-DC60-B26094DD08E8}"/>
              </a:ext>
            </a:extLst>
          </p:cNvPr>
          <p:cNvSpPr txBox="1">
            <a:spLocks/>
          </p:cNvSpPr>
          <p:nvPr/>
        </p:nvSpPr>
        <p:spPr>
          <a:xfrm>
            <a:off x="41725" y="1140245"/>
            <a:ext cx="8624937" cy="49321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220" dirty="0">
              <a:solidFill>
                <a:schemeClr val="accent2"/>
              </a:solidFill>
            </a:endParaRPr>
          </a:p>
          <a:p>
            <a:r>
              <a:rPr lang="en-US" sz="1130" kern="0" spc="-80" dirty="0">
                <a:solidFill>
                  <a:schemeClr val="accent6"/>
                </a:solidFill>
              </a:rPr>
              <a:t>Embeddings are numerical representations of complex data, with applications in natural language processing (NLP), such as sentiment analysis and machine translation; computer vision, including image recognition; recommendation systems for personalized suggestions; information retrieval, to improve search engines; and scientific research, for analyzing complex biological or material data. They enable machine learning models to understand semantic relationships and contextual information within data, leading to more accurate and insightful applications in a wide range of fields.</a:t>
            </a:r>
            <a:br>
              <a:rPr lang="en-US" sz="1130" kern="0" spc="-80" dirty="0">
                <a:solidFill>
                  <a:schemeClr val="accent6"/>
                </a:solidFill>
              </a:rPr>
            </a:br>
            <a:r>
              <a:rPr lang="en-US" sz="1130" kern="0" spc="-80" dirty="0">
                <a:solidFill>
                  <a:schemeClr val="accent6"/>
                </a:solidFill>
              </a:rPr>
              <a:t> </a:t>
            </a:r>
          </a:p>
          <a:p>
            <a:r>
              <a:rPr lang="en-US" sz="1130" kern="0" spc="-80" dirty="0">
                <a:solidFill>
                  <a:schemeClr val="accent2"/>
                </a:solidFill>
              </a:rPr>
              <a:t>Key Applications of Embeddings</a:t>
            </a:r>
          </a:p>
          <a:p>
            <a:r>
              <a:rPr lang="en-US" sz="1130" kern="0" spc="-80" dirty="0">
                <a:solidFill>
                  <a:schemeClr val="accent2"/>
                </a:solidFill>
              </a:rPr>
              <a:t>Natural Language Processing (NLP):</a:t>
            </a:r>
          </a:p>
          <a:p>
            <a:r>
              <a:rPr lang="en-US" sz="1130" kern="0" spc="-80" dirty="0">
                <a:solidFill>
                  <a:schemeClr val="accent2"/>
                </a:solidFill>
              </a:rPr>
              <a:t>Sentiment Analysis: </a:t>
            </a:r>
            <a:r>
              <a:rPr lang="en-US" sz="1130" kern="0" spc="-80" dirty="0">
                <a:solidFill>
                  <a:schemeClr val="accent6"/>
                </a:solidFill>
              </a:rPr>
              <a:t>Classifying text by understanding the semantic meaning of words. </a:t>
            </a:r>
          </a:p>
          <a:p>
            <a:r>
              <a:rPr lang="en-US" sz="1130" kern="0" spc="-80" dirty="0">
                <a:solidFill>
                  <a:schemeClr val="accent2"/>
                </a:solidFill>
              </a:rPr>
              <a:t>Machine Translation: </a:t>
            </a:r>
            <a:r>
              <a:rPr lang="en-US" sz="1130" kern="0" spc="-80" dirty="0">
                <a:solidFill>
                  <a:schemeClr val="accent6"/>
                </a:solidFill>
              </a:rPr>
              <a:t>Converting words and sentences into vectors in a shared space to facilitate translation. </a:t>
            </a:r>
          </a:p>
          <a:p>
            <a:r>
              <a:rPr lang="en-US" sz="1130" kern="0" spc="-80" dirty="0">
                <a:solidFill>
                  <a:schemeClr val="accent2"/>
                </a:solidFill>
              </a:rPr>
              <a:t>Information Retrieval/Search Engines: </a:t>
            </a:r>
            <a:r>
              <a:rPr lang="en-US" sz="1130" kern="0" spc="-80" dirty="0">
                <a:solidFill>
                  <a:schemeClr val="accent6"/>
                </a:solidFill>
              </a:rPr>
              <a:t>Matching user queries with relevant documents based on semantic similarity, rather than just keywords. </a:t>
            </a:r>
          </a:p>
          <a:p>
            <a:r>
              <a:rPr lang="en-US" sz="1130" kern="0" spc="-80" dirty="0">
                <a:solidFill>
                  <a:schemeClr val="accent2"/>
                </a:solidFill>
              </a:rPr>
              <a:t>Language Generation: </a:t>
            </a:r>
            <a:r>
              <a:rPr lang="en-US" sz="1130" kern="0" spc="-80" dirty="0">
                <a:solidFill>
                  <a:schemeClr val="accent6"/>
                </a:solidFill>
              </a:rPr>
              <a:t>Generating coherent and contextually relevant text, music, or images by understanding relationships between concepts. </a:t>
            </a:r>
          </a:p>
          <a:p>
            <a:r>
              <a:rPr lang="en-US" sz="1130" kern="0" spc="-80" dirty="0">
                <a:solidFill>
                  <a:schemeClr val="accent2"/>
                </a:solidFill>
              </a:rPr>
              <a:t>Computer Vision:</a:t>
            </a:r>
          </a:p>
          <a:p>
            <a:r>
              <a:rPr lang="en-US" sz="1130" kern="0" spc="-80" dirty="0">
                <a:solidFill>
                  <a:schemeClr val="accent2"/>
                </a:solidFill>
              </a:rPr>
              <a:t>Image Recognition: </a:t>
            </a:r>
            <a:r>
              <a:rPr lang="en-US" sz="1130" kern="0" spc="-80" dirty="0">
                <a:solidFill>
                  <a:schemeClr val="accent6"/>
                </a:solidFill>
              </a:rPr>
              <a:t>Processing images to identify and classify objects with high precision. </a:t>
            </a:r>
          </a:p>
          <a:p>
            <a:r>
              <a:rPr lang="en-US" sz="1130" kern="0" spc="-80" dirty="0">
                <a:solidFill>
                  <a:schemeClr val="accent2"/>
                </a:solidFill>
              </a:rPr>
              <a:t>Object Detection: </a:t>
            </a:r>
            <a:r>
              <a:rPr lang="en-US" sz="1130" kern="0" spc="-80" dirty="0">
                <a:solidFill>
                  <a:schemeClr val="accent6"/>
                </a:solidFill>
              </a:rPr>
              <a:t>Locating specific objects within an image. </a:t>
            </a:r>
          </a:p>
          <a:p>
            <a:r>
              <a:rPr lang="en-US" sz="1130" kern="0" spc="-80" dirty="0">
                <a:solidFill>
                  <a:schemeClr val="accent2"/>
                </a:solidFill>
              </a:rPr>
              <a:t>Recommendation Systems:</a:t>
            </a:r>
          </a:p>
          <a:p>
            <a:r>
              <a:rPr lang="en-US" sz="1130" kern="0" spc="-80" dirty="0">
                <a:solidFill>
                  <a:schemeClr val="accent6"/>
                </a:solidFill>
              </a:rPr>
              <a:t>Personalized Recommendations: Suggesting items like products, movies, or books based on the similarity of user profiles and item descriptions. </a:t>
            </a:r>
          </a:p>
          <a:p>
            <a:r>
              <a:rPr lang="en-US" sz="1130" kern="0" spc="-80" dirty="0">
                <a:solidFill>
                  <a:schemeClr val="accent2"/>
                </a:solidFill>
                <a:hlinkClick r:id="rId7">
                  <a:extLst>
                    <a:ext uri="{A12FA001-AC4F-418D-AE19-62706E023703}">
                      <ahyp:hlinkClr xmlns:ahyp="http://schemas.microsoft.com/office/drawing/2018/hyperlinkcolor" val="tx"/>
                    </a:ext>
                  </a:extLst>
                </a:hlinkClick>
              </a:rPr>
              <a:t>Scientific Research</a:t>
            </a:r>
            <a:r>
              <a:rPr lang="en-US" sz="1130" kern="0" spc="-80" dirty="0">
                <a:solidFill>
                  <a:schemeClr val="accent2"/>
                </a:solidFill>
              </a:rPr>
              <a:t>:</a:t>
            </a:r>
          </a:p>
          <a:p>
            <a:r>
              <a:rPr lang="en-US" sz="1130" kern="0" spc="-80" dirty="0">
                <a:solidFill>
                  <a:schemeClr val="accent6"/>
                </a:solidFill>
              </a:rPr>
              <a:t>Material Science: Predicting the properties of new materials by analyzing their atomic structures. </a:t>
            </a:r>
          </a:p>
          <a:p>
            <a:r>
              <a:rPr lang="en-US" sz="1130" kern="0" spc="-80" dirty="0">
                <a:solidFill>
                  <a:schemeClr val="accent6"/>
                </a:solidFill>
              </a:rPr>
              <a:t>Bioinformatics: Understanding and analyzing large genomic datasets to discover new patterns and insights. </a:t>
            </a:r>
          </a:p>
          <a:p>
            <a:r>
              <a:rPr lang="en-US" sz="1130" kern="0" spc="-80" dirty="0">
                <a:solidFill>
                  <a:schemeClr val="accent2"/>
                </a:solidFill>
              </a:rPr>
              <a:t>Other Applications:</a:t>
            </a:r>
          </a:p>
          <a:p>
            <a:r>
              <a:rPr lang="en-US" sz="1130" kern="0" spc="-80" dirty="0">
                <a:solidFill>
                  <a:schemeClr val="accent2"/>
                </a:solidFill>
              </a:rPr>
              <a:t>Data Preprocessing: </a:t>
            </a:r>
            <a:r>
              <a:rPr lang="en-US" sz="1130" kern="0" spc="-80" dirty="0">
                <a:solidFill>
                  <a:schemeClr val="accent6"/>
                </a:solidFill>
              </a:rPr>
              <a:t>Cleaning and normalizing data, such as handling irregularities in large training datasets. </a:t>
            </a:r>
          </a:p>
          <a:p>
            <a:r>
              <a:rPr lang="en-US" sz="1130" kern="0" spc="-80" dirty="0">
                <a:solidFill>
                  <a:schemeClr val="accent2"/>
                </a:solidFill>
              </a:rPr>
              <a:t>Anomaly Detection: </a:t>
            </a:r>
            <a:r>
              <a:rPr lang="en-US" sz="1130" kern="0" spc="-80" dirty="0">
                <a:solidFill>
                  <a:schemeClr val="accent6"/>
                </a:solidFill>
              </a:rPr>
              <a:t>Identifying unusual patterns or outliers within datasets. </a:t>
            </a:r>
          </a:p>
          <a:p>
            <a:r>
              <a:rPr lang="en-US" sz="1130" kern="0" spc="-80" dirty="0">
                <a:solidFill>
                  <a:schemeClr val="accent2"/>
                </a:solidFill>
                <a:hlinkClick r:id="rId8">
                  <a:extLst>
                    <a:ext uri="{A12FA001-AC4F-418D-AE19-62706E023703}">
                      <ahyp:hlinkClr xmlns:ahyp="http://schemas.microsoft.com/office/drawing/2018/hyperlinkcolor" val="tx"/>
                    </a:ext>
                  </a:extLst>
                </a:hlinkClick>
              </a:rPr>
              <a:t>Generative AI</a:t>
            </a:r>
            <a:r>
              <a:rPr lang="en-US" sz="1130" kern="0" spc="-80" dirty="0">
                <a:solidFill>
                  <a:schemeClr val="accent2"/>
                </a:solidFill>
              </a:rPr>
              <a:t>: </a:t>
            </a:r>
            <a:r>
              <a:rPr lang="en-US" sz="1130" kern="0" spc="-80" dirty="0">
                <a:solidFill>
                  <a:schemeClr val="accent6"/>
                </a:solidFill>
              </a:rPr>
              <a:t>Creating more realistic and contextually relevant content, from text to images. </a:t>
            </a:r>
          </a:p>
        </p:txBody>
      </p:sp>
    </p:spTree>
    <p:extLst>
      <p:ext uri="{BB962C8B-B14F-4D97-AF65-F5344CB8AC3E}">
        <p14:creationId xmlns:p14="http://schemas.microsoft.com/office/powerpoint/2010/main" val="37760782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6EF51-102B-0C9C-EBE4-322555DF6BB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A0D437-E298-FA59-0EEE-758C7487867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CB1156CC-C7D9-B177-6C35-EBECC8E488D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877A373-28C2-B6F3-F109-64747F7C1FB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67B7783-1343-AF3D-AD0D-BEB86000023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1FF3C85-D073-CAA8-1356-A9144810FD16}"/>
              </a:ext>
            </a:extLst>
          </p:cNvPr>
          <p:cNvSpPr txBox="1">
            <a:spLocks/>
          </p:cNvSpPr>
          <p:nvPr/>
        </p:nvSpPr>
        <p:spPr>
          <a:xfrm>
            <a:off x="41725" y="1140245"/>
            <a:ext cx="8624937" cy="51183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220" dirty="0">
              <a:solidFill>
                <a:schemeClr val="accent2"/>
              </a:solidFill>
            </a:endParaRPr>
          </a:p>
          <a:p>
            <a:r>
              <a:rPr lang="en-US" sz="1200" kern="0" spc="-80" dirty="0">
                <a:solidFill>
                  <a:schemeClr val="accent6"/>
                </a:solidFill>
              </a:rPr>
              <a:t>Converting raw data into embeddings involves transforming various data types (text, images, audio, etc.) into dense numerical vectors that capture semantic or contextual meaning. The specific techniques depend on the data type:</a:t>
            </a:r>
            <a:br>
              <a:rPr lang="en-US" sz="1200" kern="0" spc="-80" dirty="0">
                <a:solidFill>
                  <a:schemeClr val="accent6"/>
                </a:solidFill>
              </a:rPr>
            </a:br>
            <a:r>
              <a:rPr lang="en-US" sz="1200" kern="0" spc="-80" dirty="0">
                <a:solidFill>
                  <a:schemeClr val="accent2"/>
                </a:solidFill>
              </a:rPr>
              <a:t>For Text Data:</a:t>
            </a:r>
            <a:br>
              <a:rPr lang="en-US" sz="1200" kern="0" spc="-80" dirty="0">
                <a:solidFill>
                  <a:schemeClr val="accent6"/>
                </a:solidFill>
              </a:rPr>
            </a:br>
            <a:r>
              <a:rPr lang="en-US" sz="1200" kern="0" spc="-80" dirty="0">
                <a:solidFill>
                  <a:schemeClr val="accent2"/>
                </a:solidFill>
              </a:rPr>
              <a:t>Word Embeddings (e.g., Word2Vec, </a:t>
            </a:r>
            <a:r>
              <a:rPr lang="en-US" sz="1200" kern="0" spc="-80" dirty="0" err="1">
                <a:solidFill>
                  <a:schemeClr val="accent2"/>
                </a:solidFill>
              </a:rPr>
              <a:t>GloVe</a:t>
            </a:r>
            <a:r>
              <a:rPr lang="en-US" sz="1200" kern="0" spc="-80" dirty="0">
                <a:solidFill>
                  <a:schemeClr val="accent2"/>
                </a:solidFill>
              </a:rPr>
              <a:t>, </a:t>
            </a:r>
            <a:r>
              <a:rPr lang="en-US" sz="1200" kern="0" spc="-80" dirty="0" err="1">
                <a:solidFill>
                  <a:schemeClr val="accent2"/>
                </a:solidFill>
              </a:rPr>
              <a:t>FastText</a:t>
            </a:r>
            <a:r>
              <a:rPr lang="en-US" sz="1200" kern="0" spc="-80" dirty="0">
                <a:solidFill>
                  <a:schemeClr val="accent2"/>
                </a:solidFill>
              </a:rPr>
              <a:t>):</a:t>
            </a:r>
            <a:br>
              <a:rPr lang="en-US" sz="1200" kern="0" spc="-80" dirty="0">
                <a:solidFill>
                  <a:schemeClr val="accent6"/>
                </a:solidFill>
              </a:rPr>
            </a:br>
            <a:r>
              <a:rPr lang="en-US" sz="1200" kern="0" spc="-80" dirty="0">
                <a:solidFill>
                  <a:schemeClr val="accent6"/>
                </a:solidFill>
              </a:rPr>
              <a:t>These techniques learn vector representations for individual words based on their co-occurrence patterns in a large text corpus.</a:t>
            </a:r>
            <a:br>
              <a:rPr lang="en-US" sz="1200" kern="0" spc="-80" dirty="0">
                <a:solidFill>
                  <a:schemeClr val="accent6"/>
                </a:solidFill>
              </a:rPr>
            </a:br>
            <a:r>
              <a:rPr lang="en-US" sz="1200" kern="0" spc="-80" dirty="0">
                <a:solidFill>
                  <a:schemeClr val="accent6"/>
                </a:solidFill>
              </a:rPr>
              <a:t>Word2Vec: Uses neural networks (CBOW or Skip-gram) to predict words based on context or context based on words.</a:t>
            </a:r>
            <a:br>
              <a:rPr lang="en-US" sz="1200" kern="0" spc="-80" dirty="0">
                <a:solidFill>
                  <a:schemeClr val="accent6"/>
                </a:solidFill>
              </a:rPr>
            </a:br>
            <a:r>
              <a:rPr lang="en-US" sz="1200" kern="0" spc="-80" dirty="0" err="1">
                <a:solidFill>
                  <a:schemeClr val="accent6"/>
                </a:solidFill>
              </a:rPr>
              <a:t>GloVe</a:t>
            </a:r>
            <a:r>
              <a:rPr lang="en-US" sz="1200" kern="0" spc="-80" dirty="0">
                <a:solidFill>
                  <a:schemeClr val="accent6"/>
                </a:solidFill>
              </a:rPr>
              <a:t> (Global Vectors for Word Representation): Leverages global co-occurrence statistics to create word vectors.</a:t>
            </a:r>
            <a:br>
              <a:rPr lang="en-US" sz="1200" kern="0" spc="-80" dirty="0">
                <a:solidFill>
                  <a:schemeClr val="accent6"/>
                </a:solidFill>
              </a:rPr>
            </a:br>
            <a:r>
              <a:rPr lang="en-US" sz="1200" kern="0" spc="-80" dirty="0" err="1">
                <a:solidFill>
                  <a:schemeClr val="accent6"/>
                </a:solidFill>
              </a:rPr>
              <a:t>FastText</a:t>
            </a:r>
            <a:r>
              <a:rPr lang="en-US" sz="1200" kern="0" spc="-80" dirty="0">
                <a:solidFill>
                  <a:schemeClr val="accent6"/>
                </a:solidFill>
              </a:rPr>
              <a:t>: Extends Word2Vec by considering character n-grams, allowing it to handle out-of-vocabulary words and morphological variations.</a:t>
            </a:r>
            <a:br>
              <a:rPr lang="en-US" sz="1200" kern="0" spc="-80" dirty="0">
                <a:solidFill>
                  <a:schemeClr val="accent6"/>
                </a:solidFill>
              </a:rPr>
            </a:br>
            <a:r>
              <a:rPr lang="en-US" sz="1200" kern="0" spc="-80" dirty="0">
                <a:solidFill>
                  <a:schemeClr val="accent2"/>
                </a:solidFill>
              </a:rPr>
              <a:t>Contextual Embeddings (e.g., BERT, GPT, Transformer-based models):</a:t>
            </a:r>
            <a:br>
              <a:rPr lang="en-US" sz="1200" kern="0" spc="-80" dirty="0">
                <a:solidFill>
                  <a:schemeClr val="accent6"/>
                </a:solidFill>
              </a:rPr>
            </a:br>
            <a:r>
              <a:rPr lang="en-US" sz="1200" kern="0" spc="-80" dirty="0">
                <a:solidFill>
                  <a:schemeClr val="accent6"/>
                </a:solidFill>
              </a:rPr>
              <a:t>These models generate embeddings that capture the meaning of a word in its specific context within a sentence or document. They use self-attention mechanisms to understand relationships between words.</a:t>
            </a:r>
            <a:br>
              <a:rPr lang="en-US" sz="1200" kern="0" spc="-80" dirty="0">
                <a:solidFill>
                  <a:schemeClr val="accent6"/>
                </a:solidFill>
              </a:rPr>
            </a:br>
            <a:r>
              <a:rPr lang="en-US" sz="1200" kern="0" spc="-80" dirty="0">
                <a:solidFill>
                  <a:schemeClr val="accent2"/>
                </a:solidFill>
              </a:rPr>
              <a:t>BERT (Bidirectional Encoder Representations from Transformers): </a:t>
            </a:r>
            <a:r>
              <a:rPr lang="en-US" sz="1200" kern="0" spc="-80" dirty="0">
                <a:solidFill>
                  <a:schemeClr val="accent6"/>
                </a:solidFill>
              </a:rPr>
              <a:t>A pre-trained transformer model that considers both left and right context for generating word embeddings.</a:t>
            </a:r>
            <a:br>
              <a:rPr lang="en-US" sz="1200" kern="0" spc="-80" dirty="0">
                <a:solidFill>
                  <a:schemeClr val="accent6"/>
                </a:solidFill>
              </a:rPr>
            </a:br>
            <a:r>
              <a:rPr lang="en-US" sz="1200" kern="0" spc="-80" dirty="0">
                <a:solidFill>
                  <a:schemeClr val="accent2"/>
                </a:solidFill>
              </a:rPr>
              <a:t>Sentence Transformers: </a:t>
            </a:r>
            <a:r>
              <a:rPr lang="en-US" sz="1200" kern="0" spc="-80" dirty="0">
                <a:solidFill>
                  <a:schemeClr val="accent6"/>
                </a:solidFill>
              </a:rPr>
              <a:t>Fine-tuned BERT or other transformer models specifically designed to generate semantically meaningful sentence embeddings.</a:t>
            </a:r>
            <a:br>
              <a:rPr lang="en-US" sz="1200" kern="0" spc="-80" dirty="0">
                <a:solidFill>
                  <a:schemeClr val="accent6"/>
                </a:solidFill>
              </a:rPr>
            </a:br>
            <a:r>
              <a:rPr lang="en-US" sz="1200" kern="0" spc="-80" dirty="0">
                <a:solidFill>
                  <a:schemeClr val="accent2"/>
                </a:solidFill>
              </a:rPr>
              <a:t>For Image Data:</a:t>
            </a:r>
            <a:br>
              <a:rPr lang="en-US" sz="1200" kern="0" spc="-80" dirty="0">
                <a:solidFill>
                  <a:schemeClr val="accent6"/>
                </a:solidFill>
              </a:rPr>
            </a:br>
            <a:r>
              <a:rPr lang="en-US" sz="1200" kern="0" spc="-80" dirty="0">
                <a:solidFill>
                  <a:schemeClr val="accent2"/>
                </a:solidFill>
              </a:rPr>
              <a:t>Convolutional Neural Networks (CNNs):</a:t>
            </a:r>
            <a:br>
              <a:rPr lang="en-US" sz="1200" kern="0" spc="-80" dirty="0">
                <a:solidFill>
                  <a:schemeClr val="accent6"/>
                </a:solidFill>
              </a:rPr>
            </a:br>
            <a:r>
              <a:rPr lang="en-US" sz="1200" kern="0" spc="-80" dirty="0">
                <a:solidFill>
                  <a:schemeClr val="accent6"/>
                </a:solidFill>
              </a:rPr>
              <a:t>Pre-trained CNNs like </a:t>
            </a:r>
            <a:r>
              <a:rPr lang="en-US" sz="1200" kern="0" spc="-80" dirty="0" err="1">
                <a:solidFill>
                  <a:schemeClr val="accent6"/>
                </a:solidFill>
              </a:rPr>
              <a:t>ResNet</a:t>
            </a:r>
            <a:r>
              <a:rPr lang="en-US" sz="1200" kern="0" spc="-80" dirty="0">
                <a:solidFill>
                  <a:schemeClr val="accent6"/>
                </a:solidFill>
              </a:rPr>
              <a:t>, VGG, or Inception can extract features from images, and these features can serve as image embeddings. The output of a specific layer (e.g., the last pooling layer before the classification head) can be used as the embedding vector.</a:t>
            </a:r>
            <a:br>
              <a:rPr lang="en-US" sz="1200" kern="0" spc="-80" dirty="0">
                <a:solidFill>
                  <a:schemeClr val="accent6"/>
                </a:solidFill>
              </a:rPr>
            </a:br>
            <a:r>
              <a:rPr lang="en-US" sz="1200" kern="0" spc="-80" dirty="0">
                <a:solidFill>
                  <a:schemeClr val="accent2"/>
                </a:solidFill>
              </a:rPr>
              <a:t>Vision Transformers (</a:t>
            </a:r>
            <a:r>
              <a:rPr lang="en-US" sz="1200" kern="0" spc="-80" dirty="0" err="1">
                <a:solidFill>
                  <a:schemeClr val="accent2"/>
                </a:solidFill>
              </a:rPr>
              <a:t>ViTs</a:t>
            </a:r>
            <a:r>
              <a:rPr lang="en-US" sz="1200" kern="0" spc="-80" dirty="0">
                <a:solidFill>
                  <a:schemeClr val="accent2"/>
                </a:solidFill>
              </a:rPr>
              <a:t>):</a:t>
            </a:r>
            <a:br>
              <a:rPr lang="en-US" sz="1200" kern="0" spc="-80" dirty="0">
                <a:solidFill>
                  <a:schemeClr val="accent6"/>
                </a:solidFill>
              </a:rPr>
            </a:br>
            <a:r>
              <a:rPr lang="en-US" sz="1200" kern="0" spc="-80" dirty="0">
                <a:solidFill>
                  <a:schemeClr val="accent6"/>
                </a:solidFill>
              </a:rPr>
              <a:t>These models adapt the transformer architecture for image processing, treating image patches as sequences and learning contextual embeddings for them.</a:t>
            </a:r>
            <a:br>
              <a:rPr lang="en-US" sz="1200" kern="0" spc="-80" dirty="0">
                <a:solidFill>
                  <a:schemeClr val="accent6"/>
                </a:solidFill>
              </a:rPr>
            </a:br>
            <a:br>
              <a:rPr lang="en-US" sz="1130" kern="0" spc="-80" dirty="0">
                <a:solidFill>
                  <a:schemeClr val="accent6"/>
                </a:solidFill>
              </a:rPr>
            </a:br>
            <a:endParaRPr lang="en-US" sz="1130" kern="0" spc="-80" dirty="0">
              <a:solidFill>
                <a:schemeClr val="accent6"/>
              </a:solidFill>
            </a:endParaRPr>
          </a:p>
        </p:txBody>
      </p:sp>
    </p:spTree>
    <p:extLst>
      <p:ext uri="{BB962C8B-B14F-4D97-AF65-F5344CB8AC3E}">
        <p14:creationId xmlns:p14="http://schemas.microsoft.com/office/powerpoint/2010/main" val="360996443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F63A5-20C0-BF9C-8780-8D47E4F32E0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89155A6-7266-130B-B544-49365A117D4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B2B3E3B-E113-A44E-9C43-1908E9ABA7F0}"/>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C4460C3-CFFC-CB97-BE87-12AD3AFF4F3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A478CC4-81AE-6FEA-D716-6DAB5C7CFC3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6B62B35-115B-EA7B-5395-D994F6F1B46A}"/>
              </a:ext>
            </a:extLst>
          </p:cNvPr>
          <p:cNvSpPr txBox="1">
            <a:spLocks/>
          </p:cNvSpPr>
          <p:nvPr/>
        </p:nvSpPr>
        <p:spPr>
          <a:xfrm>
            <a:off x="41725" y="1140245"/>
            <a:ext cx="8624937" cy="401186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220" dirty="0">
              <a:solidFill>
                <a:schemeClr val="accent2"/>
              </a:solidFill>
            </a:endParaRPr>
          </a:p>
          <a:p>
            <a:endParaRPr lang="en-US" sz="1130" kern="0" spc="-80" dirty="0">
              <a:solidFill>
                <a:schemeClr val="accent6"/>
              </a:solidFill>
            </a:endParaRPr>
          </a:p>
          <a:p>
            <a:r>
              <a:rPr lang="en-US" sz="1130" kern="0" spc="-80" dirty="0">
                <a:solidFill>
                  <a:schemeClr val="accent2"/>
                </a:solidFill>
              </a:rPr>
              <a:t>For Other Data Types (Audio, Tabular Data, etc.):</a:t>
            </a:r>
          </a:p>
          <a:p>
            <a:r>
              <a:rPr lang="en-US" sz="1130" kern="0" spc="-80" dirty="0">
                <a:solidFill>
                  <a:schemeClr val="accent2"/>
                </a:solidFill>
              </a:rPr>
              <a:t>Audio Embeddings:</a:t>
            </a:r>
            <a:br>
              <a:rPr lang="en-US" sz="1130" kern="0" spc="-80" dirty="0">
                <a:solidFill>
                  <a:schemeClr val="accent6"/>
                </a:solidFill>
              </a:rPr>
            </a:br>
            <a:r>
              <a:rPr lang="en-US" sz="1130" kern="0" spc="-80" dirty="0">
                <a:solidFill>
                  <a:schemeClr val="accent6"/>
                </a:solidFill>
              </a:rPr>
              <a:t>Techniques like Mel-frequency cepstral coefficients (MFCCs) or deep learning models trained on audio data can generate embeddings for speech or other audio signals.</a:t>
            </a:r>
            <a:br>
              <a:rPr lang="en-US" sz="1130" kern="0" spc="-80" dirty="0">
                <a:solidFill>
                  <a:schemeClr val="accent6"/>
                </a:solidFill>
              </a:rPr>
            </a:br>
            <a:r>
              <a:rPr lang="en-US" sz="1130" kern="0" spc="-80" dirty="0">
                <a:solidFill>
                  <a:schemeClr val="accent2"/>
                </a:solidFill>
              </a:rPr>
              <a:t>Tabular Data Embeddings:</a:t>
            </a:r>
            <a:br>
              <a:rPr lang="en-US" sz="1130" kern="0" spc="-80" dirty="0">
                <a:solidFill>
                  <a:schemeClr val="accent6"/>
                </a:solidFill>
              </a:rPr>
            </a:br>
            <a:r>
              <a:rPr lang="en-US" sz="1130" kern="0" spc="-80" dirty="0">
                <a:solidFill>
                  <a:schemeClr val="accent6"/>
                </a:solidFill>
              </a:rPr>
              <a:t>For categorical features, one-hot encoding or learned embeddings can be used. For numerical features, simple scaling or more complex autoencoder-based approaches can create embeddings.</a:t>
            </a:r>
            <a:br>
              <a:rPr lang="en-US" sz="1130" kern="0" spc="-80" dirty="0">
                <a:solidFill>
                  <a:schemeClr val="accent6"/>
                </a:solidFill>
              </a:rPr>
            </a:br>
            <a:r>
              <a:rPr lang="en-US" sz="1130" kern="0" spc="-80" dirty="0">
                <a:solidFill>
                  <a:schemeClr val="accent2"/>
                </a:solidFill>
              </a:rPr>
              <a:t>Graph Embeddings:</a:t>
            </a:r>
            <a:br>
              <a:rPr lang="en-US" sz="1130" kern="0" spc="-80" dirty="0">
                <a:solidFill>
                  <a:schemeClr val="accent6"/>
                </a:solidFill>
              </a:rPr>
            </a:br>
            <a:r>
              <a:rPr lang="en-US" sz="1130" kern="0" spc="-80" dirty="0">
                <a:solidFill>
                  <a:schemeClr val="accent6"/>
                </a:solidFill>
              </a:rPr>
              <a:t>Techniques like Node2Vec or Graph Neural Networks (GNNs) can generate embeddings for nodes or edges in a graph structure.</a:t>
            </a:r>
            <a:br>
              <a:rPr lang="en-US" sz="1130" kern="0" spc="-80" dirty="0">
                <a:solidFill>
                  <a:schemeClr val="accent6"/>
                </a:solidFill>
              </a:rPr>
            </a:br>
            <a:r>
              <a:rPr lang="en-US" sz="1130" kern="0" spc="-80" dirty="0">
                <a:solidFill>
                  <a:schemeClr val="accent2"/>
                </a:solidFill>
              </a:rPr>
              <a:t>General Steps for Generating Embeddings:</a:t>
            </a:r>
            <a:br>
              <a:rPr lang="en-US" sz="1130" kern="0" spc="-80" dirty="0">
                <a:solidFill>
                  <a:schemeClr val="accent6"/>
                </a:solidFill>
              </a:rPr>
            </a:br>
            <a:r>
              <a:rPr lang="en-US" sz="1130" kern="0" spc="-80" dirty="0">
                <a:solidFill>
                  <a:schemeClr val="accent2"/>
                </a:solidFill>
              </a:rPr>
              <a:t>Data Preprocessing:</a:t>
            </a:r>
            <a:br>
              <a:rPr lang="en-US" sz="1130" kern="0" spc="-80" dirty="0">
                <a:solidFill>
                  <a:schemeClr val="accent6"/>
                </a:solidFill>
              </a:rPr>
            </a:br>
            <a:r>
              <a:rPr lang="en-US" sz="1130" kern="0" spc="-80" dirty="0">
                <a:solidFill>
                  <a:schemeClr val="accent6"/>
                </a:solidFill>
              </a:rPr>
              <a:t>Clean and prepare the raw data according to its type (e.g., tokenization for text, resizing for images).</a:t>
            </a:r>
            <a:br>
              <a:rPr lang="en-US" sz="1130" kern="0" spc="-80" dirty="0">
                <a:solidFill>
                  <a:schemeClr val="accent6"/>
                </a:solidFill>
              </a:rPr>
            </a:br>
            <a:r>
              <a:rPr lang="en-US" sz="1130" kern="0" spc="-80" dirty="0">
                <a:solidFill>
                  <a:schemeClr val="accent2"/>
                </a:solidFill>
              </a:rPr>
              <a:t>Model Selection:</a:t>
            </a:r>
            <a:br>
              <a:rPr lang="en-US" sz="1130" kern="0" spc="-80" dirty="0">
                <a:solidFill>
                  <a:schemeClr val="accent6"/>
                </a:solidFill>
              </a:rPr>
            </a:br>
            <a:r>
              <a:rPr lang="en-US" sz="1130" kern="0" spc="-80" dirty="0">
                <a:solidFill>
                  <a:schemeClr val="accent6"/>
                </a:solidFill>
              </a:rPr>
              <a:t>Choose an appropriate embedding model based on the data type and desired properties of the embeddings (e.g., capturing semantic similarity, context-awareness).</a:t>
            </a:r>
            <a:br>
              <a:rPr lang="en-US" sz="1130" kern="0" spc="-80" dirty="0">
                <a:solidFill>
                  <a:schemeClr val="accent6"/>
                </a:solidFill>
              </a:rPr>
            </a:br>
            <a:r>
              <a:rPr lang="en-US" sz="1130" kern="0" spc="-80" dirty="0">
                <a:solidFill>
                  <a:schemeClr val="accent2"/>
                </a:solidFill>
              </a:rPr>
              <a:t>Embedding Generation:</a:t>
            </a:r>
            <a:br>
              <a:rPr lang="en-US" sz="1130" kern="0" spc="-80" dirty="0">
                <a:solidFill>
                  <a:schemeClr val="accent6"/>
                </a:solidFill>
              </a:rPr>
            </a:br>
            <a:r>
              <a:rPr lang="en-US" sz="1130" kern="0" spc="-80" dirty="0">
                <a:solidFill>
                  <a:schemeClr val="accent6"/>
                </a:solidFill>
              </a:rPr>
              <a:t>Apply the selected model to the preprocessed data to generate the numerical vector representations (embeddings).</a:t>
            </a:r>
          </a:p>
          <a:p>
            <a:pPr marL="12700" marR="5080"/>
            <a:r>
              <a:rPr lang="en-US" sz="1200" kern="0" spc="-80" dirty="0">
                <a:solidFill>
                  <a:schemeClr val="accent2"/>
                </a:solidFill>
              </a:rPr>
              <a:t>Benefits of using Embeddings – </a:t>
            </a:r>
          </a:p>
          <a:p>
            <a:pPr marL="12700" marR="5080"/>
            <a:r>
              <a:rPr lang="en-US" sz="1200" kern="0" spc="-80" dirty="0">
                <a:solidFill>
                  <a:schemeClr val="accent6"/>
                </a:solidFill>
              </a:rPr>
              <a:t>a) The matrices formed are low dimensional dense matrices &amp; so occupies less space. </a:t>
            </a:r>
          </a:p>
          <a:p>
            <a:pPr marL="12700" marR="5080"/>
            <a:r>
              <a:rPr lang="en-US" sz="1200" kern="0" spc="-80" dirty="0">
                <a:solidFill>
                  <a:schemeClr val="accent6"/>
                </a:solidFill>
              </a:rPr>
              <a:t>b) The matrices carries semantics &amp; so the words like invest, bank &amp; finance are nearby in the vector space.</a:t>
            </a:r>
          </a:p>
          <a:p>
            <a:endParaRPr lang="en-US" sz="1130" kern="0" spc="-80" dirty="0">
              <a:solidFill>
                <a:schemeClr val="accent6"/>
              </a:solidFill>
            </a:endParaRPr>
          </a:p>
        </p:txBody>
      </p:sp>
      <p:sp>
        <p:nvSpPr>
          <p:cNvPr id="4" name="object 2">
            <a:extLst>
              <a:ext uri="{FF2B5EF4-FFF2-40B4-BE49-F238E27FC236}">
                <a16:creationId xmlns:a16="http://schemas.microsoft.com/office/drawing/2014/main" id="{55C1D600-FB9F-A7FC-1309-2CAEB047BEAD}"/>
              </a:ext>
            </a:extLst>
          </p:cNvPr>
          <p:cNvSpPr txBox="1">
            <a:spLocks/>
          </p:cNvSpPr>
          <p:nvPr/>
        </p:nvSpPr>
        <p:spPr>
          <a:xfrm>
            <a:off x="41725" y="5228019"/>
            <a:ext cx="8624937" cy="7155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220" dirty="0">
                <a:solidFill>
                  <a:schemeClr val="accent2"/>
                </a:solidFill>
              </a:rPr>
              <a:t>For Further Exploration</a:t>
            </a:r>
          </a:p>
          <a:p>
            <a:pPr marL="12700" marR="5080"/>
            <a:r>
              <a:rPr lang="en-IN" sz="1050" dirty="0">
                <a:hlinkClick r:id="rId7"/>
              </a:rPr>
              <a:t>Word Embeddings and Word2Vec Clearly Explained</a:t>
            </a:r>
            <a:endParaRPr lang="en-US" sz="1050" kern="0" spc="-220" dirty="0">
              <a:solidFill>
                <a:schemeClr val="accent2"/>
              </a:solidFill>
            </a:endParaRPr>
          </a:p>
          <a:p>
            <a:pPr marL="12700" marR="5080"/>
            <a:r>
              <a:rPr lang="en-IN" sz="1050" dirty="0">
                <a:hlinkClick r:id="rId8"/>
              </a:rPr>
              <a:t>Multi Vector Embedding</a:t>
            </a:r>
            <a:r>
              <a:rPr lang="en-IN" sz="1050" dirty="0"/>
              <a:t> </a:t>
            </a:r>
          </a:p>
          <a:p>
            <a:pPr marL="12700" marR="5080"/>
            <a:r>
              <a:rPr lang="en-US" sz="1050" dirty="0">
                <a:hlinkClick r:id="rId9"/>
              </a:rPr>
              <a:t>“Periodic table of machine learning” could fuel AI discovery</a:t>
            </a:r>
            <a:endParaRPr lang="en-US" sz="1050" kern="0" spc="-220" dirty="0">
              <a:solidFill>
                <a:schemeClr val="accent6"/>
              </a:solidFill>
            </a:endParaRPr>
          </a:p>
        </p:txBody>
      </p:sp>
    </p:spTree>
    <p:extLst>
      <p:ext uri="{BB962C8B-B14F-4D97-AF65-F5344CB8AC3E}">
        <p14:creationId xmlns:p14="http://schemas.microsoft.com/office/powerpoint/2010/main" val="44607935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9225-3838-148C-A232-2AC6AED9C8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3FBC86-6808-9DA4-1EBE-65CF90CFAC7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66695E5-5353-5AF5-3FFD-E3E83A438F69}"/>
              </a:ext>
            </a:extLst>
          </p:cNvPr>
          <p:cNvSpPr/>
          <p:nvPr/>
        </p:nvSpPr>
        <p:spPr>
          <a:xfrm>
            <a:off x="1661158" y="97096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D5F16E3-C6FA-F3EB-83C8-7BE5D37B6F72}"/>
              </a:ext>
            </a:extLst>
          </p:cNvPr>
          <p:cNvSpPr/>
          <p:nvPr/>
        </p:nvSpPr>
        <p:spPr>
          <a:xfrm>
            <a:off x="1661158" y="8122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AB940C6-2F14-98A2-4D00-2DC895E00DF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6427BBFE-46A2-54BF-FB1D-F338685E785D}"/>
              </a:ext>
            </a:extLst>
          </p:cNvPr>
          <p:cNvSpPr txBox="1">
            <a:spLocks/>
          </p:cNvSpPr>
          <p:nvPr/>
        </p:nvSpPr>
        <p:spPr>
          <a:xfrm>
            <a:off x="76201" y="812266"/>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220" dirty="0">
              <a:solidFill>
                <a:schemeClr val="accent2"/>
              </a:solidFill>
            </a:endParaRPr>
          </a:p>
          <a:p>
            <a:endParaRPr lang="en-US" sz="1000" kern="0" spc="-80" dirty="0">
              <a:solidFill>
                <a:schemeClr val="accent6"/>
              </a:solidFill>
            </a:endParaRPr>
          </a:p>
          <a:p>
            <a:r>
              <a:rPr lang="en-US" sz="1040" kern="0" spc="-80" dirty="0">
                <a:solidFill>
                  <a:schemeClr val="accent6"/>
                </a:solidFill>
              </a:rPr>
              <a:t>Semantic composition of embeddings refers to the methods and models used to combine individual word or phrase embeddings into a single embedding that represents the combined meaning of the entire phrase or sentence, thereby capturing deeper semantic relationships and context. This process involves creating new embeddings by applying mathematical operations, such as averaging or more complex functions learned through techniques like </a:t>
            </a:r>
            <a:r>
              <a:rPr lang="en-US" sz="1040" kern="0" spc="-80" dirty="0">
                <a:solidFill>
                  <a:schemeClr val="accent6"/>
                </a:solidFill>
                <a:hlinkClick r:id="rId7">
                  <a:extLst>
                    <a:ext uri="{A12FA001-AC4F-418D-AE19-62706E023703}">
                      <ahyp:hlinkClr xmlns:ahyp="http://schemas.microsoft.com/office/drawing/2018/hyperlinkcolor" val="tx"/>
                    </a:ext>
                  </a:extLst>
                </a:hlinkClick>
              </a:rPr>
              <a:t>genetic programming</a:t>
            </a:r>
            <a:r>
              <a:rPr lang="en-US" sz="1040" kern="0" spc="-80" dirty="0">
                <a:solidFill>
                  <a:schemeClr val="accent6"/>
                </a:solidFill>
              </a:rPr>
              <a:t>, to the constituent word embeddings. </a:t>
            </a:r>
          </a:p>
          <a:p>
            <a:r>
              <a:rPr lang="en-US" sz="1040" kern="0" spc="-80" dirty="0">
                <a:solidFill>
                  <a:schemeClr val="accent2"/>
                </a:solidFill>
              </a:rPr>
              <a:t>Key Concepts</a:t>
            </a:r>
          </a:p>
          <a:p>
            <a:r>
              <a:rPr lang="en-US" sz="1040" kern="0" spc="-80" dirty="0">
                <a:solidFill>
                  <a:schemeClr val="accent2"/>
                </a:solidFill>
              </a:rPr>
              <a:t>Word Embeddings:</a:t>
            </a:r>
          </a:p>
          <a:p>
            <a:r>
              <a:rPr lang="en-US" sz="1040" kern="0" spc="-80" dirty="0">
                <a:solidFill>
                  <a:schemeClr val="accent6"/>
                </a:solidFill>
              </a:rPr>
              <a:t>These are vector representations of words in a high-dimensional space, where words with similar meanings are positioned closer to each other. </a:t>
            </a:r>
          </a:p>
          <a:p>
            <a:r>
              <a:rPr lang="en-US" sz="1040" kern="0" spc="-80" dirty="0">
                <a:solidFill>
                  <a:schemeClr val="accent6"/>
                </a:solidFill>
              </a:rPr>
              <a:t>Semantic Relationships:</a:t>
            </a:r>
          </a:p>
          <a:p>
            <a:r>
              <a:rPr lang="en-US" sz="1040" kern="0" spc="-80" dirty="0">
                <a:solidFill>
                  <a:schemeClr val="accent6"/>
                </a:solidFill>
              </a:rPr>
              <a:t>Embeddings capture semantic similarities (e.g., "king" and "queen") and other relationships (e.g., "red" ball vs. "chocolate" ball) based on their usage in text. </a:t>
            </a:r>
          </a:p>
          <a:p>
            <a:r>
              <a:rPr lang="en-US" sz="1040" kern="0" spc="-80" dirty="0">
                <a:solidFill>
                  <a:schemeClr val="accent2"/>
                </a:solidFill>
              </a:rPr>
              <a:t>Compositionality:</a:t>
            </a:r>
          </a:p>
          <a:p>
            <a:r>
              <a:rPr lang="en-US" sz="1040" kern="0" spc="-80" dirty="0">
                <a:solidFill>
                  <a:schemeClr val="accent6"/>
                </a:solidFill>
              </a:rPr>
              <a:t>The goal is to understand how the meanings of individual words combine to form the meaning of the whole, a concept known as compositionality. </a:t>
            </a:r>
          </a:p>
          <a:p>
            <a:r>
              <a:rPr lang="en-US" sz="1040" kern="0" spc="-80" dirty="0">
                <a:solidFill>
                  <a:schemeClr val="accent2"/>
                </a:solidFill>
              </a:rPr>
              <a:t>Why Semantic Composition is Important</a:t>
            </a:r>
          </a:p>
          <a:p>
            <a:r>
              <a:rPr lang="en-US" sz="1040" kern="0" spc="-80" dirty="0">
                <a:solidFill>
                  <a:schemeClr val="accent2"/>
                </a:solidFill>
              </a:rPr>
              <a:t>Understanding Complex Meanings:</a:t>
            </a:r>
          </a:p>
          <a:p>
            <a:r>
              <a:rPr lang="en-US" sz="1040" kern="0" spc="-80" dirty="0">
                <a:solidFill>
                  <a:schemeClr val="accent6"/>
                </a:solidFill>
              </a:rPr>
              <a:t>By combining word embeddings, models can create a single vector that captures the meaning of a sentence or phrase, which is crucial for tasks like question answering, text summarization, and machine translation. </a:t>
            </a:r>
          </a:p>
          <a:p>
            <a:r>
              <a:rPr lang="en-US" sz="1040" kern="0" spc="-80" dirty="0">
                <a:solidFill>
                  <a:schemeClr val="accent2"/>
                </a:solidFill>
              </a:rPr>
              <a:t>Handling Novel Combinations:</a:t>
            </a:r>
          </a:p>
          <a:p>
            <a:r>
              <a:rPr lang="en-US" sz="1040" kern="0" spc="-80" dirty="0">
                <a:solidFill>
                  <a:schemeClr val="accent6"/>
                </a:solidFill>
              </a:rPr>
              <a:t>Humans often create new word combinations, such as "deepfake," and compositionality models aim to learn how to represent these new meanings effectively. </a:t>
            </a:r>
          </a:p>
          <a:p>
            <a:r>
              <a:rPr lang="en-US" sz="1040" kern="0" spc="-80" dirty="0">
                <a:solidFill>
                  <a:schemeClr val="accent2"/>
                </a:solidFill>
              </a:rPr>
              <a:t>Bridging Word-Level and Sentence-Level Semantics:</a:t>
            </a:r>
          </a:p>
          <a:p>
            <a:r>
              <a:rPr lang="en-US" sz="1040" kern="0" spc="-80" dirty="0">
                <a:solidFill>
                  <a:schemeClr val="accent6"/>
                </a:solidFill>
              </a:rPr>
              <a:t>It extends the semantic understanding from individual words to larger linguistic units, enabling more nuanced language interpretation. </a:t>
            </a:r>
          </a:p>
          <a:p>
            <a:r>
              <a:rPr lang="en-US" sz="1040" kern="0" spc="-80" dirty="0">
                <a:solidFill>
                  <a:schemeClr val="accent6"/>
                </a:solidFill>
              </a:rPr>
              <a:t>Methods for Composition</a:t>
            </a:r>
          </a:p>
          <a:p>
            <a:r>
              <a:rPr lang="en-US" sz="1040" kern="0" spc="-80" dirty="0">
                <a:solidFill>
                  <a:schemeClr val="accent2"/>
                </a:solidFill>
              </a:rPr>
              <a:t>Simple Aggregation:</a:t>
            </a:r>
          </a:p>
          <a:p>
            <a:r>
              <a:rPr lang="en-US" sz="1040" kern="0" spc="-80" dirty="0">
                <a:solidFill>
                  <a:schemeClr val="accent6"/>
                </a:solidFill>
              </a:rPr>
              <a:t>A common approach is to average the embeddings of the words in a sentence to obtain a single vector representing the overall meaning. </a:t>
            </a:r>
          </a:p>
          <a:p>
            <a:r>
              <a:rPr lang="en-US" sz="1040" kern="0" spc="-80" dirty="0">
                <a:solidFill>
                  <a:schemeClr val="accent2"/>
                </a:solidFill>
              </a:rPr>
              <a:t>Learned Composition Models:</a:t>
            </a:r>
          </a:p>
          <a:p>
            <a:r>
              <a:rPr lang="en-US" sz="1040" kern="0" spc="-80" dirty="0">
                <a:solidFill>
                  <a:schemeClr val="accent6"/>
                </a:solidFill>
              </a:rPr>
              <a:t>More sophisticated methods involve learning functions to combine embeddings. </a:t>
            </a:r>
          </a:p>
          <a:p>
            <a:r>
              <a:rPr lang="en-US" sz="1040" kern="0" spc="-80" dirty="0">
                <a:solidFill>
                  <a:schemeClr val="accent2"/>
                </a:solidFill>
              </a:rPr>
              <a:t>Genetic Programming (GP):</a:t>
            </a:r>
          </a:p>
          <a:p>
            <a:r>
              <a:rPr lang="en-US" sz="1040" kern="0" spc="-80" dirty="0">
                <a:solidFill>
                  <a:schemeClr val="accent6"/>
                </a:solidFill>
              </a:rPr>
              <a:t>This technique can be used to automatically discover effective composition methods for word embeddings. </a:t>
            </a:r>
          </a:p>
          <a:p>
            <a:r>
              <a:rPr lang="en-US" sz="1040" kern="0" spc="-80" dirty="0">
                <a:solidFill>
                  <a:schemeClr val="accent2"/>
                </a:solidFill>
              </a:rPr>
              <a:t>Transformer Models:</a:t>
            </a:r>
          </a:p>
          <a:p>
            <a:r>
              <a:rPr lang="en-US" sz="1040" kern="0" spc="-80" dirty="0">
                <a:solidFill>
                  <a:schemeClr val="accent6"/>
                </a:solidFill>
              </a:rPr>
              <a:t>Architectures like BERT are also tested to see how well they represent compositions and generate embeddings for combined words. </a:t>
            </a:r>
          </a:p>
        </p:txBody>
      </p:sp>
    </p:spTree>
    <p:extLst>
      <p:ext uri="{BB962C8B-B14F-4D97-AF65-F5344CB8AC3E}">
        <p14:creationId xmlns:p14="http://schemas.microsoft.com/office/powerpoint/2010/main" val="30212416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6704D-57FA-2719-8C61-D0533CE85E3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772B9B6-2EF5-512A-B810-817C366CF20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0EBA8231-46C0-300D-71B0-7DC63F608398}"/>
              </a:ext>
            </a:extLst>
          </p:cNvPr>
          <p:cNvSpPr/>
          <p:nvPr/>
        </p:nvSpPr>
        <p:spPr>
          <a:xfrm>
            <a:off x="1660074" y="98578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023C428-7FCE-0A0F-C5DE-243D4847E270}"/>
              </a:ext>
            </a:extLst>
          </p:cNvPr>
          <p:cNvSpPr/>
          <p:nvPr/>
        </p:nvSpPr>
        <p:spPr>
          <a:xfrm>
            <a:off x="1660074" y="82356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952F475-2029-DD7E-9A24-F3BFC162523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A34C13-0468-E551-6586-3EE69528668B}"/>
              </a:ext>
            </a:extLst>
          </p:cNvPr>
          <p:cNvSpPr txBox="1">
            <a:spLocks/>
          </p:cNvSpPr>
          <p:nvPr/>
        </p:nvSpPr>
        <p:spPr>
          <a:xfrm>
            <a:off x="76201" y="788007"/>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200" kern="0" spc="-80" dirty="0">
                <a:solidFill>
                  <a:schemeClr val="accent6"/>
                </a:solidFill>
                <a:cs typeface="+mn-cs"/>
              </a:rPr>
              <a:t>In Enterprise search there are mainly 2 ways to search data – </a:t>
            </a:r>
          </a:p>
          <a:p>
            <a:pPr marL="12700" marR="5080"/>
            <a:r>
              <a:rPr lang="en-US" sz="1200" kern="0" spc="-80" dirty="0">
                <a:solidFill>
                  <a:schemeClr val="accent6"/>
                </a:solidFill>
                <a:cs typeface="+mn-cs"/>
              </a:rPr>
              <a:t>a)Using DB columns value wherein we search for some DB column values using </a:t>
            </a:r>
            <a:r>
              <a:rPr lang="en-US" sz="1200" kern="0" spc="-80" dirty="0" err="1">
                <a:solidFill>
                  <a:schemeClr val="accent6"/>
                </a:solidFill>
                <a:cs typeface="+mn-cs"/>
              </a:rPr>
              <a:t>Sql</a:t>
            </a:r>
            <a:r>
              <a:rPr lang="en-US" sz="1200" kern="0" spc="-80" dirty="0">
                <a:solidFill>
                  <a:schemeClr val="accent6"/>
                </a:solidFill>
                <a:cs typeface="+mn-cs"/>
              </a:rPr>
              <a:t> &amp; where clause with proper indexing applied to the columns mentioned in the where clause. </a:t>
            </a:r>
          </a:p>
          <a:p>
            <a:pPr marL="12700" marR="5080"/>
            <a:r>
              <a:rPr lang="en-US" sz="1200" kern="0" spc="-80" dirty="0">
                <a:solidFill>
                  <a:schemeClr val="accent6"/>
                </a:solidFill>
                <a:cs typeface="+mn-cs"/>
              </a:rPr>
              <a:t>b) Free Text search - say there is some text in some DB column “I invested in Microsoft stock” &amp; here there can be 2 requirements- </a:t>
            </a:r>
          </a:p>
          <a:p>
            <a:pPr marL="12700" marR="5080"/>
            <a:r>
              <a:rPr lang="en-US" sz="1200" kern="0" spc="-80" dirty="0" err="1">
                <a:solidFill>
                  <a:schemeClr val="accent6"/>
                </a:solidFill>
                <a:cs typeface="+mn-cs"/>
              </a:rPr>
              <a:t>i</a:t>
            </a:r>
            <a:r>
              <a:rPr lang="en-US" sz="1200" kern="0" spc="-80" dirty="0">
                <a:solidFill>
                  <a:schemeClr val="accent6"/>
                </a:solidFill>
                <a:cs typeface="+mn-cs"/>
              </a:rPr>
              <a:t>) return this column text if the user searches for “invest” or “invested”. That’s normal free text search done by tools like Apache </a:t>
            </a:r>
            <a:r>
              <a:rPr lang="en-US" sz="1200" kern="0" spc="-80" dirty="0" err="1">
                <a:solidFill>
                  <a:schemeClr val="accent6"/>
                </a:solidFill>
                <a:cs typeface="+mn-cs"/>
              </a:rPr>
              <a:t>Solr</a:t>
            </a:r>
            <a:r>
              <a:rPr lang="en-US" sz="1200" kern="0" spc="-80" dirty="0">
                <a:solidFill>
                  <a:schemeClr val="accent6"/>
                </a:solidFill>
                <a:cs typeface="+mn-cs"/>
              </a:rPr>
              <a:t>, </a:t>
            </a:r>
            <a:r>
              <a:rPr lang="en-US" sz="1200" kern="0" spc="-80" dirty="0" err="1">
                <a:solidFill>
                  <a:schemeClr val="accent6"/>
                </a:solidFill>
                <a:cs typeface="+mn-cs"/>
              </a:rPr>
              <a:t>ElasticSearch</a:t>
            </a:r>
            <a:r>
              <a:rPr lang="en-US" sz="1200" kern="0" spc="-80" dirty="0">
                <a:solidFill>
                  <a:schemeClr val="accent6"/>
                </a:solidFill>
                <a:cs typeface="+mn-cs"/>
              </a:rPr>
              <a:t> or OpenSearch(all these tools mostly uses the concept of inverted index). Most of these tools use (partial) exact match based search. </a:t>
            </a:r>
          </a:p>
          <a:p>
            <a:pPr marL="12700" marR="5080"/>
            <a:r>
              <a:rPr lang="en-US" sz="1200" kern="0" spc="-80" dirty="0">
                <a:solidFill>
                  <a:schemeClr val="accent6"/>
                </a:solidFill>
                <a:cs typeface="+mn-cs"/>
              </a:rPr>
              <a:t>ii) return this column text if the user searches bank or finance since these words are somewhat related to the word invest in the global text corpora. That’s Semantic Search &amp; for that we need Embeddings(for Semantic match). </a:t>
            </a:r>
          </a:p>
          <a:p>
            <a:pPr marL="12700" marR="5080"/>
            <a:r>
              <a:rPr lang="en-US" sz="1200" kern="0" spc="-80" dirty="0">
                <a:solidFill>
                  <a:schemeClr val="accent2"/>
                </a:solidFill>
                <a:cs typeface="+mn-cs"/>
              </a:rPr>
              <a:t>But why do we need Vector DBs?</a:t>
            </a:r>
            <a:r>
              <a:rPr lang="en-US" sz="1200" kern="0" spc="-80" dirty="0">
                <a:solidFill>
                  <a:schemeClr val="accent6"/>
                </a:solidFill>
                <a:cs typeface="+mn-cs"/>
              </a:rPr>
              <a:t> - that’s to store the vector space &amp; the associated embeddings in the most optimal way (for later usage as part of search query). So what’s the whole Embeddings &amp; Vector DBs based search process like – </a:t>
            </a:r>
          </a:p>
          <a:p>
            <a:pPr marL="12700" marR="5080"/>
            <a:r>
              <a:rPr lang="en-US" sz="1200" kern="0" spc="-80" dirty="0">
                <a:solidFill>
                  <a:schemeClr val="accent6"/>
                </a:solidFill>
                <a:cs typeface="+mn-cs"/>
              </a:rPr>
              <a:t>a) via some offline process convert the text corpora into word/sentence Embeddings &amp; document Embeddings &amp; store the vector space &amp; associated Embeddings in the Vector </a:t>
            </a:r>
            <a:r>
              <a:rPr lang="en-US" sz="1200" kern="0" spc="-80" dirty="0" err="1">
                <a:solidFill>
                  <a:schemeClr val="accent6"/>
                </a:solidFill>
                <a:cs typeface="+mn-cs"/>
              </a:rPr>
              <a:t>DBs.</a:t>
            </a:r>
            <a:r>
              <a:rPr lang="en-US" sz="1200" kern="0" spc="-80" dirty="0">
                <a:solidFill>
                  <a:schemeClr val="accent6"/>
                </a:solidFill>
                <a:cs typeface="+mn-cs"/>
              </a:rPr>
              <a:t> </a:t>
            </a:r>
          </a:p>
          <a:p>
            <a:pPr marL="12700" marR="5080"/>
            <a:r>
              <a:rPr lang="en-US" sz="1200" kern="0" spc="-80" dirty="0">
                <a:solidFill>
                  <a:schemeClr val="accent6"/>
                </a:solidFill>
                <a:cs typeface="+mn-cs"/>
              </a:rPr>
              <a:t>b) When the user searches for some word/sentence, convert it into word/sentence embedding &amp; then check in the documents embeddings, which word/sentence Embeddings are near-by, using vector distance formulas like Euclidean Distance or Cosine Distance or Manhattan Distance &amp; then return those documents as search results. </a:t>
            </a:r>
          </a:p>
          <a:p>
            <a:pPr marL="12700" marR="5080"/>
            <a:r>
              <a:rPr lang="en-US" sz="1200" kern="0" spc="-80" dirty="0">
                <a:solidFill>
                  <a:schemeClr val="accent6"/>
                </a:solidFill>
                <a:cs typeface="+mn-cs"/>
              </a:rPr>
              <a:t>Similar to free text search, Embeddings &amp; Vector DBs can be used for sections of image search or a whole image search or a video search or for searching all videos which contains some image or even multi-modal search &amp; many more similar search apps.</a:t>
            </a:r>
            <a:endParaRPr lang="en-US" sz="1400" kern="0" spc="-220" dirty="0">
              <a:solidFill>
                <a:schemeClr val="accent6"/>
              </a:solidFill>
            </a:endParaRPr>
          </a:p>
        </p:txBody>
      </p:sp>
      <p:sp>
        <p:nvSpPr>
          <p:cNvPr id="4" name="object 2">
            <a:extLst>
              <a:ext uri="{FF2B5EF4-FFF2-40B4-BE49-F238E27FC236}">
                <a16:creationId xmlns:a16="http://schemas.microsoft.com/office/drawing/2014/main" id="{3C65A648-F3BB-F8E2-DB90-44FAC48C2F56}"/>
              </a:ext>
            </a:extLst>
          </p:cNvPr>
          <p:cNvSpPr txBox="1">
            <a:spLocks/>
          </p:cNvSpPr>
          <p:nvPr/>
        </p:nvSpPr>
        <p:spPr>
          <a:xfrm>
            <a:off x="0" y="4766885"/>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220" dirty="0">
                <a:solidFill>
                  <a:schemeClr val="accent2"/>
                </a:solidFill>
              </a:rPr>
              <a:t>For Further Exploration</a:t>
            </a:r>
          </a:p>
          <a:p>
            <a:pPr marL="12700" marR="5080"/>
            <a:r>
              <a:rPr lang="en-IN" sz="1050" dirty="0">
                <a:hlinkClick r:id="rId7"/>
              </a:rPr>
              <a:t>Vector database development</a:t>
            </a:r>
            <a:endParaRPr lang="en-IN" sz="1050" dirty="0"/>
          </a:p>
          <a:p>
            <a:pPr marL="12700" marR="5080"/>
            <a:r>
              <a:rPr lang="en-IN" sz="1050" dirty="0">
                <a:hlinkClick r:id="rId8"/>
              </a:rPr>
              <a:t>Vector Database Engineering</a:t>
            </a:r>
            <a:endParaRPr lang="en-IN" sz="1050" dirty="0"/>
          </a:p>
          <a:p>
            <a:pPr marL="12700" marR="5080"/>
            <a:r>
              <a:rPr lang="en-US" sz="1050" dirty="0">
                <a:hlinkClick r:id="rId9"/>
              </a:rPr>
              <a:t>Vector-Search-for-Practitioners-with-Elastic</a:t>
            </a:r>
            <a:endParaRPr lang="en-US" sz="1050" dirty="0"/>
          </a:p>
          <a:p>
            <a:pPr marL="12700" marR="5080"/>
            <a:r>
              <a:rPr lang="en-US" sz="1050" dirty="0">
                <a:hlinkClick r:id="rId10"/>
              </a:rPr>
              <a:t>How to build a search engine with word embeddings</a:t>
            </a:r>
            <a:endParaRPr lang="en-US" sz="1050" dirty="0"/>
          </a:p>
          <a:p>
            <a:pPr marL="12700" marR="5080"/>
            <a:r>
              <a:rPr lang="en-IN" sz="1050" dirty="0">
                <a:hlinkClick r:id="rId11"/>
              </a:rPr>
              <a:t>Vector Graph Embeddings </a:t>
            </a:r>
            <a:endParaRPr lang="en-IN" sz="1050" dirty="0"/>
          </a:p>
          <a:p>
            <a:pPr marL="12700" marR="5080"/>
            <a:r>
              <a:rPr lang="en-US" sz="1050" dirty="0">
                <a:hlinkClick r:id="rId12"/>
              </a:rPr>
              <a:t>Awesome-Vector-Database</a:t>
            </a:r>
            <a:endParaRPr lang="en-US" sz="1050" dirty="0"/>
          </a:p>
          <a:p>
            <a:pPr marL="12700" marR="5080"/>
            <a:endParaRPr lang="en-US" sz="1050" dirty="0"/>
          </a:p>
          <a:p>
            <a:pPr marL="12700" marR="5080"/>
            <a:endParaRPr lang="en-US" sz="1050" kern="0" spc="-220" dirty="0">
              <a:solidFill>
                <a:schemeClr val="accent6"/>
              </a:solidFill>
            </a:endParaRPr>
          </a:p>
        </p:txBody>
      </p:sp>
    </p:spTree>
    <p:extLst>
      <p:ext uri="{BB962C8B-B14F-4D97-AF65-F5344CB8AC3E}">
        <p14:creationId xmlns:p14="http://schemas.microsoft.com/office/powerpoint/2010/main" val="277019982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16A3C-C4B4-22AD-A223-BC57AAC912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6BE2E9-0436-0C16-76BE-2145957CC7D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F5C1CB3-724C-D039-8B01-3CEC157CBFF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04EA84E-AA55-889C-6164-B92A502EF3A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D0A6830-A54F-6BEA-67E1-9859BB6E4B2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2D4EC05-3D69-4545-9134-276DD7CA8BDD}"/>
              </a:ext>
            </a:extLst>
          </p:cNvPr>
          <p:cNvSpPr txBox="1">
            <a:spLocks/>
          </p:cNvSpPr>
          <p:nvPr/>
        </p:nvSpPr>
        <p:spPr>
          <a:xfrm>
            <a:off x="76201" y="996482"/>
            <a:ext cx="8624937" cy="544456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400" kern="0" spc="-80" dirty="0">
                <a:solidFill>
                  <a:schemeClr val="accent6"/>
                </a:solidFill>
                <a:cs typeface="+mn-cs"/>
              </a:rPr>
              <a:t>For any Search Ranking problem it’s ideal to </a:t>
            </a:r>
            <a:r>
              <a:rPr lang="en-US" sz="1400" kern="0" spc="-80" dirty="0" err="1">
                <a:solidFill>
                  <a:schemeClr val="accent6"/>
                </a:solidFill>
                <a:cs typeface="+mn-cs"/>
              </a:rPr>
              <a:t>visualise</a:t>
            </a:r>
            <a:r>
              <a:rPr lang="en-US" sz="1400" kern="0" spc="-80" dirty="0">
                <a:solidFill>
                  <a:schemeClr val="accent6"/>
                </a:solidFill>
                <a:cs typeface="+mn-cs"/>
              </a:rPr>
              <a:t> the Search problem as a graph with nodes(e.g. containing the document embeddings) &amp; edges(e.g. for the relation between the document embeddings) so that we can calculate ranks associated with both nodes &amp; edges &amp; then applying some weight factor to these ranks, we can calculate the overall rank of the document. So in case of web pages(as document texts), we can convert all the word/sentence/document texts into corresponding Embeddings &amp; store them in Vector DBs &amp; when the user queries some text(word/sentence), convert that into corresponding Embeddings &amp; then the search results should be sorted based on a combination of weightage given to Nodes &amp; Edges Ranking</a:t>
            </a:r>
          </a:p>
          <a:p>
            <a:pPr marL="355600" marR="5080" indent="-342900">
              <a:buAutoNum type="alphaLcParenR"/>
            </a:pPr>
            <a:r>
              <a:rPr lang="en-US" sz="1400" kern="0" spc="-80" dirty="0">
                <a:solidFill>
                  <a:schemeClr val="accent2"/>
                </a:solidFill>
                <a:cs typeface="+mn-cs"/>
              </a:rPr>
              <a:t>Nodes Ranking </a:t>
            </a:r>
            <a:r>
              <a:rPr lang="en-US" sz="1400" kern="0" spc="-80" dirty="0">
                <a:solidFill>
                  <a:schemeClr val="accent6"/>
                </a:solidFill>
                <a:cs typeface="+mn-cs"/>
              </a:rPr>
              <a:t>- here ideally it should 1st show the result corresponding to [partial] exact match &amp; then other results based on sorted near-by distance. This is more of Content Relevance Ranking. </a:t>
            </a:r>
          </a:p>
          <a:p>
            <a:pPr marL="355600" marR="5080" indent="-342900">
              <a:buAutoNum type="alphaLcParenR" startAt="2"/>
            </a:pPr>
            <a:r>
              <a:rPr lang="en-US" sz="1400" kern="0" spc="-80" dirty="0">
                <a:solidFill>
                  <a:schemeClr val="accent2"/>
                </a:solidFill>
                <a:cs typeface="+mn-cs"/>
              </a:rPr>
              <a:t>Link/Edge Ranking</a:t>
            </a:r>
            <a:r>
              <a:rPr lang="en-US" sz="1400" kern="0" spc="-80" dirty="0">
                <a:solidFill>
                  <a:schemeClr val="accent6"/>
                </a:solidFill>
                <a:cs typeface="+mn-cs"/>
              </a:rPr>
              <a:t> - e.g. Google uses PageRank algo using complex distributed linear algebra techniques(mainly solving system of linear equations [wherein the parameters of the equations are probabilities] &amp; using </a:t>
            </a:r>
            <a:r>
              <a:rPr lang="en-US" sz="1400" kern="0" spc="-80" dirty="0" err="1">
                <a:solidFill>
                  <a:schemeClr val="accent6"/>
                </a:solidFill>
                <a:cs typeface="+mn-cs"/>
              </a:rPr>
              <a:t>EigenValue</a:t>
            </a:r>
            <a:r>
              <a:rPr lang="en-US" sz="1400" kern="0" spc="-80" dirty="0">
                <a:solidFill>
                  <a:schemeClr val="accent6"/>
                </a:solidFill>
                <a:cs typeface="+mn-cs"/>
              </a:rPr>
              <a:t>/</a:t>
            </a:r>
            <a:r>
              <a:rPr lang="en-US" sz="1400" kern="0" spc="-80" dirty="0" err="1">
                <a:solidFill>
                  <a:schemeClr val="accent6"/>
                </a:solidFill>
                <a:cs typeface="+mn-cs"/>
              </a:rPr>
              <a:t>EigenVector</a:t>
            </a:r>
            <a:r>
              <a:rPr lang="en-US" sz="1400" kern="0" spc="-80" dirty="0">
                <a:solidFill>
                  <a:schemeClr val="accent6"/>
                </a:solidFill>
                <a:cs typeface="+mn-cs"/>
              </a:rPr>
              <a:t> concepts). The main logic used here is to give more importance to a document which has more links referring to it. By the way, for some complex search requirement, one may have to develop his/her own custom Link/Edge Ranking algo. </a:t>
            </a:r>
          </a:p>
          <a:p>
            <a:pPr marL="12700" marR="5080"/>
            <a:r>
              <a:rPr lang="en-IN" sz="1400" kern="0" spc="-80" dirty="0">
                <a:solidFill>
                  <a:schemeClr val="accent2"/>
                </a:solidFill>
                <a:cs typeface="+mn-cs"/>
              </a:rPr>
              <a:t>For Further Exploration</a:t>
            </a:r>
          </a:p>
          <a:p>
            <a:pPr marL="12700" marR="5080"/>
            <a:r>
              <a:rPr lang="en-IN" sz="1000" dirty="0">
                <a:hlinkClick r:id="rId7"/>
              </a:rPr>
              <a:t>Inverted Index</a:t>
            </a:r>
            <a:endParaRPr lang="en-IN" sz="1000" kern="0" spc="-80" dirty="0">
              <a:solidFill>
                <a:schemeClr val="accent2"/>
              </a:solidFill>
              <a:cs typeface="+mn-cs"/>
            </a:endParaRPr>
          </a:p>
          <a:p>
            <a:pPr marL="12700" marR="5080"/>
            <a:r>
              <a:rPr lang="en-US" sz="1000" dirty="0">
                <a:hlinkClick r:id="rId8"/>
              </a:rPr>
              <a:t>Introduction to Ranking Algorithms</a:t>
            </a:r>
            <a:r>
              <a:rPr lang="en-US" sz="1000" dirty="0"/>
              <a:t>, </a:t>
            </a:r>
            <a:r>
              <a:rPr lang="en-US" sz="1000" dirty="0">
                <a:hlinkClick r:id="rId9"/>
              </a:rPr>
              <a:t>Ranking Algorithms &amp; Types</a:t>
            </a:r>
            <a:endParaRPr lang="en-US" sz="1000" dirty="0"/>
          </a:p>
          <a:p>
            <a:pPr marL="12700" marR="5080"/>
            <a:r>
              <a:rPr lang="en-US" sz="1000" dirty="0">
                <a:hlinkClick r:id="rId10"/>
              </a:rPr>
              <a:t>Ranking Entities with Multi-Criteria Decision Making Methods(MCDM)</a:t>
            </a:r>
            <a:r>
              <a:rPr lang="en-US" sz="1000" dirty="0"/>
              <a:t> </a:t>
            </a:r>
          </a:p>
          <a:p>
            <a:pPr marL="12700" marR="5080"/>
            <a:r>
              <a:rPr lang="en-US" sz="1000" dirty="0">
                <a:hlinkClick r:id="rId11"/>
              </a:rPr>
              <a:t>Ranking and learning to rank - Practical Recommender Systems</a:t>
            </a:r>
            <a:r>
              <a:rPr lang="en-US" sz="1000" dirty="0"/>
              <a:t> </a:t>
            </a:r>
          </a:p>
          <a:p>
            <a:pPr marL="12700" marR="5080"/>
            <a:r>
              <a:rPr lang="en-US" sz="1000" dirty="0">
                <a:hlinkClick r:id="rId12"/>
              </a:rPr>
              <a:t>Understanding Page Rank. In simple terms</a:t>
            </a:r>
            <a:endParaRPr lang="en-US" sz="1000" dirty="0"/>
          </a:p>
          <a:p>
            <a:pPr marL="12700" marR="5080"/>
            <a:r>
              <a:rPr lang="en-IN" sz="1000" dirty="0">
                <a:hlinkClick r:id="rId13"/>
              </a:rPr>
              <a:t>Link Analysis Algorithms Explained</a:t>
            </a:r>
            <a:endParaRPr lang="en-IN" sz="1000" dirty="0"/>
          </a:p>
          <a:p>
            <a:pPr marL="12700" marR="5080"/>
            <a:r>
              <a:rPr lang="en-IN" sz="1000" dirty="0">
                <a:hlinkClick r:id="rId14"/>
              </a:rPr>
              <a:t>PageRank</a:t>
            </a:r>
            <a:endParaRPr lang="en-IN" sz="1000" dirty="0"/>
          </a:p>
          <a:p>
            <a:pPr marL="12700" marR="5080"/>
            <a:r>
              <a:rPr lang="en-IN" sz="1000" dirty="0" err="1">
                <a:hlinkClick r:id="rId15"/>
              </a:rPr>
              <a:t>AMultitaskRankingSystem</a:t>
            </a:r>
            <a:endParaRPr lang="en-US" sz="1000" dirty="0"/>
          </a:p>
          <a:p>
            <a:pPr marL="12700" marR="5080"/>
            <a:endParaRPr lang="en-US" sz="1000" b="0" i="0" dirty="0">
              <a:solidFill>
                <a:schemeClr val="accent2"/>
              </a:solidFill>
              <a:effectLst/>
              <a:latin typeface="-apple-system"/>
            </a:endParaRPr>
          </a:p>
          <a:p>
            <a:pPr marL="355600" marR="5080" indent="-342900">
              <a:buAutoNum type="alphaLcParenR"/>
            </a:pPr>
            <a:endParaRPr lang="en-US" sz="1580" kern="0" spc="-220" dirty="0">
              <a:solidFill>
                <a:schemeClr val="accent6"/>
              </a:solidFill>
            </a:endParaRPr>
          </a:p>
        </p:txBody>
      </p:sp>
    </p:spTree>
    <p:extLst>
      <p:ext uri="{BB962C8B-B14F-4D97-AF65-F5344CB8AC3E}">
        <p14:creationId xmlns:p14="http://schemas.microsoft.com/office/powerpoint/2010/main" val="5180251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DE141-86B1-112C-268F-21F2273C39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574F5A-5CE5-EFD0-77F7-5804DE03631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D1D3C92-893D-8C5B-C775-C67D090C74C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4DFCE7A-0F42-9CBD-595D-56B2FABF94BE}"/>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2192CED-BCB0-5D6C-7665-AEBC912339B7}"/>
              </a:ext>
            </a:extLst>
          </p:cNvPr>
          <p:cNvGraphicFramePr/>
          <p:nvPr>
            <p:extLst>
              <p:ext uri="{D42A27DB-BD31-4B8C-83A1-F6EECF244321}">
                <p14:modId xmlns:p14="http://schemas.microsoft.com/office/powerpoint/2010/main" val="243516546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B6433BD8-E2AD-219A-E79D-0E81E840BF58}"/>
              </a:ext>
            </a:extLst>
          </p:cNvPr>
          <p:cNvSpPr txBox="1">
            <a:spLocks/>
          </p:cNvSpPr>
          <p:nvPr/>
        </p:nvSpPr>
        <p:spPr>
          <a:xfrm>
            <a:off x="0" y="5174159"/>
            <a:ext cx="8624937"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 –</a:t>
            </a:r>
          </a:p>
          <a:p>
            <a:pPr marL="12700" marR="5080"/>
            <a:r>
              <a:rPr lang="en-US" sz="1500" dirty="0">
                <a:hlinkClick r:id="rId7"/>
              </a:rPr>
              <a:t>8 Deep Learning Architectures Data Scientists Must Master</a:t>
            </a:r>
            <a:endParaRPr lang="en-US" sz="1500" dirty="0"/>
          </a:p>
          <a:p>
            <a:pPr marL="12700" marR="5080"/>
            <a:r>
              <a:rPr lang="en-US" sz="1500" dirty="0">
                <a:hlinkClick r:id="rId8"/>
              </a:rPr>
              <a:t>Deep learning architectures</a:t>
            </a:r>
            <a:endParaRPr lang="en-US" sz="1500" dirty="0"/>
          </a:p>
        </p:txBody>
      </p:sp>
      <p:pic>
        <p:nvPicPr>
          <p:cNvPr id="2050" name="Picture 2" descr="Classification of deep learning architecture">
            <a:extLst>
              <a:ext uri="{FF2B5EF4-FFF2-40B4-BE49-F238E27FC236}">
                <a16:creationId xmlns:a16="http://schemas.microsoft.com/office/drawing/2014/main" id="{65FDCD4B-6BD9-120A-3844-D71922295F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 y="1377398"/>
            <a:ext cx="8839200" cy="3796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9678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BA129-0A91-E233-777A-13831AA107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E76A22-BDE7-717F-5B1B-A535D22AC88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C074A208-5DFF-1B68-A5CF-3434157325B1}"/>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3BA4407-C0F7-723D-E846-457FD90CA09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D4DAF07-BE9D-06E6-AE5F-351EC09B4912}"/>
              </a:ext>
            </a:extLst>
          </p:cNvPr>
          <p:cNvGraphicFramePr/>
          <p:nvPr>
            <p:extLst>
              <p:ext uri="{D42A27DB-BD31-4B8C-83A1-F6EECF244321}">
                <p14:modId xmlns:p14="http://schemas.microsoft.com/office/powerpoint/2010/main" val="2008492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D39B1AE-5AFE-B762-A04F-6068ACC6342A}"/>
              </a:ext>
            </a:extLst>
          </p:cNvPr>
          <p:cNvSpPr txBox="1">
            <a:spLocks/>
          </p:cNvSpPr>
          <p:nvPr/>
        </p:nvSpPr>
        <p:spPr>
          <a:xfrm>
            <a:off x="-17146" y="4094501"/>
            <a:ext cx="8624937" cy="19236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cs typeface="+mn-cs"/>
              </a:rPr>
              <a:t>The kernel  weights are learned here. For an </a:t>
            </a:r>
            <a:r>
              <a:rPr lang="en-US" sz="1600" kern="0" spc="-80" dirty="0" err="1">
                <a:solidFill>
                  <a:schemeClr val="accent6"/>
                </a:solidFill>
                <a:cs typeface="+mn-cs"/>
              </a:rPr>
              <a:t>i</a:t>
            </a:r>
            <a:r>
              <a:rPr lang="en-US" sz="1600" kern="0" spc="-80" dirty="0">
                <a:solidFill>
                  <a:schemeClr val="accent6"/>
                </a:solidFill>
                <a:cs typeface="+mn-cs"/>
              </a:rPr>
              <a:t>/p image size </a:t>
            </a:r>
            <a:r>
              <a:rPr lang="en-US" sz="1600" kern="0" spc="-80" dirty="0" err="1">
                <a:solidFill>
                  <a:schemeClr val="accent6"/>
                </a:solidFill>
                <a:cs typeface="+mn-cs"/>
              </a:rPr>
              <a:t>i</a:t>
            </a:r>
            <a:r>
              <a:rPr lang="en-US" sz="1600" kern="0" spc="-80" dirty="0">
                <a:solidFill>
                  <a:schemeClr val="accent6"/>
                </a:solidFill>
                <a:cs typeface="+mn-cs"/>
              </a:rPr>
              <a:t>, kernel filter size k and stride s, the o/p image size is given by “floor(((</a:t>
            </a:r>
            <a:r>
              <a:rPr lang="en-US" sz="1600" kern="0" spc="-80" dirty="0" err="1">
                <a:solidFill>
                  <a:schemeClr val="accent6"/>
                </a:solidFill>
                <a:cs typeface="+mn-cs"/>
              </a:rPr>
              <a:t>i</a:t>
            </a:r>
            <a:r>
              <a:rPr lang="en-US" sz="1600" kern="0" spc="-80" dirty="0">
                <a:solidFill>
                  <a:schemeClr val="accent6"/>
                </a:solidFill>
                <a:cs typeface="+mn-cs"/>
              </a:rPr>
              <a:t>-k)/s) + 1)”.</a:t>
            </a:r>
          </a:p>
          <a:p>
            <a:pPr marL="12700" marR="5080"/>
            <a:endParaRPr lang="en-US" sz="1500" kern="0" spc="-220" dirty="0">
              <a:solidFill>
                <a:schemeClr val="accent2"/>
              </a:solidFill>
            </a:endParaRPr>
          </a:p>
          <a:p>
            <a:pPr marL="12700" marR="5080"/>
            <a:endParaRPr lang="en-US" sz="1500" kern="0" spc="-220" dirty="0">
              <a:solidFill>
                <a:schemeClr val="accent2"/>
              </a:solidFill>
            </a:endParaRPr>
          </a:p>
          <a:p>
            <a:pPr marL="12700" marR="5080"/>
            <a:r>
              <a:rPr lang="en-US" sz="1500" kern="0" spc="-220" dirty="0">
                <a:solidFill>
                  <a:schemeClr val="accent2"/>
                </a:solidFill>
              </a:rPr>
              <a:t>For Further Exploration –</a:t>
            </a:r>
          </a:p>
          <a:p>
            <a:pPr marL="12700" marR="5080"/>
            <a:r>
              <a:rPr lang="en-US" sz="1200" dirty="0">
                <a:hlinkClick r:id="rId7"/>
              </a:rPr>
              <a:t>Intuitive Guide to Convolution</a:t>
            </a:r>
            <a:endParaRPr lang="en-US" sz="1200" dirty="0"/>
          </a:p>
          <a:p>
            <a:pPr marL="12700" marR="5080"/>
            <a:r>
              <a:rPr lang="en-US" sz="1200" dirty="0">
                <a:hlinkClick r:id="rId8"/>
              </a:rPr>
              <a:t>The Convolution of Two Functions | Definition &amp; Properties – YouTube</a:t>
            </a:r>
            <a:endParaRPr lang="en-US" sz="1200" dirty="0"/>
          </a:p>
          <a:p>
            <a:pPr marL="12700" marR="5080"/>
            <a:r>
              <a:rPr lang="en-US" sz="1200" dirty="0">
                <a:hlinkClick r:id="rId9"/>
              </a:rPr>
              <a:t>Backpropagation in Convolutional Neural Networks | </a:t>
            </a:r>
            <a:r>
              <a:rPr lang="en-US" sz="1200" dirty="0" err="1">
                <a:hlinkClick r:id="rId9"/>
              </a:rPr>
              <a:t>GeeksforGeeks</a:t>
            </a:r>
            <a:endParaRPr lang="en-US" sz="1200" dirty="0"/>
          </a:p>
          <a:p>
            <a:pPr marL="12700" marR="5080"/>
            <a:r>
              <a:rPr lang="en-US" sz="1200" dirty="0">
                <a:hlinkClick r:id="rId10"/>
              </a:rPr>
              <a:t>Different Types of CNN Architectures</a:t>
            </a:r>
            <a:endParaRPr lang="en-US" sz="1200" dirty="0"/>
          </a:p>
        </p:txBody>
      </p:sp>
      <p:pic>
        <p:nvPicPr>
          <p:cNvPr id="9" name="Picture 8">
            <a:extLst>
              <a:ext uri="{FF2B5EF4-FFF2-40B4-BE49-F238E27FC236}">
                <a16:creationId xmlns:a16="http://schemas.microsoft.com/office/drawing/2014/main" id="{D2EE6CD6-5951-C080-B781-61E9EF304AEC}"/>
              </a:ext>
            </a:extLst>
          </p:cNvPr>
          <p:cNvPicPr>
            <a:picLocks noChangeAspect="1"/>
          </p:cNvPicPr>
          <p:nvPr/>
        </p:nvPicPr>
        <p:blipFill>
          <a:blip r:embed="rId11"/>
          <a:stretch>
            <a:fillRect/>
          </a:stretch>
        </p:blipFill>
        <p:spPr>
          <a:xfrm>
            <a:off x="-17146" y="1310607"/>
            <a:ext cx="9144000" cy="2710098"/>
          </a:xfrm>
          <a:prstGeom prst="rect">
            <a:avLst/>
          </a:prstGeom>
        </p:spPr>
      </p:pic>
    </p:spTree>
    <p:extLst>
      <p:ext uri="{BB962C8B-B14F-4D97-AF65-F5344CB8AC3E}">
        <p14:creationId xmlns:p14="http://schemas.microsoft.com/office/powerpoint/2010/main" val="17969135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DA336-B751-7AB3-F2EF-CF2E44CA08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7C25DA-A203-457E-D090-53D2F11AF7EA}"/>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C8B2486-CFCA-9DBB-9117-748B4F7E00B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EDC25726-FFBA-2004-B1CE-F71762AF91C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677A265-16B5-FCA7-63DB-E549927B75E5}"/>
              </a:ext>
            </a:extLst>
          </p:cNvPr>
          <p:cNvGraphicFramePr/>
          <p:nvPr>
            <p:extLst>
              <p:ext uri="{D42A27DB-BD31-4B8C-83A1-F6EECF244321}">
                <p14:modId xmlns:p14="http://schemas.microsoft.com/office/powerpoint/2010/main" val="384145520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8339EAF6-0582-706D-4650-E28B67F78745}"/>
              </a:ext>
            </a:extLst>
          </p:cNvPr>
          <p:cNvSpPr txBox="1">
            <a:spLocks/>
          </p:cNvSpPr>
          <p:nvPr/>
        </p:nvSpPr>
        <p:spPr>
          <a:xfrm>
            <a:off x="41725" y="1305560"/>
            <a:ext cx="8624937" cy="473822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In computer vision, invariance refers to the ability of a system to recognize objects or patterns despite variations in their appearance, such as changes in scale, orientation, or viewpoint. There are several types of invariance, including translation, scale, and rotation invariance, as well as more complex transformations like affine invariance. Invariant object recognition is a crucial aspect of robust visual systems, allowing for reliable identification even under different conditions. </a:t>
            </a:r>
          </a:p>
          <a:p>
            <a:pPr marL="12700" marR="5080"/>
            <a:r>
              <a:rPr lang="en-US" sz="1400" kern="0" spc="-80" dirty="0">
                <a:solidFill>
                  <a:schemeClr val="accent2"/>
                </a:solidFill>
                <a:cs typeface="+mn-cs"/>
              </a:rPr>
              <a:t>1. Translation Invariance:</a:t>
            </a:r>
            <a:r>
              <a:rPr lang="en-US" sz="1400" kern="0" spc="-80" dirty="0">
                <a:solidFill>
                  <a:schemeClr val="accent6"/>
                </a:solidFill>
                <a:cs typeface="+mn-cs"/>
              </a:rPr>
              <a:t> </a:t>
            </a:r>
          </a:p>
          <a:p>
            <a:pPr marL="12700" marR="5080"/>
            <a:r>
              <a:rPr lang="en-US" sz="1400" kern="0" spc="-80" dirty="0">
                <a:solidFill>
                  <a:schemeClr val="accent2"/>
                </a:solidFill>
                <a:cs typeface="+mn-cs"/>
              </a:rPr>
              <a:t>Definition</a:t>
            </a:r>
            <a:r>
              <a:rPr lang="en-US" sz="1400" kern="0" spc="-80" dirty="0">
                <a:solidFill>
                  <a:schemeClr val="accent6"/>
                </a:solidFill>
                <a:cs typeface="+mn-cs"/>
              </a:rPr>
              <a:t>: The system's output (e.g., object recognition) remains the same regardless of the object's position within the image. </a:t>
            </a:r>
          </a:p>
          <a:p>
            <a:pPr marL="12700" marR="5080"/>
            <a:r>
              <a:rPr lang="en-US" sz="1400" kern="0" spc="-80" dirty="0">
                <a:solidFill>
                  <a:schemeClr val="accent2"/>
                </a:solidFill>
                <a:cs typeface="+mn-cs"/>
              </a:rPr>
              <a:t>Example</a:t>
            </a:r>
            <a:r>
              <a:rPr lang="en-US" sz="1400" kern="0" spc="-80" dirty="0">
                <a:solidFill>
                  <a:schemeClr val="accent6"/>
                </a:solidFill>
                <a:cs typeface="+mn-cs"/>
              </a:rPr>
              <a:t>: A face detector might identify a face as a "face" even if it's located at the left, center, or right of the image. </a:t>
            </a:r>
          </a:p>
          <a:p>
            <a:pPr marL="12700" marR="5080"/>
            <a:r>
              <a:rPr lang="en-US" sz="1400" kern="0" spc="-80" dirty="0">
                <a:solidFill>
                  <a:schemeClr val="accent2"/>
                </a:solidFill>
                <a:cs typeface="+mn-cs"/>
              </a:rPr>
              <a:t>Relationship to Equivariance</a:t>
            </a:r>
            <a:r>
              <a:rPr lang="en-US" sz="1400" kern="0" spc="-80" dirty="0">
                <a:solidFill>
                  <a:schemeClr val="accent6"/>
                </a:solidFill>
                <a:cs typeface="+mn-cs"/>
              </a:rPr>
              <a:t>: Translation equivariance means the system's response changes in a predictable way as the input shifts. For example, a "face-</a:t>
            </a:r>
            <a:r>
              <a:rPr lang="en-US" sz="1400" kern="0" spc="-80" dirty="0" err="1">
                <a:solidFill>
                  <a:schemeClr val="accent6"/>
                </a:solidFill>
                <a:cs typeface="+mn-cs"/>
              </a:rPr>
              <a:t>iness</a:t>
            </a:r>
            <a:r>
              <a:rPr lang="en-US" sz="1400" kern="0" spc="-80" dirty="0">
                <a:solidFill>
                  <a:schemeClr val="accent6"/>
                </a:solidFill>
                <a:cs typeface="+mn-cs"/>
              </a:rPr>
              <a:t>" heat map might have bumps that shift with the location of the face. </a:t>
            </a:r>
          </a:p>
          <a:p>
            <a:pPr marL="12700" marR="5080"/>
            <a:r>
              <a:rPr lang="en-US" sz="1400" kern="0" spc="-80" dirty="0">
                <a:solidFill>
                  <a:schemeClr val="accent2"/>
                </a:solidFill>
                <a:cs typeface="+mn-cs"/>
              </a:rPr>
              <a:t>2. Scale Invariance: </a:t>
            </a:r>
          </a:p>
          <a:p>
            <a:pPr marL="12700" marR="5080"/>
            <a:r>
              <a:rPr lang="en-US" sz="1400" kern="0" spc="-80" dirty="0">
                <a:solidFill>
                  <a:schemeClr val="accent2"/>
                </a:solidFill>
                <a:cs typeface="+mn-cs"/>
              </a:rPr>
              <a:t>Definition</a:t>
            </a:r>
            <a:r>
              <a:rPr lang="en-US" sz="1400" kern="0" spc="-80" dirty="0">
                <a:solidFill>
                  <a:schemeClr val="accent6"/>
                </a:solidFill>
                <a:cs typeface="+mn-cs"/>
              </a:rPr>
              <a:t>: The system recognizes objects of different sizes. </a:t>
            </a:r>
          </a:p>
          <a:p>
            <a:pPr marL="12700" marR="5080"/>
            <a:r>
              <a:rPr lang="en-US" sz="1400" kern="0" spc="-80" dirty="0">
                <a:solidFill>
                  <a:schemeClr val="accent2"/>
                </a:solidFill>
                <a:cs typeface="+mn-cs"/>
              </a:rPr>
              <a:t>Example</a:t>
            </a:r>
            <a:r>
              <a:rPr lang="en-US" sz="1400" kern="0" spc="-80" dirty="0">
                <a:solidFill>
                  <a:schemeClr val="accent6"/>
                </a:solidFill>
                <a:cs typeface="+mn-cs"/>
              </a:rPr>
              <a:t>: A system could identify a car as a car, regardless of whether it's a small car in the distance or a large car close up. </a:t>
            </a:r>
          </a:p>
          <a:p>
            <a:pPr marL="12700" marR="5080"/>
            <a:r>
              <a:rPr lang="en-US" sz="1400" kern="0" spc="-80" dirty="0">
                <a:solidFill>
                  <a:schemeClr val="accent2"/>
                </a:solidFill>
                <a:cs typeface="+mn-cs"/>
              </a:rPr>
              <a:t>3. Rotation Invariance: </a:t>
            </a:r>
          </a:p>
          <a:p>
            <a:pPr marL="12700" marR="5080"/>
            <a:r>
              <a:rPr lang="en-US" sz="1400" kern="0" spc="-80" dirty="0">
                <a:solidFill>
                  <a:schemeClr val="accent2"/>
                </a:solidFill>
                <a:cs typeface="+mn-cs"/>
              </a:rPr>
              <a:t>Definition</a:t>
            </a:r>
            <a:r>
              <a:rPr lang="en-US" sz="1400" kern="0" spc="-80" dirty="0">
                <a:solidFill>
                  <a:schemeClr val="accent6"/>
                </a:solidFill>
                <a:cs typeface="+mn-cs"/>
              </a:rPr>
              <a:t>: The system recognizes objects regardless of their orientation. </a:t>
            </a:r>
          </a:p>
          <a:p>
            <a:pPr marL="12700" marR="5080"/>
            <a:r>
              <a:rPr lang="en-US" sz="1400" kern="0" spc="-80" dirty="0">
                <a:solidFill>
                  <a:schemeClr val="accent2"/>
                </a:solidFill>
                <a:cs typeface="+mn-cs"/>
              </a:rPr>
              <a:t>Example</a:t>
            </a:r>
            <a:r>
              <a:rPr lang="en-US" sz="1400" kern="0" spc="-80" dirty="0">
                <a:solidFill>
                  <a:schemeClr val="accent6"/>
                </a:solidFill>
                <a:cs typeface="+mn-cs"/>
              </a:rPr>
              <a:t>: A system could identify a cat as a cat, whether it's standing upright, on its side, or upside down. </a:t>
            </a:r>
          </a:p>
          <a:p>
            <a:pPr marL="12700" marR="5080"/>
            <a:endParaRPr lang="en-US" sz="1400" kern="0" spc="-80" dirty="0">
              <a:solidFill>
                <a:schemeClr val="accent6"/>
              </a:solidFill>
              <a:cs typeface="+mn-cs"/>
            </a:endParaRPr>
          </a:p>
          <a:p>
            <a:pPr marL="12700" marR="5080"/>
            <a:endParaRPr lang="en-US" sz="1390" kern="0" spc="-220" dirty="0">
              <a:solidFill>
                <a:schemeClr val="accent6"/>
              </a:solidFill>
            </a:endParaRPr>
          </a:p>
        </p:txBody>
      </p:sp>
    </p:spTree>
    <p:extLst>
      <p:ext uri="{BB962C8B-B14F-4D97-AF65-F5344CB8AC3E}">
        <p14:creationId xmlns:p14="http://schemas.microsoft.com/office/powerpoint/2010/main" val="292215658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BED5B-720D-FEC4-21F9-B0E885C0B3F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0CC89C5-94D2-84FA-CE56-B68D6E4754F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C66C4D1-8EE7-303E-3E18-C8245987105E}"/>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2BBAEA2-5AD6-2A9D-78D8-321383371CC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4506F6E0-668B-14D4-B0AB-1D00D2A0EA56}"/>
              </a:ext>
            </a:extLst>
          </p:cNvPr>
          <p:cNvGraphicFramePr/>
          <p:nvPr>
            <p:extLst>
              <p:ext uri="{D42A27DB-BD31-4B8C-83A1-F6EECF244321}">
                <p14:modId xmlns:p14="http://schemas.microsoft.com/office/powerpoint/2010/main" val="316366971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3ACBC3A1-7656-F333-50C2-77A171153CE3}"/>
              </a:ext>
            </a:extLst>
          </p:cNvPr>
          <p:cNvSpPr txBox="1">
            <a:spLocks/>
          </p:cNvSpPr>
          <p:nvPr/>
        </p:nvSpPr>
        <p:spPr>
          <a:xfrm>
            <a:off x="41725" y="1305560"/>
            <a:ext cx="8624937" cy="4522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4. Viewpoint Invariance: </a:t>
            </a:r>
          </a:p>
          <a:p>
            <a:pPr marL="12700" marR="5080"/>
            <a:r>
              <a:rPr lang="en-US" sz="1400" kern="0" spc="-80" dirty="0">
                <a:solidFill>
                  <a:schemeClr val="accent2"/>
                </a:solidFill>
                <a:cs typeface="+mn-cs"/>
              </a:rPr>
              <a:t>Definition</a:t>
            </a:r>
            <a:r>
              <a:rPr lang="en-US" sz="1400" kern="0" spc="-80" dirty="0">
                <a:solidFill>
                  <a:schemeClr val="accent6"/>
                </a:solidFill>
                <a:cs typeface="+mn-cs"/>
              </a:rPr>
              <a:t>: The system recognizes objects from different viewpoints or angles. </a:t>
            </a:r>
          </a:p>
          <a:p>
            <a:pPr marL="12700" marR="5080"/>
            <a:r>
              <a:rPr lang="en-US" sz="1400" kern="0" spc="-80" dirty="0">
                <a:solidFill>
                  <a:schemeClr val="accent2"/>
                </a:solidFill>
                <a:cs typeface="+mn-cs"/>
              </a:rPr>
              <a:t>Example</a:t>
            </a:r>
            <a:r>
              <a:rPr lang="en-US" sz="1400" kern="0" spc="-80" dirty="0">
                <a:solidFill>
                  <a:schemeClr val="accent6"/>
                </a:solidFill>
                <a:cs typeface="+mn-cs"/>
              </a:rPr>
              <a:t>: A horse could be identified whether it's viewed from the front, side, or back. </a:t>
            </a:r>
          </a:p>
          <a:p>
            <a:pPr marL="12700" marR="5080"/>
            <a:r>
              <a:rPr lang="en-US" sz="1400" kern="0" spc="-80" dirty="0">
                <a:solidFill>
                  <a:schemeClr val="accent2"/>
                </a:solidFill>
                <a:cs typeface="+mn-cs"/>
              </a:rPr>
              <a:t>5. Affine Invariance: </a:t>
            </a:r>
          </a:p>
          <a:p>
            <a:pPr marL="12700" marR="5080"/>
            <a:r>
              <a:rPr lang="en-US" sz="1400" kern="0" spc="-80" dirty="0">
                <a:solidFill>
                  <a:schemeClr val="accent2"/>
                </a:solidFill>
                <a:cs typeface="+mn-cs"/>
              </a:rPr>
              <a:t>Definition</a:t>
            </a:r>
            <a:r>
              <a:rPr lang="en-US" sz="1400" kern="0" spc="-80" dirty="0">
                <a:solidFill>
                  <a:schemeClr val="accent6"/>
                </a:solidFill>
                <a:cs typeface="+mn-cs"/>
              </a:rPr>
              <a:t>: The system can handle more complex geometric transformations like perspective foreshortening and image warping. </a:t>
            </a:r>
          </a:p>
          <a:p>
            <a:pPr marL="12700" marR="5080"/>
            <a:r>
              <a:rPr lang="en-US" sz="1400" kern="0" spc="-80" dirty="0">
                <a:solidFill>
                  <a:schemeClr val="accent2"/>
                </a:solidFill>
                <a:cs typeface="+mn-cs"/>
              </a:rPr>
              <a:t>Example</a:t>
            </a:r>
            <a:r>
              <a:rPr lang="en-US" sz="1400" kern="0" spc="-80" dirty="0">
                <a:solidFill>
                  <a:schemeClr val="accent6"/>
                </a:solidFill>
                <a:cs typeface="+mn-cs"/>
              </a:rPr>
              <a:t>: A system might be able to recognize an object even if it's distorted due to a camera lens effect or a change in perspective. </a:t>
            </a:r>
          </a:p>
          <a:p>
            <a:pPr marL="12700" marR="5080"/>
            <a:r>
              <a:rPr lang="en-US" sz="1400" kern="0" spc="-80" dirty="0">
                <a:solidFill>
                  <a:schemeClr val="accent2"/>
                </a:solidFill>
                <a:cs typeface="+mn-cs"/>
              </a:rPr>
              <a:t>6. Other Types:</a:t>
            </a:r>
          </a:p>
          <a:p>
            <a:pPr marL="12700" marR="5080"/>
            <a:r>
              <a:rPr lang="en-US" sz="1400" kern="0" spc="-80" dirty="0">
                <a:solidFill>
                  <a:schemeClr val="accent2"/>
                </a:solidFill>
                <a:cs typeface="+mn-cs"/>
              </a:rPr>
              <a:t>Partial Invariance: </a:t>
            </a:r>
            <a:r>
              <a:rPr lang="en-US" sz="1400" kern="0" spc="-80" dirty="0">
                <a:solidFill>
                  <a:schemeClr val="accent6"/>
                </a:solidFill>
                <a:cs typeface="+mn-cs"/>
              </a:rPr>
              <a:t>The system might be invariant to some transformations but not others. </a:t>
            </a:r>
          </a:p>
          <a:p>
            <a:pPr marL="12700" marR="5080"/>
            <a:r>
              <a:rPr lang="en-US" sz="1400" kern="0" spc="-80" dirty="0">
                <a:solidFill>
                  <a:schemeClr val="accent2"/>
                </a:solidFill>
                <a:cs typeface="+mn-cs"/>
              </a:rPr>
              <a:t>Intrinsic Invariance:</a:t>
            </a:r>
            <a:r>
              <a:rPr lang="en-US" sz="1400" kern="0" spc="-80" dirty="0">
                <a:solidFill>
                  <a:schemeClr val="accent6"/>
                </a:solidFill>
                <a:cs typeface="+mn-cs"/>
              </a:rPr>
              <a:t> This refers to invariance due to the way an object is represented, not just from experience. </a:t>
            </a:r>
          </a:p>
          <a:p>
            <a:pPr marL="12700" marR="5080"/>
            <a:r>
              <a:rPr lang="en-US" sz="1400" kern="0" spc="-80" dirty="0">
                <a:solidFill>
                  <a:schemeClr val="accent2"/>
                </a:solidFill>
                <a:cs typeface="+mn-cs"/>
              </a:rPr>
              <a:t>Example-Based Invariance: </a:t>
            </a:r>
            <a:r>
              <a:rPr lang="en-US" sz="1400" kern="0" spc="-80" dirty="0">
                <a:solidFill>
                  <a:schemeClr val="accent6"/>
                </a:solidFill>
                <a:cs typeface="+mn-cs"/>
              </a:rPr>
              <a:t>This refers to invariance learned from seeing the same object under different conditions. </a:t>
            </a:r>
          </a:p>
          <a:p>
            <a:pPr marL="12700" marR="5080"/>
            <a:r>
              <a:rPr lang="en-US" sz="1400" kern="0" spc="-80" dirty="0">
                <a:solidFill>
                  <a:schemeClr val="accent2"/>
                </a:solidFill>
                <a:cs typeface="+mn-cs"/>
              </a:rPr>
              <a:t>Importance of Invariance: </a:t>
            </a:r>
          </a:p>
          <a:p>
            <a:pPr marL="12700" marR="5080"/>
            <a:r>
              <a:rPr lang="en-US" sz="1400" kern="0" spc="-80" dirty="0">
                <a:solidFill>
                  <a:schemeClr val="accent6"/>
                </a:solidFill>
                <a:cs typeface="+mn-cs"/>
              </a:rPr>
              <a:t>Invariance is crucial for building robust and reliable visual systems because it allows them to perform object recognition or pattern detection even when there are variations in the image that are not relevant to the task at hand. For example, if a system can't recognize a face regardless of its position or size, it's less likely to be useful in a real-world scenario.</a:t>
            </a:r>
          </a:p>
          <a:p>
            <a:pPr marL="12700" marR="5080"/>
            <a:endParaRPr lang="en-US" sz="1400" kern="0" spc="-80" dirty="0">
              <a:solidFill>
                <a:schemeClr val="accent6"/>
              </a:solidFill>
              <a:cs typeface="+mn-cs"/>
            </a:endParaRPr>
          </a:p>
          <a:p>
            <a:pPr marL="12700" marR="5080"/>
            <a:endParaRPr lang="en-US" sz="1390" kern="0" spc="-220" dirty="0">
              <a:solidFill>
                <a:schemeClr val="accent6"/>
              </a:solidFill>
            </a:endParaRPr>
          </a:p>
        </p:txBody>
      </p:sp>
    </p:spTree>
    <p:extLst>
      <p:ext uri="{BB962C8B-B14F-4D97-AF65-F5344CB8AC3E}">
        <p14:creationId xmlns:p14="http://schemas.microsoft.com/office/powerpoint/2010/main" val="16177239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A036A-DD23-7457-F77A-585A22A326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3FF0835-522E-A08D-832D-6E11FA6D263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29ECC4B9-1F90-B0B5-F9B9-EDE5C2D015AF}"/>
              </a:ext>
            </a:extLst>
          </p:cNvPr>
          <p:cNvSpPr/>
          <p:nvPr/>
        </p:nvSpPr>
        <p:spPr>
          <a:xfrm>
            <a:off x="1661159" y="10002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C908030-648A-ABF1-EAF8-36EEFBEC140E}"/>
              </a:ext>
            </a:extLst>
          </p:cNvPr>
          <p:cNvSpPr/>
          <p:nvPr/>
        </p:nvSpPr>
        <p:spPr>
          <a:xfrm>
            <a:off x="1661159" y="82242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FCD2D7D-1E22-4D8F-8780-4C5F92E690EA}"/>
              </a:ext>
            </a:extLst>
          </p:cNvPr>
          <p:cNvGraphicFramePr/>
          <p:nvPr>
            <p:extLst>
              <p:ext uri="{D42A27DB-BD31-4B8C-83A1-F6EECF244321}">
                <p14:modId xmlns:p14="http://schemas.microsoft.com/office/powerpoint/2010/main" val="3831163125"/>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7B36EE35-9AA9-96F8-BCF5-181302894A47}"/>
              </a:ext>
            </a:extLst>
          </p:cNvPr>
          <p:cNvSpPr txBox="1">
            <a:spLocks/>
          </p:cNvSpPr>
          <p:nvPr/>
        </p:nvSpPr>
        <p:spPr>
          <a:xfrm>
            <a:off x="41725" y="1171635"/>
            <a:ext cx="8624937" cy="4522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Invariant image recognition techniques aim to identify objects or patterns in images despite variations in their appearance due to transformations like scale, rotation, or viewpoint. These techniques involve extracting features from images that remain consistent even when the object or scene is scaled, rotated, or viewed from a different angle. Common methods include SIFT (Scale-Invariant Feature Transform), moment invariants (like Hu moments), and template matching. </a:t>
            </a:r>
          </a:p>
          <a:p>
            <a:pPr marL="12700" marR="5080"/>
            <a:r>
              <a:rPr lang="en-US" sz="1400" kern="0" spc="-80" dirty="0">
                <a:solidFill>
                  <a:schemeClr val="accent6"/>
                </a:solidFill>
                <a:cs typeface="+mn-cs"/>
              </a:rPr>
              <a:t>Here's a breakdown of some key techniques:</a:t>
            </a:r>
          </a:p>
          <a:p>
            <a:pPr marL="12700" marR="5080"/>
            <a:r>
              <a:rPr lang="en-US" sz="1400" kern="0" spc="-80" dirty="0">
                <a:solidFill>
                  <a:schemeClr val="accent2"/>
                </a:solidFill>
                <a:cs typeface="+mn-cs"/>
              </a:rPr>
              <a:t>1. Scale-Invariant Feature Transform (SIFT):</a:t>
            </a:r>
            <a:r>
              <a:rPr lang="en-US" sz="1400" kern="0" spc="-80" dirty="0">
                <a:solidFill>
                  <a:schemeClr val="accent6"/>
                </a:solidFill>
                <a:cs typeface="+mn-cs"/>
              </a:rPr>
              <a:t> SIFT is a powerful algorithm for identifying and matching features that are invariant to scaling, rotation, and affine </a:t>
            </a:r>
            <a:r>
              <a:rPr lang="en-US" sz="1400" kern="0" spc="-80" dirty="0" err="1">
                <a:solidFill>
                  <a:schemeClr val="accent6"/>
                </a:solidFill>
                <a:cs typeface="+mn-cs"/>
              </a:rPr>
              <a:t>distortion.It</a:t>
            </a:r>
            <a:r>
              <a:rPr lang="en-US" sz="1400" kern="0" spc="-80" dirty="0">
                <a:solidFill>
                  <a:schemeClr val="accent6"/>
                </a:solidFill>
                <a:cs typeface="+mn-cs"/>
              </a:rPr>
              <a:t> detects </a:t>
            </a:r>
            <a:r>
              <a:rPr lang="en-US" sz="1400" kern="0" spc="-80" dirty="0" err="1">
                <a:solidFill>
                  <a:schemeClr val="accent6"/>
                </a:solidFill>
                <a:cs typeface="+mn-cs"/>
              </a:rPr>
              <a:t>keypoints</a:t>
            </a:r>
            <a:r>
              <a:rPr lang="en-US" sz="1400" kern="0" spc="-80" dirty="0">
                <a:solidFill>
                  <a:schemeClr val="accent6"/>
                </a:solidFill>
                <a:cs typeface="+mn-cs"/>
              </a:rPr>
              <a:t> in an image and describes them with feature </a:t>
            </a:r>
            <a:r>
              <a:rPr lang="en-US" sz="1400" kern="0" spc="-80" dirty="0" err="1">
                <a:solidFill>
                  <a:schemeClr val="accent6"/>
                </a:solidFill>
                <a:cs typeface="+mn-cs"/>
              </a:rPr>
              <a:t>vectors.These</a:t>
            </a:r>
            <a:r>
              <a:rPr lang="en-US" sz="1400" kern="0" spc="-80" dirty="0">
                <a:solidFill>
                  <a:schemeClr val="accent6"/>
                </a:solidFill>
                <a:cs typeface="+mn-cs"/>
              </a:rPr>
              <a:t> features are then used to match between different images, allowing for object recognition even if the object is at a different scale or </a:t>
            </a:r>
            <a:r>
              <a:rPr lang="en-US" sz="1400" kern="0" spc="-80" dirty="0" err="1">
                <a:solidFill>
                  <a:schemeClr val="accent6"/>
                </a:solidFill>
                <a:cs typeface="+mn-cs"/>
              </a:rPr>
              <a:t>orientation.SIFT</a:t>
            </a:r>
            <a:r>
              <a:rPr lang="en-US" sz="1400" kern="0" spc="-80" dirty="0">
                <a:solidFill>
                  <a:schemeClr val="accent6"/>
                </a:solidFill>
                <a:cs typeface="+mn-cs"/>
              </a:rPr>
              <a:t> is widely used in applications like object recognition, image stitching, and 3D reconstruction. </a:t>
            </a:r>
          </a:p>
          <a:p>
            <a:pPr marL="12700" marR="5080"/>
            <a:r>
              <a:rPr lang="en-US" sz="1400" kern="0" spc="-80" dirty="0">
                <a:solidFill>
                  <a:schemeClr val="accent2"/>
                </a:solidFill>
                <a:cs typeface="+mn-cs"/>
              </a:rPr>
              <a:t>2. Moment Invariants: </a:t>
            </a:r>
            <a:r>
              <a:rPr lang="en-US" sz="1400" kern="0" spc="-80" dirty="0">
                <a:solidFill>
                  <a:schemeClr val="accent6"/>
                </a:solidFill>
                <a:cs typeface="+mn-cs"/>
              </a:rPr>
              <a:t>Moment invariants are mathematical features derived from an image's moments that remain unchanged under certain transformations, such as rotation, scaling, and </a:t>
            </a:r>
            <a:r>
              <a:rPr lang="en-US" sz="1400" kern="0" spc="-80" dirty="0" err="1">
                <a:solidFill>
                  <a:schemeClr val="accent6"/>
                </a:solidFill>
                <a:cs typeface="+mn-cs"/>
              </a:rPr>
              <a:t>translation.Hu</a:t>
            </a:r>
            <a:r>
              <a:rPr lang="en-US" sz="1400" kern="0" spc="-80" dirty="0">
                <a:solidFill>
                  <a:schemeClr val="accent6"/>
                </a:solidFill>
                <a:cs typeface="+mn-cs"/>
              </a:rPr>
              <a:t> moments are a well-known example of moment </a:t>
            </a:r>
            <a:r>
              <a:rPr lang="en-US" sz="1400" kern="0" spc="-80" dirty="0" err="1">
                <a:solidFill>
                  <a:schemeClr val="accent6"/>
                </a:solidFill>
                <a:cs typeface="+mn-cs"/>
              </a:rPr>
              <a:t>invariants.They</a:t>
            </a:r>
            <a:r>
              <a:rPr lang="en-US" sz="1400" kern="0" spc="-80" dirty="0">
                <a:solidFill>
                  <a:schemeClr val="accent6"/>
                </a:solidFill>
                <a:cs typeface="+mn-cs"/>
              </a:rPr>
              <a:t> can be used to extract robust features for image </a:t>
            </a:r>
            <a:r>
              <a:rPr lang="en-US" sz="1400" kern="0" spc="-80" dirty="0" err="1">
                <a:solidFill>
                  <a:schemeClr val="accent6"/>
                </a:solidFill>
                <a:cs typeface="+mn-cs"/>
              </a:rPr>
              <a:t>recognition.Invariant</a:t>
            </a:r>
            <a:r>
              <a:rPr lang="en-US" sz="1400" kern="0" spc="-80" dirty="0">
                <a:solidFill>
                  <a:schemeClr val="accent6"/>
                </a:solidFill>
                <a:cs typeface="+mn-cs"/>
              </a:rPr>
              <a:t> moments are frequently used in image processing as features in the recognition process,.</a:t>
            </a:r>
          </a:p>
          <a:p>
            <a:pPr marL="12700" marR="5080"/>
            <a:r>
              <a:rPr lang="en-US" sz="1400" kern="0" spc="-80" dirty="0">
                <a:solidFill>
                  <a:schemeClr val="accent2"/>
                </a:solidFill>
                <a:cs typeface="+mn-cs"/>
              </a:rPr>
              <a:t>3. Template Matching: </a:t>
            </a:r>
            <a:r>
              <a:rPr lang="en-US" sz="1400" kern="0" spc="-80" dirty="0">
                <a:solidFill>
                  <a:schemeClr val="accent6"/>
                </a:solidFill>
                <a:cs typeface="+mn-cs"/>
              </a:rPr>
              <a:t>Template matching involves comparing a small template image with different regions of a larger image to find matching patterns. It can be used to detect objects or patterns even if they are at different scales or positions. However, it can be sensitive to variations in lighting, orientation, and scale, so it's often combined with other techniques like SIFT. </a:t>
            </a:r>
          </a:p>
          <a:p>
            <a:pPr marL="12700" marR="5080"/>
            <a:endParaRPr lang="en-US" sz="1390" kern="0" spc="-220" dirty="0">
              <a:solidFill>
                <a:schemeClr val="accent6"/>
              </a:solidFill>
            </a:endParaRPr>
          </a:p>
        </p:txBody>
      </p:sp>
    </p:spTree>
    <p:extLst>
      <p:ext uri="{BB962C8B-B14F-4D97-AF65-F5344CB8AC3E}">
        <p14:creationId xmlns:p14="http://schemas.microsoft.com/office/powerpoint/2010/main" val="311480939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47924-392D-F5DA-1D11-F11B15F5A80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3D8C23-0769-9021-5954-32CAC2878F4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3336D2E-7D78-A9FC-7EB1-85404F1D5150}"/>
              </a:ext>
            </a:extLst>
          </p:cNvPr>
          <p:cNvSpPr/>
          <p:nvPr/>
        </p:nvSpPr>
        <p:spPr>
          <a:xfrm>
            <a:off x="1661159" y="10002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90026B1-3641-4CEC-985A-FD6B72F08A4E}"/>
              </a:ext>
            </a:extLst>
          </p:cNvPr>
          <p:cNvSpPr/>
          <p:nvPr/>
        </p:nvSpPr>
        <p:spPr>
          <a:xfrm>
            <a:off x="1661159" y="82242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D2101C5-50A6-CACB-2404-124102D32198}"/>
              </a:ext>
            </a:extLst>
          </p:cNvPr>
          <p:cNvGraphicFramePr/>
          <p:nvPr>
            <p:extLst>
              <p:ext uri="{D42A27DB-BD31-4B8C-83A1-F6EECF244321}">
                <p14:modId xmlns:p14="http://schemas.microsoft.com/office/powerpoint/2010/main" val="3663910646"/>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8626910E-8F61-8CED-BA9C-9B36EF14C9AB}"/>
              </a:ext>
            </a:extLst>
          </p:cNvPr>
          <p:cNvSpPr txBox="1">
            <a:spLocks/>
          </p:cNvSpPr>
          <p:nvPr/>
        </p:nvSpPr>
        <p:spPr>
          <a:xfrm>
            <a:off x="3174" y="1062158"/>
            <a:ext cx="8624937" cy="23683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4. Other Techniques:</a:t>
            </a:r>
          </a:p>
          <a:p>
            <a:pPr marL="12700" marR="5080"/>
            <a:r>
              <a:rPr lang="en-US" sz="1400" kern="0" spc="-80" dirty="0">
                <a:solidFill>
                  <a:schemeClr val="accent2"/>
                </a:solidFill>
                <a:cs typeface="+mn-cs"/>
              </a:rPr>
              <a:t>Convolutional Neural Networks (CNNs): </a:t>
            </a:r>
            <a:r>
              <a:rPr lang="en-US" sz="1400" kern="0" spc="-80" dirty="0">
                <a:solidFill>
                  <a:schemeClr val="accent6"/>
                </a:solidFill>
                <a:cs typeface="+mn-cs"/>
              </a:rPr>
              <a:t>CNNs, a type of deep learning model, are also used for image recognition and can be trained to be invariant to certain transformations. </a:t>
            </a:r>
          </a:p>
          <a:p>
            <a:pPr marL="12700" marR="5080"/>
            <a:r>
              <a:rPr lang="en-US" sz="1400" kern="0" spc="-80" dirty="0">
                <a:solidFill>
                  <a:schemeClr val="accent2"/>
                </a:solidFill>
                <a:cs typeface="+mn-cs"/>
              </a:rPr>
              <a:t>Integral Transforms</a:t>
            </a:r>
            <a:r>
              <a:rPr lang="en-US" sz="1400" kern="0" spc="-80" dirty="0">
                <a:solidFill>
                  <a:schemeClr val="accent6"/>
                </a:solidFill>
                <a:cs typeface="+mn-cs"/>
              </a:rPr>
              <a:t>: Integral transforms like Fourier transforms can be used to extract features that are invariant to certain transformations. </a:t>
            </a:r>
          </a:p>
          <a:p>
            <a:pPr marL="12700" marR="5080"/>
            <a:r>
              <a:rPr lang="en-US" sz="1400" kern="0" spc="-80" dirty="0">
                <a:solidFill>
                  <a:schemeClr val="accent2"/>
                </a:solidFill>
                <a:cs typeface="+mn-cs"/>
              </a:rPr>
              <a:t>Structured Neural Networks</a:t>
            </a:r>
            <a:r>
              <a:rPr lang="en-US" sz="1400" kern="0" spc="-80" dirty="0">
                <a:solidFill>
                  <a:schemeClr val="accent6"/>
                </a:solidFill>
                <a:cs typeface="+mn-cs"/>
              </a:rPr>
              <a:t>: These networks are designed to be invariant to specific types of transformations, such as rotation or translation. </a:t>
            </a:r>
          </a:p>
          <a:p>
            <a:pPr marL="12700" marR="5080"/>
            <a:r>
              <a:rPr lang="en-US" sz="1400" kern="0" spc="-80" dirty="0">
                <a:solidFill>
                  <a:schemeClr val="accent6"/>
                </a:solidFill>
                <a:cs typeface="+mn-cs"/>
              </a:rPr>
              <a:t>In summary, invariant image recognition techniques leverage features that remain consistent across transformations, enabling robust object recognition even when the image is scaled, rotated, or viewed from a different perspective. </a:t>
            </a:r>
          </a:p>
          <a:p>
            <a:pPr marL="12700" marR="5080"/>
            <a:endParaRPr lang="en-US" sz="1390" kern="0" spc="-220" dirty="0">
              <a:solidFill>
                <a:schemeClr val="accent6"/>
              </a:solidFill>
            </a:endParaRPr>
          </a:p>
        </p:txBody>
      </p:sp>
    </p:spTree>
    <p:extLst>
      <p:ext uri="{BB962C8B-B14F-4D97-AF65-F5344CB8AC3E}">
        <p14:creationId xmlns:p14="http://schemas.microsoft.com/office/powerpoint/2010/main" val="26475491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32BA-1CAC-947F-9808-BA3CB65672A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2897BE-49A4-B003-51BB-6C377665FFD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F381DF57-ED8C-A7AC-0305-1538AEADC7D1}"/>
              </a:ext>
            </a:extLst>
          </p:cNvPr>
          <p:cNvSpPr/>
          <p:nvPr/>
        </p:nvSpPr>
        <p:spPr>
          <a:xfrm>
            <a:off x="1661159" y="10002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B9E8BA3-48F4-3A82-2A4C-4AB52B351B25}"/>
              </a:ext>
            </a:extLst>
          </p:cNvPr>
          <p:cNvSpPr/>
          <p:nvPr/>
        </p:nvSpPr>
        <p:spPr>
          <a:xfrm>
            <a:off x="1661159" y="82242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D040AA8-01E1-32F3-B7DB-33C6AE2110FD}"/>
              </a:ext>
            </a:extLst>
          </p:cNvPr>
          <p:cNvGraphicFramePr/>
          <p:nvPr>
            <p:extLst>
              <p:ext uri="{D42A27DB-BD31-4B8C-83A1-F6EECF244321}">
                <p14:modId xmlns:p14="http://schemas.microsoft.com/office/powerpoint/2010/main" val="3122764691"/>
              </p:ext>
            </p:extLst>
          </p:nvPr>
        </p:nvGraphicFramePr>
        <p:xfrm>
          <a:off x="-17146" y="17828"/>
          <a:ext cx="9084945" cy="7404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D40AB5E-DA07-5BD9-1978-D356B003DB0F}"/>
              </a:ext>
            </a:extLst>
          </p:cNvPr>
          <p:cNvSpPr txBox="1">
            <a:spLocks/>
          </p:cNvSpPr>
          <p:nvPr/>
        </p:nvSpPr>
        <p:spPr>
          <a:xfrm>
            <a:off x="3174" y="1062158"/>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Convolutional Neural Networks (CNNs) leverage several architectural elements to achieve various types of vision invariance, including translational, rotational, and scale invariance. These elements include convolutional layers with shared weights, pooling layers, and, to a lesser extent, fully connected layers. </a:t>
            </a:r>
          </a:p>
          <a:p>
            <a:pPr marL="12700" marR="5080"/>
            <a:r>
              <a:rPr lang="en-US" sz="1400" kern="0" spc="-80" dirty="0">
                <a:solidFill>
                  <a:schemeClr val="accent2"/>
                </a:solidFill>
                <a:cs typeface="+mn-cs"/>
              </a:rPr>
              <a:t>1. Convolutional Layers:</a:t>
            </a:r>
          </a:p>
          <a:p>
            <a:pPr marL="12700" marR="5080"/>
            <a:r>
              <a:rPr lang="en-US" sz="1400" kern="0" spc="-80" dirty="0">
                <a:solidFill>
                  <a:schemeClr val="accent2"/>
                </a:solidFill>
                <a:cs typeface="+mn-cs"/>
              </a:rPr>
              <a:t>Shared Weights:</a:t>
            </a:r>
            <a:r>
              <a:rPr lang="en-US" sz="1400" kern="0" spc="-80" dirty="0">
                <a:solidFill>
                  <a:schemeClr val="accent6"/>
                </a:solidFill>
                <a:cs typeface="+mn-cs"/>
              </a:rPr>
              <a:t> Convolutional layers utilize a set of learnable parameters (weights and biases) that are shared across all spatial locations in the input feature map. This means that a particular filter learns a feature (e.g., an edge) and can detect it regardless of its location in the image. This shared weight mechanism enables translation invariance, as the same filter will be applied to different positions of the input, allowing the network to recognize features regardless of their location. </a:t>
            </a:r>
          </a:p>
          <a:p>
            <a:pPr marL="12700" marR="5080"/>
            <a:r>
              <a:rPr lang="en-US" sz="1400" kern="0" spc="-80" dirty="0">
                <a:solidFill>
                  <a:schemeClr val="accent2"/>
                </a:solidFill>
                <a:cs typeface="+mn-cs"/>
              </a:rPr>
              <a:t>Feature Extraction: </a:t>
            </a:r>
            <a:r>
              <a:rPr lang="en-US" sz="1400" kern="0" spc="-80" dirty="0">
                <a:solidFill>
                  <a:schemeClr val="accent6"/>
                </a:solidFill>
                <a:cs typeface="+mn-cs"/>
              </a:rPr>
              <a:t>Convolutional layers extract hierarchical features from the input, starting with low-level features (edges, textures) in the earlier layers and progressing to more complex patterns (objects, shapes) in the deeper layers. This hierarchical feature extraction enables the network to learn robust representations of the input that are less sensitive to variations in position, scale, and orientation. </a:t>
            </a:r>
          </a:p>
          <a:p>
            <a:pPr marL="12700" marR="5080"/>
            <a:r>
              <a:rPr lang="en-US" sz="1400" kern="0" spc="-80" dirty="0">
                <a:solidFill>
                  <a:schemeClr val="accent2"/>
                </a:solidFill>
                <a:cs typeface="+mn-cs"/>
              </a:rPr>
              <a:t>Receptive Fields</a:t>
            </a:r>
            <a:r>
              <a:rPr lang="en-US" sz="1400" kern="0" spc="-80" dirty="0">
                <a:solidFill>
                  <a:schemeClr val="accent6"/>
                </a:solidFill>
                <a:cs typeface="+mn-cs"/>
              </a:rPr>
              <a:t>: Each neuron in a convolutional layer has a receptive field, which is the region of the input image that influences its output. By convolving the input with a filter, the network effectively "looks" at only a small region of the input, reducing the number of parameters and making the network more efficient. This local connectivity contributes to the network's ability to learn robust features that are invariant to small shifts in the input. </a:t>
            </a:r>
          </a:p>
          <a:p>
            <a:pPr marL="12700" marR="5080"/>
            <a:r>
              <a:rPr lang="en-US" sz="1400" kern="0" spc="-80" dirty="0">
                <a:solidFill>
                  <a:schemeClr val="accent2"/>
                </a:solidFill>
                <a:cs typeface="+mn-cs"/>
              </a:rPr>
              <a:t>2. Pooling Layers:</a:t>
            </a:r>
          </a:p>
          <a:p>
            <a:pPr marL="12700" marR="5080"/>
            <a:r>
              <a:rPr lang="en-US" sz="1400" kern="0" spc="-80" dirty="0" err="1">
                <a:solidFill>
                  <a:schemeClr val="accent2"/>
                </a:solidFill>
                <a:cs typeface="+mn-cs"/>
              </a:rPr>
              <a:t>Downsampling</a:t>
            </a:r>
            <a:r>
              <a:rPr lang="en-US" sz="1400" kern="0" spc="-80" dirty="0">
                <a:solidFill>
                  <a:schemeClr val="accent2"/>
                </a:solidFill>
                <a:cs typeface="+mn-cs"/>
              </a:rPr>
              <a:t>: </a:t>
            </a:r>
            <a:r>
              <a:rPr lang="en-US" sz="1400" kern="0" spc="-80" dirty="0">
                <a:solidFill>
                  <a:schemeClr val="accent6"/>
                </a:solidFill>
                <a:cs typeface="+mn-cs"/>
              </a:rPr>
              <a:t>Pooling layers reduce the spatial dimensions of the feature maps by summarizing information within local regions. This can be achieved through operations like max pooling (taking the maximum value within a region) or average pooling (taking the average value).</a:t>
            </a:r>
          </a:p>
        </p:txBody>
      </p:sp>
    </p:spTree>
    <p:extLst>
      <p:ext uri="{BB962C8B-B14F-4D97-AF65-F5344CB8AC3E}">
        <p14:creationId xmlns:p14="http://schemas.microsoft.com/office/powerpoint/2010/main" val="22285530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6952B-0B9A-0C5A-85F0-20504F71C4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741556-4F76-FCE6-EB1D-0CF47F9C2FB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A3D4995-D033-393E-3E16-52F69DFCF000}"/>
              </a:ext>
            </a:extLst>
          </p:cNvPr>
          <p:cNvSpPr/>
          <p:nvPr/>
        </p:nvSpPr>
        <p:spPr>
          <a:xfrm>
            <a:off x="1661159" y="10002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6A36455-218E-4178-7485-A9E00FA80C39}"/>
              </a:ext>
            </a:extLst>
          </p:cNvPr>
          <p:cNvSpPr/>
          <p:nvPr/>
        </p:nvSpPr>
        <p:spPr>
          <a:xfrm>
            <a:off x="1661159" y="82242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614AD22-957F-9648-3B80-46C4065A14B7}"/>
              </a:ext>
            </a:extLst>
          </p:cNvPr>
          <p:cNvGraphicFramePr/>
          <p:nvPr>
            <p:extLst>
              <p:ext uri="{D42A27DB-BD31-4B8C-83A1-F6EECF244321}">
                <p14:modId xmlns:p14="http://schemas.microsoft.com/office/powerpoint/2010/main" val="421176131"/>
              </p:ext>
            </p:extLst>
          </p:nvPr>
        </p:nvGraphicFramePr>
        <p:xfrm>
          <a:off x="-17146" y="17828"/>
          <a:ext cx="9084945" cy="7404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057D46A0-C774-EFA7-3135-6AC4651C12D3}"/>
              </a:ext>
            </a:extLst>
          </p:cNvPr>
          <p:cNvSpPr txBox="1">
            <a:spLocks/>
          </p:cNvSpPr>
          <p:nvPr/>
        </p:nvSpPr>
        <p:spPr>
          <a:xfrm>
            <a:off x="3174" y="1062158"/>
            <a:ext cx="8624937" cy="50613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Translation Invariance:</a:t>
            </a:r>
            <a:r>
              <a:rPr lang="en-US" sz="1400" kern="0" spc="-80" dirty="0">
                <a:solidFill>
                  <a:schemeClr val="accent6"/>
                </a:solidFill>
                <a:cs typeface="+mn-cs"/>
              </a:rPr>
              <a:t> Pooling introduces a degree of local translation invariance by focusing on the most prominent features within a region, regardless of their precise location. This makes the network less sensitive to small shifts in the input image.</a:t>
            </a:r>
          </a:p>
          <a:p>
            <a:pPr marL="12700" marR="5080"/>
            <a:r>
              <a:rPr lang="en-US" sz="1400" kern="0" spc="-80" dirty="0">
                <a:solidFill>
                  <a:schemeClr val="accent2"/>
                </a:solidFill>
                <a:cs typeface="+mn-cs"/>
              </a:rPr>
              <a:t>Scale Invariance: </a:t>
            </a:r>
            <a:r>
              <a:rPr lang="en-US" sz="1400" kern="0" spc="-80" dirty="0">
                <a:solidFill>
                  <a:schemeClr val="accent6"/>
                </a:solidFill>
                <a:cs typeface="+mn-cs"/>
              </a:rPr>
              <a:t>Pooling also contributes to scale invariance by summarizing information across larger regions, making the network less sensitive to variations in the size of objects.</a:t>
            </a:r>
          </a:p>
          <a:p>
            <a:pPr marL="12700" marR="5080"/>
            <a:r>
              <a:rPr lang="en-US" sz="1400" kern="0" spc="-80" dirty="0">
                <a:solidFill>
                  <a:schemeClr val="accent2"/>
                </a:solidFill>
                <a:cs typeface="+mn-cs"/>
              </a:rPr>
              <a:t>3. Fully Connected Layers:</a:t>
            </a:r>
          </a:p>
          <a:p>
            <a:pPr marL="12700" marR="5080"/>
            <a:r>
              <a:rPr lang="en-US" sz="1400" kern="0" spc="-80" dirty="0">
                <a:solidFill>
                  <a:schemeClr val="accent2"/>
                </a:solidFill>
                <a:cs typeface="+mn-cs"/>
              </a:rPr>
              <a:t>Integration of Features</a:t>
            </a:r>
            <a:r>
              <a:rPr lang="en-US" sz="1400" kern="0" spc="-80" dirty="0">
                <a:solidFill>
                  <a:schemeClr val="accent6"/>
                </a:solidFill>
                <a:cs typeface="+mn-cs"/>
              </a:rPr>
              <a:t>: Fully connected layers connect every neuron in the previous layer to every neuron in the current layer, allowing the network to integrate the features extracted by the convolutional and pooling layers.</a:t>
            </a:r>
          </a:p>
          <a:p>
            <a:pPr marL="12700" marR="5080"/>
            <a:r>
              <a:rPr lang="en-US" sz="1400" kern="0" spc="-80" dirty="0">
                <a:solidFill>
                  <a:schemeClr val="accent2"/>
                </a:solidFill>
                <a:cs typeface="+mn-cs"/>
              </a:rPr>
              <a:t>Classification</a:t>
            </a:r>
            <a:r>
              <a:rPr lang="en-US" sz="1400" kern="0" spc="-80" dirty="0">
                <a:solidFill>
                  <a:schemeClr val="accent6"/>
                </a:solidFill>
                <a:cs typeface="+mn-cs"/>
              </a:rPr>
              <a:t>: Fully connected layers are typically used at the end of the network for tasks like classification, where they map the extracted features to a final output (e.g., class probabilities).</a:t>
            </a:r>
          </a:p>
          <a:p>
            <a:pPr marL="12700" marR="5080"/>
            <a:endParaRPr lang="en-US" sz="1400" kern="0" spc="-80" dirty="0">
              <a:solidFill>
                <a:schemeClr val="accent6"/>
              </a:solidFill>
              <a:cs typeface="+mn-cs"/>
            </a:endParaRPr>
          </a:p>
          <a:p>
            <a:pPr marL="12700" marR="5080"/>
            <a:r>
              <a:rPr lang="en-US" sz="1400" kern="0" spc="-80" dirty="0">
                <a:solidFill>
                  <a:schemeClr val="accent6"/>
                </a:solidFill>
                <a:cs typeface="+mn-cs"/>
              </a:rPr>
              <a:t>In summary, the combination of convolutional layers with shared weights, pooling layers for </a:t>
            </a:r>
            <a:r>
              <a:rPr lang="en-US" sz="1400" kern="0" spc="-80" dirty="0" err="1">
                <a:solidFill>
                  <a:schemeClr val="accent6"/>
                </a:solidFill>
                <a:cs typeface="+mn-cs"/>
              </a:rPr>
              <a:t>downsampling</a:t>
            </a:r>
            <a:r>
              <a:rPr lang="en-US" sz="1400" kern="0" spc="-80" dirty="0">
                <a:solidFill>
                  <a:schemeClr val="accent6"/>
                </a:solidFill>
                <a:cs typeface="+mn-cs"/>
              </a:rPr>
              <a:t> and local translation invariance, and fully connected layers for integrating and classifying features allows CNNs to achieve various types of vision invariance, making them robust to variations in input images</a:t>
            </a: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r>
              <a:rPr lang="en-US" sz="1800" kern="0" spc="-220" dirty="0">
                <a:solidFill>
                  <a:schemeClr val="accent2"/>
                </a:solidFill>
              </a:rPr>
              <a:t>For Further Exploration –</a:t>
            </a:r>
          </a:p>
          <a:p>
            <a:pPr marL="12700" marR="5080"/>
            <a:r>
              <a:rPr lang="en-US" sz="1500" dirty="0">
                <a:hlinkClick r:id="rId7"/>
              </a:rPr>
              <a:t>Deep Convolutional Neural Networks as Models of the Visual System</a:t>
            </a:r>
            <a:endParaRPr lang="en-US" sz="1500" dirty="0"/>
          </a:p>
          <a:p>
            <a:pPr marL="12700" marR="5080"/>
            <a:r>
              <a:rPr lang="en-US" sz="1500" dirty="0">
                <a:hlinkClick r:id="rId8"/>
              </a:rPr>
              <a:t>A Comparison of Pooling Methods for Convolutional Neural Networks</a:t>
            </a:r>
            <a:endParaRPr lang="en-US" sz="1500" dirty="0"/>
          </a:p>
          <a:p>
            <a:pPr marL="12700" marR="5080"/>
            <a:r>
              <a:rPr lang="en-US" sz="1500" dirty="0">
                <a:hlinkClick r:id="rId9"/>
              </a:rPr>
              <a:t>Convolution &amp; Pooling Layers. Convolution Layer: | by Nikita Malviya | Medium</a:t>
            </a:r>
            <a:endParaRPr lang="en-US" sz="1500" dirty="0"/>
          </a:p>
          <a:p>
            <a:pPr marL="12700" marR="5080"/>
            <a:endParaRPr lang="en-US" sz="1390" kern="0" spc="-220" dirty="0">
              <a:solidFill>
                <a:schemeClr val="accent6"/>
              </a:solidFill>
            </a:endParaRPr>
          </a:p>
        </p:txBody>
      </p:sp>
    </p:spTree>
    <p:extLst>
      <p:ext uri="{BB962C8B-B14F-4D97-AF65-F5344CB8AC3E}">
        <p14:creationId xmlns:p14="http://schemas.microsoft.com/office/powerpoint/2010/main" val="299945883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A2536-3A81-5567-FCEE-3A58312518C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FDFFB32-CD38-9721-2A33-69AA8816DFC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8031D86-1655-8B66-A15E-A9A8A8341AF8}"/>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AFAF872-4D3C-255B-8890-8A1EA86EAEF0}"/>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C2828BC-0383-2053-8E19-D3F981A84DF5}"/>
              </a:ext>
            </a:extLst>
          </p:cNvPr>
          <p:cNvGraphicFramePr/>
          <p:nvPr>
            <p:extLst>
              <p:ext uri="{D42A27DB-BD31-4B8C-83A1-F6EECF244321}">
                <p14:modId xmlns:p14="http://schemas.microsoft.com/office/powerpoint/2010/main" val="2175914916"/>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9CEEB38-5C9C-2025-ACD6-BCA480A44AB9}"/>
              </a:ext>
            </a:extLst>
          </p:cNvPr>
          <p:cNvSpPr txBox="1">
            <a:spLocks/>
          </p:cNvSpPr>
          <p:nvPr/>
        </p:nvSpPr>
        <p:spPr>
          <a:xfrm>
            <a:off x="41725" y="4343162"/>
            <a:ext cx="8624937" cy="16004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 –</a:t>
            </a:r>
          </a:p>
          <a:p>
            <a:pPr marL="12700" marR="5080"/>
            <a:r>
              <a:rPr lang="en-US" sz="1200" dirty="0">
                <a:hlinkClick r:id="rId7"/>
              </a:rPr>
              <a:t>The intuition behind recurrent neural networks</a:t>
            </a:r>
            <a:endParaRPr lang="en-US" sz="1200" dirty="0"/>
          </a:p>
          <a:p>
            <a:pPr marL="12700" marR="5080"/>
            <a:r>
              <a:rPr lang="en-US" sz="1200" dirty="0">
                <a:hlinkClick r:id="rId8"/>
              </a:rPr>
              <a:t>Back Propagation through time – RNN | </a:t>
            </a:r>
            <a:r>
              <a:rPr lang="en-US" sz="1200" dirty="0" err="1">
                <a:hlinkClick r:id="rId8"/>
              </a:rPr>
              <a:t>GeeksforGeeks</a:t>
            </a:r>
            <a:endParaRPr lang="en-US" sz="1200" dirty="0"/>
          </a:p>
          <a:p>
            <a:pPr marL="12700" marR="5080"/>
            <a:r>
              <a:rPr lang="en-IN" sz="1200" dirty="0">
                <a:hlinkClick r:id="rId9"/>
              </a:rPr>
              <a:t>Sequence Models &amp; Recurrent Neural Networks (RNNs)</a:t>
            </a:r>
            <a:endParaRPr lang="en-IN" sz="1200" dirty="0"/>
          </a:p>
          <a:p>
            <a:pPr marL="12700" marR="5080"/>
            <a:r>
              <a:rPr lang="en-US" sz="1200" dirty="0">
                <a:hlinkClick r:id="rId10"/>
              </a:rPr>
              <a:t>RNN vs LSTM vs GRU</a:t>
            </a:r>
            <a:endParaRPr lang="en-US" sz="1200" dirty="0"/>
          </a:p>
          <a:p>
            <a:pPr marL="12700" marR="5080"/>
            <a:r>
              <a:rPr lang="en-US" sz="1200" dirty="0">
                <a:hlinkClick r:id="rId11"/>
              </a:rPr>
              <a:t>Encoders-Decoders, Sequence to Sequence Architecture.</a:t>
            </a:r>
            <a:endParaRPr lang="en-US" sz="1200" dirty="0"/>
          </a:p>
          <a:p>
            <a:pPr marL="12700" marR="5080"/>
            <a:r>
              <a:rPr lang="en-IN" sz="1200" dirty="0">
                <a:hlinkClick r:id="rId12"/>
              </a:rPr>
              <a:t>Recurrent Neural Networks (RNNs): Challenges and Limitations</a:t>
            </a:r>
            <a:endParaRPr lang="en-IN" sz="1200" dirty="0"/>
          </a:p>
          <a:p>
            <a:pPr marL="12700" marR="5080"/>
            <a:r>
              <a:rPr lang="en-US" sz="1200" dirty="0">
                <a:hlinkClick r:id="rId13"/>
              </a:rPr>
              <a:t>ML For Sequential Data</a:t>
            </a:r>
            <a:endParaRPr lang="en-US" sz="1200" dirty="0"/>
          </a:p>
        </p:txBody>
      </p:sp>
      <p:pic>
        <p:nvPicPr>
          <p:cNvPr id="5" name="Picture 4" descr="A diagram of a block diagram&#10;&#10;AI-generated content may be incorrect.">
            <a:extLst>
              <a:ext uri="{FF2B5EF4-FFF2-40B4-BE49-F238E27FC236}">
                <a16:creationId xmlns:a16="http://schemas.microsoft.com/office/drawing/2014/main" id="{70AA9510-2BE3-19D7-50DE-DAE8B885B83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7626" y="1335952"/>
            <a:ext cx="8915399" cy="2950046"/>
          </a:xfrm>
          <a:prstGeom prst="rect">
            <a:avLst/>
          </a:prstGeom>
        </p:spPr>
      </p:pic>
    </p:spTree>
    <p:extLst>
      <p:ext uri="{BB962C8B-B14F-4D97-AF65-F5344CB8AC3E}">
        <p14:creationId xmlns:p14="http://schemas.microsoft.com/office/powerpoint/2010/main" val="299771140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3F94-4832-2DD3-18B0-C3E88F0C384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BA7EFC-6A84-2818-19DB-42387EA0318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46F455C2-C874-2BB4-326C-0B1004341E28}"/>
              </a:ext>
            </a:extLst>
          </p:cNvPr>
          <p:cNvSpPr/>
          <p:nvPr/>
        </p:nvSpPr>
        <p:spPr>
          <a:xfrm>
            <a:off x="1645735" y="99752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BC3D3EF-0422-FC65-838E-FD78869A2E8D}"/>
              </a:ext>
            </a:extLst>
          </p:cNvPr>
          <p:cNvSpPr/>
          <p:nvPr/>
        </p:nvSpPr>
        <p:spPr>
          <a:xfrm>
            <a:off x="1661159" y="80706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B339BBB-2FAA-BFD5-E2C9-669303FD1746}"/>
              </a:ext>
            </a:extLst>
          </p:cNvPr>
          <p:cNvGraphicFramePr/>
          <p:nvPr>
            <p:extLst>
              <p:ext uri="{D42A27DB-BD31-4B8C-83A1-F6EECF244321}">
                <p14:modId xmlns:p14="http://schemas.microsoft.com/office/powerpoint/2010/main" val="678851125"/>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6179EE0-14AE-AA3F-1EB0-39C6051CE147}"/>
              </a:ext>
            </a:extLst>
          </p:cNvPr>
          <p:cNvSpPr txBox="1">
            <a:spLocks/>
          </p:cNvSpPr>
          <p:nvPr/>
        </p:nvSpPr>
        <p:spPr>
          <a:xfrm>
            <a:off x="76201" y="846600"/>
            <a:ext cx="8624937" cy="44381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150" kern="0" spc="-80" dirty="0">
                <a:solidFill>
                  <a:schemeClr val="accent6"/>
                </a:solidFill>
                <a:cs typeface="+mn-cs"/>
              </a:rPr>
              <a:t>Self-attention, cross-attention, and multi-head attention are all variations of the attention mechanism used in deep learning models, particularly in transformers. Self-attention focuses on relationships within a single sequence, while cross-attention bridges the gap between two distinct sequences. Multi-head attention is a technique that uses multiple parallel attention mechanisms to capture different aspects of a sequence, often used in conjunction with self-attention or cross-attention. </a:t>
            </a:r>
          </a:p>
          <a:p>
            <a:pPr marL="12700" marR="5080"/>
            <a:r>
              <a:rPr lang="en-US" sz="1150" kern="0" spc="-80" dirty="0">
                <a:solidFill>
                  <a:schemeClr val="accent2"/>
                </a:solidFill>
                <a:cs typeface="+mn-cs"/>
              </a:rPr>
              <a:t>Self-Attention:  </a:t>
            </a:r>
          </a:p>
          <a:p>
            <a:pPr marL="12700" marR="5080"/>
            <a:r>
              <a:rPr lang="en-US" sz="1150" kern="0" spc="-80" dirty="0">
                <a:solidFill>
                  <a:schemeClr val="accent2"/>
                </a:solidFill>
                <a:cs typeface="+mn-cs"/>
              </a:rPr>
              <a:t>Focus</a:t>
            </a:r>
            <a:r>
              <a:rPr lang="en-US" sz="1150" kern="0" spc="-80" dirty="0">
                <a:solidFill>
                  <a:schemeClr val="accent6"/>
                </a:solidFill>
                <a:cs typeface="+mn-cs"/>
              </a:rPr>
              <a:t>: Within a single sequence, enabling a model to attend to different positions within that sequence to understand its meaning. </a:t>
            </a:r>
          </a:p>
          <a:p>
            <a:pPr marL="12700" marR="5080"/>
            <a:r>
              <a:rPr lang="en-US" sz="1150" kern="0" spc="-80" dirty="0">
                <a:solidFill>
                  <a:schemeClr val="accent2"/>
                </a:solidFill>
                <a:cs typeface="+mn-cs"/>
              </a:rPr>
              <a:t>Mechanism</a:t>
            </a:r>
            <a:r>
              <a:rPr lang="en-US" sz="1150" kern="0" spc="-80" dirty="0">
                <a:solidFill>
                  <a:schemeClr val="accent6"/>
                </a:solidFill>
                <a:cs typeface="+mn-cs"/>
              </a:rPr>
              <a:t>: Transforms an input sequence into query, key, and value vectors. These vectors are then used to compute attention weights, effectively determining the importance of each element in the sequence relative to others. </a:t>
            </a:r>
          </a:p>
          <a:p>
            <a:pPr marL="12700" marR="5080"/>
            <a:r>
              <a:rPr lang="en-US" sz="1150" kern="0" spc="-80" dirty="0">
                <a:solidFill>
                  <a:schemeClr val="accent2"/>
                </a:solidFill>
                <a:cs typeface="+mn-cs"/>
              </a:rPr>
              <a:t>Applications</a:t>
            </a:r>
            <a:r>
              <a:rPr lang="en-US" sz="1150" kern="0" spc="-80" dirty="0">
                <a:solidFill>
                  <a:schemeClr val="accent6"/>
                </a:solidFill>
                <a:cs typeface="+mn-cs"/>
              </a:rPr>
              <a:t>: Commonly used in encoders and decoders of transformer models, capturing dependencies within a single input sequence. </a:t>
            </a:r>
          </a:p>
          <a:p>
            <a:pPr marL="12700" marR="5080"/>
            <a:r>
              <a:rPr lang="en-US" sz="1150" kern="0" spc="-80" dirty="0">
                <a:solidFill>
                  <a:schemeClr val="accent2"/>
                </a:solidFill>
                <a:cs typeface="+mn-cs"/>
              </a:rPr>
              <a:t>Cross-Attention</a:t>
            </a:r>
            <a:r>
              <a:rPr lang="en-US" sz="1150" kern="0" spc="-80" dirty="0">
                <a:solidFill>
                  <a:schemeClr val="accent6"/>
                </a:solidFill>
                <a:cs typeface="+mn-cs"/>
              </a:rPr>
              <a:t>:</a:t>
            </a:r>
          </a:p>
          <a:p>
            <a:pPr marL="12700" marR="5080"/>
            <a:r>
              <a:rPr lang="en-US" sz="1150" kern="0" spc="-80" dirty="0">
                <a:solidFill>
                  <a:schemeClr val="accent2"/>
                </a:solidFill>
                <a:cs typeface="+mn-cs"/>
              </a:rPr>
              <a:t>Focus</a:t>
            </a:r>
            <a:r>
              <a:rPr lang="en-US" sz="1150" kern="0" spc="-80" dirty="0">
                <a:solidFill>
                  <a:schemeClr val="accent6"/>
                </a:solidFill>
                <a:cs typeface="+mn-cs"/>
              </a:rPr>
              <a:t>: Between two different sequences, allowing models to relate information from one sequence to another. </a:t>
            </a:r>
          </a:p>
          <a:p>
            <a:pPr marL="12700" marR="5080"/>
            <a:r>
              <a:rPr lang="en-US" sz="1150" kern="0" spc="-80" dirty="0">
                <a:solidFill>
                  <a:schemeClr val="accent2"/>
                </a:solidFill>
                <a:cs typeface="+mn-cs"/>
              </a:rPr>
              <a:t>Mechanism</a:t>
            </a:r>
            <a:r>
              <a:rPr lang="en-US" sz="1150" kern="0" spc="-80" dirty="0">
                <a:solidFill>
                  <a:schemeClr val="accent6"/>
                </a:solidFill>
                <a:cs typeface="+mn-cs"/>
              </a:rPr>
              <a:t>: Similar to self-attention, it utilizes query, key, and value vectors, but these vectors come from different sequences. </a:t>
            </a:r>
          </a:p>
          <a:p>
            <a:pPr marL="12700" marR="5080"/>
            <a:r>
              <a:rPr lang="en-US" sz="1150" kern="0" spc="-80" dirty="0">
                <a:solidFill>
                  <a:schemeClr val="accent2"/>
                </a:solidFill>
                <a:cs typeface="+mn-cs"/>
              </a:rPr>
              <a:t>Applications</a:t>
            </a:r>
            <a:r>
              <a:rPr lang="en-US" sz="1150" kern="0" spc="-80" dirty="0">
                <a:solidFill>
                  <a:schemeClr val="accent6"/>
                </a:solidFill>
                <a:cs typeface="+mn-cs"/>
              </a:rPr>
              <a:t>: Crucial in encoder-decoder architectures, enabling information transfer between an input sequence and an output sequence. </a:t>
            </a:r>
          </a:p>
          <a:p>
            <a:pPr marL="12700" marR="5080"/>
            <a:r>
              <a:rPr lang="en-US" sz="1150" kern="0" spc="-80" dirty="0">
                <a:solidFill>
                  <a:schemeClr val="accent2"/>
                </a:solidFill>
                <a:cs typeface="+mn-cs"/>
              </a:rPr>
              <a:t>Multi-Head Attention:</a:t>
            </a:r>
          </a:p>
          <a:p>
            <a:pPr marL="12700" marR="5080"/>
            <a:r>
              <a:rPr lang="en-US" sz="1150" kern="0" spc="-80" dirty="0">
                <a:solidFill>
                  <a:schemeClr val="accent2"/>
                </a:solidFill>
                <a:cs typeface="+mn-cs"/>
              </a:rPr>
              <a:t>Focus</a:t>
            </a:r>
            <a:r>
              <a:rPr lang="en-US" sz="1150" kern="0" spc="-80" dirty="0">
                <a:solidFill>
                  <a:schemeClr val="accent6"/>
                </a:solidFill>
                <a:cs typeface="+mn-cs"/>
              </a:rPr>
              <a:t>: Enhances the ability of attention mechanisms to capture complex relationships by using multiple "heads". </a:t>
            </a:r>
          </a:p>
          <a:p>
            <a:pPr marL="12700" marR="5080"/>
            <a:r>
              <a:rPr lang="en-US" sz="1150" kern="0" spc="-80" dirty="0">
                <a:solidFill>
                  <a:schemeClr val="accent2"/>
                </a:solidFill>
                <a:cs typeface="+mn-cs"/>
              </a:rPr>
              <a:t>Mechanism</a:t>
            </a:r>
            <a:r>
              <a:rPr lang="en-US" sz="1150" kern="0" spc="-80" dirty="0">
                <a:solidFill>
                  <a:schemeClr val="accent6"/>
                </a:solidFill>
                <a:cs typeface="+mn-cs"/>
              </a:rPr>
              <a:t>: Divides the input sequence into multiple "heads," each of which independently calculates attention weights. The outputs of these heads are then combined to produce a final output. </a:t>
            </a:r>
          </a:p>
          <a:p>
            <a:pPr marL="12700" marR="5080"/>
            <a:r>
              <a:rPr lang="en-US" sz="1150" kern="0" spc="-80" dirty="0">
                <a:solidFill>
                  <a:schemeClr val="accent2"/>
                </a:solidFill>
                <a:cs typeface="+mn-cs"/>
              </a:rPr>
              <a:t>Applications</a:t>
            </a:r>
            <a:r>
              <a:rPr lang="en-US" sz="1150" kern="0" spc="-80" dirty="0">
                <a:solidFill>
                  <a:schemeClr val="accent6"/>
                </a:solidFill>
                <a:cs typeface="+mn-cs"/>
              </a:rPr>
              <a:t>: Used in conjunction with self-attention and cross-attention, particularly in transformer models, allowing for more nuanced and comprehensive understanding of sequences. </a:t>
            </a:r>
          </a:p>
          <a:p>
            <a:pPr marL="12700" marR="5080"/>
            <a:endParaRPr lang="en-US" sz="1300" kern="0" spc="-220" dirty="0">
              <a:solidFill>
                <a:schemeClr val="accent6"/>
              </a:solidFill>
            </a:endParaRPr>
          </a:p>
          <a:p>
            <a:pPr marL="12700" marR="5080"/>
            <a:r>
              <a:rPr lang="en-US" sz="1390" kern="0" spc="-220" dirty="0">
                <a:solidFill>
                  <a:schemeClr val="accent6"/>
                </a:solidFill>
              </a:rPr>
              <a:t>  </a:t>
            </a:r>
          </a:p>
        </p:txBody>
      </p:sp>
      <p:sp>
        <p:nvSpPr>
          <p:cNvPr id="4" name="object 2">
            <a:extLst>
              <a:ext uri="{FF2B5EF4-FFF2-40B4-BE49-F238E27FC236}">
                <a16:creationId xmlns:a16="http://schemas.microsoft.com/office/drawing/2014/main" id="{7CB8D38A-9788-53A2-732C-01CE97A2D87D}"/>
              </a:ext>
            </a:extLst>
          </p:cNvPr>
          <p:cNvSpPr txBox="1">
            <a:spLocks/>
          </p:cNvSpPr>
          <p:nvPr/>
        </p:nvSpPr>
        <p:spPr>
          <a:xfrm>
            <a:off x="76201" y="4969639"/>
            <a:ext cx="8624937" cy="14311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000" dirty="0">
                <a:hlinkClick r:id="rId7"/>
              </a:rPr>
              <a:t>Attention Networks: A simple way to understand Self-Attention </a:t>
            </a:r>
            <a:endParaRPr lang="en-US" sz="1000" dirty="0"/>
          </a:p>
          <a:p>
            <a:pPr marL="12700" marR="5080"/>
            <a:r>
              <a:rPr lang="en-US" sz="1000" dirty="0">
                <a:hlinkClick r:id="rId8"/>
              </a:rPr>
              <a:t>Attention Networks: A simple way to understand Cross-Attention</a:t>
            </a:r>
            <a:endParaRPr lang="en-US" sz="1000" dirty="0"/>
          </a:p>
          <a:p>
            <a:pPr marL="12700" marR="5080"/>
            <a:r>
              <a:rPr lang="en-US" sz="1000" dirty="0">
                <a:hlinkClick r:id="rId9"/>
              </a:rPr>
              <a:t>Attention Networks: A simple way to understand Multi-Head Attention</a:t>
            </a:r>
            <a:endParaRPr lang="en-US" sz="1000" dirty="0"/>
          </a:p>
          <a:p>
            <a:pPr marL="12700" marR="5080"/>
            <a:r>
              <a:rPr lang="en-IN" sz="1000" dirty="0">
                <a:hlinkClick r:id="rId10"/>
              </a:rPr>
              <a:t>Transformer Attention Mechanism in NLP | </a:t>
            </a:r>
            <a:r>
              <a:rPr lang="en-IN" sz="1000" dirty="0" err="1">
                <a:hlinkClick r:id="rId10"/>
              </a:rPr>
              <a:t>GeeksforGeeks</a:t>
            </a:r>
            <a:endParaRPr lang="en-IN" sz="1000" dirty="0"/>
          </a:p>
          <a:p>
            <a:pPr marL="12700" marR="5080"/>
            <a:r>
              <a:rPr lang="en-IN" sz="1000" dirty="0">
                <a:hlinkClick r:id="rId11"/>
              </a:rPr>
              <a:t>Attention (machine learning) - Wikipedia</a:t>
            </a:r>
            <a:endParaRPr lang="en-US" sz="1000" kern="0" spc="-80" dirty="0">
              <a:solidFill>
                <a:schemeClr val="accent2"/>
              </a:solidFill>
            </a:endParaRPr>
          </a:p>
          <a:p>
            <a:pPr marL="12700" marR="5080"/>
            <a:endParaRPr lang="en-US" sz="1800" kern="0" spc="-80" dirty="0">
              <a:solidFill>
                <a:schemeClr val="accent2"/>
              </a:solidFill>
            </a:endParaRPr>
          </a:p>
          <a:p>
            <a:pPr marL="12700" marR="5080"/>
            <a:endParaRPr lang="en-IN" sz="1100" dirty="0"/>
          </a:p>
        </p:txBody>
      </p:sp>
    </p:spTree>
    <p:extLst>
      <p:ext uri="{BB962C8B-B14F-4D97-AF65-F5344CB8AC3E}">
        <p14:creationId xmlns:p14="http://schemas.microsoft.com/office/powerpoint/2010/main" val="32268986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3D4B-EFA8-8101-0C09-D733FAAADE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31B326-1E95-4868-5C5D-10F21516A6B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48BAC15-70CE-00DD-756C-E26D185FD1B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55FC3F7-153E-6F05-0066-C407694DA826}"/>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633CD3C-486B-53F4-EBDE-58E2C0DF5838}"/>
              </a:ext>
            </a:extLst>
          </p:cNvPr>
          <p:cNvGraphicFramePr/>
          <p:nvPr>
            <p:extLst>
              <p:ext uri="{D42A27DB-BD31-4B8C-83A1-F6EECF244321}">
                <p14:modId xmlns:p14="http://schemas.microsoft.com/office/powerpoint/2010/main" val="3279132476"/>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A873A97-A2F6-9FC1-2879-F5207526B1F1}"/>
              </a:ext>
            </a:extLst>
          </p:cNvPr>
          <p:cNvSpPr txBox="1">
            <a:spLocks/>
          </p:cNvSpPr>
          <p:nvPr/>
        </p:nvSpPr>
        <p:spPr>
          <a:xfrm>
            <a:off x="76201" y="996482"/>
            <a:ext cx="8624937" cy="42011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150" kern="0" spc="-80" dirty="0">
                <a:solidFill>
                  <a:schemeClr val="accent6"/>
                </a:solidFill>
                <a:cs typeface="+mn-cs"/>
              </a:rPr>
              <a:t>Contextual embeddings and positional embeddings are both crucial for NLP models like Transformers, but they serve different purposes. Contextual embeddings capture the meaning of words in relation to their surrounding words, allowing for different representations of the same word in different contexts. Positional embeddings, on the other hand, provide the model with information about the position of each word in a sequence, helping it understand the order of words. </a:t>
            </a:r>
          </a:p>
          <a:p>
            <a:pPr marL="12700" marR="5080"/>
            <a:r>
              <a:rPr lang="en-US" sz="1150" kern="0" spc="-80" dirty="0">
                <a:solidFill>
                  <a:schemeClr val="accent6"/>
                </a:solidFill>
                <a:cs typeface="+mn-cs"/>
              </a:rPr>
              <a:t>Here's a more detailed breakdown: </a:t>
            </a:r>
          </a:p>
          <a:p>
            <a:pPr marL="12700" marR="5080"/>
            <a:r>
              <a:rPr lang="en-US" sz="1150" kern="0" spc="-80" dirty="0">
                <a:solidFill>
                  <a:schemeClr val="accent2"/>
                </a:solidFill>
                <a:cs typeface="+mn-cs"/>
              </a:rPr>
              <a:t>Contextual Embeddings: </a:t>
            </a:r>
          </a:p>
          <a:p>
            <a:pPr marL="12700" marR="5080"/>
            <a:r>
              <a:rPr lang="en-US" sz="1150" kern="0" spc="-80" dirty="0">
                <a:solidFill>
                  <a:schemeClr val="accent2"/>
                </a:solidFill>
                <a:cs typeface="+mn-cs"/>
              </a:rPr>
              <a:t>Dynamic</a:t>
            </a:r>
            <a:r>
              <a:rPr lang="en-US" sz="1150" kern="0" spc="-80" dirty="0">
                <a:solidFill>
                  <a:schemeClr val="accent6"/>
                </a:solidFill>
                <a:cs typeface="+mn-cs"/>
              </a:rPr>
              <a:t>: They adapt to the context, unlike static embeddings which represent words with fixed vectors. </a:t>
            </a:r>
          </a:p>
          <a:p>
            <a:pPr marL="12700" marR="5080"/>
            <a:r>
              <a:rPr lang="en-US" sz="1150" kern="0" spc="-80" dirty="0">
                <a:solidFill>
                  <a:schemeClr val="accent2"/>
                </a:solidFill>
                <a:cs typeface="+mn-cs"/>
              </a:rPr>
              <a:t>Purpose</a:t>
            </a:r>
            <a:r>
              <a:rPr lang="en-US" sz="1150" kern="0" spc="-80" dirty="0">
                <a:solidFill>
                  <a:schemeClr val="accent6"/>
                </a:solidFill>
                <a:cs typeface="+mn-cs"/>
              </a:rPr>
              <a:t>: Allow a word to have multiple representations based on its surrounding context, enabling better handling of word sense disambiguation and polysemy. </a:t>
            </a:r>
          </a:p>
          <a:p>
            <a:pPr marL="12700" marR="5080"/>
            <a:r>
              <a:rPr lang="en-US" sz="1150" kern="0" spc="-80" dirty="0">
                <a:solidFill>
                  <a:schemeClr val="accent2"/>
                </a:solidFill>
                <a:cs typeface="+mn-cs"/>
              </a:rPr>
              <a:t>Example</a:t>
            </a:r>
            <a:r>
              <a:rPr lang="en-US" sz="1150" kern="0" spc="-80" dirty="0">
                <a:solidFill>
                  <a:schemeClr val="accent6"/>
                </a:solidFill>
                <a:cs typeface="+mn-cs"/>
              </a:rPr>
              <a:t>: </a:t>
            </a:r>
            <a:r>
              <a:rPr lang="en-US" sz="1150" kern="0" spc="-80" dirty="0" err="1">
                <a:solidFill>
                  <a:schemeClr val="accent6"/>
                </a:solidFill>
                <a:cs typeface="+mn-cs"/>
              </a:rPr>
              <a:t>ELMo</a:t>
            </a:r>
            <a:r>
              <a:rPr lang="en-US" sz="1150" kern="0" spc="-80" dirty="0">
                <a:solidFill>
                  <a:schemeClr val="accent6"/>
                </a:solidFill>
                <a:cs typeface="+mn-cs"/>
              </a:rPr>
              <a:t> and BERT are popular models that generate contextual embeddings by considering the surrounding words. </a:t>
            </a:r>
          </a:p>
          <a:p>
            <a:pPr marL="12700" marR="5080"/>
            <a:r>
              <a:rPr lang="en-US" sz="1150" kern="0" spc="-80" dirty="0">
                <a:solidFill>
                  <a:schemeClr val="accent2"/>
                </a:solidFill>
                <a:cs typeface="+mn-cs"/>
              </a:rPr>
              <a:t>Positional Embeddings: </a:t>
            </a:r>
          </a:p>
          <a:p>
            <a:pPr marL="12700" marR="5080"/>
            <a:r>
              <a:rPr lang="en-US" sz="1150" kern="0" spc="-80" dirty="0">
                <a:solidFill>
                  <a:schemeClr val="accent2"/>
                </a:solidFill>
                <a:cs typeface="+mn-cs"/>
              </a:rPr>
              <a:t>Purpose</a:t>
            </a:r>
            <a:r>
              <a:rPr lang="en-US" sz="1150" kern="0" spc="-80" dirty="0">
                <a:solidFill>
                  <a:schemeClr val="accent6"/>
                </a:solidFill>
                <a:cs typeface="+mn-cs"/>
              </a:rPr>
              <a:t>: Provide the model with information about the position of each word in a sequence, which is crucial for understanding the order of words. </a:t>
            </a:r>
          </a:p>
          <a:p>
            <a:pPr marL="12700" marR="5080"/>
            <a:r>
              <a:rPr lang="en-US" sz="1150" kern="0" spc="-80" dirty="0">
                <a:solidFill>
                  <a:schemeClr val="accent2"/>
                </a:solidFill>
                <a:cs typeface="+mn-cs"/>
              </a:rPr>
              <a:t>How it works:</a:t>
            </a:r>
            <a:r>
              <a:rPr lang="en-US" sz="1150" kern="0" spc="-80" dirty="0">
                <a:solidFill>
                  <a:schemeClr val="accent6"/>
                </a:solidFill>
                <a:cs typeface="+mn-cs"/>
              </a:rPr>
              <a:t> Transformers, which process words in parallel, need positional embeddings to understand the order of words in a sentence. </a:t>
            </a:r>
          </a:p>
          <a:p>
            <a:pPr marL="12700" marR="5080"/>
            <a:r>
              <a:rPr lang="en-US" sz="1150" kern="0" spc="-80" dirty="0">
                <a:solidFill>
                  <a:schemeClr val="accent2"/>
                </a:solidFill>
                <a:cs typeface="+mn-cs"/>
              </a:rPr>
              <a:t>Example</a:t>
            </a:r>
            <a:r>
              <a:rPr lang="en-US" sz="1150" kern="0" spc="-80" dirty="0">
                <a:solidFill>
                  <a:schemeClr val="accent6"/>
                </a:solidFill>
                <a:cs typeface="+mn-cs"/>
              </a:rPr>
              <a:t>: Sine and cosine functions are often used to generate positional embeddings</a:t>
            </a:r>
          </a:p>
          <a:p>
            <a:pPr marL="12700" marR="5080"/>
            <a:r>
              <a:rPr lang="en-US" sz="1150" kern="0" spc="-80" dirty="0">
                <a:solidFill>
                  <a:schemeClr val="accent2"/>
                </a:solidFill>
                <a:cs typeface="+mn-cs"/>
              </a:rPr>
              <a:t>Focus</a:t>
            </a:r>
            <a:r>
              <a:rPr lang="en-US" sz="1150" kern="0" spc="-80" dirty="0">
                <a:solidFill>
                  <a:schemeClr val="accent6"/>
                </a:solidFill>
                <a:cs typeface="+mn-cs"/>
              </a:rPr>
              <a:t>: Contextual embeddings focus on the meaning of words in relation to their context, while positional embeddings focus on the order of words in a sequence. </a:t>
            </a:r>
          </a:p>
          <a:p>
            <a:pPr marL="12700" marR="5080"/>
            <a:r>
              <a:rPr lang="en-US" sz="1150" kern="0" spc="-80" dirty="0">
                <a:solidFill>
                  <a:schemeClr val="accent2"/>
                </a:solidFill>
                <a:cs typeface="+mn-cs"/>
              </a:rPr>
              <a:t>Dynamic vs. Static:</a:t>
            </a:r>
            <a:r>
              <a:rPr lang="en-US" sz="1150" kern="0" spc="-80" dirty="0">
                <a:solidFill>
                  <a:schemeClr val="accent6"/>
                </a:solidFill>
                <a:cs typeface="+mn-cs"/>
              </a:rPr>
              <a:t> Contextual embeddings are dynamic, changing based on context, while positional embeddings are generally static within a given sequence. </a:t>
            </a:r>
          </a:p>
          <a:p>
            <a:pPr marL="12700" marR="5080"/>
            <a:r>
              <a:rPr lang="en-US" sz="1150" kern="0" spc="-80" dirty="0">
                <a:solidFill>
                  <a:schemeClr val="accent2"/>
                </a:solidFill>
                <a:cs typeface="+mn-cs"/>
              </a:rPr>
              <a:t>Application</a:t>
            </a:r>
            <a:r>
              <a:rPr lang="en-US" sz="1150" kern="0" spc="-80" dirty="0">
                <a:solidFill>
                  <a:schemeClr val="accent6"/>
                </a:solidFill>
                <a:cs typeface="+mn-cs"/>
              </a:rPr>
              <a:t>: Contextual embeddings are useful for tasks that require nuanced understanding of language, such as sentiment analysis and text generation, while positional embeddings are crucial for any NLP model that relies on the order of words. </a:t>
            </a:r>
          </a:p>
        </p:txBody>
      </p:sp>
      <p:sp>
        <p:nvSpPr>
          <p:cNvPr id="4" name="object 2">
            <a:extLst>
              <a:ext uri="{FF2B5EF4-FFF2-40B4-BE49-F238E27FC236}">
                <a16:creationId xmlns:a16="http://schemas.microsoft.com/office/drawing/2014/main" id="{6DD09513-2786-F5BC-283F-2CB1B2023C9F}"/>
              </a:ext>
            </a:extLst>
          </p:cNvPr>
          <p:cNvSpPr txBox="1">
            <a:spLocks/>
          </p:cNvSpPr>
          <p:nvPr/>
        </p:nvSpPr>
        <p:spPr>
          <a:xfrm>
            <a:off x="76200" y="5420380"/>
            <a:ext cx="8624937" cy="52322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000" dirty="0">
                <a:hlinkClick r:id="rId7"/>
              </a:rPr>
              <a:t>How to build custom NER model with Context based Word Embeddings in Vernacular languages</a:t>
            </a:r>
            <a:endParaRPr lang="en-US" sz="1000" dirty="0"/>
          </a:p>
          <a:p>
            <a:pPr marL="12700" marR="5080"/>
            <a:r>
              <a:rPr lang="en-US" sz="1000" dirty="0">
                <a:hlinkClick r:id="rId8"/>
              </a:rPr>
              <a:t>A Gentle Introduction to Positional Encoding</a:t>
            </a:r>
            <a:endParaRPr lang="en-US" sz="1400" kern="0" spc="-80" dirty="0">
              <a:solidFill>
                <a:schemeClr val="accent2"/>
              </a:solidFill>
            </a:endParaRPr>
          </a:p>
        </p:txBody>
      </p:sp>
    </p:spTree>
    <p:extLst>
      <p:ext uri="{BB962C8B-B14F-4D97-AF65-F5344CB8AC3E}">
        <p14:creationId xmlns:p14="http://schemas.microsoft.com/office/powerpoint/2010/main" val="292272144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7B686-13D0-E189-9E2C-7B58C5CA2B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F84B19-D669-9C9A-6507-521B06173B3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EE1FCCF-ACD7-7031-678D-E342D36592A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921C08A-9114-97B7-0518-0F6B2670D296}"/>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58038E0-1775-10C4-E414-C39C7D423D8F}"/>
              </a:ext>
            </a:extLst>
          </p:cNvPr>
          <p:cNvGraphicFramePr/>
          <p:nvPr>
            <p:extLst>
              <p:ext uri="{D42A27DB-BD31-4B8C-83A1-F6EECF244321}">
                <p14:modId xmlns:p14="http://schemas.microsoft.com/office/powerpoint/2010/main" val="3858080274"/>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73FF3F43-B05D-8B09-0B97-B6898049A8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377399"/>
            <a:ext cx="9144000" cy="3880401"/>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2">
            <a:extLst>
              <a:ext uri="{FF2B5EF4-FFF2-40B4-BE49-F238E27FC236}">
                <a16:creationId xmlns:a16="http://schemas.microsoft.com/office/drawing/2014/main" id="{0603A886-D811-3D7A-3AC9-BF0E3FC057BD}"/>
              </a:ext>
            </a:extLst>
          </p:cNvPr>
          <p:cNvSpPr txBox="1">
            <a:spLocks/>
          </p:cNvSpPr>
          <p:nvPr/>
        </p:nvSpPr>
        <p:spPr>
          <a:xfrm>
            <a:off x="41725" y="4993087"/>
            <a:ext cx="8624937" cy="12141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500" kern="0" spc="-220" dirty="0">
                <a:solidFill>
                  <a:schemeClr val="accent6"/>
                </a:solidFill>
              </a:rPr>
              <a:t>Refer </a:t>
            </a:r>
            <a:r>
              <a:rPr lang="en-US" sz="1500" dirty="0">
                <a:hlinkClick r:id="rId8"/>
              </a:rPr>
              <a:t>Transformer Neural Networks </a:t>
            </a:r>
            <a:r>
              <a:rPr lang="en-US" sz="1500" dirty="0"/>
              <a:t>, </a:t>
            </a:r>
            <a:r>
              <a:rPr lang="en-US" sz="1500" dirty="0">
                <a:hlinkClick r:id="rId9"/>
              </a:rPr>
              <a:t>The Illustrated Transformer</a:t>
            </a:r>
            <a:r>
              <a:rPr lang="en-US" sz="1500" dirty="0"/>
              <a:t> </a:t>
            </a:r>
            <a:r>
              <a:rPr lang="en-US" sz="1500" kern="0" spc="-220" dirty="0">
                <a:solidFill>
                  <a:schemeClr val="accent6"/>
                </a:solidFill>
              </a:rPr>
              <a:t>, </a:t>
            </a:r>
            <a:r>
              <a:rPr lang="en-US" sz="1500" dirty="0">
                <a:hlinkClick r:id="rId10"/>
              </a:rPr>
              <a:t>An Intuitive Introduction to the Vision Transformer</a:t>
            </a:r>
            <a:r>
              <a:rPr lang="en-US" sz="1050" dirty="0">
                <a:hlinkClick r:id="rId10"/>
              </a:rPr>
              <a:t> </a:t>
            </a:r>
            <a:r>
              <a:rPr lang="en-US" sz="1050" dirty="0"/>
              <a:t> </a:t>
            </a:r>
            <a:r>
              <a:rPr lang="en-US" sz="1200" kern="0" spc="-80" dirty="0">
                <a:solidFill>
                  <a:schemeClr val="accent6"/>
                </a:solidFill>
                <a:cs typeface="+mn-cs"/>
              </a:rPr>
              <a:t>&amp;</a:t>
            </a:r>
            <a:r>
              <a:rPr lang="en-US" sz="1050" dirty="0"/>
              <a:t> </a:t>
            </a:r>
            <a:r>
              <a:rPr lang="en-US" sz="1500" dirty="0">
                <a:hlinkClick r:id="rId11"/>
              </a:rPr>
              <a:t>How does backpropagation in a transformer work?</a:t>
            </a:r>
            <a:r>
              <a:rPr lang="en-US" sz="1500" dirty="0"/>
              <a:t> </a:t>
            </a:r>
            <a:r>
              <a:rPr lang="en-US" sz="1200" kern="0" spc="-80" dirty="0">
                <a:solidFill>
                  <a:schemeClr val="accent6"/>
                </a:solidFill>
                <a:cs typeface="+mn-cs"/>
              </a:rPr>
              <a:t>to understand the intricate details of the  (vision) Transformer Architecture</a:t>
            </a:r>
          </a:p>
          <a:p>
            <a:pPr marL="12700" marR="5080"/>
            <a:r>
              <a:rPr lang="en-US" sz="1390" kern="0" spc="-220" dirty="0">
                <a:solidFill>
                  <a:schemeClr val="accent6"/>
                </a:solidFill>
              </a:rPr>
              <a:t>  </a:t>
            </a:r>
          </a:p>
        </p:txBody>
      </p:sp>
    </p:spTree>
    <p:extLst>
      <p:ext uri="{BB962C8B-B14F-4D97-AF65-F5344CB8AC3E}">
        <p14:creationId xmlns:p14="http://schemas.microsoft.com/office/powerpoint/2010/main" val="30749326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96F3D-F154-60AC-000C-507749587C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D47CAA-C13B-2B05-FDE4-6D3E5FDD320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4F82A27-5AAA-0342-E073-889C8851009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95CF1B2-0342-84EA-F86F-015ACFD4E2C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D2B9F46-A415-BF72-6972-84378612655D}"/>
              </a:ext>
            </a:extLst>
          </p:cNvPr>
          <p:cNvGraphicFramePr/>
          <p:nvPr>
            <p:extLst>
              <p:ext uri="{D42A27DB-BD31-4B8C-83A1-F6EECF244321}">
                <p14:modId xmlns:p14="http://schemas.microsoft.com/office/powerpoint/2010/main" val="271263024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D5EF4F7F-8A46-BC1B-B69F-01F7F524D8CF}"/>
              </a:ext>
            </a:extLst>
          </p:cNvPr>
          <p:cNvSpPr txBox="1">
            <a:spLocks/>
          </p:cNvSpPr>
          <p:nvPr/>
        </p:nvSpPr>
        <p:spPr>
          <a:xfrm>
            <a:off x="41725" y="1295400"/>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6"/>
                </a:solidFill>
                <a:cs typeface="+mn-cs"/>
              </a:rPr>
              <a:t>Graph ML refers to applying machine learning techniques to data represented as graphs. This approach is used in various fields like social networks, knowledge graphs, and drug discovery, where understanding relationships between entities is crucial. </a:t>
            </a:r>
          </a:p>
          <a:p>
            <a:pPr marL="12700" marR="5080"/>
            <a:r>
              <a:rPr lang="en-US" sz="1270" kern="0" spc="-80" dirty="0">
                <a:solidFill>
                  <a:schemeClr val="accent6"/>
                </a:solidFill>
                <a:cs typeface="+mn-cs"/>
              </a:rPr>
              <a:t>Elaboration:</a:t>
            </a:r>
          </a:p>
          <a:p>
            <a:pPr marL="12700" marR="5080"/>
            <a:r>
              <a:rPr lang="en-US" sz="1270" kern="0" spc="-80" dirty="0">
                <a:solidFill>
                  <a:schemeClr val="accent2"/>
                </a:solidFill>
                <a:cs typeface="+mn-cs"/>
              </a:rPr>
              <a:t>Graph Machine Learning (GML):</a:t>
            </a:r>
          </a:p>
          <a:p>
            <a:pPr marL="12700" marR="5080"/>
            <a:r>
              <a:rPr lang="en-US" sz="1270" kern="0" spc="-80" dirty="0">
                <a:solidFill>
                  <a:schemeClr val="accent2"/>
                </a:solidFill>
                <a:cs typeface="+mn-cs"/>
              </a:rPr>
              <a:t>Core Idea:</a:t>
            </a:r>
            <a:r>
              <a:rPr lang="en-US" sz="1270" kern="0" spc="-80" dirty="0">
                <a:solidFill>
                  <a:schemeClr val="accent6"/>
                </a:solidFill>
                <a:cs typeface="+mn-cs"/>
              </a:rPr>
              <a:t> GML leverages the structure of graphs (nodes and edges) to perform machine learning tasks. It's essentially machine learning applied to data that naturally exists in a network or relational form. </a:t>
            </a:r>
          </a:p>
          <a:p>
            <a:pPr marL="12700" marR="5080"/>
            <a:r>
              <a:rPr lang="en-US" sz="1270" kern="0" spc="-80" dirty="0">
                <a:solidFill>
                  <a:schemeClr val="accent2"/>
                </a:solidFill>
                <a:cs typeface="+mn-cs"/>
              </a:rPr>
              <a:t>Applications:</a:t>
            </a:r>
            <a:r>
              <a:rPr lang="en-US" sz="1270" kern="0" spc="-80" dirty="0">
                <a:solidFill>
                  <a:schemeClr val="accent6"/>
                </a:solidFill>
                <a:cs typeface="+mn-cs"/>
              </a:rPr>
              <a:t> GML finds use in diverse areas including: </a:t>
            </a:r>
          </a:p>
          <a:p>
            <a:pPr marL="12700" marR="5080"/>
            <a:r>
              <a:rPr lang="en-US" sz="1270" kern="0" spc="-80" dirty="0">
                <a:solidFill>
                  <a:schemeClr val="accent6"/>
                </a:solidFill>
                <a:cs typeface="+mn-cs"/>
              </a:rPr>
              <a:t>  </a:t>
            </a:r>
            <a:r>
              <a:rPr lang="en-US" sz="1270" kern="0" spc="-80" dirty="0">
                <a:solidFill>
                  <a:schemeClr val="accent2"/>
                </a:solidFill>
                <a:cs typeface="+mn-cs"/>
              </a:rPr>
              <a:t>Social Networks:</a:t>
            </a:r>
            <a:r>
              <a:rPr lang="en-US" sz="1270" kern="0" spc="-80" dirty="0">
                <a:solidFill>
                  <a:schemeClr val="accent6"/>
                </a:solidFill>
                <a:cs typeface="+mn-cs"/>
              </a:rPr>
              <a:t> Analyzing user connections, identifying influential individuals, and understanding network dynamics. </a:t>
            </a:r>
          </a:p>
          <a:p>
            <a:pPr marL="12700" marR="5080"/>
            <a:r>
              <a:rPr lang="en-US" sz="1270" kern="0" spc="-80" dirty="0">
                <a:solidFill>
                  <a:schemeClr val="accent6"/>
                </a:solidFill>
                <a:cs typeface="+mn-cs"/>
              </a:rPr>
              <a:t>  </a:t>
            </a:r>
            <a:r>
              <a:rPr lang="en-US" sz="1270" kern="0" spc="-80" dirty="0">
                <a:solidFill>
                  <a:schemeClr val="accent2"/>
                </a:solidFill>
                <a:cs typeface="+mn-cs"/>
              </a:rPr>
              <a:t>Knowledge Graphs:</a:t>
            </a:r>
            <a:r>
              <a:rPr lang="en-US" sz="1270" kern="0" spc="-80" dirty="0">
                <a:solidFill>
                  <a:schemeClr val="accent6"/>
                </a:solidFill>
                <a:cs typeface="+mn-cs"/>
              </a:rPr>
              <a:t> Representing and querying knowledge-based information, like in databases or semantic networks. </a:t>
            </a:r>
          </a:p>
          <a:p>
            <a:pPr marL="12700" marR="5080"/>
            <a:r>
              <a:rPr lang="en-US" sz="1270" kern="0" spc="-80" dirty="0">
                <a:solidFill>
                  <a:schemeClr val="accent2"/>
                </a:solidFill>
                <a:cs typeface="+mn-cs"/>
              </a:rPr>
              <a:t>  Drug Discovery</a:t>
            </a:r>
            <a:r>
              <a:rPr lang="en-US" sz="1270" kern="0" spc="-80" dirty="0">
                <a:solidFill>
                  <a:schemeClr val="accent6"/>
                </a:solidFill>
                <a:cs typeface="+mn-cs"/>
              </a:rPr>
              <a:t>: Modeling molecular structures and predicting drug efficacy. </a:t>
            </a:r>
          </a:p>
          <a:p>
            <a:pPr marL="12700" marR="5080"/>
            <a:r>
              <a:rPr lang="en-US" sz="1270" kern="0" spc="-80" dirty="0">
                <a:solidFill>
                  <a:schemeClr val="accent6"/>
                </a:solidFill>
                <a:cs typeface="+mn-cs"/>
              </a:rPr>
              <a:t>  </a:t>
            </a:r>
            <a:r>
              <a:rPr lang="en-US" sz="1270" kern="0" spc="-80" dirty="0">
                <a:solidFill>
                  <a:schemeClr val="accent2"/>
                </a:solidFill>
                <a:cs typeface="+mn-cs"/>
              </a:rPr>
              <a:t>Transportation</a:t>
            </a:r>
            <a:r>
              <a:rPr lang="en-US" sz="1270" kern="0" spc="-80" dirty="0">
                <a:solidFill>
                  <a:schemeClr val="accent6"/>
                </a:solidFill>
                <a:cs typeface="+mn-cs"/>
              </a:rPr>
              <a:t>: Optimizing traffic flow and routing. </a:t>
            </a:r>
          </a:p>
          <a:p>
            <a:pPr marL="12700" marR="5080"/>
            <a:r>
              <a:rPr lang="en-US" sz="1270" kern="0" spc="-80" dirty="0">
                <a:solidFill>
                  <a:schemeClr val="accent2"/>
                </a:solidFill>
                <a:cs typeface="+mn-cs"/>
              </a:rPr>
              <a:t>   Recommendation Systems:</a:t>
            </a:r>
            <a:r>
              <a:rPr lang="en-US" sz="1270" kern="0" spc="-80" dirty="0">
                <a:solidFill>
                  <a:schemeClr val="accent6"/>
                </a:solidFill>
                <a:cs typeface="+mn-cs"/>
              </a:rPr>
              <a:t> Suggesting products or content based on user preferences and connections. </a:t>
            </a:r>
          </a:p>
          <a:p>
            <a:pPr marL="12700" marR="5080"/>
            <a:r>
              <a:rPr lang="en-US" sz="1270" kern="0" spc="-80" dirty="0">
                <a:solidFill>
                  <a:schemeClr val="accent2"/>
                </a:solidFill>
                <a:cs typeface="+mn-cs"/>
              </a:rPr>
              <a:t>Key Algorithms:</a:t>
            </a:r>
          </a:p>
          <a:p>
            <a:pPr marL="12700" marR="5080"/>
            <a:r>
              <a:rPr lang="en-US" sz="1270" kern="0" spc="-80" dirty="0">
                <a:solidFill>
                  <a:schemeClr val="accent2"/>
                </a:solidFill>
                <a:cs typeface="+mn-cs"/>
              </a:rPr>
              <a:t>GML often uses algorithms like: </a:t>
            </a:r>
          </a:p>
          <a:p>
            <a:pPr marL="12700" marR="5080"/>
            <a:r>
              <a:rPr lang="en-US" sz="1270" kern="0" spc="-80" dirty="0">
                <a:solidFill>
                  <a:schemeClr val="accent2"/>
                </a:solidFill>
                <a:cs typeface="+mn-cs"/>
              </a:rPr>
              <a:t>Graph Embedding Methods:</a:t>
            </a:r>
            <a:r>
              <a:rPr lang="en-US" sz="1270" kern="0" spc="-80" dirty="0">
                <a:solidFill>
                  <a:schemeClr val="accent6"/>
                </a:solidFill>
                <a:cs typeface="+mn-cs"/>
              </a:rPr>
              <a:t> Techniques that convert graph structures into lower-dimensional vector representations, enabling tasks like node similarity search and graph clustering. </a:t>
            </a:r>
          </a:p>
          <a:p>
            <a:pPr marL="12700" marR="5080"/>
            <a:r>
              <a:rPr lang="en-US" sz="1270" kern="0" spc="-80" dirty="0">
                <a:solidFill>
                  <a:schemeClr val="accent2"/>
                </a:solidFill>
                <a:cs typeface="+mn-cs"/>
              </a:rPr>
              <a:t>Graph Neural Networks (GNNs):</a:t>
            </a:r>
            <a:r>
              <a:rPr lang="en-US" sz="1270" kern="0" spc="-80" dirty="0">
                <a:solidFill>
                  <a:schemeClr val="accent6"/>
                </a:solidFill>
                <a:cs typeface="+mn-cs"/>
              </a:rPr>
              <a:t> Neural networks specifically designed to process graph data. GNNs learn node representations based on their connections and features, allowing for tasks like node classification, edge prediction, and graph classification. </a:t>
            </a:r>
          </a:p>
          <a:p>
            <a:pPr marL="12700" marR="5080"/>
            <a:r>
              <a:rPr lang="en-US" sz="1270" kern="0" spc="-80" dirty="0">
                <a:solidFill>
                  <a:schemeClr val="accent2"/>
                </a:solidFill>
                <a:cs typeface="+mn-cs"/>
              </a:rPr>
              <a:t>Other Algorithms:</a:t>
            </a:r>
            <a:r>
              <a:rPr lang="en-US" sz="1270" kern="0" spc="-80" dirty="0">
                <a:solidFill>
                  <a:schemeClr val="accent6"/>
                </a:solidFill>
                <a:cs typeface="+mn-cs"/>
              </a:rPr>
              <a:t> Various other ML algorithms can be adapted for use with graph data, including Laplacian regularization, and graph kernels. </a:t>
            </a:r>
          </a:p>
        </p:txBody>
      </p:sp>
    </p:spTree>
    <p:extLst>
      <p:ext uri="{BB962C8B-B14F-4D97-AF65-F5344CB8AC3E}">
        <p14:creationId xmlns:p14="http://schemas.microsoft.com/office/powerpoint/2010/main" val="243075159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32BE-95D7-4EBA-E14F-645D4542506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2D5E39-5180-1B4E-3268-B9E141C7328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319225D-5557-420C-561D-7B3CE3D9D6CD}"/>
              </a:ext>
            </a:extLst>
          </p:cNvPr>
          <p:cNvSpPr/>
          <p:nvPr/>
        </p:nvSpPr>
        <p:spPr>
          <a:xfrm>
            <a:off x="1661159" y="97096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7D4B677-08C6-E3AA-9B0A-A8FC44688A80}"/>
              </a:ext>
            </a:extLst>
          </p:cNvPr>
          <p:cNvSpPr/>
          <p:nvPr/>
        </p:nvSpPr>
        <p:spPr>
          <a:xfrm>
            <a:off x="1661159" y="8141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B0A5AFF-578F-A639-861E-93353D703BD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5E325742-FC2D-63BE-DA52-8A630FF0B06B}"/>
              </a:ext>
            </a:extLst>
          </p:cNvPr>
          <p:cNvSpPr txBox="1">
            <a:spLocks/>
          </p:cNvSpPr>
          <p:nvPr/>
        </p:nvSpPr>
        <p:spPr>
          <a:xfrm>
            <a:off x="0" y="1140797"/>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dirty="0">
                <a:hlinkClick r:id="rId7"/>
              </a:rPr>
              <a:t>The Ontology Pipeline</a:t>
            </a:r>
            <a:endParaRPr lang="en-IN" sz="1400" dirty="0">
              <a:hlinkClick r:id="rId8"/>
            </a:endParaRPr>
          </a:p>
          <a:p>
            <a:pPr marL="12700" marR="5080"/>
            <a:r>
              <a:rPr lang="en-IN" sz="1400" dirty="0">
                <a:hlinkClick r:id="rId8"/>
              </a:rPr>
              <a:t>Graph Applications</a:t>
            </a:r>
            <a:endParaRPr lang="en-IN" sz="1400" dirty="0"/>
          </a:p>
          <a:p>
            <a:pPr marL="12700" marR="5080"/>
            <a:r>
              <a:rPr lang="en-US" sz="1400" dirty="0">
                <a:hlinkClick r:id="rId9"/>
              </a:rPr>
              <a:t>Powering Geospatial Data Science with Graph Machine Learning</a:t>
            </a:r>
            <a:endParaRPr lang="en-IN" sz="1400" dirty="0"/>
          </a:p>
          <a:p>
            <a:pPr marL="12700" marR="5080"/>
            <a:r>
              <a:rPr lang="en-IN" sz="1400" dirty="0">
                <a:hlinkClick r:id="rId10"/>
              </a:rPr>
              <a:t>Semantic </a:t>
            </a:r>
            <a:r>
              <a:rPr lang="en-IN" sz="1400" dirty="0" err="1">
                <a:hlinkClick r:id="rId10"/>
              </a:rPr>
              <a:t>Modeling</a:t>
            </a:r>
            <a:r>
              <a:rPr lang="en-IN" sz="1400" dirty="0">
                <a:hlinkClick r:id="rId10"/>
              </a:rPr>
              <a:t> for Data[Book]</a:t>
            </a:r>
            <a:endParaRPr lang="en-IN" sz="1400" dirty="0"/>
          </a:p>
          <a:p>
            <a:pPr marL="12700" marR="5080"/>
            <a:r>
              <a:rPr lang="en-US" sz="1400" dirty="0">
                <a:hlinkClick r:id="rId11"/>
              </a:rPr>
              <a:t>Graph-Data-Modeling-in-Python</a:t>
            </a:r>
            <a:endParaRPr lang="en-US" sz="1400" dirty="0"/>
          </a:p>
          <a:p>
            <a:pPr marL="12700" marR="5080"/>
            <a:r>
              <a:rPr lang="en-US" sz="1400" dirty="0">
                <a:hlinkClick r:id="rId12"/>
              </a:rPr>
              <a:t>The Practitioner’s Guide to Graph Data</a:t>
            </a:r>
            <a:endParaRPr lang="en-US" sz="1400" dirty="0"/>
          </a:p>
          <a:p>
            <a:pPr marL="12700" marR="5080"/>
            <a:r>
              <a:rPr lang="en-IN" sz="1400" dirty="0">
                <a:hlinkClick r:id="rId13"/>
              </a:rPr>
              <a:t>8 Practical Steps to Graph Exploration</a:t>
            </a:r>
            <a:endParaRPr lang="en-IN" sz="1400" dirty="0"/>
          </a:p>
          <a:p>
            <a:pPr marL="12700" marR="5080"/>
            <a:r>
              <a:rPr lang="en-US" sz="1400" dirty="0">
                <a:hlinkClick r:id="rId14"/>
              </a:rPr>
              <a:t>Graph Analytics and Knowledge Graph Use Cases</a:t>
            </a:r>
            <a:endParaRPr lang="en-US" sz="1400" dirty="0"/>
          </a:p>
          <a:p>
            <a:pPr marL="12700" marR="5080"/>
            <a:r>
              <a:rPr lang="en-US" sz="1400" dirty="0">
                <a:hlinkClick r:id="rId15"/>
              </a:rPr>
              <a:t>Graph-Data-Science-with-Neo4j</a:t>
            </a:r>
            <a:endParaRPr lang="en-US" sz="1400" dirty="0"/>
          </a:p>
          <a:p>
            <a:pPr marL="12700" marR="5080"/>
            <a:r>
              <a:rPr lang="en-US" sz="1400" dirty="0">
                <a:hlinkClick r:id="rId16"/>
              </a:rPr>
              <a:t>Hands-On-Graph-Analytics-with-Neo4j</a:t>
            </a:r>
            <a:endParaRPr lang="en-US" sz="1400" dirty="0"/>
          </a:p>
          <a:p>
            <a:pPr marL="12700" marR="5080"/>
            <a:r>
              <a:rPr lang="en-US" sz="1400" dirty="0">
                <a:hlinkClick r:id="rId17"/>
              </a:rPr>
              <a:t>Cypher-Querying</a:t>
            </a:r>
            <a:endParaRPr lang="en-US" sz="1400" dirty="0"/>
          </a:p>
          <a:p>
            <a:pPr marL="12700" marR="5080"/>
            <a:r>
              <a:rPr lang="en-US" sz="1400" dirty="0">
                <a:hlinkClick r:id="rId18"/>
              </a:rPr>
              <a:t>Getting-Started-with-the-Graph-Query-Language-GQL</a:t>
            </a:r>
            <a:endParaRPr lang="en-US" sz="1400" dirty="0"/>
          </a:p>
          <a:p>
            <a:pPr marL="12700" marR="5080"/>
            <a:r>
              <a:rPr lang="en-US" sz="1400" dirty="0">
                <a:hlinkClick r:id="rId11"/>
              </a:rPr>
              <a:t>Graph-Data-Modeling-in-Python</a:t>
            </a:r>
            <a:endParaRPr lang="en-US" sz="1400" dirty="0"/>
          </a:p>
          <a:p>
            <a:pPr marL="12700" marR="5080"/>
            <a:r>
              <a:rPr lang="en-US" sz="1400" dirty="0">
                <a:hlinkClick r:id="rId19"/>
              </a:rPr>
              <a:t>Modern-Graph-Theory-Algorithms-with-Python</a:t>
            </a:r>
            <a:endParaRPr lang="en-US" sz="1400" dirty="0"/>
          </a:p>
          <a:p>
            <a:pPr marL="12700" marR="5080"/>
            <a:r>
              <a:rPr lang="en-IN" sz="1400" dirty="0">
                <a:hlinkClick r:id="rId20"/>
              </a:rPr>
              <a:t>Knowledge Graphs</a:t>
            </a:r>
            <a:endParaRPr lang="en-US" sz="1400" dirty="0"/>
          </a:p>
          <a:p>
            <a:pPr marL="12700" marR="5080"/>
            <a:r>
              <a:rPr lang="en-IN" sz="1400" dirty="0">
                <a:hlinkClick r:id="rId21"/>
              </a:rPr>
              <a:t>Graph Algorithms</a:t>
            </a:r>
            <a:endParaRPr lang="en-IN" sz="1400" dirty="0"/>
          </a:p>
          <a:p>
            <a:pPr marL="12700" marR="5080"/>
            <a:r>
              <a:rPr lang="en-US" sz="1400" dirty="0">
                <a:hlinkClick r:id="rId22"/>
              </a:rPr>
              <a:t>Graph Data Science with Python and Neo4j – AVA®- An Orange Education Label</a:t>
            </a:r>
            <a:endParaRPr lang="en-IN" sz="1400" dirty="0"/>
          </a:p>
          <a:p>
            <a:pPr marL="12700" marR="5080"/>
            <a:r>
              <a:rPr lang="en-US" sz="1400" dirty="0">
                <a:hlinkClick r:id="rId23"/>
              </a:rPr>
              <a:t>Graph algorithms - Neo4j Graph Data Science</a:t>
            </a:r>
            <a:endParaRPr lang="en-US" sz="1400" dirty="0"/>
          </a:p>
          <a:p>
            <a:pPr marL="12700" marR="5080"/>
            <a:r>
              <a:rPr lang="en-IN" sz="1400" dirty="0">
                <a:hlinkClick r:id="rId24"/>
              </a:rPr>
              <a:t>Distributed Graph Analytics</a:t>
            </a:r>
            <a:endParaRPr lang="en-IN" sz="1400" dirty="0"/>
          </a:p>
          <a:p>
            <a:pPr marL="12700" marR="5080"/>
            <a:r>
              <a:rPr lang="en-IN" sz="1400" dirty="0" err="1">
                <a:hlinkClick r:id="rId25"/>
              </a:rPr>
              <a:t>GraphX</a:t>
            </a:r>
            <a:r>
              <a:rPr lang="en-IN" sz="1400" dirty="0">
                <a:hlinkClick r:id="rId25"/>
              </a:rPr>
              <a:t> </a:t>
            </a:r>
            <a:r>
              <a:rPr lang="en-IN" sz="1400" dirty="0">
                <a:hlinkClick r:id="rId26"/>
              </a:rPr>
              <a:t>–</a:t>
            </a:r>
            <a:r>
              <a:rPr lang="en-IN" sz="1400" dirty="0">
                <a:hlinkClick r:id="rId25"/>
              </a:rPr>
              <a:t> Spark</a:t>
            </a:r>
            <a:endParaRPr lang="en-IN" sz="1400" dirty="0"/>
          </a:p>
          <a:p>
            <a:pPr marL="12700" marR="5080"/>
            <a:r>
              <a:rPr lang="en-IN" sz="1400" dirty="0">
                <a:hlinkClick r:id="rId27"/>
              </a:rPr>
              <a:t>Graph Algorithms | Apache Flink</a:t>
            </a:r>
            <a:endParaRPr lang="en-IN" sz="1400" dirty="0"/>
          </a:p>
          <a:p>
            <a:pPr marL="12700" marR="5080"/>
            <a:r>
              <a:rPr lang="en-IN" sz="1400" dirty="0">
                <a:hlinkClick r:id="rId28"/>
              </a:rPr>
              <a:t>Graph-Powered Machine Learning</a:t>
            </a:r>
            <a:endParaRPr lang="en-IN" sz="1400" dirty="0"/>
          </a:p>
        </p:txBody>
      </p:sp>
    </p:spTree>
    <p:extLst>
      <p:ext uri="{BB962C8B-B14F-4D97-AF65-F5344CB8AC3E}">
        <p14:creationId xmlns:p14="http://schemas.microsoft.com/office/powerpoint/2010/main" val="19781417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2C5F4-F5CA-B9FA-221B-6C594572D2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E50B1D2-09D1-0B44-5BD3-4896BD162C7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7A8565A-EFD1-383B-4AD4-6D7E0546ED9A}"/>
              </a:ext>
            </a:extLst>
          </p:cNvPr>
          <p:cNvSpPr/>
          <p:nvPr/>
        </p:nvSpPr>
        <p:spPr>
          <a:xfrm>
            <a:off x="1661159" y="97096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072E627-1C32-583A-D364-C957631A338E}"/>
              </a:ext>
            </a:extLst>
          </p:cNvPr>
          <p:cNvSpPr/>
          <p:nvPr/>
        </p:nvSpPr>
        <p:spPr>
          <a:xfrm>
            <a:off x="1661159" y="8141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F199A1D-425D-E3B7-9B2E-AC9AC7E9D48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929AEC87-B0C3-CEDE-9923-C44506D35719}"/>
              </a:ext>
            </a:extLst>
          </p:cNvPr>
          <p:cNvSpPr txBox="1">
            <a:spLocks/>
          </p:cNvSpPr>
          <p:nvPr/>
        </p:nvSpPr>
        <p:spPr>
          <a:xfrm>
            <a:off x="0" y="1138803"/>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hlinkClick r:id="rId7"/>
              </a:rPr>
              <a:t>Graph-Machine-Learning</a:t>
            </a:r>
            <a:endParaRPr lang="en-US" sz="1500" dirty="0"/>
          </a:p>
          <a:p>
            <a:pPr marL="12700" marR="5080"/>
            <a:r>
              <a:rPr lang="en-US" sz="1500" dirty="0">
                <a:hlinkClick r:id="rId8"/>
              </a:rPr>
              <a:t>Graph-Powered Analytics And Machine Learning With </a:t>
            </a:r>
            <a:r>
              <a:rPr lang="en-US" sz="1500" dirty="0" err="1">
                <a:hlinkClick r:id="rId8"/>
              </a:rPr>
              <a:t>TigerGraph</a:t>
            </a:r>
            <a:endParaRPr lang="en-US" sz="1500" dirty="0"/>
          </a:p>
          <a:p>
            <a:pPr marL="12700" marR="5080"/>
            <a:r>
              <a:rPr lang="en-US" sz="1500" dirty="0">
                <a:hlinkClick r:id="rId9"/>
              </a:rPr>
              <a:t>What Are Graph Neural Networks? </a:t>
            </a:r>
            <a:endParaRPr lang="en-US" sz="1500" dirty="0"/>
          </a:p>
          <a:p>
            <a:pPr marL="12700" marR="5080"/>
            <a:r>
              <a:rPr lang="en-US" sz="1500" dirty="0">
                <a:hlinkClick r:id="rId10"/>
              </a:rPr>
              <a:t>Graph Neural Networks: Libraries, Tools, and Learning Resources</a:t>
            </a:r>
            <a:endParaRPr lang="en-US" sz="1500" dirty="0"/>
          </a:p>
          <a:p>
            <a:pPr marL="12700" marR="5080"/>
            <a:r>
              <a:rPr lang="en-IN" sz="1500" dirty="0">
                <a:hlinkClick r:id="rId11"/>
              </a:rPr>
              <a:t>Graph Representation Learning</a:t>
            </a:r>
            <a:endParaRPr lang="en-IN" sz="1500" dirty="0"/>
          </a:p>
          <a:p>
            <a:pPr marL="12700" marR="5080"/>
            <a:r>
              <a:rPr lang="en-IN" sz="1500" dirty="0">
                <a:hlinkClick r:id="rId12"/>
              </a:rPr>
              <a:t>Deep Learning on Graphs</a:t>
            </a:r>
            <a:endParaRPr lang="en-IN" sz="1500" dirty="0"/>
          </a:p>
          <a:p>
            <a:pPr marL="12700" marR="5080"/>
            <a:r>
              <a:rPr lang="en-US" sz="1500" dirty="0">
                <a:hlinkClick r:id="rId13"/>
              </a:rPr>
              <a:t>Hands-On-Graph-Neural-Networks-Using-Python</a:t>
            </a:r>
            <a:endParaRPr lang="en-US" sz="1500" dirty="0"/>
          </a:p>
          <a:p>
            <a:pPr marL="12700" marR="5080"/>
            <a:r>
              <a:rPr lang="en-US" sz="1500" dirty="0">
                <a:hlinkClick r:id="rId14"/>
              </a:rPr>
              <a:t>Applications of Graph Neural Networks (GNN)</a:t>
            </a:r>
            <a:r>
              <a:rPr lang="en-US" sz="1500" dirty="0"/>
              <a:t> </a:t>
            </a:r>
          </a:p>
          <a:p>
            <a:pPr marL="12700" marR="5080"/>
            <a:r>
              <a:rPr lang="en-US" sz="1500" dirty="0">
                <a:hlinkClick r:id="rId15"/>
              </a:rPr>
              <a:t>Graph Neural Network Applications and its Future</a:t>
            </a:r>
            <a:endParaRPr lang="en-US" sz="1500" dirty="0"/>
          </a:p>
          <a:p>
            <a:pPr marL="12700" marR="5080"/>
            <a:r>
              <a:rPr lang="en-US" sz="1500" dirty="0">
                <a:hlinkClick r:id="rId16"/>
              </a:rPr>
              <a:t>Applications of Graph Neural Networks (GNNs)</a:t>
            </a:r>
            <a:endParaRPr lang="en-US" sz="1500" dirty="0"/>
          </a:p>
          <a:p>
            <a:pPr marL="12700" marR="5080"/>
            <a:r>
              <a:rPr lang="en-US" sz="1500" dirty="0">
                <a:hlinkClick r:id="rId17"/>
              </a:rPr>
              <a:t>Knowledge Graphs and LLMs in Action</a:t>
            </a:r>
            <a:endParaRPr lang="en-IN" sz="1500" dirty="0"/>
          </a:p>
          <a:p>
            <a:pPr marL="12700" marR="5080"/>
            <a:r>
              <a:rPr lang="en-US" sz="1500" dirty="0">
                <a:hlinkClick r:id="rId18"/>
              </a:rPr>
              <a:t>Social Network Analysis</a:t>
            </a:r>
            <a:endParaRPr lang="en-US" sz="1500" dirty="0"/>
          </a:p>
          <a:p>
            <a:pPr marL="12700" marR="5080"/>
            <a:r>
              <a:rPr lang="en-US" sz="1500" dirty="0">
                <a:hlinkClick r:id="rId19"/>
              </a:rPr>
              <a:t>Handbook of Graphs and Networks in People Analytics</a:t>
            </a:r>
            <a:endParaRPr lang="en-US" sz="1500" dirty="0"/>
          </a:p>
          <a:p>
            <a:pPr marL="12700" marR="5080"/>
            <a:r>
              <a:rPr lang="en-US" sz="1500" dirty="0">
                <a:hlinkClick r:id="rId20"/>
              </a:rPr>
              <a:t>Networks, Crowds, and Market</a:t>
            </a:r>
            <a:endParaRPr lang="en-US" sz="1500" dirty="0"/>
          </a:p>
          <a:p>
            <a:pPr marL="12700" marR="5080"/>
            <a:r>
              <a:rPr lang="en-IN" sz="1500" dirty="0">
                <a:hlinkClick r:id="rId21"/>
              </a:rPr>
              <a:t>Algorithms for Information Networks (Jon Kleinberg)</a:t>
            </a:r>
            <a:endParaRPr lang="en-IN" sz="1500" dirty="0"/>
          </a:p>
          <a:p>
            <a:pPr marL="12700" marR="5080"/>
            <a:r>
              <a:rPr lang="en-US" sz="1500" dirty="0">
                <a:hlinkClick r:id="rId22"/>
              </a:rPr>
              <a:t>Applied-Deep-Learning-on-Graphs</a:t>
            </a:r>
            <a:endParaRPr lang="en-US" sz="1500" dirty="0"/>
          </a:p>
          <a:p>
            <a:pPr marL="12700" marR="5080"/>
            <a:r>
              <a:rPr lang="en-IN" sz="1500" dirty="0">
                <a:hlinkClick r:id="rId23"/>
              </a:rPr>
              <a:t>GNNBook@2023</a:t>
            </a:r>
            <a:endParaRPr lang="en-US" sz="1500" dirty="0"/>
          </a:p>
          <a:p>
            <a:pPr marL="12700" marR="5080"/>
            <a:r>
              <a:rPr lang="en-US" sz="1500" dirty="0">
                <a:hlinkClick r:id="rId24"/>
              </a:rPr>
              <a:t>Awesome-Graph-Universe</a:t>
            </a:r>
            <a:endParaRPr lang="en-US" sz="1500" dirty="0"/>
          </a:p>
        </p:txBody>
      </p:sp>
    </p:spTree>
    <p:extLst>
      <p:ext uri="{BB962C8B-B14F-4D97-AF65-F5344CB8AC3E}">
        <p14:creationId xmlns:p14="http://schemas.microsoft.com/office/powerpoint/2010/main" val="172513615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26149-3653-30DF-87EE-0DCA4E55E3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190E4C-8CBF-9115-29F9-6DD372A7B446}"/>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84F7E8-2E70-CDF1-3F93-7257F76B92DF}"/>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49505C7-7551-1E98-BF17-39031D4D067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4D17E78-206E-1B7C-8101-F408A588BDB5}"/>
              </a:ext>
            </a:extLst>
          </p:cNvPr>
          <p:cNvSpPr txBox="1">
            <a:spLocks/>
          </p:cNvSpPr>
          <p:nvPr/>
        </p:nvSpPr>
        <p:spPr>
          <a:xfrm>
            <a:off x="116841" y="4567235"/>
            <a:ext cx="8624937" cy="12926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6"/>
                </a:solidFill>
                <a:cs typeface="+mn-cs"/>
              </a:rPr>
              <a:t>Key concepts in reinforcement learning include the agent, environment, state, action, and reward, which form the core loop where the agent learns by trial and error. Other crucial concepts are the policy, the agent's strategy for choosing actions; value function, which estimates future rewards; and the fundamental trade-off between exploration (trying new actions) and exploitation (using known good actions) to maximize long-term reward.  </a:t>
            </a:r>
          </a:p>
          <a:p>
            <a:pPr marL="12700" marR="5080"/>
            <a:r>
              <a:rPr lang="en-US" sz="1200" kern="0" spc="-80" dirty="0">
                <a:solidFill>
                  <a:schemeClr val="accent2"/>
                </a:solidFill>
                <a:cs typeface="+mn-cs"/>
              </a:rPr>
              <a:t>Core components</a:t>
            </a:r>
          </a:p>
          <a:p>
            <a:pPr marL="12700" marR="5080"/>
            <a:r>
              <a:rPr lang="en-US" sz="1200" kern="0" spc="-80" dirty="0">
                <a:solidFill>
                  <a:schemeClr val="accent2"/>
                </a:solidFill>
                <a:cs typeface="+mn-cs"/>
              </a:rPr>
              <a:t>Agent: </a:t>
            </a:r>
            <a:r>
              <a:rPr lang="en-US" sz="1200" kern="0" spc="-80" dirty="0">
                <a:solidFill>
                  <a:schemeClr val="accent6"/>
                </a:solidFill>
                <a:cs typeface="+mn-cs"/>
              </a:rPr>
              <a:t>The learner or decision-maker that takes actions in the environment. </a:t>
            </a:r>
          </a:p>
          <a:p>
            <a:pPr marL="12700" marR="5080"/>
            <a:r>
              <a:rPr lang="en-US" sz="1200" kern="0" spc="-80" dirty="0">
                <a:solidFill>
                  <a:schemeClr val="accent2"/>
                </a:solidFill>
                <a:cs typeface="+mn-cs"/>
              </a:rPr>
              <a:t>Environment: </a:t>
            </a:r>
            <a:r>
              <a:rPr lang="en-US" sz="1200" kern="0" spc="-80" dirty="0">
                <a:solidFill>
                  <a:schemeClr val="accent6"/>
                </a:solidFill>
                <a:cs typeface="+mn-cs"/>
              </a:rPr>
              <a:t>The external system or world with which the agent interacts. </a:t>
            </a:r>
          </a:p>
        </p:txBody>
      </p:sp>
      <p:pic>
        <p:nvPicPr>
          <p:cNvPr id="2050" name="Picture 2" descr="What is Reinforcement Learning?. What is Reinforcement Learning ...">
            <a:extLst>
              <a:ext uri="{FF2B5EF4-FFF2-40B4-BE49-F238E27FC236}">
                <a16:creationId xmlns:a16="http://schemas.microsoft.com/office/drawing/2014/main" id="{AA7AE049-FF4F-1EB8-F677-B1DE692A38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6" y="1291152"/>
            <a:ext cx="8915398" cy="3291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164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ACAF7-1D7B-2695-7095-48C885A43B1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AA447C9-94AB-65AA-2776-339A638C9964}"/>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653B5A-B290-994C-0323-B4C4460C8B8C}"/>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D57A414-2140-9794-E699-3F39929CC602}"/>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46D5F25-6953-AD43-06C6-2521EBABA83E}"/>
              </a:ext>
            </a:extLst>
          </p:cNvPr>
          <p:cNvSpPr txBox="1">
            <a:spLocks/>
          </p:cNvSpPr>
          <p:nvPr/>
        </p:nvSpPr>
        <p:spPr>
          <a:xfrm>
            <a:off x="51886" y="1306392"/>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50" kern="0" spc="-80" dirty="0">
                <a:solidFill>
                  <a:schemeClr val="accent2"/>
                </a:solidFill>
                <a:cs typeface="+mn-cs"/>
              </a:rPr>
              <a:t>State: </a:t>
            </a:r>
            <a:r>
              <a:rPr lang="en-US" sz="1150" kern="0" spc="-80" dirty="0">
                <a:solidFill>
                  <a:schemeClr val="accent6"/>
                </a:solidFill>
                <a:cs typeface="+mn-cs"/>
              </a:rPr>
              <a:t>A representation of the environment's current situation or condition at a given point in time. </a:t>
            </a:r>
          </a:p>
          <a:p>
            <a:pPr marL="12700" marR="5080"/>
            <a:r>
              <a:rPr lang="en-US" sz="1150" kern="0" spc="-80" dirty="0">
                <a:solidFill>
                  <a:schemeClr val="accent2"/>
                </a:solidFill>
                <a:cs typeface="+mn-cs"/>
              </a:rPr>
              <a:t>Action: </a:t>
            </a:r>
            <a:r>
              <a:rPr lang="en-US" sz="1150" kern="0" spc="-80" dirty="0">
                <a:solidFill>
                  <a:schemeClr val="accent6"/>
                </a:solidFill>
                <a:cs typeface="+mn-cs"/>
              </a:rPr>
              <a:t>A move or decision the agent can make. </a:t>
            </a:r>
          </a:p>
          <a:p>
            <a:pPr marL="12700" marR="5080"/>
            <a:r>
              <a:rPr lang="en-US" sz="1150" kern="0" spc="-80" dirty="0">
                <a:solidFill>
                  <a:schemeClr val="accent2"/>
                </a:solidFill>
                <a:cs typeface="+mn-cs"/>
              </a:rPr>
              <a:t>Reward: </a:t>
            </a:r>
            <a:r>
              <a:rPr lang="en-US" sz="1150" kern="0" spc="-80" dirty="0">
                <a:solidFill>
                  <a:schemeClr val="accent6"/>
                </a:solidFill>
                <a:cs typeface="+mn-cs"/>
              </a:rPr>
              <a:t>A scalar feedback signal from the environment that indicates how good or bad an action was in a particular state. This can be positive, negative, or zero. </a:t>
            </a:r>
          </a:p>
          <a:p>
            <a:pPr marL="12700" marR="5080"/>
            <a:r>
              <a:rPr lang="en-US" sz="1150" kern="0" spc="-80" dirty="0">
                <a:solidFill>
                  <a:schemeClr val="accent2"/>
                </a:solidFill>
                <a:cs typeface="+mn-cs"/>
              </a:rPr>
              <a:t>Learning concepts </a:t>
            </a:r>
            <a:r>
              <a:rPr lang="en-US" sz="1150" kern="0" spc="-80" dirty="0">
                <a:solidFill>
                  <a:schemeClr val="accent6"/>
                </a:solidFill>
                <a:cs typeface="+mn-cs"/>
              </a:rPr>
              <a:t>    </a:t>
            </a:r>
          </a:p>
          <a:p>
            <a:pPr marL="12700" marR="5080"/>
            <a:r>
              <a:rPr lang="en-US" sz="1150" kern="0" spc="-80" dirty="0">
                <a:solidFill>
                  <a:schemeClr val="accent2"/>
                </a:solidFill>
                <a:cs typeface="+mn-cs"/>
              </a:rPr>
              <a:t>Policy :</a:t>
            </a:r>
            <a:r>
              <a:rPr lang="en-US" sz="1150" kern="0" spc="-80" dirty="0">
                <a:solidFill>
                  <a:schemeClr val="accent6"/>
                </a:solidFill>
                <a:cs typeface="+mn-cs"/>
              </a:rPr>
              <a:t> The agent's strategy or rule for selecting an action in a given state. It dictates how the agent behaves.  </a:t>
            </a:r>
          </a:p>
          <a:p>
            <a:pPr marL="12700" marR="5080"/>
            <a:r>
              <a:rPr lang="en-US" sz="1150" kern="0" spc="-80" dirty="0">
                <a:solidFill>
                  <a:schemeClr val="accent2"/>
                </a:solidFill>
                <a:cs typeface="+mn-cs"/>
              </a:rPr>
              <a:t>Value Function  </a:t>
            </a:r>
            <a:r>
              <a:rPr lang="en-US" sz="1150" kern="0" spc="-80" dirty="0">
                <a:solidFill>
                  <a:schemeClr val="accent6"/>
                </a:solidFill>
                <a:cs typeface="+mn-cs"/>
              </a:rPr>
              <a:t>A function that estimates the expected long-term reward an agent can receive starting from a specific state and following a particular policy.  </a:t>
            </a:r>
          </a:p>
          <a:p>
            <a:pPr marL="12700" marR="5080"/>
            <a:r>
              <a:rPr lang="en-US" sz="1150" kern="0" spc="-80" dirty="0">
                <a:solidFill>
                  <a:schemeClr val="accent2"/>
                </a:solidFill>
                <a:cs typeface="+mn-cs"/>
              </a:rPr>
              <a:t>Exploration vs. Exploitation: </a:t>
            </a:r>
            <a:r>
              <a:rPr lang="en-US" sz="1150" kern="0" spc="-80" dirty="0">
                <a:solidFill>
                  <a:schemeClr val="accent6"/>
                </a:solidFill>
                <a:cs typeface="+mn-cs"/>
              </a:rPr>
              <a:t>A fundamental dilemma in reinforcement learning. </a:t>
            </a:r>
          </a:p>
          <a:p>
            <a:pPr marL="12700" marR="5080"/>
            <a:r>
              <a:rPr lang="en-US" sz="1150" kern="0" spc="-80" dirty="0">
                <a:solidFill>
                  <a:schemeClr val="accent6"/>
                </a:solidFill>
                <a:cs typeface="+mn-cs"/>
              </a:rPr>
              <a:t>      </a:t>
            </a:r>
            <a:r>
              <a:rPr lang="en-US" sz="1150" kern="0" spc="-80" dirty="0">
                <a:solidFill>
                  <a:schemeClr val="accent2"/>
                </a:solidFill>
                <a:cs typeface="+mn-cs"/>
              </a:rPr>
              <a:t>Exploration:</a:t>
            </a:r>
            <a:r>
              <a:rPr lang="en-US" sz="1150" kern="0" spc="-80" dirty="0">
                <a:solidFill>
                  <a:schemeClr val="accent6"/>
                </a:solidFill>
                <a:cs typeface="+mn-cs"/>
              </a:rPr>
              <a:t> Trying new and potentially unknown actions to discover better rewards in the future.  </a:t>
            </a:r>
          </a:p>
          <a:p>
            <a:pPr marL="12700" marR="5080"/>
            <a:r>
              <a:rPr lang="en-US" sz="1150" kern="0" spc="-80" dirty="0">
                <a:solidFill>
                  <a:schemeClr val="accent6"/>
                </a:solidFill>
                <a:cs typeface="+mn-cs"/>
              </a:rPr>
              <a:t>      </a:t>
            </a:r>
            <a:r>
              <a:rPr lang="en-US" sz="1150" kern="0" spc="-80" dirty="0">
                <a:solidFill>
                  <a:schemeClr val="accent2"/>
                </a:solidFill>
                <a:cs typeface="+mn-cs"/>
              </a:rPr>
              <a:t>Exploitation: </a:t>
            </a:r>
            <a:r>
              <a:rPr lang="en-US" sz="1150" kern="0" spc="-80" dirty="0">
                <a:solidFill>
                  <a:schemeClr val="accent6"/>
                </a:solidFill>
                <a:cs typeface="+mn-cs"/>
              </a:rPr>
              <a:t>Choosing the action that is currently known to provide the highest reward.  The goal is to balance these two </a:t>
            </a:r>
          </a:p>
          <a:p>
            <a:pPr marL="12700" marR="5080"/>
            <a:r>
              <a:rPr lang="en-US" sz="1150" kern="0" spc="-80" dirty="0">
                <a:solidFill>
                  <a:schemeClr val="accent6"/>
                </a:solidFill>
                <a:cs typeface="+mn-cs"/>
              </a:rPr>
              <a:t>       to maximize the cumulative reward over time.  </a:t>
            </a:r>
          </a:p>
          <a:p>
            <a:pPr marL="12700" marR="5080"/>
            <a:r>
              <a:rPr lang="en-US" sz="1150" kern="0" spc="-80" dirty="0">
                <a:solidFill>
                  <a:schemeClr val="accent2"/>
                </a:solidFill>
                <a:cs typeface="+mn-cs"/>
              </a:rPr>
              <a:t>Cumulative Reward: </a:t>
            </a:r>
            <a:r>
              <a:rPr lang="en-US" sz="1150" kern="0" spc="-80" dirty="0">
                <a:solidFill>
                  <a:schemeClr val="accent6"/>
                </a:solidFill>
                <a:cs typeface="+mn-cs"/>
              </a:rPr>
              <a:t>The total reward, which is a sum of all future rewards, that the agent aims to maximize. This encourages the agent to make decisions that lead to high rewards in the long run, not just immediate gains. </a:t>
            </a:r>
          </a:p>
          <a:p>
            <a:pPr marL="12700" marR="5080"/>
            <a:r>
              <a:rPr lang="en-US" sz="1150" kern="0" spc="-80" dirty="0">
                <a:solidFill>
                  <a:schemeClr val="accent2"/>
                </a:solidFill>
                <a:cs typeface="+mn-cs"/>
              </a:rPr>
              <a:t>Algorithms and methods</a:t>
            </a:r>
            <a:r>
              <a:rPr lang="en-US" sz="1150" kern="0" spc="-80" dirty="0">
                <a:solidFill>
                  <a:schemeClr val="accent6"/>
                </a:solidFill>
                <a:cs typeface="+mn-cs"/>
              </a:rPr>
              <a:t>     </a:t>
            </a:r>
          </a:p>
          <a:p>
            <a:pPr marL="12700" marR="5080"/>
            <a:r>
              <a:rPr lang="en-US" sz="1150" kern="0" spc="-80" dirty="0">
                <a:solidFill>
                  <a:schemeClr val="accent2"/>
                </a:solidFill>
              </a:rPr>
              <a:t>Temporal Difference (TD) learning: </a:t>
            </a:r>
            <a:r>
              <a:rPr lang="en-US" sz="1150" kern="0" spc="-80" dirty="0">
                <a:solidFill>
                  <a:schemeClr val="accent6"/>
                </a:solidFill>
              </a:rPr>
              <a:t>A class of methods that update value estimates based on the difference between predicted and actual outcomes. For example, 1-step TD updates the value of a state based on the reward received and the value of the next state. </a:t>
            </a:r>
          </a:p>
          <a:p>
            <a:pPr marL="12700" marR="5080"/>
            <a:r>
              <a:rPr lang="en-US" sz="1150" kern="0" spc="-80" dirty="0">
                <a:solidFill>
                  <a:schemeClr val="accent2"/>
                </a:solidFill>
                <a:cs typeface="+mn-cs"/>
              </a:rPr>
              <a:t>Q-Learning:</a:t>
            </a:r>
            <a:r>
              <a:rPr lang="en-US" sz="1150" kern="0" spc="-80" dirty="0">
                <a:solidFill>
                  <a:schemeClr val="accent6"/>
                </a:solidFill>
                <a:cs typeface="+mn-cs"/>
              </a:rPr>
              <a:t> A model-free reinforcement learning algorithm that learns the quality of taking a specific action in a given state. It estimates an action-value function, denoted as Q(</a:t>
            </a:r>
            <a:r>
              <a:rPr lang="en-US" sz="1150" kern="0" spc="-80" dirty="0" err="1">
                <a:solidFill>
                  <a:schemeClr val="accent6"/>
                </a:solidFill>
                <a:cs typeface="+mn-cs"/>
              </a:rPr>
              <a:t>s,a</a:t>
            </a:r>
            <a:r>
              <a:rPr lang="en-US" sz="1150" kern="0" spc="-80" dirty="0">
                <a:solidFill>
                  <a:schemeClr val="accent6"/>
                </a:solidFill>
                <a:cs typeface="+mn-cs"/>
              </a:rPr>
              <a:t>).  </a:t>
            </a:r>
          </a:p>
          <a:p>
            <a:pPr marL="12700" marR="5080"/>
            <a:r>
              <a:rPr lang="en-US" sz="1150" kern="0" spc="-80" dirty="0">
                <a:solidFill>
                  <a:schemeClr val="accent2"/>
                </a:solidFill>
                <a:cs typeface="+mn-cs"/>
              </a:rPr>
              <a:t>Deep Q-Networks (DQN):</a:t>
            </a:r>
            <a:r>
              <a:rPr lang="en-US" sz="1150" kern="0" spc="-80" dirty="0">
                <a:solidFill>
                  <a:schemeClr val="accent6"/>
                </a:solidFill>
                <a:cs typeface="+mn-cs"/>
              </a:rPr>
              <a:t> An advanced algorithm that combines Q-learning with deep neural networks. This allows it to handle high-dimensional state spaces, such as those found in images.  </a:t>
            </a:r>
          </a:p>
          <a:p>
            <a:pPr marL="12700" marR="5080"/>
            <a:r>
              <a:rPr lang="en-US" sz="1150" kern="0" spc="-80" dirty="0">
                <a:solidFill>
                  <a:schemeClr val="accent2"/>
                </a:solidFill>
                <a:cs typeface="+mn-cs"/>
              </a:rPr>
              <a:t>Policy Gradients:</a:t>
            </a:r>
            <a:r>
              <a:rPr lang="en-US" sz="1150" kern="0" spc="-80" dirty="0">
                <a:solidFill>
                  <a:schemeClr val="accent6"/>
                </a:solidFill>
                <a:cs typeface="+mn-cs"/>
              </a:rPr>
              <a:t> A class of algorithms that directly optimize the policy function. They adjust the policy parameters to increase the probability of actions that lead to higher rewards. </a:t>
            </a:r>
          </a:p>
          <a:p>
            <a:pPr marL="12700" marR="5080"/>
            <a:r>
              <a:rPr lang="en-US" sz="1150" kern="0" spc="-80" dirty="0">
                <a:solidFill>
                  <a:schemeClr val="accent2"/>
                </a:solidFill>
                <a:cs typeface="+mn-cs"/>
              </a:rPr>
              <a:t>Actor-Critic Methods: </a:t>
            </a:r>
            <a:r>
              <a:rPr lang="en-US" sz="1150" kern="0" spc="-80" dirty="0">
                <a:solidFill>
                  <a:schemeClr val="accent6"/>
                </a:solidFill>
                <a:cs typeface="+mn-cs"/>
              </a:rPr>
              <a:t>These methods, a form of adaptive dynamic programming, maintain and update both a policy (the "actor") and a value function (the "critic"). This dual approach is more computationally efficient and stable than traditional value-based or policy-based methods</a:t>
            </a:r>
          </a:p>
          <a:p>
            <a:pPr marL="12700" marR="5080"/>
            <a:r>
              <a:rPr lang="en-US" b="0" dirty="0"/>
              <a:t>. </a:t>
            </a:r>
          </a:p>
          <a:p>
            <a:pPr marL="12700" marR="5080"/>
            <a:endParaRPr lang="en-US" sz="1200" kern="0" spc="-80" dirty="0">
              <a:solidFill>
                <a:schemeClr val="accent6"/>
              </a:solidFill>
              <a:cs typeface="+mn-cs"/>
            </a:endParaRPr>
          </a:p>
        </p:txBody>
      </p:sp>
    </p:spTree>
    <p:extLst>
      <p:ext uri="{BB962C8B-B14F-4D97-AF65-F5344CB8AC3E}">
        <p14:creationId xmlns:p14="http://schemas.microsoft.com/office/powerpoint/2010/main" val="3005180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9D485-4C56-BEF2-B803-99BA9F4C1C9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AC781AF-E2F4-13FF-E95E-D5AD29491ED0}"/>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B25C89-7524-E003-366E-06CA5837CDAB}"/>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E04849A-E579-7ED4-ACC1-BE23B3F0212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2BC8292-BF7D-8718-B863-494975604901}"/>
              </a:ext>
            </a:extLst>
          </p:cNvPr>
          <p:cNvSpPr txBox="1">
            <a:spLocks/>
          </p:cNvSpPr>
          <p:nvPr/>
        </p:nvSpPr>
        <p:spPr>
          <a:xfrm>
            <a:off x="51886" y="1261504"/>
            <a:ext cx="8624937" cy="44627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Dynamic Programming, Markov Decision Process and RL</a:t>
            </a:r>
          </a:p>
          <a:p>
            <a:pPr marL="12700" marR="5080"/>
            <a:endParaRPr lang="en-US" sz="1200" kern="0" spc="-80" dirty="0">
              <a:solidFill>
                <a:schemeClr val="accent6"/>
              </a:solidFill>
              <a:cs typeface="+mn-cs"/>
            </a:endParaRPr>
          </a:p>
        </p:txBody>
      </p:sp>
      <p:pic>
        <p:nvPicPr>
          <p:cNvPr id="9" name="Picture 8" descr="A screenshot of a computer">
            <a:extLst>
              <a:ext uri="{FF2B5EF4-FFF2-40B4-BE49-F238E27FC236}">
                <a16:creationId xmlns:a16="http://schemas.microsoft.com/office/drawing/2014/main" id="{4DBC3BEF-5EBE-AF40-F57B-3D23AA1166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146" y="1566451"/>
            <a:ext cx="8839200" cy="4419804"/>
          </a:xfrm>
          <a:prstGeom prst="rect">
            <a:avLst/>
          </a:prstGeom>
        </p:spPr>
      </p:pic>
    </p:spTree>
    <p:extLst>
      <p:ext uri="{BB962C8B-B14F-4D97-AF65-F5344CB8AC3E}">
        <p14:creationId xmlns:p14="http://schemas.microsoft.com/office/powerpoint/2010/main" val="304185882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1C421-61C7-0DA5-076A-80B7FA3540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0CF0E3-E871-FD5F-E57A-DF2639B09BED}"/>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878E1C-88AE-F586-CB03-3F64FC06FB5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1453AED-98E3-E4A8-8E23-3AE8AB51383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2EB0BFE-7426-7B13-46D8-C4C3C5B4CB35}"/>
              </a:ext>
            </a:extLst>
          </p:cNvPr>
          <p:cNvSpPr txBox="1">
            <a:spLocks/>
          </p:cNvSpPr>
          <p:nvPr/>
        </p:nvSpPr>
        <p:spPr>
          <a:xfrm>
            <a:off x="51886" y="1261504"/>
            <a:ext cx="8624937" cy="44627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Dynamic Programming, Markov Decision Process and RL</a:t>
            </a:r>
          </a:p>
          <a:p>
            <a:pPr marL="12700" marR="5080"/>
            <a:endParaRPr lang="en-US" sz="1200" kern="0" spc="-80" dirty="0">
              <a:solidFill>
                <a:schemeClr val="accent6"/>
              </a:solidFill>
              <a:cs typeface="+mn-cs"/>
            </a:endParaRPr>
          </a:p>
        </p:txBody>
      </p:sp>
      <p:pic>
        <p:nvPicPr>
          <p:cNvPr id="7" name="Picture 6">
            <a:extLst>
              <a:ext uri="{FF2B5EF4-FFF2-40B4-BE49-F238E27FC236}">
                <a16:creationId xmlns:a16="http://schemas.microsoft.com/office/drawing/2014/main" id="{995334C6-8812-627E-AE98-DA2B65C3D61F}"/>
              </a:ext>
            </a:extLst>
          </p:cNvPr>
          <p:cNvPicPr>
            <a:picLocks noChangeAspect="1"/>
          </p:cNvPicPr>
          <p:nvPr/>
        </p:nvPicPr>
        <p:blipFill>
          <a:blip r:embed="rId7"/>
          <a:stretch>
            <a:fillRect/>
          </a:stretch>
        </p:blipFill>
        <p:spPr>
          <a:xfrm>
            <a:off x="51886" y="1561371"/>
            <a:ext cx="8711114" cy="4382229"/>
          </a:xfrm>
          <a:prstGeom prst="rect">
            <a:avLst/>
          </a:prstGeom>
        </p:spPr>
      </p:pic>
    </p:spTree>
    <p:extLst>
      <p:ext uri="{BB962C8B-B14F-4D97-AF65-F5344CB8AC3E}">
        <p14:creationId xmlns:p14="http://schemas.microsoft.com/office/powerpoint/2010/main" val="13427176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DB85B-7779-82A6-3696-34E29A7293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76BD83-1A43-EEAC-B84C-A09F481F8830}"/>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54DF9CB-0AA2-CBF8-BE67-D0CD510E6376}"/>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3FF6BC-D613-0888-4D0D-91BBB3FC3CC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57F4448-62B7-3EB3-27E4-DEB44D25B458}"/>
              </a:ext>
            </a:extLst>
          </p:cNvPr>
          <p:cNvSpPr txBox="1">
            <a:spLocks/>
          </p:cNvSpPr>
          <p:nvPr/>
        </p:nvSpPr>
        <p:spPr>
          <a:xfrm>
            <a:off x="51886" y="1261504"/>
            <a:ext cx="8624937" cy="44627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Dynamic Programming, Markov Decision Process and RL</a:t>
            </a:r>
          </a:p>
          <a:p>
            <a:pPr marL="12700" marR="5080"/>
            <a:endParaRPr lang="en-US" sz="1200" kern="0" spc="-80" dirty="0">
              <a:solidFill>
                <a:schemeClr val="accent6"/>
              </a:solidFill>
              <a:cs typeface="+mn-cs"/>
            </a:endParaRPr>
          </a:p>
        </p:txBody>
      </p:sp>
      <p:pic>
        <p:nvPicPr>
          <p:cNvPr id="10" name="Picture 9">
            <a:extLst>
              <a:ext uri="{FF2B5EF4-FFF2-40B4-BE49-F238E27FC236}">
                <a16:creationId xmlns:a16="http://schemas.microsoft.com/office/drawing/2014/main" id="{06B9F859-37AC-459C-9435-7F11F4D45DCE}"/>
              </a:ext>
            </a:extLst>
          </p:cNvPr>
          <p:cNvPicPr>
            <a:picLocks noChangeAspect="1"/>
          </p:cNvPicPr>
          <p:nvPr/>
        </p:nvPicPr>
        <p:blipFill>
          <a:blip r:embed="rId7"/>
          <a:stretch>
            <a:fillRect/>
          </a:stretch>
        </p:blipFill>
        <p:spPr>
          <a:xfrm>
            <a:off x="51886" y="1576610"/>
            <a:ext cx="9015913" cy="2080989"/>
          </a:xfrm>
          <a:prstGeom prst="rect">
            <a:avLst/>
          </a:prstGeom>
        </p:spPr>
      </p:pic>
    </p:spTree>
    <p:extLst>
      <p:ext uri="{BB962C8B-B14F-4D97-AF65-F5344CB8AC3E}">
        <p14:creationId xmlns:p14="http://schemas.microsoft.com/office/powerpoint/2010/main" val="185966546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5BDD5-A8EF-ECD4-B3A0-D3BA127DC9B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C2845CA-C836-D98A-F2DC-361F3AC83357}"/>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7FAD0D-4193-6DD4-C011-C54A65CC6416}"/>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019139-197A-2205-27FB-36289C555E4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5157014-7864-6C88-CADA-51875949E174}"/>
              </a:ext>
            </a:extLst>
          </p:cNvPr>
          <p:cNvSpPr txBox="1">
            <a:spLocks/>
          </p:cNvSpPr>
          <p:nvPr/>
        </p:nvSpPr>
        <p:spPr>
          <a:xfrm>
            <a:off x="51886" y="1306392"/>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RL Policies</a:t>
            </a:r>
          </a:p>
          <a:p>
            <a:pPr marL="12700" marR="5080"/>
            <a:r>
              <a:rPr lang="en-US" sz="1200" kern="0" spc="-80" dirty="0">
                <a:solidFill>
                  <a:schemeClr val="accent6"/>
                </a:solidFill>
                <a:cs typeface="+mn-cs"/>
              </a:rPr>
              <a:t>The main types of policies used by RL agents are deterministic policies and stochastic policies. Deterministic policies always output the same action for a given state, while stochastic policies output a probability distribution over actions, allowing for exploration. Another important distinction is whether the agent is on-policy (using the same policy for data collection and learning) or off-policy (using a separate "behavior" policy for data collection and a different "target" policy for learning), as seen with methods like Q-learning. </a:t>
            </a:r>
          </a:p>
          <a:p>
            <a:pPr marL="12700" marR="5080"/>
            <a:r>
              <a:rPr lang="en-US" sz="1200" kern="0" spc="-80" dirty="0">
                <a:solidFill>
                  <a:schemeClr val="accent2"/>
                </a:solidFill>
                <a:cs typeface="+mn-cs"/>
              </a:rPr>
              <a:t>By action selection</a:t>
            </a:r>
          </a:p>
          <a:p>
            <a:pPr marL="12700" marR="5080"/>
            <a:r>
              <a:rPr lang="en-US" sz="1200" kern="0" spc="-80" dirty="0">
                <a:solidFill>
                  <a:schemeClr val="accent2"/>
                </a:solidFill>
                <a:cs typeface="+mn-cs"/>
              </a:rPr>
              <a:t>Deterministic Policy:</a:t>
            </a:r>
            <a:r>
              <a:rPr lang="en-US" sz="1200" kern="0" spc="-80" dirty="0">
                <a:solidFill>
                  <a:schemeClr val="accent6"/>
                </a:solidFill>
                <a:cs typeface="+mn-cs"/>
              </a:rPr>
              <a:t> A policy that, for any given state, will always produce the exact same action. </a:t>
            </a:r>
          </a:p>
          <a:p>
            <a:pPr marL="12700" marR="5080"/>
            <a:r>
              <a:rPr lang="en-US" sz="1200" kern="0" spc="-80" dirty="0">
                <a:solidFill>
                  <a:schemeClr val="accent2"/>
                </a:solidFill>
                <a:cs typeface="+mn-cs"/>
              </a:rPr>
              <a:t>    Example:</a:t>
            </a:r>
            <a:r>
              <a:rPr lang="en-US" sz="1200" kern="0" spc="-80" dirty="0">
                <a:solidFill>
                  <a:schemeClr val="accent6"/>
                </a:solidFill>
                <a:cs typeface="+mn-cs"/>
              </a:rPr>
              <a:t> A robot arm is programmed to always move to the exact same coordinates when it sees a specific red block.</a:t>
            </a:r>
          </a:p>
          <a:p>
            <a:pPr marL="12700" marR="5080"/>
            <a:r>
              <a:rPr lang="en-US" sz="1200" kern="0" spc="-80" dirty="0">
                <a:solidFill>
                  <a:schemeClr val="accent2"/>
                </a:solidFill>
                <a:cs typeface="+mn-cs"/>
              </a:rPr>
              <a:t>Stochastic Policy: </a:t>
            </a:r>
            <a:r>
              <a:rPr lang="en-US" sz="1200" kern="0" spc="-80" dirty="0">
                <a:solidFill>
                  <a:schemeClr val="accent6"/>
                </a:solidFill>
                <a:cs typeface="+mn-cs"/>
              </a:rPr>
              <a:t>A policy that assigns a probability to each possible action in a given state. </a:t>
            </a:r>
          </a:p>
          <a:p>
            <a:pPr marL="12700" marR="5080"/>
            <a:r>
              <a:rPr lang="en-US" sz="1200" kern="0" spc="-80" dirty="0">
                <a:solidFill>
                  <a:schemeClr val="accent2"/>
                </a:solidFill>
                <a:cs typeface="+mn-cs"/>
              </a:rPr>
              <a:t>    Example: </a:t>
            </a:r>
            <a:r>
              <a:rPr lang="en-US" sz="1200" kern="0" spc="-80" dirty="0">
                <a:solidFill>
                  <a:schemeClr val="accent6"/>
                </a:solidFill>
                <a:cs typeface="+mn-cs"/>
              </a:rPr>
              <a:t>A game-playing agent may have a 70% chance of moving left and a 30% chance of moving up when in a certain </a:t>
            </a:r>
          </a:p>
          <a:p>
            <a:pPr marL="12700" marR="5080"/>
            <a:r>
              <a:rPr lang="en-US" sz="1200" kern="0" spc="-80" dirty="0">
                <a:solidFill>
                  <a:schemeClr val="accent6"/>
                </a:solidFill>
                <a:cs typeface="+mn-cs"/>
              </a:rPr>
              <a:t>     position, allowing it to explore different options. </a:t>
            </a:r>
          </a:p>
          <a:p>
            <a:pPr marL="12700" marR="5080"/>
            <a:r>
              <a:rPr lang="en-US" sz="1200" kern="0" spc="-80" dirty="0">
                <a:solidFill>
                  <a:schemeClr val="accent2"/>
                </a:solidFill>
                <a:cs typeface="+mn-cs"/>
              </a:rPr>
              <a:t>    Subtypes:</a:t>
            </a:r>
          </a:p>
          <a:p>
            <a:pPr marL="12700" marR="5080"/>
            <a:r>
              <a:rPr lang="en-US" sz="1200" kern="0" spc="-80" dirty="0">
                <a:solidFill>
                  <a:schemeClr val="accent2"/>
                </a:solidFill>
                <a:cs typeface="+mn-cs"/>
              </a:rPr>
              <a:t>    Categorical Policies:</a:t>
            </a:r>
            <a:r>
              <a:rPr lang="en-US" sz="1200" kern="0" spc="-80" dirty="0">
                <a:solidFill>
                  <a:schemeClr val="accent6"/>
                </a:solidFill>
                <a:cs typeface="+mn-cs"/>
              </a:rPr>
              <a:t> Used for discrete action spaces. </a:t>
            </a:r>
          </a:p>
          <a:p>
            <a:pPr marL="12700" marR="5080"/>
            <a:r>
              <a:rPr lang="en-US" sz="1200" kern="0" spc="-80" dirty="0">
                <a:solidFill>
                  <a:schemeClr val="accent6"/>
                </a:solidFill>
                <a:cs typeface="+mn-cs"/>
              </a:rPr>
              <a:t>    </a:t>
            </a:r>
            <a:r>
              <a:rPr lang="en-US" sz="1200" kern="0" spc="-80" dirty="0">
                <a:solidFill>
                  <a:schemeClr val="accent2"/>
                </a:solidFill>
                <a:cs typeface="+mn-cs"/>
              </a:rPr>
              <a:t>Diagonal Gaussian Policies: </a:t>
            </a:r>
            <a:r>
              <a:rPr lang="en-US" sz="1200" kern="0" spc="-80" dirty="0">
                <a:solidFill>
                  <a:schemeClr val="accent6"/>
                </a:solidFill>
                <a:cs typeface="+mn-cs"/>
              </a:rPr>
              <a:t>Used for continuous action spaces. </a:t>
            </a:r>
          </a:p>
          <a:p>
            <a:pPr marL="12700" marR="5080"/>
            <a:r>
              <a:rPr lang="en-US" sz="1200" kern="0" spc="-80" dirty="0">
                <a:solidFill>
                  <a:schemeClr val="accent2"/>
                </a:solidFill>
                <a:cs typeface="+mn-cs"/>
              </a:rPr>
              <a:t>By learning method</a:t>
            </a:r>
          </a:p>
          <a:p>
            <a:pPr marL="12700" marR="5080"/>
            <a:r>
              <a:rPr lang="en-US" sz="1200" kern="0" spc="-80" dirty="0">
                <a:solidFill>
                  <a:schemeClr val="accent2"/>
                </a:solidFill>
                <a:cs typeface="+mn-cs"/>
              </a:rPr>
              <a:t>On-Policy: </a:t>
            </a:r>
            <a:r>
              <a:rPr lang="en-US" sz="1200" kern="0" spc="-80" dirty="0">
                <a:solidFill>
                  <a:schemeClr val="accent6"/>
                </a:solidFill>
                <a:cs typeface="+mn-cs"/>
              </a:rPr>
              <a:t>The agent learns from the actions taken by its current policy. It needs to collect new data by following the same policy it is trying to improve. </a:t>
            </a:r>
          </a:p>
          <a:p>
            <a:pPr marL="12700" marR="5080"/>
            <a:r>
              <a:rPr lang="en-US" sz="1200" kern="0" spc="-80" dirty="0">
                <a:solidFill>
                  <a:schemeClr val="accent2"/>
                </a:solidFill>
                <a:cs typeface="+mn-cs"/>
              </a:rPr>
              <a:t>     Example: </a:t>
            </a:r>
            <a:r>
              <a:rPr lang="en-US" sz="1200" kern="0" spc="-80" dirty="0">
                <a:solidFill>
                  <a:schemeClr val="accent6"/>
                </a:solidFill>
                <a:cs typeface="+mn-cs"/>
              </a:rPr>
              <a:t>SARSA is an on-policy algorithm where the agent updates its Q-values based on the action taken by its current </a:t>
            </a:r>
          </a:p>
          <a:p>
            <a:pPr marL="12700" marR="5080"/>
            <a:r>
              <a:rPr lang="en-US" sz="1200" kern="0" spc="-80" dirty="0">
                <a:solidFill>
                  <a:schemeClr val="accent6"/>
                </a:solidFill>
                <a:cs typeface="+mn-cs"/>
              </a:rPr>
              <a:t>     policy. </a:t>
            </a:r>
          </a:p>
          <a:p>
            <a:pPr marL="12700" marR="5080"/>
            <a:r>
              <a:rPr lang="en-US" sz="1200" kern="0" spc="-80" dirty="0">
                <a:solidFill>
                  <a:schemeClr val="accent2"/>
                </a:solidFill>
                <a:cs typeface="+mn-cs"/>
              </a:rPr>
              <a:t>Off-Policy: </a:t>
            </a:r>
            <a:r>
              <a:rPr lang="en-US" sz="1200" kern="0" spc="-80" dirty="0">
                <a:solidFill>
                  <a:schemeClr val="accent6"/>
                </a:solidFill>
                <a:cs typeface="+mn-cs"/>
              </a:rPr>
              <a:t>The agent can learn from data generated by a different policy (a "behavior policy") than the one it is trying to learn (a "target policy"). </a:t>
            </a:r>
          </a:p>
          <a:p>
            <a:pPr marL="12700" marR="5080"/>
            <a:r>
              <a:rPr lang="en-US" sz="1200" kern="0" spc="-80" dirty="0">
                <a:solidFill>
                  <a:schemeClr val="accent2"/>
                </a:solidFill>
                <a:cs typeface="+mn-cs"/>
              </a:rPr>
              <a:t>     Example: </a:t>
            </a:r>
            <a:r>
              <a:rPr lang="en-US" sz="1200" kern="0" spc="-80" dirty="0">
                <a:solidFill>
                  <a:schemeClr val="accent6"/>
                </a:solidFill>
                <a:cs typeface="+mn-cs"/>
              </a:rPr>
              <a:t>Q-learning is an off-policy algorithm. It uses data from a behavior policy (which can be exploratory) to update the </a:t>
            </a:r>
          </a:p>
          <a:p>
            <a:pPr marL="12700" marR="5080"/>
            <a:r>
              <a:rPr lang="en-US" sz="1200" kern="0" spc="-80" dirty="0">
                <a:solidFill>
                  <a:schemeClr val="accent6"/>
                </a:solidFill>
                <a:cs typeface="+mn-cs"/>
              </a:rPr>
              <a:t>      values of a target policy, which is often a greedy, reward-maximizing policy. </a:t>
            </a:r>
          </a:p>
        </p:txBody>
      </p:sp>
    </p:spTree>
    <p:extLst>
      <p:ext uri="{BB962C8B-B14F-4D97-AF65-F5344CB8AC3E}">
        <p14:creationId xmlns:p14="http://schemas.microsoft.com/office/powerpoint/2010/main" val="95283164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77086-9349-0BA3-EBD4-E4B3AEBD25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83B978-57E5-1000-F26A-B220C37A73A9}"/>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A0C01E0-B56C-CD7A-E67F-D99CBA901D5F}"/>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235B98-7BE0-1087-BA4B-6189D2506DB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18C1B5D-30B8-B41C-345C-1708DB68248F}"/>
              </a:ext>
            </a:extLst>
          </p:cNvPr>
          <p:cNvSpPr txBox="1">
            <a:spLocks/>
          </p:cNvSpPr>
          <p:nvPr/>
        </p:nvSpPr>
        <p:spPr>
          <a:xfrm>
            <a:off x="51886" y="1306392"/>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Value Function Techniques used in RL</a:t>
            </a:r>
          </a:p>
          <a:p>
            <a:pPr marL="12700" marR="5080"/>
            <a:r>
              <a:rPr lang="en-US" sz="1200" kern="0" spc="-80" dirty="0">
                <a:solidFill>
                  <a:schemeClr val="accent6"/>
                </a:solidFill>
                <a:cs typeface="+mn-cs"/>
              </a:rPr>
              <a:t>Value function techniques in reinforcement learning (RL) use algorithms to estimate the expected cumulative reward from a given state or state-action pair, guiding the agent toward decisions that maximize long-term rewards. </a:t>
            </a:r>
          </a:p>
          <a:p>
            <a:pPr marL="12700" marR="5080"/>
            <a:r>
              <a:rPr lang="en-US" sz="1200" kern="0" spc="-80" dirty="0">
                <a:solidFill>
                  <a:schemeClr val="accent6"/>
                </a:solidFill>
                <a:cs typeface="+mn-cs"/>
              </a:rPr>
              <a:t>Key techniques include using the Bellman equation to recursively define value functions, applying algorithms like Q-learning and Deep Q-Networks (DQN) to learn and approximate these values, and employing Temporal Difference (TD) learning for incremental updates based on experienced rewards and estimated future values.      </a:t>
            </a:r>
          </a:p>
          <a:p>
            <a:pPr marL="12700" marR="5080"/>
            <a:r>
              <a:rPr lang="en-US" sz="1200" kern="0" spc="-80" dirty="0">
                <a:solidFill>
                  <a:schemeClr val="accent2"/>
                </a:solidFill>
                <a:cs typeface="+mn-cs"/>
              </a:rPr>
              <a:t>        Foundational concepts </a:t>
            </a:r>
            <a:r>
              <a:rPr lang="en-US" sz="1200" kern="0" spc="-80" dirty="0">
                <a:solidFill>
                  <a:schemeClr val="accent6"/>
                </a:solidFill>
                <a:cs typeface="+mn-cs"/>
              </a:rPr>
              <a:t>    </a:t>
            </a:r>
          </a:p>
          <a:p>
            <a:pPr marL="12700" marR="5080"/>
            <a:r>
              <a:rPr lang="en-US" sz="1200" kern="0" spc="-80" dirty="0">
                <a:solidFill>
                  <a:schemeClr val="accent2"/>
                </a:solidFill>
                <a:cs typeface="+mn-cs"/>
              </a:rPr>
              <a:t>          Bellman equations: </a:t>
            </a:r>
            <a:r>
              <a:rPr lang="en-US" sz="1200" kern="0" spc="-80" dirty="0">
                <a:solidFill>
                  <a:schemeClr val="accent6"/>
                </a:solidFill>
                <a:cs typeface="+mn-cs"/>
              </a:rPr>
              <a:t>A set of recursive equations that define the value of a state or state-action pair. The value of the current state is expressed as the immediate reward plus the discounted value of the next state, forming the basis for many algorithms.  Basically,  uses advanced variant of Dynamic Programming.</a:t>
            </a:r>
          </a:p>
          <a:p>
            <a:pPr marL="12700" marR="5080"/>
            <a:r>
              <a:rPr lang="en-US" sz="1200" kern="0" spc="-80" dirty="0">
                <a:solidFill>
                  <a:schemeClr val="accent2"/>
                </a:solidFill>
                <a:cs typeface="+mn-cs"/>
              </a:rPr>
              <a:t>         State-value function V(s): </a:t>
            </a:r>
            <a:r>
              <a:rPr lang="en-US" sz="1200" kern="0" spc="-80" dirty="0">
                <a:solidFill>
                  <a:schemeClr val="accent6"/>
                </a:solidFill>
                <a:cs typeface="+mn-cs"/>
              </a:rPr>
              <a:t>Estimates the expected return (cumulative reward) from a given state s, assuming the agent follows a specific policy.  </a:t>
            </a:r>
          </a:p>
          <a:p>
            <a:pPr marL="12700" marR="5080"/>
            <a:r>
              <a:rPr lang="en-US" sz="1200" kern="0" spc="-80" dirty="0">
                <a:solidFill>
                  <a:schemeClr val="accent6"/>
                </a:solidFill>
                <a:cs typeface="+mn-cs"/>
              </a:rPr>
              <a:t>         </a:t>
            </a:r>
            <a:r>
              <a:rPr lang="en-US" sz="1200" kern="0" spc="-80" dirty="0">
                <a:solidFill>
                  <a:schemeClr val="accent2"/>
                </a:solidFill>
                <a:cs typeface="+mn-cs"/>
              </a:rPr>
              <a:t>Action-value function Q(</a:t>
            </a:r>
            <a:r>
              <a:rPr lang="en-US" sz="1200" kern="0" spc="-80" dirty="0" err="1">
                <a:solidFill>
                  <a:schemeClr val="accent2"/>
                </a:solidFill>
                <a:cs typeface="+mn-cs"/>
              </a:rPr>
              <a:t>s,a</a:t>
            </a:r>
            <a:r>
              <a:rPr lang="en-US" sz="1200" kern="0" spc="-80" dirty="0">
                <a:solidFill>
                  <a:schemeClr val="accent2"/>
                </a:solidFill>
                <a:cs typeface="+mn-cs"/>
              </a:rPr>
              <a:t>):</a:t>
            </a:r>
            <a:r>
              <a:rPr lang="en-US" sz="1200" kern="0" spc="-80" dirty="0">
                <a:solidFill>
                  <a:schemeClr val="accent6"/>
                </a:solidFill>
                <a:cs typeface="+mn-cs"/>
              </a:rPr>
              <a:t> Estimates the expected return from taking a specific action a in state s, and then following the policy thereafter. </a:t>
            </a:r>
          </a:p>
          <a:p>
            <a:pPr marL="12700" marR="5080"/>
            <a:r>
              <a:rPr lang="en-US" sz="1200" kern="0" spc="-80" dirty="0">
                <a:solidFill>
                  <a:schemeClr val="accent2"/>
                </a:solidFill>
                <a:cs typeface="+mn-cs"/>
              </a:rPr>
              <a:t>         Other important techniques</a:t>
            </a:r>
          </a:p>
          <a:p>
            <a:pPr marL="12700" marR="5080"/>
            <a:r>
              <a:rPr lang="en-US" sz="1200" kern="0" spc="-80" dirty="0">
                <a:solidFill>
                  <a:schemeClr val="accent6"/>
                </a:solidFill>
                <a:cs typeface="+mn-cs"/>
              </a:rPr>
              <a:t>           </a:t>
            </a:r>
            <a:r>
              <a:rPr lang="en-US" sz="1200" kern="0" spc="-80" dirty="0">
                <a:solidFill>
                  <a:schemeClr val="accent2"/>
                </a:solidFill>
                <a:cs typeface="+mn-cs"/>
              </a:rPr>
              <a:t>Function approximation: </a:t>
            </a:r>
            <a:r>
              <a:rPr lang="en-US" sz="1200" kern="0" spc="-80" dirty="0">
                <a:solidFill>
                  <a:schemeClr val="accent6"/>
                </a:solidFill>
                <a:cs typeface="+mn-cs"/>
              </a:rPr>
              <a:t>A technique used when the state space is too large to store in a table. Neural networks (as in </a:t>
            </a:r>
          </a:p>
          <a:p>
            <a:pPr marL="12700" marR="5080"/>
            <a:r>
              <a:rPr lang="en-US" sz="1200" kern="0" spc="-80" dirty="0">
                <a:solidFill>
                  <a:schemeClr val="accent6"/>
                </a:solidFill>
                <a:cs typeface="+mn-cs"/>
              </a:rPr>
              <a:t>           DQN) or other function approximators are used to estimate the value function for unseen states. </a:t>
            </a:r>
          </a:p>
          <a:p>
            <a:pPr marL="12700" marR="5080"/>
            <a:r>
              <a:rPr lang="en-US" sz="1200" kern="0" spc="-80" dirty="0">
                <a:solidFill>
                  <a:schemeClr val="accent2"/>
                </a:solidFill>
                <a:cs typeface="+mn-cs"/>
              </a:rPr>
              <a:t>           Classification-based value function training: </a:t>
            </a:r>
            <a:r>
              <a:rPr lang="en-US" sz="1200" kern="0" spc="-80" dirty="0">
                <a:solidFill>
                  <a:schemeClr val="accent6"/>
                </a:solidFill>
                <a:cs typeface="+mn-cs"/>
              </a:rPr>
              <a:t>A more recent technique that frames value function learning as a </a:t>
            </a:r>
          </a:p>
          <a:p>
            <a:pPr marL="12700" marR="5080"/>
            <a:r>
              <a:rPr lang="en-US" sz="1200" kern="0" spc="-80" dirty="0">
                <a:solidFill>
                  <a:schemeClr val="accent6"/>
                </a:solidFill>
                <a:cs typeface="+mn-cs"/>
              </a:rPr>
              <a:t>           classification problem instead of a regression problem, which can improve performance and scalability in certain </a:t>
            </a:r>
          </a:p>
          <a:p>
            <a:pPr marL="12700" marR="5080"/>
            <a:r>
              <a:rPr lang="en-US" sz="1200" kern="0" spc="-80" dirty="0">
                <a:solidFill>
                  <a:schemeClr val="accent6"/>
                </a:solidFill>
                <a:cs typeface="+mn-cs"/>
              </a:rPr>
              <a:t>           domains. </a:t>
            </a:r>
          </a:p>
        </p:txBody>
      </p:sp>
    </p:spTree>
    <p:extLst>
      <p:ext uri="{BB962C8B-B14F-4D97-AF65-F5344CB8AC3E}">
        <p14:creationId xmlns:p14="http://schemas.microsoft.com/office/powerpoint/2010/main" val="244755639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806D1-4746-6F87-6043-EB1E8B8A94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1E110A1-4682-9320-E9FA-1FE6CBBAE1B4}"/>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B4A0FAC-3CAB-C763-0157-17D016030EB7}"/>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166B4F6-708E-A6A5-C088-88FC6E77EC3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679AD8E-7EC4-0076-0CA1-7BF352F1DA0A}"/>
              </a:ext>
            </a:extLst>
          </p:cNvPr>
          <p:cNvSpPr txBox="1">
            <a:spLocks/>
          </p:cNvSpPr>
          <p:nvPr/>
        </p:nvSpPr>
        <p:spPr>
          <a:xfrm>
            <a:off x="51886" y="1306392"/>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Techniques to solve Exploration vs Exploitation Dilemma in RL</a:t>
            </a:r>
          </a:p>
          <a:p>
            <a:pPr marL="12700" marR="5080"/>
            <a:r>
              <a:rPr lang="en-US" sz="1200" kern="0" spc="-80" dirty="0">
                <a:solidFill>
                  <a:schemeClr val="accent6"/>
                </a:solidFill>
                <a:cs typeface="+mn-cs"/>
              </a:rPr>
              <a:t>Common techniques to solve the exploration-exploitation dilemma in reinforcement learning include epsilon-greedy, which explores randomly with a small probability (</a:t>
            </a:r>
            <a:r>
              <a:rPr lang="en-US" sz="1200" kern="0" spc="-80" dirty="0" err="1">
                <a:solidFill>
                  <a:schemeClr val="accent6"/>
                </a:solidFill>
                <a:cs typeface="+mn-cs"/>
              </a:rPr>
              <a:t>varepsilon</a:t>
            </a:r>
            <a:r>
              <a:rPr lang="en-US" sz="1200" kern="0" spc="-80" dirty="0">
                <a:solidFill>
                  <a:schemeClr val="accent6"/>
                </a:solidFill>
                <a:cs typeface="+mn-cs"/>
              </a:rPr>
              <a:t>), and Upper Confidence Bound (UCB), which selects actions based on both past performance and uncertainty. Other methods, like Thompson Sampling, use a probabilistic approach, while more advanced techniques like those based on maximum entropy or count-based exploration can also be employed to guide the learning process more efficiently.   </a:t>
            </a:r>
          </a:p>
          <a:p>
            <a:pPr marL="12700" marR="5080"/>
            <a:r>
              <a:rPr lang="en-US" sz="1200" kern="0" spc="-80" dirty="0">
                <a:solidFill>
                  <a:schemeClr val="accent6"/>
                </a:solidFill>
                <a:cs typeface="+mn-cs"/>
              </a:rPr>
              <a:t>    .</a:t>
            </a:r>
          </a:p>
          <a:p>
            <a:pPr marL="12700" marR="5080"/>
            <a:r>
              <a:rPr lang="en-US" sz="1200" kern="0" spc="-80" dirty="0">
                <a:solidFill>
                  <a:schemeClr val="accent2"/>
                </a:solidFill>
                <a:cs typeface="+mn-cs"/>
              </a:rPr>
              <a:t>Simple strategies</a:t>
            </a:r>
          </a:p>
          <a:p>
            <a:pPr marL="12700" marR="5080"/>
            <a:r>
              <a:rPr lang="en-US" sz="1200" kern="0" spc="-80" dirty="0">
                <a:solidFill>
                  <a:schemeClr val="accent2"/>
                </a:solidFill>
                <a:cs typeface="+mn-cs"/>
              </a:rPr>
              <a:t>Epsilon-greedy: </a:t>
            </a:r>
            <a:r>
              <a:rPr lang="en-US" sz="1200" kern="0" spc="-80" dirty="0">
                <a:solidFill>
                  <a:schemeClr val="accent6"/>
                </a:solidFill>
                <a:cs typeface="+mn-cs"/>
              </a:rPr>
              <a:t>The agent chooses a random action with a small probability, (</a:t>
            </a:r>
            <a:r>
              <a:rPr lang="en-US" sz="1200" kern="0" spc="-80" dirty="0" err="1">
                <a:solidFill>
                  <a:schemeClr val="accent6"/>
                </a:solidFill>
                <a:cs typeface="+mn-cs"/>
              </a:rPr>
              <a:t>varepsilon</a:t>
            </a:r>
            <a:r>
              <a:rPr lang="en-US" sz="1200" kern="0" spc="-80" dirty="0">
                <a:solidFill>
                  <a:schemeClr val="accent6"/>
                </a:solidFill>
                <a:cs typeface="+mn-cs"/>
              </a:rPr>
              <a:t>)*(exploration), and selects the best-known action with probability (1-varepsilon)*(exploitation). A common approach is to start with a high (</a:t>
            </a:r>
            <a:r>
              <a:rPr lang="en-US" sz="1200" kern="0" spc="-80" dirty="0" err="1">
                <a:solidFill>
                  <a:schemeClr val="accent6"/>
                </a:solidFill>
                <a:cs typeface="+mn-cs"/>
              </a:rPr>
              <a:t>varepsilon</a:t>
            </a:r>
            <a:r>
              <a:rPr lang="en-US" sz="1200" kern="0" spc="-80" dirty="0">
                <a:solidFill>
                  <a:schemeClr val="accent6"/>
                </a:solidFill>
                <a:cs typeface="+mn-cs"/>
              </a:rPr>
              <a:t>) and gradually decrease it over time as the agent learns more about the environment.  </a:t>
            </a:r>
          </a:p>
          <a:p>
            <a:pPr marL="12700" marR="5080"/>
            <a:r>
              <a:rPr lang="en-US" sz="1200" kern="0" spc="-80" dirty="0">
                <a:solidFill>
                  <a:schemeClr val="accent2"/>
                </a:solidFill>
                <a:cs typeface="+mn-cs"/>
              </a:rPr>
              <a:t>Upper Confidence Bound (UCB): </a:t>
            </a:r>
            <a:r>
              <a:rPr lang="en-US" sz="1200" kern="0" spc="-80" dirty="0">
                <a:solidFill>
                  <a:schemeClr val="accent6"/>
                </a:solidFill>
                <a:cs typeface="+mn-cs"/>
              </a:rPr>
              <a:t>This method balances exploration and exploitation by selecting actions that have a high potential reward and/or high uncertainty. It favors actions that have not been tried often, while also considering their past success, which can lead to faster convergence. </a:t>
            </a:r>
          </a:p>
          <a:p>
            <a:pPr marL="12700" marR="5080"/>
            <a:endParaRPr lang="en-US" sz="1200" kern="0" spc="-80" dirty="0">
              <a:solidFill>
                <a:schemeClr val="accent6"/>
              </a:solidFill>
              <a:cs typeface="+mn-cs"/>
            </a:endParaRPr>
          </a:p>
          <a:p>
            <a:pPr marL="12700" marR="5080"/>
            <a:r>
              <a:rPr lang="en-US" sz="1200" kern="0" spc="-80" dirty="0">
                <a:solidFill>
                  <a:schemeClr val="accent2"/>
                </a:solidFill>
                <a:cs typeface="+mn-cs"/>
              </a:rPr>
              <a:t>Probabilistic and advanced strategies </a:t>
            </a:r>
            <a:r>
              <a:rPr lang="en-US" sz="1200" kern="0" spc="-80" dirty="0">
                <a:solidFill>
                  <a:schemeClr val="accent6"/>
                </a:solidFill>
                <a:cs typeface="+mn-cs"/>
              </a:rPr>
              <a:t>         </a:t>
            </a:r>
          </a:p>
          <a:p>
            <a:pPr marL="12700" marR="5080"/>
            <a:r>
              <a:rPr lang="en-US" sz="1200" kern="0" spc="-80" dirty="0">
                <a:solidFill>
                  <a:schemeClr val="accent2"/>
                </a:solidFill>
                <a:cs typeface="+mn-cs"/>
              </a:rPr>
              <a:t>Thompson Sampling: </a:t>
            </a:r>
            <a:r>
              <a:rPr lang="en-US" sz="1200" kern="0" spc="-80" dirty="0">
                <a:solidFill>
                  <a:schemeClr val="accent6"/>
                </a:solidFill>
                <a:cs typeface="+mn-cs"/>
              </a:rPr>
              <a:t>This is a Bayesian approach where the agent maintains a probability distribution over the possible outcomes of each action. It then samples a value from each action's distribution and chooses the action with the highest sampled value, ensuring a natural balance between exploration and exploitation. </a:t>
            </a:r>
          </a:p>
          <a:p>
            <a:pPr marL="12700" marR="5080"/>
            <a:r>
              <a:rPr lang="en-US" sz="1200" kern="0" spc="-80" dirty="0">
                <a:solidFill>
                  <a:schemeClr val="accent2"/>
                </a:solidFill>
                <a:cs typeface="+mn-cs"/>
              </a:rPr>
              <a:t>Count-based exploration: </a:t>
            </a:r>
            <a:r>
              <a:rPr lang="en-US" sz="1200" kern="0" spc="-80" dirty="0">
                <a:solidFill>
                  <a:schemeClr val="accent6"/>
                </a:solidFill>
                <a:cs typeface="+mn-cs"/>
              </a:rPr>
              <a:t>This technique encourages exploration by assigning a higher value to states or actions that have been visited less frequently. This is typically used in environments with small, discrete state spaces. </a:t>
            </a:r>
          </a:p>
          <a:p>
            <a:pPr marL="12700" marR="5080"/>
            <a:r>
              <a:rPr lang="en-US" sz="1200" kern="0" spc="-80" dirty="0">
                <a:solidFill>
                  <a:schemeClr val="accent2"/>
                </a:solidFill>
                <a:cs typeface="+mn-cs"/>
              </a:rPr>
              <a:t>Maximum Entropy reinforcement learning:</a:t>
            </a:r>
            <a:r>
              <a:rPr lang="en-US" sz="1200" kern="0" spc="-80" dirty="0">
                <a:solidFill>
                  <a:schemeClr val="accent6"/>
                </a:solidFill>
                <a:cs typeface="+mn-cs"/>
              </a:rPr>
              <a:t> This approach includes the entropy of the policy in the reward function, encouraging the agent to explore by being as random as possible while still maximizing its expected rewards. This method can help prevent premature convergence to a suboptimal policy. </a:t>
            </a:r>
          </a:p>
        </p:txBody>
      </p:sp>
    </p:spTree>
    <p:extLst>
      <p:ext uri="{BB962C8B-B14F-4D97-AF65-F5344CB8AC3E}">
        <p14:creationId xmlns:p14="http://schemas.microsoft.com/office/powerpoint/2010/main" val="10522260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CAACE-8E4E-6FCA-14CA-77169D65D9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111E483-2B95-ACF1-EC55-56557003ABA1}"/>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4DAB58C-594C-BB73-C3F8-8C0EC667D43A}"/>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C2EC337-1438-5E60-D4FC-69A35874E49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3A45285-BABC-BA12-1402-D15D46E57594}"/>
              </a:ext>
            </a:extLst>
          </p:cNvPr>
          <p:cNvSpPr txBox="1">
            <a:spLocks/>
          </p:cNvSpPr>
          <p:nvPr/>
        </p:nvSpPr>
        <p:spPr>
          <a:xfrm>
            <a:off x="51886" y="1306392"/>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Value Based vs Policy Based vs Hybrid Methods in RL</a:t>
            </a:r>
          </a:p>
        </p:txBody>
      </p:sp>
      <p:pic>
        <p:nvPicPr>
          <p:cNvPr id="7" name="Picture 6" descr="A screenshot of a web page">
            <a:extLst>
              <a:ext uri="{FF2B5EF4-FFF2-40B4-BE49-F238E27FC236}">
                <a16:creationId xmlns:a16="http://schemas.microsoft.com/office/drawing/2014/main" id="{3D7B2906-422B-A048-435A-2758B31DE3B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99" y="1606296"/>
            <a:ext cx="8991599" cy="4319476"/>
          </a:xfrm>
          <a:prstGeom prst="rect">
            <a:avLst/>
          </a:prstGeom>
        </p:spPr>
      </p:pic>
    </p:spTree>
    <p:extLst>
      <p:ext uri="{BB962C8B-B14F-4D97-AF65-F5344CB8AC3E}">
        <p14:creationId xmlns:p14="http://schemas.microsoft.com/office/powerpoint/2010/main" val="311835410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F307-97FD-0B47-FD6E-0D50BCD70A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F10AD3-2FAC-5821-0DF8-61F4ED89AE39}"/>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498C7E2-B96F-2106-1A00-FBAC2111BE02}"/>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68D6CDA-DF52-FB8B-FCF5-036C217B80E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DCC5755-DC99-CECA-4B4B-B56DEDA3F62A}"/>
              </a:ext>
            </a:extLst>
          </p:cNvPr>
          <p:cNvSpPr txBox="1">
            <a:spLocks/>
          </p:cNvSpPr>
          <p:nvPr/>
        </p:nvSpPr>
        <p:spPr>
          <a:xfrm>
            <a:off x="51886" y="1306392"/>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Value Based vs Policy Based vs Hybrid Methods in RL</a:t>
            </a:r>
          </a:p>
        </p:txBody>
      </p:sp>
      <p:pic>
        <p:nvPicPr>
          <p:cNvPr id="12" name="Picture 11">
            <a:extLst>
              <a:ext uri="{FF2B5EF4-FFF2-40B4-BE49-F238E27FC236}">
                <a16:creationId xmlns:a16="http://schemas.microsoft.com/office/drawing/2014/main" id="{2FB20961-8A09-E829-1AC9-37B0FD137521}"/>
              </a:ext>
            </a:extLst>
          </p:cNvPr>
          <p:cNvPicPr>
            <a:picLocks noChangeAspect="1"/>
          </p:cNvPicPr>
          <p:nvPr/>
        </p:nvPicPr>
        <p:blipFill>
          <a:blip r:embed="rId7"/>
          <a:stretch>
            <a:fillRect/>
          </a:stretch>
        </p:blipFill>
        <p:spPr>
          <a:xfrm>
            <a:off x="51885" y="1631658"/>
            <a:ext cx="9015913" cy="2102141"/>
          </a:xfrm>
          <a:prstGeom prst="rect">
            <a:avLst/>
          </a:prstGeom>
        </p:spPr>
      </p:pic>
    </p:spTree>
    <p:extLst>
      <p:ext uri="{BB962C8B-B14F-4D97-AF65-F5344CB8AC3E}">
        <p14:creationId xmlns:p14="http://schemas.microsoft.com/office/powerpoint/2010/main" val="61340231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927DA-3477-A902-D798-8D0A0B71C8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69C9B2D-5F28-D6A2-34EF-6E696902BBF0}"/>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9545C90-FB7E-3445-8D34-E850782E781D}"/>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5F9451A-D00C-8B0B-792A-EC3C1315117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8BECC80-DD47-E1F2-62A6-A1F3716F2846}"/>
              </a:ext>
            </a:extLst>
          </p:cNvPr>
          <p:cNvSpPr txBox="1">
            <a:spLocks/>
          </p:cNvSpPr>
          <p:nvPr/>
        </p:nvSpPr>
        <p:spPr>
          <a:xfrm>
            <a:off x="51886" y="1306392"/>
            <a:ext cx="8624937" cy="11849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Model Based vs Model Free Methods in RL</a:t>
            </a:r>
          </a:p>
          <a:p>
            <a:pPr marL="12700" marR="5080"/>
            <a:r>
              <a:rPr lang="en-US" sz="1200" kern="0" spc="-80" dirty="0">
                <a:solidFill>
                  <a:schemeClr val="accent6"/>
                </a:solidFill>
                <a:cs typeface="+mn-cs"/>
              </a:rPr>
              <a:t>Model-based RL learns a model of the environment to "plan" future actions, making it more sample-efficient, while model-free RL learns a policy or value function directly from experience without an environment model, making it simpler but less sample-efficient. Model-free methods learn from trial-and-error interactions, while model-based methods use their learned model to simulate scenarios, reducing the need for real-world interactions. </a:t>
            </a:r>
          </a:p>
          <a:p>
            <a:pPr marL="12700" marR="5080"/>
            <a:endParaRPr lang="en-US" sz="1200" kern="0" spc="-80" dirty="0">
              <a:solidFill>
                <a:schemeClr val="accent6"/>
              </a:solidFill>
              <a:cs typeface="+mn-cs"/>
            </a:endParaRPr>
          </a:p>
        </p:txBody>
      </p:sp>
      <p:pic>
        <p:nvPicPr>
          <p:cNvPr id="7" name="Picture 6" descr="A white sheet with black text">
            <a:extLst>
              <a:ext uri="{FF2B5EF4-FFF2-40B4-BE49-F238E27FC236}">
                <a16:creationId xmlns:a16="http://schemas.microsoft.com/office/drawing/2014/main" id="{F8667121-37EE-765E-977B-ED496A7104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2286000"/>
            <a:ext cx="8991600" cy="3639772"/>
          </a:xfrm>
          <a:prstGeom prst="rect">
            <a:avLst/>
          </a:prstGeom>
        </p:spPr>
      </p:pic>
    </p:spTree>
    <p:extLst>
      <p:ext uri="{BB962C8B-B14F-4D97-AF65-F5344CB8AC3E}">
        <p14:creationId xmlns:p14="http://schemas.microsoft.com/office/powerpoint/2010/main" val="125762491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8F4B-ADF7-7B29-E139-A4CFB478CB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B3C82A1-8312-CEDF-B51B-4B6601C06394}"/>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BAE38D-C67D-D693-B1D7-0828122FFB92}"/>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4521608-0032-44C2-B771-C4E0F60B215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FC9C07A-A387-56BD-047D-BB2E9A442BE3}"/>
              </a:ext>
            </a:extLst>
          </p:cNvPr>
          <p:cNvSpPr txBox="1">
            <a:spLocks/>
          </p:cNvSpPr>
          <p:nvPr/>
        </p:nvSpPr>
        <p:spPr>
          <a:xfrm>
            <a:off x="51886" y="1306392"/>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cs typeface="+mn-cs"/>
              </a:rPr>
              <a:t>Model Based vs Model Free Methods in RL</a:t>
            </a:r>
          </a:p>
        </p:txBody>
      </p:sp>
      <p:pic>
        <p:nvPicPr>
          <p:cNvPr id="8" name="Picture 7" descr="A white and blue text&#10;&#10;AI-generated content may be incorrect.">
            <a:extLst>
              <a:ext uri="{FF2B5EF4-FFF2-40B4-BE49-F238E27FC236}">
                <a16:creationId xmlns:a16="http://schemas.microsoft.com/office/drawing/2014/main" id="{92B56314-7895-19C2-E713-78E931E0A5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86" y="1654107"/>
            <a:ext cx="9244514" cy="4271665"/>
          </a:xfrm>
          <a:prstGeom prst="rect">
            <a:avLst/>
          </a:prstGeom>
        </p:spPr>
      </p:pic>
    </p:spTree>
    <p:extLst>
      <p:ext uri="{BB962C8B-B14F-4D97-AF65-F5344CB8AC3E}">
        <p14:creationId xmlns:p14="http://schemas.microsoft.com/office/powerpoint/2010/main" val="407915901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3FBD-3E45-7B30-0B0D-DAEED424E37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0E3940-96E6-407A-7DBB-4D1C3A3E4E72}"/>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3A5A79-7DAD-F605-11B1-C1F728CB566D}"/>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8265E56-CB1E-480B-5DE0-F54B9E63444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FDE0C17-2490-AB7B-06E9-27D6A445BA7F}"/>
              </a:ext>
            </a:extLst>
          </p:cNvPr>
          <p:cNvSpPr txBox="1">
            <a:spLocks/>
          </p:cNvSpPr>
          <p:nvPr/>
        </p:nvSpPr>
        <p:spPr>
          <a:xfrm>
            <a:off x="-17146" y="1335165"/>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a:t>
            </a:r>
          </a:p>
          <a:p>
            <a:pPr marL="12700" marR="5080"/>
            <a:r>
              <a:rPr lang="en-US" sz="1700" dirty="0">
                <a:hlinkClick r:id="rId7"/>
              </a:rPr>
              <a:t>Reinforcement Learning, Intuition, and Abductive Reasoning</a:t>
            </a:r>
            <a:endParaRPr lang="en-US" sz="1700" dirty="0"/>
          </a:p>
          <a:p>
            <a:pPr marL="12700" marR="5080"/>
            <a:r>
              <a:rPr lang="en-US" sz="1700" dirty="0">
                <a:hlinkClick r:id="rId8"/>
              </a:rPr>
              <a:t>Markov Decision Processes (MDPs) and Dynamic Programming</a:t>
            </a:r>
            <a:endParaRPr lang="en-US" sz="1700" dirty="0"/>
          </a:p>
          <a:p>
            <a:pPr marL="12700" marR="5080"/>
            <a:r>
              <a:rPr lang="en-US" sz="1700" dirty="0">
                <a:hlinkClick r:id="rId9"/>
              </a:rPr>
              <a:t>Markov Decision Processes and Dynamic Programming</a:t>
            </a:r>
            <a:endParaRPr lang="en-US" sz="1700" dirty="0"/>
          </a:p>
          <a:p>
            <a:pPr marL="12700" marR="5080"/>
            <a:r>
              <a:rPr lang="en-US" sz="1700" dirty="0">
                <a:hlinkClick r:id="rId10"/>
              </a:rPr>
              <a:t>Understanding the Markov Decision Process (MDP) | Built In</a:t>
            </a:r>
            <a:endParaRPr lang="en-US" sz="1700" kern="0" spc="-80" dirty="0">
              <a:solidFill>
                <a:schemeClr val="accent2"/>
              </a:solidFill>
            </a:endParaRPr>
          </a:p>
          <a:p>
            <a:pPr marL="12700" marR="5080"/>
            <a:r>
              <a:rPr lang="en-IN" sz="1700" dirty="0" err="1">
                <a:hlinkClick r:id="rId11"/>
              </a:rPr>
              <a:t>Reinforment</a:t>
            </a:r>
            <a:r>
              <a:rPr lang="en-IN" sz="1700" dirty="0">
                <a:hlinkClick r:id="rId11"/>
              </a:rPr>
              <a:t> Learning Techniques</a:t>
            </a:r>
            <a:endParaRPr lang="en-IN" sz="1700" dirty="0"/>
          </a:p>
          <a:p>
            <a:pPr marL="12700" marR="5080"/>
            <a:r>
              <a:rPr lang="en-IN" sz="1700" dirty="0">
                <a:hlinkClick r:id="rId12"/>
              </a:rPr>
              <a:t>Algorithms for Decision Making</a:t>
            </a:r>
            <a:endParaRPr lang="en-IN" sz="1700" dirty="0"/>
          </a:p>
          <a:p>
            <a:pPr marL="12700" marR="5080"/>
            <a:r>
              <a:rPr lang="en-IN" sz="1700" dirty="0">
                <a:hlinkClick r:id="rId13"/>
              </a:rPr>
              <a:t>Some Good RL Resources </a:t>
            </a:r>
            <a:r>
              <a:rPr lang="en-IN" sz="1700" dirty="0">
                <a:hlinkClick r:id="rId14"/>
              </a:rPr>
              <a:t>–</a:t>
            </a:r>
            <a:r>
              <a:rPr lang="en-IN" sz="1700" dirty="0">
                <a:hlinkClick r:id="rId13"/>
              </a:rPr>
              <a:t> I</a:t>
            </a:r>
            <a:endParaRPr lang="en-IN" sz="1700" dirty="0"/>
          </a:p>
          <a:p>
            <a:pPr marL="12700" marR="5080"/>
            <a:r>
              <a:rPr lang="en-IN" sz="1700" dirty="0">
                <a:hlinkClick r:id="rId14"/>
              </a:rPr>
              <a:t>Some Good RL Resources – II</a:t>
            </a:r>
            <a:endParaRPr lang="en-IN" sz="1700" dirty="0"/>
          </a:p>
          <a:p>
            <a:pPr marL="12700" marR="5080"/>
            <a:r>
              <a:rPr lang="en-US" sz="1700" dirty="0">
                <a:hlinkClick r:id="rId15"/>
              </a:rPr>
              <a:t>RLHF-book</a:t>
            </a:r>
            <a:endParaRPr lang="en-US" sz="1700" dirty="0"/>
          </a:p>
          <a:p>
            <a:pPr marL="12700" marR="5080"/>
            <a:r>
              <a:rPr lang="en-IN" sz="1700" dirty="0" err="1">
                <a:hlinkClick r:id="rId16"/>
              </a:rPr>
              <a:t>OpenRLHF</a:t>
            </a:r>
            <a:endParaRPr lang="en-IN" sz="1700" dirty="0"/>
          </a:p>
          <a:p>
            <a:pPr marL="12700" marR="5080"/>
            <a:r>
              <a:rPr lang="en-US" sz="1700" dirty="0">
                <a:hlinkClick r:id="rId17"/>
              </a:rPr>
              <a:t>Reinforcement Learning: Tasks, Exploration vs Exploitation</a:t>
            </a:r>
            <a:endParaRPr lang="en-US" sz="1700" dirty="0"/>
          </a:p>
          <a:p>
            <a:pPr marL="12700" marR="5080"/>
            <a:r>
              <a:rPr lang="en-US" sz="1700" dirty="0">
                <a:hlinkClick r:id="rId18"/>
              </a:rPr>
              <a:t>Exploration-Exploitation Tradeoff Explained with Code</a:t>
            </a:r>
            <a:endParaRPr lang="en-US" sz="1700" dirty="0"/>
          </a:p>
          <a:p>
            <a:pPr marL="12700" marR="5080"/>
            <a:r>
              <a:rPr lang="en-US" sz="1700" dirty="0">
                <a:hlinkClick r:id="rId19"/>
              </a:rPr>
              <a:t>Exploration vs Exploitation in RL The Dilemma Explained</a:t>
            </a:r>
            <a:endParaRPr lang="en-US" sz="1700" dirty="0"/>
          </a:p>
          <a:p>
            <a:pPr marL="12700" marR="5080"/>
            <a:r>
              <a:rPr lang="en-IN" sz="1700" dirty="0">
                <a:hlinkClick r:id="rId20"/>
              </a:rPr>
              <a:t>Sequential Decision Analytics – CASTLE</a:t>
            </a:r>
            <a:endParaRPr lang="en-IN" sz="1700" dirty="0"/>
          </a:p>
          <a:p>
            <a:pPr marL="12700" marR="5080"/>
            <a:r>
              <a:rPr lang="en-US" sz="1700" dirty="0">
                <a:hlinkClick r:id="rId21"/>
              </a:rPr>
              <a:t>Model-Based and Model-Free Reinforcement Learning</a:t>
            </a:r>
            <a:endParaRPr lang="en-US" sz="1700" dirty="0"/>
          </a:p>
          <a:p>
            <a:pPr marL="12700" marR="5080"/>
            <a:r>
              <a:rPr lang="en-US" sz="1700" dirty="0">
                <a:hlinkClick r:id="rId22"/>
              </a:rPr>
              <a:t>Model Based Reinforcement Learning</a:t>
            </a:r>
            <a:endParaRPr lang="en-US" sz="1700" dirty="0"/>
          </a:p>
          <a:p>
            <a:pPr marL="12700" marR="5080"/>
            <a:r>
              <a:rPr lang="en-US" sz="1700" dirty="0">
                <a:hlinkClick r:id="rId23"/>
              </a:rPr>
              <a:t>RL-Taxonomy</a:t>
            </a:r>
            <a:endParaRPr lang="en-US" sz="1700" kern="0" spc="-80" dirty="0">
              <a:solidFill>
                <a:schemeClr val="accent2"/>
              </a:solidFill>
            </a:endParaRPr>
          </a:p>
        </p:txBody>
      </p:sp>
    </p:spTree>
    <p:extLst>
      <p:ext uri="{BB962C8B-B14F-4D97-AF65-F5344CB8AC3E}">
        <p14:creationId xmlns:p14="http://schemas.microsoft.com/office/powerpoint/2010/main" val="389799040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23222-9A4C-3F15-47F7-42D38AB1CB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BDF7E7-2EAB-3ADC-F31A-26F723ACDD0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4B89E0E4-152D-B235-197D-8DEC699D6A81}"/>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B796550-6812-34F0-27FC-5CF7BBD0FFE3}"/>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6ED66CC-59F3-7E0B-8B9F-84380B3091B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9A26654-BBD8-D9A7-44AA-F271AC4606C6}"/>
              </a:ext>
            </a:extLst>
          </p:cNvPr>
          <p:cNvSpPr txBox="1">
            <a:spLocks/>
          </p:cNvSpPr>
          <p:nvPr/>
        </p:nvSpPr>
        <p:spPr>
          <a:xfrm>
            <a:off x="-6986" y="1311359"/>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Econometric models are statistical models used in economics to understand and predict economic phenomena. They help bridge economic theory with empirical data, allowing economists to test hypotheses, establish causal relationships, and make forecasts. These models can be used to analyze the relationship between variables like consumer spending, income, and interest rates. </a:t>
            </a:r>
          </a:p>
          <a:p>
            <a:pPr marL="12700" marR="5080"/>
            <a:r>
              <a:rPr lang="en-US" sz="1400" kern="0" spc="-80" dirty="0">
                <a:solidFill>
                  <a:schemeClr val="accent6"/>
                </a:solidFill>
                <a:cs typeface="+mn-cs"/>
              </a:rPr>
              <a:t>Here's a more detailed look:</a:t>
            </a:r>
          </a:p>
          <a:p>
            <a:pPr marL="12700" marR="5080"/>
            <a:r>
              <a:rPr lang="en-US" sz="1400" kern="0" spc="-80" dirty="0">
                <a:solidFill>
                  <a:schemeClr val="accent2"/>
                </a:solidFill>
                <a:cs typeface="+mn-cs"/>
              </a:rPr>
              <a:t>1. Purpose of Econometric Models:</a:t>
            </a:r>
          </a:p>
          <a:p>
            <a:pPr marL="12700" marR="5080"/>
            <a:r>
              <a:rPr lang="en-US" sz="1400" kern="0" spc="-80" dirty="0">
                <a:solidFill>
                  <a:schemeClr val="accent2"/>
                </a:solidFill>
                <a:cs typeface="+mn-cs"/>
              </a:rPr>
              <a:t>Test Economic Theories:</a:t>
            </a:r>
            <a:r>
              <a:rPr lang="en-US" sz="1400" kern="0" spc="-80" dirty="0">
                <a:solidFill>
                  <a:schemeClr val="accent6"/>
                </a:solidFill>
                <a:cs typeface="+mn-cs"/>
              </a:rPr>
              <a:t> Econometric models allow economists to statistically test whether economic theories align with real-world data. </a:t>
            </a:r>
          </a:p>
          <a:p>
            <a:pPr marL="12700" marR="5080"/>
            <a:r>
              <a:rPr lang="en-US" sz="1400" kern="0" spc="-80" dirty="0">
                <a:solidFill>
                  <a:schemeClr val="accent2"/>
                </a:solidFill>
                <a:cs typeface="+mn-cs"/>
              </a:rPr>
              <a:t>Establish Causality</a:t>
            </a:r>
            <a:r>
              <a:rPr lang="en-US" sz="1400" kern="0" spc="-80" dirty="0">
                <a:solidFill>
                  <a:schemeClr val="accent6"/>
                </a:solidFill>
                <a:cs typeface="+mn-cs"/>
              </a:rPr>
              <a:t>: They can help determine if one variable causes changes in another, even when controlled experiments are not possible. </a:t>
            </a:r>
          </a:p>
          <a:p>
            <a:pPr marL="12700" marR="5080"/>
            <a:r>
              <a:rPr lang="en-US" sz="1400" kern="0" spc="-80" dirty="0">
                <a:solidFill>
                  <a:schemeClr val="accent2"/>
                </a:solidFill>
                <a:cs typeface="+mn-cs"/>
              </a:rPr>
              <a:t>Forecasting</a:t>
            </a:r>
            <a:r>
              <a:rPr lang="en-US" sz="1400" kern="0" spc="-80" dirty="0">
                <a:solidFill>
                  <a:schemeClr val="accent6"/>
                </a:solidFill>
                <a:cs typeface="+mn-cs"/>
              </a:rPr>
              <a:t>: Econometric models can be used to predict future trends based on historical data. </a:t>
            </a:r>
          </a:p>
          <a:p>
            <a:pPr marL="12700" marR="5080"/>
            <a:r>
              <a:rPr lang="en-US" sz="1400" kern="0" spc="-80" dirty="0">
                <a:solidFill>
                  <a:schemeClr val="accent2"/>
                </a:solidFill>
                <a:cs typeface="+mn-cs"/>
              </a:rPr>
              <a:t>Policy Evaluation</a:t>
            </a:r>
            <a:r>
              <a:rPr lang="en-US" sz="1400" kern="0" spc="-80" dirty="0">
                <a:solidFill>
                  <a:schemeClr val="accent6"/>
                </a:solidFill>
                <a:cs typeface="+mn-cs"/>
              </a:rPr>
              <a:t>: They can help evaluate the potential impact of different policies. </a:t>
            </a:r>
          </a:p>
          <a:p>
            <a:pPr marL="12700" marR="5080"/>
            <a:r>
              <a:rPr lang="en-US" sz="1400" kern="0" spc="-80" dirty="0">
                <a:solidFill>
                  <a:schemeClr val="accent2"/>
                </a:solidFill>
                <a:cs typeface="+mn-cs"/>
              </a:rPr>
              <a:t>Decision Making</a:t>
            </a:r>
            <a:r>
              <a:rPr lang="en-US" sz="1400" kern="0" spc="-80" dirty="0">
                <a:solidFill>
                  <a:schemeClr val="accent6"/>
                </a:solidFill>
                <a:cs typeface="+mn-cs"/>
              </a:rPr>
              <a:t>: Econometric models can provide insights to help businesses and policymakers make informed decisions. </a:t>
            </a:r>
          </a:p>
          <a:p>
            <a:pPr marL="12700" marR="5080"/>
            <a:r>
              <a:rPr lang="en-US" sz="1400" kern="0" spc="-80" dirty="0">
                <a:solidFill>
                  <a:schemeClr val="accent2"/>
                </a:solidFill>
                <a:cs typeface="+mn-cs"/>
              </a:rPr>
              <a:t>2. Types of Econometric Models:</a:t>
            </a:r>
          </a:p>
          <a:p>
            <a:pPr marL="12700" marR="5080"/>
            <a:r>
              <a:rPr lang="en-US" sz="1400" kern="0" spc="-80" dirty="0">
                <a:solidFill>
                  <a:schemeClr val="accent2"/>
                </a:solidFill>
                <a:cs typeface="+mn-cs"/>
              </a:rPr>
              <a:t>Regression Models</a:t>
            </a:r>
            <a:r>
              <a:rPr lang="en-US" sz="1400" kern="0" spc="-80" dirty="0">
                <a:solidFill>
                  <a:schemeClr val="accent6"/>
                </a:solidFill>
                <a:cs typeface="+mn-cs"/>
              </a:rPr>
              <a:t>: A fundamental model used to estimate the relationship between a dependent variable and one or more independent variables. </a:t>
            </a:r>
          </a:p>
          <a:p>
            <a:pPr marL="12700" marR="5080"/>
            <a:r>
              <a:rPr lang="en-US" sz="1400" kern="0" spc="-80" dirty="0">
                <a:solidFill>
                  <a:schemeClr val="accent2"/>
                </a:solidFill>
                <a:cs typeface="+mn-cs"/>
              </a:rPr>
              <a:t>Time Series Models</a:t>
            </a:r>
            <a:r>
              <a:rPr lang="en-US" sz="1400" kern="0" spc="-80" dirty="0">
                <a:solidFill>
                  <a:schemeClr val="accent6"/>
                </a:solidFill>
                <a:cs typeface="+mn-cs"/>
              </a:rPr>
              <a:t>: Models like ARIMA (Autoregressive Integrated Moving Average) are used to analyze data that changes over time. </a:t>
            </a:r>
          </a:p>
          <a:p>
            <a:pPr marL="12700" marR="5080"/>
            <a:r>
              <a:rPr lang="en-US" sz="1400" kern="0" spc="-80" dirty="0">
                <a:solidFill>
                  <a:schemeClr val="accent2"/>
                </a:solidFill>
                <a:cs typeface="+mn-cs"/>
              </a:rPr>
              <a:t>Panel Data Models</a:t>
            </a:r>
            <a:r>
              <a:rPr lang="en-US" sz="1400" kern="0" spc="-80" dirty="0">
                <a:solidFill>
                  <a:schemeClr val="accent6"/>
                </a:solidFill>
                <a:cs typeface="+mn-cs"/>
              </a:rPr>
              <a:t>: These models analyze data that has both cross-sectional (different individuals or groups) and time-series dimensions. </a:t>
            </a:r>
            <a:r>
              <a:rPr lang="en-US" sz="1000" b="0" i="0" dirty="0">
                <a:solidFill>
                  <a:srgbClr val="001D35"/>
                </a:solidFill>
                <a:effectLst/>
                <a:latin typeface="Google Sans"/>
              </a:rPr>
              <a:t> </a:t>
            </a:r>
            <a:r>
              <a:rPr lang="en-US" sz="1400" kern="0" spc="-80" dirty="0">
                <a:solidFill>
                  <a:schemeClr val="accent6"/>
                </a:solidFill>
                <a:cs typeface="+mn-cs"/>
              </a:rPr>
              <a:t>Panel data combines both regression &amp; time series to allow for longitudinal studies.</a:t>
            </a:r>
          </a:p>
        </p:txBody>
      </p:sp>
    </p:spTree>
    <p:extLst>
      <p:ext uri="{BB962C8B-B14F-4D97-AF65-F5344CB8AC3E}">
        <p14:creationId xmlns:p14="http://schemas.microsoft.com/office/powerpoint/2010/main" val="149253933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3987-DFD6-EA8B-2994-9060801F9A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32FE55-2531-D2D3-6DDD-F787DE95807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4BD1B4AE-C842-F577-1BFA-F4DB4407BF2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09C08D7-9FAE-B1CA-9094-B6E5D1AADF8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1956264-F63E-91EE-E83A-CEC107BC11E2}"/>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A15FEDED-1AF3-7057-9BBA-6282A834CCE0}"/>
              </a:ext>
            </a:extLst>
          </p:cNvPr>
          <p:cNvSpPr txBox="1">
            <a:spLocks/>
          </p:cNvSpPr>
          <p:nvPr/>
        </p:nvSpPr>
        <p:spPr>
          <a:xfrm>
            <a:off x="41725" y="1377399"/>
            <a:ext cx="8624937" cy="45027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30" kern="0" spc="-80" dirty="0">
                <a:solidFill>
                  <a:schemeClr val="accent2"/>
                </a:solidFill>
                <a:cs typeface="+mn-cs"/>
              </a:rPr>
              <a:t>Logit and Probit Models:</a:t>
            </a:r>
            <a:r>
              <a:rPr lang="en-US" sz="1330" kern="0" spc="-80" dirty="0">
                <a:solidFill>
                  <a:schemeClr val="accent6"/>
                </a:solidFill>
                <a:cs typeface="+mn-cs"/>
              </a:rPr>
              <a:t> These models are used when the dependent variable is binary (yes/no, 0/1). </a:t>
            </a:r>
          </a:p>
          <a:p>
            <a:pPr marL="12700" marR="5080"/>
            <a:r>
              <a:rPr lang="en-US" sz="1330" kern="0" spc="-80" dirty="0">
                <a:solidFill>
                  <a:schemeClr val="accent2"/>
                </a:solidFill>
                <a:cs typeface="+mn-cs"/>
              </a:rPr>
              <a:t>Simultaneous Transfer Function Models:</a:t>
            </a:r>
            <a:r>
              <a:rPr lang="en-US" sz="1330" kern="0" spc="-80" dirty="0">
                <a:solidFill>
                  <a:schemeClr val="accent6"/>
                </a:solidFill>
                <a:cs typeface="+mn-cs"/>
              </a:rPr>
              <a:t> These models are used to analyze simultaneous relationships between multiple variables.</a:t>
            </a:r>
          </a:p>
          <a:p>
            <a:pPr marL="12700" marR="5080"/>
            <a:r>
              <a:rPr lang="en-US" sz="1330" kern="0" spc="-80" dirty="0">
                <a:solidFill>
                  <a:schemeClr val="accent2"/>
                </a:solidFill>
                <a:cs typeface="+mn-cs"/>
              </a:rPr>
              <a:t>Vector Autoregression (VAR) Models:</a:t>
            </a:r>
            <a:r>
              <a:rPr lang="en-US" sz="1330" kern="0" spc="-80" dirty="0">
                <a:solidFill>
                  <a:schemeClr val="accent6"/>
                </a:solidFill>
                <a:cs typeface="+mn-cs"/>
              </a:rPr>
              <a:t> These models are used to analyze the dynamic relationships between multiple time series variables.</a:t>
            </a:r>
          </a:p>
          <a:p>
            <a:pPr marL="12700" marR="5080"/>
            <a:r>
              <a:rPr lang="en-US" sz="1330" kern="0" spc="-80" dirty="0">
                <a:solidFill>
                  <a:schemeClr val="accent2"/>
                </a:solidFill>
                <a:cs typeface="+mn-cs"/>
              </a:rPr>
              <a:t>3. Key Concepts in Econometric Modeling:</a:t>
            </a:r>
          </a:p>
          <a:p>
            <a:pPr marL="12700" marR="5080"/>
            <a:r>
              <a:rPr lang="en-US" sz="1330" kern="0" spc="-80" dirty="0">
                <a:solidFill>
                  <a:schemeClr val="accent2"/>
                </a:solidFill>
                <a:cs typeface="+mn-cs"/>
              </a:rPr>
              <a:t>Endogeneity</a:t>
            </a:r>
            <a:r>
              <a:rPr lang="en-US" sz="1330" kern="0" spc="-80" dirty="0">
                <a:solidFill>
                  <a:schemeClr val="accent6"/>
                </a:solidFill>
                <a:cs typeface="+mn-cs"/>
              </a:rPr>
              <a:t>: A situation where the independent variable is correlated with the error term, leading to biased estimates. </a:t>
            </a:r>
          </a:p>
          <a:p>
            <a:pPr marL="12700" marR="5080"/>
            <a:r>
              <a:rPr lang="en-US" sz="1330" kern="0" spc="-80" dirty="0">
                <a:solidFill>
                  <a:schemeClr val="accent2"/>
                </a:solidFill>
                <a:cs typeface="+mn-cs"/>
              </a:rPr>
              <a:t>Multicollinearity</a:t>
            </a:r>
            <a:r>
              <a:rPr lang="en-US" sz="1330" kern="0" spc="-80" dirty="0">
                <a:solidFill>
                  <a:schemeClr val="accent6"/>
                </a:solidFill>
                <a:cs typeface="+mn-cs"/>
              </a:rPr>
              <a:t>: A situation where independent variables are highly correlated with each other, making it difficult to isolate the effect of each variable. </a:t>
            </a:r>
          </a:p>
          <a:p>
            <a:pPr marL="12700" marR="5080"/>
            <a:r>
              <a:rPr lang="en-US" sz="1330" kern="0" spc="-80" dirty="0">
                <a:solidFill>
                  <a:schemeClr val="accent2"/>
                </a:solidFill>
                <a:cs typeface="+mn-cs"/>
              </a:rPr>
              <a:t>Cointegration</a:t>
            </a:r>
            <a:r>
              <a:rPr lang="en-US" sz="1330" kern="0" spc="-80" dirty="0">
                <a:solidFill>
                  <a:schemeClr val="accent6"/>
                </a:solidFill>
                <a:cs typeface="+mn-cs"/>
              </a:rPr>
              <a:t>: A concept related to time series data where two or more variables move together in the long run despite not being stationary. </a:t>
            </a:r>
          </a:p>
          <a:p>
            <a:pPr marL="12700" marR="5080"/>
            <a:r>
              <a:rPr lang="en-US" sz="1330" kern="0" spc="-80" dirty="0">
                <a:solidFill>
                  <a:schemeClr val="accent2"/>
                </a:solidFill>
                <a:cs typeface="+mn-cs"/>
              </a:rPr>
              <a:t>4. Examples of Econometric Models in Use:</a:t>
            </a:r>
          </a:p>
          <a:p>
            <a:pPr marL="12700" marR="5080"/>
            <a:r>
              <a:rPr lang="en-US" sz="1330" kern="0" spc="-80" dirty="0">
                <a:solidFill>
                  <a:schemeClr val="accent2"/>
                </a:solidFill>
                <a:cs typeface="+mn-cs"/>
              </a:rPr>
              <a:t>Macroeconomic Models</a:t>
            </a:r>
            <a:r>
              <a:rPr lang="en-US" sz="1330" kern="0" spc="-80" dirty="0">
                <a:solidFill>
                  <a:schemeClr val="accent6"/>
                </a:solidFill>
                <a:cs typeface="+mn-cs"/>
              </a:rPr>
              <a:t>: Used to model the overall economy, including GDP, inflation, and interest rates. </a:t>
            </a:r>
          </a:p>
          <a:p>
            <a:pPr marL="12700" marR="5080"/>
            <a:r>
              <a:rPr lang="en-US" sz="1330" kern="0" spc="-80" dirty="0">
                <a:solidFill>
                  <a:schemeClr val="accent2"/>
                </a:solidFill>
                <a:cs typeface="+mn-cs"/>
              </a:rPr>
              <a:t>Financial Econometric Models:</a:t>
            </a:r>
            <a:r>
              <a:rPr lang="en-US" sz="1330" kern="0" spc="-80" dirty="0">
                <a:solidFill>
                  <a:schemeClr val="accent6"/>
                </a:solidFill>
                <a:cs typeface="+mn-cs"/>
              </a:rPr>
              <a:t> Used to analyze financial markets, predict stock prices, and assess financial risk. </a:t>
            </a:r>
          </a:p>
          <a:p>
            <a:pPr marL="12700" marR="5080"/>
            <a:r>
              <a:rPr lang="en-US" sz="1330" kern="0" spc="-80" dirty="0">
                <a:solidFill>
                  <a:schemeClr val="accent2"/>
                </a:solidFill>
                <a:cs typeface="+mn-cs"/>
              </a:rPr>
              <a:t>Demand Models</a:t>
            </a:r>
            <a:r>
              <a:rPr lang="en-US" sz="1330" kern="0" spc="-80" dirty="0">
                <a:solidFill>
                  <a:schemeClr val="accent6"/>
                </a:solidFill>
                <a:cs typeface="+mn-cs"/>
              </a:rPr>
              <a:t>: Used to analyze consumer demand for goods and services. </a:t>
            </a:r>
          </a:p>
          <a:p>
            <a:pPr marL="12700" marR="5080"/>
            <a:r>
              <a:rPr lang="en-US" sz="1330" kern="0" spc="-80" dirty="0">
                <a:solidFill>
                  <a:schemeClr val="accent2"/>
                </a:solidFill>
                <a:cs typeface="+mn-cs"/>
              </a:rPr>
              <a:t>Supply Models</a:t>
            </a:r>
            <a:r>
              <a:rPr lang="en-US" sz="1330" kern="0" spc="-80" dirty="0">
                <a:solidFill>
                  <a:schemeClr val="accent6"/>
                </a:solidFill>
                <a:cs typeface="+mn-cs"/>
              </a:rPr>
              <a:t>: Used to analyze the supply of goods and services. </a:t>
            </a:r>
          </a:p>
          <a:p>
            <a:pPr marL="12700" marR="5080"/>
            <a:r>
              <a:rPr lang="en-US" sz="1330" kern="0" spc="-80" dirty="0">
                <a:solidFill>
                  <a:schemeClr val="accent2"/>
                </a:solidFill>
                <a:cs typeface="+mn-cs"/>
              </a:rPr>
              <a:t>5. Advantages and Limitations:</a:t>
            </a:r>
          </a:p>
          <a:p>
            <a:pPr marL="12700" marR="5080"/>
            <a:r>
              <a:rPr lang="en-US" sz="1330" kern="0" spc="-80" dirty="0">
                <a:solidFill>
                  <a:schemeClr val="accent2"/>
                </a:solidFill>
                <a:cs typeface="+mn-cs"/>
              </a:rPr>
              <a:t>Advantages</a:t>
            </a:r>
            <a:r>
              <a:rPr lang="en-US" sz="1330" kern="0" spc="-80" dirty="0">
                <a:solidFill>
                  <a:schemeClr val="accent6"/>
                </a:solidFill>
                <a:cs typeface="+mn-cs"/>
              </a:rPr>
              <a:t>: Econometric models can be powerful tools for understanding and predicting economic phenomena. </a:t>
            </a:r>
          </a:p>
          <a:p>
            <a:pPr marL="12700" marR="5080"/>
            <a:r>
              <a:rPr lang="en-US" sz="1330" kern="0" spc="-80" dirty="0">
                <a:solidFill>
                  <a:schemeClr val="accent2"/>
                </a:solidFill>
                <a:cs typeface="+mn-cs"/>
              </a:rPr>
              <a:t>Limitations</a:t>
            </a:r>
            <a:r>
              <a:rPr lang="en-US" sz="1330" kern="0" spc="-80" dirty="0">
                <a:solidFill>
                  <a:schemeClr val="accent6"/>
                </a:solidFill>
                <a:cs typeface="+mn-cs"/>
              </a:rPr>
              <a:t>: Models can be based on assumptions that may not always hold true, and they can be complex to build and interpret. </a:t>
            </a:r>
          </a:p>
        </p:txBody>
      </p:sp>
    </p:spTree>
    <p:extLst>
      <p:ext uri="{BB962C8B-B14F-4D97-AF65-F5344CB8AC3E}">
        <p14:creationId xmlns:p14="http://schemas.microsoft.com/office/powerpoint/2010/main" val="142505055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2004E-403B-7149-E616-9D14556A78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199E1E-D5DC-738B-30EC-0B6C389341B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1A11503-6DC1-23E8-7DB4-466C9CEEDF5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94FF1F2-3C73-8930-EECD-0DD37D5AD8F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9A77BD8-23FF-01A4-A250-43E68DA4C35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F8888F6F-EA4F-B13B-A0A2-EA281E8AAB59}"/>
              </a:ext>
            </a:extLst>
          </p:cNvPr>
          <p:cNvSpPr txBox="1">
            <a:spLocks/>
          </p:cNvSpPr>
          <p:nvPr/>
        </p:nvSpPr>
        <p:spPr>
          <a:xfrm>
            <a:off x="41725" y="1377399"/>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Regression models the relationship between a dependent and one or more independent variables, while time series models analyze data ordered by time, and panel data combines time series and cross-sectional data. Logit and probit models are used for binary outcomes, and simultaneous transfer function and vector autoregression (VAR) models are used for time series analysis with multiple variables and potentially feedback loops. </a:t>
            </a:r>
          </a:p>
          <a:p>
            <a:pPr marL="12700" marR="5080"/>
            <a:r>
              <a:rPr lang="en-US" sz="1400" kern="0" spc="-80" dirty="0">
                <a:solidFill>
                  <a:schemeClr val="accent2"/>
                </a:solidFill>
                <a:cs typeface="+mn-cs"/>
              </a:rPr>
              <a:t>1. Regression:</a:t>
            </a:r>
          </a:p>
          <a:p>
            <a:pPr marL="12700" marR="5080"/>
            <a:r>
              <a:rPr lang="en-US" sz="1400" kern="0" spc="-80" dirty="0">
                <a:solidFill>
                  <a:schemeClr val="accent2"/>
                </a:solidFill>
                <a:cs typeface="+mn-cs"/>
              </a:rPr>
              <a:t>Purpose</a:t>
            </a:r>
            <a:r>
              <a:rPr lang="en-US" sz="1400" kern="0" spc="-80" dirty="0">
                <a:solidFill>
                  <a:schemeClr val="accent6"/>
                </a:solidFill>
                <a:cs typeface="+mn-cs"/>
              </a:rPr>
              <a:t>: Predicts the value of a dependent variable based on one or more independent variables. </a:t>
            </a:r>
          </a:p>
          <a:p>
            <a:pPr marL="12700" marR="5080"/>
            <a:r>
              <a:rPr lang="en-US" sz="1400" kern="0" spc="-80" dirty="0">
                <a:solidFill>
                  <a:schemeClr val="accent2"/>
                </a:solidFill>
                <a:cs typeface="+mn-cs"/>
              </a:rPr>
              <a:t>Data</a:t>
            </a:r>
            <a:r>
              <a:rPr lang="en-US" sz="1400" kern="0" spc="-80" dirty="0">
                <a:solidFill>
                  <a:schemeClr val="accent6"/>
                </a:solidFill>
                <a:cs typeface="+mn-cs"/>
              </a:rPr>
              <a:t>: Cross-sectional data, where observations are made at a single point in time. </a:t>
            </a:r>
          </a:p>
          <a:p>
            <a:pPr marL="12700" marR="5080"/>
            <a:r>
              <a:rPr lang="en-US" sz="1400" kern="0" spc="-80" dirty="0">
                <a:solidFill>
                  <a:schemeClr val="accent2"/>
                </a:solidFill>
                <a:cs typeface="+mn-cs"/>
              </a:rPr>
              <a:t>Assumptions</a:t>
            </a:r>
            <a:r>
              <a:rPr lang="en-US" sz="1400" kern="0" spc="-80" dirty="0">
                <a:solidFill>
                  <a:schemeClr val="accent6"/>
                </a:solidFill>
                <a:cs typeface="+mn-cs"/>
              </a:rPr>
              <a:t>: Data points are independent, the relationship between variables is linear, and residuals are normally distributed. </a:t>
            </a:r>
          </a:p>
          <a:p>
            <a:pPr marL="12700" marR="5080"/>
            <a:r>
              <a:rPr lang="en-US" sz="1400" kern="0" spc="-80" dirty="0">
                <a:solidFill>
                  <a:schemeClr val="accent2"/>
                </a:solidFill>
                <a:cs typeface="+mn-cs"/>
              </a:rPr>
              <a:t>Example</a:t>
            </a:r>
            <a:r>
              <a:rPr lang="en-US" sz="1400" kern="0" spc="-80" dirty="0">
                <a:solidFill>
                  <a:schemeClr val="accent6"/>
                </a:solidFill>
                <a:cs typeface="+mn-cs"/>
              </a:rPr>
              <a:t>: Predicting housing prices based on size, location, and number of bedrooms. </a:t>
            </a:r>
          </a:p>
          <a:p>
            <a:pPr marL="12700" marR="5080"/>
            <a:r>
              <a:rPr lang="en-US" sz="1400" kern="0" spc="-80" dirty="0">
                <a:solidFill>
                  <a:schemeClr val="accent2"/>
                </a:solidFill>
                <a:cs typeface="+mn-cs"/>
              </a:rPr>
              <a:t>When to use:</a:t>
            </a:r>
            <a:r>
              <a:rPr lang="en-US" sz="1400" kern="0" spc="-80" dirty="0">
                <a:solidFill>
                  <a:schemeClr val="accent6"/>
                </a:solidFill>
                <a:cs typeface="+mn-cs"/>
              </a:rPr>
              <a:t> When you have data where the relationship between variables is expected to be linear and the assumptions of linear regression are met. </a:t>
            </a:r>
          </a:p>
          <a:p>
            <a:pPr marL="12700" marR="5080"/>
            <a:r>
              <a:rPr lang="en-US" sz="1400" kern="0" spc="-80" dirty="0">
                <a:solidFill>
                  <a:schemeClr val="accent2"/>
                </a:solidFill>
                <a:cs typeface="+mn-cs"/>
              </a:rPr>
              <a:t>2. Time Series:</a:t>
            </a:r>
          </a:p>
          <a:p>
            <a:pPr marL="12700" marR="5080"/>
            <a:r>
              <a:rPr lang="en-US" sz="1400" kern="0" spc="-80" dirty="0">
                <a:solidFill>
                  <a:schemeClr val="accent2"/>
                </a:solidFill>
                <a:cs typeface="+mn-cs"/>
              </a:rPr>
              <a:t>Purpose</a:t>
            </a:r>
            <a:r>
              <a:rPr lang="en-US" sz="1400" kern="0" spc="-80" dirty="0">
                <a:solidFill>
                  <a:schemeClr val="accent6"/>
                </a:solidFill>
                <a:cs typeface="+mn-cs"/>
              </a:rPr>
              <a:t>: Analyzes data ordered by time to identify trends, patterns, and seasonality. </a:t>
            </a:r>
          </a:p>
          <a:p>
            <a:pPr marL="12700" marR="5080"/>
            <a:r>
              <a:rPr lang="en-US" sz="1400" kern="0" spc="-80" dirty="0">
                <a:solidFill>
                  <a:schemeClr val="accent2"/>
                </a:solidFill>
                <a:cs typeface="+mn-cs"/>
              </a:rPr>
              <a:t>Data</a:t>
            </a:r>
            <a:r>
              <a:rPr lang="en-US" sz="1400" kern="0" spc="-80" dirty="0">
                <a:solidFill>
                  <a:schemeClr val="accent6"/>
                </a:solidFill>
                <a:cs typeface="+mn-cs"/>
              </a:rPr>
              <a:t>: Time series data, where observations are made at regular intervals over time. </a:t>
            </a:r>
          </a:p>
          <a:p>
            <a:pPr marL="12700" marR="5080"/>
            <a:r>
              <a:rPr lang="en-US" sz="1400" kern="0" spc="-80" dirty="0">
                <a:solidFill>
                  <a:schemeClr val="accent2"/>
                </a:solidFill>
                <a:cs typeface="+mn-cs"/>
              </a:rPr>
              <a:t>Models</a:t>
            </a:r>
            <a:r>
              <a:rPr lang="en-US" sz="1400" kern="0" spc="-80" dirty="0">
                <a:solidFill>
                  <a:schemeClr val="accent6"/>
                </a:solidFill>
                <a:cs typeface="+mn-cs"/>
              </a:rPr>
              <a:t>: Autoregressive (AR), moving average (MA), and autoregressive integrated moving average (ARIMA) models are common. </a:t>
            </a:r>
          </a:p>
          <a:p>
            <a:pPr marL="12700" marR="5080"/>
            <a:r>
              <a:rPr lang="en-US" sz="1400" kern="0" spc="-80" dirty="0">
                <a:solidFill>
                  <a:schemeClr val="accent2"/>
                </a:solidFill>
                <a:cs typeface="+mn-cs"/>
              </a:rPr>
              <a:t>Example</a:t>
            </a:r>
            <a:r>
              <a:rPr lang="en-US" sz="1400" kern="0" spc="-80" dirty="0">
                <a:solidFill>
                  <a:schemeClr val="accent6"/>
                </a:solidFill>
                <a:cs typeface="+mn-cs"/>
              </a:rPr>
              <a:t>: Forecasting stock prices or sales figures over time. </a:t>
            </a:r>
          </a:p>
          <a:p>
            <a:pPr marL="12700" marR="5080"/>
            <a:r>
              <a:rPr lang="en-US" sz="1400" kern="0" spc="-80" dirty="0">
                <a:solidFill>
                  <a:schemeClr val="accent2"/>
                </a:solidFill>
                <a:cs typeface="+mn-cs"/>
              </a:rPr>
              <a:t>When to use:</a:t>
            </a:r>
            <a:r>
              <a:rPr lang="en-US" sz="1400" kern="0" spc="-80" dirty="0">
                <a:solidFill>
                  <a:schemeClr val="accent6"/>
                </a:solidFill>
                <a:cs typeface="+mn-cs"/>
              </a:rPr>
              <a:t> When you have data where the order of observations matters, and you want to predict future values based on past patterns. </a:t>
            </a:r>
          </a:p>
        </p:txBody>
      </p:sp>
    </p:spTree>
    <p:extLst>
      <p:ext uri="{BB962C8B-B14F-4D97-AF65-F5344CB8AC3E}">
        <p14:creationId xmlns:p14="http://schemas.microsoft.com/office/powerpoint/2010/main" val="379290227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A1294-069C-3C38-E68A-E51C7BB6CEB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AE4203C-9AF8-F2BB-B2E5-3606F98AFDD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07EBF23B-9E65-AF3C-793C-3083D191A323}"/>
              </a:ext>
            </a:extLst>
          </p:cNvPr>
          <p:cNvSpPr/>
          <p:nvPr/>
        </p:nvSpPr>
        <p:spPr>
          <a:xfrm>
            <a:off x="1661159" y="106594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4161FEE-4B73-6FCB-5D1E-01EF9C373689}"/>
              </a:ext>
            </a:extLst>
          </p:cNvPr>
          <p:cNvSpPr/>
          <p:nvPr/>
        </p:nvSpPr>
        <p:spPr>
          <a:xfrm>
            <a:off x="1661159" y="86993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364D6A0-F528-22B3-3D2F-25C73EE618D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E434021B-6AEF-445A-45B7-77445B4CA2D2}"/>
              </a:ext>
            </a:extLst>
          </p:cNvPr>
          <p:cNvSpPr txBox="1">
            <a:spLocks/>
          </p:cNvSpPr>
          <p:nvPr/>
        </p:nvSpPr>
        <p:spPr>
          <a:xfrm>
            <a:off x="41725" y="1210086"/>
            <a:ext cx="8624937" cy="45304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80" kern="0" spc="-80" dirty="0">
                <a:solidFill>
                  <a:schemeClr val="accent2"/>
                </a:solidFill>
                <a:cs typeface="+mn-cs"/>
              </a:rPr>
              <a:t>3. Panel/Longitudinal Data: </a:t>
            </a:r>
          </a:p>
          <a:p>
            <a:pPr marL="12700" marR="5080"/>
            <a:r>
              <a:rPr lang="en-US" sz="1280" kern="0" spc="-80" dirty="0">
                <a:solidFill>
                  <a:schemeClr val="accent2"/>
                </a:solidFill>
                <a:cs typeface="+mn-cs"/>
              </a:rPr>
              <a:t>Purpose</a:t>
            </a:r>
            <a:r>
              <a:rPr lang="en-US" sz="1280" kern="0" spc="-80" dirty="0">
                <a:solidFill>
                  <a:schemeClr val="accent6"/>
                </a:solidFill>
                <a:cs typeface="+mn-cs"/>
              </a:rPr>
              <a:t>: Combines time series data with cross-sectional data (observations across multiple entities over time).</a:t>
            </a:r>
          </a:p>
          <a:p>
            <a:pPr marL="12700" marR="5080"/>
            <a:r>
              <a:rPr lang="en-US" sz="1280" kern="0" spc="-80" dirty="0">
                <a:solidFill>
                  <a:schemeClr val="accent2"/>
                </a:solidFill>
                <a:cs typeface="+mn-cs"/>
              </a:rPr>
              <a:t>Advantages</a:t>
            </a:r>
            <a:r>
              <a:rPr lang="en-US" sz="1280" kern="0" spc="-80" dirty="0">
                <a:solidFill>
                  <a:schemeClr val="accent6"/>
                </a:solidFill>
                <a:cs typeface="+mn-cs"/>
              </a:rPr>
              <a:t>: Allows for analysis of individual heterogeneity and changes over time within the same entities.</a:t>
            </a:r>
          </a:p>
          <a:p>
            <a:pPr marL="12700" marR="5080"/>
            <a:r>
              <a:rPr lang="en-US" sz="1280" kern="0" spc="-80" dirty="0">
                <a:solidFill>
                  <a:schemeClr val="accent2"/>
                </a:solidFill>
                <a:cs typeface="+mn-cs"/>
              </a:rPr>
              <a:t>Data</a:t>
            </a:r>
            <a:r>
              <a:rPr lang="en-US" sz="1280" kern="0" spc="-80" dirty="0">
                <a:solidFill>
                  <a:schemeClr val="accent6"/>
                </a:solidFill>
                <a:cs typeface="+mn-cs"/>
              </a:rPr>
              <a:t>: Panel data, which combines cross-sectional and time-series data (repeated observations of the same units over time). </a:t>
            </a:r>
          </a:p>
          <a:p>
            <a:pPr marL="12700" marR="5080"/>
            <a:r>
              <a:rPr lang="en-US" sz="1280" kern="0" spc="-80" dirty="0">
                <a:solidFill>
                  <a:schemeClr val="accent2"/>
                </a:solidFill>
                <a:cs typeface="+mn-cs"/>
              </a:rPr>
              <a:t>Example</a:t>
            </a:r>
            <a:r>
              <a:rPr lang="en-US" sz="1280" kern="0" spc="-80" dirty="0">
                <a:solidFill>
                  <a:schemeClr val="accent6"/>
                </a:solidFill>
                <a:cs typeface="+mn-cs"/>
              </a:rPr>
              <a:t>: Analyzing changes in income over time for different individuals or households.</a:t>
            </a:r>
          </a:p>
          <a:p>
            <a:pPr marL="12700" marR="5080"/>
            <a:r>
              <a:rPr lang="en-US" sz="1280" kern="0" spc="-80" dirty="0">
                <a:solidFill>
                  <a:schemeClr val="accent2"/>
                </a:solidFill>
                <a:cs typeface="+mn-cs"/>
              </a:rPr>
              <a:t>When to use</a:t>
            </a:r>
            <a:r>
              <a:rPr lang="en-US" sz="1280" kern="0" spc="-80" dirty="0">
                <a:solidFill>
                  <a:schemeClr val="accent6"/>
                </a:solidFill>
                <a:cs typeface="+mn-cs"/>
              </a:rPr>
              <a:t>: When you have data from multiple entities observed repeatedly over time, allowing for a deeper understanding of trends and patterns. </a:t>
            </a:r>
          </a:p>
          <a:p>
            <a:pPr marL="12700" marR="5080"/>
            <a:r>
              <a:rPr lang="en-US" sz="1280" kern="0" spc="-80" dirty="0">
                <a:solidFill>
                  <a:schemeClr val="accent2"/>
                </a:solidFill>
                <a:cs typeface="+mn-cs"/>
              </a:rPr>
              <a:t>4. Logit and Probit Models:</a:t>
            </a:r>
          </a:p>
          <a:p>
            <a:pPr marL="12700" marR="5080"/>
            <a:r>
              <a:rPr lang="en-US" sz="1280" kern="0" spc="-80" dirty="0">
                <a:solidFill>
                  <a:schemeClr val="accent2"/>
                </a:solidFill>
                <a:cs typeface="+mn-cs"/>
              </a:rPr>
              <a:t>Purpose</a:t>
            </a:r>
            <a:r>
              <a:rPr lang="en-US" sz="1280" kern="0" spc="-80" dirty="0">
                <a:solidFill>
                  <a:schemeClr val="accent6"/>
                </a:solidFill>
                <a:cs typeface="+mn-cs"/>
              </a:rPr>
              <a:t>: Model the probability of a binary outcome (e.g., yes/no, success/failure). </a:t>
            </a:r>
          </a:p>
          <a:p>
            <a:pPr marL="12700" marR="5080"/>
            <a:r>
              <a:rPr lang="en-US" sz="1280" kern="0" spc="-80" dirty="0">
                <a:solidFill>
                  <a:schemeClr val="accent2"/>
                </a:solidFill>
                <a:cs typeface="+mn-cs"/>
              </a:rPr>
              <a:t>Data</a:t>
            </a:r>
            <a:r>
              <a:rPr lang="en-US" sz="1280" kern="0" spc="-80" dirty="0">
                <a:solidFill>
                  <a:schemeClr val="accent6"/>
                </a:solidFill>
                <a:cs typeface="+mn-cs"/>
              </a:rPr>
              <a:t>: Can be used with cross-sectional data, time series data, or panel data. </a:t>
            </a:r>
          </a:p>
          <a:p>
            <a:pPr marL="12700" marR="5080"/>
            <a:r>
              <a:rPr lang="en-US" sz="1280" kern="0" spc="-80" dirty="0">
                <a:solidFill>
                  <a:schemeClr val="accent2"/>
                </a:solidFill>
                <a:cs typeface="+mn-cs"/>
              </a:rPr>
              <a:t>Difference</a:t>
            </a:r>
            <a:r>
              <a:rPr lang="en-US" sz="1280" kern="0" spc="-80" dirty="0">
                <a:solidFill>
                  <a:schemeClr val="accent6"/>
                </a:solidFill>
                <a:cs typeface="+mn-cs"/>
              </a:rPr>
              <a:t>: Logit uses the logistic function, while probit uses the cumulative standard normal distribution. </a:t>
            </a:r>
          </a:p>
          <a:p>
            <a:pPr marL="12700" marR="5080"/>
            <a:r>
              <a:rPr lang="en-US" sz="1280" kern="0" spc="-80" dirty="0">
                <a:solidFill>
                  <a:schemeClr val="accent2"/>
                </a:solidFill>
                <a:cs typeface="+mn-cs"/>
              </a:rPr>
              <a:t>Example</a:t>
            </a:r>
            <a:r>
              <a:rPr lang="en-US" sz="1280" kern="0" spc="-80" dirty="0">
                <a:solidFill>
                  <a:schemeClr val="accent6"/>
                </a:solidFill>
                <a:cs typeface="+mn-cs"/>
              </a:rPr>
              <a:t>: Predicting whether a customer will click on an ad or not. </a:t>
            </a:r>
          </a:p>
          <a:p>
            <a:pPr marL="12700" marR="5080"/>
            <a:r>
              <a:rPr lang="en-US" sz="1280" kern="0" spc="-80" dirty="0">
                <a:solidFill>
                  <a:schemeClr val="accent2"/>
                </a:solidFill>
                <a:cs typeface="+mn-cs"/>
              </a:rPr>
              <a:t>When to use:</a:t>
            </a:r>
            <a:r>
              <a:rPr lang="en-US" sz="1280" kern="0" spc="-80" dirty="0">
                <a:solidFill>
                  <a:schemeClr val="accent6"/>
                </a:solidFill>
                <a:cs typeface="+mn-cs"/>
              </a:rPr>
              <a:t> When you want to model the probability of a binary outcome based on one or more predictor variables. </a:t>
            </a:r>
          </a:p>
          <a:p>
            <a:pPr marL="12700" marR="5080"/>
            <a:r>
              <a:rPr lang="en-US" sz="1280" kern="0" spc="-80" dirty="0">
                <a:solidFill>
                  <a:schemeClr val="accent2"/>
                </a:solidFill>
                <a:cs typeface="+mn-cs"/>
              </a:rPr>
              <a:t>5. Simultaneous Transfer Function:</a:t>
            </a:r>
          </a:p>
          <a:p>
            <a:pPr marL="12700" marR="5080"/>
            <a:r>
              <a:rPr lang="en-US" sz="1280" kern="0" spc="-80" dirty="0">
                <a:solidFill>
                  <a:schemeClr val="accent2"/>
                </a:solidFill>
                <a:cs typeface="+mn-cs"/>
              </a:rPr>
              <a:t>Purpose</a:t>
            </a:r>
            <a:r>
              <a:rPr lang="en-US" sz="1280" kern="0" spc="-80" dirty="0">
                <a:solidFill>
                  <a:schemeClr val="accent6"/>
                </a:solidFill>
                <a:cs typeface="+mn-cs"/>
              </a:rPr>
              <a:t>: Analyzes the relationship between multiple input and output variables in a system.</a:t>
            </a:r>
          </a:p>
          <a:p>
            <a:pPr marL="12700" marR="5080"/>
            <a:r>
              <a:rPr lang="en-US" sz="1280" kern="0" spc="-80" dirty="0">
                <a:solidFill>
                  <a:schemeClr val="accent2"/>
                </a:solidFill>
                <a:cs typeface="+mn-cs"/>
              </a:rPr>
              <a:t>Transfer Function:</a:t>
            </a:r>
            <a:r>
              <a:rPr lang="en-US" sz="1280" kern="0" spc="-80" dirty="0">
                <a:solidFill>
                  <a:schemeClr val="accent6"/>
                </a:solidFill>
                <a:cs typeface="+mn-cs"/>
              </a:rPr>
              <a:t> Represents the relationship between an input and output variable, allowing for lagged effects and other dynamic relationships.</a:t>
            </a:r>
          </a:p>
          <a:p>
            <a:pPr marL="12700" marR="5080"/>
            <a:r>
              <a:rPr lang="en-US" sz="1280" kern="0" spc="-80" dirty="0">
                <a:solidFill>
                  <a:schemeClr val="accent2"/>
                </a:solidFill>
                <a:cs typeface="+mn-cs"/>
              </a:rPr>
              <a:t>Data</a:t>
            </a:r>
            <a:r>
              <a:rPr lang="en-US" sz="1280" kern="0" spc="-80" dirty="0">
                <a:solidFill>
                  <a:schemeClr val="accent6"/>
                </a:solidFill>
                <a:cs typeface="+mn-cs"/>
              </a:rPr>
              <a:t>: Multivariate time series data, where multiple variables are observed over time.</a:t>
            </a:r>
          </a:p>
          <a:p>
            <a:pPr marL="12700" marR="5080"/>
            <a:r>
              <a:rPr lang="en-US" sz="1280" kern="0" spc="-80" dirty="0">
                <a:solidFill>
                  <a:schemeClr val="accent2"/>
                </a:solidFill>
                <a:cs typeface="+mn-cs"/>
              </a:rPr>
              <a:t>Focus</a:t>
            </a:r>
            <a:r>
              <a:rPr lang="en-US" sz="1280" kern="0" spc="-80" dirty="0">
                <a:solidFill>
                  <a:schemeClr val="accent6"/>
                </a:solidFill>
                <a:cs typeface="+mn-cs"/>
              </a:rPr>
              <a:t>: Describes how changes in one variable affect other variables within the system.</a:t>
            </a:r>
          </a:p>
          <a:p>
            <a:pPr marL="12700" marR="5080"/>
            <a:r>
              <a:rPr lang="en-US" sz="1280" kern="0" spc="-80" dirty="0">
                <a:solidFill>
                  <a:schemeClr val="accent2"/>
                </a:solidFill>
                <a:cs typeface="+mn-cs"/>
              </a:rPr>
              <a:t>Example</a:t>
            </a:r>
            <a:r>
              <a:rPr lang="en-US" sz="1280" kern="0" spc="-80" dirty="0">
                <a:solidFill>
                  <a:schemeClr val="accent6"/>
                </a:solidFill>
                <a:cs typeface="+mn-cs"/>
              </a:rPr>
              <a:t>: Modeling the relationship between different parts of a machine or a complex system.</a:t>
            </a:r>
          </a:p>
          <a:p>
            <a:pPr marL="12700" marR="5080"/>
            <a:r>
              <a:rPr lang="en-US" sz="1280" kern="0" spc="-80" dirty="0">
                <a:solidFill>
                  <a:schemeClr val="accent2"/>
                </a:solidFill>
                <a:cs typeface="+mn-cs"/>
              </a:rPr>
              <a:t>When to use</a:t>
            </a:r>
            <a:r>
              <a:rPr lang="en-US" sz="1280" kern="0" spc="-80" dirty="0">
                <a:solidFill>
                  <a:schemeClr val="accent6"/>
                </a:solidFill>
                <a:cs typeface="+mn-cs"/>
              </a:rPr>
              <a:t>: When you need to understand the dynamic relationships between multiple variables in a complex system. </a:t>
            </a:r>
          </a:p>
        </p:txBody>
      </p:sp>
    </p:spTree>
    <p:extLst>
      <p:ext uri="{BB962C8B-B14F-4D97-AF65-F5344CB8AC3E}">
        <p14:creationId xmlns:p14="http://schemas.microsoft.com/office/powerpoint/2010/main" val="321340597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EBF1-E213-4429-0C20-ED69DD9223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D791F3-F370-38AB-2347-E2746315081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2C76E65-326B-FD4D-D78B-427084B6A28D}"/>
              </a:ext>
            </a:extLst>
          </p:cNvPr>
          <p:cNvSpPr/>
          <p:nvPr/>
        </p:nvSpPr>
        <p:spPr>
          <a:xfrm>
            <a:off x="1661158" y="109455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B04B99E-6ECE-0D89-B6F0-BFC824612977}"/>
              </a:ext>
            </a:extLst>
          </p:cNvPr>
          <p:cNvSpPr/>
          <p:nvPr/>
        </p:nvSpPr>
        <p:spPr>
          <a:xfrm>
            <a:off x="1661158" y="89273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540F447-45CA-276D-8F23-AAC098A74409}"/>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50829DF-C94E-5749-21EC-7FAF2CFB3357}"/>
              </a:ext>
            </a:extLst>
          </p:cNvPr>
          <p:cNvSpPr txBox="1">
            <a:spLocks/>
          </p:cNvSpPr>
          <p:nvPr/>
        </p:nvSpPr>
        <p:spPr>
          <a:xfrm>
            <a:off x="41724" y="1260812"/>
            <a:ext cx="8624937" cy="26607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30" kern="0" spc="-80" dirty="0">
                <a:solidFill>
                  <a:schemeClr val="accent2"/>
                </a:solidFill>
                <a:cs typeface="+mn-cs"/>
              </a:rPr>
              <a:t>6. Vector Autoregression (VAR):</a:t>
            </a:r>
          </a:p>
          <a:p>
            <a:pPr marL="12700" marR="5080"/>
            <a:r>
              <a:rPr lang="en-US" sz="1330" kern="0" spc="-80" dirty="0">
                <a:solidFill>
                  <a:schemeClr val="accent6"/>
                </a:solidFill>
                <a:cs typeface="+mn-cs"/>
              </a:rPr>
              <a:t>An extension of the autoregressive model to multivariate time series, where each variable is modeled as a function of its own past values and the past values of other variables.</a:t>
            </a:r>
          </a:p>
          <a:p>
            <a:pPr marL="12700" marR="5080"/>
            <a:r>
              <a:rPr lang="en-US" sz="1330" kern="0" spc="-80" dirty="0">
                <a:solidFill>
                  <a:schemeClr val="accent2"/>
                </a:solidFill>
                <a:cs typeface="+mn-cs"/>
              </a:rPr>
              <a:t>Purpose</a:t>
            </a:r>
            <a:r>
              <a:rPr lang="en-US" sz="1330" kern="0" spc="-80" dirty="0">
                <a:solidFill>
                  <a:schemeClr val="accent6"/>
                </a:solidFill>
                <a:cs typeface="+mn-cs"/>
              </a:rPr>
              <a:t>: Models multiple time series variables simultaneously, allowing for feedback and interaction between them.</a:t>
            </a:r>
          </a:p>
          <a:p>
            <a:pPr marL="12700" marR="5080"/>
            <a:r>
              <a:rPr lang="en-US" sz="1330" kern="0" spc="-80" dirty="0">
                <a:solidFill>
                  <a:schemeClr val="accent2"/>
                </a:solidFill>
                <a:cs typeface="+mn-cs"/>
              </a:rPr>
              <a:t>Example</a:t>
            </a:r>
            <a:r>
              <a:rPr lang="en-US" sz="1330" kern="0" spc="-80" dirty="0">
                <a:solidFill>
                  <a:schemeClr val="accent6"/>
                </a:solidFill>
                <a:cs typeface="+mn-cs"/>
              </a:rPr>
              <a:t>: Modeling the relationship between inflation, interest rates, and unemployment.</a:t>
            </a:r>
          </a:p>
          <a:p>
            <a:pPr marL="12700" marR="5080"/>
            <a:r>
              <a:rPr lang="en-US" sz="1330" kern="0" spc="-80" dirty="0">
                <a:solidFill>
                  <a:schemeClr val="accent2"/>
                </a:solidFill>
                <a:cs typeface="+mn-cs"/>
              </a:rPr>
              <a:t>When to use:</a:t>
            </a:r>
            <a:r>
              <a:rPr lang="en-US" sz="1330" kern="0" spc="-80" dirty="0">
                <a:solidFill>
                  <a:schemeClr val="accent6"/>
                </a:solidFill>
                <a:cs typeface="+mn-cs"/>
              </a:rPr>
              <a:t> When you have multiple time series variables that are likely to influence each other, and you want to model their relationships and forecast their future values</a:t>
            </a:r>
          </a:p>
          <a:p>
            <a:pPr marL="12700" marR="5080"/>
            <a:endParaRPr lang="en-US" sz="1330" kern="0" spc="-80" dirty="0">
              <a:solidFill>
                <a:schemeClr val="accent6"/>
              </a:solidFill>
              <a:cs typeface="+mn-cs"/>
            </a:endParaRPr>
          </a:p>
          <a:p>
            <a:pPr marL="12700" marR="5080"/>
            <a:r>
              <a:rPr lang="en-US" sz="1330" kern="0" spc="-80" dirty="0">
                <a:solidFill>
                  <a:schemeClr val="accent6"/>
                </a:solidFill>
                <a:cs typeface="+mn-cs"/>
              </a:rPr>
              <a:t>In essence, regression analysis is a broader approach for examining relationships between variables, while time series analysis focuses on data over time. Panel data combines both to allow for longitudinal studies. Logit and probit are specific regression techniques for binary outcomes, and simultaneous transfer function and VAR models are more specialized techniques for multivariate time series analysis.</a:t>
            </a:r>
          </a:p>
        </p:txBody>
      </p:sp>
    </p:spTree>
    <p:extLst>
      <p:ext uri="{BB962C8B-B14F-4D97-AF65-F5344CB8AC3E}">
        <p14:creationId xmlns:p14="http://schemas.microsoft.com/office/powerpoint/2010/main" val="385700998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09C01-B7C1-4B12-8720-CC79C6B1881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3A2AF9-0161-9ABB-5C6F-D8DD34798A8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4440F81-E51F-8DCF-8750-F6E6A1BCC14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10048B3-A7B6-B243-9901-D1D1EE8CBA71}"/>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AA4A7A6-54CC-F76B-C9EE-23E6ED64834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AD66E2CF-2CCD-A925-E5C8-0EA4642DEE0E}"/>
              </a:ext>
            </a:extLst>
          </p:cNvPr>
          <p:cNvSpPr txBox="1">
            <a:spLocks/>
          </p:cNvSpPr>
          <p:nvPr/>
        </p:nvSpPr>
        <p:spPr>
          <a:xfrm>
            <a:off x="61863" y="96575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050" kern="0" spc="-80" dirty="0">
                <a:solidFill>
                  <a:schemeClr val="accent6"/>
                </a:solidFill>
                <a:cs typeface="+mn-cs"/>
              </a:rPr>
              <a:t>Time series problems can be tackled using a variety of techniques, ranging from traditional statistical methods like moving averages and ARIMA models to more advanced approaches like machine learning with LSTM networks. The choice of technique depends on the nature of the data and the specific problem at hand. </a:t>
            </a:r>
          </a:p>
          <a:p>
            <a:pPr marL="12700" marR="5080"/>
            <a:r>
              <a:rPr lang="en-US" sz="1050" kern="0" spc="-80" dirty="0">
                <a:solidFill>
                  <a:schemeClr val="accent2"/>
                </a:solidFill>
                <a:cs typeface="+mn-cs"/>
              </a:rPr>
              <a:t>1. Statistical Methods:</a:t>
            </a:r>
          </a:p>
          <a:p>
            <a:pPr marL="12700" marR="5080"/>
            <a:r>
              <a:rPr lang="en-US" sz="1050" kern="0" spc="-80" dirty="0">
                <a:solidFill>
                  <a:schemeClr val="accent2"/>
                </a:solidFill>
                <a:cs typeface="+mn-cs"/>
              </a:rPr>
              <a:t>Moving Averages: </a:t>
            </a:r>
            <a:r>
              <a:rPr lang="en-US" sz="1050" kern="0" spc="-80" dirty="0">
                <a:solidFill>
                  <a:schemeClr val="accent6"/>
                </a:solidFill>
                <a:cs typeface="+mn-cs"/>
              </a:rPr>
              <a:t>Simple and effective for smoothing out short-term fluctuations and highlighting trends. </a:t>
            </a:r>
          </a:p>
          <a:p>
            <a:pPr marL="12700" marR="5080"/>
            <a:r>
              <a:rPr lang="en-US" sz="1050" kern="0" spc="-80" dirty="0">
                <a:solidFill>
                  <a:schemeClr val="accent2"/>
                </a:solidFill>
                <a:cs typeface="+mn-cs"/>
              </a:rPr>
              <a:t>Exponential Smoothing:</a:t>
            </a:r>
            <a:r>
              <a:rPr lang="en-US" sz="1050" kern="0" spc="-80" dirty="0">
                <a:solidFill>
                  <a:schemeClr val="accent6"/>
                </a:solidFill>
                <a:cs typeface="+mn-cs"/>
              </a:rPr>
              <a:t> Assigns exponentially decreasing weights to past observations, useful for forecasting with trends and seasonality. </a:t>
            </a:r>
          </a:p>
          <a:p>
            <a:pPr marL="12700" marR="5080"/>
            <a:r>
              <a:rPr lang="en-US" sz="1050" kern="0" spc="-80" dirty="0">
                <a:solidFill>
                  <a:schemeClr val="accent2"/>
                </a:solidFill>
                <a:cs typeface="+mn-cs"/>
              </a:rPr>
              <a:t>ARIMA (Autoregressive Integrated Moving Average):</a:t>
            </a:r>
            <a:r>
              <a:rPr lang="en-US" sz="1050" kern="0" spc="-80" dirty="0">
                <a:solidFill>
                  <a:schemeClr val="accent6"/>
                </a:solidFill>
                <a:cs typeface="+mn-cs"/>
              </a:rPr>
              <a:t> A powerful model for capturing autocorrelation and seasonality in time series data. </a:t>
            </a:r>
          </a:p>
          <a:p>
            <a:pPr marL="12700" marR="5080"/>
            <a:r>
              <a:rPr lang="en-US" sz="1050" kern="0" spc="-80" dirty="0">
                <a:solidFill>
                  <a:schemeClr val="accent2"/>
                </a:solidFill>
                <a:cs typeface="+mn-cs"/>
              </a:rPr>
              <a:t>SARIMA (Seasonal ARIMA):</a:t>
            </a:r>
            <a:r>
              <a:rPr lang="en-US" sz="1050" kern="0" spc="-80" dirty="0">
                <a:solidFill>
                  <a:schemeClr val="accent6"/>
                </a:solidFill>
                <a:cs typeface="+mn-cs"/>
              </a:rPr>
              <a:t>An extension of ARIMA that specifically accounts for seasonal patterns in the data. </a:t>
            </a:r>
          </a:p>
          <a:p>
            <a:pPr marL="12700" marR="5080"/>
            <a:r>
              <a:rPr lang="en-US" sz="1050" kern="0" spc="-80" dirty="0">
                <a:solidFill>
                  <a:schemeClr val="accent2"/>
                </a:solidFill>
                <a:cs typeface="+mn-cs"/>
              </a:rPr>
              <a:t>TBATS (Theil's Best of Autoregressive, Trend, and Seasonal Models</a:t>
            </a:r>
            <a:r>
              <a:rPr lang="en-US" sz="1050" kern="0" spc="-80" dirty="0">
                <a:solidFill>
                  <a:schemeClr val="accent6"/>
                </a:solidFill>
                <a:cs typeface="+mn-cs"/>
              </a:rPr>
              <a:t>):A state-space model that can handle various time series patterns. </a:t>
            </a:r>
          </a:p>
          <a:p>
            <a:pPr marL="12700" marR="5080"/>
            <a:r>
              <a:rPr lang="en-US" sz="1050" kern="0" spc="-80" dirty="0">
                <a:solidFill>
                  <a:schemeClr val="accent2"/>
                </a:solidFill>
                <a:cs typeface="+mn-cs"/>
              </a:rPr>
              <a:t>2. Machine Learning Methods:</a:t>
            </a:r>
          </a:p>
          <a:p>
            <a:pPr marL="12700" marR="5080"/>
            <a:r>
              <a:rPr lang="en-US" sz="1050" kern="0" spc="-80" dirty="0">
                <a:solidFill>
                  <a:schemeClr val="accent2"/>
                </a:solidFill>
                <a:cs typeface="+mn-cs"/>
              </a:rPr>
              <a:t>Linear Regression: </a:t>
            </a:r>
            <a:r>
              <a:rPr lang="en-US" sz="1050" kern="0" spc="-80" dirty="0">
                <a:solidFill>
                  <a:schemeClr val="accent6"/>
                </a:solidFill>
                <a:cs typeface="+mn-cs"/>
              </a:rPr>
              <a:t>Can be used with lagged values of the time series as features for prediction. </a:t>
            </a:r>
          </a:p>
          <a:p>
            <a:pPr marL="12700" marR="5080"/>
            <a:r>
              <a:rPr lang="en-US" sz="1050" kern="0" spc="-80" dirty="0">
                <a:solidFill>
                  <a:schemeClr val="accent2"/>
                </a:solidFill>
                <a:cs typeface="+mn-cs"/>
              </a:rPr>
              <a:t>Long Short-Term Memory (LSTM) networks</a:t>
            </a:r>
            <a:r>
              <a:rPr lang="en-US" sz="1050" kern="0" spc="-80" dirty="0">
                <a:solidFill>
                  <a:schemeClr val="accent6"/>
                </a:solidFill>
                <a:cs typeface="+mn-cs"/>
              </a:rPr>
              <a:t>: Recurrent neural networks that are well-suited for capturing long-term dependencies in time series data. </a:t>
            </a:r>
          </a:p>
          <a:p>
            <a:pPr marL="12700" marR="5080"/>
            <a:r>
              <a:rPr lang="en-US" sz="1050" kern="0" spc="-80" dirty="0">
                <a:solidFill>
                  <a:schemeClr val="accent2"/>
                </a:solidFill>
                <a:cs typeface="+mn-cs"/>
              </a:rPr>
              <a:t>Other ML models:</a:t>
            </a:r>
            <a:r>
              <a:rPr lang="en-US" sz="1050" kern="0" spc="-80" dirty="0">
                <a:solidFill>
                  <a:schemeClr val="accent6"/>
                </a:solidFill>
                <a:cs typeface="+mn-cs"/>
              </a:rPr>
              <a:t> Random Forest, </a:t>
            </a:r>
            <a:r>
              <a:rPr lang="en-US" sz="1050" kern="0" spc="-80" dirty="0" err="1">
                <a:solidFill>
                  <a:schemeClr val="accent6"/>
                </a:solidFill>
                <a:cs typeface="+mn-cs"/>
              </a:rPr>
              <a:t>XGBoost</a:t>
            </a:r>
            <a:r>
              <a:rPr lang="en-US" sz="1050" kern="0" spc="-80" dirty="0">
                <a:solidFill>
                  <a:schemeClr val="accent6"/>
                </a:solidFill>
                <a:cs typeface="+mn-cs"/>
              </a:rPr>
              <a:t>, and other tree-based models can be used by converting time series into a supervised learning problem. </a:t>
            </a:r>
          </a:p>
          <a:p>
            <a:pPr marL="12700" marR="5080"/>
            <a:r>
              <a:rPr lang="en-US" sz="1050" kern="0" spc="-80" dirty="0">
                <a:solidFill>
                  <a:schemeClr val="accent2"/>
                </a:solidFill>
                <a:cs typeface="+mn-cs"/>
              </a:rPr>
              <a:t>3. Other Techniques</a:t>
            </a:r>
            <a:r>
              <a:rPr lang="en-US" sz="1050" kern="0" spc="-80" dirty="0">
                <a:solidFill>
                  <a:schemeClr val="accent6"/>
                </a:solidFill>
                <a:cs typeface="+mn-cs"/>
              </a:rPr>
              <a:t>:</a:t>
            </a:r>
          </a:p>
          <a:p>
            <a:pPr marL="12700" marR="5080"/>
            <a:r>
              <a:rPr lang="en-US" sz="1050" kern="0" spc="-80" dirty="0">
                <a:solidFill>
                  <a:schemeClr val="accent6"/>
                </a:solidFill>
                <a:cs typeface="+mn-cs"/>
              </a:rPr>
              <a:t>ACF (Autocorrelation Function) and PACF (Partial Autocorrelation Function) </a:t>
            </a:r>
            <a:r>
              <a:rPr lang="en-US" sz="1050" kern="0" spc="-80" dirty="0" err="1">
                <a:solidFill>
                  <a:schemeClr val="accent6"/>
                </a:solidFill>
                <a:cs typeface="+mn-cs"/>
              </a:rPr>
              <a:t>plots:Help</a:t>
            </a:r>
            <a:r>
              <a:rPr lang="en-US" sz="1050" kern="0" spc="-80" dirty="0">
                <a:solidFill>
                  <a:schemeClr val="accent6"/>
                </a:solidFill>
                <a:cs typeface="+mn-cs"/>
              </a:rPr>
              <a:t> identify the structure of the data and determine the appropriate order for ARIMA models. </a:t>
            </a:r>
          </a:p>
          <a:p>
            <a:pPr marL="12700" marR="5080"/>
            <a:r>
              <a:rPr lang="en-US" sz="1050" kern="0" spc="-80" dirty="0">
                <a:solidFill>
                  <a:schemeClr val="accent2"/>
                </a:solidFill>
                <a:cs typeface="+mn-cs"/>
              </a:rPr>
              <a:t>Decomposition: </a:t>
            </a:r>
            <a:r>
              <a:rPr lang="en-US" sz="1050" kern="0" spc="-80" dirty="0">
                <a:solidFill>
                  <a:schemeClr val="accent6"/>
                </a:solidFill>
                <a:cs typeface="+mn-cs"/>
              </a:rPr>
              <a:t>Breaking down the time series into its components (trend, seasonality, and residual) can help in identifying and modeling these patterns. </a:t>
            </a:r>
          </a:p>
          <a:p>
            <a:pPr marL="12700" marR="5080"/>
            <a:r>
              <a:rPr lang="en-US" sz="1050" kern="0" spc="-80" dirty="0">
                <a:solidFill>
                  <a:schemeClr val="accent2"/>
                </a:solidFill>
                <a:cs typeface="+mn-cs"/>
              </a:rPr>
              <a:t>Feature Engineering:</a:t>
            </a:r>
            <a:r>
              <a:rPr lang="en-US" sz="1050" kern="0" spc="-80" dirty="0">
                <a:solidFill>
                  <a:schemeClr val="accent6"/>
                </a:solidFill>
                <a:cs typeface="+mn-cs"/>
              </a:rPr>
              <a:t> Creating new features from the time series data, such as lags, rolling statistics, or time-related features, can improve model performance. </a:t>
            </a:r>
          </a:p>
          <a:p>
            <a:pPr marL="12700" marR="5080"/>
            <a:r>
              <a:rPr lang="en-US" sz="1050" kern="0" spc="-80" dirty="0">
                <a:solidFill>
                  <a:schemeClr val="accent2"/>
                </a:solidFill>
                <a:cs typeface="+mn-cs"/>
              </a:rPr>
              <a:t>Cross-Validation: </a:t>
            </a:r>
            <a:r>
              <a:rPr lang="en-US" sz="1050" kern="0" spc="-80" dirty="0">
                <a:solidFill>
                  <a:schemeClr val="accent6"/>
                </a:solidFill>
                <a:cs typeface="+mn-cs"/>
              </a:rPr>
              <a:t>Techniques like "Rolling Forecast Origin" and "Expanding Window" can be used to evaluate the performance of time series models. </a:t>
            </a:r>
          </a:p>
          <a:p>
            <a:pPr marL="12700" marR="5080"/>
            <a:r>
              <a:rPr lang="en-US" sz="1050" kern="0" spc="-80" dirty="0">
                <a:solidFill>
                  <a:schemeClr val="accent2"/>
                </a:solidFill>
                <a:cs typeface="+mn-cs"/>
              </a:rPr>
              <a:t>4. Model Selection and Evaluation:</a:t>
            </a:r>
          </a:p>
          <a:p>
            <a:pPr marL="12700" marR="5080"/>
            <a:r>
              <a:rPr lang="en-US" sz="1050" kern="0" spc="-80" dirty="0">
                <a:solidFill>
                  <a:schemeClr val="accent2"/>
                </a:solidFill>
                <a:cs typeface="+mn-cs"/>
              </a:rPr>
              <a:t>Consider the nature of the data: </a:t>
            </a:r>
            <a:r>
              <a:rPr lang="en-US" sz="1050" kern="0" spc="-80" dirty="0">
                <a:solidFill>
                  <a:schemeClr val="accent6"/>
                </a:solidFill>
                <a:cs typeface="+mn-cs"/>
              </a:rPr>
              <a:t>Stationarity, seasonality, and trends are key factors to consider when choosing a model. </a:t>
            </a:r>
          </a:p>
          <a:p>
            <a:pPr marL="12700" marR="5080"/>
            <a:r>
              <a:rPr lang="en-US" sz="1050" kern="0" spc="-80" dirty="0">
                <a:solidFill>
                  <a:schemeClr val="accent2"/>
                </a:solidFill>
                <a:cs typeface="+mn-cs"/>
              </a:rPr>
              <a:t>Evaluate model performance: </a:t>
            </a:r>
            <a:r>
              <a:rPr lang="en-US" sz="1050" kern="0" spc="-80" dirty="0">
                <a:solidFill>
                  <a:schemeClr val="accent6"/>
                </a:solidFill>
                <a:cs typeface="+mn-cs"/>
              </a:rPr>
              <a:t>Use appropriate metrics like MAE (Mean Absolute Error), MSE (Mean Squared Error), or RMSE (Root Mean Squared Error) to compare the performance of different models. </a:t>
            </a:r>
          </a:p>
          <a:p>
            <a:pPr marL="12700" marR="5080"/>
            <a:r>
              <a:rPr lang="en-US" sz="1050" kern="0" spc="-80" dirty="0">
                <a:solidFill>
                  <a:schemeClr val="accent2"/>
                </a:solidFill>
                <a:cs typeface="+mn-cs"/>
              </a:rPr>
              <a:t>Tune model parameters: </a:t>
            </a:r>
            <a:r>
              <a:rPr lang="en-US" sz="1050" kern="0" spc="-80" dirty="0">
                <a:solidFill>
                  <a:schemeClr val="accent6"/>
                </a:solidFill>
                <a:cs typeface="+mn-cs"/>
              </a:rPr>
              <a:t>Use techniques like grid search or random search to find the optimal values for model parameters.</a:t>
            </a:r>
          </a:p>
          <a:p>
            <a:pPr marL="12700" marR="5080"/>
            <a:r>
              <a:rPr lang="en-US" sz="1050" kern="0" spc="-80" dirty="0">
                <a:solidFill>
                  <a:schemeClr val="accent6"/>
                </a:solidFill>
                <a:cs typeface="+mn-cs"/>
              </a:rPr>
              <a:t>  </a:t>
            </a:r>
          </a:p>
        </p:txBody>
      </p:sp>
    </p:spTree>
    <p:extLst>
      <p:ext uri="{BB962C8B-B14F-4D97-AF65-F5344CB8AC3E}">
        <p14:creationId xmlns:p14="http://schemas.microsoft.com/office/powerpoint/2010/main" val="76496819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0DD34-F36C-A69F-E786-5B6C62981E0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45C837-84B2-5FB4-DC20-1B8397E9A01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A061C62-547A-3DD1-6802-E5134FCB6EE9}"/>
              </a:ext>
            </a:extLst>
          </p:cNvPr>
          <p:cNvSpPr/>
          <p:nvPr/>
        </p:nvSpPr>
        <p:spPr>
          <a:xfrm>
            <a:off x="1661159" y="103704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394F5C5-266F-175E-29E1-18C67E2743EF}"/>
              </a:ext>
            </a:extLst>
          </p:cNvPr>
          <p:cNvSpPr/>
          <p:nvPr/>
        </p:nvSpPr>
        <p:spPr>
          <a:xfrm>
            <a:off x="1661159" y="83313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2E42AC3-6B80-19C2-E7B0-D962216E14B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BD68593C-E03D-A92B-92A5-13C03479A00B}"/>
              </a:ext>
            </a:extLst>
          </p:cNvPr>
          <p:cNvSpPr txBox="1">
            <a:spLocks/>
          </p:cNvSpPr>
          <p:nvPr/>
        </p:nvSpPr>
        <p:spPr>
          <a:xfrm>
            <a:off x="76201" y="889969"/>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170" kern="0" spc="-80" dirty="0">
                <a:solidFill>
                  <a:schemeClr val="accent6"/>
                </a:solidFill>
                <a:cs typeface="+mn-cs"/>
              </a:rPr>
              <a:t>Panel data problems, particularly those related to serial correlation and endogeneity, can be addressed through several techniques. These include using robust standard errors, dynamic panel models, and addressing endogeneity through instrumental variables or lagged variables. Additionally, techniques like fixed effects and random effects models can help mitigate omitted variable bias. </a:t>
            </a:r>
          </a:p>
          <a:p>
            <a:pPr marL="12700" marR="5080"/>
            <a:r>
              <a:rPr lang="en-US" sz="1170" kern="0" spc="-80" dirty="0">
                <a:solidFill>
                  <a:schemeClr val="accent2"/>
                </a:solidFill>
                <a:cs typeface="+mn-cs"/>
              </a:rPr>
              <a:t>Elaboration:</a:t>
            </a:r>
          </a:p>
          <a:p>
            <a:pPr marL="12700" marR="5080"/>
            <a:r>
              <a:rPr lang="en-US" sz="1170" kern="0" spc="-80" dirty="0">
                <a:solidFill>
                  <a:schemeClr val="accent2"/>
                </a:solidFill>
                <a:cs typeface="+mn-cs"/>
              </a:rPr>
              <a:t>Serial Correlation</a:t>
            </a:r>
            <a:r>
              <a:rPr lang="en-US" sz="1170" kern="0" spc="-80" dirty="0">
                <a:solidFill>
                  <a:schemeClr val="accent6"/>
                </a:solidFill>
                <a:cs typeface="+mn-cs"/>
              </a:rPr>
              <a:t>: This occurs when error terms in a regression model are correlated across time, violating the assumption of independence. Solutions include adjusting standard errors to account for serial correlation, using a different estimator (like GMM), or transforming the data. </a:t>
            </a:r>
          </a:p>
          <a:p>
            <a:pPr marL="12700" marR="5080"/>
            <a:r>
              <a:rPr lang="en-US" sz="1170" kern="0" spc="-80" dirty="0">
                <a:solidFill>
                  <a:schemeClr val="accent2"/>
                </a:solidFill>
                <a:cs typeface="+mn-cs"/>
              </a:rPr>
              <a:t>Endogeneity</a:t>
            </a:r>
            <a:r>
              <a:rPr lang="en-US" sz="1170" kern="0" spc="-80" dirty="0">
                <a:solidFill>
                  <a:schemeClr val="accent6"/>
                </a:solidFill>
                <a:cs typeface="+mn-cs"/>
              </a:rPr>
              <a:t>: This arises when a predictor variable is correlated with the error term, leading to biased estimates. Techniques like instrumental variables (IV) and Generalized Method of Moments (GMM) estimators can address this. </a:t>
            </a:r>
          </a:p>
          <a:p>
            <a:pPr marL="12700" marR="5080"/>
            <a:r>
              <a:rPr lang="en-US" sz="1170" kern="0" spc="-80" dirty="0">
                <a:solidFill>
                  <a:schemeClr val="accent2"/>
                </a:solidFill>
                <a:cs typeface="+mn-cs"/>
              </a:rPr>
              <a:t>Fixed Effects vs. Random Effects:</a:t>
            </a:r>
            <a:r>
              <a:rPr lang="en-US" sz="1170" kern="0" spc="-80" dirty="0">
                <a:solidFill>
                  <a:schemeClr val="accent6"/>
                </a:solidFill>
                <a:cs typeface="+mn-cs"/>
              </a:rPr>
              <a:t> These models address omitted variable bias by controlling for unobserved heterogeneity across individuals. Fixed effects models estimate a separate intercept for each individual, while random effects models assume a random intercept for each individual. </a:t>
            </a:r>
          </a:p>
          <a:p>
            <a:pPr marL="12700" marR="5080"/>
            <a:r>
              <a:rPr lang="en-US" sz="1170" kern="0" spc="-80" dirty="0">
                <a:solidFill>
                  <a:schemeClr val="accent2"/>
                </a:solidFill>
                <a:cs typeface="+mn-cs"/>
              </a:rPr>
              <a:t>Dynamic Panel Models</a:t>
            </a:r>
            <a:r>
              <a:rPr lang="en-US" sz="1170" kern="0" spc="-80" dirty="0">
                <a:solidFill>
                  <a:schemeClr val="accent6"/>
                </a:solidFill>
                <a:cs typeface="+mn-cs"/>
              </a:rPr>
              <a:t>: These models account for the persistence of effects over time, which is important when the dependent variable in the current period is influenced by its past values. </a:t>
            </a:r>
          </a:p>
          <a:p>
            <a:pPr marL="12700" marR="5080"/>
            <a:r>
              <a:rPr lang="en-US" sz="1170" kern="0" spc="-80" dirty="0">
                <a:solidFill>
                  <a:schemeClr val="accent2"/>
                </a:solidFill>
                <a:cs typeface="+mn-cs"/>
              </a:rPr>
              <a:t>Robust Standard Errors</a:t>
            </a:r>
            <a:r>
              <a:rPr lang="en-US" sz="1170" kern="0" spc="-80" dirty="0">
                <a:solidFill>
                  <a:schemeClr val="accent6"/>
                </a:solidFill>
                <a:cs typeface="+mn-cs"/>
              </a:rPr>
              <a:t>: These account for heteroskedasticity (unequal variances) and serial correlation, providing more reliable standard errors and inference. </a:t>
            </a:r>
          </a:p>
          <a:p>
            <a:pPr marL="12700" marR="5080"/>
            <a:r>
              <a:rPr lang="en-US" sz="1170" kern="0" spc="-80" dirty="0">
                <a:solidFill>
                  <a:schemeClr val="accent2"/>
                </a:solidFill>
                <a:cs typeface="+mn-cs"/>
              </a:rPr>
              <a:t>Data Transformation:</a:t>
            </a:r>
            <a:r>
              <a:rPr lang="en-US" sz="1170" kern="0" spc="-80" dirty="0">
                <a:solidFill>
                  <a:schemeClr val="accent6"/>
                </a:solidFill>
                <a:cs typeface="+mn-cs"/>
              </a:rPr>
              <a:t> Techniques like differencing can help address serial correlation or stationarity issues in the data. </a:t>
            </a:r>
          </a:p>
          <a:p>
            <a:pPr marL="12700" marR="5080"/>
            <a:r>
              <a:rPr lang="en-US" sz="1170" kern="0" spc="-80" dirty="0">
                <a:solidFill>
                  <a:schemeClr val="accent2"/>
                </a:solidFill>
                <a:cs typeface="+mn-cs"/>
              </a:rPr>
              <a:t>Addressing Multicollinearity</a:t>
            </a:r>
            <a:r>
              <a:rPr lang="en-US" sz="1170" kern="0" spc="-80" dirty="0">
                <a:solidFill>
                  <a:schemeClr val="accent6"/>
                </a:solidFill>
                <a:cs typeface="+mn-cs"/>
              </a:rPr>
              <a:t>: This occurs when predictor variables are highly correlated. Techniques like dropping variables or using regularization methods (like Lasso or Ridge regression) can help mitigate this. </a:t>
            </a:r>
          </a:p>
          <a:p>
            <a:pPr marL="12700" marR="5080"/>
            <a:r>
              <a:rPr lang="en-US" sz="1170" kern="0" spc="-80" dirty="0">
                <a:solidFill>
                  <a:schemeClr val="accent2"/>
                </a:solidFill>
                <a:cs typeface="+mn-cs"/>
              </a:rPr>
              <a:t>Handling Missing Data</a:t>
            </a:r>
            <a:r>
              <a:rPr lang="en-US" sz="1170" kern="0" spc="-80" dirty="0">
                <a:solidFill>
                  <a:schemeClr val="accent6"/>
                </a:solidFill>
                <a:cs typeface="+mn-cs"/>
              </a:rPr>
              <a:t>: Panel data can have missing values. Techniques like listwise deletion, mean imputation, or more advanced imputation methods can be used to handle missing values. </a:t>
            </a:r>
          </a:p>
          <a:p>
            <a:pPr marL="12700" marR="5080"/>
            <a:r>
              <a:rPr lang="en-US" sz="1170" kern="0" spc="-80" dirty="0">
                <a:solidFill>
                  <a:schemeClr val="accent2"/>
                </a:solidFill>
                <a:cs typeface="+mn-cs"/>
              </a:rPr>
              <a:t>Diagnostic Testing</a:t>
            </a:r>
            <a:r>
              <a:rPr lang="en-US" sz="1170" kern="0" spc="-80" dirty="0">
                <a:solidFill>
                  <a:schemeClr val="accent6"/>
                </a:solidFill>
                <a:cs typeface="+mn-cs"/>
              </a:rPr>
              <a:t>: Statistical tests can be used to validate model assumptions and identify potential issues like serial correlation, heteroskedasticity, and endogeneity. </a:t>
            </a:r>
          </a:p>
          <a:p>
            <a:pPr marL="12700" marR="5080"/>
            <a:r>
              <a:rPr lang="en-US" sz="1170" kern="0" spc="-80" dirty="0">
                <a:solidFill>
                  <a:schemeClr val="accent6"/>
                </a:solidFill>
                <a:cs typeface="+mn-cs"/>
              </a:rPr>
              <a:t>In summary, addressing panel data problems requires a multi-pronged approach, including addressing serial correlation and endogeneity, choosing appropriate estimators, and validating model assumptions through diagnostic tests.   </a:t>
            </a:r>
          </a:p>
        </p:txBody>
      </p:sp>
    </p:spTree>
    <p:extLst>
      <p:ext uri="{BB962C8B-B14F-4D97-AF65-F5344CB8AC3E}">
        <p14:creationId xmlns:p14="http://schemas.microsoft.com/office/powerpoint/2010/main" val="225794021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1C208-02EF-0064-F27E-C98EE54592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27B6A5-99C9-2B79-B527-F7AFB67BE0D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C32F89A-F915-5782-FE84-4E5B04DA90ED}"/>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8A65EBC-91AC-7607-A959-FC5E21432B9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726F467-8FF2-8A83-DEB4-083B027CFFD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A912F5F0-07E4-8E9A-CA45-2969D1AF9D77}"/>
              </a:ext>
            </a:extLst>
          </p:cNvPr>
          <p:cNvSpPr txBox="1">
            <a:spLocks/>
          </p:cNvSpPr>
          <p:nvPr/>
        </p:nvSpPr>
        <p:spPr>
          <a:xfrm>
            <a:off x="61863" y="965753"/>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050" kern="0" spc="-80" dirty="0">
                <a:solidFill>
                  <a:schemeClr val="accent6"/>
                </a:solidFill>
                <a:cs typeface="+mn-cs"/>
              </a:rPr>
              <a:t>Logit and probit models, both used for analyzing binary outcomes, are typically solved using the maximum likelihood estimation (MLE) method. This involves finding the parameter values (coefficients) that maximize the likelihood function, which represents the probability of observing the data given those parameter values. Software packages like Stata, R, and Python with libraries like </a:t>
            </a:r>
            <a:r>
              <a:rPr lang="en-US" sz="1050" kern="0" spc="-80" dirty="0" err="1">
                <a:solidFill>
                  <a:schemeClr val="accent6"/>
                </a:solidFill>
                <a:cs typeface="+mn-cs"/>
              </a:rPr>
              <a:t>statsmodels</a:t>
            </a:r>
            <a:r>
              <a:rPr lang="en-US" sz="1050" kern="0" spc="-80" dirty="0">
                <a:solidFill>
                  <a:schemeClr val="accent6"/>
                </a:solidFill>
                <a:cs typeface="+mn-cs"/>
              </a:rPr>
              <a:t> provide tools to perform MLE estimation for logit and probit models. </a:t>
            </a:r>
          </a:p>
          <a:p>
            <a:pPr marL="12700" marR="5080"/>
            <a:r>
              <a:rPr lang="en-US" sz="1050" kern="0" spc="-80" dirty="0">
                <a:solidFill>
                  <a:schemeClr val="accent6"/>
                </a:solidFill>
                <a:cs typeface="+mn-cs"/>
              </a:rPr>
              <a:t>Here's a more detailed look at the process:</a:t>
            </a:r>
          </a:p>
          <a:p>
            <a:pPr marL="12700" marR="5080"/>
            <a:r>
              <a:rPr lang="en-US" sz="1050" kern="0" spc="-80" dirty="0">
                <a:solidFill>
                  <a:schemeClr val="accent2"/>
                </a:solidFill>
                <a:cs typeface="+mn-cs"/>
              </a:rPr>
              <a:t>1. Formulating the Model: </a:t>
            </a:r>
          </a:p>
          <a:p>
            <a:pPr marL="12700" marR="5080"/>
            <a:r>
              <a:rPr lang="en-US" sz="1050" kern="0" spc="-80" dirty="0">
                <a:solidFill>
                  <a:schemeClr val="accent2"/>
                </a:solidFill>
                <a:cs typeface="+mn-cs"/>
              </a:rPr>
              <a:t>Logit: Models</a:t>
            </a:r>
            <a:r>
              <a:rPr lang="en-US" sz="1050" kern="0" spc="-80" dirty="0">
                <a:solidFill>
                  <a:schemeClr val="accent6"/>
                </a:solidFill>
                <a:cs typeface="+mn-cs"/>
              </a:rPr>
              <a:t> the log-odds of the outcome as a linear combination of predictor variables. </a:t>
            </a:r>
          </a:p>
          <a:p>
            <a:pPr marL="12700" marR="5080"/>
            <a:r>
              <a:rPr lang="en-US" sz="1050" kern="0" spc="-80" dirty="0">
                <a:solidFill>
                  <a:schemeClr val="accent2"/>
                </a:solidFill>
                <a:cs typeface="+mn-cs"/>
              </a:rPr>
              <a:t>Probit: Models</a:t>
            </a:r>
            <a:r>
              <a:rPr lang="en-US" sz="1050" kern="0" spc="-80" dirty="0">
                <a:solidFill>
                  <a:schemeClr val="accent6"/>
                </a:solidFill>
                <a:cs typeface="+mn-cs"/>
              </a:rPr>
              <a:t> the probability of the outcome as a cumulative standard normal distribution of a linear combination of predictor variables. </a:t>
            </a:r>
          </a:p>
          <a:p>
            <a:pPr marL="12700" marR="5080"/>
            <a:r>
              <a:rPr lang="en-US" sz="1050" kern="0" spc="-80" dirty="0">
                <a:solidFill>
                  <a:schemeClr val="accent6"/>
                </a:solidFill>
                <a:cs typeface="+mn-cs"/>
              </a:rPr>
              <a:t>In both cases, the model is expressed as: P(Y = 1 | X) = g(Xβ), where P(Y=1|X) is the probability of the outcome being 1 given the predictor variables X, Xβ is a linear combination of predictors and their coefficients, and g is either the logistic function (for logit) or the cumulative standard normal function (for probit). </a:t>
            </a:r>
          </a:p>
          <a:p>
            <a:pPr marL="12700" marR="5080"/>
            <a:r>
              <a:rPr lang="en-US" sz="1050" kern="0" spc="-80" dirty="0">
                <a:solidFill>
                  <a:schemeClr val="accent2"/>
                </a:solidFill>
                <a:cs typeface="+mn-cs"/>
              </a:rPr>
              <a:t>2. Defining the Likelihood Function:</a:t>
            </a:r>
          </a:p>
          <a:p>
            <a:pPr marL="12700" marR="5080"/>
            <a:r>
              <a:rPr lang="en-US" sz="1050" kern="0" spc="-80" dirty="0">
                <a:solidFill>
                  <a:schemeClr val="accent6"/>
                </a:solidFill>
                <a:cs typeface="+mn-cs"/>
              </a:rPr>
              <a:t>The likelihood function represents the probability of observing the data given the model's parameters. It's based on the assumed distribution of the binary outcome (Bernoulli distribution).For a sample of n observations, the likelihood function is the product of the individual likelihoods for each observation. </a:t>
            </a:r>
          </a:p>
          <a:p>
            <a:pPr marL="12700" marR="5080"/>
            <a:r>
              <a:rPr lang="en-US" sz="1050" kern="0" spc="-80" dirty="0">
                <a:solidFill>
                  <a:schemeClr val="accent2"/>
                </a:solidFill>
                <a:cs typeface="+mn-cs"/>
              </a:rPr>
              <a:t>3. Applying Maximum Likelihood Estimation:</a:t>
            </a:r>
          </a:p>
          <a:p>
            <a:pPr marL="12700" marR="5080"/>
            <a:r>
              <a:rPr lang="en-US" sz="1050" kern="0" spc="-80" dirty="0">
                <a:solidFill>
                  <a:schemeClr val="accent6"/>
                </a:solidFill>
                <a:cs typeface="+mn-cs"/>
              </a:rPr>
              <a:t>MLE aims to find the parameter values that maximize the likelihood function. This is typically done using numerical optimization techniques, such as gradient ascent or Newton-Raphson methods, which iteratively adjust the parameter values until the likelihood function reaches its maximum.</a:t>
            </a:r>
          </a:p>
          <a:p>
            <a:pPr marL="12700" marR="5080"/>
            <a:r>
              <a:rPr lang="en-US" sz="1050" kern="0" spc="-80" dirty="0">
                <a:solidFill>
                  <a:schemeClr val="accent6"/>
                </a:solidFill>
                <a:cs typeface="+mn-cs"/>
              </a:rPr>
              <a:t>Statistical software packages provide functions to perform MLE for logit and probit models, often using iterative numerical algorithms to find the parameter estimates. </a:t>
            </a:r>
          </a:p>
          <a:p>
            <a:pPr marL="12700" marR="5080"/>
            <a:r>
              <a:rPr lang="en-US" sz="1050" kern="0" spc="-80" dirty="0">
                <a:solidFill>
                  <a:schemeClr val="accent2"/>
                </a:solidFill>
                <a:cs typeface="+mn-cs"/>
              </a:rPr>
              <a:t>4. Interpreting the Results:</a:t>
            </a:r>
          </a:p>
          <a:p>
            <a:pPr marL="12700" marR="5080"/>
            <a:r>
              <a:rPr lang="en-US" sz="1050" kern="0" spc="-80" dirty="0">
                <a:solidFill>
                  <a:schemeClr val="accent2"/>
                </a:solidFill>
                <a:cs typeface="+mn-cs"/>
              </a:rPr>
              <a:t>Coefficients</a:t>
            </a:r>
            <a:r>
              <a:rPr lang="en-US" sz="1050" kern="0" spc="-80" dirty="0">
                <a:solidFill>
                  <a:schemeClr val="accent6"/>
                </a:solidFill>
                <a:cs typeface="+mn-cs"/>
              </a:rPr>
              <a:t>: The estimated coefficients indicate the effect of each predictor variable on the outcome. For logit, the coefficients represent the change in the log-odds of the outcome, while for probit, they represent the change in the z-score or probit index. </a:t>
            </a:r>
          </a:p>
          <a:p>
            <a:pPr marL="12700" marR="5080"/>
            <a:r>
              <a:rPr lang="en-US" sz="1050" kern="0" spc="-80" dirty="0">
                <a:solidFill>
                  <a:schemeClr val="accent6"/>
                </a:solidFill>
                <a:cs typeface="+mn-cs"/>
              </a:rPr>
              <a:t>Standard Errors and Confidence Intervals: These provide measures of the precision and uncertainty of the parameter estimates. </a:t>
            </a:r>
          </a:p>
          <a:p>
            <a:pPr marL="12700" marR="5080"/>
            <a:r>
              <a:rPr lang="en-US" sz="1050" kern="0" spc="-80" dirty="0">
                <a:solidFill>
                  <a:schemeClr val="accent2"/>
                </a:solidFill>
                <a:cs typeface="+mn-cs"/>
              </a:rPr>
              <a:t>Significance Tests:</a:t>
            </a:r>
            <a:r>
              <a:rPr lang="en-US" sz="1050" kern="0" spc="-80" dirty="0">
                <a:solidFill>
                  <a:schemeClr val="accent6"/>
                </a:solidFill>
                <a:cs typeface="+mn-cs"/>
              </a:rPr>
              <a:t> Tests (like likelihood ratio tests or Wald tests) can be performed to assess the statistical significance of the coefficients and the overall model. </a:t>
            </a:r>
          </a:p>
          <a:p>
            <a:pPr marL="12700" marR="5080"/>
            <a:r>
              <a:rPr lang="en-US" sz="1050" kern="0" spc="-80" dirty="0">
                <a:solidFill>
                  <a:schemeClr val="accent2"/>
                </a:solidFill>
                <a:cs typeface="+mn-cs"/>
              </a:rPr>
              <a:t>Predicted Probabilities</a:t>
            </a:r>
            <a:r>
              <a:rPr lang="en-US" sz="1050" kern="0" spc="-80" dirty="0">
                <a:solidFill>
                  <a:schemeClr val="accent6"/>
                </a:solidFill>
                <a:cs typeface="+mn-cs"/>
              </a:rPr>
              <a:t>: Logit and probit models can be used to predict the probability of the outcome for new observations by plugging the predictor values into the estimated model. </a:t>
            </a:r>
          </a:p>
        </p:txBody>
      </p:sp>
    </p:spTree>
    <p:extLst>
      <p:ext uri="{BB962C8B-B14F-4D97-AF65-F5344CB8AC3E}">
        <p14:creationId xmlns:p14="http://schemas.microsoft.com/office/powerpoint/2010/main" val="423647812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F1CD-81DC-71F7-3861-0DB92D3313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6C7465-0940-2C83-CACE-A32907E922F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DC54EDA-7733-4212-2028-E784D2596A1F}"/>
              </a:ext>
            </a:extLst>
          </p:cNvPr>
          <p:cNvSpPr/>
          <p:nvPr/>
        </p:nvSpPr>
        <p:spPr>
          <a:xfrm>
            <a:off x="1650999" y="97992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F486B39-D2AD-DFA1-EDA1-28529DC28214}"/>
              </a:ext>
            </a:extLst>
          </p:cNvPr>
          <p:cNvSpPr/>
          <p:nvPr/>
        </p:nvSpPr>
        <p:spPr>
          <a:xfrm>
            <a:off x="1661159" y="77981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5E1CAC1-FBAD-CF72-999D-C4C5E03BF4A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02B78CC4-6A89-991D-A496-3ECE6B94999E}"/>
              </a:ext>
            </a:extLst>
          </p:cNvPr>
          <p:cNvSpPr txBox="1">
            <a:spLocks/>
          </p:cNvSpPr>
          <p:nvPr/>
        </p:nvSpPr>
        <p:spPr>
          <a:xfrm>
            <a:off x="31565" y="872210"/>
            <a:ext cx="8624937" cy="49821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125" kern="0" spc="-80" dirty="0">
                <a:solidFill>
                  <a:schemeClr val="accent6"/>
                </a:solidFill>
                <a:cs typeface="+mn-cs"/>
              </a:rPr>
              <a:t>To solve simultaneous transfer function problems, the most common techniques involve manipulating block diagrams or directly working with the system equations and Laplace transforms. The goal is to find the overall transfer function relating the output to the input of a system with multiple components. </a:t>
            </a:r>
          </a:p>
          <a:p>
            <a:pPr marL="12700" marR="5080"/>
            <a:r>
              <a:rPr lang="en-US" sz="1125" kern="0" spc="-80" dirty="0">
                <a:solidFill>
                  <a:schemeClr val="accent6"/>
                </a:solidFill>
                <a:cs typeface="+mn-cs"/>
              </a:rPr>
              <a:t>Here's a breakdown of common methods:</a:t>
            </a:r>
          </a:p>
          <a:p>
            <a:pPr marL="12700" marR="5080"/>
            <a:r>
              <a:rPr lang="en-US" sz="1125" kern="0" spc="-80" dirty="0">
                <a:solidFill>
                  <a:schemeClr val="accent2"/>
                </a:solidFill>
                <a:cs typeface="+mn-cs"/>
              </a:rPr>
              <a:t>1. Block Diagram Reduction:</a:t>
            </a:r>
          </a:p>
          <a:p>
            <a:pPr marL="12700" marR="5080"/>
            <a:r>
              <a:rPr lang="en-US" sz="1125" kern="0" spc="-80" dirty="0">
                <a:solidFill>
                  <a:schemeClr val="accent2"/>
                </a:solidFill>
                <a:cs typeface="+mn-cs"/>
              </a:rPr>
              <a:t>Series Connection:</a:t>
            </a:r>
            <a:r>
              <a:rPr lang="en-US" sz="1125" kern="0" spc="-80" dirty="0">
                <a:solidFill>
                  <a:schemeClr val="accent6"/>
                </a:solidFill>
                <a:cs typeface="+mn-cs"/>
              </a:rPr>
              <a:t> If two transfer functions G1(s) and G2(s) are in series, the overall transfer function is the product: G(s) = G1(s) * G2(s).</a:t>
            </a:r>
          </a:p>
          <a:p>
            <a:pPr marL="12700" marR="5080"/>
            <a:r>
              <a:rPr lang="en-US" sz="1125" kern="0" spc="-80" dirty="0">
                <a:solidFill>
                  <a:schemeClr val="accent2"/>
                </a:solidFill>
                <a:cs typeface="+mn-cs"/>
              </a:rPr>
              <a:t>Parallel Connection</a:t>
            </a:r>
            <a:r>
              <a:rPr lang="en-US" sz="1125" kern="0" spc="-80" dirty="0">
                <a:solidFill>
                  <a:schemeClr val="accent6"/>
                </a:solidFill>
                <a:cs typeface="+mn-cs"/>
              </a:rPr>
              <a:t>: If two transfer functions G1(s) and G2(s) are in parallel, the overall transfer function is their sum: G(s) = G1(s) + G2(s).</a:t>
            </a:r>
          </a:p>
          <a:p>
            <a:pPr marL="12700" marR="5080"/>
            <a:r>
              <a:rPr lang="en-US" sz="1125" kern="0" spc="-80" dirty="0">
                <a:solidFill>
                  <a:schemeClr val="accent2"/>
                </a:solidFill>
                <a:cs typeface="+mn-cs"/>
              </a:rPr>
              <a:t>Feedback Loops</a:t>
            </a:r>
            <a:r>
              <a:rPr lang="en-US" sz="1125" kern="0" spc="-80" dirty="0">
                <a:solidFill>
                  <a:schemeClr val="accent6"/>
                </a:solidFill>
                <a:cs typeface="+mn-cs"/>
              </a:rPr>
              <a:t>: With feedback, the overall transfer function is more complex. For a feedback loop with transfer function G(s) and feedback transfer function H(s), the overall transfer function is: G(s) / (1 + G(s) * H(s)). </a:t>
            </a:r>
          </a:p>
          <a:p>
            <a:pPr marL="12700" marR="5080"/>
            <a:r>
              <a:rPr lang="en-US" sz="1125" kern="0" spc="-80" dirty="0">
                <a:solidFill>
                  <a:schemeClr val="accent2"/>
                </a:solidFill>
                <a:cs typeface="+mn-cs"/>
              </a:rPr>
              <a:t>2. Direct Manipulation of System Equations and Laplace Transforms:</a:t>
            </a:r>
          </a:p>
          <a:p>
            <a:pPr marL="12700" marR="5080"/>
            <a:r>
              <a:rPr lang="en-US" sz="1125" kern="0" spc="-80" dirty="0">
                <a:solidFill>
                  <a:schemeClr val="accent2"/>
                </a:solidFill>
                <a:cs typeface="+mn-cs"/>
              </a:rPr>
              <a:t>Formulate System Equations</a:t>
            </a:r>
            <a:r>
              <a:rPr lang="en-US" sz="1125" kern="0" spc="-80" dirty="0">
                <a:solidFill>
                  <a:schemeClr val="accent6"/>
                </a:solidFill>
                <a:cs typeface="+mn-cs"/>
              </a:rPr>
              <a:t>: Write down the differential equations that describe the system's behavior.</a:t>
            </a:r>
          </a:p>
          <a:p>
            <a:pPr marL="12700" marR="5080"/>
            <a:r>
              <a:rPr lang="en-US" sz="1125" kern="0" spc="-80" dirty="0">
                <a:solidFill>
                  <a:schemeClr val="accent2"/>
                </a:solidFill>
                <a:cs typeface="+mn-cs"/>
              </a:rPr>
              <a:t>Laplace Transform</a:t>
            </a:r>
            <a:r>
              <a:rPr lang="en-US" sz="1125" kern="0" spc="-80" dirty="0">
                <a:solidFill>
                  <a:schemeClr val="accent6"/>
                </a:solidFill>
                <a:cs typeface="+mn-cs"/>
              </a:rPr>
              <a:t>: Apply the Laplace transform to each equation, assuming zero initial conditions.</a:t>
            </a:r>
          </a:p>
          <a:p>
            <a:pPr marL="12700" marR="5080"/>
            <a:r>
              <a:rPr lang="en-US" sz="1125" kern="0" spc="-80" dirty="0">
                <a:solidFill>
                  <a:schemeClr val="accent2"/>
                </a:solidFill>
                <a:cs typeface="+mn-cs"/>
              </a:rPr>
              <a:t>Solve for the Output:</a:t>
            </a:r>
            <a:r>
              <a:rPr lang="en-US" sz="1125" kern="0" spc="-80" dirty="0">
                <a:solidFill>
                  <a:schemeClr val="accent6"/>
                </a:solidFill>
                <a:cs typeface="+mn-cs"/>
              </a:rPr>
              <a:t> Use algebraic manipulation to isolate the Laplace transform of the output variable (e.g., Y(s)) in terms of the Laplace transform of the input variable (e.g., U(s)).</a:t>
            </a:r>
          </a:p>
          <a:p>
            <a:pPr marL="12700" marR="5080"/>
            <a:r>
              <a:rPr lang="en-US" sz="1125" kern="0" spc="-80" dirty="0">
                <a:solidFill>
                  <a:schemeClr val="accent2"/>
                </a:solidFill>
                <a:cs typeface="+mn-cs"/>
              </a:rPr>
              <a:t>Derive Transfer Function: </a:t>
            </a:r>
            <a:r>
              <a:rPr lang="en-US" sz="1125" kern="0" spc="-80" dirty="0">
                <a:solidFill>
                  <a:schemeClr val="accent6"/>
                </a:solidFill>
                <a:cs typeface="+mn-cs"/>
              </a:rPr>
              <a:t>The transfer function G(s) is then the ratio of the Laplace transform of the output to the Laplace transform of the input: G(s) = Y(s) / U(s). </a:t>
            </a:r>
          </a:p>
          <a:p>
            <a:pPr marL="12700" marR="5080"/>
            <a:r>
              <a:rPr lang="en-US" sz="1125" kern="0" spc="-80" dirty="0">
                <a:solidFill>
                  <a:schemeClr val="accent2"/>
                </a:solidFill>
                <a:cs typeface="+mn-cs"/>
              </a:rPr>
              <a:t>3. Other Techniques:</a:t>
            </a:r>
          </a:p>
          <a:p>
            <a:pPr marL="12700" marR="5080"/>
            <a:r>
              <a:rPr lang="en-US" sz="1125" kern="0" spc="-80" dirty="0">
                <a:solidFill>
                  <a:schemeClr val="accent2"/>
                </a:solidFill>
                <a:cs typeface="+mn-cs"/>
              </a:rPr>
              <a:t>State-Space Representation:</a:t>
            </a:r>
            <a:r>
              <a:rPr lang="en-US" sz="1125" kern="0" spc="-80" dirty="0">
                <a:solidFill>
                  <a:schemeClr val="accent6"/>
                </a:solidFill>
                <a:cs typeface="+mn-cs"/>
              </a:rPr>
              <a:t> For complex systems, the state-space representation can be used to derive the transfer function. This involves formulating the system equations in state-space form and then using the state-space equations to derive the transfer function. </a:t>
            </a:r>
          </a:p>
          <a:p>
            <a:pPr marL="12700" marR="5080"/>
            <a:r>
              <a:rPr lang="en-US" sz="1125" kern="0" spc="-80" dirty="0">
                <a:solidFill>
                  <a:schemeClr val="accent2"/>
                </a:solidFill>
                <a:cs typeface="+mn-cs"/>
              </a:rPr>
              <a:t>Augmented Matrix Method:</a:t>
            </a:r>
            <a:r>
              <a:rPr lang="en-US" sz="1125" kern="0" spc="-80" dirty="0">
                <a:solidFill>
                  <a:schemeClr val="accent6"/>
                </a:solidFill>
                <a:cs typeface="+mn-cs"/>
              </a:rPr>
              <a:t> Similar to solving simultaneous linear equations, the augmented matrix method can be used to solve for unknowns in transfer function problems, especially when dealing with multiple inputs and outputs. </a:t>
            </a:r>
          </a:p>
          <a:p>
            <a:pPr marL="12700" marR="5080"/>
            <a:r>
              <a:rPr lang="en-US" sz="1125" kern="0" spc="-80" dirty="0">
                <a:solidFill>
                  <a:schemeClr val="accent6"/>
                </a:solidFill>
                <a:cs typeface="+mn-cs"/>
              </a:rPr>
              <a:t>Example: Consider two transfer functions, G1(s) = 1/s and G2(s) = 1/(s+1). If they are in series, the overall transfer function G(s) is: </a:t>
            </a:r>
          </a:p>
          <a:p>
            <a:pPr marL="12700" marR="5080"/>
            <a:r>
              <a:rPr lang="en-US" sz="1125" kern="0" spc="-80" dirty="0">
                <a:solidFill>
                  <a:schemeClr val="accent6"/>
                </a:solidFill>
                <a:cs typeface="+mn-cs"/>
              </a:rPr>
              <a:t>G(s) = G1(s) * G2(s) = (1/s) * (1/(s+1)) = 1/(s(s+1)). </a:t>
            </a:r>
          </a:p>
          <a:p>
            <a:pPr marL="12700" marR="5080"/>
            <a:r>
              <a:rPr lang="en-US" sz="1125" kern="0" spc="-80" dirty="0">
                <a:solidFill>
                  <a:schemeClr val="accent6"/>
                </a:solidFill>
                <a:cs typeface="+mn-cs"/>
              </a:rPr>
              <a:t>If they are in parallel, G(s) is:</a:t>
            </a:r>
          </a:p>
          <a:p>
            <a:pPr marL="12700" marR="5080"/>
            <a:r>
              <a:rPr lang="en-US" sz="1125" kern="0" spc="-80" dirty="0">
                <a:solidFill>
                  <a:schemeClr val="accent6"/>
                </a:solidFill>
                <a:cs typeface="+mn-cs"/>
              </a:rPr>
              <a:t>G(s) = G1(s) + G2(s) = 1/s + 1/(s+1) = (s+1 + s)/(s(s+1)) = (2s+1)/(s(s+1)). </a:t>
            </a:r>
          </a:p>
        </p:txBody>
      </p:sp>
    </p:spTree>
    <p:extLst>
      <p:ext uri="{BB962C8B-B14F-4D97-AF65-F5344CB8AC3E}">
        <p14:creationId xmlns:p14="http://schemas.microsoft.com/office/powerpoint/2010/main" val="207205622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D138-AEFF-8B16-EC2F-34C7249EBD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C76ADA-7E0D-134A-EAEE-3BC708AFDDBE}"/>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A2A6184-8628-96A8-090A-9B78CDC1E4C6}"/>
              </a:ext>
            </a:extLst>
          </p:cNvPr>
          <p:cNvSpPr/>
          <p:nvPr/>
        </p:nvSpPr>
        <p:spPr>
          <a:xfrm>
            <a:off x="1655896" y="101815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E0F51124-C3A6-E885-CD3A-4A29E1A8C545}"/>
              </a:ext>
            </a:extLst>
          </p:cNvPr>
          <p:cNvSpPr/>
          <p:nvPr/>
        </p:nvSpPr>
        <p:spPr>
          <a:xfrm>
            <a:off x="1655896" y="84138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EF07556-6717-9DE0-7EBF-9D9242A373B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53BD1EDE-27F1-5B22-4478-143C272DBB40}"/>
              </a:ext>
            </a:extLst>
          </p:cNvPr>
          <p:cNvSpPr txBox="1">
            <a:spLocks/>
          </p:cNvSpPr>
          <p:nvPr/>
        </p:nvSpPr>
        <p:spPr>
          <a:xfrm>
            <a:off x="36462" y="908372"/>
            <a:ext cx="8624937" cy="49182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070" kern="0" spc="-80" dirty="0">
                <a:solidFill>
                  <a:schemeClr val="accent6"/>
                </a:solidFill>
                <a:cs typeface="+mn-cs"/>
              </a:rPr>
              <a:t>Solving Vector Autoregression (VAR) problems involves a systematic process, including data preparation, model specification, estimation, and evaluation. This process involves analyzing time series characteristics, checking for stationarity, determining the optimal lag order, and evaluating model performance through diagnostic tests. </a:t>
            </a:r>
          </a:p>
          <a:p>
            <a:pPr marL="12700" marR="5080"/>
            <a:r>
              <a:rPr lang="en-US" sz="1070" kern="0" spc="-80" dirty="0">
                <a:solidFill>
                  <a:schemeClr val="accent6"/>
                </a:solidFill>
                <a:cs typeface="+mn-cs"/>
              </a:rPr>
              <a:t>Here's a more detailed breakdown:</a:t>
            </a:r>
          </a:p>
          <a:p>
            <a:pPr marL="12700" marR="5080"/>
            <a:r>
              <a:rPr lang="en-US" sz="1070" kern="0" spc="-80" dirty="0">
                <a:solidFill>
                  <a:schemeClr val="accent2"/>
                </a:solidFill>
                <a:cs typeface="+mn-cs"/>
              </a:rPr>
              <a:t>1. Data Preparation and Analysis:</a:t>
            </a:r>
          </a:p>
          <a:p>
            <a:pPr marL="12700" marR="5080"/>
            <a:r>
              <a:rPr lang="en-US" sz="1070" kern="0" spc="-80" dirty="0">
                <a:solidFill>
                  <a:schemeClr val="accent2"/>
                </a:solidFill>
                <a:cs typeface="+mn-cs"/>
              </a:rPr>
              <a:t>Examine the Data</a:t>
            </a:r>
            <a:r>
              <a:rPr lang="en-US" sz="1070" kern="0" spc="-80" dirty="0">
                <a:solidFill>
                  <a:schemeClr val="accent6"/>
                </a:solidFill>
                <a:cs typeface="+mn-cs"/>
              </a:rPr>
              <a:t>: Understand the nature of the time series, including any trends, seasonality, and potential non-stationarity.</a:t>
            </a:r>
          </a:p>
          <a:p>
            <a:pPr marL="12700" marR="5080"/>
            <a:r>
              <a:rPr lang="en-US" sz="1070" kern="0" spc="-80" dirty="0">
                <a:solidFill>
                  <a:schemeClr val="accent2"/>
                </a:solidFill>
                <a:cs typeface="+mn-cs"/>
              </a:rPr>
              <a:t>Test for Stationarity</a:t>
            </a:r>
            <a:r>
              <a:rPr lang="en-US" sz="1070" kern="0" spc="-80" dirty="0">
                <a:solidFill>
                  <a:schemeClr val="accent6"/>
                </a:solidFill>
                <a:cs typeface="+mn-cs"/>
              </a:rPr>
              <a:t>: Use tests like the Augmented Dickey-Fuller (ADF) test to determine if the time series is stationary. If not, consider differencing to achieve stationarity.</a:t>
            </a:r>
          </a:p>
          <a:p>
            <a:pPr marL="12700" marR="5080"/>
            <a:r>
              <a:rPr lang="en-US" sz="1070" kern="0" spc="-80" dirty="0">
                <a:solidFill>
                  <a:schemeClr val="accent2"/>
                </a:solidFill>
                <a:cs typeface="+mn-cs"/>
              </a:rPr>
              <a:t>Transform the Series (if needed)</a:t>
            </a:r>
            <a:r>
              <a:rPr lang="en-US" sz="1070" kern="0" spc="-80" dirty="0">
                <a:solidFill>
                  <a:schemeClr val="accent6"/>
                </a:solidFill>
                <a:cs typeface="+mn-cs"/>
              </a:rPr>
              <a:t>: If non-stationarity is detected, apply differencing to make the series stationary. </a:t>
            </a:r>
          </a:p>
          <a:p>
            <a:pPr marL="12700" marR="5080"/>
            <a:r>
              <a:rPr lang="en-US" sz="1070" kern="0" spc="-80" dirty="0">
                <a:solidFill>
                  <a:schemeClr val="accent2"/>
                </a:solidFill>
                <a:cs typeface="+mn-cs"/>
              </a:rPr>
              <a:t>2. Model Specification and Estimation:</a:t>
            </a:r>
          </a:p>
          <a:p>
            <a:pPr marL="12700" marR="5080"/>
            <a:r>
              <a:rPr lang="en-US" sz="1070" kern="0" spc="-80" dirty="0">
                <a:solidFill>
                  <a:schemeClr val="accent2"/>
                </a:solidFill>
                <a:cs typeface="+mn-cs"/>
              </a:rPr>
              <a:t>Train-Test Split</a:t>
            </a:r>
            <a:r>
              <a:rPr lang="en-US" sz="1070" kern="0" spc="-80" dirty="0">
                <a:solidFill>
                  <a:schemeClr val="accent6"/>
                </a:solidFill>
                <a:cs typeface="+mn-cs"/>
              </a:rPr>
              <a:t>: Divide the data into training and testing sets to evaluate the model's performance. </a:t>
            </a:r>
          </a:p>
          <a:p>
            <a:pPr marL="12700" marR="5080"/>
            <a:r>
              <a:rPr lang="en-US" sz="1070" kern="0" spc="-80" dirty="0">
                <a:solidFill>
                  <a:schemeClr val="accent2"/>
                </a:solidFill>
                <a:cs typeface="+mn-cs"/>
              </a:rPr>
              <a:t>Lag Selection:</a:t>
            </a:r>
            <a:r>
              <a:rPr lang="en-US" sz="1070" kern="0" spc="-80" dirty="0">
                <a:solidFill>
                  <a:schemeClr val="accent6"/>
                </a:solidFill>
                <a:cs typeface="+mn-cs"/>
              </a:rPr>
              <a:t> Determine the optimal number of lags (p) for the VAR model. Use criteria like the Akaike information criterion (AIC) or Schwarz criterion (SC) to choose the best lag order. </a:t>
            </a:r>
          </a:p>
          <a:p>
            <a:pPr marL="12700" marR="5080"/>
            <a:r>
              <a:rPr lang="en-US" sz="1070" kern="0" spc="-80" dirty="0">
                <a:solidFill>
                  <a:schemeClr val="accent2"/>
                </a:solidFill>
                <a:cs typeface="+mn-cs"/>
              </a:rPr>
              <a:t>Apply the VAR Model:</a:t>
            </a:r>
            <a:r>
              <a:rPr lang="en-US" sz="1070" kern="0" spc="-80" dirty="0">
                <a:solidFill>
                  <a:schemeClr val="accent6"/>
                </a:solidFill>
                <a:cs typeface="+mn-cs"/>
              </a:rPr>
              <a:t> Fit the VAR model with the chosen lag order on the training data. </a:t>
            </a:r>
          </a:p>
          <a:p>
            <a:pPr marL="12700" marR="5080"/>
            <a:r>
              <a:rPr lang="en-US" sz="1070" kern="0" spc="-80" dirty="0">
                <a:solidFill>
                  <a:schemeClr val="accent2"/>
                </a:solidFill>
                <a:cs typeface="+mn-cs"/>
              </a:rPr>
              <a:t>Estimate the Model: </a:t>
            </a:r>
            <a:r>
              <a:rPr lang="en-US" sz="1070" kern="0" spc="-80" dirty="0">
                <a:solidFill>
                  <a:schemeClr val="accent6"/>
                </a:solidFill>
                <a:cs typeface="+mn-cs"/>
              </a:rPr>
              <a:t>Use Ordinary Least Squares (OLS) or Maximum Likelihood Estimation (MLE) to estimate the model's parameters. </a:t>
            </a:r>
          </a:p>
          <a:p>
            <a:pPr marL="12700" marR="5080"/>
            <a:r>
              <a:rPr lang="en-US" sz="1070" kern="0" spc="-80" dirty="0">
                <a:solidFill>
                  <a:schemeClr val="accent2"/>
                </a:solidFill>
                <a:cs typeface="+mn-cs"/>
              </a:rPr>
              <a:t>3. Model Evaluation and Forecasting:</a:t>
            </a:r>
          </a:p>
          <a:p>
            <a:pPr marL="12700" marR="5080"/>
            <a:r>
              <a:rPr lang="en-US" sz="1070" kern="0" spc="-80" dirty="0">
                <a:solidFill>
                  <a:schemeClr val="accent6"/>
                </a:solidFill>
                <a:cs typeface="+mn-cs"/>
              </a:rPr>
              <a:t>Evaluate the Model: Assess the model's performance using the test set, considering metrics like root mean squared error (RMSE) or mean absolute error (MAE). </a:t>
            </a:r>
          </a:p>
          <a:p>
            <a:pPr marL="12700" marR="5080"/>
            <a:r>
              <a:rPr lang="en-US" sz="1070" kern="0" spc="-80" dirty="0">
                <a:solidFill>
                  <a:schemeClr val="accent2"/>
                </a:solidFill>
                <a:cs typeface="+mn-cs"/>
              </a:rPr>
              <a:t>Diagnostic Tests: </a:t>
            </a:r>
            <a:r>
              <a:rPr lang="en-US" sz="1070" kern="0" spc="-80" dirty="0">
                <a:solidFill>
                  <a:schemeClr val="accent6"/>
                </a:solidFill>
                <a:cs typeface="+mn-cs"/>
              </a:rPr>
              <a:t>Conduct diagnostic tests, such as Granger causality tests, impulse response functions (IRFs), and variance decomposition, to evaluate the model's adequacy and identify any issues. </a:t>
            </a:r>
          </a:p>
          <a:p>
            <a:pPr marL="12700" marR="5080"/>
            <a:r>
              <a:rPr lang="en-US" sz="1070" kern="0" spc="-80" dirty="0">
                <a:solidFill>
                  <a:schemeClr val="accent2"/>
                </a:solidFill>
                <a:cs typeface="+mn-cs"/>
              </a:rPr>
              <a:t>Forecast:</a:t>
            </a:r>
            <a:r>
              <a:rPr lang="en-US" sz="1070" kern="0" spc="-80" dirty="0">
                <a:solidFill>
                  <a:schemeClr val="accent6"/>
                </a:solidFill>
                <a:cs typeface="+mn-cs"/>
              </a:rPr>
              <a:t> Generate forecasts using the trained VAR model. </a:t>
            </a:r>
          </a:p>
          <a:p>
            <a:pPr marL="12700" marR="5080"/>
            <a:r>
              <a:rPr lang="en-US" sz="1070" kern="0" spc="-80" dirty="0">
                <a:solidFill>
                  <a:schemeClr val="accent2"/>
                </a:solidFill>
                <a:cs typeface="+mn-cs"/>
              </a:rPr>
              <a:t>Invert Transformations (if needed):</a:t>
            </a:r>
            <a:r>
              <a:rPr lang="en-US" sz="1070" kern="0" spc="-80" dirty="0">
                <a:solidFill>
                  <a:schemeClr val="accent6"/>
                </a:solidFill>
                <a:cs typeface="+mn-cs"/>
              </a:rPr>
              <a:t> If the data was transformed, invert the transformations to obtain forecasts in the original scale. </a:t>
            </a:r>
          </a:p>
          <a:p>
            <a:pPr marL="12700" marR="5080"/>
            <a:r>
              <a:rPr lang="en-US" sz="1070" kern="0" spc="-80" dirty="0">
                <a:solidFill>
                  <a:schemeClr val="accent2"/>
                </a:solidFill>
                <a:cs typeface="+mn-cs"/>
              </a:rPr>
              <a:t>4. Advanced Techniques: </a:t>
            </a:r>
          </a:p>
          <a:p>
            <a:pPr marL="12700" marR="5080"/>
            <a:r>
              <a:rPr lang="en-US" sz="1070" kern="0" spc="-80" dirty="0">
                <a:solidFill>
                  <a:schemeClr val="accent2"/>
                </a:solidFill>
                <a:cs typeface="+mn-cs"/>
              </a:rPr>
              <a:t>Impulse Response Functions (IRFs): </a:t>
            </a:r>
            <a:r>
              <a:rPr lang="en-US" sz="1070" kern="0" spc="-80" dirty="0">
                <a:solidFill>
                  <a:schemeClr val="accent6"/>
                </a:solidFill>
                <a:cs typeface="+mn-cs"/>
              </a:rPr>
              <a:t>Analyze the impact of shocks on the system by visualizing how variables react to disturbances. </a:t>
            </a:r>
          </a:p>
          <a:p>
            <a:pPr marL="12700" marR="5080"/>
            <a:r>
              <a:rPr lang="en-US" sz="1070" kern="0" spc="-80" dirty="0">
                <a:solidFill>
                  <a:schemeClr val="accent2"/>
                </a:solidFill>
                <a:cs typeface="+mn-cs"/>
              </a:rPr>
              <a:t>Variance Decomposition: </a:t>
            </a:r>
            <a:r>
              <a:rPr lang="en-US" sz="1070" kern="0" spc="-80" dirty="0">
                <a:solidFill>
                  <a:schemeClr val="accent6"/>
                </a:solidFill>
                <a:cs typeface="+mn-cs"/>
              </a:rPr>
              <a:t>Understand how much of the variance in each variable is explained by shocks to other variables. </a:t>
            </a:r>
          </a:p>
          <a:p>
            <a:pPr marL="12700" marR="5080"/>
            <a:r>
              <a:rPr lang="en-US" sz="1070" kern="0" spc="-80" dirty="0">
                <a:solidFill>
                  <a:schemeClr val="accent2"/>
                </a:solidFill>
                <a:cs typeface="+mn-cs"/>
              </a:rPr>
              <a:t>Cointegration:</a:t>
            </a:r>
            <a:r>
              <a:rPr lang="en-US" sz="1070" kern="0" spc="-80" dirty="0">
                <a:solidFill>
                  <a:schemeClr val="accent6"/>
                </a:solidFill>
                <a:cs typeface="+mn-cs"/>
              </a:rPr>
              <a:t> If variables are non-stationary but have a stationary linear combination, consider using a Vector Error Correction Model (VECM). </a:t>
            </a:r>
          </a:p>
          <a:p>
            <a:pPr marL="12700" marR="5080"/>
            <a:r>
              <a:rPr lang="en-US" sz="1070" kern="0" spc="-80" dirty="0">
                <a:solidFill>
                  <a:schemeClr val="accent2"/>
                </a:solidFill>
                <a:cs typeface="+mn-cs"/>
              </a:rPr>
              <a:t>Nonlinear VAR models</a:t>
            </a:r>
            <a:r>
              <a:rPr lang="en-US" sz="1070" kern="0" spc="-80" dirty="0">
                <a:solidFill>
                  <a:schemeClr val="accent6"/>
                </a:solidFill>
                <a:cs typeface="+mn-cs"/>
              </a:rPr>
              <a:t>: Explore Threshold VAR (TVAR) or other nonlinear VAR models to capture complex relationships. </a:t>
            </a:r>
          </a:p>
          <a:p>
            <a:pPr marL="12700" marR="5080"/>
            <a:r>
              <a:rPr lang="en-US" sz="1070" kern="0" spc="-80" dirty="0">
                <a:solidFill>
                  <a:schemeClr val="accent6"/>
                </a:solidFill>
                <a:cs typeface="+mn-cs"/>
              </a:rPr>
              <a:t>By following these steps, you can effectively build, estimate, and evaluate VAR models to analyze and forecast multivariate time series data. </a:t>
            </a:r>
          </a:p>
        </p:txBody>
      </p:sp>
    </p:spTree>
    <p:extLst>
      <p:ext uri="{BB962C8B-B14F-4D97-AF65-F5344CB8AC3E}">
        <p14:creationId xmlns:p14="http://schemas.microsoft.com/office/powerpoint/2010/main" val="374111835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1E53-1D79-06FC-F982-39ADEF52B0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A441C9F-B738-FD05-CE77-04E311500D9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FB38B104-605B-28D5-DD4B-3E6B967EA8D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FC32727-FFD1-3549-D017-A1026ECE7D94}"/>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74EF559-B529-1CE6-56EA-181B28DD462F}"/>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73CDDDE1-A4A0-5550-B26F-E731AB23D8F5}"/>
              </a:ext>
            </a:extLst>
          </p:cNvPr>
          <p:cNvSpPr txBox="1">
            <a:spLocks/>
          </p:cNvSpPr>
          <p:nvPr/>
        </p:nvSpPr>
        <p:spPr>
          <a:xfrm>
            <a:off x="61863" y="965753"/>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400" kern="0" spc="-80" dirty="0">
                <a:solidFill>
                  <a:schemeClr val="accent6"/>
                </a:solidFill>
                <a:cs typeface="+mn-cs"/>
              </a:rPr>
              <a:t>Stochastic econometric models incorporate randomness and uncertainty in economic phenomena, using probability distributions to represent possible outcomes. These models are used to analyze economic data and make predictions, accounting for the fact that many economic factors are not perfectly predictable. </a:t>
            </a:r>
          </a:p>
          <a:p>
            <a:pPr marL="12700" marR="5080"/>
            <a:r>
              <a:rPr lang="en-US" sz="1400" kern="0" spc="-80" dirty="0">
                <a:solidFill>
                  <a:schemeClr val="accent2"/>
                </a:solidFill>
                <a:cs typeface="+mn-cs"/>
              </a:rPr>
              <a:t>Key Concepts: </a:t>
            </a:r>
          </a:p>
          <a:p>
            <a:pPr marL="12700" marR="5080"/>
            <a:r>
              <a:rPr lang="en-US" sz="1400" kern="0" spc="-80" dirty="0">
                <a:solidFill>
                  <a:schemeClr val="accent2"/>
                </a:solidFill>
                <a:cs typeface="+mn-cs"/>
              </a:rPr>
              <a:t>Random Variables: </a:t>
            </a:r>
            <a:r>
              <a:rPr lang="en-US" sz="1400" kern="0" spc="-80" dirty="0">
                <a:solidFill>
                  <a:schemeClr val="accent6"/>
                </a:solidFill>
                <a:cs typeface="+mn-cs"/>
              </a:rPr>
              <a:t>Stochastic models deal with random variables, which are variables whose values are numerical outcomes of a random phenomenon. </a:t>
            </a:r>
          </a:p>
          <a:p>
            <a:pPr marL="12700" marR="5080"/>
            <a:r>
              <a:rPr lang="en-US" sz="1400" kern="0" spc="-80" dirty="0">
                <a:solidFill>
                  <a:schemeClr val="accent2"/>
                </a:solidFill>
                <a:cs typeface="+mn-cs"/>
              </a:rPr>
              <a:t>Probability Distributions: </a:t>
            </a:r>
            <a:r>
              <a:rPr lang="en-US" sz="1400" kern="0" spc="-80" dirty="0">
                <a:solidFill>
                  <a:schemeClr val="accent6"/>
                </a:solidFill>
                <a:cs typeface="+mn-cs"/>
              </a:rPr>
              <a:t>The models use probability distributions to represent the likelihood of different values of the random variables. </a:t>
            </a:r>
          </a:p>
          <a:p>
            <a:pPr marL="12700" marR="5080"/>
            <a:r>
              <a:rPr lang="en-US" sz="1400" kern="0" spc="-80" dirty="0">
                <a:solidFill>
                  <a:schemeClr val="accent2"/>
                </a:solidFill>
                <a:cs typeface="+mn-cs"/>
              </a:rPr>
              <a:t>Monte Carlo Simulation: </a:t>
            </a:r>
            <a:r>
              <a:rPr lang="en-US" sz="1400" kern="0" spc="-80" dirty="0">
                <a:solidFill>
                  <a:schemeClr val="accent6"/>
                </a:solidFill>
                <a:cs typeface="+mn-cs"/>
              </a:rPr>
              <a:t>A common technique used in stochastic modeling is Monte Carlo simulation, which involves running numerous simulations with different random inputs to generate a distribution of possible outcomes. </a:t>
            </a:r>
          </a:p>
          <a:p>
            <a:pPr marL="12700" marR="5080"/>
            <a:r>
              <a:rPr lang="en-US" sz="1400" kern="0" spc="-80" dirty="0">
                <a:solidFill>
                  <a:schemeClr val="accent2"/>
                </a:solidFill>
                <a:cs typeface="+mn-cs"/>
              </a:rPr>
              <a:t>Stochastic</a:t>
            </a:r>
            <a:r>
              <a:rPr lang="en-US" sz="1400" kern="0" spc="-80" dirty="0">
                <a:solidFill>
                  <a:schemeClr val="accent6"/>
                </a:solidFill>
                <a:cs typeface="+mn-cs"/>
              </a:rPr>
              <a:t> Error Term: In econometric models, a stochastic error term is included to account for unobserved factors and measurement errors that contribute to the variability in the data. </a:t>
            </a:r>
          </a:p>
          <a:p>
            <a:pPr marL="12700" marR="5080"/>
            <a:r>
              <a:rPr lang="en-US" sz="1400" kern="0" spc="-80" dirty="0">
                <a:solidFill>
                  <a:schemeClr val="accent2"/>
                </a:solidFill>
                <a:cs typeface="+mn-cs"/>
              </a:rPr>
              <a:t>Dynamic Stochastic General Equilibrium (DSGE) Models:</a:t>
            </a:r>
          </a:p>
          <a:p>
            <a:pPr marL="12700" marR="5080"/>
            <a:r>
              <a:rPr lang="en-US" sz="1400" kern="0" spc="-80" dirty="0">
                <a:solidFill>
                  <a:schemeClr val="accent6"/>
                </a:solidFill>
                <a:cs typeface="+mn-cs"/>
              </a:rPr>
              <a:t>These models are used in macroeconomics to analyze the effects of shocks and policy changes on the overall economy. </a:t>
            </a:r>
          </a:p>
          <a:p>
            <a:pPr marL="12700" marR="5080"/>
            <a:r>
              <a:rPr lang="en-US" sz="1400" kern="0" spc="-80" dirty="0">
                <a:solidFill>
                  <a:schemeClr val="accent2"/>
                </a:solidFill>
                <a:cs typeface="+mn-cs"/>
              </a:rPr>
              <a:t>Common Examples of Stochastic Models:</a:t>
            </a:r>
            <a:r>
              <a:rPr lang="en-US" sz="1400" kern="0" spc="-80" dirty="0">
                <a:solidFill>
                  <a:schemeClr val="accent6"/>
                </a:solidFill>
                <a:cs typeface="+mn-cs"/>
              </a:rPr>
              <a:t> </a:t>
            </a:r>
          </a:p>
          <a:p>
            <a:pPr marL="12700" marR="5080"/>
            <a:r>
              <a:rPr lang="en-US" sz="1400" kern="0" spc="-80" dirty="0">
                <a:solidFill>
                  <a:schemeClr val="accent2"/>
                </a:solidFill>
                <a:cs typeface="+mn-cs"/>
              </a:rPr>
              <a:t>Regression Models:</a:t>
            </a:r>
            <a:r>
              <a:rPr lang="en-US" sz="1400" kern="0" spc="-80" dirty="0">
                <a:solidFill>
                  <a:schemeClr val="accent6"/>
                </a:solidFill>
                <a:cs typeface="+mn-cs"/>
              </a:rPr>
              <a:t> These models can incorporate stochastic error terms to account for unobserved factors. </a:t>
            </a:r>
          </a:p>
        </p:txBody>
      </p:sp>
    </p:spTree>
    <p:extLst>
      <p:ext uri="{BB962C8B-B14F-4D97-AF65-F5344CB8AC3E}">
        <p14:creationId xmlns:p14="http://schemas.microsoft.com/office/powerpoint/2010/main" val="74964958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975C-F568-D512-0E9A-529AF03EF72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E2D5CFD-A1BA-AF9E-5E6E-AB7E69D99B9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E97F7EB-693F-DB21-D373-26B5506CE1B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531632C-0BC5-8EE2-D5A2-0C512D67534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49CCBAF-13E7-4982-CA6E-12135283465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E15F61B4-C324-E7E8-8BA0-EF04EA2F9379}"/>
              </a:ext>
            </a:extLst>
          </p:cNvPr>
          <p:cNvSpPr txBox="1">
            <a:spLocks/>
          </p:cNvSpPr>
          <p:nvPr/>
        </p:nvSpPr>
        <p:spPr>
          <a:xfrm>
            <a:off x="61863" y="965753"/>
            <a:ext cx="8624937" cy="28931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400" kern="0" spc="-80" dirty="0">
                <a:solidFill>
                  <a:schemeClr val="accent2"/>
                </a:solidFill>
                <a:cs typeface="+mn-cs"/>
              </a:rPr>
              <a:t>Time Series Models:</a:t>
            </a:r>
            <a:r>
              <a:rPr lang="en-US" sz="1400" kern="0" spc="-80" dirty="0">
                <a:solidFill>
                  <a:schemeClr val="accent6"/>
                </a:solidFill>
                <a:cs typeface="+mn-cs"/>
              </a:rPr>
              <a:t> Models like ARIMA (Autoregressive Integrated Moving Average) are used to analyze data over time, often incorporating stochastic components to capture trends and seasonality. </a:t>
            </a:r>
          </a:p>
          <a:p>
            <a:pPr marL="12700" marR="5080"/>
            <a:r>
              <a:rPr lang="en-US" sz="1400" kern="0" spc="-80" dirty="0">
                <a:solidFill>
                  <a:schemeClr val="accent2"/>
                </a:solidFill>
                <a:cs typeface="+mn-cs"/>
              </a:rPr>
              <a:t>Financial Models:</a:t>
            </a:r>
            <a:r>
              <a:rPr lang="en-US" sz="1400" kern="0" spc="-80" dirty="0">
                <a:solidFill>
                  <a:schemeClr val="accent6"/>
                </a:solidFill>
                <a:cs typeface="+mn-cs"/>
              </a:rPr>
              <a:t> Stochastic models are widely used in finance to price derivatives, assess risk, and manage portfolios. </a:t>
            </a:r>
          </a:p>
          <a:p>
            <a:pPr marL="12700" marR="5080"/>
            <a:r>
              <a:rPr lang="en-US" sz="1400" kern="0" spc="-80" dirty="0">
                <a:solidFill>
                  <a:schemeClr val="accent2"/>
                </a:solidFill>
                <a:cs typeface="+mn-cs"/>
              </a:rPr>
              <a:t>Markov Chain Models:</a:t>
            </a:r>
            <a:r>
              <a:rPr lang="en-US" sz="1400" kern="0" spc="-80" dirty="0">
                <a:solidFill>
                  <a:schemeClr val="accent6"/>
                </a:solidFill>
                <a:cs typeface="+mn-cs"/>
              </a:rPr>
              <a:t> These models are used to predict future states of a system based on its past states, often used in economics and finance to model economic transitions. </a:t>
            </a:r>
          </a:p>
          <a:p>
            <a:pPr marL="12700" marR="5080"/>
            <a:r>
              <a:rPr lang="en-US" sz="1400" kern="0" spc="-80" dirty="0">
                <a:solidFill>
                  <a:schemeClr val="accent2"/>
                </a:solidFill>
                <a:cs typeface="+mn-cs"/>
              </a:rPr>
              <a:t>Advantages of Stochastic Models: </a:t>
            </a:r>
          </a:p>
          <a:p>
            <a:pPr marL="12700" marR="5080"/>
            <a:r>
              <a:rPr lang="en-US" sz="1400" kern="0" spc="-80" dirty="0">
                <a:solidFill>
                  <a:schemeClr val="accent2"/>
                </a:solidFill>
                <a:cs typeface="+mn-cs"/>
              </a:rPr>
              <a:t>Account for Uncertainty: </a:t>
            </a:r>
            <a:r>
              <a:rPr lang="en-US" sz="1400" kern="0" spc="-80" dirty="0">
                <a:solidFill>
                  <a:schemeClr val="accent6"/>
                </a:solidFill>
                <a:cs typeface="+mn-cs"/>
              </a:rPr>
              <a:t>Stochastic models allow for the incorporation of uncertainty and randomness in economic analysis, leading to more realistic predictions. </a:t>
            </a:r>
          </a:p>
          <a:p>
            <a:pPr marL="12700" marR="5080"/>
            <a:r>
              <a:rPr lang="en-US" sz="1400" kern="0" spc="-80" dirty="0">
                <a:solidFill>
                  <a:schemeClr val="accent2"/>
                </a:solidFill>
                <a:cs typeface="+mn-cs"/>
              </a:rPr>
              <a:t>Explore Range of Outcomes</a:t>
            </a:r>
            <a:r>
              <a:rPr lang="en-US" sz="1400" kern="0" spc="-80" dirty="0">
                <a:solidFill>
                  <a:schemeClr val="accent6"/>
                </a:solidFill>
                <a:cs typeface="+mn-cs"/>
              </a:rPr>
              <a:t>: By simulating multiple scenarios, stochastic models can provide insights into the potential range of outcomes, not just a single point estimate. </a:t>
            </a:r>
          </a:p>
          <a:p>
            <a:pPr marL="12700" marR="5080"/>
            <a:r>
              <a:rPr lang="en-US" sz="1400" kern="0" spc="-80" dirty="0">
                <a:solidFill>
                  <a:schemeClr val="accent2"/>
                </a:solidFill>
                <a:cs typeface="+mn-cs"/>
              </a:rPr>
              <a:t>Understand Risk</a:t>
            </a:r>
            <a:r>
              <a:rPr lang="en-US" sz="1400" kern="0" spc="-80" dirty="0">
                <a:solidFill>
                  <a:schemeClr val="accent6"/>
                </a:solidFill>
                <a:cs typeface="+mn-cs"/>
              </a:rPr>
              <a:t>: Stochastic models can be used to assess risk and uncertainty in economic decisions. </a:t>
            </a:r>
          </a:p>
        </p:txBody>
      </p:sp>
    </p:spTree>
    <p:extLst>
      <p:ext uri="{BB962C8B-B14F-4D97-AF65-F5344CB8AC3E}">
        <p14:creationId xmlns:p14="http://schemas.microsoft.com/office/powerpoint/2010/main" val="384960383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7481-E982-E955-C26D-8465B40D92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B99367A-FDD5-3375-910F-A1326DC76DA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303DA08-A523-B3AE-D3F7-187F543E063A}"/>
              </a:ext>
            </a:extLst>
          </p:cNvPr>
          <p:cNvSpPr/>
          <p:nvPr/>
        </p:nvSpPr>
        <p:spPr>
          <a:xfrm>
            <a:off x="1666238" y="107478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00A444E-2B34-8D5A-B1E6-770C95DFB07F}"/>
              </a:ext>
            </a:extLst>
          </p:cNvPr>
          <p:cNvSpPr/>
          <p:nvPr/>
        </p:nvSpPr>
        <p:spPr>
          <a:xfrm>
            <a:off x="1666238" y="89204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301E834-31E1-ABDB-1CD5-152B514F07C1}"/>
              </a:ext>
            </a:extLst>
          </p:cNvPr>
          <p:cNvGraphicFramePr/>
          <p:nvPr/>
        </p:nvGraphicFramePr>
        <p:xfrm>
          <a:off x="-17146" y="17828"/>
          <a:ext cx="9084945" cy="8203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05CEF06E-385C-D468-A8C6-F505E3C160D2}"/>
              </a:ext>
            </a:extLst>
          </p:cNvPr>
          <p:cNvSpPr txBox="1">
            <a:spLocks/>
          </p:cNvSpPr>
          <p:nvPr/>
        </p:nvSpPr>
        <p:spPr>
          <a:xfrm>
            <a:off x="76201" y="896036"/>
            <a:ext cx="8991598" cy="57631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IN" sz="1400" dirty="0">
                <a:hlinkClick r:id="rId7"/>
              </a:rPr>
              <a:t>Econometrics - Wikipedia</a:t>
            </a:r>
            <a:endParaRPr lang="en-US" sz="1400" dirty="0">
              <a:hlinkClick r:id="rId8"/>
            </a:endParaRPr>
          </a:p>
          <a:p>
            <a:pPr marL="12700" marR="5080"/>
            <a:r>
              <a:rPr lang="en-US" sz="1400" dirty="0">
                <a:hlinkClick r:id="rId8"/>
              </a:rPr>
              <a:t>Econometrics Beat: Dave Giles' Blog: (Legally)</a:t>
            </a:r>
            <a:endParaRPr lang="en-US" sz="1400" dirty="0"/>
          </a:p>
          <a:p>
            <a:pPr marL="12700" marR="5080"/>
            <a:r>
              <a:rPr lang="en-IN" sz="1400" dirty="0">
                <a:hlinkClick r:id="rId9"/>
              </a:rPr>
              <a:t>Econometrics</a:t>
            </a:r>
            <a:endParaRPr lang="en-US" sz="1400" dirty="0"/>
          </a:p>
          <a:p>
            <a:pPr marL="12700" marR="5080"/>
            <a:r>
              <a:rPr lang="en-US" sz="1400" dirty="0">
                <a:hlinkClick r:id="rId10"/>
              </a:rPr>
              <a:t>Introduction to Econometrics with R</a:t>
            </a:r>
            <a:endParaRPr lang="en-US" sz="1400" dirty="0"/>
          </a:p>
          <a:p>
            <a:pPr marL="12700" marR="5080"/>
            <a:r>
              <a:rPr lang="en-US" sz="1400" dirty="0">
                <a:hlinkClick r:id="rId11"/>
              </a:rPr>
              <a:t>Schaum's Outline of Statistics and Econometrics, Second Edition</a:t>
            </a:r>
            <a:endParaRPr lang="en-US" sz="1400" dirty="0"/>
          </a:p>
          <a:p>
            <a:pPr marL="12700" marR="5080"/>
            <a:r>
              <a:rPr lang="en-US" sz="1400" dirty="0">
                <a:hlinkClick r:id="rId12"/>
              </a:rPr>
              <a:t>Introductory Econometrics: A Modern Approach with MindTap</a:t>
            </a:r>
            <a:endParaRPr lang="en-US" sz="1400" dirty="0"/>
          </a:p>
          <a:p>
            <a:pPr marL="12700" marR="5080"/>
            <a:r>
              <a:rPr lang="en-US" sz="1400" dirty="0">
                <a:hlinkClick r:id="rId13"/>
              </a:rPr>
              <a:t>Econometrics A-Z: Theories, Models, Functions, and Data | Udemy</a:t>
            </a:r>
            <a:endParaRPr lang="en-US" sz="1400" dirty="0"/>
          </a:p>
          <a:p>
            <a:pPr marL="12700" marR="5080"/>
            <a:r>
              <a:rPr lang="en-US" sz="1400" dirty="0">
                <a:hlinkClick r:id="rId14"/>
              </a:rPr>
              <a:t>Modern-Time-Series-Forecasting-with-Python</a:t>
            </a:r>
            <a:endParaRPr lang="en-US" sz="1400" dirty="0"/>
          </a:p>
          <a:p>
            <a:pPr marL="12700" marR="5080"/>
            <a:r>
              <a:rPr lang="en-IN" sz="1400" dirty="0">
                <a:hlinkClick r:id="rId15"/>
              </a:rPr>
              <a:t>Practical-Time-Series-Analysis</a:t>
            </a:r>
            <a:endParaRPr lang="en-IN" sz="1400" dirty="0"/>
          </a:p>
          <a:p>
            <a:pPr marL="12700" marR="5080"/>
            <a:r>
              <a:rPr lang="en-IN" sz="1400" dirty="0" err="1">
                <a:hlinkClick r:id="rId16"/>
              </a:rPr>
              <a:t>Tsururu</a:t>
            </a:r>
            <a:endParaRPr lang="en-IN" sz="1400" dirty="0"/>
          </a:p>
          <a:p>
            <a:pPr marL="12700" marR="5080"/>
            <a:r>
              <a:rPr lang="en-IN" sz="1400" dirty="0">
                <a:hlinkClick r:id="rId17"/>
              </a:rPr>
              <a:t>Demand Forecasting Best Practices</a:t>
            </a:r>
            <a:endParaRPr lang="en-IN" sz="1400" dirty="0"/>
          </a:p>
          <a:p>
            <a:pPr marL="12700" marR="5080"/>
            <a:r>
              <a:rPr lang="en-US" sz="1400" dirty="0">
                <a:hlinkClick r:id="rId18"/>
              </a:rPr>
              <a:t>Fighting Churn</a:t>
            </a:r>
            <a:endParaRPr lang="en-US" sz="1400" dirty="0"/>
          </a:p>
          <a:p>
            <a:pPr marL="12700" marR="5080"/>
            <a:r>
              <a:rPr lang="en-IN" sz="1400" dirty="0">
                <a:hlinkClick r:id="rId19"/>
              </a:rPr>
              <a:t>Inventory Explained</a:t>
            </a:r>
            <a:endParaRPr lang="en-IN" sz="1400" dirty="0"/>
          </a:p>
          <a:p>
            <a:pPr marL="12700" marR="5080"/>
            <a:r>
              <a:rPr lang="en-IN" sz="1400" dirty="0">
                <a:hlinkClick r:id="rId20"/>
              </a:rPr>
              <a:t>Investing for Programmers</a:t>
            </a:r>
            <a:endParaRPr lang="en-IN" sz="1400" dirty="0"/>
          </a:p>
          <a:p>
            <a:pPr marL="12700" marR="5080"/>
            <a:r>
              <a:rPr lang="en-IN" sz="1400" dirty="0">
                <a:hlinkClick r:id="rId21"/>
              </a:rPr>
              <a:t>Articles by Fervent | Finance Articles, Accounting Articles</a:t>
            </a:r>
            <a:endParaRPr lang="en-IN" sz="1400" dirty="0"/>
          </a:p>
          <a:p>
            <a:pPr marL="12700" marR="5080"/>
            <a:r>
              <a:rPr lang="en-US" sz="1400" dirty="0">
                <a:hlinkClick r:id="rId22"/>
              </a:rPr>
              <a:t>Python-for-Algorithmic-Trading-Cookbook</a:t>
            </a:r>
            <a:endParaRPr lang="en-US" sz="1400" dirty="0"/>
          </a:p>
          <a:p>
            <a:pPr marL="12700" marR="5080"/>
            <a:r>
              <a:rPr lang="en-US" sz="1400" dirty="0">
                <a:hlinkClick r:id="rId23"/>
              </a:rPr>
              <a:t>Machine-Learning-for-Algorithmic-Trading</a:t>
            </a:r>
            <a:endParaRPr lang="en-US" sz="1400" dirty="0"/>
          </a:p>
          <a:p>
            <a:pPr marL="12700" marR="5080"/>
            <a:r>
              <a:rPr lang="en-US" sz="1400" dirty="0">
                <a:hlinkClick r:id="rId24"/>
              </a:rPr>
              <a:t>Developing High-Frequency Trading Systems</a:t>
            </a:r>
            <a:endParaRPr lang="en-US" sz="1400" dirty="0"/>
          </a:p>
          <a:p>
            <a:pPr marL="12700" marR="5080"/>
            <a:r>
              <a:rPr lang="en-US" sz="1400" dirty="0">
                <a:hlinkClick r:id="rId25"/>
              </a:rPr>
              <a:t>Getting-Started-with-Forex-Trading-Using-Python</a:t>
            </a:r>
            <a:endParaRPr lang="en-US" sz="1400" dirty="0"/>
          </a:p>
          <a:p>
            <a:pPr marL="12700" marR="5080"/>
            <a:r>
              <a:rPr lang="en-IN" sz="1400" dirty="0">
                <a:hlinkClick r:id="rId26"/>
              </a:rPr>
              <a:t>Stochastic process</a:t>
            </a:r>
            <a:endParaRPr lang="en-IN" sz="1400" dirty="0"/>
          </a:p>
          <a:p>
            <a:pPr marL="12700" marR="5080"/>
            <a:r>
              <a:rPr lang="en-US" sz="1400" dirty="0">
                <a:hlinkClick r:id="rId27"/>
              </a:rPr>
              <a:t>Schaum's Outline of Probability, Random Variables, and Random Processes</a:t>
            </a:r>
            <a:endParaRPr lang="en-US" sz="1400" dirty="0"/>
          </a:p>
          <a:p>
            <a:pPr marL="12700" marR="5080"/>
            <a:r>
              <a:rPr lang="en-US" sz="1400" dirty="0">
                <a:hlinkClick r:id="rId28"/>
              </a:rPr>
              <a:t>Stochastic Processes – Notes and Study Guides</a:t>
            </a:r>
            <a:endParaRPr lang="en-US" sz="1400" dirty="0"/>
          </a:p>
          <a:p>
            <a:pPr marL="12700" marR="5080"/>
            <a:endParaRPr lang="en-IN" sz="1400" dirty="0"/>
          </a:p>
          <a:p>
            <a:pPr marL="12700" marR="5080"/>
            <a:endParaRPr lang="en-US" sz="1500" dirty="0"/>
          </a:p>
          <a:p>
            <a:pPr marL="12700" marR="5080"/>
            <a:endParaRPr lang="en-US" sz="1750" kern="0" spc="-220" dirty="0">
              <a:solidFill>
                <a:schemeClr val="accent6"/>
              </a:solidFill>
            </a:endParaRPr>
          </a:p>
        </p:txBody>
      </p:sp>
    </p:spTree>
    <p:extLst>
      <p:ext uri="{BB962C8B-B14F-4D97-AF65-F5344CB8AC3E}">
        <p14:creationId xmlns:p14="http://schemas.microsoft.com/office/powerpoint/2010/main" val="84559951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85EBA-B06C-F000-FA55-9DE390D0822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BD2F8B-3B62-246C-3171-6AE53E6CA6F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469876CA-92C6-1FB6-7138-5BC3E1DE8AD5}"/>
              </a:ext>
            </a:extLst>
          </p:cNvPr>
          <p:cNvSpPr/>
          <p:nvPr/>
        </p:nvSpPr>
        <p:spPr>
          <a:xfrm>
            <a:off x="1661158" y="95091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3C99A9D-CC12-5C1D-022F-CD27471047BA}"/>
              </a:ext>
            </a:extLst>
          </p:cNvPr>
          <p:cNvSpPr/>
          <p:nvPr/>
        </p:nvSpPr>
        <p:spPr>
          <a:xfrm>
            <a:off x="1661158" y="77284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0380164-9A06-5EDB-68BC-1F857CB7BB30}"/>
              </a:ext>
            </a:extLst>
          </p:cNvPr>
          <p:cNvGraphicFramePr/>
          <p:nvPr/>
        </p:nvGraphicFramePr>
        <p:xfrm>
          <a:off x="-17146" y="17828"/>
          <a:ext cx="9084945" cy="7550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274115AB-DE93-C9C1-5275-4D1603A8CD9C}"/>
              </a:ext>
            </a:extLst>
          </p:cNvPr>
          <p:cNvSpPr txBox="1">
            <a:spLocks/>
          </p:cNvSpPr>
          <p:nvPr/>
        </p:nvSpPr>
        <p:spPr>
          <a:xfrm>
            <a:off x="76201" y="772849"/>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600" dirty="0">
                <a:hlinkClick r:id="rId7"/>
              </a:rPr>
              <a:t>Stochastic Processes for Finance</a:t>
            </a:r>
            <a:endParaRPr lang="en-US" sz="1600" dirty="0"/>
          </a:p>
          <a:p>
            <a:pPr marL="12700" marR="5080"/>
            <a:r>
              <a:rPr lang="en-US" sz="1600" dirty="0">
                <a:hlinkClick r:id="rId8"/>
              </a:rPr>
              <a:t>Advanced Stochastic Processes</a:t>
            </a:r>
            <a:endParaRPr lang="en-US" sz="1600" dirty="0"/>
          </a:p>
          <a:p>
            <a:pPr marL="12700" marR="5080"/>
            <a:r>
              <a:rPr lang="en-US" sz="1600" dirty="0">
                <a:hlinkClick r:id="rId9"/>
              </a:rPr>
              <a:t>Logistic regression / Generalized linear model books – The Stats Geek</a:t>
            </a:r>
            <a:endParaRPr lang="en-US" sz="1600" dirty="0"/>
          </a:p>
          <a:p>
            <a:pPr marL="12700" marR="5080"/>
            <a:r>
              <a:rPr lang="en-US" sz="1600" dirty="0">
                <a:hlinkClick r:id="rId10"/>
              </a:rPr>
              <a:t>Longitudinal and clustered data analysis books – The Stats Geek</a:t>
            </a:r>
            <a:endParaRPr lang="en-US" sz="1600" dirty="0"/>
          </a:p>
          <a:p>
            <a:pPr marL="12700" marR="5080"/>
            <a:r>
              <a:rPr lang="en-US" sz="1600" dirty="0">
                <a:hlinkClick r:id="rId11"/>
              </a:rPr>
              <a:t>The Basics of Survival Analysis</a:t>
            </a:r>
            <a:endParaRPr lang="en-US" sz="1600" dirty="0"/>
          </a:p>
          <a:p>
            <a:pPr marL="12700" marR="5080"/>
            <a:r>
              <a:rPr lang="en-US" sz="1600" dirty="0">
                <a:hlinkClick r:id="rId12"/>
              </a:rPr>
              <a:t>Ultimate Guide to Survival Analysis</a:t>
            </a:r>
            <a:endParaRPr lang="en-US" sz="1600" dirty="0"/>
          </a:p>
          <a:p>
            <a:pPr marL="12700" marR="5080"/>
            <a:r>
              <a:rPr lang="en-IN" sz="1600" dirty="0">
                <a:hlinkClick r:id="rId13"/>
              </a:rPr>
              <a:t>Stanford University Survival Analysis.pdf</a:t>
            </a:r>
            <a:endParaRPr lang="en-US" sz="1600" dirty="0"/>
          </a:p>
          <a:p>
            <a:pPr marL="12700" marR="5080"/>
            <a:r>
              <a:rPr lang="en-IN" sz="1600" dirty="0">
                <a:hlinkClick r:id="rId14"/>
              </a:rPr>
              <a:t>Survival analysis</a:t>
            </a:r>
            <a:endParaRPr lang="en-IN" sz="1600" dirty="0"/>
          </a:p>
          <a:p>
            <a:pPr marL="12700" marR="5080"/>
            <a:r>
              <a:rPr lang="en-US" sz="1600" dirty="0">
                <a:hlinkClick r:id="rId15"/>
              </a:rPr>
              <a:t>Survival analysis books – The Stats Geek</a:t>
            </a:r>
            <a:endParaRPr lang="en-US" sz="1600" kern="0" spc="-220" dirty="0">
              <a:solidFill>
                <a:schemeClr val="accent6"/>
              </a:solidFill>
            </a:endParaRPr>
          </a:p>
          <a:p>
            <a:pPr marL="12700" marR="5080"/>
            <a:r>
              <a:rPr lang="en-IN" sz="1600" dirty="0">
                <a:hlinkClick r:id="rId16"/>
              </a:rPr>
              <a:t>Reliability engineering</a:t>
            </a:r>
            <a:endParaRPr lang="en-IN" sz="1600" dirty="0"/>
          </a:p>
          <a:p>
            <a:pPr marL="12700" marR="5080"/>
            <a:r>
              <a:rPr lang="en-IN" sz="1600" dirty="0">
                <a:hlinkClick r:id="rId17"/>
              </a:rPr>
              <a:t>System Reliability Theory.pdf</a:t>
            </a:r>
            <a:endParaRPr lang="en-IN" sz="1600" dirty="0"/>
          </a:p>
          <a:p>
            <a:pPr marL="12700" marR="5080"/>
            <a:r>
              <a:rPr lang="en-US" sz="1600" dirty="0">
                <a:hlinkClick r:id="rId18"/>
              </a:rPr>
              <a:t>Probability Distributions Used in Reliability Engineering</a:t>
            </a:r>
            <a:endParaRPr lang="en-IN" sz="1600" dirty="0"/>
          </a:p>
          <a:p>
            <a:pPr marL="12700" marR="5080"/>
            <a:r>
              <a:rPr lang="en-IN" sz="1600" dirty="0">
                <a:hlinkClick r:id="rId19"/>
              </a:rPr>
              <a:t>Queueing theory</a:t>
            </a:r>
            <a:endParaRPr lang="en-IN" sz="1600" dirty="0"/>
          </a:p>
          <a:p>
            <a:pPr marL="12700" marR="5080"/>
            <a:r>
              <a:rPr lang="en-US" sz="1600" dirty="0">
                <a:hlinkClick r:id="rId20"/>
              </a:rPr>
              <a:t>Basic Queueing Theory: Foundations of System Performance Modeling</a:t>
            </a:r>
            <a:endParaRPr lang="en-IN" sz="1600" dirty="0"/>
          </a:p>
          <a:p>
            <a:pPr marL="12700" marR="5080"/>
            <a:r>
              <a:rPr lang="en-US" sz="1600" dirty="0">
                <a:hlinkClick r:id="rId21"/>
              </a:rPr>
              <a:t>Introduction to Queueing Theory and Stochastic </a:t>
            </a:r>
            <a:r>
              <a:rPr lang="en-US" sz="1600" dirty="0" err="1">
                <a:hlinkClick r:id="rId21"/>
              </a:rPr>
              <a:t>Teletraffic</a:t>
            </a:r>
            <a:r>
              <a:rPr lang="en-US" sz="1600" dirty="0">
                <a:hlinkClick r:id="rId21"/>
              </a:rPr>
              <a:t> Models</a:t>
            </a:r>
            <a:endParaRPr lang="en-US" sz="1600" dirty="0"/>
          </a:p>
          <a:p>
            <a:pPr marL="12700" marR="5080"/>
            <a:r>
              <a:rPr lang="en-US" sz="1600" dirty="0">
                <a:hlinkClick r:id="rId22"/>
              </a:rPr>
              <a:t>AI-driven blind source separation for fast operational modal analysis of structures – ScienceDirect</a:t>
            </a:r>
            <a:endParaRPr lang="en-US" sz="1600" dirty="0"/>
          </a:p>
          <a:p>
            <a:pPr marL="12700" marR="5080"/>
            <a:r>
              <a:rPr lang="en-IN" sz="1600" dirty="0">
                <a:hlinkClick r:id="rId23"/>
              </a:rPr>
              <a:t>Decision theory – Wikipedia</a:t>
            </a:r>
            <a:endParaRPr lang="en-US" sz="1600" dirty="0"/>
          </a:p>
        </p:txBody>
      </p:sp>
    </p:spTree>
    <p:extLst>
      <p:ext uri="{BB962C8B-B14F-4D97-AF65-F5344CB8AC3E}">
        <p14:creationId xmlns:p14="http://schemas.microsoft.com/office/powerpoint/2010/main" val="409185103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1ECC2-2A3B-59F2-A616-46A0689CB34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C553236-61C7-75B7-DD34-3F592CB9542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DF2FAB4-B8A2-130C-712D-0A2A9C92C35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95F8AD6-70F4-2A54-F5B5-D5743B188238}"/>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07C5EA9-A630-0A48-2929-3A28BE935D9B}"/>
              </a:ext>
            </a:extLst>
          </p:cNvPr>
          <p:cNvGraphicFramePr/>
          <p:nvPr>
            <p:extLst>
              <p:ext uri="{D42A27DB-BD31-4B8C-83A1-F6EECF244321}">
                <p14:modId xmlns:p14="http://schemas.microsoft.com/office/powerpoint/2010/main" val="275807984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F808AF98-EA3E-F27B-EF9E-59AA5541149D}"/>
              </a:ext>
            </a:extLst>
          </p:cNvPr>
          <p:cNvSpPr txBox="1">
            <a:spLocks/>
          </p:cNvSpPr>
          <p:nvPr/>
        </p:nvSpPr>
        <p:spPr>
          <a:xfrm>
            <a:off x="41725" y="1351999"/>
            <a:ext cx="8624937" cy="44473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700" kern="0" spc="-80" dirty="0" err="1">
                <a:solidFill>
                  <a:schemeClr val="accent6"/>
                </a:solidFill>
                <a:cs typeface="+mn-cs"/>
              </a:rPr>
              <a:t>Spatio</a:t>
            </a:r>
            <a:r>
              <a:rPr lang="en-US" altLang="en-US" sz="1700" kern="0" spc="-80" dirty="0">
                <a:solidFill>
                  <a:schemeClr val="accent6"/>
                </a:solidFill>
                <a:cs typeface="+mn-cs"/>
              </a:rPr>
              <a:t>-temporal data is information that relates to both location (space) and time, capturing how real-world phenomena change and evolve over both dimensions. It is multidimensional, combining geographical attributes with temporal attributes to describe objects or events in space and time, such as the movement of a vehicle, changing weather patterns, or the spread of a disease. This data requires specialized analysis and management techniques to uncover patterns, make predictions, and understand complex systems across various fields. </a:t>
            </a:r>
          </a:p>
          <a:p>
            <a:pPr lvl="0" eaLnBrk="0" fontAlgn="base" hangingPunct="0">
              <a:spcBef>
                <a:spcPct val="0"/>
              </a:spcBef>
              <a:spcAft>
                <a:spcPct val="0"/>
              </a:spcAft>
            </a:pPr>
            <a:r>
              <a:rPr lang="en-US" altLang="en-US" sz="1700" kern="0" spc="-80" dirty="0">
                <a:solidFill>
                  <a:schemeClr val="accent2"/>
                </a:solidFill>
                <a:cs typeface="+mn-cs"/>
              </a:rPr>
              <a:t>Key Characteristics</a:t>
            </a:r>
          </a:p>
          <a:p>
            <a:pPr lvl="0" eaLnBrk="0" fontAlgn="base" hangingPunct="0">
              <a:spcBef>
                <a:spcPct val="0"/>
              </a:spcBef>
              <a:spcAft>
                <a:spcPct val="0"/>
              </a:spcAft>
              <a:buFontTx/>
              <a:buChar char="•"/>
            </a:pPr>
            <a:r>
              <a:rPr lang="en-US" altLang="en-US" sz="1700" kern="0" spc="-80" dirty="0">
                <a:solidFill>
                  <a:schemeClr val="accent2"/>
                </a:solidFill>
                <a:cs typeface="+mn-cs"/>
              </a:rPr>
              <a:t>Combination of Space and Time:</a:t>
            </a:r>
          </a:p>
          <a:p>
            <a:pPr lvl="0" eaLnBrk="0" fontAlgn="base" hangingPunct="0">
              <a:spcBef>
                <a:spcPct val="0"/>
              </a:spcBef>
              <a:spcAft>
                <a:spcPct val="0"/>
              </a:spcAft>
            </a:pPr>
            <a:r>
              <a:rPr lang="en-US" altLang="en-US" sz="1700" kern="0" spc="-80" dirty="0">
                <a:solidFill>
                  <a:schemeClr val="accent6"/>
                </a:solidFill>
                <a:cs typeface="+mn-cs"/>
              </a:rPr>
              <a:t>The defining feature is the integration of spatial location (like GPS coordinates) with temporal information (like timestamps). </a:t>
            </a:r>
          </a:p>
          <a:p>
            <a:pPr lvl="0" eaLnBrk="0" fontAlgn="base" hangingPunct="0">
              <a:spcBef>
                <a:spcPct val="0"/>
              </a:spcBef>
              <a:spcAft>
                <a:spcPct val="0"/>
              </a:spcAft>
              <a:buFontTx/>
              <a:buChar char="•"/>
            </a:pPr>
            <a:r>
              <a:rPr lang="en-US" altLang="en-US" sz="1700" kern="0" spc="-80" dirty="0">
                <a:solidFill>
                  <a:schemeClr val="accent2"/>
                </a:solidFill>
                <a:cs typeface="+mn-cs"/>
              </a:rPr>
              <a:t>Multidimensionality:</a:t>
            </a:r>
          </a:p>
          <a:p>
            <a:pPr lvl="0" eaLnBrk="0" fontAlgn="base" hangingPunct="0">
              <a:spcBef>
                <a:spcPct val="0"/>
              </a:spcBef>
              <a:spcAft>
                <a:spcPct val="0"/>
              </a:spcAft>
            </a:pPr>
            <a:r>
              <a:rPr lang="en-US" altLang="en-US" sz="1700" kern="0" spc="-80" dirty="0" err="1">
                <a:solidFill>
                  <a:schemeClr val="accent6"/>
                </a:solidFill>
                <a:cs typeface="+mn-cs"/>
              </a:rPr>
              <a:t>Spatio</a:t>
            </a:r>
            <a:r>
              <a:rPr lang="en-US" altLang="en-US" sz="1700" kern="0" spc="-80" dirty="0">
                <a:solidFill>
                  <a:schemeClr val="accent6"/>
                </a:solidFill>
                <a:cs typeface="+mn-cs"/>
              </a:rPr>
              <a:t>-temporal data is inherently multi-dimensional, often represented as a combination of spatial and temporal components. </a:t>
            </a:r>
          </a:p>
          <a:p>
            <a:pPr lvl="0" eaLnBrk="0" fontAlgn="base" hangingPunct="0">
              <a:spcBef>
                <a:spcPct val="0"/>
              </a:spcBef>
              <a:spcAft>
                <a:spcPct val="0"/>
              </a:spcAft>
              <a:buFontTx/>
              <a:buChar char="•"/>
            </a:pPr>
            <a:r>
              <a:rPr lang="en-US" altLang="en-US" sz="1700" kern="0" spc="-80" dirty="0">
                <a:solidFill>
                  <a:schemeClr val="accent2"/>
                </a:solidFill>
                <a:cs typeface="+mn-cs"/>
              </a:rPr>
              <a:t>Dynamic Correlation:</a:t>
            </a:r>
          </a:p>
          <a:p>
            <a:pPr lvl="0" eaLnBrk="0" fontAlgn="base" hangingPunct="0">
              <a:spcBef>
                <a:spcPct val="0"/>
              </a:spcBef>
              <a:spcAft>
                <a:spcPct val="0"/>
              </a:spcAft>
            </a:pPr>
            <a:r>
              <a:rPr lang="en-US" altLang="en-US" sz="1700" kern="0" spc="-80" dirty="0">
                <a:solidFill>
                  <a:schemeClr val="accent6"/>
                </a:solidFill>
                <a:cs typeface="+mn-cs"/>
              </a:rPr>
              <a:t>It captures the dynamic relationship between spatial and temporal elements, showing how things move, change, and influence each other over time and space. </a:t>
            </a:r>
          </a:p>
        </p:txBody>
      </p:sp>
      <p:sp>
        <p:nvSpPr>
          <p:cNvPr id="6" name="Rectangle 4">
            <a:extLst>
              <a:ext uri="{FF2B5EF4-FFF2-40B4-BE49-F238E27FC236}">
                <a16:creationId xmlns:a16="http://schemas.microsoft.com/office/drawing/2014/main" id="{9F2393B7-232B-A53D-7BF9-04567E40C1E8}"/>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737748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D3100-AAF5-0555-CDF3-3607525653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FFFA8C-DA9B-81D2-F069-419038E7688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2962B44A-F0A2-A028-5121-AA83C50359F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CC469A0-038E-38C9-A4F3-04ED0B6E0C48}"/>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E47799C-5831-AA81-269A-FD366A4F8D6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C2A1F4B4-9625-1E8D-F594-49581AFC3DF1}"/>
              </a:ext>
            </a:extLst>
          </p:cNvPr>
          <p:cNvSpPr txBox="1">
            <a:spLocks/>
          </p:cNvSpPr>
          <p:nvPr/>
        </p:nvSpPr>
        <p:spPr>
          <a:xfrm>
            <a:off x="41725" y="1351999"/>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200" kern="0" spc="-80" dirty="0">
                <a:solidFill>
                  <a:schemeClr val="accent6"/>
                </a:solidFill>
              </a:rPr>
              <a:t>Examples</a:t>
            </a:r>
          </a:p>
          <a:p>
            <a:pPr lvl="0" eaLnBrk="0" fontAlgn="base" hangingPunct="0">
              <a:spcBef>
                <a:spcPct val="0"/>
              </a:spcBef>
              <a:spcAft>
                <a:spcPct val="0"/>
              </a:spcAft>
              <a:buFontTx/>
              <a:buChar char="•"/>
            </a:pPr>
            <a:r>
              <a:rPr lang="en-US" altLang="en-US" sz="1200" kern="0" spc="-80" dirty="0">
                <a:solidFill>
                  <a:schemeClr val="accent2"/>
                </a:solidFill>
              </a:rPr>
              <a:t>Moving Objects:</a:t>
            </a:r>
          </a:p>
          <a:p>
            <a:pPr lvl="0" eaLnBrk="0" fontAlgn="base" hangingPunct="0">
              <a:spcBef>
                <a:spcPct val="0"/>
              </a:spcBef>
              <a:spcAft>
                <a:spcPct val="0"/>
              </a:spcAft>
            </a:pPr>
            <a:r>
              <a:rPr lang="en-US" altLang="en-US" sz="1200" kern="0" spc="-80" dirty="0">
                <a:solidFill>
                  <a:schemeClr val="accent6"/>
                </a:solidFill>
              </a:rPr>
              <a:t>The path and location of a moving car, flight, or pedestrian over a period. </a:t>
            </a:r>
          </a:p>
          <a:p>
            <a:pPr lvl="0" eaLnBrk="0" fontAlgn="base" hangingPunct="0">
              <a:spcBef>
                <a:spcPct val="0"/>
              </a:spcBef>
              <a:spcAft>
                <a:spcPct val="0"/>
              </a:spcAft>
              <a:buFontTx/>
              <a:buChar char="•"/>
            </a:pPr>
            <a:r>
              <a:rPr lang="en-US" altLang="en-US" sz="1200" kern="0" spc="-80" dirty="0">
                <a:solidFill>
                  <a:schemeClr val="accent2"/>
                </a:solidFill>
              </a:rPr>
              <a:t>Weather Patterns:</a:t>
            </a:r>
          </a:p>
          <a:p>
            <a:pPr lvl="0" eaLnBrk="0" fontAlgn="base" hangingPunct="0">
              <a:spcBef>
                <a:spcPct val="0"/>
              </a:spcBef>
              <a:spcAft>
                <a:spcPct val="0"/>
              </a:spcAft>
            </a:pPr>
            <a:r>
              <a:rPr lang="en-US" altLang="en-US" sz="1200" kern="0" spc="-80" dirty="0">
                <a:solidFill>
                  <a:schemeClr val="accent6"/>
                </a:solidFill>
              </a:rPr>
              <a:t>Tracking temperature, rainfall, or storm systems and how they evolve over a geographic area and time. </a:t>
            </a:r>
          </a:p>
          <a:p>
            <a:pPr lvl="0" eaLnBrk="0" fontAlgn="base" hangingPunct="0">
              <a:spcBef>
                <a:spcPct val="0"/>
              </a:spcBef>
              <a:spcAft>
                <a:spcPct val="0"/>
              </a:spcAft>
              <a:buFontTx/>
              <a:buChar char="•"/>
            </a:pPr>
            <a:r>
              <a:rPr lang="en-US" altLang="en-US" sz="1200" kern="0" spc="-80" dirty="0">
                <a:solidFill>
                  <a:schemeClr val="accent2"/>
                </a:solidFill>
              </a:rPr>
              <a:t>Disease Surveillance:</a:t>
            </a:r>
          </a:p>
          <a:p>
            <a:pPr lvl="0" eaLnBrk="0" fontAlgn="base" hangingPunct="0">
              <a:spcBef>
                <a:spcPct val="0"/>
              </a:spcBef>
              <a:spcAft>
                <a:spcPct val="0"/>
              </a:spcAft>
            </a:pPr>
            <a:r>
              <a:rPr lang="en-US" altLang="en-US" sz="1200" kern="0" spc="-80" dirty="0">
                <a:solidFill>
                  <a:schemeClr val="accent6"/>
                </a:solidFill>
              </a:rPr>
              <a:t>Monitoring the location and timing of disease outbreaks to detect epidemics. </a:t>
            </a:r>
          </a:p>
          <a:p>
            <a:pPr lvl="0" eaLnBrk="0" fontAlgn="base" hangingPunct="0">
              <a:spcBef>
                <a:spcPct val="0"/>
              </a:spcBef>
              <a:spcAft>
                <a:spcPct val="0"/>
              </a:spcAft>
              <a:buFontTx/>
              <a:buChar char="•"/>
            </a:pPr>
            <a:r>
              <a:rPr lang="en-US" altLang="en-US" sz="1200" kern="0" spc="-80" dirty="0">
                <a:solidFill>
                  <a:schemeClr val="accent2"/>
                </a:solidFill>
              </a:rPr>
              <a:t>Environmental Monitoring:</a:t>
            </a:r>
          </a:p>
          <a:p>
            <a:pPr lvl="0" eaLnBrk="0" fontAlgn="base" hangingPunct="0">
              <a:spcBef>
                <a:spcPct val="0"/>
              </a:spcBef>
              <a:spcAft>
                <a:spcPct val="0"/>
              </a:spcAft>
            </a:pPr>
            <a:r>
              <a:rPr lang="en-US" altLang="en-US" sz="1200" kern="0" spc="-80" dirty="0">
                <a:solidFill>
                  <a:schemeClr val="accent6"/>
                </a:solidFill>
              </a:rPr>
              <a:t>Observing changes in pollution levels or forest cover across different regions over time. </a:t>
            </a:r>
          </a:p>
          <a:p>
            <a:pPr lvl="0" eaLnBrk="0" fontAlgn="base" hangingPunct="0">
              <a:spcBef>
                <a:spcPct val="0"/>
              </a:spcBef>
              <a:spcAft>
                <a:spcPct val="0"/>
              </a:spcAft>
            </a:pPr>
            <a:r>
              <a:rPr lang="en-US" altLang="en-US" sz="1200" kern="0" spc="-80" dirty="0">
                <a:solidFill>
                  <a:schemeClr val="accent2"/>
                </a:solidFill>
              </a:rPr>
              <a:t>Applications and Analysis</a:t>
            </a:r>
          </a:p>
          <a:p>
            <a:pPr lvl="0" eaLnBrk="0" fontAlgn="base" hangingPunct="0">
              <a:spcBef>
                <a:spcPct val="0"/>
              </a:spcBef>
              <a:spcAft>
                <a:spcPct val="0"/>
              </a:spcAft>
              <a:buFontTx/>
              <a:buChar char="•"/>
            </a:pPr>
            <a:r>
              <a:rPr lang="en-US" altLang="en-US" sz="1200" kern="0" spc="-80" dirty="0">
                <a:solidFill>
                  <a:schemeClr val="accent2"/>
                </a:solidFill>
              </a:rPr>
              <a:t>Spatiotemporal Data Mining:</a:t>
            </a:r>
          </a:p>
          <a:p>
            <a:pPr lvl="0" eaLnBrk="0" fontAlgn="base" hangingPunct="0">
              <a:spcBef>
                <a:spcPct val="0"/>
              </a:spcBef>
              <a:spcAft>
                <a:spcPct val="0"/>
              </a:spcAft>
            </a:pPr>
            <a:r>
              <a:rPr lang="en-US" altLang="en-US" sz="1200" kern="0" spc="-80" dirty="0">
                <a:solidFill>
                  <a:schemeClr val="accent6"/>
                </a:solidFill>
              </a:rPr>
              <a:t>Techniques used to find patterns, correlations, and trends within </a:t>
            </a:r>
            <a:r>
              <a:rPr lang="en-US" altLang="en-US" sz="1200" kern="0" spc="-80" dirty="0" err="1">
                <a:solidFill>
                  <a:schemeClr val="accent6"/>
                </a:solidFill>
              </a:rPr>
              <a:t>spatio</a:t>
            </a:r>
            <a:r>
              <a:rPr lang="en-US" altLang="en-US" sz="1200" kern="0" spc="-80" dirty="0">
                <a:solidFill>
                  <a:schemeClr val="accent6"/>
                </a:solidFill>
              </a:rPr>
              <a:t>-temporal datasets. </a:t>
            </a:r>
          </a:p>
          <a:p>
            <a:pPr lvl="0" eaLnBrk="0" fontAlgn="base" hangingPunct="0">
              <a:spcBef>
                <a:spcPct val="0"/>
              </a:spcBef>
              <a:spcAft>
                <a:spcPct val="0"/>
              </a:spcAft>
              <a:buFontTx/>
              <a:buChar char="•"/>
            </a:pPr>
            <a:r>
              <a:rPr lang="en-US" altLang="en-US" sz="1200" kern="0" spc="-80" dirty="0">
                <a:solidFill>
                  <a:schemeClr val="accent2"/>
                </a:solidFill>
              </a:rPr>
              <a:t>Prediction:</a:t>
            </a:r>
          </a:p>
          <a:p>
            <a:pPr lvl="0" eaLnBrk="0" fontAlgn="base" hangingPunct="0">
              <a:spcBef>
                <a:spcPct val="0"/>
              </a:spcBef>
              <a:spcAft>
                <a:spcPct val="0"/>
              </a:spcAft>
            </a:pPr>
            <a:r>
              <a:rPr lang="en-US" altLang="en-US" sz="1200" kern="0" spc="-80" dirty="0">
                <a:solidFill>
                  <a:schemeClr val="accent6"/>
                </a:solidFill>
              </a:rPr>
              <a:t>Using historical </a:t>
            </a:r>
            <a:r>
              <a:rPr lang="en-US" altLang="en-US" sz="1200" kern="0" spc="-80" dirty="0" err="1">
                <a:solidFill>
                  <a:schemeClr val="accent6"/>
                </a:solidFill>
              </a:rPr>
              <a:t>spatio</a:t>
            </a:r>
            <a:r>
              <a:rPr lang="en-US" altLang="en-US" sz="1200" kern="0" spc="-80" dirty="0">
                <a:solidFill>
                  <a:schemeClr val="accent6"/>
                </a:solidFill>
              </a:rPr>
              <a:t>-temporal data to predict future events, such as predicting earthquake risks or weather changes. </a:t>
            </a:r>
          </a:p>
          <a:p>
            <a:pPr lvl="0" eaLnBrk="0" fontAlgn="base" hangingPunct="0">
              <a:spcBef>
                <a:spcPct val="0"/>
              </a:spcBef>
              <a:spcAft>
                <a:spcPct val="0"/>
              </a:spcAft>
              <a:buFontTx/>
              <a:buChar char="•"/>
            </a:pPr>
            <a:r>
              <a:rPr lang="en-US" altLang="en-US" sz="1200" kern="0" spc="-80" dirty="0">
                <a:solidFill>
                  <a:schemeClr val="accent2"/>
                </a:solidFill>
              </a:rPr>
              <a:t>Urban Planning and Traffic Management</a:t>
            </a:r>
            <a:r>
              <a:rPr lang="en-US" altLang="en-US" sz="1200" kern="0" spc="-80" dirty="0">
                <a:solidFill>
                  <a:schemeClr val="accent6"/>
                </a:solidFill>
              </a:rPr>
              <a:t>:</a:t>
            </a:r>
          </a:p>
          <a:p>
            <a:pPr lvl="0" eaLnBrk="0" fontAlgn="base" hangingPunct="0">
              <a:spcBef>
                <a:spcPct val="0"/>
              </a:spcBef>
              <a:spcAft>
                <a:spcPct val="0"/>
              </a:spcAft>
            </a:pPr>
            <a:r>
              <a:rPr lang="en-US" altLang="en-US" sz="1200" kern="0" spc="-80" dirty="0">
                <a:solidFill>
                  <a:schemeClr val="accent6"/>
                </a:solidFill>
              </a:rPr>
              <a:t>Analyzing traffic flow and population movements to optimize infrastructure and services. </a:t>
            </a:r>
          </a:p>
          <a:p>
            <a:pPr lvl="0" eaLnBrk="0" fontAlgn="base" hangingPunct="0">
              <a:spcBef>
                <a:spcPct val="0"/>
              </a:spcBef>
              <a:spcAft>
                <a:spcPct val="0"/>
              </a:spcAft>
              <a:buFontTx/>
              <a:buChar char="•"/>
            </a:pPr>
            <a:r>
              <a:rPr lang="en-US" altLang="en-US" sz="1200" kern="0" spc="-80" dirty="0">
                <a:solidFill>
                  <a:schemeClr val="accent2"/>
                </a:solidFill>
              </a:rPr>
              <a:t>Environmental Science:</a:t>
            </a:r>
          </a:p>
          <a:p>
            <a:pPr lvl="0" eaLnBrk="0" fontAlgn="base" hangingPunct="0">
              <a:spcBef>
                <a:spcPct val="0"/>
              </a:spcBef>
              <a:spcAft>
                <a:spcPct val="0"/>
              </a:spcAft>
            </a:pPr>
            <a:r>
              <a:rPr lang="en-US" altLang="en-US" sz="1200" kern="0" spc="-80" dirty="0">
                <a:solidFill>
                  <a:schemeClr val="accent6"/>
                </a:solidFill>
              </a:rPr>
              <a:t>Studying climate change trends and the spread of ecological changes. </a:t>
            </a:r>
          </a:p>
          <a:p>
            <a:pPr lvl="0" eaLnBrk="0" fontAlgn="base" hangingPunct="0">
              <a:spcBef>
                <a:spcPct val="0"/>
              </a:spcBef>
              <a:spcAft>
                <a:spcPct val="0"/>
              </a:spcAft>
              <a:buFontTx/>
              <a:buChar char="•"/>
            </a:pPr>
            <a:r>
              <a:rPr lang="en-US" altLang="en-US" sz="1200" kern="0" spc="-80" dirty="0">
                <a:solidFill>
                  <a:schemeClr val="accent2"/>
                </a:solidFill>
              </a:rPr>
              <a:t>Geographic Information Systems (GIS):</a:t>
            </a:r>
          </a:p>
          <a:p>
            <a:pPr lvl="0" eaLnBrk="0" fontAlgn="base" hangingPunct="0">
              <a:spcBef>
                <a:spcPct val="0"/>
              </a:spcBef>
              <a:spcAft>
                <a:spcPct val="0"/>
              </a:spcAft>
            </a:pPr>
            <a:r>
              <a:rPr lang="en-US" altLang="en-US" sz="1200" kern="0" spc="-80" dirty="0">
                <a:solidFill>
                  <a:schemeClr val="accent6"/>
                </a:solidFill>
              </a:rPr>
              <a:t>Managing and visualizing </a:t>
            </a:r>
            <a:r>
              <a:rPr lang="en-US" altLang="en-US" sz="1200" kern="0" spc="-80" dirty="0" err="1">
                <a:solidFill>
                  <a:schemeClr val="accent6"/>
                </a:solidFill>
              </a:rPr>
              <a:t>spatio</a:t>
            </a:r>
            <a:r>
              <a:rPr lang="en-US" altLang="en-US" sz="1200" kern="0" spc="-80" dirty="0">
                <a:solidFill>
                  <a:schemeClr val="accent6"/>
                </a:solidFill>
              </a:rPr>
              <a:t>-temporal data for various spatial applications. </a:t>
            </a:r>
          </a:p>
          <a:p>
            <a:pPr marL="12700" marR="5080"/>
            <a:r>
              <a:rPr lang="en-US" altLang="en-US" sz="1200" kern="0" spc="-80" dirty="0">
                <a:solidFill>
                  <a:schemeClr val="accent6"/>
                </a:solidFill>
              </a:rPr>
              <a:t> </a:t>
            </a:r>
            <a:r>
              <a:rPr lang="en-US" altLang="en-US" sz="1200" kern="0" spc="-80" dirty="0">
                <a:solidFill>
                  <a:schemeClr val="accent2"/>
                </a:solidFill>
              </a:rPr>
              <a:t> </a:t>
            </a:r>
            <a:r>
              <a:rPr lang="en-US" sz="1200" kern="0" spc="-80" dirty="0">
                <a:solidFill>
                  <a:schemeClr val="accent2"/>
                </a:solidFill>
              </a:rPr>
              <a:t>Traffic Prediction</a:t>
            </a:r>
            <a:r>
              <a:rPr lang="en-US" sz="1200" kern="0" spc="-80" dirty="0">
                <a:solidFill>
                  <a:schemeClr val="accent6"/>
                </a:solidFill>
              </a:rPr>
              <a:t>: CNN-LSTMs or STGNNs can be used to predict traffic flow based on historical traffic patterns, road network data, and time-of-day information. </a:t>
            </a:r>
          </a:p>
          <a:p>
            <a:pPr marL="12700" marR="5080"/>
            <a:r>
              <a:rPr lang="en-US" sz="1200" kern="0" spc="-80" dirty="0">
                <a:solidFill>
                  <a:schemeClr val="accent6"/>
                </a:solidFill>
              </a:rPr>
              <a:t>   </a:t>
            </a:r>
            <a:r>
              <a:rPr lang="en-US" sz="1200" kern="0" spc="-80" dirty="0">
                <a:solidFill>
                  <a:schemeClr val="accent2"/>
                </a:solidFill>
              </a:rPr>
              <a:t>Disease Outbreak Prediction:</a:t>
            </a:r>
            <a:r>
              <a:rPr lang="en-US" sz="1200" kern="0" spc="-80" dirty="0">
                <a:solidFill>
                  <a:schemeClr val="accent6"/>
                </a:solidFill>
              </a:rPr>
              <a:t> Spatiotemporal statistical models and deep learning techniques can be used to analyze the spread of infectious diseases and predict potential outbreaks. </a:t>
            </a:r>
          </a:p>
          <a:p>
            <a:pPr lvl="0" eaLnBrk="0" fontAlgn="base" hangingPunct="0">
              <a:spcBef>
                <a:spcPct val="0"/>
              </a:spcBef>
              <a:spcAft>
                <a:spcPct val="0"/>
              </a:spcAft>
            </a:pPr>
            <a:endParaRPr lang="en-US" altLang="en-US" sz="1400" kern="0" spc="-80" dirty="0">
              <a:solidFill>
                <a:schemeClr val="accent6"/>
              </a:solidFill>
            </a:endParaRPr>
          </a:p>
        </p:txBody>
      </p:sp>
      <p:sp>
        <p:nvSpPr>
          <p:cNvPr id="6" name="Rectangle 4">
            <a:extLst>
              <a:ext uri="{FF2B5EF4-FFF2-40B4-BE49-F238E27FC236}">
                <a16:creationId xmlns:a16="http://schemas.microsoft.com/office/drawing/2014/main" id="{0F6EB031-FB34-DB96-265B-5AFA6C26E526}"/>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31849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8BBA-3232-973D-B872-2B88FE5D26E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CF19BA-41D0-FE6B-10A6-72193ACBA5A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CA1CE50-76B8-21F2-A9E3-CB4C408E270C}"/>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35221929-A515-A998-B3DA-CB87ADB6A623}"/>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2090019-538F-51C3-E8A3-7C5CD06AD702}"/>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83B50124-C3F2-92DE-BD20-A196750A821A}"/>
              </a:ext>
            </a:extLst>
          </p:cNvPr>
          <p:cNvSpPr txBox="1">
            <a:spLocks/>
          </p:cNvSpPr>
          <p:nvPr/>
        </p:nvSpPr>
        <p:spPr>
          <a:xfrm>
            <a:off x="41725" y="1351999"/>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kern="0" spc="-80" dirty="0">
                <a:solidFill>
                  <a:schemeClr val="accent2"/>
                </a:solidFill>
                <a:cs typeface="+mn-cs"/>
              </a:rPr>
              <a:t>Data Representation and Preprocessing</a:t>
            </a:r>
          </a:p>
          <a:p>
            <a:r>
              <a:rPr lang="en-US" sz="1800" kern="0" spc="-80" dirty="0">
                <a:solidFill>
                  <a:schemeClr val="accent2"/>
                </a:solidFill>
                <a:cs typeface="+mn-cs"/>
              </a:rPr>
              <a:t>Vector and Raster Data:</a:t>
            </a:r>
          </a:p>
          <a:p>
            <a:r>
              <a:rPr lang="en-US" sz="1800" kern="0" spc="-80" dirty="0">
                <a:solidFill>
                  <a:schemeClr val="accent6"/>
                </a:solidFill>
                <a:cs typeface="+mn-cs"/>
              </a:rPr>
              <a:t>Traditional methods for representing spatial information in Geographical Information Systems (GIS). </a:t>
            </a:r>
          </a:p>
          <a:p>
            <a:r>
              <a:rPr lang="en-US" sz="1800" kern="0" spc="-80" dirty="0" err="1">
                <a:solidFill>
                  <a:schemeClr val="accent2"/>
                </a:solidFill>
                <a:cs typeface="+mn-cs"/>
              </a:rPr>
              <a:t>Spatio</a:t>
            </a:r>
            <a:r>
              <a:rPr lang="en-US" sz="1800" kern="0" spc="-80" dirty="0">
                <a:solidFill>
                  <a:schemeClr val="accent2"/>
                </a:solidFill>
                <a:cs typeface="+mn-cs"/>
              </a:rPr>
              <a:t>-Temporal Graphs:</a:t>
            </a:r>
          </a:p>
          <a:p>
            <a:r>
              <a:rPr lang="en-US" sz="1800" kern="0" spc="-80" dirty="0">
                <a:solidFill>
                  <a:schemeClr val="accent6"/>
                </a:solidFill>
                <a:cs typeface="+mn-cs"/>
              </a:rPr>
              <a:t>Used to represent complex systems like transportation networks by converting data into graph structures, which allows for specific algorithm applications. </a:t>
            </a:r>
          </a:p>
          <a:p>
            <a:r>
              <a:rPr lang="en-US" sz="1800" kern="0" spc="-80" dirty="0">
                <a:solidFill>
                  <a:schemeClr val="accent2"/>
                </a:solidFill>
                <a:cs typeface="+mn-cs"/>
              </a:rPr>
              <a:t>Data Preprocessing:</a:t>
            </a:r>
          </a:p>
          <a:p>
            <a:r>
              <a:rPr lang="en-US" sz="1800" kern="0" spc="-80" dirty="0">
                <a:solidFill>
                  <a:schemeClr val="accent6"/>
                </a:solidFill>
                <a:cs typeface="+mn-cs"/>
              </a:rPr>
              <a:t>Includes transforming data to fit statistical assumptions (e.g., normality) and testing for spatial clustering and non-independence. </a:t>
            </a:r>
          </a:p>
          <a:p>
            <a:r>
              <a:rPr lang="en-US" sz="1800" kern="0" spc="-80" dirty="0">
                <a:solidFill>
                  <a:schemeClr val="accent2"/>
                </a:solidFill>
                <a:cs typeface="+mn-cs"/>
              </a:rPr>
              <a:t>Data Fusion:</a:t>
            </a:r>
          </a:p>
          <a:p>
            <a:r>
              <a:rPr lang="en-US" sz="1800" kern="0" spc="-80" dirty="0">
                <a:solidFill>
                  <a:schemeClr val="accent6"/>
                </a:solidFill>
                <a:cs typeface="+mn-cs"/>
              </a:rPr>
              <a:t>The process of integrating data from various sources, like IoT sensors and GIS, to create a unified representation for analysis. </a:t>
            </a:r>
          </a:p>
          <a:p>
            <a:r>
              <a:rPr lang="en-US" sz="1800" kern="0" spc="-80" dirty="0">
                <a:solidFill>
                  <a:schemeClr val="accent2"/>
                </a:solidFill>
              </a:rPr>
              <a:t>Feature Engineering:</a:t>
            </a:r>
            <a:r>
              <a:rPr lang="en-US" sz="1800" kern="0" spc="-80" dirty="0">
                <a:solidFill>
                  <a:schemeClr val="accent6"/>
                </a:solidFill>
              </a:rPr>
              <a:t> Transforming raw data into a format suitable for machine learning algorithms, including selecting relevant spatial and temporal features. </a:t>
            </a:r>
          </a:p>
          <a:p>
            <a:endParaRPr lang="en-US" sz="2000" kern="0" spc="-80" dirty="0">
              <a:solidFill>
                <a:schemeClr val="accent6"/>
              </a:solidFill>
              <a:cs typeface="+mn-cs"/>
            </a:endParaRPr>
          </a:p>
        </p:txBody>
      </p:sp>
      <p:sp>
        <p:nvSpPr>
          <p:cNvPr id="6" name="Rectangle 4">
            <a:extLst>
              <a:ext uri="{FF2B5EF4-FFF2-40B4-BE49-F238E27FC236}">
                <a16:creationId xmlns:a16="http://schemas.microsoft.com/office/drawing/2014/main" id="{7556A3F4-1FCF-C8C5-F53C-37E42EFBD939}"/>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343603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9164-D434-A4EB-F590-B349FDF60B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B7A051C-26F2-58CC-5C30-6120FE9E130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ABDD243-FE59-4C61-8A4D-526E51F7323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8D10937-906B-283F-4018-EEAA22207AA3}"/>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512A11B-9259-3D2F-C696-356C0E142B03}"/>
              </a:ext>
            </a:extLst>
          </p:cNvPr>
          <p:cNvGraphicFramePr/>
          <p:nvPr>
            <p:extLst>
              <p:ext uri="{D42A27DB-BD31-4B8C-83A1-F6EECF244321}">
                <p14:modId xmlns:p14="http://schemas.microsoft.com/office/powerpoint/2010/main" val="3723474535"/>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DF58DB09-F295-0C10-2CC3-E505770E2F09}"/>
              </a:ext>
            </a:extLst>
          </p:cNvPr>
          <p:cNvSpPr txBox="1">
            <a:spLocks/>
          </p:cNvSpPr>
          <p:nvPr/>
        </p:nvSpPr>
        <p:spPr>
          <a:xfrm>
            <a:off x="76201" y="960673"/>
            <a:ext cx="8624937" cy="5015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pPr marL="12700" marR="5080"/>
            <a:r>
              <a:rPr lang="en-US" sz="1330" kern="0" spc="-80" dirty="0" err="1">
                <a:solidFill>
                  <a:schemeClr val="accent6"/>
                </a:solidFill>
                <a:cs typeface="+mn-cs"/>
              </a:rPr>
              <a:t>Spatio</a:t>
            </a:r>
            <a:r>
              <a:rPr lang="en-US" sz="1330" kern="0" spc="-80" dirty="0">
                <a:solidFill>
                  <a:schemeClr val="accent6"/>
                </a:solidFill>
                <a:cs typeface="+mn-cs"/>
              </a:rPr>
              <a:t>-temporal problems, involving both spatial and temporal dimensions, can be addressed using a variety of techniques, including deep learning models, statistical methods, and specialized algorithms. These techniques aim to capture and analyze the complex interactions and dependencies between spatial locations and time, often leading to improved predictions, pattern recognition, and understanding of dynamic phenomena. </a:t>
            </a:r>
          </a:p>
          <a:p>
            <a:pPr marL="12700" marR="5080"/>
            <a:r>
              <a:rPr lang="en-US" sz="1330" kern="0" spc="-80" dirty="0">
                <a:solidFill>
                  <a:schemeClr val="accent2"/>
                </a:solidFill>
                <a:cs typeface="+mn-cs"/>
              </a:rPr>
              <a:t>Deep Learning Approaches: </a:t>
            </a:r>
          </a:p>
          <a:p>
            <a:pPr marL="12700" marR="5080"/>
            <a:r>
              <a:rPr lang="en-US" sz="1330" kern="0" spc="-80" dirty="0">
                <a:solidFill>
                  <a:schemeClr val="accent2"/>
                </a:solidFill>
                <a:cs typeface="+mn-cs"/>
              </a:rPr>
              <a:t>Convolutional Neural Networks (CNNs): </a:t>
            </a:r>
            <a:r>
              <a:rPr lang="en-US" sz="1330" kern="0" spc="-80" dirty="0">
                <a:solidFill>
                  <a:schemeClr val="accent6"/>
                </a:solidFill>
                <a:cs typeface="+mn-cs"/>
              </a:rPr>
              <a:t>Effective for extracting spatial features from data, like image-like representations or grids. </a:t>
            </a:r>
          </a:p>
          <a:p>
            <a:pPr marL="12700" marR="5080"/>
            <a:r>
              <a:rPr lang="en-US" sz="1330" kern="0" spc="-80" dirty="0">
                <a:solidFill>
                  <a:schemeClr val="accent2"/>
                </a:solidFill>
                <a:cs typeface="+mn-cs"/>
              </a:rPr>
              <a:t>Recurrent Neural Networks (RNNs) and Long Short-Term Memory (LSTM): </a:t>
            </a:r>
            <a:r>
              <a:rPr lang="en-US" sz="1330" kern="0" spc="-80" dirty="0">
                <a:solidFill>
                  <a:schemeClr val="accent6"/>
                </a:solidFill>
                <a:cs typeface="+mn-cs"/>
              </a:rPr>
              <a:t>Well-suited for capturing temporal dependencies and sequential patterns in time series data. </a:t>
            </a:r>
          </a:p>
          <a:p>
            <a:pPr marL="12700" marR="5080"/>
            <a:r>
              <a:rPr lang="en-US" sz="1330" kern="0" spc="-80" dirty="0">
                <a:solidFill>
                  <a:schemeClr val="accent2"/>
                </a:solidFill>
                <a:cs typeface="+mn-cs"/>
              </a:rPr>
              <a:t>CNN-LSTMs: </a:t>
            </a:r>
            <a:r>
              <a:rPr lang="en-US" sz="1330" kern="0" spc="-80" dirty="0">
                <a:solidFill>
                  <a:schemeClr val="accent6"/>
                </a:solidFill>
                <a:cs typeface="+mn-cs"/>
              </a:rPr>
              <a:t>Combine CNNs for spatial feature extraction with LSTMs for temporal analysis, offering a powerful framework for learning </a:t>
            </a:r>
            <a:r>
              <a:rPr lang="en-US" sz="1330" kern="0" spc="-80" dirty="0" err="1">
                <a:solidFill>
                  <a:schemeClr val="accent6"/>
                </a:solidFill>
                <a:cs typeface="+mn-cs"/>
              </a:rPr>
              <a:t>spatio</a:t>
            </a:r>
            <a:r>
              <a:rPr lang="en-US" sz="1330" kern="0" spc="-80" dirty="0">
                <a:solidFill>
                  <a:schemeClr val="accent6"/>
                </a:solidFill>
                <a:cs typeface="+mn-cs"/>
              </a:rPr>
              <a:t>-temporal patterns. </a:t>
            </a:r>
          </a:p>
          <a:p>
            <a:pPr marL="12700" marR="5080"/>
            <a:r>
              <a:rPr lang="en-US" sz="1330" kern="0" spc="-80" dirty="0">
                <a:solidFill>
                  <a:schemeClr val="accent2"/>
                </a:solidFill>
                <a:cs typeface="+mn-cs"/>
              </a:rPr>
              <a:t>Spatiotemporal Graph Neural Networks (STGNNs): </a:t>
            </a:r>
            <a:r>
              <a:rPr lang="en-US" sz="1330" kern="0" spc="-80" dirty="0">
                <a:solidFill>
                  <a:schemeClr val="accent6"/>
                </a:solidFill>
                <a:cs typeface="+mn-cs"/>
              </a:rPr>
              <a:t>Leverage graph structures to represent relationships between spatial locations and capture temporal dynamics. </a:t>
            </a:r>
          </a:p>
          <a:p>
            <a:r>
              <a:rPr lang="en-IN" sz="1330" kern="0" spc="-80" dirty="0">
                <a:solidFill>
                  <a:schemeClr val="accent2"/>
                </a:solidFill>
                <a:cs typeface="+mn-cs"/>
              </a:rPr>
              <a:t>Statistical and Physics-Inspired Models </a:t>
            </a:r>
          </a:p>
          <a:p>
            <a:r>
              <a:rPr lang="en-IN" sz="1330" kern="0" spc="-80" dirty="0">
                <a:solidFill>
                  <a:schemeClr val="accent2"/>
                </a:solidFill>
                <a:cs typeface="+mn-cs"/>
                <a:hlinkClick r:id="rId7">
                  <a:extLst>
                    <a:ext uri="{A12FA001-AC4F-418D-AE19-62706E023703}">
                      <ahyp:hlinkClr xmlns:ahyp="http://schemas.microsoft.com/office/drawing/2018/hyperlinkcolor" val="tx"/>
                    </a:ext>
                  </a:extLst>
                </a:hlinkClick>
              </a:rPr>
              <a:t>Spatiotemporal Point Processes</a:t>
            </a:r>
            <a:r>
              <a:rPr lang="en-IN" sz="1330" kern="0" spc="-80" dirty="0">
                <a:solidFill>
                  <a:schemeClr val="accent2"/>
                </a:solidFill>
                <a:cs typeface="+mn-cs"/>
              </a:rPr>
              <a:t>:</a:t>
            </a:r>
          </a:p>
          <a:p>
            <a:r>
              <a:rPr lang="en-IN" sz="1330" kern="0" spc="-80" dirty="0">
                <a:solidFill>
                  <a:schemeClr val="accent6"/>
                </a:solidFill>
                <a:cs typeface="+mn-cs"/>
              </a:rPr>
              <a:t>Generalize spatial point processes to include time, useful for </a:t>
            </a:r>
            <a:r>
              <a:rPr lang="en-IN" sz="1330" kern="0" spc="-80" dirty="0" err="1">
                <a:solidFill>
                  <a:schemeClr val="accent6"/>
                </a:solidFill>
                <a:cs typeface="+mn-cs"/>
              </a:rPr>
              <a:t>analyzing</a:t>
            </a:r>
            <a:r>
              <a:rPr lang="en-IN" sz="1330" kern="0" spc="-80" dirty="0">
                <a:solidFill>
                  <a:schemeClr val="accent6"/>
                </a:solidFill>
                <a:cs typeface="+mn-cs"/>
              </a:rPr>
              <a:t> events that occur at specific locations and moments.</a:t>
            </a:r>
          </a:p>
          <a:p>
            <a:r>
              <a:rPr lang="en-IN" sz="1330" kern="0" spc="-80" dirty="0">
                <a:solidFill>
                  <a:schemeClr val="accent2"/>
                </a:solidFill>
                <a:cs typeface="+mn-cs"/>
              </a:rPr>
              <a:t>Hierarchical Dynamic Spatiotemporal Models (DSMs):</a:t>
            </a:r>
          </a:p>
          <a:p>
            <a:r>
              <a:rPr lang="en-IN" sz="1330" kern="0" spc="-80" dirty="0">
                <a:solidFill>
                  <a:schemeClr val="accent6"/>
                </a:solidFill>
                <a:cs typeface="+mn-cs"/>
              </a:rPr>
              <a:t>These include techniques like Kalman filtering, used for data assimilation and </a:t>
            </a:r>
            <a:r>
              <a:rPr lang="en-IN" sz="1330" kern="0" spc="-80" dirty="0" err="1">
                <a:solidFill>
                  <a:schemeClr val="accent6"/>
                </a:solidFill>
                <a:cs typeface="+mn-cs"/>
              </a:rPr>
              <a:t>modeling</a:t>
            </a:r>
            <a:r>
              <a:rPr lang="en-IN" sz="1330" kern="0" spc="-80" dirty="0">
                <a:solidFill>
                  <a:schemeClr val="accent6"/>
                </a:solidFill>
                <a:cs typeface="+mn-cs"/>
              </a:rPr>
              <a:t> dynamic processes.</a:t>
            </a:r>
          </a:p>
          <a:p>
            <a:r>
              <a:rPr lang="en-IN" sz="1330" kern="0" spc="-80" dirty="0" err="1">
                <a:solidFill>
                  <a:schemeClr val="accent2"/>
                </a:solidFill>
                <a:cs typeface="+mn-cs"/>
                <a:hlinkClick r:id="rId8">
                  <a:extLst>
                    <a:ext uri="{A12FA001-AC4F-418D-AE19-62706E023703}">
                      <ahyp:hlinkClr xmlns:ahyp="http://schemas.microsoft.com/office/drawing/2018/hyperlinkcolor" val="tx"/>
                    </a:ext>
                  </a:extLst>
                </a:hlinkClick>
              </a:rPr>
              <a:t>Spatio</a:t>
            </a:r>
            <a:r>
              <a:rPr lang="en-IN" sz="1330" kern="0" spc="-80" dirty="0">
                <a:solidFill>
                  <a:schemeClr val="accent2"/>
                </a:solidFill>
                <a:cs typeface="+mn-cs"/>
                <a:hlinkClick r:id="rId8">
                  <a:extLst>
                    <a:ext uri="{A12FA001-AC4F-418D-AE19-62706E023703}">
                      <ahyp:hlinkClr xmlns:ahyp="http://schemas.microsoft.com/office/drawing/2018/hyperlinkcolor" val="tx"/>
                    </a:ext>
                  </a:extLst>
                </a:hlinkClick>
              </a:rPr>
              <a:t>-Temporal Autoregressive Regression (STAR) Models</a:t>
            </a:r>
            <a:r>
              <a:rPr lang="en-IN" sz="1330" kern="0" spc="-80" dirty="0">
                <a:solidFill>
                  <a:schemeClr val="accent2"/>
                </a:solidFill>
                <a:cs typeface="+mn-cs"/>
              </a:rPr>
              <a:t>:</a:t>
            </a:r>
          </a:p>
          <a:p>
            <a:r>
              <a:rPr lang="en-IN" sz="1330" kern="0" spc="-80" dirty="0">
                <a:solidFill>
                  <a:schemeClr val="accent6"/>
                </a:solidFill>
                <a:cs typeface="+mn-cs"/>
              </a:rPr>
              <a:t>These models account for both spatial and temporal autocorrelation in time series data, especially for lattice-based data.</a:t>
            </a:r>
          </a:p>
        </p:txBody>
      </p:sp>
    </p:spTree>
    <p:extLst>
      <p:ext uri="{BB962C8B-B14F-4D97-AF65-F5344CB8AC3E}">
        <p14:creationId xmlns:p14="http://schemas.microsoft.com/office/powerpoint/2010/main" val="58961706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D5507-C68D-677F-AA63-829F3B459E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72BA675-B713-8BB7-7A1E-A2E9C577EB1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83ED74A-AC05-DB1E-65AE-1D8B1EAC064A}"/>
              </a:ext>
            </a:extLst>
          </p:cNvPr>
          <p:cNvSpPr/>
          <p:nvPr/>
        </p:nvSpPr>
        <p:spPr>
          <a:xfrm>
            <a:off x="1661159" y="100024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78FC8A8-5CA4-C84E-2E21-35B488973ED9}"/>
              </a:ext>
            </a:extLst>
          </p:cNvPr>
          <p:cNvSpPr/>
          <p:nvPr/>
        </p:nvSpPr>
        <p:spPr>
          <a:xfrm>
            <a:off x="1661159" y="82181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CC157CD-AC5A-200E-075A-BE657E7278DC}"/>
              </a:ext>
            </a:extLst>
          </p:cNvPr>
          <p:cNvGraphicFramePr/>
          <p:nvPr>
            <p:extLst>
              <p:ext uri="{D42A27DB-BD31-4B8C-83A1-F6EECF244321}">
                <p14:modId xmlns:p14="http://schemas.microsoft.com/office/powerpoint/2010/main" val="206145974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C5406575-BE35-01E7-35E2-1D02410F3C94}"/>
              </a:ext>
            </a:extLst>
          </p:cNvPr>
          <p:cNvSpPr txBox="1">
            <a:spLocks/>
          </p:cNvSpPr>
          <p:nvPr/>
        </p:nvSpPr>
        <p:spPr>
          <a:xfrm>
            <a:off x="81281" y="821810"/>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000" kern="0" spc="-220" dirty="0">
              <a:solidFill>
                <a:schemeClr val="accent2"/>
              </a:solidFill>
            </a:endParaRPr>
          </a:p>
          <a:p>
            <a:r>
              <a:rPr lang="en-IN" sz="1300" kern="0" spc="-80" dirty="0">
                <a:solidFill>
                  <a:schemeClr val="accent2"/>
                </a:solidFill>
              </a:rPr>
              <a:t>Physics-Inspired Models:</a:t>
            </a:r>
          </a:p>
          <a:p>
            <a:r>
              <a:rPr lang="en-IN" sz="1300" kern="0" spc="-80" dirty="0">
                <a:solidFill>
                  <a:schemeClr val="accent6"/>
                </a:solidFill>
              </a:rPr>
              <a:t>Models derived from physical principles, such as </a:t>
            </a:r>
            <a:r>
              <a:rPr lang="en-IN" sz="1300" kern="0" spc="-80" dirty="0">
                <a:solidFill>
                  <a:schemeClr val="accent6"/>
                </a:solidFill>
                <a:hlinkClick r:id="rId7">
                  <a:extLst>
                    <a:ext uri="{A12FA001-AC4F-418D-AE19-62706E023703}">
                      <ahyp:hlinkClr xmlns:ahyp="http://schemas.microsoft.com/office/drawing/2018/hyperlinkcolor" val="tx"/>
                    </a:ext>
                  </a:extLst>
                </a:hlinkClick>
              </a:rPr>
              <a:t>stochastic differential equations</a:t>
            </a:r>
            <a:r>
              <a:rPr lang="en-IN" sz="1300" kern="0" spc="-80" dirty="0">
                <a:solidFill>
                  <a:schemeClr val="accent6"/>
                </a:solidFill>
              </a:rPr>
              <a:t>, can capture complex </a:t>
            </a:r>
            <a:r>
              <a:rPr lang="en-IN" sz="1300" kern="0" spc="-80" dirty="0" err="1">
                <a:solidFill>
                  <a:schemeClr val="accent6"/>
                </a:solidFill>
              </a:rPr>
              <a:t>spatio</a:t>
            </a:r>
            <a:r>
              <a:rPr lang="en-IN" sz="1300" kern="0" spc="-80" dirty="0">
                <a:solidFill>
                  <a:schemeClr val="accent6"/>
                </a:solidFill>
              </a:rPr>
              <a:t>-temporal processes</a:t>
            </a:r>
            <a:r>
              <a:rPr lang="en-IN" sz="1300" b="0" dirty="0"/>
              <a:t>.</a:t>
            </a:r>
          </a:p>
          <a:p>
            <a:pPr marL="12700" marR="5080"/>
            <a:r>
              <a:rPr lang="en-US" sz="1300" kern="0" spc="-80" dirty="0">
                <a:solidFill>
                  <a:schemeClr val="accent2"/>
                </a:solidFill>
                <a:cs typeface="+mn-cs"/>
              </a:rPr>
              <a:t>Specialized Algorithms:</a:t>
            </a:r>
          </a:p>
          <a:p>
            <a:pPr marL="12700" marR="5080"/>
            <a:r>
              <a:rPr lang="en-US" sz="1300" kern="0" spc="-80" dirty="0">
                <a:solidFill>
                  <a:schemeClr val="accent6"/>
                </a:solidFill>
                <a:cs typeface="+mn-cs"/>
              </a:rPr>
              <a:t>Spatiotemporal k Nearest Neighbors Test: Evaluates the clustering of data points based on their proximity in both space and time. </a:t>
            </a: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endParaRPr lang="en-US" sz="1400" kern="0" spc="-220" dirty="0">
              <a:solidFill>
                <a:schemeClr val="accent2"/>
              </a:solidFill>
            </a:endParaRPr>
          </a:p>
          <a:p>
            <a:pPr marL="12700" marR="5080"/>
            <a:r>
              <a:rPr lang="en-US" sz="1400" kern="0" spc="-220" dirty="0">
                <a:solidFill>
                  <a:schemeClr val="accent2"/>
                </a:solidFill>
              </a:rPr>
              <a:t>For Further Exploration</a:t>
            </a:r>
          </a:p>
          <a:p>
            <a:pPr marL="12700" marR="5080"/>
            <a:r>
              <a:rPr lang="en-US" sz="1400" dirty="0" err="1">
                <a:hlinkClick r:id="rId8"/>
              </a:rPr>
              <a:t>Spatio</a:t>
            </a:r>
            <a:r>
              <a:rPr lang="en-US" sz="1400" dirty="0">
                <a:hlinkClick r:id="rId8"/>
              </a:rPr>
              <a:t>-temporal Networks: Modeling and Algorithms | SpringerLink</a:t>
            </a:r>
            <a:endParaRPr lang="en-US" sz="1400" dirty="0"/>
          </a:p>
          <a:p>
            <a:pPr marL="12700" marR="5080"/>
            <a:r>
              <a:rPr lang="en-US" sz="1400" dirty="0">
                <a:hlinkClick r:id="rId9"/>
              </a:rPr>
              <a:t>IOS Press </a:t>
            </a:r>
            <a:r>
              <a:rPr lang="en-US" sz="1400" dirty="0" err="1">
                <a:hlinkClick r:id="rId9"/>
              </a:rPr>
              <a:t>Ebooks</a:t>
            </a:r>
            <a:r>
              <a:rPr lang="en-US" sz="1400" dirty="0">
                <a:hlinkClick r:id="rId9"/>
              </a:rPr>
              <a:t> - Chapter 19. Neuro-Symbolic </a:t>
            </a:r>
            <a:r>
              <a:rPr lang="en-US" sz="1400" dirty="0" err="1">
                <a:hlinkClick r:id="rId9"/>
              </a:rPr>
              <a:t>Spatio</a:t>
            </a:r>
            <a:r>
              <a:rPr lang="en-US" sz="1400" dirty="0">
                <a:hlinkClick r:id="rId9"/>
              </a:rPr>
              <a:t>-Temporal Reasoning</a:t>
            </a:r>
            <a:endParaRPr lang="en-US" sz="1400" dirty="0"/>
          </a:p>
          <a:p>
            <a:pPr marL="12700" marR="5080"/>
            <a:r>
              <a:rPr lang="en-IN" sz="1400" dirty="0">
                <a:hlinkClick r:id="rId10"/>
              </a:rPr>
              <a:t>Introduction to Spatiotemporal Data</a:t>
            </a:r>
            <a:endParaRPr lang="en-IN" sz="1400" dirty="0"/>
          </a:p>
          <a:p>
            <a:pPr marL="12700" marR="5080"/>
            <a:r>
              <a:rPr lang="en-IN" sz="1400" dirty="0" err="1">
                <a:hlinkClick r:id="rId11"/>
              </a:rPr>
              <a:t>Spatio</a:t>
            </a:r>
            <a:r>
              <a:rPr lang="en-IN" sz="1400" dirty="0">
                <a:hlinkClick r:id="rId11"/>
              </a:rPr>
              <a:t>-Temporal Statistics with R</a:t>
            </a:r>
            <a:endParaRPr lang="en-US" sz="1400" dirty="0"/>
          </a:p>
          <a:p>
            <a:pPr marL="12700" marR="5080"/>
            <a:endParaRPr lang="en-US" sz="1400" kern="0" spc="-80" dirty="0">
              <a:solidFill>
                <a:schemeClr val="accent6"/>
              </a:solidFill>
              <a:cs typeface="+mn-cs"/>
            </a:endParaRPr>
          </a:p>
        </p:txBody>
      </p:sp>
    </p:spTree>
    <p:extLst>
      <p:ext uri="{BB962C8B-B14F-4D97-AF65-F5344CB8AC3E}">
        <p14:creationId xmlns:p14="http://schemas.microsoft.com/office/powerpoint/2010/main" val="141463776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31B4-727C-93E5-BFD5-F68599D3F1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4328BFF-EFC4-04B6-B71B-3DFD303ACE3E}"/>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CC3EB41-0928-3EF4-E8B6-44A0867B3321}"/>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A0E392-3D87-E9D7-1313-F7A9393296C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51A6A39-8F2E-F151-6BA4-130658C7E8A7}"/>
              </a:ext>
            </a:extLst>
          </p:cNvPr>
          <p:cNvSpPr txBox="1">
            <a:spLocks/>
          </p:cNvSpPr>
          <p:nvPr/>
        </p:nvSpPr>
        <p:spPr>
          <a:xfrm>
            <a:off x="212857" y="1292421"/>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00" kern="0" spc="-80" dirty="0">
                <a:solidFill>
                  <a:schemeClr val="accent6"/>
                </a:solidFill>
                <a:cs typeface="+mn-cs"/>
              </a:rPr>
              <a:t>Streaming, incremental, and online learning are closely related machine learning paradigms focused on handling continuous data streams and adapting models in real-time or near real-time. Online learning, sometimes referred to as incremental learning, processes data sequentially, updating the model with each incoming data point or batch of data. This contrasts with traditional batch learning, which processes the entire dataset at once. </a:t>
            </a:r>
          </a:p>
          <a:p>
            <a:pPr marL="12700" marR="5080"/>
            <a:r>
              <a:rPr lang="en-US" sz="1100" kern="0" spc="-80" dirty="0">
                <a:solidFill>
                  <a:schemeClr val="accent6"/>
                </a:solidFill>
                <a:cs typeface="+mn-cs"/>
              </a:rPr>
              <a:t>Here's a breakdown:</a:t>
            </a:r>
          </a:p>
          <a:p>
            <a:pPr marL="12700" marR="5080"/>
            <a:r>
              <a:rPr lang="en-US" sz="1100" kern="0" spc="-80" dirty="0">
                <a:solidFill>
                  <a:schemeClr val="accent2"/>
                </a:solidFill>
                <a:cs typeface="+mn-cs"/>
              </a:rPr>
              <a:t>Streaming Data: </a:t>
            </a:r>
            <a:r>
              <a:rPr lang="en-US" sz="1100" kern="0" spc="-80" dirty="0">
                <a:solidFill>
                  <a:schemeClr val="accent6"/>
                </a:solidFill>
                <a:cs typeface="+mn-cs"/>
              </a:rPr>
              <a:t>Streaming data refers to a continuous flow of data that arrives over time, often in real-time or near real-time. </a:t>
            </a:r>
          </a:p>
          <a:p>
            <a:pPr marL="12700" marR="5080"/>
            <a:r>
              <a:rPr lang="en-US" sz="1100" kern="0" spc="-80" dirty="0">
                <a:solidFill>
                  <a:schemeClr val="accent6"/>
                </a:solidFill>
                <a:cs typeface="+mn-cs"/>
              </a:rPr>
              <a:t>Examples include sensor readings, social media feeds, stock market data, and customer interactions. </a:t>
            </a:r>
          </a:p>
          <a:p>
            <a:pPr marL="12700" marR="5080"/>
            <a:r>
              <a:rPr lang="en-US" sz="1100" kern="0" spc="-80" dirty="0">
                <a:solidFill>
                  <a:schemeClr val="accent6"/>
                </a:solidFill>
                <a:cs typeface="+mn-cs"/>
              </a:rPr>
              <a:t>Streaming data is a key characteristic of online and incremental learning. </a:t>
            </a:r>
          </a:p>
          <a:p>
            <a:pPr marL="12700" marR="5080"/>
            <a:r>
              <a:rPr lang="en-US" sz="1100" kern="0" spc="-80" dirty="0">
                <a:solidFill>
                  <a:schemeClr val="accent2"/>
                </a:solidFill>
                <a:cs typeface="+mn-cs"/>
              </a:rPr>
              <a:t>Incremental/Online Learning:</a:t>
            </a:r>
          </a:p>
          <a:p>
            <a:pPr marL="12700" marR="5080"/>
            <a:r>
              <a:rPr lang="en-US" sz="1100" kern="0" spc="-80" dirty="0">
                <a:solidFill>
                  <a:schemeClr val="accent6"/>
                </a:solidFill>
                <a:cs typeface="+mn-cs"/>
              </a:rPr>
              <a:t>Incremental learning: (also known as online learning) is a machine learning paradigm where the model is updated as new data arrives. </a:t>
            </a:r>
          </a:p>
          <a:p>
            <a:pPr marL="12700" marR="5080"/>
            <a:r>
              <a:rPr lang="en-US" sz="1100" kern="0" spc="-80" dirty="0">
                <a:solidFill>
                  <a:schemeClr val="accent6"/>
                </a:solidFill>
                <a:cs typeface="+mn-cs"/>
              </a:rPr>
              <a:t>This contrasts with batch learning, where the model is trained on the entire dataset at once. </a:t>
            </a:r>
          </a:p>
          <a:p>
            <a:pPr marL="12700" marR="5080"/>
            <a:r>
              <a:rPr lang="en-US" sz="1100" kern="0" spc="-80" dirty="0">
                <a:solidFill>
                  <a:schemeClr val="accent6"/>
                </a:solidFill>
                <a:cs typeface="+mn-cs"/>
              </a:rPr>
              <a:t>Online learning: allows the model to adapt to changing data distributions and learn from new information in real-time. </a:t>
            </a:r>
          </a:p>
          <a:p>
            <a:pPr marL="12700" marR="5080"/>
            <a:r>
              <a:rPr lang="en-US" sz="1100" kern="0" spc="-80" dirty="0">
                <a:solidFill>
                  <a:schemeClr val="accent2"/>
                </a:solidFill>
                <a:cs typeface="+mn-cs"/>
              </a:rPr>
              <a:t>Key Differences and Relationships:</a:t>
            </a:r>
          </a:p>
          <a:p>
            <a:pPr marL="12700" marR="5080"/>
            <a:r>
              <a:rPr lang="en-US" sz="1100" kern="0" spc="-80" dirty="0">
                <a:solidFill>
                  <a:schemeClr val="accent6"/>
                </a:solidFill>
                <a:cs typeface="+mn-cs"/>
              </a:rPr>
              <a:t>Online learning focuses on real-time processing and continuous updates. It processes data sequentially and updates the model with each incoming data point or batch of </a:t>
            </a:r>
            <a:r>
              <a:rPr lang="en-US" sz="1100" kern="0" spc="-80" dirty="0" err="1">
                <a:solidFill>
                  <a:schemeClr val="accent6"/>
                </a:solidFill>
                <a:cs typeface="+mn-cs"/>
              </a:rPr>
              <a:t>data.Incremental</a:t>
            </a:r>
            <a:r>
              <a:rPr lang="en-US" sz="1100" kern="0" spc="-80" dirty="0">
                <a:solidFill>
                  <a:schemeClr val="accent6"/>
                </a:solidFill>
                <a:cs typeface="+mn-cs"/>
              </a:rPr>
              <a:t> learning focuses on updating and retaining knowledge from previous data. It can process data in batches and learn from these </a:t>
            </a:r>
            <a:r>
              <a:rPr lang="en-US" sz="1100" kern="0" spc="-80" dirty="0" err="1">
                <a:solidFill>
                  <a:schemeClr val="accent6"/>
                </a:solidFill>
                <a:cs typeface="+mn-cs"/>
              </a:rPr>
              <a:t>batches.Online</a:t>
            </a:r>
            <a:r>
              <a:rPr lang="en-US" sz="1100" kern="0" spc="-80" dirty="0">
                <a:solidFill>
                  <a:schemeClr val="accent6"/>
                </a:solidFill>
                <a:cs typeface="+mn-cs"/>
              </a:rPr>
              <a:t> learning can be seen as a specific type of incremental learning, where data is processed sequentially, one piece at a time.</a:t>
            </a:r>
          </a:p>
          <a:p>
            <a:pPr marL="12700" marR="5080"/>
            <a:r>
              <a:rPr lang="en-US" sz="1100" kern="0" spc="-80" dirty="0">
                <a:solidFill>
                  <a:schemeClr val="accent6"/>
                </a:solidFill>
                <a:cs typeface="+mn-cs"/>
              </a:rPr>
              <a:t>Incremental-online learning combines the best aspects of both approaches. It incrementally updates the model while adapting to a continuous stream of data in real-time. </a:t>
            </a:r>
          </a:p>
          <a:p>
            <a:pPr marL="12700" marR="5080"/>
            <a:r>
              <a:rPr lang="en-US" sz="1100" kern="0" spc="-80" dirty="0">
                <a:solidFill>
                  <a:schemeClr val="accent2"/>
                </a:solidFill>
                <a:cs typeface="+mn-cs"/>
              </a:rPr>
              <a:t>Use Cases:</a:t>
            </a:r>
          </a:p>
          <a:p>
            <a:pPr marL="12700" marR="5080"/>
            <a:r>
              <a:rPr lang="en-US" sz="1100" kern="0" spc="-80" dirty="0">
                <a:solidFill>
                  <a:schemeClr val="accent2"/>
                </a:solidFill>
                <a:cs typeface="+mn-cs"/>
              </a:rPr>
              <a:t>Real-time fraud detection</a:t>
            </a:r>
            <a:r>
              <a:rPr lang="en-US" sz="1100" kern="0" spc="-80" dirty="0">
                <a:solidFill>
                  <a:schemeClr val="accent6"/>
                </a:solidFill>
                <a:cs typeface="+mn-cs"/>
              </a:rPr>
              <a:t>: Online learning algorithms can continuously learn from new transaction data to identify fraudulent patterns. </a:t>
            </a:r>
          </a:p>
          <a:p>
            <a:pPr marL="12700" marR="5080"/>
            <a:r>
              <a:rPr lang="en-US" sz="1100" kern="0" spc="-80" dirty="0">
                <a:solidFill>
                  <a:schemeClr val="accent2"/>
                </a:solidFill>
                <a:cs typeface="+mn-cs"/>
              </a:rPr>
              <a:t>Recommendation systems</a:t>
            </a:r>
            <a:r>
              <a:rPr lang="en-US" sz="1100" kern="0" spc="-80" dirty="0">
                <a:solidFill>
                  <a:schemeClr val="accent6"/>
                </a:solidFill>
                <a:cs typeface="+mn-cs"/>
              </a:rPr>
              <a:t>: Online learning models can adapt to changing user preferences and provide personalized recommendations. </a:t>
            </a:r>
          </a:p>
          <a:p>
            <a:pPr marL="12700" marR="5080"/>
            <a:r>
              <a:rPr lang="en-US" sz="1100" kern="0" spc="-80" dirty="0">
                <a:solidFill>
                  <a:schemeClr val="accent2"/>
                </a:solidFill>
                <a:cs typeface="+mn-cs"/>
              </a:rPr>
              <a:t>Stock price forecasting:</a:t>
            </a:r>
            <a:r>
              <a:rPr lang="en-US" sz="1100" kern="0" spc="-80" dirty="0">
                <a:solidFill>
                  <a:schemeClr val="accent6"/>
                </a:solidFill>
                <a:cs typeface="+mn-cs"/>
              </a:rPr>
              <a:t> Online learning algorithms can continuously refine predictions based on the latest market data. </a:t>
            </a:r>
          </a:p>
          <a:p>
            <a:pPr marL="12700" marR="5080"/>
            <a:r>
              <a:rPr lang="en-US" sz="1100" kern="0" spc="-80" dirty="0">
                <a:solidFill>
                  <a:schemeClr val="accent2"/>
                </a:solidFill>
                <a:cs typeface="+mn-cs"/>
              </a:rPr>
              <a:t>Weather forecasting:</a:t>
            </a:r>
            <a:r>
              <a:rPr lang="en-US" sz="1100" kern="0" spc="-80" dirty="0">
                <a:solidFill>
                  <a:schemeClr val="accent6"/>
                </a:solidFill>
                <a:cs typeface="+mn-cs"/>
              </a:rPr>
              <a:t> Online learning models can adapt to changing weather conditions and provide accurate forecasts. </a:t>
            </a:r>
          </a:p>
          <a:p>
            <a:pPr marL="12700" marR="5080"/>
            <a:r>
              <a:rPr lang="en-US" sz="1100" kern="0" spc="-80" dirty="0">
                <a:solidFill>
                  <a:schemeClr val="accent6"/>
                </a:solidFill>
                <a:cs typeface="+mn-cs"/>
              </a:rPr>
              <a:t>In summary, streaming data provides the context, while online and incremental learning offer the techniques to handle and adapt to this dynamic data stream.. </a:t>
            </a:r>
          </a:p>
        </p:txBody>
      </p:sp>
    </p:spTree>
    <p:extLst>
      <p:ext uri="{BB962C8B-B14F-4D97-AF65-F5344CB8AC3E}">
        <p14:creationId xmlns:p14="http://schemas.microsoft.com/office/powerpoint/2010/main" val="376394052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0030D-156B-7940-6E5C-7F512185AF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8B4856-D152-8E8E-79ED-39DBA0EA484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1ACD155-60F3-36F9-8DAD-62BF448378F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5C70133-EA9A-8A66-C0C8-108E506FC4C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A1F0BC1-6744-15F2-485A-2E110CF61D06}"/>
              </a:ext>
            </a:extLst>
          </p:cNvPr>
          <p:cNvSpPr txBox="1">
            <a:spLocks/>
          </p:cNvSpPr>
          <p:nvPr/>
        </p:nvSpPr>
        <p:spPr>
          <a:xfrm>
            <a:off x="51886" y="1335165"/>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a:t>
            </a:r>
          </a:p>
          <a:p>
            <a:pPr marL="12700" marR="5080"/>
            <a:r>
              <a:rPr lang="en-IN" sz="2000" dirty="0">
                <a:hlinkClick r:id="rId7"/>
              </a:rPr>
              <a:t>From Batch to Real-time ML </a:t>
            </a:r>
            <a:endParaRPr lang="en-IN" sz="2000" dirty="0"/>
          </a:p>
          <a:p>
            <a:pPr marL="12700" marR="5080"/>
            <a:r>
              <a:rPr lang="en-US" sz="2000" dirty="0">
                <a:hlinkClick r:id="rId8"/>
              </a:rPr>
              <a:t>Welcome to Event Streaming Patterns</a:t>
            </a:r>
            <a:endParaRPr lang="en-US" sz="2000" dirty="0"/>
          </a:p>
          <a:p>
            <a:pPr marL="12700" marR="5080"/>
            <a:r>
              <a:rPr lang="en-IN" sz="2000" dirty="0">
                <a:hlinkClick r:id="rId9"/>
              </a:rPr>
              <a:t>Online machine learning</a:t>
            </a:r>
            <a:endParaRPr lang="en-IN" sz="2000" dirty="0"/>
          </a:p>
          <a:p>
            <a:pPr marL="12700" marR="5080"/>
            <a:r>
              <a:rPr lang="en-US" sz="2000" dirty="0">
                <a:hlinkClick r:id="rId10"/>
              </a:rPr>
              <a:t>Practical-ML-Streaming-Data</a:t>
            </a:r>
            <a:endParaRPr lang="en-US" sz="2000" dirty="0"/>
          </a:p>
          <a:p>
            <a:pPr marL="12700" marR="5080"/>
            <a:r>
              <a:rPr lang="en-US" sz="2000" dirty="0">
                <a:hlinkClick r:id="rId11"/>
              </a:rPr>
              <a:t>Awesome-Online-Machine-Learning</a:t>
            </a:r>
            <a:endParaRPr lang="en-US" sz="2000" kern="0" spc="-80" dirty="0">
              <a:solidFill>
                <a:schemeClr val="accent2"/>
              </a:solidFill>
            </a:endParaRPr>
          </a:p>
        </p:txBody>
      </p:sp>
    </p:spTree>
    <p:extLst>
      <p:ext uri="{BB962C8B-B14F-4D97-AF65-F5344CB8AC3E}">
        <p14:creationId xmlns:p14="http://schemas.microsoft.com/office/powerpoint/2010/main" val="28887136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59C0A-213B-AFDE-9258-6BEF84688D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313307-0792-52CD-FC9B-67F767A792DB}"/>
              </a:ext>
            </a:extLst>
          </p:cNvPr>
          <p:cNvSpPr/>
          <p:nvPr/>
        </p:nvSpPr>
        <p:spPr>
          <a:xfrm>
            <a:off x="1645919"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390ADB-9071-7B9A-43A2-73710469F710}"/>
              </a:ext>
            </a:extLst>
          </p:cNvPr>
          <p:cNvSpPr/>
          <p:nvPr/>
        </p:nvSpPr>
        <p:spPr>
          <a:xfrm>
            <a:off x="1645919" y="6858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0B5F055-E040-9B29-7FE8-A02B40A49E98}"/>
              </a:ext>
            </a:extLst>
          </p:cNvPr>
          <p:cNvGraphicFramePr/>
          <p:nvPr/>
        </p:nvGraphicFramePr>
        <p:xfrm>
          <a:off x="-17146" y="17829"/>
          <a:ext cx="9084945" cy="667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AB4CBA84-22AA-F664-BB98-ADCDD609B23A}"/>
              </a:ext>
            </a:extLst>
          </p:cNvPr>
          <p:cNvSpPr txBox="1">
            <a:spLocks/>
          </p:cNvSpPr>
          <p:nvPr/>
        </p:nvSpPr>
        <p:spPr>
          <a:xfrm>
            <a:off x="107768" y="995679"/>
            <a:ext cx="9015912"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Causal AI is a field of artificial intelligence that focuses on understanding and modeling cause-and-effect relationships, going beyond just identifying correlations between data. It aims to determine how variables influence each other, rather than simply observing what happens together. This is crucial for making accurate predictions and informed decisions, as it allows for more nuanced understanding of how things work. </a:t>
            </a:r>
          </a:p>
          <a:p>
            <a:pPr marL="12700" marR="5080"/>
            <a:r>
              <a:rPr lang="en-US" sz="1300" kern="0" spc="-80" dirty="0">
                <a:solidFill>
                  <a:schemeClr val="accent2"/>
                </a:solidFill>
              </a:rPr>
              <a:t>Key Concepts:</a:t>
            </a:r>
          </a:p>
          <a:p>
            <a:pPr marL="12700" marR="5080"/>
            <a:r>
              <a:rPr lang="en-US" sz="1300" kern="0" spc="-80" dirty="0">
                <a:solidFill>
                  <a:schemeClr val="accent2"/>
                </a:solidFill>
              </a:rPr>
              <a:t>Causality vs. Correlation: </a:t>
            </a:r>
            <a:r>
              <a:rPr lang="en-US" sz="1300" kern="0" spc="-80" dirty="0">
                <a:solidFill>
                  <a:schemeClr val="accent6"/>
                </a:solidFill>
              </a:rPr>
              <a:t>Causal AI distinguishes between correlation (two variables are related) and causation (one variable directly influences another). </a:t>
            </a:r>
          </a:p>
          <a:p>
            <a:pPr marL="12700" marR="5080"/>
            <a:r>
              <a:rPr lang="en-US" sz="1300" kern="0" spc="-80" dirty="0">
                <a:solidFill>
                  <a:schemeClr val="accent2"/>
                </a:solidFill>
              </a:rPr>
              <a:t>Understanding "Why":</a:t>
            </a:r>
            <a:r>
              <a:rPr lang="en-US" sz="1300" kern="0" spc="-80" dirty="0">
                <a:solidFill>
                  <a:schemeClr val="accent6"/>
                </a:solidFill>
              </a:rPr>
              <a:t> Unlike traditional machine learning, which often focuses on "what" will happen, Causal AI delves into the "why" behind events, offering more actionable insights. </a:t>
            </a:r>
          </a:p>
          <a:p>
            <a:pPr marL="12700" marR="5080"/>
            <a:r>
              <a:rPr lang="en-US" sz="1300" kern="0" spc="-80" dirty="0">
                <a:solidFill>
                  <a:schemeClr val="accent2"/>
                </a:solidFill>
              </a:rPr>
              <a:t>Intervention and Prediction:</a:t>
            </a:r>
            <a:r>
              <a:rPr lang="en-US" sz="1300" kern="0" spc="-80" dirty="0">
                <a:solidFill>
                  <a:schemeClr val="accent6"/>
                </a:solidFill>
              </a:rPr>
              <a:t> Causal AI allows for simulating interventions and predicting their effects, something that is difficult with correlational models. </a:t>
            </a:r>
          </a:p>
          <a:p>
            <a:pPr marL="12700" marR="5080"/>
            <a:r>
              <a:rPr lang="en-US" sz="1300" kern="0" spc="-80" dirty="0">
                <a:solidFill>
                  <a:schemeClr val="accent2"/>
                </a:solidFill>
              </a:rPr>
              <a:t>Transparency and Explainability:</a:t>
            </a:r>
            <a:r>
              <a:rPr lang="en-US" sz="1300" kern="0" spc="-80" dirty="0">
                <a:solidFill>
                  <a:schemeClr val="accent6"/>
                </a:solidFill>
              </a:rPr>
              <a:t> Causal AI models can provide clear explanations of cause-and-effect relationships, enhancing trust and understanding. </a:t>
            </a:r>
          </a:p>
          <a:p>
            <a:pPr marL="12700" marR="5080"/>
            <a:r>
              <a:rPr lang="en-US" sz="1300" kern="0" spc="-80" dirty="0">
                <a:solidFill>
                  <a:schemeClr val="accent2"/>
                </a:solidFill>
              </a:rPr>
              <a:t>Addressing Confounding Bias:</a:t>
            </a:r>
            <a:br>
              <a:rPr lang="en-US" sz="1300" kern="0" spc="-80" dirty="0">
                <a:solidFill>
                  <a:schemeClr val="accent6"/>
                </a:solidFill>
              </a:rPr>
            </a:br>
            <a:r>
              <a:rPr lang="en-US" sz="1300" kern="0" spc="-80" dirty="0">
                <a:solidFill>
                  <a:schemeClr val="accent6"/>
                </a:solidFill>
              </a:rPr>
              <a:t>Causal inference methods help control for confounding factors, which are variables that can influence both the cause and the effect, leading to misleading conclusions about the relationship between the two.</a:t>
            </a:r>
            <a:br>
              <a:rPr lang="en-US" sz="1300" kern="0" spc="-80" dirty="0">
                <a:solidFill>
                  <a:schemeClr val="accent6"/>
                </a:solidFill>
              </a:rPr>
            </a:br>
            <a:r>
              <a:rPr lang="en-US" sz="1300" kern="0" spc="-80" dirty="0">
                <a:solidFill>
                  <a:schemeClr val="accent2"/>
                </a:solidFill>
              </a:rPr>
              <a:t>Estimating Causal Effects:</a:t>
            </a:r>
            <a:br>
              <a:rPr lang="en-US" sz="1300" kern="0" spc="-80" dirty="0">
                <a:solidFill>
                  <a:schemeClr val="accent6"/>
                </a:solidFill>
              </a:rPr>
            </a:br>
            <a:r>
              <a:rPr lang="en-US" sz="1300" kern="0" spc="-80" dirty="0">
                <a:solidFill>
                  <a:schemeClr val="accent6"/>
                </a:solidFill>
              </a:rPr>
              <a:t>Causal inference aims to estimate the specific effect of a particular factor on an outcome, such as the impact of a marketing campaign on sales.</a:t>
            </a:r>
            <a:br>
              <a:rPr lang="en-US" sz="1300" kern="0" spc="-80" dirty="0">
                <a:solidFill>
                  <a:schemeClr val="accent6"/>
                </a:solidFill>
              </a:rPr>
            </a:br>
            <a:r>
              <a:rPr lang="en-US" sz="1300" kern="0" spc="-80" dirty="0">
                <a:solidFill>
                  <a:schemeClr val="accent2"/>
                </a:solidFill>
              </a:rPr>
              <a:t>Using Counterfactual Thinking:</a:t>
            </a:r>
            <a:br>
              <a:rPr lang="en-US" sz="1300" kern="0" spc="-80" dirty="0">
                <a:solidFill>
                  <a:schemeClr val="accent6"/>
                </a:solidFill>
              </a:rPr>
            </a:br>
            <a:r>
              <a:rPr lang="en-US" sz="1300" kern="0" spc="-80" dirty="0">
                <a:solidFill>
                  <a:schemeClr val="accent6"/>
                </a:solidFill>
              </a:rPr>
              <a:t>Causal inference often relies on counterfactual thinking, which involves imagining what would have happened if the cause hadn't occurred.</a:t>
            </a:r>
          </a:p>
          <a:p>
            <a:pPr marL="12700" marR="5080"/>
            <a:r>
              <a:rPr lang="en-US" sz="1300" kern="0" spc="-80" dirty="0">
                <a:solidFill>
                  <a:schemeClr val="accent2"/>
                </a:solidFill>
              </a:rPr>
              <a:t>Types of Causal Inference:</a:t>
            </a:r>
            <a:br>
              <a:rPr lang="en-US" sz="1300" kern="0" spc="-80" dirty="0">
                <a:solidFill>
                  <a:schemeClr val="accent6"/>
                </a:solidFill>
              </a:rPr>
            </a:br>
            <a:r>
              <a:rPr lang="en-US" sz="1300" kern="0" spc="-80" dirty="0">
                <a:solidFill>
                  <a:schemeClr val="accent6"/>
                </a:solidFill>
              </a:rPr>
              <a:t>Methods include randomized controlled trials, instrumental variable analysis, and synthetic control methods, each with its strengths and limitations.</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306666419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5811-E4B0-BEA0-48A9-C5FB1880E3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FAF1E11-8370-290A-5DA1-27A03E24D608}"/>
              </a:ext>
            </a:extLst>
          </p:cNvPr>
          <p:cNvSpPr/>
          <p:nvPr/>
        </p:nvSpPr>
        <p:spPr>
          <a:xfrm>
            <a:off x="1645919"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D4853B0-DE6A-E1D9-689F-1E0A4240B64E}"/>
              </a:ext>
            </a:extLst>
          </p:cNvPr>
          <p:cNvSpPr/>
          <p:nvPr/>
        </p:nvSpPr>
        <p:spPr>
          <a:xfrm>
            <a:off x="1645919" y="6858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C0D5ED-C206-E0A1-2CE3-80531697247B}"/>
              </a:ext>
            </a:extLst>
          </p:cNvPr>
          <p:cNvGraphicFramePr/>
          <p:nvPr/>
        </p:nvGraphicFramePr>
        <p:xfrm>
          <a:off x="-17146" y="17829"/>
          <a:ext cx="9084945" cy="667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C0C40DB-CDAC-4C42-AE7A-FC1CD6ABBA3D}"/>
              </a:ext>
            </a:extLst>
          </p:cNvPr>
          <p:cNvSpPr txBox="1">
            <a:spLocks/>
          </p:cNvSpPr>
          <p:nvPr/>
        </p:nvSpPr>
        <p:spPr>
          <a:xfrm>
            <a:off x="107768" y="995679"/>
            <a:ext cx="9015912"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Techniques:</a:t>
            </a:r>
          </a:p>
          <a:p>
            <a:r>
              <a:rPr lang="en-US" sz="1250" kern="0" spc="-80" dirty="0">
                <a:solidFill>
                  <a:schemeClr val="accent2"/>
                </a:solidFill>
              </a:rPr>
              <a:t>Propensity Score Matching (PSM): </a:t>
            </a:r>
            <a:r>
              <a:rPr lang="en-US" sz="1250" kern="0" spc="-80" dirty="0">
                <a:solidFill>
                  <a:schemeClr val="accent6"/>
                </a:solidFill>
              </a:rPr>
              <a:t>This method helps to create a more controlled observational study by matching individuals with similar characteristics (e.g., age, socioeconomic status) to those who received the treatment, thus mitigating bias. PSM estimates the probability of receiving the treatment based on observed characteristics and then matches individuals based on these probabilities.</a:t>
            </a:r>
          </a:p>
          <a:p>
            <a:r>
              <a:rPr lang="en-US" sz="1250" kern="0" spc="-80" dirty="0">
                <a:solidFill>
                  <a:schemeClr val="accent2"/>
                </a:solidFill>
              </a:rPr>
              <a:t>Difference-in-Differences (</a:t>
            </a:r>
            <a:r>
              <a:rPr lang="en-US" sz="1250" kern="0" spc="-80" dirty="0" err="1">
                <a:solidFill>
                  <a:schemeClr val="accent2"/>
                </a:solidFill>
              </a:rPr>
              <a:t>DiD</a:t>
            </a:r>
            <a:r>
              <a:rPr lang="en-US" sz="1250" kern="0" spc="-80" dirty="0">
                <a:solidFill>
                  <a:schemeClr val="accent2"/>
                </a:solidFill>
              </a:rPr>
              <a:t>):</a:t>
            </a:r>
            <a:r>
              <a:rPr lang="en-US" sz="1250" kern="0" spc="-80" dirty="0">
                <a:solidFill>
                  <a:schemeClr val="accent6"/>
                </a:solidFill>
              </a:rPr>
              <a:t> </a:t>
            </a:r>
            <a:r>
              <a:rPr lang="en-US" sz="1250" kern="0" spc="-80" dirty="0" err="1">
                <a:solidFill>
                  <a:schemeClr val="accent6"/>
                </a:solidFill>
              </a:rPr>
              <a:t>DiD</a:t>
            </a:r>
            <a:r>
              <a:rPr lang="en-US" sz="1250" kern="0" spc="-80" dirty="0">
                <a:solidFill>
                  <a:schemeClr val="accent6"/>
                </a:solidFill>
              </a:rPr>
              <a:t> is used to compare outcomes between a treatment group and a control group over time, before and after an intervention is introduced. By analyzing changes in outcomes over time, </a:t>
            </a:r>
            <a:r>
              <a:rPr lang="en-US" sz="1250" kern="0" spc="-80" dirty="0" err="1">
                <a:solidFill>
                  <a:schemeClr val="accent6"/>
                </a:solidFill>
              </a:rPr>
              <a:t>DiD</a:t>
            </a:r>
            <a:r>
              <a:rPr lang="en-US" sz="1250" kern="0" spc="-80" dirty="0">
                <a:solidFill>
                  <a:schemeClr val="accent6"/>
                </a:solidFill>
              </a:rPr>
              <a:t> can help isolate the effect of the intervention from other potential influences.</a:t>
            </a:r>
          </a:p>
          <a:p>
            <a:r>
              <a:rPr lang="en-US" sz="1250" kern="0" spc="-80" dirty="0">
                <a:solidFill>
                  <a:schemeClr val="accent6"/>
                </a:solidFill>
              </a:rPr>
              <a:t>Instrumental Variables (IV): IVs are variables that are correlated with the treatment but not with the outcome, except through the treatment. They are used to address situations where there might be endogeneity (where the treatment variable is correlated with unobserved factors that also affect the outcome).</a:t>
            </a:r>
          </a:p>
          <a:p>
            <a:r>
              <a:rPr lang="en-US" sz="1250" kern="0" spc="-80" dirty="0">
                <a:solidFill>
                  <a:schemeClr val="accent2"/>
                </a:solidFill>
              </a:rPr>
              <a:t>Synthetic Control Methods: </a:t>
            </a:r>
            <a:r>
              <a:rPr lang="en-US" sz="1250" kern="0" spc="-80" dirty="0">
                <a:solidFill>
                  <a:schemeClr val="accent6"/>
                </a:solidFill>
              </a:rPr>
              <a:t>This technique is used when a specific unit (e.g., a city, country) receives a treatment that is not available to others. It creates a "synthetic control" group that mimics the characteristics of the treated unit, allowing researchers to compare outcomes before and after the intervention.</a:t>
            </a:r>
          </a:p>
          <a:p>
            <a:r>
              <a:rPr lang="en-US" sz="1250" kern="0" spc="-80" dirty="0">
                <a:solidFill>
                  <a:schemeClr val="accent2"/>
                </a:solidFill>
              </a:rPr>
              <a:t>Directed Acyclic Graphs (DAGs): </a:t>
            </a:r>
            <a:r>
              <a:rPr lang="en-US" sz="1250" kern="0" spc="-80" dirty="0">
                <a:solidFill>
                  <a:schemeClr val="accent6"/>
                </a:solidFill>
              </a:rPr>
              <a:t>DAGs are a visual representation of causal relationships between variables. They help researchers identify potential confounding variables and design studies to minimize biases.</a:t>
            </a:r>
          </a:p>
          <a:p>
            <a:r>
              <a:rPr lang="en-US" sz="1250" kern="0" spc="-80" dirty="0">
                <a:solidFill>
                  <a:schemeClr val="accent2"/>
                </a:solidFill>
              </a:rPr>
              <a:t>Bayesian Networks: </a:t>
            </a:r>
            <a:r>
              <a:rPr lang="en-US" sz="1250" kern="0" spc="-80" dirty="0">
                <a:solidFill>
                  <a:schemeClr val="accent6"/>
                </a:solidFill>
              </a:rPr>
              <a:t>These are probabilistic models that can represent complex relationships between variables and can be used to estimate causal effects.</a:t>
            </a:r>
          </a:p>
          <a:p>
            <a:r>
              <a:rPr lang="en-US" sz="1250" kern="0" spc="-80" dirty="0">
                <a:solidFill>
                  <a:schemeClr val="accent2"/>
                </a:solidFill>
              </a:rPr>
              <a:t>Structural Equation Modeling (SEM): </a:t>
            </a:r>
            <a:r>
              <a:rPr lang="en-US" sz="1250" kern="0" spc="-80" dirty="0">
                <a:solidFill>
                  <a:schemeClr val="accent6"/>
                </a:solidFill>
              </a:rPr>
              <a:t>SEM allows researchers to test complex causal relationships between multiple variables simultaneously.</a:t>
            </a:r>
          </a:p>
          <a:p>
            <a:r>
              <a:rPr lang="en-US" sz="1250" kern="0" spc="-80" dirty="0">
                <a:solidFill>
                  <a:schemeClr val="accent2"/>
                </a:solidFill>
              </a:rPr>
              <a:t>Causal Forests: </a:t>
            </a:r>
            <a:r>
              <a:rPr lang="en-US" sz="1250" kern="0" spc="-80" dirty="0">
                <a:solidFill>
                  <a:schemeClr val="accent6"/>
                </a:solidFill>
              </a:rPr>
              <a:t>This is a machine learning technique that can be used to estimate causal effects in complex datasets.</a:t>
            </a:r>
          </a:p>
          <a:p>
            <a:r>
              <a:rPr lang="en-US" sz="1250" kern="0" spc="-80" dirty="0">
                <a:solidFill>
                  <a:schemeClr val="accent2"/>
                </a:solidFill>
              </a:rPr>
              <a:t>Counterfactual Analysis:</a:t>
            </a:r>
            <a:r>
              <a:rPr lang="en-US" sz="1250" kern="0" spc="-80" dirty="0">
                <a:solidFill>
                  <a:schemeClr val="accent6"/>
                </a:solidFill>
              </a:rPr>
              <a:t> This approach focuses on what the outcome would have been if the treatment had not been applied, often used in evaluating the impact of policies or interventions.</a:t>
            </a:r>
          </a:p>
          <a:p>
            <a:r>
              <a:rPr lang="en-US" sz="1250" kern="0" spc="-80" dirty="0">
                <a:solidFill>
                  <a:schemeClr val="accent2"/>
                </a:solidFill>
              </a:rPr>
              <a:t>Granger Causality: </a:t>
            </a:r>
            <a:r>
              <a:rPr lang="en-US" sz="1250" kern="0" spc="-80" dirty="0">
                <a:solidFill>
                  <a:schemeClr val="accent6"/>
                </a:solidFill>
              </a:rPr>
              <a:t>This method determines whether one time series can predict another, providing evidence for a causal relationship between them.</a:t>
            </a:r>
          </a:p>
        </p:txBody>
      </p:sp>
    </p:spTree>
    <p:extLst>
      <p:ext uri="{BB962C8B-B14F-4D97-AF65-F5344CB8AC3E}">
        <p14:creationId xmlns:p14="http://schemas.microsoft.com/office/powerpoint/2010/main" val="89314304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098C0-BF23-AEC8-CD48-1AD54B676BC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23D9F23-E743-9F10-2300-0AB4DE63A2C3}"/>
              </a:ext>
            </a:extLst>
          </p:cNvPr>
          <p:cNvSpPr/>
          <p:nvPr/>
        </p:nvSpPr>
        <p:spPr>
          <a:xfrm>
            <a:off x="1645919"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3E8810F-90A1-B9C0-A3E7-04B41F93F098}"/>
              </a:ext>
            </a:extLst>
          </p:cNvPr>
          <p:cNvSpPr/>
          <p:nvPr/>
        </p:nvSpPr>
        <p:spPr>
          <a:xfrm>
            <a:off x="1645919" y="6858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7F93AFB-88C3-BFE8-81CE-ECE465DCF47C}"/>
              </a:ext>
            </a:extLst>
          </p:cNvPr>
          <p:cNvGraphicFramePr/>
          <p:nvPr/>
        </p:nvGraphicFramePr>
        <p:xfrm>
          <a:off x="-17146" y="17829"/>
          <a:ext cx="9084945" cy="6679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9D311C0-A94C-AB76-EB49-60D06405C6D4}"/>
              </a:ext>
            </a:extLst>
          </p:cNvPr>
          <p:cNvSpPr txBox="1">
            <a:spLocks/>
          </p:cNvSpPr>
          <p:nvPr/>
        </p:nvSpPr>
        <p:spPr>
          <a:xfrm>
            <a:off x="107768" y="995679"/>
            <a:ext cx="9015912" cy="21159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2"/>
                </a:solidFill>
              </a:rPr>
              <a:t>Key Considerations in Causal Inference:</a:t>
            </a:r>
            <a:br>
              <a:rPr lang="en-US" sz="1250" kern="0" spc="-80" dirty="0">
                <a:solidFill>
                  <a:schemeClr val="accent6"/>
                </a:solidFill>
              </a:rPr>
            </a:br>
            <a:r>
              <a:rPr lang="en-US" sz="1250" kern="0" spc="-80" dirty="0">
                <a:solidFill>
                  <a:schemeClr val="accent2"/>
                </a:solidFill>
              </a:rPr>
              <a:t>Confounding:</a:t>
            </a:r>
            <a:br>
              <a:rPr lang="en-US" sz="1250" kern="0" spc="-80" dirty="0">
                <a:solidFill>
                  <a:schemeClr val="accent6"/>
                </a:solidFill>
              </a:rPr>
            </a:br>
            <a:r>
              <a:rPr lang="en-US" sz="1250" kern="0" spc="-80" dirty="0">
                <a:solidFill>
                  <a:schemeClr val="accent6"/>
                </a:solidFill>
              </a:rPr>
              <a:t>Confounding occurs when a third variable influences both the treatment and the outcome, leading to a spurious correlation.</a:t>
            </a:r>
            <a:br>
              <a:rPr lang="en-US" sz="1250" kern="0" spc="-80" dirty="0">
                <a:solidFill>
                  <a:schemeClr val="accent6"/>
                </a:solidFill>
              </a:rPr>
            </a:br>
            <a:r>
              <a:rPr lang="en-US" sz="1250" kern="0" spc="-80" dirty="0">
                <a:solidFill>
                  <a:schemeClr val="accent2"/>
                </a:solidFill>
              </a:rPr>
              <a:t>Selection Bias:</a:t>
            </a:r>
            <a:br>
              <a:rPr lang="en-US" sz="1250" kern="0" spc="-80" dirty="0">
                <a:solidFill>
                  <a:schemeClr val="accent6"/>
                </a:solidFill>
              </a:rPr>
            </a:br>
            <a:r>
              <a:rPr lang="en-US" sz="1250" kern="0" spc="-80" dirty="0">
                <a:solidFill>
                  <a:schemeClr val="accent6"/>
                </a:solidFill>
              </a:rPr>
              <a:t>This bias arises when individuals are selected for treatment based on factors that are also associated with the outcome.</a:t>
            </a:r>
            <a:br>
              <a:rPr lang="en-US" sz="1250" kern="0" spc="-80" dirty="0">
                <a:solidFill>
                  <a:schemeClr val="accent6"/>
                </a:solidFill>
              </a:rPr>
            </a:br>
            <a:r>
              <a:rPr lang="en-US" sz="1250" kern="0" spc="-80" dirty="0">
                <a:solidFill>
                  <a:schemeClr val="accent2"/>
                </a:solidFill>
              </a:rPr>
              <a:t>Assumptions:</a:t>
            </a:r>
            <a:br>
              <a:rPr lang="en-US" sz="1250" kern="0" spc="-80" dirty="0">
                <a:solidFill>
                  <a:schemeClr val="accent6"/>
                </a:solidFill>
              </a:rPr>
            </a:br>
            <a:r>
              <a:rPr lang="en-US" sz="1250" kern="0" spc="-80" dirty="0">
                <a:solidFill>
                  <a:schemeClr val="accent6"/>
                </a:solidFill>
              </a:rPr>
              <a:t>Causal inference techniques often rely on certain assumptions, such as the absence of confounding or selection bias, which should be carefully considered and validated.</a:t>
            </a:r>
            <a:br>
              <a:rPr lang="en-US" sz="1250" kern="0" spc="-80" dirty="0">
                <a:solidFill>
                  <a:schemeClr val="accent6"/>
                </a:solidFill>
              </a:rPr>
            </a:br>
            <a:r>
              <a:rPr lang="en-US" sz="1250" kern="0" spc="-80" dirty="0">
                <a:solidFill>
                  <a:schemeClr val="accent6"/>
                </a:solidFill>
              </a:rPr>
              <a:t>Causal inference techniques are valuable tools for understanding the impact of interventions and policies, but it's important to choose the appropriate method for the specific research question and carefully consider the underlying assumptions and potential </a:t>
            </a:r>
            <a:r>
              <a:rPr lang="en-US" sz="1250" kern="0" spc="-80" dirty="0" err="1">
                <a:solidFill>
                  <a:schemeClr val="accent6"/>
                </a:solidFill>
              </a:rPr>
              <a:t>biase</a:t>
            </a:r>
            <a:r>
              <a:rPr lang="en-US" sz="1250" kern="0" spc="-80" dirty="0">
                <a:solidFill>
                  <a:schemeClr val="accent6"/>
                </a:solidFill>
              </a:rPr>
              <a:t>.</a:t>
            </a:r>
          </a:p>
        </p:txBody>
      </p:sp>
      <p:sp>
        <p:nvSpPr>
          <p:cNvPr id="2" name="object 2">
            <a:extLst>
              <a:ext uri="{FF2B5EF4-FFF2-40B4-BE49-F238E27FC236}">
                <a16:creationId xmlns:a16="http://schemas.microsoft.com/office/drawing/2014/main" id="{E6242665-AB53-6FFB-E364-9C0BB4FA5FAB}"/>
              </a:ext>
            </a:extLst>
          </p:cNvPr>
          <p:cNvSpPr txBox="1">
            <a:spLocks/>
          </p:cNvSpPr>
          <p:nvPr/>
        </p:nvSpPr>
        <p:spPr>
          <a:xfrm>
            <a:off x="0" y="3604498"/>
            <a:ext cx="8624937" cy="23391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 –</a:t>
            </a:r>
          </a:p>
          <a:p>
            <a:pPr marL="12700" marR="5080"/>
            <a:r>
              <a:rPr lang="en-US" sz="1200" dirty="0">
                <a:hlinkClick r:id="rId7"/>
              </a:rPr>
              <a:t>Covariance vs. Correlation: Differences to Know</a:t>
            </a:r>
            <a:endParaRPr lang="en-US" sz="1200" dirty="0"/>
          </a:p>
          <a:p>
            <a:pPr marL="12700" marR="5080"/>
            <a:r>
              <a:rPr lang="en-US" sz="1200" dirty="0">
                <a:hlinkClick r:id="rId8"/>
              </a:rPr>
              <a:t>Introduction to the Correlation Matrix</a:t>
            </a:r>
            <a:endParaRPr lang="en-US" sz="1200" dirty="0"/>
          </a:p>
          <a:p>
            <a:pPr marL="12700" marR="5080"/>
            <a:r>
              <a:rPr lang="en-IN" sz="1200" dirty="0">
                <a:hlinkClick r:id="rId9"/>
              </a:rPr>
              <a:t>Analysis of covariance</a:t>
            </a:r>
            <a:endParaRPr lang="en-IN" sz="1200" dirty="0"/>
          </a:p>
          <a:p>
            <a:pPr marL="12700" marR="5080"/>
            <a:r>
              <a:rPr lang="en-US" sz="1200" dirty="0">
                <a:hlinkClick r:id="rId10"/>
              </a:rPr>
              <a:t>A Practical Causal Inference Example for Beginners</a:t>
            </a:r>
            <a:endParaRPr lang="en-US" sz="1200" dirty="0"/>
          </a:p>
          <a:p>
            <a:pPr marL="12700" marR="5080"/>
            <a:r>
              <a:rPr lang="en-IN" sz="1200" dirty="0">
                <a:hlinkClick r:id="rId11"/>
              </a:rPr>
              <a:t>Causal AI: An Extensive Introduction</a:t>
            </a:r>
            <a:endParaRPr lang="en-IN" sz="1200" dirty="0"/>
          </a:p>
          <a:p>
            <a:pPr marL="12700" marR="5080"/>
            <a:r>
              <a:rPr lang="en-IN" sz="1200" dirty="0">
                <a:hlinkClick r:id="rId12"/>
              </a:rPr>
              <a:t>Causal Artificial Intelligence Book</a:t>
            </a:r>
            <a:endParaRPr lang="en-IN" sz="1200" dirty="0"/>
          </a:p>
          <a:p>
            <a:pPr marL="12700" marR="5080"/>
            <a:r>
              <a:rPr lang="en-IN" sz="1200" dirty="0" err="1">
                <a:hlinkClick r:id="rId13"/>
              </a:rPr>
              <a:t>CausalML</a:t>
            </a:r>
            <a:r>
              <a:rPr lang="en-IN" sz="1200" dirty="0">
                <a:hlinkClick r:id="rId13"/>
              </a:rPr>
              <a:t> Book</a:t>
            </a:r>
            <a:endParaRPr lang="en-US" sz="1200" kern="0" spc="-220" dirty="0">
              <a:solidFill>
                <a:schemeClr val="accent2"/>
              </a:solidFill>
            </a:endParaRPr>
          </a:p>
          <a:p>
            <a:pPr marL="12700" marR="5080"/>
            <a:r>
              <a:rPr lang="en-US" sz="1200" dirty="0">
                <a:hlinkClick r:id="rId14"/>
              </a:rPr>
              <a:t>Yes! Six Causality Books That Will Get You From Zero to Advanced (2024) | by Aleksander Molak</a:t>
            </a:r>
            <a:endParaRPr lang="en-US" sz="1200" dirty="0"/>
          </a:p>
          <a:p>
            <a:pPr marL="12700" marR="5080"/>
            <a:r>
              <a:rPr lang="en-US" sz="1200" dirty="0">
                <a:hlinkClick r:id="rId15"/>
              </a:rPr>
              <a:t>Causal Data Science with Directed Acyclic Graphs</a:t>
            </a:r>
            <a:endParaRPr lang="en-US" sz="1200" dirty="0"/>
          </a:p>
          <a:p>
            <a:pPr marL="12700" marR="5080"/>
            <a:r>
              <a:rPr lang="en-US" sz="1200" dirty="0">
                <a:hlinkClick r:id="rId16"/>
              </a:rPr>
              <a:t>Causal-Inference-with-Bayesian-Networks</a:t>
            </a:r>
            <a:endParaRPr lang="en-US" sz="1200" dirty="0"/>
          </a:p>
          <a:p>
            <a:pPr marL="12700" marR="5080"/>
            <a:r>
              <a:rPr lang="en-US" sz="1200" dirty="0">
                <a:hlinkClick r:id="rId17"/>
              </a:rPr>
              <a:t>An Open Source Ecosystem for Causal Machine Learning</a:t>
            </a:r>
            <a:endParaRPr lang="en-US" sz="1200" kern="0" spc="-80" dirty="0">
              <a:solidFill>
                <a:schemeClr val="accent2"/>
              </a:solidFill>
            </a:endParaRPr>
          </a:p>
        </p:txBody>
      </p:sp>
    </p:spTree>
    <p:extLst>
      <p:ext uri="{BB962C8B-B14F-4D97-AF65-F5344CB8AC3E}">
        <p14:creationId xmlns:p14="http://schemas.microsoft.com/office/powerpoint/2010/main" val="150224035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4A4B8-BE8D-E8A5-8EB8-278B6FB6C0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80F6B33-1CE5-7644-B968-2603BD8C35E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FF6D7E06-9175-8D3C-380D-113AE6946985}"/>
              </a:ext>
            </a:extLst>
          </p:cNvPr>
          <p:cNvSpPr/>
          <p:nvPr/>
        </p:nvSpPr>
        <p:spPr>
          <a:xfrm>
            <a:off x="1650999" y="115916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87D63F6-62E1-EFBA-FEBA-65025BEAD64A}"/>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2E73956-45D7-B1EE-E082-E4774CFF5CE2}"/>
              </a:ext>
            </a:extLst>
          </p:cNvPr>
          <p:cNvGraphicFramePr/>
          <p:nvPr>
            <p:extLst>
              <p:ext uri="{D42A27DB-BD31-4B8C-83A1-F6EECF244321}">
                <p14:modId xmlns:p14="http://schemas.microsoft.com/office/powerpoint/2010/main" val="79271240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59DB5B88-EB15-CDF5-5296-EA0B44CF9D6C}"/>
              </a:ext>
            </a:extLst>
          </p:cNvPr>
          <p:cNvPicPr>
            <a:picLocks noChangeAspect="1"/>
          </p:cNvPicPr>
          <p:nvPr/>
        </p:nvPicPr>
        <p:blipFill>
          <a:blip r:embed="rId7"/>
          <a:stretch>
            <a:fillRect/>
          </a:stretch>
        </p:blipFill>
        <p:spPr>
          <a:xfrm>
            <a:off x="12465" y="1295400"/>
            <a:ext cx="9119069" cy="2831574"/>
          </a:xfrm>
          <a:prstGeom prst="rect">
            <a:avLst/>
          </a:prstGeom>
        </p:spPr>
      </p:pic>
      <p:sp>
        <p:nvSpPr>
          <p:cNvPr id="6" name="object 2">
            <a:extLst>
              <a:ext uri="{FF2B5EF4-FFF2-40B4-BE49-F238E27FC236}">
                <a16:creationId xmlns:a16="http://schemas.microsoft.com/office/drawing/2014/main" id="{F727780E-8240-A8AB-85DA-0EA83E027A2C}"/>
              </a:ext>
            </a:extLst>
          </p:cNvPr>
          <p:cNvSpPr txBox="1">
            <a:spLocks/>
          </p:cNvSpPr>
          <p:nvPr/>
        </p:nvSpPr>
        <p:spPr>
          <a:xfrm>
            <a:off x="-37466" y="4126974"/>
            <a:ext cx="8624937" cy="18928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220" dirty="0">
                <a:solidFill>
                  <a:schemeClr val="accent2"/>
                </a:solidFill>
              </a:rPr>
              <a:t>For Further Exploration</a:t>
            </a:r>
          </a:p>
          <a:p>
            <a:pPr marL="12700" marR="5080"/>
            <a:r>
              <a:rPr lang="en-IN" sz="1200" dirty="0" err="1">
                <a:hlinkClick r:id="rId8"/>
              </a:rPr>
              <a:t>RecSys</a:t>
            </a:r>
            <a:r>
              <a:rPr lang="en-IN" sz="1200" dirty="0">
                <a:hlinkClick r:id="rId8"/>
              </a:rPr>
              <a:t> Basics</a:t>
            </a:r>
            <a:endParaRPr lang="en-US" sz="1200" kern="0" spc="-220" dirty="0">
              <a:solidFill>
                <a:schemeClr val="accent2"/>
              </a:solidFill>
            </a:endParaRPr>
          </a:p>
          <a:p>
            <a:pPr marL="12700" marR="5080"/>
            <a:r>
              <a:rPr lang="en-IN" sz="1200" dirty="0" err="1">
                <a:hlinkClick r:id="rId9"/>
              </a:rPr>
              <a:t>RecSys</a:t>
            </a:r>
            <a:r>
              <a:rPr lang="en-IN" sz="1200" dirty="0">
                <a:hlinkClick r:id="rId9"/>
              </a:rPr>
              <a:t> Intro</a:t>
            </a:r>
            <a:endParaRPr lang="en-IN" sz="1200" dirty="0"/>
          </a:p>
          <a:p>
            <a:pPr marL="12700" marR="5080"/>
            <a:r>
              <a:rPr lang="en-IN" sz="1200" dirty="0" err="1">
                <a:hlinkClick r:id="rId10"/>
              </a:rPr>
              <a:t>RecSys</a:t>
            </a:r>
            <a:r>
              <a:rPr lang="en-IN" sz="1200" dirty="0">
                <a:hlinkClick r:id="rId10"/>
              </a:rPr>
              <a:t> Algo &amp; Architecture</a:t>
            </a:r>
            <a:endParaRPr lang="en-IN" sz="1200" dirty="0"/>
          </a:p>
          <a:p>
            <a:pPr marL="12700" marR="5080"/>
            <a:r>
              <a:rPr lang="en-IN" sz="1200" dirty="0">
                <a:hlinkClick r:id="rId11"/>
              </a:rPr>
              <a:t>How to Build a </a:t>
            </a:r>
            <a:r>
              <a:rPr lang="en-IN" sz="1200" dirty="0" err="1">
                <a:hlinkClick r:id="rId11"/>
              </a:rPr>
              <a:t>RecSys</a:t>
            </a:r>
            <a:endParaRPr lang="en-IN" sz="1200" dirty="0"/>
          </a:p>
          <a:p>
            <a:pPr marL="12700" marR="5080"/>
            <a:r>
              <a:rPr lang="en-IN" sz="1200" dirty="0">
                <a:hlinkClick r:id="rId12"/>
              </a:rPr>
              <a:t>Architecting </a:t>
            </a:r>
            <a:r>
              <a:rPr lang="en-IN" sz="1200" dirty="0" err="1">
                <a:hlinkClick r:id="rId12"/>
              </a:rPr>
              <a:t>RecSys</a:t>
            </a:r>
            <a:endParaRPr lang="en-IN" sz="1200" dirty="0"/>
          </a:p>
          <a:p>
            <a:pPr marL="12700" marR="5080"/>
            <a:r>
              <a:rPr lang="en-US" sz="1200" dirty="0">
                <a:hlinkClick r:id="rId13"/>
              </a:rPr>
              <a:t>How does Netflix recommend movies? Matrix Factorization </a:t>
            </a:r>
            <a:endParaRPr lang="en-US" sz="1200" dirty="0"/>
          </a:p>
          <a:p>
            <a:pPr marL="12700" marR="5080"/>
            <a:r>
              <a:rPr lang="en-US" sz="1200" dirty="0">
                <a:hlinkClick r:id="rId14"/>
              </a:rPr>
              <a:t>Machine Learning for Recommender Systems</a:t>
            </a:r>
            <a:endParaRPr lang="en-US" sz="1200" dirty="0"/>
          </a:p>
          <a:p>
            <a:pPr marL="12700" marR="5080"/>
            <a:r>
              <a:rPr lang="en-IN" sz="1200" dirty="0">
                <a:hlinkClick r:id="rId15"/>
              </a:rPr>
              <a:t>Personalized Machine Learning</a:t>
            </a:r>
            <a:endParaRPr lang="en-US" sz="1200" dirty="0"/>
          </a:p>
          <a:p>
            <a:pPr marL="12700" marR="5080"/>
            <a:r>
              <a:rPr lang="en-IN" sz="1200" dirty="0">
                <a:hlinkClick r:id="rId16"/>
              </a:rPr>
              <a:t>Recommender Systems: The Textbook</a:t>
            </a:r>
            <a:endParaRPr lang="en-US" sz="1200" kern="0" spc="-220" dirty="0">
              <a:solidFill>
                <a:schemeClr val="accent2"/>
              </a:solidFill>
            </a:endParaRPr>
          </a:p>
        </p:txBody>
      </p:sp>
    </p:spTree>
    <p:extLst>
      <p:ext uri="{BB962C8B-B14F-4D97-AF65-F5344CB8AC3E}">
        <p14:creationId xmlns:p14="http://schemas.microsoft.com/office/powerpoint/2010/main" val="134282766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D9FA1-D7CA-766C-C05E-D5475AC468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46B038F-3AE0-6929-1206-899AFCDA7FD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FFC3F0B-E42E-A1F4-7A9B-2F7B9295C09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E84CAA2E-EBC7-FD6C-4676-17E58245D76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AAF68BB-2965-0C53-5D08-D64024F1C015}"/>
              </a:ext>
            </a:extLst>
          </p:cNvPr>
          <p:cNvGraphicFramePr/>
          <p:nvPr>
            <p:extLst>
              <p:ext uri="{D42A27DB-BD31-4B8C-83A1-F6EECF244321}">
                <p14:modId xmlns:p14="http://schemas.microsoft.com/office/powerpoint/2010/main" val="197716992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3FF59E48-223C-28C4-6AED-11CF1F8483FE}"/>
              </a:ext>
            </a:extLst>
          </p:cNvPr>
          <p:cNvSpPr txBox="1">
            <a:spLocks/>
          </p:cNvSpPr>
          <p:nvPr/>
        </p:nvSpPr>
        <p:spPr>
          <a:xfrm>
            <a:off x="41725" y="5114142"/>
            <a:ext cx="8624937" cy="8294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a:t>
            </a:r>
          </a:p>
          <a:p>
            <a:pPr marL="12700" marR="5080"/>
            <a:r>
              <a:rPr lang="en-US" sz="1390" kern="0" spc="-220" dirty="0">
                <a:solidFill>
                  <a:schemeClr val="accent6"/>
                </a:solidFill>
              </a:rPr>
              <a:t> </a:t>
            </a:r>
            <a:r>
              <a:rPr lang="en-US" sz="1000" dirty="0">
                <a:hlinkClick r:id="rId7"/>
              </a:rPr>
              <a:t>Your Guide to Natural Language Processing (NLP) Approaches: Statistical and Symbolic NLP</a:t>
            </a:r>
            <a:endParaRPr lang="en-US" sz="1000" dirty="0"/>
          </a:p>
          <a:p>
            <a:pPr marL="12700" marR="5080"/>
            <a:r>
              <a:rPr lang="en-US" sz="1000" dirty="0">
                <a:hlinkClick r:id="rId8"/>
              </a:rPr>
              <a:t>A short explanation of the history of the natural language models</a:t>
            </a:r>
            <a:endParaRPr lang="en-US" sz="1000" dirty="0"/>
          </a:p>
          <a:p>
            <a:pPr marL="12700" marR="5080"/>
            <a:r>
              <a:rPr lang="en-US" sz="1000" dirty="0">
                <a:hlinkClick r:id="rId9"/>
              </a:rPr>
              <a:t>The Evolution and Impact of Natural Language Processing (NLP) | LinkedIn</a:t>
            </a:r>
            <a:endParaRPr lang="en-US" sz="1390" kern="0" spc="-220" dirty="0">
              <a:solidFill>
                <a:schemeClr val="accent6"/>
              </a:solidFill>
            </a:endParaRPr>
          </a:p>
        </p:txBody>
      </p:sp>
      <p:pic>
        <p:nvPicPr>
          <p:cNvPr id="5" name="Picture 4">
            <a:extLst>
              <a:ext uri="{FF2B5EF4-FFF2-40B4-BE49-F238E27FC236}">
                <a16:creationId xmlns:a16="http://schemas.microsoft.com/office/drawing/2014/main" id="{8795E76B-64F0-982C-9B2C-FC2F98E2CE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725" y="1377399"/>
            <a:ext cx="9026074" cy="3623078"/>
          </a:xfrm>
          <a:prstGeom prst="rect">
            <a:avLst/>
          </a:prstGeom>
        </p:spPr>
      </p:pic>
    </p:spTree>
    <p:extLst>
      <p:ext uri="{BB962C8B-B14F-4D97-AF65-F5344CB8AC3E}">
        <p14:creationId xmlns:p14="http://schemas.microsoft.com/office/powerpoint/2010/main" val="28174049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104B3-E0AC-972C-901E-636875A8D7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E7C16D-63B4-DE6C-4E5D-5995FF5ED19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CAC5A2BA-BA58-7FEF-3368-A516B31804C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3701C2B-CD23-E454-A703-9A2C80EE509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9CF81F2-DCEB-0C02-C08C-A187DB13E11C}"/>
              </a:ext>
            </a:extLst>
          </p:cNvPr>
          <p:cNvGraphicFramePr/>
          <p:nvPr>
            <p:extLst>
              <p:ext uri="{D42A27DB-BD31-4B8C-83A1-F6EECF244321}">
                <p14:modId xmlns:p14="http://schemas.microsoft.com/office/powerpoint/2010/main" val="107146651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descr="Natural language processing workflow. The general workflow of the NLP pipeline.">
            <a:extLst>
              <a:ext uri="{FF2B5EF4-FFF2-40B4-BE49-F238E27FC236}">
                <a16:creationId xmlns:a16="http://schemas.microsoft.com/office/drawing/2014/main" id="{4439BCB1-3A3E-578F-FFB1-9F93100B84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25" y="1371599"/>
            <a:ext cx="8873675" cy="4554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51843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EB86B-E303-5601-C172-E0E377682D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E1A7E4-44E5-51D6-A8C7-0BDBBC2D476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4EB53EC-C66C-E954-6767-07351E63FA0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6E7B043-0DA1-46FB-175B-7D8983BDCC4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E51087D-B4D4-28DD-41BF-16600A61487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F61E689D-8911-940A-05A3-31BDE10BE304}"/>
              </a:ext>
            </a:extLst>
          </p:cNvPr>
          <p:cNvSpPr txBox="1">
            <a:spLocks/>
          </p:cNvSpPr>
          <p:nvPr/>
        </p:nvSpPr>
        <p:spPr>
          <a:xfrm>
            <a:off x="-1" y="1341839"/>
            <a:ext cx="8624937" cy="46012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A graph ontology-based Natural Language Processing (NLP) workflow creates a structured knowledge graph from unstructured text by combining NLP techniques with a domain-specific ontology. This process allows for deeper semantic understanding beyond simple keyword extraction by modeling entities, their attributes, and their relationships. </a:t>
            </a:r>
          </a:p>
          <a:p>
            <a:pPr marL="12700" marR="5080"/>
            <a:r>
              <a:rPr lang="en-US" sz="1300" kern="0" spc="-80" dirty="0">
                <a:solidFill>
                  <a:schemeClr val="accent2"/>
                </a:solidFill>
              </a:rPr>
              <a:t>Workflow steps</a:t>
            </a:r>
          </a:p>
          <a:p>
            <a:pPr marL="12700" marR="5080"/>
            <a:r>
              <a:rPr lang="en-US" sz="1300" kern="0" spc="-80" dirty="0">
                <a:solidFill>
                  <a:schemeClr val="accent2"/>
                </a:solidFill>
              </a:rPr>
              <a:t>1. Text acquisition and preprocessing</a:t>
            </a:r>
          </a:p>
          <a:p>
            <a:pPr marL="12700" marR="5080"/>
            <a:r>
              <a:rPr lang="en-US" sz="1300" kern="0" spc="-80" dirty="0">
                <a:solidFill>
                  <a:schemeClr val="accent6"/>
                </a:solidFill>
              </a:rPr>
              <a:t>This initial phase involves preparing the text data for analysis.</a:t>
            </a:r>
          </a:p>
          <a:p>
            <a:pPr marL="12700" marR="5080"/>
            <a:r>
              <a:rPr lang="en-US" sz="1300" kern="0" spc="-80" dirty="0">
                <a:solidFill>
                  <a:schemeClr val="accent2"/>
                </a:solidFill>
              </a:rPr>
              <a:t>Data acquisition: </a:t>
            </a:r>
            <a:r>
              <a:rPr lang="en-US" sz="1300" kern="0" spc="-80" dirty="0">
                <a:solidFill>
                  <a:schemeClr val="accent6"/>
                </a:solidFill>
              </a:rPr>
              <a:t>Gather textual data from various sources, such as web pages, articles, books, social media, or other documents.</a:t>
            </a:r>
          </a:p>
          <a:p>
            <a:pPr marL="12700" marR="5080"/>
            <a:r>
              <a:rPr lang="en-US" sz="1300" kern="0" spc="-80" dirty="0">
                <a:solidFill>
                  <a:schemeClr val="accent2"/>
                </a:solidFill>
              </a:rPr>
              <a:t>Text cleaning: </a:t>
            </a:r>
            <a:r>
              <a:rPr lang="en-US" sz="1300" kern="0" spc="-80" dirty="0">
                <a:solidFill>
                  <a:schemeClr val="accent6"/>
                </a:solidFill>
              </a:rPr>
              <a:t>Remove irrelevant information, such as HTML tags, ads, and other noise. Handle special characters and unify text formatting.</a:t>
            </a:r>
          </a:p>
          <a:p>
            <a:pPr marL="12700" marR="5080"/>
            <a:r>
              <a:rPr lang="en-US" sz="1300" kern="0" spc="-80" dirty="0">
                <a:solidFill>
                  <a:schemeClr val="accent2"/>
                </a:solidFill>
              </a:rPr>
              <a:t>Tokenization: </a:t>
            </a:r>
            <a:r>
              <a:rPr lang="en-US" sz="1300" kern="0" spc="-80" dirty="0">
                <a:solidFill>
                  <a:schemeClr val="accent6"/>
                </a:solidFill>
              </a:rPr>
              <a:t>Split the raw text into smaller units, such as sentences and words (tokens).</a:t>
            </a:r>
          </a:p>
          <a:p>
            <a:pPr marL="12700" marR="5080"/>
            <a:r>
              <a:rPr lang="en-US" sz="1300" kern="0" spc="-80" dirty="0">
                <a:solidFill>
                  <a:schemeClr val="accent2"/>
                </a:solidFill>
              </a:rPr>
              <a:t>Normalization:</a:t>
            </a:r>
            <a:r>
              <a:rPr lang="en-US" sz="1300" kern="0" spc="-80" dirty="0">
                <a:solidFill>
                  <a:schemeClr val="accent6"/>
                </a:solidFill>
              </a:rPr>
              <a:t> Standardize the tokens to their base form.</a:t>
            </a:r>
          </a:p>
          <a:p>
            <a:pPr marL="12700" marR="5080"/>
            <a:r>
              <a:rPr lang="en-US" sz="1300" kern="0" spc="-80" dirty="0">
                <a:solidFill>
                  <a:schemeClr val="accent2"/>
                </a:solidFill>
              </a:rPr>
              <a:t>This typically includes:</a:t>
            </a:r>
          </a:p>
          <a:p>
            <a:pPr marL="12700" marR="5080"/>
            <a:r>
              <a:rPr lang="en-US" sz="1300" kern="0" spc="-80" dirty="0">
                <a:solidFill>
                  <a:schemeClr val="accent2"/>
                </a:solidFill>
              </a:rPr>
              <a:t>Stemming:</a:t>
            </a:r>
            <a:r>
              <a:rPr lang="en-US" sz="1300" kern="0" spc="-80" dirty="0">
                <a:solidFill>
                  <a:schemeClr val="accent6"/>
                </a:solidFill>
              </a:rPr>
              <a:t> Reducing words to their word stem (e.g., "running" becomes "run").</a:t>
            </a:r>
          </a:p>
          <a:p>
            <a:pPr marL="12700" marR="5080"/>
            <a:r>
              <a:rPr lang="en-US" sz="1300" kern="0" spc="-80" dirty="0">
                <a:solidFill>
                  <a:schemeClr val="accent2"/>
                </a:solidFill>
              </a:rPr>
              <a:t>Lemmatization: </a:t>
            </a:r>
            <a:r>
              <a:rPr lang="en-US" sz="1300" kern="0" spc="-80" dirty="0">
                <a:solidFill>
                  <a:schemeClr val="accent6"/>
                </a:solidFill>
              </a:rPr>
              <a:t>Reducing words to their dictionary or morphological root form (e.g., "better" becomes "good").</a:t>
            </a:r>
          </a:p>
          <a:p>
            <a:pPr marL="12700" marR="5080"/>
            <a:r>
              <a:rPr lang="en-US" sz="1300" kern="0" spc="-80" dirty="0">
                <a:solidFill>
                  <a:schemeClr val="accent2"/>
                </a:solidFill>
              </a:rPr>
              <a:t>Stop-word removal:</a:t>
            </a:r>
            <a:r>
              <a:rPr lang="en-US" sz="1300" kern="0" spc="-80" dirty="0">
                <a:solidFill>
                  <a:schemeClr val="accent6"/>
                </a:solidFill>
              </a:rPr>
              <a:t> Filter out common words that carry little semantic meaning (e.g., "the," "is," "a"). </a:t>
            </a:r>
          </a:p>
          <a:p>
            <a:pPr marL="12700" marR="5080"/>
            <a:r>
              <a:rPr lang="en-US" sz="1300" kern="0" spc="-80" dirty="0">
                <a:solidFill>
                  <a:schemeClr val="accent2"/>
                </a:solidFill>
              </a:rPr>
              <a:t>2. Ontology definition</a:t>
            </a:r>
          </a:p>
          <a:p>
            <a:pPr marL="12700" marR="5080"/>
            <a:r>
              <a:rPr lang="en-US" sz="1300" kern="0" spc="-80" dirty="0">
                <a:solidFill>
                  <a:schemeClr val="accent6"/>
                </a:solidFill>
              </a:rPr>
              <a:t>Before extracting information, you must define the schema or blueprint for your knowledge graph.</a:t>
            </a:r>
          </a:p>
          <a:p>
            <a:pPr marL="12700" marR="5080"/>
            <a:r>
              <a:rPr lang="en-US" sz="1300" kern="0" spc="-80" dirty="0">
                <a:solidFill>
                  <a:schemeClr val="accent2"/>
                </a:solidFill>
              </a:rPr>
              <a:t>Domain analysis: </a:t>
            </a:r>
            <a:r>
              <a:rPr lang="en-US" sz="1300" kern="0" spc="-80" dirty="0">
                <a:solidFill>
                  <a:schemeClr val="accent6"/>
                </a:solidFill>
              </a:rPr>
              <a:t>A subject-matter expert analyzes the text to identify the key concepts (entities) and the important types of relationships that exist between them.</a:t>
            </a:r>
          </a:p>
          <a:p>
            <a:pPr marL="12700" marR="5080"/>
            <a:r>
              <a:rPr lang="en-US" sz="1300" kern="0" spc="-80" dirty="0">
                <a:solidFill>
                  <a:schemeClr val="accent2"/>
                </a:solidFill>
              </a:rPr>
              <a:t>Class/entity definition: </a:t>
            </a:r>
            <a:r>
              <a:rPr lang="en-US" sz="1300" kern="0" spc="-80" dirty="0">
                <a:solidFill>
                  <a:schemeClr val="accent6"/>
                </a:solidFill>
              </a:rPr>
              <a:t>Define the main types of objects or concepts relevant to the domain. For example, in a medical domain, classes could be Disease, Symptom, or Drug.</a:t>
            </a:r>
          </a:p>
        </p:txBody>
      </p:sp>
    </p:spTree>
    <p:extLst>
      <p:ext uri="{BB962C8B-B14F-4D97-AF65-F5344CB8AC3E}">
        <p14:creationId xmlns:p14="http://schemas.microsoft.com/office/powerpoint/2010/main" val="44978599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A7A3F-8E9F-CE1C-4A07-4AACFE9392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C4C6C1-DE74-B9E5-D822-AF3E154E2F6A}"/>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1461BA1-78B3-9378-2825-24EAFE2B9483}"/>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504C42A-29C7-7061-EDB5-BC4F3C44BD1A}"/>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1144472-496E-C9FB-4A19-C187D524024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83A70343-A8C2-A3C2-B0DD-1565CDA8B1AD}"/>
              </a:ext>
            </a:extLst>
          </p:cNvPr>
          <p:cNvSpPr txBox="1">
            <a:spLocks/>
          </p:cNvSpPr>
          <p:nvPr/>
        </p:nvSpPr>
        <p:spPr>
          <a:xfrm>
            <a:off x="-1" y="1341839"/>
            <a:ext cx="8624937"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Property definition:</a:t>
            </a:r>
            <a:r>
              <a:rPr lang="en-US" sz="1300" kern="0" spc="-80" dirty="0">
                <a:solidFill>
                  <a:schemeClr val="accent6"/>
                </a:solidFill>
              </a:rPr>
              <a:t> Define the attributes or data properties associated with each class. For example, a Drug might have a property for its </a:t>
            </a:r>
            <a:r>
              <a:rPr lang="en-US" sz="1300" kern="0" spc="-80" dirty="0" err="1">
                <a:solidFill>
                  <a:schemeClr val="accent6"/>
                </a:solidFill>
              </a:rPr>
              <a:t>brandName</a:t>
            </a:r>
            <a:r>
              <a:rPr lang="en-US" sz="1300" kern="0" spc="-80" dirty="0">
                <a:solidFill>
                  <a:schemeClr val="accent6"/>
                </a:solidFill>
              </a:rPr>
              <a:t> or dosage.</a:t>
            </a:r>
          </a:p>
          <a:p>
            <a:pPr marL="12700" marR="5080"/>
            <a:r>
              <a:rPr lang="en-US" sz="1300" kern="0" spc="-80" dirty="0">
                <a:solidFill>
                  <a:schemeClr val="accent2"/>
                </a:solidFill>
              </a:rPr>
              <a:t>Relationship definition:</a:t>
            </a:r>
            <a:r>
              <a:rPr lang="en-US" sz="1300" kern="0" spc="-80" dirty="0">
                <a:solidFill>
                  <a:schemeClr val="accent6"/>
                </a:solidFill>
              </a:rPr>
              <a:t> Define the types of relationships (or object properties) that can exist between different classes. For example, a Drug treats a Disease, and a Patient experiences a Symptom. </a:t>
            </a:r>
          </a:p>
          <a:p>
            <a:pPr marL="12700" marR="5080"/>
            <a:r>
              <a:rPr lang="en-US" sz="1300" kern="0" spc="-80" dirty="0">
                <a:solidFill>
                  <a:schemeClr val="accent2"/>
                </a:solidFill>
              </a:rPr>
              <a:t>3. Information extraction</a:t>
            </a:r>
          </a:p>
          <a:p>
            <a:pPr marL="12700" marR="5080"/>
            <a:r>
              <a:rPr lang="en-US" sz="1300" kern="0" spc="-80" dirty="0">
                <a:solidFill>
                  <a:schemeClr val="accent6"/>
                </a:solidFill>
              </a:rPr>
              <a:t>This phase uses advanced NLP techniques to extract structured data from the preprocessed text.</a:t>
            </a:r>
          </a:p>
          <a:p>
            <a:pPr marL="12700" marR="5080"/>
            <a:r>
              <a:rPr lang="en-US" sz="1300" kern="0" spc="-80" dirty="0">
                <a:solidFill>
                  <a:schemeClr val="accent2"/>
                </a:solidFill>
              </a:rPr>
              <a:t>Named Entity Recognition (NER):</a:t>
            </a:r>
            <a:r>
              <a:rPr lang="en-US" sz="1300" kern="0" spc="-80" dirty="0">
                <a:solidFill>
                  <a:schemeClr val="accent6"/>
                </a:solidFill>
              </a:rPr>
              <a:t> Identify and classify named entities in the text into predefined categories. Using the ontology as a guide, an NER model can recognize mentions of Disease or Drug (or e.g. PII data) within sentences.</a:t>
            </a:r>
          </a:p>
          <a:p>
            <a:pPr marL="12700" marR="5080"/>
            <a:r>
              <a:rPr lang="en-US" sz="1300" kern="0" spc="-80" dirty="0">
                <a:solidFill>
                  <a:schemeClr val="accent2"/>
                </a:solidFill>
              </a:rPr>
              <a:t>Relation extraction:</a:t>
            </a:r>
            <a:r>
              <a:rPr lang="en-US" sz="1300" kern="0" spc="-80" dirty="0">
                <a:solidFill>
                  <a:schemeClr val="accent6"/>
                </a:solidFill>
              </a:rPr>
              <a:t> Identify the semantic relationships between the entities recognized in the previous step. For example, after identifying the entities "aspirin" and "headache," relation extraction would determine that "aspirin" treats "headache". This often involves a combination of rule-based, statistical, or machine learning approaches.</a:t>
            </a:r>
          </a:p>
          <a:p>
            <a:pPr marL="12700" marR="5080"/>
            <a:r>
              <a:rPr lang="en-US" sz="1300" kern="0" spc="-80" dirty="0">
                <a:solidFill>
                  <a:schemeClr val="accent2"/>
                </a:solidFill>
              </a:rPr>
              <a:t>Co-reference resolution: </a:t>
            </a:r>
            <a:r>
              <a:rPr lang="en-US" sz="1300" kern="0" spc="-80" dirty="0">
                <a:solidFill>
                  <a:schemeClr val="accent6"/>
                </a:solidFill>
              </a:rPr>
              <a:t>Identify when different words or phrases refer to the same entity. For example, resolving that "the company" and "it" in a text both refer to "Google." This helps in consolidating nodes in the graph.</a:t>
            </a:r>
          </a:p>
          <a:p>
            <a:pPr marL="12700" marR="5080"/>
            <a:r>
              <a:rPr lang="en-US" sz="1300" kern="0" spc="-80" dirty="0">
                <a:solidFill>
                  <a:schemeClr val="accent2"/>
                </a:solidFill>
              </a:rPr>
              <a:t>Attribute extraction:</a:t>
            </a:r>
            <a:r>
              <a:rPr lang="en-US" sz="1300" kern="0" spc="-80" dirty="0">
                <a:solidFill>
                  <a:schemeClr val="accent6"/>
                </a:solidFill>
              </a:rPr>
              <a:t> Identify and extract the specific properties associated with an entity, such as a date, location, or numerical value. </a:t>
            </a:r>
          </a:p>
          <a:p>
            <a:pPr marL="12700" marR="5080"/>
            <a:r>
              <a:rPr lang="en-US" sz="1300" kern="0" spc="-80" dirty="0">
                <a:solidFill>
                  <a:schemeClr val="accent2"/>
                </a:solidFill>
              </a:rPr>
              <a:t>4. Graph construction</a:t>
            </a:r>
          </a:p>
          <a:p>
            <a:pPr marL="12700" marR="5080"/>
            <a:r>
              <a:rPr lang="en-US" sz="1300" kern="0" spc="-80" dirty="0">
                <a:solidFill>
                  <a:schemeClr val="accent6"/>
                </a:solidFill>
              </a:rPr>
              <a:t>This is the central step where the extracted information is used to populate the knowledge graph.</a:t>
            </a:r>
          </a:p>
          <a:p>
            <a:pPr marL="12700" marR="5080"/>
            <a:r>
              <a:rPr lang="en-US" sz="1300" kern="0" spc="-80" dirty="0">
                <a:solidFill>
                  <a:schemeClr val="accent2"/>
                </a:solidFill>
              </a:rPr>
              <a:t>Entity-to-node mapping:</a:t>
            </a:r>
            <a:r>
              <a:rPr lang="en-US" sz="1300" kern="0" spc="-80" dirty="0">
                <a:solidFill>
                  <a:schemeClr val="accent6"/>
                </a:solidFill>
              </a:rPr>
              <a:t> Create a node in the graph for each unique entity extracted from the text. The node is assigned a label corresponding to its class in the ontology (e.g., a node with the label Drug).</a:t>
            </a:r>
          </a:p>
          <a:p>
            <a:pPr marL="12700" marR="5080"/>
            <a:r>
              <a:rPr lang="en-US" sz="1300" kern="0" spc="-80" dirty="0">
                <a:solidFill>
                  <a:schemeClr val="accent2"/>
                </a:solidFill>
              </a:rPr>
              <a:t>Attribute-to-property mapping: </a:t>
            </a:r>
            <a:r>
              <a:rPr lang="en-US" sz="1300" kern="0" spc="-80" dirty="0">
                <a:solidFill>
                  <a:schemeClr val="accent6"/>
                </a:solidFill>
              </a:rPr>
              <a:t>Add the extracted attributes as properties to the corresponding entity nodes. For example, adding </a:t>
            </a:r>
            <a:r>
              <a:rPr lang="en-US" sz="1300" kern="0" spc="-80" dirty="0" err="1">
                <a:solidFill>
                  <a:schemeClr val="accent6"/>
                </a:solidFill>
              </a:rPr>
              <a:t>brandName</a:t>
            </a:r>
            <a:r>
              <a:rPr lang="en-US" sz="1300" kern="0" spc="-80" dirty="0">
                <a:solidFill>
                  <a:schemeClr val="accent6"/>
                </a:solidFill>
              </a:rPr>
              <a:t>: "Aspirin" to the "aspirin" node.</a:t>
            </a:r>
          </a:p>
        </p:txBody>
      </p:sp>
    </p:spTree>
    <p:extLst>
      <p:ext uri="{BB962C8B-B14F-4D97-AF65-F5344CB8AC3E}">
        <p14:creationId xmlns:p14="http://schemas.microsoft.com/office/powerpoint/2010/main" val="380615752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1968-0CD1-3110-EB33-57972DE018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891FBD-9A71-6F68-4202-0E98700D7E6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380DEAE-1D72-302B-ADC8-53C8F66AA1C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1B49D6F-8985-9F52-4F98-79BB1BE0401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C63AD81-2C73-E159-1249-14F0BAD6634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F434B4A9-8D47-3ABB-A84B-F2ED8D062496}"/>
              </a:ext>
            </a:extLst>
          </p:cNvPr>
          <p:cNvSpPr txBox="1">
            <a:spLocks/>
          </p:cNvSpPr>
          <p:nvPr/>
        </p:nvSpPr>
        <p:spPr>
          <a:xfrm>
            <a:off x="-1" y="1341839"/>
            <a:ext cx="8624937" cy="320087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Relationship-to-edge mapping:</a:t>
            </a:r>
            <a:r>
              <a:rPr lang="en-US" sz="1300" kern="0" spc="-80" dirty="0">
                <a:solidFill>
                  <a:schemeClr val="accent6"/>
                </a:solidFill>
              </a:rPr>
              <a:t> Create edges (relationships) between nodes based on the relationships identified during extraction. The edges are labeled with the appropriate relationship type from the ontology (e.g., an edge labeled treats connecting the "aspirin" node to the "headache" node).</a:t>
            </a:r>
          </a:p>
          <a:p>
            <a:pPr marL="12700" marR="5080"/>
            <a:r>
              <a:rPr lang="en-US" sz="1300" kern="0" spc="-80" dirty="0">
                <a:solidFill>
                  <a:schemeClr val="accent2"/>
                </a:solidFill>
              </a:rPr>
              <a:t>Disambiguation and merging: </a:t>
            </a:r>
            <a:r>
              <a:rPr lang="en-US" sz="1300" kern="0" spc="-80" dirty="0">
                <a:solidFill>
                  <a:schemeClr val="accent6"/>
                </a:solidFill>
              </a:rPr>
              <a:t>If the same entity is mentioned in different ways (e.g., "IBM" and "International Business Machines"), the workflow must use techniques to merge these into a single, canonical node, often using unique identifiers. </a:t>
            </a:r>
          </a:p>
          <a:p>
            <a:pPr marL="12700" marR="5080"/>
            <a:r>
              <a:rPr lang="en-US" sz="1300" kern="0" spc="-80" dirty="0">
                <a:solidFill>
                  <a:schemeClr val="accent2"/>
                </a:solidFill>
              </a:rPr>
              <a:t>5. Graph enrichment and querying</a:t>
            </a:r>
          </a:p>
          <a:p>
            <a:pPr marL="12700" marR="5080"/>
            <a:r>
              <a:rPr lang="en-US" sz="1300" kern="0" spc="-80" dirty="0">
                <a:solidFill>
                  <a:schemeClr val="accent6"/>
                </a:solidFill>
              </a:rPr>
              <a:t>Once constructed, the knowledge graph can be further enhanced and used for sophisticated analysis.</a:t>
            </a:r>
          </a:p>
          <a:p>
            <a:pPr marL="12700" marR="5080"/>
            <a:r>
              <a:rPr lang="en-US" sz="1300" kern="0" spc="-80" dirty="0">
                <a:solidFill>
                  <a:schemeClr val="accent2"/>
                </a:solidFill>
              </a:rPr>
              <a:t>Reasoning and inference: </a:t>
            </a:r>
            <a:r>
              <a:rPr lang="en-US" sz="1300" kern="0" spc="-80" dirty="0">
                <a:solidFill>
                  <a:schemeClr val="accent6"/>
                </a:solidFill>
              </a:rPr>
              <a:t>Apply logical rules (reasoners) defined in the ontology to infer new relationships or facts that were not explicitly stated in the text. For example, if a Drug treats a Disease, and a Disease is a Type of Condition, the system could infer that the Drug treats a Condition.</a:t>
            </a:r>
          </a:p>
          <a:p>
            <a:pPr marL="12700" marR="5080"/>
            <a:r>
              <a:rPr lang="en-US" sz="1300" kern="0" spc="-80" dirty="0">
                <a:solidFill>
                  <a:schemeClr val="accent2"/>
                </a:solidFill>
              </a:rPr>
              <a:t>Semantic search: </a:t>
            </a:r>
            <a:r>
              <a:rPr lang="en-US" sz="1300" kern="0" spc="-80" dirty="0">
                <a:solidFill>
                  <a:schemeClr val="accent6"/>
                </a:solidFill>
              </a:rPr>
              <a:t>Leverage the graph structure to enable more advanced, context-aware search queries. Instead of keyword matching, users can query based on relationships, such as "find all drugs that treat a disease experienced by patients over 50".</a:t>
            </a:r>
          </a:p>
          <a:p>
            <a:pPr marL="12700" marR="5080"/>
            <a:r>
              <a:rPr lang="en-US" sz="1300" kern="0" spc="-80" dirty="0">
                <a:solidFill>
                  <a:schemeClr val="accent2"/>
                </a:solidFill>
              </a:rPr>
              <a:t>Visualization: </a:t>
            </a:r>
            <a:r>
              <a:rPr lang="en-US" sz="1300" kern="0" spc="-80" dirty="0">
                <a:solidFill>
                  <a:schemeClr val="accent6"/>
                </a:solidFill>
              </a:rPr>
              <a:t>Visualize the resulting graph to help users explore and understand the complex relationships and insights contained within the data. </a:t>
            </a:r>
          </a:p>
        </p:txBody>
      </p:sp>
    </p:spTree>
    <p:extLst>
      <p:ext uri="{BB962C8B-B14F-4D97-AF65-F5344CB8AC3E}">
        <p14:creationId xmlns:p14="http://schemas.microsoft.com/office/powerpoint/2010/main" val="75760381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9887-ABFA-88A3-B5A1-EB1BB726C8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A3B809-C4BF-5C0E-F6BC-1062D63BF9B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F9454324-3573-30B5-E7EC-C711EE2F8D3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6B103DD-E4FD-236C-40EE-7CC10340A46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5DEECF6-452E-829A-9043-AB87A2E0308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3FA940FA-1586-9C25-4863-7BC63D4FDCF6}"/>
              </a:ext>
            </a:extLst>
          </p:cNvPr>
          <p:cNvSpPr txBox="1">
            <a:spLocks/>
          </p:cNvSpPr>
          <p:nvPr/>
        </p:nvSpPr>
        <p:spPr>
          <a:xfrm>
            <a:off x="-1" y="1341839"/>
            <a:ext cx="8624937" cy="24006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Example:</a:t>
            </a:r>
            <a:r>
              <a:rPr lang="en-US" sz="1300" kern="0" spc="-80" dirty="0">
                <a:solidFill>
                  <a:schemeClr val="accent6"/>
                </a:solidFill>
              </a:rPr>
              <a:t> Building a knowledge graph of news articles</a:t>
            </a:r>
          </a:p>
          <a:p>
            <a:pPr marL="12700" marR="5080"/>
            <a:r>
              <a:rPr lang="en-US" sz="1300" kern="0" spc="-80" dirty="0">
                <a:solidFill>
                  <a:schemeClr val="accent2"/>
                </a:solidFill>
              </a:rPr>
              <a:t>Text acquisition: </a:t>
            </a:r>
            <a:r>
              <a:rPr lang="en-US" sz="1300" kern="0" spc="-80" dirty="0">
                <a:solidFill>
                  <a:schemeClr val="accent6"/>
                </a:solidFill>
              </a:rPr>
              <a:t>Gather news articles about financial markets.</a:t>
            </a:r>
          </a:p>
          <a:p>
            <a:pPr marL="12700" marR="5080"/>
            <a:r>
              <a:rPr lang="en-US" sz="1300" kern="0" spc="-80" dirty="0">
                <a:solidFill>
                  <a:schemeClr val="accent2"/>
                </a:solidFill>
              </a:rPr>
              <a:t>Ontology definition: </a:t>
            </a:r>
            <a:r>
              <a:rPr lang="en-US" sz="1300" kern="0" spc="-80" dirty="0">
                <a:solidFill>
                  <a:schemeClr val="accent6"/>
                </a:solidFill>
              </a:rPr>
              <a:t>Define entities like Company, Person, </a:t>
            </a:r>
            <a:r>
              <a:rPr lang="en-US" sz="1300" kern="0" spc="-80" dirty="0" err="1">
                <a:solidFill>
                  <a:schemeClr val="accent6"/>
                </a:solidFill>
              </a:rPr>
              <a:t>StockMarketIndex</a:t>
            </a:r>
            <a:r>
              <a:rPr lang="en-US" sz="1300" kern="0" spc="-80" dirty="0">
                <a:solidFill>
                  <a:schemeClr val="accent6"/>
                </a:solidFill>
              </a:rPr>
              <a:t>, and relationships like Acquires, Announces, and Affects.</a:t>
            </a:r>
          </a:p>
          <a:p>
            <a:pPr marL="12700" marR="5080"/>
            <a:r>
              <a:rPr lang="en-US" sz="1300" kern="0" spc="-80" dirty="0">
                <a:solidFill>
                  <a:schemeClr val="accent2"/>
                </a:solidFill>
              </a:rPr>
              <a:t>Information extraction:</a:t>
            </a:r>
          </a:p>
          <a:p>
            <a:pPr marL="12700" marR="5080"/>
            <a:r>
              <a:rPr lang="en-US" sz="1300" kern="0" spc="-80" dirty="0">
                <a:solidFill>
                  <a:schemeClr val="accent2"/>
                </a:solidFill>
              </a:rPr>
              <a:t>NER:</a:t>
            </a:r>
            <a:r>
              <a:rPr lang="en-US" sz="1300" kern="0" spc="-80" dirty="0">
                <a:solidFill>
                  <a:schemeClr val="accent6"/>
                </a:solidFill>
              </a:rPr>
              <a:t> Identify entities like "Microsoft" (Company) and "Dow Jones" (</a:t>
            </a:r>
            <a:r>
              <a:rPr lang="en-US" sz="1300" kern="0" spc="-80" dirty="0" err="1">
                <a:solidFill>
                  <a:schemeClr val="accent6"/>
                </a:solidFill>
              </a:rPr>
              <a:t>StockMarketIndex</a:t>
            </a:r>
            <a:r>
              <a:rPr lang="en-US" sz="1300" kern="0" spc="-80" dirty="0">
                <a:solidFill>
                  <a:schemeClr val="accent6"/>
                </a:solidFill>
              </a:rPr>
              <a:t>).</a:t>
            </a:r>
          </a:p>
          <a:p>
            <a:pPr marL="12700" marR="5080"/>
            <a:r>
              <a:rPr lang="en-US" sz="1300" kern="0" spc="-80" dirty="0">
                <a:solidFill>
                  <a:schemeClr val="accent2"/>
                </a:solidFill>
              </a:rPr>
              <a:t>Relation extraction: </a:t>
            </a:r>
            <a:r>
              <a:rPr lang="en-US" sz="1300" kern="0" spc="-80" dirty="0">
                <a:solidFill>
                  <a:schemeClr val="accent6"/>
                </a:solidFill>
              </a:rPr>
              <a:t>Discover that "Microsoft acquires GitHub" creates an Acquires relationship.</a:t>
            </a:r>
          </a:p>
          <a:p>
            <a:pPr marL="12700" marR="5080"/>
            <a:r>
              <a:rPr lang="en-US" sz="1300" kern="0" spc="-80" dirty="0">
                <a:solidFill>
                  <a:schemeClr val="accent2"/>
                </a:solidFill>
              </a:rPr>
              <a:t>Graph construction:</a:t>
            </a:r>
          </a:p>
          <a:p>
            <a:pPr marL="12700" marR="5080"/>
            <a:r>
              <a:rPr lang="en-US" sz="1300" kern="0" spc="-80" dirty="0">
                <a:solidFill>
                  <a:schemeClr val="accent6"/>
                </a:solidFill>
              </a:rPr>
              <a:t>Create nodes for Microsoft and GitHub.</a:t>
            </a:r>
          </a:p>
          <a:p>
            <a:pPr marL="12700" marR="5080"/>
            <a:r>
              <a:rPr lang="en-US" sz="1300" kern="0" spc="-80" dirty="0">
                <a:solidFill>
                  <a:schemeClr val="accent6"/>
                </a:solidFill>
              </a:rPr>
              <a:t>Add an edge labeled Acquires from the Microsoft node to the GitHub node.</a:t>
            </a:r>
          </a:p>
          <a:p>
            <a:pPr marL="12700" marR="5080"/>
            <a:r>
              <a:rPr lang="en-US" sz="1300" kern="0" spc="-80" dirty="0">
                <a:solidFill>
                  <a:schemeClr val="accent2"/>
                </a:solidFill>
              </a:rPr>
              <a:t>Querying: </a:t>
            </a:r>
            <a:r>
              <a:rPr lang="en-US" sz="1300" kern="0" spc="-80" dirty="0">
                <a:solidFill>
                  <a:schemeClr val="accent6"/>
                </a:solidFill>
              </a:rPr>
              <a:t>A user could now ask a query like "show me all companies that have acquired another company in the last year" and the graph could provide a direct answer. </a:t>
            </a:r>
          </a:p>
        </p:txBody>
      </p:sp>
    </p:spTree>
    <p:extLst>
      <p:ext uri="{BB962C8B-B14F-4D97-AF65-F5344CB8AC3E}">
        <p14:creationId xmlns:p14="http://schemas.microsoft.com/office/powerpoint/2010/main" val="409660553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EE2E1-22EB-7FF2-42C5-2ACE44744CC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B4308C-3CCD-BF30-EF7E-E8DF651227BA}"/>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0A870CB-FED4-723F-53B3-3B9293550A11}"/>
              </a:ext>
            </a:extLst>
          </p:cNvPr>
          <p:cNvSpPr/>
          <p:nvPr/>
        </p:nvSpPr>
        <p:spPr>
          <a:xfrm>
            <a:off x="1661159" y="100368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EE6A432-B52D-9D26-2F21-A56BD3B14C9E}"/>
              </a:ext>
            </a:extLst>
          </p:cNvPr>
          <p:cNvSpPr/>
          <p:nvPr/>
        </p:nvSpPr>
        <p:spPr>
          <a:xfrm>
            <a:off x="1661159" y="80802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BC9D4E9-48F7-5EF1-B50F-CD102809A530}"/>
              </a:ext>
            </a:extLst>
          </p:cNvPr>
          <p:cNvGraphicFramePr/>
          <p:nvPr>
            <p:extLst>
              <p:ext uri="{D42A27DB-BD31-4B8C-83A1-F6EECF244321}">
                <p14:modId xmlns:p14="http://schemas.microsoft.com/office/powerpoint/2010/main" val="155217263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EDCE4CB1-3A84-1CDB-CB1C-9274C090096D}"/>
              </a:ext>
            </a:extLst>
          </p:cNvPr>
          <p:cNvSpPr txBox="1">
            <a:spLocks/>
          </p:cNvSpPr>
          <p:nvPr/>
        </p:nvSpPr>
        <p:spPr>
          <a:xfrm>
            <a:off x="10160" y="1117350"/>
            <a:ext cx="8624937" cy="48090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250" dirty="0">
                <a:hlinkClick r:id="rId7"/>
              </a:rPr>
              <a:t>Natural Language Processing (NLP) Tutorial | </a:t>
            </a:r>
            <a:r>
              <a:rPr lang="en-IN" sz="1250" dirty="0" err="1">
                <a:hlinkClick r:id="rId7"/>
              </a:rPr>
              <a:t>GeeksforGeeks</a:t>
            </a:r>
            <a:endParaRPr lang="en-IN" sz="1250" dirty="0"/>
          </a:p>
          <a:p>
            <a:pPr marL="12700" marR="5080"/>
            <a:r>
              <a:rPr lang="en-US" sz="1250" dirty="0">
                <a:hlinkClick r:id="rId8"/>
              </a:rPr>
              <a:t>Natural Language Processing: Data Analysis Like Never Before</a:t>
            </a:r>
            <a:endParaRPr lang="en-US" sz="1250" dirty="0"/>
          </a:p>
          <a:p>
            <a:pPr marL="12700" marR="5080"/>
            <a:r>
              <a:rPr lang="en-US" sz="1250" dirty="0">
                <a:hlinkClick r:id="rId9"/>
              </a:rPr>
              <a:t>Natural Language Processing: Concepts and Workflow</a:t>
            </a:r>
            <a:endParaRPr lang="en-US" sz="1250" dirty="0"/>
          </a:p>
          <a:p>
            <a:pPr marL="12700" marR="5080"/>
            <a:r>
              <a:rPr lang="en-US" sz="1250" dirty="0">
                <a:hlinkClick r:id="rId10"/>
              </a:rPr>
              <a:t>Taming Text</a:t>
            </a:r>
            <a:endParaRPr lang="en-US" sz="1250" dirty="0"/>
          </a:p>
          <a:p>
            <a:pPr marL="12700" marR="5080"/>
            <a:r>
              <a:rPr lang="en-US" sz="1250" dirty="0">
                <a:hlinkClick r:id="rId11"/>
              </a:rPr>
              <a:t>NLP with Python and Spacy</a:t>
            </a:r>
            <a:endParaRPr lang="en-US" sz="1250" dirty="0"/>
          </a:p>
          <a:p>
            <a:pPr marL="12700" marR="5080"/>
            <a:r>
              <a:rPr lang="en-US" sz="1250" dirty="0">
                <a:hlinkClick r:id="rId12"/>
              </a:rPr>
              <a:t>Mastering-</a:t>
            </a:r>
            <a:r>
              <a:rPr lang="en-US" sz="1250" dirty="0" err="1">
                <a:hlinkClick r:id="rId12"/>
              </a:rPr>
              <a:t>spaCy</a:t>
            </a:r>
            <a:endParaRPr lang="en-US" sz="1250" dirty="0"/>
          </a:p>
          <a:p>
            <a:pPr marL="12700" marR="5080"/>
            <a:r>
              <a:rPr lang="en-IN" sz="1250" dirty="0">
                <a:hlinkClick r:id="rId13"/>
              </a:rPr>
              <a:t>Practical NLP</a:t>
            </a:r>
            <a:endParaRPr lang="en-IN" sz="1250" dirty="0"/>
          </a:p>
          <a:p>
            <a:pPr marL="12700" marR="5080"/>
            <a:r>
              <a:rPr lang="en-US" sz="1250" dirty="0">
                <a:hlinkClick r:id="rId14"/>
              </a:rPr>
              <a:t>Machine Learning for Text </a:t>
            </a:r>
            <a:endParaRPr lang="en-US" sz="1250" dirty="0"/>
          </a:p>
          <a:p>
            <a:pPr marL="12700" marR="5080"/>
            <a:r>
              <a:rPr lang="en-IN" sz="1250" dirty="0">
                <a:hlinkClick r:id="rId15"/>
              </a:rPr>
              <a:t>Speech and Language Processing</a:t>
            </a:r>
            <a:endParaRPr lang="en-IN" sz="1250" dirty="0"/>
          </a:p>
          <a:p>
            <a:pPr marL="12700" marR="5080"/>
            <a:r>
              <a:rPr lang="en-IN" sz="1250" dirty="0">
                <a:hlinkClick r:id="rId16"/>
              </a:rPr>
              <a:t>Graph-based Natural Language Processing and Information Retrieval</a:t>
            </a:r>
            <a:endParaRPr lang="en-IN" sz="1250" dirty="0"/>
          </a:p>
          <a:p>
            <a:pPr marL="12700" marR="5080"/>
            <a:r>
              <a:rPr lang="en-US" sz="1250" dirty="0">
                <a:hlinkClick r:id="rId17"/>
              </a:rPr>
              <a:t>Representation Learning for Natural Language Processing</a:t>
            </a:r>
            <a:endParaRPr lang="en-US" sz="1250" dirty="0"/>
          </a:p>
          <a:p>
            <a:pPr marL="12700" marR="5080"/>
            <a:r>
              <a:rPr lang="en-US" sz="1250" dirty="0">
                <a:hlinkClick r:id="rId18"/>
              </a:rPr>
              <a:t>Sentiment Analysis</a:t>
            </a:r>
            <a:endParaRPr lang="en-US" sz="1250" dirty="0"/>
          </a:p>
          <a:p>
            <a:pPr marL="12700" marR="5080"/>
            <a:r>
              <a:rPr lang="en-US" sz="1250" dirty="0">
                <a:hlinkClick r:id="rId19"/>
              </a:rPr>
              <a:t>7 Applications of Deep Learning for Natural Language Processing</a:t>
            </a:r>
            <a:endParaRPr lang="en-US" sz="1250" dirty="0"/>
          </a:p>
          <a:p>
            <a:pPr marL="12700" marR="5080"/>
            <a:r>
              <a:rPr lang="en-US" sz="1250" dirty="0">
                <a:hlinkClick r:id="rId20"/>
              </a:rPr>
              <a:t>How to create a Spell Checker with NLP? </a:t>
            </a:r>
            <a:endParaRPr lang="en-US" sz="1250" dirty="0"/>
          </a:p>
          <a:p>
            <a:pPr marL="12700" marR="5080"/>
            <a:r>
              <a:rPr lang="en-US" sz="1250" dirty="0">
                <a:hlinkClick r:id="rId21"/>
              </a:rPr>
              <a:t>NLP: Building a Grammatical Error Correction mode</a:t>
            </a:r>
            <a:endParaRPr lang="en-US" sz="1250" dirty="0"/>
          </a:p>
          <a:p>
            <a:pPr marL="12700" marR="5080"/>
            <a:r>
              <a:rPr lang="en-US" sz="1250" dirty="0">
                <a:hlinkClick r:id="rId22"/>
              </a:rPr>
              <a:t>Open-Resume</a:t>
            </a:r>
            <a:endParaRPr lang="en-US" sz="1250" dirty="0"/>
          </a:p>
          <a:p>
            <a:pPr marL="12700" marR="5080"/>
            <a:r>
              <a:rPr lang="en-US" sz="1250" dirty="0">
                <a:hlinkClick r:id="rId23"/>
              </a:rPr>
              <a:t>Resume-Matcher</a:t>
            </a:r>
            <a:endParaRPr lang="en-US" sz="1250" dirty="0"/>
          </a:p>
          <a:p>
            <a:pPr marL="12700" marR="5080"/>
            <a:r>
              <a:rPr lang="en-IN" sz="1250" dirty="0">
                <a:hlinkClick r:id="rId24"/>
              </a:rPr>
              <a:t>Text to Speech Models</a:t>
            </a:r>
            <a:endParaRPr lang="en-IN" sz="1250" dirty="0"/>
          </a:p>
          <a:p>
            <a:pPr marL="12700" marR="5080"/>
            <a:r>
              <a:rPr lang="en-US" sz="1250" dirty="0">
                <a:hlinkClick r:id="rId25"/>
              </a:rPr>
              <a:t>Crafting conversational AI: Speech-to-text (STT)</a:t>
            </a:r>
            <a:endParaRPr lang="en-IN" sz="1250" dirty="0"/>
          </a:p>
          <a:p>
            <a:pPr marL="12700" marR="5080"/>
            <a:r>
              <a:rPr lang="en-US" sz="1250" dirty="0">
                <a:hlinkClick r:id="rId26"/>
              </a:rPr>
              <a:t>Azure AI services for Call Center Overview</a:t>
            </a:r>
            <a:endParaRPr lang="en-US" sz="1250" dirty="0"/>
          </a:p>
          <a:p>
            <a:pPr marL="12700" marR="5080"/>
            <a:r>
              <a:rPr lang="en-US" sz="1250" dirty="0">
                <a:hlinkClick r:id="rId27"/>
              </a:rPr>
              <a:t>Contact centers with Azure Communication Services</a:t>
            </a:r>
            <a:endParaRPr lang="en-US" sz="1250" dirty="0"/>
          </a:p>
          <a:p>
            <a:pPr marL="12700" marR="5080"/>
            <a:r>
              <a:rPr lang="en-US" sz="1250" dirty="0">
                <a:hlinkClick r:id="rId28"/>
              </a:rPr>
              <a:t>Call Center Telephony Integration</a:t>
            </a:r>
            <a:endParaRPr lang="en-US" sz="1250" dirty="0"/>
          </a:p>
          <a:p>
            <a:pPr marL="12700" marR="5080"/>
            <a:r>
              <a:rPr lang="en-US" sz="1250" dirty="0">
                <a:hlinkClick r:id="rId29"/>
              </a:rPr>
              <a:t>Call-Center-AI</a:t>
            </a:r>
            <a:endParaRPr lang="en-US" sz="1250" dirty="0"/>
          </a:p>
          <a:p>
            <a:pPr marL="12700" marR="5080"/>
            <a:r>
              <a:rPr lang="en-US" sz="1250" dirty="0">
                <a:hlinkClick r:id="rId30"/>
              </a:rPr>
              <a:t>Amazon Q in Connect</a:t>
            </a:r>
            <a:endParaRPr lang="en-US" sz="1250" dirty="0"/>
          </a:p>
          <a:p>
            <a:pPr marL="12700" marR="5080"/>
            <a:r>
              <a:rPr lang="en-IN" sz="1250" dirty="0">
                <a:hlinkClick r:id="rId31"/>
              </a:rPr>
              <a:t>Contact </a:t>
            </a:r>
            <a:r>
              <a:rPr lang="en-IN" sz="1250" dirty="0" err="1">
                <a:hlinkClick r:id="rId31"/>
              </a:rPr>
              <a:t>Center</a:t>
            </a:r>
            <a:r>
              <a:rPr lang="en-IN" sz="1250" dirty="0">
                <a:hlinkClick r:id="rId31"/>
              </a:rPr>
              <a:t> as a Service | Google Cloud</a:t>
            </a:r>
            <a:endParaRPr lang="en-US" sz="1250" kern="0" spc="-220" dirty="0">
              <a:solidFill>
                <a:schemeClr val="accent2"/>
              </a:solidFill>
            </a:endParaRPr>
          </a:p>
        </p:txBody>
      </p:sp>
    </p:spTree>
    <p:extLst>
      <p:ext uri="{BB962C8B-B14F-4D97-AF65-F5344CB8AC3E}">
        <p14:creationId xmlns:p14="http://schemas.microsoft.com/office/powerpoint/2010/main" val="44498150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9E225-20B9-9CC0-03C8-230AFF41B3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DBDBFF1-C774-989C-492C-F9884DF8DBA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DEACF8C-B1C8-424F-DB4E-ECAA82005255}"/>
              </a:ext>
            </a:extLst>
          </p:cNvPr>
          <p:cNvSpPr/>
          <p:nvPr/>
        </p:nvSpPr>
        <p:spPr>
          <a:xfrm>
            <a:off x="1671319" y="115207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5E93CA8-D89D-8E7C-3E5B-09AF2E3DF786}"/>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F89D2C2-A05D-1A81-06AF-7B16FAB9CD64}"/>
              </a:ext>
            </a:extLst>
          </p:cNvPr>
          <p:cNvGraphicFramePr/>
          <p:nvPr>
            <p:extLst>
              <p:ext uri="{D42A27DB-BD31-4B8C-83A1-F6EECF244321}">
                <p14:modId xmlns:p14="http://schemas.microsoft.com/office/powerpoint/2010/main" val="3793329286"/>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DC5CA12A-04E8-FCCB-A456-EE5C553D5383}"/>
              </a:ext>
            </a:extLst>
          </p:cNvPr>
          <p:cNvSpPr txBox="1">
            <a:spLocks/>
          </p:cNvSpPr>
          <p:nvPr/>
        </p:nvSpPr>
        <p:spPr>
          <a:xfrm>
            <a:off x="-10160" y="5300093"/>
            <a:ext cx="8624937" cy="7371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a:t>
            </a:r>
          </a:p>
          <a:p>
            <a:pPr marL="12700" marR="5080"/>
            <a:r>
              <a:rPr lang="en-IN" sz="1400" dirty="0">
                <a:hlinkClick r:id="rId7"/>
              </a:rPr>
              <a:t>Deep Learning Vs Traditional Computer Vision</a:t>
            </a:r>
            <a:endParaRPr lang="en-IN" sz="1400" dirty="0"/>
          </a:p>
          <a:p>
            <a:pPr marL="12700" marR="5080"/>
            <a:endParaRPr lang="en-US" sz="1390" kern="0" spc="-220" dirty="0">
              <a:solidFill>
                <a:schemeClr val="accent6"/>
              </a:solidFill>
            </a:endParaRPr>
          </a:p>
        </p:txBody>
      </p:sp>
      <p:pic>
        <p:nvPicPr>
          <p:cNvPr id="1026" name="Picture 2" descr="Deep Learning vs Traditional Techniques: Which Should You Choose? |  Discover Computer Vision">
            <a:extLst>
              <a:ext uri="{FF2B5EF4-FFF2-40B4-BE49-F238E27FC236}">
                <a16:creationId xmlns:a16="http://schemas.microsoft.com/office/drawing/2014/main" id="{96AEE1B1-B610-9829-DFDB-4FA31D21E00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65" y="1295399"/>
            <a:ext cx="9026074" cy="4038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36215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F6F31-32BE-C6CE-6AD4-4FD1D2A01D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4A05BB-63C9-3B5D-0923-10DD368AF84C}"/>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90E2225-280E-4497-790F-9E8AF295EEA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63F11A7-4633-1121-4323-EBC8EA8C9813}"/>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91BC394-E356-3B4B-C02F-2906ACD06994}"/>
              </a:ext>
            </a:extLst>
          </p:cNvPr>
          <p:cNvGraphicFramePr/>
          <p:nvPr>
            <p:extLst>
              <p:ext uri="{D42A27DB-BD31-4B8C-83A1-F6EECF244321}">
                <p14:modId xmlns:p14="http://schemas.microsoft.com/office/powerpoint/2010/main" val="179505937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73E9DDA8-4AE7-E74E-7E17-7244FE2EBBE0}"/>
              </a:ext>
            </a:extLst>
          </p:cNvPr>
          <p:cNvSpPr txBox="1">
            <a:spLocks/>
          </p:cNvSpPr>
          <p:nvPr/>
        </p:nvSpPr>
        <p:spPr>
          <a:xfrm>
            <a:off x="-60961" y="5185329"/>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220" dirty="0">
                <a:solidFill>
                  <a:schemeClr val="accent2"/>
                </a:solidFill>
              </a:rPr>
              <a:t>For Further Exploration-</a:t>
            </a:r>
          </a:p>
          <a:p>
            <a:pPr marL="12700" marR="5080"/>
            <a:r>
              <a:rPr lang="en-US" sz="1200" dirty="0">
                <a:hlinkClick r:id="rId7"/>
              </a:rPr>
              <a:t>Workflow of Computer Vision: From Data Acquisition to Decision Making</a:t>
            </a:r>
            <a:endParaRPr lang="en-US" sz="1200" dirty="0"/>
          </a:p>
          <a:p>
            <a:pPr marL="12700" marR="5080"/>
            <a:r>
              <a:rPr lang="en-US" sz="1200" dirty="0">
                <a:hlinkClick r:id="rId8"/>
              </a:rPr>
              <a:t>Understanding the Key Steps in a Computer Vision Project</a:t>
            </a:r>
            <a:endParaRPr lang="en-US" sz="1200" dirty="0"/>
          </a:p>
        </p:txBody>
      </p:sp>
      <p:pic>
        <p:nvPicPr>
          <p:cNvPr id="5122" name="Picture 2" descr="workflow-of-computer-vision-system">
            <a:extLst>
              <a:ext uri="{FF2B5EF4-FFF2-40B4-BE49-F238E27FC236}">
                <a16:creationId xmlns:a16="http://schemas.microsoft.com/office/drawing/2014/main" id="{7141E472-03C3-B6F8-8A0B-C69451787BC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801" y="1295399"/>
            <a:ext cx="9144000" cy="3962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95917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1626C-3978-2460-C27E-EF5142117B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740DDA-2278-F2E8-A3F6-1E848F4171E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F2B4DC15-4A0F-C977-D783-8A5CC032F392}"/>
              </a:ext>
            </a:extLst>
          </p:cNvPr>
          <p:cNvSpPr/>
          <p:nvPr/>
        </p:nvSpPr>
        <p:spPr>
          <a:xfrm>
            <a:off x="1661159" y="95506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A08203D-7E80-0AA7-41F3-89F0CDFA2D94}"/>
              </a:ext>
            </a:extLst>
          </p:cNvPr>
          <p:cNvSpPr/>
          <p:nvPr/>
        </p:nvSpPr>
        <p:spPr>
          <a:xfrm>
            <a:off x="1661159" y="7620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E027ED1-1EB9-F086-699B-F21CC3B51301}"/>
              </a:ext>
            </a:extLst>
          </p:cNvPr>
          <p:cNvGraphicFramePr/>
          <p:nvPr>
            <p:extLst>
              <p:ext uri="{D42A27DB-BD31-4B8C-83A1-F6EECF244321}">
                <p14:modId xmlns:p14="http://schemas.microsoft.com/office/powerpoint/2010/main" val="140703158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C4AE5708-8647-F593-5259-FAC778E99798}"/>
              </a:ext>
            </a:extLst>
          </p:cNvPr>
          <p:cNvSpPr txBox="1">
            <a:spLocks/>
          </p:cNvSpPr>
          <p:nvPr/>
        </p:nvSpPr>
        <p:spPr>
          <a:xfrm>
            <a:off x="8254" y="108397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100" dirty="0">
                <a:hlinkClick r:id="rId7"/>
              </a:rPr>
              <a:t>Computer Vision Tutorial | </a:t>
            </a:r>
            <a:r>
              <a:rPr lang="en-IN" sz="1100" dirty="0" err="1">
                <a:hlinkClick r:id="rId7"/>
              </a:rPr>
              <a:t>GeeksforGeeks</a:t>
            </a:r>
            <a:endParaRPr lang="en-US" sz="1100" dirty="0">
              <a:hlinkClick r:id="rId8"/>
            </a:endParaRPr>
          </a:p>
          <a:p>
            <a:pPr marL="12700" marR="5080"/>
            <a:r>
              <a:rPr lang="en-US" sz="1100" dirty="0">
                <a:hlinkClick r:id="rId8"/>
              </a:rPr>
              <a:t>9 Applications of Deep Learning for Computer Vision</a:t>
            </a:r>
            <a:endParaRPr lang="en-US" sz="1100" dirty="0"/>
          </a:p>
          <a:p>
            <a:pPr marL="12700" marR="5080"/>
            <a:r>
              <a:rPr lang="en-IN" sz="1100" dirty="0">
                <a:hlinkClick r:id="rId9"/>
              </a:rPr>
              <a:t>Foundations of Computer Vision</a:t>
            </a:r>
            <a:endParaRPr lang="en-US" sz="1100" dirty="0"/>
          </a:p>
          <a:p>
            <a:pPr marL="12700" marR="5080"/>
            <a:r>
              <a:rPr lang="en-US" sz="1100" dirty="0">
                <a:hlinkClick r:id="rId10"/>
              </a:rPr>
              <a:t>15 Computer Visions Projects You Can Do Right Now</a:t>
            </a:r>
            <a:endParaRPr lang="en-US" sz="1100" dirty="0"/>
          </a:p>
          <a:p>
            <a:pPr marL="12700" marR="5080"/>
            <a:r>
              <a:rPr lang="fr-FR" sz="1100" dirty="0">
                <a:hlinkClick r:id="rId11"/>
              </a:rPr>
              <a:t>Image </a:t>
            </a:r>
            <a:r>
              <a:rPr lang="fr-FR" sz="1100" dirty="0" err="1">
                <a:hlinkClick r:id="rId11"/>
              </a:rPr>
              <a:t>Processing</a:t>
            </a:r>
            <a:r>
              <a:rPr lang="fr-FR" sz="1100" dirty="0">
                <a:hlinkClick r:id="rId11"/>
              </a:rPr>
              <a:t>: Techniques, Types, &amp; Applications</a:t>
            </a:r>
            <a:endParaRPr lang="fr-FR" sz="1100" dirty="0"/>
          </a:p>
          <a:p>
            <a:pPr marL="12700" marR="5080"/>
            <a:r>
              <a:rPr lang="en-IN" sz="1100" dirty="0">
                <a:hlinkClick r:id="rId12"/>
              </a:rPr>
              <a:t>Hands-On-Image-Processing-with-Python</a:t>
            </a:r>
            <a:endParaRPr lang="en-US" sz="1100" kern="0" spc="-220" dirty="0">
              <a:solidFill>
                <a:schemeClr val="accent2"/>
              </a:solidFill>
            </a:endParaRPr>
          </a:p>
          <a:p>
            <a:pPr marL="12700" marR="5080"/>
            <a:r>
              <a:rPr lang="en-US" sz="1100" dirty="0">
                <a:hlinkClick r:id="rId13"/>
              </a:rPr>
              <a:t>Why you should care about classical approaches to computer vision</a:t>
            </a:r>
            <a:endParaRPr lang="en-US" sz="1100" dirty="0"/>
          </a:p>
          <a:p>
            <a:pPr marL="12700" marR="5080"/>
            <a:r>
              <a:rPr lang="en-US" sz="1100" dirty="0">
                <a:hlinkClick r:id="rId14"/>
              </a:rPr>
              <a:t>Concepts in Classical Computer Vision | Artificial Intelligence in Plain English</a:t>
            </a:r>
            <a:endParaRPr lang="en-US" sz="1100" dirty="0"/>
          </a:p>
          <a:p>
            <a:pPr marL="12700" marR="5080"/>
            <a:r>
              <a:rPr lang="en-US" sz="1100" dirty="0">
                <a:hlinkClick r:id="rId15"/>
              </a:rPr>
              <a:t>Image representation in Computer Vision | by </a:t>
            </a:r>
            <a:r>
              <a:rPr lang="en-US" sz="1100" dirty="0" err="1">
                <a:hlinkClick r:id="rId15"/>
              </a:rPr>
              <a:t>Sumitkrsharma</a:t>
            </a:r>
            <a:r>
              <a:rPr lang="en-US" sz="1100" dirty="0">
                <a:hlinkClick r:id="rId15"/>
              </a:rPr>
              <a:t> | Medium</a:t>
            </a:r>
            <a:endParaRPr lang="en-US" sz="1100" dirty="0"/>
          </a:p>
          <a:p>
            <a:pPr marL="12700" marR="5080"/>
            <a:r>
              <a:rPr lang="en-IN" sz="1100" dirty="0">
                <a:hlinkClick r:id="rId16"/>
              </a:rPr>
              <a:t>Computer Vision Lectures</a:t>
            </a:r>
            <a:endParaRPr lang="en-IN" sz="1100" dirty="0"/>
          </a:p>
          <a:p>
            <a:pPr marL="12700" marR="5080"/>
            <a:r>
              <a:rPr lang="en-US" sz="1100" dirty="0">
                <a:hlinkClick r:id="rId17"/>
              </a:rPr>
              <a:t>Feature Extraction and IP in Computer Vision</a:t>
            </a:r>
            <a:endParaRPr lang="en-US" sz="1100" dirty="0"/>
          </a:p>
          <a:p>
            <a:pPr marL="12700" marR="5080"/>
            <a:r>
              <a:rPr lang="en-IN" sz="1100" dirty="0">
                <a:hlinkClick r:id="rId18"/>
              </a:rPr>
              <a:t>Classical and Modern Techniques of Computer Vision</a:t>
            </a:r>
            <a:endParaRPr lang="en-IN" sz="1100" dirty="0"/>
          </a:p>
          <a:p>
            <a:pPr marL="12700" marR="5080"/>
            <a:r>
              <a:rPr lang="en-US" sz="1100" dirty="0">
                <a:hlinkClick r:id="rId19"/>
              </a:rPr>
              <a:t>Image Processing, Analysis, and Machine Vision</a:t>
            </a:r>
            <a:endParaRPr lang="en-US" sz="1100" dirty="0"/>
          </a:p>
          <a:p>
            <a:pPr marL="12700" marR="5080"/>
            <a:r>
              <a:rPr lang="en-IN" sz="1100" dirty="0">
                <a:hlinkClick r:id="rId20"/>
              </a:rPr>
              <a:t>CV Lecture Notes</a:t>
            </a:r>
            <a:endParaRPr lang="en-IN" sz="1100" dirty="0"/>
          </a:p>
          <a:p>
            <a:pPr marL="12700" marR="5080"/>
            <a:r>
              <a:rPr lang="en-IN" sz="1100" dirty="0">
                <a:hlinkClick r:id="rId21"/>
              </a:rPr>
              <a:t>Notes on Multi-View Geometry in Computer Vision</a:t>
            </a:r>
            <a:endParaRPr lang="en-IN" sz="1100" dirty="0"/>
          </a:p>
          <a:p>
            <a:pPr marL="12700" marR="5080"/>
            <a:r>
              <a:rPr lang="en-US" sz="1100" dirty="0">
                <a:hlinkClick r:id="rId22"/>
              </a:rPr>
              <a:t>Deep Learning Applications for Computer Vision | </a:t>
            </a:r>
            <a:r>
              <a:rPr lang="en-US" sz="1100" dirty="0" err="1">
                <a:hlinkClick r:id="rId22"/>
              </a:rPr>
              <a:t>Serokell</a:t>
            </a:r>
            <a:endParaRPr lang="en-IN" sz="1100" dirty="0"/>
          </a:p>
          <a:p>
            <a:pPr marL="12700" marR="5080"/>
            <a:r>
              <a:rPr lang="en-US" sz="1100" dirty="0">
                <a:hlinkClick r:id="rId23"/>
              </a:rPr>
              <a:t>Transformers-for-NLP-and-Computer-Vision</a:t>
            </a:r>
            <a:endParaRPr lang="en-US" sz="1100" dirty="0"/>
          </a:p>
          <a:p>
            <a:pPr marL="12700" marR="5080"/>
            <a:r>
              <a:rPr lang="en-US" sz="1100" dirty="0">
                <a:hlinkClick r:id="rId24"/>
              </a:rPr>
              <a:t>Computer Vision and Deep Learning Courses - CVDL Master</a:t>
            </a:r>
            <a:endParaRPr lang="en-US" sz="1100" dirty="0"/>
          </a:p>
          <a:p>
            <a:pPr marL="12700" marR="5080"/>
            <a:r>
              <a:rPr lang="en-US" sz="1100" dirty="0">
                <a:hlinkClick r:id="rId25"/>
              </a:rPr>
              <a:t>Intelligent-Document-Processing-with-AWS-AI-ML</a:t>
            </a:r>
            <a:endParaRPr lang="en-US" sz="1100" dirty="0"/>
          </a:p>
          <a:p>
            <a:pPr marL="12700" marR="5080"/>
            <a:r>
              <a:rPr lang="en-IN" sz="1100" dirty="0">
                <a:hlinkClick r:id="rId26"/>
              </a:rPr>
              <a:t>Tesseract-OCR</a:t>
            </a:r>
            <a:endParaRPr lang="en-IN" sz="1100" dirty="0"/>
          </a:p>
          <a:p>
            <a:pPr marL="12700" marR="5080"/>
            <a:r>
              <a:rPr lang="en-US" sz="1100" dirty="0">
                <a:hlinkClick r:id="rId27"/>
              </a:rPr>
              <a:t>Identity Management with Biometrics</a:t>
            </a:r>
            <a:endParaRPr lang="en-US" sz="1100" dirty="0"/>
          </a:p>
          <a:p>
            <a:pPr marL="12700" marR="5080"/>
            <a:r>
              <a:rPr lang="en-US" sz="1100" dirty="0">
                <a:hlinkClick r:id="rId28"/>
              </a:rPr>
              <a:t>Remote sensing, GIS and GPS</a:t>
            </a:r>
            <a:endParaRPr lang="en-US" sz="1100" dirty="0"/>
          </a:p>
          <a:p>
            <a:pPr marL="12700" marR="5080"/>
            <a:r>
              <a:rPr lang="en-IN" sz="1100" dirty="0">
                <a:hlinkClick r:id="rId29"/>
              </a:rPr>
              <a:t>REMOTE SENSING AND GIS</a:t>
            </a:r>
            <a:endParaRPr lang="en-IN" sz="1100" dirty="0"/>
          </a:p>
          <a:p>
            <a:pPr marL="12700" marR="5080"/>
            <a:r>
              <a:rPr lang="en-US" sz="1100" dirty="0">
                <a:hlinkClick r:id="rId30"/>
              </a:rPr>
              <a:t>Hands-On-Vision-and-Behavior-for-Self-Driving-Cars</a:t>
            </a:r>
            <a:endParaRPr lang="en-US" sz="1100" dirty="0"/>
          </a:p>
          <a:p>
            <a:pPr marL="12700" marR="5080"/>
            <a:r>
              <a:rPr lang="en-US" sz="1100" dirty="0">
                <a:hlinkClick r:id="rId31"/>
              </a:rPr>
              <a:t>Applied-Deep-Learning-and-Computer-Vision-for-Self-Driving-Cars</a:t>
            </a:r>
            <a:endParaRPr lang="en-US" sz="1100" dirty="0"/>
          </a:p>
          <a:p>
            <a:pPr marL="12700" marR="5080"/>
            <a:r>
              <a:rPr lang="en-US" sz="1100" dirty="0">
                <a:hlinkClick r:id="rId32"/>
              </a:rPr>
              <a:t>Drone Development from Concept to Flight</a:t>
            </a:r>
            <a:endParaRPr lang="en-US" sz="1100" dirty="0"/>
          </a:p>
          <a:p>
            <a:pPr marL="12700" marR="5080"/>
            <a:r>
              <a:rPr lang="en-IN" sz="1100" dirty="0">
                <a:hlinkClick r:id="rId33"/>
              </a:rPr>
              <a:t>Robotics for Programmers</a:t>
            </a:r>
            <a:endParaRPr lang="en-IN" sz="1100" dirty="0"/>
          </a:p>
          <a:p>
            <a:pPr marL="12700" marR="5080"/>
            <a:r>
              <a:rPr lang="en-US" sz="1100" dirty="0">
                <a:hlinkClick r:id="rId34"/>
              </a:rPr>
              <a:t>Computational Principles of Mobile Robotics</a:t>
            </a:r>
            <a:endParaRPr lang="en-US" sz="1100" dirty="0"/>
          </a:p>
          <a:p>
            <a:pPr marL="12700" marR="5080"/>
            <a:r>
              <a:rPr lang="en-IN" sz="1100" dirty="0">
                <a:hlinkClick r:id="rId35"/>
              </a:rPr>
              <a:t>Computer-Vision-Guide</a:t>
            </a:r>
            <a:endParaRPr lang="en-US" sz="1100" kern="0" spc="-220" dirty="0">
              <a:solidFill>
                <a:schemeClr val="accent2"/>
              </a:solidFill>
            </a:endParaRPr>
          </a:p>
        </p:txBody>
      </p:sp>
    </p:spTree>
    <p:extLst>
      <p:ext uri="{BB962C8B-B14F-4D97-AF65-F5344CB8AC3E}">
        <p14:creationId xmlns:p14="http://schemas.microsoft.com/office/powerpoint/2010/main" val="373815061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393CF-36CC-515D-6011-3FDDD9964B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B6BE146-C9D2-0922-690A-6FD9E5D99F1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CAC5A9F-D88F-1D33-89DC-2E04960C1F91}"/>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199CF97-71E6-F3ED-2B2D-9252E0B5F5A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7AB97A65-19B4-5843-AF48-8293C7EDBD69}"/>
              </a:ext>
            </a:extLst>
          </p:cNvPr>
          <p:cNvGraphicFramePr/>
          <p:nvPr>
            <p:extLst>
              <p:ext uri="{D42A27DB-BD31-4B8C-83A1-F6EECF244321}">
                <p14:modId xmlns:p14="http://schemas.microsoft.com/office/powerpoint/2010/main" val="181289773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screenshot of a computer">
            <a:extLst>
              <a:ext uri="{FF2B5EF4-FFF2-40B4-BE49-F238E27FC236}">
                <a16:creationId xmlns:a16="http://schemas.microsoft.com/office/drawing/2014/main" id="{F98646EA-21FD-9928-2958-B040CAC807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384074"/>
            <a:ext cx="9067799" cy="4407126"/>
          </a:xfrm>
          <a:prstGeom prst="rect">
            <a:avLst/>
          </a:prstGeom>
        </p:spPr>
      </p:pic>
    </p:spTree>
    <p:extLst>
      <p:ext uri="{BB962C8B-B14F-4D97-AF65-F5344CB8AC3E}">
        <p14:creationId xmlns:p14="http://schemas.microsoft.com/office/powerpoint/2010/main" val="73530090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1447A-23C3-81AA-ED55-3F33A64BDC9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B8B2AB-68EA-0EAD-5EA4-CDFBA94BF38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7AC4417-1645-03EC-6E32-77623C3E5757}"/>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164F8AE-E58B-B1E6-FE38-7F165A4998F0}"/>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557B793-F916-8E74-1364-977FE2EDE58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screenshot of a computer">
            <a:extLst>
              <a:ext uri="{FF2B5EF4-FFF2-40B4-BE49-F238E27FC236}">
                <a16:creationId xmlns:a16="http://schemas.microsoft.com/office/drawing/2014/main" id="{21739183-8522-1094-8F03-F738BE4E18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146" y="1295400"/>
            <a:ext cx="9084945" cy="4630372"/>
          </a:xfrm>
          <a:prstGeom prst="rect">
            <a:avLst/>
          </a:prstGeom>
        </p:spPr>
      </p:pic>
    </p:spTree>
    <p:extLst>
      <p:ext uri="{BB962C8B-B14F-4D97-AF65-F5344CB8AC3E}">
        <p14:creationId xmlns:p14="http://schemas.microsoft.com/office/powerpoint/2010/main" val="158704296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AB5BB-23CD-1598-CDEC-6ACB90675F5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5ACDC15-2462-BAE7-BB93-BB6B09E52F2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0267579-96B8-713F-0FB9-3D51E7D99B4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85C2C73-60FB-83E8-4E49-BFA3EF6BF86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8DF5F24-98CC-D740-9D2B-B2ADA65AC29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B70FF6E8-0BC8-A508-041D-14698A98C674}"/>
              </a:ext>
            </a:extLst>
          </p:cNvPr>
          <p:cNvSpPr txBox="1">
            <a:spLocks/>
          </p:cNvSpPr>
          <p:nvPr/>
        </p:nvSpPr>
        <p:spPr>
          <a:xfrm>
            <a:off x="41725" y="1357079"/>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Computational challenge and common approximations </a:t>
            </a:r>
          </a:p>
          <a:p>
            <a:pPr marL="12700" marR="5080"/>
            <a:r>
              <a:rPr lang="en-US" sz="1500" kern="0" spc="-80" dirty="0">
                <a:solidFill>
                  <a:schemeClr val="accent6"/>
                </a:solidFill>
              </a:rPr>
              <a:t>For a very large vocabulary, computing the sum over all possible words in the denominator is extremely computationally expensive. To solve this, models use approximation methods during training: </a:t>
            </a:r>
          </a:p>
          <a:p>
            <a:pPr marL="12700" marR="5080"/>
            <a:r>
              <a:rPr lang="en-US" sz="1500" kern="0" spc="-80" dirty="0">
                <a:solidFill>
                  <a:schemeClr val="accent2"/>
                </a:solidFill>
              </a:rPr>
              <a:t>Hierarchical </a:t>
            </a:r>
            <a:r>
              <a:rPr lang="en-US" sz="1500" kern="0" spc="-80" dirty="0" err="1">
                <a:solidFill>
                  <a:schemeClr val="accent2"/>
                </a:solidFill>
              </a:rPr>
              <a:t>Softmax</a:t>
            </a:r>
            <a:r>
              <a:rPr lang="en-US" sz="1500" kern="0" spc="-80" dirty="0">
                <a:solidFill>
                  <a:schemeClr val="accent2"/>
                </a:solidFill>
              </a:rPr>
              <a:t>: </a:t>
            </a:r>
            <a:r>
              <a:rPr lang="en-US" sz="1500" kern="0" spc="-80" dirty="0">
                <a:solidFill>
                  <a:schemeClr val="accent6"/>
                </a:solidFill>
              </a:rPr>
              <a:t>Replaces the flat </a:t>
            </a:r>
            <a:r>
              <a:rPr lang="en-US" sz="1500" kern="0" spc="-80" dirty="0" err="1">
                <a:solidFill>
                  <a:schemeClr val="accent6"/>
                </a:solidFill>
              </a:rPr>
              <a:t>softmax</a:t>
            </a:r>
            <a:r>
              <a:rPr lang="en-US" sz="1500" kern="0" spc="-80" dirty="0">
                <a:solidFill>
                  <a:schemeClr val="accent6"/>
                </a:solidFill>
              </a:rPr>
              <a:t> layer with a hierarchical, tree-like structure. This reduces the computation from normalizing over the entire vocabulary to only following a path of nodes in the tree, which significantly speeds up training.</a:t>
            </a:r>
          </a:p>
          <a:p>
            <a:pPr marL="12700" marR="5080"/>
            <a:r>
              <a:rPr lang="en-US" sz="1500" kern="0" spc="-80" dirty="0">
                <a:solidFill>
                  <a:schemeClr val="accent2"/>
                </a:solidFill>
              </a:rPr>
              <a:t>Negative Sampling: </a:t>
            </a:r>
            <a:r>
              <a:rPr lang="en-US" sz="1500" kern="0" spc="-80" dirty="0">
                <a:solidFill>
                  <a:schemeClr val="accent6"/>
                </a:solidFill>
              </a:rPr>
              <a:t>Replaces the multiclass classification problem with a set of binary classification problems. Instead of calculating a probability for all words, the model is trained to distinguish the correct next word from a small number of randomly sampled "negative" (incorrect) words. </a:t>
            </a:r>
          </a:p>
          <a:p>
            <a:pPr marL="12700" marR="5080"/>
            <a:r>
              <a:rPr lang="en-US" sz="1500" kern="0" spc="-80" dirty="0">
                <a:solidFill>
                  <a:schemeClr val="accent2"/>
                </a:solidFill>
              </a:rPr>
              <a:t>Training with Cross-Entropy Loss </a:t>
            </a:r>
          </a:p>
          <a:p>
            <a:pPr marL="12700" marR="5080"/>
            <a:r>
              <a:rPr lang="en-US" sz="1500" kern="0" spc="-80" dirty="0">
                <a:solidFill>
                  <a:schemeClr val="accent6"/>
                </a:solidFill>
              </a:rPr>
              <a:t>The model is trained to minimize the difference between its predicted probability distribution and the true distribution of the data, which is effectively a one-hot encoded vector where the correct word has a probability of 1. This is done using Cross-Entropy Loss. Minimizing this loss is mathematically equivalent to maximizing the log-likelihood of the correct word. For a single-token prediction, the cross-entropy loss is:</a:t>
            </a:r>
          </a:p>
          <a:p>
            <a:pPr marL="12700" marR="5080"/>
            <a:r>
              <a:rPr lang="en-US" sz="1500" kern="0" spc="-80" dirty="0">
                <a:solidFill>
                  <a:schemeClr val="accent2"/>
                </a:solidFill>
              </a:rPr>
              <a:t>L=-log (P(w_{t}|c))</a:t>
            </a:r>
          </a:p>
          <a:p>
            <a:pPr marL="12700" marR="5080"/>
            <a:r>
              <a:rPr lang="en-US" sz="1500" kern="0" spc="-80" dirty="0">
                <a:solidFill>
                  <a:schemeClr val="accent6"/>
                </a:solidFill>
              </a:rPr>
              <a:t>Minimizing this loss encourages the model to assign high probabilities to the correct next word (w_{t}). </a:t>
            </a:r>
          </a:p>
        </p:txBody>
      </p:sp>
    </p:spTree>
    <p:extLst>
      <p:ext uri="{BB962C8B-B14F-4D97-AF65-F5344CB8AC3E}">
        <p14:creationId xmlns:p14="http://schemas.microsoft.com/office/powerpoint/2010/main" val="270934286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26AD4-EFB5-9A35-4F67-0B94789915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2FE05F-FDEB-3652-99D4-E74393AF173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0CD3103-F7F1-972C-3954-C90F12FAC8C4}"/>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3F517C3-0EB1-B4B1-9FA9-CF45AE3D599D}"/>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4915687-D002-5F8A-D0FC-BA50EEF2F73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EC75B790-40F6-B1D0-D2E2-3DA7742037CB}"/>
              </a:ext>
            </a:extLst>
          </p:cNvPr>
          <p:cNvSpPr txBox="1">
            <a:spLocks/>
          </p:cNvSpPr>
          <p:nvPr/>
        </p:nvSpPr>
        <p:spPr>
          <a:xfrm>
            <a:off x="25400" y="1295400"/>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How embeddings enable this calculation </a:t>
            </a:r>
          </a:p>
          <a:p>
            <a:pPr marL="12700" marR="5080"/>
            <a:r>
              <a:rPr lang="en-US" sz="1700" kern="0" spc="-80" dirty="0">
                <a:solidFill>
                  <a:schemeClr val="accent6"/>
                </a:solidFill>
              </a:rPr>
              <a:t>Embeddings are the key to making this calculation possible and meaningful, as they allow the model to operate on semantic relationships rather than simple word co-occurrence counts. </a:t>
            </a:r>
          </a:p>
          <a:p>
            <a:pPr marL="12700" marR="5080"/>
            <a:r>
              <a:rPr lang="en-US" sz="1700" kern="0" spc="-80" dirty="0">
                <a:solidFill>
                  <a:schemeClr val="accent2"/>
                </a:solidFill>
              </a:rPr>
              <a:t>Contextual representation:</a:t>
            </a:r>
            <a:r>
              <a:rPr lang="en-US" sz="1700" kern="0" spc="-80" dirty="0">
                <a:solidFill>
                  <a:schemeClr val="accent6"/>
                </a:solidFill>
              </a:rPr>
              <a:t> The model uses embeddings to create the hidden state vector (h). For example, in a transformer model, the embeddings of the preceding words are processed through multiple layers to produce a final hidden state that represents the context.</a:t>
            </a:r>
          </a:p>
          <a:p>
            <a:pPr marL="12700" marR="5080"/>
            <a:r>
              <a:rPr lang="en-US" sz="1700" kern="0" spc="-80" dirty="0">
                <a:solidFill>
                  <a:schemeClr val="accent2"/>
                </a:solidFill>
              </a:rPr>
              <a:t>Meaningful scoring: </a:t>
            </a:r>
            <a:r>
              <a:rPr lang="en-US" sz="1700" kern="0" spc="-80" dirty="0">
                <a:solidFill>
                  <a:schemeClr val="accent6"/>
                </a:solidFill>
              </a:rPr>
              <a:t>The dot product compares the context vector (h) with the embedding of every possible next word in the vocabulary. Words with similar meanings or that are appropriate for the context will have embedding vectors aligned with (h), resulting in a high dot product and, therefore, a high probability.</a:t>
            </a:r>
          </a:p>
          <a:p>
            <a:pPr marL="12700" marR="5080"/>
            <a:r>
              <a:rPr lang="en-US" sz="1700" kern="0" spc="-80" dirty="0">
                <a:solidFill>
                  <a:schemeClr val="accent2"/>
                </a:solidFill>
              </a:rPr>
              <a:t>Vector mathematics: </a:t>
            </a:r>
            <a:r>
              <a:rPr lang="en-US" sz="1700" kern="0" spc="-80" dirty="0">
                <a:solidFill>
                  <a:schemeClr val="accent6"/>
                </a:solidFill>
              </a:rPr>
              <a:t>By representing words as dense vectors, the model can use efficient matrix operations (like dot products) to perform complex comparisons. This is a vast improvement over older methods like n-gram models, which rely on storing and counting fixed-length word sequences. </a:t>
            </a:r>
          </a:p>
          <a:p>
            <a:pPr marL="12700" marR="5080"/>
            <a:r>
              <a:rPr lang="en-US" sz="1700" kern="0" spc="-80" dirty="0">
                <a:solidFill>
                  <a:schemeClr val="accent2"/>
                </a:solidFill>
              </a:rPr>
              <a:t>For Further Exploration</a:t>
            </a:r>
          </a:p>
          <a:p>
            <a:pPr marL="12700" marR="5080"/>
            <a:r>
              <a:rPr lang="en-US" sz="1800" dirty="0">
                <a:hlinkClick r:id="rId7"/>
              </a:rPr>
              <a:t>What are Language Models in NLP? - </a:t>
            </a:r>
            <a:r>
              <a:rPr lang="en-US" sz="1800" dirty="0" err="1">
                <a:hlinkClick r:id="rId7"/>
              </a:rPr>
              <a:t>GeeksforGeeks</a:t>
            </a:r>
            <a:endParaRPr lang="en-US" sz="1700" kern="0" spc="-80" dirty="0">
              <a:solidFill>
                <a:schemeClr val="accent2"/>
              </a:solidFill>
            </a:endParaRPr>
          </a:p>
        </p:txBody>
      </p:sp>
    </p:spTree>
    <p:extLst>
      <p:ext uri="{BB962C8B-B14F-4D97-AF65-F5344CB8AC3E}">
        <p14:creationId xmlns:p14="http://schemas.microsoft.com/office/powerpoint/2010/main" val="408392591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1BC9-0FB5-5AF1-1897-608C93BA901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EFBCA9-3458-9863-300D-4ABE5D1D7D6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9F4821C-F1DA-4AD6-C096-7557804773B0}"/>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EE064A0A-E9AD-0203-8020-0D3199758486}"/>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4543CBD-C882-DC0A-FEA3-735731204662}"/>
              </a:ext>
            </a:extLst>
          </p:cNvPr>
          <p:cNvGraphicFramePr/>
          <p:nvPr>
            <p:extLst>
              <p:ext uri="{D42A27DB-BD31-4B8C-83A1-F6EECF244321}">
                <p14:modId xmlns:p14="http://schemas.microsoft.com/office/powerpoint/2010/main" val="353451369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FADD7945-A6A7-CB2B-6B49-4131C1A25C90}"/>
              </a:ext>
            </a:extLst>
          </p:cNvPr>
          <p:cNvSpPr txBox="1">
            <a:spLocks/>
          </p:cNvSpPr>
          <p:nvPr/>
        </p:nvSpPr>
        <p:spPr>
          <a:xfrm>
            <a:off x="41725" y="1377399"/>
            <a:ext cx="8624937" cy="46012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1. Foundations of LLMs</a:t>
            </a:r>
          </a:p>
          <a:p>
            <a:pPr marL="12700" marR="5080"/>
            <a:r>
              <a:rPr lang="en-US" sz="1300" kern="0" spc="-80" dirty="0">
                <a:solidFill>
                  <a:schemeClr val="accent2"/>
                </a:solidFill>
              </a:rPr>
              <a:t>1.1 What is an LLM</a:t>
            </a:r>
          </a:p>
          <a:p>
            <a:pPr marL="12700" marR="5080"/>
            <a:r>
              <a:rPr lang="en-US" sz="1300" kern="0" spc="-80" dirty="0">
                <a:solidFill>
                  <a:schemeClr val="accent6"/>
                </a:solidFill>
              </a:rPr>
              <a:t>An LLM (Large Language Model) is a neural network trained on massive amounts of text to understand and generate human-like language. It predicts the next token (word, </a:t>
            </a:r>
            <a:r>
              <a:rPr lang="en-US" sz="1300" kern="0" spc="-80" dirty="0" err="1">
                <a:solidFill>
                  <a:schemeClr val="accent6"/>
                </a:solidFill>
              </a:rPr>
              <a:t>subword</a:t>
            </a:r>
            <a:r>
              <a:rPr lang="en-US" sz="1300" kern="0" spc="-80" dirty="0">
                <a:solidFill>
                  <a:schemeClr val="accent6"/>
                </a:solidFill>
              </a:rPr>
              <a:t>, or character) given previous context.</a:t>
            </a:r>
          </a:p>
          <a:p>
            <a:pPr marL="12700" marR="5080"/>
            <a:r>
              <a:rPr lang="en-US" sz="1300" kern="0" spc="-80" dirty="0">
                <a:solidFill>
                  <a:schemeClr val="accent6"/>
                </a:solidFill>
              </a:rPr>
              <a:t>Core idea: “Predict the next word.”</a:t>
            </a:r>
          </a:p>
          <a:p>
            <a:pPr marL="12700" marR="5080"/>
            <a:r>
              <a:rPr lang="en-US" sz="1300" kern="0" spc="-80" dirty="0">
                <a:solidFill>
                  <a:schemeClr val="accent2"/>
                </a:solidFill>
              </a:rPr>
              <a:t>Example:</a:t>
            </a:r>
            <a:r>
              <a:rPr lang="en-US" sz="1300" kern="0" spc="-80" dirty="0">
                <a:solidFill>
                  <a:schemeClr val="accent6"/>
                </a:solidFill>
              </a:rPr>
              <a:t> GPT, </a:t>
            </a:r>
            <a:r>
              <a:rPr lang="en-US" sz="1300" kern="0" spc="-80" dirty="0" err="1">
                <a:solidFill>
                  <a:schemeClr val="accent6"/>
                </a:solidFill>
              </a:rPr>
              <a:t>PaLM</a:t>
            </a:r>
            <a:r>
              <a:rPr lang="en-US" sz="1300" kern="0" spc="-80" dirty="0">
                <a:solidFill>
                  <a:schemeClr val="accent6"/>
                </a:solidFill>
              </a:rPr>
              <a:t>, Claude, </a:t>
            </a:r>
            <a:r>
              <a:rPr lang="en-US" sz="1300" kern="0" spc="-80" dirty="0" err="1">
                <a:solidFill>
                  <a:schemeClr val="accent6"/>
                </a:solidFill>
              </a:rPr>
              <a:t>LLaMA</a:t>
            </a:r>
            <a:r>
              <a:rPr lang="en-US" sz="1300" kern="0" spc="-80" dirty="0">
                <a:solidFill>
                  <a:schemeClr val="accent6"/>
                </a:solidFill>
              </a:rPr>
              <a:t>, Gemini.</a:t>
            </a:r>
          </a:p>
          <a:p>
            <a:pPr marL="12700" marR="5080"/>
            <a:endParaRPr lang="en-US" sz="1300" kern="0" spc="-80" dirty="0">
              <a:solidFill>
                <a:schemeClr val="accent6"/>
              </a:solidFill>
            </a:endParaRPr>
          </a:p>
          <a:p>
            <a:pPr marL="12700" marR="5080"/>
            <a:r>
              <a:rPr lang="en-US" sz="1300" kern="0" spc="-80" dirty="0">
                <a:solidFill>
                  <a:schemeClr val="accent2"/>
                </a:solidFill>
              </a:rPr>
              <a:t>🧩 2. Mathematical Core: Language Modeling</a:t>
            </a:r>
          </a:p>
          <a:p>
            <a:pPr marL="12700" marR="5080"/>
            <a:r>
              <a:rPr lang="en-US" sz="1300" kern="0" spc="-80" dirty="0">
                <a:solidFill>
                  <a:schemeClr val="accent2"/>
                </a:solidFill>
              </a:rPr>
              <a:t>2.1 Probability Modeling</a:t>
            </a:r>
          </a:p>
          <a:p>
            <a:pPr marL="12700" marR="5080"/>
            <a:r>
              <a:rPr lang="en-US" sz="1300" kern="0" spc="-80" dirty="0">
                <a:solidFill>
                  <a:schemeClr val="accent6"/>
                </a:solidFill>
              </a:rPr>
              <a:t>Language modeling using Embeddings described in some previous slides.</a:t>
            </a:r>
          </a:p>
          <a:p>
            <a:pPr marL="12700" marR="5080"/>
            <a:r>
              <a:rPr lang="en-US" sz="1300" kern="0" spc="-80" dirty="0">
                <a:solidFill>
                  <a:schemeClr val="accent2"/>
                </a:solidFill>
              </a:rPr>
              <a:t>2.2 Tokenization</a:t>
            </a:r>
          </a:p>
          <a:p>
            <a:pPr marL="12700" marR="5080"/>
            <a:r>
              <a:rPr lang="en-US" sz="1300" kern="0" spc="-80" dirty="0">
                <a:solidFill>
                  <a:schemeClr val="accent6"/>
                </a:solidFill>
              </a:rPr>
              <a:t>Before processing, text is converted into tokens (</a:t>
            </a:r>
            <a:r>
              <a:rPr lang="en-US" sz="1300" kern="0" spc="-80" dirty="0" err="1">
                <a:solidFill>
                  <a:schemeClr val="accent6"/>
                </a:solidFill>
              </a:rPr>
              <a:t>subword</a:t>
            </a:r>
            <a:r>
              <a:rPr lang="en-US" sz="1300" kern="0" spc="-80" dirty="0">
                <a:solidFill>
                  <a:schemeClr val="accent6"/>
                </a:solidFill>
              </a:rPr>
              <a:t> units).</a:t>
            </a:r>
          </a:p>
          <a:p>
            <a:pPr marL="12700" marR="5080"/>
            <a:r>
              <a:rPr lang="en-US" sz="1300" kern="0" spc="-80" dirty="0">
                <a:solidFill>
                  <a:schemeClr val="accent6"/>
                </a:solidFill>
              </a:rPr>
              <a:t>Byte Pair Encoding (BPE), </a:t>
            </a:r>
            <a:r>
              <a:rPr lang="en-US" sz="1300" kern="0" spc="-80" dirty="0" err="1">
                <a:solidFill>
                  <a:schemeClr val="accent6"/>
                </a:solidFill>
              </a:rPr>
              <a:t>WordPiece</a:t>
            </a:r>
            <a:r>
              <a:rPr lang="en-US" sz="1300" kern="0" spc="-80" dirty="0">
                <a:solidFill>
                  <a:schemeClr val="accent6"/>
                </a:solidFill>
              </a:rPr>
              <a:t>, </a:t>
            </a:r>
            <a:r>
              <a:rPr lang="en-US" sz="1300" kern="0" spc="-80" dirty="0" err="1">
                <a:solidFill>
                  <a:schemeClr val="accent6"/>
                </a:solidFill>
              </a:rPr>
              <a:t>SentencePiece</a:t>
            </a:r>
            <a:r>
              <a:rPr lang="en-US" sz="1300" kern="0" spc="-80" dirty="0">
                <a:solidFill>
                  <a:schemeClr val="accent6"/>
                </a:solidFill>
              </a:rPr>
              <a:t>.</a:t>
            </a:r>
          </a:p>
          <a:p>
            <a:pPr marL="12700" marR="5080"/>
            <a:r>
              <a:rPr lang="en-US" sz="1300" kern="0" spc="-80" dirty="0">
                <a:solidFill>
                  <a:schemeClr val="accent6"/>
                </a:solidFill>
              </a:rPr>
              <a:t>Helps handle unknown words, rare words, and multiple languages.</a:t>
            </a:r>
          </a:p>
          <a:p>
            <a:pPr marL="12700" marR="5080"/>
            <a:endParaRPr lang="en-US" sz="1300" kern="0" spc="-80" dirty="0">
              <a:solidFill>
                <a:schemeClr val="accent6"/>
              </a:solidFill>
            </a:endParaRPr>
          </a:p>
          <a:p>
            <a:pPr marL="12700" marR="5080"/>
            <a:r>
              <a:rPr lang="en-US" sz="1300" kern="0" spc="-80" dirty="0">
                <a:solidFill>
                  <a:schemeClr val="accent2"/>
                </a:solidFill>
              </a:rPr>
              <a:t>⚙️ 3. Transformer Architecture (Backbone of LLMs)</a:t>
            </a:r>
          </a:p>
          <a:p>
            <a:pPr marL="12700" marR="5080"/>
            <a:r>
              <a:rPr lang="en-US" sz="1300" kern="0" spc="-80" dirty="0">
                <a:solidFill>
                  <a:schemeClr val="accent2"/>
                </a:solidFill>
              </a:rPr>
              <a:t>3.1 Key Components</a:t>
            </a:r>
          </a:p>
          <a:p>
            <a:pPr marL="12700" marR="5080"/>
            <a:r>
              <a:rPr lang="en-US" sz="1300" kern="0" spc="-80" dirty="0">
                <a:solidFill>
                  <a:schemeClr val="accent2"/>
                </a:solidFill>
              </a:rPr>
              <a:t>Embedding layer</a:t>
            </a:r>
            <a:r>
              <a:rPr lang="en-US" sz="1300" kern="0" spc="-80" dirty="0">
                <a:solidFill>
                  <a:schemeClr val="accent6"/>
                </a:solidFill>
              </a:rPr>
              <a:t> – converts tokens into continuous vectors.</a:t>
            </a:r>
          </a:p>
          <a:p>
            <a:pPr marL="12700" marR="5080"/>
            <a:r>
              <a:rPr lang="en-US" sz="1300" kern="0" spc="-80" dirty="0">
                <a:solidFill>
                  <a:schemeClr val="accent2"/>
                </a:solidFill>
              </a:rPr>
              <a:t>Positional encoding</a:t>
            </a:r>
            <a:r>
              <a:rPr lang="en-US" sz="1300" kern="0" spc="-80" dirty="0">
                <a:solidFill>
                  <a:schemeClr val="accent6"/>
                </a:solidFill>
              </a:rPr>
              <a:t> – adds information about token order.</a:t>
            </a:r>
          </a:p>
          <a:p>
            <a:pPr marL="12700" marR="5080"/>
            <a:r>
              <a:rPr lang="en-US" sz="1300" kern="0" spc="-80" dirty="0">
                <a:solidFill>
                  <a:schemeClr val="accent2"/>
                </a:solidFill>
              </a:rPr>
              <a:t>Attention mechanism </a:t>
            </a:r>
            <a:r>
              <a:rPr lang="en-US" sz="1300" kern="0" spc="-80" dirty="0">
                <a:solidFill>
                  <a:schemeClr val="accent6"/>
                </a:solidFill>
              </a:rPr>
              <a:t>– computes relevance between tokens.</a:t>
            </a:r>
          </a:p>
          <a:p>
            <a:pPr marL="12700" marR="5080"/>
            <a:r>
              <a:rPr lang="en-US" sz="1300" kern="0" spc="-80" dirty="0">
                <a:solidFill>
                  <a:schemeClr val="accent2"/>
                </a:solidFill>
              </a:rPr>
              <a:t>Feed-forward network</a:t>
            </a:r>
            <a:r>
              <a:rPr lang="en-US" sz="1300" kern="0" spc="-80" dirty="0">
                <a:solidFill>
                  <a:schemeClr val="accent6"/>
                </a:solidFill>
              </a:rPr>
              <a:t> – transforms attention outputs nonlinearly.</a:t>
            </a:r>
          </a:p>
          <a:p>
            <a:pPr marL="12700" marR="5080"/>
            <a:r>
              <a:rPr lang="en-US" sz="1300" kern="0" spc="-80" dirty="0">
                <a:solidFill>
                  <a:schemeClr val="accent2"/>
                </a:solidFill>
              </a:rPr>
              <a:t>Layer normalization &amp; residual connections </a:t>
            </a:r>
            <a:r>
              <a:rPr lang="en-US" sz="1300" kern="0" spc="-80" dirty="0">
                <a:solidFill>
                  <a:schemeClr val="accent6"/>
                </a:solidFill>
              </a:rPr>
              <a:t>– stabilize training.</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96279308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AC04-31D9-A005-D760-5854C53279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9883A4-9B9D-B51D-B755-6379236B5F2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A445440-E19E-A47D-1DB5-0A1365A062C0}"/>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F6028D0-4533-44C3-AFA3-21B5136518A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BC2224A-1CC3-EF84-F4E9-EEC30195433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6F22D447-2ED1-CC97-3861-9D675EA633A5}"/>
              </a:ext>
            </a:extLst>
          </p:cNvPr>
          <p:cNvSpPr txBox="1">
            <a:spLocks/>
          </p:cNvSpPr>
          <p:nvPr/>
        </p:nvSpPr>
        <p:spPr>
          <a:xfrm>
            <a:off x="41725" y="1377399"/>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3.2 Self-Attention</a:t>
            </a:r>
          </a:p>
          <a:p>
            <a:pPr marL="12700" marR="5080"/>
            <a:r>
              <a:rPr lang="en-US" sz="1300" kern="0" spc="-80" dirty="0">
                <a:solidFill>
                  <a:schemeClr val="accent6"/>
                </a:solidFill>
              </a:rPr>
              <a:t>At each position, the model attends to every other position to decide what’s important.</a:t>
            </a:r>
          </a:p>
          <a:p>
            <a:pPr marL="12700" marR="5080"/>
            <a:r>
              <a:rPr lang="en-US" sz="1300" kern="0" spc="-80" dirty="0">
                <a:solidFill>
                  <a:schemeClr val="accent6"/>
                </a:solidFill>
              </a:rPr>
              <a:t>Enables context-aware understanding.</a:t>
            </a:r>
          </a:p>
          <a:p>
            <a:pPr marL="12700" marR="5080"/>
            <a:endParaRPr lang="en-US" sz="1300" kern="0" spc="-80" dirty="0">
              <a:solidFill>
                <a:schemeClr val="accent6"/>
              </a:solidFill>
            </a:endParaRPr>
          </a:p>
          <a:p>
            <a:pPr marL="12700" marR="5080"/>
            <a:r>
              <a:rPr lang="en-US" sz="1300" kern="0" spc="-80" dirty="0">
                <a:solidFill>
                  <a:schemeClr val="accent2"/>
                </a:solidFill>
              </a:rPr>
              <a:t>🧰 4. Training Paradigm</a:t>
            </a:r>
          </a:p>
          <a:p>
            <a:pPr marL="12700" marR="5080"/>
            <a:r>
              <a:rPr lang="en-US" sz="1300" kern="0" spc="-80" dirty="0">
                <a:solidFill>
                  <a:schemeClr val="accent2"/>
                </a:solidFill>
              </a:rPr>
              <a:t>4.1 Pretraining</a:t>
            </a:r>
          </a:p>
          <a:p>
            <a:pPr marL="12700" marR="5080"/>
            <a:r>
              <a:rPr lang="en-US" sz="1300" kern="0" spc="-80" dirty="0">
                <a:solidFill>
                  <a:schemeClr val="accent6"/>
                </a:solidFill>
              </a:rPr>
              <a:t>LLMs are trained on diverse internet-scale datasets using the next token prediction (causal LM) objective</a:t>
            </a:r>
          </a:p>
          <a:p>
            <a:pPr marL="12700" marR="5080"/>
            <a:r>
              <a:rPr lang="en-US" sz="1300" kern="0" spc="-80" dirty="0">
                <a:solidFill>
                  <a:schemeClr val="accent2"/>
                </a:solidFill>
              </a:rPr>
              <a:t>Data sources:</a:t>
            </a:r>
            <a:r>
              <a:rPr lang="en-US" sz="1300" kern="0" spc="-80" dirty="0">
                <a:solidFill>
                  <a:schemeClr val="accent6"/>
                </a:solidFill>
              </a:rPr>
              <a:t> books, Wikipedia, code, forums, papers.</a:t>
            </a:r>
          </a:p>
          <a:p>
            <a:pPr marL="12700" marR="5080"/>
            <a:r>
              <a:rPr lang="en-US" sz="1300" kern="0" spc="-80" dirty="0">
                <a:solidFill>
                  <a:schemeClr val="accent2"/>
                </a:solidFill>
              </a:rPr>
              <a:t>Massive compute: </a:t>
            </a:r>
            <a:r>
              <a:rPr lang="en-US" sz="1300" kern="0" spc="-80" dirty="0">
                <a:solidFill>
                  <a:schemeClr val="accent6"/>
                </a:solidFill>
              </a:rPr>
              <a:t>thousands of GPUs over weeks.</a:t>
            </a:r>
          </a:p>
          <a:p>
            <a:pPr marL="12700" marR="5080"/>
            <a:endParaRPr lang="en-US" sz="1300" kern="0" spc="-80" dirty="0">
              <a:solidFill>
                <a:schemeClr val="accent6"/>
              </a:solidFill>
            </a:endParaRPr>
          </a:p>
          <a:p>
            <a:pPr marL="12700" marR="5080"/>
            <a:r>
              <a:rPr lang="en-US" sz="1300" kern="0" spc="-80" dirty="0">
                <a:solidFill>
                  <a:schemeClr val="accent2"/>
                </a:solidFill>
              </a:rPr>
              <a:t>4.2 Fine-tuning</a:t>
            </a:r>
          </a:p>
          <a:p>
            <a:pPr marL="12700" marR="5080"/>
            <a:r>
              <a:rPr lang="en-US" sz="1300" kern="0" spc="-80" dirty="0">
                <a:solidFill>
                  <a:schemeClr val="accent6"/>
                </a:solidFill>
              </a:rPr>
              <a:t>After pretraining, models are adapted for specific tasks:</a:t>
            </a:r>
          </a:p>
          <a:p>
            <a:pPr marL="12700" marR="5080"/>
            <a:r>
              <a:rPr lang="en-US" sz="1300" kern="0" spc="-80" dirty="0">
                <a:solidFill>
                  <a:schemeClr val="accent2"/>
                </a:solidFill>
              </a:rPr>
              <a:t>Supervised Fine-Tuning (SFT) </a:t>
            </a:r>
            <a:r>
              <a:rPr lang="en-US" sz="1300" kern="0" spc="-80" dirty="0">
                <a:solidFill>
                  <a:schemeClr val="accent6"/>
                </a:solidFill>
              </a:rPr>
              <a:t>– on curated labeled datasets.</a:t>
            </a:r>
          </a:p>
          <a:p>
            <a:pPr marL="12700" marR="5080"/>
            <a:r>
              <a:rPr lang="en-US" sz="1300" kern="0" spc="-80" dirty="0">
                <a:solidFill>
                  <a:schemeClr val="accent2"/>
                </a:solidFill>
              </a:rPr>
              <a:t>Instruction Tuning </a:t>
            </a:r>
            <a:r>
              <a:rPr lang="en-US" sz="1300" kern="0" spc="-80" dirty="0">
                <a:solidFill>
                  <a:schemeClr val="accent6"/>
                </a:solidFill>
              </a:rPr>
              <a:t>– train to follow human-written prompts.</a:t>
            </a:r>
          </a:p>
          <a:p>
            <a:pPr marL="12700" marR="5080"/>
            <a:r>
              <a:rPr lang="en-US" sz="1300" kern="0" spc="-80" dirty="0">
                <a:solidFill>
                  <a:schemeClr val="accent2"/>
                </a:solidFill>
              </a:rPr>
              <a:t>Domain adaptation</a:t>
            </a:r>
            <a:r>
              <a:rPr lang="en-US" sz="1300" kern="0" spc="-80" dirty="0">
                <a:solidFill>
                  <a:schemeClr val="accent6"/>
                </a:solidFill>
              </a:rPr>
              <a:t> – finance, law, code, etc.</a:t>
            </a:r>
          </a:p>
          <a:p>
            <a:pPr marL="12700" marR="5080"/>
            <a:endParaRPr lang="en-US" sz="1300" kern="0" spc="-80" dirty="0">
              <a:solidFill>
                <a:schemeClr val="accent6"/>
              </a:solidFill>
            </a:endParaRPr>
          </a:p>
          <a:p>
            <a:pPr marL="12700" marR="5080"/>
            <a:r>
              <a:rPr lang="en-US" sz="1300" kern="0" spc="-80" dirty="0">
                <a:solidFill>
                  <a:schemeClr val="accent2"/>
                </a:solidFill>
              </a:rPr>
              <a:t>4.3 Reinforcement Learning from Human Feedback (RLHF)</a:t>
            </a:r>
          </a:p>
          <a:p>
            <a:pPr marL="12700" marR="5080"/>
            <a:r>
              <a:rPr lang="en-US" sz="1300" kern="0" spc="-80" dirty="0">
                <a:solidFill>
                  <a:schemeClr val="accent2"/>
                </a:solidFill>
              </a:rPr>
              <a:t>A pipeline to align models with human preferences:</a:t>
            </a:r>
          </a:p>
          <a:p>
            <a:pPr marL="12700" marR="5080"/>
            <a:r>
              <a:rPr lang="en-US" sz="1300" kern="0" spc="-80" dirty="0">
                <a:solidFill>
                  <a:schemeClr val="accent6"/>
                </a:solidFill>
              </a:rPr>
              <a:t>Collect prompt–response pairs ranked by humans.</a:t>
            </a:r>
          </a:p>
          <a:p>
            <a:pPr marL="12700" marR="5080"/>
            <a:r>
              <a:rPr lang="en-US" sz="1400" kern="0" spc="-80" dirty="0">
                <a:solidFill>
                  <a:schemeClr val="accent6"/>
                </a:solidFill>
              </a:rPr>
              <a:t>Train a reward model.</a:t>
            </a:r>
          </a:p>
          <a:p>
            <a:pPr marL="12700" marR="5080"/>
            <a:r>
              <a:rPr lang="en-US" sz="1400" kern="0" spc="-80" dirty="0">
                <a:solidFill>
                  <a:schemeClr val="accent6"/>
                </a:solidFill>
              </a:rPr>
              <a:t>Optimize LLM via PPO (Proximal Policy Optimization) to maximize reward.</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203734273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13975-29EF-4373-51C0-4F007C59834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356D76-25D9-370A-4737-9BD627C302A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5513614-6067-8758-CBA7-F6CC3F0A34C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F78B562-8BDE-9C82-BB0B-F9B20BA7EAFE}"/>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219F062-D2F5-C12A-BC18-EDAEA482999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767E17F1-CB75-C094-5E4F-DC1E7534FE58}"/>
              </a:ext>
            </a:extLst>
          </p:cNvPr>
          <p:cNvSpPr txBox="1">
            <a:spLocks/>
          </p:cNvSpPr>
          <p:nvPr/>
        </p:nvSpPr>
        <p:spPr>
          <a:xfrm>
            <a:off x="41725" y="1377399"/>
            <a:ext cx="8624937" cy="48782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 5. Context and Memory</a:t>
            </a:r>
          </a:p>
          <a:p>
            <a:pPr marL="12700" marR="5080"/>
            <a:r>
              <a:rPr lang="en-US" sz="1500" kern="0" spc="-80" dirty="0">
                <a:solidFill>
                  <a:schemeClr val="accent2"/>
                </a:solidFill>
              </a:rPr>
              <a:t>5.1 Context Window</a:t>
            </a:r>
          </a:p>
          <a:p>
            <a:pPr marL="12700" marR="5080"/>
            <a:r>
              <a:rPr lang="en-US" sz="1500" kern="0" spc="-80" dirty="0">
                <a:solidFill>
                  <a:schemeClr val="accent6"/>
                </a:solidFill>
              </a:rPr>
              <a:t>The number of tokens the model can "see" at once (e.g., 4K–1M tokens).</a:t>
            </a:r>
          </a:p>
          <a:p>
            <a:pPr marL="12700" marR="5080"/>
            <a:r>
              <a:rPr lang="en-US" sz="1500" kern="0" spc="-80" dirty="0">
                <a:solidFill>
                  <a:schemeClr val="accent6"/>
                </a:solidFill>
              </a:rPr>
              <a:t>Larger context ⇒ better reasoning, multi-document understanding.</a:t>
            </a:r>
          </a:p>
          <a:p>
            <a:pPr marL="12700" marR="5080"/>
            <a:r>
              <a:rPr lang="en-US" sz="1500" kern="0" spc="-80" dirty="0">
                <a:solidFill>
                  <a:schemeClr val="accent2"/>
                </a:solidFill>
              </a:rPr>
              <a:t>5.2 Attention Mechanisms for Long Context</a:t>
            </a:r>
          </a:p>
          <a:p>
            <a:pPr marL="12700" marR="5080"/>
            <a:r>
              <a:rPr lang="en-US" sz="1500" kern="0" spc="-80" dirty="0">
                <a:solidFill>
                  <a:schemeClr val="accent2"/>
                </a:solidFill>
              </a:rPr>
              <a:t>Techniques:</a:t>
            </a:r>
          </a:p>
          <a:p>
            <a:pPr marL="12700" marR="5080"/>
            <a:r>
              <a:rPr lang="en-US" sz="1500" kern="0" spc="-80" dirty="0" err="1">
                <a:solidFill>
                  <a:schemeClr val="accent6"/>
                </a:solidFill>
              </a:rPr>
              <a:t>FlashAttention</a:t>
            </a:r>
            <a:endParaRPr lang="en-US" sz="1500" kern="0" spc="-80" dirty="0">
              <a:solidFill>
                <a:schemeClr val="accent6"/>
              </a:solidFill>
            </a:endParaRPr>
          </a:p>
          <a:p>
            <a:pPr marL="12700" marR="5080"/>
            <a:r>
              <a:rPr lang="en-US" sz="1500" kern="0" spc="-80" dirty="0">
                <a:solidFill>
                  <a:schemeClr val="accent6"/>
                </a:solidFill>
              </a:rPr>
              <a:t>Sparse Attention</a:t>
            </a:r>
          </a:p>
          <a:p>
            <a:pPr marL="12700" marR="5080"/>
            <a:r>
              <a:rPr lang="en-US" sz="1500" kern="0" spc="-80" dirty="0">
                <a:solidFill>
                  <a:schemeClr val="accent6"/>
                </a:solidFill>
              </a:rPr>
              <a:t>Rotary Positional Embedding (</a:t>
            </a:r>
            <a:r>
              <a:rPr lang="en-US" sz="1500" kern="0" spc="-80" dirty="0" err="1">
                <a:solidFill>
                  <a:schemeClr val="accent6"/>
                </a:solidFill>
              </a:rPr>
              <a:t>RoPE</a:t>
            </a:r>
            <a:r>
              <a:rPr lang="en-US" sz="1500" kern="0" spc="-80" dirty="0">
                <a:solidFill>
                  <a:schemeClr val="accent6"/>
                </a:solidFill>
              </a:rPr>
              <a:t>)</a:t>
            </a:r>
          </a:p>
          <a:p>
            <a:pPr marL="12700" marR="5080"/>
            <a:r>
              <a:rPr lang="en-US" sz="1500" kern="0" spc="-80" dirty="0">
                <a:solidFill>
                  <a:schemeClr val="accent6"/>
                </a:solidFill>
              </a:rPr>
              <a:t>Transformer-XL, Reformer, </a:t>
            </a:r>
            <a:r>
              <a:rPr lang="en-US" sz="1500" kern="0" spc="-80" dirty="0" err="1">
                <a:solidFill>
                  <a:schemeClr val="accent6"/>
                </a:solidFill>
              </a:rPr>
              <a:t>Longformer</a:t>
            </a:r>
            <a:r>
              <a:rPr lang="en-US" sz="1500" kern="0" spc="-80" dirty="0">
                <a:solidFill>
                  <a:schemeClr val="accent6"/>
                </a:solidFill>
              </a:rPr>
              <a:t> – handle longer sequences.</a:t>
            </a:r>
          </a:p>
          <a:p>
            <a:pPr marL="12700" marR="5080"/>
            <a:endParaRPr lang="en-US" sz="1500" kern="0" spc="-80" dirty="0">
              <a:solidFill>
                <a:schemeClr val="accent6"/>
              </a:solidFill>
            </a:endParaRPr>
          </a:p>
          <a:p>
            <a:pPr marL="12700" marR="5080"/>
            <a:r>
              <a:rPr lang="en-US" sz="1500" kern="0" spc="-80" dirty="0">
                <a:solidFill>
                  <a:schemeClr val="accent2"/>
                </a:solidFill>
              </a:rPr>
              <a:t>🔍 6. Emergent Abilities</a:t>
            </a:r>
          </a:p>
          <a:p>
            <a:pPr marL="12700" marR="5080"/>
            <a:r>
              <a:rPr lang="en-US" sz="1500" kern="0" spc="-80" dirty="0">
                <a:solidFill>
                  <a:schemeClr val="accent6"/>
                </a:solidFill>
              </a:rPr>
              <a:t>When scaled up (parameters, data, compute), LLMs exhibit:</a:t>
            </a:r>
          </a:p>
          <a:p>
            <a:pPr marL="12700" marR="5080"/>
            <a:r>
              <a:rPr lang="en-US" sz="1500" kern="0" spc="-80" dirty="0">
                <a:solidFill>
                  <a:schemeClr val="accent2"/>
                </a:solidFill>
              </a:rPr>
              <a:t>In-context learning: </a:t>
            </a:r>
            <a:r>
              <a:rPr lang="en-US" sz="1500" kern="0" spc="-80" dirty="0">
                <a:solidFill>
                  <a:schemeClr val="accent6"/>
                </a:solidFill>
              </a:rPr>
              <a:t>can follow instructions from few examples in the prompt.</a:t>
            </a:r>
          </a:p>
          <a:p>
            <a:pPr marL="12700" marR="5080"/>
            <a:r>
              <a:rPr lang="en-US" sz="1500" kern="0" spc="-80" dirty="0">
                <a:solidFill>
                  <a:schemeClr val="accent2"/>
                </a:solidFill>
              </a:rPr>
              <a:t>Chain-of-thought reasoning: </a:t>
            </a:r>
            <a:r>
              <a:rPr lang="en-US" sz="1500" kern="0" spc="-80" dirty="0">
                <a:solidFill>
                  <a:schemeClr val="accent6"/>
                </a:solidFill>
              </a:rPr>
              <a:t>can explain intermediate steps.</a:t>
            </a:r>
          </a:p>
          <a:p>
            <a:pPr marL="12700" marR="5080"/>
            <a:r>
              <a:rPr lang="en-US" sz="1500" kern="0" spc="-80" dirty="0">
                <a:solidFill>
                  <a:schemeClr val="accent6"/>
                </a:solidFill>
              </a:rPr>
              <a:t>Translation, summarization, code generation, reasoning – emerge spontaneously.</a:t>
            </a:r>
          </a:p>
          <a:p>
            <a:pPr marL="12700" marR="5080"/>
            <a:endParaRPr lang="en-US" sz="1500" kern="0" spc="-80" dirty="0">
              <a:solidFill>
                <a:schemeClr val="accent6"/>
              </a:solidFill>
            </a:endParaRPr>
          </a:p>
          <a:p>
            <a:pPr marL="12700" marR="5080"/>
            <a:r>
              <a:rPr lang="en-US" sz="1600" kern="0" spc="-80" dirty="0">
                <a:solidFill>
                  <a:schemeClr val="accent2"/>
                </a:solidFill>
              </a:rPr>
              <a:t>🧮 7. Scaling Laws</a:t>
            </a:r>
          </a:p>
          <a:p>
            <a:pPr marL="12700" marR="5080"/>
            <a:r>
              <a:rPr lang="en-US" sz="1600" kern="0" spc="-80" dirty="0">
                <a:solidFill>
                  <a:schemeClr val="accent6"/>
                </a:solidFill>
              </a:rPr>
              <a:t>Empirical laws discovered by OpenAI &amp; DeepMind.</a:t>
            </a:r>
          </a:p>
          <a:p>
            <a:pPr marL="12700" marR="5080"/>
            <a:r>
              <a:rPr lang="en-US" sz="1600" kern="0" spc="-80" dirty="0">
                <a:solidFill>
                  <a:schemeClr val="accent6"/>
                </a:solidFill>
              </a:rPr>
              <a:t>Scaling improves performance predictably — but with diminishing returns.</a:t>
            </a:r>
          </a:p>
          <a:p>
            <a:pPr marL="12700" marR="5080"/>
            <a:endParaRPr lang="en-US" sz="1600" kern="0" spc="-80" dirty="0">
              <a:solidFill>
                <a:schemeClr val="accent6"/>
              </a:solidFill>
            </a:endParaRPr>
          </a:p>
        </p:txBody>
      </p:sp>
    </p:spTree>
    <p:extLst>
      <p:ext uri="{BB962C8B-B14F-4D97-AF65-F5344CB8AC3E}">
        <p14:creationId xmlns:p14="http://schemas.microsoft.com/office/powerpoint/2010/main" val="347576376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C0D4-45CF-8E57-B60E-F7121878DA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47C3A9-173E-DDE5-A569-B5767EC1D74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A0785A8-E095-AB56-12C1-3AF83917515B}"/>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8CFAA3A-A6EC-479F-17C8-57E065CCE4E9}"/>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23B29DF-7CEE-32D6-500D-C97AB5146E1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8CACC920-7449-3B36-76A3-313EB76EC4FD}"/>
              </a:ext>
            </a:extLst>
          </p:cNvPr>
          <p:cNvSpPr txBox="1">
            <a:spLocks/>
          </p:cNvSpPr>
          <p:nvPr/>
        </p:nvSpPr>
        <p:spPr>
          <a:xfrm>
            <a:off x="41725" y="1377399"/>
            <a:ext cx="8624937" cy="42011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8. Architecture Variants</a:t>
            </a:r>
          </a:p>
          <a:p>
            <a:pPr marL="12700" marR="5080"/>
            <a:r>
              <a:rPr lang="en-US" sz="1300" kern="0" spc="-80" dirty="0">
                <a:solidFill>
                  <a:schemeClr val="accent2"/>
                </a:solidFill>
              </a:rPr>
              <a:t>Model Type	                                            Objective	                                                      Examples</a:t>
            </a:r>
          </a:p>
          <a:p>
            <a:pPr marL="12700" marR="5080"/>
            <a:r>
              <a:rPr lang="en-US" sz="1300" kern="0" spc="-80" dirty="0">
                <a:solidFill>
                  <a:schemeClr val="accent6"/>
                </a:solidFill>
              </a:rPr>
              <a:t>Causal LM (Decoder-only)	 Next-token prediction	                                GPT, </a:t>
            </a:r>
            <a:r>
              <a:rPr lang="en-US" sz="1300" kern="0" spc="-80" dirty="0" err="1">
                <a:solidFill>
                  <a:schemeClr val="accent6"/>
                </a:solidFill>
              </a:rPr>
              <a:t>LLaMA</a:t>
            </a:r>
            <a:r>
              <a:rPr lang="en-US" sz="1300" kern="0" spc="-80" dirty="0">
                <a:solidFill>
                  <a:schemeClr val="accent6"/>
                </a:solidFill>
              </a:rPr>
              <a:t>, Mistral</a:t>
            </a:r>
          </a:p>
          <a:p>
            <a:pPr marL="12700" marR="5080"/>
            <a:r>
              <a:rPr lang="en-US" sz="1300" kern="0" spc="-80" dirty="0">
                <a:solidFill>
                  <a:schemeClr val="accent6"/>
                </a:solidFill>
              </a:rPr>
              <a:t>Masked LM (Encoder-only)	 Masked token prediction	           BERT, </a:t>
            </a:r>
            <a:r>
              <a:rPr lang="en-US" sz="1300" kern="0" spc="-80" dirty="0" err="1">
                <a:solidFill>
                  <a:schemeClr val="accent6"/>
                </a:solidFill>
              </a:rPr>
              <a:t>RoBERTa</a:t>
            </a:r>
            <a:endParaRPr lang="en-US" sz="1300" kern="0" spc="-80" dirty="0">
              <a:solidFill>
                <a:schemeClr val="accent6"/>
              </a:solidFill>
            </a:endParaRPr>
          </a:p>
          <a:p>
            <a:pPr marL="12700" marR="5080"/>
            <a:r>
              <a:rPr lang="en-US" sz="1300" kern="0" spc="-80" dirty="0">
                <a:solidFill>
                  <a:schemeClr val="accent6"/>
                </a:solidFill>
              </a:rPr>
              <a:t>Seq2Seq (Encoder–Decoder)	 Conditional generation	                                 T5, FLAN, BART</a:t>
            </a:r>
          </a:p>
          <a:p>
            <a:pPr marL="12700" marR="5080"/>
            <a:r>
              <a:rPr lang="en-US" sz="1300" kern="0" spc="-80" dirty="0">
                <a:solidFill>
                  <a:schemeClr val="accent6"/>
                </a:solidFill>
              </a:rPr>
              <a:t>Mixture of Experts (</a:t>
            </a:r>
            <a:r>
              <a:rPr lang="en-US" sz="1300" kern="0" spc="-80" dirty="0" err="1">
                <a:solidFill>
                  <a:schemeClr val="accent6"/>
                </a:solidFill>
              </a:rPr>
              <a:t>MoE</a:t>
            </a:r>
            <a:r>
              <a:rPr lang="en-US" sz="1300" kern="0" spc="-80" dirty="0">
                <a:solidFill>
                  <a:schemeClr val="accent6"/>
                </a:solidFill>
              </a:rPr>
              <a:t>)	 Sparse activation of subnetworks	           </a:t>
            </a:r>
            <a:r>
              <a:rPr lang="en-US" sz="1300" kern="0" spc="-80" dirty="0" err="1">
                <a:solidFill>
                  <a:schemeClr val="accent6"/>
                </a:solidFill>
              </a:rPr>
              <a:t>Mixtral</a:t>
            </a:r>
            <a:r>
              <a:rPr lang="en-US" sz="1300" kern="0" spc="-80" dirty="0">
                <a:solidFill>
                  <a:schemeClr val="accent6"/>
                </a:solidFill>
              </a:rPr>
              <a:t>, Switch Transformer</a:t>
            </a:r>
          </a:p>
          <a:p>
            <a:pPr marL="12700" marR="5080"/>
            <a:endParaRPr lang="en-US" sz="1300" kern="0" spc="-80" dirty="0">
              <a:solidFill>
                <a:schemeClr val="accent6"/>
              </a:solidFill>
            </a:endParaRPr>
          </a:p>
          <a:p>
            <a:pPr marL="12700" marR="5080"/>
            <a:r>
              <a:rPr lang="en-US" sz="1300" kern="0" spc="-80" dirty="0">
                <a:solidFill>
                  <a:schemeClr val="accent2"/>
                </a:solidFill>
              </a:rPr>
              <a:t>🧭 9. Evaluation and Benchmarks</a:t>
            </a:r>
          </a:p>
          <a:p>
            <a:pPr marL="12700" marR="5080"/>
            <a:r>
              <a:rPr lang="en-US" sz="1300" kern="0" spc="-80" dirty="0">
                <a:solidFill>
                  <a:schemeClr val="accent2"/>
                </a:solidFill>
              </a:rPr>
              <a:t>9.1 Intrinsic metrics</a:t>
            </a:r>
          </a:p>
          <a:p>
            <a:pPr marL="12700" marR="5080"/>
            <a:r>
              <a:rPr lang="en-US" sz="1300" kern="0" spc="-80" dirty="0">
                <a:solidFill>
                  <a:schemeClr val="accent2"/>
                </a:solidFill>
              </a:rPr>
              <a:t>Perplexity</a:t>
            </a:r>
            <a:r>
              <a:rPr lang="en-US" sz="1300" kern="0" spc="-80" dirty="0">
                <a:solidFill>
                  <a:schemeClr val="accent6"/>
                </a:solidFill>
              </a:rPr>
              <a:t> – measures predictive uncertainty.</a:t>
            </a:r>
          </a:p>
          <a:p>
            <a:pPr marL="12700" marR="5080"/>
            <a:r>
              <a:rPr lang="en-US" sz="1300" kern="0" spc="-80" dirty="0">
                <a:solidFill>
                  <a:schemeClr val="accent2"/>
                </a:solidFill>
              </a:rPr>
              <a:t>Loss curves</a:t>
            </a:r>
            <a:r>
              <a:rPr lang="en-US" sz="1300" kern="0" spc="-80" dirty="0">
                <a:solidFill>
                  <a:schemeClr val="accent6"/>
                </a:solidFill>
              </a:rPr>
              <a:t> – for convergence and scaling.</a:t>
            </a:r>
          </a:p>
          <a:p>
            <a:pPr marL="12700" marR="5080"/>
            <a:r>
              <a:rPr lang="en-US" sz="1300" kern="0" spc="-80" dirty="0">
                <a:solidFill>
                  <a:schemeClr val="accent2"/>
                </a:solidFill>
              </a:rPr>
              <a:t>9.2 Extrinsic metrics</a:t>
            </a:r>
          </a:p>
          <a:p>
            <a:pPr marL="12700" marR="5080"/>
            <a:r>
              <a:rPr lang="en-US" sz="1300" kern="0" spc="-80" dirty="0">
                <a:solidFill>
                  <a:schemeClr val="accent6"/>
                </a:solidFill>
              </a:rPr>
              <a:t>Benchmarks like MMLU, BIG-bench, HELM, GSM8K, ARC.</a:t>
            </a:r>
          </a:p>
          <a:p>
            <a:pPr marL="12700" marR="5080"/>
            <a:r>
              <a:rPr lang="en-US" sz="1300" kern="0" spc="-80" dirty="0">
                <a:solidFill>
                  <a:schemeClr val="accent6"/>
                </a:solidFill>
              </a:rPr>
              <a:t>Human evals for fluency, factuality, alignment.</a:t>
            </a:r>
          </a:p>
          <a:p>
            <a:pPr marL="12700" marR="5080"/>
            <a:endParaRPr lang="en-US" sz="1300" kern="0" spc="-80" dirty="0">
              <a:solidFill>
                <a:schemeClr val="accent6"/>
              </a:solidFill>
            </a:endParaRPr>
          </a:p>
          <a:p>
            <a:pPr marL="12700" marR="5080"/>
            <a:r>
              <a:rPr lang="en-US" sz="1300" kern="0" spc="-80" dirty="0">
                <a:solidFill>
                  <a:schemeClr val="accent2"/>
                </a:solidFill>
              </a:rPr>
              <a:t>🧩 10. Retrieval and Tool Use</a:t>
            </a:r>
          </a:p>
          <a:p>
            <a:pPr marL="12700" marR="5080"/>
            <a:r>
              <a:rPr lang="en-US" sz="1300" kern="0" spc="-80" dirty="0">
                <a:solidFill>
                  <a:schemeClr val="accent6"/>
                </a:solidFill>
              </a:rPr>
              <a:t>Modern LLMs are often augmented with external systems:</a:t>
            </a:r>
          </a:p>
          <a:p>
            <a:pPr marL="12700" marR="5080"/>
            <a:r>
              <a:rPr lang="en-US" sz="1300" kern="0" spc="-80" dirty="0">
                <a:solidFill>
                  <a:schemeClr val="accent2"/>
                </a:solidFill>
              </a:rPr>
              <a:t>Retrieval-Augmented Generation (RAG) </a:t>
            </a:r>
            <a:r>
              <a:rPr lang="en-US" sz="1300" kern="0" spc="-80" dirty="0">
                <a:solidFill>
                  <a:schemeClr val="accent6"/>
                </a:solidFill>
              </a:rPr>
              <a:t>– combine LLM + database/search.</a:t>
            </a:r>
          </a:p>
          <a:p>
            <a:pPr marL="12700" marR="5080"/>
            <a:r>
              <a:rPr lang="en-US" sz="1300" kern="0" spc="-80" dirty="0">
                <a:solidFill>
                  <a:schemeClr val="accent2"/>
                </a:solidFill>
              </a:rPr>
              <a:t>Tool use</a:t>
            </a:r>
            <a:r>
              <a:rPr lang="en-US" sz="1300" kern="0" spc="-80" dirty="0">
                <a:solidFill>
                  <a:schemeClr val="accent6"/>
                </a:solidFill>
              </a:rPr>
              <a:t> – call APIs, calculators, or code interpreters.</a:t>
            </a:r>
          </a:p>
          <a:p>
            <a:pPr marL="12700" marR="5080"/>
            <a:r>
              <a:rPr lang="en-US" sz="1300" kern="0" spc="-80" dirty="0">
                <a:solidFill>
                  <a:schemeClr val="accent2"/>
                </a:solidFill>
              </a:rPr>
              <a:t>Agents</a:t>
            </a:r>
            <a:r>
              <a:rPr lang="en-US" sz="1300" kern="0" spc="-80" dirty="0">
                <a:solidFill>
                  <a:schemeClr val="accent6"/>
                </a:solidFill>
              </a:rPr>
              <a:t> – orchestrate multi-step reasoning using planning and memory.</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4892039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7CB64-7584-1370-E319-2FF29CD99E7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8A0AE18-C564-CC46-E484-51AB068D996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263B279D-A38E-1B02-D6B9-080E734F9C23}"/>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8B76F19-294F-EE02-C40F-487DAFF8F00B}"/>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CA15703-0529-FB24-7A47-1D09340B3C4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ABB0EF76-A420-EDFB-5FB6-814B0B057E03}"/>
              </a:ext>
            </a:extLst>
          </p:cNvPr>
          <p:cNvSpPr txBox="1">
            <a:spLocks/>
          </p:cNvSpPr>
          <p:nvPr/>
        </p:nvSpPr>
        <p:spPr>
          <a:xfrm>
            <a:off x="41725" y="1377399"/>
            <a:ext cx="8624937" cy="36009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11. Alignment, Safety, and Ethics</a:t>
            </a:r>
          </a:p>
          <a:p>
            <a:pPr marL="12700" marR="5080"/>
            <a:r>
              <a:rPr lang="en-US" sz="1300" kern="0" spc="-80" dirty="0">
                <a:solidFill>
                  <a:schemeClr val="accent2"/>
                </a:solidFill>
              </a:rPr>
              <a:t>Key issues:</a:t>
            </a:r>
          </a:p>
          <a:p>
            <a:pPr marL="12700" marR="5080"/>
            <a:r>
              <a:rPr lang="en-US" sz="1300" kern="0" spc="-80" dirty="0">
                <a:solidFill>
                  <a:schemeClr val="accent2"/>
                </a:solidFill>
              </a:rPr>
              <a:t>Hallucination: </a:t>
            </a:r>
            <a:r>
              <a:rPr lang="en-US" sz="1300" kern="0" spc="-80" dirty="0">
                <a:solidFill>
                  <a:schemeClr val="accent6"/>
                </a:solidFill>
              </a:rPr>
              <a:t>generating plausible but false info.</a:t>
            </a:r>
          </a:p>
          <a:p>
            <a:pPr marL="12700" marR="5080"/>
            <a:r>
              <a:rPr lang="en-US" sz="1300" kern="0" spc="-80" dirty="0">
                <a:solidFill>
                  <a:schemeClr val="accent2"/>
                </a:solidFill>
              </a:rPr>
              <a:t>Bias:</a:t>
            </a:r>
            <a:r>
              <a:rPr lang="en-US" sz="1300" kern="0" spc="-80" dirty="0">
                <a:solidFill>
                  <a:schemeClr val="accent6"/>
                </a:solidFill>
              </a:rPr>
              <a:t> reflecting social/political bias in data.</a:t>
            </a:r>
          </a:p>
          <a:p>
            <a:pPr marL="12700" marR="5080"/>
            <a:r>
              <a:rPr lang="en-US" sz="1300" kern="0" spc="-80" dirty="0">
                <a:solidFill>
                  <a:schemeClr val="accent2"/>
                </a:solidFill>
              </a:rPr>
              <a:t>Privacy:</a:t>
            </a:r>
            <a:r>
              <a:rPr lang="en-US" sz="1300" kern="0" spc="-80" dirty="0">
                <a:solidFill>
                  <a:schemeClr val="accent6"/>
                </a:solidFill>
              </a:rPr>
              <a:t> leaking sensitive training data.</a:t>
            </a:r>
          </a:p>
          <a:p>
            <a:pPr marL="12700" marR="5080"/>
            <a:r>
              <a:rPr lang="en-US" sz="1300" kern="0" spc="-80" dirty="0">
                <a:solidFill>
                  <a:schemeClr val="accent2"/>
                </a:solidFill>
              </a:rPr>
              <a:t>Security:</a:t>
            </a:r>
            <a:r>
              <a:rPr lang="en-US" sz="1300" kern="0" spc="-80" dirty="0">
                <a:solidFill>
                  <a:schemeClr val="accent6"/>
                </a:solidFill>
              </a:rPr>
              <a:t> prompt injection, data poisoning.</a:t>
            </a:r>
          </a:p>
          <a:p>
            <a:pPr marL="12700" marR="5080"/>
            <a:r>
              <a:rPr lang="en-US" sz="1300" kern="0" spc="-80" dirty="0">
                <a:solidFill>
                  <a:schemeClr val="accent2"/>
                </a:solidFill>
              </a:rPr>
              <a:t>Solutions:</a:t>
            </a:r>
          </a:p>
          <a:p>
            <a:pPr marL="12700" marR="5080"/>
            <a:r>
              <a:rPr lang="en-US" sz="1300" kern="0" spc="-80" dirty="0">
                <a:solidFill>
                  <a:schemeClr val="accent6"/>
                </a:solidFill>
              </a:rPr>
              <a:t>RLHF, RLAIF (AI feedback), Constitutional AI.</a:t>
            </a:r>
          </a:p>
          <a:p>
            <a:pPr marL="12700" marR="5080"/>
            <a:r>
              <a:rPr lang="en-US" sz="1300" kern="0" spc="-80" dirty="0">
                <a:solidFill>
                  <a:schemeClr val="accent6"/>
                </a:solidFill>
              </a:rPr>
              <a:t>Red-teaming and continuous alignment tuning.</a:t>
            </a:r>
          </a:p>
          <a:p>
            <a:pPr marL="12700" marR="5080"/>
            <a:endParaRPr lang="en-US" sz="1300" kern="0" spc="-80" dirty="0">
              <a:solidFill>
                <a:schemeClr val="accent6"/>
              </a:solidFill>
            </a:endParaRPr>
          </a:p>
          <a:p>
            <a:pPr marL="12700" marR="5080"/>
            <a:r>
              <a:rPr lang="en-US" sz="1300" kern="0" spc="-80" dirty="0">
                <a:solidFill>
                  <a:schemeClr val="accent2"/>
                </a:solidFill>
              </a:rPr>
              <a:t>🚀 12. Future Trends</a:t>
            </a:r>
          </a:p>
          <a:p>
            <a:pPr marL="12700" marR="5080"/>
            <a:r>
              <a:rPr lang="en-US" sz="1300" kern="0" spc="-80" dirty="0">
                <a:solidFill>
                  <a:schemeClr val="accent2"/>
                </a:solidFill>
              </a:rPr>
              <a:t>Multimodal LLMs: </a:t>
            </a:r>
            <a:r>
              <a:rPr lang="en-US" sz="1300" kern="0" spc="-80" dirty="0">
                <a:solidFill>
                  <a:schemeClr val="accent6"/>
                </a:solidFill>
              </a:rPr>
              <a:t>text + vision + audio + video. (e.g., GPT-4V, Gemini 1.5 Pro)</a:t>
            </a:r>
          </a:p>
          <a:p>
            <a:pPr marL="12700" marR="5080"/>
            <a:r>
              <a:rPr lang="en-US" sz="1300" kern="0" spc="-80" dirty="0">
                <a:solidFill>
                  <a:schemeClr val="accent2"/>
                </a:solidFill>
              </a:rPr>
              <a:t>Long-context models:</a:t>
            </a:r>
            <a:r>
              <a:rPr lang="en-US" sz="1300" kern="0" spc="-80" dirty="0">
                <a:solidFill>
                  <a:schemeClr val="accent6"/>
                </a:solidFill>
              </a:rPr>
              <a:t> up to millions of tokens.</a:t>
            </a:r>
          </a:p>
          <a:p>
            <a:pPr marL="12700" marR="5080"/>
            <a:r>
              <a:rPr lang="en-US" sz="1300" kern="0" spc="-80" dirty="0">
                <a:solidFill>
                  <a:schemeClr val="accent2"/>
                </a:solidFill>
              </a:rPr>
              <a:t>Smaller, efficient models: </a:t>
            </a:r>
            <a:r>
              <a:rPr lang="en-US" sz="1300" kern="0" spc="-80" dirty="0">
                <a:solidFill>
                  <a:schemeClr val="accent6"/>
                </a:solidFill>
              </a:rPr>
              <a:t>quantization, </a:t>
            </a:r>
            <a:r>
              <a:rPr lang="en-US" sz="1300" kern="0" spc="-80" dirty="0" err="1">
                <a:solidFill>
                  <a:schemeClr val="accent6"/>
                </a:solidFill>
              </a:rPr>
              <a:t>LoRA</a:t>
            </a:r>
            <a:r>
              <a:rPr lang="en-US" sz="1300" kern="0" spc="-80" dirty="0">
                <a:solidFill>
                  <a:schemeClr val="accent6"/>
                </a:solidFill>
              </a:rPr>
              <a:t>, distillation.</a:t>
            </a:r>
          </a:p>
          <a:p>
            <a:pPr marL="12700" marR="5080"/>
            <a:r>
              <a:rPr lang="en-US" sz="1300" kern="0" spc="-80" dirty="0">
                <a:solidFill>
                  <a:schemeClr val="accent2"/>
                </a:solidFill>
              </a:rPr>
              <a:t>Reasoning-focused LLMs: </a:t>
            </a:r>
            <a:r>
              <a:rPr lang="en-US" sz="1300" kern="0" spc="-80" dirty="0">
                <a:solidFill>
                  <a:schemeClr val="accent6"/>
                </a:solidFill>
              </a:rPr>
              <a:t>symbolic–neural hybrids, self-reflection.</a:t>
            </a:r>
          </a:p>
          <a:p>
            <a:pPr marL="12700" marR="5080"/>
            <a:r>
              <a:rPr lang="en-US" sz="1300" kern="0" spc="-80" dirty="0">
                <a:solidFill>
                  <a:schemeClr val="accent2"/>
                </a:solidFill>
              </a:rPr>
              <a:t>Autonomous agents:</a:t>
            </a:r>
            <a:r>
              <a:rPr lang="en-US" sz="1300" kern="0" spc="-80" dirty="0">
                <a:solidFill>
                  <a:schemeClr val="accent6"/>
                </a:solidFill>
              </a:rPr>
              <a:t> self-planning, memory, goal execution.</a:t>
            </a:r>
          </a:p>
          <a:p>
            <a:pPr marL="12700" marR="5080"/>
            <a:r>
              <a:rPr lang="en-US" sz="1300" kern="0" spc="-80" dirty="0">
                <a:solidFill>
                  <a:schemeClr val="accent2"/>
                </a:solidFill>
              </a:rPr>
              <a:t>Mixture-of-Experts (</a:t>
            </a:r>
            <a:r>
              <a:rPr lang="en-US" sz="1300" kern="0" spc="-80" dirty="0" err="1">
                <a:solidFill>
                  <a:schemeClr val="accent2"/>
                </a:solidFill>
              </a:rPr>
              <a:t>MoE</a:t>
            </a:r>
            <a:r>
              <a:rPr lang="en-US" sz="1300" kern="0" spc="-80" dirty="0">
                <a:solidFill>
                  <a:schemeClr val="accent2"/>
                </a:solidFill>
              </a:rPr>
              <a:t>): </a:t>
            </a:r>
            <a:r>
              <a:rPr lang="en-US" sz="1300" kern="0" spc="-80" dirty="0">
                <a:solidFill>
                  <a:schemeClr val="accent6"/>
                </a:solidFill>
              </a:rPr>
              <a:t>A more recent architecture that uses multiple smaller models (experts) to handle different tasks, which can improve efficiency and performance. Llama 4 is an example of this architecture. </a:t>
            </a:r>
          </a:p>
        </p:txBody>
      </p:sp>
    </p:spTree>
    <p:extLst>
      <p:ext uri="{BB962C8B-B14F-4D97-AF65-F5344CB8AC3E}">
        <p14:creationId xmlns:p14="http://schemas.microsoft.com/office/powerpoint/2010/main" val="131687299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F6423-4125-C119-03D3-E789C608AC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A75D4DB-19B1-FED3-A8C6-9FB377FBE72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20E5D1C-9DCE-9F43-13DC-A1B24A57888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BA83B0F-6884-4C02-8BF4-DCEA52B7FBE5}"/>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FAC9EA7-67BB-FC70-4013-FA071D6F301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62D8F133-D314-EBDB-CD55-21A3646CA61E}"/>
              </a:ext>
            </a:extLst>
          </p:cNvPr>
          <p:cNvSpPr txBox="1">
            <a:spLocks/>
          </p:cNvSpPr>
          <p:nvPr/>
        </p:nvSpPr>
        <p:spPr>
          <a:xfrm>
            <a:off x="41725" y="1377399"/>
            <a:ext cx="8624937" cy="22006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Summary Map</a:t>
            </a:r>
          </a:p>
          <a:p>
            <a:pPr marL="12700" marR="5080"/>
            <a:r>
              <a:rPr lang="en-US" sz="1300" kern="0" spc="-80" dirty="0">
                <a:solidFill>
                  <a:schemeClr val="accent2"/>
                </a:solidFill>
              </a:rPr>
              <a:t>Concept	                     Description</a:t>
            </a:r>
          </a:p>
          <a:p>
            <a:pPr marL="12700" marR="5080"/>
            <a:r>
              <a:rPr lang="en-US" sz="1300" kern="0" spc="-80" dirty="0">
                <a:solidFill>
                  <a:schemeClr val="accent6"/>
                </a:solidFill>
              </a:rPr>
              <a:t>Tokenization                   Converts text to model-readable units</a:t>
            </a:r>
          </a:p>
          <a:p>
            <a:pPr marL="12700" marR="5080"/>
            <a:r>
              <a:rPr lang="en-US" sz="1300" kern="0" spc="-80" dirty="0">
                <a:solidFill>
                  <a:schemeClr val="accent6"/>
                </a:solidFill>
              </a:rPr>
              <a:t>Transformer                    Architecture enabling contextual attention</a:t>
            </a:r>
          </a:p>
          <a:p>
            <a:pPr marL="12700" marR="5080"/>
            <a:r>
              <a:rPr lang="en-US" sz="1300" kern="0" spc="-80" dirty="0">
                <a:solidFill>
                  <a:schemeClr val="accent6"/>
                </a:solidFill>
              </a:rPr>
              <a:t>Self-Attention                   Core mechanism for relational understanding</a:t>
            </a:r>
          </a:p>
          <a:p>
            <a:pPr marL="12700" marR="5080"/>
            <a:r>
              <a:rPr lang="en-US" sz="1300" kern="0" spc="-80" dirty="0">
                <a:solidFill>
                  <a:schemeClr val="accent6"/>
                </a:solidFill>
              </a:rPr>
              <a:t>Pretraining	                      Massive unsupervised learning</a:t>
            </a:r>
          </a:p>
          <a:p>
            <a:pPr marL="12700" marR="5080"/>
            <a:r>
              <a:rPr lang="en-US" sz="1300" kern="0" spc="-80" dirty="0">
                <a:solidFill>
                  <a:schemeClr val="accent6"/>
                </a:solidFill>
              </a:rPr>
              <a:t>Fine-tuning &amp; RLHF	Alignment with human instructions</a:t>
            </a:r>
          </a:p>
          <a:p>
            <a:pPr marL="12700" marR="5080"/>
            <a:r>
              <a:rPr lang="en-US" sz="1300" kern="0" spc="-80" dirty="0">
                <a:solidFill>
                  <a:schemeClr val="accent6"/>
                </a:solidFill>
              </a:rPr>
              <a:t>Emergent abilities	Reasoning, few-shot learning</a:t>
            </a:r>
          </a:p>
          <a:p>
            <a:pPr marL="12700" marR="5080"/>
            <a:r>
              <a:rPr lang="en-US" sz="1300" kern="0" spc="-80" dirty="0">
                <a:solidFill>
                  <a:schemeClr val="accent6"/>
                </a:solidFill>
              </a:rPr>
              <a:t>Scaling laws	Predict performance with data/compute</a:t>
            </a:r>
          </a:p>
          <a:p>
            <a:pPr marL="12700" marR="5080"/>
            <a:r>
              <a:rPr lang="en-US" sz="1300" kern="0" spc="-80" dirty="0">
                <a:solidFill>
                  <a:schemeClr val="accent6"/>
                </a:solidFill>
              </a:rPr>
              <a:t>RAG &amp; Tools	Extend model with external knowledge</a:t>
            </a:r>
          </a:p>
          <a:p>
            <a:pPr marL="12700" marR="5080"/>
            <a:r>
              <a:rPr lang="en-US" sz="1300" kern="0" spc="-80" dirty="0">
                <a:solidFill>
                  <a:schemeClr val="accent6"/>
                </a:solidFill>
              </a:rPr>
              <a:t>Safety &amp; Ethics	Mitigate bias, hallucination, misuse</a:t>
            </a:r>
          </a:p>
        </p:txBody>
      </p:sp>
    </p:spTree>
    <p:extLst>
      <p:ext uri="{BB962C8B-B14F-4D97-AF65-F5344CB8AC3E}">
        <p14:creationId xmlns:p14="http://schemas.microsoft.com/office/powerpoint/2010/main" val="411091771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DF4DD-B772-AEDA-2932-8884366477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0CBF262-C71F-09BC-82E1-44859401881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F34FB05A-9667-B3BB-C702-1D306873A54A}"/>
              </a:ext>
            </a:extLst>
          </p:cNvPr>
          <p:cNvSpPr/>
          <p:nvPr/>
        </p:nvSpPr>
        <p:spPr>
          <a:xfrm>
            <a:off x="1640838" y="887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6E13172-2128-B9F6-EEFA-7FFFA0ABC3C1}"/>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DBF6CBF-13EE-F84C-E138-F802774213C4}"/>
              </a:ext>
            </a:extLst>
          </p:cNvPr>
          <p:cNvGraphicFramePr/>
          <p:nvPr>
            <p:extLst>
              <p:ext uri="{D42A27DB-BD31-4B8C-83A1-F6EECF244321}">
                <p14:modId xmlns:p14="http://schemas.microsoft.com/office/powerpoint/2010/main" val="2334328372"/>
              </p:ext>
            </p:extLst>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screenshot of a computer flowchart&#10;&#10;AI-generated content may be incorrect.">
            <a:extLst>
              <a:ext uri="{FF2B5EF4-FFF2-40B4-BE49-F238E27FC236}">
                <a16:creationId xmlns:a16="http://schemas.microsoft.com/office/drawing/2014/main" id="{A5F71345-5FB8-C3F8-C850-01C7FB769E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405" y="1058097"/>
            <a:ext cx="9046394" cy="4733103"/>
          </a:xfrm>
          <a:prstGeom prst="rect">
            <a:avLst/>
          </a:prstGeom>
        </p:spPr>
      </p:pic>
    </p:spTree>
    <p:extLst>
      <p:ext uri="{BB962C8B-B14F-4D97-AF65-F5344CB8AC3E}">
        <p14:creationId xmlns:p14="http://schemas.microsoft.com/office/powerpoint/2010/main" val="406579380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D3A-3AD7-FE9D-1CD1-84101F6DDD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A2B2B7-3860-6920-61BC-E3FA7684A8D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649774C-EA1A-A4FD-D1A1-2057BAB92DE8}"/>
              </a:ext>
            </a:extLst>
          </p:cNvPr>
          <p:cNvSpPr/>
          <p:nvPr/>
        </p:nvSpPr>
        <p:spPr>
          <a:xfrm>
            <a:off x="1640838" y="887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E736FB0-9FC4-F73A-58E6-08592DE922FE}"/>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67AE532-D113-11BA-5F7B-E2E9630516EC}"/>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screenshot of a computer">
            <a:extLst>
              <a:ext uri="{FF2B5EF4-FFF2-40B4-BE49-F238E27FC236}">
                <a16:creationId xmlns:a16="http://schemas.microsoft.com/office/drawing/2014/main" id="{612424F9-C14B-C0C0-6648-E94179B4B0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078022"/>
            <a:ext cx="8915400" cy="4847749"/>
          </a:xfrm>
          <a:prstGeom prst="rect">
            <a:avLst/>
          </a:prstGeom>
        </p:spPr>
      </p:pic>
    </p:spTree>
    <p:extLst>
      <p:ext uri="{BB962C8B-B14F-4D97-AF65-F5344CB8AC3E}">
        <p14:creationId xmlns:p14="http://schemas.microsoft.com/office/powerpoint/2010/main" val="208771091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FA225-F770-DDA6-349F-422804F482E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5484EE-1D85-4B59-3AB5-733172CABA0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9DADC93-314E-8EC7-5250-708255CEEF88}"/>
              </a:ext>
            </a:extLst>
          </p:cNvPr>
          <p:cNvSpPr/>
          <p:nvPr/>
        </p:nvSpPr>
        <p:spPr>
          <a:xfrm>
            <a:off x="1640838" y="887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0732BCC-CDE1-C5EC-EAA6-78D651F4E6C9}"/>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795D1E9-B7AA-8CD7-0102-ACC32D8239F9}"/>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78643643-A20C-7700-ED2B-AEBF6A52884D}"/>
              </a:ext>
            </a:extLst>
          </p:cNvPr>
          <p:cNvPicPr>
            <a:picLocks noChangeAspect="1"/>
          </p:cNvPicPr>
          <p:nvPr/>
        </p:nvPicPr>
        <p:blipFill>
          <a:blip r:embed="rId7"/>
          <a:stretch>
            <a:fillRect/>
          </a:stretch>
        </p:blipFill>
        <p:spPr>
          <a:xfrm>
            <a:off x="152401" y="1078024"/>
            <a:ext cx="8915398" cy="4789376"/>
          </a:xfrm>
          <a:prstGeom prst="rect">
            <a:avLst/>
          </a:prstGeom>
        </p:spPr>
      </p:pic>
    </p:spTree>
    <p:extLst>
      <p:ext uri="{BB962C8B-B14F-4D97-AF65-F5344CB8AC3E}">
        <p14:creationId xmlns:p14="http://schemas.microsoft.com/office/powerpoint/2010/main" val="242168462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65AA6-B972-ABD0-31BE-0CDB9428953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8A553C4-ECBE-58D4-34DC-5E09B25842A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387E0EA-556D-978C-6551-1B4306333036}"/>
              </a:ext>
            </a:extLst>
          </p:cNvPr>
          <p:cNvSpPr/>
          <p:nvPr/>
        </p:nvSpPr>
        <p:spPr>
          <a:xfrm>
            <a:off x="1640838" y="887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F11ED8F-0CE0-9771-5193-6AAB13E4ED3F}"/>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A6122AA-1ADD-8A12-6D21-CC3015478A85}"/>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8197F4B5-ECBF-2904-D3ED-C322C032551A}"/>
              </a:ext>
            </a:extLst>
          </p:cNvPr>
          <p:cNvPicPr>
            <a:picLocks noChangeAspect="1"/>
          </p:cNvPicPr>
          <p:nvPr/>
        </p:nvPicPr>
        <p:blipFill>
          <a:blip r:embed="rId7"/>
          <a:stretch>
            <a:fillRect/>
          </a:stretch>
        </p:blipFill>
        <p:spPr>
          <a:xfrm>
            <a:off x="76200" y="1078023"/>
            <a:ext cx="8991599" cy="4713177"/>
          </a:xfrm>
          <a:prstGeom prst="rect">
            <a:avLst/>
          </a:prstGeom>
        </p:spPr>
      </p:pic>
    </p:spTree>
    <p:extLst>
      <p:ext uri="{BB962C8B-B14F-4D97-AF65-F5344CB8AC3E}">
        <p14:creationId xmlns:p14="http://schemas.microsoft.com/office/powerpoint/2010/main" val="361005812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117B2-7805-E291-F0AE-1571D4B6E96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DDFC3E-378C-BFF8-74E8-18ED5191CD3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043B34D-B08E-B8E5-E0E3-36E734E8202D}"/>
              </a:ext>
            </a:extLst>
          </p:cNvPr>
          <p:cNvSpPr/>
          <p:nvPr/>
        </p:nvSpPr>
        <p:spPr>
          <a:xfrm>
            <a:off x="1640838" y="887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1BA006D-12BB-B470-DBB1-520D840766CB}"/>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DA839B2-1109-A789-3CCA-5B479E9EAD6C}"/>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0C42E1AD-2C9A-1022-EDD3-DA31AFC9CE0C}"/>
              </a:ext>
            </a:extLst>
          </p:cNvPr>
          <p:cNvPicPr>
            <a:picLocks noChangeAspect="1"/>
          </p:cNvPicPr>
          <p:nvPr/>
        </p:nvPicPr>
        <p:blipFill>
          <a:blip r:embed="rId7"/>
          <a:stretch>
            <a:fillRect/>
          </a:stretch>
        </p:blipFill>
        <p:spPr>
          <a:xfrm>
            <a:off x="76200" y="1078023"/>
            <a:ext cx="8991599" cy="4713177"/>
          </a:xfrm>
          <a:prstGeom prst="rect">
            <a:avLst/>
          </a:prstGeom>
        </p:spPr>
      </p:pic>
    </p:spTree>
    <p:extLst>
      <p:ext uri="{BB962C8B-B14F-4D97-AF65-F5344CB8AC3E}">
        <p14:creationId xmlns:p14="http://schemas.microsoft.com/office/powerpoint/2010/main" val="32550507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106BF-385A-141B-DA14-AC30A46CBF5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4F0FD7E-95B3-2DCA-F928-1E42CAAF288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15586EC-E9C4-5C28-DD33-BCE5DF31FC6C}"/>
              </a:ext>
            </a:extLst>
          </p:cNvPr>
          <p:cNvSpPr/>
          <p:nvPr/>
        </p:nvSpPr>
        <p:spPr>
          <a:xfrm>
            <a:off x="1640838" y="887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510EA99-F258-AE55-E1AD-4CD3E93A924B}"/>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3EC2EFE-8E90-3CCB-5E92-2A47A1F95B42}"/>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A7C6FAE6-A33E-7B1B-7F09-35886ACA0463}"/>
              </a:ext>
            </a:extLst>
          </p:cNvPr>
          <p:cNvPicPr>
            <a:picLocks noChangeAspect="1"/>
          </p:cNvPicPr>
          <p:nvPr/>
        </p:nvPicPr>
        <p:blipFill>
          <a:blip r:embed="rId7"/>
          <a:stretch>
            <a:fillRect/>
          </a:stretch>
        </p:blipFill>
        <p:spPr>
          <a:xfrm>
            <a:off x="76201" y="1078023"/>
            <a:ext cx="8991598" cy="4847749"/>
          </a:xfrm>
          <a:prstGeom prst="rect">
            <a:avLst/>
          </a:prstGeom>
        </p:spPr>
      </p:pic>
    </p:spTree>
    <p:extLst>
      <p:ext uri="{BB962C8B-B14F-4D97-AF65-F5344CB8AC3E}">
        <p14:creationId xmlns:p14="http://schemas.microsoft.com/office/powerpoint/2010/main" val="405932402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DABC-9771-078F-2E2B-336CA78BDA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E8F744-B0E5-AF29-C7DD-37481FDAE77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A567AB8-C75F-5896-BC14-098C510C11C0}"/>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7407009-4388-8EF3-4884-67AEDD1D4CA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FD5F8D2-72C6-E748-7BD2-DFC26703D779}"/>
              </a:ext>
            </a:extLst>
          </p:cNvPr>
          <p:cNvGraphicFramePr/>
          <p:nvPr>
            <p:extLst>
              <p:ext uri="{D42A27DB-BD31-4B8C-83A1-F6EECF244321}">
                <p14:modId xmlns:p14="http://schemas.microsoft.com/office/powerpoint/2010/main" val="424957523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A53FE6B0-B9D4-3FA8-800B-3E96B9F0E164}"/>
              </a:ext>
            </a:extLst>
          </p:cNvPr>
          <p:cNvSpPr txBox="1">
            <a:spLocks/>
          </p:cNvSpPr>
          <p:nvPr/>
        </p:nvSpPr>
        <p:spPr>
          <a:xfrm>
            <a:off x="41725" y="1351999"/>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50" kern="0" spc="-80" dirty="0">
                <a:solidFill>
                  <a:schemeClr val="accent6"/>
                </a:solidFill>
              </a:rPr>
              <a:t>Encoding strategies in LLMs involve transforming raw text into a format the model can understand, using techniques like tokenization (e.g., BPE) to break down text into smaller units, positional encoding to add information about token order, and embedding to represent tokens as numerical vectors. Advanced methods also include encoding different data types like graphs, restructuring parameters for efficiency, and creating a contextual understanding of dependencies.       </a:t>
            </a:r>
          </a:p>
          <a:p>
            <a:r>
              <a:rPr lang="en-US" sz="1250" kern="0" spc="-80" dirty="0">
                <a:solidFill>
                  <a:schemeClr val="accent2"/>
                </a:solidFill>
              </a:rPr>
              <a:t>Common encoding strategies   </a:t>
            </a:r>
            <a:r>
              <a:rPr lang="en-US" sz="1250" kern="0" spc="-80" dirty="0">
                <a:solidFill>
                  <a:schemeClr val="accent6"/>
                </a:solidFill>
              </a:rPr>
              <a:t>  </a:t>
            </a:r>
          </a:p>
          <a:p>
            <a:r>
              <a:rPr lang="en-US" sz="1250" kern="0" spc="-80" dirty="0">
                <a:solidFill>
                  <a:schemeClr val="accent2"/>
                </a:solidFill>
              </a:rPr>
              <a:t>Tokenization: </a:t>
            </a:r>
            <a:r>
              <a:rPr lang="en-US" sz="1250" kern="0" spc="-80" dirty="0">
                <a:solidFill>
                  <a:schemeClr val="accent6"/>
                </a:solidFill>
              </a:rPr>
              <a:t>Splitting text into smaller units called </a:t>
            </a:r>
            <a:r>
              <a:rPr lang="en-US" sz="1250" kern="0" spc="-80" dirty="0" err="1">
                <a:solidFill>
                  <a:schemeClr val="accent6"/>
                </a:solidFill>
              </a:rPr>
              <a:t>tokens.Techniques</a:t>
            </a:r>
            <a:r>
              <a:rPr lang="en-US" sz="1250" kern="0" spc="-80" dirty="0">
                <a:solidFill>
                  <a:schemeClr val="accent6"/>
                </a:solidFill>
              </a:rPr>
              <a:t> like Byte Pair Encoding (BPE) merge frequent character pairs to create a smaller, more efficient vocabulary, breaking down rare words into </a:t>
            </a:r>
            <a:r>
              <a:rPr lang="en-US" sz="1250" kern="0" spc="-80" dirty="0" err="1">
                <a:solidFill>
                  <a:schemeClr val="accent6"/>
                </a:solidFill>
              </a:rPr>
              <a:t>subwords</a:t>
            </a:r>
            <a:r>
              <a:rPr lang="en-US" sz="1250" kern="0" spc="-80" dirty="0">
                <a:solidFill>
                  <a:schemeClr val="accent6"/>
                </a:solidFill>
              </a:rPr>
              <a:t>.  Word boundary tokens are added to correctly reconstruct the original words during decoding.  </a:t>
            </a:r>
          </a:p>
          <a:p>
            <a:r>
              <a:rPr lang="en-US" sz="1250" kern="0" spc="-80" dirty="0">
                <a:solidFill>
                  <a:schemeClr val="accent2"/>
                </a:solidFill>
              </a:rPr>
              <a:t>Embedding: </a:t>
            </a:r>
            <a:r>
              <a:rPr lang="en-US" sz="1250" kern="0" spc="-80" dirty="0">
                <a:solidFill>
                  <a:schemeClr val="accent6"/>
                </a:solidFill>
              </a:rPr>
              <a:t>Converting tokens into numerical vectors (embeddings) that capture semantic </a:t>
            </a:r>
            <a:r>
              <a:rPr lang="en-US" sz="1250" kern="0" spc="-80" dirty="0" err="1">
                <a:solidFill>
                  <a:schemeClr val="accent6"/>
                </a:solidFill>
              </a:rPr>
              <a:t>meaning.These</a:t>
            </a:r>
            <a:r>
              <a:rPr lang="en-US" sz="1250" kern="0" spc="-80" dirty="0">
                <a:solidFill>
                  <a:schemeClr val="accent6"/>
                </a:solidFill>
              </a:rPr>
              <a:t> vectors are used to represent the input data in a way the model can process.  </a:t>
            </a:r>
          </a:p>
          <a:p>
            <a:r>
              <a:rPr lang="en-US" sz="1250" kern="0" spc="-80" dirty="0">
                <a:solidFill>
                  <a:schemeClr val="accent2"/>
                </a:solidFill>
              </a:rPr>
              <a:t>Positional Encoding: </a:t>
            </a:r>
            <a:r>
              <a:rPr lang="en-US" sz="1250" kern="0" spc="-80" dirty="0">
                <a:solidFill>
                  <a:schemeClr val="accent6"/>
                </a:solidFill>
              </a:rPr>
              <a:t>Adding information about the position of each token in a sequence. This is crucial because the self-attention mechanism in transformers, which are common in LLMs, does not inherently process positional information.  </a:t>
            </a:r>
          </a:p>
          <a:p>
            <a:r>
              <a:rPr lang="en-US" sz="1250" kern="0" spc="-80" dirty="0">
                <a:solidFill>
                  <a:schemeClr val="accent2"/>
                </a:solidFill>
              </a:rPr>
              <a:t>Advanced and specialized encoding   </a:t>
            </a:r>
            <a:r>
              <a:rPr lang="en-US" sz="1250" kern="0" spc="-80" dirty="0">
                <a:solidFill>
                  <a:schemeClr val="accent6"/>
                </a:solidFill>
              </a:rPr>
              <a:t>  </a:t>
            </a:r>
          </a:p>
          <a:p>
            <a:r>
              <a:rPr lang="en-US" sz="1250" kern="0" spc="-80" dirty="0">
                <a:solidFill>
                  <a:schemeClr val="accent2"/>
                </a:solidFill>
              </a:rPr>
              <a:t>Contextual Compression Encoding (CCE): </a:t>
            </a:r>
            <a:r>
              <a:rPr lang="en-US" sz="1250" kern="0" spc="-80" dirty="0">
                <a:solidFill>
                  <a:schemeClr val="accent6"/>
                </a:solidFill>
              </a:rPr>
              <a:t>Aims to make models more efficient by identifying and removing redundant parameter clusters while preserving essential linguistic relationships.  </a:t>
            </a:r>
          </a:p>
          <a:p>
            <a:r>
              <a:rPr lang="en-US" sz="1250" kern="0" spc="-80" dirty="0">
                <a:solidFill>
                  <a:schemeClr val="accent2"/>
                </a:solidFill>
              </a:rPr>
              <a:t>Contextually Structured Token Dependency Encoding:</a:t>
            </a:r>
            <a:r>
              <a:rPr lang="en-US" sz="1250" kern="0" spc="-80" dirty="0">
                <a:solidFill>
                  <a:schemeClr val="accent6"/>
                </a:solidFill>
              </a:rPr>
              <a:t> Refines token interactions by explicitly encoding syntactic and semantic dependencies, leading to more coherent text generation.  </a:t>
            </a:r>
          </a:p>
          <a:p>
            <a:r>
              <a:rPr lang="en-US" sz="1250" kern="0" spc="-80" dirty="0">
                <a:solidFill>
                  <a:schemeClr val="accent2"/>
                </a:solidFill>
              </a:rPr>
              <a:t>Graph Encoding:</a:t>
            </a:r>
            <a:r>
              <a:rPr lang="en-US" sz="1250" kern="0" spc="-80" dirty="0">
                <a:solidFill>
                  <a:schemeClr val="accent6"/>
                </a:solidFill>
              </a:rPr>
              <a:t> For graph-related tasks, different strategies are used to encode the graph structure for the LLM. For example, an incident encoder can be better than an adjacency encoder for tasks where information about node connections is important.  </a:t>
            </a:r>
          </a:p>
          <a:p>
            <a:r>
              <a:rPr lang="en-US" sz="1250" kern="0" spc="-80" dirty="0">
                <a:solidFill>
                  <a:schemeClr val="accent2"/>
                </a:solidFill>
              </a:rPr>
              <a:t>One-Hot Encoding:</a:t>
            </a:r>
            <a:r>
              <a:rPr lang="en-US" sz="1250" kern="0" spc="-80" dirty="0">
                <a:solidFill>
                  <a:schemeClr val="accent6"/>
                </a:solidFill>
              </a:rPr>
              <a:t> While a more traditional method for categorical variables, it's a fundamental concept in encoding. It represents each category as a binary vector with a (1) for the present category and 0s elsewhere.  </a:t>
            </a:r>
          </a:p>
        </p:txBody>
      </p:sp>
      <p:sp>
        <p:nvSpPr>
          <p:cNvPr id="6" name="Rectangle 4">
            <a:extLst>
              <a:ext uri="{FF2B5EF4-FFF2-40B4-BE49-F238E27FC236}">
                <a16:creationId xmlns:a16="http://schemas.microsoft.com/office/drawing/2014/main" id="{784922B9-521B-7265-3D8E-44129652F17D}"/>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949300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F29CE-D094-9119-FBF7-1A982F2A743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CF98C11-FDF9-91A3-8039-0745B101BD5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DE3E4F1-7739-BA9B-28F6-8966A17DC853}"/>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3EB4193-64D8-754B-3CB4-483C157D8B00}"/>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FE139FA-E1B8-11B5-D458-FB89F5376C83}"/>
              </a:ext>
            </a:extLst>
          </p:cNvPr>
          <p:cNvGraphicFramePr/>
          <p:nvPr>
            <p:extLst>
              <p:ext uri="{D42A27DB-BD31-4B8C-83A1-F6EECF244321}">
                <p14:modId xmlns:p14="http://schemas.microsoft.com/office/powerpoint/2010/main" val="335521323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3AF45221-AF54-CBE8-D31A-C98B9F17897B}"/>
              </a:ext>
            </a:extLst>
          </p:cNvPr>
          <p:cNvSpPr txBox="1">
            <a:spLocks/>
          </p:cNvSpPr>
          <p:nvPr/>
        </p:nvSpPr>
        <p:spPr>
          <a:xfrm>
            <a:off x="41725" y="1351999"/>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200" kern="0" spc="-80" dirty="0">
                <a:solidFill>
                  <a:schemeClr val="accent6"/>
                </a:solidFill>
              </a:rPr>
              <a:t>Top-K sampling introduces randomness by choosing from the top K most probable words, producing more creative and natural text, while Beam Search deterministically explores multiple likely sequences and selects the highest-scoring one, resulting in more coherent and precise text. Beam Search is generally better for tasks requiring high accuracy, such as language translation, whereas Top-K sampling excels in creative text generation like story writing or in chatbots needing variation and coherence.  </a:t>
            </a:r>
          </a:p>
          <a:p>
            <a:pPr lvl="0" eaLnBrk="0" fontAlgn="base" hangingPunct="0">
              <a:spcBef>
                <a:spcPct val="0"/>
              </a:spcBef>
              <a:spcAft>
                <a:spcPct val="0"/>
              </a:spcAft>
            </a:pPr>
            <a:r>
              <a:rPr lang="en-US" altLang="en-US" sz="1200" kern="0" spc="-80" dirty="0">
                <a:solidFill>
                  <a:schemeClr val="accent2"/>
                </a:solidFill>
              </a:rPr>
              <a:t>Top-K Sampling</a:t>
            </a:r>
            <a:r>
              <a:rPr lang="en-US" altLang="en-US" sz="1200" kern="0" spc="-80" dirty="0">
                <a:solidFill>
                  <a:schemeClr val="accent6"/>
                </a:solidFill>
              </a:rPr>
              <a:t> </a:t>
            </a:r>
          </a:p>
          <a:p>
            <a:pPr lvl="0" eaLnBrk="0" fontAlgn="base" hangingPunct="0">
              <a:spcBef>
                <a:spcPct val="0"/>
              </a:spcBef>
              <a:spcAft>
                <a:spcPct val="0"/>
              </a:spcAft>
            </a:pPr>
            <a:r>
              <a:rPr lang="en-US" altLang="en-US" sz="1200" kern="0" spc="-80" dirty="0">
                <a:solidFill>
                  <a:schemeClr val="accent2"/>
                </a:solidFill>
              </a:rPr>
              <a:t>How it works: </a:t>
            </a:r>
          </a:p>
          <a:p>
            <a:pPr lvl="0" eaLnBrk="0" fontAlgn="base" hangingPunct="0">
              <a:spcBef>
                <a:spcPct val="0"/>
              </a:spcBef>
              <a:spcAft>
                <a:spcPct val="0"/>
              </a:spcAft>
            </a:pPr>
            <a:r>
              <a:rPr lang="en-US" altLang="en-US" sz="1200" kern="0" spc="-80" dirty="0">
                <a:solidFill>
                  <a:schemeClr val="accent6"/>
                </a:solidFill>
              </a:rPr>
              <a:t>After a language model generates a probability distribution for the next token (word), Top-K sampling filters out all but the K most probable tokens and then randomly selects a token from this reduced set, according to its relative probability. </a:t>
            </a:r>
            <a:r>
              <a:rPr lang="en-US" altLang="en-US" sz="1200" kern="0" spc="-80" dirty="0">
                <a:solidFill>
                  <a:schemeClr val="accent2"/>
                </a:solidFill>
              </a:rPr>
              <a:t>Strengths: </a:t>
            </a:r>
          </a:p>
          <a:p>
            <a:pPr lvl="0" eaLnBrk="0" fontAlgn="base" hangingPunct="0">
              <a:spcBef>
                <a:spcPct val="0"/>
              </a:spcBef>
              <a:spcAft>
                <a:spcPct val="0"/>
              </a:spcAft>
            </a:pPr>
            <a:r>
              <a:rPr lang="en-US" altLang="en-US" sz="1200" kern="0" spc="-80" dirty="0">
                <a:solidFill>
                  <a:schemeClr val="accent2"/>
                </a:solidFill>
              </a:rPr>
              <a:t>Creativity and Diversity: </a:t>
            </a:r>
            <a:r>
              <a:rPr lang="en-US" altLang="en-US" sz="1200" kern="0" spc="-80" dirty="0">
                <a:solidFill>
                  <a:schemeClr val="accent6"/>
                </a:solidFill>
              </a:rPr>
              <a:t>It avoids repetitive or predictable text by allowing less likely but still plausible options to be chosen, leading to more natural-sounding outputs. </a:t>
            </a:r>
          </a:p>
          <a:p>
            <a:pPr lvl="0" eaLnBrk="0" fontAlgn="base" hangingPunct="0">
              <a:spcBef>
                <a:spcPct val="0"/>
              </a:spcBef>
              <a:spcAft>
                <a:spcPct val="0"/>
              </a:spcAft>
            </a:pPr>
            <a:r>
              <a:rPr lang="en-US" altLang="en-US" sz="1200" kern="0" spc="-80" dirty="0">
                <a:solidFill>
                  <a:schemeClr val="accent2"/>
                </a:solidFill>
              </a:rPr>
              <a:t>Efficiency:</a:t>
            </a:r>
            <a:r>
              <a:rPr lang="en-US" altLang="en-US" sz="1200" kern="0" spc="-80" dirty="0">
                <a:solidFill>
                  <a:schemeClr val="accent6"/>
                </a:solidFill>
              </a:rPr>
              <a:t> It's a one-pass sampling method, making it efficient for real-time applications. </a:t>
            </a:r>
          </a:p>
          <a:p>
            <a:pPr lvl="0" eaLnBrk="0" fontAlgn="base" hangingPunct="0">
              <a:spcBef>
                <a:spcPct val="0"/>
              </a:spcBef>
              <a:spcAft>
                <a:spcPct val="0"/>
              </a:spcAft>
            </a:pPr>
            <a:r>
              <a:rPr lang="en-US" altLang="en-US" sz="1200" kern="0" spc="-80" dirty="0">
                <a:solidFill>
                  <a:schemeClr val="accent2"/>
                </a:solidFill>
              </a:rPr>
              <a:t>Weaknesses:</a:t>
            </a:r>
          </a:p>
          <a:p>
            <a:pPr lvl="0" eaLnBrk="0" fontAlgn="base" hangingPunct="0">
              <a:spcBef>
                <a:spcPct val="0"/>
              </a:spcBef>
              <a:spcAft>
                <a:spcPct val="0"/>
              </a:spcAft>
            </a:pPr>
            <a:r>
              <a:rPr lang="en-US" altLang="en-US" sz="1200" kern="0" spc="-80" dirty="0">
                <a:solidFill>
                  <a:schemeClr val="accent2"/>
                </a:solidFill>
              </a:rPr>
              <a:t>Fixed K:</a:t>
            </a:r>
            <a:r>
              <a:rPr lang="en-US" altLang="en-US" sz="1200" kern="0" spc="-80" dirty="0">
                <a:solidFill>
                  <a:schemeClr val="accent6"/>
                </a:solidFill>
              </a:rPr>
              <a:t> The number of considered options is fixed, which can lead to selecting very unlikely words if the probability distribution is very sharp. </a:t>
            </a:r>
          </a:p>
          <a:p>
            <a:pPr lvl="0" eaLnBrk="0" fontAlgn="base" hangingPunct="0">
              <a:spcBef>
                <a:spcPct val="0"/>
              </a:spcBef>
              <a:spcAft>
                <a:spcPct val="0"/>
              </a:spcAft>
            </a:pPr>
            <a:r>
              <a:rPr lang="en-US" altLang="en-US" sz="1200" kern="0" spc="-80" dirty="0">
                <a:solidFill>
                  <a:schemeClr val="accent2"/>
                </a:solidFill>
              </a:rPr>
              <a:t>Repetitive potential: </a:t>
            </a:r>
            <a:r>
              <a:rPr lang="en-US" altLang="en-US" sz="1200" kern="0" spc="-80" dirty="0">
                <a:solidFill>
                  <a:schemeClr val="accent6"/>
                </a:solidFill>
              </a:rPr>
              <a:t>Although generally more creative than deterministic methods, if K is too low, it can still produce text that is too predictable, according to Aussie AI. </a:t>
            </a:r>
          </a:p>
          <a:p>
            <a:pPr lvl="0" eaLnBrk="0" fontAlgn="base" hangingPunct="0">
              <a:spcBef>
                <a:spcPct val="0"/>
              </a:spcBef>
              <a:spcAft>
                <a:spcPct val="0"/>
              </a:spcAft>
            </a:pPr>
            <a:r>
              <a:rPr lang="en-US" altLang="en-US" sz="1200" kern="0" spc="-80" dirty="0">
                <a:solidFill>
                  <a:schemeClr val="accent2"/>
                </a:solidFill>
              </a:rPr>
              <a:t>Beam Search</a:t>
            </a:r>
          </a:p>
          <a:p>
            <a:pPr lvl="0" eaLnBrk="0" fontAlgn="base" hangingPunct="0">
              <a:spcBef>
                <a:spcPct val="0"/>
              </a:spcBef>
              <a:spcAft>
                <a:spcPct val="0"/>
              </a:spcAft>
            </a:pPr>
            <a:r>
              <a:rPr lang="en-US" altLang="en-US" sz="1200" kern="0" spc="-80" dirty="0">
                <a:solidFill>
                  <a:schemeClr val="accent2"/>
                </a:solidFill>
              </a:rPr>
              <a:t>How it works: </a:t>
            </a:r>
            <a:r>
              <a:rPr lang="en-US" altLang="en-US" sz="1200" kern="0" spc="-80" dirty="0">
                <a:solidFill>
                  <a:schemeClr val="accent6"/>
                </a:solidFill>
              </a:rPr>
              <a:t>At each step, Beam Search maintains a fixed number of the most promising partial sequences (the "beam"), expanding each by one token and keeping only the top-scoring sequences to form the new beam. </a:t>
            </a:r>
          </a:p>
          <a:p>
            <a:pPr lvl="0" eaLnBrk="0" fontAlgn="base" hangingPunct="0">
              <a:spcBef>
                <a:spcPct val="0"/>
              </a:spcBef>
              <a:spcAft>
                <a:spcPct val="0"/>
              </a:spcAft>
            </a:pPr>
            <a:r>
              <a:rPr lang="en-US" altLang="en-US" sz="1200" kern="0" spc="-80" dirty="0">
                <a:solidFill>
                  <a:schemeClr val="accent2"/>
                </a:solidFill>
              </a:rPr>
              <a:t>Strengths:</a:t>
            </a:r>
          </a:p>
          <a:p>
            <a:pPr lvl="0" eaLnBrk="0" fontAlgn="base" hangingPunct="0">
              <a:spcBef>
                <a:spcPct val="0"/>
              </a:spcBef>
              <a:spcAft>
                <a:spcPct val="0"/>
              </a:spcAft>
            </a:pPr>
            <a:r>
              <a:rPr lang="en-US" altLang="en-US" sz="1200" kern="0" spc="-80" dirty="0">
                <a:solidFill>
                  <a:schemeClr val="accent6"/>
                </a:solidFill>
              </a:rPr>
              <a:t>High Coherence and Accuracy: By evaluating multiple sequences simultaneously, Beam Search ensures the output is contextually appropriate and accurate. </a:t>
            </a:r>
          </a:p>
        </p:txBody>
      </p:sp>
      <p:sp>
        <p:nvSpPr>
          <p:cNvPr id="6" name="Rectangle 4">
            <a:extLst>
              <a:ext uri="{FF2B5EF4-FFF2-40B4-BE49-F238E27FC236}">
                <a16:creationId xmlns:a16="http://schemas.microsoft.com/office/drawing/2014/main" id="{5143762F-CA02-8020-09B4-DC4DB0B517C3}"/>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224130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AFD9C-142E-07A9-FE95-91FBF9F842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6E67A52-473D-15CB-51BA-46E7A195EFE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AE111B7-9012-E678-4662-72A426F2F6B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7B4740A-2DA4-5DEE-7024-DB7FEEDD1D3E}"/>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2998FF3-DA06-E9EC-81DF-E424B7DF7E63}"/>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444D2670-9983-89ED-94D3-DBCD9D65D430}"/>
              </a:ext>
            </a:extLst>
          </p:cNvPr>
          <p:cNvSpPr txBox="1">
            <a:spLocks/>
          </p:cNvSpPr>
          <p:nvPr/>
        </p:nvSpPr>
        <p:spPr>
          <a:xfrm>
            <a:off x="41725" y="1351999"/>
            <a:ext cx="8624937" cy="29854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200" kern="0" spc="-80" dirty="0">
                <a:solidFill>
                  <a:schemeClr val="accent2"/>
                </a:solidFill>
              </a:rPr>
              <a:t>Flexibility: </a:t>
            </a:r>
            <a:r>
              <a:rPr lang="en-US" altLang="en-US" sz="1200" kern="0" spc="-80" dirty="0">
                <a:solidFill>
                  <a:schemeClr val="accent6"/>
                </a:solidFill>
              </a:rPr>
              <a:t>The beam width is a hyperparameter that can be adjusted to trade off between computational cost and output quality. </a:t>
            </a:r>
          </a:p>
          <a:p>
            <a:pPr lvl="0" eaLnBrk="0" fontAlgn="base" hangingPunct="0">
              <a:spcBef>
                <a:spcPct val="0"/>
              </a:spcBef>
              <a:spcAft>
                <a:spcPct val="0"/>
              </a:spcAft>
            </a:pPr>
            <a:r>
              <a:rPr lang="en-US" altLang="en-US" sz="1200" kern="0" spc="-80" dirty="0">
                <a:solidFill>
                  <a:schemeClr val="accent2"/>
                </a:solidFill>
              </a:rPr>
              <a:t>Weaknesses:</a:t>
            </a:r>
          </a:p>
          <a:p>
            <a:pPr lvl="0" eaLnBrk="0" fontAlgn="base" hangingPunct="0">
              <a:spcBef>
                <a:spcPct val="0"/>
              </a:spcBef>
              <a:spcAft>
                <a:spcPct val="0"/>
              </a:spcAft>
            </a:pPr>
            <a:r>
              <a:rPr lang="en-US" altLang="en-US" sz="1200" kern="0" spc="-80" dirty="0">
                <a:solidFill>
                  <a:schemeClr val="accent2"/>
                </a:solidFill>
              </a:rPr>
              <a:t>Deterministic: </a:t>
            </a:r>
            <a:r>
              <a:rPr lang="en-US" altLang="en-US" sz="1200" kern="0" spc="-80" dirty="0">
                <a:solidFill>
                  <a:schemeClr val="accent6"/>
                </a:solidFill>
              </a:rPr>
              <a:t>Can lead to bland or repetitive text by favoring high-probability sequences and failing to explore potentially valuable but initially less likely continuations. </a:t>
            </a:r>
          </a:p>
          <a:p>
            <a:pPr lvl="0" eaLnBrk="0" fontAlgn="base" hangingPunct="0">
              <a:spcBef>
                <a:spcPct val="0"/>
              </a:spcBef>
              <a:spcAft>
                <a:spcPct val="0"/>
              </a:spcAft>
            </a:pPr>
            <a:r>
              <a:rPr lang="en-US" altLang="en-US" sz="1200" kern="0" spc="-80" dirty="0">
                <a:solidFill>
                  <a:schemeClr val="accent2"/>
                </a:solidFill>
              </a:rPr>
              <a:t>Computational Cost:</a:t>
            </a:r>
            <a:r>
              <a:rPr lang="en-US" altLang="en-US" sz="1200" kern="0" spc="-80" dirty="0">
                <a:solidFill>
                  <a:schemeClr val="accent6"/>
                </a:solidFill>
              </a:rPr>
              <a:t> Expanding the beam to a higher width increases the search space, leading to higher computational demands, notes </a:t>
            </a:r>
            <a:r>
              <a:rPr lang="en-US" altLang="en-US" sz="1200" kern="0" spc="-80" dirty="0" err="1">
                <a:solidFill>
                  <a:schemeClr val="accent6"/>
                </a:solidFill>
              </a:rPr>
              <a:t>Uncodemy</a:t>
            </a:r>
            <a:r>
              <a:rPr lang="en-US" altLang="en-US" sz="1200" kern="0" spc="-80" dirty="0">
                <a:solidFill>
                  <a:schemeClr val="accent6"/>
                </a:solidFill>
              </a:rPr>
              <a:t>. </a:t>
            </a:r>
          </a:p>
          <a:p>
            <a:pPr lvl="0" eaLnBrk="0" fontAlgn="base" hangingPunct="0">
              <a:spcBef>
                <a:spcPct val="0"/>
              </a:spcBef>
              <a:spcAft>
                <a:spcPct val="0"/>
              </a:spcAft>
            </a:pPr>
            <a:r>
              <a:rPr lang="en-US" altLang="en-US" sz="1200" kern="0" spc="-80" dirty="0">
                <a:solidFill>
                  <a:schemeClr val="accent2"/>
                </a:solidFill>
              </a:rPr>
              <a:t>When to Use Which</a:t>
            </a:r>
          </a:p>
          <a:p>
            <a:pPr lvl="0" eaLnBrk="0" fontAlgn="base" hangingPunct="0">
              <a:spcBef>
                <a:spcPct val="0"/>
              </a:spcBef>
              <a:spcAft>
                <a:spcPct val="0"/>
              </a:spcAft>
            </a:pPr>
            <a:r>
              <a:rPr lang="en-US" altLang="en-US" sz="1200" kern="0" spc="-80" dirty="0">
                <a:solidFill>
                  <a:schemeClr val="accent2"/>
                </a:solidFill>
              </a:rPr>
              <a:t>Use Beam Search for: </a:t>
            </a:r>
            <a:r>
              <a:rPr lang="en-US" altLang="en-US" sz="1200" kern="0" spc="-80" dirty="0">
                <a:solidFill>
                  <a:schemeClr val="accent6"/>
                </a:solidFill>
              </a:rPr>
              <a:t>Tasks that require precision and factual accuracy, like machine translation or for generating content where repetitive phrasing must be minimized. </a:t>
            </a:r>
          </a:p>
          <a:p>
            <a:pPr lvl="0" eaLnBrk="0" fontAlgn="base" hangingPunct="0">
              <a:spcBef>
                <a:spcPct val="0"/>
              </a:spcBef>
              <a:spcAft>
                <a:spcPct val="0"/>
              </a:spcAft>
            </a:pPr>
            <a:r>
              <a:rPr lang="en-US" altLang="en-US" sz="1200" kern="0" spc="-80" dirty="0">
                <a:solidFill>
                  <a:schemeClr val="accent2"/>
                </a:solidFill>
              </a:rPr>
              <a:t>Use Top-K Sampling for: </a:t>
            </a:r>
            <a:r>
              <a:rPr lang="en-US" altLang="en-US" sz="1200" kern="0" spc="-80" dirty="0">
                <a:solidFill>
                  <a:schemeClr val="accent6"/>
                </a:solidFill>
              </a:rPr>
              <a:t>Creative writing, chatbots, or other applications where a balance between coherence and variety is desired, leading to more human-like and engaging output. </a:t>
            </a:r>
          </a:p>
          <a:p>
            <a:pPr lvl="0" eaLnBrk="0" fontAlgn="base" hangingPunct="0">
              <a:spcBef>
                <a:spcPct val="0"/>
              </a:spcBef>
              <a:spcAft>
                <a:spcPct val="0"/>
              </a:spcAft>
            </a:pPr>
            <a:endParaRPr lang="en-US" altLang="en-US" sz="1200" kern="0" spc="-80" dirty="0">
              <a:solidFill>
                <a:schemeClr val="accent6"/>
              </a:solidFill>
            </a:endParaRPr>
          </a:p>
          <a:p>
            <a:pPr marL="12700" marR="5080"/>
            <a:r>
              <a:rPr lang="en-US" sz="1200" kern="0" spc="-220" dirty="0">
                <a:solidFill>
                  <a:schemeClr val="accent2"/>
                </a:solidFill>
              </a:rPr>
              <a:t>For Further Exploration-</a:t>
            </a:r>
          </a:p>
          <a:p>
            <a:pPr marL="12700" marR="5080"/>
            <a:r>
              <a:rPr lang="en-IN" sz="1200" dirty="0">
                <a:hlinkClick r:id="rId7"/>
              </a:rPr>
              <a:t>Decoding Strategies in Large Language Models – Maxime Labonne</a:t>
            </a:r>
            <a:endParaRPr lang="en-US" altLang="en-US" sz="1200" kern="0" spc="-80" dirty="0">
              <a:solidFill>
                <a:schemeClr val="accent6"/>
              </a:solidFill>
            </a:endParaRPr>
          </a:p>
          <a:p>
            <a:pPr lvl="0" eaLnBrk="0" fontAlgn="base" hangingPunct="0">
              <a:spcBef>
                <a:spcPct val="0"/>
              </a:spcBef>
              <a:spcAft>
                <a:spcPct val="0"/>
              </a:spcAft>
            </a:pPr>
            <a:endParaRPr lang="en-US" altLang="en-US" sz="1400" kern="0" spc="-80" dirty="0">
              <a:solidFill>
                <a:schemeClr val="accent6"/>
              </a:solidFill>
            </a:endParaRPr>
          </a:p>
        </p:txBody>
      </p:sp>
      <p:sp>
        <p:nvSpPr>
          <p:cNvPr id="6" name="Rectangle 4">
            <a:extLst>
              <a:ext uri="{FF2B5EF4-FFF2-40B4-BE49-F238E27FC236}">
                <a16:creationId xmlns:a16="http://schemas.microsoft.com/office/drawing/2014/main" id="{BD890501-BDB8-7E7E-F907-1B445A3E4170}"/>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7610744"/>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2974E-4D5A-AF46-C60E-254DF10E57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44DE8AD-82D0-F4FC-59EE-8A2368EE6F2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641D0D3-AA11-0AC8-B18D-6B82AF2EC40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DF98CDA-A90E-CC14-252A-E8FD64EF8A24}"/>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07CA2EF3-1F2E-8A7A-E7E6-C24769AF86B4}"/>
              </a:ext>
            </a:extLst>
          </p:cNvPr>
          <p:cNvGraphicFramePr/>
          <p:nvPr>
            <p:extLst>
              <p:ext uri="{D42A27DB-BD31-4B8C-83A1-F6EECF244321}">
                <p14:modId xmlns:p14="http://schemas.microsoft.com/office/powerpoint/2010/main" val="72731654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B2403D30-8079-4197-D858-BBE77E9733B2}"/>
              </a:ext>
            </a:extLst>
          </p:cNvPr>
          <p:cNvSpPr txBox="1">
            <a:spLocks/>
          </p:cNvSpPr>
          <p:nvPr/>
        </p:nvSpPr>
        <p:spPr>
          <a:xfrm>
            <a:off x="41725" y="1290320"/>
            <a:ext cx="8624937" cy="48967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170" kern="0" spc="-80" dirty="0">
                <a:solidFill>
                  <a:schemeClr val="accent6"/>
                </a:solidFill>
              </a:rPr>
              <a:t>LLM training involves three main methods: Pretraining, using massive amounts of unlabeled text to build a general understanding of language; Fine-tuning, adapting the pre-trained model to specific tasks using labeled data and supervised learning; and Reinforcement Learning (RL), a subsequent step to align the model's behavior with desired outcomes through trial-and-error feedback. These methods, often combined with initial data processing and ongoing evaluation, create capable and specialized LLMs.  </a:t>
            </a:r>
          </a:p>
          <a:p>
            <a:pPr lvl="0" eaLnBrk="0" fontAlgn="base" hangingPunct="0">
              <a:spcBef>
                <a:spcPct val="0"/>
              </a:spcBef>
              <a:spcAft>
                <a:spcPct val="0"/>
              </a:spcAft>
            </a:pPr>
            <a:r>
              <a:rPr lang="en-US" altLang="en-US" sz="1170" kern="0" spc="-80" dirty="0">
                <a:solidFill>
                  <a:schemeClr val="accent2"/>
                </a:solidFill>
              </a:rPr>
              <a:t>1. Pretraining</a:t>
            </a:r>
          </a:p>
          <a:p>
            <a:pPr lvl="0" eaLnBrk="0" fontAlgn="base" hangingPunct="0">
              <a:spcBef>
                <a:spcPct val="0"/>
              </a:spcBef>
              <a:spcAft>
                <a:spcPct val="0"/>
              </a:spcAft>
            </a:pPr>
            <a:r>
              <a:rPr lang="en-US" altLang="en-US" sz="1170" kern="0" spc="-80" dirty="0">
                <a:solidFill>
                  <a:schemeClr val="accent2"/>
                </a:solidFill>
              </a:rPr>
              <a:t>What it is: </a:t>
            </a:r>
            <a:r>
              <a:rPr lang="en-US" altLang="en-US" sz="1170" kern="0" spc="-80" dirty="0">
                <a:solidFill>
                  <a:schemeClr val="accent6"/>
                </a:solidFill>
              </a:rPr>
              <a:t>The initial, foundational stage where a model is trained on vast, diverse, and unlabeled text datasets from the internet, books, and other sources. </a:t>
            </a:r>
          </a:p>
          <a:p>
            <a:pPr lvl="0" eaLnBrk="0" fontAlgn="base" hangingPunct="0">
              <a:spcBef>
                <a:spcPct val="0"/>
              </a:spcBef>
              <a:spcAft>
                <a:spcPct val="0"/>
              </a:spcAft>
            </a:pPr>
            <a:r>
              <a:rPr lang="en-US" altLang="en-US" sz="1170" kern="0" spc="-80" dirty="0">
                <a:solidFill>
                  <a:schemeClr val="accent2"/>
                </a:solidFill>
              </a:rPr>
              <a:t>Goal: </a:t>
            </a:r>
            <a:r>
              <a:rPr lang="en-US" altLang="en-US" sz="1170" kern="0" spc="-80" dirty="0">
                <a:solidFill>
                  <a:schemeClr val="accent6"/>
                </a:solidFill>
              </a:rPr>
              <a:t>To develop a broad, generalized understanding of language, grammar, semantics, and world knowledge. </a:t>
            </a:r>
          </a:p>
          <a:p>
            <a:pPr lvl="0" eaLnBrk="0" fontAlgn="base" hangingPunct="0">
              <a:spcBef>
                <a:spcPct val="0"/>
              </a:spcBef>
              <a:spcAft>
                <a:spcPct val="0"/>
              </a:spcAft>
            </a:pPr>
            <a:r>
              <a:rPr lang="en-US" altLang="en-US" sz="1170" kern="0" spc="-80" dirty="0">
                <a:solidFill>
                  <a:schemeClr val="accent2"/>
                </a:solidFill>
              </a:rPr>
              <a:t>Method: </a:t>
            </a:r>
            <a:r>
              <a:rPr lang="en-US" altLang="en-US" sz="1170" kern="0" spc="-80" dirty="0">
                <a:solidFill>
                  <a:schemeClr val="accent6"/>
                </a:solidFill>
              </a:rPr>
              <a:t>Uses self-supervised learning, where the model predicts missing words or the next word in a sequence without human-provided labels. </a:t>
            </a:r>
          </a:p>
          <a:p>
            <a:pPr lvl="0" eaLnBrk="0" fontAlgn="base" hangingPunct="0">
              <a:spcBef>
                <a:spcPct val="0"/>
              </a:spcBef>
              <a:spcAft>
                <a:spcPct val="0"/>
              </a:spcAft>
            </a:pPr>
            <a:r>
              <a:rPr lang="en-US" altLang="en-US" sz="1170" kern="0" spc="-80" dirty="0">
                <a:solidFill>
                  <a:schemeClr val="accent2"/>
                </a:solidFill>
              </a:rPr>
              <a:t>Key aspect: </a:t>
            </a:r>
            <a:r>
              <a:rPr lang="en-US" altLang="en-US" sz="1170" kern="0" spc="-80" dirty="0">
                <a:solidFill>
                  <a:schemeClr val="accent6"/>
                </a:solidFill>
              </a:rPr>
              <a:t>Requires significant computational power and engineering effort to process massive amounts of data and create tokens (smaller units of text). </a:t>
            </a:r>
          </a:p>
          <a:p>
            <a:pPr lvl="0" eaLnBrk="0" fontAlgn="base" hangingPunct="0">
              <a:spcBef>
                <a:spcPct val="0"/>
              </a:spcBef>
              <a:spcAft>
                <a:spcPct val="0"/>
              </a:spcAft>
            </a:pPr>
            <a:r>
              <a:rPr lang="en-US" altLang="en-US" sz="1170" kern="0" spc="-80" dirty="0">
                <a:solidFill>
                  <a:schemeClr val="accent2"/>
                </a:solidFill>
              </a:rPr>
              <a:t>2. Fine-tuning </a:t>
            </a:r>
          </a:p>
          <a:p>
            <a:pPr lvl="0" eaLnBrk="0" fontAlgn="base" hangingPunct="0">
              <a:spcBef>
                <a:spcPct val="0"/>
              </a:spcBef>
              <a:spcAft>
                <a:spcPct val="0"/>
              </a:spcAft>
            </a:pPr>
            <a:r>
              <a:rPr lang="en-US" altLang="en-US" sz="1170" kern="0" spc="-80" dirty="0">
                <a:solidFill>
                  <a:schemeClr val="accent2"/>
                </a:solidFill>
              </a:rPr>
              <a:t>What it is: </a:t>
            </a:r>
            <a:r>
              <a:rPr lang="en-US" altLang="en-US" sz="1170" kern="0" spc="-80" dirty="0">
                <a:solidFill>
                  <a:schemeClr val="accent6"/>
                </a:solidFill>
              </a:rPr>
              <a:t>A specialized adaptation of a pre-trained model to perform well on specific tasks or domains.</a:t>
            </a:r>
          </a:p>
          <a:p>
            <a:pPr lvl="0" eaLnBrk="0" fontAlgn="base" hangingPunct="0">
              <a:spcBef>
                <a:spcPct val="0"/>
              </a:spcBef>
              <a:spcAft>
                <a:spcPct val="0"/>
              </a:spcAft>
            </a:pPr>
            <a:r>
              <a:rPr lang="en-US" altLang="en-US" sz="1170" kern="0" spc="-80" dirty="0">
                <a:solidFill>
                  <a:schemeClr val="accent2"/>
                </a:solidFill>
              </a:rPr>
              <a:t>Goal: </a:t>
            </a:r>
            <a:r>
              <a:rPr lang="en-US" altLang="en-US" sz="1170" kern="0" spc="-80" dirty="0">
                <a:solidFill>
                  <a:schemeClr val="accent6"/>
                </a:solidFill>
              </a:rPr>
              <a:t>To tailor the model's knowledge and capabilities for targeted applications, such as customer service, content generation, or machine translation.</a:t>
            </a:r>
          </a:p>
          <a:p>
            <a:pPr lvl="0" eaLnBrk="0" fontAlgn="base" hangingPunct="0">
              <a:spcBef>
                <a:spcPct val="0"/>
              </a:spcBef>
              <a:spcAft>
                <a:spcPct val="0"/>
              </a:spcAft>
            </a:pPr>
            <a:r>
              <a:rPr lang="en-US" altLang="en-US" sz="1170" kern="0" spc="-80" dirty="0">
                <a:solidFill>
                  <a:schemeClr val="accent2"/>
                </a:solidFill>
              </a:rPr>
              <a:t>Method: </a:t>
            </a:r>
            <a:r>
              <a:rPr lang="en-US" altLang="en-US" sz="1170" kern="0" spc="-80" dirty="0">
                <a:solidFill>
                  <a:schemeClr val="accent6"/>
                </a:solidFill>
              </a:rPr>
              <a:t>Involves supervised learning with labeled datasets that guide the model toward specific, correct outputs.</a:t>
            </a:r>
          </a:p>
          <a:p>
            <a:pPr lvl="0" eaLnBrk="0" fontAlgn="base" hangingPunct="0">
              <a:spcBef>
                <a:spcPct val="0"/>
              </a:spcBef>
              <a:spcAft>
                <a:spcPct val="0"/>
              </a:spcAft>
            </a:pPr>
            <a:r>
              <a:rPr lang="en-US" altLang="en-US" sz="1170" kern="0" spc="-80" dirty="0">
                <a:solidFill>
                  <a:schemeClr val="accent2"/>
                </a:solidFill>
              </a:rPr>
              <a:t>Key aspect: </a:t>
            </a:r>
            <a:r>
              <a:rPr lang="en-US" altLang="en-US" sz="1170" kern="0" spc="-80" dirty="0">
                <a:solidFill>
                  <a:schemeClr val="accent6"/>
                </a:solidFill>
              </a:rPr>
              <a:t>Allows the model to learn domain-specific patterns and nuances for more precise and context-aware responses</a:t>
            </a:r>
          </a:p>
          <a:p>
            <a:pPr lvl="0" eaLnBrk="0" fontAlgn="base" hangingPunct="0">
              <a:spcBef>
                <a:spcPct val="0"/>
              </a:spcBef>
              <a:spcAft>
                <a:spcPct val="0"/>
              </a:spcAft>
            </a:pPr>
            <a:r>
              <a:rPr lang="en-US" altLang="en-US" sz="1170" kern="0" spc="-80" dirty="0">
                <a:solidFill>
                  <a:schemeClr val="accent2"/>
                </a:solidFill>
              </a:rPr>
              <a:t>3. Reinforcement Learning (RL) &amp; Alignment</a:t>
            </a:r>
          </a:p>
          <a:p>
            <a:pPr lvl="0" eaLnBrk="0" fontAlgn="base" hangingPunct="0">
              <a:spcBef>
                <a:spcPct val="0"/>
              </a:spcBef>
              <a:spcAft>
                <a:spcPct val="0"/>
              </a:spcAft>
            </a:pPr>
            <a:r>
              <a:rPr lang="en-US" altLang="en-US" sz="1170" kern="0" spc="-80" dirty="0">
                <a:solidFill>
                  <a:schemeClr val="accent2"/>
                </a:solidFill>
              </a:rPr>
              <a:t>What it is: </a:t>
            </a:r>
            <a:r>
              <a:rPr lang="en-US" altLang="en-US" sz="1170" kern="0" spc="-80" dirty="0">
                <a:solidFill>
                  <a:schemeClr val="accent6"/>
                </a:solidFill>
              </a:rPr>
              <a:t>A later stage that refines the model's behavior and encourages helpfulness while discouraging harmful or biased outputs. </a:t>
            </a:r>
          </a:p>
          <a:p>
            <a:pPr lvl="0" eaLnBrk="0" fontAlgn="base" hangingPunct="0">
              <a:spcBef>
                <a:spcPct val="0"/>
              </a:spcBef>
              <a:spcAft>
                <a:spcPct val="0"/>
              </a:spcAft>
            </a:pPr>
            <a:r>
              <a:rPr lang="en-US" altLang="en-US" sz="1170" kern="0" spc="-80" dirty="0">
                <a:solidFill>
                  <a:schemeClr val="accent2"/>
                </a:solidFill>
              </a:rPr>
              <a:t>Goal: </a:t>
            </a:r>
            <a:r>
              <a:rPr lang="en-US" altLang="en-US" sz="1170" kern="0" spc="-80" dirty="0">
                <a:solidFill>
                  <a:schemeClr val="accent6"/>
                </a:solidFill>
              </a:rPr>
              <a:t>To align the model's behavior with human preferences and ensure it acts as a more desirable assistant. </a:t>
            </a:r>
          </a:p>
          <a:p>
            <a:pPr lvl="0" eaLnBrk="0" fontAlgn="base" hangingPunct="0">
              <a:spcBef>
                <a:spcPct val="0"/>
              </a:spcBef>
              <a:spcAft>
                <a:spcPct val="0"/>
              </a:spcAft>
            </a:pPr>
            <a:r>
              <a:rPr lang="en-US" altLang="en-US" sz="1170" kern="0" spc="-80" dirty="0">
                <a:solidFill>
                  <a:schemeClr val="accent2"/>
                </a:solidFill>
              </a:rPr>
              <a:t>Method:</a:t>
            </a:r>
            <a:r>
              <a:rPr lang="en-US" altLang="en-US" sz="1170" kern="0" spc="-80" dirty="0">
                <a:solidFill>
                  <a:schemeClr val="accent6"/>
                </a:solidFill>
              </a:rPr>
              <a:t> Based on trial and error, where the agent (the model) receives rewards for good actions and penalties for poor ones, adjusting its policy accordingly. </a:t>
            </a:r>
          </a:p>
          <a:p>
            <a:pPr lvl="0" eaLnBrk="0" fontAlgn="base" hangingPunct="0">
              <a:spcBef>
                <a:spcPct val="0"/>
              </a:spcBef>
              <a:spcAft>
                <a:spcPct val="0"/>
              </a:spcAft>
            </a:pPr>
            <a:r>
              <a:rPr lang="en-US" altLang="en-US" sz="1170" kern="0" spc="-80" dirty="0">
                <a:solidFill>
                  <a:schemeClr val="accent2"/>
                </a:solidFill>
              </a:rPr>
              <a:t>Key aspect: </a:t>
            </a:r>
            <a:r>
              <a:rPr lang="en-US" altLang="en-US" sz="1170" kern="0" spc="-80" dirty="0">
                <a:solidFill>
                  <a:schemeClr val="accent6"/>
                </a:solidFill>
              </a:rPr>
              <a:t>Reinforces desirable behaviors and helps the model achieve more beneficial outcomes. </a:t>
            </a:r>
          </a:p>
          <a:p>
            <a:pPr lvl="0" eaLnBrk="0" fontAlgn="base" hangingPunct="0">
              <a:spcBef>
                <a:spcPct val="0"/>
              </a:spcBef>
              <a:spcAft>
                <a:spcPct val="0"/>
              </a:spcAft>
            </a:pPr>
            <a:endParaRPr lang="en-US" altLang="en-US" sz="1400" kern="0" spc="-80" dirty="0">
              <a:solidFill>
                <a:schemeClr val="accent6"/>
              </a:solidFill>
            </a:endParaRPr>
          </a:p>
        </p:txBody>
      </p:sp>
      <p:sp>
        <p:nvSpPr>
          <p:cNvPr id="6" name="Rectangle 4">
            <a:extLst>
              <a:ext uri="{FF2B5EF4-FFF2-40B4-BE49-F238E27FC236}">
                <a16:creationId xmlns:a16="http://schemas.microsoft.com/office/drawing/2014/main" id="{6AEFFC03-1DD1-0F5D-0D12-C21517952B38}"/>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219344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FB368-A4C4-65D2-6399-FA9D9A419B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FEC381-A4CA-FB6B-D58F-9B6BDA4951E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B474FE7-F9D2-4C57-3CE0-D2623582C16A}"/>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1E39980-1BE9-CFB6-B561-8991883F7312}"/>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403F53B-709C-7DD1-7050-9F1819FFF7FA}"/>
              </a:ext>
            </a:extLst>
          </p:cNvPr>
          <p:cNvGraphicFramePr/>
          <p:nvPr>
            <p:extLst>
              <p:ext uri="{D42A27DB-BD31-4B8C-83A1-F6EECF244321}">
                <p14:modId xmlns:p14="http://schemas.microsoft.com/office/powerpoint/2010/main" val="253909558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33F99A67-9D95-3694-3463-AB73F182A30C}"/>
              </a:ext>
            </a:extLst>
          </p:cNvPr>
          <p:cNvSpPr txBox="1">
            <a:spLocks/>
          </p:cNvSpPr>
          <p:nvPr/>
        </p:nvSpPr>
        <p:spPr>
          <a:xfrm>
            <a:off x="41725" y="1290320"/>
            <a:ext cx="8624937" cy="49121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170" kern="0" spc="-80" dirty="0">
                <a:solidFill>
                  <a:schemeClr val="accent2"/>
                </a:solidFill>
              </a:rPr>
              <a:t>Supporting Steps &amp; Processes</a:t>
            </a:r>
          </a:p>
          <a:p>
            <a:pPr lvl="0" eaLnBrk="0" fontAlgn="base" hangingPunct="0">
              <a:spcBef>
                <a:spcPct val="0"/>
              </a:spcBef>
              <a:spcAft>
                <a:spcPct val="0"/>
              </a:spcAft>
            </a:pPr>
            <a:r>
              <a:rPr lang="en-US" altLang="en-US" sz="1170" kern="0" spc="-80" dirty="0">
                <a:solidFill>
                  <a:schemeClr val="accent2"/>
                </a:solidFill>
              </a:rPr>
              <a:t>Data Processing: </a:t>
            </a:r>
            <a:r>
              <a:rPr lang="en-US" altLang="en-US" sz="1170" kern="0" spc="-80" dirty="0">
                <a:solidFill>
                  <a:schemeClr val="accent6"/>
                </a:solidFill>
              </a:rPr>
              <a:t>Before training, raw text data is cleaned, pre-processed, and tokenized into machine-readable units. </a:t>
            </a:r>
          </a:p>
          <a:p>
            <a:pPr lvl="0" eaLnBrk="0" fontAlgn="base" hangingPunct="0">
              <a:spcBef>
                <a:spcPct val="0"/>
              </a:spcBef>
              <a:spcAft>
                <a:spcPct val="0"/>
              </a:spcAft>
            </a:pPr>
            <a:r>
              <a:rPr lang="en-US" altLang="en-US" sz="1170" kern="0" spc="-80" dirty="0">
                <a:solidFill>
                  <a:schemeClr val="accent2"/>
                </a:solidFill>
              </a:rPr>
              <a:t>Evaluation: </a:t>
            </a:r>
            <a:r>
              <a:rPr lang="en-US" altLang="en-US" sz="1170" kern="0" spc="-80" dirty="0">
                <a:solidFill>
                  <a:schemeClr val="accent6"/>
                </a:solidFill>
              </a:rPr>
              <a:t>After fine-tuning, the model's performance is continuously evaluated using benchmarks to ensure it meets necessary criteria for deployment and performs well across different contexts. </a:t>
            </a:r>
          </a:p>
          <a:p>
            <a:pPr lvl="0" eaLnBrk="0" fontAlgn="base" hangingPunct="0">
              <a:spcBef>
                <a:spcPct val="0"/>
              </a:spcBef>
              <a:spcAft>
                <a:spcPct val="0"/>
              </a:spcAft>
            </a:pPr>
            <a:r>
              <a:rPr lang="en-US" altLang="en-US" sz="1170" kern="0" spc="-80" dirty="0">
                <a:solidFill>
                  <a:schemeClr val="accent2"/>
                </a:solidFill>
              </a:rPr>
              <a:t>Iterative Improvement: </a:t>
            </a:r>
            <a:r>
              <a:rPr lang="en-US" altLang="en-US" sz="1170" kern="0" spc="-80" dirty="0">
                <a:solidFill>
                  <a:schemeClr val="accent6"/>
                </a:solidFill>
              </a:rPr>
              <a:t>The entire training and evaluation process is often iterative, with models undergoing multiple stages to continuously improve their usefulness and alignment. </a:t>
            </a:r>
          </a:p>
          <a:p>
            <a:pPr lvl="0" eaLnBrk="0" fontAlgn="base" hangingPunct="0">
              <a:spcBef>
                <a:spcPct val="0"/>
              </a:spcBef>
              <a:spcAft>
                <a:spcPct val="0"/>
              </a:spcAft>
            </a:pPr>
            <a:endParaRPr lang="en-US" altLang="en-US" sz="1170" kern="0" spc="-80" dirty="0">
              <a:solidFill>
                <a:schemeClr val="accent6"/>
              </a:solidFill>
            </a:endParaRPr>
          </a:p>
          <a:p>
            <a:pPr lvl="0" eaLnBrk="0" fontAlgn="base" hangingPunct="0">
              <a:spcBef>
                <a:spcPct val="0"/>
              </a:spcBef>
              <a:spcAft>
                <a:spcPct val="0"/>
              </a:spcAft>
            </a:pPr>
            <a:r>
              <a:rPr lang="en-US" altLang="en-US" sz="1500" kern="0" spc="-80" dirty="0">
                <a:solidFill>
                  <a:schemeClr val="accent2"/>
                </a:solidFill>
              </a:rPr>
              <a:t>Pre-Training</a:t>
            </a:r>
          </a:p>
          <a:p>
            <a:pPr lvl="0" eaLnBrk="0" fontAlgn="base" hangingPunct="0">
              <a:spcBef>
                <a:spcPct val="0"/>
              </a:spcBef>
              <a:spcAft>
                <a:spcPct val="0"/>
              </a:spcAft>
            </a:pPr>
            <a:r>
              <a:rPr lang="en-US" sz="1170" kern="0" spc="-80" dirty="0">
                <a:solidFill>
                  <a:schemeClr val="accent6"/>
                </a:solidFill>
              </a:rPr>
              <a:t>Pre-training techniques for Large Language Models (LLMs) primarily involve unsupervised learning on massive text datasets to teach foundational language skills like grammar, syntax, and world knowledge. Key methods include next token prediction, used by models like GPT, and masked language modeling, used by models like BERT, where the model either predicts the next word in a sequence or fills in missing words. Techniques also involve using large-scale data sources like the internet, books, and Wikipedia, and employing optimizations like weight decay, gradient clipping, and learning rate schedulers to stabilize training.</a:t>
            </a:r>
          </a:p>
          <a:p>
            <a:pPr lvl="0" eaLnBrk="0" fontAlgn="base" hangingPunct="0">
              <a:spcBef>
                <a:spcPct val="0"/>
              </a:spcBef>
              <a:spcAft>
                <a:spcPct val="0"/>
              </a:spcAft>
            </a:pPr>
            <a:endParaRPr lang="en-US" altLang="en-US" sz="1170" kern="0" spc="-80" dirty="0">
              <a:solidFill>
                <a:schemeClr val="accent6"/>
              </a:solidFill>
            </a:endParaRPr>
          </a:p>
          <a:p>
            <a:pPr lvl="0" eaLnBrk="0" fontAlgn="base" hangingPunct="0">
              <a:spcBef>
                <a:spcPct val="0"/>
              </a:spcBef>
              <a:spcAft>
                <a:spcPct val="0"/>
              </a:spcAft>
            </a:pPr>
            <a:r>
              <a:rPr lang="en-US" altLang="en-US" sz="1170" kern="0" spc="-80" dirty="0">
                <a:solidFill>
                  <a:schemeClr val="accent2"/>
                </a:solidFill>
              </a:rPr>
              <a:t>Pre-training techniques</a:t>
            </a:r>
          </a:p>
          <a:p>
            <a:pPr lvl="0" eaLnBrk="0" fontAlgn="base" hangingPunct="0">
              <a:spcBef>
                <a:spcPct val="0"/>
              </a:spcBef>
              <a:spcAft>
                <a:spcPct val="0"/>
              </a:spcAft>
            </a:pPr>
            <a:r>
              <a:rPr lang="en-US" altLang="en-US" sz="1170" kern="0" spc="-80" dirty="0">
                <a:solidFill>
                  <a:schemeClr val="accent2"/>
                </a:solidFill>
              </a:rPr>
              <a:t>Next Token Prediction: </a:t>
            </a:r>
            <a:r>
              <a:rPr lang="en-US" altLang="en-US" sz="1170" kern="0" spc="-80" dirty="0">
                <a:solidFill>
                  <a:schemeClr val="accent6"/>
                </a:solidFill>
              </a:rPr>
              <a:t>This is the most common technique for generative LLMs. The model is trained to predict the next word or token in a sequence, given the preceding words. This self-supervised task allows the model to learn context and relationships between words. </a:t>
            </a:r>
          </a:p>
          <a:p>
            <a:pPr lvl="0" eaLnBrk="0" fontAlgn="base" hangingPunct="0">
              <a:spcBef>
                <a:spcPct val="0"/>
              </a:spcBef>
              <a:spcAft>
                <a:spcPct val="0"/>
              </a:spcAft>
            </a:pPr>
            <a:r>
              <a:rPr lang="en-US" altLang="en-US" sz="1170" kern="0" spc="-80" dirty="0">
                <a:solidFill>
                  <a:schemeClr val="accent2"/>
                </a:solidFill>
              </a:rPr>
              <a:t>Masked Language Modeling (MLM): </a:t>
            </a:r>
            <a:r>
              <a:rPr lang="en-US" altLang="en-US" sz="1170" kern="0" spc="-80" dirty="0">
                <a:solidFill>
                  <a:schemeClr val="accent6"/>
                </a:solidFill>
              </a:rPr>
              <a:t>This technique, famously used in BERT, involves randomly masking certain words in a sentence and training the model to predict the original masked words. This helps the model learn to understand the context from both directions (left and right of the masked word). </a:t>
            </a:r>
          </a:p>
          <a:p>
            <a:pPr lvl="0" eaLnBrk="0" fontAlgn="base" hangingPunct="0">
              <a:spcBef>
                <a:spcPct val="0"/>
              </a:spcBef>
              <a:spcAft>
                <a:spcPct val="0"/>
              </a:spcAft>
            </a:pPr>
            <a:r>
              <a:rPr lang="en-US" altLang="en-US" sz="1170" kern="0" spc="-80" dirty="0">
                <a:solidFill>
                  <a:schemeClr val="accent2"/>
                </a:solidFill>
              </a:rPr>
              <a:t>Data Collection and Preparation: </a:t>
            </a:r>
            <a:r>
              <a:rPr lang="en-US" altLang="en-US" sz="1170" kern="0" spc="-80" dirty="0">
                <a:solidFill>
                  <a:schemeClr val="accent6"/>
                </a:solidFill>
              </a:rPr>
              <a:t>Pre-training relies on vast, diverse datasets. </a:t>
            </a:r>
          </a:p>
          <a:p>
            <a:pPr lvl="0" eaLnBrk="0" fontAlgn="base" hangingPunct="0">
              <a:spcBef>
                <a:spcPct val="0"/>
              </a:spcBef>
              <a:spcAft>
                <a:spcPct val="0"/>
              </a:spcAft>
            </a:pPr>
            <a:r>
              <a:rPr lang="en-US" altLang="en-US" sz="1170" kern="0" spc="-80" dirty="0">
                <a:solidFill>
                  <a:schemeClr val="accent2"/>
                </a:solidFill>
              </a:rPr>
              <a:t>Common sources include:</a:t>
            </a:r>
          </a:p>
          <a:p>
            <a:pPr lvl="0" eaLnBrk="0" fontAlgn="base" hangingPunct="0">
              <a:spcBef>
                <a:spcPct val="0"/>
              </a:spcBef>
              <a:spcAft>
                <a:spcPct val="0"/>
              </a:spcAft>
            </a:pPr>
            <a:r>
              <a:rPr lang="en-US" altLang="en-US" sz="1170" kern="0" spc="-80" dirty="0">
                <a:solidFill>
                  <a:schemeClr val="accent6"/>
                </a:solidFill>
              </a:rPr>
              <a:t>Web crawl data (e.g., Common Crawl) </a:t>
            </a:r>
          </a:p>
          <a:p>
            <a:pPr lvl="0" eaLnBrk="0" fontAlgn="base" hangingPunct="0">
              <a:spcBef>
                <a:spcPct val="0"/>
              </a:spcBef>
              <a:spcAft>
                <a:spcPct val="0"/>
              </a:spcAft>
            </a:pPr>
            <a:r>
              <a:rPr lang="en-US" altLang="en-US" sz="1170" kern="0" spc="-80" dirty="0">
                <a:solidFill>
                  <a:schemeClr val="accent6"/>
                </a:solidFill>
              </a:rPr>
              <a:t>Books (e.g., </a:t>
            </a:r>
            <a:r>
              <a:rPr lang="en-US" altLang="en-US" sz="1170" kern="0" spc="-80" dirty="0" err="1">
                <a:solidFill>
                  <a:schemeClr val="accent6"/>
                </a:solidFill>
              </a:rPr>
              <a:t>BookCorpus</a:t>
            </a:r>
            <a:r>
              <a:rPr lang="en-US" altLang="en-US" sz="1170" kern="0" spc="-80" dirty="0">
                <a:solidFill>
                  <a:schemeClr val="accent6"/>
                </a:solidFill>
              </a:rPr>
              <a:t>, Project Gutenberg) </a:t>
            </a:r>
          </a:p>
          <a:p>
            <a:pPr lvl="0" eaLnBrk="0" fontAlgn="base" hangingPunct="0">
              <a:spcBef>
                <a:spcPct val="0"/>
              </a:spcBef>
              <a:spcAft>
                <a:spcPct val="0"/>
              </a:spcAft>
            </a:pPr>
            <a:r>
              <a:rPr lang="en-US" altLang="en-US" sz="1170" kern="0" spc="-80" dirty="0">
                <a:solidFill>
                  <a:schemeClr val="accent6"/>
                </a:solidFill>
              </a:rPr>
              <a:t>Wikipedia and knowledge bases </a:t>
            </a:r>
          </a:p>
        </p:txBody>
      </p:sp>
      <p:sp>
        <p:nvSpPr>
          <p:cNvPr id="6" name="Rectangle 4">
            <a:extLst>
              <a:ext uri="{FF2B5EF4-FFF2-40B4-BE49-F238E27FC236}">
                <a16:creationId xmlns:a16="http://schemas.microsoft.com/office/drawing/2014/main" id="{B9684725-B243-9BF1-05C9-7893F1EBD407}"/>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110343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B0E7C-3967-0321-5951-CCDA605FE0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CF1FF48-0CC1-F4BB-3615-06453E60FD2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ABC5CC3-676D-78B6-26CD-F366286A47CF}"/>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C2B8639-3B5D-EF44-4DEB-0A55045A2C2E}"/>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92A7BF3-7368-2C67-F3CC-6F28B60279CA}"/>
              </a:ext>
            </a:extLst>
          </p:cNvPr>
          <p:cNvGraphicFramePr/>
          <p:nvPr>
            <p:extLst>
              <p:ext uri="{D42A27DB-BD31-4B8C-83A1-F6EECF244321}">
                <p14:modId xmlns:p14="http://schemas.microsoft.com/office/powerpoint/2010/main" val="42786659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A3E896F0-2587-E8B5-F918-BD71975AF84B}"/>
              </a:ext>
            </a:extLst>
          </p:cNvPr>
          <p:cNvSpPr txBox="1">
            <a:spLocks/>
          </p:cNvSpPr>
          <p:nvPr/>
        </p:nvSpPr>
        <p:spPr>
          <a:xfrm>
            <a:off x="41725" y="1290320"/>
            <a:ext cx="8624937" cy="47028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eaLnBrk="0" fontAlgn="base" hangingPunct="0">
              <a:spcBef>
                <a:spcPct val="0"/>
              </a:spcBef>
              <a:spcAft>
                <a:spcPct val="0"/>
              </a:spcAft>
            </a:pPr>
            <a:r>
              <a:rPr lang="en-US" altLang="en-US" sz="1170" kern="0" spc="-80" dirty="0">
                <a:solidFill>
                  <a:schemeClr val="accent6"/>
                </a:solidFill>
              </a:rPr>
              <a:t>Code repositories (e.g., GitHub) and public forums (e.g., Reddit) </a:t>
            </a:r>
          </a:p>
          <a:p>
            <a:pPr lvl="0" eaLnBrk="0" fontAlgn="base" hangingPunct="0">
              <a:spcBef>
                <a:spcPct val="0"/>
              </a:spcBef>
              <a:spcAft>
                <a:spcPct val="0"/>
              </a:spcAft>
            </a:pPr>
            <a:r>
              <a:rPr lang="en-US" altLang="en-US" sz="1170" kern="0" spc="-80" dirty="0">
                <a:solidFill>
                  <a:schemeClr val="accent2"/>
                </a:solidFill>
              </a:rPr>
              <a:t>Training Stability: Techniques are used to ensure the model trains effectively and doesn't become unstable:</a:t>
            </a:r>
          </a:p>
          <a:p>
            <a:pPr lvl="0" eaLnBrk="0" fontAlgn="base" hangingPunct="0">
              <a:spcBef>
                <a:spcPct val="0"/>
              </a:spcBef>
              <a:spcAft>
                <a:spcPct val="0"/>
              </a:spcAft>
            </a:pPr>
            <a:r>
              <a:rPr lang="en-US" altLang="en-US" sz="1170" kern="0" spc="-80" dirty="0">
                <a:solidFill>
                  <a:schemeClr val="accent2"/>
                </a:solidFill>
              </a:rPr>
              <a:t>Weight Decay: </a:t>
            </a:r>
            <a:r>
              <a:rPr lang="en-US" altLang="en-US" sz="1170" kern="0" spc="-80" dirty="0">
                <a:solidFill>
                  <a:schemeClr val="accent6"/>
                </a:solidFill>
              </a:rPr>
              <a:t>A regularization technique to prevent weights from becoming too large. </a:t>
            </a:r>
          </a:p>
          <a:p>
            <a:pPr lvl="0" eaLnBrk="0" fontAlgn="base" hangingPunct="0">
              <a:spcBef>
                <a:spcPct val="0"/>
              </a:spcBef>
              <a:spcAft>
                <a:spcPct val="0"/>
              </a:spcAft>
            </a:pPr>
            <a:r>
              <a:rPr lang="en-US" altLang="en-US" sz="1170" kern="0" spc="-80" dirty="0">
                <a:solidFill>
                  <a:schemeClr val="accent2"/>
                </a:solidFill>
              </a:rPr>
              <a:t>Gradient Clipping</a:t>
            </a:r>
            <a:r>
              <a:rPr lang="en-US" altLang="en-US" sz="1170" kern="0" spc="-80" dirty="0">
                <a:solidFill>
                  <a:schemeClr val="accent6"/>
                </a:solidFill>
              </a:rPr>
              <a:t>: Caps the magnitude of gradients to prevent large updates from disrupting training. </a:t>
            </a:r>
          </a:p>
          <a:p>
            <a:pPr lvl="0" eaLnBrk="0" fontAlgn="base" hangingPunct="0">
              <a:spcBef>
                <a:spcPct val="0"/>
              </a:spcBef>
              <a:spcAft>
                <a:spcPct val="0"/>
              </a:spcAft>
            </a:pPr>
            <a:r>
              <a:rPr lang="en-US" altLang="en-US" sz="1170" kern="0" spc="-80" dirty="0">
                <a:solidFill>
                  <a:schemeClr val="accent2"/>
                </a:solidFill>
              </a:rPr>
              <a:t>Learning Rate Scheduler</a:t>
            </a:r>
            <a:r>
              <a:rPr lang="en-US" altLang="en-US" sz="1170" kern="0" spc="-80" dirty="0">
                <a:solidFill>
                  <a:schemeClr val="accent6"/>
                </a:solidFill>
              </a:rPr>
              <a:t>: Adjusts the learning rate during training, often following a cosine curve to gradually decrease it. </a:t>
            </a:r>
          </a:p>
          <a:p>
            <a:pPr lvl="0" eaLnBrk="0" fontAlgn="base" hangingPunct="0">
              <a:spcBef>
                <a:spcPct val="0"/>
              </a:spcBef>
              <a:spcAft>
                <a:spcPct val="0"/>
              </a:spcAft>
            </a:pPr>
            <a:r>
              <a:rPr lang="en-US" altLang="en-US" sz="1170" kern="0" spc="-80" dirty="0">
                <a:solidFill>
                  <a:schemeClr val="accent2"/>
                </a:solidFill>
              </a:rPr>
              <a:t>Batch Size: </a:t>
            </a:r>
            <a:r>
              <a:rPr lang="en-US" altLang="en-US" sz="1170" kern="0" spc="-80" dirty="0">
                <a:solidFill>
                  <a:schemeClr val="accent6"/>
                </a:solidFill>
              </a:rPr>
              <a:t>A careful balance is struck between batch size and computational resources to ensure efficient convergence. </a:t>
            </a:r>
          </a:p>
          <a:p>
            <a:pPr lvl="0" eaLnBrk="0" fontAlgn="base" hangingPunct="0">
              <a:spcBef>
                <a:spcPct val="0"/>
              </a:spcBef>
              <a:spcAft>
                <a:spcPct val="0"/>
              </a:spcAft>
            </a:pPr>
            <a:endParaRPr lang="en-US" altLang="en-US" sz="1170" kern="0" spc="-80" dirty="0">
              <a:solidFill>
                <a:schemeClr val="accent6"/>
              </a:solidFill>
            </a:endParaRPr>
          </a:p>
          <a:p>
            <a:pPr lvl="0" eaLnBrk="0" fontAlgn="base" hangingPunct="0">
              <a:spcBef>
                <a:spcPct val="0"/>
              </a:spcBef>
              <a:spcAft>
                <a:spcPct val="0"/>
              </a:spcAft>
            </a:pPr>
            <a:r>
              <a:rPr lang="en-US" altLang="en-US" sz="1250" kern="0" spc="-80" dirty="0">
                <a:solidFill>
                  <a:schemeClr val="accent2"/>
                </a:solidFill>
              </a:rPr>
              <a:t>The outcome of pre-training</a:t>
            </a:r>
          </a:p>
          <a:p>
            <a:pPr lvl="0" eaLnBrk="0" fontAlgn="base" hangingPunct="0">
              <a:spcBef>
                <a:spcPct val="0"/>
              </a:spcBef>
              <a:spcAft>
                <a:spcPct val="0"/>
              </a:spcAft>
            </a:pPr>
            <a:r>
              <a:rPr lang="en-US" altLang="en-US" sz="1170" kern="0" spc="-80" dirty="0">
                <a:solidFill>
                  <a:schemeClr val="accent2"/>
                </a:solidFill>
              </a:rPr>
              <a:t>Foundation Model: </a:t>
            </a:r>
            <a:r>
              <a:rPr lang="en-US" altLang="en-US" sz="1170" kern="0" spc="-80" dirty="0">
                <a:solidFill>
                  <a:schemeClr val="accent6"/>
                </a:solidFill>
              </a:rPr>
              <a:t>The result of pre-training is a "base" or "foundation" model that has a strong grasp of language but is not yet specialized for specific tasks like following instructions. </a:t>
            </a:r>
          </a:p>
          <a:p>
            <a:pPr lvl="0" eaLnBrk="0" fontAlgn="base" hangingPunct="0">
              <a:spcBef>
                <a:spcPct val="0"/>
              </a:spcBef>
              <a:spcAft>
                <a:spcPct val="0"/>
              </a:spcAft>
            </a:pPr>
            <a:r>
              <a:rPr lang="en-US" altLang="en-US" sz="1170" kern="0" spc="-80" dirty="0">
                <a:solidFill>
                  <a:schemeClr val="accent2"/>
                </a:solidFill>
              </a:rPr>
              <a:t>Fine-tuning:</a:t>
            </a:r>
            <a:r>
              <a:rPr lang="en-US" altLang="en-US" sz="1170" kern="0" spc="-80" dirty="0">
                <a:solidFill>
                  <a:schemeClr val="accent6"/>
                </a:solidFill>
              </a:rPr>
              <a:t> This base model is the starting point for fine-tuning, a subsequent stage where the model is further trained on smaller, task-specific datasets to make it helpful and safe for applications like chatbots. </a:t>
            </a:r>
          </a:p>
          <a:p>
            <a:pPr lvl="0" eaLnBrk="0" fontAlgn="base" hangingPunct="0">
              <a:spcBef>
                <a:spcPct val="0"/>
              </a:spcBef>
              <a:spcAft>
                <a:spcPct val="0"/>
              </a:spcAft>
            </a:pPr>
            <a:endParaRPr lang="en-US" altLang="en-US" sz="1170" kern="0" spc="-80" dirty="0">
              <a:solidFill>
                <a:schemeClr val="accent6"/>
              </a:solidFill>
            </a:endParaRPr>
          </a:p>
          <a:p>
            <a:pPr lvl="0" eaLnBrk="0" fontAlgn="base" hangingPunct="0">
              <a:spcBef>
                <a:spcPct val="0"/>
              </a:spcBef>
              <a:spcAft>
                <a:spcPct val="0"/>
              </a:spcAft>
            </a:pPr>
            <a:r>
              <a:rPr lang="en-US" altLang="en-US" sz="1200" kern="0" spc="-80" dirty="0">
                <a:solidFill>
                  <a:schemeClr val="accent2"/>
                </a:solidFill>
              </a:rPr>
              <a:t>Fine Tuning Techniques</a:t>
            </a:r>
          </a:p>
          <a:p>
            <a:r>
              <a:rPr lang="en-US" sz="1170" kern="0" spc="-80" dirty="0">
                <a:solidFill>
                  <a:schemeClr val="accent6"/>
                </a:solidFill>
              </a:rPr>
              <a:t>Fine-tuning LLMs involves retraining a pre-trained model on a smaller, task-specific dataset to improve its performance for a particular task or domain. Key techniques include full fine-tuning, which retrains the entire model; Parameter-Efficient Fine-Tuning (PEFT), which updates only a small number of parameters to save on computation; and prompt tuning, which adds trainable "soft prompts" to the input without changing model weights. Other methods involve adding adapter layers or using reinforcement learning with human feedback (RLHF). </a:t>
            </a:r>
          </a:p>
          <a:p>
            <a:r>
              <a:rPr lang="en-US" sz="1170" kern="0" spc="-80" dirty="0">
                <a:solidFill>
                  <a:schemeClr val="accent2"/>
                </a:solidFill>
              </a:rPr>
              <a:t>Parameter-Efficient Fine-Tuning (PEFT)</a:t>
            </a:r>
          </a:p>
          <a:p>
            <a:r>
              <a:rPr lang="en-US" sz="1170" kern="0" spc="-80" dirty="0">
                <a:solidFill>
                  <a:schemeClr val="accent2"/>
                </a:solidFill>
                <a:hlinkClick r:id="rId7">
                  <a:extLst>
                    <a:ext uri="{A12FA001-AC4F-418D-AE19-62706E023703}">
                      <ahyp:hlinkClr xmlns:ahyp="http://schemas.microsoft.com/office/drawing/2018/hyperlinkcolor" val="tx"/>
                    </a:ext>
                  </a:extLst>
                </a:hlinkClick>
              </a:rPr>
              <a:t>Adapter layers</a:t>
            </a:r>
            <a:r>
              <a:rPr lang="en-US" sz="1170" kern="0" spc="-80" dirty="0">
                <a:solidFill>
                  <a:schemeClr val="accent2"/>
                </a:solidFill>
              </a:rPr>
              <a:t>: </a:t>
            </a:r>
          </a:p>
          <a:p>
            <a:r>
              <a:rPr lang="en-US" sz="1170" kern="0" spc="-80" dirty="0">
                <a:solidFill>
                  <a:schemeClr val="accent6"/>
                </a:solidFill>
              </a:rPr>
              <a:t>Inserts new layers into the existing model and only trains these added layers, keeping the original parameters frozen. </a:t>
            </a:r>
          </a:p>
          <a:p>
            <a:r>
              <a:rPr lang="en-US" sz="1170" kern="0" spc="-80" dirty="0" err="1">
                <a:solidFill>
                  <a:schemeClr val="accent2"/>
                </a:solidFill>
                <a:hlinkClick r:id="rId8">
                  <a:extLst>
                    <a:ext uri="{A12FA001-AC4F-418D-AE19-62706E023703}">
                      <ahyp:hlinkClr xmlns:ahyp="http://schemas.microsoft.com/office/drawing/2018/hyperlinkcolor" val="tx"/>
                    </a:ext>
                  </a:extLst>
                </a:hlinkClick>
              </a:rPr>
              <a:t>LoRA</a:t>
            </a:r>
            <a:r>
              <a:rPr lang="en-US" sz="1170" kern="0" spc="-80" dirty="0">
                <a:solidFill>
                  <a:schemeClr val="accent2"/>
                </a:solidFill>
              </a:rPr>
              <a:t> (Low-Rank Adaptation): </a:t>
            </a:r>
          </a:p>
          <a:p>
            <a:r>
              <a:rPr lang="en-US" sz="1170" kern="0" spc="-80" dirty="0">
                <a:solidFill>
                  <a:schemeClr val="accent6"/>
                </a:solidFill>
              </a:rPr>
              <a:t>A PEFT method that injects low-rank matrices into the model's layers. This is more efficient than full fine-tuning and can achieve comparable results. </a:t>
            </a:r>
          </a:p>
          <a:p>
            <a:pPr lvl="0" eaLnBrk="0" fontAlgn="base" hangingPunct="0">
              <a:spcBef>
                <a:spcPct val="0"/>
              </a:spcBef>
              <a:spcAft>
                <a:spcPct val="0"/>
              </a:spcAft>
            </a:pPr>
            <a:endParaRPr lang="en-US" altLang="en-US" sz="1200" kern="0" spc="-80" dirty="0">
              <a:solidFill>
                <a:schemeClr val="accent2"/>
              </a:solidFill>
            </a:endParaRPr>
          </a:p>
        </p:txBody>
      </p:sp>
      <p:sp>
        <p:nvSpPr>
          <p:cNvPr id="6" name="Rectangle 4">
            <a:extLst>
              <a:ext uri="{FF2B5EF4-FFF2-40B4-BE49-F238E27FC236}">
                <a16:creationId xmlns:a16="http://schemas.microsoft.com/office/drawing/2014/main" id="{10C8B259-F6BB-BF18-2012-0F4F6F03E84C}"/>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072575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0BAB-1C73-D282-E2F1-CC4037E4C2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BF0AA9-ABCA-569B-EC4C-7169A23C2E3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FCDFEAF-D001-583C-0DBE-21AB1EFEDBBD}"/>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25E3B5C-E8F6-2CD0-BBD4-11F4D16DD208}"/>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4780658-B27B-9F0F-0339-373F7BC0C5F4}"/>
              </a:ext>
            </a:extLst>
          </p:cNvPr>
          <p:cNvGraphicFramePr/>
          <p:nvPr>
            <p:extLst>
              <p:ext uri="{D42A27DB-BD31-4B8C-83A1-F6EECF244321}">
                <p14:modId xmlns:p14="http://schemas.microsoft.com/office/powerpoint/2010/main" val="4171175108"/>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987B7A10-2DBA-1B94-63B5-A7B11747D100}"/>
              </a:ext>
            </a:extLst>
          </p:cNvPr>
          <p:cNvSpPr txBox="1">
            <a:spLocks/>
          </p:cNvSpPr>
          <p:nvPr/>
        </p:nvSpPr>
        <p:spPr>
          <a:xfrm>
            <a:off x="41725" y="1290320"/>
            <a:ext cx="8624937" cy="54568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170" kern="0" spc="-80" dirty="0" err="1">
                <a:solidFill>
                  <a:schemeClr val="accent2"/>
                </a:solidFill>
                <a:hlinkClick r:id="rId7">
                  <a:extLst>
                    <a:ext uri="{A12FA001-AC4F-418D-AE19-62706E023703}">
                      <ahyp:hlinkClr xmlns:ahyp="http://schemas.microsoft.com/office/drawing/2018/hyperlinkcolor" val="tx"/>
                    </a:ext>
                  </a:extLst>
                </a:hlinkClick>
              </a:rPr>
              <a:t>QLoRA</a:t>
            </a:r>
            <a:r>
              <a:rPr lang="en-US" sz="1170" kern="0" spc="-80" dirty="0">
                <a:solidFill>
                  <a:schemeClr val="accent2"/>
                </a:solidFill>
              </a:rPr>
              <a:t>:</a:t>
            </a:r>
            <a:r>
              <a:rPr lang="en-US" sz="1170" kern="0" spc="-80" dirty="0">
                <a:solidFill>
                  <a:schemeClr val="accent6"/>
                </a:solidFill>
              </a:rPr>
              <a:t> </a:t>
            </a:r>
          </a:p>
          <a:p>
            <a:r>
              <a:rPr lang="en-US" sz="1170" kern="0" spc="-80" dirty="0">
                <a:solidFill>
                  <a:schemeClr val="accent6"/>
                </a:solidFill>
              </a:rPr>
              <a:t>An even more efficient version of </a:t>
            </a:r>
            <a:r>
              <a:rPr lang="en-US" sz="1170" kern="0" spc="-80" dirty="0" err="1">
                <a:solidFill>
                  <a:schemeClr val="accent6"/>
                </a:solidFill>
              </a:rPr>
              <a:t>LoRA</a:t>
            </a:r>
            <a:r>
              <a:rPr lang="en-US" sz="1170" kern="0" spc="-80" dirty="0">
                <a:solidFill>
                  <a:schemeClr val="accent6"/>
                </a:solidFill>
              </a:rPr>
              <a:t> that further optimizes by quantizing the low-rank parameters. </a:t>
            </a:r>
          </a:p>
          <a:p>
            <a:r>
              <a:rPr lang="en-US" sz="1170" kern="0" spc="-80" dirty="0">
                <a:solidFill>
                  <a:schemeClr val="accent2"/>
                </a:solidFill>
              </a:rPr>
              <a:t>Other fine-tuning techniques</a:t>
            </a:r>
          </a:p>
          <a:p>
            <a:r>
              <a:rPr lang="en-US" sz="1170" kern="0" spc="-80" dirty="0">
                <a:solidFill>
                  <a:schemeClr val="accent2"/>
                </a:solidFill>
              </a:rPr>
              <a:t>Full Fine-tuning: </a:t>
            </a:r>
          </a:p>
          <a:p>
            <a:r>
              <a:rPr lang="en-US" sz="1170" kern="0" spc="-80" dirty="0">
                <a:solidFill>
                  <a:schemeClr val="accent6"/>
                </a:solidFill>
              </a:rPr>
              <a:t>Updates every single parameter in the pre-trained model. This is highly effective but also the most computationally expensive method. </a:t>
            </a:r>
          </a:p>
          <a:p>
            <a:r>
              <a:rPr lang="en-US" sz="1170" kern="0" spc="-80" dirty="0">
                <a:solidFill>
                  <a:schemeClr val="accent2"/>
                </a:solidFill>
                <a:hlinkClick r:id="rId8">
                  <a:extLst>
                    <a:ext uri="{A12FA001-AC4F-418D-AE19-62706E023703}">
                      <ahyp:hlinkClr xmlns:ahyp="http://schemas.microsoft.com/office/drawing/2018/hyperlinkcolor" val="tx"/>
                    </a:ext>
                  </a:extLst>
                </a:hlinkClick>
              </a:rPr>
              <a:t>Prompt Tuning</a:t>
            </a:r>
            <a:r>
              <a:rPr lang="en-US" sz="1170" kern="0" spc="-80" dirty="0">
                <a:solidFill>
                  <a:schemeClr val="accent2"/>
                </a:solidFill>
              </a:rPr>
              <a:t>: </a:t>
            </a:r>
          </a:p>
          <a:p>
            <a:r>
              <a:rPr lang="en-US" sz="1170" kern="0" spc="-80" dirty="0">
                <a:solidFill>
                  <a:schemeClr val="accent6"/>
                </a:solidFill>
              </a:rPr>
              <a:t>Modifies the input by adding a set of "soft prompts" (trainable embeddings) to the start of the input prompt. The model's parameters are not changed. </a:t>
            </a:r>
          </a:p>
          <a:p>
            <a:r>
              <a:rPr lang="en-US" sz="1170" kern="0" spc="-80" dirty="0">
                <a:solidFill>
                  <a:schemeClr val="accent2"/>
                </a:solidFill>
                <a:hlinkClick r:id="rId9">
                  <a:extLst>
                    <a:ext uri="{A12FA001-AC4F-418D-AE19-62706E023703}">
                      <ahyp:hlinkClr xmlns:ahyp="http://schemas.microsoft.com/office/drawing/2018/hyperlinkcolor" val="tx"/>
                    </a:ext>
                  </a:extLst>
                </a:hlinkClick>
              </a:rPr>
              <a:t>Reinforcement Learning from Human Feedback (RLHF)</a:t>
            </a:r>
            <a:r>
              <a:rPr lang="en-US" sz="1170" kern="0" spc="-80" dirty="0">
                <a:solidFill>
                  <a:schemeClr val="accent2"/>
                </a:solidFill>
              </a:rPr>
              <a:t>: </a:t>
            </a:r>
          </a:p>
          <a:p>
            <a:r>
              <a:rPr lang="en-US" sz="1170" kern="0" spc="-80" dirty="0">
                <a:solidFill>
                  <a:schemeClr val="accent6"/>
                </a:solidFill>
              </a:rPr>
              <a:t>Uses human feedback to further align the model's behavior with desired outcomes, often used to improve helpfulness and safety.</a:t>
            </a:r>
          </a:p>
          <a:p>
            <a:r>
              <a:rPr lang="en-US" sz="1170" kern="0" spc="-80" dirty="0">
                <a:solidFill>
                  <a:schemeClr val="accent2"/>
                </a:solidFill>
                <a:hlinkClick r:id="rId10">
                  <a:extLst>
                    <a:ext uri="{A12FA001-AC4F-418D-AE19-62706E023703}">
                      <ahyp:hlinkClr xmlns:ahyp="http://schemas.microsoft.com/office/drawing/2018/hyperlinkcolor" val="tx"/>
                    </a:ext>
                  </a:extLst>
                </a:hlinkClick>
              </a:rPr>
              <a:t>Multitask Fine-tuning</a:t>
            </a:r>
            <a:r>
              <a:rPr lang="en-US" sz="1170" kern="0" spc="-80" dirty="0">
                <a:solidFill>
                  <a:schemeClr val="accent2"/>
                </a:solidFill>
              </a:rPr>
              <a:t>: </a:t>
            </a:r>
          </a:p>
          <a:p>
            <a:r>
              <a:rPr lang="en-US" sz="1170" kern="0" spc="-80" dirty="0">
                <a:solidFill>
                  <a:schemeClr val="accent6"/>
                </a:solidFill>
              </a:rPr>
              <a:t>Trains the model on multiple tasks simultaneously, which can improve generalization and efficiency.</a:t>
            </a:r>
          </a:p>
          <a:p>
            <a:endParaRPr lang="en-US" sz="1170" kern="0" spc="-80" dirty="0">
              <a:solidFill>
                <a:schemeClr val="accent6"/>
              </a:solidFill>
            </a:endParaRPr>
          </a:p>
          <a:p>
            <a:r>
              <a:rPr lang="en-US" altLang="en-US" sz="1500" kern="0" spc="-80" dirty="0">
                <a:solidFill>
                  <a:schemeClr val="accent2"/>
                </a:solidFill>
              </a:rPr>
              <a:t>LLM Alignment</a:t>
            </a:r>
          </a:p>
          <a:p>
            <a:r>
              <a:rPr lang="en-US" sz="1170" kern="0" spc="-80" dirty="0">
                <a:solidFill>
                  <a:schemeClr val="accent6"/>
                </a:solidFill>
              </a:rPr>
              <a:t>LLM alignment is the process of ensuring a large language model (LLM) generates outputs that are helpful, harmless, and consistent with human values, goals, and ethical standards. It bridges the gap between an LLM's ability to predict text and human expectations for safe, truthful, and useful responses, especially when dealing with complex or nuanced requests. Techniques like supervised fine-tuning and reinforcement learning from human feedback (RLHF) are used to achieve this alignment by fine-tuning the model based on user feedback and preferences.</a:t>
            </a:r>
          </a:p>
          <a:p>
            <a:endParaRPr lang="en-US" sz="1170" kern="0" spc="-80" dirty="0">
              <a:solidFill>
                <a:schemeClr val="accent6"/>
              </a:solidFill>
            </a:endParaRPr>
          </a:p>
          <a:p>
            <a:r>
              <a:rPr lang="en-US" sz="1170" kern="0" spc="-80" dirty="0">
                <a:solidFill>
                  <a:schemeClr val="accent2"/>
                </a:solidFill>
              </a:rPr>
              <a:t>Why is alignment necessary?</a:t>
            </a:r>
          </a:p>
          <a:p>
            <a:r>
              <a:rPr lang="en-US" sz="1170" kern="0" spc="-80" dirty="0">
                <a:solidFill>
                  <a:schemeClr val="accent6"/>
                </a:solidFill>
              </a:rPr>
              <a:t>Human values and ethics: </a:t>
            </a:r>
          </a:p>
          <a:p>
            <a:r>
              <a:rPr lang="en-US" sz="1170" kern="0" spc="-80" dirty="0">
                <a:solidFill>
                  <a:schemeClr val="accent6"/>
                </a:solidFill>
              </a:rPr>
              <a:t>LLMs trained on vast datasets can inadvertently learn biases or produce harmful content. Alignment aims to prevent this by ensuring the model's behavior aligns with ethical guidelines. </a:t>
            </a:r>
          </a:p>
          <a:p>
            <a:endParaRPr lang="en-US" altLang="en-US" sz="1170" kern="0" spc="-80" dirty="0">
              <a:solidFill>
                <a:schemeClr val="accent6"/>
              </a:solidFill>
            </a:endParaRPr>
          </a:p>
          <a:p>
            <a:endParaRPr lang="en-US" altLang="en-US" sz="1170" kern="0" spc="-80" dirty="0">
              <a:solidFill>
                <a:schemeClr val="accent6"/>
              </a:solidFill>
            </a:endParaRPr>
          </a:p>
          <a:p>
            <a:endParaRPr lang="en-US" sz="1170" kern="0" spc="-80" dirty="0">
              <a:solidFill>
                <a:schemeClr val="accent6"/>
              </a:solidFill>
            </a:endParaRPr>
          </a:p>
          <a:p>
            <a:pPr lvl="0" eaLnBrk="0" fontAlgn="base" hangingPunct="0">
              <a:spcBef>
                <a:spcPct val="0"/>
              </a:spcBef>
              <a:spcAft>
                <a:spcPct val="0"/>
              </a:spcAft>
            </a:pPr>
            <a:endParaRPr lang="en-US" altLang="en-US" sz="1200" kern="0" spc="-80" dirty="0">
              <a:solidFill>
                <a:schemeClr val="accent2"/>
              </a:solidFill>
            </a:endParaRPr>
          </a:p>
        </p:txBody>
      </p:sp>
      <p:sp>
        <p:nvSpPr>
          <p:cNvPr id="6" name="Rectangle 4">
            <a:extLst>
              <a:ext uri="{FF2B5EF4-FFF2-40B4-BE49-F238E27FC236}">
                <a16:creationId xmlns:a16="http://schemas.microsoft.com/office/drawing/2014/main" id="{5AB8BB79-6F04-B49B-4ED0-371931D3B45F}"/>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011381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3CEF8-9260-6005-80D3-E54C825F04A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FAD9B2-0F1F-A448-86ED-D8E198F4F0F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1598B25F-CE67-1FDE-0808-71F7A13581F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EFC1933C-F2E3-065D-320C-CCDEDAA64498}"/>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955BD64-A85B-4205-9D6D-A97B50915563}"/>
              </a:ext>
            </a:extLst>
          </p:cNvPr>
          <p:cNvGraphicFramePr/>
          <p:nvPr>
            <p:extLst>
              <p:ext uri="{D42A27DB-BD31-4B8C-83A1-F6EECF244321}">
                <p14:modId xmlns:p14="http://schemas.microsoft.com/office/powerpoint/2010/main" val="64483247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2DF447BF-CA7C-25FE-D68C-D5B6D28962B2}"/>
              </a:ext>
            </a:extLst>
          </p:cNvPr>
          <p:cNvSpPr txBox="1">
            <a:spLocks/>
          </p:cNvSpPr>
          <p:nvPr/>
        </p:nvSpPr>
        <p:spPr>
          <a:xfrm>
            <a:off x="41725" y="1290320"/>
            <a:ext cx="8624937" cy="41457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170" kern="0" spc="-80" dirty="0">
                <a:solidFill>
                  <a:schemeClr val="accent2"/>
                </a:solidFill>
              </a:rPr>
              <a:t>Goal-oriented assistance: </a:t>
            </a:r>
          </a:p>
          <a:p>
            <a:r>
              <a:rPr lang="en-US" sz="1170" kern="0" spc="-80" dirty="0">
                <a:solidFill>
                  <a:schemeClr val="accent6"/>
                </a:solidFill>
              </a:rPr>
              <a:t>LLMs are often used to perform tasks. Alignment ensures the model doesn't just produce a technically correct but unhelpful or nonsensical answer, but one that is useful and meets the user's underlying intent. </a:t>
            </a:r>
          </a:p>
          <a:p>
            <a:r>
              <a:rPr lang="en-US" sz="1170" kern="0" spc="-80" dirty="0">
                <a:solidFill>
                  <a:schemeClr val="accent2"/>
                </a:solidFill>
              </a:rPr>
              <a:t>Safety and predictability: </a:t>
            </a:r>
          </a:p>
          <a:p>
            <a:r>
              <a:rPr lang="en-US" sz="1170" kern="0" spc="-80" dirty="0">
                <a:solidFill>
                  <a:schemeClr val="accent6"/>
                </a:solidFill>
              </a:rPr>
              <a:t>Alignment helps prevent risky outcomes, such as a model providing instructions for a dangerous activity instead of refusing the request. </a:t>
            </a:r>
          </a:p>
          <a:p>
            <a:endParaRPr lang="en-US" sz="1170" kern="0" spc="-80" dirty="0">
              <a:solidFill>
                <a:schemeClr val="accent6"/>
              </a:solidFill>
            </a:endParaRPr>
          </a:p>
          <a:p>
            <a:r>
              <a:rPr lang="en-US" sz="1170" kern="0" spc="-80" dirty="0">
                <a:solidFill>
                  <a:schemeClr val="accent2"/>
                </a:solidFill>
              </a:rPr>
              <a:t>How is it done?</a:t>
            </a:r>
          </a:p>
          <a:p>
            <a:r>
              <a:rPr lang="en-US" sz="1170" kern="0" spc="-80" dirty="0">
                <a:solidFill>
                  <a:schemeClr val="accent2"/>
                </a:solidFill>
                <a:hlinkClick r:id="rId7">
                  <a:extLst>
                    <a:ext uri="{A12FA001-AC4F-418D-AE19-62706E023703}">
                      <ahyp:hlinkClr xmlns:ahyp="http://schemas.microsoft.com/office/drawing/2018/hyperlinkcolor" val="tx"/>
                    </a:ext>
                  </a:extLst>
                </a:hlinkClick>
              </a:rPr>
              <a:t>Supervised Fine-Tuning (SFT)</a:t>
            </a:r>
            <a:r>
              <a:rPr lang="en-US" sz="1170" kern="0" spc="-80" dirty="0">
                <a:solidFill>
                  <a:schemeClr val="accent2"/>
                </a:solidFill>
              </a:rPr>
              <a:t>: </a:t>
            </a:r>
          </a:p>
          <a:p>
            <a:r>
              <a:rPr lang="en-US" sz="1170" kern="0" spc="-80" dirty="0">
                <a:solidFill>
                  <a:schemeClr val="accent6"/>
                </a:solidFill>
              </a:rPr>
              <a:t>The model is trained on a curated dataset of prompts and desired, high-quality responses. </a:t>
            </a:r>
          </a:p>
          <a:p>
            <a:r>
              <a:rPr lang="en-US" sz="1170" kern="0" spc="-80" dirty="0">
                <a:solidFill>
                  <a:schemeClr val="accent2"/>
                </a:solidFill>
                <a:hlinkClick r:id="rId8">
                  <a:extLst>
                    <a:ext uri="{A12FA001-AC4F-418D-AE19-62706E023703}">
                      <ahyp:hlinkClr xmlns:ahyp="http://schemas.microsoft.com/office/drawing/2018/hyperlinkcolor" val="tx"/>
                    </a:ext>
                  </a:extLst>
                </a:hlinkClick>
              </a:rPr>
              <a:t>Reinforcement Learning from Human Feedback (RLHF)</a:t>
            </a:r>
            <a:r>
              <a:rPr lang="en-US" sz="1170" kern="0" spc="-80" dirty="0">
                <a:solidFill>
                  <a:schemeClr val="accent2"/>
                </a:solidFill>
              </a:rPr>
              <a:t>:</a:t>
            </a:r>
          </a:p>
          <a:p>
            <a:r>
              <a:rPr lang="en-US" sz="1170" kern="0" spc="-80" dirty="0">
                <a:solidFill>
                  <a:schemeClr val="accent6"/>
                </a:solidFill>
              </a:rPr>
              <a:t>A "reward model" is trained to predict how much humans would prefer a given response. </a:t>
            </a:r>
          </a:p>
          <a:p>
            <a:r>
              <a:rPr lang="en-US" sz="1170" kern="0" spc="-80" dirty="0">
                <a:solidFill>
                  <a:schemeClr val="accent6"/>
                </a:solidFill>
              </a:rPr>
              <a:t>The LLM is then fine-tuned using this reward model to generate outputs that score highly on human preference. </a:t>
            </a:r>
          </a:p>
          <a:p>
            <a:r>
              <a:rPr lang="en-US" sz="1170" kern="0" spc="-80" dirty="0">
                <a:solidFill>
                  <a:schemeClr val="accent2"/>
                </a:solidFill>
                <a:hlinkClick r:id="rId9">
                  <a:extLst>
                    <a:ext uri="{A12FA001-AC4F-418D-AE19-62706E023703}">
                      <ahyp:hlinkClr xmlns:ahyp="http://schemas.microsoft.com/office/drawing/2018/hyperlinkcolor" val="tx"/>
                    </a:ext>
                  </a:extLst>
                </a:hlinkClick>
              </a:rPr>
              <a:t>Direct Preference Optimization (DPO)</a:t>
            </a:r>
            <a:r>
              <a:rPr lang="en-US" sz="1170" kern="0" spc="-80" dirty="0">
                <a:solidFill>
                  <a:schemeClr val="accent2"/>
                </a:solidFill>
              </a:rPr>
              <a:t>: </a:t>
            </a:r>
          </a:p>
          <a:p>
            <a:r>
              <a:rPr lang="en-US" sz="1170" kern="0" spc="-80" dirty="0">
                <a:solidFill>
                  <a:schemeClr val="accent6"/>
                </a:solidFill>
              </a:rPr>
              <a:t>A more recent method that combines supervised fine-tuning and preference optimization into a single step, often by using an odds ratio to train the model on both preferred and rejected responses. </a:t>
            </a:r>
          </a:p>
          <a:p>
            <a:r>
              <a:rPr lang="en-US" sz="1170" kern="0" spc="-80" dirty="0">
                <a:solidFill>
                  <a:schemeClr val="accent2"/>
                </a:solidFill>
                <a:hlinkClick r:id="rId10">
                  <a:extLst>
                    <a:ext uri="{A12FA001-AC4F-418D-AE19-62706E023703}">
                      <ahyp:hlinkClr xmlns:ahyp="http://schemas.microsoft.com/office/drawing/2018/hyperlinkcolor" val="tx"/>
                    </a:ext>
                  </a:extLst>
                </a:hlinkClick>
              </a:rPr>
              <a:t>Prompt Engineering</a:t>
            </a:r>
            <a:r>
              <a:rPr lang="en-US" sz="1170" kern="0" spc="-80" dirty="0">
                <a:solidFill>
                  <a:schemeClr val="accent2"/>
                </a:solidFill>
              </a:rPr>
              <a:t>: </a:t>
            </a:r>
          </a:p>
          <a:p>
            <a:r>
              <a:rPr lang="en-US" sz="1170" kern="0" spc="-80" dirty="0">
                <a:solidFill>
                  <a:schemeClr val="accent6"/>
                </a:solidFill>
              </a:rPr>
              <a:t>Providing clear, explicit instructions in the prompt to guide the model's behavior on a specific query. </a:t>
            </a:r>
          </a:p>
          <a:p>
            <a:endParaRPr lang="en-US" sz="1170" kern="0" spc="-80" dirty="0">
              <a:solidFill>
                <a:schemeClr val="accent6"/>
              </a:solidFill>
            </a:endParaRPr>
          </a:p>
          <a:p>
            <a:endParaRPr lang="en-US" altLang="en-US" sz="1170" kern="0" spc="-80" dirty="0">
              <a:solidFill>
                <a:schemeClr val="accent6"/>
              </a:solidFill>
            </a:endParaRPr>
          </a:p>
          <a:p>
            <a:endParaRPr lang="en-US" altLang="en-US" sz="1170" kern="0" spc="-80" dirty="0">
              <a:solidFill>
                <a:schemeClr val="accent6"/>
              </a:solidFill>
            </a:endParaRPr>
          </a:p>
          <a:p>
            <a:endParaRPr lang="en-US" sz="1170" kern="0" spc="-80" dirty="0">
              <a:solidFill>
                <a:schemeClr val="accent6"/>
              </a:solidFill>
            </a:endParaRPr>
          </a:p>
          <a:p>
            <a:pPr lvl="0" eaLnBrk="0" fontAlgn="base" hangingPunct="0">
              <a:spcBef>
                <a:spcPct val="0"/>
              </a:spcBef>
              <a:spcAft>
                <a:spcPct val="0"/>
              </a:spcAft>
            </a:pPr>
            <a:endParaRPr lang="en-US" altLang="en-US" sz="1200" kern="0" spc="-80" dirty="0">
              <a:solidFill>
                <a:schemeClr val="accent2"/>
              </a:solidFill>
            </a:endParaRPr>
          </a:p>
        </p:txBody>
      </p:sp>
      <p:sp>
        <p:nvSpPr>
          <p:cNvPr id="6" name="Rectangle 4">
            <a:extLst>
              <a:ext uri="{FF2B5EF4-FFF2-40B4-BE49-F238E27FC236}">
                <a16:creationId xmlns:a16="http://schemas.microsoft.com/office/drawing/2014/main" id="{FED0D8F1-D230-1C0B-9B8C-1A65F80E3E7A}"/>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560745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192E-31A1-CB87-C676-8848F63F1D1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4CE5AA-E0D3-65BE-0D4E-2EE36E19CD3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C657873-EC1C-DFBF-D530-D08C3907B20E}"/>
              </a:ext>
            </a:extLst>
          </p:cNvPr>
          <p:cNvSpPr/>
          <p:nvPr/>
        </p:nvSpPr>
        <p:spPr>
          <a:xfrm>
            <a:off x="1640838" y="9144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7EF133C-DF55-6971-4541-E87BFD89EB6C}"/>
              </a:ext>
            </a:extLst>
          </p:cNvPr>
          <p:cNvSpPr/>
          <p:nvPr/>
        </p:nvSpPr>
        <p:spPr>
          <a:xfrm>
            <a:off x="1640839"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6077FA8-6F67-C07C-4385-57626620F107}"/>
              </a:ext>
            </a:extLst>
          </p:cNvPr>
          <p:cNvGraphicFramePr/>
          <p:nvPr>
            <p:extLst>
              <p:ext uri="{D42A27DB-BD31-4B8C-83A1-F6EECF244321}">
                <p14:modId xmlns:p14="http://schemas.microsoft.com/office/powerpoint/2010/main" val="191972516"/>
              </p:ext>
            </p:extLst>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C9FAA3C4-30F4-7987-5AB0-DC3B9C50D9FA}"/>
              </a:ext>
            </a:extLst>
          </p:cNvPr>
          <p:cNvSpPr txBox="1">
            <a:spLocks/>
          </p:cNvSpPr>
          <p:nvPr/>
        </p:nvSpPr>
        <p:spPr>
          <a:xfrm>
            <a:off x="76200" y="1058544"/>
            <a:ext cx="8624937" cy="555536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700" dirty="0">
                <a:hlinkClick r:id="rId7"/>
              </a:rPr>
              <a:t>How Large Language Models Work. From zero to ChatGPT</a:t>
            </a:r>
            <a:r>
              <a:rPr lang="en-IN" sz="1700" kern="0" spc="-80" dirty="0">
                <a:solidFill>
                  <a:schemeClr val="accent6"/>
                </a:solidFill>
                <a:cs typeface="+mn-cs"/>
              </a:rPr>
              <a:t>(Highly Recommended Article to read)</a:t>
            </a:r>
            <a:endParaRPr lang="en-US" sz="1700" kern="0" spc="-80" dirty="0">
              <a:solidFill>
                <a:schemeClr val="accent6"/>
              </a:solidFill>
              <a:cs typeface="+mn-cs"/>
            </a:endParaRPr>
          </a:p>
          <a:p>
            <a:pPr marL="12700" marR="5080"/>
            <a:r>
              <a:rPr lang="en-IN" sz="1700" dirty="0">
                <a:hlinkClick r:id="rId8"/>
              </a:rPr>
              <a:t>Unveiling the Intuition behind LLMs and Gen AI </a:t>
            </a:r>
            <a:endParaRPr lang="en-IN" sz="1700" dirty="0"/>
          </a:p>
          <a:p>
            <a:pPr marL="12700" marR="5080"/>
            <a:r>
              <a:rPr lang="en-US" sz="1700" dirty="0">
                <a:hlinkClick r:id="rId9"/>
              </a:rPr>
              <a:t>A Gentle Introduction to LLM, Part 1</a:t>
            </a:r>
            <a:endParaRPr lang="en-US" sz="1700" dirty="0"/>
          </a:p>
          <a:p>
            <a:pPr marL="12700" marR="5080"/>
            <a:r>
              <a:rPr lang="en-US" sz="1700" dirty="0">
                <a:hlinkClick r:id="rId10"/>
              </a:rPr>
              <a:t>A Gentle Introduction to LLM, Part 2</a:t>
            </a:r>
            <a:endParaRPr lang="en-US" sz="1700" dirty="0"/>
          </a:p>
          <a:p>
            <a:pPr marL="12700" marR="5080"/>
            <a:r>
              <a:rPr lang="en-IN" sz="1700" dirty="0">
                <a:hlinkClick r:id="rId11"/>
              </a:rPr>
              <a:t>6 Core LLM Architectures</a:t>
            </a:r>
            <a:endParaRPr lang="en-IN" sz="1700" dirty="0"/>
          </a:p>
          <a:p>
            <a:pPr marL="12700" marR="5080"/>
            <a:r>
              <a:rPr lang="en-US" sz="1700" dirty="0">
                <a:hlinkClick r:id="rId12"/>
              </a:rPr>
              <a:t>LLM Architecture</a:t>
            </a:r>
            <a:endParaRPr lang="en-US" sz="1700" dirty="0"/>
          </a:p>
          <a:p>
            <a:pPr marL="12700" marR="5080"/>
            <a:r>
              <a:rPr lang="en-US" sz="1700" dirty="0">
                <a:hlinkClick r:id="rId13"/>
              </a:rPr>
              <a:t>Exploring Multimodal Large Language Models</a:t>
            </a:r>
            <a:endParaRPr lang="en-US" sz="1700" dirty="0"/>
          </a:p>
          <a:p>
            <a:pPr marL="12700" marR="5080"/>
            <a:r>
              <a:rPr lang="en-IN" sz="1700" dirty="0">
                <a:hlinkClick r:id="rId14"/>
              </a:rPr>
              <a:t>Absolute Zero Training</a:t>
            </a:r>
            <a:endParaRPr lang="en-IN" sz="1700" dirty="0"/>
          </a:p>
          <a:p>
            <a:pPr marL="12700" marR="5080"/>
            <a:r>
              <a:rPr lang="en-US" sz="1700" dirty="0">
                <a:hlinkClick r:id="rId15"/>
              </a:rPr>
              <a:t>Developing an LLM: Building, Training, Finetuning</a:t>
            </a:r>
            <a:endParaRPr lang="en-IN" sz="1700" dirty="0"/>
          </a:p>
          <a:p>
            <a:pPr marL="12700" marR="5080"/>
            <a:r>
              <a:rPr lang="en-US" sz="1700" dirty="0">
                <a:hlinkClick r:id="rId16"/>
              </a:rPr>
              <a:t>Train Your Own LLM – Tutorial</a:t>
            </a:r>
            <a:endParaRPr lang="en-US" sz="1700" dirty="0"/>
          </a:p>
          <a:p>
            <a:pPr marL="12700" marR="5080"/>
            <a:r>
              <a:rPr lang="en-IN" sz="1700" dirty="0">
                <a:hlinkClick r:id="rId17"/>
              </a:rPr>
              <a:t>What is LLM Pre-Training?</a:t>
            </a:r>
            <a:endParaRPr lang="en-IN" sz="1700" dirty="0"/>
          </a:p>
          <a:p>
            <a:pPr marL="12700" marR="5080"/>
            <a:r>
              <a:rPr lang="en-IN" sz="1700" dirty="0">
                <a:hlinkClick r:id="rId18"/>
              </a:rPr>
              <a:t>Fine-tuning Large Language Models (LLMs) | w/ Example Code</a:t>
            </a:r>
            <a:endParaRPr lang="en-IN" sz="1700" dirty="0"/>
          </a:p>
          <a:p>
            <a:pPr marL="12700" marR="5080"/>
            <a:r>
              <a:rPr lang="en-US" sz="1700" dirty="0">
                <a:hlinkClick r:id="rId19"/>
              </a:rPr>
              <a:t>Fine-Tuning LLMs - The Complete Guide - 2-hours Course</a:t>
            </a:r>
            <a:endParaRPr lang="en-US" sz="1700" dirty="0"/>
          </a:p>
          <a:p>
            <a:pPr marL="12700" marR="5080"/>
            <a:r>
              <a:rPr lang="en-IN" sz="1700" dirty="0">
                <a:hlinkClick r:id="rId20"/>
              </a:rPr>
              <a:t>Training &amp; Fine-Tuning LLMs: Techniques</a:t>
            </a:r>
            <a:endParaRPr lang="en-IN" sz="1700" dirty="0"/>
          </a:p>
          <a:p>
            <a:pPr marL="12700" marR="5080"/>
            <a:r>
              <a:rPr lang="en-US" sz="1700" dirty="0">
                <a:hlinkClick r:id="rId21"/>
              </a:rPr>
              <a:t>LLMs-from-scratch</a:t>
            </a:r>
            <a:endParaRPr lang="en-US" sz="1700" dirty="0"/>
          </a:p>
          <a:p>
            <a:pPr marL="12700" marR="5080"/>
            <a:r>
              <a:rPr lang="en-US" sz="1700" dirty="0">
                <a:hlinkClick r:id="rId22"/>
              </a:rPr>
              <a:t>Awesome-LLM-Books</a:t>
            </a:r>
            <a:endParaRPr lang="en-US" sz="1700" dirty="0"/>
          </a:p>
          <a:p>
            <a:pPr marL="12700" marR="5080"/>
            <a:r>
              <a:rPr lang="en-US" sz="1700" dirty="0">
                <a:hlinkClick r:id="rId23"/>
              </a:rPr>
              <a:t>Domain-Specific-Small-Language-Models</a:t>
            </a:r>
            <a:endParaRPr lang="en-US" sz="1700" dirty="0"/>
          </a:p>
          <a:p>
            <a:pPr marL="12700" marR="5080"/>
            <a:r>
              <a:rPr lang="en-US" sz="1700" dirty="0">
                <a:hlinkClick r:id="rId24"/>
              </a:rPr>
              <a:t>A Comprehensive Survey of LLM Alignment Techniques</a:t>
            </a:r>
            <a:endParaRPr lang="en-US" sz="1700" dirty="0"/>
          </a:p>
          <a:p>
            <a:pPr marL="12700" marR="5080"/>
            <a:endParaRPr lang="en-US" sz="1700" dirty="0"/>
          </a:p>
          <a:p>
            <a:pPr marL="12700" marR="5080"/>
            <a:endParaRPr lang="en-US" sz="1700" kern="0" spc="-220" dirty="0">
              <a:solidFill>
                <a:schemeClr val="accent2"/>
              </a:solidFill>
            </a:endParaRPr>
          </a:p>
        </p:txBody>
      </p:sp>
    </p:spTree>
    <p:extLst>
      <p:ext uri="{BB962C8B-B14F-4D97-AF65-F5344CB8AC3E}">
        <p14:creationId xmlns:p14="http://schemas.microsoft.com/office/powerpoint/2010/main" val="184275675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73BB8-7255-C34B-9902-531F077766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BA54238-6D94-4947-9D3A-BAB6DA36188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0205CF8-AEB9-E289-85F4-290E8FA611E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AA461BE-073F-5819-813B-10D644649B17}"/>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5799DC38-73A6-3AED-1266-333E996B58D0}"/>
              </a:ext>
            </a:extLst>
          </p:cNvPr>
          <p:cNvGraphicFramePr/>
          <p:nvPr>
            <p:extLst>
              <p:ext uri="{D42A27DB-BD31-4B8C-83A1-F6EECF244321}">
                <p14:modId xmlns:p14="http://schemas.microsoft.com/office/powerpoint/2010/main" val="286557658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11A5E2FB-7DBF-40D1-5708-28C33888A565}"/>
              </a:ext>
            </a:extLst>
          </p:cNvPr>
          <p:cNvSpPr txBox="1">
            <a:spLocks/>
          </p:cNvSpPr>
          <p:nvPr/>
        </p:nvSpPr>
        <p:spPr>
          <a:xfrm>
            <a:off x="41725" y="1290320"/>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500" kern="0" spc="-80" dirty="0">
                <a:solidFill>
                  <a:schemeClr val="accent2"/>
                </a:solidFill>
              </a:rPr>
              <a:t>🧠 1. What is Generative AI?</a:t>
            </a:r>
          </a:p>
          <a:p>
            <a:pPr lvl="0" eaLnBrk="0" fontAlgn="base" hangingPunct="0">
              <a:spcBef>
                <a:spcPct val="0"/>
              </a:spcBef>
              <a:spcAft>
                <a:spcPct val="0"/>
              </a:spcAft>
            </a:pPr>
            <a:r>
              <a:rPr lang="en-US" altLang="en-US" sz="1500" kern="0" spc="-80" dirty="0">
                <a:solidFill>
                  <a:schemeClr val="accent6"/>
                </a:solidFill>
              </a:rPr>
              <a:t>Generative AI (GenAI) refers to AI systems that create new content — text, images, code, music, video, 3D models, or designs — that resembles human-made or real-world data.</a:t>
            </a:r>
          </a:p>
          <a:p>
            <a:pPr lvl="0" eaLnBrk="0" fontAlgn="base" hangingPunct="0">
              <a:spcBef>
                <a:spcPct val="0"/>
              </a:spcBef>
              <a:spcAft>
                <a:spcPct val="0"/>
              </a:spcAft>
            </a:pPr>
            <a:r>
              <a:rPr lang="en-US" altLang="en-US" sz="1500" kern="0" spc="-80" dirty="0">
                <a:solidFill>
                  <a:schemeClr val="accent2"/>
                </a:solidFill>
              </a:rPr>
              <a:t>💡 Core Idea:</a:t>
            </a:r>
          </a:p>
          <a:p>
            <a:pPr lvl="0" eaLnBrk="0" fontAlgn="base" hangingPunct="0">
              <a:spcBef>
                <a:spcPct val="0"/>
              </a:spcBef>
              <a:spcAft>
                <a:spcPct val="0"/>
              </a:spcAft>
            </a:pPr>
            <a:r>
              <a:rPr lang="en-US" altLang="en-US" sz="1500" kern="0" spc="-80" dirty="0">
                <a:solidFill>
                  <a:schemeClr val="accent6"/>
                </a:solidFill>
              </a:rPr>
              <a:t>Learn the underlying probability distribution of data P(x) and then sample new data points x′ from it. So, instead of just classifying or predicting labels (as in traditional AI), GenAI creates.</a:t>
            </a:r>
          </a:p>
          <a:p>
            <a:pPr lvl="0" eaLnBrk="0" fontAlgn="base" hangingPunct="0">
              <a:spcBef>
                <a:spcPct val="0"/>
              </a:spcBef>
              <a:spcAft>
                <a:spcPct val="0"/>
              </a:spcAft>
            </a:pPr>
            <a:r>
              <a:rPr lang="en-US" altLang="en-US" sz="1500" kern="0" spc="-80" dirty="0">
                <a:solidFill>
                  <a:schemeClr val="accent2"/>
                </a:solidFill>
              </a:rPr>
              <a:t>🧩 2. Mathematical and Probabilistic Foundations</a:t>
            </a:r>
          </a:p>
          <a:p>
            <a:pPr lvl="0" eaLnBrk="0" fontAlgn="base" hangingPunct="0">
              <a:spcBef>
                <a:spcPct val="0"/>
              </a:spcBef>
              <a:spcAft>
                <a:spcPct val="0"/>
              </a:spcAft>
            </a:pPr>
            <a:r>
              <a:rPr lang="en-US" altLang="en-US" sz="1500" kern="0" spc="-80" dirty="0">
                <a:solidFill>
                  <a:schemeClr val="accent2"/>
                </a:solidFill>
              </a:rPr>
              <a:t>2.1 Data Distribution Learning</a:t>
            </a:r>
          </a:p>
          <a:p>
            <a:pPr lvl="0" eaLnBrk="0" fontAlgn="base" hangingPunct="0">
              <a:spcBef>
                <a:spcPct val="0"/>
              </a:spcBef>
              <a:spcAft>
                <a:spcPct val="0"/>
              </a:spcAft>
            </a:pPr>
            <a:r>
              <a:rPr lang="en-US" altLang="en-US" sz="1500" kern="0" spc="-80" dirty="0">
                <a:solidFill>
                  <a:schemeClr val="accent6"/>
                </a:solidFill>
              </a:rPr>
              <a:t>Generative models aim to learn </a:t>
            </a:r>
          </a:p>
          <a:p>
            <a:pPr lvl="0" eaLnBrk="0" fontAlgn="base" hangingPunct="0">
              <a:spcBef>
                <a:spcPct val="0"/>
              </a:spcBef>
              <a:spcAft>
                <a:spcPct val="0"/>
              </a:spcAft>
            </a:pPr>
            <a:r>
              <a:rPr lang="en-US" altLang="en-US" sz="1500" kern="0" spc="-80" dirty="0">
                <a:solidFill>
                  <a:schemeClr val="accent6"/>
                </a:solidFill>
              </a:rPr>
              <a:t>P</a:t>
            </a:r>
            <a:r>
              <a:rPr lang="el-GR" altLang="en-US" sz="1500" kern="0" spc="-80" dirty="0">
                <a:solidFill>
                  <a:schemeClr val="accent6"/>
                </a:solidFill>
              </a:rPr>
              <a:t>θ(</a:t>
            </a:r>
            <a:r>
              <a:rPr lang="en-US" altLang="en-US" sz="1500" kern="0" spc="-80" dirty="0">
                <a:solidFill>
                  <a:schemeClr val="accent6"/>
                </a:solidFill>
              </a:rPr>
              <a:t>x)≈</a:t>
            </a:r>
            <a:r>
              <a:rPr lang="en-US" altLang="en-US" sz="1500" kern="0" spc="-80" dirty="0" err="1">
                <a:solidFill>
                  <a:schemeClr val="accent6"/>
                </a:solidFill>
              </a:rPr>
              <a:t>Pdata</a:t>
            </a:r>
            <a:r>
              <a:rPr lang="en-US" altLang="en-US" sz="1500" kern="0" spc="-80" dirty="0">
                <a:solidFill>
                  <a:schemeClr val="accent6"/>
                </a:solidFill>
              </a:rPr>
              <a:t>(x).</a:t>
            </a:r>
          </a:p>
          <a:p>
            <a:pPr lvl="0" eaLnBrk="0" fontAlgn="base" hangingPunct="0">
              <a:spcBef>
                <a:spcPct val="0"/>
              </a:spcBef>
              <a:spcAft>
                <a:spcPct val="0"/>
              </a:spcAft>
            </a:pPr>
            <a:r>
              <a:rPr lang="en-US" altLang="en-US" sz="1500" kern="0" spc="-80" dirty="0">
                <a:solidFill>
                  <a:schemeClr val="accent2"/>
                </a:solidFill>
              </a:rPr>
              <a:t>2.2 Latent Variables</a:t>
            </a:r>
          </a:p>
          <a:p>
            <a:pPr lvl="0" eaLnBrk="0" fontAlgn="base" hangingPunct="0">
              <a:spcBef>
                <a:spcPct val="0"/>
              </a:spcBef>
              <a:spcAft>
                <a:spcPct val="0"/>
              </a:spcAft>
            </a:pPr>
            <a:r>
              <a:rPr lang="en-US" altLang="en-US" sz="1500" kern="0" spc="-80" dirty="0">
                <a:solidFill>
                  <a:schemeClr val="accent6"/>
                </a:solidFill>
              </a:rPr>
              <a:t>They often model data using latent variables </a:t>
            </a:r>
          </a:p>
          <a:p>
            <a:pPr lvl="0" eaLnBrk="0" fontAlgn="base" hangingPunct="0">
              <a:spcBef>
                <a:spcPct val="0"/>
              </a:spcBef>
              <a:spcAft>
                <a:spcPct val="0"/>
              </a:spcAft>
            </a:pPr>
            <a:r>
              <a:rPr lang="en-US" altLang="en-US" sz="1500" kern="0" spc="-80" dirty="0">
                <a:solidFill>
                  <a:schemeClr val="accent6"/>
                </a:solidFill>
              </a:rPr>
              <a:t>z:P(x)=∫P(x∣z)P(z)dz</a:t>
            </a:r>
          </a:p>
          <a:p>
            <a:pPr lvl="0" eaLnBrk="0" fontAlgn="base" hangingPunct="0">
              <a:spcBef>
                <a:spcPct val="0"/>
              </a:spcBef>
              <a:spcAft>
                <a:spcPct val="0"/>
              </a:spcAft>
            </a:pPr>
            <a:r>
              <a:rPr lang="en-US" altLang="en-US" sz="1500" kern="0" spc="-80" dirty="0">
                <a:solidFill>
                  <a:schemeClr val="accent6"/>
                </a:solidFill>
              </a:rPr>
              <a:t>where z captures hidden structure or abstract features (e.g., “style,” “pose,” “tone”).</a:t>
            </a:r>
          </a:p>
          <a:p>
            <a:pPr lvl="0" eaLnBrk="0" fontAlgn="base" hangingPunct="0">
              <a:spcBef>
                <a:spcPct val="0"/>
              </a:spcBef>
              <a:spcAft>
                <a:spcPct val="0"/>
              </a:spcAft>
            </a:pPr>
            <a:r>
              <a:rPr lang="en-US" altLang="en-US" sz="1500" kern="0" spc="-80" dirty="0">
                <a:solidFill>
                  <a:schemeClr val="accent2"/>
                </a:solidFill>
              </a:rPr>
              <a:t>2.3 Sampling</a:t>
            </a:r>
          </a:p>
          <a:p>
            <a:pPr lvl="0" eaLnBrk="0" fontAlgn="base" hangingPunct="0">
              <a:spcBef>
                <a:spcPct val="0"/>
              </a:spcBef>
              <a:spcAft>
                <a:spcPct val="0"/>
              </a:spcAft>
            </a:pPr>
            <a:r>
              <a:rPr lang="en-US" altLang="en-US" sz="1500" kern="0" spc="-80" dirty="0">
                <a:solidFill>
                  <a:schemeClr val="accent6"/>
                </a:solidFill>
              </a:rPr>
              <a:t>Once trained, new samples are generated by:</a:t>
            </a:r>
          </a:p>
          <a:p>
            <a:pPr lvl="0" eaLnBrk="0" fontAlgn="base" hangingPunct="0">
              <a:spcBef>
                <a:spcPct val="0"/>
              </a:spcBef>
              <a:spcAft>
                <a:spcPct val="0"/>
              </a:spcAft>
            </a:pPr>
            <a:r>
              <a:rPr lang="en-US" altLang="en-US" sz="1500" kern="0" spc="-80" dirty="0">
                <a:solidFill>
                  <a:schemeClr val="accent6"/>
                </a:solidFill>
              </a:rPr>
              <a:t>Sampling </a:t>
            </a:r>
          </a:p>
          <a:p>
            <a:pPr lvl="0" eaLnBrk="0" fontAlgn="base" hangingPunct="0">
              <a:spcBef>
                <a:spcPct val="0"/>
              </a:spcBef>
              <a:spcAft>
                <a:spcPct val="0"/>
              </a:spcAft>
            </a:pPr>
            <a:r>
              <a:rPr lang="en-US" altLang="en-US" sz="1500" kern="0" spc="-80" dirty="0" err="1">
                <a:solidFill>
                  <a:schemeClr val="accent6"/>
                </a:solidFill>
              </a:rPr>
              <a:t>z∼P</a:t>
            </a:r>
            <a:r>
              <a:rPr lang="en-US" altLang="en-US" sz="1500" kern="0" spc="-80" dirty="0">
                <a:solidFill>
                  <a:schemeClr val="accent6"/>
                </a:solidFill>
              </a:rPr>
              <a:t>(z)</a:t>
            </a:r>
          </a:p>
          <a:p>
            <a:pPr lvl="0" eaLnBrk="0" fontAlgn="base" hangingPunct="0">
              <a:spcBef>
                <a:spcPct val="0"/>
              </a:spcBef>
              <a:spcAft>
                <a:spcPct val="0"/>
              </a:spcAft>
            </a:pPr>
            <a:r>
              <a:rPr lang="en-US" altLang="en-US" sz="1500" kern="0" spc="-80" dirty="0">
                <a:solidFill>
                  <a:schemeClr val="accent6"/>
                </a:solidFill>
              </a:rPr>
              <a:t>Generating </a:t>
            </a:r>
          </a:p>
          <a:p>
            <a:pPr lvl="0" eaLnBrk="0" fontAlgn="base" hangingPunct="0">
              <a:spcBef>
                <a:spcPct val="0"/>
              </a:spcBef>
              <a:spcAft>
                <a:spcPct val="0"/>
              </a:spcAft>
            </a:pPr>
            <a:r>
              <a:rPr lang="en-US" altLang="en-US" sz="1500" kern="0" spc="-80" dirty="0" err="1">
                <a:solidFill>
                  <a:schemeClr val="accent6"/>
                </a:solidFill>
              </a:rPr>
              <a:t>x′∼P</a:t>
            </a:r>
            <a:r>
              <a:rPr lang="en-US" altLang="en-US" sz="1500" kern="0" spc="-80" dirty="0">
                <a:solidFill>
                  <a:schemeClr val="accent6"/>
                </a:solidFill>
              </a:rPr>
              <a:t>(</a:t>
            </a:r>
            <a:r>
              <a:rPr lang="en-US" altLang="en-US" sz="1500" kern="0" spc="-80" dirty="0" err="1">
                <a:solidFill>
                  <a:schemeClr val="accent6"/>
                </a:solidFill>
              </a:rPr>
              <a:t>x∣z</a:t>
            </a:r>
            <a:r>
              <a:rPr lang="en-US" altLang="en-US" sz="1500" kern="0" spc="-80" dirty="0">
                <a:solidFill>
                  <a:schemeClr val="accent6"/>
                </a:solidFill>
              </a:rPr>
              <a:t>)</a:t>
            </a:r>
          </a:p>
        </p:txBody>
      </p:sp>
      <p:sp>
        <p:nvSpPr>
          <p:cNvPr id="6" name="Rectangle 4">
            <a:extLst>
              <a:ext uri="{FF2B5EF4-FFF2-40B4-BE49-F238E27FC236}">
                <a16:creationId xmlns:a16="http://schemas.microsoft.com/office/drawing/2014/main" id="{F0194EF8-A4CB-E464-A6E2-75B0EF84D98D}"/>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473699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EBA8-0502-4BB3-2A0F-6256EF2621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67CE1B-7719-1492-647C-91FF90E5DFB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664F4DD-274B-1B19-74E4-35211CF5F62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35E438C-CF6F-E280-0933-1D28EAF04AC9}"/>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3342235-BA53-EDF5-EA6C-BCB01FC63A9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967E733E-547A-CA68-ED51-900DF182592E}"/>
              </a:ext>
            </a:extLst>
          </p:cNvPr>
          <p:cNvSpPr txBox="1">
            <a:spLocks/>
          </p:cNvSpPr>
          <p:nvPr/>
        </p:nvSpPr>
        <p:spPr>
          <a:xfrm>
            <a:off x="41725" y="1290320"/>
            <a:ext cx="8624937" cy="9510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500" kern="0" spc="-80" dirty="0">
                <a:solidFill>
                  <a:schemeClr val="accent2"/>
                </a:solidFill>
              </a:rPr>
              <a:t>⚙️ 3. Key Families of Generative Models</a:t>
            </a:r>
          </a:p>
          <a:p>
            <a:pPr lvl="0" eaLnBrk="0" fontAlgn="base" hangingPunct="0">
              <a:spcBef>
                <a:spcPct val="0"/>
              </a:spcBef>
              <a:spcAft>
                <a:spcPct val="0"/>
              </a:spcAft>
            </a:pPr>
            <a:r>
              <a:rPr lang="en-US" altLang="en-US" sz="1170" kern="0" spc="-80" dirty="0">
                <a:solidFill>
                  <a:schemeClr val="accent6"/>
                </a:solidFill>
              </a:rPr>
              <a:t>	                                        	                                    	</a:t>
            </a:r>
          </a:p>
          <a:p>
            <a:pPr lvl="0" eaLnBrk="0" fontAlgn="base" hangingPunct="0">
              <a:spcBef>
                <a:spcPct val="0"/>
              </a:spcBef>
              <a:spcAft>
                <a:spcPct val="0"/>
              </a:spcAft>
            </a:pPr>
            <a:r>
              <a:rPr lang="en-US" altLang="en-US" sz="1170" kern="0" spc="-80" dirty="0">
                <a:solidFill>
                  <a:schemeClr val="accent6"/>
                </a:solidFill>
              </a:rPr>
              <a:t>	               	            	                 	 							</a:t>
            </a:r>
          </a:p>
          <a:p>
            <a:pPr lvl="0" eaLnBrk="0" fontAlgn="base" hangingPunct="0">
              <a:spcBef>
                <a:spcPct val="0"/>
              </a:spcBef>
              <a:spcAft>
                <a:spcPct val="0"/>
              </a:spcAft>
            </a:pPr>
            <a:r>
              <a:rPr lang="en-US" altLang="en-US" sz="1170" kern="0" spc="-80" dirty="0">
                <a:solidFill>
                  <a:schemeClr val="accent6"/>
                </a:solidFill>
              </a:rPr>
              <a:t>			</a:t>
            </a:r>
          </a:p>
        </p:txBody>
      </p:sp>
      <p:sp>
        <p:nvSpPr>
          <p:cNvPr id="6" name="Rectangle 4">
            <a:extLst>
              <a:ext uri="{FF2B5EF4-FFF2-40B4-BE49-F238E27FC236}">
                <a16:creationId xmlns:a16="http://schemas.microsoft.com/office/drawing/2014/main" id="{6B560BD9-2ECA-B7BE-B08C-F2E090C34975}"/>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descr="A table with text on it&#10;&#10;AI-generated content may be incorrect.">
            <a:extLst>
              <a:ext uri="{FF2B5EF4-FFF2-40B4-BE49-F238E27FC236}">
                <a16:creationId xmlns:a16="http://schemas.microsoft.com/office/drawing/2014/main" id="{49199DE5-65F5-9FE9-DC64-49318EE7C0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725" y="1587339"/>
            <a:ext cx="9026073" cy="4338433"/>
          </a:xfrm>
          <a:prstGeom prst="rect">
            <a:avLst/>
          </a:prstGeom>
        </p:spPr>
      </p:pic>
    </p:spTree>
    <p:extLst>
      <p:ext uri="{BB962C8B-B14F-4D97-AF65-F5344CB8AC3E}">
        <p14:creationId xmlns:p14="http://schemas.microsoft.com/office/powerpoint/2010/main" val="164360393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4D27F-9E0B-61DD-B498-B281A5C093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6DCC20-1C4A-7920-41B9-E9AD0CB0C5CE}"/>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B46E7956-770F-904F-062E-306A627E4440}"/>
              </a:ext>
            </a:extLst>
          </p:cNvPr>
          <p:cNvSpPr/>
          <p:nvPr/>
        </p:nvSpPr>
        <p:spPr>
          <a:xfrm flipV="1">
            <a:off x="1640838" y="905704"/>
            <a:ext cx="2693035" cy="82217"/>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AAC2647C-5974-6957-672F-0DE7A3678253}"/>
              </a:ext>
            </a:extLst>
          </p:cNvPr>
          <p:cNvSpPr/>
          <p:nvPr/>
        </p:nvSpPr>
        <p:spPr>
          <a:xfrm>
            <a:off x="1640839"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DCED37D-DAB6-C304-111E-E3B9B77FB001}"/>
              </a:ext>
            </a:extLst>
          </p:cNvPr>
          <p:cNvGraphicFramePr/>
          <p:nvPr>
            <p:extLst>
              <p:ext uri="{D42A27DB-BD31-4B8C-83A1-F6EECF244321}">
                <p14:modId xmlns:p14="http://schemas.microsoft.com/office/powerpoint/2010/main" val="2729007774"/>
              </p:ext>
            </p:extLst>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30" name="Picture 6" descr="Comparison between the schematic diagrams of four generative models, from top to bottom: generative adversarial network (GAN), variational autoencoder (VAE), normalizing flow (NF), and diffusion model.">
            <a:extLst>
              <a:ext uri="{FF2B5EF4-FFF2-40B4-BE49-F238E27FC236}">
                <a16:creationId xmlns:a16="http://schemas.microsoft.com/office/drawing/2014/main" id="{DDF37652-C5EC-37E6-EF29-42DDD23350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447800"/>
            <a:ext cx="8915398" cy="39216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9D6DA1C-4B12-73DD-FB53-C6CEFF4880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523" y="5369426"/>
            <a:ext cx="8975275" cy="497974"/>
          </a:xfrm>
          <a:prstGeom prst="rect">
            <a:avLst/>
          </a:prstGeom>
        </p:spPr>
      </p:pic>
      <p:sp>
        <p:nvSpPr>
          <p:cNvPr id="3" name="object 2">
            <a:extLst>
              <a:ext uri="{FF2B5EF4-FFF2-40B4-BE49-F238E27FC236}">
                <a16:creationId xmlns:a16="http://schemas.microsoft.com/office/drawing/2014/main" id="{1CA04E80-E759-EC3B-0481-436D1FB4CA43}"/>
              </a:ext>
            </a:extLst>
          </p:cNvPr>
          <p:cNvSpPr txBox="1">
            <a:spLocks/>
          </p:cNvSpPr>
          <p:nvPr/>
        </p:nvSpPr>
        <p:spPr>
          <a:xfrm>
            <a:off x="25400" y="972285"/>
            <a:ext cx="8624937" cy="9510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500" kern="0" spc="-80" dirty="0">
                <a:solidFill>
                  <a:schemeClr val="accent2"/>
                </a:solidFill>
              </a:rPr>
              <a:t>⚙️ 3. Key Families of Generative Models</a:t>
            </a:r>
          </a:p>
          <a:p>
            <a:pPr lvl="0" eaLnBrk="0" fontAlgn="base" hangingPunct="0">
              <a:spcBef>
                <a:spcPct val="0"/>
              </a:spcBef>
              <a:spcAft>
                <a:spcPct val="0"/>
              </a:spcAft>
            </a:pPr>
            <a:r>
              <a:rPr lang="en-US" altLang="en-US" sz="1170" kern="0" spc="-80" dirty="0">
                <a:solidFill>
                  <a:schemeClr val="accent6"/>
                </a:solidFill>
              </a:rPr>
              <a:t>	                                        	                                    	</a:t>
            </a:r>
          </a:p>
          <a:p>
            <a:pPr lvl="0" eaLnBrk="0" fontAlgn="base" hangingPunct="0">
              <a:spcBef>
                <a:spcPct val="0"/>
              </a:spcBef>
              <a:spcAft>
                <a:spcPct val="0"/>
              </a:spcAft>
            </a:pPr>
            <a:r>
              <a:rPr lang="en-US" altLang="en-US" sz="1170" kern="0" spc="-80" dirty="0">
                <a:solidFill>
                  <a:schemeClr val="accent6"/>
                </a:solidFill>
              </a:rPr>
              <a:t>	               	            	                 	 							</a:t>
            </a:r>
          </a:p>
          <a:p>
            <a:pPr lvl="0" eaLnBrk="0" fontAlgn="base" hangingPunct="0">
              <a:spcBef>
                <a:spcPct val="0"/>
              </a:spcBef>
              <a:spcAft>
                <a:spcPct val="0"/>
              </a:spcAft>
            </a:pPr>
            <a:r>
              <a:rPr lang="en-US" altLang="en-US" sz="1170" kern="0" spc="-80" dirty="0">
                <a:solidFill>
                  <a:schemeClr val="accent6"/>
                </a:solidFill>
              </a:rPr>
              <a:t>			</a:t>
            </a:r>
          </a:p>
        </p:txBody>
      </p:sp>
    </p:spTree>
    <p:extLst>
      <p:ext uri="{BB962C8B-B14F-4D97-AF65-F5344CB8AC3E}">
        <p14:creationId xmlns:p14="http://schemas.microsoft.com/office/powerpoint/2010/main" val="93235273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5B08-A00D-3AB6-261E-912A7A5F53F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827789-5409-4766-6184-AF3683C4074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6711C79-E1C5-72E3-13F3-A00514DEBA7C}"/>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7D4C371A-1366-F376-75B4-9D610B334B3E}"/>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09BF8AC-044E-5C30-3768-C54A0418D3C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605AA604-F58E-1F11-411F-A9551D6C4D59}"/>
              </a:ext>
            </a:extLst>
          </p:cNvPr>
          <p:cNvSpPr txBox="1">
            <a:spLocks/>
          </p:cNvSpPr>
          <p:nvPr/>
        </p:nvSpPr>
        <p:spPr>
          <a:xfrm>
            <a:off x="41725" y="1290320"/>
            <a:ext cx="8624937" cy="46812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170" kern="0" spc="-80" dirty="0">
                <a:solidFill>
                  <a:schemeClr val="accent2"/>
                </a:solidFill>
              </a:rPr>
              <a:t>🧱 4. Core Building Blocks</a:t>
            </a:r>
          </a:p>
          <a:p>
            <a:pPr lvl="0" eaLnBrk="0" fontAlgn="base" hangingPunct="0">
              <a:spcBef>
                <a:spcPct val="0"/>
              </a:spcBef>
              <a:spcAft>
                <a:spcPct val="0"/>
              </a:spcAft>
            </a:pPr>
            <a:r>
              <a:rPr lang="en-US" altLang="en-US" sz="1170" kern="0" spc="-80" dirty="0">
                <a:solidFill>
                  <a:schemeClr val="accent2"/>
                </a:solidFill>
              </a:rPr>
              <a:t>4.1 Neural Architectures</a:t>
            </a:r>
          </a:p>
          <a:p>
            <a:pPr lvl="0" eaLnBrk="0" fontAlgn="base" hangingPunct="0">
              <a:spcBef>
                <a:spcPct val="0"/>
              </a:spcBef>
              <a:spcAft>
                <a:spcPct val="0"/>
              </a:spcAft>
            </a:pPr>
            <a:r>
              <a:rPr lang="en-US" altLang="en-US" sz="1170" kern="0" spc="-80" dirty="0">
                <a:solidFill>
                  <a:schemeClr val="accent2"/>
                </a:solidFill>
              </a:rPr>
              <a:t>Transformers</a:t>
            </a:r>
            <a:r>
              <a:rPr lang="en-US" altLang="en-US" sz="1170" kern="0" spc="-80" dirty="0">
                <a:solidFill>
                  <a:schemeClr val="accent6"/>
                </a:solidFill>
              </a:rPr>
              <a:t> → dominant for text, multimodal models.</a:t>
            </a:r>
          </a:p>
          <a:p>
            <a:pPr lvl="0" eaLnBrk="0" fontAlgn="base" hangingPunct="0">
              <a:spcBef>
                <a:spcPct val="0"/>
              </a:spcBef>
              <a:spcAft>
                <a:spcPct val="0"/>
              </a:spcAft>
            </a:pPr>
            <a:r>
              <a:rPr lang="en-US" altLang="en-US" sz="1170" kern="0" spc="-80" dirty="0">
                <a:solidFill>
                  <a:schemeClr val="accent2"/>
                </a:solidFill>
              </a:rPr>
              <a:t>U-Net </a:t>
            </a:r>
            <a:r>
              <a:rPr lang="en-US" altLang="en-US" sz="1170" kern="0" spc="-80" dirty="0">
                <a:solidFill>
                  <a:schemeClr val="accent6"/>
                </a:solidFill>
              </a:rPr>
              <a:t>→ backbone of diffusion models (for image generation).</a:t>
            </a:r>
          </a:p>
          <a:p>
            <a:pPr lvl="0" eaLnBrk="0" fontAlgn="base" hangingPunct="0">
              <a:spcBef>
                <a:spcPct val="0"/>
              </a:spcBef>
              <a:spcAft>
                <a:spcPct val="0"/>
              </a:spcAft>
            </a:pPr>
            <a:r>
              <a:rPr lang="en-US" altLang="en-US" sz="1170" kern="0" spc="-80" dirty="0">
                <a:solidFill>
                  <a:schemeClr val="accent2"/>
                </a:solidFill>
              </a:rPr>
              <a:t>CNNs &amp; RNNs</a:t>
            </a:r>
            <a:r>
              <a:rPr lang="en-US" altLang="en-US" sz="1170" kern="0" spc="-80" dirty="0">
                <a:solidFill>
                  <a:schemeClr val="accent6"/>
                </a:solidFill>
              </a:rPr>
              <a:t> → still used in audio/video models.</a:t>
            </a:r>
          </a:p>
          <a:p>
            <a:pPr lvl="0" eaLnBrk="0" fontAlgn="base" hangingPunct="0">
              <a:spcBef>
                <a:spcPct val="0"/>
              </a:spcBef>
              <a:spcAft>
                <a:spcPct val="0"/>
              </a:spcAft>
            </a:pPr>
            <a:r>
              <a:rPr lang="en-US" altLang="en-US" sz="1170" kern="0" spc="-80" dirty="0">
                <a:solidFill>
                  <a:schemeClr val="accent2"/>
                </a:solidFill>
              </a:rPr>
              <a:t>4.2 Latent Space</a:t>
            </a:r>
          </a:p>
          <a:p>
            <a:pPr lvl="0" eaLnBrk="0" fontAlgn="base" hangingPunct="0">
              <a:spcBef>
                <a:spcPct val="0"/>
              </a:spcBef>
              <a:spcAft>
                <a:spcPct val="0"/>
              </a:spcAft>
            </a:pPr>
            <a:r>
              <a:rPr lang="en-US" altLang="en-US" sz="1170" kern="0" spc="-80" dirty="0">
                <a:solidFill>
                  <a:schemeClr val="accent6"/>
                </a:solidFill>
              </a:rPr>
              <a:t>Encodes high-level concepts (e.g., “dog,” “sunset”) in numeric form.</a:t>
            </a:r>
          </a:p>
          <a:p>
            <a:pPr lvl="0" eaLnBrk="0" fontAlgn="base" hangingPunct="0">
              <a:spcBef>
                <a:spcPct val="0"/>
              </a:spcBef>
              <a:spcAft>
                <a:spcPct val="0"/>
              </a:spcAft>
            </a:pPr>
            <a:r>
              <a:rPr lang="en-US" altLang="en-US" sz="1170" kern="0" spc="-80" dirty="0">
                <a:solidFill>
                  <a:schemeClr val="accent6"/>
                </a:solidFill>
              </a:rPr>
              <a:t>Enables interpolation, editing, and style transfer.</a:t>
            </a:r>
          </a:p>
          <a:p>
            <a:pPr lvl="0" eaLnBrk="0" fontAlgn="base" hangingPunct="0">
              <a:spcBef>
                <a:spcPct val="0"/>
              </a:spcBef>
              <a:spcAft>
                <a:spcPct val="0"/>
              </a:spcAft>
            </a:pPr>
            <a:r>
              <a:rPr lang="en-US" altLang="en-US" sz="1170" kern="0" spc="-80" dirty="0">
                <a:solidFill>
                  <a:schemeClr val="accent2"/>
                </a:solidFill>
              </a:rPr>
              <a:t>4.3 Conditioning</a:t>
            </a:r>
          </a:p>
          <a:p>
            <a:pPr lvl="0" eaLnBrk="0" fontAlgn="base" hangingPunct="0">
              <a:spcBef>
                <a:spcPct val="0"/>
              </a:spcBef>
              <a:spcAft>
                <a:spcPct val="0"/>
              </a:spcAft>
            </a:pPr>
            <a:r>
              <a:rPr lang="en-US" altLang="en-US" sz="1170" kern="0" spc="-80" dirty="0">
                <a:solidFill>
                  <a:schemeClr val="accent6"/>
                </a:solidFill>
              </a:rPr>
              <a:t>GenAI often generates conditional outputs:</a:t>
            </a:r>
          </a:p>
          <a:p>
            <a:pPr lvl="0" eaLnBrk="0" fontAlgn="base" hangingPunct="0">
              <a:spcBef>
                <a:spcPct val="0"/>
              </a:spcBef>
              <a:spcAft>
                <a:spcPct val="0"/>
              </a:spcAft>
            </a:pPr>
            <a:r>
              <a:rPr lang="en-US" altLang="en-US" sz="1170" kern="0" spc="-80" dirty="0">
                <a:solidFill>
                  <a:schemeClr val="accent6"/>
                </a:solidFill>
              </a:rPr>
              <a:t>P(</a:t>
            </a:r>
            <a:r>
              <a:rPr lang="en-US" altLang="en-US" sz="1170" kern="0" spc="-80" dirty="0" err="1">
                <a:solidFill>
                  <a:schemeClr val="accent6"/>
                </a:solidFill>
              </a:rPr>
              <a:t>x∣c</a:t>
            </a:r>
            <a:r>
              <a:rPr lang="en-US" altLang="en-US" sz="1170" kern="0" spc="-80" dirty="0">
                <a:solidFill>
                  <a:schemeClr val="accent6"/>
                </a:solidFill>
              </a:rPr>
              <a:t>) where c could be: </a:t>
            </a:r>
          </a:p>
          <a:p>
            <a:pPr lvl="0" eaLnBrk="0" fontAlgn="base" hangingPunct="0">
              <a:spcBef>
                <a:spcPct val="0"/>
              </a:spcBef>
              <a:spcAft>
                <a:spcPct val="0"/>
              </a:spcAft>
            </a:pPr>
            <a:r>
              <a:rPr lang="en-US" altLang="en-US" sz="1170" kern="0" spc="-80" dirty="0">
                <a:solidFill>
                  <a:schemeClr val="accent6"/>
                </a:solidFill>
              </a:rPr>
              <a:t>A prompt (text)</a:t>
            </a:r>
          </a:p>
          <a:p>
            <a:pPr lvl="0" eaLnBrk="0" fontAlgn="base" hangingPunct="0">
              <a:spcBef>
                <a:spcPct val="0"/>
              </a:spcBef>
              <a:spcAft>
                <a:spcPct val="0"/>
              </a:spcAft>
            </a:pPr>
            <a:r>
              <a:rPr lang="en-US" altLang="en-US" sz="1170" kern="0" spc="-80" dirty="0">
                <a:solidFill>
                  <a:schemeClr val="accent6"/>
                </a:solidFill>
              </a:rPr>
              <a:t>A class label</a:t>
            </a:r>
          </a:p>
          <a:p>
            <a:pPr lvl="0" eaLnBrk="0" fontAlgn="base" hangingPunct="0">
              <a:spcBef>
                <a:spcPct val="0"/>
              </a:spcBef>
              <a:spcAft>
                <a:spcPct val="0"/>
              </a:spcAft>
            </a:pPr>
            <a:r>
              <a:rPr lang="en-US" altLang="en-US" sz="1170" kern="0" spc="-80" dirty="0">
                <a:solidFill>
                  <a:schemeClr val="accent6"/>
                </a:solidFill>
              </a:rPr>
              <a:t>Another image or sound</a:t>
            </a:r>
          </a:p>
          <a:p>
            <a:pPr lvl="0" eaLnBrk="0" fontAlgn="base" hangingPunct="0">
              <a:spcBef>
                <a:spcPct val="0"/>
              </a:spcBef>
              <a:spcAft>
                <a:spcPct val="0"/>
              </a:spcAft>
            </a:pPr>
            <a:r>
              <a:rPr lang="en-US" altLang="en-US" sz="1170" kern="0" spc="-80" dirty="0">
                <a:solidFill>
                  <a:schemeClr val="accent6"/>
                </a:solidFill>
              </a:rPr>
              <a:t>Example: “Generate an image of a futuristic city at night.”</a:t>
            </a:r>
          </a:p>
          <a:p>
            <a:pPr lvl="0" eaLnBrk="0" fontAlgn="base" hangingPunct="0">
              <a:spcBef>
                <a:spcPct val="0"/>
              </a:spcBef>
              <a:spcAft>
                <a:spcPct val="0"/>
              </a:spcAft>
            </a:pPr>
            <a:r>
              <a:rPr lang="en-US" altLang="en-US" sz="1170" kern="0" spc="-80" dirty="0">
                <a:solidFill>
                  <a:schemeClr val="accent2"/>
                </a:solidFill>
              </a:rPr>
              <a:t>🧮 5. Training Paradigms</a:t>
            </a:r>
          </a:p>
          <a:p>
            <a:pPr lvl="0" eaLnBrk="0" fontAlgn="base" hangingPunct="0">
              <a:spcBef>
                <a:spcPct val="0"/>
              </a:spcBef>
              <a:spcAft>
                <a:spcPct val="0"/>
              </a:spcAft>
            </a:pPr>
            <a:r>
              <a:rPr lang="en-US" altLang="en-US" sz="1170" kern="0" spc="-80" dirty="0">
                <a:solidFill>
                  <a:schemeClr val="accent2"/>
                </a:solidFill>
              </a:rPr>
              <a:t>5.1 Self-Supervised Learning</a:t>
            </a:r>
          </a:p>
          <a:p>
            <a:pPr lvl="0" eaLnBrk="0" fontAlgn="base" hangingPunct="0">
              <a:spcBef>
                <a:spcPct val="0"/>
              </a:spcBef>
              <a:spcAft>
                <a:spcPct val="0"/>
              </a:spcAft>
            </a:pPr>
            <a:r>
              <a:rPr lang="en-US" altLang="en-US" sz="1170" kern="0" spc="-80" dirty="0">
                <a:solidFill>
                  <a:schemeClr val="accent6"/>
                </a:solidFill>
              </a:rPr>
              <a:t>Uses large unlabeled datasets by predicting missing or masked parts:</a:t>
            </a:r>
          </a:p>
          <a:p>
            <a:pPr lvl="0" eaLnBrk="0" fontAlgn="base" hangingPunct="0">
              <a:spcBef>
                <a:spcPct val="0"/>
              </a:spcBef>
              <a:spcAft>
                <a:spcPct val="0"/>
              </a:spcAft>
            </a:pPr>
            <a:r>
              <a:rPr lang="en-US" altLang="en-US" sz="1170" kern="0" spc="-80" dirty="0">
                <a:solidFill>
                  <a:schemeClr val="accent6"/>
                </a:solidFill>
              </a:rPr>
              <a:t>Masked Language Modeling (BERT)</a:t>
            </a:r>
          </a:p>
          <a:p>
            <a:pPr lvl="0" eaLnBrk="0" fontAlgn="base" hangingPunct="0">
              <a:spcBef>
                <a:spcPct val="0"/>
              </a:spcBef>
              <a:spcAft>
                <a:spcPct val="0"/>
              </a:spcAft>
            </a:pPr>
            <a:r>
              <a:rPr lang="en-US" altLang="en-US" sz="1170" kern="0" spc="-80" dirty="0">
                <a:solidFill>
                  <a:schemeClr val="accent6"/>
                </a:solidFill>
              </a:rPr>
              <a:t>Next-token prediction (GPT)</a:t>
            </a:r>
          </a:p>
          <a:p>
            <a:pPr lvl="0" eaLnBrk="0" fontAlgn="base" hangingPunct="0">
              <a:spcBef>
                <a:spcPct val="0"/>
              </a:spcBef>
              <a:spcAft>
                <a:spcPct val="0"/>
              </a:spcAft>
            </a:pPr>
            <a:r>
              <a:rPr lang="en-US" altLang="en-US" sz="1170" kern="0" spc="-80" dirty="0">
                <a:solidFill>
                  <a:schemeClr val="accent6"/>
                </a:solidFill>
              </a:rPr>
              <a:t>Masked Autoencoders (MAE) for images</a:t>
            </a:r>
          </a:p>
          <a:p>
            <a:pPr lvl="0" eaLnBrk="0" fontAlgn="base" hangingPunct="0">
              <a:spcBef>
                <a:spcPct val="0"/>
              </a:spcBef>
              <a:spcAft>
                <a:spcPct val="0"/>
              </a:spcAft>
            </a:pPr>
            <a:r>
              <a:rPr lang="en-US" altLang="en-US" sz="1170" kern="0" spc="-80" dirty="0">
                <a:solidFill>
                  <a:schemeClr val="accent2"/>
                </a:solidFill>
              </a:rPr>
              <a:t>5.2 Adversarial Training (GANs)</a:t>
            </a:r>
          </a:p>
          <a:p>
            <a:pPr lvl="0" eaLnBrk="0" fontAlgn="base" hangingPunct="0">
              <a:spcBef>
                <a:spcPct val="0"/>
              </a:spcBef>
              <a:spcAft>
                <a:spcPct val="0"/>
              </a:spcAft>
            </a:pPr>
            <a:r>
              <a:rPr lang="en-US" altLang="en-US" sz="1170" kern="0" spc="-80" dirty="0">
                <a:solidFill>
                  <a:schemeClr val="accent6"/>
                </a:solidFill>
              </a:rPr>
              <a:t>Two networks compete:</a:t>
            </a:r>
          </a:p>
          <a:p>
            <a:pPr lvl="0" eaLnBrk="0" fontAlgn="base" hangingPunct="0">
              <a:spcBef>
                <a:spcPct val="0"/>
              </a:spcBef>
              <a:spcAft>
                <a:spcPct val="0"/>
              </a:spcAft>
            </a:pPr>
            <a:r>
              <a:rPr lang="en-US" altLang="en-US" sz="1170" kern="0" spc="-80" dirty="0">
                <a:solidFill>
                  <a:schemeClr val="accent2"/>
                </a:solidFill>
              </a:rPr>
              <a:t>Generator </a:t>
            </a:r>
            <a:r>
              <a:rPr lang="en-US" altLang="en-US" sz="1170" kern="0" spc="-80" dirty="0">
                <a:solidFill>
                  <a:schemeClr val="accent6"/>
                </a:solidFill>
              </a:rPr>
              <a:t>→ creates fake data.</a:t>
            </a:r>
          </a:p>
          <a:p>
            <a:pPr lvl="0" eaLnBrk="0" fontAlgn="base" hangingPunct="0">
              <a:spcBef>
                <a:spcPct val="0"/>
              </a:spcBef>
              <a:spcAft>
                <a:spcPct val="0"/>
              </a:spcAft>
            </a:pPr>
            <a:r>
              <a:rPr lang="en-US" altLang="en-US" sz="1170" kern="0" spc="-80" dirty="0">
                <a:solidFill>
                  <a:schemeClr val="accent2"/>
                </a:solidFill>
              </a:rPr>
              <a:t>Discriminator </a:t>
            </a:r>
            <a:r>
              <a:rPr lang="en-US" altLang="en-US" sz="1170" kern="0" spc="-80" dirty="0">
                <a:solidFill>
                  <a:schemeClr val="accent6"/>
                </a:solidFill>
              </a:rPr>
              <a:t>→ distinguishes real vs fake.</a:t>
            </a:r>
          </a:p>
          <a:p>
            <a:pPr lvl="0" eaLnBrk="0" fontAlgn="base" hangingPunct="0">
              <a:spcBef>
                <a:spcPct val="0"/>
              </a:spcBef>
              <a:spcAft>
                <a:spcPct val="0"/>
              </a:spcAft>
            </a:pPr>
            <a:r>
              <a:rPr lang="en-US" altLang="en-US" sz="1170" kern="0" spc="-80" dirty="0">
                <a:solidFill>
                  <a:schemeClr val="accent6"/>
                </a:solidFill>
              </a:rPr>
              <a:t>They reach an equilibrium where fakes become indistinguishable from real data.</a:t>
            </a:r>
          </a:p>
        </p:txBody>
      </p:sp>
      <p:sp>
        <p:nvSpPr>
          <p:cNvPr id="6" name="Rectangle 4">
            <a:extLst>
              <a:ext uri="{FF2B5EF4-FFF2-40B4-BE49-F238E27FC236}">
                <a16:creationId xmlns:a16="http://schemas.microsoft.com/office/drawing/2014/main" id="{70F36577-60A5-1DEF-DB8F-C618E4F2D3F2}"/>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757799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50F2-449C-7747-F66E-533100B93D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43126A-A944-FB78-C1B6-0ABB27AA8FF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5B046A3-6D4D-4D55-CCD3-52A8B34B529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61B4A19-8E66-AEFE-9027-57AFFD7E1AD0}"/>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B6B5916-E910-2C38-BE7D-C71A4110B41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5AB1A641-58A2-8391-05DC-D756665BB6FA}"/>
              </a:ext>
            </a:extLst>
          </p:cNvPr>
          <p:cNvSpPr txBox="1">
            <a:spLocks/>
          </p:cNvSpPr>
          <p:nvPr/>
        </p:nvSpPr>
        <p:spPr>
          <a:xfrm>
            <a:off x="41725" y="1290320"/>
            <a:ext cx="8624937" cy="46812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170" kern="0" spc="-80" dirty="0">
                <a:solidFill>
                  <a:schemeClr val="accent2"/>
                </a:solidFill>
              </a:rPr>
              <a:t>5.3 Diffusion Training</a:t>
            </a:r>
          </a:p>
          <a:p>
            <a:pPr lvl="0" eaLnBrk="0" fontAlgn="base" hangingPunct="0">
              <a:spcBef>
                <a:spcPct val="0"/>
              </a:spcBef>
              <a:spcAft>
                <a:spcPct val="0"/>
              </a:spcAft>
            </a:pPr>
            <a:r>
              <a:rPr lang="en-US" altLang="en-US" sz="1170" kern="0" spc="-80" dirty="0">
                <a:solidFill>
                  <a:schemeClr val="accent6"/>
                </a:solidFill>
              </a:rPr>
              <a:t>Model learns to reverse a noise-adding process.</a:t>
            </a:r>
          </a:p>
          <a:p>
            <a:pPr lvl="0" eaLnBrk="0" fontAlgn="base" hangingPunct="0">
              <a:spcBef>
                <a:spcPct val="0"/>
              </a:spcBef>
              <a:spcAft>
                <a:spcPct val="0"/>
              </a:spcAft>
            </a:pPr>
            <a:r>
              <a:rPr lang="en-US" altLang="en-US" sz="1170" kern="0" spc="-80" dirty="0">
                <a:solidFill>
                  <a:schemeClr val="accent6"/>
                </a:solidFill>
              </a:rPr>
              <a:t>Trained to denoise images step-by-step.</a:t>
            </a:r>
          </a:p>
          <a:p>
            <a:pPr lvl="0" eaLnBrk="0" fontAlgn="base" hangingPunct="0">
              <a:spcBef>
                <a:spcPct val="0"/>
              </a:spcBef>
              <a:spcAft>
                <a:spcPct val="0"/>
              </a:spcAft>
            </a:pPr>
            <a:r>
              <a:rPr lang="en-US" altLang="en-US" sz="1170" kern="0" spc="-80" dirty="0">
                <a:solidFill>
                  <a:schemeClr val="accent2"/>
                </a:solidFill>
              </a:rPr>
              <a:t>📚 6. Generative AI Pipeline (Universal Workflow)</a:t>
            </a:r>
          </a:p>
          <a:p>
            <a:pPr lvl="0" eaLnBrk="0" fontAlgn="base" hangingPunct="0">
              <a:spcBef>
                <a:spcPct val="0"/>
              </a:spcBef>
              <a:spcAft>
                <a:spcPct val="0"/>
              </a:spcAft>
            </a:pPr>
            <a:r>
              <a:rPr lang="en-US" altLang="en-US" sz="1170" kern="0" spc="-80" dirty="0">
                <a:solidFill>
                  <a:schemeClr val="accent6"/>
                </a:solidFill>
              </a:rPr>
              <a:t>Data collection and preprocessing</a:t>
            </a:r>
          </a:p>
          <a:p>
            <a:pPr lvl="0" eaLnBrk="0" fontAlgn="base" hangingPunct="0">
              <a:spcBef>
                <a:spcPct val="0"/>
              </a:spcBef>
              <a:spcAft>
                <a:spcPct val="0"/>
              </a:spcAft>
            </a:pPr>
            <a:r>
              <a:rPr lang="en-US" altLang="en-US" sz="1170" kern="0" spc="-80" dirty="0">
                <a:solidFill>
                  <a:schemeClr val="accent6"/>
                </a:solidFill>
              </a:rPr>
              <a:t>Model design (Transformer, GAN, VAE, Diffusion)</a:t>
            </a:r>
          </a:p>
          <a:p>
            <a:pPr lvl="0" eaLnBrk="0" fontAlgn="base" hangingPunct="0">
              <a:spcBef>
                <a:spcPct val="0"/>
              </a:spcBef>
              <a:spcAft>
                <a:spcPct val="0"/>
              </a:spcAft>
            </a:pPr>
            <a:r>
              <a:rPr lang="en-US" altLang="en-US" sz="1170" kern="0" spc="-80" dirty="0">
                <a:solidFill>
                  <a:schemeClr val="accent6"/>
                </a:solidFill>
              </a:rPr>
              <a:t>Training (unsupervised/self-supervised)</a:t>
            </a:r>
          </a:p>
          <a:p>
            <a:pPr lvl="0" eaLnBrk="0" fontAlgn="base" hangingPunct="0">
              <a:spcBef>
                <a:spcPct val="0"/>
              </a:spcBef>
              <a:spcAft>
                <a:spcPct val="0"/>
              </a:spcAft>
            </a:pPr>
            <a:r>
              <a:rPr lang="en-US" altLang="en-US" sz="1170" kern="0" spc="-80" dirty="0">
                <a:solidFill>
                  <a:schemeClr val="accent6"/>
                </a:solidFill>
              </a:rPr>
              <a:t>Fine-tuning or alignment (domain-specific or RLHF)</a:t>
            </a:r>
          </a:p>
          <a:p>
            <a:pPr lvl="0" eaLnBrk="0" fontAlgn="base" hangingPunct="0">
              <a:spcBef>
                <a:spcPct val="0"/>
              </a:spcBef>
              <a:spcAft>
                <a:spcPct val="0"/>
              </a:spcAft>
            </a:pPr>
            <a:r>
              <a:rPr lang="en-US" altLang="en-US" sz="1170" kern="0" spc="-80" dirty="0">
                <a:solidFill>
                  <a:schemeClr val="accent6"/>
                </a:solidFill>
              </a:rPr>
              <a:t>Sampling/inference (prompt → generation)</a:t>
            </a:r>
          </a:p>
          <a:p>
            <a:pPr lvl="0" eaLnBrk="0" fontAlgn="base" hangingPunct="0">
              <a:spcBef>
                <a:spcPct val="0"/>
              </a:spcBef>
              <a:spcAft>
                <a:spcPct val="0"/>
              </a:spcAft>
            </a:pPr>
            <a:r>
              <a:rPr lang="en-US" altLang="en-US" sz="1170" kern="0" spc="-80" dirty="0">
                <a:solidFill>
                  <a:schemeClr val="accent6"/>
                </a:solidFill>
              </a:rPr>
              <a:t>Post-processing (filtering, ranking, style control)</a:t>
            </a:r>
          </a:p>
          <a:p>
            <a:pPr lvl="0" eaLnBrk="0" fontAlgn="base" hangingPunct="0">
              <a:spcBef>
                <a:spcPct val="0"/>
              </a:spcBef>
              <a:spcAft>
                <a:spcPct val="0"/>
              </a:spcAft>
            </a:pPr>
            <a:r>
              <a:rPr lang="en-US" altLang="en-US" sz="1170" kern="0" spc="-80" dirty="0">
                <a:solidFill>
                  <a:schemeClr val="accent2"/>
                </a:solidFill>
              </a:rPr>
              <a:t>🔍 7. GenAI Modalities</a:t>
            </a:r>
          </a:p>
          <a:p>
            <a:pPr lvl="0" eaLnBrk="0" fontAlgn="base" hangingPunct="0">
              <a:spcBef>
                <a:spcPct val="0"/>
              </a:spcBef>
              <a:spcAft>
                <a:spcPct val="0"/>
              </a:spcAft>
            </a:pPr>
            <a:r>
              <a:rPr lang="en-US" altLang="en-US" sz="1170" kern="0" spc="-80" dirty="0">
                <a:solidFill>
                  <a:schemeClr val="accent6"/>
                </a:solidFill>
              </a:rPr>
              <a:t>Modality	Example Models	                      Description</a:t>
            </a:r>
          </a:p>
          <a:p>
            <a:pPr lvl="0" eaLnBrk="0" fontAlgn="base" hangingPunct="0">
              <a:spcBef>
                <a:spcPct val="0"/>
              </a:spcBef>
              <a:spcAft>
                <a:spcPct val="0"/>
              </a:spcAft>
            </a:pPr>
            <a:r>
              <a:rPr lang="en-US" altLang="en-US" sz="1170" kern="0" spc="-80" dirty="0">
                <a:solidFill>
                  <a:schemeClr val="accent6"/>
                </a:solidFill>
              </a:rPr>
              <a:t>Text	GPT, Claude, Gemini	                      Natural language generation</a:t>
            </a:r>
          </a:p>
          <a:p>
            <a:pPr lvl="0" eaLnBrk="0" fontAlgn="base" hangingPunct="0">
              <a:spcBef>
                <a:spcPct val="0"/>
              </a:spcBef>
              <a:spcAft>
                <a:spcPct val="0"/>
              </a:spcAft>
            </a:pPr>
            <a:r>
              <a:rPr lang="en-US" altLang="en-US" sz="1170" kern="0" spc="-80" dirty="0">
                <a:solidFill>
                  <a:schemeClr val="accent6"/>
                </a:solidFill>
              </a:rPr>
              <a:t>Code	Codex, </a:t>
            </a:r>
            <a:r>
              <a:rPr lang="en-US" altLang="en-US" sz="1170" kern="0" spc="-80" dirty="0" err="1">
                <a:solidFill>
                  <a:schemeClr val="accent6"/>
                </a:solidFill>
              </a:rPr>
              <a:t>CodeLLaMA</a:t>
            </a:r>
            <a:r>
              <a:rPr lang="en-US" altLang="en-US" sz="1170" kern="0" spc="-80" dirty="0">
                <a:solidFill>
                  <a:schemeClr val="accent6"/>
                </a:solidFill>
              </a:rPr>
              <a:t>	                      Code synthesis and completion</a:t>
            </a:r>
          </a:p>
          <a:p>
            <a:pPr lvl="0" eaLnBrk="0" fontAlgn="base" hangingPunct="0">
              <a:spcBef>
                <a:spcPct val="0"/>
              </a:spcBef>
              <a:spcAft>
                <a:spcPct val="0"/>
              </a:spcAft>
            </a:pPr>
            <a:r>
              <a:rPr lang="en-US" altLang="en-US" sz="1170" kern="0" spc="-80" dirty="0">
                <a:solidFill>
                  <a:schemeClr val="accent6"/>
                </a:solidFill>
              </a:rPr>
              <a:t>Image	DALL·E, Midjourney, SDXL	                      Text-to-image</a:t>
            </a:r>
          </a:p>
          <a:p>
            <a:pPr lvl="0" eaLnBrk="0" fontAlgn="base" hangingPunct="0">
              <a:spcBef>
                <a:spcPct val="0"/>
              </a:spcBef>
              <a:spcAft>
                <a:spcPct val="0"/>
              </a:spcAft>
            </a:pPr>
            <a:r>
              <a:rPr lang="en-US" altLang="en-US" sz="1170" kern="0" spc="-80" dirty="0">
                <a:solidFill>
                  <a:schemeClr val="accent6"/>
                </a:solidFill>
              </a:rPr>
              <a:t>Audio	Jukebox, </a:t>
            </a:r>
            <a:r>
              <a:rPr lang="en-US" altLang="en-US" sz="1170" kern="0" spc="-80" dirty="0" err="1">
                <a:solidFill>
                  <a:schemeClr val="accent6"/>
                </a:solidFill>
              </a:rPr>
              <a:t>MusicLM</a:t>
            </a:r>
            <a:r>
              <a:rPr lang="en-US" altLang="en-US" sz="1170" kern="0" spc="-80" dirty="0">
                <a:solidFill>
                  <a:schemeClr val="accent6"/>
                </a:solidFill>
              </a:rPr>
              <a:t>	                      Music, voice, sound generation</a:t>
            </a:r>
          </a:p>
          <a:p>
            <a:pPr lvl="0" eaLnBrk="0" fontAlgn="base" hangingPunct="0">
              <a:spcBef>
                <a:spcPct val="0"/>
              </a:spcBef>
              <a:spcAft>
                <a:spcPct val="0"/>
              </a:spcAft>
            </a:pPr>
            <a:r>
              <a:rPr lang="en-US" altLang="en-US" sz="1170" kern="0" spc="-80" dirty="0">
                <a:solidFill>
                  <a:schemeClr val="accent6"/>
                </a:solidFill>
              </a:rPr>
              <a:t>Video	Runway Gen-2, Sora	                      Text-to-video</a:t>
            </a:r>
          </a:p>
          <a:p>
            <a:pPr lvl="0" eaLnBrk="0" fontAlgn="base" hangingPunct="0">
              <a:spcBef>
                <a:spcPct val="0"/>
              </a:spcBef>
              <a:spcAft>
                <a:spcPct val="0"/>
              </a:spcAft>
            </a:pPr>
            <a:r>
              <a:rPr lang="en-US" altLang="en-US" sz="1170" kern="0" spc="-80" dirty="0">
                <a:solidFill>
                  <a:schemeClr val="accent6"/>
                </a:solidFill>
              </a:rPr>
              <a:t>3D / CAD	</a:t>
            </a:r>
            <a:r>
              <a:rPr lang="en-US" altLang="en-US" sz="1170" kern="0" spc="-80" dirty="0" err="1">
                <a:solidFill>
                  <a:schemeClr val="accent6"/>
                </a:solidFill>
              </a:rPr>
              <a:t>DreamFusion</a:t>
            </a:r>
            <a:r>
              <a:rPr lang="en-US" altLang="en-US" sz="1170" kern="0" spc="-80" dirty="0">
                <a:solidFill>
                  <a:schemeClr val="accent6"/>
                </a:solidFill>
              </a:rPr>
              <a:t>, Point-E	                      3D object synthesis</a:t>
            </a:r>
          </a:p>
          <a:p>
            <a:pPr lvl="0" eaLnBrk="0" fontAlgn="base" hangingPunct="0">
              <a:spcBef>
                <a:spcPct val="0"/>
              </a:spcBef>
              <a:spcAft>
                <a:spcPct val="0"/>
              </a:spcAft>
            </a:pPr>
            <a:r>
              <a:rPr lang="en-US" altLang="en-US" sz="1170" kern="0" spc="-80" dirty="0">
                <a:solidFill>
                  <a:schemeClr val="accent6"/>
                </a:solidFill>
              </a:rPr>
              <a:t>Multimodal	GPT-4V, Gemini, Claude 3 Opus                Unified text + image + audio understanding</a:t>
            </a:r>
          </a:p>
          <a:p>
            <a:pPr lvl="0" eaLnBrk="0" fontAlgn="base" hangingPunct="0">
              <a:spcBef>
                <a:spcPct val="0"/>
              </a:spcBef>
              <a:spcAft>
                <a:spcPct val="0"/>
              </a:spcAft>
            </a:pPr>
            <a:r>
              <a:rPr lang="en-US" altLang="en-US" sz="1170" kern="0" spc="-80" dirty="0">
                <a:solidFill>
                  <a:schemeClr val="accent2"/>
                </a:solidFill>
              </a:rPr>
              <a:t>🧠 8. Prompt Engineering &amp; Control</a:t>
            </a:r>
          </a:p>
          <a:p>
            <a:pPr lvl="0" eaLnBrk="0" fontAlgn="base" hangingPunct="0">
              <a:spcBef>
                <a:spcPct val="0"/>
              </a:spcBef>
              <a:spcAft>
                <a:spcPct val="0"/>
              </a:spcAft>
            </a:pPr>
            <a:r>
              <a:rPr lang="en-US" altLang="en-US" sz="1170" kern="0" spc="-80" dirty="0">
                <a:solidFill>
                  <a:schemeClr val="accent6"/>
                </a:solidFill>
              </a:rPr>
              <a:t>GenAI outputs depend heavily on conditioning inputs (prompts).</a:t>
            </a:r>
          </a:p>
          <a:p>
            <a:pPr lvl="0" eaLnBrk="0" fontAlgn="base" hangingPunct="0">
              <a:spcBef>
                <a:spcPct val="0"/>
              </a:spcBef>
              <a:spcAft>
                <a:spcPct val="0"/>
              </a:spcAft>
            </a:pPr>
            <a:r>
              <a:rPr lang="en-US" altLang="en-US" sz="1170" kern="0" spc="-80" dirty="0">
                <a:solidFill>
                  <a:schemeClr val="accent2"/>
                </a:solidFill>
              </a:rPr>
              <a:t>Techniques:</a:t>
            </a:r>
          </a:p>
          <a:p>
            <a:pPr lvl="0" eaLnBrk="0" fontAlgn="base" hangingPunct="0">
              <a:spcBef>
                <a:spcPct val="0"/>
              </a:spcBef>
              <a:spcAft>
                <a:spcPct val="0"/>
              </a:spcAft>
            </a:pPr>
            <a:r>
              <a:rPr lang="en-US" altLang="en-US" sz="1170" kern="0" spc="-80" dirty="0">
                <a:solidFill>
                  <a:schemeClr val="accent6"/>
                </a:solidFill>
              </a:rPr>
              <a:t>Prompt tuning: embedding optimization for specific tasks.</a:t>
            </a:r>
          </a:p>
          <a:p>
            <a:pPr lvl="0" eaLnBrk="0" fontAlgn="base" hangingPunct="0">
              <a:spcBef>
                <a:spcPct val="0"/>
              </a:spcBef>
              <a:spcAft>
                <a:spcPct val="0"/>
              </a:spcAft>
            </a:pPr>
            <a:r>
              <a:rPr lang="en-US" altLang="en-US" sz="1170" kern="0" spc="-80" dirty="0">
                <a:solidFill>
                  <a:schemeClr val="accent6"/>
                </a:solidFill>
              </a:rPr>
              <a:t>Prefix tuning / soft prompts: learnable tokens prepended to inputs.</a:t>
            </a:r>
          </a:p>
          <a:p>
            <a:pPr lvl="0" eaLnBrk="0" fontAlgn="base" hangingPunct="0">
              <a:spcBef>
                <a:spcPct val="0"/>
              </a:spcBef>
              <a:spcAft>
                <a:spcPct val="0"/>
              </a:spcAft>
            </a:pPr>
            <a:r>
              <a:rPr lang="en-US" altLang="en-US" sz="1170" kern="0" spc="-80" dirty="0">
                <a:solidFill>
                  <a:schemeClr val="accent6"/>
                </a:solidFill>
              </a:rPr>
              <a:t>Instruction tuning: training on prompt–response pairs.</a:t>
            </a:r>
          </a:p>
          <a:p>
            <a:pPr lvl="0" eaLnBrk="0" fontAlgn="base" hangingPunct="0">
              <a:spcBef>
                <a:spcPct val="0"/>
              </a:spcBef>
              <a:spcAft>
                <a:spcPct val="0"/>
              </a:spcAft>
            </a:pPr>
            <a:r>
              <a:rPr lang="en-US" altLang="en-US" sz="1170" kern="0" spc="-80" dirty="0">
                <a:solidFill>
                  <a:schemeClr val="accent2"/>
                </a:solidFill>
              </a:rPr>
              <a:t>ControlNet / adapters: </a:t>
            </a:r>
            <a:r>
              <a:rPr lang="en-US" altLang="en-US" sz="1170" kern="0" spc="-80" dirty="0">
                <a:solidFill>
                  <a:schemeClr val="accent6"/>
                </a:solidFill>
              </a:rPr>
              <a:t>external conditioning modules for structure and pose control in images.</a:t>
            </a:r>
          </a:p>
        </p:txBody>
      </p:sp>
      <p:sp>
        <p:nvSpPr>
          <p:cNvPr id="6" name="Rectangle 4">
            <a:extLst>
              <a:ext uri="{FF2B5EF4-FFF2-40B4-BE49-F238E27FC236}">
                <a16:creationId xmlns:a16="http://schemas.microsoft.com/office/drawing/2014/main" id="{BE31FD44-AD3C-962B-BC3F-3739CB668458}"/>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819919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2770C-C6AE-FE2A-634C-86CB0F49AD9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DAE4F15-DD06-44BA-D21F-20440505FA6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5438580F-B02A-9B44-37E3-10A8E64C7192}"/>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2293A56-59A2-9DD8-C0AC-0C8C5E8D4351}"/>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A493498-F308-B671-C0C1-5EAD4034725C}"/>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6E950383-F642-557E-563D-E5AAB25BD1A7}"/>
              </a:ext>
            </a:extLst>
          </p:cNvPr>
          <p:cNvSpPr txBox="1">
            <a:spLocks/>
          </p:cNvSpPr>
          <p:nvPr/>
        </p:nvSpPr>
        <p:spPr>
          <a:xfrm>
            <a:off x="41725" y="1290320"/>
            <a:ext cx="8624937" cy="46812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170" kern="0" spc="-80" dirty="0">
                <a:solidFill>
                  <a:schemeClr val="accent2"/>
                </a:solidFill>
              </a:rPr>
              <a:t>⚖️ 9. Evaluation Metrics</a:t>
            </a:r>
          </a:p>
          <a:p>
            <a:pPr lvl="0" eaLnBrk="0" fontAlgn="base" hangingPunct="0">
              <a:spcBef>
                <a:spcPct val="0"/>
              </a:spcBef>
              <a:spcAft>
                <a:spcPct val="0"/>
              </a:spcAft>
            </a:pPr>
            <a:r>
              <a:rPr lang="en-US" altLang="en-US" sz="1170" kern="0" spc="-80" dirty="0">
                <a:solidFill>
                  <a:schemeClr val="accent2"/>
                </a:solidFill>
              </a:rPr>
              <a:t>Quantitative</a:t>
            </a:r>
          </a:p>
          <a:p>
            <a:pPr lvl="0" eaLnBrk="0" fontAlgn="base" hangingPunct="0">
              <a:spcBef>
                <a:spcPct val="0"/>
              </a:spcBef>
              <a:spcAft>
                <a:spcPct val="0"/>
              </a:spcAft>
            </a:pPr>
            <a:r>
              <a:rPr lang="en-US" altLang="en-US" sz="1170" kern="0" spc="-80" dirty="0">
                <a:solidFill>
                  <a:schemeClr val="accent6"/>
                </a:solidFill>
              </a:rPr>
              <a:t>Perplexity – for text generation.</a:t>
            </a:r>
          </a:p>
          <a:p>
            <a:pPr lvl="0" eaLnBrk="0" fontAlgn="base" hangingPunct="0">
              <a:spcBef>
                <a:spcPct val="0"/>
              </a:spcBef>
              <a:spcAft>
                <a:spcPct val="0"/>
              </a:spcAft>
            </a:pPr>
            <a:r>
              <a:rPr lang="en-US" altLang="en-US" sz="1170" kern="0" spc="-80" dirty="0">
                <a:solidFill>
                  <a:schemeClr val="accent6"/>
                </a:solidFill>
              </a:rPr>
              <a:t>FID (Fréchet Inception Distance) – for image realism.</a:t>
            </a:r>
          </a:p>
          <a:p>
            <a:pPr lvl="0" eaLnBrk="0" fontAlgn="base" hangingPunct="0">
              <a:spcBef>
                <a:spcPct val="0"/>
              </a:spcBef>
              <a:spcAft>
                <a:spcPct val="0"/>
              </a:spcAft>
            </a:pPr>
            <a:r>
              <a:rPr lang="en-US" altLang="en-US" sz="1170" kern="0" spc="-80" dirty="0">
                <a:solidFill>
                  <a:schemeClr val="accent6"/>
                </a:solidFill>
              </a:rPr>
              <a:t>BLEU / ROUGE / METEOR – for text similarity.</a:t>
            </a:r>
          </a:p>
          <a:p>
            <a:pPr lvl="0" eaLnBrk="0" fontAlgn="base" hangingPunct="0">
              <a:spcBef>
                <a:spcPct val="0"/>
              </a:spcBef>
              <a:spcAft>
                <a:spcPct val="0"/>
              </a:spcAft>
            </a:pPr>
            <a:r>
              <a:rPr lang="en-US" altLang="en-US" sz="1170" kern="0" spc="-80" dirty="0">
                <a:solidFill>
                  <a:schemeClr val="accent6"/>
                </a:solidFill>
              </a:rPr>
              <a:t>CLIP score – for text-image alignment.</a:t>
            </a:r>
          </a:p>
          <a:p>
            <a:pPr lvl="0" eaLnBrk="0" fontAlgn="base" hangingPunct="0">
              <a:spcBef>
                <a:spcPct val="0"/>
              </a:spcBef>
              <a:spcAft>
                <a:spcPct val="0"/>
              </a:spcAft>
            </a:pPr>
            <a:r>
              <a:rPr lang="en-US" altLang="en-US" sz="1170" kern="0" spc="-80" dirty="0">
                <a:solidFill>
                  <a:schemeClr val="accent2"/>
                </a:solidFill>
              </a:rPr>
              <a:t>Qualitative</a:t>
            </a:r>
          </a:p>
          <a:p>
            <a:pPr lvl="0" eaLnBrk="0" fontAlgn="base" hangingPunct="0">
              <a:spcBef>
                <a:spcPct val="0"/>
              </a:spcBef>
              <a:spcAft>
                <a:spcPct val="0"/>
              </a:spcAft>
            </a:pPr>
            <a:r>
              <a:rPr lang="en-US" altLang="en-US" sz="1170" kern="0" spc="-80" dirty="0">
                <a:solidFill>
                  <a:schemeClr val="accent2"/>
                </a:solidFill>
              </a:rPr>
              <a:t>Human evaluations: </a:t>
            </a:r>
            <a:r>
              <a:rPr lang="en-US" altLang="en-US" sz="1170" kern="0" spc="-80" dirty="0">
                <a:solidFill>
                  <a:schemeClr val="accent6"/>
                </a:solidFill>
              </a:rPr>
              <a:t>realism, coherence, creativity, factuality.</a:t>
            </a:r>
          </a:p>
          <a:p>
            <a:pPr lvl="0" eaLnBrk="0" fontAlgn="base" hangingPunct="0">
              <a:spcBef>
                <a:spcPct val="0"/>
              </a:spcBef>
              <a:spcAft>
                <a:spcPct val="0"/>
              </a:spcAft>
            </a:pPr>
            <a:r>
              <a:rPr lang="en-US" altLang="en-US" sz="1170" kern="0" spc="-80" dirty="0">
                <a:solidFill>
                  <a:schemeClr val="accent2"/>
                </a:solidFill>
              </a:rPr>
              <a:t>🤖 10. Alignment, Ethics &amp; Safety</a:t>
            </a:r>
          </a:p>
          <a:p>
            <a:pPr lvl="0" eaLnBrk="0" fontAlgn="base" hangingPunct="0">
              <a:spcBef>
                <a:spcPct val="0"/>
              </a:spcBef>
              <a:spcAft>
                <a:spcPct val="0"/>
              </a:spcAft>
            </a:pPr>
            <a:r>
              <a:rPr lang="en-US" altLang="en-US" sz="1170" kern="0" spc="-80" dirty="0">
                <a:solidFill>
                  <a:schemeClr val="accent2"/>
                </a:solidFill>
              </a:rPr>
              <a:t>10.1 Key Risks</a:t>
            </a:r>
          </a:p>
          <a:p>
            <a:pPr lvl="0" eaLnBrk="0" fontAlgn="base" hangingPunct="0">
              <a:spcBef>
                <a:spcPct val="0"/>
              </a:spcBef>
              <a:spcAft>
                <a:spcPct val="0"/>
              </a:spcAft>
            </a:pPr>
            <a:r>
              <a:rPr lang="en-US" altLang="en-US" sz="1170" kern="0" spc="-80" dirty="0">
                <a:solidFill>
                  <a:schemeClr val="accent6"/>
                </a:solidFill>
              </a:rPr>
              <a:t>Hallucination – plausible but false outputs.</a:t>
            </a:r>
          </a:p>
          <a:p>
            <a:pPr lvl="0" eaLnBrk="0" fontAlgn="base" hangingPunct="0">
              <a:spcBef>
                <a:spcPct val="0"/>
              </a:spcBef>
              <a:spcAft>
                <a:spcPct val="0"/>
              </a:spcAft>
            </a:pPr>
            <a:r>
              <a:rPr lang="en-US" altLang="en-US" sz="1170" kern="0" spc="-80" dirty="0">
                <a:solidFill>
                  <a:schemeClr val="accent6"/>
                </a:solidFill>
              </a:rPr>
              <a:t>Bias &amp; Fairness – reproduction of social or cultural bias.</a:t>
            </a:r>
          </a:p>
          <a:p>
            <a:pPr lvl="0" eaLnBrk="0" fontAlgn="base" hangingPunct="0">
              <a:spcBef>
                <a:spcPct val="0"/>
              </a:spcBef>
              <a:spcAft>
                <a:spcPct val="0"/>
              </a:spcAft>
            </a:pPr>
            <a:r>
              <a:rPr lang="en-US" altLang="en-US" sz="1170" kern="0" spc="-80" dirty="0">
                <a:solidFill>
                  <a:schemeClr val="accent6"/>
                </a:solidFill>
              </a:rPr>
              <a:t>Deepfakes &amp; misinformation</a:t>
            </a:r>
          </a:p>
          <a:p>
            <a:pPr lvl="0" eaLnBrk="0" fontAlgn="base" hangingPunct="0">
              <a:spcBef>
                <a:spcPct val="0"/>
              </a:spcBef>
              <a:spcAft>
                <a:spcPct val="0"/>
              </a:spcAft>
            </a:pPr>
            <a:r>
              <a:rPr lang="en-US" altLang="en-US" sz="1170" kern="0" spc="-80" dirty="0">
                <a:solidFill>
                  <a:schemeClr val="accent6"/>
                </a:solidFill>
              </a:rPr>
              <a:t>Copyright and data privacy issues</a:t>
            </a:r>
          </a:p>
          <a:p>
            <a:pPr lvl="0" eaLnBrk="0" fontAlgn="base" hangingPunct="0">
              <a:spcBef>
                <a:spcPct val="0"/>
              </a:spcBef>
              <a:spcAft>
                <a:spcPct val="0"/>
              </a:spcAft>
            </a:pPr>
            <a:r>
              <a:rPr lang="en-US" altLang="en-US" sz="1170" kern="0" spc="-80" dirty="0">
                <a:solidFill>
                  <a:schemeClr val="accent6"/>
                </a:solidFill>
              </a:rPr>
              <a:t>Environmental impact (training energy cost)</a:t>
            </a:r>
          </a:p>
          <a:p>
            <a:pPr lvl="0" eaLnBrk="0" fontAlgn="base" hangingPunct="0">
              <a:spcBef>
                <a:spcPct val="0"/>
              </a:spcBef>
              <a:spcAft>
                <a:spcPct val="0"/>
              </a:spcAft>
            </a:pPr>
            <a:r>
              <a:rPr lang="en-US" altLang="en-US" sz="1170" kern="0" spc="-80" dirty="0">
                <a:solidFill>
                  <a:schemeClr val="accent2"/>
                </a:solidFill>
              </a:rPr>
              <a:t>10.2 Alignment Techniques</a:t>
            </a:r>
          </a:p>
          <a:p>
            <a:pPr lvl="0" eaLnBrk="0" fontAlgn="base" hangingPunct="0">
              <a:spcBef>
                <a:spcPct val="0"/>
              </a:spcBef>
              <a:spcAft>
                <a:spcPct val="0"/>
              </a:spcAft>
            </a:pPr>
            <a:r>
              <a:rPr lang="en-US" altLang="en-US" sz="1170" kern="0" spc="-80" dirty="0">
                <a:solidFill>
                  <a:schemeClr val="accent6"/>
                </a:solidFill>
              </a:rPr>
              <a:t>RLHF (Reinforcement Learning from Human Feedback)</a:t>
            </a:r>
          </a:p>
          <a:p>
            <a:pPr lvl="0" eaLnBrk="0" fontAlgn="base" hangingPunct="0">
              <a:spcBef>
                <a:spcPct val="0"/>
              </a:spcBef>
              <a:spcAft>
                <a:spcPct val="0"/>
              </a:spcAft>
            </a:pPr>
            <a:r>
              <a:rPr lang="en-US" altLang="en-US" sz="1170" kern="0" spc="-80" dirty="0">
                <a:solidFill>
                  <a:schemeClr val="accent6"/>
                </a:solidFill>
              </a:rPr>
              <a:t>Constitutional AI (rule-based self-alignment)</a:t>
            </a:r>
          </a:p>
          <a:p>
            <a:pPr lvl="0" eaLnBrk="0" fontAlgn="base" hangingPunct="0">
              <a:spcBef>
                <a:spcPct val="0"/>
              </a:spcBef>
              <a:spcAft>
                <a:spcPct val="0"/>
              </a:spcAft>
            </a:pPr>
            <a:r>
              <a:rPr lang="en-US" altLang="en-US" sz="1170" kern="0" spc="-80" dirty="0">
                <a:solidFill>
                  <a:schemeClr val="accent6"/>
                </a:solidFill>
              </a:rPr>
              <a:t>RLAIF (AI Feedback)</a:t>
            </a:r>
          </a:p>
          <a:p>
            <a:pPr lvl="0" eaLnBrk="0" fontAlgn="base" hangingPunct="0">
              <a:spcBef>
                <a:spcPct val="0"/>
              </a:spcBef>
              <a:spcAft>
                <a:spcPct val="0"/>
              </a:spcAft>
            </a:pPr>
            <a:r>
              <a:rPr lang="en-US" altLang="en-US" sz="1170" kern="0" spc="-80" dirty="0">
                <a:solidFill>
                  <a:schemeClr val="accent6"/>
                </a:solidFill>
              </a:rPr>
              <a:t>Red-teaming and safety fine-tuning</a:t>
            </a:r>
          </a:p>
          <a:p>
            <a:pPr lvl="0" eaLnBrk="0" fontAlgn="base" hangingPunct="0">
              <a:spcBef>
                <a:spcPct val="0"/>
              </a:spcBef>
              <a:spcAft>
                <a:spcPct val="0"/>
              </a:spcAft>
            </a:pPr>
            <a:r>
              <a:rPr lang="en-US" altLang="en-US" sz="1170" kern="0" spc="-80" dirty="0">
                <a:solidFill>
                  <a:schemeClr val="accent2"/>
                </a:solidFill>
              </a:rPr>
              <a:t>🚀 11. Applications by Sector</a:t>
            </a:r>
          </a:p>
          <a:p>
            <a:pPr lvl="0" eaLnBrk="0" fontAlgn="base" hangingPunct="0">
              <a:spcBef>
                <a:spcPct val="0"/>
              </a:spcBef>
              <a:spcAft>
                <a:spcPct val="0"/>
              </a:spcAft>
            </a:pPr>
            <a:r>
              <a:rPr lang="en-US" altLang="en-US" sz="1170" kern="0" spc="-80" dirty="0">
                <a:solidFill>
                  <a:schemeClr val="accent2"/>
                </a:solidFill>
              </a:rPr>
              <a:t>Sector	       GenAI Use Cases</a:t>
            </a:r>
          </a:p>
          <a:p>
            <a:pPr lvl="0" eaLnBrk="0" fontAlgn="base" hangingPunct="0">
              <a:spcBef>
                <a:spcPct val="0"/>
              </a:spcBef>
              <a:spcAft>
                <a:spcPct val="0"/>
              </a:spcAft>
            </a:pPr>
            <a:r>
              <a:rPr lang="en-US" altLang="en-US" sz="1170" kern="0" spc="-80" dirty="0">
                <a:solidFill>
                  <a:schemeClr val="accent6"/>
                </a:solidFill>
              </a:rPr>
              <a:t>Software &amp; IT	       Code generation, documentation</a:t>
            </a:r>
          </a:p>
          <a:p>
            <a:pPr lvl="0" eaLnBrk="0" fontAlgn="base" hangingPunct="0">
              <a:spcBef>
                <a:spcPct val="0"/>
              </a:spcBef>
              <a:spcAft>
                <a:spcPct val="0"/>
              </a:spcAft>
            </a:pPr>
            <a:r>
              <a:rPr lang="en-US" altLang="en-US" sz="1170" kern="0" spc="-80" dirty="0">
                <a:solidFill>
                  <a:schemeClr val="accent6"/>
                </a:solidFill>
              </a:rPr>
              <a:t>Healthcare	       Drug discovery, synthetic data</a:t>
            </a:r>
          </a:p>
          <a:p>
            <a:pPr lvl="0" eaLnBrk="0" fontAlgn="base" hangingPunct="0">
              <a:spcBef>
                <a:spcPct val="0"/>
              </a:spcBef>
              <a:spcAft>
                <a:spcPct val="0"/>
              </a:spcAft>
            </a:pPr>
            <a:r>
              <a:rPr lang="en-US" altLang="en-US" sz="1170" kern="0" spc="-80" dirty="0">
                <a:solidFill>
                  <a:schemeClr val="accent6"/>
                </a:solidFill>
              </a:rPr>
              <a:t>Finance	       Report generation, scenario simulation</a:t>
            </a:r>
          </a:p>
          <a:p>
            <a:pPr lvl="0" eaLnBrk="0" fontAlgn="base" hangingPunct="0">
              <a:spcBef>
                <a:spcPct val="0"/>
              </a:spcBef>
              <a:spcAft>
                <a:spcPct val="0"/>
              </a:spcAft>
            </a:pPr>
            <a:r>
              <a:rPr lang="en-US" altLang="en-US" sz="1170" kern="0" spc="-80" dirty="0">
                <a:solidFill>
                  <a:schemeClr val="accent6"/>
                </a:solidFill>
              </a:rPr>
              <a:t>Media &amp; Design   Art, advertising, video content</a:t>
            </a:r>
          </a:p>
        </p:txBody>
      </p:sp>
      <p:sp>
        <p:nvSpPr>
          <p:cNvPr id="6" name="Rectangle 4">
            <a:extLst>
              <a:ext uri="{FF2B5EF4-FFF2-40B4-BE49-F238E27FC236}">
                <a16:creationId xmlns:a16="http://schemas.microsoft.com/office/drawing/2014/main" id="{A6116CA2-766B-5F92-6A88-712B1AF3369E}"/>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618513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484D-E899-111D-46DC-8CF97A4D70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8CFA81-2AA5-1AEE-D242-DB3EA9AD822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24A6972-58D9-53EC-45AF-464AC1DE4758}"/>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673FAD6D-D74F-E8CB-C172-218E45BA04EF}"/>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1EDC880-E230-1411-6278-09C81EBFF3E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896D64CF-B195-314A-F15D-2132DB9F497A}"/>
              </a:ext>
            </a:extLst>
          </p:cNvPr>
          <p:cNvSpPr txBox="1">
            <a:spLocks/>
          </p:cNvSpPr>
          <p:nvPr/>
        </p:nvSpPr>
        <p:spPr>
          <a:xfrm>
            <a:off x="41725" y="1290320"/>
            <a:ext cx="8624937" cy="46812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eaLnBrk="0" fontAlgn="base" hangingPunct="0">
              <a:spcBef>
                <a:spcPct val="0"/>
              </a:spcBef>
              <a:spcAft>
                <a:spcPct val="0"/>
              </a:spcAft>
            </a:pPr>
            <a:r>
              <a:rPr lang="en-US" altLang="en-US" sz="1170" kern="0" spc="-80" dirty="0">
                <a:solidFill>
                  <a:schemeClr val="accent2"/>
                </a:solidFill>
              </a:rPr>
              <a:t>Sector	                        GenAI Use Cases</a:t>
            </a:r>
          </a:p>
          <a:p>
            <a:pPr lvl="0" eaLnBrk="0" fontAlgn="base" hangingPunct="0">
              <a:spcBef>
                <a:spcPct val="0"/>
              </a:spcBef>
              <a:spcAft>
                <a:spcPct val="0"/>
              </a:spcAft>
            </a:pPr>
            <a:r>
              <a:rPr lang="en-US" altLang="en-US" sz="1170" kern="0" spc="-80" dirty="0">
                <a:solidFill>
                  <a:schemeClr val="accent6"/>
                </a:solidFill>
              </a:rPr>
              <a:t>Education	                        Tutoring, adaptive learning</a:t>
            </a:r>
          </a:p>
          <a:p>
            <a:pPr lvl="0" eaLnBrk="0" fontAlgn="base" hangingPunct="0">
              <a:spcBef>
                <a:spcPct val="0"/>
              </a:spcBef>
              <a:spcAft>
                <a:spcPct val="0"/>
              </a:spcAft>
            </a:pPr>
            <a:r>
              <a:rPr lang="en-US" altLang="en-US" sz="1170" kern="0" spc="-80" dirty="0">
                <a:solidFill>
                  <a:schemeClr val="accent6"/>
                </a:solidFill>
              </a:rPr>
              <a:t>Manufacturing	CAD design, defect simulation</a:t>
            </a:r>
          </a:p>
          <a:p>
            <a:pPr lvl="0" eaLnBrk="0" fontAlgn="base" hangingPunct="0">
              <a:spcBef>
                <a:spcPct val="0"/>
              </a:spcBef>
              <a:spcAft>
                <a:spcPct val="0"/>
              </a:spcAft>
            </a:pPr>
            <a:r>
              <a:rPr lang="en-US" altLang="en-US" sz="1170" kern="0" spc="-80" dirty="0">
                <a:solidFill>
                  <a:schemeClr val="accent6"/>
                </a:solidFill>
              </a:rPr>
              <a:t>Legal &amp; Compliance	Contract summarization, policy drafting</a:t>
            </a:r>
          </a:p>
          <a:p>
            <a:pPr lvl="0" eaLnBrk="0" fontAlgn="base" hangingPunct="0">
              <a:spcBef>
                <a:spcPct val="0"/>
              </a:spcBef>
              <a:spcAft>
                <a:spcPct val="0"/>
              </a:spcAft>
            </a:pPr>
            <a:r>
              <a:rPr lang="en-US" altLang="en-US" sz="1170" kern="0" spc="-80" dirty="0">
                <a:solidFill>
                  <a:schemeClr val="accent2"/>
                </a:solidFill>
              </a:rPr>
              <a:t>🧩 12. Advanced and Emerging Concepts</a:t>
            </a:r>
          </a:p>
          <a:p>
            <a:pPr lvl="0" eaLnBrk="0" fontAlgn="base" hangingPunct="0">
              <a:spcBef>
                <a:spcPct val="0"/>
              </a:spcBef>
              <a:spcAft>
                <a:spcPct val="0"/>
              </a:spcAft>
            </a:pPr>
            <a:r>
              <a:rPr lang="en-US" altLang="en-US" sz="1170" kern="0" spc="-80" dirty="0">
                <a:solidFill>
                  <a:schemeClr val="accent2"/>
                </a:solidFill>
              </a:rPr>
              <a:t>12.1 Multimodal Fusion</a:t>
            </a:r>
          </a:p>
          <a:p>
            <a:pPr lvl="0" eaLnBrk="0" fontAlgn="base" hangingPunct="0">
              <a:spcBef>
                <a:spcPct val="0"/>
              </a:spcBef>
              <a:spcAft>
                <a:spcPct val="0"/>
              </a:spcAft>
            </a:pPr>
            <a:r>
              <a:rPr lang="en-US" altLang="en-US" sz="1170" kern="0" spc="-80" dirty="0">
                <a:solidFill>
                  <a:schemeClr val="accent6"/>
                </a:solidFill>
              </a:rPr>
              <a:t>Combine different sensory inputs (text + vision + sound) into a single model.</a:t>
            </a:r>
          </a:p>
          <a:p>
            <a:pPr lvl="0" eaLnBrk="0" fontAlgn="base" hangingPunct="0">
              <a:spcBef>
                <a:spcPct val="0"/>
              </a:spcBef>
              <a:spcAft>
                <a:spcPct val="0"/>
              </a:spcAft>
            </a:pPr>
            <a:r>
              <a:rPr lang="en-US" altLang="en-US" sz="1170" kern="0" spc="-80" dirty="0">
                <a:solidFill>
                  <a:schemeClr val="accent2"/>
                </a:solidFill>
              </a:rPr>
              <a:t>12.2 Agentic Systems</a:t>
            </a:r>
          </a:p>
          <a:p>
            <a:pPr lvl="0" eaLnBrk="0" fontAlgn="base" hangingPunct="0">
              <a:spcBef>
                <a:spcPct val="0"/>
              </a:spcBef>
              <a:spcAft>
                <a:spcPct val="0"/>
              </a:spcAft>
            </a:pPr>
            <a:r>
              <a:rPr lang="en-US" altLang="en-US" sz="1170" kern="0" spc="-80" dirty="0">
                <a:solidFill>
                  <a:schemeClr val="accent6"/>
                </a:solidFill>
              </a:rPr>
              <a:t>GenAI models that can plan, reason, and act autonomously:</a:t>
            </a:r>
          </a:p>
          <a:p>
            <a:pPr lvl="0" eaLnBrk="0" fontAlgn="base" hangingPunct="0">
              <a:spcBef>
                <a:spcPct val="0"/>
              </a:spcBef>
              <a:spcAft>
                <a:spcPct val="0"/>
              </a:spcAft>
            </a:pPr>
            <a:r>
              <a:rPr lang="en-US" altLang="en-US" sz="1170" kern="0" spc="-80" dirty="0">
                <a:solidFill>
                  <a:schemeClr val="accent6"/>
                </a:solidFill>
              </a:rPr>
              <a:t>Tool use (search, code execution)</a:t>
            </a:r>
          </a:p>
          <a:p>
            <a:pPr lvl="0" eaLnBrk="0" fontAlgn="base" hangingPunct="0">
              <a:spcBef>
                <a:spcPct val="0"/>
              </a:spcBef>
              <a:spcAft>
                <a:spcPct val="0"/>
              </a:spcAft>
            </a:pPr>
            <a:r>
              <a:rPr lang="en-US" altLang="en-US" sz="1170" kern="0" spc="-80" dirty="0">
                <a:solidFill>
                  <a:schemeClr val="accent6"/>
                </a:solidFill>
              </a:rPr>
              <a:t>Memory &amp; state tracking</a:t>
            </a:r>
          </a:p>
          <a:p>
            <a:pPr lvl="0" eaLnBrk="0" fontAlgn="base" hangingPunct="0">
              <a:spcBef>
                <a:spcPct val="0"/>
              </a:spcBef>
              <a:spcAft>
                <a:spcPct val="0"/>
              </a:spcAft>
            </a:pPr>
            <a:r>
              <a:rPr lang="en-US" altLang="en-US" sz="1170" kern="0" spc="-80" dirty="0">
                <a:solidFill>
                  <a:schemeClr val="accent6"/>
                </a:solidFill>
              </a:rPr>
              <a:t>Goal-directed behavior</a:t>
            </a:r>
          </a:p>
          <a:p>
            <a:pPr lvl="0" eaLnBrk="0" fontAlgn="base" hangingPunct="0">
              <a:spcBef>
                <a:spcPct val="0"/>
              </a:spcBef>
              <a:spcAft>
                <a:spcPct val="0"/>
              </a:spcAft>
            </a:pPr>
            <a:r>
              <a:rPr lang="en-US" altLang="en-US" sz="1170" kern="0" spc="-80" dirty="0">
                <a:solidFill>
                  <a:schemeClr val="accent2"/>
                </a:solidFill>
              </a:rPr>
              <a:t>12.3 Personalization</a:t>
            </a:r>
          </a:p>
          <a:p>
            <a:pPr lvl="0" eaLnBrk="0" fontAlgn="base" hangingPunct="0">
              <a:spcBef>
                <a:spcPct val="0"/>
              </a:spcBef>
              <a:spcAft>
                <a:spcPct val="0"/>
              </a:spcAft>
            </a:pPr>
            <a:r>
              <a:rPr lang="en-US" altLang="en-US" sz="1170" kern="0" spc="-80" dirty="0">
                <a:solidFill>
                  <a:schemeClr val="accent6"/>
                </a:solidFill>
              </a:rPr>
              <a:t>Fine-tuning on user-specific data to create personalized AI assistants.</a:t>
            </a:r>
          </a:p>
          <a:p>
            <a:pPr lvl="0" eaLnBrk="0" fontAlgn="base" hangingPunct="0">
              <a:spcBef>
                <a:spcPct val="0"/>
              </a:spcBef>
              <a:spcAft>
                <a:spcPct val="0"/>
              </a:spcAft>
            </a:pPr>
            <a:r>
              <a:rPr lang="en-US" altLang="en-US" sz="1170" kern="0" spc="-80" dirty="0">
                <a:solidFill>
                  <a:schemeClr val="accent2"/>
                </a:solidFill>
              </a:rPr>
              <a:t>12.4 Efficient Fine-tuning</a:t>
            </a:r>
          </a:p>
          <a:p>
            <a:pPr lvl="0" eaLnBrk="0" fontAlgn="base" hangingPunct="0">
              <a:spcBef>
                <a:spcPct val="0"/>
              </a:spcBef>
              <a:spcAft>
                <a:spcPct val="0"/>
              </a:spcAft>
            </a:pPr>
            <a:r>
              <a:rPr lang="en-US" altLang="en-US" sz="1170" kern="0" spc="-80" dirty="0" err="1">
                <a:solidFill>
                  <a:schemeClr val="accent6"/>
                </a:solidFill>
              </a:rPr>
              <a:t>LoRA</a:t>
            </a:r>
            <a:r>
              <a:rPr lang="en-US" altLang="en-US" sz="1170" kern="0" spc="-80" dirty="0">
                <a:solidFill>
                  <a:schemeClr val="accent6"/>
                </a:solidFill>
              </a:rPr>
              <a:t> (Low-Rank Adaptation)</a:t>
            </a:r>
          </a:p>
          <a:p>
            <a:pPr lvl="0" eaLnBrk="0" fontAlgn="base" hangingPunct="0">
              <a:spcBef>
                <a:spcPct val="0"/>
              </a:spcBef>
              <a:spcAft>
                <a:spcPct val="0"/>
              </a:spcAft>
            </a:pPr>
            <a:r>
              <a:rPr lang="en-US" altLang="en-US" sz="1170" kern="0" spc="-80" dirty="0">
                <a:solidFill>
                  <a:schemeClr val="accent6"/>
                </a:solidFill>
              </a:rPr>
              <a:t>Adapters</a:t>
            </a:r>
          </a:p>
          <a:p>
            <a:pPr lvl="0" eaLnBrk="0" fontAlgn="base" hangingPunct="0">
              <a:spcBef>
                <a:spcPct val="0"/>
              </a:spcBef>
              <a:spcAft>
                <a:spcPct val="0"/>
              </a:spcAft>
            </a:pPr>
            <a:r>
              <a:rPr lang="en-US" altLang="en-US" sz="1170" kern="0" spc="-80" dirty="0">
                <a:solidFill>
                  <a:schemeClr val="accent6"/>
                </a:solidFill>
              </a:rPr>
              <a:t>Prompt-based tuning</a:t>
            </a:r>
          </a:p>
          <a:p>
            <a:pPr lvl="0" eaLnBrk="0" fontAlgn="base" hangingPunct="0">
              <a:spcBef>
                <a:spcPct val="0"/>
              </a:spcBef>
              <a:spcAft>
                <a:spcPct val="0"/>
              </a:spcAft>
            </a:pPr>
            <a:r>
              <a:rPr lang="en-US" altLang="en-US" sz="1170" kern="0" spc="-80" dirty="0">
                <a:solidFill>
                  <a:schemeClr val="accent6"/>
                </a:solidFill>
              </a:rPr>
              <a:t>Reduce compute while adapting models.</a:t>
            </a:r>
          </a:p>
          <a:p>
            <a:pPr lvl="0" eaLnBrk="0" fontAlgn="base" hangingPunct="0">
              <a:spcBef>
                <a:spcPct val="0"/>
              </a:spcBef>
              <a:spcAft>
                <a:spcPct val="0"/>
              </a:spcAft>
            </a:pPr>
            <a:r>
              <a:rPr lang="en-US" altLang="en-US" sz="1170" kern="0" spc="-80" dirty="0">
                <a:solidFill>
                  <a:schemeClr val="accent2"/>
                </a:solidFill>
              </a:rPr>
              <a:t>12.5 Synthetic Data Generation</a:t>
            </a:r>
          </a:p>
          <a:p>
            <a:pPr lvl="0" eaLnBrk="0" fontAlgn="base" hangingPunct="0">
              <a:spcBef>
                <a:spcPct val="0"/>
              </a:spcBef>
              <a:spcAft>
                <a:spcPct val="0"/>
              </a:spcAft>
            </a:pPr>
            <a:r>
              <a:rPr lang="en-US" altLang="en-US" sz="1170" kern="0" spc="-80" dirty="0">
                <a:solidFill>
                  <a:schemeClr val="accent6"/>
                </a:solidFill>
              </a:rPr>
              <a:t>Generate artificial data for training other models — essential for privacy and rare cases.</a:t>
            </a:r>
          </a:p>
          <a:p>
            <a:pPr lvl="0" eaLnBrk="0" fontAlgn="base" hangingPunct="0">
              <a:spcBef>
                <a:spcPct val="0"/>
              </a:spcBef>
              <a:spcAft>
                <a:spcPct val="0"/>
              </a:spcAft>
            </a:pPr>
            <a:r>
              <a:rPr lang="en-US" altLang="en-US" sz="1170" kern="0" spc="-80" dirty="0">
                <a:solidFill>
                  <a:schemeClr val="accent2"/>
                </a:solidFill>
              </a:rPr>
              <a:t>📈 13. GenAI System Architecture (High-level)</a:t>
            </a:r>
          </a:p>
          <a:p>
            <a:pPr lvl="0" eaLnBrk="0" fontAlgn="base" hangingPunct="0">
              <a:spcBef>
                <a:spcPct val="0"/>
              </a:spcBef>
              <a:spcAft>
                <a:spcPct val="0"/>
              </a:spcAft>
            </a:pPr>
            <a:r>
              <a:rPr lang="en-US" altLang="en-US" sz="1170" kern="0" spc="-80" dirty="0">
                <a:solidFill>
                  <a:schemeClr val="accent6"/>
                </a:solidFill>
              </a:rPr>
              <a:t>Typical stack:</a:t>
            </a:r>
          </a:p>
          <a:p>
            <a:pPr lvl="0" eaLnBrk="0" fontAlgn="base" hangingPunct="0">
              <a:spcBef>
                <a:spcPct val="0"/>
              </a:spcBef>
              <a:spcAft>
                <a:spcPct val="0"/>
              </a:spcAft>
            </a:pPr>
            <a:r>
              <a:rPr lang="en-US" altLang="en-US" sz="1170" kern="0" spc="-80" dirty="0">
                <a:solidFill>
                  <a:schemeClr val="accent6"/>
                </a:solidFill>
              </a:rPr>
              <a:t>Data layer → collection + preprocessing + storage</a:t>
            </a:r>
          </a:p>
          <a:p>
            <a:pPr lvl="0" eaLnBrk="0" fontAlgn="base" hangingPunct="0">
              <a:spcBef>
                <a:spcPct val="0"/>
              </a:spcBef>
              <a:spcAft>
                <a:spcPct val="0"/>
              </a:spcAft>
            </a:pPr>
            <a:r>
              <a:rPr lang="en-US" altLang="en-US" sz="1170" kern="0" spc="-80" dirty="0">
                <a:solidFill>
                  <a:schemeClr val="accent6"/>
                </a:solidFill>
              </a:rPr>
              <a:t>Model layer → LLM / Diffusion / GAN</a:t>
            </a:r>
          </a:p>
          <a:p>
            <a:pPr lvl="0" eaLnBrk="0" fontAlgn="base" hangingPunct="0">
              <a:spcBef>
                <a:spcPct val="0"/>
              </a:spcBef>
              <a:spcAft>
                <a:spcPct val="0"/>
              </a:spcAft>
            </a:pPr>
            <a:r>
              <a:rPr lang="en-US" altLang="en-US" sz="1170" kern="0" spc="-80" dirty="0">
                <a:solidFill>
                  <a:schemeClr val="accent6"/>
                </a:solidFill>
              </a:rPr>
              <a:t>Alignment layer → RLHF, safety filters</a:t>
            </a:r>
          </a:p>
        </p:txBody>
      </p:sp>
      <p:sp>
        <p:nvSpPr>
          <p:cNvPr id="6" name="Rectangle 4">
            <a:extLst>
              <a:ext uri="{FF2B5EF4-FFF2-40B4-BE49-F238E27FC236}">
                <a16:creationId xmlns:a16="http://schemas.microsoft.com/office/drawing/2014/main" id="{EEB05FCF-FF46-9E5B-94C6-B247B0DB3BE5}"/>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77891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0F6AA-C426-8F06-341D-A3EB4FA5E5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D3B1137-F4FE-0338-11FB-D4A1901E938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C4323914-5C00-D9CF-202C-3BAFDD19D5F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29CD1D7-EDFD-84F5-2776-C0DF031EFF8C}"/>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2629AD72-E638-154A-9E50-0CD96EBA792D}"/>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4634C167-33B3-D058-DB98-03C6C8291B03}"/>
              </a:ext>
            </a:extLst>
          </p:cNvPr>
          <p:cNvSpPr txBox="1">
            <a:spLocks/>
          </p:cNvSpPr>
          <p:nvPr/>
        </p:nvSpPr>
        <p:spPr>
          <a:xfrm>
            <a:off x="41725" y="1290320"/>
            <a:ext cx="8624937" cy="46812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eaLnBrk="0" fontAlgn="base" hangingPunct="0">
              <a:spcBef>
                <a:spcPct val="0"/>
              </a:spcBef>
              <a:spcAft>
                <a:spcPct val="0"/>
              </a:spcAft>
            </a:pPr>
            <a:r>
              <a:rPr lang="en-US" altLang="en-US" sz="1170" kern="0" spc="-80" dirty="0">
                <a:solidFill>
                  <a:schemeClr val="accent6"/>
                </a:solidFill>
              </a:rPr>
              <a:t>Retrieval &amp; Tool layer → RAG, API connectors</a:t>
            </a:r>
          </a:p>
          <a:p>
            <a:pPr lvl="0" eaLnBrk="0" fontAlgn="base" hangingPunct="0">
              <a:spcBef>
                <a:spcPct val="0"/>
              </a:spcBef>
              <a:spcAft>
                <a:spcPct val="0"/>
              </a:spcAft>
            </a:pPr>
            <a:r>
              <a:rPr lang="en-US" altLang="en-US" sz="1170" kern="0" spc="-80" dirty="0">
                <a:solidFill>
                  <a:schemeClr val="accent6"/>
                </a:solidFill>
              </a:rPr>
              <a:t>Application layer → chatbots, copilots, creative tools</a:t>
            </a:r>
          </a:p>
          <a:p>
            <a:pPr lvl="0" eaLnBrk="0" fontAlgn="base" hangingPunct="0">
              <a:spcBef>
                <a:spcPct val="0"/>
              </a:spcBef>
              <a:spcAft>
                <a:spcPct val="0"/>
              </a:spcAft>
            </a:pPr>
            <a:r>
              <a:rPr lang="en-US" altLang="en-US" sz="1170" kern="0" spc="-80" dirty="0">
                <a:solidFill>
                  <a:schemeClr val="accent6"/>
                </a:solidFill>
              </a:rPr>
              <a:t>Monitoring layer → safety, observability, drift detection</a:t>
            </a:r>
          </a:p>
          <a:p>
            <a:pPr lvl="0" eaLnBrk="0" fontAlgn="base" hangingPunct="0">
              <a:spcBef>
                <a:spcPct val="0"/>
              </a:spcBef>
              <a:spcAft>
                <a:spcPct val="0"/>
              </a:spcAft>
            </a:pPr>
            <a:r>
              <a:rPr lang="en-US" altLang="en-US" sz="1170" kern="0" spc="-80" dirty="0">
                <a:solidFill>
                  <a:schemeClr val="accent2"/>
                </a:solidFill>
              </a:rPr>
              <a:t>🌍 14. Industry Ecosystem</a:t>
            </a:r>
          </a:p>
          <a:p>
            <a:pPr lvl="0" eaLnBrk="0" fontAlgn="base" hangingPunct="0">
              <a:spcBef>
                <a:spcPct val="0"/>
              </a:spcBef>
              <a:spcAft>
                <a:spcPct val="0"/>
              </a:spcAft>
            </a:pPr>
            <a:r>
              <a:rPr lang="en-US" altLang="en-US" sz="1170" kern="0" spc="-80" dirty="0">
                <a:solidFill>
                  <a:schemeClr val="accent2"/>
                </a:solidFill>
              </a:rPr>
              <a:t>Category	                         Examples</a:t>
            </a:r>
          </a:p>
          <a:p>
            <a:pPr lvl="0" eaLnBrk="0" fontAlgn="base" hangingPunct="0">
              <a:spcBef>
                <a:spcPct val="0"/>
              </a:spcBef>
              <a:spcAft>
                <a:spcPct val="0"/>
              </a:spcAft>
            </a:pPr>
            <a:r>
              <a:rPr lang="en-US" altLang="en-US" sz="1170" kern="0" spc="-80" dirty="0">
                <a:solidFill>
                  <a:schemeClr val="accent6"/>
                </a:solidFill>
              </a:rPr>
              <a:t>Foundation Models	GPT, Claude, Gemini, </a:t>
            </a:r>
            <a:r>
              <a:rPr lang="en-US" altLang="en-US" sz="1170" kern="0" spc="-80" dirty="0" err="1">
                <a:solidFill>
                  <a:schemeClr val="accent6"/>
                </a:solidFill>
              </a:rPr>
              <a:t>LLaMA</a:t>
            </a:r>
            <a:r>
              <a:rPr lang="en-US" altLang="en-US" sz="1170" kern="0" spc="-80" dirty="0">
                <a:solidFill>
                  <a:schemeClr val="accent6"/>
                </a:solidFill>
              </a:rPr>
              <a:t>, Mistral</a:t>
            </a:r>
          </a:p>
          <a:p>
            <a:pPr lvl="0" eaLnBrk="0" fontAlgn="base" hangingPunct="0">
              <a:spcBef>
                <a:spcPct val="0"/>
              </a:spcBef>
              <a:spcAft>
                <a:spcPct val="0"/>
              </a:spcAft>
            </a:pPr>
            <a:r>
              <a:rPr lang="en-US" altLang="en-US" sz="1170" kern="0" spc="-80" dirty="0">
                <a:solidFill>
                  <a:schemeClr val="accent6"/>
                </a:solidFill>
              </a:rPr>
              <a:t>Image Models	DALL·E, Midjourney, Stable Diffusion</a:t>
            </a:r>
          </a:p>
          <a:p>
            <a:pPr lvl="0" eaLnBrk="0" fontAlgn="base" hangingPunct="0">
              <a:spcBef>
                <a:spcPct val="0"/>
              </a:spcBef>
              <a:spcAft>
                <a:spcPct val="0"/>
              </a:spcAft>
            </a:pPr>
            <a:r>
              <a:rPr lang="en-US" altLang="en-US" sz="1170" kern="0" spc="-80" dirty="0">
                <a:solidFill>
                  <a:schemeClr val="accent6"/>
                </a:solidFill>
              </a:rPr>
              <a:t>Video Models	                         Runway Gen-2, Sora</a:t>
            </a:r>
          </a:p>
          <a:p>
            <a:pPr lvl="0" eaLnBrk="0" fontAlgn="base" hangingPunct="0">
              <a:spcBef>
                <a:spcPct val="0"/>
              </a:spcBef>
              <a:spcAft>
                <a:spcPct val="0"/>
              </a:spcAft>
            </a:pPr>
            <a:r>
              <a:rPr lang="en-US" altLang="en-US" sz="1170" kern="0" spc="-80" dirty="0">
                <a:solidFill>
                  <a:schemeClr val="accent6"/>
                </a:solidFill>
              </a:rPr>
              <a:t>Audio Models	</a:t>
            </a:r>
            <a:r>
              <a:rPr lang="en-US" altLang="en-US" sz="1170" kern="0" spc="-80" dirty="0" err="1">
                <a:solidFill>
                  <a:schemeClr val="accent6"/>
                </a:solidFill>
              </a:rPr>
              <a:t>MusicGen</a:t>
            </a:r>
            <a:r>
              <a:rPr lang="en-US" altLang="en-US" sz="1170" kern="0" spc="-80" dirty="0">
                <a:solidFill>
                  <a:schemeClr val="accent6"/>
                </a:solidFill>
              </a:rPr>
              <a:t>, </a:t>
            </a:r>
            <a:r>
              <a:rPr lang="en-US" altLang="en-US" sz="1170" kern="0" spc="-80" dirty="0" err="1">
                <a:solidFill>
                  <a:schemeClr val="accent6"/>
                </a:solidFill>
              </a:rPr>
              <a:t>AudioLM</a:t>
            </a:r>
            <a:endParaRPr lang="en-US" altLang="en-US" sz="1170" kern="0" spc="-80" dirty="0">
              <a:solidFill>
                <a:schemeClr val="accent6"/>
              </a:solidFill>
            </a:endParaRPr>
          </a:p>
          <a:p>
            <a:pPr lvl="0" eaLnBrk="0" fontAlgn="base" hangingPunct="0">
              <a:spcBef>
                <a:spcPct val="0"/>
              </a:spcBef>
              <a:spcAft>
                <a:spcPct val="0"/>
              </a:spcAft>
            </a:pPr>
            <a:r>
              <a:rPr lang="en-US" altLang="en-US" sz="1170" kern="0" spc="-80" dirty="0">
                <a:solidFill>
                  <a:schemeClr val="accent6"/>
                </a:solidFill>
              </a:rPr>
              <a:t>Open-source Ecosystem	Hugging Face, Stability AI, </a:t>
            </a:r>
            <a:r>
              <a:rPr lang="en-US" altLang="en-US" sz="1170" kern="0" spc="-80" dirty="0" err="1">
                <a:solidFill>
                  <a:schemeClr val="accent6"/>
                </a:solidFill>
              </a:rPr>
              <a:t>EleutherAI</a:t>
            </a:r>
            <a:endParaRPr lang="en-US" altLang="en-US" sz="1170" kern="0" spc="-80" dirty="0">
              <a:solidFill>
                <a:schemeClr val="accent6"/>
              </a:solidFill>
            </a:endParaRPr>
          </a:p>
          <a:p>
            <a:pPr lvl="0" eaLnBrk="0" fontAlgn="base" hangingPunct="0">
              <a:spcBef>
                <a:spcPct val="0"/>
              </a:spcBef>
              <a:spcAft>
                <a:spcPct val="0"/>
              </a:spcAft>
            </a:pPr>
            <a:r>
              <a:rPr lang="en-US" altLang="en-US" sz="1170" kern="0" spc="-80" dirty="0">
                <a:solidFill>
                  <a:schemeClr val="accent6"/>
                </a:solidFill>
              </a:rPr>
              <a:t>Toolkits	                        </a:t>
            </a:r>
            <a:r>
              <a:rPr lang="en-US" altLang="en-US" sz="1170" kern="0" spc="-80" dirty="0" err="1">
                <a:solidFill>
                  <a:schemeClr val="accent6"/>
                </a:solidFill>
              </a:rPr>
              <a:t>LangChain</a:t>
            </a:r>
            <a:r>
              <a:rPr lang="en-US" altLang="en-US" sz="1170" kern="0" spc="-80" dirty="0">
                <a:solidFill>
                  <a:schemeClr val="accent6"/>
                </a:solidFill>
              </a:rPr>
              <a:t>, </a:t>
            </a:r>
            <a:r>
              <a:rPr lang="en-US" altLang="en-US" sz="1170" kern="0" spc="-80" dirty="0" err="1">
                <a:solidFill>
                  <a:schemeClr val="accent6"/>
                </a:solidFill>
              </a:rPr>
              <a:t>LlamaIndex</a:t>
            </a:r>
            <a:r>
              <a:rPr lang="en-US" altLang="en-US" sz="1170" kern="0" spc="-80" dirty="0">
                <a:solidFill>
                  <a:schemeClr val="accent6"/>
                </a:solidFill>
              </a:rPr>
              <a:t>, </a:t>
            </a:r>
            <a:r>
              <a:rPr lang="en-US" altLang="en-US" sz="1170" kern="0" spc="-80" dirty="0" err="1">
                <a:solidFill>
                  <a:schemeClr val="accent6"/>
                </a:solidFill>
              </a:rPr>
              <a:t>Weaviate</a:t>
            </a:r>
            <a:r>
              <a:rPr lang="en-US" altLang="en-US" sz="1170" kern="0" spc="-80" dirty="0">
                <a:solidFill>
                  <a:schemeClr val="accent6"/>
                </a:solidFill>
              </a:rPr>
              <a:t>, Pinecone</a:t>
            </a:r>
          </a:p>
          <a:p>
            <a:pPr lvl="0" eaLnBrk="0" fontAlgn="base" hangingPunct="0">
              <a:spcBef>
                <a:spcPct val="0"/>
              </a:spcBef>
              <a:spcAft>
                <a:spcPct val="0"/>
              </a:spcAft>
            </a:pPr>
            <a:r>
              <a:rPr lang="en-US" altLang="en-US" sz="1170" kern="0" spc="-80" dirty="0">
                <a:solidFill>
                  <a:schemeClr val="accent2"/>
                </a:solidFill>
              </a:rPr>
              <a:t>🔮 15. Future of GenAI</a:t>
            </a:r>
          </a:p>
          <a:p>
            <a:pPr lvl="0" eaLnBrk="0" fontAlgn="base" hangingPunct="0">
              <a:spcBef>
                <a:spcPct val="0"/>
              </a:spcBef>
              <a:spcAft>
                <a:spcPct val="0"/>
              </a:spcAft>
            </a:pPr>
            <a:r>
              <a:rPr lang="en-US" altLang="en-US" sz="1170" kern="0" spc="-80" dirty="0">
                <a:solidFill>
                  <a:schemeClr val="accent6"/>
                </a:solidFill>
              </a:rPr>
              <a:t>Truly multimodal agents (text + vision + action).</a:t>
            </a:r>
          </a:p>
          <a:p>
            <a:pPr lvl="0" eaLnBrk="0" fontAlgn="base" hangingPunct="0">
              <a:spcBef>
                <a:spcPct val="0"/>
              </a:spcBef>
              <a:spcAft>
                <a:spcPct val="0"/>
              </a:spcAft>
            </a:pPr>
            <a:r>
              <a:rPr lang="en-US" altLang="en-US" sz="1170" kern="0" spc="-80" dirty="0">
                <a:solidFill>
                  <a:schemeClr val="accent6"/>
                </a:solidFill>
              </a:rPr>
              <a:t>Self-improving AIs — feedback loops for continuous learning.</a:t>
            </a:r>
          </a:p>
          <a:p>
            <a:pPr lvl="0" eaLnBrk="0" fontAlgn="base" hangingPunct="0">
              <a:spcBef>
                <a:spcPct val="0"/>
              </a:spcBef>
              <a:spcAft>
                <a:spcPct val="0"/>
              </a:spcAft>
            </a:pPr>
            <a:r>
              <a:rPr lang="en-US" altLang="en-US" sz="1170" kern="0" spc="-80" dirty="0">
                <a:solidFill>
                  <a:schemeClr val="accent6"/>
                </a:solidFill>
              </a:rPr>
              <a:t>Model–tool symbiosis — AI reasoning + external computation.</a:t>
            </a:r>
          </a:p>
          <a:p>
            <a:pPr lvl="0" eaLnBrk="0" fontAlgn="base" hangingPunct="0">
              <a:spcBef>
                <a:spcPct val="0"/>
              </a:spcBef>
              <a:spcAft>
                <a:spcPct val="0"/>
              </a:spcAft>
            </a:pPr>
            <a:r>
              <a:rPr lang="en-US" altLang="en-US" sz="1170" kern="0" spc="-80" dirty="0">
                <a:solidFill>
                  <a:schemeClr val="accent6"/>
                </a:solidFill>
              </a:rPr>
              <a:t>Ethical &amp; legal frameworks for synthetic content.</a:t>
            </a:r>
          </a:p>
          <a:p>
            <a:pPr lvl="0" eaLnBrk="0" fontAlgn="base" hangingPunct="0">
              <a:spcBef>
                <a:spcPct val="0"/>
              </a:spcBef>
              <a:spcAft>
                <a:spcPct val="0"/>
              </a:spcAft>
            </a:pPr>
            <a:r>
              <a:rPr lang="en-US" altLang="en-US" sz="1170" kern="0" spc="-80" dirty="0">
                <a:solidFill>
                  <a:schemeClr val="accent6"/>
                </a:solidFill>
              </a:rPr>
              <a:t>Neuro-symbolic hybrids — logic + deep learning fusion.</a:t>
            </a:r>
          </a:p>
          <a:p>
            <a:pPr lvl="0" eaLnBrk="0" fontAlgn="base" hangingPunct="0">
              <a:spcBef>
                <a:spcPct val="0"/>
              </a:spcBef>
              <a:spcAft>
                <a:spcPct val="0"/>
              </a:spcAft>
            </a:pPr>
            <a:r>
              <a:rPr lang="en-US" altLang="en-US" sz="1170" kern="0" spc="-80" dirty="0">
                <a:solidFill>
                  <a:schemeClr val="accent6"/>
                </a:solidFill>
              </a:rPr>
              <a:t>Federated &amp; edge GenAI — privacy-preserving models.</a:t>
            </a:r>
          </a:p>
          <a:p>
            <a:pPr lvl="0" eaLnBrk="0" fontAlgn="base" hangingPunct="0">
              <a:spcBef>
                <a:spcPct val="0"/>
              </a:spcBef>
              <a:spcAft>
                <a:spcPct val="0"/>
              </a:spcAft>
            </a:pPr>
            <a:r>
              <a:rPr lang="en-US" altLang="en-US" sz="1170" kern="0" spc="-80" dirty="0">
                <a:solidFill>
                  <a:schemeClr val="accent2"/>
                </a:solidFill>
              </a:rPr>
              <a:t>🧭 Summary Table</a:t>
            </a:r>
          </a:p>
          <a:p>
            <a:pPr lvl="0" eaLnBrk="0" fontAlgn="base" hangingPunct="0">
              <a:spcBef>
                <a:spcPct val="0"/>
              </a:spcBef>
              <a:spcAft>
                <a:spcPct val="0"/>
              </a:spcAft>
            </a:pPr>
            <a:r>
              <a:rPr lang="en-US" altLang="en-US" sz="1170" kern="0" spc="-80" dirty="0">
                <a:solidFill>
                  <a:schemeClr val="accent2"/>
                </a:solidFill>
              </a:rPr>
              <a:t>Concept	                         Description</a:t>
            </a:r>
          </a:p>
          <a:p>
            <a:pPr lvl="0" eaLnBrk="0" fontAlgn="base" hangingPunct="0">
              <a:spcBef>
                <a:spcPct val="0"/>
              </a:spcBef>
              <a:spcAft>
                <a:spcPct val="0"/>
              </a:spcAft>
            </a:pPr>
            <a:r>
              <a:rPr lang="en-US" altLang="en-US" sz="1170" kern="0" spc="-80" dirty="0">
                <a:solidFill>
                  <a:schemeClr val="accent6"/>
                </a:solidFill>
              </a:rPr>
              <a:t>Generative modeling	Learning data distributions to create new data</a:t>
            </a:r>
          </a:p>
          <a:p>
            <a:pPr lvl="0" eaLnBrk="0" fontAlgn="base" hangingPunct="0">
              <a:spcBef>
                <a:spcPct val="0"/>
              </a:spcBef>
              <a:spcAft>
                <a:spcPct val="0"/>
              </a:spcAft>
            </a:pPr>
            <a:r>
              <a:rPr lang="en-US" altLang="en-US" sz="1170" kern="0" spc="-80" dirty="0">
                <a:solidFill>
                  <a:schemeClr val="accent6"/>
                </a:solidFill>
              </a:rPr>
              <a:t>Latent space	                        Encoded abstract representation of features</a:t>
            </a:r>
          </a:p>
          <a:p>
            <a:pPr lvl="0" eaLnBrk="0" fontAlgn="base" hangingPunct="0">
              <a:spcBef>
                <a:spcPct val="0"/>
              </a:spcBef>
              <a:spcAft>
                <a:spcPct val="0"/>
              </a:spcAft>
            </a:pPr>
            <a:r>
              <a:rPr lang="en-US" altLang="en-US" sz="1170" kern="0" spc="-80" dirty="0">
                <a:solidFill>
                  <a:schemeClr val="accent6"/>
                </a:solidFill>
              </a:rPr>
              <a:t>Diffusion &amp; GANs	Core image/video generative architectures</a:t>
            </a:r>
          </a:p>
          <a:p>
            <a:pPr lvl="0" eaLnBrk="0" fontAlgn="base" hangingPunct="0">
              <a:spcBef>
                <a:spcPct val="0"/>
              </a:spcBef>
              <a:spcAft>
                <a:spcPct val="0"/>
              </a:spcAft>
            </a:pPr>
            <a:r>
              <a:rPr lang="en-US" altLang="en-US" sz="1170" kern="0" spc="-80" dirty="0">
                <a:solidFill>
                  <a:schemeClr val="accent6"/>
                </a:solidFill>
              </a:rPr>
              <a:t>LLMs	                        Text and code generation backbones</a:t>
            </a:r>
          </a:p>
          <a:p>
            <a:pPr lvl="0" eaLnBrk="0" fontAlgn="base" hangingPunct="0">
              <a:spcBef>
                <a:spcPct val="0"/>
              </a:spcBef>
              <a:spcAft>
                <a:spcPct val="0"/>
              </a:spcAft>
            </a:pPr>
            <a:r>
              <a:rPr lang="en-US" altLang="en-US" sz="1170" kern="0" spc="-80" dirty="0">
                <a:solidFill>
                  <a:schemeClr val="accent6"/>
                </a:solidFill>
              </a:rPr>
              <a:t>Training (self-supervised)	Learning from unlabeled data</a:t>
            </a:r>
          </a:p>
          <a:p>
            <a:pPr lvl="0" eaLnBrk="0" fontAlgn="base" hangingPunct="0">
              <a:spcBef>
                <a:spcPct val="0"/>
              </a:spcBef>
              <a:spcAft>
                <a:spcPct val="0"/>
              </a:spcAft>
            </a:pPr>
            <a:r>
              <a:rPr lang="en-US" altLang="en-US" sz="1170" kern="0" spc="-80" dirty="0">
                <a:solidFill>
                  <a:schemeClr val="accent6"/>
                </a:solidFill>
              </a:rPr>
              <a:t>Alignment (RLHF)	Making models follow human values</a:t>
            </a:r>
          </a:p>
        </p:txBody>
      </p:sp>
      <p:sp>
        <p:nvSpPr>
          <p:cNvPr id="6" name="Rectangle 4">
            <a:extLst>
              <a:ext uri="{FF2B5EF4-FFF2-40B4-BE49-F238E27FC236}">
                <a16:creationId xmlns:a16="http://schemas.microsoft.com/office/drawing/2014/main" id="{77043E6E-440B-7D60-4522-76627AD5B742}"/>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358625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56614-0C43-5C2E-F107-C41DB58D34C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C595BD8-C201-22DB-B09A-F77A72805C6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13536678-8AE0-C10B-C191-FAC6D0B15766}"/>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87679AD-DDC4-E439-307B-88AA6644A721}"/>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A7895716-F1B3-8D6C-DBC2-A3536B105E02}"/>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object 2">
            <a:extLst>
              <a:ext uri="{FF2B5EF4-FFF2-40B4-BE49-F238E27FC236}">
                <a16:creationId xmlns:a16="http://schemas.microsoft.com/office/drawing/2014/main" id="{C23C97DA-337A-9296-FF28-F8FEFA4768AE}"/>
              </a:ext>
            </a:extLst>
          </p:cNvPr>
          <p:cNvSpPr txBox="1">
            <a:spLocks/>
          </p:cNvSpPr>
          <p:nvPr/>
        </p:nvSpPr>
        <p:spPr>
          <a:xfrm>
            <a:off x="41725" y="1290320"/>
            <a:ext cx="8624937" cy="49890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eaLnBrk="0" fontAlgn="base" hangingPunct="0">
              <a:spcBef>
                <a:spcPct val="0"/>
              </a:spcBef>
              <a:spcAft>
                <a:spcPct val="0"/>
              </a:spcAft>
            </a:pPr>
            <a:r>
              <a:rPr lang="en-US" altLang="en-US" sz="1170" kern="0" spc="-80" dirty="0">
                <a:solidFill>
                  <a:schemeClr val="accent2"/>
                </a:solidFill>
              </a:rPr>
              <a:t>Concept	                         Description</a:t>
            </a:r>
          </a:p>
          <a:p>
            <a:pPr eaLnBrk="0" fontAlgn="base" hangingPunct="0">
              <a:spcBef>
                <a:spcPct val="0"/>
              </a:spcBef>
              <a:spcAft>
                <a:spcPct val="0"/>
              </a:spcAft>
            </a:pPr>
            <a:r>
              <a:rPr lang="en-US" altLang="en-US" sz="1170" kern="0" spc="-80" dirty="0">
                <a:solidFill>
                  <a:schemeClr val="accent6"/>
                </a:solidFill>
              </a:rPr>
              <a:t>Multimodality	Combining text, vision, sound, and motion</a:t>
            </a:r>
          </a:p>
          <a:p>
            <a:pPr lvl="0" eaLnBrk="0" fontAlgn="base" hangingPunct="0">
              <a:spcBef>
                <a:spcPct val="0"/>
              </a:spcBef>
              <a:spcAft>
                <a:spcPct val="0"/>
              </a:spcAft>
            </a:pPr>
            <a:r>
              <a:rPr lang="en-US" altLang="en-US" sz="1170" kern="0" spc="-80" dirty="0">
                <a:solidFill>
                  <a:schemeClr val="accent6"/>
                </a:solidFill>
              </a:rPr>
              <a:t>Evaluation &amp; ethics	Measuring realism, safety, bias</a:t>
            </a:r>
          </a:p>
          <a:p>
            <a:pPr lvl="0" eaLnBrk="0" fontAlgn="base" hangingPunct="0">
              <a:spcBef>
                <a:spcPct val="0"/>
              </a:spcBef>
              <a:spcAft>
                <a:spcPct val="0"/>
              </a:spcAft>
            </a:pPr>
            <a:r>
              <a:rPr lang="en-US" altLang="en-US" sz="1170" kern="0" spc="-80" dirty="0">
                <a:solidFill>
                  <a:schemeClr val="accent6"/>
                </a:solidFill>
              </a:rPr>
              <a:t>Applications	                        Cross-domain creative and analytical systems</a:t>
            </a:r>
          </a:p>
          <a:p>
            <a:pPr lvl="0" eaLnBrk="0" fontAlgn="base" hangingPunct="0">
              <a:spcBef>
                <a:spcPct val="0"/>
              </a:spcBef>
              <a:spcAft>
                <a:spcPct val="0"/>
              </a:spcAft>
            </a:pPr>
            <a:endParaRPr lang="en-US" altLang="en-US" sz="1170" kern="0" spc="-80" dirty="0">
              <a:solidFill>
                <a:schemeClr val="accent6"/>
              </a:solidFill>
            </a:endParaRPr>
          </a:p>
          <a:p>
            <a:pPr marL="12700" marR="5080"/>
            <a:r>
              <a:rPr lang="en-US" sz="1200" kern="0" spc="-80" dirty="0">
                <a:solidFill>
                  <a:schemeClr val="accent2"/>
                </a:solidFill>
              </a:rPr>
              <a:t>GenAI and Joint Probability Distributions</a:t>
            </a:r>
          </a:p>
          <a:p>
            <a:pPr marL="12700" marR="5080"/>
            <a:r>
              <a:rPr lang="en-US" sz="1200" kern="0" spc="-80" dirty="0">
                <a:solidFill>
                  <a:schemeClr val="accent6"/>
                </a:solidFill>
              </a:rPr>
              <a:t>Joint probability distributions are the foundation of generative AI because they model the likelihood of all variables in a dataset occurring together, allowing the model to learn the underlying structure of the data. By estimating this joint probability, a generative AI model can then sample from it to create new, realistic data instances (like text, images, or music) that share the same statistical properties as the training data.         </a:t>
            </a:r>
          </a:p>
          <a:p>
            <a:pPr marL="12700" marR="5080"/>
            <a:endParaRPr lang="en-US" sz="1200" kern="0" spc="-80" dirty="0">
              <a:solidFill>
                <a:schemeClr val="accent6"/>
              </a:solidFill>
            </a:endParaRPr>
          </a:p>
          <a:p>
            <a:pPr marL="12700" marR="5080"/>
            <a:r>
              <a:rPr lang="en-US" sz="1200" kern="0" spc="-80" dirty="0">
                <a:solidFill>
                  <a:schemeClr val="accent2"/>
                </a:solidFill>
              </a:rPr>
              <a:t> How it works:     </a:t>
            </a:r>
          </a:p>
          <a:p>
            <a:pPr marL="355600" marR="5080" indent="-342900">
              <a:buAutoNum type="arabicPeriod"/>
            </a:pPr>
            <a:r>
              <a:rPr lang="en-US" sz="1200" kern="0" spc="-80" dirty="0">
                <a:solidFill>
                  <a:schemeClr val="accent2"/>
                </a:solidFill>
              </a:rPr>
              <a:t>Learning the Data Distribution:</a:t>
            </a:r>
            <a:r>
              <a:rPr lang="en-US" sz="1200" kern="0" spc="-80" dirty="0">
                <a:solidFill>
                  <a:schemeClr val="accent6"/>
                </a:solidFill>
              </a:rPr>
              <a:t> A generative AI model is trained on a dataset and learns the joint probability distribution of that data, represented as P(X) or P(X,Y). This distribution captures how different features or variables in the data are related to each other.</a:t>
            </a:r>
          </a:p>
          <a:p>
            <a:pPr marL="355600" marR="5080" indent="-342900">
              <a:buAutoNum type="arabicPeriod"/>
            </a:pPr>
            <a:endParaRPr lang="en-US" sz="1200" kern="0" spc="-80" dirty="0">
              <a:solidFill>
                <a:schemeClr val="accent6"/>
              </a:solidFill>
            </a:endParaRPr>
          </a:p>
          <a:p>
            <a:pPr marL="355600" marR="5080" indent="-342900">
              <a:buAutoNum type="arabicPeriod"/>
            </a:pPr>
            <a:r>
              <a:rPr lang="en-US" sz="1200" kern="0" spc="-80" dirty="0">
                <a:solidFill>
                  <a:schemeClr val="accent2"/>
                </a:solidFill>
              </a:rPr>
              <a:t> Modeling the Data Structure:</a:t>
            </a:r>
            <a:r>
              <a:rPr lang="en-US" sz="1200" kern="0" spc="-80" dirty="0">
                <a:solidFill>
                  <a:schemeClr val="accent6"/>
                </a:solidFill>
              </a:rPr>
              <a:t> Instead of just predicting a label for an input (like in a discriminative model), a generative model aims to understand the entire data generation process. It learns how data points are formed, </a:t>
            </a:r>
            <a:r>
              <a:rPr lang="en-US" sz="1200" kern="0" spc="-80" dirty="0">
                <a:solidFill>
                  <a:schemeClr val="accent1"/>
                </a:solidFill>
              </a:rPr>
              <a:t>often by decomposing the joint distribution into a series of conditional probabilities, such as P(x_{</a:t>
            </a:r>
            <a:r>
              <a:rPr lang="en-US" sz="1200" kern="0" spc="-80" dirty="0" err="1">
                <a:solidFill>
                  <a:schemeClr val="accent1"/>
                </a:solidFill>
              </a:rPr>
              <a:t>i</a:t>
            </a:r>
            <a:r>
              <a:rPr lang="en-US" sz="1200" kern="0" spc="-80" dirty="0">
                <a:solidFill>
                  <a:schemeClr val="accent1"/>
                </a:solidFill>
              </a:rPr>
              <a:t>}|x_{1}……x_{i-1})</a:t>
            </a:r>
          </a:p>
          <a:p>
            <a:pPr marL="355600" marR="5080" indent="-342900">
              <a:buAutoNum type="arabicPeriod"/>
            </a:pPr>
            <a:endParaRPr lang="en-US" sz="1200" kern="0" spc="-80" dirty="0">
              <a:solidFill>
                <a:schemeClr val="accent1"/>
              </a:solidFill>
            </a:endParaRPr>
          </a:p>
          <a:p>
            <a:pPr marL="355600" marR="5080" indent="-342900">
              <a:buFontTx/>
              <a:buAutoNum type="arabicPeriod"/>
            </a:pPr>
            <a:r>
              <a:rPr lang="en-US" sz="1200" kern="0" spc="-80" dirty="0">
                <a:solidFill>
                  <a:schemeClr val="accent2"/>
                </a:solidFill>
              </a:rPr>
              <a:t>Generating New Data:</a:t>
            </a:r>
            <a:r>
              <a:rPr lang="en-US" sz="1200" kern="0" spc="-80" dirty="0">
                <a:solidFill>
                  <a:schemeClr val="accent6"/>
                </a:solidFill>
              </a:rPr>
              <a:t> Once the model has learned the joint distribution and its conditional components, it can generate new data.   This involves a sequential process:  The model samples from the learned distribution to create the first data point or feature.  It then uses the learned conditional probabilities to generate the next feature, taking into account the already generated features.  This process continues until a complete, new data instance is created.</a:t>
            </a:r>
            <a:endParaRPr lang="en-US" sz="1200" kern="0" spc="-80" dirty="0">
              <a:solidFill>
                <a:schemeClr val="accent2"/>
              </a:solidFill>
            </a:endParaRPr>
          </a:p>
          <a:p>
            <a:pPr marL="355600" marR="5080" indent="-342900">
              <a:buFontTx/>
              <a:buAutoNum type="arabicPeriod"/>
            </a:pPr>
            <a:endParaRPr lang="en-US" sz="1200" kern="0" spc="-80" dirty="0">
              <a:solidFill>
                <a:schemeClr val="accent6"/>
              </a:solidFill>
            </a:endParaRPr>
          </a:p>
          <a:p>
            <a:pPr marL="355600" marR="5080" indent="-342900">
              <a:buAutoNum type="arabicPeriod"/>
            </a:pPr>
            <a:endParaRPr lang="en-US" sz="1200" kern="0" spc="-80" dirty="0">
              <a:solidFill>
                <a:schemeClr val="accent1"/>
              </a:solidFill>
            </a:endParaRPr>
          </a:p>
          <a:p>
            <a:pPr lvl="0" eaLnBrk="0" fontAlgn="base" hangingPunct="0">
              <a:spcBef>
                <a:spcPct val="0"/>
              </a:spcBef>
              <a:spcAft>
                <a:spcPct val="0"/>
              </a:spcAft>
            </a:pPr>
            <a:endParaRPr lang="en-US" altLang="en-US" sz="1170" kern="0" spc="-80" dirty="0">
              <a:solidFill>
                <a:schemeClr val="accent6"/>
              </a:solidFill>
            </a:endParaRPr>
          </a:p>
        </p:txBody>
      </p:sp>
      <p:sp>
        <p:nvSpPr>
          <p:cNvPr id="6" name="Rectangle 4">
            <a:extLst>
              <a:ext uri="{FF2B5EF4-FFF2-40B4-BE49-F238E27FC236}">
                <a16:creationId xmlns:a16="http://schemas.microsoft.com/office/drawing/2014/main" id="{815E1EE7-52C7-0A2F-FE63-4853CE2E62CC}"/>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605793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620D-EC25-59E6-4C3E-D551C57DFF8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11C538-2599-CD48-5881-457A1EC657F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86E2BD5-0EFE-20CB-093D-2F9594FE2B47}"/>
              </a:ext>
            </a:extLst>
          </p:cNvPr>
          <p:cNvSpPr/>
          <p:nvPr/>
        </p:nvSpPr>
        <p:spPr>
          <a:xfrm flipV="1">
            <a:off x="1640838" y="908383"/>
            <a:ext cx="2693035" cy="82217"/>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0E27CDA-D3A8-7B20-8215-C9104FB07471}"/>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35589DE-D006-5DF5-BB4C-4E7A9FF3390E}"/>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A97BDB67-2FD8-2031-0B02-18E901192599}"/>
              </a:ext>
            </a:extLst>
          </p:cNvPr>
          <p:cNvSpPr txBox="1">
            <a:spLocks/>
          </p:cNvSpPr>
          <p:nvPr/>
        </p:nvSpPr>
        <p:spPr>
          <a:xfrm>
            <a:off x="-17146" y="1057607"/>
            <a:ext cx="8624937" cy="1974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GenAI and Joint Probability Distributions</a:t>
            </a:r>
          </a:p>
          <a:p>
            <a:pPr marL="12700" marR="5080"/>
            <a:r>
              <a:rPr lang="en-US" sz="1270" kern="0" spc="-80" dirty="0">
                <a:solidFill>
                  <a:schemeClr val="accent2"/>
                </a:solidFill>
              </a:rPr>
              <a:t>How is Generative AI different from other Machine Learning techniques?*</a:t>
            </a:r>
            <a:r>
              <a:rPr lang="en-US" sz="1270" kern="0" spc="-80" dirty="0">
                <a:solidFill>
                  <a:schemeClr val="accent6"/>
                </a:solidFill>
              </a:rPr>
              <a:t> </a:t>
            </a:r>
          </a:p>
          <a:p>
            <a:pPr marL="12700" marR="5080"/>
            <a:r>
              <a:rPr lang="en-US" sz="1270" kern="0" spc="-80" dirty="0">
                <a:solidFill>
                  <a:schemeClr val="accent2"/>
                </a:solidFill>
              </a:rPr>
              <a:t>Discriminative Models: </a:t>
            </a:r>
            <a:r>
              <a:rPr lang="en-US" sz="1270" kern="0" spc="-80" dirty="0">
                <a:solidFill>
                  <a:schemeClr val="accent6"/>
                </a:solidFill>
              </a:rPr>
              <a:t>These models learn the relationship between the features                   </a:t>
            </a:r>
          </a:p>
          <a:p>
            <a:pPr marL="12700" marR="5080"/>
            <a:r>
              <a:rPr lang="en-US" sz="1270" kern="0" spc="-80" dirty="0">
                <a:solidFill>
                  <a:schemeClr val="accent6"/>
                </a:solidFill>
              </a:rPr>
              <a:t>Generative AI, often hailed as the magician of the digital era, possesses a profound ability to create new content,   </a:t>
            </a:r>
          </a:p>
          <a:p>
            <a:pPr marL="12700" marR="5080"/>
            <a:r>
              <a:rPr lang="en-US" sz="1270" kern="0" spc="-80" dirty="0">
                <a:solidFill>
                  <a:schemeClr val="accent6"/>
                </a:solidFill>
              </a:rPr>
              <a:t>ranging from images and music to text </a:t>
            </a:r>
          </a:p>
          <a:p>
            <a:pPr marL="12700" marR="5080"/>
            <a:r>
              <a:rPr lang="en-US" sz="1270" kern="0" spc="-80" dirty="0">
                <a:solidFill>
                  <a:schemeClr val="accent2"/>
                </a:solidFill>
              </a:rPr>
              <a:t>Example</a:t>
            </a:r>
            <a:r>
              <a:rPr lang="en-US" sz="1270" kern="0" spc="-80" dirty="0">
                <a:solidFill>
                  <a:schemeClr val="accent6"/>
                </a:solidFill>
              </a:rPr>
              <a:t>: If a generative AI model is trained on images of faces, it will learn the joint probability distribution of </a:t>
            </a:r>
          </a:p>
          <a:p>
            <a:pPr marL="12700" marR="5080"/>
            <a:r>
              <a:rPr lang="en-US" sz="1270" kern="0" spc="-80" dirty="0">
                <a:solidFill>
                  <a:schemeClr val="accent6"/>
                </a:solidFill>
              </a:rPr>
              <a:t>pixel values and features that constitute a realistic face. After learning this distribution, it can generate novel </a:t>
            </a:r>
          </a:p>
          <a:p>
            <a:pPr marL="12700" marR="5080"/>
            <a:r>
              <a:rPr lang="en-US" sz="1270" kern="0" spc="-80" dirty="0">
                <a:solidFill>
                  <a:schemeClr val="accent6"/>
                </a:solidFill>
              </a:rPr>
              <a:t>faces that are statistically similar to the training data, even if they are completely new and unique.                     </a:t>
            </a:r>
          </a:p>
          <a:p>
            <a:pPr marL="12700" marR="5080"/>
            <a:r>
              <a:rPr lang="en-US" sz="1270" kern="0" spc="-80" dirty="0">
                <a:solidFill>
                  <a:schemeClr val="accent6"/>
                </a:solidFill>
              </a:rPr>
              <a:t>In essence, the joint probability distribution acts as the "blueprint" that generative AI models use to understand </a:t>
            </a:r>
          </a:p>
          <a:p>
            <a:pPr marL="12700" marR="5080"/>
            <a:r>
              <a:rPr lang="en-US" sz="1270" kern="0" spc="-80" dirty="0">
                <a:solidFill>
                  <a:schemeClr val="accent6"/>
                </a:solidFill>
              </a:rPr>
              <a:t>and then replicate complex data patterns, enabling them to create new content. </a:t>
            </a:r>
          </a:p>
        </p:txBody>
      </p:sp>
      <p:sp>
        <p:nvSpPr>
          <p:cNvPr id="3" name="object 2">
            <a:extLst>
              <a:ext uri="{FF2B5EF4-FFF2-40B4-BE49-F238E27FC236}">
                <a16:creationId xmlns:a16="http://schemas.microsoft.com/office/drawing/2014/main" id="{53FC1F93-7EE0-8166-0AA5-281C4ECCB206}"/>
              </a:ext>
            </a:extLst>
          </p:cNvPr>
          <p:cNvSpPr txBox="1">
            <a:spLocks/>
          </p:cNvSpPr>
          <p:nvPr/>
        </p:nvSpPr>
        <p:spPr>
          <a:xfrm>
            <a:off x="18414" y="4358551"/>
            <a:ext cx="8624937" cy="15850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220" dirty="0">
                <a:solidFill>
                  <a:schemeClr val="accent2"/>
                </a:solidFill>
              </a:rPr>
              <a:t>For Further Exploration-</a:t>
            </a:r>
          </a:p>
          <a:p>
            <a:pPr marL="12700" marR="5080"/>
            <a:r>
              <a:rPr lang="en-US" sz="1800" dirty="0">
                <a:hlinkClick r:id="rId7"/>
              </a:rPr>
              <a:t>Probability: Joint vs. Marginal vs. Conditional - </a:t>
            </a:r>
            <a:r>
              <a:rPr lang="en-US" sz="1800" dirty="0" err="1">
                <a:hlinkClick r:id="rId7"/>
              </a:rPr>
              <a:t>GeeksforGeeks</a:t>
            </a:r>
            <a:endParaRPr lang="en-US" sz="1700" kern="0" spc="-220" dirty="0">
              <a:solidFill>
                <a:schemeClr val="accent2"/>
              </a:solidFill>
            </a:endParaRPr>
          </a:p>
          <a:p>
            <a:pPr marL="12700" marR="5080"/>
            <a:r>
              <a:rPr lang="en-US" sz="1700" dirty="0">
                <a:hlinkClick r:id="rId8"/>
              </a:rPr>
              <a:t>Enigma of Generative AI: A Journey through Conditional and Joint Probability Distributions</a:t>
            </a:r>
            <a:endParaRPr lang="en-US" sz="1700" dirty="0"/>
          </a:p>
          <a:p>
            <a:pPr marL="12700" marR="5080"/>
            <a:r>
              <a:rPr lang="en-US" sz="1700" dirty="0">
                <a:hlinkClick r:id="rId9"/>
              </a:rPr>
              <a:t>Let's learn Everything about Generative AI together.</a:t>
            </a:r>
            <a:endParaRPr lang="en-US" sz="1700" dirty="0"/>
          </a:p>
          <a:p>
            <a:pPr marL="12700" marR="5080"/>
            <a:r>
              <a:rPr lang="en-IN" sz="1700" dirty="0">
                <a:hlinkClick r:id="rId10"/>
              </a:rPr>
              <a:t>Generative AI Models Explained</a:t>
            </a:r>
            <a:endParaRPr lang="en-US" sz="1700" kern="0" spc="-220" dirty="0">
              <a:solidFill>
                <a:schemeClr val="accent2"/>
              </a:solidFill>
            </a:endParaRPr>
          </a:p>
        </p:txBody>
      </p:sp>
    </p:spTree>
    <p:extLst>
      <p:ext uri="{BB962C8B-B14F-4D97-AF65-F5344CB8AC3E}">
        <p14:creationId xmlns:p14="http://schemas.microsoft.com/office/powerpoint/2010/main" val="354985019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45BDA-5495-FA11-792D-35E6A96308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487FC1-A780-B342-2F69-8C85FB1B54C9}"/>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CE338B4-01BC-E325-4EE9-DE1518C53A75}"/>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A974FAA-F6DD-F1DB-F675-48B4372D9F74}"/>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1BD5ECB-9970-BD12-1662-F7D2586EEF08}"/>
              </a:ext>
            </a:extLst>
          </p:cNvPr>
          <p:cNvGraphicFramePr/>
          <p:nvPr>
            <p:extLst>
              <p:ext uri="{D42A27DB-BD31-4B8C-83A1-F6EECF244321}">
                <p14:modId xmlns:p14="http://schemas.microsoft.com/office/powerpoint/2010/main" val="371917407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6" name="Picture 2" descr="Venn diagram showing that large language models (LLMs) are contained within generative AI">
            <a:extLst>
              <a:ext uri="{FF2B5EF4-FFF2-40B4-BE49-F238E27FC236}">
                <a16:creationId xmlns:a16="http://schemas.microsoft.com/office/drawing/2014/main" id="{BA4761B9-C01C-BA7A-CF74-A340202106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895750"/>
            <a:ext cx="4343401" cy="32096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0A59142-E0E2-E50D-4C0F-F21FFCCC5300}"/>
              </a:ext>
            </a:extLst>
          </p:cNvPr>
          <p:cNvPicPr>
            <a:picLocks noChangeAspect="1"/>
          </p:cNvPicPr>
          <p:nvPr/>
        </p:nvPicPr>
        <p:blipFill>
          <a:blip r:embed="rId8"/>
          <a:stretch>
            <a:fillRect/>
          </a:stretch>
        </p:blipFill>
        <p:spPr>
          <a:xfrm>
            <a:off x="4724400" y="1895750"/>
            <a:ext cx="3791145" cy="3209649"/>
          </a:xfrm>
          <a:prstGeom prst="rect">
            <a:avLst/>
          </a:prstGeom>
        </p:spPr>
      </p:pic>
      <p:sp>
        <p:nvSpPr>
          <p:cNvPr id="3" name="object 2">
            <a:extLst>
              <a:ext uri="{FF2B5EF4-FFF2-40B4-BE49-F238E27FC236}">
                <a16:creationId xmlns:a16="http://schemas.microsoft.com/office/drawing/2014/main" id="{2B7891C3-F687-497D-E4DD-BF6A93B2199E}"/>
              </a:ext>
            </a:extLst>
          </p:cNvPr>
          <p:cNvSpPr txBox="1">
            <a:spLocks/>
          </p:cNvSpPr>
          <p:nvPr/>
        </p:nvSpPr>
        <p:spPr>
          <a:xfrm>
            <a:off x="-17146" y="1328337"/>
            <a:ext cx="8624937" cy="2154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GenAI  vs LLM</a:t>
            </a:r>
          </a:p>
        </p:txBody>
      </p:sp>
    </p:spTree>
    <p:extLst>
      <p:ext uri="{BB962C8B-B14F-4D97-AF65-F5344CB8AC3E}">
        <p14:creationId xmlns:p14="http://schemas.microsoft.com/office/powerpoint/2010/main" val="350043089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EFFA-F24D-F3A7-BD33-3E0BF3A11D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DAFA0D-3D0F-F551-0534-890B054871D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0A39E73-2686-E4D6-D710-9EC1FC205318}"/>
              </a:ext>
            </a:extLst>
          </p:cNvPr>
          <p:cNvSpPr/>
          <p:nvPr/>
        </p:nvSpPr>
        <p:spPr>
          <a:xfrm flipV="1">
            <a:off x="1640838" y="908383"/>
            <a:ext cx="2693035" cy="82217"/>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C24EC31-3286-92CA-68D3-5A8BA4CD92F6}"/>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E53A6D9-55C3-35D3-8594-D148B62C5A05}"/>
              </a:ext>
            </a:extLst>
          </p:cNvPr>
          <p:cNvGraphicFramePr/>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8C3149D0-5A6A-766D-4A51-5A250BB93A13}"/>
              </a:ext>
            </a:extLst>
          </p:cNvPr>
          <p:cNvSpPr txBox="1">
            <a:spLocks/>
          </p:cNvSpPr>
          <p:nvPr/>
        </p:nvSpPr>
        <p:spPr>
          <a:xfrm>
            <a:off x="21404" y="990600"/>
            <a:ext cx="8624937" cy="49659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IN" sz="1700" dirty="0">
                <a:hlinkClick r:id="rId7"/>
              </a:rPr>
              <a:t>Generative models vs Discriminative models for Deep Learning.</a:t>
            </a:r>
            <a:endParaRPr lang="en-IN" sz="1700" dirty="0"/>
          </a:p>
          <a:p>
            <a:pPr marL="12700" marR="5080"/>
            <a:r>
              <a:rPr lang="en-US" sz="1700" dirty="0">
                <a:hlinkClick r:id="rId8"/>
              </a:rPr>
              <a:t>Generative AI Models Types, Training and Evaluation Strategy</a:t>
            </a:r>
            <a:endParaRPr lang="en-US" sz="1700" dirty="0"/>
          </a:p>
          <a:p>
            <a:pPr marL="12700" marR="5080"/>
            <a:r>
              <a:rPr lang="it-IT" sz="1700" dirty="0">
                <a:hlinkClick r:id="rId9"/>
              </a:rPr>
              <a:t>Generative AI Tutorial GeeksforGeeks | Restackio</a:t>
            </a:r>
            <a:endParaRPr lang="en-US" sz="1700" dirty="0"/>
          </a:p>
          <a:p>
            <a:pPr marL="12700" marR="5080"/>
            <a:r>
              <a:rPr lang="en-IN" sz="1700" dirty="0">
                <a:hlinkClick r:id="rId10"/>
              </a:rPr>
              <a:t>Generative AI: Advantages &amp; Disadvantages | LinkedIn</a:t>
            </a:r>
            <a:endParaRPr lang="en-US" sz="1700" dirty="0"/>
          </a:p>
          <a:p>
            <a:pPr marL="12700" marR="5080"/>
            <a:r>
              <a:rPr lang="en-US" sz="1700" dirty="0">
                <a:hlinkClick r:id="rId11"/>
              </a:rPr>
              <a:t>How to choose the right Gen AI model | Google Cloud Blog</a:t>
            </a:r>
            <a:endParaRPr lang="en-US" sz="1700" dirty="0"/>
          </a:p>
          <a:p>
            <a:pPr marL="12700" marR="5080"/>
            <a:r>
              <a:rPr lang="de-DE" sz="1700" dirty="0">
                <a:hlinkClick r:id="rId12"/>
              </a:rPr>
              <a:t>GAN, Diffusion, &amp; Autoencoder Models</a:t>
            </a:r>
            <a:endParaRPr lang="de-DE" sz="1700" dirty="0"/>
          </a:p>
          <a:p>
            <a:pPr marL="12700" marR="5080"/>
            <a:r>
              <a:rPr lang="en-IN" sz="1700" dirty="0">
                <a:hlinkClick r:id="rId13"/>
              </a:rPr>
              <a:t>(Variational) </a:t>
            </a:r>
            <a:r>
              <a:rPr lang="en-IN" sz="1700" dirty="0" err="1">
                <a:hlinkClick r:id="rId13"/>
              </a:rPr>
              <a:t>AutoEncoders</a:t>
            </a:r>
            <a:endParaRPr lang="en-IN" sz="1700" dirty="0"/>
          </a:p>
          <a:p>
            <a:pPr marL="12700" marR="5080"/>
            <a:r>
              <a:rPr lang="en-US" sz="1700" dirty="0">
                <a:hlinkClick r:id="rId14"/>
              </a:rPr>
              <a:t>Likelihood-based Generative Models I:</a:t>
            </a:r>
            <a:endParaRPr lang="en-US" sz="1700" dirty="0"/>
          </a:p>
          <a:p>
            <a:pPr marL="12700" marR="5080"/>
            <a:r>
              <a:rPr lang="en-US" sz="1700" dirty="0">
                <a:hlinkClick r:id="rId15"/>
              </a:rPr>
              <a:t>A Beginner's Guide to Restricted Boltzmann Machines (RBMs) </a:t>
            </a:r>
            <a:endParaRPr lang="en-US" sz="1700" dirty="0"/>
          </a:p>
          <a:p>
            <a:pPr marL="12700" marR="5080"/>
            <a:r>
              <a:rPr lang="en-US" sz="1700" dirty="0">
                <a:hlinkClick r:id="rId16"/>
              </a:rPr>
              <a:t>A Generative Restricted Boltzmann Machine</a:t>
            </a:r>
            <a:endParaRPr lang="en-US" sz="1700" dirty="0"/>
          </a:p>
          <a:p>
            <a:pPr marL="12700" marR="5080"/>
            <a:r>
              <a:rPr lang="en-US" sz="1700" dirty="0">
                <a:hlinkClick r:id="rId17"/>
              </a:rPr>
              <a:t>Autoregressive Diffusion Models (Machine Learning Research Paper Explained)</a:t>
            </a:r>
            <a:r>
              <a:rPr lang="en-US" sz="1700" dirty="0"/>
              <a:t> </a:t>
            </a:r>
          </a:p>
          <a:p>
            <a:pPr marL="12700" marR="5080"/>
            <a:r>
              <a:rPr lang="en-US" sz="1700" dirty="0">
                <a:hlinkClick r:id="rId18"/>
              </a:rPr>
              <a:t>Generative Deep Learning</a:t>
            </a:r>
            <a:endParaRPr lang="en-US" sz="1700" dirty="0"/>
          </a:p>
          <a:p>
            <a:pPr marL="12700" marR="5080"/>
            <a:r>
              <a:rPr lang="en-US" sz="1700" dirty="0">
                <a:hlinkClick r:id="rId19"/>
              </a:rPr>
              <a:t>Text-to-Image Generation with Databricks and Generative AI</a:t>
            </a:r>
            <a:endParaRPr lang="en-US" sz="1700" dirty="0"/>
          </a:p>
          <a:p>
            <a:pPr marL="12700" marR="5080"/>
            <a:r>
              <a:rPr lang="en-IN" sz="1700" dirty="0">
                <a:hlinkClick r:id="rId20"/>
              </a:rPr>
              <a:t>U-Net – Wikipedia</a:t>
            </a:r>
            <a:endParaRPr lang="en-US" sz="1700" dirty="0"/>
          </a:p>
          <a:p>
            <a:pPr marL="12700" marR="5080"/>
            <a:r>
              <a:rPr lang="en-US" sz="1700" dirty="0">
                <a:hlinkClick r:id="rId21"/>
              </a:rPr>
              <a:t>Denoising Diffusion Model Implementation from Scratch</a:t>
            </a:r>
            <a:endParaRPr lang="en-US" sz="1700" dirty="0"/>
          </a:p>
          <a:p>
            <a:pPr marL="12700" marR="5080"/>
            <a:r>
              <a:rPr lang="en-US" sz="1700" dirty="0">
                <a:hlinkClick r:id="rId22"/>
              </a:rPr>
              <a:t>Understanding Vision-Language Models with CLIP: A Hands-On Guide</a:t>
            </a:r>
            <a:endParaRPr lang="en-US" sz="1700" dirty="0"/>
          </a:p>
          <a:p>
            <a:pPr marL="12700" marR="5080"/>
            <a:r>
              <a:rPr lang="en-US" sz="1700" dirty="0">
                <a:hlinkClick r:id="rId23"/>
              </a:rPr>
              <a:t>Generative-AI-with-Python-and-</a:t>
            </a:r>
            <a:r>
              <a:rPr lang="en-US" sz="1700" dirty="0" err="1">
                <a:hlinkClick r:id="rId23"/>
              </a:rPr>
              <a:t>PyTorch</a:t>
            </a:r>
            <a:endParaRPr lang="en-US" sz="1700" kern="0" spc="-220" dirty="0">
              <a:solidFill>
                <a:schemeClr val="accent2"/>
              </a:solidFill>
            </a:endParaRPr>
          </a:p>
        </p:txBody>
      </p:sp>
    </p:spTree>
    <p:extLst>
      <p:ext uri="{BB962C8B-B14F-4D97-AF65-F5344CB8AC3E}">
        <p14:creationId xmlns:p14="http://schemas.microsoft.com/office/powerpoint/2010/main" val="244092793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C20B-6812-C241-4A90-01A4AACBAB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3359F3-4C69-DAD2-A597-496C4FD2940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CA617F5-FF8F-7255-4A23-F78CDC834CDA}"/>
              </a:ext>
            </a:extLst>
          </p:cNvPr>
          <p:cNvSpPr/>
          <p:nvPr/>
        </p:nvSpPr>
        <p:spPr>
          <a:xfrm>
            <a:off x="1640838" y="862825"/>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C9196077-1D42-AC90-7436-48E22E95E1B1}"/>
              </a:ext>
            </a:extLst>
          </p:cNvPr>
          <p:cNvSpPr/>
          <p:nvPr/>
        </p:nvSpPr>
        <p:spPr>
          <a:xfrm>
            <a:off x="1640839" y="69717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07016BC-2254-89A5-B512-46BAB65F244D}"/>
              </a:ext>
            </a:extLst>
          </p:cNvPr>
          <p:cNvGraphicFramePr/>
          <p:nvPr>
            <p:extLst>
              <p:ext uri="{D42A27DB-BD31-4B8C-83A1-F6EECF244321}">
                <p14:modId xmlns:p14="http://schemas.microsoft.com/office/powerpoint/2010/main" val="2836021011"/>
              </p:ext>
            </p:extLst>
          </p:nvPr>
        </p:nvGraphicFramePr>
        <p:xfrm>
          <a:off x="-17146" y="17828"/>
          <a:ext cx="9084945" cy="67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EABFE6D3-1A0F-0635-2A38-36AABEFA98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47" y="1028470"/>
            <a:ext cx="9084945" cy="3383461"/>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308B355F-754A-4F52-270F-846BE5F9D58F}"/>
              </a:ext>
            </a:extLst>
          </p:cNvPr>
          <p:cNvSpPr txBox="1">
            <a:spLocks/>
          </p:cNvSpPr>
          <p:nvPr/>
        </p:nvSpPr>
        <p:spPr>
          <a:xfrm>
            <a:off x="-17147" y="4530675"/>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US" sz="1100" dirty="0">
                <a:hlinkClick r:id="rId8"/>
              </a:rPr>
              <a:t>8 Retrieval Augmented Generation (RAG) Architectures You Should Know in 2025</a:t>
            </a:r>
            <a:endParaRPr lang="en-US" sz="1100" dirty="0"/>
          </a:p>
          <a:p>
            <a:pPr marL="12700" marR="5080"/>
            <a:r>
              <a:rPr lang="en-IN" sz="1100" dirty="0">
                <a:hlinkClick r:id="rId9"/>
              </a:rPr>
              <a:t>Advanced RAG Techniques | </a:t>
            </a:r>
            <a:r>
              <a:rPr lang="en-IN" sz="1100" dirty="0" err="1">
                <a:hlinkClick r:id="rId9"/>
              </a:rPr>
              <a:t>DataCamp</a:t>
            </a:r>
            <a:endParaRPr lang="en-IN" sz="1100" dirty="0"/>
          </a:p>
          <a:p>
            <a:pPr marL="12700" marR="5080"/>
            <a:r>
              <a:rPr lang="en-US" sz="1100" dirty="0">
                <a:hlinkClick r:id="rId10"/>
              </a:rPr>
              <a:t>An Easy Introduction to Multimodal Retrieval-Augmented Generation</a:t>
            </a:r>
            <a:endParaRPr lang="en-US" sz="1100" dirty="0"/>
          </a:p>
          <a:p>
            <a:pPr marL="12700" marR="5080"/>
            <a:r>
              <a:rPr lang="en-IN" sz="1100" dirty="0">
                <a:hlinkClick r:id="rId11"/>
              </a:rPr>
              <a:t>Chunking Strategies for RAG in Generative AI</a:t>
            </a:r>
            <a:endParaRPr lang="en-IN" sz="1100" dirty="0"/>
          </a:p>
          <a:p>
            <a:pPr marL="12700" marR="5080"/>
            <a:r>
              <a:rPr lang="en-US" sz="1100" dirty="0">
                <a:hlinkClick r:id="rId12"/>
              </a:rPr>
              <a:t>Augment LLMs with RAGs or Fine-Tuning | Microsoft Learn</a:t>
            </a:r>
            <a:endParaRPr lang="en-US" sz="1100" dirty="0"/>
          </a:p>
          <a:p>
            <a:pPr marL="12700" marR="5080"/>
            <a:r>
              <a:rPr lang="en-IN" sz="1100" dirty="0">
                <a:hlinkClick r:id="rId13"/>
              </a:rPr>
              <a:t>RAG </a:t>
            </a:r>
            <a:r>
              <a:rPr lang="en-IN" sz="1100" dirty="0" err="1">
                <a:hlinkClick r:id="rId13"/>
              </a:rPr>
              <a:t>Cheaheet</a:t>
            </a:r>
            <a:endParaRPr lang="en-IN" sz="1100" dirty="0"/>
          </a:p>
          <a:p>
            <a:pPr marL="12700" marR="5080"/>
            <a:r>
              <a:rPr lang="en-US" sz="1100" dirty="0">
                <a:hlinkClick r:id="rId14"/>
              </a:rPr>
              <a:t>RAG Vs. Fine Tuning: Which One Should You Choose?</a:t>
            </a:r>
            <a:endParaRPr lang="en-US" sz="1100" dirty="0"/>
          </a:p>
          <a:p>
            <a:pPr marL="12700" marR="5080"/>
            <a:endParaRPr lang="en-IN" sz="1100" dirty="0"/>
          </a:p>
          <a:p>
            <a:pPr marL="12700" marR="5080"/>
            <a:endParaRPr lang="en-US" sz="1100" kern="0" spc="-220" dirty="0">
              <a:solidFill>
                <a:schemeClr val="accent2"/>
              </a:solidFill>
            </a:endParaRPr>
          </a:p>
        </p:txBody>
      </p:sp>
    </p:spTree>
    <p:extLst>
      <p:ext uri="{BB962C8B-B14F-4D97-AF65-F5344CB8AC3E}">
        <p14:creationId xmlns:p14="http://schemas.microsoft.com/office/powerpoint/2010/main" val="394973821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4D820-1A28-4A7E-FEBD-3EDBBE9ADFC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23FFA2-CC0A-1CDD-BEBF-601CA188EE82}"/>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D883001E-72FE-F7C7-4AFC-C1D3047CDAF9}"/>
              </a:ext>
            </a:extLst>
          </p:cNvPr>
          <p:cNvSpPr/>
          <p:nvPr/>
        </p:nvSpPr>
        <p:spPr>
          <a:xfrm>
            <a:off x="1661159" y="11817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9440A2CD-DDAC-FAE3-1396-0040ED9145E4}"/>
              </a:ext>
            </a:extLst>
          </p:cNvPr>
          <p:cNvSpPr/>
          <p:nvPr/>
        </p:nvSpPr>
        <p:spPr>
          <a:xfrm>
            <a:off x="1661159" y="986073"/>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74B2C74-F8F4-141E-98FF-4A85F1E0378D}"/>
              </a:ext>
            </a:extLst>
          </p:cNvPr>
          <p:cNvGraphicFramePr/>
          <p:nvPr>
            <p:extLst>
              <p:ext uri="{D42A27DB-BD31-4B8C-83A1-F6EECF244321}">
                <p14:modId xmlns:p14="http://schemas.microsoft.com/office/powerpoint/2010/main" val="1257823396"/>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6B082C3F-ED29-4D47-6F3F-CEA068E9A267}"/>
              </a:ext>
            </a:extLst>
          </p:cNvPr>
          <p:cNvSpPr txBox="1">
            <a:spLocks/>
          </p:cNvSpPr>
          <p:nvPr/>
        </p:nvSpPr>
        <p:spPr>
          <a:xfrm>
            <a:off x="212857" y="1295400"/>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IN" sz="1050" dirty="0">
                <a:hlinkClick r:id="rId7"/>
              </a:rPr>
              <a:t>What are Foundation Models?</a:t>
            </a:r>
            <a:endParaRPr lang="en-US" sz="1050" dirty="0"/>
          </a:p>
          <a:p>
            <a:pPr marL="12700" marR="5080"/>
            <a:r>
              <a:rPr lang="en-US" sz="1050" dirty="0">
                <a:hlinkClick r:id="rId8"/>
              </a:rPr>
              <a:t>What is Fine-Tuning LLM? Methods &amp; Step-by-Step Guide in 2025</a:t>
            </a:r>
            <a:endParaRPr lang="en-US" sz="1050" dirty="0"/>
          </a:p>
          <a:p>
            <a:pPr marL="12700" marR="5080"/>
            <a:r>
              <a:rPr lang="it-IT" sz="1050" dirty="0">
                <a:hlinkClick r:id="rId9"/>
              </a:rPr>
              <a:t>AI model fine-tuning concepts | Microsoft Learn</a:t>
            </a:r>
            <a:endParaRPr lang="en-US" sz="1050" dirty="0"/>
          </a:p>
          <a:p>
            <a:pPr marL="12700" marR="5080"/>
            <a:r>
              <a:rPr lang="en-US" sz="1050" dirty="0">
                <a:hlinkClick r:id="rId10"/>
              </a:rPr>
              <a:t>Transfer Learning vs Fine Tuning LLMs: Differences</a:t>
            </a:r>
            <a:endParaRPr lang="en-US" sz="1050" dirty="0"/>
          </a:p>
          <a:p>
            <a:pPr marL="12700" marR="5080"/>
            <a:r>
              <a:rPr lang="en-US" sz="1050" dirty="0">
                <a:hlinkClick r:id="rId11"/>
              </a:rPr>
              <a:t>What are the most effective ways to choose a pre-trained model for your deep learning task?</a:t>
            </a:r>
            <a:endParaRPr lang="en-US" sz="1050" dirty="0"/>
          </a:p>
          <a:p>
            <a:pPr marL="12700" marR="5080"/>
            <a:r>
              <a:rPr lang="en-US" sz="1050" dirty="0">
                <a:hlinkClick r:id="rId12"/>
              </a:rPr>
              <a:t>What are the best practices for choosing a pre-trained model for transfer learning?</a:t>
            </a:r>
            <a:endParaRPr lang="en-US" sz="1050" dirty="0"/>
          </a:p>
          <a:p>
            <a:pPr marL="12700" marR="5080"/>
            <a:r>
              <a:rPr lang="en-US" sz="1050" dirty="0">
                <a:hlinkClick r:id="rId13"/>
              </a:rPr>
              <a:t>Influence response generation with inference parameters - Amazon Bedrock</a:t>
            </a:r>
            <a:endParaRPr lang="en-US" sz="1050" dirty="0"/>
          </a:p>
          <a:p>
            <a:pPr marL="12700" marR="5080"/>
            <a:r>
              <a:rPr lang="en-US" sz="1050" dirty="0">
                <a:hlinkClick r:id="rId14"/>
              </a:rPr>
              <a:t>The Training Process of Foundation Models and Innovations in Optimization | LinkedIn</a:t>
            </a:r>
            <a:endParaRPr lang="en-US" sz="1050" dirty="0"/>
          </a:p>
          <a:p>
            <a:pPr marL="12700" marR="5080"/>
            <a:r>
              <a:rPr lang="en-IN" sz="1050" dirty="0">
                <a:hlinkClick r:id="rId15"/>
              </a:rPr>
              <a:t>Prepare data for Foundation Model Fine-tuning - Azure Databricks | Microsoft Learn</a:t>
            </a:r>
            <a:endParaRPr lang="en-US" sz="1050" dirty="0"/>
          </a:p>
          <a:p>
            <a:pPr marL="12700" marR="5080"/>
            <a:r>
              <a:rPr lang="en-US" sz="1050" dirty="0">
                <a:hlinkClick r:id="rId16"/>
              </a:rPr>
              <a:t>Methods for tuning foundation models - IBM Documentation</a:t>
            </a:r>
            <a:endParaRPr lang="en-US" sz="1050" dirty="0"/>
          </a:p>
          <a:p>
            <a:pPr marL="12700" marR="5080"/>
            <a:r>
              <a:rPr lang="en-US" sz="1050" dirty="0">
                <a:hlinkClick r:id="rId17"/>
              </a:rPr>
              <a:t>Techniques for </a:t>
            </a:r>
            <a:r>
              <a:rPr lang="en-US" sz="1050" dirty="0" err="1">
                <a:hlinkClick r:id="rId17"/>
              </a:rPr>
              <a:t>customising</a:t>
            </a:r>
            <a:r>
              <a:rPr lang="en-US" sz="1050" dirty="0">
                <a:hlinkClick r:id="rId17"/>
              </a:rPr>
              <a:t> Foundation Models | by Aruna </a:t>
            </a:r>
            <a:r>
              <a:rPr lang="en-US" sz="1050" dirty="0" err="1">
                <a:hlinkClick r:id="rId17"/>
              </a:rPr>
              <a:t>Pattam</a:t>
            </a:r>
            <a:r>
              <a:rPr lang="en-US" sz="1050" dirty="0">
                <a:hlinkClick r:id="rId17"/>
              </a:rPr>
              <a:t> | Medium</a:t>
            </a:r>
            <a:endParaRPr lang="en-US" sz="1050" dirty="0"/>
          </a:p>
          <a:p>
            <a:pPr marL="12700" marR="5080"/>
            <a:r>
              <a:rPr lang="en-US" sz="1050" dirty="0">
                <a:hlinkClick r:id="rId18"/>
              </a:rPr>
              <a:t>What are foundation model evaluations? - Amazon </a:t>
            </a:r>
            <a:r>
              <a:rPr lang="en-US" sz="1050" dirty="0" err="1">
                <a:hlinkClick r:id="rId18"/>
              </a:rPr>
              <a:t>SageMaker</a:t>
            </a:r>
            <a:r>
              <a:rPr lang="en-US" sz="1050" dirty="0">
                <a:hlinkClick r:id="rId18"/>
              </a:rPr>
              <a:t> AI</a:t>
            </a:r>
            <a:endParaRPr lang="en-US" sz="1050" dirty="0"/>
          </a:p>
          <a:p>
            <a:pPr marL="12700" marR="5080"/>
            <a:r>
              <a:rPr lang="en-US" sz="1050" dirty="0">
                <a:hlinkClick r:id="rId19"/>
              </a:rPr>
              <a:t>Evaluate, compare, and select the best foundation models for your use case in Amazon Bedrock (preview) | AWS News Blog</a:t>
            </a:r>
            <a:endParaRPr lang="en-US" sz="1050" dirty="0"/>
          </a:p>
          <a:p>
            <a:pPr marL="12700" marR="5080"/>
            <a:r>
              <a:rPr lang="en-US" sz="1050" dirty="0">
                <a:hlinkClick r:id="rId20"/>
              </a:rPr>
              <a:t>KPIs for gen AI: Measuring your AI success | Google Cloud Blog</a:t>
            </a:r>
            <a:endParaRPr lang="en-US" sz="1050" dirty="0"/>
          </a:p>
          <a:p>
            <a:pPr marL="12700" marR="5080"/>
            <a:r>
              <a:rPr lang="en-US" sz="1050" dirty="0">
                <a:hlinkClick r:id="rId21"/>
              </a:rPr>
              <a:t>8 metrics to measure GenAI’s performance and business value | TechTarget</a:t>
            </a:r>
            <a:endParaRPr lang="en-US" sz="1050" dirty="0"/>
          </a:p>
          <a:p>
            <a:pPr marL="12700" marR="5080"/>
            <a:r>
              <a:rPr lang="en-US" sz="1050" dirty="0">
                <a:hlinkClick r:id="rId22"/>
              </a:rPr>
              <a:t>Pretrain-Vision-and-Large-Language-Models-in-Python</a:t>
            </a:r>
            <a:endParaRPr lang="en-US" sz="1050" dirty="0"/>
          </a:p>
          <a:p>
            <a:pPr marL="12700" marR="5080"/>
            <a:r>
              <a:rPr lang="en-US" sz="1050" dirty="0">
                <a:hlinkClick r:id="rId23"/>
              </a:rPr>
              <a:t>Small Language Models: A Guide With Examples</a:t>
            </a:r>
            <a:endParaRPr lang="en-US" sz="1050" dirty="0"/>
          </a:p>
          <a:p>
            <a:pPr marL="12700" marR="5080"/>
            <a:r>
              <a:rPr lang="en-US" sz="1050" dirty="0">
                <a:hlinkClick r:id="rId24"/>
              </a:rPr>
              <a:t>Small language models emerge for domain-specific use cases</a:t>
            </a:r>
            <a:endParaRPr lang="en-US" sz="1050" dirty="0"/>
          </a:p>
          <a:p>
            <a:pPr marL="12700" marR="5080"/>
            <a:r>
              <a:rPr lang="en-US" sz="1050" dirty="0">
                <a:hlinkClick r:id="rId25"/>
              </a:rPr>
              <a:t>Building-Domain-Specific-Language-Models</a:t>
            </a:r>
            <a:endParaRPr lang="en-US" sz="1050" dirty="0"/>
          </a:p>
          <a:p>
            <a:pPr marL="12700" marR="5080"/>
            <a:r>
              <a:rPr lang="en-US" sz="1050" dirty="0">
                <a:hlinkClick r:id="rId26"/>
              </a:rPr>
              <a:t>An Easy Introduction to Multimodal Retrieval-Augmented Generation</a:t>
            </a:r>
            <a:endParaRPr lang="en-US" sz="1050" dirty="0"/>
          </a:p>
          <a:p>
            <a:pPr marL="12700" marR="5080"/>
            <a:r>
              <a:rPr lang="en-US" sz="1050" dirty="0">
                <a:hlinkClick r:id="rId27"/>
              </a:rPr>
              <a:t>A comparative study of retrieval-based and generative-based chatbots using Deep Learning and Machine Learning</a:t>
            </a:r>
            <a:endParaRPr lang="en-US" sz="1050" dirty="0"/>
          </a:p>
          <a:p>
            <a:pPr marL="12700" marR="5080"/>
            <a:r>
              <a:rPr lang="en-US" sz="1050" dirty="0">
                <a:hlinkClick r:id="rId28"/>
              </a:rPr>
              <a:t>The Panoramic Guide to Diffusion Models in Machine Learning</a:t>
            </a:r>
            <a:endParaRPr lang="en-US" sz="1050" dirty="0"/>
          </a:p>
          <a:p>
            <a:pPr marL="12700" marR="5080"/>
            <a:r>
              <a:rPr lang="en-US" sz="1050" dirty="0">
                <a:hlinkClick r:id="rId29"/>
              </a:rPr>
              <a:t>A Visual Guide to Mixture of Experts (</a:t>
            </a:r>
            <a:r>
              <a:rPr lang="en-US" sz="1050" dirty="0" err="1">
                <a:hlinkClick r:id="rId29"/>
              </a:rPr>
              <a:t>MoE</a:t>
            </a:r>
            <a:r>
              <a:rPr lang="en-US" sz="1050" dirty="0">
                <a:hlinkClick r:id="rId29"/>
              </a:rPr>
              <a:t>)</a:t>
            </a:r>
            <a:endParaRPr lang="en-US" sz="1050" dirty="0"/>
          </a:p>
          <a:p>
            <a:pPr marL="12700" marR="5080"/>
            <a:r>
              <a:rPr lang="en-US" sz="1050" dirty="0">
                <a:hlinkClick r:id="rId30"/>
              </a:rPr>
              <a:t>Multimodality and Large Multimodal Models (LMMs)</a:t>
            </a:r>
            <a:endParaRPr lang="en-US" sz="1050" dirty="0"/>
          </a:p>
          <a:p>
            <a:pPr marL="12700" marR="5080"/>
            <a:r>
              <a:rPr lang="en-US" sz="1050" dirty="0">
                <a:hlinkClick r:id="rId31"/>
              </a:rPr>
              <a:t>Announcing the AWS Well-Architected Generative AI Lens | AWS Architecture Blog</a:t>
            </a:r>
            <a:endParaRPr lang="en-US" sz="1050" dirty="0"/>
          </a:p>
          <a:p>
            <a:pPr marL="12700" marR="5080"/>
            <a:r>
              <a:rPr lang="en-US" sz="1050" dirty="0" err="1">
                <a:hlinkClick r:id="rId32"/>
              </a:rPr>
              <a:t>GenAIBook</a:t>
            </a:r>
            <a:r>
              <a:rPr lang="en-US" sz="1050" dirty="0">
                <a:hlinkClick r:id="rId32"/>
              </a:rPr>
              <a:t>: "Generative AI in Action" book's code repository</a:t>
            </a:r>
            <a:endParaRPr lang="en-US" sz="1050" dirty="0"/>
          </a:p>
          <a:p>
            <a:pPr marL="12700" marR="5080"/>
            <a:r>
              <a:rPr lang="en-IN" sz="1050" dirty="0">
                <a:hlinkClick r:id="rId33"/>
              </a:rPr>
              <a:t>Multimodal Models and Fusion - A Complete Guide | Medium</a:t>
            </a:r>
            <a:endParaRPr lang="en-US" sz="1050" dirty="0">
              <a:hlinkClick r:id="rId34"/>
            </a:endParaRPr>
          </a:p>
          <a:p>
            <a:pPr marL="12700" marR="5080"/>
            <a:r>
              <a:rPr lang="en-US" sz="1050" dirty="0">
                <a:hlinkClick r:id="rId34"/>
              </a:rPr>
              <a:t>Awesome-Generative-AI-Guide</a:t>
            </a:r>
            <a:endParaRPr lang="en-US" sz="1050" kern="0" spc="-80" dirty="0">
              <a:solidFill>
                <a:schemeClr val="accent2"/>
              </a:solidFill>
            </a:endParaRPr>
          </a:p>
        </p:txBody>
      </p:sp>
    </p:spTree>
    <p:extLst>
      <p:ext uri="{BB962C8B-B14F-4D97-AF65-F5344CB8AC3E}">
        <p14:creationId xmlns:p14="http://schemas.microsoft.com/office/powerpoint/2010/main" val="265569453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AE6EB-E077-45A4-DE0C-2CC1AF529B3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82B13A5-FBC1-DFA2-FF1D-052FEEA5C69E}"/>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F29AA36-E4ED-EC25-51D4-DBEC5128A431}"/>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B3438C4-CB8F-600D-E3B2-80D33797BB3D}"/>
              </a:ext>
            </a:extLst>
          </p:cNvPr>
          <p:cNvGraphicFramePr/>
          <p:nvPr>
            <p:extLst>
              <p:ext uri="{D42A27DB-BD31-4B8C-83A1-F6EECF244321}">
                <p14:modId xmlns:p14="http://schemas.microsoft.com/office/powerpoint/2010/main" val="269226918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9B0C3FB-EA9E-1C57-F020-990EFB520B9B}"/>
              </a:ext>
            </a:extLst>
          </p:cNvPr>
          <p:cNvSpPr txBox="1">
            <a:spLocks/>
          </p:cNvSpPr>
          <p:nvPr/>
        </p:nvSpPr>
        <p:spPr>
          <a:xfrm>
            <a:off x="212857" y="1341514"/>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000" kern="0" spc="-80" dirty="0">
                <a:solidFill>
                  <a:schemeClr val="accent6"/>
                </a:solidFill>
                <a:cs typeface="+mn-cs"/>
              </a:rPr>
              <a:t>Neuro-symbolic AI combines neural networks with symbolic reasoning techniques to create more robust and capable AI systems. It leverages the strengths of both approaches: the pattern recognition and learning capabilities of neural networks, and the ability of symbolic AI to reason and represent knowledge. This hybrid approach aims to improve AI's accuracy, explainability, and ability to handle complex, real-world problems. </a:t>
            </a:r>
          </a:p>
          <a:p>
            <a:pPr marL="12700" marR="5080"/>
            <a:r>
              <a:rPr lang="en-US" sz="1000" kern="0" spc="-80" dirty="0">
                <a:solidFill>
                  <a:schemeClr val="accent6"/>
                </a:solidFill>
                <a:cs typeface="+mn-cs"/>
              </a:rPr>
              <a:t>Here's a more detailed explanation: </a:t>
            </a:r>
          </a:p>
          <a:p>
            <a:pPr marL="12700" marR="5080"/>
            <a:r>
              <a:rPr lang="en-US" sz="1000" kern="0" spc="-80" dirty="0">
                <a:solidFill>
                  <a:schemeClr val="accent2"/>
                </a:solidFill>
                <a:cs typeface="+mn-cs"/>
              </a:rPr>
              <a:t>Neural Networks:</a:t>
            </a:r>
            <a:r>
              <a:rPr lang="en-US" sz="1000" kern="0" spc="-80" dirty="0">
                <a:solidFill>
                  <a:schemeClr val="accent6"/>
                </a:solidFill>
                <a:cs typeface="+mn-cs"/>
              </a:rPr>
              <a:t> These are inspired by the human brain and are used for tasks like image recognition, natural language processing, and prediction. They excel at learning complex patterns from data, but can struggle with reasoning and representing knowledge explicitly.</a:t>
            </a:r>
          </a:p>
          <a:p>
            <a:pPr marL="12700" marR="5080"/>
            <a:r>
              <a:rPr lang="en-US" sz="1000" kern="0" spc="-80" dirty="0">
                <a:solidFill>
                  <a:schemeClr val="accent2"/>
                </a:solidFill>
                <a:cs typeface="+mn-cs"/>
              </a:rPr>
              <a:t>Symbolic AI:</a:t>
            </a:r>
            <a:r>
              <a:rPr lang="en-US" sz="1000" kern="0" spc="-80" dirty="0">
                <a:solidFill>
                  <a:schemeClr val="accent6"/>
                </a:solidFill>
                <a:cs typeface="+mn-cs"/>
              </a:rPr>
              <a:t> This approach relies on logic, rules, and knowledge representations to reason and solve problems. It can handle abstract concepts and generate explanations for its decisions, but may struggle with learning from unstructured data.</a:t>
            </a:r>
          </a:p>
          <a:p>
            <a:pPr marL="12700" marR="5080"/>
            <a:r>
              <a:rPr lang="en-US" sz="1000" kern="0" spc="-80" dirty="0">
                <a:solidFill>
                  <a:schemeClr val="accent2"/>
                </a:solidFill>
                <a:cs typeface="+mn-cs"/>
              </a:rPr>
              <a:t>Neuro-symbolic AI:</a:t>
            </a:r>
            <a:r>
              <a:rPr lang="en-US" sz="1000" kern="0" spc="-80" dirty="0">
                <a:solidFill>
                  <a:schemeClr val="accent6"/>
                </a:solidFill>
                <a:cs typeface="+mn-cs"/>
              </a:rPr>
              <a:t> By combining these two approaches, neuro-symbolic AI aims to create systems that can:</a:t>
            </a:r>
          </a:p>
          <a:p>
            <a:pPr marL="12700" marR="5080"/>
            <a:r>
              <a:rPr lang="en-US" sz="1000" kern="0" spc="-80" dirty="0">
                <a:solidFill>
                  <a:schemeClr val="accent2"/>
                </a:solidFill>
                <a:cs typeface="+mn-cs"/>
              </a:rPr>
              <a:t>Learn from data: </a:t>
            </a:r>
            <a:r>
              <a:rPr lang="en-US" sz="1000" kern="0" spc="-80" dirty="0">
                <a:solidFill>
                  <a:schemeClr val="accent6"/>
                </a:solidFill>
                <a:cs typeface="+mn-cs"/>
              </a:rPr>
              <a:t>Neural networks can be used to extract patterns and features from data.</a:t>
            </a:r>
          </a:p>
          <a:p>
            <a:pPr marL="12700" marR="5080"/>
            <a:r>
              <a:rPr lang="en-US" sz="1000" kern="0" spc="-80" dirty="0">
                <a:solidFill>
                  <a:schemeClr val="accent2"/>
                </a:solidFill>
                <a:cs typeface="+mn-cs"/>
              </a:rPr>
              <a:t>Reason logically</a:t>
            </a:r>
            <a:r>
              <a:rPr lang="en-US" sz="1000" kern="0" spc="-80" dirty="0">
                <a:solidFill>
                  <a:schemeClr val="accent6"/>
                </a:solidFill>
                <a:cs typeface="+mn-cs"/>
              </a:rPr>
              <a:t>: Symbolic AI can be used to represent knowledge and apply rules to reason about the extracted patterns.</a:t>
            </a:r>
          </a:p>
          <a:p>
            <a:pPr marL="12700" marR="5080"/>
            <a:r>
              <a:rPr lang="en-US" sz="1000" kern="0" spc="-80" dirty="0">
                <a:solidFill>
                  <a:schemeClr val="accent2"/>
                </a:solidFill>
                <a:cs typeface="+mn-cs"/>
              </a:rPr>
              <a:t>Explain their decisions:</a:t>
            </a:r>
            <a:r>
              <a:rPr lang="en-US" sz="1000" kern="0" spc="-80" dirty="0">
                <a:solidFill>
                  <a:schemeClr val="accent6"/>
                </a:solidFill>
                <a:cs typeface="+mn-cs"/>
              </a:rPr>
              <a:t> The use of symbolic reasoning makes the AI's decision-making process more transparent and understandable.</a:t>
            </a:r>
          </a:p>
          <a:p>
            <a:pPr marL="12700" marR="5080"/>
            <a:r>
              <a:rPr lang="en-US" sz="1000" kern="0" spc="-80" dirty="0">
                <a:solidFill>
                  <a:schemeClr val="accent2"/>
                </a:solidFill>
                <a:cs typeface="+mn-cs"/>
              </a:rPr>
              <a:t>Generalize to new situations: </a:t>
            </a:r>
            <a:r>
              <a:rPr lang="en-US" sz="1000" kern="0" spc="-80" dirty="0">
                <a:solidFill>
                  <a:schemeClr val="accent6"/>
                </a:solidFill>
                <a:cs typeface="+mn-cs"/>
              </a:rPr>
              <a:t>By combining learning and reasoning, neuro-symbolic AI can potentially generalize better to new and unseen data.</a:t>
            </a:r>
          </a:p>
          <a:p>
            <a:pPr marL="12700" marR="5080"/>
            <a:r>
              <a:rPr lang="en-US" sz="1000" kern="0" spc="-80" dirty="0">
                <a:solidFill>
                  <a:schemeClr val="accent2"/>
                </a:solidFill>
                <a:cs typeface="+mn-cs"/>
              </a:rPr>
              <a:t>Benefits of Neuro-symbolic AI:</a:t>
            </a:r>
          </a:p>
          <a:p>
            <a:pPr marL="12700" marR="5080"/>
            <a:r>
              <a:rPr lang="en-US" sz="1000" kern="0" spc="-80" dirty="0">
                <a:solidFill>
                  <a:schemeClr val="accent2"/>
                </a:solidFill>
                <a:cs typeface="+mn-cs"/>
              </a:rPr>
              <a:t>Improved accuracy and </a:t>
            </a:r>
            <a:r>
              <a:rPr lang="en-US" sz="1000" kern="0" spc="-80" dirty="0" err="1">
                <a:solidFill>
                  <a:schemeClr val="accent2"/>
                </a:solidFill>
                <a:cs typeface="+mn-cs"/>
              </a:rPr>
              <a:t>reliability:</a:t>
            </a:r>
            <a:r>
              <a:rPr lang="en-US" sz="1000" kern="0" spc="-80" dirty="0" err="1">
                <a:solidFill>
                  <a:schemeClr val="accent6"/>
                </a:solidFill>
                <a:cs typeface="+mn-cs"/>
              </a:rPr>
              <a:t>By</a:t>
            </a:r>
            <a:r>
              <a:rPr lang="en-US" sz="1000" kern="0" spc="-80" dirty="0">
                <a:solidFill>
                  <a:schemeClr val="accent6"/>
                </a:solidFill>
                <a:cs typeface="+mn-cs"/>
              </a:rPr>
              <a:t> combining the strengths of both neural and symbolic AI, neuro-symbolic systems can achieve higher accuracy and reliability.</a:t>
            </a:r>
          </a:p>
          <a:p>
            <a:pPr marL="12700" marR="5080"/>
            <a:r>
              <a:rPr lang="en-US" sz="1000" kern="0" spc="-80" dirty="0">
                <a:solidFill>
                  <a:schemeClr val="accent2"/>
                </a:solidFill>
                <a:cs typeface="+mn-cs"/>
              </a:rPr>
              <a:t>Enhanced explainability</a:t>
            </a:r>
            <a:r>
              <a:rPr lang="en-US" sz="1000" kern="0" spc="-80" dirty="0">
                <a:solidFill>
                  <a:schemeClr val="accent6"/>
                </a:solidFill>
                <a:cs typeface="+mn-cs"/>
              </a:rPr>
              <a:t>: Symbolic reasoning makes it easier to understand how neuro-symbolic systems arrive at their decisions.</a:t>
            </a:r>
          </a:p>
          <a:p>
            <a:pPr marL="12700" marR="5080"/>
            <a:r>
              <a:rPr lang="en-US" sz="1000" kern="0" spc="-80" dirty="0">
                <a:solidFill>
                  <a:schemeClr val="accent2"/>
                </a:solidFill>
                <a:cs typeface="+mn-cs"/>
              </a:rPr>
              <a:t>Better generalizability: </a:t>
            </a:r>
            <a:r>
              <a:rPr lang="en-US" sz="1000" kern="0" spc="-80" dirty="0">
                <a:solidFill>
                  <a:schemeClr val="accent6"/>
                </a:solidFill>
                <a:cs typeface="+mn-cs"/>
              </a:rPr>
              <a:t>The ability to reason and represent knowledge allows neuro-symbolic systems to generalize better to new situations.</a:t>
            </a:r>
          </a:p>
          <a:p>
            <a:pPr marL="12700" marR="5080"/>
            <a:r>
              <a:rPr lang="en-US" sz="1000" kern="0" spc="-80" dirty="0">
                <a:solidFill>
                  <a:schemeClr val="accent2"/>
                </a:solidFill>
                <a:cs typeface="+mn-cs"/>
              </a:rPr>
              <a:t>Ability to handle complex problems</a:t>
            </a:r>
            <a:r>
              <a:rPr lang="en-US" sz="1000" kern="0" spc="-80" dirty="0">
                <a:solidFill>
                  <a:schemeClr val="accent6"/>
                </a:solidFill>
                <a:cs typeface="+mn-cs"/>
              </a:rPr>
              <a:t> :Neuro-symbolic AI can tackle complex problems that require both pattern recognition and logical reasoning. </a:t>
            </a:r>
          </a:p>
          <a:p>
            <a:pPr marL="12700" marR="5080"/>
            <a:r>
              <a:rPr lang="en-US" sz="1000" kern="0" spc="-80" dirty="0">
                <a:solidFill>
                  <a:schemeClr val="accent2"/>
                </a:solidFill>
                <a:cs typeface="+mn-cs"/>
              </a:rPr>
              <a:t>Examples of Neuro-symbolic AI applications:</a:t>
            </a:r>
          </a:p>
          <a:p>
            <a:pPr marL="12700" marR="5080"/>
            <a:r>
              <a:rPr lang="en-US" sz="1000" kern="0" spc="-80" dirty="0" err="1">
                <a:solidFill>
                  <a:schemeClr val="accent2"/>
                </a:solidFill>
                <a:cs typeface="+mn-cs"/>
              </a:rPr>
              <a:t>Robotics:Neuro-symbolic</a:t>
            </a:r>
            <a:r>
              <a:rPr lang="en-US" sz="1000" kern="0" spc="-80" dirty="0">
                <a:solidFill>
                  <a:schemeClr val="accent6"/>
                </a:solidFill>
                <a:cs typeface="+mn-cs"/>
              </a:rPr>
              <a:t> AI can be used to develop robots that can learn from experience and also reason about their environment.</a:t>
            </a:r>
          </a:p>
          <a:p>
            <a:pPr marL="12700" marR="5080"/>
            <a:r>
              <a:rPr lang="en-US" sz="1000" kern="0" spc="-80" dirty="0">
                <a:solidFill>
                  <a:schemeClr val="accent2"/>
                </a:solidFill>
                <a:cs typeface="+mn-cs"/>
              </a:rPr>
              <a:t>Natural language processing </a:t>
            </a:r>
            <a:r>
              <a:rPr lang="en-US" sz="1000" kern="0" spc="-80" dirty="0">
                <a:solidFill>
                  <a:schemeClr val="accent6"/>
                </a:solidFill>
                <a:cs typeface="+mn-cs"/>
              </a:rPr>
              <a:t>:Neuro-symbolic AI can be used to create more robust and accurate natural language processing systems that can understand and generate human-like language.</a:t>
            </a:r>
          </a:p>
          <a:p>
            <a:pPr marL="12700" marR="5080"/>
            <a:r>
              <a:rPr lang="en-US" sz="1000" kern="0" spc="-80" dirty="0">
                <a:solidFill>
                  <a:schemeClr val="accent2"/>
                </a:solidFill>
                <a:cs typeface="+mn-cs"/>
              </a:rPr>
              <a:t>Medical diagnosis:</a:t>
            </a:r>
            <a:r>
              <a:rPr lang="en-US" sz="1000" kern="0" spc="-80" dirty="0">
                <a:solidFill>
                  <a:schemeClr val="accent6"/>
                </a:solidFill>
                <a:cs typeface="+mn-cs"/>
              </a:rPr>
              <a:t> Neuro-symbolic AI can be used to assist doctors in diagnosing diseases by integrating medical knowledge with patient data.</a:t>
            </a:r>
          </a:p>
          <a:p>
            <a:pPr marL="12700" marR="5080"/>
            <a:r>
              <a:rPr lang="en-US" sz="1000" kern="0" spc="-80" dirty="0">
                <a:solidFill>
                  <a:schemeClr val="accent2"/>
                </a:solidFill>
                <a:cs typeface="+mn-cs"/>
              </a:rPr>
              <a:t>Knowledge graphs:</a:t>
            </a:r>
            <a:r>
              <a:rPr lang="en-US" sz="1000" kern="0" spc="-80" dirty="0">
                <a:solidFill>
                  <a:schemeClr val="accent6"/>
                </a:solidFill>
                <a:cs typeface="+mn-cs"/>
              </a:rPr>
              <a:t> Neuro-symbolic AI can be used to build and maintain knowledge graphs, which are used to represent and reason about complex relationships between concepts. </a:t>
            </a:r>
          </a:p>
        </p:txBody>
      </p:sp>
      <p:sp>
        <p:nvSpPr>
          <p:cNvPr id="7" name="object 2">
            <a:extLst>
              <a:ext uri="{FF2B5EF4-FFF2-40B4-BE49-F238E27FC236}">
                <a16:creationId xmlns:a16="http://schemas.microsoft.com/office/drawing/2014/main" id="{77F7C13F-C7BD-56AF-9339-02351DE6E75C}"/>
              </a:ext>
            </a:extLst>
          </p:cNvPr>
          <p:cNvSpPr txBox="1">
            <a:spLocks/>
          </p:cNvSpPr>
          <p:nvPr/>
        </p:nvSpPr>
        <p:spPr>
          <a:xfrm>
            <a:off x="228600" y="5415915"/>
            <a:ext cx="8624937" cy="4616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IN" sz="800" dirty="0">
                <a:hlinkClick r:id="rId7"/>
              </a:rPr>
              <a:t>Neuro-symbolic AI</a:t>
            </a:r>
            <a:endParaRPr lang="en-IN" sz="800" dirty="0"/>
          </a:p>
          <a:p>
            <a:pPr marL="12700" marR="5080"/>
            <a:r>
              <a:rPr lang="en-US" sz="800" dirty="0">
                <a:hlinkClick r:id="rId8"/>
              </a:rPr>
              <a:t>Neuro-Symbolic-AI: Neuro-Symbolic AI</a:t>
            </a:r>
            <a:endParaRPr lang="en-US" sz="1000" kern="0" spc="-80" dirty="0">
              <a:solidFill>
                <a:schemeClr val="accent2"/>
              </a:solidFill>
            </a:endParaRPr>
          </a:p>
        </p:txBody>
      </p:sp>
    </p:spTree>
    <p:extLst>
      <p:ext uri="{BB962C8B-B14F-4D97-AF65-F5344CB8AC3E}">
        <p14:creationId xmlns:p14="http://schemas.microsoft.com/office/powerpoint/2010/main" val="279827677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F608F-49E4-C775-76FD-5783DC04261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F4E83D-6C27-C0D3-50F0-85781727E0E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3C4EA0-F38F-5094-2D73-11EEB1F92A76}"/>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49F9AD2-834A-4427-4886-65F169E273E3}"/>
              </a:ext>
            </a:extLst>
          </p:cNvPr>
          <p:cNvGraphicFramePr/>
          <p:nvPr>
            <p:extLst>
              <p:ext uri="{D42A27DB-BD31-4B8C-83A1-F6EECF244321}">
                <p14:modId xmlns:p14="http://schemas.microsoft.com/office/powerpoint/2010/main" val="352345431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93E96FC-A767-3970-7493-95BA7D3BE39C}"/>
              </a:ext>
            </a:extLst>
          </p:cNvPr>
          <p:cNvSpPr txBox="1">
            <a:spLocks/>
          </p:cNvSpPr>
          <p:nvPr/>
        </p:nvSpPr>
        <p:spPr>
          <a:xfrm>
            <a:off x="-47626" y="4343400"/>
            <a:ext cx="8624937" cy="15081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cs typeface="+mn-cs"/>
              </a:rPr>
              <a:t>Agentic AI is one of the most important emerging paradigms in artificial intelligence today, especially as we move beyond passive LLMs (like chatbots) toward autonomous, goal-driven AI agents that can reason, plan, act, and learn continuously.</a:t>
            </a:r>
          </a:p>
          <a:p>
            <a:pPr marL="12700" marR="5080"/>
            <a:r>
              <a:rPr lang="en-US" sz="1400" kern="0" spc="-80" dirty="0">
                <a:solidFill>
                  <a:schemeClr val="accent2"/>
                </a:solidFill>
                <a:cs typeface="+mn-cs"/>
              </a:rPr>
              <a:t>🧠 1. What is Agentic AI?</a:t>
            </a:r>
          </a:p>
          <a:p>
            <a:pPr marL="12700" marR="5080"/>
            <a:r>
              <a:rPr lang="en-US" sz="1400" kern="0" spc="-80" dirty="0">
                <a:solidFill>
                  <a:schemeClr val="accent6"/>
                </a:solidFill>
                <a:cs typeface="+mn-cs"/>
              </a:rPr>
              <a:t>Agentic AI refers to AI systems that exhibit agency — meaning they can set goals, make decisions, take actions, and adapt based on feedback from their environment. Unlike static AI models that only respond to prompts, agentic systems operate autonomously in pursuit of objectives.</a:t>
            </a:r>
          </a:p>
        </p:txBody>
      </p:sp>
      <p:pic>
        <p:nvPicPr>
          <p:cNvPr id="7" name="Picture 6">
            <a:extLst>
              <a:ext uri="{FF2B5EF4-FFF2-40B4-BE49-F238E27FC236}">
                <a16:creationId xmlns:a16="http://schemas.microsoft.com/office/drawing/2014/main" id="{9596924F-CDA1-D9C8-276A-28C13F146281}"/>
              </a:ext>
            </a:extLst>
          </p:cNvPr>
          <p:cNvPicPr>
            <a:picLocks noChangeAspect="1"/>
          </p:cNvPicPr>
          <p:nvPr/>
        </p:nvPicPr>
        <p:blipFill>
          <a:blip r:embed="rId7"/>
          <a:stretch>
            <a:fillRect/>
          </a:stretch>
        </p:blipFill>
        <p:spPr>
          <a:xfrm>
            <a:off x="-17146" y="1275913"/>
            <a:ext cx="9084945" cy="3067488"/>
          </a:xfrm>
          <a:prstGeom prst="rect">
            <a:avLst/>
          </a:prstGeom>
        </p:spPr>
      </p:pic>
    </p:spTree>
    <p:extLst>
      <p:ext uri="{BB962C8B-B14F-4D97-AF65-F5344CB8AC3E}">
        <p14:creationId xmlns:p14="http://schemas.microsoft.com/office/powerpoint/2010/main" val="97521674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C29B-5520-62F3-F683-FFE47DB77E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F35118-B224-9F33-E3AC-077C6429EAB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CE61AA2-1BA3-B309-E031-2B962F660C2F}"/>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2F091C-013F-2888-99EB-49FEC6A09FB0}"/>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8F3870-7607-75F9-D5BD-076737707F65}"/>
              </a:ext>
            </a:extLst>
          </p:cNvPr>
          <p:cNvSpPr txBox="1">
            <a:spLocks/>
          </p:cNvSpPr>
          <p:nvPr/>
        </p:nvSpPr>
        <p:spPr>
          <a:xfrm>
            <a:off x="30480" y="1275912"/>
            <a:ext cx="8624937" cy="38779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Example:</a:t>
            </a:r>
          </a:p>
          <a:p>
            <a:pPr marL="12700" marR="5080"/>
            <a:r>
              <a:rPr lang="en-US" sz="1400" kern="0" spc="-80" dirty="0">
                <a:solidFill>
                  <a:schemeClr val="accent6"/>
                </a:solidFill>
              </a:rPr>
              <a:t>A GenAI model like GPT-5 answers your questions.</a:t>
            </a:r>
          </a:p>
          <a:p>
            <a:pPr marL="12700" marR="5080"/>
            <a:r>
              <a:rPr lang="en-US" sz="1400" kern="0" spc="-80" dirty="0">
                <a:solidFill>
                  <a:schemeClr val="accent6"/>
                </a:solidFill>
              </a:rPr>
              <a:t>A Sales Agent AI uses GPT-5 reasoning + memory + tools to autonomously find leads, write emails, schedule follow-ups, and optimize strategies without direct human commands.</a:t>
            </a:r>
          </a:p>
          <a:p>
            <a:pPr marL="12700" marR="5080"/>
            <a:r>
              <a:rPr lang="en-US" sz="1400" kern="0" spc="-80" dirty="0">
                <a:solidFill>
                  <a:schemeClr val="accent2"/>
                </a:solidFill>
                <a:cs typeface="+mn-cs"/>
              </a:rPr>
              <a:t>⚙️ 2. Core Components of Agentic AI</a:t>
            </a:r>
          </a:p>
          <a:p>
            <a:pPr marL="12700" marR="5080"/>
            <a:r>
              <a:rPr lang="en-US" sz="1400" kern="0" spc="-80" dirty="0">
                <a:solidFill>
                  <a:schemeClr val="accent6"/>
                </a:solidFill>
                <a:cs typeface="+mn-cs"/>
              </a:rPr>
              <a:t>Agentic AI systems combine multiple layers beyond a standard LLM. These are often visualized as a cognitive architecture stack:</a:t>
            </a: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r>
              <a:rPr lang="en-US" sz="1400" kern="0" spc="-80" dirty="0">
                <a:solidFill>
                  <a:schemeClr val="accent6"/>
                </a:solidFill>
                <a:cs typeface="+mn-cs"/>
              </a:rPr>
              <a:t>	                    	</a:t>
            </a:r>
          </a:p>
          <a:p>
            <a:pPr marL="12700" marR="5080"/>
            <a:r>
              <a:rPr lang="en-US" sz="1400" kern="0" spc="-80" dirty="0">
                <a:solidFill>
                  <a:schemeClr val="accent6"/>
                </a:solidFill>
                <a:cs typeface="+mn-cs"/>
              </a:rPr>
              <a:t>		,</a:t>
            </a: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endParaRPr lang="en-US" sz="1400" kern="0" spc="-80" dirty="0">
              <a:solidFill>
                <a:schemeClr val="accent6"/>
              </a:solidFill>
              <a:cs typeface="+mn-cs"/>
            </a:endParaRPr>
          </a:p>
          <a:p>
            <a:pPr marL="12700" marR="5080"/>
            <a:r>
              <a:rPr lang="en-US" sz="1400" kern="0" spc="-80" dirty="0">
                <a:solidFill>
                  <a:schemeClr val="accent6"/>
                </a:solidFill>
                <a:cs typeface="+mn-cs"/>
              </a:rPr>
              <a:t>		</a:t>
            </a:r>
          </a:p>
        </p:txBody>
      </p:sp>
      <p:pic>
        <p:nvPicPr>
          <p:cNvPr id="9" name="Picture 8" descr="A screenshot of a computer screen&#10;&#10;AI-generated content may be incorrect.">
            <a:extLst>
              <a:ext uri="{FF2B5EF4-FFF2-40B4-BE49-F238E27FC236}">
                <a16:creationId xmlns:a16="http://schemas.microsoft.com/office/drawing/2014/main" id="{E6E011A7-BEE5-470D-11D1-97CDFCB98F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80" y="2806504"/>
            <a:ext cx="9037319" cy="3119268"/>
          </a:xfrm>
          <a:prstGeom prst="rect">
            <a:avLst/>
          </a:prstGeom>
        </p:spPr>
      </p:pic>
    </p:spTree>
    <p:extLst>
      <p:ext uri="{BB962C8B-B14F-4D97-AF65-F5344CB8AC3E}">
        <p14:creationId xmlns:p14="http://schemas.microsoft.com/office/powerpoint/2010/main" val="2020510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47484-B304-9DC1-1BDC-0DBE3C28A7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43FBB36-2890-19A2-B26A-67E6D5BB03A0}"/>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2DE35F-E7BB-652A-E018-4582EFFC6933}"/>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1FD4AF-BF61-F041-5815-B564A2349019}"/>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7FAA036-E372-DF95-2E1A-1D873CBA9B24}"/>
              </a:ext>
            </a:extLst>
          </p:cNvPr>
          <p:cNvSpPr txBox="1">
            <a:spLocks/>
          </p:cNvSpPr>
          <p:nvPr/>
        </p:nvSpPr>
        <p:spPr>
          <a:xfrm>
            <a:off x="30480" y="1275912"/>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 3. Cognitive Loop (Perception → Reason → Act → Learn)</a:t>
            </a:r>
          </a:p>
          <a:p>
            <a:pPr marL="12700" marR="5080"/>
            <a:r>
              <a:rPr lang="en-US" sz="1400" kern="0" spc="-80" dirty="0">
                <a:solidFill>
                  <a:schemeClr val="accent2"/>
                </a:solidFill>
                <a:cs typeface="+mn-cs"/>
              </a:rPr>
              <a:t>The Agentic AI loop mimics human cognition:</a:t>
            </a:r>
          </a:p>
          <a:p>
            <a:pPr marL="12700" marR="5080"/>
            <a:r>
              <a:rPr lang="en-US" sz="1400" kern="0" spc="-80" dirty="0">
                <a:solidFill>
                  <a:schemeClr val="accent6"/>
                </a:solidFill>
                <a:cs typeface="+mn-cs"/>
              </a:rPr>
              <a:t>Perceive → Gather information about the world or environment.</a:t>
            </a:r>
          </a:p>
          <a:p>
            <a:pPr marL="12700" marR="5080"/>
            <a:r>
              <a:rPr lang="en-US" sz="1400" kern="0" spc="-80" dirty="0">
                <a:solidFill>
                  <a:schemeClr val="accent6"/>
                </a:solidFill>
                <a:cs typeface="+mn-cs"/>
              </a:rPr>
              <a:t>Reason → Analyze, plan, and make decisions.</a:t>
            </a:r>
          </a:p>
          <a:p>
            <a:pPr marL="12700" marR="5080"/>
            <a:r>
              <a:rPr lang="en-US" sz="1400" kern="0" spc="-80" dirty="0">
                <a:solidFill>
                  <a:schemeClr val="accent6"/>
                </a:solidFill>
                <a:cs typeface="+mn-cs"/>
              </a:rPr>
              <a:t>Act → Take steps via tools or APIs.</a:t>
            </a:r>
          </a:p>
          <a:p>
            <a:pPr marL="12700" marR="5080"/>
            <a:r>
              <a:rPr lang="en-US" sz="1400" kern="0" spc="-80" dirty="0">
                <a:solidFill>
                  <a:schemeClr val="accent6"/>
                </a:solidFill>
                <a:cs typeface="+mn-cs"/>
              </a:rPr>
              <a:t>Learn → Observe outcomes and improve future behavior.</a:t>
            </a:r>
          </a:p>
          <a:p>
            <a:pPr marL="12700" marR="5080"/>
            <a:r>
              <a:rPr lang="en-US" sz="1400" kern="0" spc="-80" dirty="0">
                <a:solidFill>
                  <a:schemeClr val="accent6"/>
                </a:solidFill>
                <a:cs typeface="+mn-cs"/>
              </a:rPr>
              <a:t>This cycle allows agentic systems to be autonomous, adaptive, and goal-directed.</a:t>
            </a:r>
          </a:p>
          <a:p>
            <a:pPr marL="12700" marR="5080"/>
            <a:r>
              <a:rPr lang="en-US" sz="1400" kern="0" spc="-80" dirty="0">
                <a:solidFill>
                  <a:schemeClr val="accent2"/>
                </a:solidFill>
                <a:cs typeface="+mn-cs"/>
              </a:rPr>
              <a:t>🧩 4. Key Concepts &amp; Techniques</a:t>
            </a:r>
          </a:p>
          <a:p>
            <a:pPr marL="12700" marR="5080"/>
            <a:r>
              <a:rPr lang="en-US" sz="1400" kern="0" spc="-80" dirty="0">
                <a:solidFill>
                  <a:schemeClr val="accent6"/>
                </a:solidFill>
                <a:cs typeface="+mn-cs"/>
              </a:rPr>
              <a:t>Here are the essential technical and conceptual foundations:</a:t>
            </a:r>
          </a:p>
          <a:p>
            <a:pPr marL="12700" marR="5080"/>
            <a:r>
              <a:rPr lang="en-US" sz="1400" kern="0" spc="-80" dirty="0">
                <a:solidFill>
                  <a:schemeClr val="accent2"/>
                </a:solidFill>
                <a:cs typeface="+mn-cs"/>
              </a:rPr>
              <a:t>a. Autonomy</a:t>
            </a:r>
          </a:p>
          <a:p>
            <a:pPr marL="12700" marR="5080"/>
            <a:r>
              <a:rPr lang="en-US" sz="1400" kern="0" spc="-80" dirty="0">
                <a:solidFill>
                  <a:schemeClr val="accent6"/>
                </a:solidFill>
                <a:cs typeface="+mn-cs"/>
              </a:rPr>
              <a:t>Ability to perform tasks without constant human oversight.</a:t>
            </a:r>
          </a:p>
          <a:p>
            <a:pPr marL="12700" marR="5080"/>
            <a:r>
              <a:rPr lang="en-US" sz="1400" kern="0" spc="-80" dirty="0">
                <a:solidFill>
                  <a:schemeClr val="accent6"/>
                </a:solidFill>
                <a:cs typeface="+mn-cs"/>
              </a:rPr>
              <a:t>Built via task planning, self-prompting, and self-correction loops.</a:t>
            </a:r>
          </a:p>
          <a:p>
            <a:pPr marL="12700" marR="5080"/>
            <a:r>
              <a:rPr lang="en-US" sz="1400" kern="0" spc="-80" dirty="0">
                <a:solidFill>
                  <a:schemeClr val="accent2"/>
                </a:solidFill>
                <a:cs typeface="+mn-cs"/>
              </a:rPr>
              <a:t>b. Goal-Oriented Behavior</a:t>
            </a:r>
          </a:p>
          <a:p>
            <a:pPr marL="12700" marR="5080"/>
            <a:r>
              <a:rPr lang="en-US" sz="1400" kern="0" spc="-80" dirty="0">
                <a:solidFill>
                  <a:schemeClr val="accent6"/>
                </a:solidFill>
                <a:cs typeface="+mn-cs"/>
              </a:rPr>
              <a:t>Agents operate toward explicit objectives or inferred goals.</a:t>
            </a:r>
          </a:p>
          <a:p>
            <a:pPr marL="12700" marR="5080"/>
            <a:r>
              <a:rPr lang="en-US" sz="1400" kern="0" spc="-80" dirty="0">
                <a:solidFill>
                  <a:schemeClr val="accent6"/>
                </a:solidFill>
                <a:cs typeface="+mn-cs"/>
              </a:rPr>
              <a:t>Often implemented via “planner–executor” architectures.</a:t>
            </a:r>
          </a:p>
          <a:p>
            <a:pPr marL="12700" marR="5080"/>
            <a:r>
              <a:rPr lang="en-US" sz="1400" kern="0" spc="-80" dirty="0">
                <a:solidFill>
                  <a:schemeClr val="accent2"/>
                </a:solidFill>
                <a:cs typeface="+mn-cs"/>
              </a:rPr>
              <a:t>c. Memory Systems</a:t>
            </a:r>
          </a:p>
          <a:p>
            <a:pPr marL="12700" marR="5080"/>
            <a:r>
              <a:rPr lang="en-US" sz="1400" kern="0" spc="-80" dirty="0">
                <a:solidFill>
                  <a:schemeClr val="accent6"/>
                </a:solidFill>
                <a:cs typeface="+mn-cs"/>
              </a:rPr>
              <a:t>Agents maintain episodic (experience-based) and semantic (knowledge-based) memories.</a:t>
            </a:r>
          </a:p>
          <a:p>
            <a:pPr marL="12700" marR="5080"/>
            <a:r>
              <a:rPr lang="en-US" sz="1400" kern="0" spc="-80" dirty="0">
                <a:solidFill>
                  <a:schemeClr val="accent6"/>
                </a:solidFill>
                <a:cs typeface="+mn-cs"/>
              </a:rPr>
              <a:t>Tools: vector databases, Redis, Milvus, Chroma.</a:t>
            </a:r>
          </a:p>
          <a:p>
            <a:pPr marL="12700" marR="5080"/>
            <a:r>
              <a:rPr lang="en-US" sz="1400" kern="0" spc="-80" dirty="0">
                <a:solidFill>
                  <a:schemeClr val="accent2"/>
                </a:solidFill>
                <a:cs typeface="+mn-cs"/>
              </a:rPr>
              <a:t>d. Tool Use</a:t>
            </a:r>
          </a:p>
          <a:p>
            <a:pPr marL="12700" marR="5080"/>
            <a:r>
              <a:rPr lang="en-US" sz="1400" kern="0" spc="-80" dirty="0">
                <a:solidFill>
                  <a:schemeClr val="accent6"/>
                </a:solidFill>
                <a:cs typeface="+mn-cs"/>
              </a:rPr>
              <a:t>Agents extend capabilities by invoking APIs or systems (e.g., web search, file systems, databases).</a:t>
            </a:r>
          </a:p>
          <a:p>
            <a:pPr marL="12700" marR="5080"/>
            <a:r>
              <a:rPr lang="en-US" sz="1400" kern="0" spc="-80" dirty="0">
                <a:solidFill>
                  <a:schemeClr val="accent6"/>
                </a:solidFill>
                <a:cs typeface="+mn-cs"/>
              </a:rPr>
              <a:t>Example: </a:t>
            </a:r>
            <a:r>
              <a:rPr lang="en-US" sz="1400" kern="0" spc="-80" dirty="0" err="1">
                <a:solidFill>
                  <a:schemeClr val="accent6"/>
                </a:solidFill>
                <a:cs typeface="+mn-cs"/>
              </a:rPr>
              <a:t>LangChain</a:t>
            </a:r>
            <a:r>
              <a:rPr lang="en-US" sz="1400" kern="0" spc="-80" dirty="0">
                <a:solidFill>
                  <a:schemeClr val="accent6"/>
                </a:solidFill>
                <a:cs typeface="+mn-cs"/>
              </a:rPr>
              <a:t> Tools, OpenAI Functions, </a:t>
            </a:r>
            <a:r>
              <a:rPr lang="en-US" sz="1400" kern="0" spc="-80" dirty="0" err="1">
                <a:solidFill>
                  <a:schemeClr val="accent6"/>
                </a:solidFill>
                <a:cs typeface="+mn-cs"/>
              </a:rPr>
              <a:t>HuggingFace</a:t>
            </a:r>
            <a:r>
              <a:rPr lang="en-US" sz="1400" kern="0" spc="-80" dirty="0">
                <a:solidFill>
                  <a:schemeClr val="accent6"/>
                </a:solidFill>
                <a:cs typeface="+mn-cs"/>
              </a:rPr>
              <a:t> Agents.</a:t>
            </a:r>
          </a:p>
        </p:txBody>
      </p:sp>
    </p:spTree>
    <p:extLst>
      <p:ext uri="{BB962C8B-B14F-4D97-AF65-F5344CB8AC3E}">
        <p14:creationId xmlns:p14="http://schemas.microsoft.com/office/powerpoint/2010/main" val="118804427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699B-93E0-BA18-CABE-A225A7733D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BB725E-DC71-443F-EDFC-0BA3EE584CD3}"/>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B106136-AEE2-F62A-DE6E-8F3E32CE65C7}"/>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41CBCB4-8EEE-66AA-D824-D8DAC0367AFA}"/>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CD2C238-314E-8AF3-C84E-F7A8216BC360}"/>
              </a:ext>
            </a:extLst>
          </p:cNvPr>
          <p:cNvSpPr txBox="1">
            <a:spLocks/>
          </p:cNvSpPr>
          <p:nvPr/>
        </p:nvSpPr>
        <p:spPr>
          <a:xfrm>
            <a:off x="30480" y="1275912"/>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e. Reasoning and Reflection</a:t>
            </a:r>
          </a:p>
          <a:p>
            <a:pPr marL="12700" marR="5080"/>
            <a:r>
              <a:rPr lang="en-US" sz="1400" kern="0" spc="-80" dirty="0">
                <a:solidFill>
                  <a:schemeClr val="accent6"/>
                </a:solidFill>
                <a:cs typeface="+mn-cs"/>
              </a:rPr>
              <a:t>They self-evaluate decisions and improve their next steps.</a:t>
            </a:r>
          </a:p>
          <a:p>
            <a:pPr marL="12700" marR="5080"/>
            <a:r>
              <a:rPr lang="en-US" sz="1400" kern="0" spc="-80" dirty="0">
                <a:solidFill>
                  <a:schemeClr val="accent6"/>
                </a:solidFill>
                <a:cs typeface="+mn-cs"/>
              </a:rPr>
              <a:t>“</a:t>
            </a:r>
            <a:r>
              <a:rPr lang="en-US" sz="1400" kern="0" spc="-80" dirty="0" err="1">
                <a:solidFill>
                  <a:schemeClr val="accent6"/>
                </a:solidFill>
                <a:cs typeface="+mn-cs"/>
              </a:rPr>
              <a:t>Reflexion</a:t>
            </a:r>
            <a:r>
              <a:rPr lang="en-US" sz="1400" kern="0" spc="-80" dirty="0">
                <a:solidFill>
                  <a:schemeClr val="accent6"/>
                </a:solidFill>
                <a:cs typeface="+mn-cs"/>
              </a:rPr>
              <a:t>,” “Tree-of-Thought,” and “Meta-Reasoning” architectures enable this.</a:t>
            </a:r>
          </a:p>
          <a:p>
            <a:pPr marL="12700" marR="5080"/>
            <a:r>
              <a:rPr lang="en-US" sz="1400" kern="0" spc="-80" dirty="0">
                <a:solidFill>
                  <a:schemeClr val="accent2"/>
                </a:solidFill>
                <a:cs typeface="+mn-cs"/>
              </a:rPr>
              <a:t>f. Multi-Agent Collaboration</a:t>
            </a:r>
          </a:p>
          <a:p>
            <a:pPr marL="12700" marR="5080"/>
            <a:r>
              <a:rPr lang="en-US" sz="1400" kern="0" spc="-80" dirty="0">
                <a:solidFill>
                  <a:schemeClr val="accent6"/>
                </a:solidFill>
                <a:cs typeface="+mn-cs"/>
              </a:rPr>
              <a:t>Multiple specialized agents can coordinate.</a:t>
            </a:r>
          </a:p>
          <a:p>
            <a:pPr marL="12700" marR="5080"/>
            <a:r>
              <a:rPr lang="en-US" sz="1400" kern="0" spc="-80" dirty="0">
                <a:solidFill>
                  <a:schemeClr val="accent6"/>
                </a:solidFill>
                <a:cs typeface="+mn-cs"/>
              </a:rPr>
              <a:t>Example: One planner agent decomposes tasks, multiple worker agents execute subtasks.</a:t>
            </a:r>
          </a:p>
          <a:p>
            <a:pPr marL="12700" marR="5080"/>
            <a:r>
              <a:rPr lang="en-US" sz="1400" kern="0" spc="-80" dirty="0">
                <a:solidFill>
                  <a:schemeClr val="accent2"/>
                </a:solidFill>
                <a:cs typeface="+mn-cs"/>
              </a:rPr>
              <a:t>g. Safety and Alignment</a:t>
            </a:r>
          </a:p>
          <a:p>
            <a:pPr marL="12700" marR="5080"/>
            <a:r>
              <a:rPr lang="en-US" sz="1400" kern="0" spc="-80" dirty="0">
                <a:solidFill>
                  <a:schemeClr val="accent6"/>
                </a:solidFill>
                <a:cs typeface="+mn-cs"/>
              </a:rPr>
              <a:t>Since agents act autonomously, ethical constraints, guardrails, and human oversight are crucial.</a:t>
            </a:r>
          </a:p>
          <a:p>
            <a:pPr marL="12700" marR="5080"/>
            <a:r>
              <a:rPr lang="en-US" sz="1400" kern="0" spc="-80" dirty="0">
                <a:solidFill>
                  <a:schemeClr val="accent6"/>
                </a:solidFill>
                <a:cs typeface="+mn-cs"/>
              </a:rPr>
              <a:t>Includes intent verification, sandboxing, and approval checkpoints.</a:t>
            </a:r>
          </a:p>
          <a:p>
            <a:pPr marL="12700" marR="5080"/>
            <a:r>
              <a:rPr lang="en-US" sz="1400" kern="0" spc="-80" dirty="0">
                <a:solidFill>
                  <a:schemeClr val="accent2"/>
                </a:solidFill>
                <a:cs typeface="+mn-cs"/>
              </a:rPr>
              <a:t>🧭 5. Types of Agentic AI Systems</a:t>
            </a:r>
          </a:p>
        </p:txBody>
      </p:sp>
      <p:pic>
        <p:nvPicPr>
          <p:cNvPr id="8" name="Picture 7" descr="A table with text on it&#10;&#10;AI-generated content may be incorrect.">
            <a:extLst>
              <a:ext uri="{FF2B5EF4-FFF2-40B4-BE49-F238E27FC236}">
                <a16:creationId xmlns:a16="http://schemas.microsoft.com/office/drawing/2014/main" id="{C96BFB07-E759-09AC-2DF8-0C325414F1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147" y="3422776"/>
            <a:ext cx="9084945" cy="2490344"/>
          </a:xfrm>
          <a:prstGeom prst="rect">
            <a:avLst/>
          </a:prstGeom>
        </p:spPr>
      </p:pic>
    </p:spTree>
    <p:extLst>
      <p:ext uri="{BB962C8B-B14F-4D97-AF65-F5344CB8AC3E}">
        <p14:creationId xmlns:p14="http://schemas.microsoft.com/office/powerpoint/2010/main" val="151829647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82BB1-14F5-3728-62CB-D950BCFED63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CF614A3-339B-A2F8-72D3-560EA6999D97}"/>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05E473-1698-FE10-3BE6-72F2E6AF145C}"/>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5764AF0-FC87-549F-8CA7-4D6647977372}"/>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01A40FD-0C02-50A7-1CBE-4FCAE1752051}"/>
              </a:ext>
            </a:extLst>
          </p:cNvPr>
          <p:cNvSpPr txBox="1">
            <a:spLocks/>
          </p:cNvSpPr>
          <p:nvPr/>
        </p:nvSpPr>
        <p:spPr>
          <a:xfrm>
            <a:off x="30480" y="1275912"/>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 6. Architectures and Frameworks</a:t>
            </a:r>
          </a:p>
          <a:p>
            <a:pPr marL="12700" marR="5080"/>
            <a:r>
              <a:rPr lang="en-US" sz="1400" kern="0" spc="-80" dirty="0">
                <a:solidFill>
                  <a:schemeClr val="accent2"/>
                </a:solidFill>
              </a:rPr>
              <a:t>Some popular agentic frameworks:</a:t>
            </a:r>
          </a:p>
          <a:p>
            <a:pPr marL="12700" marR="5080"/>
            <a:r>
              <a:rPr lang="en-US" sz="1400" kern="0" spc="-80" dirty="0" err="1">
                <a:solidFill>
                  <a:schemeClr val="accent6"/>
                </a:solidFill>
              </a:rPr>
              <a:t>LangChain</a:t>
            </a:r>
            <a:r>
              <a:rPr lang="en-US" sz="1400" kern="0" spc="-80" dirty="0">
                <a:solidFill>
                  <a:schemeClr val="accent6"/>
                </a:solidFill>
              </a:rPr>
              <a:t> – memory + tools + reasoning chains</a:t>
            </a:r>
          </a:p>
          <a:p>
            <a:pPr marL="12700" marR="5080"/>
            <a:r>
              <a:rPr lang="en-US" sz="1400" kern="0" spc="-80" dirty="0" err="1">
                <a:solidFill>
                  <a:schemeClr val="accent6"/>
                </a:solidFill>
              </a:rPr>
              <a:t>CrewAI</a:t>
            </a:r>
            <a:r>
              <a:rPr lang="en-US" sz="1400" kern="0" spc="-80" dirty="0">
                <a:solidFill>
                  <a:schemeClr val="accent6"/>
                </a:solidFill>
              </a:rPr>
              <a:t> – multi-agent collaboration framework</a:t>
            </a:r>
          </a:p>
          <a:p>
            <a:pPr marL="12700" marR="5080"/>
            <a:r>
              <a:rPr lang="en-US" sz="1400" kern="0" spc="-80" dirty="0" err="1">
                <a:solidFill>
                  <a:schemeClr val="accent6"/>
                </a:solidFill>
              </a:rPr>
              <a:t>AutoGen</a:t>
            </a:r>
            <a:r>
              <a:rPr lang="en-US" sz="1400" kern="0" spc="-80" dirty="0">
                <a:solidFill>
                  <a:schemeClr val="accent6"/>
                </a:solidFill>
              </a:rPr>
              <a:t> (Microsoft) – dialogue-driven agent orchestration</a:t>
            </a:r>
          </a:p>
          <a:p>
            <a:pPr marL="12700" marR="5080"/>
            <a:r>
              <a:rPr lang="en-US" sz="1400" kern="0" spc="-80" dirty="0">
                <a:solidFill>
                  <a:schemeClr val="accent6"/>
                </a:solidFill>
              </a:rPr>
              <a:t>Semantic Kernel (Microsoft) – LLM orchestration with planning + memory</a:t>
            </a:r>
          </a:p>
          <a:p>
            <a:pPr marL="12700" marR="5080"/>
            <a:r>
              <a:rPr lang="en-US" sz="1400" kern="0" spc="-80" dirty="0" err="1">
                <a:solidFill>
                  <a:schemeClr val="accent6"/>
                </a:solidFill>
                <a:cs typeface="+mn-cs"/>
              </a:rPr>
              <a:t>OpenDevin</a:t>
            </a:r>
            <a:r>
              <a:rPr lang="en-US" sz="1400" kern="0" spc="-80" dirty="0">
                <a:solidFill>
                  <a:schemeClr val="accent6"/>
                </a:solidFill>
                <a:cs typeface="+mn-cs"/>
              </a:rPr>
              <a:t> / </a:t>
            </a:r>
            <a:r>
              <a:rPr lang="en-US" sz="1400" kern="0" spc="-80" dirty="0" err="1">
                <a:solidFill>
                  <a:schemeClr val="accent6"/>
                </a:solidFill>
                <a:cs typeface="+mn-cs"/>
              </a:rPr>
              <a:t>AutoGPT</a:t>
            </a:r>
            <a:r>
              <a:rPr lang="en-US" sz="1400" kern="0" spc="-80" dirty="0">
                <a:solidFill>
                  <a:schemeClr val="accent6"/>
                </a:solidFill>
                <a:cs typeface="+mn-cs"/>
              </a:rPr>
              <a:t> / </a:t>
            </a:r>
            <a:r>
              <a:rPr lang="en-US" sz="1400" kern="0" spc="-80" dirty="0" err="1">
                <a:solidFill>
                  <a:schemeClr val="accent6"/>
                </a:solidFill>
                <a:cs typeface="+mn-cs"/>
              </a:rPr>
              <a:t>BabyAGI</a:t>
            </a:r>
            <a:r>
              <a:rPr lang="en-US" sz="1400" kern="0" spc="-80" dirty="0">
                <a:solidFill>
                  <a:schemeClr val="accent6"/>
                </a:solidFill>
                <a:cs typeface="+mn-cs"/>
              </a:rPr>
              <a:t> – early autonomous agent prototypes</a:t>
            </a:r>
          </a:p>
          <a:p>
            <a:pPr marL="12700" marR="5080"/>
            <a:r>
              <a:rPr lang="en-US" sz="1400" kern="0" spc="-80" dirty="0">
                <a:solidFill>
                  <a:schemeClr val="accent2"/>
                </a:solidFill>
                <a:cs typeface="+mn-cs"/>
              </a:rPr>
              <a:t>📈 7. Learning and Adaptation</a:t>
            </a:r>
          </a:p>
          <a:p>
            <a:pPr marL="12700" marR="5080"/>
            <a:r>
              <a:rPr lang="en-US" sz="1400" kern="0" spc="-80" dirty="0">
                <a:solidFill>
                  <a:schemeClr val="accent2"/>
                </a:solidFill>
                <a:cs typeface="+mn-cs"/>
              </a:rPr>
              <a:t>Agentic AI uses several learning paradigms:</a:t>
            </a:r>
          </a:p>
          <a:p>
            <a:pPr marL="12700" marR="5080"/>
            <a:r>
              <a:rPr lang="en-US" sz="1400" kern="0" spc="-80" dirty="0">
                <a:solidFill>
                  <a:schemeClr val="accent6"/>
                </a:solidFill>
                <a:cs typeface="+mn-cs"/>
              </a:rPr>
              <a:t>Reinforcement Learning (RL) – learn from actions’ rewards</a:t>
            </a:r>
          </a:p>
          <a:p>
            <a:pPr marL="12700" marR="5080"/>
            <a:r>
              <a:rPr lang="en-US" sz="1400" kern="0" spc="-80" dirty="0">
                <a:solidFill>
                  <a:schemeClr val="accent6"/>
                </a:solidFill>
                <a:cs typeface="+mn-cs"/>
              </a:rPr>
              <a:t>Self-Reflective Learning – assess outcomes and adjust reasoning</a:t>
            </a:r>
          </a:p>
          <a:p>
            <a:pPr marL="12700" marR="5080"/>
            <a:r>
              <a:rPr lang="en-US" sz="1400" kern="0" spc="-80" dirty="0">
                <a:solidFill>
                  <a:schemeClr val="accent6"/>
                </a:solidFill>
                <a:cs typeface="+mn-cs"/>
              </a:rPr>
              <a:t>Meta-Learning – “learn to learn” based on prior tasks</a:t>
            </a:r>
          </a:p>
          <a:p>
            <a:pPr marL="12700" marR="5080"/>
            <a:r>
              <a:rPr lang="en-US" sz="1400" kern="0" spc="-80" dirty="0">
                <a:solidFill>
                  <a:schemeClr val="accent6"/>
                </a:solidFill>
                <a:cs typeface="+mn-cs"/>
              </a:rPr>
              <a:t>Continual Learning – update long-term memory over time</a:t>
            </a:r>
          </a:p>
          <a:p>
            <a:pPr marL="12700" marR="5080"/>
            <a:r>
              <a:rPr lang="en-US" sz="1400" kern="0" spc="-80" dirty="0">
                <a:solidFill>
                  <a:schemeClr val="accent2"/>
                </a:solidFill>
                <a:cs typeface="+mn-cs"/>
              </a:rPr>
              <a:t>🛡️ 8. Safety, Alignment &amp; Governance</a:t>
            </a:r>
          </a:p>
          <a:p>
            <a:pPr marL="12700" marR="5080"/>
            <a:r>
              <a:rPr lang="en-US" sz="1400" kern="0" spc="-80" dirty="0">
                <a:solidFill>
                  <a:schemeClr val="accent6"/>
                </a:solidFill>
                <a:cs typeface="+mn-cs"/>
              </a:rPr>
              <a:t>As autonomy increases, so do risks.</a:t>
            </a:r>
          </a:p>
          <a:p>
            <a:pPr marL="12700" marR="5080"/>
            <a:r>
              <a:rPr lang="en-US" sz="1400" kern="0" spc="-80" dirty="0">
                <a:solidFill>
                  <a:schemeClr val="accent2"/>
                </a:solidFill>
                <a:cs typeface="+mn-cs"/>
              </a:rPr>
              <a:t>Key challenges:</a:t>
            </a:r>
          </a:p>
          <a:p>
            <a:pPr marL="12700" marR="5080"/>
            <a:r>
              <a:rPr lang="en-US" sz="1400" kern="0" spc="-80" dirty="0">
                <a:solidFill>
                  <a:schemeClr val="accent6"/>
                </a:solidFill>
                <a:cs typeface="+mn-cs"/>
              </a:rPr>
              <a:t>Goal misalignment (agent optimizes wrong metrics)</a:t>
            </a:r>
          </a:p>
          <a:p>
            <a:pPr marL="12700" marR="5080"/>
            <a:r>
              <a:rPr lang="en-US" sz="1400" kern="0" spc="-80" dirty="0">
                <a:solidFill>
                  <a:schemeClr val="accent6"/>
                </a:solidFill>
                <a:cs typeface="+mn-cs"/>
              </a:rPr>
              <a:t>Runaway actions (infinite loops, harmful operations)</a:t>
            </a:r>
          </a:p>
          <a:p>
            <a:pPr marL="12700" marR="5080"/>
            <a:r>
              <a:rPr lang="en-US" sz="1400" kern="0" spc="-80" dirty="0">
                <a:solidFill>
                  <a:schemeClr val="accent6"/>
                </a:solidFill>
                <a:cs typeface="+mn-cs"/>
              </a:rPr>
              <a:t>Data poisoning (bad feedback corrupting memory)</a:t>
            </a:r>
          </a:p>
          <a:p>
            <a:pPr marL="12700" marR="5080"/>
            <a:r>
              <a:rPr lang="en-US" sz="1400" kern="0" spc="-80" dirty="0">
                <a:solidFill>
                  <a:schemeClr val="accent6"/>
                </a:solidFill>
                <a:cs typeface="+mn-cs"/>
              </a:rPr>
              <a:t>Security vulnerabilities (unauthorized API actions)</a:t>
            </a:r>
          </a:p>
        </p:txBody>
      </p:sp>
    </p:spTree>
    <p:extLst>
      <p:ext uri="{BB962C8B-B14F-4D97-AF65-F5344CB8AC3E}">
        <p14:creationId xmlns:p14="http://schemas.microsoft.com/office/powerpoint/2010/main" val="209665317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08068-C8AE-1C84-710E-11DEBF453C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A2BCD8-55A4-2A5B-40FB-FDB951CDE742}"/>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C2616AE-7D73-ADC6-7B30-88DDC123BC8F}"/>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9543630-B1DB-0243-6EF7-791DD150967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6011D92-47E6-AF53-DDAF-C1A1337209FD}"/>
              </a:ext>
            </a:extLst>
          </p:cNvPr>
          <p:cNvSpPr txBox="1">
            <a:spLocks/>
          </p:cNvSpPr>
          <p:nvPr/>
        </p:nvSpPr>
        <p:spPr>
          <a:xfrm>
            <a:off x="30480" y="1275912"/>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Solutions:</a:t>
            </a:r>
          </a:p>
          <a:p>
            <a:pPr marL="12700" marR="5080"/>
            <a:r>
              <a:rPr lang="en-US" sz="1400" kern="0" spc="-80" dirty="0">
                <a:solidFill>
                  <a:schemeClr val="accent6"/>
                </a:solidFill>
              </a:rPr>
              <a:t>Human-in-the-loop checkpoints</a:t>
            </a:r>
          </a:p>
          <a:p>
            <a:pPr marL="12700" marR="5080"/>
            <a:r>
              <a:rPr lang="en-US" sz="1400" kern="0" spc="-80" dirty="0">
                <a:solidFill>
                  <a:schemeClr val="accent6"/>
                </a:solidFill>
              </a:rPr>
              <a:t>Role-based permissions</a:t>
            </a:r>
          </a:p>
          <a:p>
            <a:pPr marL="12700" marR="5080"/>
            <a:r>
              <a:rPr lang="en-US" sz="1400" kern="0" spc="-80" dirty="0">
                <a:solidFill>
                  <a:schemeClr val="accent6"/>
                </a:solidFill>
              </a:rPr>
              <a:t>Ethical reward models</a:t>
            </a:r>
          </a:p>
          <a:p>
            <a:pPr marL="12700" marR="5080"/>
            <a:r>
              <a:rPr lang="en-US" sz="1400" kern="0" spc="-80" dirty="0">
                <a:solidFill>
                  <a:schemeClr val="accent6"/>
                </a:solidFill>
              </a:rPr>
              <a:t>Environment sandboxing</a:t>
            </a:r>
          </a:p>
          <a:p>
            <a:pPr marL="12700" marR="5080"/>
            <a:r>
              <a:rPr lang="en-US" sz="1400" kern="0" spc="-80" dirty="0">
                <a:solidFill>
                  <a:schemeClr val="accent2"/>
                </a:solidFill>
              </a:rPr>
              <a:t>🌐 9. Real-World Applications</a:t>
            </a:r>
          </a:p>
          <a:p>
            <a:pPr marL="12700" marR="5080"/>
            <a:r>
              <a:rPr lang="en-US" sz="1400" kern="0" spc="-80" dirty="0">
                <a:solidFill>
                  <a:schemeClr val="accent2"/>
                </a:solidFill>
              </a:rPr>
              <a:t>Domain	                    Example</a:t>
            </a:r>
          </a:p>
          <a:p>
            <a:pPr marL="12700" marR="5080"/>
            <a:r>
              <a:rPr lang="en-US" sz="1400" kern="0" spc="-80" dirty="0">
                <a:solidFill>
                  <a:schemeClr val="accent6"/>
                </a:solidFill>
              </a:rPr>
              <a:t>Software Dev	 Autonomous coding agents (Devin, SWE-Agent)</a:t>
            </a:r>
          </a:p>
          <a:p>
            <a:pPr marL="12700" marR="5080"/>
            <a:r>
              <a:rPr lang="en-US" sz="1400" kern="0" spc="-80" dirty="0">
                <a:solidFill>
                  <a:schemeClr val="accent6"/>
                </a:solidFill>
                <a:cs typeface="+mn-cs"/>
              </a:rPr>
              <a:t>Finance	                    Algorithmic trading assistants</a:t>
            </a:r>
          </a:p>
          <a:p>
            <a:pPr marL="12700" marR="5080"/>
            <a:r>
              <a:rPr lang="en-US" sz="1400" kern="0" spc="-80" dirty="0">
                <a:solidFill>
                  <a:schemeClr val="accent6"/>
                </a:solidFill>
                <a:cs typeface="+mn-cs"/>
              </a:rPr>
              <a:t>Operations	 Intelligent process automation agents</a:t>
            </a:r>
          </a:p>
          <a:p>
            <a:pPr marL="12700" marR="5080"/>
            <a:r>
              <a:rPr lang="en-US" sz="1400" kern="0" spc="-80" dirty="0">
                <a:solidFill>
                  <a:schemeClr val="accent6"/>
                </a:solidFill>
                <a:cs typeface="+mn-cs"/>
              </a:rPr>
              <a:t>Healthcare	                     Diagnostic or triage agents</a:t>
            </a:r>
          </a:p>
          <a:p>
            <a:pPr marL="12700" marR="5080"/>
            <a:r>
              <a:rPr lang="en-US" sz="1400" kern="0" spc="-80" dirty="0">
                <a:solidFill>
                  <a:schemeClr val="accent6"/>
                </a:solidFill>
                <a:cs typeface="+mn-cs"/>
              </a:rPr>
              <a:t>Marketing	AI                 Campaign Optimizers</a:t>
            </a:r>
          </a:p>
          <a:p>
            <a:pPr marL="12700" marR="5080"/>
            <a:r>
              <a:rPr lang="en-US" sz="1400" kern="0" spc="-80" dirty="0">
                <a:solidFill>
                  <a:schemeClr val="accent6"/>
                </a:solidFill>
                <a:cs typeface="+mn-cs"/>
              </a:rPr>
              <a:t>Education	                     Personalized tutoring agents</a:t>
            </a:r>
          </a:p>
          <a:p>
            <a:pPr marL="12700" marR="5080"/>
            <a:r>
              <a:rPr lang="en-US" sz="1400" kern="0" spc="-80" dirty="0">
                <a:solidFill>
                  <a:schemeClr val="accent6"/>
                </a:solidFill>
                <a:cs typeface="+mn-cs"/>
              </a:rPr>
              <a:t>Customer Support	  Fully autonomous service agents</a:t>
            </a:r>
          </a:p>
          <a:p>
            <a:pPr marL="12700" marR="5080"/>
            <a:r>
              <a:rPr lang="en-US" sz="1400" kern="0" spc="-80" dirty="0">
                <a:solidFill>
                  <a:schemeClr val="accent2"/>
                </a:solidFill>
                <a:cs typeface="+mn-cs"/>
              </a:rPr>
              <a:t>🔮 10. Future Directions</a:t>
            </a:r>
          </a:p>
          <a:p>
            <a:pPr marL="12700" marR="5080"/>
            <a:r>
              <a:rPr lang="en-US" sz="1400" kern="0" spc="-80" dirty="0">
                <a:solidFill>
                  <a:schemeClr val="accent6"/>
                </a:solidFill>
                <a:cs typeface="+mn-cs"/>
              </a:rPr>
              <a:t>Agentic AI is moving toward:</a:t>
            </a:r>
          </a:p>
          <a:p>
            <a:pPr marL="12700" marR="5080"/>
            <a:r>
              <a:rPr lang="en-US" sz="1400" kern="0" spc="-80" dirty="0">
                <a:solidFill>
                  <a:schemeClr val="accent6"/>
                </a:solidFill>
                <a:cs typeface="+mn-cs"/>
              </a:rPr>
              <a:t>Agentic societies (agents collaborating like humans)</a:t>
            </a:r>
          </a:p>
          <a:p>
            <a:pPr marL="12700" marR="5080"/>
            <a:r>
              <a:rPr lang="en-US" sz="1400" kern="0" spc="-80" dirty="0">
                <a:solidFill>
                  <a:schemeClr val="accent6"/>
                </a:solidFill>
                <a:cs typeface="+mn-cs"/>
              </a:rPr>
              <a:t>Self-governing AI ecosystems</a:t>
            </a:r>
          </a:p>
          <a:p>
            <a:pPr marL="12700" marR="5080"/>
            <a:r>
              <a:rPr lang="en-US" sz="1400" kern="0" spc="-80" dirty="0">
                <a:solidFill>
                  <a:schemeClr val="accent6"/>
                </a:solidFill>
                <a:cs typeface="+mn-cs"/>
              </a:rPr>
              <a:t>Neuro-symbolic reasoning integration</a:t>
            </a:r>
          </a:p>
          <a:p>
            <a:pPr marL="12700" marR="5080"/>
            <a:r>
              <a:rPr lang="en-US" sz="1400" kern="0" spc="-80" dirty="0">
                <a:solidFill>
                  <a:schemeClr val="accent6"/>
                </a:solidFill>
                <a:cs typeface="+mn-cs"/>
              </a:rPr>
              <a:t>Ethical self-awareness and intent verification</a:t>
            </a:r>
          </a:p>
          <a:p>
            <a:pPr marL="12700" marR="5080"/>
            <a:r>
              <a:rPr lang="en-US" sz="1400" kern="0" spc="-80" dirty="0">
                <a:solidFill>
                  <a:schemeClr val="accent6"/>
                </a:solidFill>
                <a:cs typeface="+mn-cs"/>
              </a:rPr>
              <a:t>Agentic automation of entire enterprises</a:t>
            </a:r>
          </a:p>
          <a:p>
            <a:pPr marL="12700" marR="5080"/>
            <a:endParaRPr lang="en-US" sz="1400" kern="0" spc="-80" dirty="0">
              <a:solidFill>
                <a:schemeClr val="accent6"/>
              </a:solidFill>
              <a:cs typeface="+mn-cs"/>
            </a:endParaRPr>
          </a:p>
        </p:txBody>
      </p:sp>
    </p:spTree>
    <p:extLst>
      <p:ext uri="{BB962C8B-B14F-4D97-AF65-F5344CB8AC3E}">
        <p14:creationId xmlns:p14="http://schemas.microsoft.com/office/powerpoint/2010/main" val="191298493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732C8-CAF6-0347-736A-9AB908E73B3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4422D8-0810-88BC-F2B5-D8562EE92C05}"/>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1D95E6-5C73-6993-3B87-E8283D57393D}"/>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D686AB-41D7-7254-0286-9DD4E0739F5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E864F6F-6F94-BA44-76DE-D30DCEC578C7}"/>
              </a:ext>
            </a:extLst>
          </p:cNvPr>
          <p:cNvSpPr txBox="1">
            <a:spLocks/>
          </p:cNvSpPr>
          <p:nvPr/>
        </p:nvSpPr>
        <p:spPr>
          <a:xfrm>
            <a:off x="30480" y="1275912"/>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cs typeface="+mn-cs"/>
              </a:rPr>
              <a:t>🧭 In Summary</a:t>
            </a:r>
          </a:p>
          <a:p>
            <a:pPr marL="12700" marR="5080"/>
            <a:r>
              <a:rPr lang="en-US" sz="1400" kern="0" spc="-80" dirty="0">
                <a:solidFill>
                  <a:schemeClr val="accent2"/>
                </a:solidFill>
                <a:cs typeface="+mn-cs"/>
              </a:rPr>
              <a:t>Concept	                  Description</a:t>
            </a:r>
          </a:p>
          <a:p>
            <a:pPr marL="12700" marR="5080"/>
            <a:r>
              <a:rPr lang="en-US" sz="1400" kern="0" spc="-80" dirty="0">
                <a:solidFill>
                  <a:schemeClr val="accent6"/>
                </a:solidFill>
                <a:cs typeface="+mn-cs"/>
              </a:rPr>
              <a:t>Agentic AI	                  Autonomous, goal-driven, self-improving AI systems</a:t>
            </a:r>
          </a:p>
          <a:p>
            <a:pPr marL="12700" marR="5080"/>
            <a:r>
              <a:rPr lang="en-US" sz="1400" kern="0" spc="-80" dirty="0">
                <a:solidFill>
                  <a:schemeClr val="accent6"/>
                </a:solidFill>
                <a:cs typeface="+mn-cs"/>
              </a:rPr>
              <a:t>Core Loop	                   Perceive → Reason → Act → Learn</a:t>
            </a:r>
          </a:p>
          <a:p>
            <a:pPr marL="12700" marR="5080"/>
            <a:r>
              <a:rPr lang="en-US" sz="1400" kern="0" spc="-80" dirty="0">
                <a:solidFill>
                  <a:schemeClr val="accent6"/>
                </a:solidFill>
                <a:cs typeface="+mn-cs"/>
              </a:rPr>
              <a:t>Key Abilities	Autonomy, memory, reasoning, tool use, adaptation</a:t>
            </a:r>
          </a:p>
          <a:p>
            <a:pPr marL="12700" marR="5080"/>
            <a:r>
              <a:rPr lang="en-US" sz="1400" kern="0" spc="-80" dirty="0">
                <a:solidFill>
                  <a:schemeClr val="accent6"/>
                </a:solidFill>
                <a:cs typeface="+mn-cs"/>
              </a:rPr>
              <a:t>Architectures	</a:t>
            </a:r>
            <a:r>
              <a:rPr lang="en-US" sz="1400" kern="0" spc="-80" dirty="0" err="1">
                <a:solidFill>
                  <a:schemeClr val="accent6"/>
                </a:solidFill>
                <a:cs typeface="+mn-cs"/>
              </a:rPr>
              <a:t>LangChain</a:t>
            </a:r>
            <a:r>
              <a:rPr lang="en-US" sz="1400" kern="0" spc="-80" dirty="0">
                <a:solidFill>
                  <a:schemeClr val="accent6"/>
                </a:solidFill>
                <a:cs typeface="+mn-cs"/>
              </a:rPr>
              <a:t>, </a:t>
            </a:r>
            <a:r>
              <a:rPr lang="en-US" sz="1400" kern="0" spc="-80" dirty="0" err="1">
                <a:solidFill>
                  <a:schemeClr val="accent6"/>
                </a:solidFill>
                <a:cs typeface="+mn-cs"/>
              </a:rPr>
              <a:t>AutoGen</a:t>
            </a:r>
            <a:r>
              <a:rPr lang="en-US" sz="1400" kern="0" spc="-80" dirty="0">
                <a:solidFill>
                  <a:schemeClr val="accent6"/>
                </a:solidFill>
                <a:cs typeface="+mn-cs"/>
              </a:rPr>
              <a:t>, Semantic Kernel</a:t>
            </a:r>
          </a:p>
          <a:p>
            <a:pPr marL="12700" marR="5080"/>
            <a:r>
              <a:rPr lang="en-US" sz="1400" kern="0" spc="-80" dirty="0">
                <a:solidFill>
                  <a:schemeClr val="accent6"/>
                </a:solidFill>
                <a:cs typeface="+mn-cs"/>
              </a:rPr>
              <a:t>Challenges	Safety, alignment, evaluation, control.</a:t>
            </a:r>
          </a:p>
          <a:p>
            <a:pPr marL="12700" marR="5080"/>
            <a:endParaRPr lang="en-US" sz="1400" kern="0" spc="-80" dirty="0">
              <a:solidFill>
                <a:schemeClr val="accent6"/>
              </a:solidFill>
              <a:cs typeface="+mn-cs"/>
            </a:endParaRPr>
          </a:p>
          <a:p>
            <a:pPr marL="12700" marR="5080"/>
            <a:r>
              <a:rPr lang="en-US" sz="2400" kern="0" spc="-80" dirty="0">
                <a:solidFill>
                  <a:schemeClr val="accent2"/>
                </a:solidFill>
              </a:rPr>
              <a:t>Reasoning and Planning in Agentic AI</a:t>
            </a:r>
          </a:p>
          <a:p>
            <a:r>
              <a:rPr lang="en-US" sz="1400" kern="0" spc="-80" dirty="0">
                <a:solidFill>
                  <a:schemeClr val="accent6"/>
                </a:solidFill>
                <a:cs typeface="+mn-cs"/>
              </a:rPr>
              <a:t>In Agentic AI, planning generally comes before action, and reasoning informs the planning process. The agent first uses reasoning to understand the task and then creates a plan, which is a structured sequence of steps, before executing any actions. </a:t>
            </a:r>
          </a:p>
          <a:p>
            <a:r>
              <a:rPr lang="en-US" sz="1400" kern="0" spc="-80" dirty="0">
                <a:solidFill>
                  <a:schemeClr val="accent2"/>
                </a:solidFill>
                <a:cs typeface="+mn-cs"/>
              </a:rPr>
              <a:t>How it works</a:t>
            </a:r>
          </a:p>
          <a:p>
            <a:r>
              <a:rPr lang="en-US" sz="1400" kern="0" spc="-80" dirty="0">
                <a:solidFill>
                  <a:schemeClr val="accent2"/>
                </a:solidFill>
                <a:cs typeface="+mn-cs"/>
              </a:rPr>
              <a:t>Reasoning: </a:t>
            </a:r>
          </a:p>
          <a:p>
            <a:r>
              <a:rPr lang="en-US" sz="1400" kern="0" spc="-80" dirty="0">
                <a:solidFill>
                  <a:schemeClr val="accent6"/>
                </a:solidFill>
                <a:cs typeface="+mn-cs"/>
              </a:rPr>
              <a:t>The agent first analyzes the user's input and establishes the goal. Reasoning is used to break down the complex problem into smaller, manageable sub-tasks. </a:t>
            </a:r>
          </a:p>
          <a:p>
            <a:r>
              <a:rPr lang="en-US" sz="1400" kern="0" spc="-80" dirty="0">
                <a:solidFill>
                  <a:schemeClr val="accent2"/>
                </a:solidFill>
                <a:cs typeface="+mn-cs"/>
              </a:rPr>
              <a:t>Planning: </a:t>
            </a:r>
          </a:p>
          <a:p>
            <a:r>
              <a:rPr lang="en-US" sz="1400" kern="0" spc="-80" dirty="0">
                <a:solidFill>
                  <a:schemeClr val="accent6"/>
                </a:solidFill>
                <a:cs typeface="+mn-cs"/>
              </a:rPr>
              <a:t>Once the problem is decomposed, the agent creates a "roadmap" or plan that sequences the sub-tasks. This plan provides the structure and order needed to achieve the goal, outlining the actions to be taken. </a:t>
            </a:r>
          </a:p>
        </p:txBody>
      </p:sp>
    </p:spTree>
    <p:extLst>
      <p:ext uri="{BB962C8B-B14F-4D97-AF65-F5344CB8AC3E}">
        <p14:creationId xmlns:p14="http://schemas.microsoft.com/office/powerpoint/2010/main" val="301123762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C2EF7-2254-61B4-D66B-C5EA6DF99C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75A0DF0-6C8D-4199-2B64-01B1840BD8B7}"/>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DFB3B3-7F79-CBB6-D47A-01AD2E08CB42}"/>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3AFE02D-68AB-2F91-0FEE-0BE57F1A828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4A58245-CF59-4E4A-EF30-E852C6C1BEE4}"/>
              </a:ext>
            </a:extLst>
          </p:cNvPr>
          <p:cNvSpPr txBox="1">
            <a:spLocks/>
          </p:cNvSpPr>
          <p:nvPr/>
        </p:nvSpPr>
        <p:spPr>
          <a:xfrm>
            <a:off x="30480" y="1275912"/>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Reasoning and Planning in Agentic AI</a:t>
            </a:r>
          </a:p>
          <a:p>
            <a:r>
              <a:rPr lang="en-US" sz="1400" kern="0" spc="-80" dirty="0">
                <a:solidFill>
                  <a:schemeClr val="accent2"/>
                </a:solidFill>
                <a:cs typeface="+mn-cs"/>
              </a:rPr>
              <a:t>Action: </a:t>
            </a:r>
          </a:p>
          <a:p>
            <a:r>
              <a:rPr lang="en-US" sz="1400" kern="0" spc="-80" dirty="0">
                <a:solidFill>
                  <a:schemeClr val="accent6"/>
                </a:solidFill>
                <a:cs typeface="+mn-cs"/>
              </a:rPr>
              <a:t>The agent then executes the plan. This is where the agent performs the actual steps it previously outlined. </a:t>
            </a:r>
          </a:p>
          <a:p>
            <a:r>
              <a:rPr lang="en-US" sz="1400" kern="0" spc="-80" dirty="0">
                <a:solidFill>
                  <a:schemeClr val="accent6"/>
                </a:solidFill>
                <a:cs typeface="+mn-cs"/>
              </a:rPr>
              <a:t>Adaptation: </a:t>
            </a:r>
          </a:p>
          <a:p>
            <a:r>
              <a:rPr lang="en-US" sz="1400" kern="0" spc="-80" dirty="0">
                <a:solidFill>
                  <a:schemeClr val="accent2"/>
                </a:solidFill>
                <a:cs typeface="+mn-cs"/>
              </a:rPr>
              <a:t>Agentic </a:t>
            </a:r>
            <a:r>
              <a:rPr lang="en-US" sz="1400" kern="0" spc="-80" dirty="0">
                <a:solidFill>
                  <a:schemeClr val="accent6"/>
                </a:solidFill>
                <a:cs typeface="+mn-cs"/>
              </a:rPr>
              <a:t>AI systems are adaptive, meaning they can go back and adjust the plan based on new information or unexpected outcomes during execution. </a:t>
            </a:r>
          </a:p>
          <a:p>
            <a:endParaRPr lang="en-US" sz="1400" kern="0" spc="-80" dirty="0">
              <a:solidFill>
                <a:schemeClr val="accent6"/>
              </a:solidFill>
              <a:cs typeface="+mn-cs"/>
            </a:endParaRPr>
          </a:p>
          <a:p>
            <a:r>
              <a:rPr lang="en-US" sz="1400" kern="0" spc="-80" dirty="0">
                <a:solidFill>
                  <a:schemeClr val="accent6"/>
                </a:solidFill>
                <a:cs typeface="+mn-cs"/>
              </a:rPr>
              <a:t>This "reasoning-then-planning-then-acting" cycle is a core component of how agentic AI systems achieve goals autonomously and intelligently. </a:t>
            </a:r>
          </a:p>
          <a:p>
            <a:pPr marL="12700" marR="5080"/>
            <a:endParaRPr lang="en-IN" sz="1400" kern="0" spc="-80" dirty="0">
              <a:solidFill>
                <a:schemeClr val="accent6"/>
              </a:solidFill>
              <a:cs typeface="+mn-cs"/>
            </a:endParaRPr>
          </a:p>
          <a:p>
            <a:pPr marL="12700" marR="5080"/>
            <a:endParaRPr lang="en-IN" sz="1400" kern="0" spc="-80" dirty="0">
              <a:solidFill>
                <a:schemeClr val="accent6"/>
              </a:solidFill>
              <a:cs typeface="+mn-cs"/>
            </a:endParaRPr>
          </a:p>
          <a:p>
            <a:r>
              <a:rPr lang="en-US" sz="1400" kern="0" spc="-80" dirty="0">
                <a:solidFill>
                  <a:schemeClr val="accent2"/>
                </a:solidFill>
                <a:cs typeface="+mn-cs"/>
              </a:rPr>
              <a:t>Core techniques</a:t>
            </a:r>
          </a:p>
          <a:p>
            <a:r>
              <a:rPr lang="en-US" sz="1400" kern="0" spc="-80" dirty="0">
                <a:solidFill>
                  <a:schemeClr val="accent2"/>
                </a:solidFill>
              </a:rPr>
              <a:t>Reasoning:</a:t>
            </a:r>
          </a:p>
          <a:p>
            <a:r>
              <a:rPr lang="en-US" sz="1400" kern="0" spc="-80" dirty="0">
                <a:solidFill>
                  <a:schemeClr val="accent2"/>
                </a:solidFill>
              </a:rPr>
              <a:t>Inference and Logic: </a:t>
            </a:r>
            <a:r>
              <a:rPr lang="en-US" sz="1400" kern="0" spc="-80" dirty="0">
                <a:solidFill>
                  <a:schemeClr val="accent6"/>
                </a:solidFill>
              </a:rPr>
              <a:t>Using logic and available information to draw conclusions, solve problems, and make informed decisions. </a:t>
            </a:r>
          </a:p>
          <a:p>
            <a:r>
              <a:rPr lang="en-US" sz="1400" kern="0" spc="-80" dirty="0">
                <a:solidFill>
                  <a:schemeClr val="accent2"/>
                </a:solidFill>
              </a:rPr>
              <a:t>Contextual Understanding:</a:t>
            </a:r>
            <a:r>
              <a:rPr lang="en-US" sz="1400" kern="0" spc="-80" dirty="0">
                <a:solidFill>
                  <a:schemeClr val="accent6"/>
                </a:solidFill>
              </a:rPr>
              <a:t> Processing information from perception and memory to understand the current situation, which is crucial for planning and decision-making. </a:t>
            </a:r>
          </a:p>
          <a:p>
            <a:r>
              <a:rPr lang="en-US" sz="1400" kern="0" spc="-80" dirty="0">
                <a:solidFill>
                  <a:schemeClr val="accent2"/>
                </a:solidFill>
              </a:rPr>
              <a:t>Analysis:</a:t>
            </a:r>
            <a:r>
              <a:rPr lang="en-US" sz="1400" kern="0" spc="-80" dirty="0">
                <a:solidFill>
                  <a:schemeClr val="accent6"/>
                </a:solidFill>
              </a:rPr>
              <a:t> Identifying patterns in data and analyzing potential outcomes to select the most appropriate course of action. </a:t>
            </a:r>
          </a:p>
          <a:p>
            <a:endParaRPr lang="en-US" sz="1400" kern="0" spc="-80" dirty="0">
              <a:solidFill>
                <a:schemeClr val="accent2"/>
              </a:solidFill>
              <a:cs typeface="+mn-cs"/>
            </a:endParaRPr>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256261920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27D3-D8DD-3384-27E0-B07EF2EE904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C8ACE0-F9CE-CDF7-E7DC-5FE9619D8491}"/>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70F7C7-A418-4769-0C5E-027A1CD163B9}"/>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4EFE5FA-6B03-9696-6F48-EC4D5DE6062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A1643EB-9E39-64D0-2141-0EE496A5F945}"/>
              </a:ext>
            </a:extLst>
          </p:cNvPr>
          <p:cNvSpPr txBox="1">
            <a:spLocks/>
          </p:cNvSpPr>
          <p:nvPr/>
        </p:nvSpPr>
        <p:spPr>
          <a:xfrm>
            <a:off x="30480" y="1275912"/>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Reasoning and Planning in Agentic AI</a:t>
            </a:r>
          </a:p>
          <a:p>
            <a:r>
              <a:rPr lang="en-US" sz="1400" kern="0" spc="-80" dirty="0">
                <a:solidFill>
                  <a:schemeClr val="accent2"/>
                </a:solidFill>
              </a:rPr>
              <a:t>Planning:</a:t>
            </a:r>
          </a:p>
          <a:p>
            <a:r>
              <a:rPr lang="en-US" sz="1400" kern="0" spc="-80" dirty="0">
                <a:solidFill>
                  <a:schemeClr val="accent2"/>
                </a:solidFill>
              </a:rPr>
              <a:t>Task Decomposition: </a:t>
            </a:r>
            <a:r>
              <a:rPr lang="en-US" sz="1400" kern="0" spc="-80" dirty="0">
                <a:solidFill>
                  <a:schemeClr val="accent6"/>
                </a:solidFill>
              </a:rPr>
              <a:t>Breaking down a complex goal into a series of smaller, more manageable sub-tasks. </a:t>
            </a:r>
          </a:p>
          <a:p>
            <a:r>
              <a:rPr lang="en-US" sz="1400" kern="0" spc="-80" dirty="0">
                <a:solidFill>
                  <a:schemeClr val="accent2"/>
                </a:solidFill>
              </a:rPr>
              <a:t>Action Sequencing:</a:t>
            </a:r>
            <a:r>
              <a:rPr lang="en-US" sz="1400" kern="0" spc="-80" dirty="0">
                <a:solidFill>
                  <a:schemeClr val="accent6"/>
                </a:solidFill>
              </a:rPr>
              <a:t> Determining the order in which tasks should be performed, creating a step-by-step action plan to reach the goal. </a:t>
            </a:r>
          </a:p>
          <a:p>
            <a:r>
              <a:rPr lang="en-US" sz="1400" kern="0" spc="-80" dirty="0">
                <a:solidFill>
                  <a:schemeClr val="accent2"/>
                </a:solidFill>
              </a:rPr>
              <a:t>Anticipation:</a:t>
            </a:r>
            <a:r>
              <a:rPr lang="en-US" sz="1400" kern="0" spc="-80" dirty="0">
                <a:solidFill>
                  <a:schemeClr val="accent6"/>
                </a:solidFill>
              </a:rPr>
              <a:t> Looking ahead and considering future states to create a proactive plan before taking action. </a:t>
            </a:r>
          </a:p>
          <a:p>
            <a:endParaRPr lang="en-US" sz="1400" kern="0" spc="-80" dirty="0">
              <a:solidFill>
                <a:schemeClr val="accent2"/>
              </a:solidFill>
              <a:cs typeface="+mn-cs"/>
            </a:endParaRPr>
          </a:p>
          <a:p>
            <a:r>
              <a:rPr lang="en-US" sz="1400" kern="0" spc="-80" dirty="0">
                <a:solidFill>
                  <a:schemeClr val="accent2"/>
                </a:solidFill>
                <a:cs typeface="+mn-cs"/>
              </a:rPr>
              <a:t>Iterative Refinement and Adaptation:</a:t>
            </a:r>
          </a:p>
          <a:p>
            <a:r>
              <a:rPr lang="en-US" sz="1400" kern="0" spc="-80" dirty="0">
                <a:solidFill>
                  <a:schemeClr val="accent2"/>
                </a:solidFill>
                <a:cs typeface="+mn-cs"/>
              </a:rPr>
              <a:t>Tool Use: </a:t>
            </a:r>
            <a:r>
              <a:rPr lang="en-US" sz="1400" kern="0" spc="-80" dirty="0">
                <a:solidFill>
                  <a:schemeClr val="accent6"/>
                </a:solidFill>
                <a:cs typeface="+mn-cs"/>
              </a:rPr>
              <a:t>Calling external tools like APIs, databases, or knowledge graphs to get specific information or perform actions that are not part of the model's core function. </a:t>
            </a:r>
          </a:p>
          <a:p>
            <a:r>
              <a:rPr lang="en-US" sz="1400" kern="0" spc="-80" dirty="0">
                <a:solidFill>
                  <a:schemeClr val="accent2"/>
                </a:solidFill>
                <a:cs typeface="+mn-cs"/>
              </a:rPr>
              <a:t>Reflection: </a:t>
            </a:r>
            <a:r>
              <a:rPr lang="en-US" sz="1400" kern="0" spc="-80" dirty="0">
                <a:solidFill>
                  <a:schemeClr val="accent6"/>
                </a:solidFill>
                <a:cs typeface="+mn-cs"/>
              </a:rPr>
              <a:t>Using a feedback loop to evaluate the results of actions and refine the plan or the reasoning behind the actions. </a:t>
            </a:r>
          </a:p>
          <a:p>
            <a:r>
              <a:rPr lang="en-US" sz="1400" kern="0" spc="-80" dirty="0">
                <a:solidFill>
                  <a:schemeClr val="accent2"/>
                </a:solidFill>
                <a:cs typeface="+mn-cs"/>
                <a:hlinkClick r:id="rId7">
                  <a:extLst>
                    <a:ext uri="{A12FA001-AC4F-418D-AE19-62706E023703}">
                      <ahyp:hlinkClr xmlns:ahyp="http://schemas.microsoft.com/office/drawing/2018/hyperlinkcolor" val="tx"/>
                    </a:ext>
                  </a:extLst>
                </a:hlinkClick>
              </a:rPr>
              <a:t>Machine Learning</a:t>
            </a:r>
            <a:r>
              <a:rPr lang="en-US" sz="1400" kern="0" spc="-80" dirty="0">
                <a:solidFill>
                  <a:schemeClr val="accent2"/>
                </a:solidFill>
                <a:cs typeface="+mn-cs"/>
              </a:rPr>
              <a:t>:</a:t>
            </a:r>
            <a:r>
              <a:rPr lang="en-US" sz="1400" kern="0" spc="-80" dirty="0">
                <a:solidFill>
                  <a:schemeClr val="accent6"/>
                </a:solidFill>
                <a:cs typeface="+mn-cs"/>
              </a:rPr>
              <a:t> Using machine learning algorithms to continuously improve plans and decision-making by learning from data. </a:t>
            </a:r>
          </a:p>
          <a:p>
            <a:endParaRPr lang="en-US" sz="1400" kern="0" spc="-80" dirty="0">
              <a:solidFill>
                <a:schemeClr val="accent6"/>
              </a:solidFill>
              <a:cs typeface="+mn-cs"/>
            </a:endParaRPr>
          </a:p>
          <a:p>
            <a:r>
              <a:rPr lang="en-US" sz="1400" kern="0" spc="-80" dirty="0">
                <a:solidFill>
                  <a:schemeClr val="accent2"/>
                </a:solidFill>
                <a:cs typeface="+mn-cs"/>
              </a:rPr>
              <a:t>Decision-Making:</a:t>
            </a:r>
          </a:p>
          <a:p>
            <a:r>
              <a:rPr lang="en-US" sz="1400" kern="0" spc="-80" dirty="0">
                <a:solidFill>
                  <a:schemeClr val="accent2"/>
                </a:solidFill>
                <a:cs typeface="+mn-cs"/>
              </a:rPr>
              <a:t>Goal-Oriented Actions:</a:t>
            </a:r>
            <a:r>
              <a:rPr lang="en-US" sz="1400" kern="0" spc="-80" dirty="0">
                <a:solidFill>
                  <a:schemeClr val="accent6"/>
                </a:solidFill>
                <a:cs typeface="+mn-cs"/>
              </a:rPr>
              <a:t> Choosing actions that directly contribute to achieving a pre-defined goal. </a:t>
            </a:r>
          </a:p>
          <a:p>
            <a:r>
              <a:rPr lang="en-US" sz="1400" kern="0" spc="-80" dirty="0">
                <a:solidFill>
                  <a:schemeClr val="accent2"/>
                </a:solidFill>
                <a:cs typeface="+mn-cs"/>
              </a:rPr>
              <a:t>Risk Analysis:</a:t>
            </a:r>
            <a:r>
              <a:rPr lang="en-US" sz="1400" kern="0" spc="-80" dirty="0">
                <a:solidFill>
                  <a:schemeClr val="accent6"/>
                </a:solidFill>
                <a:cs typeface="+mn-cs"/>
              </a:rPr>
              <a:t> Contemplating different potential outcomes and analyzing the risks associated with each possible action. </a:t>
            </a:r>
          </a:p>
          <a:p>
            <a:r>
              <a:rPr lang="en-US" sz="1400" kern="0" spc="-80" dirty="0">
                <a:solidFill>
                  <a:schemeClr val="accent2"/>
                </a:solidFill>
                <a:cs typeface="+mn-cs"/>
              </a:rPr>
              <a:t>Adaptive Plans:</a:t>
            </a:r>
            <a:r>
              <a:rPr lang="en-US" sz="1400" kern="0" spc="-80" dirty="0">
                <a:solidFill>
                  <a:schemeClr val="accent6"/>
                </a:solidFill>
                <a:cs typeface="+mn-cs"/>
              </a:rPr>
              <a:t> Being able to adapt the plan if the initial execution doesn't go as expected</a:t>
            </a:r>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217520641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FEAE6-95FC-C9ED-2E7F-C2201DE2C3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AE8521-CC61-529B-8365-23495764AEB6}"/>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3C001C0-A143-3274-256E-B6D27B77EC50}"/>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298E7D3-CDAA-3E6D-15DD-94C7B9B4499E}"/>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BA8AEE3-DD9F-787C-E690-71644C8C5E17}"/>
              </a:ext>
            </a:extLst>
          </p:cNvPr>
          <p:cNvSpPr txBox="1">
            <a:spLocks/>
          </p:cNvSpPr>
          <p:nvPr/>
        </p:nvSpPr>
        <p:spPr>
          <a:xfrm>
            <a:off x="30480" y="1275912"/>
            <a:ext cx="8624937" cy="45704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Reasoning Techniques</a:t>
            </a:r>
          </a:p>
          <a:p>
            <a:pPr marL="12700" marR="5080"/>
            <a:r>
              <a:rPr lang="en-US" sz="1400" kern="0" spc="-80" dirty="0">
                <a:solidFill>
                  <a:schemeClr val="accent2"/>
                </a:solidFill>
              </a:rPr>
              <a:t>Chain of thought (</a:t>
            </a:r>
            <a:r>
              <a:rPr lang="en-US" sz="1400" kern="0" spc="-80" dirty="0" err="1">
                <a:solidFill>
                  <a:schemeClr val="accent2"/>
                </a:solidFill>
              </a:rPr>
              <a:t>CoT</a:t>
            </a:r>
            <a:r>
              <a:rPr lang="en-US" sz="1400" kern="0" spc="-80" dirty="0">
                <a:solidFill>
                  <a:schemeClr val="accent2"/>
                </a:solidFill>
              </a:rPr>
              <a:t>)</a:t>
            </a:r>
            <a:r>
              <a:rPr lang="en-US" sz="1400" kern="0" spc="-80" dirty="0">
                <a:solidFill>
                  <a:schemeClr val="accent6"/>
                </a:solidFill>
              </a:rPr>
              <a:t> reasoning techniques involve a set of methods that guide large language models (LLMs) to solve complex problems by breaking them down into smaller, logical, step-by-step intermediate steps, mimicking human-like reasoning. This technique improves the accuracy and transparency of the AI's problem-solving process by encouraging it to "show its work" rather than providing an immediate, final answer. </a:t>
            </a:r>
          </a:p>
          <a:p>
            <a:r>
              <a:rPr lang="en-US" sz="1400" kern="0" spc="-80" dirty="0">
                <a:solidFill>
                  <a:schemeClr val="accent2"/>
                </a:solidFill>
              </a:rPr>
              <a:t>Key techniques and concepts</a:t>
            </a:r>
          </a:p>
          <a:p>
            <a:r>
              <a:rPr lang="en-US" sz="1400" kern="0" spc="-80" dirty="0">
                <a:solidFill>
                  <a:schemeClr val="accent2"/>
                </a:solidFill>
              </a:rPr>
              <a:t>Decomposition: </a:t>
            </a:r>
          </a:p>
          <a:p>
            <a:r>
              <a:rPr lang="en-US" sz="1400" kern="0" spc="-80" dirty="0">
                <a:solidFill>
                  <a:schemeClr val="accent6"/>
                </a:solidFill>
              </a:rPr>
              <a:t>The core of </a:t>
            </a:r>
            <a:r>
              <a:rPr lang="en-US" sz="1400" kern="0" spc="-80" dirty="0" err="1">
                <a:solidFill>
                  <a:schemeClr val="accent6"/>
                </a:solidFill>
              </a:rPr>
              <a:t>CoT</a:t>
            </a:r>
            <a:r>
              <a:rPr lang="en-US" sz="1400" kern="0" spc="-80" dirty="0">
                <a:solidFill>
                  <a:schemeClr val="accent6"/>
                </a:solidFill>
              </a:rPr>
              <a:t> is to break down a complex problem into a series of simpler, more manageable sub-problems. For example, a math problem can be split into multiplication and then addition steps. </a:t>
            </a:r>
          </a:p>
          <a:p>
            <a:r>
              <a:rPr lang="en-US" sz="1400" kern="0" spc="-80" dirty="0">
                <a:solidFill>
                  <a:schemeClr val="accent2"/>
                </a:solidFill>
              </a:rPr>
              <a:t>Step-by-step reasoning: </a:t>
            </a:r>
          </a:p>
          <a:p>
            <a:r>
              <a:rPr lang="en-US" sz="1400" kern="0" spc="-80" dirty="0">
                <a:solidFill>
                  <a:schemeClr val="accent6"/>
                </a:solidFill>
              </a:rPr>
              <a:t>After decomposing the problem, the LLM is prompted to reason through each individual step sequentially before arriving at the final answer. This makes the process transparent and verifiable. </a:t>
            </a:r>
          </a:p>
          <a:p>
            <a:r>
              <a:rPr lang="en-US" sz="1400" kern="0" spc="-80" dirty="0">
                <a:solidFill>
                  <a:schemeClr val="accent2"/>
                </a:solidFill>
              </a:rPr>
              <a:t>Prompting: </a:t>
            </a:r>
          </a:p>
          <a:p>
            <a:r>
              <a:rPr lang="en-US" sz="1400" kern="0" spc="-80" dirty="0">
                <a:solidFill>
                  <a:schemeClr val="accent6"/>
                </a:solidFill>
              </a:rPr>
              <a:t>This can be done in two main ways:</a:t>
            </a:r>
          </a:p>
          <a:p>
            <a:r>
              <a:rPr lang="en-US" sz="1400" kern="0" spc="-80" dirty="0">
                <a:solidFill>
                  <a:schemeClr val="accent2"/>
                </a:solidFill>
              </a:rPr>
              <a:t>Zero-shot </a:t>
            </a:r>
            <a:r>
              <a:rPr lang="en-US" sz="1400" kern="0" spc="-80" dirty="0" err="1">
                <a:solidFill>
                  <a:schemeClr val="accent2"/>
                </a:solidFill>
              </a:rPr>
              <a:t>CoT</a:t>
            </a:r>
            <a:r>
              <a:rPr lang="en-US" sz="1400" kern="0" spc="-80" dirty="0">
                <a:solidFill>
                  <a:schemeClr val="accent2"/>
                </a:solidFill>
              </a:rPr>
              <a:t>: </a:t>
            </a:r>
            <a:r>
              <a:rPr lang="en-US" sz="1400" kern="0" spc="-80" dirty="0">
                <a:solidFill>
                  <a:schemeClr val="accent6"/>
                </a:solidFill>
              </a:rPr>
              <a:t>You simply add a phrase like "Let's think step by step" to the prompt to encourage the model to show its reasoning. </a:t>
            </a:r>
          </a:p>
          <a:p>
            <a:r>
              <a:rPr lang="en-US" sz="1400" kern="0" spc="-80" dirty="0">
                <a:solidFill>
                  <a:schemeClr val="accent2"/>
                </a:solidFill>
              </a:rPr>
              <a:t>Few-shot </a:t>
            </a:r>
            <a:r>
              <a:rPr lang="en-US" sz="1400" kern="0" spc="-80" dirty="0" err="1">
                <a:solidFill>
                  <a:schemeClr val="accent2"/>
                </a:solidFill>
              </a:rPr>
              <a:t>CoT</a:t>
            </a:r>
            <a:r>
              <a:rPr lang="en-US" sz="1400" kern="0" spc="-80" dirty="0">
                <a:solidFill>
                  <a:schemeClr val="accent2"/>
                </a:solidFill>
              </a:rPr>
              <a:t>:</a:t>
            </a:r>
            <a:r>
              <a:rPr lang="en-US" sz="1400" kern="0" spc="-80" dirty="0">
                <a:solidFill>
                  <a:schemeClr val="accent6"/>
                </a:solidFill>
              </a:rPr>
              <a:t> You provide the model with a few examples of a problem being solved step-by-step before asking it to solve a new problem. The model then uses the provided examples as a pattern. </a:t>
            </a:r>
          </a:p>
          <a:p>
            <a:r>
              <a:rPr lang="en-US" sz="1400" kern="0" spc="-80" dirty="0">
                <a:solidFill>
                  <a:schemeClr val="accent6"/>
                </a:solidFill>
              </a:rPr>
              <a:t>Increased accuracy and transparency: </a:t>
            </a:r>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125185597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52E88-0FED-1CBA-ED6D-619B6FA01FE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E7D964-D872-DA70-D4F1-0241D7EA0C95}"/>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1EFFBE-8F58-CADC-932E-0C183964842A}"/>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1435858-EDBD-4D7A-DEF9-AFDBE63DF46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14C2EC8-A50E-2F46-C92C-CF9487839EE4}"/>
              </a:ext>
            </a:extLst>
          </p:cNvPr>
          <p:cNvSpPr txBox="1">
            <a:spLocks/>
          </p:cNvSpPr>
          <p:nvPr/>
        </p:nvSpPr>
        <p:spPr>
          <a:xfrm>
            <a:off x="30480" y="1275912"/>
            <a:ext cx="8624937" cy="45704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Reasoning Techniques</a:t>
            </a:r>
          </a:p>
          <a:p>
            <a:pPr marL="12700" marR="5080"/>
            <a:r>
              <a:rPr lang="en-US" sz="1400" kern="0" spc="-80" dirty="0">
                <a:solidFill>
                  <a:schemeClr val="accent6"/>
                </a:solidFill>
              </a:rPr>
              <a:t>By following a logical progression, </a:t>
            </a:r>
            <a:r>
              <a:rPr lang="en-US" sz="1400" kern="0" spc="-80" dirty="0" err="1">
                <a:solidFill>
                  <a:schemeClr val="accent6"/>
                </a:solidFill>
              </a:rPr>
              <a:t>CoT</a:t>
            </a:r>
            <a:r>
              <a:rPr lang="en-US" sz="1400" kern="0" spc="-80" dirty="0">
                <a:solidFill>
                  <a:schemeClr val="accent6"/>
                </a:solidFill>
              </a:rPr>
              <a:t> helps to reduce errors, especially in tasks like mathematical word</a:t>
            </a:r>
          </a:p>
          <a:p>
            <a:pPr marL="12700" marR="5080"/>
            <a:r>
              <a:rPr lang="en-US" sz="1400" kern="0" spc="-80" dirty="0">
                <a:solidFill>
                  <a:schemeClr val="accent6"/>
                </a:solidFill>
              </a:rPr>
              <a:t>problems, common sense reasoning, and symbolic manipulation. It also makes the AI's decision-making process more understandable. </a:t>
            </a:r>
          </a:p>
          <a:p>
            <a:r>
              <a:rPr lang="en-US" sz="1400" kern="0" spc="-80" dirty="0">
                <a:solidFill>
                  <a:schemeClr val="accent2"/>
                </a:solidFill>
              </a:rPr>
              <a:t>Versatility: </a:t>
            </a:r>
          </a:p>
          <a:p>
            <a:r>
              <a:rPr lang="en-US" sz="1400" kern="0" spc="-80" dirty="0" err="1">
                <a:solidFill>
                  <a:schemeClr val="accent6"/>
                </a:solidFill>
              </a:rPr>
              <a:t>CoT</a:t>
            </a:r>
            <a:r>
              <a:rPr lang="en-US" sz="1400" kern="0" spc="-80" dirty="0">
                <a:solidFill>
                  <a:schemeClr val="accent6"/>
                </a:solidFill>
              </a:rPr>
              <a:t> is a versatile technique applicable to a wide range of complex tasks, such as arithmetic, logical puzzles, and decision-making scenarios. </a:t>
            </a:r>
          </a:p>
          <a:p>
            <a:r>
              <a:rPr lang="en-US" sz="1400" kern="0" spc="-80" dirty="0">
                <a:solidFill>
                  <a:schemeClr val="accent2"/>
                </a:solidFill>
              </a:rPr>
              <a:t>Test-time scaling: </a:t>
            </a:r>
          </a:p>
          <a:p>
            <a:r>
              <a:rPr lang="en-US" sz="1400" kern="0" spc="-80" dirty="0">
                <a:solidFill>
                  <a:schemeClr val="accent6"/>
                </a:solidFill>
              </a:rPr>
              <a:t>Some advanced applications of </a:t>
            </a:r>
            <a:r>
              <a:rPr lang="en-US" sz="1400" kern="0" spc="-80" dirty="0" err="1">
                <a:solidFill>
                  <a:schemeClr val="accent6"/>
                </a:solidFill>
              </a:rPr>
              <a:t>CoT</a:t>
            </a:r>
            <a:r>
              <a:rPr lang="en-US" sz="1400" kern="0" spc="-80" dirty="0">
                <a:solidFill>
                  <a:schemeClr val="accent6"/>
                </a:solidFill>
              </a:rPr>
              <a:t> involve giving the AI more time or additional prompts during testing to improve accuracy</a:t>
            </a:r>
          </a:p>
          <a:p>
            <a:endParaRPr lang="en-US" sz="1400" kern="0" spc="-80" dirty="0">
              <a:solidFill>
                <a:schemeClr val="accent6"/>
              </a:solidFill>
            </a:endParaRPr>
          </a:p>
          <a:p>
            <a:r>
              <a:rPr lang="en-US" sz="1400" kern="0" spc="-80" dirty="0">
                <a:solidFill>
                  <a:schemeClr val="accent2"/>
                </a:solidFill>
              </a:rPr>
              <a:t>Tree of Thought (</a:t>
            </a:r>
            <a:r>
              <a:rPr lang="en-US" sz="1400" kern="0" spc="-80" dirty="0" err="1">
                <a:solidFill>
                  <a:schemeClr val="accent2"/>
                </a:solidFill>
              </a:rPr>
              <a:t>ToT</a:t>
            </a:r>
            <a:r>
              <a:rPr lang="en-US" sz="1400" kern="0" spc="-80" dirty="0">
                <a:solidFill>
                  <a:schemeClr val="accent2"/>
                </a:solidFill>
              </a:rPr>
              <a:t>) </a:t>
            </a:r>
            <a:r>
              <a:rPr lang="en-US" sz="1400" kern="0" spc="-80" dirty="0">
                <a:solidFill>
                  <a:schemeClr val="accent6"/>
                </a:solidFill>
              </a:rPr>
              <a:t>reasoning techniques involve an AI model exploring multiple reasoning paths simultaneously, much like a human brain using trial and error, and then evaluating these paths to find the most promising solution. This is achieved by generating multiple potential solutions or intermediate steps, evaluating the viability of each thought or branch, and then searching through the "tree" of possibilities using algorithms like Depth-First Search or Breadth-First Search to find the best outcome.  </a:t>
            </a:r>
          </a:p>
          <a:p>
            <a:r>
              <a:rPr lang="en-US" sz="1400" kern="0" spc="-80" dirty="0">
                <a:solidFill>
                  <a:schemeClr val="accent2"/>
                </a:solidFill>
              </a:rPr>
              <a:t>Core techniques</a:t>
            </a:r>
          </a:p>
          <a:p>
            <a:r>
              <a:rPr lang="en-US" sz="1400" kern="0" spc="-80" dirty="0">
                <a:solidFill>
                  <a:schemeClr val="accent2"/>
                </a:solidFill>
              </a:rPr>
              <a:t>Thought Generation: </a:t>
            </a:r>
          </a:p>
          <a:p>
            <a:r>
              <a:rPr lang="en-US" sz="1400" kern="0" spc="-80" dirty="0">
                <a:solidFill>
                  <a:schemeClr val="accent6"/>
                </a:solidFill>
              </a:rPr>
              <a:t>At each step, the model generates multiple thoughts or potential intermediate solutions to the problem. </a:t>
            </a:r>
          </a:p>
          <a:p>
            <a:r>
              <a:rPr lang="en-US" sz="1400" kern="0" spc="-80" dirty="0">
                <a:solidFill>
                  <a:schemeClr val="accent6"/>
                </a:solidFill>
              </a:rPr>
              <a:t>This can be done using a sample method, which applies a Chain-of-Thought (</a:t>
            </a:r>
            <a:r>
              <a:rPr lang="en-US" sz="1400" kern="0" spc="-80" dirty="0" err="1">
                <a:solidFill>
                  <a:schemeClr val="accent6"/>
                </a:solidFill>
              </a:rPr>
              <a:t>CoT</a:t>
            </a:r>
            <a:r>
              <a:rPr lang="en-US" sz="1400" kern="0" spc="-80" dirty="0">
                <a:solidFill>
                  <a:schemeClr val="accent6"/>
                </a:solidFill>
              </a:rPr>
              <a:t>) prompt iteratively to generate branching paths. </a:t>
            </a:r>
          </a:p>
        </p:txBody>
      </p:sp>
    </p:spTree>
    <p:extLst>
      <p:ext uri="{BB962C8B-B14F-4D97-AF65-F5344CB8AC3E}">
        <p14:creationId xmlns:p14="http://schemas.microsoft.com/office/powerpoint/2010/main" val="197337257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C2A8A-0A49-A62C-004B-04914F5B03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09F3D71-1C6E-70D5-4022-C0E847B09A33}"/>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EF112B-5735-6AEA-8572-25970FF5F806}"/>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BFDA8EE-665E-386C-9B21-04817CB90945}"/>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DD147EF-55A5-17AF-1942-E1258E53D014}"/>
              </a:ext>
            </a:extLst>
          </p:cNvPr>
          <p:cNvSpPr txBox="1">
            <a:spLocks/>
          </p:cNvSpPr>
          <p:nvPr/>
        </p:nvSpPr>
        <p:spPr>
          <a:xfrm>
            <a:off x="30480" y="1275912"/>
            <a:ext cx="8624937" cy="45704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kern="0" spc="-80" dirty="0">
                <a:solidFill>
                  <a:schemeClr val="accent2"/>
                </a:solidFill>
              </a:rPr>
              <a:t>Reasoning Techniques</a:t>
            </a:r>
          </a:p>
          <a:p>
            <a:r>
              <a:rPr lang="en-US" sz="1400" kern="0" spc="-80" dirty="0">
                <a:solidFill>
                  <a:schemeClr val="accent2"/>
                </a:solidFill>
              </a:rPr>
              <a:t>Thought Evaluation: </a:t>
            </a:r>
          </a:p>
          <a:p>
            <a:r>
              <a:rPr lang="en-US" sz="1400" kern="0" spc="-80" dirty="0">
                <a:solidFill>
                  <a:schemeClr val="accent6"/>
                </a:solidFill>
              </a:rPr>
              <a:t>A prompt is used to evaluate the generated thoughts. This step assesses the viability of each reasoning path. </a:t>
            </a:r>
          </a:p>
          <a:p>
            <a:r>
              <a:rPr lang="en-US" sz="1400" kern="0" spc="-80" dirty="0">
                <a:solidFill>
                  <a:schemeClr val="accent6"/>
                </a:solidFill>
              </a:rPr>
              <a:t>The vote method is an example where the model is asked to analyze and vote on the most promising choice among the generated options. </a:t>
            </a:r>
          </a:p>
          <a:p>
            <a:r>
              <a:rPr lang="en-US" sz="1400" kern="0" spc="-80" dirty="0">
                <a:solidFill>
                  <a:schemeClr val="accent2"/>
                </a:solidFill>
              </a:rPr>
              <a:t>Path Selection and Search: </a:t>
            </a:r>
          </a:p>
          <a:p>
            <a:r>
              <a:rPr lang="en-US" sz="1400" kern="0" spc="-80" dirty="0">
                <a:solidFill>
                  <a:schemeClr val="accent6"/>
                </a:solidFill>
              </a:rPr>
              <a:t>Based on the evaluation, the model selects the most promising paths to continue exploring. </a:t>
            </a:r>
          </a:p>
          <a:p>
            <a:r>
              <a:rPr lang="en-US" sz="1400" kern="0" spc="-80" dirty="0">
                <a:solidFill>
                  <a:schemeClr val="accent6"/>
                </a:solidFill>
              </a:rPr>
              <a:t>Search algorithms like Depth-First Search (DFS) or Breadth-First Search (BFS) are used to systematically navigate and prune the thought tree. </a:t>
            </a:r>
          </a:p>
          <a:p>
            <a:r>
              <a:rPr lang="en-US" sz="1400" kern="0" spc="-80" dirty="0">
                <a:solidFill>
                  <a:schemeClr val="accent6"/>
                </a:solidFill>
              </a:rPr>
              <a:t>Greedy search: can also be used to simply select the highest-scoring paths. </a:t>
            </a:r>
          </a:p>
          <a:p>
            <a:r>
              <a:rPr lang="en-US" sz="1400" kern="0" spc="-80" dirty="0">
                <a:solidFill>
                  <a:schemeClr val="accent2"/>
                </a:solidFill>
              </a:rPr>
              <a:t>How it works</a:t>
            </a:r>
          </a:p>
          <a:p>
            <a:r>
              <a:rPr lang="en-US" sz="1400" kern="0" spc="-80" dirty="0" err="1">
                <a:solidFill>
                  <a:schemeClr val="accent6"/>
                </a:solidFill>
              </a:rPr>
              <a:t>ToT</a:t>
            </a:r>
            <a:r>
              <a:rPr lang="en-US" sz="1400" kern="0" spc="-80" dirty="0">
                <a:solidFill>
                  <a:schemeClr val="accent6"/>
                </a:solidFill>
              </a:rPr>
              <a:t> starts with an initial input and creates a branching structure, with each branch representing a different line of reasoning. </a:t>
            </a:r>
          </a:p>
          <a:p>
            <a:r>
              <a:rPr lang="en-US" sz="1400" kern="0" spc="-80" dirty="0">
                <a:solidFill>
                  <a:schemeClr val="accent6"/>
                </a:solidFill>
              </a:rPr>
              <a:t>It moves beyond the linear progression of traditional prompting, allowing for parallel exploration of multiple potential solutions. </a:t>
            </a:r>
          </a:p>
          <a:p>
            <a:r>
              <a:rPr lang="en-US" sz="1400" kern="0" spc="-80" dirty="0">
                <a:solidFill>
                  <a:schemeClr val="accent6"/>
                </a:solidFill>
              </a:rPr>
              <a:t>The model can backtrack from unproductive paths and re-evaluate previous thoughts, much like human problem-solving. </a:t>
            </a:r>
          </a:p>
          <a:p>
            <a:r>
              <a:rPr lang="en-US" sz="1400" kern="0" spc="-80" dirty="0">
                <a:solidFill>
                  <a:schemeClr val="accent6"/>
                </a:solidFill>
              </a:rPr>
              <a:t>This approach is particularly effective for tasks that require complex reasoning, multi-step planning, or creative problem-solving, such as math puzzles and creative writing. </a:t>
            </a:r>
          </a:p>
          <a:p>
            <a:endParaRPr lang="en-US" sz="1400" kern="0" spc="-80" dirty="0">
              <a:solidFill>
                <a:schemeClr val="accent6"/>
              </a:solidFill>
            </a:endParaRPr>
          </a:p>
        </p:txBody>
      </p:sp>
    </p:spTree>
    <p:extLst>
      <p:ext uri="{BB962C8B-B14F-4D97-AF65-F5344CB8AC3E}">
        <p14:creationId xmlns:p14="http://schemas.microsoft.com/office/powerpoint/2010/main" val="294999010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1C20F-4293-8AE3-4C0E-22F0D093B1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75F8A26-5E74-CB07-66D8-D932C6E511F5}"/>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9370AC8-AA0D-EC71-9B8D-C677061068E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117A18E-A6A4-4388-5D59-637681AE9BF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1A44AAA-C5B2-F5E7-0F7A-CECEC17513F2}"/>
              </a:ext>
            </a:extLst>
          </p:cNvPr>
          <p:cNvSpPr txBox="1">
            <a:spLocks/>
          </p:cNvSpPr>
          <p:nvPr/>
        </p:nvSpPr>
        <p:spPr>
          <a:xfrm>
            <a:off x="30480" y="1275912"/>
            <a:ext cx="8624937" cy="60324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Reasoning Techniques</a:t>
            </a:r>
          </a:p>
          <a:p>
            <a:r>
              <a:rPr lang="en-US" sz="1400" kern="0" spc="-80" dirty="0">
                <a:solidFill>
                  <a:schemeClr val="accent2"/>
                </a:solidFill>
              </a:rPr>
              <a:t>Graph of Thoughts (</a:t>
            </a:r>
            <a:r>
              <a:rPr lang="en-US" sz="1400" kern="0" spc="-80" dirty="0" err="1">
                <a:solidFill>
                  <a:schemeClr val="accent2"/>
                </a:solidFill>
              </a:rPr>
              <a:t>GoT</a:t>
            </a:r>
            <a:r>
              <a:rPr lang="en-US" sz="1400" kern="0" spc="-80" dirty="0">
                <a:solidFill>
                  <a:schemeClr val="accent2"/>
                </a:solidFill>
              </a:rPr>
              <a:t>) </a:t>
            </a:r>
            <a:r>
              <a:rPr lang="en-US" sz="1400" kern="0" spc="-80" dirty="0">
                <a:solidFill>
                  <a:schemeClr val="accent6"/>
                </a:solidFill>
              </a:rPr>
              <a:t>is a reasoning technique for large language models that represents the thought process as a graph rather than a linear chain or tree. It models thoughts as vertices and their dependencies as edges, allowing for more complex reasoning patterns like self-loops, feedback, and the combination of multiple ideas, which are not possible in simpler methods like Chain of Thought or Tree</a:t>
            </a:r>
            <a:endParaRPr lang="en-IN" sz="1400" kern="0" spc="-80" dirty="0">
              <a:solidFill>
                <a:schemeClr val="accent6"/>
              </a:solidFill>
            </a:endParaRPr>
          </a:p>
          <a:p>
            <a:r>
              <a:rPr lang="en-US" sz="1400" kern="0" spc="-80" dirty="0">
                <a:solidFill>
                  <a:schemeClr val="accent6"/>
                </a:solidFill>
              </a:rPr>
              <a:t>of Thought. </a:t>
            </a:r>
          </a:p>
          <a:p>
            <a:r>
              <a:rPr lang="en-US" sz="1400" kern="0" spc="-80" dirty="0">
                <a:solidFill>
                  <a:schemeClr val="accent2"/>
                </a:solidFill>
              </a:rPr>
              <a:t>Key features of Graph of Thoughts:</a:t>
            </a:r>
          </a:p>
          <a:p>
            <a:r>
              <a:rPr lang="en-US" sz="1400" kern="0" spc="-80" dirty="0">
                <a:solidFill>
                  <a:schemeClr val="accent2"/>
                </a:solidFill>
              </a:rPr>
              <a:t>Graph structure: </a:t>
            </a:r>
          </a:p>
          <a:p>
            <a:r>
              <a:rPr lang="en-US" sz="1400" kern="0" spc="-80" dirty="0">
                <a:solidFill>
                  <a:schemeClr val="accent6"/>
                </a:solidFill>
              </a:rPr>
              <a:t>Represents the LLM's reasoning as a general graph (often a Directed Acyclic Graph or DAG), where each node is a piece of information or a "thought" and edges show the relationships between them. </a:t>
            </a:r>
          </a:p>
          <a:p>
            <a:r>
              <a:rPr lang="en-US" sz="1400" kern="0" spc="-80" dirty="0">
                <a:solidFill>
                  <a:schemeClr val="accent2"/>
                </a:solidFill>
              </a:rPr>
              <a:t>Non-linear reasoning: </a:t>
            </a:r>
          </a:p>
          <a:p>
            <a:r>
              <a:rPr lang="en-US" sz="1400" kern="0" spc="-80" dirty="0">
                <a:solidFill>
                  <a:schemeClr val="accent6"/>
                </a:solidFill>
              </a:rPr>
              <a:t>Captures the non-sequential nature of human thought, allowing for concepts like backtracking, merging of ideas, and applying feedback loops to refine thoughts. </a:t>
            </a:r>
          </a:p>
          <a:p>
            <a:r>
              <a:rPr lang="en-US" sz="1400" kern="0" spc="-80" dirty="0">
                <a:solidFill>
                  <a:schemeClr val="accent2"/>
                </a:solidFill>
              </a:rPr>
              <a:t>Flexibility: </a:t>
            </a:r>
          </a:p>
          <a:p>
            <a:r>
              <a:rPr lang="en-US" sz="1400" kern="0" spc="-80" dirty="0">
                <a:solidFill>
                  <a:schemeClr val="accent6"/>
                </a:solidFill>
              </a:rPr>
              <a:t>Moves beyond linear or tree-like structures to allow for arbitrary graph-based transformations, such as aggregating multiple thoughts or refining specific branches. </a:t>
            </a:r>
          </a:p>
          <a:p>
            <a:r>
              <a:rPr lang="en-US" sz="1400" kern="0" spc="-80" dirty="0">
                <a:solidFill>
                  <a:schemeClr val="accent2"/>
                </a:solidFill>
              </a:rPr>
              <a:t>Core operations: </a:t>
            </a:r>
          </a:p>
          <a:p>
            <a:r>
              <a:rPr lang="en-US" sz="1400" kern="0" spc="-80" dirty="0">
                <a:solidFill>
                  <a:schemeClr val="accent6"/>
                </a:solidFill>
              </a:rPr>
              <a:t>Involves generating initial thoughts, aggregating them, and then refining them, which can be structured as a template or a dynamic process. </a:t>
            </a:r>
          </a:p>
          <a:p>
            <a:r>
              <a:rPr lang="en-US" sz="1400" kern="0" spc="-80" dirty="0">
                <a:solidFill>
                  <a:schemeClr val="accent2"/>
                </a:solidFill>
              </a:rPr>
              <a:t>Comparison to other methods: </a:t>
            </a:r>
          </a:p>
          <a:p>
            <a:r>
              <a:rPr lang="en-US" sz="1400" kern="0" spc="-80" dirty="0" err="1">
                <a:solidFill>
                  <a:schemeClr val="accent6"/>
                </a:solidFill>
              </a:rPr>
              <a:t>GoT</a:t>
            </a:r>
            <a:r>
              <a:rPr lang="en-US" sz="1400" kern="0" spc="-80" dirty="0">
                <a:solidFill>
                  <a:schemeClr val="accent6"/>
                </a:solidFill>
              </a:rPr>
              <a:t> extends Chain of Thought (</a:t>
            </a:r>
            <a:r>
              <a:rPr lang="en-US" sz="1400" kern="0" spc="-80" dirty="0" err="1">
                <a:solidFill>
                  <a:schemeClr val="accent6"/>
                </a:solidFill>
              </a:rPr>
              <a:t>CoT</a:t>
            </a:r>
            <a:r>
              <a:rPr lang="en-US" sz="1400" kern="0" spc="-80" dirty="0">
                <a:solidFill>
                  <a:schemeClr val="accent6"/>
                </a:solidFill>
              </a:rPr>
              <a:t>) and Tree of Thought (</a:t>
            </a:r>
            <a:r>
              <a:rPr lang="en-US" sz="1400" kern="0" spc="-80" dirty="0" err="1">
                <a:solidFill>
                  <a:schemeClr val="accent6"/>
                </a:solidFill>
              </a:rPr>
              <a:t>ToT</a:t>
            </a:r>
            <a:r>
              <a:rPr lang="en-US" sz="1400" kern="0" spc="-80" dirty="0">
                <a:solidFill>
                  <a:schemeClr val="accent6"/>
                </a:solidFill>
              </a:rPr>
              <a:t>) by enabling more complex operations like aggregation and refinement that aren't supported by tree structures. </a:t>
            </a:r>
          </a:p>
          <a:p>
            <a:endParaRPr lang="en-US" sz="1400" kern="0" spc="-80" dirty="0">
              <a:solidFill>
                <a:schemeClr val="accent6"/>
              </a:solidFill>
            </a:endParaRPr>
          </a:p>
          <a:p>
            <a:endParaRPr lang="en-US" sz="1400" kern="0" spc="-80" dirty="0">
              <a:solidFill>
                <a:schemeClr val="accent6"/>
              </a:solidFill>
            </a:endParaRPr>
          </a:p>
          <a:p>
            <a:endParaRPr lang="en-US" sz="1400" kern="0" spc="-80" dirty="0">
              <a:solidFill>
                <a:schemeClr val="accent6"/>
              </a:solidFill>
            </a:endParaRPr>
          </a:p>
          <a:p>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73063141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F4AF8-C565-3BB4-B351-9BF0058385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C06F9C-8E4E-1E77-B354-55C36A42207E}"/>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6A080E8-0763-0A5F-B805-3FEB9591237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7B10122-4DEC-3406-D4D6-7BE420AE50F1}"/>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F3D0A0B-ABB7-E31C-D85A-EFA825DE15DC}"/>
              </a:ext>
            </a:extLst>
          </p:cNvPr>
          <p:cNvSpPr txBox="1">
            <a:spLocks/>
          </p:cNvSpPr>
          <p:nvPr/>
        </p:nvSpPr>
        <p:spPr>
          <a:xfrm>
            <a:off x="30480" y="1275912"/>
            <a:ext cx="8624937" cy="60324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Reasoning Techniques</a:t>
            </a:r>
          </a:p>
          <a:p>
            <a:r>
              <a:rPr lang="en-US" sz="1400" kern="0" spc="-80" dirty="0">
                <a:solidFill>
                  <a:schemeClr val="accent2"/>
                </a:solidFill>
              </a:rPr>
              <a:t>How it works:</a:t>
            </a:r>
          </a:p>
          <a:p>
            <a:r>
              <a:rPr lang="en-US" sz="1400" kern="0" spc="-80" dirty="0">
                <a:solidFill>
                  <a:schemeClr val="accent6"/>
                </a:solidFill>
              </a:rPr>
              <a:t>Represent the process as a graph: Each thought or piece of information becomes a node (vertex) in the graph. </a:t>
            </a:r>
          </a:p>
          <a:p>
            <a:r>
              <a:rPr lang="en-US" sz="1400" kern="0" spc="-80" dirty="0">
                <a:solidFill>
                  <a:schemeClr val="accent2"/>
                </a:solidFill>
              </a:rPr>
              <a:t>Map dependencies:</a:t>
            </a:r>
            <a:r>
              <a:rPr lang="en-US" sz="1400" kern="0" spc="-80" dirty="0">
                <a:solidFill>
                  <a:schemeClr val="accent6"/>
                </a:solidFill>
              </a:rPr>
              <a:t> The relationships or dependencies between these thoughts are represented as edges. An edge from node A to node B means that thought B was derived from or built upon thought A. </a:t>
            </a:r>
          </a:p>
          <a:p>
            <a:r>
              <a:rPr lang="en-US" sz="1400" kern="0" spc="-80" dirty="0">
                <a:solidFill>
                  <a:schemeClr val="accent2"/>
                </a:solidFill>
              </a:rPr>
              <a:t>Apply graph operations: </a:t>
            </a:r>
            <a:r>
              <a:rPr lang="en-US" sz="1400" kern="0" spc="-80" dirty="0">
                <a:solidFill>
                  <a:schemeClr val="accent6"/>
                </a:solidFill>
              </a:rPr>
              <a:t>The framework can then apply operations such as:</a:t>
            </a:r>
          </a:p>
          <a:p>
            <a:r>
              <a:rPr lang="en-US" sz="1400" b="1" kern="0" spc="-80" dirty="0">
                <a:solidFill>
                  <a:schemeClr val="accent2"/>
                </a:solidFill>
                <a:latin typeface="Lucida Sans"/>
                <a:ea typeface="+mj-ea"/>
              </a:rPr>
              <a:t>Combining nodes: </a:t>
            </a:r>
            <a:r>
              <a:rPr lang="en-US" sz="1400" b="1" kern="0" spc="-80" dirty="0">
                <a:solidFill>
                  <a:schemeClr val="accent6"/>
                </a:solidFill>
                <a:latin typeface="Lucida Sans"/>
                <a:ea typeface="+mj-ea"/>
              </a:rPr>
              <a:t>Merging multiple nodes to create a more complex or coherent thought. </a:t>
            </a:r>
          </a:p>
          <a:p>
            <a:r>
              <a:rPr lang="en-US" sz="1400" b="1" kern="0" spc="-80" dirty="0">
                <a:solidFill>
                  <a:schemeClr val="accent2"/>
                </a:solidFill>
                <a:latin typeface="Lucida Sans"/>
                <a:ea typeface="+mj-ea"/>
              </a:rPr>
              <a:t>Refining nodes: </a:t>
            </a:r>
            <a:r>
              <a:rPr lang="en-US" sz="1400" b="1" kern="0" spc="-80" dirty="0">
                <a:solidFill>
                  <a:schemeClr val="accent6"/>
                </a:solidFill>
                <a:latin typeface="Lucida Sans"/>
                <a:ea typeface="+mj-ea"/>
              </a:rPr>
              <a:t>Applying transformations to enhance a thought, potentially using feedback loops to improve it. </a:t>
            </a:r>
          </a:p>
          <a:p>
            <a:r>
              <a:rPr lang="en-US" sz="1400" b="1" kern="0" spc="-80" dirty="0">
                <a:solidFill>
                  <a:schemeClr val="accent2"/>
                </a:solidFill>
                <a:latin typeface="Lucida Sans"/>
                <a:ea typeface="+mj-ea"/>
              </a:rPr>
              <a:t>Scoring:</a:t>
            </a:r>
            <a:r>
              <a:rPr lang="en-US" sz="1400" b="1" kern="0" spc="-80" dirty="0">
                <a:solidFill>
                  <a:schemeClr val="accent6"/>
                </a:solidFill>
                <a:latin typeface="Lucida Sans"/>
                <a:ea typeface="+mj-ea"/>
              </a:rPr>
              <a:t> Evaluating different thoughts and selecting the best ones to continue the process. </a:t>
            </a:r>
          </a:p>
          <a:p>
            <a:r>
              <a:rPr lang="en-US" sz="1400" kern="0" spc="-80" dirty="0">
                <a:solidFill>
                  <a:schemeClr val="accent2"/>
                </a:solidFill>
              </a:rPr>
              <a:t>Benefits:</a:t>
            </a:r>
          </a:p>
          <a:p>
            <a:r>
              <a:rPr lang="en-US" sz="1400" kern="0" spc="-80" dirty="0">
                <a:solidFill>
                  <a:schemeClr val="accent2"/>
                </a:solidFill>
              </a:rPr>
              <a:t>Improved reasoning: </a:t>
            </a:r>
          </a:p>
          <a:p>
            <a:r>
              <a:rPr lang="en-US" sz="1400" kern="0" spc="-80" dirty="0" err="1">
                <a:solidFill>
                  <a:schemeClr val="accent6"/>
                </a:solidFill>
              </a:rPr>
              <a:t>GoT</a:t>
            </a:r>
            <a:r>
              <a:rPr lang="en-US" sz="1400" kern="0" spc="-80" dirty="0">
                <a:solidFill>
                  <a:schemeClr val="accent6"/>
                </a:solidFill>
              </a:rPr>
              <a:t> can lead to higher quality outcomes by more realistically modeling the complexity of human thought. </a:t>
            </a:r>
          </a:p>
          <a:p>
            <a:r>
              <a:rPr lang="en-US" sz="1400" kern="0" spc="-80" dirty="0">
                <a:solidFill>
                  <a:schemeClr val="accent2"/>
                </a:solidFill>
              </a:rPr>
              <a:t>Enhanced problem-solving: </a:t>
            </a:r>
          </a:p>
          <a:p>
            <a:r>
              <a:rPr lang="en-US" sz="1400" kern="0" spc="-80" dirty="0">
                <a:solidFill>
                  <a:schemeClr val="accent6"/>
                </a:solidFill>
              </a:rPr>
              <a:t>It provides a more flexible and efficient way to manage and manipulate the information generated by LLMs, improving performance on complex tasks. </a:t>
            </a:r>
          </a:p>
          <a:p>
            <a:r>
              <a:rPr lang="en-US" sz="1400" kern="0" spc="-80" dirty="0">
                <a:solidFill>
                  <a:schemeClr val="accent2"/>
                </a:solidFill>
              </a:rPr>
              <a:t>Scalability: </a:t>
            </a:r>
          </a:p>
          <a:p>
            <a:r>
              <a:rPr lang="en-US" sz="1400" kern="0" spc="-80" dirty="0">
                <a:solidFill>
                  <a:schemeClr val="accent6"/>
                </a:solidFill>
              </a:rPr>
              <a:t>Some versions, like Adaptive Graph of Thoughts, use dynamic decomposition to focus computation on the most critical subproblems, making the approach more scalable</a:t>
            </a:r>
          </a:p>
          <a:p>
            <a:endParaRPr lang="en-US" sz="1400" kern="0" spc="-80" dirty="0">
              <a:solidFill>
                <a:schemeClr val="accent6"/>
              </a:solidFill>
            </a:endParaRPr>
          </a:p>
          <a:p>
            <a:endParaRPr lang="en-US" sz="1400" kern="0" spc="-80" dirty="0">
              <a:solidFill>
                <a:schemeClr val="accent6"/>
              </a:solidFill>
            </a:endParaRPr>
          </a:p>
          <a:p>
            <a:endParaRPr lang="en-US" sz="1400" kern="0" spc="-80" dirty="0">
              <a:solidFill>
                <a:schemeClr val="accent6"/>
              </a:solidFill>
            </a:endParaRPr>
          </a:p>
          <a:p>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323202895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3316-5467-221E-92B3-DFE034E5CC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1C305FE-49EE-CC9E-83D8-3D727E2E9A2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7351635-1501-0738-6E92-ABEB4BB2FB64}"/>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C8C9815-912A-3A99-C77D-567F91D2CE16}"/>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D66770B-40AD-4682-0930-ED64BA35F69E}"/>
              </a:ext>
            </a:extLst>
          </p:cNvPr>
          <p:cNvSpPr txBox="1">
            <a:spLocks/>
          </p:cNvSpPr>
          <p:nvPr/>
        </p:nvSpPr>
        <p:spPr>
          <a:xfrm>
            <a:off x="30480" y="1275912"/>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How Reasoning Techniques used in Agentic AI</a:t>
            </a:r>
          </a:p>
          <a:p>
            <a:r>
              <a:rPr lang="en-US" sz="1400" kern="0" spc="-80" dirty="0">
                <a:solidFill>
                  <a:schemeClr val="accent2"/>
                </a:solidFill>
              </a:rPr>
              <a:t>Chain of Thought (</a:t>
            </a:r>
            <a:r>
              <a:rPr lang="en-US" sz="1400" kern="0" spc="-80" dirty="0" err="1">
                <a:solidFill>
                  <a:schemeClr val="accent2"/>
                </a:solidFill>
              </a:rPr>
              <a:t>CoT</a:t>
            </a:r>
            <a:r>
              <a:rPr lang="en-US" sz="1400" kern="0" spc="-80" dirty="0">
                <a:solidFill>
                  <a:schemeClr val="accent2"/>
                </a:solidFill>
              </a:rPr>
              <a:t>)</a:t>
            </a:r>
          </a:p>
          <a:p>
            <a:r>
              <a:rPr lang="en-US" sz="1400" kern="0" spc="-80" dirty="0">
                <a:solidFill>
                  <a:schemeClr val="accent2"/>
                </a:solidFill>
              </a:rPr>
              <a:t>Concept: </a:t>
            </a:r>
            <a:r>
              <a:rPr lang="en-US" sz="1400" kern="0" spc="-80" dirty="0" err="1">
                <a:solidFill>
                  <a:schemeClr val="accent6"/>
                </a:solidFill>
              </a:rPr>
              <a:t>CoT</a:t>
            </a:r>
            <a:r>
              <a:rPr lang="en-US" sz="1400" kern="0" spc="-80" dirty="0">
                <a:solidFill>
                  <a:schemeClr val="accent6"/>
                </a:solidFill>
              </a:rPr>
              <a:t> is a prompting technique that instructs a large language model (LLM) to break down a complex problem into a sequence of logical, intermediate steps before arriving at a final answer.</a:t>
            </a:r>
          </a:p>
          <a:p>
            <a:r>
              <a:rPr lang="en-US" sz="1400" kern="0" spc="-80" dirty="0">
                <a:solidFill>
                  <a:schemeClr val="accent2"/>
                </a:solidFill>
              </a:rPr>
              <a:t>Usage in agents: </a:t>
            </a:r>
            <a:r>
              <a:rPr lang="en-US" sz="1400" kern="0" spc="-80" dirty="0">
                <a:solidFill>
                  <a:schemeClr val="accent6"/>
                </a:solidFill>
              </a:rPr>
              <a:t>In agentic AI, this linear reasoning process powers the agent's ability to plan and execute multi-step tasks in a logical order.</a:t>
            </a:r>
          </a:p>
          <a:p>
            <a:r>
              <a:rPr lang="en-US" sz="1400" kern="0" spc="-80" dirty="0">
                <a:solidFill>
                  <a:schemeClr val="accent2"/>
                </a:solidFill>
              </a:rPr>
              <a:t>Example: </a:t>
            </a:r>
            <a:r>
              <a:rPr lang="en-US" sz="1400" kern="0" spc="-80" dirty="0">
                <a:solidFill>
                  <a:schemeClr val="accent6"/>
                </a:solidFill>
              </a:rPr>
              <a:t>A customer service agent with </a:t>
            </a:r>
            <a:r>
              <a:rPr lang="en-US" sz="1400" kern="0" spc="-80" dirty="0" err="1">
                <a:solidFill>
                  <a:schemeClr val="accent6"/>
                </a:solidFill>
              </a:rPr>
              <a:t>CoT</a:t>
            </a:r>
            <a:r>
              <a:rPr lang="en-US" sz="1400" kern="0" spc="-80" dirty="0">
                <a:solidFill>
                  <a:schemeClr val="accent6"/>
                </a:solidFill>
              </a:rPr>
              <a:t> might process a complex inquiry by first breaking it down into sub-steps like "identify customer," "check order status," and "draft response." Each step builds on the last, creating a traceable path to the solution. </a:t>
            </a:r>
          </a:p>
          <a:p>
            <a:r>
              <a:rPr lang="en-US" sz="1400" kern="0" spc="-80" dirty="0">
                <a:solidFill>
                  <a:schemeClr val="accent2"/>
                </a:solidFill>
              </a:rPr>
              <a:t>Tree of Thought (</a:t>
            </a:r>
            <a:r>
              <a:rPr lang="en-US" sz="1400" kern="0" spc="-80" dirty="0" err="1">
                <a:solidFill>
                  <a:schemeClr val="accent2"/>
                </a:solidFill>
              </a:rPr>
              <a:t>ToT</a:t>
            </a:r>
            <a:r>
              <a:rPr lang="en-US" sz="1400" kern="0" spc="-80" dirty="0">
                <a:solidFill>
                  <a:schemeClr val="accent2"/>
                </a:solidFill>
              </a:rPr>
              <a:t>)</a:t>
            </a:r>
          </a:p>
          <a:p>
            <a:r>
              <a:rPr lang="en-US" sz="1400" kern="0" spc="-80" dirty="0">
                <a:solidFill>
                  <a:schemeClr val="accent2"/>
                </a:solidFill>
              </a:rPr>
              <a:t>Concept:</a:t>
            </a:r>
            <a:r>
              <a:rPr lang="en-US" sz="1400" kern="0" spc="-80" dirty="0">
                <a:solidFill>
                  <a:schemeClr val="accent6"/>
                </a:solidFill>
              </a:rPr>
              <a:t> </a:t>
            </a:r>
            <a:r>
              <a:rPr lang="en-US" sz="1400" kern="0" spc="-80" dirty="0" err="1">
                <a:solidFill>
                  <a:schemeClr val="accent6"/>
                </a:solidFill>
              </a:rPr>
              <a:t>ToT</a:t>
            </a:r>
            <a:r>
              <a:rPr lang="en-US" sz="1400" kern="0" spc="-80" dirty="0">
                <a:solidFill>
                  <a:schemeClr val="accent6"/>
                </a:solidFill>
              </a:rPr>
              <a:t> is an evolution of </a:t>
            </a:r>
            <a:r>
              <a:rPr lang="en-US" sz="1400" kern="0" spc="-80" dirty="0" err="1">
                <a:solidFill>
                  <a:schemeClr val="accent6"/>
                </a:solidFill>
              </a:rPr>
              <a:t>CoT</a:t>
            </a:r>
            <a:r>
              <a:rPr lang="en-US" sz="1400" kern="0" spc="-80" dirty="0">
                <a:solidFill>
                  <a:schemeClr val="accent6"/>
                </a:solidFill>
              </a:rPr>
              <a:t> that represents reasoning as a branching tree structure, allowing the AI to explore multiple paths simultaneously. This simulates human problem-solving, where one might consider several potential solutions and backtrack from unpromising ones.</a:t>
            </a:r>
          </a:p>
          <a:p>
            <a:r>
              <a:rPr lang="en-US" sz="1400" kern="0" spc="-80" dirty="0">
                <a:solidFill>
                  <a:schemeClr val="accent2"/>
                </a:solidFill>
              </a:rPr>
              <a:t>Usage in agents: </a:t>
            </a:r>
            <a:r>
              <a:rPr lang="en-US" sz="1400" kern="0" spc="-80" dirty="0">
                <a:solidFill>
                  <a:schemeClr val="accent6"/>
                </a:solidFill>
              </a:rPr>
              <a:t>Agents use </a:t>
            </a:r>
            <a:r>
              <a:rPr lang="en-US" sz="1400" kern="0" spc="-80" dirty="0" err="1">
                <a:solidFill>
                  <a:schemeClr val="accent6"/>
                </a:solidFill>
              </a:rPr>
              <a:t>ToT</a:t>
            </a:r>
            <a:r>
              <a:rPr lang="en-US" sz="1400" kern="0" spc="-80" dirty="0">
                <a:solidFill>
                  <a:schemeClr val="accent6"/>
                </a:solidFill>
              </a:rPr>
              <a:t> for tasks that require deep, strategic thinking and decision-making by evaluating potential outcomes at each branch of the thought process.</a:t>
            </a:r>
          </a:p>
          <a:p>
            <a:r>
              <a:rPr lang="en-US" sz="1400" kern="0" spc="-80" dirty="0">
                <a:solidFill>
                  <a:schemeClr val="accent2"/>
                </a:solidFill>
              </a:rPr>
              <a:t>Example: </a:t>
            </a:r>
            <a:r>
              <a:rPr lang="en-US" sz="1400" kern="0" spc="-80" dirty="0">
                <a:solidFill>
                  <a:schemeClr val="accent6"/>
                </a:solidFill>
              </a:rPr>
              <a:t>A creative writing agent using </a:t>
            </a:r>
            <a:r>
              <a:rPr lang="en-US" sz="1400" kern="0" spc="-80" dirty="0" err="1">
                <a:solidFill>
                  <a:schemeClr val="accent6"/>
                </a:solidFill>
              </a:rPr>
              <a:t>ToT</a:t>
            </a:r>
            <a:r>
              <a:rPr lang="en-US" sz="1400" kern="0" spc="-80" dirty="0">
                <a:solidFill>
                  <a:schemeClr val="accent6"/>
                </a:solidFill>
              </a:rPr>
              <a:t> might explore several different plot developments or character arcs from a single initial idea. It would then self-evaluate each branch to select the most promising narrative path. </a:t>
            </a:r>
          </a:p>
          <a:p>
            <a:r>
              <a:rPr lang="en-US" sz="1400" kern="0" spc="-80" dirty="0">
                <a:solidFill>
                  <a:schemeClr val="accent2"/>
                </a:solidFill>
              </a:rPr>
              <a:t>Graph of Thought (</a:t>
            </a:r>
            <a:r>
              <a:rPr lang="en-US" sz="1400" kern="0" spc="-80" dirty="0" err="1">
                <a:solidFill>
                  <a:schemeClr val="accent2"/>
                </a:solidFill>
              </a:rPr>
              <a:t>GoT</a:t>
            </a:r>
            <a:r>
              <a:rPr lang="en-US" sz="1400" kern="0" spc="-80" dirty="0">
                <a:solidFill>
                  <a:schemeClr val="accent2"/>
                </a:solidFill>
              </a:rPr>
              <a:t>)</a:t>
            </a:r>
          </a:p>
          <a:p>
            <a:r>
              <a:rPr lang="en-US" sz="1400" kern="0" spc="-80" dirty="0">
                <a:solidFill>
                  <a:schemeClr val="accent2"/>
                </a:solidFill>
              </a:rPr>
              <a:t>Concept: </a:t>
            </a:r>
            <a:r>
              <a:rPr lang="en-US" sz="1400" kern="0" spc="-80" dirty="0" err="1">
                <a:solidFill>
                  <a:schemeClr val="accent6"/>
                </a:solidFill>
              </a:rPr>
              <a:t>GoT</a:t>
            </a:r>
            <a:r>
              <a:rPr lang="en-US" sz="1400" kern="0" spc="-80" dirty="0">
                <a:solidFill>
                  <a:schemeClr val="accent6"/>
                </a:solidFill>
              </a:rPr>
              <a:t> is the most advanced and flexible of the three. It models reasoning not as a simple chain or tree, but as a dynamic graph where different "thoughts" are represented as nodes and their relationships are represented as edges. This allows for more intricate and non-linear reasoning.</a:t>
            </a:r>
          </a:p>
        </p:txBody>
      </p:sp>
    </p:spTree>
    <p:extLst>
      <p:ext uri="{BB962C8B-B14F-4D97-AF65-F5344CB8AC3E}">
        <p14:creationId xmlns:p14="http://schemas.microsoft.com/office/powerpoint/2010/main" val="9663486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AE882-7123-AD1A-D833-B4FCEF4753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57AA737-F1AB-0CBC-D174-42AFCC5A3691}"/>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F5269D-0921-A440-E64F-1F969026B68F}"/>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F5289F1-E927-AC39-16C1-EA362EE00F54}"/>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3B09D31-ED74-5F2F-0308-FBE29C467FE4}"/>
              </a:ext>
            </a:extLst>
          </p:cNvPr>
          <p:cNvSpPr txBox="1">
            <a:spLocks/>
          </p:cNvSpPr>
          <p:nvPr/>
        </p:nvSpPr>
        <p:spPr>
          <a:xfrm>
            <a:off x="30480" y="1275912"/>
            <a:ext cx="8624937" cy="56015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How Reasoning Techniques used in Agentic AI</a:t>
            </a:r>
          </a:p>
          <a:p>
            <a:r>
              <a:rPr lang="en-US" sz="1400" kern="0" spc="-80" dirty="0">
                <a:solidFill>
                  <a:schemeClr val="accent2"/>
                </a:solidFill>
              </a:rPr>
              <a:t>Usage in agents:</a:t>
            </a:r>
            <a:r>
              <a:rPr lang="en-US" sz="1400" kern="0" spc="-80" dirty="0">
                <a:solidFill>
                  <a:schemeClr val="accent6"/>
                </a:solidFill>
              </a:rPr>
              <a:t> </a:t>
            </a:r>
            <a:r>
              <a:rPr lang="en-US" sz="1400" kern="0" spc="-80" dirty="0" err="1">
                <a:solidFill>
                  <a:schemeClr val="accent6"/>
                </a:solidFill>
              </a:rPr>
              <a:t>GoT</a:t>
            </a:r>
            <a:r>
              <a:rPr lang="en-US" sz="1400" kern="0" spc="-80" dirty="0">
                <a:solidFill>
                  <a:schemeClr val="accent6"/>
                </a:solidFill>
              </a:rPr>
              <a:t> enables agents to solve highly elaborate problems by combining, refining, and strengthening thoughts using dynamic feedback loops. It overcomes the linear limitations of </a:t>
            </a:r>
            <a:r>
              <a:rPr lang="en-US" sz="1400" kern="0" spc="-80" dirty="0" err="1">
                <a:solidFill>
                  <a:schemeClr val="accent6"/>
                </a:solidFill>
              </a:rPr>
              <a:t>CoT</a:t>
            </a:r>
            <a:r>
              <a:rPr lang="en-US" sz="1400" kern="0" spc="-80" dirty="0">
                <a:solidFill>
                  <a:schemeClr val="accent6"/>
                </a:solidFill>
              </a:rPr>
              <a:t> and the hierarchical constraints of </a:t>
            </a:r>
            <a:r>
              <a:rPr lang="en-US" sz="1400" kern="0" spc="-80" dirty="0" err="1">
                <a:solidFill>
                  <a:schemeClr val="accent6"/>
                </a:solidFill>
              </a:rPr>
              <a:t>ToT</a:t>
            </a:r>
            <a:r>
              <a:rPr lang="en-US" sz="1400" kern="0" spc="-80" dirty="0">
                <a:solidFill>
                  <a:schemeClr val="accent6"/>
                </a:solidFill>
              </a:rPr>
              <a:t>.</a:t>
            </a:r>
          </a:p>
          <a:p>
            <a:r>
              <a:rPr lang="en-US" sz="1400" kern="0" spc="-80" dirty="0">
                <a:solidFill>
                  <a:schemeClr val="accent2"/>
                </a:solidFill>
              </a:rPr>
              <a:t>Example: </a:t>
            </a:r>
            <a:r>
              <a:rPr lang="en-US" sz="1400" kern="0" spc="-80" dirty="0">
                <a:solidFill>
                  <a:schemeClr val="accent6"/>
                </a:solidFill>
              </a:rPr>
              <a:t>A research agent using </a:t>
            </a:r>
            <a:r>
              <a:rPr lang="en-US" sz="1400" kern="0" spc="-80" dirty="0" err="1">
                <a:solidFill>
                  <a:schemeClr val="accent6"/>
                </a:solidFill>
              </a:rPr>
              <a:t>GoT</a:t>
            </a:r>
            <a:r>
              <a:rPr lang="en-US" sz="1400" kern="0" spc="-80" dirty="0">
                <a:solidFill>
                  <a:schemeClr val="accent6"/>
                </a:solidFill>
              </a:rPr>
              <a:t> could take a user's query and first break it down into initial concepts (nodes). It would then perform parallel searches for each concept. The agent could then merge new information into the existing graph, identify knowledge gaps, and initiate new reasoning branches to strengthen or refine its understanding. </a:t>
            </a:r>
          </a:p>
          <a:p>
            <a:r>
              <a:rPr lang="en-US" sz="1400" kern="0" spc="-80" dirty="0">
                <a:solidFill>
                  <a:schemeClr val="accent2"/>
                </a:solidFill>
              </a:rPr>
              <a:t>How these techniques fit into the agentic workflow</a:t>
            </a:r>
          </a:p>
          <a:p>
            <a:r>
              <a:rPr lang="en-US" sz="1400" kern="0" spc="-80" dirty="0">
                <a:solidFill>
                  <a:schemeClr val="accent6"/>
                </a:solidFill>
              </a:rPr>
              <a:t>These reasoning methods are a critical part of the overall agentic AI workflow, which generally includes the following steps: </a:t>
            </a:r>
          </a:p>
          <a:p>
            <a:r>
              <a:rPr lang="en-US" sz="1400" kern="0" spc="-80" dirty="0">
                <a:solidFill>
                  <a:schemeClr val="accent2"/>
                </a:solidFill>
              </a:rPr>
              <a:t>Perception: </a:t>
            </a:r>
            <a:r>
              <a:rPr lang="en-US" sz="1400" kern="0" spc="-80" dirty="0">
                <a:solidFill>
                  <a:schemeClr val="accent6"/>
                </a:solidFill>
              </a:rPr>
              <a:t>The agent collects data from its environment.</a:t>
            </a:r>
          </a:p>
          <a:p>
            <a:r>
              <a:rPr lang="en-US" sz="1400" kern="0" spc="-80" dirty="0">
                <a:solidFill>
                  <a:schemeClr val="accent2"/>
                </a:solidFill>
              </a:rPr>
              <a:t>Reasoning and planning: </a:t>
            </a:r>
            <a:r>
              <a:rPr lang="en-US" sz="1400" kern="0" spc="-80" dirty="0">
                <a:solidFill>
                  <a:schemeClr val="accent6"/>
                </a:solidFill>
              </a:rPr>
              <a:t>The agent uses a method like </a:t>
            </a:r>
            <a:r>
              <a:rPr lang="en-US" sz="1400" kern="0" spc="-80" dirty="0" err="1">
                <a:solidFill>
                  <a:schemeClr val="accent6"/>
                </a:solidFill>
              </a:rPr>
              <a:t>CoT</a:t>
            </a:r>
            <a:r>
              <a:rPr lang="en-US" sz="1400" kern="0" spc="-80" dirty="0">
                <a:solidFill>
                  <a:schemeClr val="accent6"/>
                </a:solidFill>
              </a:rPr>
              <a:t>, </a:t>
            </a:r>
            <a:r>
              <a:rPr lang="en-US" sz="1400" kern="0" spc="-80" dirty="0" err="1">
                <a:solidFill>
                  <a:schemeClr val="accent6"/>
                </a:solidFill>
              </a:rPr>
              <a:t>ToT</a:t>
            </a:r>
            <a:r>
              <a:rPr lang="en-US" sz="1400" kern="0" spc="-80" dirty="0">
                <a:solidFill>
                  <a:schemeClr val="accent6"/>
                </a:solidFill>
              </a:rPr>
              <a:t>, or </a:t>
            </a:r>
            <a:r>
              <a:rPr lang="en-US" sz="1400" kern="0" spc="-80" dirty="0" err="1">
                <a:solidFill>
                  <a:schemeClr val="accent6"/>
                </a:solidFill>
              </a:rPr>
              <a:t>GoT</a:t>
            </a:r>
            <a:r>
              <a:rPr lang="en-US" sz="1400" kern="0" spc="-80" dirty="0">
                <a:solidFill>
                  <a:schemeClr val="accent6"/>
                </a:solidFill>
              </a:rPr>
              <a:t> to interpret the user's goal, break it down into steps, and formulate an approach.</a:t>
            </a:r>
          </a:p>
          <a:p>
            <a:r>
              <a:rPr lang="en-US" sz="1400" kern="0" spc="-80" dirty="0">
                <a:solidFill>
                  <a:schemeClr val="accent2"/>
                </a:solidFill>
              </a:rPr>
              <a:t>Execution: </a:t>
            </a:r>
            <a:r>
              <a:rPr lang="en-US" sz="1400" kern="0" spc="-80" dirty="0">
                <a:solidFill>
                  <a:schemeClr val="accent6"/>
                </a:solidFill>
              </a:rPr>
              <a:t>The agent takes action, often by using external tools, based on its reasoning and plan.</a:t>
            </a:r>
          </a:p>
          <a:p>
            <a:r>
              <a:rPr lang="en-US" sz="1400" kern="0" spc="-80" dirty="0">
                <a:solidFill>
                  <a:schemeClr val="accent2"/>
                </a:solidFill>
              </a:rPr>
              <a:t>Learning: </a:t>
            </a:r>
            <a:r>
              <a:rPr lang="en-US" sz="1400" kern="0" spc="-80" dirty="0">
                <a:solidFill>
                  <a:schemeClr val="accent6"/>
                </a:solidFill>
              </a:rPr>
              <a:t>The agent learns from the outcome of its actions and adapts its future behavior. </a:t>
            </a:r>
          </a:p>
          <a:p>
            <a:r>
              <a:rPr lang="en-US" sz="1400" kern="0" spc="-80" dirty="0">
                <a:solidFill>
                  <a:schemeClr val="accent2"/>
                </a:solidFill>
              </a:rPr>
              <a:t>The choice of technique depends on the complexity of the task:</a:t>
            </a:r>
          </a:p>
          <a:p>
            <a:r>
              <a:rPr lang="en-US" sz="1400" kern="0" spc="-80" dirty="0">
                <a:solidFill>
                  <a:schemeClr val="accent6"/>
                </a:solidFill>
              </a:rPr>
              <a:t>For straightforward tasks, a linear </a:t>
            </a:r>
            <a:r>
              <a:rPr lang="en-US" sz="1400" kern="0" spc="-80" dirty="0" err="1">
                <a:solidFill>
                  <a:schemeClr val="accent6"/>
                </a:solidFill>
              </a:rPr>
              <a:t>CoT</a:t>
            </a:r>
            <a:r>
              <a:rPr lang="en-US" sz="1400" kern="0" spc="-80" dirty="0">
                <a:solidFill>
                  <a:schemeClr val="accent6"/>
                </a:solidFill>
              </a:rPr>
              <a:t> is often sufficient.</a:t>
            </a:r>
          </a:p>
          <a:p>
            <a:r>
              <a:rPr lang="en-US" sz="1400" kern="0" spc="-80" dirty="0">
                <a:solidFill>
                  <a:schemeClr val="accent6"/>
                </a:solidFill>
              </a:rPr>
              <a:t>For more ambiguous problems requiring multiple parallel explorations, </a:t>
            </a:r>
            <a:r>
              <a:rPr lang="en-US" sz="1400" kern="0" spc="-80" dirty="0" err="1">
                <a:solidFill>
                  <a:schemeClr val="accent6"/>
                </a:solidFill>
              </a:rPr>
              <a:t>ToT</a:t>
            </a:r>
            <a:r>
              <a:rPr lang="en-US" sz="1400" kern="0" spc="-80" dirty="0">
                <a:solidFill>
                  <a:schemeClr val="accent6"/>
                </a:solidFill>
              </a:rPr>
              <a:t> is a more effective strategy.</a:t>
            </a:r>
          </a:p>
          <a:p>
            <a:r>
              <a:rPr lang="en-US" sz="1400" kern="0" spc="-80" dirty="0">
                <a:solidFill>
                  <a:schemeClr val="accent6"/>
                </a:solidFill>
              </a:rPr>
              <a:t>For highly complex, multi-dimensional problems that require combining, evaluating, and refining a network of ideas, </a:t>
            </a:r>
            <a:r>
              <a:rPr lang="en-US" sz="1400" kern="0" spc="-80" dirty="0" err="1">
                <a:solidFill>
                  <a:schemeClr val="accent6"/>
                </a:solidFill>
              </a:rPr>
              <a:t>GoT</a:t>
            </a:r>
            <a:r>
              <a:rPr lang="en-US" sz="1400" kern="0" spc="-80" dirty="0">
                <a:solidFill>
                  <a:schemeClr val="accent6"/>
                </a:solidFill>
              </a:rPr>
              <a:t> provides the most advanced framework. </a:t>
            </a:r>
          </a:p>
          <a:p>
            <a:endParaRPr lang="en-US" sz="1400" kern="0" spc="-80" dirty="0">
              <a:solidFill>
                <a:schemeClr val="accent6"/>
              </a:solidFill>
            </a:endParaRPr>
          </a:p>
          <a:p>
            <a:endParaRPr lang="en-US" sz="1400" kern="0" spc="-80" dirty="0">
              <a:solidFill>
                <a:schemeClr val="accent6"/>
              </a:solidFill>
            </a:endParaRPr>
          </a:p>
          <a:p>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413316552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00C2-2B81-DE5F-530F-8BE674782F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B0513CC-CC25-D107-C63A-71496C9BE273}"/>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6F9745E-06DC-7DD0-C795-7B593AEA8604}"/>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66E0F59-30B1-56FD-E815-C21C2C70D07B}"/>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369A68-B1C3-6188-0163-BBD63D5E521C}"/>
              </a:ext>
            </a:extLst>
          </p:cNvPr>
          <p:cNvSpPr txBox="1">
            <a:spLocks/>
          </p:cNvSpPr>
          <p:nvPr/>
        </p:nvSpPr>
        <p:spPr>
          <a:xfrm>
            <a:off x="30480" y="1275912"/>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a:t>
            </a:r>
          </a:p>
          <a:p>
            <a:pPr marL="12700" marR="5080"/>
            <a:r>
              <a:rPr lang="en-IN" sz="1400" dirty="0">
                <a:hlinkClick r:id="rId7"/>
              </a:rPr>
              <a:t>How AI Agents will replace traditional tools</a:t>
            </a:r>
            <a:endParaRPr lang="en-IN" sz="1400" dirty="0"/>
          </a:p>
          <a:p>
            <a:pPr marL="12700" marR="5080"/>
            <a:r>
              <a:rPr lang="en-US" sz="1400" dirty="0">
                <a:hlinkClick r:id="rId8"/>
              </a:rPr>
              <a:t>Reasoning-From-Scratch</a:t>
            </a:r>
            <a:endParaRPr lang="en-US" sz="1400" dirty="0"/>
          </a:p>
          <a:p>
            <a:pPr marL="12700" marR="5080"/>
            <a:r>
              <a:rPr lang="en-IN" sz="1400" dirty="0">
                <a:hlinkClick r:id="rId9"/>
              </a:rPr>
              <a:t>Some Basic Agentic Resources</a:t>
            </a:r>
            <a:endParaRPr lang="en-IN" sz="1400" dirty="0"/>
          </a:p>
          <a:p>
            <a:pPr marL="12700" marR="5080"/>
            <a:r>
              <a:rPr lang="en-IN" sz="1400" dirty="0">
                <a:hlinkClick r:id="rId10"/>
              </a:rPr>
              <a:t>AI Agents Types</a:t>
            </a:r>
            <a:endParaRPr lang="en-IN" sz="1400" dirty="0"/>
          </a:p>
          <a:p>
            <a:pPr marL="12700" marR="5080"/>
            <a:r>
              <a:rPr lang="en-US" sz="1400" dirty="0">
                <a:hlinkClick r:id="rId11"/>
              </a:rPr>
              <a:t>Goal-Oriented Vs Task-Oriented AI Agents | </a:t>
            </a:r>
            <a:r>
              <a:rPr lang="en-US" sz="1400" dirty="0" err="1">
                <a:hlinkClick r:id="rId11"/>
              </a:rPr>
              <a:t>Restackio</a:t>
            </a:r>
            <a:endParaRPr lang="en-IN" sz="1400" dirty="0"/>
          </a:p>
          <a:p>
            <a:pPr marL="12700" marR="5080"/>
            <a:r>
              <a:rPr lang="en-US" sz="1400" dirty="0">
                <a:hlinkClick r:id="rId12"/>
              </a:rPr>
              <a:t>3-Agentic-Design-patterns</a:t>
            </a:r>
            <a:endParaRPr lang="en-US" sz="1400" dirty="0"/>
          </a:p>
          <a:p>
            <a:pPr marL="12700" marR="5080"/>
            <a:r>
              <a:rPr lang="en-IN" sz="1400" dirty="0">
                <a:hlinkClick r:id="rId13"/>
              </a:rPr>
              <a:t>AI Agents Design Patterns Explained</a:t>
            </a:r>
            <a:endParaRPr lang="en-IN" sz="1400" dirty="0"/>
          </a:p>
          <a:p>
            <a:pPr marL="12700" marR="5080"/>
            <a:r>
              <a:rPr lang="en-IN" sz="1400" dirty="0">
                <a:hlinkClick r:id="rId14"/>
              </a:rPr>
              <a:t>Agentic Design Patterns</a:t>
            </a:r>
            <a:endParaRPr lang="en-IN" sz="1400" dirty="0"/>
          </a:p>
          <a:p>
            <a:pPr marL="12700" marR="5080"/>
            <a:r>
              <a:rPr lang="en-US" sz="1400" dirty="0">
                <a:hlinkClick r:id="rId15"/>
              </a:rPr>
              <a:t>Why Memory Matters for AI Agents: Insights from Nikolay Penkov</a:t>
            </a:r>
            <a:endParaRPr lang="en-US" sz="1400" dirty="0"/>
          </a:p>
          <a:p>
            <a:pPr marL="12700" marR="5080"/>
            <a:r>
              <a:rPr lang="en-IN" sz="1400" dirty="0">
                <a:hlinkClick r:id="rId16"/>
              </a:rPr>
              <a:t>Agentic AI Resources</a:t>
            </a:r>
            <a:endParaRPr lang="en-IN" sz="1400" dirty="0"/>
          </a:p>
          <a:p>
            <a:pPr marL="12700" marR="5080"/>
            <a:r>
              <a:rPr lang="en-IN" sz="1400" dirty="0">
                <a:hlinkClick r:id="rId17"/>
              </a:rPr>
              <a:t>Agentic AI </a:t>
            </a:r>
            <a:r>
              <a:rPr lang="en-IN" sz="1400" dirty="0" err="1">
                <a:hlinkClick r:id="rId17"/>
              </a:rPr>
              <a:t>Middlewares</a:t>
            </a:r>
            <a:endParaRPr lang="en-IN" sz="1400" dirty="0"/>
          </a:p>
          <a:p>
            <a:pPr marL="12700" marR="5080"/>
            <a:r>
              <a:rPr lang="en-IN" sz="1400" dirty="0">
                <a:hlinkClick r:id="rId18"/>
              </a:rPr>
              <a:t>Agentic AI Terms</a:t>
            </a:r>
            <a:endParaRPr lang="en-IN" sz="1400" dirty="0"/>
          </a:p>
          <a:p>
            <a:pPr marL="12700" marR="5080"/>
            <a:r>
              <a:rPr lang="en-IN" sz="1400" dirty="0">
                <a:hlinkClick r:id="rId19"/>
              </a:rPr>
              <a:t>MCP-for-Beginners</a:t>
            </a:r>
            <a:endParaRPr lang="en-US" sz="1400" kern="0" spc="-80" dirty="0">
              <a:solidFill>
                <a:schemeClr val="accent2"/>
              </a:solidFill>
            </a:endParaRPr>
          </a:p>
          <a:p>
            <a:pPr marL="12700" marR="5080"/>
            <a:r>
              <a:rPr lang="en-US" sz="1400" dirty="0">
                <a:hlinkClick r:id="rId20"/>
              </a:rPr>
              <a:t>Agentic AI: A Progression of Language Model Usage</a:t>
            </a:r>
            <a:endParaRPr lang="en-US" sz="1400" dirty="0"/>
          </a:p>
          <a:p>
            <a:pPr marL="12700" marR="5080"/>
            <a:r>
              <a:rPr lang="en-US" sz="1400" dirty="0">
                <a:hlinkClick r:id="rId21"/>
              </a:rPr>
              <a:t>Artificial Intelligence: Foundations of Computational Agents</a:t>
            </a:r>
            <a:endParaRPr lang="en-US" sz="1400" kern="0" spc="-80" dirty="0">
              <a:solidFill>
                <a:schemeClr val="accent2"/>
              </a:solidFill>
            </a:endParaRPr>
          </a:p>
          <a:p>
            <a:pPr marL="12700" marR="5080"/>
            <a:r>
              <a:rPr lang="en-IN" sz="1400" dirty="0">
                <a:hlinkClick r:id="rId22"/>
              </a:rPr>
              <a:t>Reasoning language model</a:t>
            </a:r>
            <a:endParaRPr lang="en-IN" sz="1400" dirty="0"/>
          </a:p>
          <a:p>
            <a:pPr marL="12700" marR="5080"/>
            <a:r>
              <a:rPr lang="en-IN" sz="1400" dirty="0">
                <a:hlinkClick r:id="rId23"/>
              </a:rPr>
              <a:t>How AI Agents Work</a:t>
            </a:r>
            <a:endParaRPr lang="en-IN" sz="1400" dirty="0"/>
          </a:p>
          <a:p>
            <a:pPr marL="12700" marR="5080"/>
            <a:r>
              <a:rPr lang="en-IN" sz="1400" dirty="0">
                <a:hlinkClick r:id="rId24"/>
              </a:rPr>
              <a:t>Agentic AI Resources </a:t>
            </a:r>
            <a:endParaRPr lang="en-IN" sz="1400" dirty="0"/>
          </a:p>
          <a:p>
            <a:pPr marL="12700" marR="5080"/>
            <a:r>
              <a:rPr lang="en-IN" sz="1400" dirty="0">
                <a:hlinkClick r:id="rId25"/>
              </a:rPr>
              <a:t>More Agentic Resources </a:t>
            </a:r>
            <a:endParaRPr lang="en-IN" sz="1400" dirty="0"/>
          </a:p>
          <a:p>
            <a:pPr marL="12700" marR="5080"/>
            <a:r>
              <a:rPr lang="en-US" sz="1400" dirty="0">
                <a:hlinkClick r:id="rId26"/>
              </a:rPr>
              <a:t>Multi-agent system: Types, working, applications and benefits</a:t>
            </a:r>
            <a:endParaRPr lang="en-IN" sz="1400" dirty="0"/>
          </a:p>
          <a:p>
            <a:pPr marL="12700" marR="5080"/>
            <a:endParaRPr lang="en-US" sz="1400" dirty="0"/>
          </a:p>
          <a:p>
            <a:pPr marL="12700" marR="5080"/>
            <a:endParaRPr lang="en-IN" sz="1400" kern="0" spc="-80" dirty="0">
              <a:solidFill>
                <a:schemeClr val="accent6"/>
              </a:solidFill>
              <a:cs typeface="+mn-cs"/>
            </a:endParaRPr>
          </a:p>
        </p:txBody>
      </p:sp>
    </p:spTree>
    <p:extLst>
      <p:ext uri="{BB962C8B-B14F-4D97-AF65-F5344CB8AC3E}">
        <p14:creationId xmlns:p14="http://schemas.microsoft.com/office/powerpoint/2010/main" val="2268945258"/>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7A9BF-7AED-4464-C4DF-7948F71CFF3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13380F-C25A-D888-4675-9A22CB37FCCA}"/>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35F3F31-DAC2-1E97-06CE-AE5939889F7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CAE4548-F3EA-1074-E0FF-2787C72A23F8}"/>
              </a:ext>
            </a:extLst>
          </p:cNvPr>
          <p:cNvGraphicFramePr/>
          <p:nvPr>
            <p:extLst>
              <p:ext uri="{D42A27DB-BD31-4B8C-83A1-F6EECF244321}">
                <p14:modId xmlns:p14="http://schemas.microsoft.com/office/powerpoint/2010/main" val="219781227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3CCE8B2-1F1D-B12D-94E3-4228699469A0}"/>
              </a:ext>
            </a:extLst>
          </p:cNvPr>
          <p:cNvSpPr txBox="1">
            <a:spLocks/>
          </p:cNvSpPr>
          <p:nvPr/>
        </p:nvSpPr>
        <p:spPr>
          <a:xfrm>
            <a:off x="152400" y="1314845"/>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IN" sz="1400" dirty="0">
                <a:hlinkClick r:id="rId7"/>
              </a:rPr>
              <a:t>Patterns for Building Production Grade Agentic AI using Multi-Agent Systems , Patterns 1–5</a:t>
            </a:r>
            <a:endParaRPr lang="en-IN" sz="1400" dirty="0"/>
          </a:p>
          <a:p>
            <a:pPr marL="12700" marR="5080"/>
            <a:r>
              <a:rPr lang="en-US" sz="1400" dirty="0">
                <a:hlinkClick r:id="rId8"/>
              </a:rPr>
              <a:t>How to implement handoffs between agents</a:t>
            </a:r>
            <a:endParaRPr lang="en-US" sz="1400" dirty="0"/>
          </a:p>
          <a:p>
            <a:pPr marL="12700" marR="5080"/>
            <a:r>
              <a:rPr lang="en-IN" sz="1400" dirty="0">
                <a:hlinkClick r:id="rId9"/>
              </a:rPr>
              <a:t>Agentic AI Project Structure</a:t>
            </a:r>
            <a:endParaRPr lang="en-IN" sz="1400" dirty="0"/>
          </a:p>
          <a:p>
            <a:pPr marL="12700" marR="5080"/>
            <a:r>
              <a:rPr lang="en-IN" sz="1400" dirty="0" err="1">
                <a:hlinkClick r:id="rId10"/>
              </a:rPr>
              <a:t>AgentOps</a:t>
            </a:r>
            <a:r>
              <a:rPr lang="en-IN" sz="1400" dirty="0">
                <a:hlinkClick r:id="rId10"/>
              </a:rPr>
              <a:t> Maturity Framework</a:t>
            </a:r>
            <a:endParaRPr lang="en-IN" sz="1400" dirty="0"/>
          </a:p>
          <a:p>
            <a:pPr marL="12700" marR="5080"/>
            <a:r>
              <a:rPr lang="en-IN" sz="1400" dirty="0">
                <a:hlinkClick r:id="rId11"/>
              </a:rPr>
              <a:t>AI Agent Performance Metrics</a:t>
            </a:r>
            <a:endParaRPr lang="en-IN" sz="1400" dirty="0"/>
          </a:p>
          <a:p>
            <a:pPr marL="12700" marR="5080"/>
            <a:r>
              <a:rPr lang="en-IN" sz="1400" dirty="0">
                <a:hlinkClick r:id="rId12"/>
              </a:rPr>
              <a:t>7 Agentic Laws</a:t>
            </a:r>
            <a:endParaRPr lang="en-IN" sz="1400" dirty="0"/>
          </a:p>
          <a:p>
            <a:pPr marL="12700" marR="5080"/>
            <a:r>
              <a:rPr lang="en-US" sz="1400" dirty="0">
                <a:hlinkClick r:id="rId13"/>
              </a:rPr>
              <a:t>Internet of Agents (</a:t>
            </a:r>
            <a:r>
              <a:rPr lang="en-US" sz="1400" dirty="0" err="1">
                <a:hlinkClick r:id="rId13"/>
              </a:rPr>
              <a:t>IoA</a:t>
            </a:r>
            <a:r>
              <a:rPr lang="en-US" sz="1400" dirty="0">
                <a:hlinkClick r:id="rId13"/>
              </a:rPr>
              <a:t>): A Novel Artificial Intelligence AI Framework for Agent Communication and Collaboration</a:t>
            </a:r>
            <a:endParaRPr lang="en-US" sz="1400" dirty="0"/>
          </a:p>
          <a:p>
            <a:pPr marL="12700" marR="5080"/>
            <a:r>
              <a:rPr lang="en-IN" sz="1400" dirty="0">
                <a:hlinkClick r:id="rId14"/>
              </a:rPr>
              <a:t>Emerging Internet of AI Agents (MCP vs A2A vs NANDA vs </a:t>
            </a:r>
            <a:r>
              <a:rPr lang="en-IN" sz="1400" dirty="0" err="1">
                <a:hlinkClick r:id="rId14"/>
              </a:rPr>
              <a:t>Agntcy</a:t>
            </a:r>
            <a:endParaRPr lang="en-IN" sz="1400" dirty="0"/>
          </a:p>
          <a:p>
            <a:pPr marL="12700" marR="5080"/>
            <a:r>
              <a:rPr lang="en-IN" sz="1400" dirty="0">
                <a:hlinkClick r:id="rId15"/>
              </a:rPr>
              <a:t>Build your own MCP Server</a:t>
            </a:r>
            <a:endParaRPr lang="en-IN" sz="1400" dirty="0"/>
          </a:p>
          <a:p>
            <a:pPr marL="12700" marR="5080"/>
            <a:r>
              <a:rPr lang="en-US" sz="1400" dirty="0">
                <a:hlinkClick r:id="rId16"/>
              </a:rPr>
              <a:t>Building-Agentic-AI-Systems</a:t>
            </a:r>
            <a:endParaRPr lang="en-US" sz="1400" dirty="0"/>
          </a:p>
          <a:p>
            <a:pPr marL="12700" marR="5080"/>
            <a:r>
              <a:rPr lang="en-IN" sz="1400" dirty="0">
                <a:hlinkClick r:id="rId17"/>
              </a:rPr>
              <a:t>Agentic AI </a:t>
            </a:r>
            <a:r>
              <a:rPr lang="en-IN" sz="1400" dirty="0" err="1">
                <a:hlinkClick r:id="rId17"/>
              </a:rPr>
              <a:t>EcoSytem</a:t>
            </a:r>
            <a:endParaRPr lang="en-IN" sz="1400" dirty="0"/>
          </a:p>
          <a:p>
            <a:pPr marL="12700" marR="5080"/>
            <a:r>
              <a:rPr lang="en-IN" sz="1400" dirty="0">
                <a:hlinkClick r:id="rId18"/>
              </a:rPr>
              <a:t>AWS Agentic AI Framework</a:t>
            </a:r>
            <a:endParaRPr lang="en-IN" sz="1400" dirty="0"/>
          </a:p>
          <a:p>
            <a:pPr marL="12700" marR="5080"/>
            <a:r>
              <a:rPr lang="en-IN" sz="1400" dirty="0">
                <a:hlinkClick r:id="rId19"/>
              </a:rPr>
              <a:t>The Ultimate Tools Stack for AI Agents</a:t>
            </a:r>
            <a:endParaRPr lang="en-IN" sz="1400" dirty="0"/>
          </a:p>
          <a:p>
            <a:pPr marL="12700" marR="5080"/>
            <a:r>
              <a:rPr lang="en-IN" sz="1400" dirty="0">
                <a:hlinkClick r:id="rId20"/>
              </a:rPr>
              <a:t>Steps to build AI Agents with Memory</a:t>
            </a:r>
            <a:endParaRPr lang="en-IN" sz="1400" dirty="0"/>
          </a:p>
          <a:p>
            <a:pPr marL="12700" marR="5080"/>
            <a:r>
              <a:rPr lang="en-US" sz="1400" dirty="0">
                <a:hlinkClick r:id="rId21"/>
              </a:rPr>
              <a:t>Agentic Design Patterns - Google Docs</a:t>
            </a:r>
            <a:endParaRPr lang="en-US" sz="1400" dirty="0"/>
          </a:p>
          <a:p>
            <a:pPr marL="12700" marR="5080"/>
            <a:r>
              <a:rPr lang="en-IN" sz="1400" dirty="0">
                <a:hlinkClick r:id="rId22"/>
              </a:rPr>
              <a:t>Enterprise Agentic AI Lessons</a:t>
            </a:r>
            <a:endParaRPr lang="en-IN" sz="1400" dirty="0"/>
          </a:p>
          <a:p>
            <a:pPr marL="12700" marR="5080"/>
            <a:r>
              <a:rPr lang="en-IN" sz="1400" dirty="0">
                <a:hlinkClick r:id="rId23"/>
              </a:rPr>
              <a:t>AI Engineer Roadmap</a:t>
            </a:r>
            <a:endParaRPr lang="en-IN" sz="1400" dirty="0"/>
          </a:p>
          <a:p>
            <a:pPr marL="12700" marR="5080"/>
            <a:r>
              <a:rPr lang="en-IN" sz="1400" dirty="0">
                <a:hlinkClick r:id="rId24"/>
              </a:rPr>
              <a:t>AI Agents Roadmap</a:t>
            </a:r>
            <a:endParaRPr lang="en-US" sz="1400" dirty="0"/>
          </a:p>
        </p:txBody>
      </p:sp>
    </p:spTree>
    <p:extLst>
      <p:ext uri="{BB962C8B-B14F-4D97-AF65-F5344CB8AC3E}">
        <p14:creationId xmlns:p14="http://schemas.microsoft.com/office/powerpoint/2010/main" val="256946176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0A10-190D-A11A-0B47-138AE5FAFC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6CAA30-10F6-05EA-A040-8072034E7FAB}"/>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6ADE74F-6CA5-FD69-00AA-AFC8806B6A13}"/>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A3F453F-5041-9CA0-2592-CB28809638E9}"/>
              </a:ext>
            </a:extLst>
          </p:cNvPr>
          <p:cNvGraphicFramePr/>
          <p:nvPr>
            <p:extLst>
              <p:ext uri="{D42A27DB-BD31-4B8C-83A1-F6EECF244321}">
                <p14:modId xmlns:p14="http://schemas.microsoft.com/office/powerpoint/2010/main" val="278445112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AA7DEAA-A155-90D0-AEEA-4E7386EA6EAB}"/>
              </a:ext>
            </a:extLst>
          </p:cNvPr>
          <p:cNvSpPr txBox="1">
            <a:spLocks/>
          </p:cNvSpPr>
          <p:nvPr/>
        </p:nvSpPr>
        <p:spPr>
          <a:xfrm>
            <a:off x="212857" y="1341514"/>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6"/>
                </a:solidFill>
                <a:cs typeface="+mn-cs"/>
              </a:rPr>
              <a:t>Neuromorphic AI, or neuromorphic computing, is a field of research that aims to mimic the structure and function of the human brain to create more efficient and powerful AI systems. It does this by developing hardware and software that emulate the way biological neurons and synapses communicate. </a:t>
            </a:r>
          </a:p>
          <a:p>
            <a:pPr marL="12700" marR="5080"/>
            <a:r>
              <a:rPr lang="en-US" sz="1200" kern="0" spc="-80" dirty="0">
                <a:solidFill>
                  <a:schemeClr val="accent6"/>
                </a:solidFill>
                <a:cs typeface="+mn-cs"/>
              </a:rPr>
              <a:t>Here's a more detailed explanation:</a:t>
            </a:r>
          </a:p>
          <a:p>
            <a:pPr marL="12700" marR="5080"/>
            <a:r>
              <a:rPr lang="en-US" sz="1200" kern="0" spc="-80" dirty="0">
                <a:solidFill>
                  <a:schemeClr val="accent2"/>
                </a:solidFill>
                <a:cs typeface="+mn-cs"/>
              </a:rPr>
              <a:t>Key Concepts:</a:t>
            </a:r>
          </a:p>
          <a:p>
            <a:pPr marL="12700" marR="5080"/>
            <a:r>
              <a:rPr lang="en-US" sz="1200" kern="0" spc="-80" dirty="0">
                <a:solidFill>
                  <a:schemeClr val="accent2"/>
                </a:solidFill>
                <a:cs typeface="+mn-cs"/>
              </a:rPr>
              <a:t>Mimicking the Brain:</a:t>
            </a:r>
            <a:r>
              <a:rPr lang="en-US" sz="1200" kern="0" spc="-80" dirty="0">
                <a:solidFill>
                  <a:schemeClr val="accent6"/>
                </a:solidFill>
                <a:cs typeface="+mn-cs"/>
              </a:rPr>
              <a:t> Neuromorphic computing seeks to replicate the brain's architecture and functionality, including the way neurons and synapses communicate via electrical signals (spikes). </a:t>
            </a:r>
          </a:p>
          <a:p>
            <a:pPr marL="12700" marR="5080"/>
            <a:r>
              <a:rPr lang="en-US" sz="1200" kern="0" spc="-80" dirty="0">
                <a:solidFill>
                  <a:schemeClr val="accent2"/>
                </a:solidFill>
                <a:cs typeface="+mn-cs"/>
              </a:rPr>
              <a:t>Spiking Neural Networks (SNNs):</a:t>
            </a:r>
            <a:r>
              <a:rPr lang="en-US" sz="1200" kern="0" spc="-80" dirty="0">
                <a:solidFill>
                  <a:schemeClr val="accent6"/>
                </a:solidFill>
                <a:cs typeface="+mn-cs"/>
              </a:rPr>
              <a:t>These networks are a core component of neuromorphic computing, as they model the spiking behavior of biological neurons. </a:t>
            </a:r>
          </a:p>
          <a:p>
            <a:pPr marL="12700" marR="5080"/>
            <a:r>
              <a:rPr lang="en-US" sz="1200" kern="0" spc="-80" dirty="0">
                <a:solidFill>
                  <a:schemeClr val="accent2"/>
                </a:solidFill>
                <a:cs typeface="+mn-cs"/>
              </a:rPr>
              <a:t>Event-Driven Computation:</a:t>
            </a:r>
            <a:r>
              <a:rPr lang="en-US" sz="1200" kern="0" spc="-80" dirty="0">
                <a:solidFill>
                  <a:schemeClr val="accent6"/>
                </a:solidFill>
                <a:cs typeface="+mn-cs"/>
              </a:rPr>
              <a:t> Unlike traditional AI that uses continuous data streams, neuromorphic systems often process information in an event-driven manner, triggered by discrete signals. </a:t>
            </a:r>
          </a:p>
          <a:p>
            <a:pPr marL="12700" marR="5080"/>
            <a:r>
              <a:rPr lang="en-US" sz="1200" kern="0" spc="-80" dirty="0">
                <a:solidFill>
                  <a:schemeClr val="accent2"/>
                </a:solidFill>
                <a:cs typeface="+mn-cs"/>
              </a:rPr>
              <a:t>Energy Efficiency:</a:t>
            </a:r>
            <a:r>
              <a:rPr lang="en-US" sz="1200" kern="0" spc="-80" dirty="0">
                <a:solidFill>
                  <a:schemeClr val="accent6"/>
                </a:solidFill>
                <a:cs typeface="+mn-cs"/>
              </a:rPr>
              <a:t> By mimicking the brain's energy-efficient communication methods, neuromorphic systems have the potential to be significantly more power-efficient than traditional AI systems. </a:t>
            </a:r>
          </a:p>
          <a:p>
            <a:pPr marL="12700" marR="5080"/>
            <a:r>
              <a:rPr lang="en-US" sz="1200" kern="0" spc="-80" dirty="0">
                <a:solidFill>
                  <a:schemeClr val="accent2"/>
                </a:solidFill>
                <a:cs typeface="+mn-cs"/>
              </a:rPr>
              <a:t>Parallel </a:t>
            </a:r>
            <a:r>
              <a:rPr lang="en-US" sz="1200" kern="0" spc="-80" dirty="0" err="1">
                <a:solidFill>
                  <a:schemeClr val="accent2"/>
                </a:solidFill>
                <a:cs typeface="+mn-cs"/>
              </a:rPr>
              <a:t>Processing:</a:t>
            </a:r>
            <a:r>
              <a:rPr lang="en-US" sz="1200" kern="0" spc="-80" dirty="0" err="1">
                <a:solidFill>
                  <a:schemeClr val="accent6"/>
                </a:solidFill>
                <a:cs typeface="+mn-cs"/>
              </a:rPr>
              <a:t>The</a:t>
            </a:r>
            <a:r>
              <a:rPr lang="en-US" sz="1200" kern="0" spc="-80" dirty="0">
                <a:solidFill>
                  <a:schemeClr val="accent6"/>
                </a:solidFill>
                <a:cs typeface="+mn-cs"/>
              </a:rPr>
              <a:t> brain processes information in a highly parallel manner, and neuromorphic systems can leverage this to achieve faster computation. </a:t>
            </a:r>
          </a:p>
          <a:p>
            <a:pPr marL="12700" marR="5080"/>
            <a:r>
              <a:rPr lang="en-US" sz="1200" kern="0" spc="-80" dirty="0">
                <a:solidFill>
                  <a:schemeClr val="accent2"/>
                </a:solidFill>
                <a:cs typeface="+mn-cs"/>
              </a:rPr>
              <a:t>Applications and Potential:</a:t>
            </a:r>
          </a:p>
          <a:p>
            <a:pPr marL="12700" marR="5080"/>
            <a:r>
              <a:rPr lang="en-US" sz="1200" kern="0" spc="-80" dirty="0">
                <a:solidFill>
                  <a:schemeClr val="accent2"/>
                </a:solidFill>
                <a:cs typeface="+mn-cs"/>
              </a:rPr>
              <a:t>AI Acceleration:</a:t>
            </a:r>
            <a:r>
              <a:rPr lang="en-US" sz="1200" kern="0" spc="-80" dirty="0">
                <a:solidFill>
                  <a:schemeClr val="accent6"/>
                </a:solidFill>
                <a:cs typeface="+mn-cs"/>
              </a:rPr>
              <a:t> Neuromorphic chips can accelerate AI workloads by enabling faster and more efficient processing. </a:t>
            </a:r>
          </a:p>
          <a:p>
            <a:pPr marL="12700" marR="5080"/>
            <a:r>
              <a:rPr lang="en-US" sz="1200" kern="0" spc="-80" dirty="0">
                <a:solidFill>
                  <a:schemeClr val="accent2"/>
                </a:solidFill>
                <a:cs typeface="+mn-cs"/>
              </a:rPr>
              <a:t>Edge AI:</a:t>
            </a:r>
            <a:r>
              <a:rPr lang="en-US" sz="1200" kern="0" spc="-80" dirty="0">
                <a:solidFill>
                  <a:schemeClr val="accent6"/>
                </a:solidFill>
                <a:cs typeface="+mn-cs"/>
              </a:rPr>
              <a:t> Neuromorphic computing is well-suited for edge AI applications where devices need to process data locally with limited power consumption. </a:t>
            </a:r>
          </a:p>
          <a:p>
            <a:pPr marL="12700" marR="5080"/>
            <a:r>
              <a:rPr lang="en-US" sz="1200" kern="0" spc="-80" dirty="0">
                <a:solidFill>
                  <a:schemeClr val="accent2"/>
                </a:solidFill>
                <a:cs typeface="+mn-cs"/>
              </a:rPr>
              <a:t>Autonomous Systems:</a:t>
            </a:r>
            <a:r>
              <a:rPr lang="en-US" sz="1200" kern="0" spc="-80" dirty="0">
                <a:solidFill>
                  <a:schemeClr val="accent6"/>
                </a:solidFill>
                <a:cs typeface="+mn-cs"/>
              </a:rPr>
              <a:t> The ability to process real-time data and make quick decisions makes neuromorphic computing suitable for autonomous systems like robots and self-driving cars. </a:t>
            </a:r>
          </a:p>
          <a:p>
            <a:pPr marL="12700" marR="5080"/>
            <a:r>
              <a:rPr lang="en-US" sz="1200" kern="0" spc="-80" dirty="0">
                <a:solidFill>
                  <a:schemeClr val="accent2"/>
                </a:solidFill>
                <a:cs typeface="+mn-cs"/>
              </a:rPr>
              <a:t>Robotics:</a:t>
            </a:r>
            <a:r>
              <a:rPr lang="en-US" sz="1200" kern="0" spc="-80" dirty="0">
                <a:solidFill>
                  <a:schemeClr val="accent6"/>
                </a:solidFill>
                <a:cs typeface="+mn-cs"/>
              </a:rPr>
              <a:t> Neuromorphic computing can enable robots to perceive and interact with their environment in a more natural and efficient way. </a:t>
            </a:r>
          </a:p>
          <a:p>
            <a:pPr marL="12700" marR="5080"/>
            <a:r>
              <a:rPr lang="en-US" sz="1200" kern="0" spc="-80" dirty="0">
                <a:solidFill>
                  <a:schemeClr val="accent2"/>
                </a:solidFill>
                <a:cs typeface="+mn-cs"/>
              </a:rPr>
              <a:t>Future of AI</a:t>
            </a:r>
            <a:r>
              <a:rPr lang="en-US" sz="1200" kern="0" spc="-80" dirty="0">
                <a:solidFill>
                  <a:schemeClr val="accent6"/>
                </a:solidFill>
                <a:cs typeface="+mn-cs"/>
              </a:rPr>
              <a:t> :Neuromorphic computing is considered a promising path towards the next generation of AI, potentially leading to more powerful and energy-efficient AI systems. </a:t>
            </a:r>
          </a:p>
        </p:txBody>
      </p:sp>
    </p:spTree>
    <p:extLst>
      <p:ext uri="{BB962C8B-B14F-4D97-AF65-F5344CB8AC3E}">
        <p14:creationId xmlns:p14="http://schemas.microsoft.com/office/powerpoint/2010/main" val="232945148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739A-BB3E-BAF0-95C7-AE7EE719909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A387420-71A6-5500-EF7F-D1B6F8FE061B}"/>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CDEEE2B-2264-EDFD-31F0-33A301B48BFA}"/>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2D7C695-CF94-BC2D-F5F5-9CF23A91C17E}"/>
              </a:ext>
            </a:extLst>
          </p:cNvPr>
          <p:cNvGraphicFramePr/>
          <p:nvPr>
            <p:extLst>
              <p:ext uri="{D42A27DB-BD31-4B8C-83A1-F6EECF244321}">
                <p14:modId xmlns:p14="http://schemas.microsoft.com/office/powerpoint/2010/main" val="402963131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800ABF3E-C137-55DB-B514-5DD05C25D3CC}"/>
              </a:ext>
            </a:extLst>
          </p:cNvPr>
          <p:cNvSpPr txBox="1">
            <a:spLocks/>
          </p:cNvSpPr>
          <p:nvPr/>
        </p:nvSpPr>
        <p:spPr>
          <a:xfrm>
            <a:off x="259531" y="1335165"/>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500" dirty="0">
                <a:hlinkClick r:id="rId7"/>
              </a:rPr>
              <a:t>Neural Engineering Object</a:t>
            </a:r>
            <a:endParaRPr lang="en-IN" sz="1500" dirty="0"/>
          </a:p>
          <a:p>
            <a:pPr marL="12700" marR="5080"/>
            <a:r>
              <a:rPr lang="en-US" sz="1500" dirty="0">
                <a:hlinkClick r:id="rId8"/>
              </a:rPr>
              <a:t>Assembly Language Succinctly</a:t>
            </a:r>
            <a:endParaRPr lang="en-IN" sz="1500" dirty="0"/>
          </a:p>
          <a:p>
            <a:pPr marL="12700" marR="5080"/>
            <a:r>
              <a:rPr lang="en-US" sz="1500" dirty="0">
                <a:hlinkClick r:id="rId9"/>
              </a:rPr>
              <a:t>Types of VLSI Design flows</a:t>
            </a:r>
            <a:endParaRPr lang="en-US" sz="1500" dirty="0"/>
          </a:p>
          <a:p>
            <a:pPr marL="12700" marR="5080"/>
            <a:r>
              <a:rPr lang="en-US" sz="1500" dirty="0">
                <a:hlinkClick r:id="rId10"/>
              </a:rPr>
              <a:t>Types of VLSI Design: A Practical Guide for Beginners</a:t>
            </a:r>
            <a:endParaRPr lang="en-US" sz="1500" dirty="0"/>
          </a:p>
          <a:p>
            <a:pPr marL="12700" marR="5080"/>
            <a:r>
              <a:rPr lang="en-IN" sz="1500" dirty="0">
                <a:hlinkClick r:id="rId11"/>
              </a:rPr>
              <a:t>VLSI Design Quick Guide</a:t>
            </a:r>
            <a:endParaRPr lang="en-IN" sz="1500" dirty="0"/>
          </a:p>
          <a:p>
            <a:pPr marL="12700" marR="5080"/>
            <a:r>
              <a:rPr lang="en-IN" sz="1500" dirty="0">
                <a:hlinkClick r:id="rId12"/>
              </a:rPr>
              <a:t>Very-large-scale integration</a:t>
            </a:r>
            <a:endParaRPr lang="en-US" sz="1500" dirty="0"/>
          </a:p>
        </p:txBody>
      </p:sp>
    </p:spTree>
    <p:extLst>
      <p:ext uri="{BB962C8B-B14F-4D97-AF65-F5344CB8AC3E}">
        <p14:creationId xmlns:p14="http://schemas.microsoft.com/office/powerpoint/2010/main" val="2548640957"/>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3828-9CB9-1A25-5351-BBD5B715D2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CCD8E8D-D668-8685-B984-E6077AFF6E5B}"/>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03D72B-0948-3F37-2C0B-E5F940D10C5B}"/>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8C0C4BC-498E-25A7-8306-4201FBD57E48}"/>
              </a:ext>
            </a:extLst>
          </p:cNvPr>
          <p:cNvGraphicFramePr/>
          <p:nvPr>
            <p:extLst>
              <p:ext uri="{D42A27DB-BD31-4B8C-83A1-F6EECF244321}">
                <p14:modId xmlns:p14="http://schemas.microsoft.com/office/powerpoint/2010/main" val="162339318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8E48736-1F57-20DD-D72A-77A3FD68ECDA}"/>
              </a:ext>
            </a:extLst>
          </p:cNvPr>
          <p:cNvSpPr txBox="1">
            <a:spLocks/>
          </p:cNvSpPr>
          <p:nvPr/>
        </p:nvSpPr>
        <p:spPr>
          <a:xfrm>
            <a:off x="51886" y="4999860"/>
            <a:ext cx="8624937" cy="95410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200" dirty="0" err="1">
                <a:hlinkClick r:id="rId7"/>
              </a:rPr>
              <a:t>AutoML</a:t>
            </a:r>
            <a:r>
              <a:rPr lang="en-US" sz="1200" dirty="0">
                <a:hlinkClick r:id="rId7"/>
              </a:rPr>
              <a:t>: Components, techniques, working, tools, platforms and use cases</a:t>
            </a:r>
            <a:endParaRPr lang="en-US" sz="1200" dirty="0"/>
          </a:p>
          <a:p>
            <a:pPr marL="12700" marR="5080"/>
            <a:r>
              <a:rPr lang="en-US" sz="1200" dirty="0">
                <a:hlinkClick r:id="rId8"/>
              </a:rPr>
              <a:t>Awesome-</a:t>
            </a:r>
            <a:r>
              <a:rPr lang="en-US" sz="1200" dirty="0" err="1">
                <a:hlinkClick r:id="rId8"/>
              </a:rPr>
              <a:t>AutoML</a:t>
            </a:r>
            <a:endParaRPr lang="en-US" sz="1200" dirty="0"/>
          </a:p>
          <a:p>
            <a:pPr marL="12700" marR="5080"/>
            <a:r>
              <a:rPr lang="en-US" sz="1200" dirty="0">
                <a:hlinkClick r:id="rId9"/>
              </a:rPr>
              <a:t>Awesome-</a:t>
            </a:r>
            <a:r>
              <a:rPr lang="en-US" sz="1200" dirty="0" err="1">
                <a:hlinkClick r:id="rId9"/>
              </a:rPr>
              <a:t>AutoML</a:t>
            </a:r>
            <a:r>
              <a:rPr lang="en-US" sz="1200" dirty="0">
                <a:hlinkClick r:id="rId9"/>
              </a:rPr>
              <a:t>-Books</a:t>
            </a:r>
            <a:endParaRPr lang="en-US" sz="1200" dirty="0"/>
          </a:p>
          <a:p>
            <a:pPr marL="12700" marR="5080"/>
            <a:r>
              <a:rPr lang="en-US" sz="1200" dirty="0" err="1">
                <a:hlinkClick r:id="rId10"/>
              </a:rPr>
              <a:t>EvolutionaryDeepLearning</a:t>
            </a:r>
            <a:endParaRPr lang="en-US" sz="1200" kern="0" spc="-80" dirty="0">
              <a:solidFill>
                <a:schemeClr val="accent2"/>
              </a:solidFill>
            </a:endParaRPr>
          </a:p>
        </p:txBody>
      </p:sp>
      <p:pic>
        <p:nvPicPr>
          <p:cNvPr id="3074" name="Picture 2" descr="AutoML">
            <a:extLst>
              <a:ext uri="{FF2B5EF4-FFF2-40B4-BE49-F238E27FC236}">
                <a16:creationId xmlns:a16="http://schemas.microsoft.com/office/drawing/2014/main" id="{929CB901-7E25-E88B-AB4E-3F0AF2D7312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335166"/>
            <a:ext cx="9144000" cy="3619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1483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295A7-C554-D58D-16F8-C95ED335AD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3410E98-EEDB-4015-47F7-E5CB33E56174}"/>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FDBBDAF-158D-85E5-B9D3-D461FB5B492C}"/>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3B60CDB-1574-02A7-C718-AB6559B7282A}"/>
              </a:ext>
            </a:extLst>
          </p:cNvPr>
          <p:cNvGraphicFramePr/>
          <p:nvPr>
            <p:extLst>
              <p:ext uri="{D42A27DB-BD31-4B8C-83A1-F6EECF244321}">
                <p14:modId xmlns:p14="http://schemas.microsoft.com/office/powerpoint/2010/main" val="80081216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1426F5AF-8C6F-F638-021C-D3C511F1E6C3}"/>
              </a:ext>
            </a:extLst>
          </p:cNvPr>
          <p:cNvSpPr txBox="1">
            <a:spLocks/>
          </p:cNvSpPr>
          <p:nvPr/>
        </p:nvSpPr>
        <p:spPr>
          <a:xfrm>
            <a:off x="-32386" y="3992820"/>
            <a:ext cx="8624937" cy="22082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 –</a:t>
            </a:r>
          </a:p>
          <a:p>
            <a:pPr marL="12700" marR="5080"/>
            <a:r>
              <a:rPr lang="en-US" sz="1050" dirty="0">
                <a:hlinkClick r:id="rId7"/>
              </a:rPr>
              <a:t>CPUs and GPUs: What to use when for AI/ML workloads | Rafay</a:t>
            </a:r>
            <a:endParaRPr lang="en-US" sz="1050" dirty="0"/>
          </a:p>
          <a:p>
            <a:pPr marL="12700" marR="5080"/>
            <a:r>
              <a:rPr lang="en-US" sz="1050" dirty="0">
                <a:hlinkClick r:id="rId8"/>
              </a:rPr>
              <a:t>Retraining Model During Deployment: Continuous Training and Continuous Testing</a:t>
            </a:r>
            <a:endParaRPr lang="en-US" sz="1050" kern="0" spc="-80" dirty="0">
              <a:solidFill>
                <a:schemeClr val="accent2"/>
              </a:solidFill>
            </a:endParaRPr>
          </a:p>
          <a:p>
            <a:pPr marL="12700" marR="5080"/>
            <a:r>
              <a:rPr lang="en-IN" sz="1050" dirty="0" err="1">
                <a:hlinkClick r:id="rId9"/>
              </a:rPr>
              <a:t>MLps</a:t>
            </a:r>
            <a:r>
              <a:rPr lang="en-IN" sz="1050" dirty="0">
                <a:hlinkClick r:id="rId9"/>
              </a:rPr>
              <a:t> Repo</a:t>
            </a:r>
            <a:endParaRPr lang="en-US" sz="1050" kern="0" spc="-80" dirty="0">
              <a:solidFill>
                <a:schemeClr val="accent2"/>
              </a:solidFill>
            </a:endParaRPr>
          </a:p>
          <a:p>
            <a:pPr marL="12700" marR="5080"/>
            <a:r>
              <a:rPr lang="en-IN" sz="1050" dirty="0" err="1">
                <a:hlinkClick r:id="rId10"/>
              </a:rPr>
              <a:t>MLOps</a:t>
            </a:r>
            <a:r>
              <a:rPr lang="en-IN" sz="1050" dirty="0">
                <a:hlinkClick r:id="rId10"/>
              </a:rPr>
              <a:t> &amp; </a:t>
            </a:r>
            <a:r>
              <a:rPr lang="en-IN" sz="1050" dirty="0" err="1">
                <a:hlinkClick r:id="rId10"/>
              </a:rPr>
              <a:t>LLMOps</a:t>
            </a:r>
            <a:r>
              <a:rPr lang="en-IN" sz="1050" dirty="0">
                <a:hlinkClick r:id="rId10"/>
              </a:rPr>
              <a:t> Resources</a:t>
            </a:r>
            <a:endParaRPr lang="en-IN" sz="1050" dirty="0"/>
          </a:p>
          <a:p>
            <a:pPr marL="12700" marR="5080"/>
            <a:r>
              <a:rPr lang="en-IN" sz="1050" dirty="0" err="1">
                <a:hlinkClick r:id="rId11"/>
              </a:rPr>
              <a:t>MLOps</a:t>
            </a:r>
            <a:r>
              <a:rPr lang="en-IN" sz="1050" dirty="0">
                <a:hlinkClick r:id="rId11"/>
              </a:rPr>
              <a:t> Guide</a:t>
            </a:r>
            <a:endParaRPr lang="en-IN" sz="1050" dirty="0"/>
          </a:p>
          <a:p>
            <a:pPr marL="12700" marR="5080"/>
            <a:r>
              <a:rPr lang="en-IN" sz="1050" dirty="0" err="1">
                <a:hlinkClick r:id="rId12"/>
              </a:rPr>
              <a:t>MLOps</a:t>
            </a:r>
            <a:r>
              <a:rPr lang="en-IN" sz="1050" dirty="0">
                <a:hlinkClick r:id="rId12"/>
              </a:rPr>
              <a:t> guide</a:t>
            </a:r>
            <a:endParaRPr lang="en-IN" sz="1050" dirty="0"/>
          </a:p>
          <a:p>
            <a:pPr marL="12700" marR="5080"/>
            <a:r>
              <a:rPr lang="en-IN" sz="1050" dirty="0">
                <a:hlinkClick r:id="rId13"/>
              </a:rPr>
              <a:t>Machine-Learning-Engineering-with-Python</a:t>
            </a:r>
            <a:endParaRPr lang="en-IN" sz="1050" dirty="0"/>
          </a:p>
          <a:p>
            <a:pPr marL="12700" marR="5080"/>
            <a:r>
              <a:rPr lang="en-IN" sz="1050" dirty="0" err="1">
                <a:hlinkClick r:id="rId14"/>
              </a:rPr>
              <a:t>MLOps</a:t>
            </a:r>
            <a:r>
              <a:rPr lang="en-IN" sz="1050" dirty="0">
                <a:hlinkClick r:id="rId14"/>
              </a:rPr>
              <a:t> Roadmap</a:t>
            </a:r>
            <a:endParaRPr lang="en-IN" sz="1050" dirty="0"/>
          </a:p>
          <a:p>
            <a:pPr marL="12700" marR="5080"/>
            <a:r>
              <a:rPr lang="en-IN" sz="1050" dirty="0">
                <a:hlinkClick r:id="rId15"/>
              </a:rPr>
              <a:t>ML-Design-Patterns</a:t>
            </a:r>
            <a:endParaRPr lang="en-IN" sz="1050" dirty="0"/>
          </a:p>
          <a:p>
            <a:pPr marL="12700" marR="5080"/>
            <a:r>
              <a:rPr lang="en-US" sz="1050" dirty="0">
                <a:hlinkClick r:id="rId16"/>
              </a:rPr>
              <a:t>Building a Machine Learning Platform [Definitive Guide]</a:t>
            </a:r>
            <a:endParaRPr lang="en-IN" sz="1050" dirty="0"/>
          </a:p>
          <a:p>
            <a:pPr marL="12700" marR="5080"/>
            <a:r>
              <a:rPr lang="en-US" sz="1050" dirty="0">
                <a:hlinkClick r:id="rId17"/>
              </a:rPr>
              <a:t>Build a Machine Learning Platform (From Scratch)</a:t>
            </a:r>
            <a:endParaRPr lang="en-US" sz="1050" dirty="0"/>
          </a:p>
          <a:p>
            <a:pPr marL="12700" marR="5080"/>
            <a:endParaRPr lang="en-IN" sz="1400" dirty="0"/>
          </a:p>
        </p:txBody>
      </p:sp>
      <p:pic>
        <p:nvPicPr>
          <p:cNvPr id="1028" name="Picture 4" descr="AIOps, DevOps, MLOps, LLMOps – What's the Difference? - Jozu MLOps">
            <a:extLst>
              <a:ext uri="{FF2B5EF4-FFF2-40B4-BE49-F238E27FC236}">
                <a16:creationId xmlns:a16="http://schemas.microsoft.com/office/drawing/2014/main" id="{ED8BD53B-E2F5-8A32-8D0D-49BF50023D5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7146" y="1315699"/>
            <a:ext cx="9144000" cy="2637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898592"/>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8773-6497-CD9B-116B-07EE3942B6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BF0196E-31DA-8964-3EDC-8FC13A899A1D}"/>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9451DC-5C10-EC13-7759-05DBFC9C7098}"/>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3017FB4-7F29-C66F-813C-9BE6C9DE5B8E}"/>
              </a:ext>
            </a:extLst>
          </p:cNvPr>
          <p:cNvGraphicFramePr/>
          <p:nvPr>
            <p:extLst>
              <p:ext uri="{D42A27DB-BD31-4B8C-83A1-F6EECF244321}">
                <p14:modId xmlns:p14="http://schemas.microsoft.com/office/powerpoint/2010/main" val="3895247244"/>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42AC4F77-E37A-FE1D-CB08-24EEFA8C958F}"/>
              </a:ext>
            </a:extLst>
          </p:cNvPr>
          <p:cNvSpPr txBox="1">
            <a:spLocks/>
          </p:cNvSpPr>
          <p:nvPr/>
        </p:nvSpPr>
        <p:spPr>
          <a:xfrm>
            <a:off x="-17146" y="1335165"/>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cs typeface="+mn-cs"/>
              </a:rPr>
              <a:t>Different instance types in machine learning (ML) like memory-optimized, compute-optimized, general-purpose, and inference-optimized cater to specific workloads and impact performance differently. Memory-optimized instances excel at processing large datasets, while compute-optimized ones are best for high-performance computing (HPC) tasks. General-purpose instances offer a balance of resources, and inference-optimized instances are geared towards model deployment and prediction. </a:t>
            </a:r>
          </a:p>
          <a:p>
            <a:pPr marL="12700" marR="5080"/>
            <a:r>
              <a:rPr lang="en-US" sz="1500" kern="0" spc="-80" dirty="0">
                <a:solidFill>
                  <a:schemeClr val="accent2"/>
                </a:solidFill>
                <a:cs typeface="+mn-cs"/>
              </a:rPr>
              <a:t>Memory-Optimized:</a:t>
            </a:r>
          </a:p>
          <a:p>
            <a:pPr marL="12700" marR="5080"/>
            <a:r>
              <a:rPr lang="en-US" sz="1500" kern="0" spc="-80" dirty="0">
                <a:solidFill>
                  <a:schemeClr val="accent2"/>
                </a:solidFill>
                <a:cs typeface="+mn-cs"/>
              </a:rPr>
              <a:t>Ideal for: Large datasets</a:t>
            </a:r>
            <a:r>
              <a:rPr lang="en-US" sz="1500" kern="0" spc="-80" dirty="0">
                <a:solidFill>
                  <a:schemeClr val="accent6"/>
                </a:solidFill>
                <a:cs typeface="+mn-cs"/>
              </a:rPr>
              <a:t>, real-time big data analytics, in-memory databases, and workloads requiring high memory-to-vCPU ratios. </a:t>
            </a:r>
          </a:p>
          <a:p>
            <a:pPr marL="12700" marR="5080"/>
            <a:r>
              <a:rPr lang="en-US" sz="1500" kern="0" spc="-80" dirty="0">
                <a:solidFill>
                  <a:schemeClr val="accent2"/>
                </a:solidFill>
                <a:cs typeface="+mn-cs"/>
              </a:rPr>
              <a:t>Performance: </a:t>
            </a:r>
            <a:r>
              <a:rPr lang="en-US" sz="1500" kern="0" spc="-80" dirty="0">
                <a:solidFill>
                  <a:schemeClr val="accent6"/>
                </a:solidFill>
                <a:cs typeface="+mn-cs"/>
              </a:rPr>
              <a:t>Fast processing of large datasets stored in RAM. </a:t>
            </a:r>
          </a:p>
          <a:p>
            <a:pPr marL="12700" marR="5080"/>
            <a:r>
              <a:rPr lang="en-US" sz="1500" kern="0" spc="-80" dirty="0">
                <a:solidFill>
                  <a:schemeClr val="accent2"/>
                </a:solidFill>
                <a:cs typeface="+mn-cs"/>
              </a:rPr>
              <a:t>Example</a:t>
            </a:r>
            <a:r>
              <a:rPr lang="en-US" sz="1500" kern="0" spc="-80" dirty="0">
                <a:solidFill>
                  <a:schemeClr val="accent6"/>
                </a:solidFill>
                <a:cs typeface="+mn-cs"/>
              </a:rPr>
              <a:t>: Amazon EC2 M5, R5, R6 instances. </a:t>
            </a:r>
          </a:p>
          <a:p>
            <a:pPr marL="12700" marR="5080"/>
            <a:r>
              <a:rPr lang="en-US" sz="1500" kern="0" spc="-80" dirty="0">
                <a:solidFill>
                  <a:schemeClr val="accent2"/>
                </a:solidFill>
                <a:cs typeface="+mn-cs"/>
              </a:rPr>
              <a:t>ML Applications:</a:t>
            </a:r>
            <a:r>
              <a:rPr lang="en-US" sz="1500" kern="0" spc="-80" dirty="0">
                <a:solidFill>
                  <a:schemeClr val="accent6"/>
                </a:solidFill>
                <a:cs typeface="+mn-cs"/>
              </a:rPr>
              <a:t> Large language models (LLMs), deep learning model training, and analytics pipelines. </a:t>
            </a:r>
          </a:p>
          <a:p>
            <a:pPr marL="12700" marR="5080"/>
            <a:r>
              <a:rPr lang="en-US" sz="1500" kern="0" spc="-80" dirty="0">
                <a:solidFill>
                  <a:schemeClr val="accent2"/>
                </a:solidFill>
                <a:cs typeface="+mn-cs"/>
              </a:rPr>
              <a:t>Compute-Optimized:</a:t>
            </a:r>
          </a:p>
          <a:p>
            <a:pPr marL="12700" marR="5080"/>
            <a:r>
              <a:rPr lang="en-US" sz="1500" kern="0" spc="-80" dirty="0">
                <a:solidFill>
                  <a:schemeClr val="accent2"/>
                </a:solidFill>
                <a:cs typeface="+mn-cs"/>
              </a:rPr>
              <a:t>Ideal for: </a:t>
            </a:r>
            <a:r>
              <a:rPr lang="en-US" sz="1500" kern="0" spc="-80" dirty="0">
                <a:solidFill>
                  <a:schemeClr val="accent6"/>
                </a:solidFill>
                <a:cs typeface="+mn-cs"/>
              </a:rPr>
              <a:t>Compute-intensive tasks, HPC, batch processing, scientific modeling, and high-performance web servers. </a:t>
            </a:r>
          </a:p>
          <a:p>
            <a:pPr marL="12700" marR="5080"/>
            <a:r>
              <a:rPr lang="en-US" sz="1500" kern="0" spc="-80" dirty="0">
                <a:solidFill>
                  <a:schemeClr val="accent2"/>
                </a:solidFill>
                <a:cs typeface="+mn-cs"/>
              </a:rPr>
              <a:t>Performance: </a:t>
            </a:r>
            <a:r>
              <a:rPr lang="en-US" sz="1500" kern="0" spc="-80" dirty="0">
                <a:solidFill>
                  <a:schemeClr val="accent6"/>
                </a:solidFill>
                <a:cs typeface="+mn-cs"/>
              </a:rPr>
              <a:t>High throughput for processing data, especially beneficial for tasks requiring high CPU power. </a:t>
            </a:r>
          </a:p>
          <a:p>
            <a:pPr marL="12700" marR="5080"/>
            <a:r>
              <a:rPr lang="en-US" sz="1500" kern="0" spc="-80" dirty="0">
                <a:solidFill>
                  <a:schemeClr val="accent2"/>
                </a:solidFill>
                <a:cs typeface="+mn-cs"/>
              </a:rPr>
              <a:t>Example</a:t>
            </a:r>
            <a:r>
              <a:rPr lang="en-US" sz="1500" kern="0" spc="-80" dirty="0">
                <a:solidFill>
                  <a:schemeClr val="accent6"/>
                </a:solidFill>
                <a:cs typeface="+mn-cs"/>
              </a:rPr>
              <a:t>: Amazon EC2 C5, C6, C7 instances. </a:t>
            </a:r>
          </a:p>
          <a:p>
            <a:pPr marL="12700" marR="5080"/>
            <a:r>
              <a:rPr lang="en-US" sz="1500" kern="0" spc="-80" dirty="0">
                <a:solidFill>
                  <a:schemeClr val="accent2"/>
                </a:solidFill>
                <a:cs typeface="+mn-cs"/>
              </a:rPr>
              <a:t>ML Applications: </a:t>
            </a:r>
            <a:r>
              <a:rPr lang="en-US" sz="1500" kern="0" spc="-80" dirty="0">
                <a:solidFill>
                  <a:schemeClr val="accent6"/>
                </a:solidFill>
                <a:cs typeface="+mn-cs"/>
              </a:rPr>
              <a:t>Model training, scientific simulations, and batch inference. </a:t>
            </a:r>
          </a:p>
          <a:p>
            <a:pPr marL="12700" marR="5080"/>
            <a:endParaRPr lang="en-IN" sz="1400" dirty="0"/>
          </a:p>
        </p:txBody>
      </p:sp>
    </p:spTree>
    <p:extLst>
      <p:ext uri="{BB962C8B-B14F-4D97-AF65-F5344CB8AC3E}">
        <p14:creationId xmlns:p14="http://schemas.microsoft.com/office/powerpoint/2010/main" val="23063793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BB32-CCBF-A88A-AEFE-26F3D37A62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3169EE-7ABA-B442-D055-4445C56BBC3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60DB2A8-E34E-D16B-4B8D-FBDA28E8C871}"/>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A93CB63-7AFC-8897-8FC2-AF671DF84A04}"/>
              </a:ext>
            </a:extLst>
          </p:cNvPr>
          <p:cNvGraphicFramePr/>
          <p:nvPr>
            <p:extLst>
              <p:ext uri="{D42A27DB-BD31-4B8C-83A1-F6EECF244321}">
                <p14:modId xmlns:p14="http://schemas.microsoft.com/office/powerpoint/2010/main" val="1180451473"/>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852AC83D-0B29-7C26-5812-5EB16E172778}"/>
              </a:ext>
            </a:extLst>
          </p:cNvPr>
          <p:cNvSpPr txBox="1">
            <a:spLocks/>
          </p:cNvSpPr>
          <p:nvPr/>
        </p:nvSpPr>
        <p:spPr>
          <a:xfrm>
            <a:off x="-17146" y="1335165"/>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cs typeface="+mn-cs"/>
              </a:rPr>
              <a:t>General-Purpose:</a:t>
            </a:r>
          </a:p>
          <a:p>
            <a:pPr marL="12700" marR="5080"/>
            <a:r>
              <a:rPr lang="en-US" sz="1500" kern="0" spc="-80" dirty="0">
                <a:solidFill>
                  <a:schemeClr val="accent2"/>
                </a:solidFill>
                <a:cs typeface="+mn-cs"/>
              </a:rPr>
              <a:t>Ideal for: </a:t>
            </a:r>
            <a:r>
              <a:rPr lang="en-US" sz="1500" kern="0" spc="-80" dirty="0">
                <a:solidFill>
                  <a:schemeClr val="accent6"/>
                </a:solidFill>
                <a:cs typeface="+mn-cs"/>
              </a:rPr>
              <a:t>A wide range of workloads, web servers, application servers, gaming servers, and general-purpose computing. </a:t>
            </a:r>
          </a:p>
          <a:p>
            <a:pPr marL="12700" marR="5080"/>
            <a:r>
              <a:rPr lang="en-US" sz="1500" kern="0" spc="-80" dirty="0">
                <a:solidFill>
                  <a:schemeClr val="accent2"/>
                </a:solidFill>
                <a:cs typeface="+mn-cs"/>
              </a:rPr>
              <a:t>Performance</a:t>
            </a:r>
            <a:r>
              <a:rPr lang="en-US" sz="1500" kern="0" spc="-80" dirty="0">
                <a:solidFill>
                  <a:schemeClr val="accent6"/>
                </a:solidFill>
                <a:cs typeface="+mn-cs"/>
              </a:rPr>
              <a:t>: Balanced CPU, memory, and network resources, providing a good price-performance ratio for diverse tasks. </a:t>
            </a:r>
          </a:p>
          <a:p>
            <a:pPr marL="12700" marR="5080"/>
            <a:r>
              <a:rPr lang="en-US" sz="1500" kern="0" spc="-80" dirty="0">
                <a:solidFill>
                  <a:schemeClr val="accent2"/>
                </a:solidFill>
                <a:cs typeface="+mn-cs"/>
              </a:rPr>
              <a:t>Example</a:t>
            </a:r>
            <a:r>
              <a:rPr lang="en-US" sz="1500" kern="0" spc="-80" dirty="0">
                <a:solidFill>
                  <a:schemeClr val="accent6"/>
                </a:solidFill>
                <a:cs typeface="+mn-cs"/>
              </a:rPr>
              <a:t>: Amazon EC2 T4, T5, M5, M6 instances. </a:t>
            </a:r>
          </a:p>
          <a:p>
            <a:pPr marL="12700" marR="5080"/>
            <a:r>
              <a:rPr lang="en-US" sz="1500" kern="0" spc="-80" dirty="0">
                <a:solidFill>
                  <a:schemeClr val="accent2"/>
                </a:solidFill>
                <a:cs typeface="+mn-cs"/>
              </a:rPr>
              <a:t>ML Applications: </a:t>
            </a:r>
            <a:r>
              <a:rPr lang="en-US" sz="1500" kern="0" spc="-80" dirty="0">
                <a:solidFill>
                  <a:schemeClr val="accent6"/>
                </a:solidFill>
                <a:cs typeface="+mn-cs"/>
              </a:rPr>
              <a:t>General-purpose ML tasks, prototyping, and smaller-scale deployments. </a:t>
            </a:r>
          </a:p>
          <a:p>
            <a:pPr marL="12700" marR="5080"/>
            <a:r>
              <a:rPr lang="en-US" sz="1500" kern="0" spc="-80" dirty="0">
                <a:solidFill>
                  <a:schemeClr val="accent2"/>
                </a:solidFill>
                <a:cs typeface="+mn-cs"/>
              </a:rPr>
              <a:t>Inference-Optimized:</a:t>
            </a:r>
          </a:p>
          <a:p>
            <a:pPr marL="12700" marR="5080"/>
            <a:r>
              <a:rPr lang="en-US" sz="1500" kern="0" spc="-80" dirty="0">
                <a:solidFill>
                  <a:schemeClr val="accent2"/>
                </a:solidFill>
                <a:cs typeface="+mn-cs"/>
              </a:rPr>
              <a:t>Ideal for:</a:t>
            </a:r>
            <a:r>
              <a:rPr lang="en-US" sz="1500" kern="0" spc="-80" dirty="0">
                <a:solidFill>
                  <a:schemeClr val="accent6"/>
                </a:solidFill>
                <a:cs typeface="+mn-cs"/>
              </a:rPr>
              <a:t> Deploying and serving trained models for real-time predictions. </a:t>
            </a:r>
          </a:p>
          <a:p>
            <a:pPr marL="12700" marR="5080"/>
            <a:r>
              <a:rPr lang="en-US" sz="1500" kern="0" spc="-80" dirty="0">
                <a:solidFill>
                  <a:schemeClr val="accent2"/>
                </a:solidFill>
                <a:cs typeface="+mn-cs"/>
              </a:rPr>
              <a:t>Performance</a:t>
            </a:r>
            <a:r>
              <a:rPr lang="en-US" sz="1500" kern="0" spc="-80" dirty="0">
                <a:solidFill>
                  <a:schemeClr val="accent6"/>
                </a:solidFill>
                <a:cs typeface="+mn-cs"/>
              </a:rPr>
              <a:t>: Optimized for low-latency predictions and high throughput of inference requests. </a:t>
            </a:r>
          </a:p>
          <a:p>
            <a:pPr marL="12700" marR="5080"/>
            <a:r>
              <a:rPr lang="en-US" sz="1500" kern="0" spc="-80" dirty="0">
                <a:solidFill>
                  <a:schemeClr val="accent2"/>
                </a:solidFill>
                <a:cs typeface="+mn-cs"/>
              </a:rPr>
              <a:t>Example</a:t>
            </a:r>
            <a:r>
              <a:rPr lang="en-US" sz="1500" kern="0" spc="-80" dirty="0">
                <a:solidFill>
                  <a:schemeClr val="accent6"/>
                </a:solidFill>
                <a:cs typeface="+mn-cs"/>
              </a:rPr>
              <a:t>: Amazon EC2 P5, G5 instances. </a:t>
            </a:r>
          </a:p>
          <a:p>
            <a:pPr marL="12700" marR="5080"/>
            <a:r>
              <a:rPr lang="en-US" sz="1500" kern="0" spc="-80" dirty="0">
                <a:solidFill>
                  <a:schemeClr val="accent2"/>
                </a:solidFill>
                <a:cs typeface="+mn-cs"/>
              </a:rPr>
              <a:t>ML Applications</a:t>
            </a:r>
            <a:r>
              <a:rPr lang="en-US" sz="1500" kern="0" spc="-80" dirty="0">
                <a:solidFill>
                  <a:schemeClr val="accent6"/>
                </a:solidFill>
                <a:cs typeface="+mn-cs"/>
              </a:rPr>
              <a:t>: Deployment of trained models for various applications, including image recognition, natural language processing, and recommendation systems. </a:t>
            </a:r>
          </a:p>
          <a:p>
            <a:pPr marL="12700" marR="5080"/>
            <a:r>
              <a:rPr lang="en-US" sz="1500" kern="0" spc="-80" dirty="0">
                <a:solidFill>
                  <a:schemeClr val="accent6"/>
                </a:solidFill>
                <a:cs typeface="+mn-cs"/>
              </a:rPr>
              <a:t>In summary, selecting the appropriate instance type depends on the specific workload and performance requirements of the ML task. Memory-optimized instances handle large datasets, compute-optimized instances are geared towards computationally demanding tasks, general-purpose instances offer a balance, and inference-optimized instances are ideal for model deployment. </a:t>
            </a:r>
            <a:endParaRPr lang="en-IN" sz="1400" dirty="0"/>
          </a:p>
        </p:txBody>
      </p:sp>
    </p:spTree>
    <p:extLst>
      <p:ext uri="{BB962C8B-B14F-4D97-AF65-F5344CB8AC3E}">
        <p14:creationId xmlns:p14="http://schemas.microsoft.com/office/powerpoint/2010/main" val="57768233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3F73-D2AB-2BD6-BAC3-62BDED1B36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C414717-6820-A2F5-7C2D-4CFA13B2D11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9A3FAA77-B7C3-CDB1-7446-6E0EA0B3BA64}"/>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B1C6E15-A0BA-CB26-03A3-B09411D44C3C}"/>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140CAF6-D2BC-C122-2E55-AB81301F473F}"/>
              </a:ext>
            </a:extLst>
          </p:cNvPr>
          <p:cNvGraphicFramePr/>
          <p:nvPr>
            <p:extLst>
              <p:ext uri="{D42A27DB-BD31-4B8C-83A1-F6EECF244321}">
                <p14:modId xmlns:p14="http://schemas.microsoft.com/office/powerpoint/2010/main" val="147861187"/>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9DFE796E-392B-9722-2C06-FEBD867C1EFC}"/>
              </a:ext>
            </a:extLst>
          </p:cNvPr>
          <p:cNvSpPr txBox="1">
            <a:spLocks/>
          </p:cNvSpPr>
          <p:nvPr/>
        </p:nvSpPr>
        <p:spPr>
          <a:xfrm>
            <a:off x="41725" y="1128615"/>
            <a:ext cx="8624937" cy="48444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6"/>
                </a:solidFill>
                <a:cs typeface="+mn-cs"/>
              </a:rPr>
              <a:t>TPUs (Tensor Processing Units) and GPUs (Graphics Processing Units) are both specialized processors used in AI for accelerating computations, but they have distinct strengths and weaknesses. TPUs are custom-designed ASICs optimized for tensor-based calculations in neural networks, offering high performance and energy efficiency, especially for large-scale AI models. GPUs, on the other hand, are more versatile and can handle a wider range of tasks, including graphics rendering and other parallel processing workloads, making them suitable for a broader range of AI applications. </a:t>
            </a:r>
          </a:p>
          <a:p>
            <a:pPr marL="12700" marR="5080"/>
            <a:r>
              <a:rPr lang="en-US" sz="1270" kern="0" spc="-80" dirty="0">
                <a:solidFill>
                  <a:schemeClr val="accent2"/>
                </a:solidFill>
                <a:cs typeface="+mn-cs"/>
              </a:rPr>
              <a:t>Key Differences and Considerations:</a:t>
            </a:r>
          </a:p>
          <a:p>
            <a:pPr marL="12700" marR="5080"/>
            <a:r>
              <a:rPr lang="en-US" sz="1270" kern="0" spc="-80" dirty="0">
                <a:solidFill>
                  <a:schemeClr val="accent2"/>
                </a:solidFill>
                <a:cs typeface="+mn-cs"/>
              </a:rPr>
              <a:t>Specialization</a:t>
            </a:r>
            <a:r>
              <a:rPr lang="en-US" sz="1270" kern="0" spc="-80" dirty="0">
                <a:solidFill>
                  <a:schemeClr val="accent6"/>
                </a:solidFill>
                <a:cs typeface="+mn-cs"/>
              </a:rPr>
              <a:t>: TPUs are highly specialized for machine learning, particularly neural networks, while GPUs are more general-purpose and can handle diverse tasks. </a:t>
            </a:r>
          </a:p>
          <a:p>
            <a:pPr marL="12700" marR="5080"/>
            <a:r>
              <a:rPr lang="en-US" sz="1270" kern="0" spc="-80" dirty="0">
                <a:solidFill>
                  <a:schemeClr val="accent2"/>
                </a:solidFill>
                <a:cs typeface="+mn-cs"/>
              </a:rPr>
              <a:t>Performance</a:t>
            </a:r>
            <a:r>
              <a:rPr lang="en-US" sz="1270" kern="0" spc="-80" dirty="0">
                <a:solidFill>
                  <a:schemeClr val="accent6"/>
                </a:solidFill>
                <a:cs typeface="+mn-cs"/>
              </a:rPr>
              <a:t>: TPUs generally offer faster performance for tensor-based calculations in neural networks, especially for large-scale models, and can be more energy-efficient than GPUs. </a:t>
            </a:r>
          </a:p>
          <a:p>
            <a:pPr marL="12700" marR="5080"/>
            <a:r>
              <a:rPr lang="en-US" sz="1270" kern="0" spc="-80" dirty="0">
                <a:solidFill>
                  <a:schemeClr val="accent2"/>
                </a:solidFill>
                <a:cs typeface="+mn-cs"/>
              </a:rPr>
              <a:t>Flexibility</a:t>
            </a:r>
            <a:r>
              <a:rPr lang="en-US" sz="1270" kern="0" spc="-80" dirty="0">
                <a:solidFill>
                  <a:schemeClr val="accent6"/>
                </a:solidFill>
                <a:cs typeface="+mn-cs"/>
              </a:rPr>
              <a:t>: GPUs offer more flexibility and compatibility with a wider range of software frameworks and AI workloads, according to </a:t>
            </a:r>
            <a:r>
              <a:rPr lang="en-US" sz="1270" kern="0" spc="-80" dirty="0" err="1">
                <a:solidFill>
                  <a:schemeClr val="accent6"/>
                </a:solidFill>
                <a:cs typeface="+mn-cs"/>
              </a:rPr>
              <a:t>Telnyx</a:t>
            </a:r>
            <a:r>
              <a:rPr lang="en-US" sz="1270" kern="0" spc="-80" dirty="0">
                <a:solidFill>
                  <a:schemeClr val="accent6"/>
                </a:solidFill>
                <a:cs typeface="+mn-cs"/>
              </a:rPr>
              <a:t>. </a:t>
            </a:r>
          </a:p>
          <a:p>
            <a:pPr marL="12700" marR="5080"/>
            <a:r>
              <a:rPr lang="en-US" sz="1270" kern="0" spc="-80" dirty="0">
                <a:solidFill>
                  <a:schemeClr val="accent2"/>
                </a:solidFill>
                <a:cs typeface="+mn-cs"/>
              </a:rPr>
              <a:t>Cost</a:t>
            </a:r>
            <a:r>
              <a:rPr lang="en-US" sz="1270" kern="0" spc="-80" dirty="0">
                <a:solidFill>
                  <a:schemeClr val="accent6"/>
                </a:solidFill>
                <a:cs typeface="+mn-cs"/>
              </a:rPr>
              <a:t>: TPUs, being a cloud service, have higher hourly costs than GPUs for some workloads, but their performance advantages can lead to lower overall costs for large-scale AI tasks. </a:t>
            </a:r>
          </a:p>
          <a:p>
            <a:pPr marL="12700" marR="5080"/>
            <a:r>
              <a:rPr lang="en-US" sz="1270" kern="0" spc="-80" dirty="0">
                <a:solidFill>
                  <a:schemeClr val="accent2"/>
                </a:solidFill>
                <a:cs typeface="+mn-cs"/>
              </a:rPr>
              <a:t>Software Support:</a:t>
            </a:r>
            <a:r>
              <a:rPr lang="en-US" sz="1270" kern="0" spc="-80" dirty="0">
                <a:solidFill>
                  <a:schemeClr val="accent6"/>
                </a:solidFill>
                <a:cs typeface="+mn-cs"/>
              </a:rPr>
              <a:t> TPUs are tightly integrated with TensorFlow, Google's machine learning framework, while GPUs have broader support for various frameworks like TensorFlow, </a:t>
            </a:r>
            <a:r>
              <a:rPr lang="en-US" sz="1270" kern="0" spc="-80" dirty="0" err="1">
                <a:solidFill>
                  <a:schemeClr val="accent6"/>
                </a:solidFill>
                <a:cs typeface="+mn-cs"/>
              </a:rPr>
              <a:t>PyTorch</a:t>
            </a:r>
            <a:r>
              <a:rPr lang="en-US" sz="1270" kern="0" spc="-80" dirty="0">
                <a:solidFill>
                  <a:schemeClr val="accent6"/>
                </a:solidFill>
                <a:cs typeface="+mn-cs"/>
              </a:rPr>
              <a:t>, and Caffe, according to </a:t>
            </a:r>
            <a:r>
              <a:rPr lang="en-US" sz="1270" kern="0" spc="-80" dirty="0" err="1">
                <a:solidFill>
                  <a:schemeClr val="accent6"/>
                </a:solidFill>
                <a:cs typeface="+mn-cs"/>
              </a:rPr>
              <a:t>Tailscale</a:t>
            </a:r>
            <a:r>
              <a:rPr lang="en-US" sz="1270" kern="0" spc="-80" dirty="0">
                <a:solidFill>
                  <a:schemeClr val="accent6"/>
                </a:solidFill>
                <a:cs typeface="+mn-cs"/>
              </a:rPr>
              <a:t>. </a:t>
            </a:r>
          </a:p>
          <a:p>
            <a:pPr marL="12700" marR="5080"/>
            <a:r>
              <a:rPr lang="en-US" sz="1270" kern="0" spc="-80" dirty="0">
                <a:solidFill>
                  <a:schemeClr val="accent2"/>
                </a:solidFill>
                <a:cs typeface="+mn-cs"/>
              </a:rPr>
              <a:t>Interconnects:</a:t>
            </a:r>
            <a:r>
              <a:rPr lang="en-US" sz="1270" kern="0" spc="-80" dirty="0">
                <a:solidFill>
                  <a:schemeClr val="accent6"/>
                </a:solidFill>
                <a:cs typeface="+mn-cs"/>
              </a:rPr>
              <a:t> TPUs use Google's custom Inter-Chip Interconnect (ICI) for high-bandwidth, low-latency communication across pods of TPUs, while GPUs rely on technologies like </a:t>
            </a:r>
            <a:r>
              <a:rPr lang="en-US" sz="1270" kern="0" spc="-80" dirty="0" err="1">
                <a:solidFill>
                  <a:schemeClr val="accent6"/>
                </a:solidFill>
                <a:cs typeface="+mn-cs"/>
              </a:rPr>
              <a:t>NVLink</a:t>
            </a:r>
            <a:r>
              <a:rPr lang="en-US" sz="1270" kern="0" spc="-80" dirty="0">
                <a:solidFill>
                  <a:schemeClr val="accent6"/>
                </a:solidFill>
                <a:cs typeface="+mn-cs"/>
              </a:rPr>
              <a:t> and </a:t>
            </a:r>
            <a:r>
              <a:rPr lang="en-US" sz="1270" kern="0" spc="-80" dirty="0" err="1">
                <a:solidFill>
                  <a:schemeClr val="accent6"/>
                </a:solidFill>
                <a:cs typeface="+mn-cs"/>
              </a:rPr>
              <a:t>NVSwitch</a:t>
            </a:r>
            <a:r>
              <a:rPr lang="en-US" sz="1270" kern="0" spc="-80" dirty="0">
                <a:solidFill>
                  <a:schemeClr val="accent6"/>
                </a:solidFill>
                <a:cs typeface="+mn-cs"/>
              </a:rPr>
              <a:t> for multi-GPU setups. </a:t>
            </a:r>
          </a:p>
          <a:p>
            <a:pPr marL="12700" marR="5080"/>
            <a:r>
              <a:rPr lang="en-US" sz="1270" kern="0" spc="-80" dirty="0">
                <a:solidFill>
                  <a:schemeClr val="accent2"/>
                </a:solidFill>
                <a:cs typeface="+mn-cs"/>
              </a:rPr>
              <a:t>Use Cases:</a:t>
            </a:r>
            <a:r>
              <a:rPr lang="en-US" sz="1270" kern="0" spc="-80" dirty="0">
                <a:solidFill>
                  <a:schemeClr val="accent6"/>
                </a:solidFill>
                <a:cs typeface="+mn-cs"/>
              </a:rPr>
              <a:t> TPUs are well-suited for large-scale AI tasks like training massive language models, while GPUs are better for tasks that require versatility, such as real-time graphics rendering, image processing, and diverse AI workloads. </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For Further Exploration-</a:t>
            </a:r>
          </a:p>
          <a:p>
            <a:pPr marL="12700" marR="5080"/>
            <a:r>
              <a:rPr lang="en-US" sz="1200" dirty="0">
                <a:hlinkClick r:id="rId7"/>
              </a:rPr>
              <a:t>What’s the difference between CPUs, GPUs and TPUs?</a:t>
            </a:r>
            <a:endParaRPr lang="en-US" sz="1200" kern="0" spc="-80" dirty="0">
              <a:solidFill>
                <a:schemeClr val="accent2"/>
              </a:solidFill>
              <a:cs typeface="+mn-cs"/>
            </a:endParaRPr>
          </a:p>
          <a:p>
            <a:pPr marL="12700" marR="5080"/>
            <a:r>
              <a:rPr lang="en-US" sz="1200" dirty="0">
                <a:hlinkClick r:id="rId8"/>
              </a:rPr>
              <a:t>Understanding TPUs vs GPUs in AI: A Comprehensive Guide | </a:t>
            </a:r>
            <a:r>
              <a:rPr lang="en-US" sz="1200" dirty="0" err="1">
                <a:hlinkClick r:id="rId8"/>
              </a:rPr>
              <a:t>DataCamp</a:t>
            </a:r>
            <a:endParaRPr lang="en-US" sz="1200" kern="0" spc="-80" dirty="0">
              <a:solidFill>
                <a:schemeClr val="accent2"/>
              </a:solidFill>
              <a:cs typeface="+mn-cs"/>
            </a:endParaRPr>
          </a:p>
        </p:txBody>
      </p:sp>
    </p:spTree>
    <p:extLst>
      <p:ext uri="{BB962C8B-B14F-4D97-AF65-F5344CB8AC3E}">
        <p14:creationId xmlns:p14="http://schemas.microsoft.com/office/powerpoint/2010/main" val="398106292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EB507-C957-E4A4-6E55-FFE7AE54EA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D858422-BD9F-6D45-332A-54AD9C3F1D0F}"/>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9187B4-821C-667E-EDC5-BF95F1A3BB1C}"/>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9F6ABF4-82FD-150C-2D07-A5E2ABBBF6D4}"/>
              </a:ext>
            </a:extLst>
          </p:cNvPr>
          <p:cNvGraphicFramePr/>
          <p:nvPr>
            <p:extLst>
              <p:ext uri="{D42A27DB-BD31-4B8C-83A1-F6EECF244321}">
                <p14:modId xmlns:p14="http://schemas.microsoft.com/office/powerpoint/2010/main" val="1809865769"/>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a:extLst>
              <a:ext uri="{FF2B5EF4-FFF2-40B4-BE49-F238E27FC236}">
                <a16:creationId xmlns:a16="http://schemas.microsoft.com/office/drawing/2014/main" id="{848146E7-5438-7E68-B2E6-A5CA2451E62C}"/>
              </a:ext>
            </a:extLst>
          </p:cNvPr>
          <p:cNvPicPr>
            <a:picLocks noChangeAspect="1"/>
          </p:cNvPicPr>
          <p:nvPr/>
        </p:nvPicPr>
        <p:blipFill>
          <a:blip r:embed="rId7"/>
          <a:stretch>
            <a:fillRect/>
          </a:stretch>
        </p:blipFill>
        <p:spPr>
          <a:xfrm>
            <a:off x="0" y="1335165"/>
            <a:ext cx="9144000" cy="4456035"/>
          </a:xfrm>
          <a:prstGeom prst="rect">
            <a:avLst/>
          </a:prstGeom>
        </p:spPr>
      </p:pic>
    </p:spTree>
    <p:extLst>
      <p:ext uri="{BB962C8B-B14F-4D97-AF65-F5344CB8AC3E}">
        <p14:creationId xmlns:p14="http://schemas.microsoft.com/office/powerpoint/2010/main" val="157742024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752F-E806-51E8-1B79-0E89EC60F5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AE3096-11C1-E97D-EF01-03A97406FE47}"/>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8EEF5ED-7321-EDB4-0CAF-DE7035D77D9B}"/>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BC8B3FB-2467-9CF1-0A87-9FD8E94EDE77}"/>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94CC6773-B839-BDBA-039D-0DEBB7D68ADF}"/>
              </a:ext>
            </a:extLst>
          </p:cNvPr>
          <p:cNvSpPr txBox="1">
            <a:spLocks/>
          </p:cNvSpPr>
          <p:nvPr/>
        </p:nvSpPr>
        <p:spPr>
          <a:xfrm>
            <a:off x="152400" y="1335165"/>
            <a:ext cx="8624937" cy="26161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a:t>
            </a:r>
          </a:p>
          <a:p>
            <a:pPr marL="12700" marR="5080"/>
            <a:r>
              <a:rPr lang="en-US" sz="1700" dirty="0">
                <a:hlinkClick r:id="rId7"/>
              </a:rPr>
              <a:t>Distributed Machine Learning: Algorithms and Frameworks</a:t>
            </a:r>
            <a:endParaRPr lang="en-US" sz="1700" dirty="0"/>
          </a:p>
          <a:p>
            <a:pPr marL="12700" marR="5080"/>
            <a:r>
              <a:rPr lang="en-US" sz="1700" dirty="0">
                <a:hlinkClick r:id="rId8"/>
              </a:rPr>
              <a:t>Understanding Data Parallelism in Machine Learning | </a:t>
            </a:r>
            <a:r>
              <a:rPr lang="en-US" sz="1700" dirty="0" err="1">
                <a:hlinkClick r:id="rId8"/>
              </a:rPr>
              <a:t>Telesens</a:t>
            </a:r>
            <a:r>
              <a:rPr lang="en-US" sz="1700" b="0" i="0" dirty="0">
                <a:solidFill>
                  <a:srgbClr val="1F2328"/>
                </a:solidFill>
                <a:effectLst/>
                <a:latin typeface="-apple-system"/>
              </a:rPr>
              <a:t> </a:t>
            </a:r>
          </a:p>
          <a:p>
            <a:pPr marL="12700" marR="5080"/>
            <a:r>
              <a:rPr lang="en-IN" sz="1700" dirty="0">
                <a:hlinkClick r:id="rId9"/>
              </a:rPr>
              <a:t>Introduction to Model Parallelism - Amazon </a:t>
            </a:r>
            <a:r>
              <a:rPr lang="en-IN" sz="1700" dirty="0" err="1">
                <a:hlinkClick r:id="rId9"/>
              </a:rPr>
              <a:t>SageMaker</a:t>
            </a:r>
            <a:r>
              <a:rPr lang="en-IN" sz="1700" dirty="0">
                <a:hlinkClick r:id="rId9"/>
              </a:rPr>
              <a:t> AI</a:t>
            </a:r>
            <a:endParaRPr lang="en-US" sz="1700" dirty="0"/>
          </a:p>
          <a:p>
            <a:pPr marL="12700" marR="5080"/>
            <a:r>
              <a:rPr lang="en-US" sz="1700" dirty="0">
                <a:hlinkClick r:id="rId10"/>
              </a:rPr>
              <a:t>Distributed-Machine-Learning-with-Python</a:t>
            </a:r>
            <a:endParaRPr lang="en-US" sz="1700" dirty="0"/>
          </a:p>
          <a:p>
            <a:pPr marL="12700" marR="5080"/>
            <a:r>
              <a:rPr lang="en-US" sz="1700" dirty="0">
                <a:hlinkClick r:id="rId11"/>
              </a:rPr>
              <a:t>Distributed-ML-Patterns</a:t>
            </a:r>
            <a:endParaRPr lang="en-US" sz="1700" dirty="0"/>
          </a:p>
          <a:p>
            <a:pPr marL="12700" marR="5080"/>
            <a:r>
              <a:rPr lang="en-US" sz="1700" dirty="0">
                <a:hlinkClick r:id="rId12"/>
              </a:rPr>
              <a:t>Ray(an AI compute engine)</a:t>
            </a:r>
            <a:endParaRPr lang="en-US" sz="1700" dirty="0"/>
          </a:p>
          <a:p>
            <a:pPr marL="12700" marR="5080"/>
            <a:r>
              <a:rPr lang="en-IN" sz="1700" dirty="0">
                <a:hlinkClick r:id="rId13"/>
              </a:rPr>
              <a:t>Deta Fundamentals of Accelerated </a:t>
            </a:r>
            <a:r>
              <a:rPr lang="en-IN" sz="1700" dirty="0" err="1">
                <a:hlinkClick r:id="rId13"/>
              </a:rPr>
              <a:t>DataScience</a:t>
            </a:r>
            <a:r>
              <a:rPr lang="en-IN" sz="1700" dirty="0">
                <a:hlinkClick r:id="rId13"/>
              </a:rPr>
              <a:t> | NVIDIA</a:t>
            </a:r>
            <a:endParaRPr lang="en-IN" sz="1700" dirty="0"/>
          </a:p>
          <a:p>
            <a:pPr marL="12700" marR="5080"/>
            <a:r>
              <a:rPr lang="en-IN" sz="1700" dirty="0">
                <a:hlinkClick r:id="rId14"/>
              </a:rPr>
              <a:t>Accelerating End to End </a:t>
            </a:r>
            <a:r>
              <a:rPr lang="en-IN" sz="1700" dirty="0" err="1">
                <a:hlinkClick r:id="rId14"/>
              </a:rPr>
              <a:t>DataScience</a:t>
            </a:r>
            <a:r>
              <a:rPr lang="en-IN" sz="1700" dirty="0">
                <a:hlinkClick r:id="rId14"/>
              </a:rPr>
              <a:t> Workflows | NVIDIA</a:t>
            </a:r>
            <a:endParaRPr lang="en-IN" sz="1700" dirty="0"/>
          </a:p>
          <a:p>
            <a:pPr marL="12700" marR="5080"/>
            <a:r>
              <a:rPr lang="en-IN" sz="1700" dirty="0">
                <a:hlinkClick r:id="rId15"/>
              </a:rPr>
              <a:t>Enhancing </a:t>
            </a:r>
            <a:r>
              <a:rPr lang="en-IN" sz="1700" dirty="0" err="1">
                <a:hlinkClick r:id="rId15"/>
              </a:rPr>
              <a:t>DataScience</a:t>
            </a:r>
            <a:r>
              <a:rPr lang="en-IN" sz="1700" dirty="0">
                <a:hlinkClick r:id="rId15"/>
              </a:rPr>
              <a:t> Outcomes with Efficient Workflows | NVIDIA</a:t>
            </a:r>
            <a:endParaRPr lang="en-US" sz="1700" kern="0" spc="-80" dirty="0">
              <a:solidFill>
                <a:schemeClr val="accent2"/>
              </a:solidFill>
            </a:endParaRPr>
          </a:p>
        </p:txBody>
      </p:sp>
    </p:spTree>
    <p:extLst>
      <p:ext uri="{BB962C8B-B14F-4D97-AF65-F5344CB8AC3E}">
        <p14:creationId xmlns:p14="http://schemas.microsoft.com/office/powerpoint/2010/main" val="314392883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B5345-A3D6-B9BE-345F-F5CE9B75EA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78F8A2-BD93-EB61-128E-AC9397DD6607}"/>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E9FD223-6ABF-CE7D-22A5-3B66A15606A3}"/>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A27D4E1-7D67-F52D-B46D-8A2E62EA2CA9}"/>
              </a:ext>
            </a:extLst>
          </p:cNvPr>
          <p:cNvGraphicFramePr/>
          <p:nvPr>
            <p:extLst>
              <p:ext uri="{D42A27DB-BD31-4B8C-83A1-F6EECF244321}">
                <p14:modId xmlns:p14="http://schemas.microsoft.com/office/powerpoint/2010/main" val="284359125"/>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DDB5F046-4E21-4077-EEFA-BF2B2BA3A11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1313140"/>
            <a:ext cx="9144000" cy="4239584"/>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38002050-6F91-E0E9-42C7-B899536868CD}"/>
              </a:ext>
            </a:extLst>
          </p:cNvPr>
          <p:cNvSpPr txBox="1">
            <a:spLocks/>
          </p:cNvSpPr>
          <p:nvPr/>
        </p:nvSpPr>
        <p:spPr>
          <a:xfrm>
            <a:off x="41725" y="5552724"/>
            <a:ext cx="8624937" cy="39087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6"/>
                </a:solidFill>
              </a:rPr>
              <a:t>Responsible AI (RAI) is one of the most critical pillars of modern AI practice, especially as AI systems (and now Agentic AI) become more autonomous, pervasive, and high-impact. </a:t>
            </a:r>
          </a:p>
        </p:txBody>
      </p:sp>
    </p:spTree>
    <p:extLst>
      <p:ext uri="{BB962C8B-B14F-4D97-AF65-F5344CB8AC3E}">
        <p14:creationId xmlns:p14="http://schemas.microsoft.com/office/powerpoint/2010/main" val="1730956233"/>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B487-88EF-08CE-E804-E3D9086337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857E7B6-AB76-97C0-9E4A-34895E5BA29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4BE7D67-BE8A-8742-F76E-0728F6AE9F17}"/>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B90A0BD-924E-D07F-370D-69CC82F9C366}"/>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D281C867-46E5-2F7D-75AD-D612305BF551}"/>
              </a:ext>
            </a:extLst>
          </p:cNvPr>
          <p:cNvGraphicFramePr/>
          <p:nvPr>
            <p:extLst>
              <p:ext uri="{D42A27DB-BD31-4B8C-83A1-F6EECF244321}">
                <p14:modId xmlns:p14="http://schemas.microsoft.com/office/powerpoint/2010/main" val="1815280528"/>
              </p:ext>
            </p:extLst>
          </p:nvPr>
        </p:nvGraphicFramePr>
        <p:xfrm>
          <a:off x="-17146" y="-123635"/>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3A83AB6B-7991-5B28-8098-1D29F3851ECE}"/>
              </a:ext>
            </a:extLst>
          </p:cNvPr>
          <p:cNvSpPr txBox="1">
            <a:spLocks/>
          </p:cNvSpPr>
          <p:nvPr/>
        </p:nvSpPr>
        <p:spPr>
          <a:xfrm>
            <a:off x="41725" y="1128615"/>
            <a:ext cx="8624937" cy="11726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cs typeface="+mn-cs"/>
              </a:rPr>
              <a:t>🧠 1. What is Responsible AI? </a:t>
            </a:r>
          </a:p>
          <a:p>
            <a:pPr marL="12700" marR="5080"/>
            <a:r>
              <a:rPr lang="en-US" sz="1270" kern="0" spc="-80" dirty="0">
                <a:solidFill>
                  <a:schemeClr val="accent6"/>
                </a:solidFill>
                <a:cs typeface="+mn-cs"/>
              </a:rPr>
              <a:t>Responsible AI (RAI) refers to the principles, practices, and governance mechanisms ensuring that AI systems are ethical, fair, safe, transparent, and accountable across their entire lifecycle. It ensures that AI systems benefit humanity without causing harm — technically, socially, or environmentally.</a:t>
            </a:r>
          </a:p>
          <a:p>
            <a:pPr marL="12700" marR="5080"/>
            <a:endParaRPr lang="en-US" sz="1270" kern="0" spc="-80" dirty="0">
              <a:solidFill>
                <a:schemeClr val="accent2"/>
              </a:solidFill>
              <a:cs typeface="+mn-cs"/>
            </a:endParaRPr>
          </a:p>
          <a:p>
            <a:pPr marL="12700" marR="5080"/>
            <a:r>
              <a:rPr lang="en-US" sz="1270" kern="0" spc="-80" dirty="0">
                <a:solidFill>
                  <a:schemeClr val="accent2"/>
                </a:solidFill>
                <a:cs typeface="+mn-cs"/>
              </a:rPr>
              <a:t>⚖️ 2. Core Principles of Responsible AI</a:t>
            </a:r>
          </a:p>
        </p:txBody>
      </p:sp>
      <p:pic>
        <p:nvPicPr>
          <p:cNvPr id="6" name="Picture 5" descr="A screenshot of a blue and white table&#10;&#10;AI-generated content may be incorrect.">
            <a:extLst>
              <a:ext uri="{FF2B5EF4-FFF2-40B4-BE49-F238E27FC236}">
                <a16:creationId xmlns:a16="http://schemas.microsoft.com/office/drawing/2014/main" id="{17442AFD-EF96-771C-9FBD-079D2FC720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725" y="2323236"/>
            <a:ext cx="9026074" cy="3602535"/>
          </a:xfrm>
          <a:prstGeom prst="rect">
            <a:avLst/>
          </a:prstGeom>
        </p:spPr>
      </p:pic>
    </p:spTree>
    <p:extLst>
      <p:ext uri="{BB962C8B-B14F-4D97-AF65-F5344CB8AC3E}">
        <p14:creationId xmlns:p14="http://schemas.microsoft.com/office/powerpoint/2010/main" val="196477776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B53D-6C47-3E0F-2A99-30EED66D9FB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40B01C0-8DFF-D21A-8A7B-389EA3BA3A38}"/>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AB1DDD0-83BC-F41A-6675-A1603385D637}"/>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092BF692-23C3-7DB4-5224-51D52F288CF4}"/>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9DB48F58-3ABF-D87C-497B-E877D6F7C08B}"/>
              </a:ext>
            </a:extLst>
          </p:cNvPr>
          <p:cNvGraphicFramePr/>
          <p:nvPr>
            <p:extLst>
              <p:ext uri="{D42A27DB-BD31-4B8C-83A1-F6EECF244321}">
                <p14:modId xmlns:p14="http://schemas.microsoft.com/office/powerpoint/2010/main" val="2507488194"/>
              </p:ext>
            </p:extLst>
          </p:nvPr>
        </p:nvGraphicFramePr>
        <p:xfrm>
          <a:off x="0" y="-15327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B67D47F1-0A4D-2142-B447-19D4B883F538}"/>
              </a:ext>
            </a:extLst>
          </p:cNvPr>
          <p:cNvSpPr txBox="1">
            <a:spLocks/>
          </p:cNvSpPr>
          <p:nvPr/>
        </p:nvSpPr>
        <p:spPr>
          <a:xfrm>
            <a:off x="41725" y="1128615"/>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cs typeface="+mn-cs"/>
              </a:rPr>
              <a:t>🧩 3. Pillars of Responsible AI</a:t>
            </a:r>
          </a:p>
          <a:p>
            <a:pPr marL="12700" marR="5080"/>
            <a:r>
              <a:rPr lang="en-US" sz="1270" kern="0" spc="-80" dirty="0">
                <a:solidFill>
                  <a:schemeClr val="accent2"/>
                </a:solidFill>
                <a:cs typeface="+mn-cs"/>
              </a:rPr>
              <a:t>3.1 Ethical Foundation</a:t>
            </a:r>
            <a:r>
              <a:rPr lang="en-US" sz="1270" kern="0" spc="-80" dirty="0">
                <a:solidFill>
                  <a:schemeClr val="accent6"/>
                </a:solidFill>
                <a:cs typeface="+mn-cs"/>
              </a:rPr>
              <a:t> </a:t>
            </a:r>
          </a:p>
          <a:p>
            <a:pPr marL="12700" marR="5080"/>
            <a:r>
              <a:rPr lang="en-US" sz="1270" kern="0" spc="-80" dirty="0">
                <a:solidFill>
                  <a:schemeClr val="accent6"/>
                </a:solidFill>
                <a:cs typeface="+mn-cs"/>
              </a:rPr>
              <a:t>AI must respect human rights, dignity, and fairness.</a:t>
            </a:r>
          </a:p>
          <a:p>
            <a:pPr marL="12700" marR="5080"/>
            <a:r>
              <a:rPr lang="en-US" sz="1270" kern="0" spc="-80" dirty="0">
                <a:solidFill>
                  <a:schemeClr val="accent6"/>
                </a:solidFill>
                <a:cs typeface="+mn-cs"/>
              </a:rPr>
              <a:t>Ethical decision-making frameworks</a:t>
            </a:r>
          </a:p>
          <a:p>
            <a:pPr marL="12700" marR="5080"/>
            <a:r>
              <a:rPr lang="en-US" sz="1270" kern="0" spc="-80" dirty="0">
                <a:solidFill>
                  <a:schemeClr val="accent6"/>
                </a:solidFill>
                <a:cs typeface="+mn-cs"/>
              </a:rPr>
              <a:t>Compliance with social norms and cultural diversity</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3.2 Technical Robustness </a:t>
            </a:r>
          </a:p>
          <a:p>
            <a:pPr marL="12700" marR="5080"/>
            <a:r>
              <a:rPr lang="en-US" sz="1270" kern="0" spc="-80" dirty="0">
                <a:solidFill>
                  <a:schemeClr val="accent6"/>
                </a:solidFill>
                <a:cs typeface="+mn-cs"/>
              </a:rPr>
              <a:t>AI should perform reliably across contexts and resist manipulation. </a:t>
            </a:r>
          </a:p>
          <a:p>
            <a:pPr marL="12700" marR="5080"/>
            <a:r>
              <a:rPr lang="en-US" sz="1270" kern="0" spc="-80" dirty="0">
                <a:solidFill>
                  <a:schemeClr val="accent6"/>
                </a:solidFill>
                <a:cs typeface="+mn-cs"/>
              </a:rPr>
              <a:t>Model validation and testing</a:t>
            </a:r>
          </a:p>
          <a:p>
            <a:pPr marL="12700" marR="5080"/>
            <a:r>
              <a:rPr lang="en-US" sz="1270" kern="0" spc="-80" dirty="0">
                <a:solidFill>
                  <a:schemeClr val="accent6"/>
                </a:solidFill>
                <a:cs typeface="+mn-cs"/>
              </a:rPr>
              <a:t>Adversarial robustness</a:t>
            </a:r>
          </a:p>
          <a:p>
            <a:pPr marL="12700" marR="5080"/>
            <a:r>
              <a:rPr lang="en-US" sz="1270" kern="0" spc="-80" dirty="0">
                <a:solidFill>
                  <a:schemeClr val="accent6"/>
                </a:solidFill>
                <a:cs typeface="+mn-cs"/>
              </a:rPr>
              <a:t>Safe failure modes</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3.3 Governance and Policy</a:t>
            </a:r>
            <a:r>
              <a:rPr lang="en-US" sz="1270" kern="0" spc="-80" dirty="0">
                <a:solidFill>
                  <a:schemeClr val="accent6"/>
                </a:solidFill>
                <a:cs typeface="+mn-cs"/>
              </a:rPr>
              <a:t> </a:t>
            </a:r>
          </a:p>
          <a:p>
            <a:pPr marL="12700" marR="5080"/>
            <a:r>
              <a:rPr lang="en-US" sz="1270" kern="0" spc="-80" dirty="0">
                <a:solidFill>
                  <a:schemeClr val="accent6"/>
                </a:solidFill>
                <a:cs typeface="+mn-cs"/>
              </a:rPr>
              <a:t>Defined oversight structures for data, models, and decisions.</a:t>
            </a:r>
          </a:p>
          <a:p>
            <a:pPr marL="12700" marR="5080"/>
            <a:r>
              <a:rPr lang="en-US" sz="1270" kern="0" spc="-80" dirty="0">
                <a:solidFill>
                  <a:schemeClr val="accent6"/>
                </a:solidFill>
                <a:cs typeface="+mn-cs"/>
              </a:rPr>
              <a:t>Clear accountability for outcomes</a:t>
            </a:r>
          </a:p>
          <a:p>
            <a:pPr marL="12700" marR="5080"/>
            <a:r>
              <a:rPr lang="en-US" sz="1270" kern="0" spc="-80" dirty="0">
                <a:solidFill>
                  <a:schemeClr val="accent6"/>
                </a:solidFill>
                <a:cs typeface="+mn-cs"/>
              </a:rPr>
              <a:t>Governance boards and ethics committees</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3.4 Operationalization</a:t>
            </a:r>
          </a:p>
          <a:p>
            <a:pPr marL="12700" marR="5080"/>
            <a:r>
              <a:rPr lang="en-US" sz="1270" kern="0" spc="-80" dirty="0">
                <a:solidFill>
                  <a:schemeClr val="accent2"/>
                </a:solidFill>
                <a:cs typeface="+mn-cs"/>
              </a:rPr>
              <a:t>Embedding responsible practices in AI lifecycle:</a:t>
            </a:r>
          </a:p>
          <a:p>
            <a:pPr marL="12700" marR="5080"/>
            <a:r>
              <a:rPr lang="en-US" sz="1270" kern="0" spc="-80" dirty="0">
                <a:solidFill>
                  <a:schemeClr val="accent6"/>
                </a:solidFill>
                <a:cs typeface="+mn-cs"/>
              </a:rPr>
              <a:t>Data collection → Fairness, privacy</a:t>
            </a:r>
          </a:p>
          <a:p>
            <a:pPr marL="12700" marR="5080"/>
            <a:r>
              <a:rPr lang="en-US" sz="1270" kern="0" spc="-80" dirty="0">
                <a:solidFill>
                  <a:schemeClr val="accent6"/>
                </a:solidFill>
                <a:cs typeface="+mn-cs"/>
              </a:rPr>
              <a:t>Model design → Bias audits</a:t>
            </a:r>
          </a:p>
          <a:p>
            <a:pPr marL="12700" marR="5080"/>
            <a:r>
              <a:rPr lang="en-US" sz="1270" kern="0" spc="-80" dirty="0">
                <a:solidFill>
                  <a:schemeClr val="accent6"/>
                </a:solidFill>
                <a:cs typeface="+mn-cs"/>
              </a:rPr>
              <a:t>Deployment → Explainability, monitoring</a:t>
            </a:r>
          </a:p>
          <a:p>
            <a:pPr marL="12700" marR="5080"/>
            <a:r>
              <a:rPr lang="en-US" sz="1270" kern="0" spc="-80" dirty="0">
                <a:solidFill>
                  <a:schemeClr val="accent6"/>
                </a:solidFill>
                <a:cs typeface="+mn-cs"/>
              </a:rPr>
              <a:t>Post-deployment → Continuous evaluation and retraining</a:t>
            </a:r>
          </a:p>
          <a:p>
            <a:pPr marL="12700" marR="5080"/>
            <a:endParaRPr lang="en-US" sz="1270" kern="0" spc="-80" dirty="0">
              <a:solidFill>
                <a:schemeClr val="accent6"/>
              </a:solidFill>
              <a:cs typeface="+mn-cs"/>
            </a:endParaRPr>
          </a:p>
        </p:txBody>
      </p:sp>
    </p:spTree>
    <p:extLst>
      <p:ext uri="{BB962C8B-B14F-4D97-AF65-F5344CB8AC3E}">
        <p14:creationId xmlns:p14="http://schemas.microsoft.com/office/powerpoint/2010/main" val="241000651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63D17-9DED-D66D-1E44-63BE1B44D09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778E22-F3F7-39D0-B2AD-EA560A3A7456}"/>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2CE5A1B2-C574-0333-F3C9-1714CC67381D}"/>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AEF7CD2-AF71-EAD4-AAED-881B1E39B4E8}"/>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97B83D4-AF2B-7671-CFC4-9081ED6AE3CA}"/>
              </a:ext>
            </a:extLst>
          </p:cNvPr>
          <p:cNvGraphicFramePr/>
          <p:nvPr>
            <p:extLst>
              <p:ext uri="{D42A27DB-BD31-4B8C-83A1-F6EECF244321}">
                <p14:modId xmlns:p14="http://schemas.microsoft.com/office/powerpoint/2010/main" val="3822787145"/>
              </p:ext>
            </p:extLst>
          </p:nvPr>
        </p:nvGraphicFramePr>
        <p:xfrm>
          <a:off x="0" y="-134631"/>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37A7705F-2551-4EDD-C345-6F68AB2BBD0F}"/>
              </a:ext>
            </a:extLst>
          </p:cNvPr>
          <p:cNvSpPr txBox="1">
            <a:spLocks/>
          </p:cNvSpPr>
          <p:nvPr/>
        </p:nvSpPr>
        <p:spPr>
          <a:xfrm>
            <a:off x="41725" y="1128615"/>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 4. Key Concepts and Subdomains</a:t>
            </a:r>
          </a:p>
          <a:p>
            <a:pPr marL="355600" marR="5080" indent="-342900">
              <a:buAutoNum type="alphaLcPeriod"/>
            </a:pPr>
            <a:r>
              <a:rPr lang="en-US" sz="1270" kern="0" spc="-80" dirty="0">
                <a:solidFill>
                  <a:schemeClr val="accent2"/>
                </a:solidFill>
              </a:rPr>
              <a:t>Fairness and Bias Mitigation</a:t>
            </a:r>
          </a:p>
          <a:p>
            <a:pPr marL="12700" marR="5080"/>
            <a:r>
              <a:rPr lang="en-US" sz="1270" kern="0" spc="-80" dirty="0">
                <a:solidFill>
                  <a:schemeClr val="accent6"/>
                </a:solidFill>
              </a:rPr>
              <a:t>Algorithmic Bias: When models learn prejudiced correlations from data.</a:t>
            </a:r>
          </a:p>
          <a:p>
            <a:pPr marL="12700" marR="5080"/>
            <a:r>
              <a:rPr lang="en-US" sz="1270" kern="0" spc="-80" dirty="0">
                <a:solidFill>
                  <a:schemeClr val="accent6"/>
                </a:solidFill>
              </a:rPr>
              <a:t>Mitigation Techniques:</a:t>
            </a:r>
          </a:p>
          <a:p>
            <a:pPr marL="12700" marR="5080"/>
            <a:r>
              <a:rPr lang="en-US" sz="1270" kern="0" spc="-80" dirty="0">
                <a:solidFill>
                  <a:schemeClr val="accent6"/>
                </a:solidFill>
              </a:rPr>
              <a:t>Pre-processing (data balancing)</a:t>
            </a:r>
          </a:p>
          <a:p>
            <a:pPr marL="12700" marR="5080"/>
            <a:r>
              <a:rPr lang="en-US" sz="1270" kern="0" spc="-80" dirty="0">
                <a:solidFill>
                  <a:schemeClr val="accent6"/>
                </a:solidFill>
                <a:cs typeface="+mn-cs"/>
              </a:rPr>
              <a:t>In-processing (fair loss functions)</a:t>
            </a:r>
          </a:p>
          <a:p>
            <a:pPr marL="12700" marR="5080"/>
            <a:r>
              <a:rPr lang="en-US" sz="1270" kern="0" spc="-80" dirty="0">
                <a:solidFill>
                  <a:schemeClr val="accent6"/>
                </a:solidFill>
                <a:cs typeface="+mn-cs"/>
              </a:rPr>
              <a:t>Post-processing (equalized outcomes)</a:t>
            </a:r>
          </a:p>
          <a:p>
            <a:pPr marL="12700" marR="5080"/>
            <a:r>
              <a:rPr lang="en-US" sz="1270" kern="0" spc="-80" dirty="0">
                <a:solidFill>
                  <a:schemeClr val="accent2"/>
                </a:solidFill>
                <a:cs typeface="+mn-cs"/>
              </a:rPr>
              <a:t>Metrics:</a:t>
            </a:r>
          </a:p>
          <a:p>
            <a:pPr marL="12700" marR="5080"/>
            <a:r>
              <a:rPr lang="en-US" sz="1270" kern="0" spc="-80" dirty="0">
                <a:solidFill>
                  <a:schemeClr val="accent6"/>
                </a:solidFill>
                <a:cs typeface="+mn-cs"/>
              </a:rPr>
              <a:t>Statistical parity</a:t>
            </a:r>
          </a:p>
          <a:p>
            <a:pPr marL="12700" marR="5080"/>
            <a:r>
              <a:rPr lang="en-US" sz="1270" kern="0" spc="-80" dirty="0">
                <a:solidFill>
                  <a:schemeClr val="accent6"/>
                </a:solidFill>
                <a:cs typeface="+mn-cs"/>
              </a:rPr>
              <a:t>Equal opportunity difference</a:t>
            </a:r>
          </a:p>
          <a:p>
            <a:pPr marL="12700" marR="5080"/>
            <a:r>
              <a:rPr lang="en-US" sz="1270" kern="0" spc="-80" dirty="0">
                <a:solidFill>
                  <a:schemeClr val="accent6"/>
                </a:solidFill>
                <a:cs typeface="+mn-cs"/>
              </a:rPr>
              <a:t>Disparate impact ratio</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b. Explainability (XAI)</a:t>
            </a:r>
          </a:p>
          <a:p>
            <a:pPr marL="12700" marR="5080"/>
            <a:r>
              <a:rPr lang="en-US" sz="1270" kern="0" spc="-80" dirty="0">
                <a:solidFill>
                  <a:schemeClr val="accent6"/>
                </a:solidFill>
                <a:cs typeface="+mn-cs"/>
              </a:rPr>
              <a:t>Goal: Make model reasoning understandable.</a:t>
            </a:r>
          </a:p>
          <a:p>
            <a:pPr marL="12700" marR="5080"/>
            <a:r>
              <a:rPr lang="en-US" sz="1270" kern="0" spc="-80" dirty="0">
                <a:solidFill>
                  <a:schemeClr val="accent2"/>
                </a:solidFill>
                <a:cs typeface="+mn-cs"/>
              </a:rPr>
              <a:t>Techniques:</a:t>
            </a:r>
          </a:p>
          <a:p>
            <a:pPr marL="12700" marR="5080"/>
            <a:r>
              <a:rPr lang="en-US" sz="1270" kern="0" spc="-80" dirty="0">
                <a:solidFill>
                  <a:schemeClr val="accent6"/>
                </a:solidFill>
                <a:cs typeface="+mn-cs"/>
              </a:rPr>
              <a:t>Model-agnostic: LIME, SHAP, Anchors</a:t>
            </a:r>
          </a:p>
          <a:p>
            <a:pPr marL="12700" marR="5080"/>
            <a:r>
              <a:rPr lang="en-US" sz="1270" kern="0" spc="-80" dirty="0">
                <a:solidFill>
                  <a:schemeClr val="accent6"/>
                </a:solidFill>
                <a:cs typeface="+mn-cs"/>
              </a:rPr>
              <a:t>Model-specific: Decision trees, attention maps</a:t>
            </a:r>
          </a:p>
          <a:p>
            <a:pPr marL="12700" marR="5080"/>
            <a:r>
              <a:rPr lang="en-US" sz="1270" kern="0" spc="-80" dirty="0">
                <a:solidFill>
                  <a:schemeClr val="accent6"/>
                </a:solidFill>
                <a:cs typeface="+mn-cs"/>
              </a:rPr>
              <a:t>Explainability trade-off: Accuracy vs interpretability</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c. Privacy and Security</a:t>
            </a:r>
          </a:p>
          <a:p>
            <a:pPr marL="12700" marR="5080"/>
            <a:r>
              <a:rPr lang="en-US" sz="1270" kern="0" spc="-80" dirty="0">
                <a:solidFill>
                  <a:schemeClr val="accent2"/>
                </a:solidFill>
                <a:cs typeface="+mn-cs"/>
              </a:rPr>
              <a:t>Data Privacy:</a:t>
            </a:r>
          </a:p>
          <a:p>
            <a:pPr marL="12700" marR="5080"/>
            <a:r>
              <a:rPr lang="en-US" sz="1270" kern="0" spc="-80" dirty="0">
                <a:solidFill>
                  <a:schemeClr val="accent6"/>
                </a:solidFill>
                <a:cs typeface="+mn-cs"/>
              </a:rPr>
              <a:t>Differential privacy</a:t>
            </a:r>
          </a:p>
          <a:p>
            <a:pPr marL="12700" marR="5080"/>
            <a:r>
              <a:rPr lang="en-US" sz="1270" kern="0" spc="-80" dirty="0">
                <a:solidFill>
                  <a:schemeClr val="accent6"/>
                </a:solidFill>
                <a:cs typeface="+mn-cs"/>
              </a:rPr>
              <a:t>Federated learning</a:t>
            </a:r>
          </a:p>
          <a:p>
            <a:pPr marL="12700" marR="5080"/>
            <a:r>
              <a:rPr lang="en-US" sz="1270" kern="0" spc="-80" dirty="0">
                <a:solidFill>
                  <a:schemeClr val="accent6"/>
                </a:solidFill>
                <a:cs typeface="+mn-cs"/>
              </a:rPr>
              <a:t>Homomorphic encryption</a:t>
            </a:r>
          </a:p>
        </p:txBody>
      </p:sp>
    </p:spTree>
    <p:extLst>
      <p:ext uri="{BB962C8B-B14F-4D97-AF65-F5344CB8AC3E}">
        <p14:creationId xmlns:p14="http://schemas.microsoft.com/office/powerpoint/2010/main" val="8960187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68DE9-BFAC-48EF-C208-68DCB7734C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5BAFC6-0043-0945-3822-55D3FDDEEF3A}"/>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A78E82A-D55A-43B0-107B-2E97A9C76727}"/>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4BE53F0-7121-E204-D7DB-92837EDE8C31}"/>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BEEFD22-4F67-034E-594C-A068F86D09D0}"/>
              </a:ext>
            </a:extLst>
          </p:cNvPr>
          <p:cNvGraphicFramePr/>
          <p:nvPr>
            <p:extLst>
              <p:ext uri="{D42A27DB-BD31-4B8C-83A1-F6EECF244321}">
                <p14:modId xmlns:p14="http://schemas.microsoft.com/office/powerpoint/2010/main" val="3737633716"/>
              </p:ext>
            </p:extLst>
          </p:nvPr>
        </p:nvGraphicFramePr>
        <p:xfrm>
          <a:off x="0" y="-123635"/>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B85E517E-8C33-A59C-023F-39D064461883}"/>
              </a:ext>
            </a:extLst>
          </p:cNvPr>
          <p:cNvSpPr txBox="1">
            <a:spLocks/>
          </p:cNvSpPr>
          <p:nvPr/>
        </p:nvSpPr>
        <p:spPr>
          <a:xfrm>
            <a:off x="41725" y="1128615"/>
            <a:ext cx="8624937" cy="48859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Security Risks:</a:t>
            </a:r>
          </a:p>
          <a:p>
            <a:pPr marL="12700" marR="5080"/>
            <a:r>
              <a:rPr lang="en-US" sz="1270" kern="0" spc="-80" dirty="0">
                <a:solidFill>
                  <a:schemeClr val="accent6"/>
                </a:solidFill>
              </a:rPr>
              <a:t>Data poisoning</a:t>
            </a:r>
          </a:p>
          <a:p>
            <a:pPr marL="12700" marR="5080"/>
            <a:r>
              <a:rPr lang="en-US" sz="1270" kern="0" spc="-80" dirty="0">
                <a:solidFill>
                  <a:schemeClr val="accent6"/>
                </a:solidFill>
              </a:rPr>
              <a:t>Model inversion</a:t>
            </a:r>
          </a:p>
          <a:p>
            <a:pPr marL="12700" marR="5080"/>
            <a:r>
              <a:rPr lang="en-US" sz="1270" kern="0" spc="-80" dirty="0">
                <a:solidFill>
                  <a:schemeClr val="accent6"/>
                </a:solidFill>
              </a:rPr>
              <a:t>Adversarial attacks</a:t>
            </a:r>
          </a:p>
          <a:p>
            <a:pPr marL="12700" marR="5080"/>
            <a:r>
              <a:rPr lang="en-US" sz="1270" kern="0" spc="-80" dirty="0">
                <a:solidFill>
                  <a:schemeClr val="accent2"/>
                </a:solidFill>
              </a:rPr>
              <a:t>d. Accountability and Governance</a:t>
            </a:r>
          </a:p>
          <a:p>
            <a:pPr marL="12700" marR="5080"/>
            <a:r>
              <a:rPr lang="en-US" sz="1270" kern="0" spc="-80" dirty="0">
                <a:solidFill>
                  <a:schemeClr val="accent6"/>
                </a:solidFill>
              </a:rPr>
              <a:t>Assign roles: developer, data owner, auditor</a:t>
            </a:r>
          </a:p>
          <a:p>
            <a:pPr marL="12700" marR="5080"/>
            <a:r>
              <a:rPr lang="en-US" sz="1270" kern="0" spc="-80" dirty="0">
                <a:solidFill>
                  <a:schemeClr val="accent6"/>
                </a:solidFill>
              </a:rPr>
              <a:t>Maintain audit trails for data and decisions</a:t>
            </a:r>
          </a:p>
          <a:p>
            <a:pPr marL="12700" marR="5080"/>
            <a:r>
              <a:rPr lang="en-US" sz="1270" kern="0" spc="-80" dirty="0">
                <a:solidFill>
                  <a:schemeClr val="accent6"/>
                </a:solidFill>
              </a:rPr>
              <a:t>Use model cards and data sheets for documentation</a:t>
            </a:r>
          </a:p>
          <a:p>
            <a:pPr marL="12700" marR="5080"/>
            <a:r>
              <a:rPr lang="en-US" sz="1270" kern="0" spc="-80" dirty="0">
                <a:solidFill>
                  <a:schemeClr val="accent6"/>
                </a:solidFill>
              </a:rPr>
              <a:t>Introduce AI risk management processes</a:t>
            </a:r>
          </a:p>
          <a:p>
            <a:pPr marL="12700" marR="5080"/>
            <a:r>
              <a:rPr lang="en-US" sz="1270" kern="0" spc="-80" dirty="0">
                <a:solidFill>
                  <a:schemeClr val="accent2"/>
                </a:solidFill>
                <a:cs typeface="+mn-cs"/>
              </a:rPr>
              <a:t>e. Human Oversight</a:t>
            </a:r>
          </a:p>
          <a:p>
            <a:pPr marL="12700" marR="5080"/>
            <a:r>
              <a:rPr lang="en-US" sz="1270" kern="0" spc="-80" dirty="0">
                <a:solidFill>
                  <a:schemeClr val="accent6"/>
                </a:solidFill>
                <a:cs typeface="+mn-cs"/>
              </a:rPr>
              <a:t>Human-in-the-loop (HITL) or human-on-the-loop (HOTL) design</a:t>
            </a:r>
          </a:p>
          <a:p>
            <a:pPr marL="12700" marR="5080"/>
            <a:r>
              <a:rPr lang="en-US" sz="1270" kern="0" spc="-80" dirty="0">
                <a:solidFill>
                  <a:schemeClr val="accent6"/>
                </a:solidFill>
                <a:cs typeface="+mn-cs"/>
              </a:rPr>
              <a:t>Escalation mechanisms for uncertain or critical decisions</a:t>
            </a:r>
          </a:p>
          <a:p>
            <a:pPr marL="12700" marR="5080"/>
            <a:r>
              <a:rPr lang="en-US" sz="1270" kern="0" spc="-80" dirty="0">
                <a:solidFill>
                  <a:schemeClr val="accent6"/>
                </a:solidFill>
                <a:cs typeface="+mn-cs"/>
              </a:rPr>
              <a:t>Human override capability in autonomous systems</a:t>
            </a:r>
          </a:p>
          <a:p>
            <a:pPr marL="12700" marR="5080"/>
            <a:r>
              <a:rPr lang="en-US" sz="1270" kern="0" spc="-80" dirty="0">
                <a:solidFill>
                  <a:schemeClr val="accent2"/>
                </a:solidFill>
                <a:cs typeface="+mn-cs"/>
              </a:rPr>
              <a:t>f. Environmental and Social Responsibility</a:t>
            </a:r>
          </a:p>
          <a:p>
            <a:pPr marL="12700" marR="5080"/>
            <a:r>
              <a:rPr lang="en-US" sz="1270" kern="0" spc="-80" dirty="0">
                <a:solidFill>
                  <a:schemeClr val="accent6"/>
                </a:solidFill>
                <a:cs typeface="+mn-cs"/>
              </a:rPr>
              <a:t>Track and minimize carbon footprint of model training</a:t>
            </a:r>
          </a:p>
          <a:p>
            <a:pPr marL="12700" marR="5080"/>
            <a:r>
              <a:rPr lang="en-US" sz="1270" kern="0" spc="-80" dirty="0">
                <a:solidFill>
                  <a:schemeClr val="accent6"/>
                </a:solidFill>
                <a:cs typeface="+mn-cs"/>
              </a:rPr>
              <a:t>Use green AI principles (energy efficiency, smaller models)Assess societal impact: accessibility, inequality, misinformation</a:t>
            </a:r>
          </a:p>
          <a:p>
            <a:pPr marL="12700" marR="5080"/>
            <a:endParaRPr lang="en-US" sz="1270" kern="0" spc="-80" dirty="0">
              <a:solidFill>
                <a:schemeClr val="accent6"/>
              </a:solidFill>
              <a:cs typeface="+mn-cs"/>
            </a:endParaRPr>
          </a:p>
          <a:p>
            <a:pPr marL="12700" marR="5080"/>
            <a:r>
              <a:rPr lang="en-US" sz="1270" kern="0" spc="-80" dirty="0">
                <a:solidFill>
                  <a:schemeClr val="accent2"/>
                </a:solidFill>
                <a:cs typeface="+mn-cs"/>
              </a:rPr>
              <a:t>🧮 5. Responsible AI Across the Lifecycle</a:t>
            </a:r>
          </a:p>
          <a:p>
            <a:pPr marL="12700" marR="5080"/>
            <a:r>
              <a:rPr lang="en-US" sz="1270" kern="0" spc="-80" dirty="0">
                <a:solidFill>
                  <a:schemeClr val="accent2"/>
                </a:solidFill>
                <a:cs typeface="+mn-cs"/>
              </a:rPr>
              <a:t>AI Lifecycle Stage: </a:t>
            </a:r>
            <a:r>
              <a:rPr lang="en-US" sz="1270" kern="0" spc="-80" dirty="0">
                <a:solidFill>
                  <a:schemeClr val="accent6"/>
                </a:solidFill>
                <a:cs typeface="+mn-cs"/>
              </a:rPr>
              <a:t>RAI Actions</a:t>
            </a:r>
          </a:p>
          <a:p>
            <a:pPr marL="12700" marR="5080"/>
            <a:r>
              <a:rPr lang="en-US" sz="1270" kern="0" spc="-80" dirty="0">
                <a:solidFill>
                  <a:schemeClr val="accent2"/>
                </a:solidFill>
                <a:cs typeface="+mn-cs"/>
              </a:rPr>
              <a:t>Data Collection :</a:t>
            </a:r>
            <a:r>
              <a:rPr lang="en-US" sz="1270" kern="0" spc="-80" dirty="0">
                <a:solidFill>
                  <a:schemeClr val="accent6"/>
                </a:solidFill>
                <a:cs typeface="+mn-cs"/>
              </a:rPr>
              <a:t> Source diversity, consent, anonymization</a:t>
            </a:r>
          </a:p>
          <a:p>
            <a:pPr marL="12700" marR="5080"/>
            <a:r>
              <a:rPr lang="en-US" sz="1270" kern="0" spc="-80" dirty="0">
                <a:solidFill>
                  <a:schemeClr val="accent2"/>
                </a:solidFill>
                <a:cs typeface="+mn-cs"/>
              </a:rPr>
              <a:t>Data Preparation: </a:t>
            </a:r>
            <a:r>
              <a:rPr lang="en-US" sz="1270" kern="0" spc="-80" dirty="0">
                <a:solidFill>
                  <a:schemeClr val="accent6"/>
                </a:solidFill>
                <a:cs typeface="+mn-cs"/>
              </a:rPr>
              <a:t>Bias detection, synthetic data balancing</a:t>
            </a:r>
          </a:p>
          <a:p>
            <a:pPr marL="12700" marR="5080"/>
            <a:r>
              <a:rPr lang="en-US" sz="1270" kern="0" spc="-80" dirty="0">
                <a:solidFill>
                  <a:schemeClr val="accent2"/>
                </a:solidFill>
                <a:cs typeface="+mn-cs"/>
              </a:rPr>
              <a:t>Model Training: </a:t>
            </a:r>
            <a:r>
              <a:rPr lang="en-US" sz="1270" kern="0" spc="-80" dirty="0">
                <a:solidFill>
                  <a:schemeClr val="accent6"/>
                </a:solidFill>
                <a:cs typeface="+mn-cs"/>
              </a:rPr>
              <a:t>Fairness constraints, robust evaluation</a:t>
            </a:r>
          </a:p>
          <a:p>
            <a:pPr marL="12700" marR="5080"/>
            <a:r>
              <a:rPr lang="en-US" sz="1270" kern="0" spc="-80" dirty="0">
                <a:solidFill>
                  <a:schemeClr val="accent2"/>
                </a:solidFill>
                <a:cs typeface="+mn-cs"/>
              </a:rPr>
              <a:t>Validation: </a:t>
            </a:r>
            <a:r>
              <a:rPr lang="en-US" sz="1270" kern="0" spc="-80" dirty="0">
                <a:solidFill>
                  <a:schemeClr val="accent6"/>
                </a:solidFill>
                <a:cs typeface="+mn-cs"/>
              </a:rPr>
              <a:t>Testing for edge cases, adversarial robustness</a:t>
            </a:r>
          </a:p>
          <a:p>
            <a:pPr marL="12700" marR="5080"/>
            <a:r>
              <a:rPr lang="en-US" sz="1270" kern="0" spc="-80" dirty="0">
                <a:solidFill>
                  <a:schemeClr val="accent2"/>
                </a:solidFill>
                <a:cs typeface="+mn-cs"/>
              </a:rPr>
              <a:t>Deployment: </a:t>
            </a:r>
            <a:r>
              <a:rPr lang="en-US" sz="1270" kern="0" spc="-80" dirty="0">
                <a:solidFill>
                  <a:schemeClr val="accent6"/>
                </a:solidFill>
                <a:cs typeface="+mn-cs"/>
              </a:rPr>
              <a:t>Explainable dashboards, human-in-loop mechanisms</a:t>
            </a:r>
          </a:p>
        </p:txBody>
      </p:sp>
    </p:spTree>
    <p:extLst>
      <p:ext uri="{BB962C8B-B14F-4D97-AF65-F5344CB8AC3E}">
        <p14:creationId xmlns:p14="http://schemas.microsoft.com/office/powerpoint/2010/main" val="1581874267"/>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A10D8-4671-BFFC-61BC-52554E7CAD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137A18-C99D-9CFB-ABBA-E2C64567D54F}"/>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DDB3DFE-1925-F354-E15C-723AF355EBA4}"/>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E1B646D3-3D22-0A4A-1738-B2FC73CC18D0}"/>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8DED7D2-5A95-5B46-CC3C-7326CE3909A0}"/>
              </a:ext>
            </a:extLst>
          </p:cNvPr>
          <p:cNvGraphicFramePr/>
          <p:nvPr>
            <p:extLst>
              <p:ext uri="{D42A27DB-BD31-4B8C-83A1-F6EECF244321}">
                <p14:modId xmlns:p14="http://schemas.microsoft.com/office/powerpoint/2010/main" val="3394676061"/>
              </p:ext>
            </p:extLst>
          </p:nvPr>
        </p:nvGraphicFramePr>
        <p:xfrm>
          <a:off x="0" y="-15327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B9179B24-E210-BA2F-1D10-423B9F5294B1}"/>
              </a:ext>
            </a:extLst>
          </p:cNvPr>
          <p:cNvSpPr txBox="1">
            <a:spLocks/>
          </p:cNvSpPr>
          <p:nvPr/>
        </p:nvSpPr>
        <p:spPr>
          <a:xfrm>
            <a:off x="41725" y="1128615"/>
            <a:ext cx="8624937" cy="44950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Monitoring:</a:t>
            </a:r>
            <a:r>
              <a:rPr lang="en-US" sz="1270" kern="0" spc="-80" dirty="0">
                <a:solidFill>
                  <a:schemeClr val="accent6"/>
                </a:solidFill>
              </a:rPr>
              <a:t> Drift detection, ongoing fairness checks</a:t>
            </a:r>
          </a:p>
          <a:p>
            <a:pPr marL="12700" marR="5080"/>
            <a:r>
              <a:rPr lang="en-US" sz="1270" kern="0" spc="-80" dirty="0">
                <a:solidFill>
                  <a:schemeClr val="accent2"/>
                </a:solidFill>
              </a:rPr>
              <a:t>Retirement:	</a:t>
            </a:r>
            <a:r>
              <a:rPr lang="en-US" sz="1270" kern="0" spc="-80" dirty="0">
                <a:solidFill>
                  <a:schemeClr val="accent6"/>
                </a:solidFill>
              </a:rPr>
              <a:t>Secure decommissioning, transparency of lifecycle</a:t>
            </a:r>
          </a:p>
          <a:p>
            <a:pPr marL="12700" marR="5080"/>
            <a:endParaRPr lang="en-US" sz="1270" kern="0" spc="-80" dirty="0">
              <a:solidFill>
                <a:schemeClr val="accent6"/>
              </a:solidFill>
            </a:endParaRPr>
          </a:p>
          <a:p>
            <a:pPr marL="12700" marR="5080"/>
            <a:r>
              <a:rPr lang="en-US" sz="1270" kern="0" spc="-80" dirty="0">
                <a:solidFill>
                  <a:schemeClr val="accent2"/>
                </a:solidFill>
              </a:rPr>
              <a:t>🧰 6. Responsible AI Frameworks &amp; Tools</a:t>
            </a:r>
          </a:p>
          <a:p>
            <a:pPr marL="12700" marR="5080"/>
            <a:r>
              <a:rPr lang="en-US" sz="1270" kern="0" spc="-80" dirty="0">
                <a:solidFill>
                  <a:schemeClr val="accent6"/>
                </a:solidFill>
              </a:rPr>
              <a:t>Framework	Description	Provided by Microsoft </a:t>
            </a:r>
          </a:p>
          <a:p>
            <a:pPr marL="12700" marR="5080"/>
            <a:r>
              <a:rPr lang="en-US" sz="1270" kern="0" spc="-80" dirty="0">
                <a:solidFill>
                  <a:schemeClr val="accent6"/>
                </a:solidFill>
              </a:rPr>
              <a:t>Responsible AI Standard	Governance model for AI ethics	</a:t>
            </a:r>
          </a:p>
          <a:p>
            <a:pPr marL="12700" marR="5080"/>
            <a:r>
              <a:rPr lang="en-US" sz="1270" kern="0" spc="-80" dirty="0">
                <a:solidFill>
                  <a:schemeClr val="accent6"/>
                </a:solidFill>
              </a:rPr>
              <a:t>Microsoft/Google Responsible AI Practices	</a:t>
            </a:r>
          </a:p>
          <a:p>
            <a:pPr marL="12700" marR="5080"/>
            <a:r>
              <a:rPr lang="en-US" sz="1270" kern="0" spc="-80" dirty="0">
                <a:solidFill>
                  <a:schemeClr val="accent6"/>
                </a:solidFill>
              </a:rPr>
              <a:t>Principles for fairness, interpretability, privacy	</a:t>
            </a:r>
          </a:p>
          <a:p>
            <a:pPr marL="12700" marR="5080"/>
            <a:r>
              <a:rPr lang="en-US" sz="1270" kern="0" spc="-80" dirty="0">
                <a:solidFill>
                  <a:schemeClr val="accent6"/>
                </a:solidFill>
              </a:rPr>
              <a:t>Google/IBM AI Fairness 360 (AIF360)	</a:t>
            </a:r>
          </a:p>
          <a:p>
            <a:pPr marL="12700" marR="5080"/>
            <a:r>
              <a:rPr lang="en-US" sz="1270" kern="0" spc="-80" dirty="0">
                <a:solidFill>
                  <a:schemeClr val="accent6"/>
                </a:solidFill>
              </a:rPr>
              <a:t>Open-source bias detection toolkit	</a:t>
            </a:r>
          </a:p>
          <a:p>
            <a:pPr marL="12700" marR="5080"/>
            <a:r>
              <a:rPr lang="en-US" sz="1270" kern="0" spc="-80" dirty="0">
                <a:solidFill>
                  <a:schemeClr val="accent6"/>
                </a:solidFill>
              </a:rPr>
              <a:t>IBM AI Explainability 360 (AIX360)  Explainability tools	</a:t>
            </a:r>
          </a:p>
          <a:p>
            <a:pPr marL="12700" marR="5080"/>
            <a:r>
              <a:rPr lang="en-US" sz="1270" kern="0" spc="-80" dirty="0">
                <a:solidFill>
                  <a:schemeClr val="accent6"/>
                </a:solidFill>
              </a:rPr>
              <a:t>IBM </a:t>
            </a:r>
            <a:r>
              <a:rPr lang="en-US" sz="1270" kern="0" spc="-80" dirty="0" err="1">
                <a:solidFill>
                  <a:schemeClr val="accent6"/>
                </a:solidFill>
              </a:rPr>
              <a:t>Fairlearn</a:t>
            </a:r>
            <a:r>
              <a:rPr lang="en-US" sz="1270" kern="0" spc="-80" dirty="0">
                <a:solidFill>
                  <a:schemeClr val="accent6"/>
                </a:solidFill>
              </a:rPr>
              <a:t> Fairness metrics and mitigation	</a:t>
            </a:r>
          </a:p>
          <a:p>
            <a:pPr marL="12700" marR="5080"/>
            <a:r>
              <a:rPr lang="en-US" sz="1270" kern="0" spc="-80" dirty="0">
                <a:solidFill>
                  <a:schemeClr val="accent6"/>
                </a:solidFill>
              </a:rPr>
              <a:t>Microsoft Ethics Guidelines for Trustworthy AI	</a:t>
            </a:r>
          </a:p>
          <a:p>
            <a:pPr marL="12700" marR="5080"/>
            <a:r>
              <a:rPr lang="en-US" sz="1270" kern="0" spc="-80" dirty="0">
                <a:solidFill>
                  <a:schemeClr val="accent6"/>
                </a:solidFill>
              </a:rPr>
              <a:t>EU AI ethical guidelines European Commission</a:t>
            </a:r>
          </a:p>
          <a:p>
            <a:pPr marL="12700" marR="5080"/>
            <a:r>
              <a:rPr lang="en-US" sz="1270" kern="0" spc="-80" dirty="0">
                <a:solidFill>
                  <a:schemeClr val="accent6"/>
                </a:solidFill>
              </a:rPr>
              <a:t>NIST AI Risk Management Framework (RMF)	</a:t>
            </a:r>
          </a:p>
          <a:p>
            <a:pPr marL="12700" marR="5080"/>
            <a:r>
              <a:rPr lang="en-US" sz="1270" kern="0" spc="-80" dirty="0">
                <a:solidFill>
                  <a:schemeClr val="accent6"/>
                </a:solidFill>
              </a:rPr>
              <a:t>U.S. standard for AI risk and governance	</a:t>
            </a:r>
          </a:p>
          <a:p>
            <a:pPr marL="12700" marR="5080"/>
            <a:endParaRPr lang="en-US" sz="1270" kern="0" spc="-80" dirty="0">
              <a:solidFill>
                <a:schemeClr val="accent6"/>
              </a:solidFill>
            </a:endParaRPr>
          </a:p>
          <a:p>
            <a:pPr marL="12700" marR="5080"/>
            <a:r>
              <a:rPr lang="en-US" sz="1270" kern="0" spc="-80" dirty="0">
                <a:solidFill>
                  <a:schemeClr val="accent2"/>
                </a:solidFill>
              </a:rPr>
              <a:t>🧭 7. Governance, Regulation, and Standards</a:t>
            </a:r>
          </a:p>
          <a:p>
            <a:pPr marL="12700" marR="5080"/>
            <a:r>
              <a:rPr lang="en-US" sz="1270" kern="0" spc="-80" dirty="0">
                <a:solidFill>
                  <a:schemeClr val="accent2"/>
                </a:solidFill>
              </a:rPr>
              <a:t>7.1 Regulatory </a:t>
            </a:r>
            <a:r>
              <a:rPr lang="en-US" sz="1270" kern="0" spc="-80" dirty="0" err="1">
                <a:solidFill>
                  <a:schemeClr val="accent2"/>
                </a:solidFill>
              </a:rPr>
              <a:t>FrameworksEU</a:t>
            </a:r>
            <a:r>
              <a:rPr lang="en-US" sz="1270" kern="0" spc="-80" dirty="0">
                <a:solidFill>
                  <a:schemeClr val="accent2"/>
                </a:solidFill>
              </a:rPr>
              <a:t> AI Act (2024): </a:t>
            </a:r>
          </a:p>
          <a:p>
            <a:pPr marL="12700" marR="5080"/>
            <a:r>
              <a:rPr lang="en-US" sz="1270" kern="0" spc="-80" dirty="0">
                <a:solidFill>
                  <a:schemeClr val="accent6"/>
                </a:solidFill>
              </a:rPr>
              <a:t>Classifies AI risk levels; mandates audits for high-risk systems.</a:t>
            </a:r>
          </a:p>
          <a:p>
            <a:pPr marL="12700" marR="5080"/>
            <a:r>
              <a:rPr lang="en-US" sz="1270" kern="0" spc="-80" dirty="0">
                <a:solidFill>
                  <a:schemeClr val="accent6"/>
                </a:solidFill>
              </a:rPr>
              <a:t>OECD AI Principles: International ethical AI standards.</a:t>
            </a:r>
          </a:p>
          <a:p>
            <a:pPr marL="12700" marR="5080"/>
            <a:r>
              <a:rPr lang="en-US" sz="1270" kern="0" spc="-80" dirty="0">
                <a:solidFill>
                  <a:schemeClr val="accent6"/>
                </a:solidFill>
              </a:rPr>
              <a:t>UNESCO Recommendation on AI Ethics: Global ethical governance blueprint.</a:t>
            </a:r>
          </a:p>
          <a:p>
            <a:pPr marL="12700" marR="5080"/>
            <a:r>
              <a:rPr lang="en-US" sz="1270" kern="0" spc="-80" dirty="0">
                <a:solidFill>
                  <a:schemeClr val="accent6"/>
                </a:solidFill>
              </a:rPr>
              <a:t>India’s Approach (NITI Aayog’s #AIforAll): Emphasizes inclusion and human-centric AI.</a:t>
            </a:r>
          </a:p>
        </p:txBody>
      </p:sp>
    </p:spTree>
    <p:extLst>
      <p:ext uri="{BB962C8B-B14F-4D97-AF65-F5344CB8AC3E}">
        <p14:creationId xmlns:p14="http://schemas.microsoft.com/office/powerpoint/2010/main" val="169435035"/>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0C84-12F4-DB24-7C95-36E55ECAFC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710E8F-9E39-11CA-83B1-8666A4E6DA9B}"/>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4538A18-5B9C-909E-2504-951CBF129637}"/>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3034C38-5EB4-178A-2B29-49FAEAA2130B}"/>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EF2B914-B14A-A861-B553-AFC7BAE9FA45}"/>
              </a:ext>
            </a:extLst>
          </p:cNvPr>
          <p:cNvGraphicFramePr/>
          <p:nvPr>
            <p:extLst>
              <p:ext uri="{D42A27DB-BD31-4B8C-83A1-F6EECF244321}">
                <p14:modId xmlns:p14="http://schemas.microsoft.com/office/powerpoint/2010/main" val="3854219872"/>
              </p:ext>
            </p:extLst>
          </p:nvPr>
        </p:nvGraphicFramePr>
        <p:xfrm>
          <a:off x="0" y="-14954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4CB637D9-AB0F-E9FC-C9B6-B48EEFB8B2DE}"/>
              </a:ext>
            </a:extLst>
          </p:cNvPr>
          <p:cNvSpPr txBox="1">
            <a:spLocks/>
          </p:cNvSpPr>
          <p:nvPr/>
        </p:nvSpPr>
        <p:spPr>
          <a:xfrm>
            <a:off x="41725" y="1128615"/>
            <a:ext cx="8624937" cy="48859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7.2 Internal Governance</a:t>
            </a:r>
          </a:p>
          <a:p>
            <a:pPr marL="12700" marR="5080"/>
            <a:r>
              <a:rPr lang="en-US" sz="1270" kern="0" spc="-80" dirty="0">
                <a:solidFill>
                  <a:schemeClr val="accent6"/>
                </a:solidFill>
              </a:rPr>
              <a:t>Establish Responsible AI boards</a:t>
            </a:r>
          </a:p>
          <a:p>
            <a:pPr marL="12700" marR="5080"/>
            <a:r>
              <a:rPr lang="en-US" sz="1270" kern="0" spc="-80" dirty="0">
                <a:solidFill>
                  <a:schemeClr val="accent6"/>
                </a:solidFill>
              </a:rPr>
              <a:t>Maintain Model Risk </a:t>
            </a:r>
          </a:p>
          <a:p>
            <a:pPr marL="12700" marR="5080"/>
            <a:r>
              <a:rPr lang="en-US" sz="1270" kern="0" spc="-80" dirty="0">
                <a:solidFill>
                  <a:schemeClr val="accent6"/>
                </a:solidFill>
              </a:rPr>
              <a:t>Management (MRM) structures</a:t>
            </a:r>
          </a:p>
          <a:p>
            <a:pPr marL="12700" marR="5080"/>
            <a:r>
              <a:rPr lang="en-US" sz="1270" kern="0" spc="-80" dirty="0">
                <a:solidFill>
                  <a:schemeClr val="accent6"/>
                </a:solidFill>
              </a:rPr>
              <a:t>Create AI ethics scorecards for ongoing evaluation</a:t>
            </a:r>
          </a:p>
          <a:p>
            <a:pPr marL="12700" marR="5080"/>
            <a:endParaRPr lang="en-US" sz="1270" kern="0" spc="-80" dirty="0">
              <a:solidFill>
                <a:schemeClr val="accent6"/>
              </a:solidFill>
            </a:endParaRPr>
          </a:p>
          <a:p>
            <a:pPr marL="12700" marR="5080"/>
            <a:r>
              <a:rPr lang="en-US" sz="1270" kern="0" spc="-80" dirty="0">
                <a:solidFill>
                  <a:schemeClr val="accent2"/>
                </a:solidFill>
              </a:rPr>
              <a:t>🧠 8. Key Technical Topics in RAI </a:t>
            </a:r>
          </a:p>
          <a:p>
            <a:pPr marL="12700" marR="5080"/>
            <a:r>
              <a:rPr lang="en-US" sz="1270" kern="0" spc="-80" dirty="0" err="1">
                <a:solidFill>
                  <a:schemeClr val="accent6"/>
                </a:solidFill>
              </a:rPr>
              <a:t>ResearchAreocus</a:t>
            </a:r>
            <a:r>
              <a:rPr lang="en-US" sz="1270" kern="0" spc="-80" dirty="0">
                <a:solidFill>
                  <a:schemeClr val="accent6"/>
                </a:solidFill>
              </a:rPr>
              <a:t> Causal Fairness	</a:t>
            </a:r>
          </a:p>
          <a:p>
            <a:pPr marL="12700" marR="5080"/>
            <a:r>
              <a:rPr lang="en-US" sz="1270" kern="0" spc="-80" dirty="0">
                <a:solidFill>
                  <a:schemeClr val="accent6"/>
                </a:solidFill>
              </a:rPr>
              <a:t>Ensuring fairness through causal inference rather than correlation</a:t>
            </a:r>
          </a:p>
          <a:p>
            <a:pPr marL="12700" marR="5080"/>
            <a:r>
              <a:rPr lang="en-US" sz="1270" kern="0" spc="-80" dirty="0">
                <a:solidFill>
                  <a:schemeClr val="accent6"/>
                </a:solidFill>
              </a:rPr>
              <a:t>Value Alignment	</a:t>
            </a:r>
          </a:p>
          <a:p>
            <a:pPr marL="12700" marR="5080"/>
            <a:r>
              <a:rPr lang="en-US" sz="1270" kern="0" spc="-80" dirty="0">
                <a:solidFill>
                  <a:schemeClr val="accent6"/>
                </a:solidFill>
              </a:rPr>
              <a:t>Aligning model goals with human intentions</a:t>
            </a:r>
          </a:p>
          <a:p>
            <a:pPr marL="12700" marR="5080"/>
            <a:r>
              <a:rPr lang="en-US" sz="1270" kern="0" spc="-80" dirty="0">
                <a:solidFill>
                  <a:schemeClr val="accent6"/>
                </a:solidFill>
              </a:rPr>
              <a:t>Interpretability in Deep Models	</a:t>
            </a:r>
          </a:p>
          <a:p>
            <a:pPr marL="12700" marR="5080"/>
            <a:r>
              <a:rPr lang="en-US" sz="1270" kern="0" spc="-80" dirty="0">
                <a:solidFill>
                  <a:schemeClr val="accent6"/>
                </a:solidFill>
              </a:rPr>
              <a:t>Understanding large model internals</a:t>
            </a:r>
          </a:p>
          <a:p>
            <a:pPr marL="12700" marR="5080"/>
            <a:r>
              <a:rPr lang="en-US" sz="1270" kern="0" spc="-80" dirty="0">
                <a:solidFill>
                  <a:schemeClr val="accent6"/>
                </a:solidFill>
              </a:rPr>
              <a:t>Ethical Reinforcement Learning	</a:t>
            </a:r>
          </a:p>
          <a:p>
            <a:pPr marL="12700" marR="5080"/>
            <a:r>
              <a:rPr lang="en-US" sz="1270" kern="0" spc="-80" dirty="0">
                <a:solidFill>
                  <a:schemeClr val="accent6"/>
                </a:solidFill>
              </a:rPr>
              <a:t>Reward shaping with ethical constraints</a:t>
            </a:r>
          </a:p>
          <a:p>
            <a:pPr marL="12700" marR="5080"/>
            <a:r>
              <a:rPr lang="en-US" sz="1270" kern="0" spc="-80" dirty="0">
                <a:solidFill>
                  <a:schemeClr val="accent6"/>
                </a:solidFill>
              </a:rPr>
              <a:t>Responsible Generative AI	</a:t>
            </a:r>
          </a:p>
          <a:p>
            <a:pPr marL="12700" marR="5080"/>
            <a:r>
              <a:rPr lang="en-US" sz="1270" kern="0" spc="-80" dirty="0">
                <a:solidFill>
                  <a:schemeClr val="accent6"/>
                </a:solidFill>
              </a:rPr>
              <a:t>Mitigating misinformation, hallucination, and deepfake risks</a:t>
            </a:r>
          </a:p>
          <a:p>
            <a:pPr marL="12700" marR="5080"/>
            <a:endParaRPr lang="en-US" sz="1270" kern="0" spc="-80" dirty="0">
              <a:solidFill>
                <a:schemeClr val="accent6"/>
              </a:solidFill>
            </a:endParaRPr>
          </a:p>
          <a:p>
            <a:pPr marL="12700" marR="5080"/>
            <a:r>
              <a:rPr lang="en-US" sz="1270" kern="0" spc="-80" dirty="0">
                <a:solidFill>
                  <a:schemeClr val="accent2"/>
                </a:solidFill>
              </a:rPr>
              <a:t>🛡️ 9. Challenges in Responsible AI </a:t>
            </a:r>
          </a:p>
          <a:p>
            <a:pPr marL="12700" marR="5080"/>
            <a:r>
              <a:rPr lang="en-US" sz="1270" kern="0" spc="-80" dirty="0">
                <a:solidFill>
                  <a:schemeClr val="accent6"/>
                </a:solidFill>
              </a:rPr>
              <a:t>Implementation Trade-offs: Fairness vs accuracy, privacy vs personalization</a:t>
            </a:r>
          </a:p>
          <a:p>
            <a:pPr marL="12700" marR="5080"/>
            <a:r>
              <a:rPr lang="en-US" sz="1270" kern="0" spc="-80" dirty="0">
                <a:solidFill>
                  <a:schemeClr val="accent6"/>
                </a:solidFill>
              </a:rPr>
              <a:t>Lack of interpretability in deep models</a:t>
            </a:r>
          </a:p>
          <a:p>
            <a:pPr marL="12700" marR="5080"/>
            <a:r>
              <a:rPr lang="en-US" sz="1270" kern="0" spc="-80" dirty="0">
                <a:solidFill>
                  <a:schemeClr val="accent6"/>
                </a:solidFill>
              </a:rPr>
              <a:t>Dynamic bias from model drift</a:t>
            </a:r>
          </a:p>
          <a:p>
            <a:pPr marL="12700" marR="5080"/>
            <a:r>
              <a:rPr lang="en-US" sz="1270" kern="0" spc="-80" dirty="0">
                <a:solidFill>
                  <a:schemeClr val="accent6"/>
                </a:solidFill>
              </a:rPr>
              <a:t>Accountability gaps in multi-agent or distributed systems</a:t>
            </a:r>
          </a:p>
          <a:p>
            <a:pPr marL="12700" marR="5080"/>
            <a:r>
              <a:rPr lang="en-US" sz="1270" kern="0" spc="-80" dirty="0">
                <a:solidFill>
                  <a:schemeClr val="accent6"/>
                </a:solidFill>
              </a:rPr>
              <a:t>Cross-cultural ethics: what’s “fair” differs across societies</a:t>
            </a:r>
          </a:p>
          <a:p>
            <a:pPr marL="12700" marR="5080"/>
            <a:endParaRPr lang="en-US" sz="1270" kern="0" spc="-80" dirty="0">
              <a:solidFill>
                <a:schemeClr val="accent6"/>
              </a:solidFill>
            </a:endParaRPr>
          </a:p>
        </p:txBody>
      </p:sp>
    </p:spTree>
    <p:extLst>
      <p:ext uri="{BB962C8B-B14F-4D97-AF65-F5344CB8AC3E}">
        <p14:creationId xmlns:p14="http://schemas.microsoft.com/office/powerpoint/2010/main" val="1270786631"/>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F9084-D537-9D2F-72ED-591521B885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8EDC2D-138C-692E-2BD1-57CD39F7622E}"/>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CC453EF-D0FE-2FCC-BF6A-43722AA5DBCE}"/>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DEF5D44-FA81-B32D-C993-44684283B380}"/>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C4C9A13B-A2FC-B5DF-82C6-D4891EF68AB2}"/>
              </a:ext>
            </a:extLst>
          </p:cNvPr>
          <p:cNvGraphicFramePr/>
          <p:nvPr>
            <p:extLst>
              <p:ext uri="{D42A27DB-BD31-4B8C-83A1-F6EECF244321}">
                <p14:modId xmlns:p14="http://schemas.microsoft.com/office/powerpoint/2010/main" val="2366073204"/>
              </p:ext>
            </p:extLst>
          </p:nvPr>
        </p:nvGraphicFramePr>
        <p:xfrm>
          <a:off x="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D01256F5-27DD-A069-7724-D595CBF5AED8}"/>
              </a:ext>
            </a:extLst>
          </p:cNvPr>
          <p:cNvSpPr txBox="1">
            <a:spLocks/>
          </p:cNvSpPr>
          <p:nvPr/>
        </p:nvSpPr>
        <p:spPr>
          <a:xfrm>
            <a:off x="41725" y="1128615"/>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 10. Future Directions in Responsible AI</a:t>
            </a:r>
          </a:p>
          <a:p>
            <a:pPr marL="12700" marR="5080"/>
            <a:r>
              <a:rPr lang="en-US" sz="1270" kern="0" spc="-80" dirty="0">
                <a:solidFill>
                  <a:schemeClr val="accent2"/>
                </a:solidFill>
              </a:rPr>
              <a:t>Agentic Responsibility:</a:t>
            </a:r>
            <a:r>
              <a:rPr lang="en-US" sz="1270" kern="0" spc="-80" dirty="0">
                <a:solidFill>
                  <a:schemeClr val="accent6"/>
                </a:solidFill>
              </a:rPr>
              <a:t> Ensuring autonomous agents remain controllable</a:t>
            </a:r>
          </a:p>
          <a:p>
            <a:pPr marL="12700" marR="5080"/>
            <a:r>
              <a:rPr lang="en-US" sz="1270" kern="0" spc="-80" dirty="0">
                <a:solidFill>
                  <a:schemeClr val="accent2"/>
                </a:solidFill>
              </a:rPr>
              <a:t>AI Constitutional Frameworks: </a:t>
            </a:r>
            <a:r>
              <a:rPr lang="en-US" sz="1270" kern="0" spc="-80" dirty="0">
                <a:solidFill>
                  <a:schemeClr val="accent6"/>
                </a:solidFill>
              </a:rPr>
              <a:t>Hardcoding ethical constraints into reasoning models (</a:t>
            </a:r>
            <a:r>
              <a:rPr lang="en-US" sz="1270" kern="0" spc="-80" dirty="0" err="1">
                <a:solidFill>
                  <a:schemeClr val="accent6"/>
                </a:solidFill>
              </a:rPr>
              <a:t>Anthropic’s</a:t>
            </a:r>
            <a:r>
              <a:rPr lang="en-US" sz="1270" kern="0" spc="-80" dirty="0">
                <a:solidFill>
                  <a:schemeClr val="accent6"/>
                </a:solidFill>
              </a:rPr>
              <a:t> Constitutional AI)</a:t>
            </a:r>
          </a:p>
          <a:p>
            <a:pPr marL="12700" marR="5080"/>
            <a:r>
              <a:rPr lang="en-US" sz="1270" kern="0" spc="-80" dirty="0">
                <a:solidFill>
                  <a:schemeClr val="accent2"/>
                </a:solidFill>
              </a:rPr>
              <a:t>AI Assurance &amp; Auditing Systems</a:t>
            </a:r>
            <a:r>
              <a:rPr lang="en-US" sz="1270" kern="0" spc="-80" dirty="0">
                <a:solidFill>
                  <a:schemeClr val="accent6"/>
                </a:solidFill>
              </a:rPr>
              <a:t>: Continuous model monitoring</a:t>
            </a:r>
          </a:p>
          <a:p>
            <a:pPr marL="12700" marR="5080"/>
            <a:r>
              <a:rPr lang="en-US" sz="1270" kern="0" spc="-80" dirty="0">
                <a:solidFill>
                  <a:schemeClr val="accent2"/>
                </a:solidFill>
              </a:rPr>
              <a:t>AI for Good: </a:t>
            </a:r>
            <a:r>
              <a:rPr lang="en-US" sz="1270" kern="0" spc="-80" dirty="0">
                <a:solidFill>
                  <a:schemeClr val="accent6"/>
                </a:solidFill>
              </a:rPr>
              <a:t>Social-impact-oriented AI development</a:t>
            </a:r>
          </a:p>
          <a:p>
            <a:pPr marL="12700" marR="5080"/>
            <a:r>
              <a:rPr lang="en-US" sz="1270" kern="0" spc="-80" dirty="0">
                <a:solidFill>
                  <a:schemeClr val="accent2"/>
                </a:solidFill>
              </a:rPr>
              <a:t>Responsible GenAI: </a:t>
            </a:r>
            <a:r>
              <a:rPr lang="en-US" sz="1270" kern="0" spc="-80" dirty="0">
                <a:solidFill>
                  <a:schemeClr val="accent6"/>
                </a:solidFill>
              </a:rPr>
              <a:t>Managing hallucinations, data misuse, misinformation</a:t>
            </a:r>
          </a:p>
          <a:p>
            <a:pPr marL="12700" marR="5080"/>
            <a:endParaRPr lang="en-US" sz="1270" kern="0" spc="-80" dirty="0">
              <a:solidFill>
                <a:schemeClr val="accent6"/>
              </a:solidFill>
            </a:endParaRPr>
          </a:p>
          <a:p>
            <a:pPr marL="12700" marR="5080"/>
            <a:r>
              <a:rPr lang="en-US" sz="1270" kern="0" spc="-80" dirty="0">
                <a:solidFill>
                  <a:schemeClr val="accent2"/>
                </a:solidFill>
              </a:rPr>
              <a:t>🧩 11. Summary Table</a:t>
            </a:r>
          </a:p>
          <a:p>
            <a:pPr marL="12700" marR="5080"/>
            <a:r>
              <a:rPr lang="en-US" sz="1270" kern="0" spc="-80" dirty="0">
                <a:solidFill>
                  <a:schemeClr val="accent6"/>
                </a:solidFill>
              </a:rPr>
              <a:t>Dimension	                                        Goal	                       Example Practice</a:t>
            </a:r>
          </a:p>
          <a:p>
            <a:pPr marL="12700" marR="5080"/>
            <a:r>
              <a:rPr lang="en-US" sz="1270" kern="0" spc="-80" dirty="0">
                <a:solidFill>
                  <a:schemeClr val="accent6"/>
                </a:solidFill>
              </a:rPr>
              <a:t>Fairness	                                        Equal treatment	Bias audit before deployment</a:t>
            </a:r>
          </a:p>
          <a:p>
            <a:pPr marL="12700" marR="5080"/>
            <a:r>
              <a:rPr lang="en-US" sz="1270" kern="0" spc="-80" dirty="0">
                <a:solidFill>
                  <a:schemeClr val="accent6"/>
                </a:solidFill>
              </a:rPr>
              <a:t>Transparency	                 Explainable models	LIME/SHAP for interpretability</a:t>
            </a:r>
          </a:p>
          <a:p>
            <a:pPr marL="12700" marR="5080"/>
            <a:r>
              <a:rPr lang="en-US" sz="1270" kern="0" spc="-80" dirty="0">
                <a:solidFill>
                  <a:schemeClr val="accent6"/>
                </a:solidFill>
              </a:rPr>
              <a:t>Privacy	                                        Protect user data	Federated learning</a:t>
            </a:r>
          </a:p>
          <a:p>
            <a:pPr marL="12700" marR="5080"/>
            <a:r>
              <a:rPr lang="en-US" sz="1270" kern="0" spc="-80" dirty="0">
                <a:solidFill>
                  <a:schemeClr val="accent6"/>
                </a:solidFill>
              </a:rPr>
              <a:t>Accountability	                 Assign responsibility	Governance committee</a:t>
            </a:r>
          </a:p>
          <a:p>
            <a:pPr marL="12700" marR="5080"/>
            <a:r>
              <a:rPr lang="en-US" sz="1270" kern="0" spc="-80" dirty="0">
                <a:solidFill>
                  <a:schemeClr val="accent6"/>
                </a:solidFill>
              </a:rPr>
              <a:t>Safety	                                        Prevent harm	                       Adversarial testing</a:t>
            </a:r>
          </a:p>
          <a:p>
            <a:pPr marL="12700" marR="5080"/>
            <a:r>
              <a:rPr lang="en-US" sz="1270" kern="0" spc="-80" dirty="0">
                <a:solidFill>
                  <a:schemeClr val="accent6"/>
                </a:solidFill>
              </a:rPr>
              <a:t>Human Control	                 Keep humans in loop	Override systems</a:t>
            </a:r>
          </a:p>
          <a:p>
            <a:pPr marL="12700" marR="5080"/>
            <a:r>
              <a:rPr lang="en-US" sz="1270" kern="0" spc="-80" dirty="0">
                <a:solidFill>
                  <a:schemeClr val="accent6"/>
                </a:solidFill>
              </a:rPr>
              <a:t>Sustainability	                 Reduce footprint	Energy-efficient AI training</a:t>
            </a:r>
          </a:p>
          <a:p>
            <a:pPr marL="12700" marR="5080"/>
            <a:endParaRPr lang="en-US" sz="1270" kern="0" spc="-80" dirty="0">
              <a:solidFill>
                <a:schemeClr val="accent6"/>
              </a:solidFill>
            </a:endParaRPr>
          </a:p>
          <a:p>
            <a:pPr marL="12700" marR="5080"/>
            <a:r>
              <a:rPr lang="en-US" sz="1270" kern="0" spc="-80" dirty="0">
                <a:solidFill>
                  <a:schemeClr val="accent2"/>
                </a:solidFill>
              </a:rPr>
              <a:t>🏗️ 12. How to Implement Responsible AI in Practice</a:t>
            </a:r>
          </a:p>
          <a:p>
            <a:pPr marL="12700" marR="5080"/>
            <a:r>
              <a:rPr lang="en-US" sz="1270" kern="0" spc="-80" dirty="0">
                <a:solidFill>
                  <a:schemeClr val="accent6"/>
                </a:solidFill>
              </a:rPr>
              <a:t>Step 1: Define RAI policy→ Create an internal Responsible AI charter aligned with global standards.</a:t>
            </a:r>
          </a:p>
          <a:p>
            <a:pPr marL="12700" marR="5080"/>
            <a:r>
              <a:rPr lang="en-US" sz="1270" kern="0" spc="-80" dirty="0">
                <a:solidFill>
                  <a:schemeClr val="accent6"/>
                </a:solidFill>
              </a:rPr>
              <a:t>Step 2: Build governance structure→ Ethics board, technical review committees, audit trails.</a:t>
            </a:r>
          </a:p>
          <a:p>
            <a:pPr marL="12700" marR="5080"/>
            <a:r>
              <a:rPr lang="en-US" sz="1270" kern="0" spc="-80" dirty="0">
                <a:solidFill>
                  <a:schemeClr val="accent6"/>
                </a:solidFill>
              </a:rPr>
              <a:t>Step 3: Integrate into ML lifecycle→ Add RAI checkpoints into </a:t>
            </a:r>
            <a:r>
              <a:rPr lang="en-US" sz="1270" kern="0" spc="-80" dirty="0" err="1">
                <a:solidFill>
                  <a:schemeClr val="accent6"/>
                </a:solidFill>
              </a:rPr>
              <a:t>MLOps</a:t>
            </a:r>
            <a:r>
              <a:rPr lang="en-US" sz="1270" kern="0" spc="-80" dirty="0">
                <a:solidFill>
                  <a:schemeClr val="accent6"/>
                </a:solidFill>
              </a:rPr>
              <a:t> pipelines (bias scan, explainability, fairness reports).</a:t>
            </a:r>
          </a:p>
          <a:p>
            <a:pPr marL="12700" marR="5080"/>
            <a:r>
              <a:rPr lang="en-US" sz="1270" kern="0" spc="-80" dirty="0">
                <a:solidFill>
                  <a:schemeClr val="accent6"/>
                </a:solidFill>
              </a:rPr>
              <a:t>Step 4: Continuous monitoring→ Use dashboards for model drift, bias drift, explainability drift.</a:t>
            </a:r>
          </a:p>
          <a:p>
            <a:pPr marL="12700" marR="5080"/>
            <a:r>
              <a:rPr lang="en-US" sz="1270" kern="0" spc="-80" dirty="0">
                <a:solidFill>
                  <a:schemeClr val="accent6"/>
                </a:solidFill>
              </a:rPr>
              <a:t>Step 5: Educate teams→ Train developers and decision-makers on RAI practices.</a:t>
            </a:r>
          </a:p>
        </p:txBody>
      </p:sp>
    </p:spTree>
    <p:extLst>
      <p:ext uri="{BB962C8B-B14F-4D97-AF65-F5344CB8AC3E}">
        <p14:creationId xmlns:p14="http://schemas.microsoft.com/office/powerpoint/2010/main" val="187066643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B05C-5D78-F629-23AC-D7BFD9BE26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3465C6-572D-1D25-3100-24770A13FFEC}"/>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878217F-406C-C8E0-3495-81ADECF0ECBD}"/>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5168D32-5F20-0966-33F9-07C68E016228}"/>
              </a:ext>
            </a:extLst>
          </p:cNvPr>
          <p:cNvGraphicFramePr/>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9E303D2-C9F9-580C-B44C-51CD8962E533}"/>
              </a:ext>
            </a:extLst>
          </p:cNvPr>
          <p:cNvSpPr txBox="1">
            <a:spLocks/>
          </p:cNvSpPr>
          <p:nvPr/>
        </p:nvSpPr>
        <p:spPr>
          <a:xfrm>
            <a:off x="51886" y="1335165"/>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50" kern="0" spc="-80" dirty="0">
                <a:solidFill>
                  <a:schemeClr val="accent2"/>
                </a:solidFill>
              </a:rPr>
              <a:t>For Further Exploration –</a:t>
            </a:r>
          </a:p>
          <a:p>
            <a:pPr marL="12700" marR="5080"/>
            <a:r>
              <a:rPr lang="en-US" sz="1450" dirty="0">
                <a:hlinkClick r:id="rId7"/>
              </a:rPr>
              <a:t>Demystifying Responsible AI: Principles and Best Practices for Ethical AI Implementation</a:t>
            </a:r>
            <a:endParaRPr lang="en-US" sz="1450" dirty="0"/>
          </a:p>
          <a:p>
            <a:pPr marL="12700" marR="5080"/>
            <a:r>
              <a:rPr lang="en-US" sz="1450" dirty="0">
                <a:hlinkClick r:id="rId8"/>
              </a:rPr>
              <a:t>Responsible AI Principles and Challenges for Businesses</a:t>
            </a:r>
            <a:endParaRPr lang="en-US" sz="1450" dirty="0"/>
          </a:p>
          <a:p>
            <a:pPr marL="12700" marR="5080"/>
            <a:r>
              <a:rPr lang="en-IN" sz="1450" dirty="0">
                <a:hlinkClick r:id="rId9"/>
              </a:rPr>
              <a:t>Responsible AI Principles | Cognizant</a:t>
            </a:r>
            <a:endParaRPr lang="en-US" sz="1450" dirty="0"/>
          </a:p>
          <a:p>
            <a:pPr marL="12700" marR="5080"/>
            <a:r>
              <a:rPr lang="en-US" sz="1450" dirty="0">
                <a:hlinkClick r:id="rId10"/>
              </a:rPr>
              <a:t>Platform-and-Model-Design-for-Responsible</a:t>
            </a:r>
            <a:endParaRPr lang="en-US" sz="1450" dirty="0"/>
          </a:p>
          <a:p>
            <a:pPr marL="12700" marR="5080"/>
            <a:r>
              <a:rPr lang="en-IN" sz="1450" dirty="0">
                <a:hlinkClick r:id="rId11"/>
              </a:rPr>
              <a:t>Responsible AI – Building AI Responsibly – AWS</a:t>
            </a:r>
            <a:endParaRPr lang="en-US" sz="1450" dirty="0"/>
          </a:p>
          <a:p>
            <a:pPr marL="12700" marR="5080"/>
            <a:r>
              <a:rPr lang="en-IN" sz="1450" dirty="0">
                <a:hlinkClick r:id="rId12"/>
              </a:rPr>
              <a:t>Google AI - AI Principles</a:t>
            </a:r>
            <a:endParaRPr lang="en-IN" sz="1450" dirty="0"/>
          </a:p>
          <a:p>
            <a:pPr marL="12700" marR="5080"/>
            <a:r>
              <a:rPr lang="en-US" sz="1450" dirty="0">
                <a:hlinkClick r:id="rId13"/>
              </a:rPr>
              <a:t>Assess AI systems and make data-driven decisions with Azure Machine Learning Responsible AI dashboard</a:t>
            </a:r>
            <a:endParaRPr lang="en-US" sz="1450" dirty="0"/>
          </a:p>
          <a:p>
            <a:pPr marL="12700" marR="5080"/>
            <a:r>
              <a:rPr lang="en-IN" sz="1450" dirty="0">
                <a:hlinkClick r:id="rId14"/>
              </a:rPr>
              <a:t>AI Fairness</a:t>
            </a:r>
            <a:endParaRPr lang="en-IN" sz="1450" dirty="0"/>
          </a:p>
          <a:p>
            <a:pPr marL="12700" marR="5080"/>
            <a:r>
              <a:rPr lang="en-US" sz="1450" dirty="0">
                <a:hlinkClick r:id="rId15"/>
              </a:rPr>
              <a:t>How to Reduce Bias in Machine Learning</a:t>
            </a:r>
            <a:endParaRPr lang="en-US" sz="1450" dirty="0"/>
          </a:p>
          <a:p>
            <a:pPr marL="12700" marR="5080"/>
            <a:r>
              <a:rPr lang="en-US" sz="1450" dirty="0">
                <a:hlinkClick r:id="rId16"/>
              </a:rPr>
              <a:t>Open </a:t>
            </a:r>
            <a:r>
              <a:rPr lang="en-US" sz="1450" dirty="0" err="1">
                <a:hlinkClick r:id="rId16"/>
              </a:rPr>
              <a:t>ResponsibleAI</a:t>
            </a:r>
            <a:endParaRPr lang="en-US" sz="1450" dirty="0"/>
          </a:p>
          <a:p>
            <a:pPr marL="12700" marR="5080"/>
            <a:r>
              <a:rPr lang="en-US" sz="1450" dirty="0">
                <a:hlinkClick r:id="rId17"/>
              </a:rPr>
              <a:t>Generative AI Ethics: 11 Biggest Concerns and Risks | Informa TechTarget</a:t>
            </a:r>
            <a:endParaRPr lang="en-US" sz="1450" dirty="0"/>
          </a:p>
          <a:p>
            <a:pPr marL="12700" marR="5080"/>
            <a:r>
              <a:rPr lang="en-US" sz="1450" dirty="0">
                <a:hlinkClick r:id="rId18"/>
              </a:rPr>
              <a:t>Transparency, Explainability, and Interpretability of AI</a:t>
            </a:r>
            <a:endParaRPr lang="en-US" sz="1450" dirty="0"/>
          </a:p>
          <a:p>
            <a:pPr marL="12700" marR="5080"/>
            <a:r>
              <a:rPr lang="en-US" sz="1450" dirty="0">
                <a:hlinkClick r:id="rId19"/>
              </a:rPr>
              <a:t>Building trust: Foundations of security, safety and transparency in AI</a:t>
            </a:r>
            <a:endParaRPr lang="en-US" sz="1450" dirty="0"/>
          </a:p>
          <a:p>
            <a:pPr marL="12700" marR="5080"/>
            <a:r>
              <a:rPr lang="en-US" sz="1450" dirty="0">
                <a:hlinkClick r:id="rId20"/>
              </a:rPr>
              <a:t>What is Human-</a:t>
            </a:r>
            <a:r>
              <a:rPr lang="en-US" sz="1450" dirty="0" err="1">
                <a:hlinkClick r:id="rId20"/>
              </a:rPr>
              <a:t>Centred</a:t>
            </a:r>
            <a:r>
              <a:rPr lang="en-US" sz="1450" dirty="0">
                <a:hlinkClick r:id="rId20"/>
              </a:rPr>
              <a:t> AI and Its Design Principles?</a:t>
            </a:r>
            <a:endParaRPr lang="en-US" sz="1450" dirty="0"/>
          </a:p>
          <a:p>
            <a:pPr marL="12700" marR="5080"/>
            <a:r>
              <a:rPr lang="en-US" sz="1450" dirty="0">
                <a:hlinkClick r:id="rId21"/>
              </a:rPr>
              <a:t>Privacy-Preserving in Machine Learning (PPML) </a:t>
            </a:r>
            <a:endParaRPr lang="en-US" sz="1450" dirty="0"/>
          </a:p>
          <a:p>
            <a:pPr marL="12700" marR="5080"/>
            <a:r>
              <a:rPr lang="en-US" sz="1450" dirty="0">
                <a:hlinkClick r:id="rId22"/>
              </a:rPr>
              <a:t>Securing generative AI: An introduction to the Generative AI Security Scoping Matrix</a:t>
            </a:r>
            <a:endParaRPr lang="en-US" sz="1450" dirty="0"/>
          </a:p>
          <a:p>
            <a:pPr marL="12700" marR="5080"/>
            <a:r>
              <a:rPr lang="en-IN" sz="1450" dirty="0">
                <a:hlinkClick r:id="rId23"/>
              </a:rPr>
              <a:t>Blockchain Tethered AI</a:t>
            </a:r>
            <a:endParaRPr lang="en-IN" sz="1450" dirty="0"/>
          </a:p>
          <a:p>
            <a:pPr marL="12700" marR="5080"/>
            <a:r>
              <a:rPr lang="en-IN" sz="1450" dirty="0">
                <a:hlinkClick r:id="rId24"/>
              </a:rPr>
              <a:t>AI Risks</a:t>
            </a:r>
            <a:endParaRPr lang="en-US" sz="1450" dirty="0"/>
          </a:p>
        </p:txBody>
      </p:sp>
    </p:spTree>
    <p:extLst>
      <p:ext uri="{BB962C8B-B14F-4D97-AF65-F5344CB8AC3E}">
        <p14:creationId xmlns:p14="http://schemas.microsoft.com/office/powerpoint/2010/main" val="287443856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05FC6-F2A5-EEB7-2297-1AC39E7AC4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A3DD6D9-EC05-B219-1C90-BF056A24B15B}"/>
              </a:ext>
            </a:extLst>
          </p:cNvPr>
          <p:cNvSpPr/>
          <p:nvPr/>
        </p:nvSpPr>
        <p:spPr>
          <a:xfrm>
            <a:off x="1756803" y="876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AA337F-47AF-35BA-986F-BFCC92145923}"/>
              </a:ext>
            </a:extLst>
          </p:cNvPr>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BFF8E25-8520-5E3D-A33E-2A5DE04CC0C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8198BDC-CE46-E97B-348C-13A4D311BADB}"/>
              </a:ext>
            </a:extLst>
          </p:cNvPr>
          <p:cNvSpPr txBox="1">
            <a:spLocks/>
          </p:cNvSpPr>
          <p:nvPr/>
        </p:nvSpPr>
        <p:spPr>
          <a:xfrm>
            <a:off x="0" y="805190"/>
            <a:ext cx="8915399"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 </a:t>
            </a:r>
          </a:p>
        </p:txBody>
      </p:sp>
      <p:sp>
        <p:nvSpPr>
          <p:cNvPr id="7" name="object 2">
            <a:extLst>
              <a:ext uri="{FF2B5EF4-FFF2-40B4-BE49-F238E27FC236}">
                <a16:creationId xmlns:a16="http://schemas.microsoft.com/office/drawing/2014/main" id="{F9D1271C-9B95-31E8-A518-07AED34227B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10" name="Picture 9">
            <a:extLst>
              <a:ext uri="{FF2B5EF4-FFF2-40B4-BE49-F238E27FC236}">
                <a16:creationId xmlns:a16="http://schemas.microsoft.com/office/drawing/2014/main" id="{923BAA89-BD7B-9C10-C2AD-C9AA22B65992}"/>
              </a:ext>
            </a:extLst>
          </p:cNvPr>
          <p:cNvPicPr>
            <a:picLocks noChangeAspect="1"/>
          </p:cNvPicPr>
          <p:nvPr/>
        </p:nvPicPr>
        <p:blipFill>
          <a:blip r:embed="rId2"/>
          <a:stretch>
            <a:fillRect/>
          </a:stretch>
        </p:blipFill>
        <p:spPr>
          <a:xfrm>
            <a:off x="138063" y="1047820"/>
            <a:ext cx="8915398" cy="4895780"/>
          </a:xfrm>
          <a:prstGeom prst="rect">
            <a:avLst/>
          </a:prstGeom>
        </p:spPr>
      </p:pic>
      <p:grpSp>
        <p:nvGrpSpPr>
          <p:cNvPr id="13" name="Group 12">
            <a:extLst>
              <a:ext uri="{FF2B5EF4-FFF2-40B4-BE49-F238E27FC236}">
                <a16:creationId xmlns:a16="http://schemas.microsoft.com/office/drawing/2014/main" id="{CFC10704-025A-7880-9824-0FA83F382F66}"/>
              </a:ext>
            </a:extLst>
          </p:cNvPr>
          <p:cNvGrpSpPr/>
          <p:nvPr/>
        </p:nvGrpSpPr>
        <p:grpSpPr>
          <a:xfrm>
            <a:off x="-84774" y="-268099"/>
            <a:ext cx="9084945" cy="935415"/>
            <a:chOff x="0" y="0"/>
            <a:chExt cx="9084945" cy="935415"/>
          </a:xfrm>
        </p:grpSpPr>
        <p:sp>
          <p:nvSpPr>
            <p:cNvPr id="14" name="Rectangle: Rounded Corners 13">
              <a:extLst>
                <a:ext uri="{FF2B5EF4-FFF2-40B4-BE49-F238E27FC236}">
                  <a16:creationId xmlns:a16="http://schemas.microsoft.com/office/drawing/2014/main" id="{44E444FE-2FC9-7291-8966-832F0EDDFD28}"/>
                </a:ext>
              </a:extLst>
            </p:cNvPr>
            <p:cNvSpPr/>
            <p:nvPr/>
          </p:nvSpPr>
          <p:spPr>
            <a:xfrm>
              <a:off x="0" y="0"/>
              <a:ext cx="9084945" cy="935415"/>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5" name="Rectangle: Rounded Corners 4">
              <a:extLst>
                <a:ext uri="{FF2B5EF4-FFF2-40B4-BE49-F238E27FC236}">
                  <a16:creationId xmlns:a16="http://schemas.microsoft.com/office/drawing/2014/main" id="{5BD198F3-7B58-01AD-336C-CDB516944F7E}"/>
                </a:ext>
              </a:extLst>
            </p:cNvPr>
            <p:cNvSpPr txBox="1"/>
            <p:nvPr/>
          </p:nvSpPr>
          <p:spPr>
            <a:xfrm>
              <a:off x="45663" y="45663"/>
              <a:ext cx="8993619" cy="8440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p:txBody>
        </p:sp>
      </p:grpSp>
    </p:spTree>
    <p:extLst>
      <p:ext uri="{BB962C8B-B14F-4D97-AF65-F5344CB8AC3E}">
        <p14:creationId xmlns:p14="http://schemas.microsoft.com/office/powerpoint/2010/main" val="2051779775"/>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CCBC-E115-38A3-579E-EC0E16AB38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DC537B-96C7-587D-79DE-01B9BAB7ECE0}"/>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186F3F11-0B67-3648-2DF5-729D79EC4E3F}"/>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1A5D77C3-5761-3BC3-FBBA-282A23D0152D}"/>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B0298CB2-4EC9-475A-5C19-5261BC3F520F}"/>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FC40ED57-7C57-BC6A-36E5-4C6592CFF946}"/>
              </a:ext>
            </a:extLst>
          </p:cNvPr>
          <p:cNvSpPr txBox="1">
            <a:spLocks/>
          </p:cNvSpPr>
          <p:nvPr/>
        </p:nvSpPr>
        <p:spPr>
          <a:xfrm>
            <a:off x="0" y="1048972"/>
            <a:ext cx="8624937" cy="52383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Experiment-Driven Development (EDD) is an emerging and powerful approach that bridges software engineering, data science, and AI development. It’s especially valuable when dealing with uncertain problem spaces, such as ML, GenAI, and product optimization, where decisions can’t rely on assumptions but must be validated through experiments. </a:t>
            </a:r>
          </a:p>
          <a:p>
            <a:pPr marL="12700" marR="5080"/>
            <a:endParaRPr lang="en-US" sz="1500" kern="0" spc="-80" dirty="0">
              <a:solidFill>
                <a:schemeClr val="accent6"/>
              </a:solidFill>
            </a:endParaRPr>
          </a:p>
          <a:p>
            <a:pPr marL="12700" marR="5080"/>
            <a:r>
              <a:rPr lang="en-US" sz="1500" kern="0" spc="-80" dirty="0">
                <a:solidFill>
                  <a:schemeClr val="accent2"/>
                </a:solidFill>
              </a:rPr>
              <a:t>🧩 1. What is Experiment-Driven Development?</a:t>
            </a:r>
          </a:p>
          <a:p>
            <a:pPr marL="12700" marR="5080"/>
            <a:r>
              <a:rPr lang="en-US" sz="1500" kern="0" spc="-80" dirty="0">
                <a:solidFill>
                  <a:schemeClr val="accent2"/>
                </a:solidFill>
              </a:rPr>
              <a:t>Definition: </a:t>
            </a:r>
            <a:r>
              <a:rPr lang="en-US" sz="1500" kern="0" spc="-80" dirty="0">
                <a:solidFill>
                  <a:schemeClr val="accent6"/>
                </a:solidFill>
              </a:rPr>
              <a:t>Experiment-Driven Development is a systematic, iterative approach to building software, models, or products where each decision is guided by controlled experiments rather than intuition or upfront design assumptions. It combines principles of scientific experimentation, agile development, and data-driven decision-making to continuously learn what works.</a:t>
            </a:r>
          </a:p>
          <a:p>
            <a:pPr marL="12700" marR="5080"/>
            <a:r>
              <a:rPr lang="en-US" sz="1500" kern="0" spc="-80" dirty="0">
                <a:solidFill>
                  <a:schemeClr val="accent2"/>
                </a:solidFill>
              </a:rPr>
              <a:t>In short:🧪 EDD = Agile + Data Science + Continuous Learning</a:t>
            </a:r>
          </a:p>
          <a:p>
            <a:pPr marL="12700" marR="5080"/>
            <a:endParaRPr lang="en-US" sz="1500" kern="0" spc="-80" dirty="0">
              <a:solidFill>
                <a:schemeClr val="accent2"/>
              </a:solidFill>
            </a:endParaRPr>
          </a:p>
          <a:p>
            <a:pPr marL="12700" marR="5080"/>
            <a:r>
              <a:rPr lang="en-US" sz="1500" kern="0" spc="-80" dirty="0">
                <a:solidFill>
                  <a:schemeClr val="accent2"/>
                </a:solidFill>
              </a:rPr>
              <a:t>⚙️ 2. Why Experiment-Driven Development?</a:t>
            </a:r>
            <a:r>
              <a:rPr lang="en-US" sz="1500" kern="0" spc="-80" dirty="0">
                <a:solidFill>
                  <a:schemeClr val="accent6"/>
                </a:solidFill>
              </a:rPr>
              <a:t> </a:t>
            </a:r>
          </a:p>
          <a:p>
            <a:pPr marL="12700" marR="5080"/>
            <a:r>
              <a:rPr lang="en-US" sz="1500" kern="0" spc="-80" dirty="0">
                <a:solidFill>
                  <a:schemeClr val="accent6"/>
                </a:solidFill>
              </a:rPr>
              <a:t>Traditional Development Relies on upfront design/specifications</a:t>
            </a:r>
          </a:p>
          <a:p>
            <a:pPr marL="12700" marR="5080"/>
            <a:r>
              <a:rPr lang="en-US" sz="1500" kern="0" spc="-80" dirty="0">
                <a:solidFill>
                  <a:schemeClr val="accent6"/>
                </a:solidFill>
              </a:rPr>
              <a:t>Limited validation until late stages</a:t>
            </a:r>
          </a:p>
          <a:p>
            <a:pPr marL="12700" marR="5080"/>
            <a:r>
              <a:rPr lang="en-US" sz="1500" kern="0" spc="-80" dirty="0">
                <a:solidFill>
                  <a:schemeClr val="accent6"/>
                </a:solidFill>
              </a:rPr>
              <a:t>Risk of building features that users don’t need</a:t>
            </a:r>
          </a:p>
          <a:p>
            <a:pPr marL="12700" marR="5080"/>
            <a:r>
              <a:rPr lang="en-US" sz="1500" kern="0" spc="-80" dirty="0">
                <a:solidFill>
                  <a:schemeClr val="accent2"/>
                </a:solidFill>
              </a:rPr>
              <a:t>EDD Approach</a:t>
            </a:r>
          </a:p>
          <a:p>
            <a:pPr marL="12700" marR="5080"/>
            <a:r>
              <a:rPr lang="en-US" sz="1500" kern="0" spc="-80" dirty="0">
                <a:solidFill>
                  <a:schemeClr val="accent6"/>
                </a:solidFill>
              </a:rPr>
              <a:t>Every idea → hypothesis → experiment → evidence → learning</a:t>
            </a:r>
          </a:p>
          <a:p>
            <a:pPr marL="12700" marR="5080"/>
            <a:r>
              <a:rPr lang="en-US" sz="1500" kern="0" spc="-80" dirty="0">
                <a:solidFill>
                  <a:schemeClr val="accent6"/>
                </a:solidFill>
              </a:rPr>
              <a:t>Focus on minimizing uncertainty</a:t>
            </a:r>
          </a:p>
          <a:p>
            <a:pPr marL="12700" marR="5080"/>
            <a:r>
              <a:rPr lang="en-US" sz="1500" kern="0" spc="-80" dirty="0">
                <a:solidFill>
                  <a:schemeClr val="accent6"/>
                </a:solidFill>
              </a:rPr>
              <a:t>Encourages continuous validation and innovation</a:t>
            </a:r>
          </a:p>
          <a:p>
            <a:pPr marL="12700" marR="5080"/>
            <a:endParaRPr lang="en-US" sz="1270" kern="0" spc="-80" dirty="0">
              <a:solidFill>
                <a:schemeClr val="accent6"/>
              </a:solidFill>
            </a:endParaRPr>
          </a:p>
          <a:p>
            <a:pPr marL="12700" marR="5080"/>
            <a:endParaRPr lang="en-US" sz="1270" kern="0" spc="-80" dirty="0">
              <a:solidFill>
                <a:schemeClr val="accent6"/>
              </a:solidFill>
            </a:endParaRPr>
          </a:p>
        </p:txBody>
      </p:sp>
    </p:spTree>
    <p:extLst>
      <p:ext uri="{BB962C8B-B14F-4D97-AF65-F5344CB8AC3E}">
        <p14:creationId xmlns:p14="http://schemas.microsoft.com/office/powerpoint/2010/main" val="99318551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01841-A386-8B92-3653-DFC59A9AD2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9353A3B-FF55-70EC-2CA8-64EFEEB221D7}"/>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13D0913-32DE-4093-79C1-83D116F2FDCF}"/>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8CF7961D-706E-BAEA-727F-4DC81C635073}"/>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7F12EF4-20BA-DC51-D15B-A81061FE5801}"/>
              </a:ext>
            </a:extLst>
          </p:cNvPr>
          <p:cNvGraphicFramePr/>
          <p:nvPr>
            <p:extLst>
              <p:ext uri="{D42A27DB-BD31-4B8C-83A1-F6EECF244321}">
                <p14:modId xmlns:p14="http://schemas.microsoft.com/office/powerpoint/2010/main" val="3908464838"/>
              </p:ext>
            </p:extLst>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a:extLst>
              <a:ext uri="{FF2B5EF4-FFF2-40B4-BE49-F238E27FC236}">
                <a16:creationId xmlns:a16="http://schemas.microsoft.com/office/drawing/2014/main" id="{24DEB7A1-C8EC-FB1B-2D46-64CBB183919B}"/>
              </a:ext>
            </a:extLst>
          </p:cNvPr>
          <p:cNvGraphicFramePr>
            <a:graphicFrameLocks noGrp="1"/>
          </p:cNvGraphicFramePr>
          <p:nvPr>
            <p:extLst>
              <p:ext uri="{D42A27DB-BD31-4B8C-83A1-F6EECF244321}">
                <p14:modId xmlns:p14="http://schemas.microsoft.com/office/powerpoint/2010/main" val="1462854777"/>
              </p:ext>
            </p:extLst>
          </p:nvPr>
        </p:nvGraphicFramePr>
        <p:xfrm>
          <a:off x="41725" y="1356207"/>
          <a:ext cx="8915400" cy="4282596"/>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4036814325"/>
                    </a:ext>
                  </a:extLst>
                </a:gridCol>
                <a:gridCol w="2971800">
                  <a:extLst>
                    <a:ext uri="{9D8B030D-6E8A-4147-A177-3AD203B41FA5}">
                      <a16:colId xmlns:a16="http://schemas.microsoft.com/office/drawing/2014/main" val="1747754216"/>
                    </a:ext>
                  </a:extLst>
                </a:gridCol>
                <a:gridCol w="2971800">
                  <a:extLst>
                    <a:ext uri="{9D8B030D-6E8A-4147-A177-3AD203B41FA5}">
                      <a16:colId xmlns:a16="http://schemas.microsoft.com/office/drawing/2014/main" val="1282483196"/>
                    </a:ext>
                  </a:extLst>
                </a:gridCol>
              </a:tblGrid>
              <a:tr h="376662">
                <a:tc>
                  <a:txBody>
                    <a:bodyPr/>
                    <a:lstStyle/>
                    <a:p>
                      <a:r>
                        <a:rPr lang="en-US" dirty="0"/>
                        <a:t>Stage</a:t>
                      </a:r>
                      <a:endParaRPr lang="en-IN" dirty="0"/>
                    </a:p>
                  </a:txBody>
                  <a:tcPr/>
                </a:tc>
                <a:tc>
                  <a:txBody>
                    <a:bodyPr/>
                    <a:lstStyle/>
                    <a:p>
                      <a:r>
                        <a:rPr lang="en-US" dirty="0"/>
                        <a:t>Description</a:t>
                      </a:r>
                      <a:endParaRPr lang="en-IN" dirty="0"/>
                    </a:p>
                  </a:txBody>
                  <a:tcPr/>
                </a:tc>
                <a:tc>
                  <a:txBody>
                    <a:bodyPr/>
                    <a:lstStyle/>
                    <a:p>
                      <a:r>
                        <a:rPr lang="en-US" dirty="0"/>
                        <a:t>Example</a:t>
                      </a:r>
                      <a:endParaRPr lang="en-IN" dirty="0"/>
                    </a:p>
                  </a:txBody>
                  <a:tcPr/>
                </a:tc>
                <a:extLst>
                  <a:ext uri="{0D108BD9-81ED-4DB2-BD59-A6C34878D82A}">
                    <a16:rowId xmlns:a16="http://schemas.microsoft.com/office/drawing/2014/main" val="1917514412"/>
                  </a:ext>
                </a:extLst>
              </a:tr>
              <a:tr h="928756">
                <a:tc>
                  <a:txBody>
                    <a:bodyPr/>
                    <a:lstStyle/>
                    <a:p>
                      <a:r>
                        <a:rPr lang="en-IN" dirty="0"/>
                        <a:t>1. Define Hypothesis</a:t>
                      </a:r>
                    </a:p>
                  </a:txBody>
                  <a:tcPr/>
                </a:tc>
                <a:tc>
                  <a:txBody>
                    <a:bodyPr/>
                    <a:lstStyle/>
                    <a:p>
                      <a:r>
                        <a:rPr lang="en-US" dirty="0"/>
                        <a:t>Formulate an assumption that can be tested</a:t>
                      </a:r>
                      <a:endParaRPr lang="en-IN" dirty="0"/>
                    </a:p>
                  </a:txBody>
                  <a:tcPr/>
                </a:tc>
                <a:tc>
                  <a:txBody>
                    <a:bodyPr/>
                    <a:lstStyle/>
                    <a:p>
                      <a:r>
                        <a:rPr lang="en-US" dirty="0"/>
                        <a:t>Personalized recommendations will increase engagement by 10%</a:t>
                      </a:r>
                      <a:endParaRPr lang="en-IN" dirty="0"/>
                    </a:p>
                  </a:txBody>
                  <a:tcPr/>
                </a:tc>
                <a:extLst>
                  <a:ext uri="{0D108BD9-81ED-4DB2-BD59-A6C34878D82A}">
                    <a16:rowId xmlns:a16="http://schemas.microsoft.com/office/drawing/2014/main" val="3102482997"/>
                  </a:ext>
                </a:extLst>
              </a:tr>
              <a:tr h="650129">
                <a:tc>
                  <a:txBody>
                    <a:bodyPr/>
                    <a:lstStyle/>
                    <a:p>
                      <a:r>
                        <a:rPr lang="en-IN" dirty="0"/>
                        <a:t>2. Design Experiment</a:t>
                      </a:r>
                    </a:p>
                  </a:txBody>
                  <a:tcPr/>
                </a:tc>
                <a:tc>
                  <a:txBody>
                    <a:bodyPr/>
                    <a:lstStyle/>
                    <a:p>
                      <a:r>
                        <a:rPr lang="en-US" dirty="0"/>
                        <a:t>Plan how to test it (A/B test, simulation, prototype)</a:t>
                      </a:r>
                      <a:endParaRPr lang="en-IN" dirty="0"/>
                    </a:p>
                  </a:txBody>
                  <a:tcPr/>
                </a:tc>
                <a:tc>
                  <a:txBody>
                    <a:bodyPr/>
                    <a:lstStyle/>
                    <a:p>
                      <a:r>
                        <a:rPr lang="en-US" dirty="0"/>
                        <a:t>Randomly divide users into A/B groups</a:t>
                      </a:r>
                      <a:endParaRPr lang="en-IN" dirty="0"/>
                    </a:p>
                  </a:txBody>
                  <a:tcPr/>
                </a:tc>
                <a:extLst>
                  <a:ext uri="{0D108BD9-81ED-4DB2-BD59-A6C34878D82A}">
                    <a16:rowId xmlns:a16="http://schemas.microsoft.com/office/drawing/2014/main" val="1818644985"/>
                  </a:ext>
                </a:extLst>
              </a:tr>
              <a:tr h="650129">
                <a:tc>
                  <a:txBody>
                    <a:bodyPr/>
                    <a:lstStyle/>
                    <a:p>
                      <a:r>
                        <a:rPr lang="en-IN" dirty="0"/>
                        <a:t>3. Build Minimal Solution</a:t>
                      </a:r>
                    </a:p>
                  </a:txBody>
                  <a:tcPr/>
                </a:tc>
                <a:tc>
                  <a:txBody>
                    <a:bodyPr/>
                    <a:lstStyle/>
                    <a:p>
                      <a:r>
                        <a:rPr lang="en-US" dirty="0"/>
                        <a:t>Develop minimal code/model needed to run the test</a:t>
                      </a:r>
                      <a:endParaRPr lang="en-IN" dirty="0"/>
                    </a:p>
                  </a:txBody>
                  <a:tcPr/>
                </a:tc>
                <a:tc>
                  <a:txBody>
                    <a:bodyPr/>
                    <a:lstStyle/>
                    <a:p>
                      <a:r>
                        <a:rPr lang="en-US" dirty="0"/>
                        <a:t>Quick prototype using current backend</a:t>
                      </a:r>
                      <a:endParaRPr lang="en-IN" dirty="0"/>
                    </a:p>
                  </a:txBody>
                  <a:tcPr/>
                </a:tc>
                <a:extLst>
                  <a:ext uri="{0D108BD9-81ED-4DB2-BD59-A6C34878D82A}">
                    <a16:rowId xmlns:a16="http://schemas.microsoft.com/office/drawing/2014/main" val="3748956911"/>
                  </a:ext>
                </a:extLst>
              </a:tr>
              <a:tr h="376662">
                <a:tc>
                  <a:txBody>
                    <a:bodyPr/>
                    <a:lstStyle/>
                    <a:p>
                      <a:r>
                        <a:rPr lang="en-IN" dirty="0"/>
                        <a:t>4. Run Experiment</a:t>
                      </a:r>
                    </a:p>
                  </a:txBody>
                  <a:tcPr/>
                </a:tc>
                <a:tc>
                  <a:txBody>
                    <a:bodyPr/>
                    <a:lstStyle/>
                    <a:p>
                      <a:r>
                        <a:rPr lang="en-IN" dirty="0"/>
                        <a:t>Deploy and collect data</a:t>
                      </a:r>
                    </a:p>
                  </a:txBody>
                  <a:tcPr/>
                </a:tc>
                <a:tc>
                  <a:txBody>
                    <a:bodyPr/>
                    <a:lstStyle/>
                    <a:p>
                      <a:r>
                        <a:rPr lang="en-US" dirty="0"/>
                        <a:t>Run A/B test for 2 weeks</a:t>
                      </a:r>
                      <a:endParaRPr lang="en-IN" dirty="0"/>
                    </a:p>
                  </a:txBody>
                  <a:tcPr/>
                </a:tc>
                <a:extLst>
                  <a:ext uri="{0D108BD9-81ED-4DB2-BD59-A6C34878D82A}">
                    <a16:rowId xmlns:a16="http://schemas.microsoft.com/office/drawing/2014/main" val="2167221873"/>
                  </a:ext>
                </a:extLst>
              </a:tr>
              <a:tr h="650129">
                <a:tc>
                  <a:txBody>
                    <a:bodyPr/>
                    <a:lstStyle/>
                    <a:p>
                      <a:r>
                        <a:rPr lang="en-IN" dirty="0"/>
                        <a:t>5. </a:t>
                      </a:r>
                      <a:r>
                        <a:rPr lang="en-IN" dirty="0" err="1"/>
                        <a:t>Analyze</a:t>
                      </a:r>
                      <a:r>
                        <a:rPr lang="en-IN" dirty="0"/>
                        <a:t> Results</a:t>
                      </a:r>
                    </a:p>
                  </a:txBody>
                  <a:tcPr/>
                </a:tc>
                <a:tc>
                  <a:txBody>
                    <a:bodyPr/>
                    <a:lstStyle/>
                    <a:p>
                      <a:r>
                        <a:rPr lang="en-US" dirty="0"/>
                        <a:t>Use statistical analysis to verify outcomes</a:t>
                      </a:r>
                      <a:endParaRPr lang="en-IN" dirty="0"/>
                    </a:p>
                  </a:txBody>
                  <a:tcPr/>
                </a:tc>
                <a:tc>
                  <a:txBody>
                    <a:bodyPr/>
                    <a:lstStyle/>
                    <a:p>
                      <a:r>
                        <a:rPr lang="en-US" dirty="0"/>
                        <a:t>Engagement increased by 12% (p &lt; 0.05)</a:t>
                      </a:r>
                      <a:endParaRPr lang="en-IN" dirty="0"/>
                    </a:p>
                  </a:txBody>
                  <a:tcPr/>
                </a:tc>
                <a:extLst>
                  <a:ext uri="{0D108BD9-81ED-4DB2-BD59-A6C34878D82A}">
                    <a16:rowId xmlns:a16="http://schemas.microsoft.com/office/drawing/2014/main" val="3059392303"/>
                  </a:ext>
                </a:extLst>
              </a:tr>
              <a:tr h="650129">
                <a:tc>
                  <a:txBody>
                    <a:bodyPr/>
                    <a:lstStyle/>
                    <a:p>
                      <a:r>
                        <a:rPr lang="en-IN" dirty="0"/>
                        <a:t>6. Learn and Iterate</a:t>
                      </a:r>
                    </a:p>
                  </a:txBody>
                  <a:tcPr/>
                </a:tc>
                <a:tc>
                  <a:txBody>
                    <a:bodyPr/>
                    <a:lstStyle/>
                    <a:p>
                      <a:r>
                        <a:rPr lang="en-US" dirty="0"/>
                        <a:t>Keep, modify, or discard based on evidence</a:t>
                      </a:r>
                      <a:endParaRPr lang="en-IN" dirty="0"/>
                    </a:p>
                  </a:txBody>
                  <a:tcPr/>
                </a:tc>
                <a:tc>
                  <a:txBody>
                    <a:bodyPr/>
                    <a:lstStyle/>
                    <a:p>
                      <a:r>
                        <a:rPr lang="en-US" dirty="0"/>
                        <a:t>Keep feature, optimize UI further</a:t>
                      </a:r>
                      <a:endParaRPr lang="en-IN" dirty="0"/>
                    </a:p>
                  </a:txBody>
                  <a:tcPr/>
                </a:tc>
                <a:extLst>
                  <a:ext uri="{0D108BD9-81ED-4DB2-BD59-A6C34878D82A}">
                    <a16:rowId xmlns:a16="http://schemas.microsoft.com/office/drawing/2014/main" val="1256171154"/>
                  </a:ext>
                </a:extLst>
              </a:tr>
            </a:tbl>
          </a:graphicData>
        </a:graphic>
      </p:graphicFrame>
      <p:sp>
        <p:nvSpPr>
          <p:cNvPr id="9" name="object 2">
            <a:extLst>
              <a:ext uri="{FF2B5EF4-FFF2-40B4-BE49-F238E27FC236}">
                <a16:creationId xmlns:a16="http://schemas.microsoft.com/office/drawing/2014/main" id="{89B93647-DB49-100B-C8F5-608B7673C363}"/>
              </a:ext>
            </a:extLst>
          </p:cNvPr>
          <p:cNvSpPr txBox="1">
            <a:spLocks/>
          </p:cNvSpPr>
          <p:nvPr/>
        </p:nvSpPr>
        <p:spPr>
          <a:xfrm>
            <a:off x="41725" y="1128615"/>
            <a:ext cx="8624937" cy="1954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 3. The Experiment-Driven Development Lifecycle </a:t>
            </a:r>
          </a:p>
        </p:txBody>
      </p:sp>
      <p:sp>
        <p:nvSpPr>
          <p:cNvPr id="12" name="object 2">
            <a:extLst>
              <a:ext uri="{FF2B5EF4-FFF2-40B4-BE49-F238E27FC236}">
                <a16:creationId xmlns:a16="http://schemas.microsoft.com/office/drawing/2014/main" id="{A2EEA418-140E-4CD5-A651-EAB6D0D5CCCB}"/>
              </a:ext>
            </a:extLst>
          </p:cNvPr>
          <p:cNvSpPr txBox="1">
            <a:spLocks/>
          </p:cNvSpPr>
          <p:nvPr/>
        </p:nvSpPr>
        <p:spPr>
          <a:xfrm>
            <a:off x="-1" y="5705124"/>
            <a:ext cx="8957126" cy="4262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This scientific loop is the heart of EDD : Hypothesize → Build → Measure → Learn → Iterate                                       </a:t>
            </a:r>
          </a:p>
          <a:p>
            <a:pPr marL="12700" marR="5080"/>
            <a:r>
              <a:rPr lang="en-US" sz="1270" kern="0" spc="-80" dirty="0">
                <a:solidFill>
                  <a:schemeClr val="accent2"/>
                </a:solidFill>
              </a:rPr>
              <a:t>                   </a:t>
            </a:r>
          </a:p>
        </p:txBody>
      </p:sp>
    </p:spTree>
    <p:extLst>
      <p:ext uri="{BB962C8B-B14F-4D97-AF65-F5344CB8AC3E}">
        <p14:creationId xmlns:p14="http://schemas.microsoft.com/office/powerpoint/2010/main" val="3179118924"/>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2EF2-13F2-5F0B-67CC-D8FA97CB83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C21FEC-CC64-1EDE-FCAD-52131D20D9CD}"/>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7C8E7688-B0B6-12AF-4B16-EFD5837C3200}"/>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D50F1F6C-792A-8340-FEEE-FC09B6C7D444}"/>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329EA025-CC7E-F64C-CD56-59FEF82BC3B6}"/>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592206CF-9767-D4D0-99A3-66A795D81A2A}"/>
              </a:ext>
            </a:extLst>
          </p:cNvPr>
          <p:cNvSpPr txBox="1">
            <a:spLocks/>
          </p:cNvSpPr>
          <p:nvPr/>
        </p:nvSpPr>
        <p:spPr>
          <a:xfrm>
            <a:off x="41725" y="1128615"/>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 4. Core Principles of EDD</a:t>
            </a:r>
          </a:p>
          <a:p>
            <a:pPr marL="12700" marR="5080"/>
            <a:r>
              <a:rPr lang="en-US" sz="1270" kern="0" spc="-80" dirty="0">
                <a:solidFill>
                  <a:schemeClr val="accent2"/>
                </a:solidFill>
              </a:rPr>
              <a:t>Principle	                                        Meaning</a:t>
            </a:r>
          </a:p>
          <a:p>
            <a:pPr marL="12700" marR="5080"/>
            <a:r>
              <a:rPr lang="en-US" sz="1270" kern="0" spc="-80" dirty="0">
                <a:solidFill>
                  <a:schemeClr val="accent6"/>
                </a:solidFill>
              </a:rPr>
              <a:t>Hypothesis-Driven	                  Every feature, model, or decision starts as a hypothesis that must be tested.</a:t>
            </a:r>
          </a:p>
          <a:p>
            <a:pPr marL="12700" marR="5080"/>
            <a:r>
              <a:rPr lang="en-US" sz="1270" kern="0" spc="-80" dirty="0">
                <a:solidFill>
                  <a:schemeClr val="accent6"/>
                </a:solidFill>
              </a:rPr>
              <a:t>Data-Backed Decision Making         Decisions come from experiment results, not opinions.</a:t>
            </a:r>
          </a:p>
          <a:p>
            <a:pPr marL="12700" marR="5080"/>
            <a:r>
              <a:rPr lang="en-US" sz="1270" kern="0" spc="-80" dirty="0">
                <a:solidFill>
                  <a:schemeClr val="accent6"/>
                </a:solidFill>
              </a:rPr>
              <a:t>Incremental Learning	                  Continuous feedback loops refine understanding over time.</a:t>
            </a:r>
          </a:p>
          <a:p>
            <a:pPr marL="12700" marR="5080"/>
            <a:r>
              <a:rPr lang="en-US" sz="1270" kern="0" spc="-80" dirty="0">
                <a:solidFill>
                  <a:schemeClr val="accent6"/>
                </a:solidFill>
              </a:rPr>
              <a:t>Fail Fast, Learn Fast	                  Small experiments reveal what doesn’t work before full investment.</a:t>
            </a:r>
          </a:p>
          <a:p>
            <a:pPr marL="12700" marR="5080"/>
            <a:r>
              <a:rPr lang="en-US" sz="1270" kern="0" spc="-80" dirty="0">
                <a:solidFill>
                  <a:schemeClr val="accent6"/>
                </a:solidFill>
              </a:rPr>
              <a:t>Controlled Experiments	                  Changes are tested with control and treatment groups.</a:t>
            </a:r>
          </a:p>
          <a:p>
            <a:pPr marL="12700" marR="5080"/>
            <a:r>
              <a:rPr lang="en-US" sz="1270" kern="0" spc="-80" dirty="0">
                <a:solidFill>
                  <a:schemeClr val="accent6"/>
                </a:solidFill>
              </a:rPr>
              <a:t>Reproducibility &amp; Transparency      Experiments are documented and repeatable.</a:t>
            </a:r>
          </a:p>
          <a:p>
            <a:pPr marL="12700" marR="5080"/>
            <a:r>
              <a:rPr lang="en-US" sz="1270" kern="0" spc="-80" dirty="0">
                <a:solidFill>
                  <a:schemeClr val="accent6"/>
                </a:solidFill>
              </a:rPr>
              <a:t>Cross-Functional Collaboration        Developers, data scientists, and product owners work together.</a:t>
            </a:r>
          </a:p>
          <a:p>
            <a:pPr marL="12700" marR="5080"/>
            <a:endParaRPr lang="en-US" sz="1270" kern="0" spc="-80" dirty="0">
              <a:solidFill>
                <a:schemeClr val="accent6"/>
              </a:solidFill>
            </a:endParaRPr>
          </a:p>
          <a:p>
            <a:pPr marL="12700" marR="5080"/>
            <a:r>
              <a:rPr lang="en-US" sz="1270" kern="0" spc="-80" dirty="0">
                <a:solidFill>
                  <a:schemeClr val="accent2"/>
                </a:solidFill>
              </a:rPr>
              <a:t>⚗️ 5. The Anatomy of a Good Experiment</a:t>
            </a:r>
          </a:p>
          <a:p>
            <a:pPr marL="12700" marR="5080"/>
            <a:r>
              <a:rPr lang="en-US" sz="1270" kern="0" spc="-80" dirty="0">
                <a:solidFill>
                  <a:schemeClr val="accent2"/>
                </a:solidFill>
              </a:rPr>
              <a:t>Clear Objective:</a:t>
            </a:r>
            <a:r>
              <a:rPr lang="en-US" sz="1270" kern="0" spc="-80" dirty="0">
                <a:solidFill>
                  <a:schemeClr val="accent6"/>
                </a:solidFill>
              </a:rPr>
              <a:t> What question are we answering?</a:t>
            </a:r>
          </a:p>
          <a:p>
            <a:pPr marL="12700" marR="5080"/>
            <a:r>
              <a:rPr lang="en-US" sz="1270" kern="0" spc="-80" dirty="0">
                <a:solidFill>
                  <a:schemeClr val="accent2"/>
                </a:solidFill>
              </a:rPr>
              <a:t>Testable Hypothesis:</a:t>
            </a:r>
            <a:r>
              <a:rPr lang="en-US" sz="1270" kern="0" spc="-80" dirty="0">
                <a:solidFill>
                  <a:schemeClr val="accent6"/>
                </a:solidFill>
              </a:rPr>
              <a:t> Form “If…, then…” statements.</a:t>
            </a:r>
          </a:p>
          <a:p>
            <a:pPr marL="12700" marR="5080"/>
            <a:r>
              <a:rPr lang="en-US" sz="1270" kern="0" spc="-80" dirty="0">
                <a:solidFill>
                  <a:schemeClr val="accent2"/>
                </a:solidFill>
              </a:rPr>
              <a:t>Control vs Treatment:</a:t>
            </a:r>
            <a:r>
              <a:rPr lang="en-US" sz="1270" kern="0" spc="-80" dirty="0">
                <a:solidFill>
                  <a:schemeClr val="accent6"/>
                </a:solidFill>
              </a:rPr>
              <a:t> Compare with baseline.</a:t>
            </a:r>
          </a:p>
          <a:p>
            <a:pPr marL="12700" marR="5080"/>
            <a:r>
              <a:rPr lang="en-US" sz="1270" kern="0" spc="-80" dirty="0">
                <a:solidFill>
                  <a:schemeClr val="accent2"/>
                </a:solidFill>
              </a:rPr>
              <a:t>Defined Metrics: </a:t>
            </a:r>
            <a:r>
              <a:rPr lang="en-US" sz="1270" kern="0" spc="-80" dirty="0">
                <a:solidFill>
                  <a:schemeClr val="accent6"/>
                </a:solidFill>
              </a:rPr>
              <a:t>Choose measurable success criteria.</a:t>
            </a:r>
          </a:p>
          <a:p>
            <a:pPr marL="12700" marR="5080"/>
            <a:r>
              <a:rPr lang="en-US" sz="1270" kern="0" spc="-80" dirty="0">
                <a:solidFill>
                  <a:schemeClr val="accent2"/>
                </a:solidFill>
              </a:rPr>
              <a:t>Statistical Significance:</a:t>
            </a:r>
            <a:r>
              <a:rPr lang="en-US" sz="1270" kern="0" spc="-80" dirty="0">
                <a:solidFill>
                  <a:schemeClr val="accent6"/>
                </a:solidFill>
              </a:rPr>
              <a:t> Ensure results are valid, not random.</a:t>
            </a:r>
          </a:p>
          <a:p>
            <a:pPr marL="12700" marR="5080"/>
            <a:r>
              <a:rPr lang="en-US" sz="1270" kern="0" spc="-80" dirty="0">
                <a:solidFill>
                  <a:schemeClr val="accent2"/>
                </a:solidFill>
              </a:rPr>
              <a:t>Small Scope:</a:t>
            </a:r>
            <a:r>
              <a:rPr lang="en-US" sz="1270" kern="0" spc="-80" dirty="0">
                <a:solidFill>
                  <a:schemeClr val="accent6"/>
                </a:solidFill>
              </a:rPr>
              <a:t> Each experiment isolates one variable.</a:t>
            </a:r>
          </a:p>
          <a:p>
            <a:pPr marL="12700" marR="5080"/>
            <a:r>
              <a:rPr lang="en-US" sz="1270" kern="0" spc="-80" dirty="0">
                <a:solidFill>
                  <a:schemeClr val="accent2"/>
                </a:solidFill>
              </a:rPr>
              <a:t>Repeatable and Transparent: </a:t>
            </a:r>
            <a:r>
              <a:rPr lang="en-US" sz="1270" kern="0" spc="-80" dirty="0">
                <a:solidFill>
                  <a:schemeClr val="accent6"/>
                </a:solidFill>
              </a:rPr>
              <a:t>Results can be reproduced and audited.</a:t>
            </a:r>
          </a:p>
          <a:p>
            <a:pPr marL="12700" marR="5080"/>
            <a:endParaRPr lang="en-US" sz="1270" kern="0" spc="-80" dirty="0">
              <a:solidFill>
                <a:schemeClr val="accent6"/>
              </a:solidFill>
            </a:endParaRPr>
          </a:p>
          <a:p>
            <a:pPr marL="12700" marR="5080"/>
            <a:r>
              <a:rPr lang="en-US" sz="1270" kern="0" spc="-80" dirty="0">
                <a:solidFill>
                  <a:schemeClr val="accent2"/>
                </a:solidFill>
              </a:rPr>
              <a:t>🧮 6. Types of Experiments in EDD</a:t>
            </a:r>
          </a:p>
          <a:p>
            <a:pPr marL="12700" marR="5080"/>
            <a:r>
              <a:rPr lang="en-US" sz="1270" kern="0" spc="-80" dirty="0">
                <a:solidFill>
                  <a:schemeClr val="accent2"/>
                </a:solidFill>
              </a:rPr>
              <a:t>Type	                          Description	                                                                               Example</a:t>
            </a:r>
          </a:p>
          <a:p>
            <a:pPr marL="12700" marR="5080"/>
            <a:r>
              <a:rPr lang="en-US" sz="1270" kern="0" spc="-80" dirty="0">
                <a:solidFill>
                  <a:schemeClr val="accent6"/>
                </a:solidFill>
              </a:rPr>
              <a:t>A/B Testing	                          Compare two versions of a feature UI variant                                        A vs. B</a:t>
            </a:r>
          </a:p>
          <a:p>
            <a:pPr marL="12700" marR="5080"/>
            <a:r>
              <a:rPr lang="en-US" sz="1270" kern="0" spc="-80" dirty="0">
                <a:solidFill>
                  <a:schemeClr val="accent6"/>
                </a:solidFill>
              </a:rPr>
              <a:t>Multivariate Testing	    Test multiple parameters simultaneously	                                  Button color × layout</a:t>
            </a:r>
          </a:p>
          <a:p>
            <a:pPr marL="12700" marR="5080"/>
            <a:r>
              <a:rPr lang="en-US" sz="1270" kern="0" spc="-80" dirty="0">
                <a:solidFill>
                  <a:schemeClr val="accent6"/>
                </a:solidFill>
              </a:rPr>
              <a:t>Canary Releases	    Gradual rollout of features to a small subset	                                  Deploy to 5% of users</a:t>
            </a:r>
          </a:p>
        </p:txBody>
      </p:sp>
    </p:spTree>
    <p:extLst>
      <p:ext uri="{BB962C8B-B14F-4D97-AF65-F5344CB8AC3E}">
        <p14:creationId xmlns:p14="http://schemas.microsoft.com/office/powerpoint/2010/main" val="315124564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D7958-2516-B265-05B6-5BD31C15D8C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DBDBA1-6F58-95D4-F6F3-D3668826F72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66958522-6D5F-7E41-B785-5C3B3B52DB9E}"/>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FFCA242C-D7F3-E136-AE2F-AB8F01D00EE2}"/>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FE69CFD0-9FEB-5396-2956-791DAD20F7C5}"/>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59EC9C61-5EC5-F2A1-CD1A-72A97C3DCA0C}"/>
              </a:ext>
            </a:extLst>
          </p:cNvPr>
          <p:cNvSpPr txBox="1">
            <a:spLocks/>
          </p:cNvSpPr>
          <p:nvPr/>
        </p:nvSpPr>
        <p:spPr>
          <a:xfrm>
            <a:off x="41725" y="1128615"/>
            <a:ext cx="8624937" cy="48859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Type	                                      Description	                                             Example</a:t>
            </a:r>
          </a:p>
          <a:p>
            <a:pPr marL="12700" marR="5080"/>
            <a:r>
              <a:rPr lang="en-US" sz="1270" kern="0" spc="-80" dirty="0">
                <a:solidFill>
                  <a:schemeClr val="accent6"/>
                </a:solidFill>
              </a:rPr>
              <a:t> Feature Flag Experiments             Toggle features dynamically for testing	Enable “new search” only for beta users</a:t>
            </a:r>
          </a:p>
          <a:p>
            <a:pPr marL="12700" marR="5080"/>
            <a:r>
              <a:rPr lang="en-US" sz="1270" kern="0" spc="-80" dirty="0">
                <a:solidFill>
                  <a:schemeClr val="accent6"/>
                </a:solidFill>
              </a:rPr>
              <a:t> Model Experiments	                Compare machine learning models	</a:t>
            </a:r>
            <a:r>
              <a:rPr lang="en-US" sz="1270" kern="0" spc="-80" dirty="0" err="1">
                <a:solidFill>
                  <a:schemeClr val="accent6"/>
                </a:solidFill>
              </a:rPr>
              <a:t>XGBoost</a:t>
            </a:r>
            <a:r>
              <a:rPr lang="en-US" sz="1270" kern="0" spc="-80" dirty="0">
                <a:solidFill>
                  <a:schemeClr val="accent6"/>
                </a:solidFill>
              </a:rPr>
              <a:t> vs. </a:t>
            </a:r>
            <a:r>
              <a:rPr lang="en-US" sz="1270" kern="0" spc="-80" dirty="0" err="1">
                <a:solidFill>
                  <a:schemeClr val="accent6"/>
                </a:solidFill>
              </a:rPr>
              <a:t>RandomForest</a:t>
            </a:r>
            <a:endParaRPr lang="en-US" sz="1270" kern="0" spc="-80" dirty="0">
              <a:solidFill>
                <a:schemeClr val="accent6"/>
              </a:solidFill>
            </a:endParaRPr>
          </a:p>
          <a:p>
            <a:pPr marL="12700" marR="5080"/>
            <a:r>
              <a:rPr lang="en-US" sz="1270" kern="0" spc="-80" dirty="0">
                <a:solidFill>
                  <a:schemeClr val="accent6"/>
                </a:solidFill>
              </a:rPr>
              <a:t>Prompt Experiments (GenAI)          Compare prompt formulations	Prompt A vs. Prompt B response quality</a:t>
            </a:r>
          </a:p>
          <a:p>
            <a:pPr marL="12700" marR="5080"/>
            <a:endParaRPr lang="en-US" sz="1270" kern="0" spc="-80" dirty="0">
              <a:solidFill>
                <a:schemeClr val="accent6"/>
              </a:solidFill>
            </a:endParaRPr>
          </a:p>
          <a:p>
            <a:pPr marL="12700" marR="5080"/>
            <a:r>
              <a:rPr lang="en-US" sz="1270" kern="0" spc="-80" dirty="0">
                <a:solidFill>
                  <a:schemeClr val="accent2"/>
                </a:solidFill>
              </a:rPr>
              <a:t>🧩 7. Key Concepts and Techniques</a:t>
            </a:r>
          </a:p>
          <a:p>
            <a:pPr marL="355600" marR="5080" indent="-342900">
              <a:buAutoNum type="alphaLcPeriod"/>
            </a:pPr>
            <a:r>
              <a:rPr lang="en-US" sz="1270" kern="0" spc="-80" dirty="0">
                <a:solidFill>
                  <a:schemeClr val="accent2"/>
                </a:solidFill>
              </a:rPr>
              <a:t>Hypothesis Formulation </a:t>
            </a:r>
          </a:p>
          <a:p>
            <a:pPr marL="12700" marR="5080"/>
            <a:r>
              <a:rPr lang="en-US" sz="1270" kern="0" spc="-80" dirty="0">
                <a:solidFill>
                  <a:schemeClr val="accent6"/>
                </a:solidFill>
              </a:rPr>
              <a:t>“We believe that doing X will result in Y improvement, measured by Z metric.”</a:t>
            </a:r>
          </a:p>
          <a:p>
            <a:pPr marL="12700" marR="5080"/>
            <a:r>
              <a:rPr lang="en-US" sz="1270" kern="0" spc="-80" dirty="0">
                <a:solidFill>
                  <a:schemeClr val="accent6"/>
                </a:solidFill>
              </a:rPr>
              <a:t>Helps align teams on clear, measurable expectations.</a:t>
            </a:r>
          </a:p>
          <a:p>
            <a:pPr marL="12700" marR="5080"/>
            <a:endParaRPr lang="en-US" sz="1270" kern="0" spc="-80" dirty="0">
              <a:solidFill>
                <a:schemeClr val="accent6"/>
              </a:solidFill>
            </a:endParaRPr>
          </a:p>
          <a:p>
            <a:pPr marL="12700" marR="5080"/>
            <a:r>
              <a:rPr lang="en-US" sz="1270" kern="0" spc="-80" dirty="0">
                <a:solidFill>
                  <a:schemeClr val="accent2"/>
                </a:solidFill>
              </a:rPr>
              <a:t>b. Metrics Design</a:t>
            </a:r>
          </a:p>
          <a:p>
            <a:pPr marL="12700" marR="5080"/>
            <a:r>
              <a:rPr lang="en-US" sz="1270" kern="0" spc="-80" dirty="0">
                <a:solidFill>
                  <a:schemeClr val="accent2"/>
                </a:solidFill>
              </a:rPr>
              <a:t>Primary metrics: </a:t>
            </a:r>
            <a:r>
              <a:rPr lang="en-US" sz="1270" kern="0" spc="-80" dirty="0">
                <a:solidFill>
                  <a:schemeClr val="accent6"/>
                </a:solidFill>
              </a:rPr>
              <a:t>Directly test hypothesis (conversion, latency, accuracy)</a:t>
            </a:r>
          </a:p>
          <a:p>
            <a:pPr marL="12700" marR="5080"/>
            <a:r>
              <a:rPr lang="en-US" sz="1270" kern="0" spc="-80" dirty="0">
                <a:solidFill>
                  <a:schemeClr val="accent2"/>
                </a:solidFill>
              </a:rPr>
              <a:t>Guardrail metrics: </a:t>
            </a:r>
            <a:r>
              <a:rPr lang="en-US" sz="1270" kern="0" spc="-80" dirty="0">
                <a:solidFill>
                  <a:schemeClr val="accent6"/>
                </a:solidFill>
              </a:rPr>
              <a:t>Ensure no negative side effects (performance, fairness)</a:t>
            </a:r>
          </a:p>
          <a:p>
            <a:pPr marL="12700" marR="5080"/>
            <a:r>
              <a:rPr lang="en-US" sz="1270" kern="0" spc="-80" dirty="0">
                <a:solidFill>
                  <a:schemeClr val="accent2"/>
                </a:solidFill>
              </a:rPr>
              <a:t>Leading indicators:</a:t>
            </a:r>
            <a:r>
              <a:rPr lang="en-US" sz="1270" kern="0" spc="-80" dirty="0">
                <a:solidFill>
                  <a:schemeClr val="accent6"/>
                </a:solidFill>
              </a:rPr>
              <a:t> Early signals of success or risk</a:t>
            </a:r>
          </a:p>
          <a:p>
            <a:pPr marL="12700" marR="5080"/>
            <a:endParaRPr lang="en-US" sz="1270" kern="0" spc="-80" dirty="0">
              <a:solidFill>
                <a:schemeClr val="accent6"/>
              </a:solidFill>
            </a:endParaRPr>
          </a:p>
          <a:p>
            <a:pPr marL="12700" marR="5080"/>
            <a:r>
              <a:rPr lang="en-US" sz="1270" kern="0" spc="-80" dirty="0">
                <a:solidFill>
                  <a:schemeClr val="accent2"/>
                </a:solidFill>
              </a:rPr>
              <a:t>c. Experiment Design</a:t>
            </a:r>
          </a:p>
          <a:p>
            <a:pPr marL="12700" marR="5080"/>
            <a:r>
              <a:rPr lang="en-US" sz="1270" kern="0" spc="-80" dirty="0">
                <a:solidFill>
                  <a:schemeClr val="accent6"/>
                </a:solidFill>
              </a:rPr>
              <a:t>Randomization </a:t>
            </a:r>
          </a:p>
          <a:p>
            <a:pPr marL="12700" marR="5080"/>
            <a:r>
              <a:rPr lang="en-US" sz="1270" kern="0" spc="-80" dirty="0">
                <a:solidFill>
                  <a:schemeClr val="accent6"/>
                </a:solidFill>
              </a:rPr>
              <a:t>Control vs treatment groups</a:t>
            </a:r>
          </a:p>
          <a:p>
            <a:pPr marL="12700" marR="5080"/>
            <a:r>
              <a:rPr lang="en-US" sz="1270" kern="0" spc="-80" dirty="0">
                <a:solidFill>
                  <a:schemeClr val="accent6"/>
                </a:solidFill>
              </a:rPr>
              <a:t>Power analysis (sample size estimation)</a:t>
            </a:r>
          </a:p>
          <a:p>
            <a:pPr marL="12700" marR="5080"/>
            <a:r>
              <a:rPr lang="en-US" sz="1270" kern="0" spc="-80" dirty="0">
                <a:solidFill>
                  <a:schemeClr val="accent6"/>
                </a:solidFill>
              </a:rPr>
              <a:t>Confidence intervals and p-values</a:t>
            </a:r>
          </a:p>
          <a:p>
            <a:pPr marL="12700" marR="5080"/>
            <a:endParaRPr lang="en-US" sz="1270" kern="0" spc="-80" dirty="0">
              <a:solidFill>
                <a:schemeClr val="accent6"/>
              </a:solidFill>
            </a:endParaRPr>
          </a:p>
          <a:p>
            <a:pPr marL="12700" marR="5080"/>
            <a:r>
              <a:rPr lang="en-US" sz="1270" kern="0" spc="-80" dirty="0">
                <a:solidFill>
                  <a:schemeClr val="accent2"/>
                </a:solidFill>
              </a:rPr>
              <a:t>d. Statistical Validity</a:t>
            </a:r>
          </a:p>
          <a:p>
            <a:pPr marL="12700" marR="5080"/>
            <a:r>
              <a:rPr lang="en-US" sz="1270" kern="0" spc="-80" dirty="0">
                <a:solidFill>
                  <a:schemeClr val="accent6"/>
                </a:solidFill>
              </a:rPr>
              <a:t>Avoid p-hacking or multiple comparison bias</a:t>
            </a:r>
          </a:p>
          <a:p>
            <a:pPr marL="12700" marR="5080"/>
            <a:r>
              <a:rPr lang="en-US" sz="1270" kern="0" spc="-80" dirty="0">
                <a:solidFill>
                  <a:schemeClr val="accent6"/>
                </a:solidFill>
              </a:rPr>
              <a:t>Use Bayesian inference for continuous learning</a:t>
            </a:r>
          </a:p>
          <a:p>
            <a:pPr marL="12700" marR="5080"/>
            <a:endParaRPr lang="en-US" sz="1270" kern="0" spc="-80" dirty="0">
              <a:solidFill>
                <a:schemeClr val="accent6"/>
              </a:solidFill>
            </a:endParaRPr>
          </a:p>
        </p:txBody>
      </p:sp>
    </p:spTree>
    <p:extLst>
      <p:ext uri="{BB962C8B-B14F-4D97-AF65-F5344CB8AC3E}">
        <p14:creationId xmlns:p14="http://schemas.microsoft.com/office/powerpoint/2010/main" val="2537118064"/>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DEFBC-0375-5BA4-2DD8-C9FC7F9E565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BBC4BD3-4AEA-7AF1-6DA2-2D5F2CEAF291}"/>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3BC3B449-0CE9-9338-3D26-18A666AC84E5}"/>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58B855FB-62EB-26A1-4623-CBB9C8E3281C}"/>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100C73BC-8832-41DB-7412-666737E9FFAD}"/>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F62735DF-5AA9-368D-3764-A4BF7D02B2AF}"/>
              </a:ext>
            </a:extLst>
          </p:cNvPr>
          <p:cNvSpPr txBox="1">
            <a:spLocks/>
          </p:cNvSpPr>
          <p:nvPr/>
        </p:nvSpPr>
        <p:spPr>
          <a:xfrm>
            <a:off x="41725" y="1128615"/>
            <a:ext cx="8624937" cy="9771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e. Causal Inference</a:t>
            </a:r>
          </a:p>
          <a:p>
            <a:pPr marL="12700" marR="5080"/>
            <a:r>
              <a:rPr lang="en-US" sz="1270" kern="0" spc="-80" dirty="0">
                <a:solidFill>
                  <a:schemeClr val="accent6"/>
                </a:solidFill>
              </a:rPr>
              <a:t>Distinguish correlation vs causation</a:t>
            </a:r>
          </a:p>
          <a:p>
            <a:pPr marL="12700" marR="5080"/>
            <a:r>
              <a:rPr lang="en-US" sz="1270" kern="0" spc="-80" dirty="0">
                <a:solidFill>
                  <a:schemeClr val="accent6"/>
                </a:solidFill>
              </a:rPr>
              <a:t>Use techniques like difference-in-differences, instrumental variables</a:t>
            </a:r>
          </a:p>
          <a:p>
            <a:pPr marL="12700" marR="5080"/>
            <a:endParaRPr lang="en-US" sz="1270" kern="0" spc="-80" dirty="0">
              <a:solidFill>
                <a:schemeClr val="accent6"/>
              </a:solidFill>
            </a:endParaRPr>
          </a:p>
          <a:p>
            <a:pPr marL="12700" marR="5080"/>
            <a:r>
              <a:rPr lang="en-US" sz="1270" kern="0" spc="-80" dirty="0">
                <a:solidFill>
                  <a:schemeClr val="accent2"/>
                </a:solidFill>
              </a:rPr>
              <a:t>🧰 8. EDD Tooling and Infrastructure </a:t>
            </a:r>
          </a:p>
        </p:txBody>
      </p:sp>
      <p:pic>
        <p:nvPicPr>
          <p:cNvPr id="6" name="Picture 5" descr="A screenshot of a computer program">
            <a:extLst>
              <a:ext uri="{FF2B5EF4-FFF2-40B4-BE49-F238E27FC236}">
                <a16:creationId xmlns:a16="http://schemas.microsoft.com/office/drawing/2014/main" id="{9ABEE4DF-3970-DD38-5652-5D1D1A30B9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2114416"/>
            <a:ext cx="8932545" cy="3752984"/>
          </a:xfrm>
          <a:prstGeom prst="rect">
            <a:avLst/>
          </a:prstGeom>
        </p:spPr>
      </p:pic>
    </p:spTree>
    <p:extLst>
      <p:ext uri="{BB962C8B-B14F-4D97-AF65-F5344CB8AC3E}">
        <p14:creationId xmlns:p14="http://schemas.microsoft.com/office/powerpoint/2010/main" val="2042359696"/>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8C77F-B9C8-6CCC-D72C-626F52C044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06A205-392B-DCC7-51D9-F9004D17D2B3}"/>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ED7F780D-D80E-9EB3-C800-25F172393518}"/>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23BD7784-9D1A-D1A2-F5BE-1836A82C11C2}"/>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8699878F-096C-212B-35C2-BF89D83C217D}"/>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F2A214DA-7F65-CEB9-268F-AFDD3A39DCAA}"/>
              </a:ext>
            </a:extLst>
          </p:cNvPr>
          <p:cNvSpPr txBox="1">
            <a:spLocks/>
          </p:cNvSpPr>
          <p:nvPr/>
        </p:nvSpPr>
        <p:spPr>
          <a:xfrm>
            <a:off x="41725" y="1128615"/>
            <a:ext cx="8624937" cy="1954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 9. EDD vs Other Development Methodologies</a:t>
            </a:r>
          </a:p>
        </p:txBody>
      </p:sp>
      <p:graphicFrame>
        <p:nvGraphicFramePr>
          <p:cNvPr id="5" name="Table 4">
            <a:extLst>
              <a:ext uri="{FF2B5EF4-FFF2-40B4-BE49-F238E27FC236}">
                <a16:creationId xmlns:a16="http://schemas.microsoft.com/office/drawing/2014/main" id="{976A828B-09A7-456B-5924-A8662B82B716}"/>
              </a:ext>
            </a:extLst>
          </p:cNvPr>
          <p:cNvGraphicFramePr>
            <a:graphicFrameLocks noGrp="1"/>
          </p:cNvGraphicFramePr>
          <p:nvPr>
            <p:extLst>
              <p:ext uri="{D42A27DB-BD31-4B8C-83A1-F6EECF244321}">
                <p14:modId xmlns:p14="http://schemas.microsoft.com/office/powerpoint/2010/main" val="1294112557"/>
              </p:ext>
            </p:extLst>
          </p:nvPr>
        </p:nvGraphicFramePr>
        <p:xfrm>
          <a:off x="152399" y="1336040"/>
          <a:ext cx="8856344" cy="4531360"/>
        </p:xfrm>
        <a:graphic>
          <a:graphicData uri="http://schemas.openxmlformats.org/drawingml/2006/table">
            <a:tbl>
              <a:tblPr firstRow="1" bandRow="1">
                <a:tableStyleId>{5C22544A-7EE6-4342-B048-85BDC9FD1C3A}</a:tableStyleId>
              </a:tblPr>
              <a:tblGrid>
                <a:gridCol w="2214086">
                  <a:extLst>
                    <a:ext uri="{9D8B030D-6E8A-4147-A177-3AD203B41FA5}">
                      <a16:colId xmlns:a16="http://schemas.microsoft.com/office/drawing/2014/main" val="3152866455"/>
                    </a:ext>
                  </a:extLst>
                </a:gridCol>
                <a:gridCol w="2214086">
                  <a:extLst>
                    <a:ext uri="{9D8B030D-6E8A-4147-A177-3AD203B41FA5}">
                      <a16:colId xmlns:a16="http://schemas.microsoft.com/office/drawing/2014/main" val="392716415"/>
                    </a:ext>
                  </a:extLst>
                </a:gridCol>
                <a:gridCol w="2214086">
                  <a:extLst>
                    <a:ext uri="{9D8B030D-6E8A-4147-A177-3AD203B41FA5}">
                      <a16:colId xmlns:a16="http://schemas.microsoft.com/office/drawing/2014/main" val="1479238037"/>
                    </a:ext>
                  </a:extLst>
                </a:gridCol>
                <a:gridCol w="2214086">
                  <a:extLst>
                    <a:ext uri="{9D8B030D-6E8A-4147-A177-3AD203B41FA5}">
                      <a16:colId xmlns:a16="http://schemas.microsoft.com/office/drawing/2014/main" val="3520099473"/>
                    </a:ext>
                  </a:extLst>
                </a:gridCol>
              </a:tblGrid>
              <a:tr h="655028">
                <a:tc>
                  <a:txBody>
                    <a:bodyPr/>
                    <a:lstStyle/>
                    <a:p>
                      <a:r>
                        <a:rPr lang="en-IN" dirty="0"/>
                        <a:t>Approach</a:t>
                      </a:r>
                    </a:p>
                  </a:txBody>
                  <a:tcPr/>
                </a:tc>
                <a:tc>
                  <a:txBody>
                    <a:bodyPr/>
                    <a:lstStyle/>
                    <a:p>
                      <a:r>
                        <a:rPr lang="en-IN" dirty="0"/>
                        <a:t>Primary Focus</a:t>
                      </a:r>
                    </a:p>
                  </a:txBody>
                  <a:tcPr/>
                </a:tc>
                <a:tc>
                  <a:txBody>
                    <a:bodyPr/>
                    <a:lstStyle/>
                    <a:p>
                      <a:r>
                        <a:rPr lang="en-IN" dirty="0"/>
                        <a:t>Decision Basis</a:t>
                      </a:r>
                    </a:p>
                  </a:txBody>
                  <a:tcPr/>
                </a:tc>
                <a:tc>
                  <a:txBody>
                    <a:bodyPr/>
                    <a:lstStyle/>
                    <a:p>
                      <a:r>
                        <a:rPr lang="en-IN" dirty="0"/>
                        <a:t>Feedback Cycle</a:t>
                      </a:r>
                    </a:p>
                  </a:txBody>
                  <a:tcPr/>
                </a:tc>
                <a:extLst>
                  <a:ext uri="{0D108BD9-81ED-4DB2-BD59-A6C34878D82A}">
                    <a16:rowId xmlns:a16="http://schemas.microsoft.com/office/drawing/2014/main" val="1862360111"/>
                  </a:ext>
                </a:extLst>
              </a:tr>
              <a:tr h="1130597">
                <a:tc>
                  <a:txBody>
                    <a:bodyPr/>
                    <a:lstStyle/>
                    <a:p>
                      <a:r>
                        <a:rPr lang="en-IN" dirty="0"/>
                        <a:t>TDD (Test-Driven Development)</a:t>
                      </a:r>
                    </a:p>
                  </a:txBody>
                  <a:tcPr/>
                </a:tc>
                <a:tc>
                  <a:txBody>
                    <a:bodyPr/>
                    <a:lstStyle/>
                    <a:p>
                      <a:r>
                        <a:rPr lang="en-IN" dirty="0"/>
                        <a:t>Code correctness</a:t>
                      </a:r>
                    </a:p>
                  </a:txBody>
                  <a:tcPr/>
                </a:tc>
                <a:tc>
                  <a:txBody>
                    <a:bodyPr/>
                    <a:lstStyle/>
                    <a:p>
                      <a:r>
                        <a:rPr lang="en-IN" dirty="0"/>
                        <a:t>Unit tests</a:t>
                      </a:r>
                    </a:p>
                  </a:txBody>
                  <a:tcPr/>
                </a:tc>
                <a:tc>
                  <a:txBody>
                    <a:bodyPr/>
                    <a:lstStyle/>
                    <a:p>
                      <a:r>
                        <a:rPr lang="en-IN" dirty="0"/>
                        <a:t>Before code commit</a:t>
                      </a:r>
                    </a:p>
                  </a:txBody>
                  <a:tcPr/>
                </a:tc>
                <a:extLst>
                  <a:ext uri="{0D108BD9-81ED-4DB2-BD59-A6C34878D82A}">
                    <a16:rowId xmlns:a16="http://schemas.microsoft.com/office/drawing/2014/main" val="1954650083"/>
                  </a:ext>
                </a:extLst>
              </a:tr>
              <a:tr h="1130597">
                <a:tc>
                  <a:txBody>
                    <a:bodyPr/>
                    <a:lstStyle/>
                    <a:p>
                      <a:r>
                        <a:rPr lang="en-IN" dirty="0"/>
                        <a:t>BDD (</a:t>
                      </a:r>
                      <a:r>
                        <a:rPr lang="en-IN" dirty="0" err="1"/>
                        <a:t>Behavior</a:t>
                      </a:r>
                      <a:r>
                        <a:rPr lang="en-IN" dirty="0"/>
                        <a:t>-Driven Development)</a:t>
                      </a:r>
                    </a:p>
                  </a:txBody>
                  <a:tcPr/>
                </a:tc>
                <a:tc>
                  <a:txBody>
                    <a:bodyPr/>
                    <a:lstStyle/>
                    <a:p>
                      <a:r>
                        <a:rPr lang="en-IN" dirty="0"/>
                        <a:t>User </a:t>
                      </a:r>
                      <a:r>
                        <a:rPr lang="en-IN" dirty="0" err="1"/>
                        <a:t>behavior</a:t>
                      </a:r>
                      <a:endParaRPr lang="en-IN" dirty="0"/>
                    </a:p>
                  </a:txBody>
                  <a:tcPr/>
                </a:tc>
                <a:tc>
                  <a:txBody>
                    <a:bodyPr/>
                    <a:lstStyle/>
                    <a:p>
                      <a:r>
                        <a:rPr lang="en-IN" dirty="0"/>
                        <a:t>Acceptance criteria</a:t>
                      </a:r>
                    </a:p>
                  </a:txBody>
                  <a:tcPr/>
                </a:tc>
                <a:tc>
                  <a:txBody>
                    <a:bodyPr/>
                    <a:lstStyle/>
                    <a:p>
                      <a:r>
                        <a:rPr lang="en-IN" dirty="0"/>
                        <a:t>During development</a:t>
                      </a:r>
                    </a:p>
                  </a:txBody>
                  <a:tcPr/>
                </a:tc>
                <a:extLst>
                  <a:ext uri="{0D108BD9-81ED-4DB2-BD59-A6C34878D82A}">
                    <a16:rowId xmlns:a16="http://schemas.microsoft.com/office/drawing/2014/main" val="2067301673"/>
                  </a:ext>
                </a:extLst>
              </a:tr>
              <a:tr h="1615138">
                <a:tc>
                  <a:txBody>
                    <a:bodyPr/>
                    <a:lstStyle/>
                    <a:p>
                      <a:r>
                        <a:rPr lang="en-IN" dirty="0"/>
                        <a:t>EDD (Experiment-Driven Development)</a:t>
                      </a:r>
                    </a:p>
                  </a:txBody>
                  <a:tcPr/>
                </a:tc>
                <a:tc>
                  <a:txBody>
                    <a:bodyPr/>
                    <a:lstStyle/>
                    <a:p>
                      <a:r>
                        <a:rPr lang="en-IN" dirty="0"/>
                        <a:t>Product/Model effectiveness</a:t>
                      </a:r>
                    </a:p>
                  </a:txBody>
                  <a:tcPr/>
                </a:tc>
                <a:tc>
                  <a:txBody>
                    <a:bodyPr/>
                    <a:lstStyle/>
                    <a:p>
                      <a:r>
                        <a:rPr lang="en-US" dirty="0"/>
                        <a:t>Experiment outcomes	</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After release (continuous)</a:t>
                      </a:r>
                      <a:endParaRPr lang="en-IN" dirty="0"/>
                    </a:p>
                    <a:p>
                      <a:endParaRPr lang="en-IN" dirty="0"/>
                    </a:p>
                  </a:txBody>
                  <a:tcPr/>
                </a:tc>
                <a:extLst>
                  <a:ext uri="{0D108BD9-81ED-4DB2-BD59-A6C34878D82A}">
                    <a16:rowId xmlns:a16="http://schemas.microsoft.com/office/drawing/2014/main" val="3951117997"/>
                  </a:ext>
                </a:extLst>
              </a:tr>
            </a:tbl>
          </a:graphicData>
        </a:graphic>
      </p:graphicFrame>
    </p:spTree>
    <p:extLst>
      <p:ext uri="{BB962C8B-B14F-4D97-AF65-F5344CB8AC3E}">
        <p14:creationId xmlns:p14="http://schemas.microsoft.com/office/powerpoint/2010/main" val="377274441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37B61-59DB-9A58-DB8F-6C07016420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A4C75E4-015A-6124-B206-0781AF1413E4}"/>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88747450-D84F-39B9-FA9C-063215ECE2A1}"/>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4DEE7469-DC12-B8B3-2336-4F97185AD75D}"/>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ED6A05EF-5D46-FA40-C3E0-B9510636B0BB}"/>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1A68E6AF-7C0F-95F4-7FE6-B6AA4ADD42EB}"/>
              </a:ext>
            </a:extLst>
          </p:cNvPr>
          <p:cNvSpPr txBox="1">
            <a:spLocks/>
          </p:cNvSpPr>
          <p:nvPr/>
        </p:nvSpPr>
        <p:spPr>
          <a:xfrm>
            <a:off x="41725" y="1128615"/>
            <a:ext cx="8624937" cy="49351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 10. Benefits of Experiment-Driven Development</a:t>
            </a:r>
          </a:p>
          <a:p>
            <a:pPr marL="12700" marR="5080"/>
            <a:r>
              <a:rPr lang="en-US" sz="1400" kern="0" spc="-80" dirty="0">
                <a:solidFill>
                  <a:schemeClr val="accent6"/>
                </a:solidFill>
              </a:rPr>
              <a:t>✅ Reduces risk through evidence-based validation</a:t>
            </a:r>
          </a:p>
          <a:p>
            <a:pPr marL="12700" marR="5080"/>
            <a:r>
              <a:rPr lang="en-US" sz="1400" kern="0" spc="-80" dirty="0">
                <a:solidFill>
                  <a:schemeClr val="accent6"/>
                </a:solidFill>
              </a:rPr>
              <a:t>✅ Promotes a culture of learning and innovation</a:t>
            </a:r>
          </a:p>
          <a:p>
            <a:pPr marL="12700" marR="5080"/>
            <a:r>
              <a:rPr lang="en-US" sz="1400" kern="0" spc="-80" dirty="0">
                <a:solidFill>
                  <a:schemeClr val="accent6"/>
                </a:solidFill>
              </a:rPr>
              <a:t>✅ Improves customer experience via data-backed decisions</a:t>
            </a:r>
          </a:p>
          <a:p>
            <a:pPr marL="12700" marR="5080"/>
            <a:r>
              <a:rPr lang="en-US" sz="1400" kern="0" spc="-80" dirty="0">
                <a:solidFill>
                  <a:schemeClr val="accent6"/>
                </a:solidFill>
              </a:rPr>
              <a:t>✅ Accelerates improvement cycles</a:t>
            </a:r>
          </a:p>
          <a:p>
            <a:pPr marL="12700" marR="5080"/>
            <a:r>
              <a:rPr lang="en-US" sz="1400" kern="0" spc="-80" dirty="0">
                <a:solidFill>
                  <a:schemeClr val="accent6"/>
                </a:solidFill>
              </a:rPr>
              <a:t>✅ Aligns teams with measurable outcomes</a:t>
            </a:r>
          </a:p>
          <a:p>
            <a:pPr marL="12700" marR="5080"/>
            <a:endParaRPr lang="en-US" sz="1400" kern="0" spc="-80" dirty="0">
              <a:solidFill>
                <a:schemeClr val="accent6"/>
              </a:solidFill>
            </a:endParaRPr>
          </a:p>
          <a:p>
            <a:pPr marL="12700" marR="5080"/>
            <a:r>
              <a:rPr lang="en-US" sz="1400" kern="0" spc="-80" dirty="0">
                <a:solidFill>
                  <a:schemeClr val="accent2"/>
                </a:solidFill>
              </a:rPr>
              <a:t>⚠️ 11. Common Pitfalls and Challenges</a:t>
            </a:r>
          </a:p>
          <a:p>
            <a:pPr marL="12700" marR="5080"/>
            <a:r>
              <a:rPr lang="en-US" sz="1400" kern="0" spc="-80" dirty="0">
                <a:solidFill>
                  <a:schemeClr val="accent6"/>
                </a:solidFill>
              </a:rPr>
              <a:t>❌ Poorly defined hypotheses</a:t>
            </a:r>
          </a:p>
          <a:p>
            <a:pPr marL="12700" marR="5080"/>
            <a:r>
              <a:rPr lang="en-US" sz="1400" kern="0" spc="-80" dirty="0">
                <a:solidFill>
                  <a:schemeClr val="accent6"/>
                </a:solidFill>
              </a:rPr>
              <a:t>❌ Biased samples or insufficient randomization</a:t>
            </a:r>
          </a:p>
          <a:p>
            <a:pPr marL="12700" marR="5080"/>
            <a:r>
              <a:rPr lang="en-US" sz="1400" kern="0" spc="-80" dirty="0">
                <a:solidFill>
                  <a:schemeClr val="accent6"/>
                </a:solidFill>
              </a:rPr>
              <a:t>❌ Ignoring confounding variables</a:t>
            </a:r>
          </a:p>
          <a:p>
            <a:pPr marL="12700" marR="5080"/>
            <a:r>
              <a:rPr lang="en-US" sz="1400" kern="0" spc="-80" dirty="0">
                <a:solidFill>
                  <a:schemeClr val="accent6"/>
                </a:solidFill>
              </a:rPr>
              <a:t>❌ Over-emphasis on statistical significance without business impact</a:t>
            </a:r>
          </a:p>
          <a:p>
            <a:pPr marL="12700" marR="5080"/>
            <a:r>
              <a:rPr lang="en-US" sz="1400" kern="0" spc="-80" dirty="0">
                <a:solidFill>
                  <a:schemeClr val="accent6"/>
                </a:solidFill>
              </a:rPr>
              <a:t>❌ Lack of experiment documentation</a:t>
            </a:r>
          </a:p>
          <a:p>
            <a:pPr marL="12700" marR="5080"/>
            <a:r>
              <a:rPr lang="en-US" sz="1400" kern="0" spc="-80" dirty="0">
                <a:solidFill>
                  <a:schemeClr val="accent6"/>
                </a:solidFill>
              </a:rPr>
              <a:t>❌ “Experiment fatigue” — too many parallel tests</a:t>
            </a:r>
          </a:p>
          <a:p>
            <a:pPr marL="12700" marR="5080"/>
            <a:endParaRPr lang="en-US" sz="1400" kern="0" spc="-80" dirty="0">
              <a:solidFill>
                <a:schemeClr val="accent6"/>
              </a:solidFill>
            </a:endParaRPr>
          </a:p>
          <a:p>
            <a:pPr marL="12700" marR="5080"/>
            <a:r>
              <a:rPr lang="en-US" sz="1400" kern="0" spc="-80" dirty="0">
                <a:solidFill>
                  <a:schemeClr val="accent2"/>
                </a:solidFill>
              </a:rPr>
              <a:t>🧭 12. Governance and Ethics in Experimentation </a:t>
            </a:r>
          </a:p>
          <a:p>
            <a:pPr marL="12700" marR="5080"/>
            <a:r>
              <a:rPr lang="en-US" sz="1400" kern="0" spc="-80" dirty="0">
                <a:solidFill>
                  <a:schemeClr val="accent2"/>
                </a:solidFill>
              </a:rPr>
              <a:t>As experiments affect real users, ethics and governance matter:</a:t>
            </a:r>
          </a:p>
          <a:p>
            <a:pPr marL="12700" marR="5080"/>
            <a:r>
              <a:rPr lang="en-US" sz="1400" kern="0" spc="-80" dirty="0">
                <a:solidFill>
                  <a:schemeClr val="accent6"/>
                </a:solidFill>
              </a:rPr>
              <a:t>Informed consent and user transparency</a:t>
            </a:r>
          </a:p>
          <a:p>
            <a:pPr marL="12700" marR="5080"/>
            <a:r>
              <a:rPr lang="en-US" sz="1400" kern="0" spc="-80" dirty="0">
                <a:solidFill>
                  <a:schemeClr val="accent6"/>
                </a:solidFill>
              </a:rPr>
              <a:t>Data privacy compliance (GDPR, HIPAA)</a:t>
            </a:r>
          </a:p>
          <a:p>
            <a:pPr marL="12700" marR="5080"/>
            <a:r>
              <a:rPr lang="en-US" sz="1400" kern="0" spc="-80" dirty="0">
                <a:solidFill>
                  <a:schemeClr val="accent6"/>
                </a:solidFill>
              </a:rPr>
              <a:t>Bias monitoring in AI/ML experiments</a:t>
            </a:r>
          </a:p>
          <a:p>
            <a:pPr marL="12700" marR="5080"/>
            <a:r>
              <a:rPr lang="en-US" sz="1400" kern="0" spc="-80" dirty="0">
                <a:solidFill>
                  <a:schemeClr val="accent6"/>
                </a:solidFill>
              </a:rPr>
              <a:t>Experimentation impact reviews — prevent harm to user groups</a:t>
            </a:r>
          </a:p>
          <a:p>
            <a:pPr marL="12700" marR="5080"/>
            <a:r>
              <a:rPr lang="en-US" sz="1400" kern="0" spc="-80" dirty="0">
                <a:solidFill>
                  <a:schemeClr val="accent6"/>
                </a:solidFill>
              </a:rPr>
              <a:t>Ethical experimentation is a core pillar of Responsible AI + Experiment-Driven Development convergence.</a:t>
            </a:r>
          </a:p>
          <a:p>
            <a:pPr marL="12700" marR="5080"/>
            <a:endParaRPr lang="en-US" sz="1270" kern="0" spc="-80" dirty="0">
              <a:solidFill>
                <a:schemeClr val="accent6"/>
              </a:solidFill>
            </a:endParaRPr>
          </a:p>
        </p:txBody>
      </p:sp>
    </p:spTree>
    <p:extLst>
      <p:ext uri="{BB962C8B-B14F-4D97-AF65-F5344CB8AC3E}">
        <p14:creationId xmlns:p14="http://schemas.microsoft.com/office/powerpoint/2010/main" val="2204132278"/>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E81A6-06DA-958C-443B-C32E2AA1DA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40E949B-C9DB-6FAF-9D41-BB758AE681E5}"/>
              </a:ext>
            </a:extLst>
          </p:cNvPr>
          <p:cNvSpPr txBox="1">
            <a:spLocks/>
          </p:cNvSpPr>
          <p:nvPr/>
        </p:nvSpPr>
        <p:spPr>
          <a:xfrm>
            <a:off x="0" y="4525595"/>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800" dirty="0"/>
          </a:p>
          <a:p>
            <a:pPr marL="12700" marR="5080"/>
            <a:endParaRPr lang="en-US" sz="900" dirty="0"/>
          </a:p>
        </p:txBody>
      </p:sp>
      <p:sp>
        <p:nvSpPr>
          <p:cNvPr id="8" name="object 4">
            <a:extLst>
              <a:ext uri="{FF2B5EF4-FFF2-40B4-BE49-F238E27FC236}">
                <a16:creationId xmlns:a16="http://schemas.microsoft.com/office/drawing/2014/main" id="{A234CA51-D4E1-A448-13ED-24D6685936BA}"/>
              </a:ext>
            </a:extLst>
          </p:cNvPr>
          <p:cNvSpPr/>
          <p:nvPr/>
        </p:nvSpPr>
        <p:spPr>
          <a:xfrm>
            <a:off x="1661159" y="9929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10" name="object 5">
            <a:extLst>
              <a:ext uri="{FF2B5EF4-FFF2-40B4-BE49-F238E27FC236}">
                <a16:creationId xmlns:a16="http://schemas.microsoft.com/office/drawing/2014/main" id="{BDDB297D-67AD-FFEB-0D57-8CDA954C3B3D}"/>
              </a:ext>
            </a:extLst>
          </p:cNvPr>
          <p:cNvSpPr/>
          <p:nvPr/>
        </p:nvSpPr>
        <p:spPr>
          <a:xfrm>
            <a:off x="1661159" y="8404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11" name="Diagram 10">
            <a:extLst>
              <a:ext uri="{FF2B5EF4-FFF2-40B4-BE49-F238E27FC236}">
                <a16:creationId xmlns:a16="http://schemas.microsoft.com/office/drawing/2014/main" id="{67A24A51-2B34-EA70-10EC-2ECF94B952DA}"/>
              </a:ext>
            </a:extLst>
          </p:cNvPr>
          <p:cNvGraphicFramePr/>
          <p:nvPr/>
        </p:nvGraphicFramePr>
        <p:xfrm>
          <a:off x="-76200" y="-151433"/>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bject 2">
            <a:extLst>
              <a:ext uri="{FF2B5EF4-FFF2-40B4-BE49-F238E27FC236}">
                <a16:creationId xmlns:a16="http://schemas.microsoft.com/office/drawing/2014/main" id="{CC609F4F-B5DC-8113-FF93-F30E1CDFAC7D}"/>
              </a:ext>
            </a:extLst>
          </p:cNvPr>
          <p:cNvSpPr txBox="1">
            <a:spLocks/>
          </p:cNvSpPr>
          <p:nvPr/>
        </p:nvSpPr>
        <p:spPr>
          <a:xfrm>
            <a:off x="41725" y="1128615"/>
            <a:ext cx="8624937" cy="46905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70" kern="0" spc="-80" dirty="0">
                <a:solidFill>
                  <a:schemeClr val="accent2"/>
                </a:solidFill>
              </a:rPr>
              <a:t>🧠 13. Applying EDD in Different Domains</a:t>
            </a:r>
          </a:p>
          <a:p>
            <a:pPr marL="12700" marR="5080"/>
            <a:r>
              <a:rPr lang="en-US" sz="1270" kern="0" spc="-80" dirty="0">
                <a:solidFill>
                  <a:schemeClr val="accent2"/>
                </a:solidFill>
              </a:rPr>
              <a:t>Domain	                                                               Application Example</a:t>
            </a:r>
          </a:p>
          <a:p>
            <a:pPr marL="12700" marR="5080"/>
            <a:r>
              <a:rPr lang="en-US" sz="1270" kern="0" spc="-80" dirty="0">
                <a:solidFill>
                  <a:schemeClr val="accent6"/>
                </a:solidFill>
              </a:rPr>
              <a:t>Software Products	                                        A/B testing features or UI layouts</a:t>
            </a:r>
          </a:p>
          <a:p>
            <a:pPr marL="12700" marR="5080"/>
            <a:r>
              <a:rPr lang="en-US" sz="1270" kern="0" spc="-80" dirty="0">
                <a:solidFill>
                  <a:schemeClr val="accent6"/>
                </a:solidFill>
              </a:rPr>
              <a:t>Machine Learning	                                        Comparing model architectures and hyperparameters</a:t>
            </a:r>
          </a:p>
          <a:p>
            <a:pPr marL="12700" marR="5080"/>
            <a:r>
              <a:rPr lang="en-US" sz="1270" kern="0" spc="-80" dirty="0">
                <a:solidFill>
                  <a:schemeClr val="accent6"/>
                </a:solidFill>
              </a:rPr>
              <a:t>GenAI Systems	                                        Evaluating prompt effectiveness, LLM fine-tuning</a:t>
            </a:r>
          </a:p>
          <a:p>
            <a:pPr marL="12700" marR="5080"/>
            <a:r>
              <a:rPr lang="en-US" sz="1270" kern="0" spc="-80" dirty="0">
                <a:solidFill>
                  <a:schemeClr val="accent6"/>
                </a:solidFill>
              </a:rPr>
              <a:t>Business Strategy	                                        Experimenting with pricing models or workflows</a:t>
            </a:r>
          </a:p>
          <a:p>
            <a:pPr marL="12700" marR="5080"/>
            <a:r>
              <a:rPr lang="en-US" sz="1270" kern="0" spc="-80" dirty="0">
                <a:solidFill>
                  <a:schemeClr val="accent6"/>
                </a:solidFill>
              </a:rPr>
              <a:t>Agentic AI Systems	                                        Running controlled reasoning and goal-selection experiments</a:t>
            </a:r>
          </a:p>
          <a:p>
            <a:pPr marL="12700" marR="5080"/>
            <a:endParaRPr lang="en-US" sz="1270" kern="0" spc="-80" dirty="0">
              <a:solidFill>
                <a:schemeClr val="accent6"/>
              </a:solidFill>
            </a:endParaRPr>
          </a:p>
          <a:p>
            <a:pPr marL="12700" marR="5080"/>
            <a:r>
              <a:rPr lang="en-US" sz="1270" kern="0" spc="-80" dirty="0">
                <a:solidFill>
                  <a:schemeClr val="accent2"/>
                </a:solidFill>
              </a:rPr>
              <a:t>🔮 14. Future of Experiment-Driven Development</a:t>
            </a:r>
          </a:p>
          <a:p>
            <a:pPr marL="12700" marR="5080"/>
            <a:r>
              <a:rPr lang="en-US" sz="1270" kern="0" spc="-80" dirty="0">
                <a:solidFill>
                  <a:schemeClr val="accent6"/>
                </a:solidFill>
              </a:rPr>
              <a:t>Automated Experimentation Systems (</a:t>
            </a:r>
            <a:r>
              <a:rPr lang="en-US" sz="1270" kern="0" spc="-80" dirty="0" err="1">
                <a:solidFill>
                  <a:schemeClr val="accent6"/>
                </a:solidFill>
              </a:rPr>
              <a:t>AutoML</a:t>
            </a:r>
            <a:r>
              <a:rPr lang="en-US" sz="1270" kern="0" spc="-80" dirty="0">
                <a:solidFill>
                  <a:schemeClr val="accent6"/>
                </a:solidFill>
              </a:rPr>
              <a:t> + </a:t>
            </a:r>
            <a:r>
              <a:rPr lang="en-US" sz="1270" kern="0" spc="-80" dirty="0" err="1">
                <a:solidFill>
                  <a:schemeClr val="accent6"/>
                </a:solidFill>
              </a:rPr>
              <a:t>AutoA</a:t>
            </a:r>
            <a:r>
              <a:rPr lang="en-US" sz="1270" kern="0" spc="-80" dirty="0">
                <a:solidFill>
                  <a:schemeClr val="accent6"/>
                </a:solidFill>
              </a:rPr>
              <a:t>/B)</a:t>
            </a:r>
          </a:p>
          <a:p>
            <a:pPr marL="12700" marR="5080"/>
            <a:r>
              <a:rPr lang="en-US" sz="1270" kern="0" spc="-80" dirty="0">
                <a:solidFill>
                  <a:schemeClr val="accent6"/>
                </a:solidFill>
              </a:rPr>
              <a:t>Reinforcement Learning + Continuous Experimentation loops</a:t>
            </a:r>
          </a:p>
          <a:p>
            <a:pPr marL="12700" marR="5080"/>
            <a:r>
              <a:rPr lang="en-US" sz="1270" kern="0" spc="-80" dirty="0">
                <a:solidFill>
                  <a:schemeClr val="accent6"/>
                </a:solidFill>
              </a:rPr>
              <a:t>Causal Machine Learning for product decisions</a:t>
            </a:r>
          </a:p>
          <a:p>
            <a:pPr marL="12700" marR="5080"/>
            <a:r>
              <a:rPr lang="en-US" sz="1270" kern="0" spc="-80" dirty="0">
                <a:solidFill>
                  <a:schemeClr val="accent6"/>
                </a:solidFill>
              </a:rPr>
              <a:t>Closed-loop feedback in Agentic AI — where agents autonomously design and evaluate experiments</a:t>
            </a:r>
          </a:p>
          <a:p>
            <a:pPr marL="12700" marR="5080"/>
            <a:r>
              <a:rPr lang="en-US" sz="1270" kern="0" spc="-80" dirty="0">
                <a:solidFill>
                  <a:schemeClr val="accent6"/>
                </a:solidFill>
              </a:rPr>
              <a:t>Integration with Responsible AI for ethical experimentation governance</a:t>
            </a:r>
          </a:p>
          <a:p>
            <a:pPr marL="12700" marR="5080"/>
            <a:endParaRPr lang="en-US" sz="1270" kern="0" spc="-80" dirty="0">
              <a:solidFill>
                <a:schemeClr val="accent6"/>
              </a:solidFill>
            </a:endParaRPr>
          </a:p>
          <a:p>
            <a:pPr marL="12700" marR="5080"/>
            <a:r>
              <a:rPr lang="en-US" sz="1270" kern="0" spc="-80" dirty="0">
                <a:solidFill>
                  <a:schemeClr val="accent2"/>
                </a:solidFill>
              </a:rPr>
              <a:t>🧩 15. Summary Table</a:t>
            </a:r>
          </a:p>
          <a:p>
            <a:pPr marL="12700" marR="5080"/>
            <a:r>
              <a:rPr lang="en-US" sz="1270" kern="0" spc="-80" dirty="0">
                <a:solidFill>
                  <a:schemeClr val="accent2"/>
                </a:solidFill>
              </a:rPr>
              <a:t>Concept	              Description</a:t>
            </a:r>
          </a:p>
          <a:p>
            <a:pPr marL="12700" marR="5080"/>
            <a:r>
              <a:rPr lang="en-US" sz="1270" kern="0" spc="-80" dirty="0">
                <a:solidFill>
                  <a:schemeClr val="accent6"/>
                </a:solidFill>
              </a:rPr>
              <a:t>Core Idea	              Continuous, hypothesis-driven experimentation to guide development</a:t>
            </a:r>
          </a:p>
          <a:p>
            <a:pPr marL="12700" marR="5080"/>
            <a:r>
              <a:rPr lang="en-US" sz="1270" kern="0" spc="-80" dirty="0">
                <a:solidFill>
                  <a:schemeClr val="accent6"/>
                </a:solidFill>
              </a:rPr>
              <a:t>Key Loop	              Hypothesize → Build → Measure → Learn</a:t>
            </a:r>
          </a:p>
          <a:p>
            <a:pPr marL="12700" marR="5080"/>
            <a:r>
              <a:rPr lang="en-US" sz="1270" kern="0" spc="-80" dirty="0">
                <a:solidFill>
                  <a:schemeClr val="accent6"/>
                </a:solidFill>
              </a:rPr>
              <a:t>Metrics	              Primary, Guardrail, Leading</a:t>
            </a:r>
          </a:p>
          <a:p>
            <a:pPr marL="12700" marR="5080"/>
            <a:r>
              <a:rPr lang="en-US" sz="1270" kern="0" spc="-80" dirty="0">
                <a:solidFill>
                  <a:schemeClr val="accent6"/>
                </a:solidFill>
              </a:rPr>
              <a:t>Validation                  Statistical testing &amp; causal inference</a:t>
            </a:r>
          </a:p>
          <a:p>
            <a:pPr marL="12700" marR="5080"/>
            <a:r>
              <a:rPr lang="en-US" sz="1270" kern="0" spc="-80" dirty="0">
                <a:solidFill>
                  <a:schemeClr val="accent6"/>
                </a:solidFill>
              </a:rPr>
              <a:t>Tools	              Optimizely, </a:t>
            </a:r>
            <a:r>
              <a:rPr lang="en-US" sz="1270" kern="0" spc="-80" dirty="0" err="1">
                <a:solidFill>
                  <a:schemeClr val="accent6"/>
                </a:solidFill>
              </a:rPr>
              <a:t>LaunchDarkly</a:t>
            </a:r>
            <a:r>
              <a:rPr lang="en-US" sz="1270" kern="0" spc="-80" dirty="0">
                <a:solidFill>
                  <a:schemeClr val="accent6"/>
                </a:solidFill>
              </a:rPr>
              <a:t>, </a:t>
            </a:r>
            <a:r>
              <a:rPr lang="en-US" sz="1270" kern="0" spc="-80" dirty="0" err="1">
                <a:solidFill>
                  <a:schemeClr val="accent6"/>
                </a:solidFill>
              </a:rPr>
              <a:t>MLflow</a:t>
            </a:r>
            <a:r>
              <a:rPr lang="en-US" sz="1270" kern="0" spc="-80" dirty="0">
                <a:solidFill>
                  <a:schemeClr val="accent6"/>
                </a:solidFill>
              </a:rPr>
              <a:t>, </a:t>
            </a:r>
            <a:r>
              <a:rPr lang="en-US" sz="1270" kern="0" spc="-80" dirty="0" err="1">
                <a:solidFill>
                  <a:schemeClr val="accent6"/>
                </a:solidFill>
              </a:rPr>
              <a:t>PromptLayer</a:t>
            </a:r>
            <a:endParaRPr lang="en-US" sz="1270" kern="0" spc="-80" dirty="0">
              <a:solidFill>
                <a:schemeClr val="accent6"/>
              </a:solidFill>
            </a:endParaRPr>
          </a:p>
          <a:p>
            <a:pPr marL="12700" marR="5080"/>
            <a:r>
              <a:rPr lang="en-US" sz="1270" kern="0" spc="-80" dirty="0">
                <a:solidFill>
                  <a:schemeClr val="accent6"/>
                </a:solidFill>
              </a:rPr>
              <a:t>Applications              Feature testing, ML model selection, GenAI prompt tuning</a:t>
            </a:r>
          </a:p>
          <a:p>
            <a:pPr marL="12700" marR="5080"/>
            <a:r>
              <a:rPr lang="en-US" sz="1270" kern="0" spc="-80" dirty="0">
                <a:solidFill>
                  <a:schemeClr val="accent6"/>
                </a:solidFill>
              </a:rPr>
              <a:t>Values	              Learning, Evidence, Adaptation, Ethics</a:t>
            </a:r>
          </a:p>
        </p:txBody>
      </p:sp>
    </p:spTree>
    <p:extLst>
      <p:ext uri="{BB962C8B-B14F-4D97-AF65-F5344CB8AC3E}">
        <p14:creationId xmlns:p14="http://schemas.microsoft.com/office/powerpoint/2010/main" val="877277025"/>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E3D1D-EA3C-FA34-2E2D-C9DB8FE3988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7C53737-C1DD-B409-3391-51F90E8E5A8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AD0CBA-A06B-C320-447E-6E18FD8320F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5AA44E-ECE2-A7B3-AF03-10703D5D1789}"/>
              </a:ext>
            </a:extLst>
          </p:cNvPr>
          <p:cNvGraphicFramePr/>
          <p:nvPr>
            <p:extLst>
              <p:ext uri="{D42A27DB-BD31-4B8C-83A1-F6EECF244321}">
                <p14:modId xmlns:p14="http://schemas.microsoft.com/office/powerpoint/2010/main" val="1220798199"/>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FFF9C3E-FF14-31D1-3302-ECC95AD6975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96D03DE-9A2B-90FE-2B8B-4A5B3ADC8D2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EB258FD7-C19C-8EF0-9607-9F5217F4D974}"/>
              </a:ext>
            </a:extLst>
          </p:cNvPr>
          <p:cNvSpPr txBox="1">
            <a:spLocks/>
          </p:cNvSpPr>
          <p:nvPr/>
        </p:nvSpPr>
        <p:spPr>
          <a:xfrm>
            <a:off x="31214" y="754478"/>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p>
          <a:p>
            <a:pPr marL="12700" marR="5080"/>
            <a:r>
              <a:rPr lang="en-US" sz="1500" kern="0" spc="-80" dirty="0">
                <a:solidFill>
                  <a:schemeClr val="accent2"/>
                </a:solidFill>
              </a:rPr>
              <a:t>  </a:t>
            </a:r>
            <a:r>
              <a:rPr lang="en-US" sz="1500" dirty="0">
                <a:hlinkClick r:id="rId7"/>
              </a:rPr>
              <a:t>Experiment-Driven Development In A Nutshell – </a:t>
            </a:r>
            <a:r>
              <a:rPr lang="en-US" sz="1500" dirty="0" err="1">
                <a:hlinkClick r:id="rId7"/>
              </a:rPr>
              <a:t>FourWeekMBA</a:t>
            </a:r>
            <a:endParaRPr lang="en-US" sz="1500" dirty="0"/>
          </a:p>
          <a:p>
            <a:pPr marL="12700" marR="5080"/>
            <a:r>
              <a:rPr lang="en-US" sz="1500" kern="0" spc="-80" dirty="0">
                <a:solidFill>
                  <a:schemeClr val="accent2"/>
                </a:solidFill>
              </a:rPr>
              <a:t>  </a:t>
            </a:r>
            <a:r>
              <a:rPr lang="en-IN" sz="1500" dirty="0">
                <a:hlinkClick r:id="rId8"/>
              </a:rPr>
              <a:t>Experimentation-driven development | </a:t>
            </a:r>
            <a:r>
              <a:rPr lang="en-IN" sz="1500" dirty="0" err="1">
                <a:hlinkClick r:id="rId8"/>
              </a:rPr>
              <a:t>Statsig</a:t>
            </a:r>
            <a:endParaRPr lang="en-IN" sz="1500" dirty="0"/>
          </a:p>
          <a:p>
            <a:pPr marL="12700" marR="5080"/>
            <a:r>
              <a:rPr lang="en-IN" sz="1500" kern="0" spc="-80" dirty="0">
                <a:solidFill>
                  <a:schemeClr val="accent2"/>
                </a:solidFill>
              </a:rPr>
              <a:t>  </a:t>
            </a:r>
            <a:r>
              <a:rPr lang="en-US" sz="1500" dirty="0">
                <a:hlinkClick r:id="rId9"/>
              </a:rPr>
              <a:t>Experiment Driven Development | Sama</a:t>
            </a:r>
            <a:endParaRPr lang="en-US" sz="1500" dirty="0"/>
          </a:p>
          <a:p>
            <a:pPr marL="12700" marR="5080"/>
            <a:r>
              <a:rPr lang="en-US" sz="1500" kern="0" spc="-80" dirty="0">
                <a:solidFill>
                  <a:schemeClr val="accent2"/>
                </a:solidFill>
              </a:rPr>
              <a:t>  </a:t>
            </a:r>
            <a:r>
              <a:rPr lang="en-US" sz="1500" dirty="0">
                <a:hlinkClick r:id="rId10"/>
              </a:rPr>
              <a:t>How to apply hypothesis-driven development | </a:t>
            </a:r>
            <a:r>
              <a:rPr lang="en-US" sz="1500" dirty="0" err="1">
                <a:hlinkClick r:id="rId10"/>
              </a:rPr>
              <a:t>Statsig</a:t>
            </a:r>
            <a:endParaRPr lang="en-US" sz="1500" dirty="0"/>
          </a:p>
          <a:p>
            <a:pPr marL="12700" marR="5080"/>
            <a:r>
              <a:rPr lang="en-US" sz="1500" kern="0" spc="-80" dirty="0">
                <a:solidFill>
                  <a:schemeClr val="accent2"/>
                </a:solidFill>
              </a:rPr>
              <a:t>  </a:t>
            </a:r>
            <a:r>
              <a:rPr lang="en-US" sz="1500" dirty="0">
                <a:hlinkClick r:id="rId11"/>
              </a:rPr>
              <a:t>Data-driven hypothesis development | Thoughtworks Germany</a:t>
            </a:r>
            <a:endParaRPr lang="en-US" sz="1500" dirty="0"/>
          </a:p>
          <a:p>
            <a:pPr marL="12700" marR="5080"/>
            <a:r>
              <a:rPr lang="en-US" sz="1500" kern="0" spc="-80" dirty="0">
                <a:solidFill>
                  <a:schemeClr val="accent2"/>
                </a:solidFill>
              </a:rPr>
              <a:t>  </a:t>
            </a:r>
            <a:r>
              <a:rPr lang="en-US" sz="1500" dirty="0">
                <a:hlinkClick r:id="rId12"/>
              </a:rPr>
              <a:t>Micro-Experiments and Experiment Driven Development</a:t>
            </a:r>
            <a:endParaRPr lang="en-US" sz="1500" dirty="0"/>
          </a:p>
          <a:p>
            <a:pPr marL="12700" marR="5080"/>
            <a:r>
              <a:rPr lang="en-US" sz="1500" kern="0" spc="-80" dirty="0">
                <a:solidFill>
                  <a:schemeClr val="accent2"/>
                </a:solidFill>
              </a:rPr>
              <a:t>  </a:t>
            </a:r>
            <a:r>
              <a:rPr lang="en-US" sz="1500" dirty="0">
                <a:hlinkClick r:id="rId13"/>
              </a:rPr>
              <a:t>A/B Testing Simplified: Steps to Data-Driven Decisions | </a:t>
            </a:r>
            <a:r>
              <a:rPr lang="en-US" sz="1500" dirty="0" err="1">
                <a:hlinkClick r:id="rId13"/>
              </a:rPr>
              <a:t>Statsig</a:t>
            </a:r>
            <a:endParaRPr lang="en-US" sz="1500" dirty="0"/>
          </a:p>
          <a:p>
            <a:pPr marL="12700" marR="5080"/>
            <a:r>
              <a:rPr lang="en-US" sz="1500" dirty="0"/>
              <a:t>  </a:t>
            </a:r>
            <a:r>
              <a:rPr lang="en-IN" sz="1500" dirty="0">
                <a:hlinkClick r:id="rId14"/>
              </a:rPr>
              <a:t>A/B testing - Wikipedia</a:t>
            </a:r>
            <a:endParaRPr lang="en-US" sz="1500" dirty="0"/>
          </a:p>
          <a:p>
            <a:pPr marL="12700" marR="5080"/>
            <a:r>
              <a:rPr lang="en-US" sz="1500" kern="0" spc="-80" dirty="0">
                <a:solidFill>
                  <a:schemeClr val="accent2"/>
                </a:solidFill>
              </a:rPr>
              <a:t>  </a:t>
            </a:r>
            <a:r>
              <a:rPr lang="en-US" sz="1500" dirty="0">
                <a:hlinkClick r:id="rId15"/>
              </a:rPr>
              <a:t>15 Math Concepts Every Data Scientist Should Know</a:t>
            </a:r>
            <a:r>
              <a:rPr lang="en-US" sz="1500" dirty="0"/>
              <a:t> </a:t>
            </a:r>
            <a:r>
              <a:rPr lang="en-US" sz="1500" kern="0" spc="-80" dirty="0">
                <a:solidFill>
                  <a:schemeClr val="accent6"/>
                </a:solidFill>
              </a:rPr>
              <a:t>(Check especially Chapters 2 &amp; 7 for A/B Testing)</a:t>
            </a:r>
          </a:p>
          <a:p>
            <a:pPr marL="12700" marR="5080"/>
            <a:r>
              <a:rPr lang="en-US" sz="1500" kern="0" spc="-80" dirty="0">
                <a:solidFill>
                  <a:schemeClr val="accent6"/>
                </a:solidFill>
              </a:rPr>
              <a:t>  </a:t>
            </a:r>
            <a:r>
              <a:rPr lang="en-US" sz="1500" dirty="0">
                <a:hlinkClick r:id="rId16"/>
              </a:rPr>
              <a:t>A/B Testing Statistics: An Intuitive Guide For Non-Mathematicians | CRO</a:t>
            </a:r>
            <a:r>
              <a:rPr lang="en-US" sz="1500" kern="0" spc="-80" dirty="0">
                <a:solidFill>
                  <a:schemeClr val="accent6"/>
                </a:solidFill>
              </a:rPr>
              <a:t>  </a:t>
            </a:r>
          </a:p>
          <a:p>
            <a:pPr marL="12700" marR="5080"/>
            <a:r>
              <a:rPr lang="en-US" sz="1500" kern="0" spc="-80" dirty="0">
                <a:solidFill>
                  <a:schemeClr val="accent6"/>
                </a:solidFill>
              </a:rPr>
              <a:t>  </a:t>
            </a:r>
            <a:r>
              <a:rPr lang="en-IN" sz="1500" dirty="0">
                <a:hlinkClick r:id="rId17"/>
              </a:rPr>
              <a:t>A/B Testing: A Complete Guide to Statistical Testing | by Francesco Casalegno</a:t>
            </a:r>
            <a:endParaRPr lang="en-IN" sz="1500" dirty="0"/>
          </a:p>
          <a:p>
            <a:pPr marL="12700" marR="5080"/>
            <a:r>
              <a:rPr lang="en-IN" sz="1500" kern="0" spc="-80" dirty="0">
                <a:solidFill>
                  <a:schemeClr val="accent6"/>
                </a:solidFill>
              </a:rPr>
              <a:t>  </a:t>
            </a:r>
            <a:r>
              <a:rPr lang="en-US" sz="1500" dirty="0">
                <a:hlinkClick r:id="rId18"/>
              </a:rPr>
              <a:t>A/B Testing Statistics Made Simple – </a:t>
            </a:r>
            <a:r>
              <a:rPr lang="en-US" sz="1500" dirty="0" err="1">
                <a:hlinkClick r:id="rId18"/>
              </a:rPr>
              <a:t>Invesp</a:t>
            </a:r>
            <a:endParaRPr lang="en-IN" sz="1500" dirty="0"/>
          </a:p>
          <a:p>
            <a:pPr marL="12700" marR="5080"/>
            <a:r>
              <a:rPr lang="en-IN" sz="1500" kern="0" spc="-80" dirty="0">
                <a:solidFill>
                  <a:schemeClr val="accent6"/>
                </a:solidFill>
              </a:rPr>
              <a:t>  </a:t>
            </a:r>
            <a:r>
              <a:rPr lang="en-US" sz="1500" dirty="0">
                <a:hlinkClick r:id="rId19"/>
              </a:rPr>
              <a:t>Statistical Significance in A/B Testing – a Complete Guide | Analytics-Toolkit.com</a:t>
            </a:r>
            <a:endParaRPr lang="en-US" sz="1500" kern="0" spc="-80" dirty="0">
              <a:solidFill>
                <a:schemeClr val="accent6"/>
              </a:solidFill>
            </a:endParaRPr>
          </a:p>
          <a:p>
            <a:pPr marL="12700" marR="5080"/>
            <a:r>
              <a:rPr lang="en-US" sz="1500" kern="0" spc="-80" dirty="0">
                <a:solidFill>
                  <a:schemeClr val="accent6"/>
                </a:solidFill>
              </a:rPr>
              <a:t>  </a:t>
            </a:r>
            <a:r>
              <a:rPr lang="en-IN" sz="1500" dirty="0">
                <a:hlinkClick r:id="rId20"/>
              </a:rPr>
              <a:t>Awesome-Agile/A-B-Testing.md at master · </a:t>
            </a:r>
            <a:r>
              <a:rPr lang="en-IN" sz="1500" dirty="0" err="1">
                <a:hlinkClick r:id="rId20"/>
              </a:rPr>
              <a:t>lorabv</a:t>
            </a:r>
            <a:r>
              <a:rPr lang="en-IN" sz="1500" dirty="0">
                <a:hlinkClick r:id="rId20"/>
              </a:rPr>
              <a:t>/awesome-agile · GitHub</a:t>
            </a:r>
            <a:endParaRPr lang="en-IN" sz="1500" dirty="0"/>
          </a:p>
          <a:p>
            <a:pPr marL="12700" marR="5080"/>
            <a:r>
              <a:rPr lang="en-IN" sz="1500" kern="0" spc="-80" dirty="0">
                <a:solidFill>
                  <a:schemeClr val="accent6"/>
                </a:solidFill>
              </a:rPr>
              <a:t>  </a:t>
            </a:r>
            <a:r>
              <a:rPr lang="en-IN" sz="1500" dirty="0">
                <a:hlinkClick r:id="rId21"/>
              </a:rPr>
              <a:t>The ultimate guide to A/B testing | Ronny </a:t>
            </a:r>
            <a:r>
              <a:rPr lang="en-IN" sz="1500" dirty="0" err="1">
                <a:hlinkClick r:id="rId21"/>
              </a:rPr>
              <a:t>Kohavi</a:t>
            </a:r>
            <a:r>
              <a:rPr lang="en-IN" sz="1500" dirty="0">
                <a:hlinkClick r:id="rId21"/>
              </a:rPr>
              <a:t> (Airbnb, Microsoft, Amazon)</a:t>
            </a:r>
            <a:endParaRPr lang="en-IN" sz="1500" dirty="0"/>
          </a:p>
          <a:p>
            <a:pPr marL="12700" marR="5080"/>
            <a:r>
              <a:rPr lang="en-US" sz="1500" kern="0" spc="-80" dirty="0">
                <a:solidFill>
                  <a:schemeClr val="accent6"/>
                </a:solidFill>
              </a:rPr>
              <a:t>  </a:t>
            </a:r>
            <a:r>
              <a:rPr lang="en-US" sz="1500" dirty="0">
                <a:hlinkClick r:id="rId22"/>
              </a:rPr>
              <a:t>Experimentation for Engineers: From A/B Testing to Bayesian Optimization</a:t>
            </a:r>
            <a:endParaRPr lang="en-US" sz="1500" dirty="0"/>
          </a:p>
          <a:p>
            <a:pPr marL="12700" marR="5080"/>
            <a:r>
              <a:rPr lang="en-US" sz="1500" kern="0" spc="-80" dirty="0">
                <a:solidFill>
                  <a:schemeClr val="accent2"/>
                </a:solidFill>
              </a:rPr>
              <a:t>  </a:t>
            </a:r>
            <a:r>
              <a:rPr lang="en-US" sz="1500" dirty="0">
                <a:hlinkClick r:id="rId23"/>
              </a:rPr>
              <a:t>A Summary of Udacity A/B Testing Course | by Kelly Peng | Towards Data Science</a:t>
            </a:r>
            <a:endParaRPr lang="en-US" sz="1500" dirty="0"/>
          </a:p>
          <a:p>
            <a:pPr marL="12700" marR="5080"/>
            <a:r>
              <a:rPr lang="en-US" sz="1500" kern="0" spc="-80" dirty="0">
                <a:solidFill>
                  <a:schemeClr val="accent2"/>
                </a:solidFill>
              </a:rPr>
              <a:t>  </a:t>
            </a:r>
            <a:r>
              <a:rPr lang="en-US" sz="1500" dirty="0">
                <a:hlinkClick r:id="rId24"/>
              </a:rPr>
              <a:t>Experiment-Driven Development: A/B Testing and Beyond with AI | LinkedIn</a:t>
            </a:r>
            <a:endParaRPr lang="en-US" sz="1500" kern="0" spc="-80" dirty="0">
              <a:solidFill>
                <a:schemeClr val="accent2"/>
              </a:solidFill>
            </a:endParaRPr>
          </a:p>
        </p:txBody>
      </p:sp>
      <p:grpSp>
        <p:nvGrpSpPr>
          <p:cNvPr id="3" name="Group 2">
            <a:extLst>
              <a:ext uri="{FF2B5EF4-FFF2-40B4-BE49-F238E27FC236}">
                <a16:creationId xmlns:a16="http://schemas.microsoft.com/office/drawing/2014/main" id="{2150EF93-BBD2-8F8E-A1B1-D2151FA4DF95}"/>
              </a:ext>
            </a:extLst>
          </p:cNvPr>
          <p:cNvGrpSpPr/>
          <p:nvPr/>
        </p:nvGrpSpPr>
        <p:grpSpPr>
          <a:xfrm>
            <a:off x="-10160" y="-534941"/>
            <a:ext cx="9084945" cy="935415"/>
            <a:chOff x="0" y="0"/>
            <a:chExt cx="9084945" cy="935415"/>
          </a:xfrm>
        </p:grpSpPr>
        <p:sp>
          <p:nvSpPr>
            <p:cNvPr id="9" name="Rectangle: Rounded Corners 8">
              <a:extLst>
                <a:ext uri="{FF2B5EF4-FFF2-40B4-BE49-F238E27FC236}">
                  <a16:creationId xmlns:a16="http://schemas.microsoft.com/office/drawing/2014/main" id="{B4E94023-00B4-6E96-563B-CBBA6D6DBF6B}"/>
                </a:ext>
              </a:extLst>
            </p:cNvPr>
            <p:cNvSpPr/>
            <p:nvPr/>
          </p:nvSpPr>
          <p:spPr>
            <a:xfrm>
              <a:off x="0" y="0"/>
              <a:ext cx="9084945" cy="935415"/>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BB2A7BD9-633D-D72E-D8EF-2EE0D2F14D8E}"/>
                </a:ext>
              </a:extLst>
            </p:cNvPr>
            <p:cNvSpPr txBox="1"/>
            <p:nvPr/>
          </p:nvSpPr>
          <p:spPr>
            <a:xfrm>
              <a:off x="45663" y="45663"/>
              <a:ext cx="8993619" cy="8440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solidFill>
                    <a:prstClr val="white"/>
                  </a:solidFill>
                  <a:latin typeface="Calibri"/>
                  <a:ea typeface="+mn-ea"/>
                  <a:cs typeface="+mn-cs"/>
                </a:rPr>
                <a:t>Experiment Driven Development</a:t>
              </a:r>
              <a:endParaRPr lang="en-US" sz="3900" kern="1200" dirty="0"/>
            </a:p>
          </p:txBody>
        </p:sp>
      </p:grpSp>
    </p:spTree>
    <p:extLst>
      <p:ext uri="{BB962C8B-B14F-4D97-AF65-F5344CB8AC3E}">
        <p14:creationId xmlns:p14="http://schemas.microsoft.com/office/powerpoint/2010/main" val="499525933"/>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D7E9F-7769-4B64-EB34-943C370241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0287DAF-D09A-3ABA-4CD6-CC12905073AB}"/>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E71868-1526-93E9-64D5-DF2021650575}"/>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33C7B9-A001-3CAA-B4E2-B8E31FB23084}"/>
              </a:ext>
            </a:extLst>
          </p:cNvPr>
          <p:cNvGraphicFramePr/>
          <p:nvPr>
            <p:extLst>
              <p:ext uri="{D42A27DB-BD31-4B8C-83A1-F6EECF244321}">
                <p14:modId xmlns:p14="http://schemas.microsoft.com/office/powerpoint/2010/main" val="193169978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57D37C8-DF1C-FA36-C27A-A6C6DBED078A}"/>
              </a:ext>
            </a:extLst>
          </p:cNvPr>
          <p:cNvSpPr txBox="1">
            <a:spLocks/>
          </p:cNvSpPr>
          <p:nvPr/>
        </p:nvSpPr>
        <p:spPr>
          <a:xfrm>
            <a:off x="212857" y="121908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100">
                <a:hlinkClick r:id="rId7"/>
              </a:rPr>
              <a:t>ML-Contests-Conf</a:t>
            </a:r>
            <a:endParaRPr lang="en-US" sz="1100" dirty="0"/>
          </a:p>
          <a:p>
            <a:pPr marL="12700" marR="5080"/>
            <a:r>
              <a:rPr lang="en-US" sz="1100" dirty="0">
                <a:hlinkClick r:id="rId8"/>
              </a:rPr>
              <a:t>290+ Machine Learning Projects with Python</a:t>
            </a:r>
            <a:endParaRPr lang="en-US" sz="1100" dirty="0"/>
          </a:p>
          <a:p>
            <a:pPr marL="12700" marR="5080"/>
            <a:r>
              <a:rPr lang="en-US" sz="1100" dirty="0" err="1">
                <a:hlinkClick r:id="rId9"/>
              </a:rPr>
              <a:t>DeepLearningExamples</a:t>
            </a:r>
            <a:endParaRPr lang="en-US" sz="1100" dirty="0"/>
          </a:p>
          <a:p>
            <a:pPr marL="12700" marR="5080"/>
            <a:r>
              <a:rPr lang="en-US" sz="1100" dirty="0" err="1">
                <a:hlinkClick r:id="rId10"/>
              </a:rPr>
              <a:t>GenerativeAIExamples</a:t>
            </a:r>
            <a:endParaRPr lang="en-US" sz="1100" dirty="0"/>
          </a:p>
          <a:p>
            <a:pPr marL="12700" marR="5080"/>
            <a:r>
              <a:rPr lang="en-IN" sz="1100" dirty="0">
                <a:hlinkClick r:id="rId11"/>
              </a:rPr>
              <a:t>Microsoft Certified: Azure Data Engineer Associate - Certifications | Microsoft Learn</a:t>
            </a:r>
            <a:endParaRPr lang="en-IN" sz="1100" dirty="0"/>
          </a:p>
          <a:p>
            <a:pPr marL="12700" marR="5080"/>
            <a:r>
              <a:rPr lang="en-IN" sz="1100" dirty="0">
                <a:hlinkClick r:id="rId12"/>
              </a:rPr>
              <a:t>Microsoft Certified: Azure AI Fundamentals - Certifications | Microsoft Learn</a:t>
            </a:r>
            <a:endParaRPr lang="en-IN" sz="1100" dirty="0"/>
          </a:p>
          <a:p>
            <a:pPr marL="12700" marR="5080"/>
            <a:r>
              <a:rPr lang="en-IN" sz="1100" dirty="0">
                <a:hlinkClick r:id="rId13"/>
              </a:rPr>
              <a:t>Microsoft Certified: Azure AI Engineer Associate - Certifications | Microsoft Learn</a:t>
            </a:r>
            <a:endParaRPr lang="en-IN" sz="1100" dirty="0"/>
          </a:p>
          <a:p>
            <a:pPr marL="12700" marR="5080"/>
            <a:r>
              <a:rPr lang="en-IN" sz="1100" dirty="0">
                <a:hlinkClick r:id="rId14"/>
              </a:rPr>
              <a:t>Microsoft Certified: Azure Data Scientist Associate - Certifications | Microsoft Learn</a:t>
            </a:r>
            <a:endParaRPr lang="en-IN" sz="1100" dirty="0"/>
          </a:p>
          <a:p>
            <a:pPr marL="12700" marR="5080"/>
            <a:r>
              <a:rPr lang="en-US" sz="1100" dirty="0">
                <a:hlinkClick r:id="rId15"/>
              </a:rPr>
              <a:t>AWS Certified Data Engineer Associate 2025 - Hands On! | Udemy</a:t>
            </a:r>
            <a:endParaRPr lang="en-IN" sz="1100" dirty="0"/>
          </a:p>
          <a:p>
            <a:pPr marL="12700" marR="5080"/>
            <a:r>
              <a:rPr lang="en-US" sz="1100" dirty="0">
                <a:hlinkClick r:id="rId16"/>
              </a:rPr>
              <a:t>AWS Certified Machine Learning Engineer Associate: Hands On! | Udemy</a:t>
            </a:r>
            <a:endParaRPr lang="en-IN" sz="1100" dirty="0"/>
          </a:p>
          <a:p>
            <a:pPr marL="12700" marR="5080"/>
            <a:r>
              <a:rPr lang="en-US" sz="1100" dirty="0">
                <a:hlinkClick r:id="rId17"/>
              </a:rPr>
              <a:t>AWS Certified Machine Learning Specialty 2025 - Hands On! | Udemy</a:t>
            </a:r>
            <a:endParaRPr lang="en-IN" sz="1100" dirty="0"/>
          </a:p>
          <a:p>
            <a:pPr marL="12700" marR="5080"/>
            <a:r>
              <a:rPr lang="en-IN" sz="1100" dirty="0">
                <a:hlinkClick r:id="rId18"/>
              </a:rPr>
              <a:t>GCP - Google Cloud Professional Data Engineer Certification | Udemy</a:t>
            </a:r>
            <a:endParaRPr lang="en-IN" sz="1100" dirty="0"/>
          </a:p>
          <a:p>
            <a:pPr marL="12700" marR="5080"/>
            <a:r>
              <a:rPr lang="it-IT" sz="1100" dirty="0">
                <a:hlinkClick r:id="rId19"/>
              </a:rPr>
              <a:t>NVIDIA-Certified Associate - Generative AI LLMs (NCA-GENL) | Udemy</a:t>
            </a:r>
            <a:endParaRPr lang="en-IN" sz="1100" dirty="0"/>
          </a:p>
          <a:p>
            <a:pPr marL="12700" marR="5080"/>
            <a:r>
              <a:rPr lang="it-IT" sz="1100" dirty="0">
                <a:hlinkClick r:id="rId20"/>
              </a:rPr>
              <a:t>NVIDIA-Certified Associate: Generative AI and LLM (NCA-GENL) | Udemy</a:t>
            </a:r>
            <a:endParaRPr lang="en-IN" sz="1100" dirty="0"/>
          </a:p>
          <a:p>
            <a:pPr marL="12700" marR="5080"/>
            <a:r>
              <a:rPr lang="it-IT" sz="1100" dirty="0">
                <a:hlinkClick r:id="rId21"/>
              </a:rPr>
              <a:t>NVIDIA-Certified Associate: Gen AI Multimodal (NCA-GENM) | Udemy</a:t>
            </a:r>
            <a:endParaRPr lang="en-US" sz="1100" dirty="0">
              <a:hlinkClick r:id="rId8"/>
            </a:endParaRPr>
          </a:p>
          <a:p>
            <a:pPr marL="12700" marR="5080"/>
            <a:r>
              <a:rPr lang="en-US" sz="1100" dirty="0">
                <a:hlinkClick r:id="rId8"/>
              </a:rPr>
              <a:t>Coders Camp | Medium</a:t>
            </a:r>
            <a:endParaRPr lang="en-US" sz="1100" dirty="0"/>
          </a:p>
          <a:p>
            <a:pPr marL="12700" marR="5080"/>
            <a:r>
              <a:rPr lang="en-US" sz="1100" dirty="0">
                <a:hlinkClick r:id="rId22"/>
              </a:rPr>
              <a:t>Ace The Data Science Interview</a:t>
            </a:r>
            <a:endParaRPr lang="en-US" sz="1100" dirty="0"/>
          </a:p>
          <a:p>
            <a:pPr marL="12700" marR="5080"/>
            <a:r>
              <a:rPr lang="en-US" sz="1100" dirty="0">
                <a:hlinkClick r:id="rId23"/>
              </a:rPr>
              <a:t>Cracking the Data Science Interview</a:t>
            </a:r>
            <a:endParaRPr lang="en-US" sz="1100" dirty="0"/>
          </a:p>
          <a:p>
            <a:pPr marL="12700" marR="5080"/>
            <a:r>
              <a:rPr lang="en-US" sz="1100" dirty="0">
                <a:hlinkClick r:id="rId24"/>
              </a:rPr>
              <a:t>Introduction to Machine Learning Interviews</a:t>
            </a:r>
            <a:endParaRPr lang="en-US" sz="1100" dirty="0"/>
          </a:p>
          <a:p>
            <a:pPr marL="12700" marR="5080"/>
            <a:r>
              <a:rPr lang="en-US" sz="1100" dirty="0">
                <a:hlinkClick r:id="rId25"/>
              </a:rPr>
              <a:t>ML Questions</a:t>
            </a:r>
            <a:endParaRPr lang="en-US" sz="1100" dirty="0"/>
          </a:p>
          <a:p>
            <a:pPr marL="12700" marR="5080"/>
            <a:r>
              <a:rPr lang="en-IN" sz="1100" dirty="0">
                <a:hlinkClick r:id="rId26"/>
              </a:rPr>
              <a:t>Machine-Learning-Interview</a:t>
            </a:r>
            <a:endParaRPr lang="en-IN" sz="1100" dirty="0"/>
          </a:p>
          <a:p>
            <a:pPr marL="12700" marR="5080"/>
            <a:r>
              <a:rPr lang="en-US" sz="1100" dirty="0">
                <a:hlinkClick r:id="rId27"/>
              </a:rPr>
              <a:t>100-Days-Of-ML-Code</a:t>
            </a:r>
            <a:endParaRPr lang="en-US" sz="1100" dirty="0"/>
          </a:p>
          <a:p>
            <a:pPr marL="12700" marR="5080"/>
            <a:r>
              <a:rPr lang="en-IN" sz="1100" dirty="0">
                <a:hlinkClick r:id="rId28"/>
              </a:rPr>
              <a:t>Machine Learning Interviews[Book]</a:t>
            </a:r>
            <a:endParaRPr lang="en-US" sz="1100" dirty="0"/>
          </a:p>
          <a:p>
            <a:pPr marL="12700" marR="5080"/>
            <a:r>
              <a:rPr lang="en-US" sz="1100" dirty="0">
                <a:hlinkClick r:id="rId29"/>
              </a:rPr>
              <a:t>Deep Learning Interviews</a:t>
            </a:r>
            <a:endParaRPr lang="en-US" sz="1100" dirty="0"/>
          </a:p>
          <a:p>
            <a:pPr marL="12700" marR="5080"/>
            <a:r>
              <a:rPr lang="en-IN" sz="1100" dirty="0">
                <a:hlinkClick r:id="rId30"/>
              </a:rPr>
              <a:t>Machine Learning System Design</a:t>
            </a:r>
            <a:endParaRPr lang="en-US" sz="1100" dirty="0"/>
          </a:p>
          <a:p>
            <a:pPr marL="12700" marR="5080"/>
            <a:r>
              <a:rPr lang="en-US" sz="1100" dirty="0">
                <a:hlinkClick r:id="rId31"/>
              </a:rPr>
              <a:t>Machine Learning System Design Interview</a:t>
            </a:r>
            <a:endParaRPr lang="en-US" sz="1100" dirty="0"/>
          </a:p>
          <a:p>
            <a:pPr marL="12700" marR="5080"/>
            <a:r>
              <a:rPr lang="en-US" sz="1100" dirty="0">
                <a:hlinkClick r:id="rId32"/>
              </a:rPr>
              <a:t>Generative AI System Design Interview</a:t>
            </a:r>
            <a:endParaRPr lang="en-US" sz="1100" dirty="0"/>
          </a:p>
          <a:p>
            <a:pPr marL="12700" marR="5080"/>
            <a:r>
              <a:rPr lang="en-US" sz="1100" dirty="0">
                <a:hlinkClick r:id="rId33"/>
              </a:rPr>
              <a:t>Data-Science-Interview-Questions-Answers</a:t>
            </a:r>
            <a:endParaRPr lang="en-US" sz="1100" dirty="0"/>
          </a:p>
        </p:txBody>
      </p:sp>
    </p:spTree>
    <p:extLst>
      <p:ext uri="{BB962C8B-B14F-4D97-AF65-F5344CB8AC3E}">
        <p14:creationId xmlns:p14="http://schemas.microsoft.com/office/powerpoint/2010/main" val="996913443"/>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65061-880A-7812-F861-09535042BD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775AE90-4F7C-8AD0-1B0F-530129748483}"/>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DF7569A-B267-0AB6-189D-86ACA08CC75F}"/>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1CA98FC-8DA9-ABF4-5430-0007F0F2DF4E}"/>
              </a:ext>
            </a:extLst>
          </p:cNvPr>
          <p:cNvGraphicFramePr/>
          <p:nvPr>
            <p:extLst>
              <p:ext uri="{D42A27DB-BD31-4B8C-83A1-F6EECF244321}">
                <p14:modId xmlns:p14="http://schemas.microsoft.com/office/powerpoint/2010/main" val="1993317130"/>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A3D4F0F-5716-D565-E45A-32E57AA92CC6}"/>
              </a:ext>
            </a:extLst>
          </p:cNvPr>
          <p:cNvSpPr txBox="1">
            <a:spLocks/>
          </p:cNvSpPr>
          <p:nvPr/>
        </p:nvSpPr>
        <p:spPr>
          <a:xfrm>
            <a:off x="212857" y="1261504"/>
            <a:ext cx="8624937" cy="48667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275" dirty="0">
                <a:hlinkClick r:id="rId7"/>
              </a:rPr>
              <a:t>Machine Learning Tutorial | </a:t>
            </a:r>
            <a:r>
              <a:rPr lang="en-IN" sz="1275" dirty="0" err="1">
                <a:hlinkClick r:id="rId7"/>
              </a:rPr>
              <a:t>GeeksforGeeks</a:t>
            </a:r>
            <a:endParaRPr lang="en-IN" sz="1275" dirty="0"/>
          </a:p>
          <a:p>
            <a:pPr marL="12700" marR="5080"/>
            <a:r>
              <a:rPr lang="en-US" sz="1400" dirty="0">
                <a:hlinkClick r:id="rId8"/>
              </a:rPr>
              <a:t>Ultimate Machine Learning and AI </a:t>
            </a:r>
            <a:r>
              <a:rPr lang="en-US" sz="1275" dirty="0">
                <a:solidFill>
                  <a:schemeClr val="accent6"/>
                </a:solidFill>
              </a:rPr>
              <a:t>(Check equivalent Git Repos by Googling)</a:t>
            </a:r>
          </a:p>
          <a:p>
            <a:pPr marL="12700" marR="5080"/>
            <a:r>
              <a:rPr lang="en-US" sz="1275" dirty="0">
                <a:hlinkClick r:id="rId9"/>
              </a:rPr>
              <a:t>Artificial Intelligence</a:t>
            </a:r>
            <a:endParaRPr lang="en-US" sz="1275" dirty="0"/>
          </a:p>
          <a:p>
            <a:pPr marL="12700" marR="5080"/>
            <a:r>
              <a:rPr lang="en-US" sz="1275" dirty="0">
                <a:hlinkClick r:id="rId10"/>
              </a:rPr>
              <a:t>Artificial Intelligence: A Modern Approach</a:t>
            </a:r>
            <a:endParaRPr lang="en-US" sz="1275" dirty="0"/>
          </a:p>
          <a:p>
            <a:pPr marL="12700" marR="5080"/>
            <a:r>
              <a:rPr lang="en-US" sz="1275" dirty="0">
                <a:hlinkClick r:id="rId11"/>
              </a:rPr>
              <a:t>Hands-On Machine Learning with Scikit-Learn, </a:t>
            </a:r>
            <a:r>
              <a:rPr lang="en-US" sz="1275" dirty="0" err="1">
                <a:hlinkClick r:id="rId11"/>
              </a:rPr>
              <a:t>Keras</a:t>
            </a:r>
            <a:r>
              <a:rPr lang="en-US" sz="1275" dirty="0">
                <a:hlinkClick r:id="rId11"/>
              </a:rPr>
              <a:t>, and TensorFlow: Concepts, Tools, and Techniques</a:t>
            </a:r>
            <a:endParaRPr lang="en-US" sz="1275" dirty="0"/>
          </a:p>
          <a:p>
            <a:pPr marL="12700" marR="5080"/>
            <a:r>
              <a:rPr lang="en-IN" sz="1275" dirty="0">
                <a:hlinkClick r:id="rId12"/>
              </a:rPr>
              <a:t>Trevor Hastie’s Books </a:t>
            </a:r>
            <a:endParaRPr lang="en-IN" sz="1275" dirty="0"/>
          </a:p>
          <a:p>
            <a:pPr marL="12700" marR="5080"/>
            <a:r>
              <a:rPr lang="en-US" sz="1275" dirty="0">
                <a:hlinkClick r:id="rId13"/>
              </a:rPr>
              <a:t>Neural Networks and Learning Machines</a:t>
            </a:r>
            <a:endParaRPr lang="en-US" sz="1275" dirty="0"/>
          </a:p>
          <a:p>
            <a:pPr marL="12700" marR="5080"/>
            <a:r>
              <a:rPr lang="en-US" sz="1275" dirty="0">
                <a:hlinkClick r:id="rId14"/>
              </a:rPr>
              <a:t>Awesome-Conformal-Prediction</a:t>
            </a:r>
            <a:endParaRPr lang="en-US" sz="1275" dirty="0"/>
          </a:p>
          <a:p>
            <a:pPr marL="12700" marR="5080"/>
            <a:r>
              <a:rPr lang="en-US" sz="1275" dirty="0">
                <a:hlinkClick r:id="rId15"/>
              </a:rPr>
              <a:t>Active Learning and Transfer Learning</a:t>
            </a:r>
            <a:endParaRPr lang="en-US" sz="1275" dirty="0"/>
          </a:p>
          <a:p>
            <a:pPr marL="12700" marR="5080"/>
            <a:r>
              <a:rPr lang="en-US" sz="1275" dirty="0">
                <a:hlinkClick r:id="rId16"/>
              </a:rPr>
              <a:t>The Theory and Practice of Enterprise AI</a:t>
            </a:r>
            <a:r>
              <a:rPr lang="en-US" sz="1275" dirty="0"/>
              <a:t>(</a:t>
            </a:r>
            <a:r>
              <a:rPr lang="en-US" sz="1275" dirty="0">
                <a:solidFill>
                  <a:schemeClr val="accent6"/>
                </a:solidFill>
              </a:rPr>
              <a:t>Check the Algorithmic Marketing download link also given at </a:t>
            </a:r>
            <a:r>
              <a:rPr lang="en-US" sz="1275">
                <a:solidFill>
                  <a:schemeClr val="accent6"/>
                </a:solidFill>
              </a:rPr>
              <a:t>the bottom </a:t>
            </a:r>
            <a:r>
              <a:rPr lang="en-US" sz="1275" dirty="0">
                <a:solidFill>
                  <a:schemeClr val="accent6"/>
                </a:solidFill>
              </a:rPr>
              <a:t>of the page</a:t>
            </a:r>
            <a:r>
              <a:rPr lang="en-US" sz="1275" dirty="0"/>
              <a:t>)</a:t>
            </a:r>
          </a:p>
          <a:p>
            <a:pPr marL="12700" marR="5080"/>
            <a:r>
              <a:rPr lang="en-IN" sz="1275" dirty="0">
                <a:hlinkClick r:id="rId17"/>
              </a:rPr>
              <a:t>Agentic Artificial Intelligence</a:t>
            </a:r>
            <a:endParaRPr lang="en-IN" sz="1275" dirty="0"/>
          </a:p>
          <a:p>
            <a:pPr marL="12700" marR="5080"/>
            <a:r>
              <a:rPr lang="en-US" sz="1275" dirty="0">
                <a:hlinkClick r:id="rId18"/>
              </a:rPr>
              <a:t>Compendium-of-free-ML-reading-resources</a:t>
            </a:r>
            <a:endParaRPr lang="en-US" sz="1275" dirty="0"/>
          </a:p>
          <a:p>
            <a:pPr marL="12700" marR="5080"/>
            <a:r>
              <a:rPr lang="en-IN" sz="1275" dirty="0">
                <a:hlinkClick r:id="rId19"/>
              </a:rPr>
              <a:t>Pradeep Menon’s Articles</a:t>
            </a:r>
            <a:endParaRPr lang="en-IN" sz="1275" dirty="0"/>
          </a:p>
          <a:p>
            <a:pPr marL="12700" marR="5080"/>
            <a:r>
              <a:rPr lang="en-US" sz="1275" dirty="0">
                <a:hlinkClick r:id="rId20"/>
              </a:rPr>
              <a:t>aman.ai • the art of artificial intelligence</a:t>
            </a:r>
            <a:endParaRPr lang="en-US" sz="1275" dirty="0"/>
          </a:p>
          <a:p>
            <a:pPr marL="12700" marR="5080"/>
            <a:r>
              <a:rPr lang="en-IN" sz="1275" dirty="0">
                <a:hlinkClick r:id="rId21"/>
              </a:rPr>
              <a:t>Charu Aggarwal</a:t>
            </a:r>
            <a:endParaRPr lang="en-US" sz="1275" dirty="0"/>
          </a:p>
          <a:p>
            <a:pPr marL="12700" marR="5080"/>
            <a:r>
              <a:rPr lang="en-IN" sz="1275" dirty="0" err="1">
                <a:hlinkClick r:id="rId22"/>
              </a:rPr>
              <a:t>DataTrek</a:t>
            </a:r>
            <a:r>
              <a:rPr lang="en-IN" sz="1275" dirty="0">
                <a:hlinkClick r:id="rId22"/>
              </a:rPr>
              <a:t> – YouTube</a:t>
            </a:r>
            <a:endParaRPr lang="en-US" sz="1275" dirty="0"/>
          </a:p>
          <a:p>
            <a:pPr marL="12700" marR="5080"/>
            <a:r>
              <a:rPr lang="en-US" sz="1275" dirty="0">
                <a:hlinkClick r:id="rId23"/>
              </a:rPr>
              <a:t>100 Days of GATE Data Science and AI – A Complete Guide For Beginners</a:t>
            </a:r>
            <a:endParaRPr lang="en-US" sz="1275" dirty="0"/>
          </a:p>
          <a:p>
            <a:pPr marL="12700" marR="5080"/>
            <a:r>
              <a:rPr lang="en-US" sz="1275" dirty="0">
                <a:hlinkClick r:id="rId24"/>
              </a:rPr>
              <a:t>Start Here with Machine Learning</a:t>
            </a:r>
            <a:endParaRPr lang="en-US" sz="1275" dirty="0"/>
          </a:p>
          <a:p>
            <a:pPr marL="12700" marR="5080"/>
            <a:r>
              <a:rPr lang="en-US" sz="1275" dirty="0">
                <a:hlinkClick r:id="rId25"/>
              </a:rPr>
              <a:t>AI by Hand </a:t>
            </a:r>
            <a:endParaRPr lang="en-US" sz="1275" dirty="0"/>
          </a:p>
          <a:p>
            <a:pPr marL="12700" marR="5080"/>
            <a:r>
              <a:rPr lang="en-US" sz="1275" dirty="0">
                <a:hlinkClick r:id="rId26"/>
              </a:rPr>
              <a:t>The 7 levels of AI </a:t>
            </a:r>
            <a:endParaRPr lang="en-US" sz="1275" dirty="0"/>
          </a:p>
          <a:p>
            <a:pPr marL="12700" marR="5080"/>
            <a:r>
              <a:rPr lang="en-US" sz="1275" dirty="0">
                <a:hlinkClick r:id="rId27"/>
              </a:rPr>
              <a:t>Awesome-AI-Data</a:t>
            </a:r>
            <a:endParaRPr lang="en-US" sz="1275" dirty="0"/>
          </a:p>
          <a:p>
            <a:pPr marL="12700" marR="5080"/>
            <a:r>
              <a:rPr lang="en-US" sz="1275" dirty="0">
                <a:hlinkClick r:id="rId28"/>
              </a:rPr>
              <a:t>The latest in Machine Learning | Papers With Code</a:t>
            </a:r>
            <a:endParaRPr lang="en-US" sz="1275" dirty="0"/>
          </a:p>
          <a:p>
            <a:pPr marL="12700" marR="5080"/>
            <a:r>
              <a:rPr lang="en-US" sz="1275" dirty="0">
                <a:hlinkClick r:id="rId29"/>
              </a:rPr>
              <a:t>MDPI - Publisher of Open Access Journals</a:t>
            </a:r>
            <a:endParaRPr lang="en-US" sz="1275" dirty="0"/>
          </a:p>
          <a:p>
            <a:pPr marL="12700" marR="5080"/>
            <a:endParaRPr lang="en-US" sz="900" dirty="0"/>
          </a:p>
        </p:txBody>
      </p:sp>
    </p:spTree>
    <p:extLst>
      <p:ext uri="{BB962C8B-B14F-4D97-AF65-F5344CB8AC3E}">
        <p14:creationId xmlns:p14="http://schemas.microsoft.com/office/powerpoint/2010/main" val="1413735757"/>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C6867-DB0C-EAAB-C10C-B5647A25439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D96D23-9B1B-56BA-CD26-19602E4C1B84}"/>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B27A09-D50E-3064-D187-7FA656734FC4}"/>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9509130-DB5C-D026-7F1D-098EF1D99759}"/>
              </a:ext>
            </a:extLst>
          </p:cNvPr>
          <p:cNvGraphicFramePr/>
          <p:nvPr>
            <p:extLst>
              <p:ext uri="{D42A27DB-BD31-4B8C-83A1-F6EECF244321}">
                <p14:modId xmlns:p14="http://schemas.microsoft.com/office/powerpoint/2010/main" val="2196898312"/>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A7E8DEDD-1720-FF0F-B5B6-0BCC6AD0ED90}"/>
              </a:ext>
            </a:extLst>
          </p:cNvPr>
          <p:cNvSpPr txBox="1">
            <a:spLocks/>
          </p:cNvSpPr>
          <p:nvPr/>
        </p:nvSpPr>
        <p:spPr>
          <a:xfrm>
            <a:off x="212857" y="1261504"/>
            <a:ext cx="8624937" cy="25083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400" dirty="0">
                <a:hlinkClick r:id="rId7"/>
              </a:rPr>
              <a:t>V7 Blog</a:t>
            </a:r>
            <a:endParaRPr lang="en-IN" sz="1400" dirty="0"/>
          </a:p>
          <a:p>
            <a:pPr marL="12700" marR="5080"/>
            <a:r>
              <a:rPr lang="en-US" sz="1400" dirty="0">
                <a:hlinkClick r:id="rId8"/>
              </a:rPr>
              <a:t>Machine Learning in Plain English – Medium</a:t>
            </a:r>
            <a:endParaRPr lang="en-US" sz="1400" dirty="0"/>
          </a:p>
          <a:p>
            <a:pPr marL="12700" marR="5080"/>
            <a:r>
              <a:rPr lang="en-IN" sz="1400" dirty="0">
                <a:hlinkClick r:id="rId9"/>
              </a:rPr>
              <a:t>Ridhima Kumar – Medium</a:t>
            </a:r>
            <a:endParaRPr lang="en-IN" sz="1400" dirty="0"/>
          </a:p>
          <a:p>
            <a:pPr marL="12700" marR="5080"/>
            <a:r>
              <a:rPr lang="en-IN" sz="1400" dirty="0">
                <a:hlinkClick r:id="rId10"/>
              </a:rPr>
              <a:t>Venkat Raman | LinkedIn</a:t>
            </a:r>
            <a:endParaRPr lang="en-IN" sz="1400" dirty="0"/>
          </a:p>
          <a:p>
            <a:pPr marL="12700" marR="5080"/>
            <a:r>
              <a:rPr lang="en-IN" sz="1400" dirty="0">
                <a:hlinkClick r:id="rId11"/>
              </a:rPr>
              <a:t>AI Engineer Roadmap</a:t>
            </a:r>
            <a:endParaRPr lang="en-IN" sz="1400" dirty="0"/>
          </a:p>
          <a:p>
            <a:pPr marL="12700" marR="5080"/>
            <a:r>
              <a:rPr lang="en-IN" sz="1400" dirty="0">
                <a:hlinkClick r:id="rId12"/>
              </a:rPr>
              <a:t>AI Engineering[</a:t>
            </a:r>
            <a:endParaRPr lang="en-IN" sz="1400" dirty="0"/>
          </a:p>
          <a:p>
            <a:pPr marL="12700" marR="5080"/>
            <a:r>
              <a:rPr lang="en-IN" sz="1400" dirty="0">
                <a:hlinkClick r:id="rId13"/>
              </a:rPr>
              <a:t>AI Engineering Landscape</a:t>
            </a:r>
            <a:endParaRPr lang="en-IN" sz="1400" dirty="0"/>
          </a:p>
          <a:p>
            <a:pPr marL="12700" marR="5080"/>
            <a:r>
              <a:rPr lang="en-US" sz="1400" dirty="0">
                <a:hlinkClick r:id="rId14"/>
              </a:rPr>
              <a:t>Machine-Learning-Cheat-Sheet</a:t>
            </a:r>
            <a:endParaRPr lang="en-US" sz="1400" dirty="0"/>
          </a:p>
          <a:p>
            <a:pPr marL="12700" marR="5080"/>
            <a:r>
              <a:rPr lang="en-IN" sz="1400" dirty="0">
                <a:hlinkClick r:id="rId15"/>
              </a:rPr>
              <a:t>AI Value Creators</a:t>
            </a:r>
            <a:endParaRPr lang="en-IN" sz="1400" dirty="0"/>
          </a:p>
          <a:p>
            <a:pPr marL="12700" marR="5080"/>
            <a:r>
              <a:rPr lang="en-US" sz="1400" dirty="0">
                <a:hlinkClick r:id="rId16"/>
              </a:rPr>
              <a:t>The Chief AI Officer's Handbook | Data | eBook</a:t>
            </a:r>
            <a:endParaRPr lang="en-US" sz="1400" dirty="0"/>
          </a:p>
          <a:p>
            <a:pPr marL="12700" marR="5080"/>
            <a:r>
              <a:rPr lang="en-US" sz="1400" dirty="0">
                <a:hlinkClick r:id="rId17"/>
              </a:rPr>
              <a:t>Ilya </a:t>
            </a:r>
            <a:r>
              <a:rPr lang="en-US" sz="1400" dirty="0" err="1">
                <a:hlinkClick r:id="rId17"/>
              </a:rPr>
              <a:t>Sutskever's</a:t>
            </a:r>
            <a:r>
              <a:rPr lang="en-US" sz="1400" dirty="0">
                <a:hlinkClick r:id="rId17"/>
              </a:rPr>
              <a:t> Top 30</a:t>
            </a:r>
            <a:endParaRPr lang="en-US" sz="1400" dirty="0"/>
          </a:p>
          <a:p>
            <a:pPr marL="12700" marR="5080"/>
            <a:endParaRPr lang="en-US" sz="900" dirty="0"/>
          </a:p>
        </p:txBody>
      </p:sp>
    </p:spTree>
    <p:extLst>
      <p:ext uri="{BB962C8B-B14F-4D97-AF65-F5344CB8AC3E}">
        <p14:creationId xmlns:p14="http://schemas.microsoft.com/office/powerpoint/2010/main" val="146715091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AF478-EBDD-BD2F-5676-EF87891029B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A447777-237F-3677-1227-78B300BB1BB6}"/>
              </a:ext>
            </a:extLst>
          </p:cNvPr>
          <p:cNvSpPr/>
          <p:nvPr/>
        </p:nvSpPr>
        <p:spPr>
          <a:xfrm>
            <a:off x="1671320" y="116224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FDCCB3B-834E-BF5C-69BC-DB4441F5D50C}"/>
              </a:ext>
            </a:extLst>
          </p:cNvPr>
          <p:cNvSpPr/>
          <p:nvPr/>
        </p:nvSpPr>
        <p:spPr>
          <a:xfrm>
            <a:off x="1671320" y="98933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4007D0-8F69-50FB-E3E6-71994C029BA7}"/>
              </a:ext>
            </a:extLst>
          </p:cNvPr>
          <p:cNvGraphicFramePr/>
          <p:nvPr>
            <p:extLst>
              <p:ext uri="{D42A27DB-BD31-4B8C-83A1-F6EECF244321}">
                <p14:modId xmlns:p14="http://schemas.microsoft.com/office/powerpoint/2010/main" val="4180509364"/>
              </p:ext>
            </p:extLst>
          </p:nvPr>
        </p:nvGraphicFramePr>
        <p:xfrm>
          <a:off x="-17146" y="17828"/>
          <a:ext cx="9084945" cy="953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576184FA-29BB-9DAD-CC6A-16C60C5A2ED5}"/>
              </a:ext>
            </a:extLst>
          </p:cNvPr>
          <p:cNvSpPr txBox="1">
            <a:spLocks/>
          </p:cNvSpPr>
          <p:nvPr/>
        </p:nvSpPr>
        <p:spPr>
          <a:xfrm>
            <a:off x="259531" y="130639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450" dirty="0">
                <a:hlinkClick r:id="rId7"/>
              </a:rPr>
              <a:t>Inference vs Prediction - Data Science Blog: Understand. Implement. </a:t>
            </a:r>
            <a:r>
              <a:rPr lang="en-IN" sz="1450" dirty="0" err="1">
                <a:hlinkClick r:id="rId7"/>
              </a:rPr>
              <a:t>Succed</a:t>
            </a:r>
            <a:r>
              <a:rPr lang="en-IN" sz="1450" dirty="0">
                <a:hlinkClick r:id="rId7"/>
              </a:rPr>
              <a:t>.</a:t>
            </a:r>
            <a:endParaRPr lang="en-IN" sz="1450" dirty="0"/>
          </a:p>
          <a:p>
            <a:pPr marL="12700" marR="5080"/>
            <a:r>
              <a:rPr lang="en-IN" sz="1450" dirty="0">
                <a:hlinkClick r:id="rId8"/>
              </a:rPr>
              <a:t>Models Demystified</a:t>
            </a:r>
            <a:endParaRPr lang="en-IN" sz="1450" dirty="0"/>
          </a:p>
          <a:p>
            <a:pPr marL="12700" marR="5080"/>
            <a:r>
              <a:rPr lang="en-US" sz="1450" dirty="0">
                <a:hlinkClick r:id="rId9"/>
              </a:rPr>
              <a:t>Mathematical Modeling and Simulation with MATLAB - Open Textbook Library</a:t>
            </a:r>
            <a:endParaRPr lang="en-IN" sz="1450" dirty="0"/>
          </a:p>
          <a:p>
            <a:pPr marL="12700" marR="5080"/>
            <a:r>
              <a:rPr lang="en-US" sz="1450" dirty="0">
                <a:hlinkClick r:id="rId10"/>
              </a:rPr>
              <a:t>What is the difference between predictive modelling, statistical analysis, and machine learning? - Quora</a:t>
            </a:r>
            <a:endParaRPr lang="en-US" sz="1450" dirty="0"/>
          </a:p>
          <a:p>
            <a:pPr marL="12700" marR="5080"/>
            <a:r>
              <a:rPr lang="en-US" sz="1450" dirty="0">
                <a:hlinkClick r:id="rId11"/>
              </a:rPr>
              <a:t>Future of Platform Engineering with AI Agents | LinkedIn</a:t>
            </a:r>
            <a:endParaRPr lang="en-US" sz="1450" dirty="0"/>
          </a:p>
          <a:p>
            <a:pPr marL="12700" marR="5080"/>
            <a:r>
              <a:rPr lang="en-US" sz="1450" dirty="0">
                <a:hlinkClick r:id="rId12"/>
              </a:rPr>
              <a:t>Transforming the Software Development Lifecycle (SDLC) with Generative AI</a:t>
            </a:r>
            <a:endParaRPr lang="en-US" sz="1450" dirty="0"/>
          </a:p>
          <a:p>
            <a:pPr marL="12700" marR="5080"/>
            <a:r>
              <a:rPr lang="en-US" sz="1450" dirty="0">
                <a:hlinkClick r:id="rId13"/>
              </a:rPr>
              <a:t>Integrating Game Theory and Artificial Intelligence: Strategies for Complex Decision-Making</a:t>
            </a:r>
            <a:endParaRPr lang="en-US" sz="1450" dirty="0"/>
          </a:p>
          <a:p>
            <a:pPr marL="12700" marR="5080"/>
            <a:r>
              <a:rPr lang="en-US" sz="1450" dirty="0">
                <a:hlinkClick r:id="rId14"/>
              </a:rPr>
              <a:t>Game Theory Can Make AI More Correct and Efficient</a:t>
            </a:r>
            <a:endParaRPr lang="en-US" sz="1450" dirty="0"/>
          </a:p>
          <a:p>
            <a:pPr marL="12700" marR="5080"/>
            <a:r>
              <a:rPr lang="en-US" sz="1450" dirty="0">
                <a:hlinkClick r:id="rId15"/>
              </a:rPr>
              <a:t>The Impact of Dyslexic Thinking on Responsible AI and the Testing of Reinforcement Learning-Driven LLMs | LinkedIn</a:t>
            </a:r>
            <a:endParaRPr lang="en-US" sz="1450" dirty="0"/>
          </a:p>
          <a:p>
            <a:pPr marL="12700" marR="5080"/>
            <a:r>
              <a:rPr lang="en-US" sz="1450" dirty="0">
                <a:hlinkClick r:id="rId16"/>
              </a:rPr>
              <a:t>AI for Audio - MATLAB &amp; Simulink</a:t>
            </a:r>
            <a:endParaRPr lang="en-US" sz="1450" dirty="0"/>
          </a:p>
          <a:p>
            <a:pPr marL="12700" marR="5080"/>
            <a:r>
              <a:rPr lang="en-US" sz="1450" dirty="0">
                <a:hlinkClick r:id="rId17"/>
              </a:rPr>
              <a:t>Real-Time Video Processing with AI: Techniques and Best Practices for 2025</a:t>
            </a:r>
            <a:endParaRPr lang="en-US" sz="1450" dirty="0"/>
          </a:p>
          <a:p>
            <a:pPr marL="12700" marR="5080"/>
            <a:r>
              <a:rPr lang="en-US" sz="1450" dirty="0">
                <a:hlinkClick r:id="rId18"/>
              </a:rPr>
              <a:t>An Introduction to the Theory of Spin Glasses</a:t>
            </a:r>
            <a:endParaRPr lang="en-US" sz="1450" dirty="0"/>
          </a:p>
          <a:p>
            <a:pPr marL="12700" marR="5080"/>
            <a:r>
              <a:rPr lang="en-US" sz="1450" dirty="0">
                <a:hlinkClick r:id="rId19"/>
              </a:rPr>
              <a:t>Finance and Capital markets | Khan Academy</a:t>
            </a:r>
            <a:endParaRPr lang="en-US" sz="1450" dirty="0"/>
          </a:p>
          <a:p>
            <a:pPr marL="12700" marR="5080"/>
            <a:r>
              <a:rPr lang="en-IN" sz="1450" dirty="0">
                <a:hlinkClick r:id="rId20"/>
              </a:rPr>
              <a:t>Mathematical finance – Wikipedia</a:t>
            </a:r>
            <a:endParaRPr lang="en-IN" sz="1450" dirty="0"/>
          </a:p>
          <a:p>
            <a:pPr marL="12700" marR="5080"/>
            <a:r>
              <a:rPr lang="en-IN" sz="1450" dirty="0">
                <a:hlinkClick r:id="rId21"/>
              </a:rPr>
              <a:t>Stochastic-Finance-Notes.pdf</a:t>
            </a:r>
            <a:endParaRPr lang="en-IN" sz="1450" dirty="0"/>
          </a:p>
          <a:p>
            <a:pPr marL="12700" marR="5080"/>
            <a:r>
              <a:rPr lang="en-IN" sz="1450" dirty="0">
                <a:hlinkClick r:id="rId22"/>
              </a:rPr>
              <a:t>Stochastic-Finance-with-Python</a:t>
            </a:r>
            <a:endParaRPr lang="en-IN" sz="1450" dirty="0"/>
          </a:p>
          <a:p>
            <a:pPr marL="12700" marR="5080"/>
            <a:r>
              <a:rPr lang="en-US" sz="1450" dirty="0" err="1">
                <a:hlinkClick r:id="rId23"/>
              </a:rPr>
              <a:t>Asymptotics</a:t>
            </a:r>
            <a:r>
              <a:rPr lang="en-US" sz="1450" dirty="0">
                <a:hlinkClick r:id="rId23"/>
              </a:rPr>
              <a:t> and neural networks | NatWest Corporates and Institutions</a:t>
            </a:r>
            <a:endParaRPr lang="en-US" sz="1450" dirty="0"/>
          </a:p>
          <a:p>
            <a:pPr marL="12700" marR="5080"/>
            <a:r>
              <a:rPr lang="en-IN" sz="1450" dirty="0">
                <a:hlinkClick r:id="rId24"/>
              </a:rPr>
              <a:t>NSE Academy Certification Modules, NCFM Exam - NSE India</a:t>
            </a:r>
            <a:endParaRPr lang="en-US" sz="1450" dirty="0"/>
          </a:p>
        </p:txBody>
      </p:sp>
    </p:spTree>
    <p:extLst>
      <p:ext uri="{BB962C8B-B14F-4D97-AF65-F5344CB8AC3E}">
        <p14:creationId xmlns:p14="http://schemas.microsoft.com/office/powerpoint/2010/main" val="706149544"/>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E54ED045-44B0-4818-8BF2-60E776B56E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16696</TotalTime>
  <Words>53924</Words>
  <Application>Microsoft Office PowerPoint</Application>
  <PresentationFormat>Custom</PresentationFormat>
  <Paragraphs>3903</Paragraphs>
  <Slides>281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281</vt:i4>
      </vt:variant>
    </vt:vector>
  </HeadingPairs>
  <TitlesOfParts>
    <vt:vector size="287" baseType="lpstr">
      <vt:lpstr>-apple-system</vt:lpstr>
      <vt:lpstr>Arial</vt:lpstr>
      <vt:lpstr>Calibri</vt:lpstr>
      <vt:lpstr>Google Sans</vt:lpstr>
      <vt:lpstr>Lucida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1952</cp:revision>
  <dcterms:created xsi:type="dcterms:W3CDTF">2020-11-03T17:16:52Z</dcterms:created>
  <dcterms:modified xsi:type="dcterms:W3CDTF">2025-11-01T17:02:44Z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