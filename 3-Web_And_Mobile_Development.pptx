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sldIdLst>
    <p:sldId id="295" r:id="rId5"/>
    <p:sldId id="510" r:id="rId6"/>
    <p:sldId id="755" r:id="rId7"/>
    <p:sldId id="501" r:id="rId8"/>
    <p:sldId id="502" r:id="rId9"/>
    <p:sldId id="503" r:id="rId10"/>
    <p:sldId id="504" r:id="rId11"/>
    <p:sldId id="508" r:id="rId12"/>
    <p:sldId id="509" r:id="rId13"/>
    <p:sldId id="505" r:id="rId14"/>
    <p:sldId id="849" r:id="rId15"/>
    <p:sldId id="850" r:id="rId16"/>
    <p:sldId id="851" r:id="rId17"/>
    <p:sldId id="294" r:id="rId18"/>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D9B5"/>
    <a:srgbClr val="CC9900"/>
    <a:srgbClr val="FF5050"/>
    <a:srgbClr val="1E1A20"/>
    <a:srgbClr val="D322F2"/>
    <a:srgbClr val="727272"/>
    <a:srgbClr val="DFF7F1"/>
    <a:srgbClr val="F1EAFF"/>
    <a:srgbClr val="64597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657" autoAdjust="0"/>
    <p:restoredTop sz="93979" autoAdjust="0"/>
  </p:normalViewPr>
  <p:slideViewPr>
    <p:cSldViewPr>
      <p:cViewPr varScale="1">
        <p:scale>
          <a:sx n="73" d="100"/>
          <a:sy n="73" d="100"/>
        </p:scale>
        <p:origin x="96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Web And Mobile Development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 &amp; Mobile Development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9615"/>
          <a:ext cx="8686800" cy="150579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b="1" i="0" kern="1200" dirty="0"/>
            <a:t>Web And Mobile Development</a:t>
          </a:r>
        </a:p>
        <a:p>
          <a:pPr marL="0" lvl="0" indent="0" algn="l" defTabSz="1466850">
            <a:lnSpc>
              <a:spcPct val="90000"/>
            </a:lnSpc>
            <a:spcBef>
              <a:spcPct val="0"/>
            </a:spcBef>
            <a:spcAft>
              <a:spcPct val="35000"/>
            </a:spcAft>
            <a:buNone/>
          </a:pPr>
          <a:r>
            <a:rPr lang="en-US" sz="3300" b="1" i="0" kern="1200" dirty="0"/>
            <a:t>(Refresher)</a:t>
          </a:r>
          <a:endParaRPr lang="en-US" sz="3300" kern="1200" dirty="0"/>
        </a:p>
      </dsp:txBody>
      <dsp:txXfrm>
        <a:off x="73507" y="93122"/>
        <a:ext cx="8539786" cy="13587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 &amp; Mobile Development Resources  </a:t>
          </a:r>
        </a:p>
      </dsp:txBody>
      <dsp:txXfrm>
        <a:off x="21162" y="21162"/>
        <a:ext cx="8825549"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11/6/2025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a:t>
            </a:fld>
            <a:endParaRPr lang="en-US" dirty="0"/>
          </a:p>
        </p:txBody>
      </p:sp>
    </p:spTree>
    <p:extLst>
      <p:ext uri="{BB962C8B-B14F-4D97-AF65-F5344CB8AC3E}">
        <p14:creationId xmlns:p14="http://schemas.microsoft.com/office/powerpoint/2010/main" val="11897899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3BB59-6CF4-973C-82A5-FEBC739AB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C3EA5-15F2-19DF-DC25-A2E68C627C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E13FDF-4149-23F3-9FD3-E4FF68AD6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8C6B1D-9D66-D9BA-1D76-F81B60630E99}"/>
              </a:ext>
            </a:extLst>
          </p:cNvPr>
          <p:cNvSpPr>
            <a:spLocks noGrp="1"/>
          </p:cNvSpPr>
          <p:nvPr>
            <p:ph type="sldNum" sz="quarter" idx="5"/>
          </p:nvPr>
        </p:nvSpPr>
        <p:spPr/>
        <p:txBody>
          <a:bodyPr/>
          <a:lstStyle/>
          <a:p>
            <a:fld id="{0C49AC16-2221-4935-809C-2A72A26F729C}" type="slidenum">
              <a:rPr lang="en-US" smtClean="0"/>
              <a:t>3</a:t>
            </a:fld>
            <a:endParaRPr lang="en-US" dirty="0"/>
          </a:p>
        </p:txBody>
      </p:sp>
    </p:spTree>
    <p:extLst>
      <p:ext uri="{BB962C8B-B14F-4D97-AF65-F5344CB8AC3E}">
        <p14:creationId xmlns:p14="http://schemas.microsoft.com/office/powerpoint/2010/main" val="3618851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CF579-D0D7-1188-D26C-B1BAD98739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73AEA3-D755-0886-595F-5F407D3962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61D51-F4D1-A29F-F772-5BF5FD9655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1BEAAD-E4B1-AECA-0E39-C98F9458478C}"/>
              </a:ext>
            </a:extLst>
          </p:cNvPr>
          <p:cNvSpPr>
            <a:spLocks noGrp="1"/>
          </p:cNvSpPr>
          <p:nvPr>
            <p:ph type="sldNum" sz="quarter" idx="5"/>
          </p:nvPr>
        </p:nvSpPr>
        <p:spPr/>
        <p:txBody>
          <a:bodyPr/>
          <a:lstStyle/>
          <a:p>
            <a:fld id="{0C49AC16-2221-4935-809C-2A72A26F729C}" type="slidenum">
              <a:rPr lang="en-US" smtClean="0"/>
              <a:t>13</a:t>
            </a:fld>
            <a:endParaRPr lang="en-US" dirty="0"/>
          </a:p>
        </p:txBody>
      </p:sp>
    </p:spTree>
    <p:extLst>
      <p:ext uri="{BB962C8B-B14F-4D97-AF65-F5344CB8AC3E}">
        <p14:creationId xmlns:p14="http://schemas.microsoft.com/office/powerpoint/2010/main" val="196357466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11/6/2025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8" Type="http://schemas.openxmlformats.org/officeDocument/2006/relationships/hyperlink" Target="https://learn.microsoft.com/en-us/azure/architecture/patterns/backends-for-frontends" TargetMode="External"/><Relationship Id="rId13" Type="http://schemas.openxmlformats.org/officeDocument/2006/relationships/hyperlink" Target="https://martinfowler.com/books/refactoringHtml.html" TargetMode="External"/><Relationship Id="rId18" Type="http://schemas.openxmlformats.org/officeDocument/2006/relationships/hyperlink" Target="https://fluent2.microsoft.design/" TargetMode="External"/><Relationship Id="rId26" Type="http://schemas.openxmlformats.org/officeDocument/2006/relationships/hyperlink" Target="https://github.com/angelsolaorbaiceta/fe-fwk-book" TargetMode="External"/><Relationship Id="rId3" Type="http://schemas.openxmlformats.org/officeDocument/2006/relationships/diagramData" Target="../diagrams/data2.xml"/><Relationship Id="rId21" Type="http://schemas.openxmlformats.org/officeDocument/2006/relationships/hyperlink" Target="https://github.com/addyosmani/learning-jsdp" TargetMode="External"/><Relationship Id="rId7" Type="http://schemas.microsoft.com/office/2007/relationships/diagramDrawing" Target="../diagrams/drawing2.xml"/><Relationship Id="rId12" Type="http://schemas.openxmlformats.org/officeDocument/2006/relationships/hyperlink" Target="https://roadmap.sh/frontend" TargetMode="External"/><Relationship Id="rId17" Type="http://schemas.openxmlformats.org/officeDocument/2006/relationships/hyperlink" Target="https://roadmap.sh/design-system" TargetMode="External"/><Relationship Id="rId25" Type="http://schemas.openxmlformats.org/officeDocument/2006/relationships/hyperlink" Target="https://github.com/PacktPublishing/Building-Your-Own-JavaScript-Framework" TargetMode="External"/><Relationship Id="rId2" Type="http://schemas.openxmlformats.org/officeDocument/2006/relationships/notesSlide" Target="../notesSlides/notesSlide1.xml"/><Relationship Id="rId16" Type="http://schemas.openxmlformats.org/officeDocument/2006/relationships/hyperlink" Target="https://roadmap.sh/ux-design" TargetMode="External"/><Relationship Id="rId20" Type="http://schemas.openxmlformats.org/officeDocument/2006/relationships/hyperlink" Target="https://github.com/javascripteverywhere/cookbook" TargetMode="External"/><Relationship Id="rId29" Type="http://schemas.openxmlformats.org/officeDocument/2006/relationships/hyperlink" Target="https://roadmap.sh/angular" TargetMode="External"/><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hyperlink" Target="https://learn.microsoft.com/en-us/azure/storage/blobs/storage-custom-domain-name?tabs=azure-portal" TargetMode="External"/><Relationship Id="rId24" Type="http://schemas.openxmlformats.org/officeDocument/2006/relationships/hyperlink" Target="https://github.com/PacktPublishing/Node.js-Design-Patterns-Third-Edition" TargetMode="External"/><Relationship Id="rId32" Type="http://schemas.openxmlformats.org/officeDocument/2006/relationships/hyperlink" Target="https://github.com/PacktPublishing/Learn-React-with-TypeScript-Third-Edition" TargetMode="External"/><Relationship Id="rId5" Type="http://schemas.openxmlformats.org/officeDocument/2006/relationships/diagramQuickStyle" Target="../diagrams/quickStyle2.xml"/><Relationship Id="rId15" Type="http://schemas.openxmlformats.org/officeDocument/2006/relationships/hyperlink" Target="https://www.martinfowler.com/articles/tdd-html-templates.html" TargetMode="External"/><Relationship Id="rId23" Type="http://schemas.openxmlformats.org/officeDocument/2006/relationships/hyperlink" Target="https://github.com/PacktPublishing/TypeScript-5-Design-Patterns-and-Best-Practices" TargetMode="External"/><Relationship Id="rId28" Type="http://schemas.openxmlformats.org/officeDocument/2006/relationships/hyperlink" Target="https://roadmap.sh/typescript" TargetMode="External"/><Relationship Id="rId10" Type="http://schemas.openxmlformats.org/officeDocument/2006/relationships/hyperlink" Target="https://medium.com/@machinelearningclub/how-to-use-nginx-with-cdn-c1464618dc88" TargetMode="External"/><Relationship Id="rId19" Type="http://schemas.openxmlformats.org/officeDocument/2006/relationships/hyperlink" Target="https://roadmap.sh/javascript" TargetMode="External"/><Relationship Id="rId31" Type="http://schemas.openxmlformats.org/officeDocument/2006/relationships/hyperlink" Target="https://medium.com/@mariokandut/how-to-add-husky-to-react-233f0ca48752" TargetMode="External"/><Relationship Id="rId4" Type="http://schemas.openxmlformats.org/officeDocument/2006/relationships/diagramLayout" Target="../diagrams/layout2.xml"/><Relationship Id="rId9" Type="http://schemas.openxmlformats.org/officeDocument/2006/relationships/hyperlink" Target="https://medium.com/@ksaquib/nginx-zero-to-hero-your-ultimate-guide-from-beginner-to-advanced-mastery-57e2dad6a77a" TargetMode="External"/><Relationship Id="rId14" Type="http://schemas.openxmlformats.org/officeDocument/2006/relationships/hyperlink" Target="https://designingwebinterfaces.com/" TargetMode="External"/><Relationship Id="rId22" Type="http://schemas.openxmlformats.org/officeDocument/2006/relationships/hyperlink" Target="https://github.com/PacktPublishing/Javascript-Design-Patterns" TargetMode="External"/><Relationship Id="rId27" Type="http://schemas.openxmlformats.org/officeDocument/2006/relationships/hyperlink" Target="https://anarsolutions.com/blazor-vs-angular-react-and-vue/" TargetMode="External"/><Relationship Id="rId30" Type="http://schemas.openxmlformats.org/officeDocument/2006/relationships/hyperlink" Target="https://roadmap.sh/react"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www.packtpub.com/en-in/product/angular-design-patterns-9781786460790" TargetMode="External"/><Relationship Id="rId13" Type="http://schemas.openxmlformats.org/officeDocument/2006/relationships/hyperlink" Target="https://www.amazon.in/Mobile-Design-Pattern-Gallery-Smartphone-ebook/dp/B00JW0YOHO/ref=tmm_kin_swatch_0" TargetMode="External"/><Relationship Id="rId18" Type="http://schemas.openxmlformats.org/officeDocument/2006/relationships/hyperlink" Target="https://github.com/PacktPublishing/Hands-On-Design-Patterns-with-React-Native" TargetMode="External"/><Relationship Id="rId26" Type="http://schemas.openxmlformats.org/officeDocument/2006/relationships/hyperlink" Target="https://github.com/Apress/iOS-Architecture-Patterns" TargetMode="External"/><Relationship Id="rId3" Type="http://schemas.openxmlformats.org/officeDocument/2006/relationships/hyperlink" Target="https://academind.com/" TargetMode="External"/><Relationship Id="rId21" Type="http://schemas.openxmlformats.org/officeDocument/2006/relationships/hyperlink" Target="https://roadmap.sh/android" TargetMode="External"/><Relationship Id="rId7" Type="http://schemas.openxmlformats.org/officeDocument/2006/relationships/hyperlink" Target="https://www.udemy.com/course/modern-web-design-patterns-in-angular-8/?srsltid=AfmBOoqsPk2KJhU32m33TwCoeIrlz52h6K92tPF1tEfIigBcnFY-cZiD&amp;couponCode=MT260825G2" TargetMode="External"/><Relationship Id="rId12" Type="http://schemas.openxmlformats.org/officeDocument/2006/relationships/hyperlink" Target="https://www.designrush.com/best-designs/apps/trends/mobile-design-patterns" TargetMode="External"/><Relationship Id="rId17" Type="http://schemas.openxmlformats.org/officeDocument/2006/relationships/hyperlink" Target="https://www.komododigital.co.uk/insights/react-and-react-native-design-patterns-solid-principles/" TargetMode="External"/><Relationship Id="rId25" Type="http://schemas.openxmlformats.org/officeDocument/2006/relationships/hyperlink" Target="https://shreethaanur.medium.com/design-patterns-in-ios-55d00c2eef4c" TargetMode="External"/><Relationship Id="rId2" Type="http://schemas.openxmlformats.org/officeDocument/2006/relationships/notesSlide" Target="../notesSlides/notesSlide2.xml"/><Relationship Id="rId16" Type="http://schemas.openxmlformats.org/officeDocument/2006/relationships/hyperlink" Target="https://medium.com/@malikmohsin8239/design-patterns-in-mobile-development-with-react-native-6efe5b92430f" TargetMode="External"/><Relationship Id="rId20" Type="http://schemas.openxmlformats.org/officeDocument/2006/relationships/hyperlink" Target="https://github.com/PacktPublishing/Flutter-Design-Patterns-and-Best-Practices" TargetMode="External"/><Relationship Id="rId1" Type="http://schemas.openxmlformats.org/officeDocument/2006/relationships/slideLayout" Target="../slideLayouts/slideLayout2.xml"/><Relationship Id="rId6" Type="http://schemas.openxmlformats.org/officeDocument/2006/relationships/hyperlink" Target="https://github.com/PacktPublishing/React-18-Design-Patterns-and-Best-Practices-Fourth-Edition" TargetMode="External"/><Relationship Id="rId11" Type="http://schemas.openxmlformats.org/officeDocument/2006/relationships/hyperlink" Target="https://medium.com/@pinarkocak/working-with-networking-libraries-in-ios-d23839c76432" TargetMode="External"/><Relationship Id="rId24" Type="http://schemas.openxmlformats.org/officeDocument/2006/relationships/hyperlink" Target="https://github.com/eleev/swift-design-patterns" TargetMode="External"/><Relationship Id="rId5" Type="http://schemas.openxmlformats.org/officeDocument/2006/relationships/hyperlink" Target="https://www.udemy.com/course/advanced-react/?srsltid=AfmBOopzKwKZ2_JEnpe2EDarxcvQwy9hnaJWvN241Znf829mEgJPxHix" TargetMode="External"/><Relationship Id="rId15" Type="http://schemas.openxmlformats.org/officeDocument/2006/relationships/hyperlink" Target="https://medium.com/@mr.kashif.samman/design-patterns-for-react-native-applications-630e5eb9e34f" TargetMode="External"/><Relationship Id="rId23" Type="http://schemas.openxmlformats.org/officeDocument/2006/relationships/hyperlink" Target="https://www.amazon.in/App-Architecture-Application-Design-Patterns/dp/1719030251" TargetMode="External"/><Relationship Id="rId10" Type="http://schemas.openxmlformats.org/officeDocument/2006/relationships/hyperlink" Target="https://stackoverflow.com/questions/16902716/comparison-of-android-networking-libraries-okhttp-retrofit-and-volley" TargetMode="External"/><Relationship Id="rId19" Type="http://schemas.openxmlformats.org/officeDocument/2006/relationships/hyperlink" Target="https://github.com/PacktPublishing/Android-Design-Patterns-and-Best-Practice" TargetMode="External"/><Relationship Id="rId4" Type="http://schemas.openxmlformats.org/officeDocument/2006/relationships/hyperlink" Target="https://kanini.com/blog/net-maui-vs-flutter-vs-react-native/" TargetMode="External"/><Relationship Id="rId9" Type="http://schemas.openxmlformats.org/officeDocument/2006/relationships/hyperlink" Target="https://stackoverflow.com/questions/50285972/what-is-the-difference-between-redux-thunk-and-redux-saga" TargetMode="External"/><Relationship Id="rId14" Type="http://schemas.openxmlformats.org/officeDocument/2006/relationships/hyperlink" Target="https://www.linkedin.com/pulse/react-native-mobile-application-architecture-design-pattern-nwoba/" TargetMode="External"/><Relationship Id="rId22" Type="http://schemas.openxmlformats.org/officeDocument/2006/relationships/hyperlink" Target="https://www.packtpub.com/en-cl/product/hands-on-design-patterns-with-swift-9781789135565" TargetMode="External"/><Relationship Id="rId27" Type="http://schemas.openxmlformats.org/officeDocument/2006/relationships/hyperlink" Target="https://roadmap.sh/ios"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Layout" Target="../diagrams/layout3.xml"/><Relationship Id="rId7" Type="http://schemas.openxmlformats.org/officeDocument/2006/relationships/image" Target="../media/image2.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4.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6.xml.rels><?xml version="1.0" encoding="UTF-8" standalone="yes"?>
<Relationships xmlns="http://schemas.openxmlformats.org/package/2006/relationships"><Relationship Id="rId8" Type="http://schemas.openxmlformats.org/officeDocument/2006/relationships/hyperlink" Target="https://www.patterns.dev/vanilla/islands-architecture/" TargetMode="External"/><Relationship Id="rId3" Type="http://schemas.openxmlformats.org/officeDocument/2006/relationships/diagramLayout" Target="../diagrams/layout5.xml"/><Relationship Id="rId7" Type="http://schemas.openxmlformats.org/officeDocument/2006/relationships/image" Target="../media/image5.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hyperlink" Target="https://www.linkedin.com/pulse/art-balance-mastering-rendering-patterns-modern-web-przemys%C5%82aw-ka%C5%82ka-ayrje/"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www.freecodecamp.org/news/what-is-the-jamstack-and-how-do-i-host-my-website-on-it/#so-what-makes-a-jamstack-app-so-great" TargetMode="External"/><Relationship Id="rId3" Type="http://schemas.openxmlformats.org/officeDocument/2006/relationships/diagramLayout" Target="../diagrams/layout6.xml"/><Relationship Id="rId7" Type="http://schemas.openxmlformats.org/officeDocument/2006/relationships/image" Target="../media/image6.pn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7.xml"/><Relationship Id="rId7" Type="http://schemas.openxmlformats.org/officeDocument/2006/relationships/image" Target="../media/image7.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8.xml"/><Relationship Id="rId7" Type="http://schemas.openxmlformats.org/officeDocument/2006/relationships/image" Target="../media/image8.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9.xml"/><Relationship Id="rId7" Type="http://schemas.openxmlformats.org/officeDocument/2006/relationships/image" Target="../media/image9.png"/><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3.xml.rels><?xml version="1.0" encoding="UTF-8" standalone="yes"?>
<Relationships xmlns="http://schemas.openxmlformats.org/package/2006/relationships"><Relationship Id="rId8" Type="http://schemas.openxmlformats.org/officeDocument/2006/relationships/hyperlink" Target="https://en.wikipedia.org/wiki/Micro_frontend" TargetMode="External"/><Relationship Id="rId13" Type="http://schemas.openxmlformats.org/officeDocument/2006/relationships/hyperlink" Target="https://github.com/PacktPublishing/The-Art-of-Micro-Frontends" TargetMode="External"/><Relationship Id="rId18" Type="http://schemas.openxmlformats.org/officeDocument/2006/relationships/hyperlink" Target="https://github.com/PacktPublishing/Building-Micro-Frontends-with-React-18" TargetMode="External"/><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hyperlink" Target="https://www.trendmicro.com/en_us/research/21/h/micro-frontend-guide-technical-integrations.html" TargetMode="External"/><Relationship Id="rId17" Type="http://schemas.openxmlformats.org/officeDocument/2006/relationships/hyperlink" Target="https://www.angulararchitects.io/en/blog/micro-frontends-with-modern-angular-part-1-standalone-and-esbuild/" TargetMode="External"/><Relationship Id="rId2" Type="http://schemas.openxmlformats.org/officeDocument/2006/relationships/notesSlide" Target="../notesSlides/notesSlide3.xml"/><Relationship Id="rId16" Type="http://schemas.openxmlformats.org/officeDocument/2006/relationships/hyperlink" Target="https://mia-platform.eu/blog/micro-frontend-orchestration/" TargetMode="External"/><Relationship Id="rId1" Type="http://schemas.openxmlformats.org/officeDocument/2006/relationships/slideLayout" Target="../slideLayouts/slideLayout2.xml"/><Relationship Id="rId6" Type="http://schemas.openxmlformats.org/officeDocument/2006/relationships/diagramColors" Target="../diagrams/colors12.xml"/><Relationship Id="rId11" Type="http://schemas.openxmlformats.org/officeDocument/2006/relationships/hyperlink" Target="https://lucamezzalira.com/category/micro-frontends/" TargetMode="External"/><Relationship Id="rId5" Type="http://schemas.openxmlformats.org/officeDocument/2006/relationships/diagramQuickStyle" Target="../diagrams/quickStyle12.xml"/><Relationship Id="rId15" Type="http://schemas.openxmlformats.org/officeDocument/2006/relationships/hyperlink" Target="https://blog.bitsrc.io/mastering-microfrontends-9-patterns-every-developer-should-know-397081673770" TargetMode="External"/><Relationship Id="rId10" Type="http://schemas.openxmlformats.org/officeDocument/2006/relationships/hyperlink" Target="https://www.turing.com/blog/micro-frontends-what-are-they-when-to-use-them" TargetMode="External"/><Relationship Id="rId19" Type="http://schemas.openxmlformats.org/officeDocument/2006/relationships/hyperlink" Target="https://www.udemy.com/course/microfrontend-course/?couponCode=ST11MT170325G3" TargetMode="External"/><Relationship Id="rId4" Type="http://schemas.openxmlformats.org/officeDocument/2006/relationships/diagramLayout" Target="../diagrams/layout12.xml"/><Relationship Id="rId9" Type="http://schemas.openxmlformats.org/officeDocument/2006/relationships/hyperlink" Target="https://github.com/naltatis/micro-frontends-in-action-code" TargetMode="External"/><Relationship Id="rId14" Type="http://schemas.openxmlformats.org/officeDocument/2006/relationships/hyperlink" Target="https://blog.bitsrc.io/creating-seamless-user-experiences-a-comprehensive-guide-to-micro-frontend-architectural-patterns-9118a70386b7"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D4B0E-4F81-6DCE-81C4-CBB28CA2E6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70AAB85-A7D7-0C74-AD21-92D78184435D}"/>
              </a:ext>
            </a:extLst>
          </p:cNvPr>
          <p:cNvSpPr/>
          <p:nvPr/>
        </p:nvSpPr>
        <p:spPr>
          <a:xfrm>
            <a:off x="1676399" y="141294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6F3D1B-8745-2897-0DB9-5D60D1E33498}"/>
              </a:ext>
            </a:extLst>
          </p:cNvPr>
          <p:cNvSpPr/>
          <p:nvPr/>
        </p:nvSpPr>
        <p:spPr>
          <a:xfrm>
            <a:off x="1676399" y="1600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6E738-BC7A-3E71-B33A-6A9C6F4C41A4}"/>
              </a:ext>
            </a:extLst>
          </p:cNvPr>
          <p:cNvGraphicFramePr/>
          <p:nvPr>
            <p:extLst>
              <p:ext uri="{D42A27DB-BD31-4B8C-83A1-F6EECF244321}">
                <p14:modId xmlns:p14="http://schemas.microsoft.com/office/powerpoint/2010/main" val="2065474022"/>
              </p:ext>
            </p:extLst>
          </p:nvPr>
        </p:nvGraphicFramePr>
        <p:xfrm>
          <a:off x="304800" y="-152401"/>
          <a:ext cx="8686800" cy="15450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81382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dirty="0">
                <a:hlinkClick r:id="rId8"/>
              </a:rPr>
              <a:t>Backends for Frontends Pattern - Azure Architecture Center | Microsoft Learn</a:t>
            </a:r>
            <a:endParaRPr lang="en-US" sz="1350" dirty="0"/>
          </a:p>
          <a:p>
            <a:pPr marL="12700" marR="5080"/>
            <a:r>
              <a:rPr lang="en-US" sz="1350" dirty="0">
                <a:hlinkClick r:id="rId9"/>
              </a:rPr>
              <a:t>NGINX - Zero To Hero: Your Ultimate Guide from Beginner to Advanced Mastery</a:t>
            </a:r>
            <a:endParaRPr lang="en-US" sz="1350" dirty="0"/>
          </a:p>
          <a:p>
            <a:pPr marL="12700" marR="5080"/>
            <a:r>
              <a:rPr lang="en-US" sz="1350" dirty="0">
                <a:hlinkClick r:id="rId10"/>
              </a:rPr>
              <a:t>How to use Nginx with CDN. A Content Delivery Network (CDN) is a…</a:t>
            </a:r>
            <a:endParaRPr lang="en-US" sz="1350" dirty="0"/>
          </a:p>
          <a:p>
            <a:pPr marL="12700" marR="5080"/>
            <a:r>
              <a:rPr lang="en-US" sz="1350" dirty="0">
                <a:hlinkClick r:id="rId11"/>
              </a:rPr>
              <a:t>Map a custom domain to an Azure Blob Storage endpoint - Azure Storage | Microsoft Learn</a:t>
            </a:r>
            <a:endParaRPr lang="en-US" sz="1350" kern="0" spc="-80" dirty="0">
              <a:solidFill>
                <a:schemeClr val="accent2"/>
              </a:solidFill>
            </a:endParaRPr>
          </a:p>
          <a:p>
            <a:pPr marL="12700" marR="5080"/>
            <a:r>
              <a:rPr lang="en-US" sz="1350" dirty="0">
                <a:hlinkClick r:id="rId12"/>
              </a:rPr>
              <a:t>Frontend Developer Roadmap</a:t>
            </a:r>
            <a:endParaRPr lang="en-US" sz="1350" dirty="0"/>
          </a:p>
          <a:p>
            <a:pPr marL="12700" marR="5080"/>
            <a:r>
              <a:rPr lang="en-IN" sz="1350" dirty="0">
                <a:hlinkClick r:id="rId13"/>
              </a:rPr>
              <a:t>Refactoring HTML</a:t>
            </a:r>
            <a:endParaRPr lang="en-IN" sz="1350" dirty="0"/>
          </a:p>
          <a:p>
            <a:pPr marL="12700" marR="5080"/>
            <a:r>
              <a:rPr lang="en-IN" sz="1350" dirty="0">
                <a:hlinkClick r:id="rId14"/>
              </a:rPr>
              <a:t>Designing Web Interfaces</a:t>
            </a:r>
            <a:endParaRPr lang="en-IN" sz="1350" dirty="0"/>
          </a:p>
          <a:p>
            <a:pPr marL="12700" marR="5080"/>
            <a:r>
              <a:rPr lang="en-IN" sz="1350" dirty="0">
                <a:hlinkClick r:id="rId15"/>
              </a:rPr>
              <a:t>Test-Driving HTML Templates</a:t>
            </a:r>
            <a:endParaRPr lang="en-IN" sz="1350" dirty="0"/>
          </a:p>
          <a:p>
            <a:pPr marL="12700" marR="5080"/>
            <a:r>
              <a:rPr lang="en-US" sz="1350" dirty="0">
                <a:hlinkClick r:id="rId16"/>
              </a:rPr>
              <a:t>UX Design Roadmap</a:t>
            </a:r>
            <a:endParaRPr lang="en-US" sz="1350" dirty="0"/>
          </a:p>
          <a:p>
            <a:pPr marL="12700" marR="5080"/>
            <a:r>
              <a:rPr lang="en-US" sz="1350" dirty="0">
                <a:hlinkClick r:id="rId17"/>
              </a:rPr>
              <a:t>How to Create a Design System</a:t>
            </a:r>
            <a:endParaRPr lang="en-US" sz="1350" dirty="0"/>
          </a:p>
          <a:p>
            <a:pPr marL="12700" marR="5080"/>
            <a:r>
              <a:rPr lang="en-US" sz="1350" dirty="0">
                <a:hlinkClick r:id="rId18"/>
              </a:rPr>
              <a:t>Home - Fluent 2 Design System</a:t>
            </a:r>
            <a:endParaRPr lang="en-US" sz="1350" dirty="0"/>
          </a:p>
          <a:p>
            <a:pPr marL="12700" marR="5080"/>
            <a:r>
              <a:rPr lang="en-US" sz="1350" dirty="0">
                <a:hlinkClick r:id="rId19"/>
              </a:rPr>
              <a:t>JavaScript Developer Roadmap</a:t>
            </a:r>
            <a:endParaRPr lang="en-US" sz="1350" dirty="0"/>
          </a:p>
          <a:p>
            <a:pPr marL="12700" marR="5080"/>
            <a:r>
              <a:rPr lang="en-IN" sz="1350" dirty="0">
                <a:hlinkClick r:id="rId20"/>
              </a:rPr>
              <a:t>JavaScript Cookbook</a:t>
            </a:r>
            <a:endParaRPr lang="en-IN" sz="1350" dirty="0"/>
          </a:p>
          <a:p>
            <a:pPr marL="12700" marR="5080"/>
            <a:r>
              <a:rPr lang="en-US" sz="1350" dirty="0">
                <a:hlinkClick r:id="rId21"/>
              </a:rPr>
              <a:t>Learning JavaScript Design Patterns</a:t>
            </a:r>
            <a:endParaRPr lang="en-US" sz="1350" dirty="0"/>
          </a:p>
          <a:p>
            <a:pPr marL="12700" marR="5080"/>
            <a:r>
              <a:rPr lang="en-IN" sz="1350" dirty="0" err="1">
                <a:hlinkClick r:id="rId22"/>
              </a:rPr>
              <a:t>Javascript</a:t>
            </a:r>
            <a:r>
              <a:rPr lang="en-IN" sz="1350" dirty="0">
                <a:hlinkClick r:id="rId22"/>
              </a:rPr>
              <a:t>-Design-Patterns</a:t>
            </a:r>
            <a:endParaRPr lang="en-IN" sz="1350" dirty="0"/>
          </a:p>
          <a:p>
            <a:pPr marL="12700" marR="5080"/>
            <a:r>
              <a:rPr lang="en-IN" sz="1350" dirty="0">
                <a:hlinkClick r:id="rId23"/>
              </a:rPr>
              <a:t>TypeScript-5-Design-Patterns-and-Best-Practices</a:t>
            </a:r>
            <a:endParaRPr lang="en-IN" sz="1350" dirty="0"/>
          </a:p>
          <a:p>
            <a:pPr marL="12700" marR="5080"/>
            <a:r>
              <a:rPr lang="en-US" sz="1350" dirty="0">
                <a:hlinkClick r:id="rId24"/>
              </a:rPr>
              <a:t>Node.js-Design-Patterns-Third-Edition: Node.js Design Patterns</a:t>
            </a:r>
            <a:endParaRPr lang="en-US" sz="1350" dirty="0"/>
          </a:p>
          <a:p>
            <a:pPr marL="12700" marR="5080"/>
            <a:r>
              <a:rPr lang="en-US" sz="1350" dirty="0">
                <a:hlinkClick r:id="rId25"/>
              </a:rPr>
              <a:t>Building-Your-Own-JavaScript-Framework</a:t>
            </a:r>
            <a:endParaRPr lang="en-US" sz="1350" dirty="0"/>
          </a:p>
          <a:p>
            <a:pPr marL="12700" marR="5080"/>
            <a:r>
              <a:rPr lang="en-US" sz="1350" dirty="0">
                <a:hlinkClick r:id="rId26"/>
              </a:rPr>
              <a:t>Build a frontend framework from scratch</a:t>
            </a:r>
            <a:endParaRPr lang="en-US" sz="1350" dirty="0"/>
          </a:p>
          <a:p>
            <a:pPr marL="12700" marR="5080"/>
            <a:r>
              <a:rPr lang="en-US" sz="1350" dirty="0">
                <a:hlinkClick r:id="rId27"/>
              </a:rPr>
              <a:t>Blazor vs (Angular, React, and Vue) | </a:t>
            </a:r>
            <a:r>
              <a:rPr lang="en-US" sz="1350" dirty="0" err="1">
                <a:hlinkClick r:id="rId27"/>
              </a:rPr>
              <a:t>AnArSolutions</a:t>
            </a:r>
            <a:endParaRPr lang="en-US" sz="1350" dirty="0"/>
          </a:p>
          <a:p>
            <a:pPr marL="12700" marR="5080"/>
            <a:r>
              <a:rPr lang="en-US" sz="1350" dirty="0">
                <a:hlinkClick r:id="rId28"/>
              </a:rPr>
              <a:t>TypeScript Roadmap: Learn to become a TypeScript developer</a:t>
            </a:r>
            <a:endParaRPr lang="en-US" sz="1350" dirty="0"/>
          </a:p>
          <a:p>
            <a:pPr marL="12700" marR="5080"/>
            <a:r>
              <a:rPr lang="en-US" sz="1350" dirty="0">
                <a:hlinkClick r:id="rId29"/>
              </a:rPr>
              <a:t>Angular Developer Roadmap</a:t>
            </a:r>
            <a:endParaRPr lang="en-US" sz="1350" dirty="0"/>
          </a:p>
          <a:p>
            <a:pPr marL="12700" marR="5080"/>
            <a:r>
              <a:rPr lang="en-US" sz="1350" dirty="0">
                <a:hlinkClick r:id="rId30"/>
              </a:rPr>
              <a:t>React Developer Roadmap</a:t>
            </a:r>
            <a:endParaRPr lang="en-US" sz="1350" dirty="0"/>
          </a:p>
          <a:p>
            <a:pPr marL="12700" marR="5080"/>
            <a:r>
              <a:rPr lang="en-US" sz="1350" dirty="0">
                <a:hlinkClick r:id="rId31"/>
              </a:rPr>
              <a:t>How to add husky to React | by Mario </a:t>
            </a:r>
            <a:r>
              <a:rPr lang="en-US" sz="1350" dirty="0" err="1">
                <a:hlinkClick r:id="rId31"/>
              </a:rPr>
              <a:t>Kandut</a:t>
            </a:r>
            <a:r>
              <a:rPr lang="en-US" sz="1350" dirty="0">
                <a:hlinkClick r:id="rId31"/>
              </a:rPr>
              <a:t> | Medium</a:t>
            </a:r>
            <a:endParaRPr lang="en-US" sz="1350" dirty="0"/>
          </a:p>
          <a:p>
            <a:pPr marL="12700" marR="5080"/>
            <a:r>
              <a:rPr lang="en-IN" sz="1350" dirty="0">
                <a:hlinkClick r:id="rId32"/>
              </a:rPr>
              <a:t>Learn-React-with-TypeScript-Third-Edition</a:t>
            </a:r>
            <a:endParaRPr lang="en-US" sz="1350" dirty="0"/>
          </a:p>
          <a:p>
            <a:pPr marL="12700" marR="5080"/>
            <a:endParaRPr lang="en-US" sz="1450" dirty="0"/>
          </a:p>
        </p:txBody>
      </p:sp>
    </p:spTree>
    <p:extLst>
      <p:ext uri="{BB962C8B-B14F-4D97-AF65-F5344CB8AC3E}">
        <p14:creationId xmlns:p14="http://schemas.microsoft.com/office/powerpoint/2010/main" val="42102321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6068E-3F0F-6B61-F7A8-31D8C49989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00CC6B-F59E-2477-7AE6-C404DC63777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3DFC3B-3190-DD3B-D32B-E8815A25459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7A9BAE1-4203-B014-E281-8DF887C529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F6CEBF-B664-71BC-6C43-409E659483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673BA9-7E0D-42A9-C68C-F526BF809D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B31983-58FA-D57E-5820-D9A9605C5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FF7C40-DE2E-539C-1DAB-A20FC1F08F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8FE7F3-761E-5C32-6F26-B89AE7F95CD0}"/>
              </a:ext>
            </a:extLst>
          </p:cNvPr>
          <p:cNvSpPr txBox="1">
            <a:spLocks/>
          </p:cNvSpPr>
          <p:nvPr/>
        </p:nvSpPr>
        <p:spPr>
          <a:xfrm>
            <a:off x="152400" y="685800"/>
            <a:ext cx="8624937" cy="54907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350" dirty="0" err="1">
                <a:hlinkClick r:id="rId3"/>
              </a:rPr>
              <a:t>Academind</a:t>
            </a:r>
            <a:r>
              <a:rPr lang="en-IN" sz="1350" dirty="0">
                <a:hlinkClick r:id="rId3"/>
              </a:rPr>
              <a:t> - Courses, Tutorials &amp; Podcast</a:t>
            </a:r>
            <a:endParaRPr lang="en-IN" sz="1350" dirty="0"/>
          </a:p>
          <a:p>
            <a:pPr marL="12700" marR="5080"/>
            <a:r>
              <a:rPr lang="fr-FR" sz="1350" dirty="0">
                <a:hlinkClick r:id="rId4"/>
              </a:rPr>
              <a:t>.NET MAUI vs. Flutter vs. </a:t>
            </a:r>
            <a:r>
              <a:rPr lang="fr-FR" sz="1350" dirty="0" err="1">
                <a:hlinkClick r:id="rId4"/>
              </a:rPr>
              <a:t>React</a:t>
            </a:r>
            <a:r>
              <a:rPr lang="fr-FR" sz="1350" dirty="0">
                <a:hlinkClick r:id="rId4"/>
              </a:rPr>
              <a:t> Native: A </a:t>
            </a:r>
            <a:r>
              <a:rPr lang="fr-FR" sz="1350" dirty="0" err="1">
                <a:hlinkClick r:id="rId4"/>
              </a:rPr>
              <a:t>Comprehensive</a:t>
            </a:r>
            <a:r>
              <a:rPr lang="fr-FR" sz="1350" dirty="0">
                <a:hlinkClick r:id="rId4"/>
              </a:rPr>
              <a:t> </a:t>
            </a:r>
            <a:r>
              <a:rPr lang="fr-FR" sz="1350" dirty="0" err="1">
                <a:hlinkClick r:id="rId4"/>
              </a:rPr>
              <a:t>Comparison</a:t>
            </a:r>
            <a:endParaRPr lang="fr-FR" sz="1350" dirty="0"/>
          </a:p>
          <a:p>
            <a:pPr marL="12700" marR="5080"/>
            <a:r>
              <a:rPr lang="en-US" sz="1350" dirty="0">
                <a:hlinkClick r:id="rId5"/>
              </a:rPr>
              <a:t>Advanced React: Design System, Design Patterns, Performance | Udemy</a:t>
            </a:r>
            <a:endParaRPr lang="en-US" sz="1350" dirty="0"/>
          </a:p>
          <a:p>
            <a:pPr marL="12700" marR="5080"/>
            <a:r>
              <a:rPr lang="en-US" sz="1350" dirty="0">
                <a:hlinkClick r:id="rId6"/>
              </a:rPr>
              <a:t>React-18-Design-Patterns-and-Best-Practices</a:t>
            </a:r>
            <a:endParaRPr lang="en-US" sz="1350" dirty="0"/>
          </a:p>
          <a:p>
            <a:pPr marL="12700" marR="5080"/>
            <a:r>
              <a:rPr lang="de-DE" sz="1350" dirty="0">
                <a:hlinkClick r:id="rId7"/>
              </a:rPr>
              <a:t>Modern Web Design Patterns in Angular 8 | Udemy</a:t>
            </a:r>
            <a:endParaRPr lang="de-DE" sz="1350" dirty="0"/>
          </a:p>
          <a:p>
            <a:pPr marL="12700" marR="5080"/>
            <a:r>
              <a:rPr lang="en-IN" sz="1350" dirty="0">
                <a:hlinkClick r:id="rId8"/>
              </a:rPr>
              <a:t>Angular Design Patterns | Programming | eBook</a:t>
            </a:r>
            <a:endParaRPr lang="en-IN" sz="1350" dirty="0"/>
          </a:p>
          <a:p>
            <a:pPr marL="12700" marR="5080"/>
            <a:r>
              <a:rPr lang="en-US" sz="1350" dirty="0" err="1">
                <a:hlinkClick r:id="rId9"/>
              </a:rPr>
              <a:t>Reactjs</a:t>
            </a:r>
            <a:r>
              <a:rPr lang="en-US" sz="1350" dirty="0">
                <a:hlinkClick r:id="rId9"/>
              </a:rPr>
              <a:t> - What is the difference between Redux </a:t>
            </a:r>
            <a:r>
              <a:rPr lang="en-US" sz="1350" dirty="0" err="1">
                <a:hlinkClick r:id="rId9"/>
              </a:rPr>
              <a:t>Thunk</a:t>
            </a:r>
            <a:r>
              <a:rPr lang="en-US" sz="1350" dirty="0">
                <a:hlinkClick r:id="rId9"/>
              </a:rPr>
              <a:t> and Redux Saga? - Stack Overflow</a:t>
            </a:r>
            <a:endParaRPr lang="en-US" sz="1350" dirty="0"/>
          </a:p>
          <a:p>
            <a:pPr marL="12700" marR="5080"/>
            <a:r>
              <a:rPr lang="en-US" sz="1350" dirty="0">
                <a:hlinkClick r:id="rId10"/>
              </a:rPr>
              <a:t>Comparison of Android networking libraries: </a:t>
            </a:r>
            <a:r>
              <a:rPr lang="en-US" sz="1350" dirty="0" err="1">
                <a:hlinkClick r:id="rId10"/>
              </a:rPr>
              <a:t>OkHTTP</a:t>
            </a:r>
            <a:r>
              <a:rPr lang="en-US" sz="1350" dirty="0">
                <a:hlinkClick r:id="rId10"/>
              </a:rPr>
              <a:t>, Retrofit, and Volley</a:t>
            </a:r>
            <a:endParaRPr lang="en-US" sz="1350" dirty="0"/>
          </a:p>
          <a:p>
            <a:pPr marL="12700" marR="5080"/>
            <a:r>
              <a:rPr lang="en-US" sz="1350" dirty="0">
                <a:hlinkClick r:id="rId11"/>
              </a:rPr>
              <a:t>Working with networking libraries in iOS | by Pınar Koçak | Medium</a:t>
            </a:r>
            <a:endParaRPr lang="en-US" sz="1350" dirty="0"/>
          </a:p>
          <a:p>
            <a:pPr marL="12700" marR="5080"/>
            <a:r>
              <a:rPr lang="en-IN" sz="1350" dirty="0">
                <a:hlinkClick r:id="rId12"/>
              </a:rPr>
              <a:t>8 Effective Mobile Apps Design Patterns | </a:t>
            </a:r>
            <a:r>
              <a:rPr lang="en-IN" sz="1350" dirty="0" err="1">
                <a:hlinkClick r:id="rId12"/>
              </a:rPr>
              <a:t>DesignRush</a:t>
            </a:r>
            <a:endParaRPr lang="en-US" sz="1350" dirty="0"/>
          </a:p>
          <a:p>
            <a:pPr marL="12700" marR="5080"/>
            <a:r>
              <a:rPr lang="en-IN" sz="1350" dirty="0">
                <a:hlinkClick r:id="rId13"/>
              </a:rPr>
              <a:t>Mobile Design Pattern Gallery</a:t>
            </a:r>
            <a:endParaRPr lang="en-IN" sz="1350" dirty="0"/>
          </a:p>
          <a:p>
            <a:pPr marL="12700" marR="5080"/>
            <a:r>
              <a:rPr lang="en-US" sz="1350" dirty="0">
                <a:hlinkClick r:id="rId14"/>
              </a:rPr>
              <a:t>React Native — Modern Mobile Application Architecture and Design Patterns | LinkedIn</a:t>
            </a:r>
            <a:endParaRPr lang="en-US" sz="1350" dirty="0"/>
          </a:p>
          <a:p>
            <a:pPr marL="12700" marR="5080"/>
            <a:r>
              <a:rPr lang="en-US" sz="1350" dirty="0">
                <a:hlinkClick r:id="rId15"/>
              </a:rPr>
              <a:t>Design Patterns for React Native Applications | by K Samman | Medium</a:t>
            </a:r>
            <a:endParaRPr lang="en-US" sz="1350" dirty="0"/>
          </a:p>
          <a:p>
            <a:pPr marL="12700" marR="5080"/>
            <a:r>
              <a:rPr lang="en-US" sz="1350" dirty="0">
                <a:hlinkClick r:id="rId16"/>
              </a:rPr>
              <a:t>Design Patterns in Mobile Development with React Native | by </a:t>
            </a:r>
            <a:r>
              <a:rPr lang="en-US" sz="1350" dirty="0" err="1">
                <a:hlinkClick r:id="rId16"/>
              </a:rPr>
              <a:t>Malikmohsin</a:t>
            </a:r>
            <a:r>
              <a:rPr lang="en-US" sz="1350" dirty="0">
                <a:hlinkClick r:id="rId16"/>
              </a:rPr>
              <a:t> | Medium</a:t>
            </a:r>
            <a:endParaRPr lang="en-US" sz="1350" dirty="0"/>
          </a:p>
          <a:p>
            <a:pPr marL="12700" marR="5080"/>
            <a:r>
              <a:rPr lang="en-IN" sz="1350" dirty="0">
                <a:hlinkClick r:id="rId17"/>
              </a:rPr>
              <a:t>Mastering Design Patterns &amp; SOLID Principles for Effective Software Development using React </a:t>
            </a:r>
            <a:endParaRPr lang="en-IN" sz="1350" dirty="0"/>
          </a:p>
          <a:p>
            <a:pPr marL="12700" marR="5080"/>
            <a:r>
              <a:rPr lang="en-US" sz="1350" dirty="0">
                <a:hlinkClick r:id="rId18"/>
              </a:rPr>
              <a:t>Hands-On-Design-Patterns-with-React-Native</a:t>
            </a:r>
            <a:endParaRPr lang="en-US" sz="1350" dirty="0"/>
          </a:p>
          <a:p>
            <a:pPr marL="12700" marR="5080"/>
            <a:r>
              <a:rPr lang="en-US" sz="1350" dirty="0">
                <a:hlinkClick r:id="rId19"/>
              </a:rPr>
              <a:t>Android-Design-Patterns-and-Best-Practice</a:t>
            </a:r>
            <a:endParaRPr lang="en-US" sz="1350" dirty="0"/>
          </a:p>
          <a:p>
            <a:pPr marL="12700" marR="5080"/>
            <a:r>
              <a:rPr lang="en-US" sz="1350" dirty="0">
                <a:hlinkClick r:id="rId20"/>
              </a:rPr>
              <a:t>Flutter-Design-Patterns-and-Best-Practices</a:t>
            </a:r>
            <a:endParaRPr lang="en-US" sz="1350" dirty="0"/>
          </a:p>
          <a:p>
            <a:pPr marL="12700" marR="5080"/>
            <a:r>
              <a:rPr lang="en-US" sz="1350" dirty="0">
                <a:hlinkClick r:id="rId21"/>
              </a:rPr>
              <a:t>Android Developer Roadmap</a:t>
            </a:r>
            <a:endParaRPr lang="en-US" sz="1350" dirty="0"/>
          </a:p>
          <a:p>
            <a:pPr marL="12700" marR="5080"/>
            <a:r>
              <a:rPr lang="en-US" sz="1350" dirty="0">
                <a:hlinkClick r:id="rId22"/>
              </a:rPr>
              <a:t>Hands-On Design Patterns with Swift | Programming | Paperback</a:t>
            </a:r>
            <a:endParaRPr lang="en-US" sz="1350" dirty="0"/>
          </a:p>
          <a:p>
            <a:pPr marL="12700" marR="5080"/>
            <a:r>
              <a:rPr lang="en-IN" sz="1350" dirty="0">
                <a:hlinkClick r:id="rId23"/>
              </a:rPr>
              <a:t>App Architecture: iOS Application Design Patterns in Swift</a:t>
            </a:r>
            <a:endParaRPr lang="en-IN" sz="1350" dirty="0"/>
          </a:p>
          <a:p>
            <a:pPr marL="12700" marR="5080"/>
            <a:r>
              <a:rPr lang="en-US" sz="1350" dirty="0">
                <a:hlinkClick r:id="rId24"/>
              </a:rPr>
              <a:t>Swift-Design-Patterns</a:t>
            </a:r>
            <a:endParaRPr lang="en-US" sz="1350" dirty="0"/>
          </a:p>
          <a:p>
            <a:pPr marL="12700" marR="5080"/>
            <a:r>
              <a:rPr lang="en-IN" sz="1350" dirty="0">
                <a:hlinkClick r:id="rId25"/>
              </a:rPr>
              <a:t>Design Patterns in iOS.</a:t>
            </a:r>
            <a:r>
              <a:rPr lang="en-IN" sz="1350" dirty="0"/>
              <a:t> </a:t>
            </a:r>
          </a:p>
          <a:p>
            <a:pPr marL="12700" marR="5080"/>
            <a:r>
              <a:rPr lang="en-IN" sz="1350" dirty="0">
                <a:hlinkClick r:id="rId26"/>
              </a:rPr>
              <a:t>iOS-Architecture-Patterns</a:t>
            </a:r>
            <a:endParaRPr lang="en-IN" sz="1350" dirty="0"/>
          </a:p>
          <a:p>
            <a:pPr marL="12700" marR="5080"/>
            <a:r>
              <a:rPr lang="en-US" sz="1350" dirty="0">
                <a:hlinkClick r:id="rId27"/>
              </a:rPr>
              <a:t>iOS Developer Roadmap</a:t>
            </a:r>
            <a:endParaRPr lang="en-US" sz="1350" dirty="0"/>
          </a:p>
          <a:p>
            <a:pPr marL="12700" marR="5080"/>
            <a:endParaRPr lang="en-US" sz="1000" dirty="0"/>
          </a:p>
          <a:p>
            <a:pPr marL="12700" marR="5080"/>
            <a:endParaRPr lang="en-US" sz="930" kern="0" spc="-80" dirty="0">
              <a:solidFill>
                <a:schemeClr val="accent2"/>
              </a:solidFill>
            </a:endParaRPr>
          </a:p>
        </p:txBody>
      </p:sp>
      <p:grpSp>
        <p:nvGrpSpPr>
          <p:cNvPr id="9" name="Group 8">
            <a:extLst>
              <a:ext uri="{FF2B5EF4-FFF2-40B4-BE49-F238E27FC236}">
                <a16:creationId xmlns:a16="http://schemas.microsoft.com/office/drawing/2014/main" id="{B494BA28-19DF-FED8-729F-4E59DFD42AFC}"/>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615D2B9-550B-05C1-2C34-5FE7A63586F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BC36983-FA90-4CD1-7C17-0BA4DB7861C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UI&amp; Mobile Development Resources </a:t>
              </a:r>
              <a:r>
                <a:rPr lang="en-US" sz="2500" kern="1200" dirty="0" err="1">
                  <a:solidFill>
                    <a:prstClr val="white"/>
                  </a:solidFill>
                  <a:latin typeface="Calibri"/>
                  <a:ea typeface="+mn-ea"/>
                  <a:cs typeface="+mn-cs"/>
                </a:rPr>
                <a:t>contd</a:t>
              </a:r>
              <a:r>
                <a:rPr lang="en-US" sz="2500" kern="1200" dirty="0">
                  <a:solidFill>
                    <a:prstClr val="white"/>
                  </a:solidFill>
                  <a:latin typeface="Calibri"/>
                  <a:ea typeface="+mn-ea"/>
                  <a:cs typeface="+mn-cs"/>
                </a:rPr>
                <a:t>… </a:t>
              </a:r>
            </a:p>
          </p:txBody>
        </p:sp>
      </p:grpSp>
    </p:spTree>
    <p:extLst>
      <p:ext uri="{BB962C8B-B14F-4D97-AF65-F5344CB8AC3E}">
        <p14:creationId xmlns:p14="http://schemas.microsoft.com/office/powerpoint/2010/main" val="3265572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MPA vs SPA</a:t>
            </a:r>
          </a:p>
        </p:txBody>
      </p:sp>
      <p:pic>
        <p:nvPicPr>
          <p:cNvPr id="16" name="Picture 15">
            <a:extLst>
              <a:ext uri="{FF2B5EF4-FFF2-40B4-BE49-F238E27FC236}">
                <a16:creationId xmlns:a16="http://schemas.microsoft.com/office/drawing/2014/main" id="{14CAD3EF-7BCE-0F8A-4ABC-EC6B34698842}"/>
              </a:ext>
            </a:extLst>
          </p:cNvPr>
          <p:cNvPicPr>
            <a:picLocks noChangeAspect="1"/>
          </p:cNvPicPr>
          <p:nvPr/>
        </p:nvPicPr>
        <p:blipFill>
          <a:blip r:embed="rId7"/>
          <a:stretch>
            <a:fillRect/>
          </a:stretch>
        </p:blipFill>
        <p:spPr>
          <a:xfrm>
            <a:off x="152400" y="1149111"/>
            <a:ext cx="3988005" cy="4642089"/>
          </a:xfrm>
          <a:prstGeom prst="rect">
            <a:avLst/>
          </a:prstGeom>
        </p:spPr>
      </p:pic>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9" name="Picture 18">
            <a:extLst>
              <a:ext uri="{FF2B5EF4-FFF2-40B4-BE49-F238E27FC236}">
                <a16:creationId xmlns:a16="http://schemas.microsoft.com/office/drawing/2014/main" id="{6FDA91A5-3FDE-2B7F-1CC2-E61FB19BFED8}"/>
              </a:ext>
            </a:extLst>
          </p:cNvPr>
          <p:cNvPicPr>
            <a:picLocks noChangeAspect="1"/>
          </p:cNvPicPr>
          <p:nvPr/>
        </p:nvPicPr>
        <p:blipFill>
          <a:blip r:embed="rId8"/>
          <a:stretch>
            <a:fillRect/>
          </a:stretch>
        </p:blipFill>
        <p:spPr>
          <a:xfrm>
            <a:off x="4495800" y="1447800"/>
            <a:ext cx="3962400" cy="4267200"/>
          </a:xfrm>
          <a:prstGeom prst="rect">
            <a:avLst/>
          </a:prstGeom>
        </p:spPr>
      </p:pic>
    </p:spTree>
    <p:extLst>
      <p:ext uri="{BB962C8B-B14F-4D97-AF65-F5344CB8AC3E}">
        <p14:creationId xmlns:p14="http://schemas.microsoft.com/office/powerpoint/2010/main" val="9089877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PWA(Offline First Apps)</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2" name="Picture 11">
            <a:extLst>
              <a:ext uri="{FF2B5EF4-FFF2-40B4-BE49-F238E27FC236}">
                <a16:creationId xmlns:a16="http://schemas.microsoft.com/office/drawing/2014/main" id="{9BD046C4-A3A6-6360-F8EE-89554A614454}"/>
              </a:ext>
            </a:extLst>
          </p:cNvPr>
          <p:cNvPicPr>
            <a:picLocks noChangeAspect="1"/>
          </p:cNvPicPr>
          <p:nvPr/>
        </p:nvPicPr>
        <p:blipFill>
          <a:blip r:embed="rId7"/>
          <a:stretch>
            <a:fillRect/>
          </a:stretch>
        </p:blipFill>
        <p:spPr>
          <a:xfrm>
            <a:off x="138063" y="1196884"/>
            <a:ext cx="8777336" cy="4594316"/>
          </a:xfrm>
          <a:prstGeom prst="rect">
            <a:avLst/>
          </a:prstGeom>
        </p:spPr>
      </p:pic>
    </p:spTree>
    <p:extLst>
      <p:ext uri="{BB962C8B-B14F-4D97-AF65-F5344CB8AC3E}">
        <p14:creationId xmlns:p14="http://schemas.microsoft.com/office/powerpoint/2010/main" val="20580892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SPA vs Isomorphic</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A5D70FC-153A-9C11-2611-D7AF2E297254}"/>
              </a:ext>
            </a:extLst>
          </p:cNvPr>
          <p:cNvPicPr>
            <a:picLocks noChangeAspect="1"/>
          </p:cNvPicPr>
          <p:nvPr/>
        </p:nvPicPr>
        <p:blipFill>
          <a:blip r:embed="rId7"/>
          <a:stretch>
            <a:fillRect/>
          </a:stretch>
        </p:blipFill>
        <p:spPr>
          <a:xfrm>
            <a:off x="166738" y="1170067"/>
            <a:ext cx="8977262" cy="4264089"/>
          </a:xfrm>
          <a:prstGeom prst="rect">
            <a:avLst/>
          </a:prstGeom>
        </p:spPr>
      </p:pic>
      <p:sp>
        <p:nvSpPr>
          <p:cNvPr id="12" name="Rectangle 1">
            <a:extLst>
              <a:ext uri="{FF2B5EF4-FFF2-40B4-BE49-F238E27FC236}">
                <a16:creationId xmlns:a16="http://schemas.microsoft.com/office/drawing/2014/main" id="{FC5196FE-B1A1-2A3B-9712-F88BCD9AA965}"/>
              </a:ext>
            </a:extLst>
          </p:cNvPr>
          <p:cNvSpPr>
            <a:spLocks noChangeArrowheads="1"/>
          </p:cNvSpPr>
          <p:nvPr/>
        </p:nvSpPr>
        <p:spPr bwMode="auto">
          <a:xfrm>
            <a:off x="1217613" y="202247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10" name="object 2">
            <a:extLst>
              <a:ext uri="{FF2B5EF4-FFF2-40B4-BE49-F238E27FC236}">
                <a16:creationId xmlns:a16="http://schemas.microsoft.com/office/drawing/2014/main" id="{8E8EBBAD-2298-FEB1-7E4A-FAD976FF89F2}"/>
              </a:ext>
            </a:extLst>
          </p:cNvPr>
          <p:cNvSpPr txBox="1">
            <a:spLocks/>
          </p:cNvSpPr>
          <p:nvPr/>
        </p:nvSpPr>
        <p:spPr>
          <a:xfrm>
            <a:off x="176837" y="5434161"/>
            <a:ext cx="8915399"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IN" sz="1100" dirty="0">
                <a:hlinkClick r:id="rId8"/>
              </a:rPr>
              <a:t>Rendering Patterns</a:t>
            </a:r>
            <a:endParaRPr lang="en-IN" sz="1100" dirty="0"/>
          </a:p>
          <a:p>
            <a:pPr marL="12700" marR="5080"/>
            <a:r>
              <a:rPr lang="en-US" sz="1100" dirty="0">
                <a:hlinkClick r:id="rId9"/>
              </a:rPr>
              <a:t>he Art of Balance: Mastering Rendering Patterns in Modern Web Applications | LinkedIn</a:t>
            </a:r>
            <a:endParaRPr lang="en-US" sz="1100" kern="0" spc="-80" dirty="0">
              <a:solidFill>
                <a:schemeClr val="accent2"/>
              </a:solidFill>
            </a:endParaRPr>
          </a:p>
        </p:txBody>
      </p:sp>
    </p:spTree>
    <p:extLst>
      <p:ext uri="{BB962C8B-B14F-4D97-AF65-F5344CB8AC3E}">
        <p14:creationId xmlns:p14="http://schemas.microsoft.com/office/powerpoint/2010/main" val="2396066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a:t>
            </a:r>
            <a:r>
              <a:rPr lang="en-US" sz="2400" kern="0" spc="-80" dirty="0" err="1">
                <a:solidFill>
                  <a:schemeClr val="accent2"/>
                </a:solidFill>
              </a:rPr>
              <a:t>JAMstack</a:t>
            </a:r>
            <a:r>
              <a:rPr lang="en-US" sz="2400" kern="0" spc="-80" dirty="0">
                <a:solidFill>
                  <a:schemeClr val="accent2"/>
                </a:solidFill>
              </a:rPr>
              <a:t>(</a:t>
            </a:r>
            <a:r>
              <a:rPr lang="en-US" sz="2400" kern="0" spc="-80" dirty="0" err="1">
                <a:solidFill>
                  <a:schemeClr val="accent2"/>
                </a:solidFill>
              </a:rPr>
              <a:t>Js</a:t>
            </a:r>
            <a:r>
              <a:rPr lang="en-US" sz="2400" kern="0" spc="-80" dirty="0">
                <a:solidFill>
                  <a:schemeClr val="accent2"/>
                </a:solidFill>
              </a:rPr>
              <a:t>, APIs &amp; Markup)</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3" name="Picture 12">
            <a:extLst>
              <a:ext uri="{FF2B5EF4-FFF2-40B4-BE49-F238E27FC236}">
                <a16:creationId xmlns:a16="http://schemas.microsoft.com/office/drawing/2014/main" id="{293A411D-E99E-D717-0E7C-4C15428FD525}"/>
              </a:ext>
            </a:extLst>
          </p:cNvPr>
          <p:cNvPicPr>
            <a:picLocks noChangeAspect="1"/>
          </p:cNvPicPr>
          <p:nvPr/>
        </p:nvPicPr>
        <p:blipFill>
          <a:blip r:embed="rId7"/>
          <a:stretch>
            <a:fillRect/>
          </a:stretch>
        </p:blipFill>
        <p:spPr>
          <a:xfrm>
            <a:off x="101829" y="1143000"/>
            <a:ext cx="9042171" cy="4212177"/>
          </a:xfrm>
          <a:prstGeom prst="rect">
            <a:avLst/>
          </a:prstGeom>
        </p:spPr>
      </p:pic>
      <p:sp>
        <p:nvSpPr>
          <p:cNvPr id="10" name="object 2">
            <a:extLst>
              <a:ext uri="{FF2B5EF4-FFF2-40B4-BE49-F238E27FC236}">
                <a16:creationId xmlns:a16="http://schemas.microsoft.com/office/drawing/2014/main" id="{3CCA414B-7FEB-7B65-A4E8-FEB1AD60237F}"/>
              </a:ext>
            </a:extLst>
          </p:cNvPr>
          <p:cNvSpPr txBox="1">
            <a:spLocks/>
          </p:cNvSpPr>
          <p:nvPr/>
        </p:nvSpPr>
        <p:spPr>
          <a:xfrm>
            <a:off x="145230" y="5355177"/>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US" sz="1500" kern="0" spc="-80" dirty="0">
                <a:solidFill>
                  <a:schemeClr val="accent2"/>
                </a:solidFill>
              </a:rPr>
              <a:t> </a:t>
            </a:r>
            <a:r>
              <a:rPr lang="en-US" sz="1500" dirty="0">
                <a:hlinkClick r:id="rId8"/>
              </a:rPr>
              <a:t>What is the </a:t>
            </a:r>
            <a:r>
              <a:rPr lang="en-US" sz="1500" dirty="0" err="1">
                <a:hlinkClick r:id="rId8"/>
              </a:rPr>
              <a:t>JAMstack</a:t>
            </a:r>
            <a:r>
              <a:rPr lang="en-US" sz="1500" dirty="0">
                <a:hlinkClick r:id="rId8"/>
              </a:rPr>
              <a:t> and how do I get started?</a:t>
            </a:r>
            <a:endParaRPr lang="en-US" sz="1500" kern="0" spc="-80" dirty="0">
              <a:solidFill>
                <a:schemeClr val="accent2"/>
              </a:solidFill>
            </a:endParaRPr>
          </a:p>
        </p:txBody>
      </p:sp>
    </p:spTree>
    <p:extLst>
      <p:ext uri="{BB962C8B-B14F-4D97-AF65-F5344CB8AC3E}">
        <p14:creationId xmlns:p14="http://schemas.microsoft.com/office/powerpoint/2010/main" val="21760188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In Context - </a:t>
            </a:r>
          </a:p>
        </p:txBody>
      </p:sp>
      <p:pic>
        <p:nvPicPr>
          <p:cNvPr id="11" name="Picture 10">
            <a:extLst>
              <a:ext uri="{FF2B5EF4-FFF2-40B4-BE49-F238E27FC236}">
                <a16:creationId xmlns:a16="http://schemas.microsoft.com/office/drawing/2014/main" id="{586DCCD3-E0BC-A090-69AC-BD89BBCC9339}"/>
              </a:ext>
            </a:extLst>
          </p:cNvPr>
          <p:cNvPicPr>
            <a:picLocks noChangeAspect="1"/>
          </p:cNvPicPr>
          <p:nvPr/>
        </p:nvPicPr>
        <p:blipFill>
          <a:blip r:embed="rId7"/>
          <a:stretch>
            <a:fillRect/>
          </a:stretch>
        </p:blipFill>
        <p:spPr>
          <a:xfrm>
            <a:off x="138062" y="1170068"/>
            <a:ext cx="8915399" cy="4621132"/>
          </a:xfrm>
          <a:prstGeom prst="rect">
            <a:avLst/>
          </a:prstGeom>
        </p:spPr>
      </p:pic>
    </p:spTree>
    <p:extLst>
      <p:ext uri="{BB962C8B-B14F-4D97-AF65-F5344CB8AC3E}">
        <p14:creationId xmlns:p14="http://schemas.microsoft.com/office/powerpoint/2010/main" val="23825869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Principles(same as that of Microservices) – </a:t>
            </a: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7"/>
          <a:stretch>
            <a:fillRect/>
          </a:stretch>
        </p:blipFill>
        <p:spPr>
          <a:xfrm>
            <a:off x="137369" y="1101760"/>
            <a:ext cx="8716168" cy="4099004"/>
          </a:xfrm>
          <a:prstGeom prst="rect">
            <a:avLst/>
          </a:prstGeom>
        </p:spPr>
      </p:pic>
    </p:spTree>
    <p:extLst>
      <p:ext uri="{BB962C8B-B14F-4D97-AF65-F5344CB8AC3E}">
        <p14:creationId xmlns:p14="http://schemas.microsoft.com/office/powerpoint/2010/main" val="3437268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146" name="Picture 2" descr="4. Discovering Micro-Frontend Architectures - Building Micro-Frontends  [Book]">
            <a:extLst>
              <a:ext uri="{FF2B5EF4-FFF2-40B4-BE49-F238E27FC236}">
                <a16:creationId xmlns:a16="http://schemas.microsoft.com/office/drawing/2014/main" id="{8BDDE265-FC1F-EE06-B98C-7D6A83504CC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0999" y="1143000"/>
            <a:ext cx="8624937" cy="441960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5666601"/>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N.B. -&gt; Edge above in general means CDN</a:t>
            </a:r>
          </a:p>
        </p:txBody>
      </p:sp>
    </p:spTree>
    <p:extLst>
      <p:ext uri="{BB962C8B-B14F-4D97-AF65-F5344CB8AC3E}">
        <p14:creationId xmlns:p14="http://schemas.microsoft.com/office/powerpoint/2010/main" val="1858795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2F393-8E49-3B8A-5D8E-613CA795E9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488E81-4273-3C11-7913-0F1DAD6C31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939EF-2C1F-E781-3E0C-AAAD22F57F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93D4D-70F7-0A5E-34A0-E2DC0F9D9F1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E32BCD-3568-03DC-397B-E118B0A40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C2358-F66C-887F-88D0-4D57000EAB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109D39-5E62-A4BB-26E2-6DA4F4C2416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970843-47AD-D5FC-C363-F3B440E53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C2771D-64B7-82E9-9C51-896D53B68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1707518E-9BEA-5F1D-F79B-DF2B40183E6E}"/>
              </a:ext>
            </a:extLst>
          </p:cNvPr>
          <p:cNvSpPr txBox="1">
            <a:spLocks/>
          </p:cNvSpPr>
          <p:nvPr/>
        </p:nvSpPr>
        <p:spPr>
          <a:xfrm>
            <a:off x="138064" y="762000"/>
            <a:ext cx="9005936"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1500" kern="0" spc="-80" dirty="0">
                <a:solidFill>
                  <a:schemeClr val="accent6"/>
                </a:solidFill>
              </a:rPr>
              <a:t>Micro frontends is an architectural style where a web application's user interface is broken into smaller, independent, and self-contained modules, often owned by different teams. This approach, inspired by microservices, allows for independent development, deployment, and the use of different technologies for each module, promoting scalability and faster delivery. </a:t>
            </a:r>
          </a:p>
          <a:p>
            <a:pPr marL="12700" marR="5080"/>
            <a:endParaRPr lang="en-US" sz="1500" kern="0" spc="-80" dirty="0">
              <a:solidFill>
                <a:schemeClr val="accent6"/>
              </a:solidFill>
            </a:endParaRPr>
          </a:p>
          <a:p>
            <a:pPr marL="12700" marR="5080"/>
            <a:r>
              <a:rPr lang="en-US" sz="1500" kern="0" spc="-80" dirty="0">
                <a:solidFill>
                  <a:schemeClr val="accent2"/>
                </a:solidFill>
              </a:rPr>
              <a:t>Core concepts</a:t>
            </a:r>
          </a:p>
          <a:p>
            <a:pPr marL="12700" marR="5080"/>
            <a:r>
              <a:rPr lang="en-US" sz="1500" kern="0" spc="-80" dirty="0">
                <a:solidFill>
                  <a:schemeClr val="accent2"/>
                </a:solidFill>
              </a:rPr>
              <a:t>Decoupled and autonomous modules:</a:t>
            </a:r>
            <a:r>
              <a:rPr lang="en-US" sz="1500" kern="0" spc="-80" dirty="0">
                <a:solidFill>
                  <a:schemeClr val="accent6"/>
                </a:solidFill>
              </a:rPr>
              <a:t> The frontend is split into distinct, independent modules that can be developed, tested, and deployed separately, each with its own codebase.</a:t>
            </a:r>
          </a:p>
          <a:p>
            <a:pPr marL="12700" marR="5080"/>
            <a:r>
              <a:rPr lang="en-US" sz="1500" kern="0" spc="-80" dirty="0">
                <a:solidFill>
                  <a:schemeClr val="accent2"/>
                </a:solidFill>
              </a:rPr>
              <a:t>Team autonomy: </a:t>
            </a:r>
            <a:r>
              <a:rPr lang="en-US" sz="1500" kern="0" spc="-80" dirty="0">
                <a:solidFill>
                  <a:schemeClr val="accent6"/>
                </a:solidFill>
              </a:rPr>
              <a:t>Different teams can own and manage their own micro frontends, allowing them to choose their technology stack and work on their features independently.</a:t>
            </a:r>
          </a:p>
          <a:p>
            <a:pPr marL="12700" marR="5080"/>
            <a:r>
              <a:rPr lang="en-US" sz="1500" kern="0" spc="-80" dirty="0">
                <a:solidFill>
                  <a:schemeClr val="accent2"/>
                </a:solidFill>
              </a:rPr>
              <a:t>Independent deployment:</a:t>
            </a:r>
            <a:r>
              <a:rPr lang="en-US" sz="1500" kern="0" spc="-80" dirty="0">
                <a:solidFill>
                  <a:schemeClr val="accent6"/>
                </a:solidFill>
              </a:rPr>
              <a:t> Each micro frontend can be deployed on its own, reducing the risk and complexity associated with large, monolithic deployments.</a:t>
            </a:r>
          </a:p>
          <a:p>
            <a:pPr marL="12700" marR="5080"/>
            <a:r>
              <a:rPr lang="en-US" sz="1500" kern="0" spc="-80" dirty="0">
                <a:solidFill>
                  <a:schemeClr val="accent2"/>
                </a:solidFill>
              </a:rPr>
              <a:t>Technology agnosticism: </a:t>
            </a:r>
            <a:r>
              <a:rPr lang="en-US" sz="1500" kern="0" spc="-80" dirty="0">
                <a:solidFill>
                  <a:schemeClr val="accent6"/>
                </a:solidFill>
              </a:rPr>
              <a:t>Teams can use different frameworks, libraries, or languages for their micro frontends without affecting other parts of the application.</a:t>
            </a:r>
          </a:p>
          <a:p>
            <a:pPr marL="12700" marR="5080"/>
            <a:r>
              <a:rPr lang="en-US" sz="1500" kern="0" spc="-80" dirty="0">
                <a:solidFill>
                  <a:schemeClr val="accent2"/>
                </a:solidFill>
              </a:rPr>
              <a:t>Composition:</a:t>
            </a:r>
            <a:r>
              <a:rPr lang="en-US" sz="1500" kern="0" spc="-80" dirty="0">
                <a:solidFill>
                  <a:schemeClr val="accent6"/>
                </a:solidFill>
              </a:rPr>
              <a:t> Fragments from different micro frontends are composed together to form a single, cohesive user interface, either at build time, run time, or server-side.</a:t>
            </a:r>
          </a:p>
          <a:p>
            <a:pPr marL="12700" marR="5080"/>
            <a:r>
              <a:rPr lang="en-US" sz="1500" kern="0" spc="-80" dirty="0">
                <a:solidFill>
                  <a:schemeClr val="accent2"/>
                </a:solidFill>
              </a:rPr>
              <a:t>Communication: </a:t>
            </a:r>
            <a:r>
              <a:rPr lang="en-US" sz="1500" kern="0" spc="-80" dirty="0">
                <a:solidFill>
                  <a:schemeClr val="accent6"/>
                </a:solidFill>
              </a:rPr>
              <a:t>Micro frontends communicate with each other through well-defined, simple APIs, often using custom events or other browser-native features to avoid tight coupling.</a:t>
            </a:r>
          </a:p>
          <a:p>
            <a:pPr marL="12700" marR="5080"/>
            <a:r>
              <a:rPr lang="en-US" sz="1500" kern="0" spc="-80" dirty="0">
                <a:solidFill>
                  <a:schemeClr val="accent2"/>
                </a:solidFill>
              </a:rPr>
              <a:t>Resilience: </a:t>
            </a:r>
            <a:r>
              <a:rPr lang="en-US" sz="1500" kern="0" spc="-80" dirty="0">
                <a:solidFill>
                  <a:schemeClr val="accent6"/>
                </a:solidFill>
              </a:rPr>
              <a:t>The application should remain resilient even if one micro frontend fails to load, often achieved through progressive enhancement and universal rendering.</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2497528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E7BD5-0E17-6A26-FCF2-58E9EC98C5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20EBC6-BA8E-B09B-A2BE-FB09DF9238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FD7388-41B6-783E-4660-C5774154BF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8502E-9337-0DC6-FAAE-DBD99368762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6B88AF8-9FA0-35E7-373C-3E5B8012E3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C36CD9-B5C2-4218-FB58-3A144A5219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020F86-4C22-4956-6356-59299B33C0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638CE5-A9C6-206B-49AE-17C77B37FBB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39A0A98-8498-599A-79C2-E985310CF5D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AD2E41BF-F623-FE77-25C2-AC6643705C20}"/>
              </a:ext>
            </a:extLst>
          </p:cNvPr>
          <p:cNvSpPr txBox="1">
            <a:spLocks/>
          </p:cNvSpPr>
          <p:nvPr/>
        </p:nvSpPr>
        <p:spPr>
          <a:xfrm>
            <a:off x="138064" y="762000"/>
            <a:ext cx="9005936" cy="43396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2000" kern="0" spc="-80" dirty="0">
                <a:solidFill>
                  <a:schemeClr val="accent2"/>
                </a:solidFill>
              </a:rPr>
              <a:t>Implementation Methods</a:t>
            </a:r>
          </a:p>
          <a:p>
            <a:pPr marL="12700" marR="5080"/>
            <a:r>
              <a:rPr lang="en-US" sz="1500" kern="0" spc="-80" dirty="0">
                <a:solidFill>
                  <a:schemeClr val="accent2"/>
                </a:solidFill>
              </a:rPr>
              <a:t>Server-side composition: </a:t>
            </a:r>
            <a:r>
              <a:rPr lang="en-US" sz="1500" kern="0" spc="-80" dirty="0">
                <a:solidFill>
                  <a:schemeClr val="accent6"/>
                </a:solidFill>
              </a:rPr>
              <a:t>A server assembles the HTML from different micro frontends before sending it to the browser.</a:t>
            </a:r>
          </a:p>
          <a:p>
            <a:pPr marL="12700" marR="5080"/>
            <a:r>
              <a:rPr lang="en-US" sz="1500" kern="0" spc="-80" dirty="0">
                <a:solidFill>
                  <a:schemeClr val="accent2"/>
                </a:solidFill>
              </a:rPr>
              <a:t>Client-side composition:</a:t>
            </a:r>
            <a:r>
              <a:rPr lang="en-US" sz="1500" kern="0" spc="-80" dirty="0">
                <a:solidFill>
                  <a:schemeClr val="accent6"/>
                </a:solidFill>
              </a:rPr>
              <a:t> A container application orchestrates the loading and rendering of different micro frontends in the browser.</a:t>
            </a:r>
          </a:p>
          <a:p>
            <a:pPr marL="12700" marR="5080"/>
            <a:r>
              <a:rPr lang="en-US" sz="1500" kern="0" spc="-80" dirty="0">
                <a:solidFill>
                  <a:schemeClr val="accent2"/>
                </a:solidFill>
              </a:rPr>
              <a:t>Frameworks and tools: </a:t>
            </a:r>
            <a:r>
              <a:rPr lang="en-US" sz="1500" kern="0" spc="-80" dirty="0">
                <a:solidFill>
                  <a:schemeClr val="accent6"/>
                </a:solidFill>
              </a:rPr>
              <a:t>Specific tools and libraries like Module Federation, Single-SPA, or Piral can be used to implement micro frontends.</a:t>
            </a:r>
          </a:p>
          <a:p>
            <a:pPr marL="12700" marR="5080"/>
            <a:r>
              <a:rPr lang="en-US" sz="1500" kern="0" spc="-80" dirty="0">
                <a:solidFill>
                  <a:schemeClr val="accent2"/>
                </a:solidFill>
              </a:rPr>
              <a:t>Web Components: </a:t>
            </a:r>
            <a:r>
              <a:rPr lang="en-US" sz="1500" kern="0" spc="-80" dirty="0">
                <a:solidFill>
                  <a:schemeClr val="accent6"/>
                </a:solidFill>
              </a:rPr>
              <a:t>These are browser-native components that can be used to create self-contained, framework-agnostic micro frontends.</a:t>
            </a:r>
          </a:p>
          <a:p>
            <a:pPr marL="12700" marR="5080"/>
            <a:r>
              <a:rPr lang="en-US" sz="1500" kern="0" spc="-80" dirty="0" err="1">
                <a:solidFill>
                  <a:schemeClr val="accent2"/>
                </a:solidFill>
              </a:rPr>
              <a:t>Iframes</a:t>
            </a:r>
            <a:r>
              <a:rPr lang="en-US" sz="1500" kern="0" spc="-80" dirty="0">
                <a:solidFill>
                  <a:schemeClr val="accent2"/>
                </a:solidFill>
              </a:rPr>
              <a:t>: </a:t>
            </a:r>
            <a:r>
              <a:rPr lang="en-US" sz="1500" kern="0" spc="-80" dirty="0">
                <a:solidFill>
                  <a:schemeClr val="accent6"/>
                </a:solidFill>
              </a:rPr>
              <a:t>These provide a strong level of isolation between micro frontends but can introduce challenges with communication and styling.   </a:t>
            </a:r>
          </a:p>
          <a:p>
            <a:pPr marL="12700" marR="5080"/>
            <a:r>
              <a:rPr lang="en-US" sz="1500" kern="0" spc="-80" dirty="0">
                <a:solidFill>
                  <a:schemeClr val="accent2"/>
                </a:solidFill>
              </a:rPr>
              <a:t>Isolation:</a:t>
            </a:r>
            <a:r>
              <a:rPr lang="en-US" sz="1500" kern="0" spc="-80" dirty="0">
                <a:solidFill>
                  <a:schemeClr val="accent6"/>
                </a:solidFill>
              </a:rPr>
              <a:t> Techniques like namespace-based isolation (for CSS, events, etc.) and avoiding shared global state are crucial for preventing conflicts between different micro frontends. </a:t>
            </a:r>
          </a:p>
          <a:p>
            <a:pPr marL="12700" marR="5080"/>
            <a:r>
              <a:rPr lang="en-US" sz="1500" kern="0" spc="-80" dirty="0">
                <a:solidFill>
                  <a:schemeClr val="accent6"/>
                </a:solidFill>
              </a:rPr>
              <a:t>Implementation methods</a:t>
            </a: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340583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AFBA-9A8B-7405-A339-AFB5C0A8EE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79D353-8A15-101F-53EB-5761C0A71E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8CEFA4-F575-E66A-144C-DAA5F8BB36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2308E-FBC1-C4E9-D839-741FF890740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A3BBC8-F79A-93DF-FB60-E6F7DE29F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A37874-C96C-FCD3-B5C5-0918E686F7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3F22E9-06EA-FDAC-5A80-7B5808225A4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7B32D3-A74F-457D-F2FA-9088D1620D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4657D87-FFB4-5C6C-1EF8-16EA8A2691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0DFB45D-F162-9181-702F-82409DCDDCF9}"/>
              </a:ext>
            </a:extLst>
          </p:cNvPr>
          <p:cNvSpPr txBox="1">
            <a:spLocks/>
          </p:cNvSpPr>
          <p:nvPr/>
        </p:nvSpPr>
        <p:spPr>
          <a:xfrm>
            <a:off x="152400" y="685800"/>
            <a:ext cx="8624937" cy="30777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600" dirty="0">
                <a:hlinkClick r:id="rId8"/>
              </a:rPr>
              <a:t>Micro frontend </a:t>
            </a:r>
            <a:r>
              <a:rPr lang="en-IN" sz="1600" dirty="0">
                <a:hlinkClick r:id="rId9"/>
              </a:rPr>
              <a:t>–</a:t>
            </a:r>
            <a:r>
              <a:rPr lang="en-IN" sz="1600" dirty="0">
                <a:hlinkClick r:id="rId8"/>
              </a:rPr>
              <a:t> Wikipedia</a:t>
            </a:r>
            <a:endParaRPr lang="en-IN" sz="1600" dirty="0"/>
          </a:p>
          <a:p>
            <a:pPr marL="12700" marR="5080"/>
            <a:r>
              <a:rPr lang="en-US" sz="1600" dirty="0">
                <a:hlinkClick r:id="rId10"/>
              </a:rPr>
              <a:t>What are Micro Frontends and When Should You Use Them? | Turing</a:t>
            </a:r>
            <a:endParaRPr lang="en-US" sz="1500" dirty="0">
              <a:hlinkClick r:id="rId9"/>
            </a:endParaRPr>
          </a:p>
          <a:p>
            <a:pPr marL="12700" marR="5080"/>
            <a:r>
              <a:rPr lang="en-US" sz="1500" dirty="0">
                <a:hlinkClick r:id="rId9"/>
              </a:rPr>
              <a:t>Micro-Frontends-in-Action-Code</a:t>
            </a:r>
            <a:endParaRPr lang="en-US" sz="1500" dirty="0"/>
          </a:p>
          <a:p>
            <a:pPr marL="12700" marR="5080"/>
            <a:r>
              <a:rPr lang="en-IN" sz="1500" dirty="0">
                <a:hlinkClick r:id="rId11"/>
              </a:rPr>
              <a:t>Micro-Frontends Future</a:t>
            </a:r>
            <a:r>
              <a:rPr lang="en-US" sz="1500" kern="0" spc="-80" dirty="0">
                <a:solidFill>
                  <a:schemeClr val="accent2"/>
                </a:solidFill>
              </a:rPr>
              <a:t>  </a:t>
            </a:r>
          </a:p>
          <a:p>
            <a:pPr marL="12700" marR="5080"/>
            <a:r>
              <a:rPr lang="en-US" sz="1500" dirty="0">
                <a:hlinkClick r:id="rId12"/>
              </a:rPr>
              <a:t>Micro Frontend Framework Guide</a:t>
            </a:r>
            <a:endParaRPr lang="en-US" sz="1500" dirty="0"/>
          </a:p>
          <a:p>
            <a:pPr marL="12700" marR="5080"/>
            <a:r>
              <a:rPr lang="en-US" sz="1500" dirty="0">
                <a:hlinkClick r:id="rId13"/>
              </a:rPr>
              <a:t>The-Art-of-Micro-Frontends</a:t>
            </a:r>
            <a:endParaRPr lang="en-US" sz="1500" dirty="0"/>
          </a:p>
          <a:p>
            <a:pPr marL="12700" marR="5080"/>
            <a:r>
              <a:rPr lang="en-US" sz="1600" dirty="0">
                <a:hlinkClick r:id="rId14"/>
              </a:rPr>
              <a:t>Create Seamless and Consistent UX with </a:t>
            </a:r>
            <a:r>
              <a:rPr lang="en-US" sz="1600" dirty="0" err="1">
                <a:hlinkClick r:id="rId14"/>
              </a:rPr>
              <a:t>Microfrontends</a:t>
            </a:r>
            <a:r>
              <a:rPr lang="en-US" sz="1600" dirty="0">
                <a:hlinkClick r:id="rId14"/>
              </a:rPr>
              <a:t> | Bits and Pieces</a:t>
            </a:r>
            <a:endParaRPr lang="en-US" sz="1600" dirty="0"/>
          </a:p>
          <a:p>
            <a:pPr marL="12700" marR="5080"/>
            <a:r>
              <a:rPr lang="en-US" sz="1600" dirty="0">
                <a:hlinkClick r:id="rId15"/>
              </a:rPr>
              <a:t>Mastering Micro Frontends: 9 Patterns Every Developer Should Know</a:t>
            </a:r>
            <a:endParaRPr lang="en-US" sz="1600" dirty="0"/>
          </a:p>
          <a:p>
            <a:pPr marL="12700" marR="5080"/>
            <a:r>
              <a:rPr lang="en-IN" sz="1600" dirty="0">
                <a:hlinkClick r:id="rId16"/>
              </a:rPr>
              <a:t>Approaching Micro-frontend Orchestration | Mia-Platform</a:t>
            </a:r>
            <a:endParaRPr lang="en-US" sz="1500" dirty="0"/>
          </a:p>
          <a:p>
            <a:pPr marL="12700" marR="5080"/>
            <a:r>
              <a:rPr lang="en-US" sz="1500" dirty="0">
                <a:hlinkClick r:id="rId17"/>
              </a:rPr>
              <a:t>Micro Frontends with Modern Angular</a:t>
            </a:r>
            <a:endParaRPr lang="en-US" sz="1500" dirty="0"/>
          </a:p>
          <a:p>
            <a:pPr marL="12700" marR="5080"/>
            <a:r>
              <a:rPr lang="en-US" sz="1500" dirty="0">
                <a:hlinkClick r:id="rId18"/>
              </a:rPr>
              <a:t>Building-Micro-Frontends-with-React-18</a:t>
            </a:r>
            <a:endParaRPr lang="en-US" sz="1500" dirty="0"/>
          </a:p>
          <a:p>
            <a:pPr marL="12700" marR="5080"/>
            <a:r>
              <a:rPr lang="en-US" sz="1500" dirty="0" err="1">
                <a:hlinkClick r:id="rId19"/>
              </a:rPr>
              <a:t>Microfrontends</a:t>
            </a:r>
            <a:r>
              <a:rPr lang="en-US" sz="1500" dirty="0">
                <a:hlinkClick r:id="rId19"/>
              </a:rPr>
              <a:t> with React: A Complete Developer's Guide | Udemy</a:t>
            </a:r>
            <a:endParaRPr lang="en-US" sz="1500" kern="0" spc="-80" dirty="0">
              <a:solidFill>
                <a:schemeClr val="accent2"/>
              </a:solidFill>
            </a:endParaRPr>
          </a:p>
        </p:txBody>
      </p:sp>
    </p:spTree>
    <p:extLst>
      <p:ext uri="{BB962C8B-B14F-4D97-AF65-F5344CB8AC3E}">
        <p14:creationId xmlns:p14="http://schemas.microsoft.com/office/powerpoint/2010/main" val="39005614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16697</TotalTime>
  <Words>966</Words>
  <Application>Microsoft Office PowerPoint</Application>
  <PresentationFormat>Custom</PresentationFormat>
  <Paragraphs>150</Paragraphs>
  <Slides>14</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1954</cp:revision>
  <dcterms:created xsi:type="dcterms:W3CDTF">2020-11-03T17:16:52Z</dcterms:created>
  <dcterms:modified xsi:type="dcterms:W3CDTF">2025-11-06T04:50:17Z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