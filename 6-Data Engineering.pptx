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0"/>
  </p:notesMasterIdLst>
  <p:sldIdLst>
    <p:sldId id="256" r:id="rId5"/>
    <p:sldId id="498" r:id="rId6"/>
    <p:sldId id="499" r:id="rId7"/>
    <p:sldId id="1025" r:id="rId8"/>
    <p:sldId id="1026" r:id="rId9"/>
    <p:sldId id="1027" r:id="rId10"/>
    <p:sldId id="1028" r:id="rId11"/>
    <p:sldId id="1024" r:id="rId12"/>
    <p:sldId id="1031" r:id="rId13"/>
    <p:sldId id="1030" r:id="rId14"/>
    <p:sldId id="1029" r:id="rId15"/>
    <p:sldId id="734" r:id="rId16"/>
    <p:sldId id="587" r:id="rId17"/>
    <p:sldId id="786" r:id="rId18"/>
    <p:sldId id="789" r:id="rId19"/>
    <p:sldId id="790" r:id="rId20"/>
    <p:sldId id="791" r:id="rId21"/>
    <p:sldId id="792" r:id="rId22"/>
    <p:sldId id="793" r:id="rId23"/>
    <p:sldId id="794" r:id="rId24"/>
    <p:sldId id="795" r:id="rId25"/>
    <p:sldId id="825" r:id="rId26"/>
    <p:sldId id="826" r:id="rId27"/>
    <p:sldId id="724" r:id="rId28"/>
    <p:sldId id="787" r:id="rId29"/>
    <p:sldId id="788" r:id="rId30"/>
    <p:sldId id="1022" r:id="rId31"/>
    <p:sldId id="1023" r:id="rId32"/>
    <p:sldId id="841" r:id="rId33"/>
    <p:sldId id="842" r:id="rId34"/>
    <p:sldId id="843" r:id="rId35"/>
    <p:sldId id="797" r:id="rId36"/>
    <p:sldId id="798" r:id="rId37"/>
    <p:sldId id="799" r:id="rId38"/>
    <p:sldId id="1120" r:id="rId39"/>
    <p:sldId id="1121" r:id="rId40"/>
    <p:sldId id="1122" r:id="rId41"/>
    <p:sldId id="1123" r:id="rId42"/>
    <p:sldId id="1114" r:id="rId43"/>
    <p:sldId id="1015" r:id="rId44"/>
    <p:sldId id="1014" r:id="rId45"/>
    <p:sldId id="1016" r:id="rId46"/>
    <p:sldId id="1009" r:id="rId47"/>
    <p:sldId id="1010" r:id="rId48"/>
    <p:sldId id="1011" r:id="rId49"/>
    <p:sldId id="1012" r:id="rId50"/>
    <p:sldId id="1060" r:id="rId51"/>
    <p:sldId id="1013" r:id="rId52"/>
    <p:sldId id="1020" r:id="rId53"/>
    <p:sldId id="1021" r:id="rId54"/>
    <p:sldId id="1036" r:id="rId55"/>
    <p:sldId id="1037" r:id="rId56"/>
    <p:sldId id="1038" r:id="rId57"/>
    <p:sldId id="1039" r:id="rId58"/>
    <p:sldId id="1018" r:id="rId59"/>
    <p:sldId id="1017" r:id="rId60"/>
    <p:sldId id="1019" r:id="rId61"/>
    <p:sldId id="1061" r:id="rId62"/>
    <p:sldId id="1062" r:id="rId63"/>
    <p:sldId id="1063" r:id="rId64"/>
    <p:sldId id="1064" r:id="rId65"/>
    <p:sldId id="1065" r:id="rId66"/>
    <p:sldId id="1066" r:id="rId67"/>
    <p:sldId id="1067" r:id="rId68"/>
    <p:sldId id="1068" r:id="rId69"/>
    <p:sldId id="1069" r:id="rId70"/>
    <p:sldId id="1071" r:id="rId71"/>
    <p:sldId id="1070" r:id="rId72"/>
    <p:sldId id="1072" r:id="rId73"/>
    <p:sldId id="1073" r:id="rId74"/>
    <p:sldId id="1074" r:id="rId75"/>
    <p:sldId id="1075" r:id="rId76"/>
    <p:sldId id="1086" r:id="rId77"/>
    <p:sldId id="1088" r:id="rId78"/>
    <p:sldId id="1089" r:id="rId79"/>
    <p:sldId id="1076" r:id="rId80"/>
    <p:sldId id="1078" r:id="rId81"/>
    <p:sldId id="1079" r:id="rId82"/>
    <p:sldId id="1080" r:id="rId83"/>
    <p:sldId id="1081" r:id="rId84"/>
    <p:sldId id="1082" r:id="rId85"/>
    <p:sldId id="1083" r:id="rId86"/>
    <p:sldId id="1084" r:id="rId87"/>
    <p:sldId id="1087" r:id="rId88"/>
    <p:sldId id="1090" r:id="rId89"/>
    <p:sldId id="1091" r:id="rId90"/>
    <p:sldId id="1092" r:id="rId91"/>
    <p:sldId id="1093" r:id="rId92"/>
    <p:sldId id="1094" r:id="rId93"/>
    <p:sldId id="1095" r:id="rId94"/>
    <p:sldId id="1096" r:id="rId95"/>
    <p:sldId id="1097" r:id="rId96"/>
    <p:sldId id="1098" r:id="rId97"/>
    <p:sldId id="1099" r:id="rId98"/>
    <p:sldId id="1100" r:id="rId99"/>
    <p:sldId id="1124" r:id="rId100"/>
    <p:sldId id="1125" r:id="rId101"/>
    <p:sldId id="1126" r:id="rId102"/>
    <p:sldId id="1127" r:id="rId103"/>
    <p:sldId id="1085" r:id="rId104"/>
    <p:sldId id="1101" r:id="rId105"/>
    <p:sldId id="1102" r:id="rId106"/>
    <p:sldId id="1103" r:id="rId107"/>
    <p:sldId id="1104" r:id="rId108"/>
    <p:sldId id="1077" r:id="rId109"/>
    <p:sldId id="1040" r:id="rId110"/>
    <p:sldId id="1041" r:id="rId111"/>
    <p:sldId id="1042" r:id="rId112"/>
    <p:sldId id="1043" r:id="rId113"/>
    <p:sldId id="1044" r:id="rId114"/>
    <p:sldId id="1045" r:id="rId115"/>
    <p:sldId id="1046" r:id="rId116"/>
    <p:sldId id="1047" r:id="rId117"/>
    <p:sldId id="1048" r:id="rId118"/>
    <p:sldId id="1049" r:id="rId119"/>
    <p:sldId id="1050" r:id="rId120"/>
    <p:sldId id="1051" r:id="rId121"/>
    <p:sldId id="1052" r:id="rId122"/>
    <p:sldId id="1053" r:id="rId123"/>
    <p:sldId id="1054" r:id="rId124"/>
    <p:sldId id="1055" r:id="rId125"/>
    <p:sldId id="1056" r:id="rId126"/>
    <p:sldId id="1057" r:id="rId127"/>
    <p:sldId id="1058" r:id="rId128"/>
    <p:sldId id="1059" r:id="rId129"/>
    <p:sldId id="828" r:id="rId130"/>
    <p:sldId id="1115" r:id="rId131"/>
    <p:sldId id="1116" r:id="rId132"/>
    <p:sldId id="1117" r:id="rId133"/>
    <p:sldId id="1118" r:id="rId134"/>
    <p:sldId id="1119" r:id="rId135"/>
    <p:sldId id="1111" r:id="rId136"/>
    <p:sldId id="1112" r:id="rId137"/>
    <p:sldId id="1113" r:id="rId138"/>
    <p:sldId id="579" r:id="rId139"/>
    <p:sldId id="588" r:id="rId140"/>
    <p:sldId id="1033" r:id="rId141"/>
    <p:sldId id="1034" r:id="rId142"/>
    <p:sldId id="1035" r:id="rId143"/>
    <p:sldId id="845" r:id="rId144"/>
    <p:sldId id="1106" r:id="rId145"/>
    <p:sldId id="1109" r:id="rId146"/>
    <p:sldId id="1110" r:id="rId147"/>
    <p:sldId id="1105" r:id="rId148"/>
    <p:sldId id="294" r:id="rId149"/>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D9B5"/>
    <a:srgbClr val="CC9900"/>
    <a:srgbClr val="FF5050"/>
    <a:srgbClr val="1E1A20"/>
    <a:srgbClr val="D322F2"/>
    <a:srgbClr val="727272"/>
    <a:srgbClr val="DFF7F1"/>
    <a:srgbClr val="F1EAFF"/>
    <a:srgbClr val="6459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49" autoAdjust="0"/>
    <p:restoredTop sz="93979" autoAdjust="0"/>
  </p:normalViewPr>
  <p:slideViewPr>
    <p:cSldViewPr>
      <p:cViewPr varScale="1">
        <p:scale>
          <a:sx n="63" d="100"/>
          <a:sy n="63" d="100"/>
        </p:scale>
        <p:origin x="1308" y="272"/>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commentAuthors" Target="commentAuthors.xml"/><Relationship Id="rId156" Type="http://schemas.microsoft.com/office/2016/11/relationships/changesInfo" Target="changesInfos/changesInfo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theme" Target="theme/theme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Data Engineering </a:t>
          </a:r>
        </a:p>
        <a:p>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Polyglot </a:t>
          </a:r>
          <a:r>
            <a:rPr lang="en-US" sz="2800" kern="1200" dirty="0" err="1">
              <a:solidFill>
                <a:prstClr val="white"/>
              </a:solidFill>
              <a:latin typeface="Calibri"/>
              <a:ea typeface="+mn-ea"/>
              <a:cs typeface="+mn-cs"/>
            </a:rPr>
            <a:t>Persistance</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Polyglot </a:t>
          </a:r>
          <a:r>
            <a:rPr lang="en-US" sz="2800" kern="1200" dirty="0" err="1">
              <a:solidFill>
                <a:prstClr val="white"/>
              </a:solidFill>
              <a:latin typeface="Calibri"/>
              <a:ea typeface="+mn-ea"/>
              <a:cs typeface="+mn-cs"/>
            </a:rPr>
            <a:t>Persistance</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t>Data Modeling</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3378" custLinFactNeighborY="2276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Database[or Related] Design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1648"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Database[or Related] Design Checklist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Semantic Data Modelling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Unstructured Data Modelling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Unstructured Data Modelling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Consolidation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Consolidation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OLAP &amp; Dimensional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OLAP &amp; Dimensional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OLAP &amp; Dimensional Modeling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ETL vs ELT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ETL vs ELT</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(Automated) Data Reconciliation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26"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(Automated) Data Reconciliation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26"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(Automated) Data Reconciliation Techniques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26"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(Modern) Data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(Modern) Data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(Modern) Data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Medallion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Medallion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Medallion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Medallion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Schema-on-Write vs Schema-On-Read</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Vs of Big Data</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Vs of Big Data</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Vs of Big Data</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Steps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Patterns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Canonical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Canonical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Canonical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Canonical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Using CDC(Change Data Capture)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Ingestion Using CDC(Change Data Capture)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a:solidFill>
                <a:prstClr val="white"/>
              </a:solidFill>
              <a:latin typeface="Calibri"/>
              <a:ea typeface="+mn-ea"/>
              <a:cs typeface="+mn-cs"/>
            </a:rPr>
            <a:t>Distributed Ingestion Using CDC(Change Data Capture)</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Batch Processing(using Apache Spark)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Stream Processing(using Apache Flink)</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Data Pipeline using Apache Airflow</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Trusted Data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Trusted Data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Observability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Observability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Observability</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Latency vs Freshness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Latency vs Freshness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Latency vs Freshness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Migration, Backup &amp; Restore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Migration, Backup &amp; Restore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Migration, Backup &amp; Restore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Migration, Backup &amp; Restore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Data Migration, Backup &amp; Restore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Probabilistic Data Structures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Probabilistic Data Structures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Probabilistic Data Structures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Probabilistic Data Structures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Probabilistic Data </a:t>
          </a:r>
          <a:r>
            <a:rPr lang="en-US" sz="2800" kern="1200" dirty="0" err="1">
              <a:solidFill>
                <a:prstClr val="white"/>
              </a:solidFill>
              <a:latin typeface="Calibri"/>
              <a:ea typeface="+mn-ea"/>
              <a:cs typeface="+mn-cs"/>
            </a:rPr>
            <a:t>Struvtures</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2261"/>
          <a:ext cx="8716300" cy="173394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b="1" i="0" kern="1200" dirty="0"/>
            <a:t>Data Engineering </a:t>
          </a:r>
        </a:p>
        <a:p>
          <a:pPr marL="0" lvl="0" indent="0" algn="l" defTabSz="1689100">
            <a:lnSpc>
              <a:spcPct val="90000"/>
            </a:lnSpc>
            <a:spcBef>
              <a:spcPct val="0"/>
            </a:spcBef>
            <a:spcAft>
              <a:spcPct val="35000"/>
            </a:spcAft>
            <a:buNone/>
          </a:pPr>
          <a:r>
            <a:rPr lang="en-US" sz="3800" b="1" i="0" kern="1200" dirty="0"/>
            <a:t>(Refresher)</a:t>
          </a:r>
          <a:endParaRPr lang="en-US" sz="3800" kern="1200" dirty="0"/>
        </a:p>
      </dsp:txBody>
      <dsp:txXfrm>
        <a:off x="84644" y="86905"/>
        <a:ext cx="8547012" cy="15646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Polyglot </a:t>
          </a:r>
          <a:r>
            <a:rPr lang="en-US" sz="2800" kern="1200" dirty="0" err="1">
              <a:solidFill>
                <a:prstClr val="white"/>
              </a:solidFill>
              <a:latin typeface="Calibri"/>
              <a:ea typeface="+mn-ea"/>
              <a:cs typeface="+mn-cs"/>
            </a:rPr>
            <a:t>Persistance</a:t>
          </a:r>
          <a:endParaRPr lang="en-US" sz="2800" kern="1200" dirty="0">
            <a:solidFill>
              <a:prstClr val="white"/>
            </a:solidFill>
            <a:latin typeface="Calibri"/>
            <a:ea typeface="+mn-ea"/>
            <a:cs typeface="+mn-cs"/>
          </a:endParaRPr>
        </a:p>
      </dsp:txBody>
      <dsp:txXfrm>
        <a:off x="21162" y="21162"/>
        <a:ext cx="8796876" cy="3911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Polyglot </a:t>
          </a:r>
          <a:r>
            <a:rPr lang="en-US" sz="2800" kern="1200" dirty="0" err="1">
              <a:solidFill>
                <a:prstClr val="white"/>
              </a:solidFill>
              <a:latin typeface="Calibri"/>
              <a:ea typeface="+mn-ea"/>
              <a:cs typeface="+mn-cs"/>
            </a:rPr>
            <a:t>Persistance</a:t>
          </a:r>
          <a:endParaRPr lang="en-US" sz="2800" kern="1200" dirty="0">
            <a:solidFill>
              <a:prstClr val="white"/>
            </a:solidFill>
            <a:latin typeface="Calibri"/>
            <a:ea typeface="+mn-ea"/>
            <a:cs typeface="+mn-cs"/>
          </a:endParaRPr>
        </a:p>
      </dsp:txBody>
      <dsp:txXfrm>
        <a:off x="21162" y="21162"/>
        <a:ext cx="8796876" cy="3911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Modeling</a:t>
          </a:r>
        </a:p>
      </dsp:txBody>
      <dsp:txXfrm>
        <a:off x="21162" y="21162"/>
        <a:ext cx="8949276" cy="3911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5461"/>
          <a:ext cx="8714556"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Data Modeling</a:t>
          </a:r>
          <a:endParaRPr lang="en-US" sz="2800" kern="1200" dirty="0">
            <a:solidFill>
              <a:prstClr val="white"/>
            </a:solidFill>
            <a:latin typeface="Calibri"/>
            <a:ea typeface="+mn-ea"/>
            <a:cs typeface="+mn-cs"/>
          </a:endParaRPr>
        </a:p>
      </dsp:txBody>
      <dsp:txXfrm>
        <a:off x="21162" y="86623"/>
        <a:ext cx="8672232" cy="3911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983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Database[or Related] Design Checklist</a:t>
          </a:r>
        </a:p>
      </dsp:txBody>
      <dsp:txXfrm>
        <a:off x="24326" y="24326"/>
        <a:ext cx="8866746" cy="44967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Database[or Related] Design Checklist</a:t>
          </a:r>
        </a:p>
      </dsp:txBody>
      <dsp:txXfrm>
        <a:off x="21162" y="21162"/>
        <a:ext cx="9025476" cy="39118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Semantic Data Modelling</a:t>
          </a:r>
        </a:p>
      </dsp:txBody>
      <dsp:txXfrm>
        <a:off x="21162" y="21162"/>
        <a:ext cx="8582613" cy="3911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a:t>
          </a:r>
        </a:p>
      </dsp:txBody>
      <dsp:txXfrm>
        <a:off x="21162" y="21162"/>
        <a:ext cx="8582613" cy="3911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sp:txBody>
      <dsp:txXfrm>
        <a:off x="21162" y="21162"/>
        <a:ext cx="8582613" cy="3911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sp:txBody>
      <dsp:txXfrm>
        <a:off x="21162" y="21162"/>
        <a:ext cx="8582613" cy="39118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solidFill>
                <a:prstClr val="white"/>
              </a:solidFill>
              <a:latin typeface="Calibri"/>
              <a:ea typeface="+mn-ea"/>
              <a:cs typeface="+mn-cs"/>
            </a:rPr>
            <a:t>Spatio</a:t>
          </a:r>
          <a:r>
            <a:rPr lang="en-US" sz="2800" kern="1200" dirty="0">
              <a:solidFill>
                <a:prstClr val="white"/>
              </a:solidFill>
              <a:latin typeface="Calibri"/>
              <a:ea typeface="+mn-ea"/>
              <a:cs typeface="+mn-cs"/>
            </a:rPr>
            <a:t> Temporal Data Modeling</a:t>
          </a:r>
        </a:p>
      </dsp:txBody>
      <dsp:txXfrm>
        <a:off x="21162" y="21162"/>
        <a:ext cx="8582613" cy="39118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Unstructured Data Modelling</a:t>
          </a:r>
        </a:p>
      </dsp:txBody>
      <dsp:txXfrm>
        <a:off x="21162" y="21162"/>
        <a:ext cx="8582613" cy="39118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Unstructured Data Modelling</a:t>
          </a:r>
        </a:p>
      </dsp:txBody>
      <dsp:txXfrm>
        <a:off x="21162" y="21162"/>
        <a:ext cx="8582613" cy="39118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Consolidation</a:t>
          </a:r>
        </a:p>
      </dsp:txBody>
      <dsp:txXfrm>
        <a:off x="21162" y="21162"/>
        <a:ext cx="8873075" cy="39118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Consolidation</a:t>
          </a:r>
        </a:p>
      </dsp:txBody>
      <dsp:txXfrm>
        <a:off x="21162" y="21162"/>
        <a:ext cx="8873075" cy="39118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OLAP &amp; Dimensional Modeling</a:t>
          </a:r>
        </a:p>
      </dsp:txBody>
      <dsp:txXfrm>
        <a:off x="21162" y="21162"/>
        <a:ext cx="8582613" cy="3911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OLAP &amp; Dimensional Modeling</a:t>
          </a:r>
        </a:p>
      </dsp:txBody>
      <dsp:txXfrm>
        <a:off x="21162" y="21162"/>
        <a:ext cx="8582613" cy="39118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OLAP &amp; Dimensional Modeling</a:t>
          </a:r>
        </a:p>
      </dsp:txBody>
      <dsp:txXfrm>
        <a:off x="21162" y="21162"/>
        <a:ext cx="8582613" cy="3911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ETL vs ELT</a:t>
          </a:r>
        </a:p>
      </dsp:txBody>
      <dsp:txXfrm>
        <a:off x="19601" y="19601"/>
        <a:ext cx="8876196" cy="36232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ETL vs ELT</a:t>
          </a:r>
        </a:p>
      </dsp:txBody>
      <dsp:txXfrm>
        <a:off x="19601" y="19601"/>
        <a:ext cx="8876196" cy="36232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(Automated) Data Reconciliation Techniques</a:t>
          </a:r>
        </a:p>
      </dsp:txBody>
      <dsp:txXfrm>
        <a:off x="21162" y="21162"/>
        <a:ext cx="9101676" cy="391189"/>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(Automated) Data Reconciliation Techniques</a:t>
          </a:r>
        </a:p>
      </dsp:txBody>
      <dsp:txXfrm>
        <a:off x="21162" y="21162"/>
        <a:ext cx="9101676" cy="39118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(Automated) Data Reconciliation Techniques</a:t>
          </a:r>
        </a:p>
      </dsp:txBody>
      <dsp:txXfrm>
        <a:off x="21162" y="21162"/>
        <a:ext cx="9101676" cy="39118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(Modern) Data Architectures</a:t>
          </a:r>
        </a:p>
      </dsp:txBody>
      <dsp:txXfrm>
        <a:off x="21162" y="21162"/>
        <a:ext cx="8582613" cy="39118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(Modern) Data Architectures</a:t>
          </a:r>
        </a:p>
      </dsp:txBody>
      <dsp:txXfrm>
        <a:off x="21162" y="21162"/>
        <a:ext cx="8582613" cy="39118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(Modern) Data Architectures</a:t>
          </a:r>
        </a:p>
      </dsp:txBody>
      <dsp:txXfrm>
        <a:off x="21162" y="21162"/>
        <a:ext cx="8582613" cy="391189"/>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Medallion Architecture</a:t>
          </a:r>
        </a:p>
      </dsp:txBody>
      <dsp:txXfrm>
        <a:off x="21162" y="21162"/>
        <a:ext cx="8582613" cy="39118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Medallion Architecture</a:t>
          </a:r>
        </a:p>
      </dsp:txBody>
      <dsp:txXfrm>
        <a:off x="21162" y="21162"/>
        <a:ext cx="8582613" cy="391189"/>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Medallion Architecture</a:t>
          </a:r>
        </a:p>
      </dsp:txBody>
      <dsp:txXfrm>
        <a:off x="21162" y="21162"/>
        <a:ext cx="8582613" cy="391189"/>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624937"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Medallion Architecture</a:t>
          </a:r>
        </a:p>
      </dsp:txBody>
      <dsp:txXfrm>
        <a:off x="21162" y="21162"/>
        <a:ext cx="8582613" cy="391189"/>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Schema-on-Write vs Schema-On-Read</a:t>
          </a:r>
        </a:p>
      </dsp:txBody>
      <dsp:txXfrm>
        <a:off x="21162" y="21162"/>
        <a:ext cx="8796876" cy="391189"/>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Vs of Big Data</a:t>
          </a:r>
        </a:p>
      </dsp:txBody>
      <dsp:txXfrm>
        <a:off x="21162" y="21162"/>
        <a:ext cx="8949276" cy="391189"/>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Vs of Big Data</a:t>
          </a:r>
        </a:p>
      </dsp:txBody>
      <dsp:txXfrm>
        <a:off x="21162" y="21162"/>
        <a:ext cx="8949276" cy="391189"/>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916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Vs of Big Data</a:t>
          </a:r>
        </a:p>
      </dsp:txBody>
      <dsp:txXfrm>
        <a:off x="21162" y="21162"/>
        <a:ext cx="8949276" cy="391189"/>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Steps</a:t>
          </a:r>
        </a:p>
      </dsp:txBody>
      <dsp:txXfrm>
        <a:off x="19595" y="19595"/>
        <a:ext cx="8876208" cy="362217"/>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Patterns</a:t>
          </a:r>
        </a:p>
      </dsp:txBody>
      <dsp:txXfrm>
        <a:off x="19595" y="19595"/>
        <a:ext cx="8876208" cy="362217"/>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Patterns</a:t>
          </a:r>
        </a:p>
      </dsp:txBody>
      <dsp:txXfrm>
        <a:off x="19595" y="19595"/>
        <a:ext cx="8876208" cy="362217"/>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Canonical Architecture</a:t>
          </a:r>
        </a:p>
      </dsp:txBody>
      <dsp:txXfrm>
        <a:off x="19595" y="19595"/>
        <a:ext cx="8876208" cy="362217"/>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Canonical Architecture</a:t>
          </a:r>
        </a:p>
      </dsp:txBody>
      <dsp:txXfrm>
        <a:off x="19595" y="19595"/>
        <a:ext cx="8876208" cy="362217"/>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Canonical Architecture</a:t>
          </a:r>
        </a:p>
      </dsp:txBody>
      <dsp:txXfrm>
        <a:off x="19595" y="19595"/>
        <a:ext cx="8876208" cy="362217"/>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Canonical Architecture</a:t>
          </a:r>
        </a:p>
      </dsp:txBody>
      <dsp:txXfrm>
        <a:off x="19595" y="19595"/>
        <a:ext cx="8876208" cy="362217"/>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Using CDC(Change Data Capture)</a:t>
          </a:r>
        </a:p>
      </dsp:txBody>
      <dsp:txXfrm>
        <a:off x="19595" y="19595"/>
        <a:ext cx="8876208" cy="36221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Ingestion Using CDC(Change Data Capture)</a:t>
          </a:r>
        </a:p>
      </dsp:txBody>
      <dsp:txXfrm>
        <a:off x="19595" y="19595"/>
        <a:ext cx="8876208" cy="362217"/>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solidFill>
                <a:prstClr val="white"/>
              </a:solidFill>
              <a:latin typeface="Calibri"/>
              <a:ea typeface="+mn-ea"/>
              <a:cs typeface="+mn-cs"/>
            </a:rPr>
            <a:t>Distributed Ingestion Using CDC(Change Data Capture)</a:t>
          </a:r>
          <a:endParaRPr lang="en-US" sz="2800" kern="1200" dirty="0">
            <a:solidFill>
              <a:prstClr val="white"/>
            </a:solidFill>
            <a:latin typeface="Calibri"/>
            <a:ea typeface="+mn-ea"/>
            <a:cs typeface="+mn-cs"/>
          </a:endParaRPr>
        </a:p>
      </dsp:txBody>
      <dsp:txXfrm>
        <a:off x="19595" y="19595"/>
        <a:ext cx="8876208" cy="362217"/>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Batch Processing(using Apache Spark)</a:t>
          </a:r>
        </a:p>
      </dsp:txBody>
      <dsp:txXfrm>
        <a:off x="19597" y="19597"/>
        <a:ext cx="8876204" cy="362261"/>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5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Stream Processing(using Apache Flink)</a:t>
          </a:r>
        </a:p>
      </dsp:txBody>
      <dsp:txXfrm>
        <a:off x="19597" y="19597"/>
        <a:ext cx="8876204" cy="362261"/>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40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Data Pipeline using Apache Airflow</a:t>
          </a:r>
        </a:p>
      </dsp:txBody>
      <dsp:txXfrm>
        <a:off x="19595" y="19595"/>
        <a:ext cx="8876208" cy="362217"/>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Trusted Data Engineering</a:t>
          </a:r>
        </a:p>
      </dsp:txBody>
      <dsp:txXfrm>
        <a:off x="19601" y="19601"/>
        <a:ext cx="8876196" cy="362325"/>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Trusted Data Engineering</a:t>
          </a:r>
        </a:p>
      </dsp:txBody>
      <dsp:txXfrm>
        <a:off x="19601" y="19601"/>
        <a:ext cx="8876196" cy="362325"/>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Observability</a:t>
          </a:r>
        </a:p>
      </dsp:txBody>
      <dsp:txXfrm>
        <a:off x="19601" y="19601"/>
        <a:ext cx="8876196" cy="362325"/>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Observability</a:t>
          </a:r>
        </a:p>
      </dsp:txBody>
      <dsp:txXfrm>
        <a:off x="19601" y="19601"/>
        <a:ext cx="8876196" cy="362325"/>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0152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Observability</a:t>
          </a:r>
        </a:p>
      </dsp:txBody>
      <dsp:txXfrm>
        <a:off x="19601" y="19601"/>
        <a:ext cx="8876196" cy="362325"/>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Latency vs Freshness</a:t>
          </a:r>
        </a:p>
      </dsp:txBody>
      <dsp:txXfrm>
        <a:off x="21162" y="21162"/>
        <a:ext cx="8796876" cy="39118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Latency vs Freshness</a:t>
          </a:r>
        </a:p>
      </dsp:txBody>
      <dsp:txXfrm>
        <a:off x="21162" y="21162"/>
        <a:ext cx="8796876" cy="39118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839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Latency vs Freshness</a:t>
          </a:r>
        </a:p>
      </dsp:txBody>
      <dsp:txXfrm>
        <a:off x="21162" y="21162"/>
        <a:ext cx="8796876" cy="391189"/>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Migration, Backup &amp; Restore</a:t>
          </a:r>
        </a:p>
      </dsp:txBody>
      <dsp:txXfrm>
        <a:off x="21162" y="21162"/>
        <a:ext cx="8873074" cy="391189"/>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Migration, Backup &amp; Restore</a:t>
          </a:r>
        </a:p>
      </dsp:txBody>
      <dsp:txXfrm>
        <a:off x="21162" y="21162"/>
        <a:ext cx="8873075" cy="391189"/>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Migration, Backup &amp; Restore</a:t>
          </a:r>
        </a:p>
      </dsp:txBody>
      <dsp:txXfrm>
        <a:off x="21162" y="21162"/>
        <a:ext cx="8873075" cy="391189"/>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Migration, Backup &amp; Restore</a:t>
          </a:r>
        </a:p>
      </dsp:txBody>
      <dsp:txXfrm>
        <a:off x="21162" y="21162"/>
        <a:ext cx="8873075" cy="391189"/>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Data Migration, Backup &amp; Restore</a:t>
          </a:r>
        </a:p>
      </dsp:txBody>
      <dsp:txXfrm>
        <a:off x="21162" y="21162"/>
        <a:ext cx="8873075" cy="39118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220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Probabilistic Data Structures</a:t>
          </a:r>
        </a:p>
      </dsp:txBody>
      <dsp:txXfrm>
        <a:off x="21162" y="21162"/>
        <a:ext cx="9177876" cy="391189"/>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220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Probabilistic Data Structures</a:t>
          </a:r>
        </a:p>
      </dsp:txBody>
      <dsp:txXfrm>
        <a:off x="21162" y="21162"/>
        <a:ext cx="9177876" cy="391189"/>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220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Probabilistic Data Structures</a:t>
          </a:r>
        </a:p>
      </dsp:txBody>
      <dsp:txXfrm>
        <a:off x="21162" y="21162"/>
        <a:ext cx="9177876" cy="391189"/>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220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Probabilistic Data Structures</a:t>
          </a:r>
        </a:p>
      </dsp:txBody>
      <dsp:txXfrm>
        <a:off x="21162" y="21162"/>
        <a:ext cx="9177876" cy="391189"/>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2202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Probabilistic Data </a:t>
          </a:r>
          <a:r>
            <a:rPr lang="en-US" sz="2800" kern="1200" dirty="0" err="1">
              <a:solidFill>
                <a:prstClr val="white"/>
              </a:solidFill>
              <a:latin typeface="Calibri"/>
              <a:ea typeface="+mn-ea"/>
              <a:cs typeface="+mn-cs"/>
            </a:rPr>
            <a:t>Struvtures</a:t>
          </a:r>
          <a:endParaRPr lang="en-US" sz="2800" kern="1200" dirty="0">
            <a:solidFill>
              <a:prstClr val="white"/>
            </a:solidFill>
            <a:latin typeface="Calibri"/>
            <a:ea typeface="+mn-ea"/>
            <a:cs typeface="+mn-cs"/>
          </a:endParaRPr>
        </a:p>
      </dsp:txBody>
      <dsp:txXfrm>
        <a:off x="21162" y="21162"/>
        <a:ext cx="9177876" cy="3911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2/24/2026</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2/24/2026</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hyperlink" Target="https://gist.github.com/sandipray63in/09b84d9164114baf8f31085b186417dd" TargetMode="External"/><Relationship Id="rId7" Type="http://schemas.openxmlformats.org/officeDocument/2006/relationships/hyperlink" Target="https://aws.amazon.com/qldb/" TargetMode="External"/><Relationship Id="rId12" Type="http://schemas.microsoft.com/office/2007/relationships/diagramDrawing" Target="../diagrams/drawing3.xml"/><Relationship Id="rId2" Type="http://schemas.openxmlformats.org/officeDocument/2006/relationships/hyperlink" Target="https://www.linkedin.com/posts/milanmilanovic_technology-softwareengineering-data-activity-7322873557573689344-tXpg/" TargetMode="External"/><Relationship Id="rId1" Type="http://schemas.openxmlformats.org/officeDocument/2006/relationships/slideLayout" Target="../slideLayouts/slideLayout2.xml"/><Relationship Id="rId6" Type="http://schemas.openxmlformats.org/officeDocument/2006/relationships/hyperlink" Target="https://blog.x.com/engineering/en_us/topics/infrastructure/2019/metricsdb" TargetMode="External"/><Relationship Id="rId11" Type="http://schemas.openxmlformats.org/officeDocument/2006/relationships/diagramColors" Target="../diagrams/colors3.xml"/><Relationship Id="rId5" Type="http://schemas.openxmlformats.org/officeDocument/2006/relationships/hyperlink" Target="https://aws.amazon.com/timestream/" TargetMode="External"/><Relationship Id="rId10" Type="http://schemas.openxmlformats.org/officeDocument/2006/relationships/diagramQuickStyle" Target="../diagrams/quickStyle3.xml"/><Relationship Id="rId4" Type="http://schemas.openxmlformats.org/officeDocument/2006/relationships/hyperlink" Target="https://www.systemdesignacademy.com/blog/time-series-databases" TargetMode="Externa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8" Type="http://schemas.openxmlformats.org/officeDocument/2006/relationships/hyperlink" Target="https://hackolade.com/blog/the-tao-of-nosql-data-modeling.html" TargetMode="External"/><Relationship Id="rId3" Type="http://schemas.openxmlformats.org/officeDocument/2006/relationships/diagramLayout" Target="../diagrams/layout7.xml"/><Relationship Id="rId7" Type="http://schemas.openxmlformats.org/officeDocument/2006/relationships/hyperlink" Target="https://lucid.co/templates/no-sql-database-design-example" TargetMode="Externa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4.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10.xml"/><Relationship Id="rId7" Type="http://schemas.openxmlformats.org/officeDocument/2006/relationships/image" Target="../media/image5.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10" Type="http://schemas.openxmlformats.org/officeDocument/2006/relationships/hyperlink" Target="https://www.data-sentinel.com/resources/the-four-types-of-data" TargetMode="External"/><Relationship Id="rId4" Type="http://schemas.openxmlformats.org/officeDocument/2006/relationships/diagramQuickStyle" Target="../diagrams/quickStyle10.xml"/><Relationship Id="rId9" Type="http://schemas.openxmlformats.org/officeDocument/2006/relationships/hyperlink" Target="https://www.linkedin.com/pulse/understanding-overlap-between-metadata-master-data-reference-koshy-uzwcc/"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learn.microsoft.com/en-us/ef/core/modeling/relationships" TargetMode="External"/><Relationship Id="rId13" Type="http://schemas.openxmlformats.org/officeDocument/2006/relationships/hyperlink" Target="https://www.dbdiagrams.com/sql-server/sql-server-adventureworks-diagram/" TargetMode="External"/><Relationship Id="rId18" Type="http://schemas.openxmlformats.org/officeDocument/2006/relationships/hyperlink" Target="https://in.pinterest.com/pin/airbnb-database-schema-airbnb-database-schema-build-your-database-designs-with-creately-database-softwa--349029039869062966/" TargetMode="External"/><Relationship Id="rId26" Type="http://schemas.openxmlformats.org/officeDocument/2006/relationships/hyperlink" Target="https://drawsql.app/templates" TargetMode="External"/><Relationship Id="rId3" Type="http://schemas.openxmlformats.org/officeDocument/2006/relationships/diagramLayout" Target="../diagrams/layout11.xml"/><Relationship Id="rId21" Type="http://schemas.openxmlformats.org/officeDocument/2006/relationships/hyperlink" Target="https://systemdesignprimer.com/netflix-system-design/#database-schema" TargetMode="External"/><Relationship Id="rId7" Type="http://schemas.openxmlformats.org/officeDocument/2006/relationships/hyperlink" Target="https://www.couchbase.com/blog/conceptual-physical-logical-data-models/" TargetMode="External"/><Relationship Id="rId12" Type="http://schemas.openxmlformats.org/officeDocument/2006/relationships/hyperlink" Target="https://learn.microsoft.com/en-us/sql/samples/sql-samples-where-are?view=sql-server-ver16" TargetMode="External"/><Relationship Id="rId17" Type="http://schemas.openxmlformats.org/officeDocument/2006/relationships/hyperlink" Target="https://github.com/Tiankai-Jiang/Yelp-Dataset/blob/master/06_report/report.pdf" TargetMode="External"/><Relationship Id="rId25" Type="http://schemas.openxmlformats.org/officeDocument/2006/relationships/hyperlink" Target="https://github.com/microsoft/CDM" TargetMode="External"/><Relationship Id="rId2" Type="http://schemas.openxmlformats.org/officeDocument/2006/relationships/diagramData" Target="../diagrams/data11.xml"/><Relationship Id="rId16" Type="http://schemas.openxmlformats.org/officeDocument/2006/relationships/hyperlink" Target="https://github.com/sadam-99/Uber-Database-Design-System/blob/master/Create_Uber_Database.sql" TargetMode="External"/><Relationship Id="rId20" Type="http://schemas.openxmlformats.org/officeDocument/2006/relationships/hyperlink" Target="https://systemdesignprimer.com/dropbox-system-design/#database-schema" TargetMode="External"/><Relationship Id="rId1" Type="http://schemas.openxmlformats.org/officeDocument/2006/relationships/slideLayout" Target="../slideLayouts/slideLayout2.xml"/><Relationship Id="rId6" Type="http://schemas.microsoft.com/office/2007/relationships/diagramDrawing" Target="../diagrams/drawing11.xml"/><Relationship Id="rId11" Type="http://schemas.openxmlformats.org/officeDocument/2006/relationships/hyperlink" Target="https://www.jbilling.com/documentation/developers/database-model" TargetMode="External"/><Relationship Id="rId24" Type="http://schemas.openxmlformats.org/officeDocument/2006/relationships/hyperlink" Target="https://learn.microsoft.com/en-us/azure/cloud-adoption-framework/scenarios/cloud-scale-analytics/architectures/common-industry-data-models" TargetMode="External"/><Relationship Id="rId5" Type="http://schemas.openxmlformats.org/officeDocument/2006/relationships/diagramColors" Target="../diagrams/colors11.xml"/><Relationship Id="rId15" Type="http://schemas.openxmlformats.org/officeDocument/2006/relationships/hyperlink" Target="https://dataedo.com/samples/html/Data_warehouse/doc/AdventureWorksDW_4/home.html" TargetMode="External"/><Relationship Id="rId23" Type="http://schemas.openxmlformats.org/officeDocument/2006/relationships/hyperlink" Target="https://learn.microsoft.com/en-us/common-data-model/" TargetMode="External"/><Relationship Id="rId28" Type="http://schemas.openxmlformats.org/officeDocument/2006/relationships/hyperlink" Target="https://developer.squareup.com/blog/books-an-immutable-double-entry-accounting-database-service/" TargetMode="External"/><Relationship Id="rId10" Type="http://schemas.openxmlformats.org/officeDocument/2006/relationships/hyperlink" Target="https://www.amazon.in/Books-Steve-Hoberman/s?rh=n%3A976389031%2Cp_27%3ASteve+Hobermane" TargetMode="External"/><Relationship Id="rId19" Type="http://schemas.openxmlformats.org/officeDocument/2006/relationships/hyperlink" Target="https://fleet-help.verizonconnect.com/hc/en-us/sections/360003255220-Analytics-Server-Database-Structure" TargetMode="External"/><Relationship Id="rId4" Type="http://schemas.openxmlformats.org/officeDocument/2006/relationships/diagramQuickStyle" Target="../diagrams/quickStyle11.xml"/><Relationship Id="rId9" Type="http://schemas.openxmlformats.org/officeDocument/2006/relationships/hyperlink" Target="https://martinfowler.com/books/refactoringDatabases.html" TargetMode="External"/><Relationship Id="rId14" Type="http://schemas.openxmlformats.org/officeDocument/2006/relationships/hyperlink" Target="https://www.w3resource.com/sql-exercises/adventureworks/index.php" TargetMode="External"/><Relationship Id="rId22" Type="http://schemas.openxmlformats.org/officeDocument/2006/relationships/hyperlink" Target="https://en.wikipedia.org/wiki/Common_data_model" TargetMode="External"/><Relationship Id="rId27" Type="http://schemas.openxmlformats.org/officeDocument/2006/relationships/hyperlink" Target="https://vertabelo.com/blog/example_er_diagrams/"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amazon.com/Books-Steve-Hoberman/s?rh=n%3A283155%2Cp_27%3ASteve+Hoberman" TargetMode="External"/><Relationship Id="rId13" Type="http://schemas.openxmlformats.org/officeDocument/2006/relationships/hyperlink" Target="https://www.spatialanalysisonline.com/" TargetMode="External"/><Relationship Id="rId3" Type="http://schemas.openxmlformats.org/officeDocument/2006/relationships/hyperlink" Target="https://www.mongodb.com/resources/basics/databases/nosql-explained/data-modeling" TargetMode="External"/><Relationship Id="rId7" Type="http://schemas.openxmlformats.org/officeDocument/2006/relationships/hyperlink" Target="https://www.amazon.in/Data-Modeling-NoSQL-Database-3rd/dp/B0BLMD9DBD" TargetMode="External"/><Relationship Id="rId12" Type="http://schemas.openxmlformats.org/officeDocument/2006/relationships/hyperlink" Target="https://www.manning.com/books/visualizing-graph-data" TargetMode="External"/><Relationship Id="rId17" Type="http://schemas.openxmlformats.org/officeDocument/2006/relationships/hyperlink" Target="https://www.amazon.in/Spatio-Temporal-Graph-Analytics-Venkata-Gunturi-ebook/dp/B077G98QMJ" TargetMode="External"/><Relationship Id="rId2" Type="http://schemas.openxmlformats.org/officeDocument/2006/relationships/hyperlink" Target="https://www.scylladb.com/glossary/nosql-data-modeling/" TargetMode="External"/><Relationship Id="rId16" Type="http://schemas.openxmlformats.org/officeDocument/2006/relationships/hyperlink" Target="https://www.safegraph.com/guides/visualizing-geospatial-data" TargetMode="External"/><Relationship Id="rId1" Type="http://schemas.openxmlformats.org/officeDocument/2006/relationships/slideLayout" Target="../slideLayouts/slideLayout2.xml"/><Relationship Id="rId6" Type="http://schemas.openxmlformats.org/officeDocument/2006/relationships/hyperlink" Target="https://www.dynamodbbook.com/" TargetMode="External"/><Relationship Id="rId11" Type="http://schemas.openxmlformats.org/officeDocument/2006/relationships/hyperlink" Target="https://www.amazon.in/Truthful-Art-Data-Charts-Communication-ebook/dp/B01BLN09U0/ref=tmm_kin_swatch_0" TargetMode="External"/><Relationship Id="rId5" Type="http://schemas.openxmlformats.org/officeDocument/2006/relationships/hyperlink" Target="https://cloud.google.com/bigtable/docs/schema-design-time-series" TargetMode="External"/><Relationship Id="rId15" Type="http://schemas.openxmlformats.org/officeDocument/2006/relationships/hyperlink" Target="https://github.com/PacktPublishing/Learning-Geospatial-Analysis-with-Python-Third-Edition" TargetMode="External"/><Relationship Id="rId10" Type="http://schemas.openxmlformats.org/officeDocument/2006/relationships/hyperlink" Target="https://onlinelibrary.wiley.com/doi/book/10.1002/9781119183662" TargetMode="External"/><Relationship Id="rId4" Type="http://schemas.openxmlformats.org/officeDocument/2006/relationships/hyperlink" Target="https://highlyscalable.wordpress.com/2012/03/01/nosql-data-modeling-techniques/" TargetMode="External"/><Relationship Id="rId9" Type="http://schemas.openxmlformats.org/officeDocument/2006/relationships/hyperlink" Target="https://unitesi.unive.it/handle/20.500.14247/17953" TargetMode="External"/><Relationship Id="rId14" Type="http://schemas.openxmlformats.org/officeDocument/2006/relationships/hyperlink" Target="https://github.com/PacktPublishing/Geospatial-Analysis-with-SQL" TargetMode="Externa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hyperlink" Target="https://www.geeksforgeeks.org/concurrency-control-in-dbms/" TargetMode="Externa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hyperlink" Target="https://martin.kleppmann.com/2016/02/08/how-to-do-distributed-locking.html" TargetMode="Externa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0.xml.rels><?xml version="1.0" encoding="UTF-8" standalone="yes"?>
<Relationships xmlns="http://schemas.openxmlformats.org/package/2006/relationships"><Relationship Id="rId8" Type="http://schemas.openxmlformats.org/officeDocument/2006/relationships/hyperlink" Target="https://www.google.com/search?safe=active&amp;sca_esv=8fb985a9e177f272&amp;rlz=1C1GCEW_enIN1075IN1075&amp;sxsrf=AE3TifPLkWO7RQcdPAxlZm9W4fp4ybC8ng%3A1758016476508&amp;q=data+lakes&amp;sa=X&amp;ved=2ahUKEwiYu93cgd2PAxXQnK8BHXlWHqQQxccNegQIBxAC&amp;mstk=AUtExfD54KdEEnn3pKUPrkncVhU549YKyolGAGQoh1gcmDxlHxe3u-YBY2Q9OxFiVGGn6PwEj7oC73es7SJh0W9AuIv2YBHmuuOjL_FtCaApNWbNzkc1uoBFzu7Z6CxvYVRRzV9Q7QZUzt9_qktjRYuUwtM7lN0Jr3dbLUrlpVomzBBtV6miqLo1Q6xqh6kt3FUCpbL3iajwJN1fodjuvVxVeWhAI1LuZADV2OzPjUOIGEEo2dB5X0rO9Qazp6fAu3Cehk8HqgN0oVRxSkY2WpuWDiV2&amp;csui=3" TargetMode="External"/><Relationship Id="rId3" Type="http://schemas.openxmlformats.org/officeDocument/2006/relationships/diagramLayout" Target="../diagrams/layout19.xml"/><Relationship Id="rId7" Type="http://schemas.openxmlformats.org/officeDocument/2006/relationships/hyperlink" Target="https://www.google.com/search?safe=active&amp;sca_esv=8fb985a9e177f272&amp;rlz=1C1GCEW_enIN1075IN1075&amp;sxsrf=AE3TifPLkWO7RQcdPAxlZm9W4fp4ybC8ng%3A1758016476508&amp;q=NoSQL+databases&amp;sa=X&amp;ved=2ahUKEwiYu93cgd2PAxXQnK8BHXlWHqQQxccNegQIBxAB&amp;mstk=AUtExfD54KdEEnn3pKUPrkncVhU549YKyolGAGQoh1gcmDxlHxe3u-YBY2Q9OxFiVGGn6PwEj7oC73es7SJh0W9AuIv2YBHmuuOjL_FtCaApNWbNzkc1uoBFzu7Z6CxvYVRRzV9Q7QZUzt9_qktjRYuUwtM7lN0Jr3dbLUrlpVomzBBtV6miqLo1Q6xqh6kt3FUCpbL3iajwJN1fodjuvVxVeWhAI1LuZADV2OzPjUOIGEEo2dB5X0rO9Qazp6fAu3Cehk8HqgN0oVRxSkY2WpuWDiV2&amp;csui=3" TargetMode="Externa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1.xml.rels><?xml version="1.0" encoding="UTF-8" standalone="yes"?>
<Relationships xmlns="http://schemas.openxmlformats.org/package/2006/relationships"><Relationship Id="rId8" Type="http://schemas.openxmlformats.org/officeDocument/2006/relationships/hyperlink" Target="https://www.google.com/search?safe=active&amp;sca_esv=8fb985a9e177f272&amp;rlz=1C1GCEW_enIN1075IN1075&amp;sxsrf=AE3TifPLkWO7RQcdPAxlZm9W4fp4ybC8ng%3A1758016476508&amp;q=TF-IDF&amp;sa=X&amp;ved=2ahUKEwiYu93cgd2PAxXQnK8BHXlWHqQQxccNegUIqwEQAg&amp;mstk=AUtExfD54KdEEnn3pKUPrkncVhU549YKyolGAGQoh1gcmDxlHxe3u-YBY2Q9OxFiVGGn6PwEj7oC73es7SJh0W9AuIv2YBHmuuOjL_FtCaApNWbNzkc1uoBFzu7Z6CxvYVRRzV9Q7QZUzt9_qktjRYuUwtM7lN0Jr3dbLUrlpVomzBBtV6miqLo1Q6xqh6kt3FUCpbL3iajwJN1fodjuvVxVeWhAI1LuZADV2OzPjUOIGEEo2dB5X0rO9Qazp6fAu3Cehk8HqgN0oVRxSkY2WpuWDiV2&amp;csui=3" TargetMode="External"/><Relationship Id="rId3" Type="http://schemas.openxmlformats.org/officeDocument/2006/relationships/diagramLayout" Target="../diagrams/layout20.xml"/><Relationship Id="rId7" Type="http://schemas.openxmlformats.org/officeDocument/2006/relationships/hyperlink" Target="https://www.google.com/search?safe=active&amp;sca_esv=8fb985a9e177f272&amp;rlz=1C1GCEW_enIN1075IN1075&amp;sxsrf=AE3TifPLkWO7RQcdPAxlZm9W4fp4ybC8ng%3A1758016476508&amp;q=Bag+of+Words+%28BoW%29&amp;sa=X&amp;ved=2ahUKEwiYu93cgd2PAxXQnK8BHXlWHqQQxccNegUIqwEQAQ&amp;mstk=AUtExfD54KdEEnn3pKUPrkncVhU549YKyolGAGQoh1gcmDxlHxe3u-YBY2Q9OxFiVGGn6PwEj7oC73es7SJh0W9AuIv2YBHmuuOjL_FtCaApNWbNzkc1uoBFzu7Z6CxvYVRRzV9Q7QZUzt9_qktjRYuUwtM7lN0Jr3dbLUrlpVomzBBtV6miqLo1Q6xqh6kt3FUCpbL3iajwJN1fodjuvVxVeWhAI1LuZADV2OzPjUOIGEEo2dB5X0rO9Qazp6fAu3Cehk8HqgN0oVRxSkY2WpuWDiV2&amp;csui=3"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3.xml.rels><?xml version="1.0" encoding="UTF-8" standalone="yes"?>
<Relationships xmlns="http://schemas.openxmlformats.org/package/2006/relationships"><Relationship Id="rId8" Type="http://schemas.openxmlformats.org/officeDocument/2006/relationships/hyperlink" Target="https://www.linkedin.com/pulse/data-consolidation-techniques-taleb-dahan-mjqrf/" TargetMode="External"/><Relationship Id="rId3" Type="http://schemas.openxmlformats.org/officeDocument/2006/relationships/diagramLayout" Target="../diagrams/layout22.xml"/><Relationship Id="rId7" Type="http://schemas.openxmlformats.org/officeDocument/2006/relationships/hyperlink" Target="https://rivery.io/data-learning-center/data-consolidation-methods/" TargetMode="Externa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4.xml.rels><?xml version="1.0" encoding="UTF-8" standalone="yes"?>
<Relationships xmlns="http://schemas.openxmlformats.org/package/2006/relationships"><Relationship Id="rId8" Type="http://schemas.openxmlformats.org/officeDocument/2006/relationships/hyperlink" Target="https://www.google.com/search?safe=active&amp;sca_esv=8fb985a9e177f272&amp;rlz=1C1GCEW_enIN1075IN1075&amp;sxsrf=AE3TifMyv0_FfgGyASlFYDdwgWa0A_tR5Q%3A1758016507132&amp;q=Star+Schema&amp;sa=X&amp;ved=2ahUKEwiZ2Krrgd2PAxXjkq8BHViVOxoQxccNegUI2QIQAQ&amp;mstk=AUtExfAEy4Fz-9rD2tRjIO-kDweS2msfINg0b1XKGie6egQXUSjGX2zDkOTaAXQPOxia0Zqe5I0EEdx8NyRvQG7SUmHIjpszsUZ_twvvBB-aYvOJAN7ka5SrTC4hva-CN9CDLMEAY_fT0yX5s9Nk8LTD6QD7PaKFX5p_wGaatZM57FIPW0XgcuChMdVwEUa05Ia6nZ3uw85Mahl-MiWDfIMCu8cT7IURZWwaUK0OZYBXw8qVqyJGeSODRsMd32mQPVikjkvSX3EeNvfHzcPlihnERKlD&amp;csui=3" TargetMode="External"/><Relationship Id="rId3" Type="http://schemas.openxmlformats.org/officeDocument/2006/relationships/diagramLayout" Target="../diagrams/layout23.xml"/><Relationship Id="rId7" Type="http://schemas.openxmlformats.org/officeDocument/2006/relationships/hyperlink" Target="https://www.google.com/search?safe=active&amp;sca_esv=8fb985a9e177f272&amp;rlz=1C1GCEW_enIN1075IN1075&amp;sxsrf=AE3TifMyv0_FfgGyASlFYDdwgWa0A_tR5Q%3A1758016507132&amp;q=Ralph+Kimball&amp;sa=X&amp;ved=2ahUKEwiZ2Krrgd2PAxXjkq8BHViVOxoQxccNegQIERAB&amp;mstk=AUtExfAEy4Fz-9rD2tRjIO-kDweS2msfINg0b1XKGie6egQXUSjGX2zDkOTaAXQPOxia0Zqe5I0EEdx8NyRvQG7SUmHIjpszsUZ_twvvBB-aYvOJAN7ka5SrTC4hva-CN9CDLMEAY_fT0yX5s9Nk8LTD6QD7PaKFX5p_wGaatZM57FIPW0XgcuChMdVwEUa05Ia6nZ3uw85Mahl-MiWDfIMCu8cT7IURZWwaUK0OZYBXw8qVqyJGeSODRsMd32mQPVikjkvSX3EeNvfHzcPlihnERKlD&amp;csui=3" TargetMode="Externa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6.xml.rels><?xml version="1.0" encoding="UTF-8" standalone="yes"?>
<Relationships xmlns="http://schemas.openxmlformats.org/package/2006/relationships"><Relationship Id="rId8" Type="http://schemas.openxmlformats.org/officeDocument/2006/relationships/hyperlink" Target="https://www.softwareag.com/en_corporate/blog/streamsets/schemas-data-warehouses-star-galaxy-snowflake.html" TargetMode="External"/><Relationship Id="rId13" Type="http://schemas.openxmlformats.org/officeDocument/2006/relationships/hyperlink" Target="https://aws.amazon.com/what-is/olap/" TargetMode="External"/><Relationship Id="rId18" Type="http://schemas.openxmlformats.org/officeDocument/2006/relationships/hyperlink" Target="https://saranshinc.com/agile-scrum-ssrs-ssas/understanding-ssas-multidimensional-vs-tabular-models/" TargetMode="External"/><Relationship Id="rId3" Type="http://schemas.openxmlformats.org/officeDocument/2006/relationships/diagramLayout" Target="../diagrams/layout25.xml"/><Relationship Id="rId7" Type="http://schemas.openxmlformats.org/officeDocument/2006/relationships/hyperlink" Target="https://www.guru99.com/data-warehousing-tutorial.html" TargetMode="External"/><Relationship Id="rId12" Type="http://schemas.openxmlformats.org/officeDocument/2006/relationships/hyperlink" Target="https://stackoverflow.com/questions/18916682/data-warehouse-vs-olap-cube" TargetMode="External"/><Relationship Id="rId17" Type="http://schemas.openxmlformats.org/officeDocument/2006/relationships/hyperlink" Target="https://www.scaler.com/topics/olap-operations/" TargetMode="External"/><Relationship Id="rId2" Type="http://schemas.openxmlformats.org/officeDocument/2006/relationships/diagramData" Target="../diagrams/data25.xml"/><Relationship Id="rId16" Type="http://schemas.openxmlformats.org/officeDocument/2006/relationships/hyperlink" Target="https://docs.oracle.com/en/database/oracle/oracle-database/21/sqlrf/OLAP-Functions.html" TargetMode="External"/><Relationship Id="rId1" Type="http://schemas.openxmlformats.org/officeDocument/2006/relationships/slideLayout" Target="../slideLayouts/slideLayout2.xml"/><Relationship Id="rId6" Type="http://schemas.microsoft.com/office/2007/relationships/diagramDrawing" Target="../diagrams/drawing25.xml"/><Relationship Id="rId11" Type="http://schemas.openxmlformats.org/officeDocument/2006/relationships/hyperlink" Target="https://www.geeksforgeeks.org/measures-their-categorization-and-computation-in-data-mining/" TargetMode="External"/><Relationship Id="rId5" Type="http://schemas.openxmlformats.org/officeDocument/2006/relationships/diagramColors" Target="../diagrams/colors25.xml"/><Relationship Id="rId15" Type="http://schemas.openxmlformats.org/officeDocument/2006/relationships/hyperlink" Target="https://www.geeksforgeeks.org/data-cube-or-olap-approach-in-data-mining/" TargetMode="External"/><Relationship Id="rId10" Type="http://schemas.openxmlformats.org/officeDocument/2006/relationships/hyperlink" Target="https://www.geeksforgeeks.org/concept-hierarchy-in-data-mining/" TargetMode="External"/><Relationship Id="rId19" Type="http://schemas.openxmlformats.org/officeDocument/2006/relationships/hyperlink" Target="https://www.sqlbi.com/books/" TargetMode="External"/><Relationship Id="rId4" Type="http://schemas.openxmlformats.org/officeDocument/2006/relationships/diagramQuickStyle" Target="../diagrams/quickStyle25.xml"/><Relationship Id="rId9" Type="http://schemas.openxmlformats.org/officeDocument/2006/relationships/hyperlink" Target="https://cassio-bolba.medium.com/concepts-for-data-engineers-dimensional-data-modelling-74f88c6d83de" TargetMode="External"/><Relationship Id="rId14" Type="http://schemas.openxmlformats.org/officeDocument/2006/relationships/hyperlink" Target="https://hevodata.com/learn/olap-models/"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26.xml"/><Relationship Id="rId7" Type="http://schemas.openxmlformats.org/officeDocument/2006/relationships/image" Target="../media/image7.png"/><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8.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hyperlink" Target="https://www.aegissofttech.com/insights/etl-processes-azure-data-factory/" TargetMode="External"/><Relationship Id="rId7" Type="http://schemas.openxmlformats.org/officeDocument/2006/relationships/diagramColors" Target="../diagrams/colors27.xml"/><Relationship Id="rId2" Type="http://schemas.openxmlformats.org/officeDocument/2006/relationships/hyperlink" Target="https://hexanika.com/why-shift-from-etl-to-elt/" TargetMode="External"/><Relationship Id="rId1" Type="http://schemas.openxmlformats.org/officeDocument/2006/relationships/slideLayout" Target="../slideLayouts/slideLayout2.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1.xml.rels><?xml version="1.0" encoding="UTF-8" standalone="yes"?>
<Relationships xmlns="http://schemas.openxmlformats.org/package/2006/relationships"><Relationship Id="rId8" Type="http://schemas.openxmlformats.org/officeDocument/2006/relationships/hyperlink" Target="https://medium.com/@rajesh1.ojha/real-time-event-stream-reconciliation-pattern-35d2ba949da6" TargetMode="External"/><Relationship Id="rId3" Type="http://schemas.openxmlformats.org/officeDocument/2006/relationships/diagramLayout" Target="../diagrams/layout30.xml"/><Relationship Id="rId7" Type="http://schemas.openxmlformats.org/officeDocument/2006/relationships/hyperlink" Target="https://medium.com/agoda-engineering/a-deep-dive-into-agodas-generic-reconciliation-platform-06cab9a98145" TargetMode="Externa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11" Type="http://schemas.openxmlformats.org/officeDocument/2006/relationships/hyperlink" Target="https://dzone.com/articles/nlp-financial-ledger-reconciliation-langchain" TargetMode="External"/><Relationship Id="rId5" Type="http://schemas.openxmlformats.org/officeDocument/2006/relationships/diagramColors" Target="../diagrams/colors30.xml"/><Relationship Id="rId10" Type="http://schemas.openxmlformats.org/officeDocument/2006/relationships/hyperlink" Target="https://learn.microsoft.com/en-us/copilot/finance/reconcile/reconcile-data" TargetMode="External"/><Relationship Id="rId4" Type="http://schemas.openxmlformats.org/officeDocument/2006/relationships/diagramQuickStyle" Target="../diagrams/quickStyle30.xml"/><Relationship Id="rId9" Type="http://schemas.openxmlformats.org/officeDocument/2006/relationships/hyperlink" Target="https://github.com/giangstrider/pinecone" TargetMode="Externa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4.xml.rels><?xml version="1.0" encoding="UTF-8" standalone="yes"?>
<Relationships xmlns="http://schemas.openxmlformats.org/package/2006/relationships"><Relationship Id="rId8" Type="http://schemas.openxmlformats.org/officeDocument/2006/relationships/hyperlink" Target="https://www.youtube.com/watch?v=BcOfBbKW7ko" TargetMode="External"/><Relationship Id="rId3" Type="http://schemas.openxmlformats.org/officeDocument/2006/relationships/diagramLayout" Target="../diagrams/layout33.xml"/><Relationship Id="rId7" Type="http://schemas.openxmlformats.org/officeDocument/2006/relationships/hyperlink" Target="https://www.youtube.com/watch?v=D2XiARYlzcs" TargetMode="Externa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34.xml"/><Relationship Id="rId7" Type="http://schemas.openxmlformats.org/officeDocument/2006/relationships/image" Target="../media/image9.png"/><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6.xml"/><Relationship Id="rId7" Type="http://schemas.openxmlformats.org/officeDocument/2006/relationships/image" Target="../media/image11.png"/><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8.xml.rels><?xml version="1.0" encoding="UTF-8" standalone="yes"?>
<Relationships xmlns="http://schemas.openxmlformats.org/package/2006/relationships"><Relationship Id="rId8" Type="http://schemas.openxmlformats.org/officeDocument/2006/relationships/hyperlink" Target="https://learn.microsoft.com/en-us/fabric/onelake/onelake-medallion-lakehouse-architecture" TargetMode="External"/><Relationship Id="rId3" Type="http://schemas.openxmlformats.org/officeDocument/2006/relationships/diagramLayout" Target="../diagrams/layout37.xml"/><Relationship Id="rId7" Type="http://schemas.openxmlformats.org/officeDocument/2006/relationships/hyperlink" Target="https://www.youtube.com/watch?v=QO9J7sZZgLM" TargetMode="External"/><Relationship Id="rId12" Type="http://schemas.openxmlformats.org/officeDocument/2006/relationships/hyperlink" Target="https://medium.com/@akshay.sharma1088/a-no-nonsense-guide-to-medallion-architecture-dc967137b01d" TargetMode="Externa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11" Type="http://schemas.openxmlformats.org/officeDocument/2006/relationships/hyperlink" Target="https://nikhil-datasolutions.medium.com/practical-data-modeling-medallion-architecture-on-databricks-c524f6de0cbb" TargetMode="External"/><Relationship Id="rId5" Type="http://schemas.openxmlformats.org/officeDocument/2006/relationships/diagramColors" Target="../diagrams/colors37.xml"/><Relationship Id="rId10" Type="http://schemas.openxmlformats.org/officeDocument/2006/relationships/hyperlink" Target="https://medium.com/microsoftazure/striking-gold-mastering-medallion-architecture-for-bronze-silver-and-gold-tiers-0742aa7e5756" TargetMode="External"/><Relationship Id="rId4" Type="http://schemas.openxmlformats.org/officeDocument/2006/relationships/diagramQuickStyle" Target="../diagrams/quickStyle37.xml"/><Relationship Id="rId9" Type="http://schemas.openxmlformats.org/officeDocument/2006/relationships/hyperlink" Target="https://www.youtube.com/watch?v=MEsAoo9ryIg" TargetMode="External"/></Relationships>
</file>

<file path=ppt/slides/_rels/slide3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diagramLayout" Target="../diagrams/layout38.xml"/><Relationship Id="rId7" Type="http://schemas.openxmlformats.org/officeDocument/2006/relationships/image" Target="../media/image12.png"/><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9.xml"/><Relationship Id="rId7" Type="http://schemas.openxmlformats.org/officeDocument/2006/relationships/image" Target="../media/image14.pn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40.xml"/><Relationship Id="rId7" Type="http://schemas.openxmlformats.org/officeDocument/2006/relationships/image" Target="../media/image14.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1.xml"/><Relationship Id="rId7" Type="http://schemas.openxmlformats.org/officeDocument/2006/relationships/hyperlink" Target="https://www.scirp.org/journal/paperinformation?paperid=103823" TargetMode="Externa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48.xml.rels><?xml version="1.0" encoding="UTF-8" standalone="yes"?>
<Relationships xmlns="http://schemas.openxmlformats.org/package/2006/relationships"><Relationship Id="rId8" Type="http://schemas.openxmlformats.org/officeDocument/2006/relationships/hyperlink" Target="https://www.linkedin.com/posts/rocky-bhatia-a4801010_%F0%9D%90%88%F0%9D%90%A7%F0%9D%90%AD%F0%9D%90%AB%F0%9D%90%A8%F0%9D%90%9D%F0%9D%90%AE%F0%9D%90%9C%F0%9D%90%A2%F0%9D%90%A7%F0%9D%90%A0-%F0%9D%90%9A-%F0%9D%90%82%F0%9D%90%A8%F0%9D%90%A6%F0%9D%90%A9%F0%9D%90%AB%F0%9D%90%9E%F0%9D%90%A1%F0%9D%90%9E%F0%9D%90%A7%F0%9D%90%AC%F0%9D%90%A2%F0%9D%90%AF%F0%9D%90%9E-activity-7274022898007175169-3klX/" TargetMode="External"/><Relationship Id="rId13" Type="http://schemas.openxmlformats.org/officeDocument/2006/relationships/hyperlink" Target="https://www.oreilly.com/library/view/data-pipelines-pocket/9781492087823/" TargetMode="External"/><Relationship Id="rId3" Type="http://schemas.openxmlformats.org/officeDocument/2006/relationships/diagramLayout" Target="../diagrams/layout47.xml"/><Relationship Id="rId7" Type="http://schemas.openxmlformats.org/officeDocument/2006/relationships/hyperlink" Target="https://www.linkedin.com/posts/rocky-bhatia-a4801010_master-template-for-building-data-architecture-activity-7126534982889553920-Lydu/" TargetMode="External"/><Relationship Id="rId12" Type="http://schemas.openxmlformats.org/officeDocument/2006/relationships/hyperlink" Target="https://www.oreilly.com/library/view/rebuilding-reliable-data/9781492058175/" TargetMode="Externa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11" Type="http://schemas.openxmlformats.org/officeDocument/2006/relationships/hyperlink" Target="https://github.com/PacktPublishing/Data-Engineering-with-Python" TargetMode="External"/><Relationship Id="rId5" Type="http://schemas.openxmlformats.org/officeDocument/2006/relationships/diagramColors" Target="../diagrams/colors47.xml"/><Relationship Id="rId15" Type="http://schemas.openxmlformats.org/officeDocument/2006/relationships/hyperlink" Target="https://www.scylladb.com/2023/10/02/introducing-database-performance-at-scale-a-free-open-source-book/" TargetMode="External"/><Relationship Id="rId10" Type="http://schemas.openxmlformats.org/officeDocument/2006/relationships/hyperlink" Target="https://buf.build/resources/data-engineering-design-patterns" TargetMode="External"/><Relationship Id="rId4" Type="http://schemas.openxmlformats.org/officeDocument/2006/relationships/diagramQuickStyle" Target="../diagrams/quickStyle47.xml"/><Relationship Id="rId9" Type="http://schemas.openxmlformats.org/officeDocument/2006/relationships/hyperlink" Target="https://www.oreilly.com/library/view/fundamentals-of-data/9781098108298/" TargetMode="External"/><Relationship Id="rId14" Type="http://schemas.openxmlformats.org/officeDocument/2006/relationships/hyperlink" Target="https://www.oreilly.com/library/view/97-things-every/9781492062400/"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48.xml"/><Relationship Id="rId7" Type="http://schemas.openxmlformats.org/officeDocument/2006/relationships/image" Target="../media/image17.png"/><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Layout" Target="../diagrams/layout49.xml"/><Relationship Id="rId7" Type="http://schemas.openxmlformats.org/officeDocument/2006/relationships/image" Target="../media/image19.png"/><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Layout" Target="../diagrams/layout54.xml"/><Relationship Id="rId7" Type="http://schemas.openxmlformats.org/officeDocument/2006/relationships/image" Target="../media/image21.png"/><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Layout" Target="../diagrams/layout55.xml"/><Relationship Id="rId7" Type="http://schemas.openxmlformats.org/officeDocument/2006/relationships/image" Target="../media/image23.png"/><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 Id="rId9" Type="http://schemas.openxmlformats.org/officeDocument/2006/relationships/image" Target="../media/image25.png"/></Relationships>
</file>

<file path=ppt/slides/_rels/slide57.xml.rels><?xml version="1.0" encoding="UTF-8" standalone="yes"?>
<Relationships xmlns="http://schemas.openxmlformats.org/package/2006/relationships"><Relationship Id="rId8" Type="http://schemas.openxmlformats.org/officeDocument/2006/relationships/diagramData" Target="../diagrams/data56.xml"/><Relationship Id="rId3" Type="http://schemas.openxmlformats.org/officeDocument/2006/relationships/hyperlink" Target="https://datacater.io/blog/2023-03-07/change-data-capture-101-guide.html" TargetMode="External"/><Relationship Id="rId7" Type="http://schemas.openxmlformats.org/officeDocument/2006/relationships/hyperlink" Target="https://www.dataengineeringweekly.com/p/evaluating-change-data-capture-tools" TargetMode="External"/><Relationship Id="rId12" Type="http://schemas.microsoft.com/office/2007/relationships/diagramDrawing" Target="../diagrams/drawing56.xml"/><Relationship Id="rId2" Type="http://schemas.openxmlformats.org/officeDocument/2006/relationships/hyperlink" Target="https://www.redpanda.com/guides/fundamentals-of-data-engineering-cdc-change-data-capture" TargetMode="External"/><Relationship Id="rId1" Type="http://schemas.openxmlformats.org/officeDocument/2006/relationships/slideLayout" Target="../slideLayouts/slideLayout2.xml"/><Relationship Id="rId6" Type="http://schemas.openxmlformats.org/officeDocument/2006/relationships/hyperlink" Target="https://www.amazon.in/Mastering-Change-Data-Capture-Hands-ebook/dp/B0G3GFVYM4" TargetMode="External"/><Relationship Id="rId11" Type="http://schemas.openxmlformats.org/officeDocument/2006/relationships/diagramColors" Target="../diagrams/colors56.xml"/><Relationship Id="rId5" Type="http://schemas.openxmlformats.org/officeDocument/2006/relationships/hyperlink" Target="https://medium.com/data-science/data-mesh-pattern-deep-dive-change-data-capture-eb3090178c34" TargetMode="External"/><Relationship Id="rId10" Type="http://schemas.openxmlformats.org/officeDocument/2006/relationships/diagramQuickStyle" Target="../diagrams/quickStyle56.xml"/><Relationship Id="rId4" Type="http://schemas.openxmlformats.org/officeDocument/2006/relationships/hyperlink" Target="https://tdwi.org/whitepapers/2020/02/diq-all-qlik-streaming-change-data-capture-ebook.aspx" TargetMode="External"/><Relationship Id="rId9" Type="http://schemas.openxmlformats.org/officeDocument/2006/relationships/diagramLayout" Target="../diagrams/layout56.xml"/></Relationships>
</file>

<file path=ppt/slides/_rels/slide5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Layout" Target="../diagrams/layout57.xml"/><Relationship Id="rId7" Type="http://schemas.openxmlformats.org/officeDocument/2006/relationships/image" Target="../media/image26.png"/><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Layout" Target="../diagrams/layout66.xml"/><Relationship Id="rId7" Type="http://schemas.openxmlformats.org/officeDocument/2006/relationships/image" Target="../media/image28.png"/><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Layout" Target="../diagrams/layout67.xml"/><Relationship Id="rId7" Type="http://schemas.openxmlformats.org/officeDocument/2006/relationships/image" Target="../media/image30.png"/><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6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Layout" Target="../diagrams/layout68.xml"/><Relationship Id="rId7" Type="http://schemas.openxmlformats.org/officeDocument/2006/relationships/image" Target="../media/image32.png"/><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69.xml"/><Relationship Id="rId7" Type="http://schemas.openxmlformats.org/officeDocument/2006/relationships/image" Target="../media/image34.png"/><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70.xml"/><Relationship Id="rId7" Type="http://schemas.openxmlformats.org/officeDocument/2006/relationships/image" Target="../media/image35.png"/><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2.xml.rels><?xml version="1.0" encoding="UTF-8" standalone="yes"?>
<Relationships xmlns="http://schemas.openxmlformats.org/package/2006/relationships"><Relationship Id="rId8" Type="http://schemas.openxmlformats.org/officeDocument/2006/relationships/hyperlink" Target="https://hadoop.apache.org/docs/stable/" TargetMode="External"/><Relationship Id="rId13" Type="http://schemas.openxmlformats.org/officeDocument/2006/relationships/hyperlink" Target="https://github.com/PacktPublishing/Mastering-Apache-Spark-2x" TargetMode="External"/><Relationship Id="rId18" Type="http://schemas.openxmlformats.org/officeDocument/2006/relationships/hyperlink" Target="https://books.japila.pl/apache-spark-internals/rdd/#rdds-in-web-ui" TargetMode="External"/><Relationship Id="rId3" Type="http://schemas.openxmlformats.org/officeDocument/2006/relationships/diagramLayout" Target="../diagrams/layout71.xml"/><Relationship Id="rId21" Type="http://schemas.openxmlformats.org/officeDocument/2006/relationships/hyperlink" Target="https://github.com/PacktPublishing/Bigdata-on-Kubernetes" TargetMode="External"/><Relationship Id="rId7" Type="http://schemas.openxmlformats.org/officeDocument/2006/relationships/hyperlink" Target="https://hadoopecosystemtable.github.io/" TargetMode="External"/><Relationship Id="rId12" Type="http://schemas.openxmlformats.org/officeDocument/2006/relationships/hyperlink" Target="https://www.linkedin.com/posts/shubhamwadekar_data-engineer-aspirant-asked-me-why-is-activity-7230430708102520832-akeZ/" TargetMode="External"/><Relationship Id="rId17" Type="http://schemas.openxmlformats.org/officeDocument/2006/relationships/hyperlink" Target="https://github.com/JerryLead/SparkInternals" TargetMode="External"/><Relationship Id="rId2" Type="http://schemas.openxmlformats.org/officeDocument/2006/relationships/diagramData" Target="../diagrams/data71.xml"/><Relationship Id="rId16" Type="http://schemas.openxmlformats.org/officeDocument/2006/relationships/hyperlink" Target="https://books.japila.pl/apache-spark-internals/" TargetMode="External"/><Relationship Id="rId20" Type="http://schemas.openxmlformats.org/officeDocument/2006/relationships/hyperlink" Target="https://www.sciencedirect.com/science/article/abs/pii/000510989190003K" TargetMode="External"/><Relationship Id="rId1" Type="http://schemas.openxmlformats.org/officeDocument/2006/relationships/slideLayout" Target="../slideLayouts/slideLayout2.xml"/><Relationship Id="rId6" Type="http://schemas.microsoft.com/office/2007/relationships/diagramDrawing" Target="../diagrams/drawing71.xml"/><Relationship Id="rId11" Type="http://schemas.openxmlformats.org/officeDocument/2006/relationships/hyperlink" Target="https://github.com/databricks/Spark-The-Definitive-Guide" TargetMode="External"/><Relationship Id="rId24" Type="http://schemas.openxmlformats.org/officeDocument/2006/relationships/hyperlink" Target="https://medium.com/@KarunaDataArchitect/data-processing-architecture-on-microsoft-azure-bf8471cde28" TargetMode="External"/><Relationship Id="rId5" Type="http://schemas.openxmlformats.org/officeDocument/2006/relationships/diagramColors" Target="../diagrams/colors71.xml"/><Relationship Id="rId15" Type="http://schemas.openxmlformats.org/officeDocument/2006/relationships/hyperlink" Target="https://spark.apache.org/docs/3.5.3/" TargetMode="External"/><Relationship Id="rId23" Type="http://schemas.openxmlformats.org/officeDocument/2006/relationships/hyperlink" Target="https://blog.bytebytego.com/p/at-most-once-at-least-once-exactly" TargetMode="External"/><Relationship Id="rId10" Type="http://schemas.openxmlformats.org/officeDocument/2006/relationships/hyperlink" Target="https://github.com/databricks/LearningSparkV2" TargetMode="External"/><Relationship Id="rId19" Type="http://schemas.openxmlformats.org/officeDocument/2006/relationships/hyperlink" Target="https://www.clairvoyant.ai/blog/big-data-file-formats" TargetMode="External"/><Relationship Id="rId4" Type="http://schemas.openxmlformats.org/officeDocument/2006/relationships/diagramQuickStyle" Target="../diagrams/quickStyle71.xml"/><Relationship Id="rId9" Type="http://schemas.openxmlformats.org/officeDocument/2006/relationships/hyperlink" Target="https://ercoppa.github.io/HadoopInternals/" TargetMode="External"/><Relationship Id="rId14" Type="http://schemas.openxmlformats.org/officeDocument/2006/relationships/hyperlink" Target="https://github.com/mahmoudparsian/data-algorithms-with-spark" TargetMode="External"/><Relationship Id="rId22" Type="http://schemas.openxmlformats.org/officeDocument/2006/relationships/hyperlink" Target="https://www.scirp.org/journal/paperinformation?paperid=103823" TargetMode="Externa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2.xml"/><Relationship Id="rId7" Type="http://schemas.openxmlformats.org/officeDocument/2006/relationships/image" Target="../media/image36.png"/><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7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Layout" Target="../diagrams/layout73.xml"/><Relationship Id="rId7" Type="http://schemas.openxmlformats.org/officeDocument/2006/relationships/image" Target="../media/image37.png"/><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5.xm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78.xm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2.xml"/><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83.xm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85.xm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86.xml"/><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87.xml"/><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88.xml"/><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5" Type="http://schemas.openxmlformats.org/officeDocument/2006/relationships/diagramColors" Target="../diagrams/colors88.xml"/><Relationship Id="rId4" Type="http://schemas.openxmlformats.org/officeDocument/2006/relationships/diagramQuickStyle" Target="../diagrams/quickStyle88.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89.xml"/><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90.xml"/><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1.xml"/><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2.xml"/><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3.xm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4.xml"/><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5.xml"/><Relationship Id="rId7" Type="http://schemas.openxmlformats.org/officeDocument/2006/relationships/image" Target="../media/image39.png"/><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96.xml"/><Relationship Id="rId7" Type="http://schemas.openxmlformats.org/officeDocument/2006/relationships/image" Target="../media/image40.png"/><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9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diagramLayout" Target="../diagrams/layout97.xml"/><Relationship Id="rId7" Type="http://schemas.openxmlformats.org/officeDocument/2006/relationships/image" Target="../media/image40.png"/><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10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diagramLayout" Target="../diagrams/layout99.xml"/><Relationship Id="rId7" Type="http://schemas.openxmlformats.org/officeDocument/2006/relationships/image" Target="../media/image43.png"/><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4" Type="http://schemas.openxmlformats.org/officeDocument/2006/relationships/diagramQuickStyle" Target="../diagrams/quickStyle99.xml"/></Relationships>
</file>

<file path=ppt/slides/_rels/slide10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diagramLayout" Target="../diagrams/layout100.xml"/><Relationship Id="rId7" Type="http://schemas.openxmlformats.org/officeDocument/2006/relationships/image" Target="../media/image45.png"/><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 Id="rId9" Type="http://schemas.openxmlformats.org/officeDocument/2006/relationships/image" Target="../media/image47.png"/></Relationships>
</file>

<file path=ppt/slides/_rels/slide10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diagramLayout" Target="../diagrams/layout101.xml"/><Relationship Id="rId7" Type="http://schemas.openxmlformats.org/officeDocument/2006/relationships/image" Target="../media/image48.png"/><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s>
</file>

<file path=ppt/slides/_rels/slide10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Layout" Target="../diagrams/layout102.xml"/><Relationship Id="rId7" Type="http://schemas.openxmlformats.org/officeDocument/2006/relationships/image" Target="../media/image50.png"/><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03.xml"/><Relationship Id="rId7" Type="http://schemas.openxmlformats.org/officeDocument/2006/relationships/image" Target="../media/image52.png"/><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05.xml.rels><?xml version="1.0" encoding="UTF-8" standalone="yes"?>
<Relationships xmlns="http://schemas.openxmlformats.org/package/2006/relationships"><Relationship Id="rId8" Type="http://schemas.openxmlformats.org/officeDocument/2006/relationships/hyperlink" Target="https://stackoverflow.com/questions/57976292/whats-the-difference-between-processing-time-and-event-time-in-apache-beam" TargetMode="External"/><Relationship Id="rId13" Type="http://schemas.openxmlformats.org/officeDocument/2006/relationships/hyperlink" Target="https://github.com/streaming-with-flink" TargetMode="External"/><Relationship Id="rId18" Type="http://schemas.openxmlformats.org/officeDocument/2006/relationships/hyperlink" Target="https://www.confluent.io/resources/" TargetMode="External"/><Relationship Id="rId3" Type="http://schemas.openxmlformats.org/officeDocument/2006/relationships/diagramLayout" Target="../diagrams/layout104.xml"/><Relationship Id="rId21" Type="http://schemas.openxmlformats.org/officeDocument/2006/relationships/hyperlink" Target="https://learn.microsoft.com/en-us/shows/visual-studio-live-2022/exploring-flow-architectures" TargetMode="External"/><Relationship Id="rId7" Type="http://schemas.openxmlformats.org/officeDocument/2006/relationships/hyperlink" Target="https://www.kai-waehner.de/free-e-book-the-ultimate-data-streaming-guide/" TargetMode="External"/><Relationship Id="rId12" Type="http://schemas.openxmlformats.org/officeDocument/2006/relationships/hyperlink" Target="https://data-flair.training/courses/free-apache-flink-course/" TargetMode="External"/><Relationship Id="rId17" Type="http://schemas.openxmlformats.org/officeDocument/2006/relationships/hyperlink" Target="https://www.manning.com/books/kafka-for-architects" TargetMode="External"/><Relationship Id="rId25" Type="http://schemas.openxmlformats.org/officeDocument/2006/relationships/hyperlink" Target="https://learn.microsoft.com/en-us/azure/stream-analytics/" TargetMode="External"/><Relationship Id="rId2" Type="http://schemas.openxmlformats.org/officeDocument/2006/relationships/diagramData" Target="../diagrams/data104.xml"/><Relationship Id="rId16" Type="http://schemas.openxmlformats.org/officeDocument/2006/relationships/hyperlink" Target="https://stackoverflow.com/questions/72123330/internal-architecture-of-pyflink" TargetMode="External"/><Relationship Id="rId20" Type="http://schemas.openxmlformats.org/officeDocument/2006/relationships/hyperlink" Target="https://github.com/xerial/streamdb-readings" TargetMode="External"/><Relationship Id="rId1" Type="http://schemas.openxmlformats.org/officeDocument/2006/relationships/slideLayout" Target="../slideLayouts/slideLayout2.xml"/><Relationship Id="rId6" Type="http://schemas.microsoft.com/office/2007/relationships/diagramDrawing" Target="../diagrams/drawing104.xml"/><Relationship Id="rId11" Type="http://schemas.openxmlformats.org/officeDocument/2006/relationships/hyperlink" Target="https://github.com/pmoskovi/flink-learning-resources" TargetMode="External"/><Relationship Id="rId24" Type="http://schemas.openxmlformats.org/officeDocument/2006/relationships/hyperlink" Target="https://www.linkedin.com/posts/raul-junco_if-they-ask-you-this-question-do-you-know-activity-7299776351656431616-Hy4B/" TargetMode="External"/><Relationship Id="rId5" Type="http://schemas.openxmlformats.org/officeDocument/2006/relationships/diagramColors" Target="../diagrams/colors104.xml"/><Relationship Id="rId15" Type="http://schemas.openxmlformats.org/officeDocument/2006/relationships/hyperlink" Target="https://nightlies.apache.org/flink/flink-docs-master/" TargetMode="External"/><Relationship Id="rId23" Type="http://schemas.openxmlformats.org/officeDocument/2006/relationships/hyperlink" Target="https://www.manning.com/books/grokking-streaming-systems" TargetMode="External"/><Relationship Id="rId10" Type="http://schemas.openxmlformats.org/officeDocument/2006/relationships/hyperlink" Target="https://www.databricks.com/blog/feature-deep-dive-watermarking-apache-spark-structured-streaming" TargetMode="External"/><Relationship Id="rId19" Type="http://schemas.openxmlformats.org/officeDocument/2006/relationships/hyperlink" Target="https://github.com/wuchong/awesome-flink" TargetMode="External"/><Relationship Id="rId4" Type="http://schemas.openxmlformats.org/officeDocument/2006/relationships/diagramQuickStyle" Target="../diagrams/quickStyle104.xml"/><Relationship Id="rId9" Type="http://schemas.openxmlformats.org/officeDocument/2006/relationships/hyperlink" Target="https://datascience.stackexchange.com/questions/6186/is-there-a-difference-between-on-line-learning-incremental-learning-and-sequent" TargetMode="External"/><Relationship Id="rId14" Type="http://schemas.openxmlformats.org/officeDocument/2006/relationships/hyperlink" Target="https://www.amazon.in/Flink-Apache-Modern-Data-Stack-ebook/dp/B0FXGBNFTQ" TargetMode="External"/><Relationship Id="rId22" Type="http://schemas.openxmlformats.org/officeDocument/2006/relationships/hyperlink" Target="https://www.oreilly.com/library/view/streaming-systems/9781491983867/" TargetMode="External"/></Relationships>
</file>

<file path=ppt/slides/_rels/slide106.xml.rels><?xml version="1.0" encoding="UTF-8" standalone="yes"?>
<Relationships xmlns="http://schemas.openxmlformats.org/package/2006/relationships"><Relationship Id="rId3" Type="http://schemas.openxmlformats.org/officeDocument/2006/relationships/diagramLayout" Target="../diagrams/layout105.xm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06.xml"/><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4" Type="http://schemas.openxmlformats.org/officeDocument/2006/relationships/diagramQuickStyle" Target="../diagrams/quickStyle106.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07.xml"/><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08.xml"/><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5" Type="http://schemas.openxmlformats.org/officeDocument/2006/relationships/diagramColors" Target="../diagrams/colors108.xml"/><Relationship Id="rId4" Type="http://schemas.openxmlformats.org/officeDocument/2006/relationships/diagramQuickStyle" Target="../diagrams/quickStyle108.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109.xml"/><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11.xml.rels><?xml version="1.0" encoding="UTF-8" standalone="yes"?>
<Relationships xmlns="http://schemas.openxmlformats.org/package/2006/relationships"><Relationship Id="rId3" Type="http://schemas.openxmlformats.org/officeDocument/2006/relationships/diagramLayout" Target="../diagrams/layout110.xml"/><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12.xml.rels><?xml version="1.0" encoding="UTF-8" standalone="yes"?>
<Relationships xmlns="http://schemas.openxmlformats.org/package/2006/relationships"><Relationship Id="rId3" Type="http://schemas.openxmlformats.org/officeDocument/2006/relationships/diagramLayout" Target="../diagrams/layout111.xm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12.xml"/><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113.xm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5" Type="http://schemas.openxmlformats.org/officeDocument/2006/relationships/diagramColors" Target="../diagrams/colors113.xml"/><Relationship Id="rId4" Type="http://schemas.openxmlformats.org/officeDocument/2006/relationships/diagramQuickStyle" Target="../diagrams/quickStyle113.xml"/></Relationships>
</file>

<file path=ppt/slides/_rels/slide11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diagramLayout" Target="../diagrams/layout114.xml"/><Relationship Id="rId7" Type="http://schemas.openxmlformats.org/officeDocument/2006/relationships/image" Target="../media/image53.png"/><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5" Type="http://schemas.openxmlformats.org/officeDocument/2006/relationships/diagramColors" Target="../diagrams/colors114.xml"/><Relationship Id="rId4" Type="http://schemas.openxmlformats.org/officeDocument/2006/relationships/diagramQuickStyle" Target="../diagrams/quickStyle114.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15.xml"/><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5" Type="http://schemas.openxmlformats.org/officeDocument/2006/relationships/diagramColors" Target="../diagrams/colors115.xml"/><Relationship Id="rId4" Type="http://schemas.openxmlformats.org/officeDocument/2006/relationships/diagramQuickStyle" Target="../diagrams/quickStyle115.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16.xml"/><Relationship Id="rId2" Type="http://schemas.openxmlformats.org/officeDocument/2006/relationships/diagramData" Target="../diagrams/data116.xml"/><Relationship Id="rId1" Type="http://schemas.openxmlformats.org/officeDocument/2006/relationships/slideLayout" Target="../slideLayouts/slideLayout2.xml"/><Relationship Id="rId6" Type="http://schemas.microsoft.com/office/2007/relationships/diagramDrawing" Target="../diagrams/drawing116.xml"/><Relationship Id="rId5" Type="http://schemas.openxmlformats.org/officeDocument/2006/relationships/diagramColors" Target="../diagrams/colors116.xml"/><Relationship Id="rId4" Type="http://schemas.openxmlformats.org/officeDocument/2006/relationships/diagramQuickStyle" Target="../diagrams/quickStyle116.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117.xml"/><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5" Type="http://schemas.openxmlformats.org/officeDocument/2006/relationships/diagramColors" Target="../diagrams/colors117.xml"/><Relationship Id="rId4" Type="http://schemas.openxmlformats.org/officeDocument/2006/relationships/diagramQuickStyle" Target="../diagrams/quickStyle117.xm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118.xml"/><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5" Type="http://schemas.openxmlformats.org/officeDocument/2006/relationships/diagramColors" Target="../diagrams/colors118.xml"/><Relationship Id="rId4" Type="http://schemas.openxmlformats.org/officeDocument/2006/relationships/diagramQuickStyle" Target="../diagrams/quickStyle118.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19.xml"/><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5" Type="http://schemas.openxmlformats.org/officeDocument/2006/relationships/diagramColors" Target="../diagrams/colors119.xml"/><Relationship Id="rId4" Type="http://schemas.openxmlformats.org/officeDocument/2006/relationships/diagramQuickStyle" Target="../diagrams/quickStyle119.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120.xml"/><Relationship Id="rId2" Type="http://schemas.openxmlformats.org/officeDocument/2006/relationships/diagramData" Target="../diagrams/data120.xml"/><Relationship Id="rId1" Type="http://schemas.openxmlformats.org/officeDocument/2006/relationships/slideLayout" Target="../slideLayouts/slideLayout2.xml"/><Relationship Id="rId6" Type="http://schemas.microsoft.com/office/2007/relationships/diagramDrawing" Target="../diagrams/drawing120.xml"/><Relationship Id="rId5" Type="http://schemas.openxmlformats.org/officeDocument/2006/relationships/diagramColors" Target="../diagrams/colors120.xml"/><Relationship Id="rId4" Type="http://schemas.openxmlformats.org/officeDocument/2006/relationships/diagramQuickStyle" Target="../diagrams/quickStyle120.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121.xml"/><Relationship Id="rId2" Type="http://schemas.openxmlformats.org/officeDocument/2006/relationships/diagramData" Target="../diagrams/data121.xml"/><Relationship Id="rId1" Type="http://schemas.openxmlformats.org/officeDocument/2006/relationships/slideLayout" Target="../slideLayouts/slideLayout2.xml"/><Relationship Id="rId6" Type="http://schemas.microsoft.com/office/2007/relationships/diagramDrawing" Target="../diagrams/drawing121.xml"/><Relationship Id="rId5" Type="http://schemas.openxmlformats.org/officeDocument/2006/relationships/diagramColors" Target="../diagrams/colors121.xml"/><Relationship Id="rId4" Type="http://schemas.openxmlformats.org/officeDocument/2006/relationships/diagramQuickStyle" Target="../diagrams/quickStyle121.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22.xml"/><Relationship Id="rId2" Type="http://schemas.openxmlformats.org/officeDocument/2006/relationships/diagramData" Target="../diagrams/data122.xml"/><Relationship Id="rId1" Type="http://schemas.openxmlformats.org/officeDocument/2006/relationships/slideLayout" Target="../slideLayouts/slideLayout2.xml"/><Relationship Id="rId6" Type="http://schemas.microsoft.com/office/2007/relationships/diagramDrawing" Target="../diagrams/drawing122.xml"/><Relationship Id="rId5" Type="http://schemas.openxmlformats.org/officeDocument/2006/relationships/diagramColors" Target="../diagrams/colors122.xml"/><Relationship Id="rId4" Type="http://schemas.openxmlformats.org/officeDocument/2006/relationships/diagramQuickStyle" Target="../diagrams/quickStyle122.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123.xml"/><Relationship Id="rId2" Type="http://schemas.openxmlformats.org/officeDocument/2006/relationships/diagramData" Target="../diagrams/data123.xml"/><Relationship Id="rId1" Type="http://schemas.openxmlformats.org/officeDocument/2006/relationships/slideLayout" Target="../slideLayouts/slideLayout2.xml"/><Relationship Id="rId6" Type="http://schemas.microsoft.com/office/2007/relationships/diagramDrawing" Target="../diagrams/drawing123.xml"/><Relationship Id="rId5" Type="http://schemas.openxmlformats.org/officeDocument/2006/relationships/diagramColors" Target="../diagrams/colors123.xml"/><Relationship Id="rId4" Type="http://schemas.openxmlformats.org/officeDocument/2006/relationships/diagramQuickStyle" Target="../diagrams/quickStyle123.xml"/></Relationships>
</file>

<file path=ppt/slides/_rels/slide125.xml.rels><?xml version="1.0" encoding="UTF-8" standalone="yes"?>
<Relationships xmlns="http://schemas.openxmlformats.org/package/2006/relationships"><Relationship Id="rId3" Type="http://schemas.openxmlformats.org/officeDocument/2006/relationships/diagramLayout" Target="../diagrams/layout124.xml"/><Relationship Id="rId2"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4.xml"/><Relationship Id="rId5" Type="http://schemas.openxmlformats.org/officeDocument/2006/relationships/diagramColors" Target="../diagrams/colors124.xml"/><Relationship Id="rId4" Type="http://schemas.openxmlformats.org/officeDocument/2006/relationships/diagramQuickStyle" Target="../diagrams/quickStyle124.xml"/></Relationships>
</file>

<file path=ppt/slides/_rels/slide126.xml.rels><?xml version="1.0" encoding="UTF-8" standalone="yes"?>
<Relationships xmlns="http://schemas.openxmlformats.org/package/2006/relationships"><Relationship Id="rId8" Type="http://schemas.openxmlformats.org/officeDocument/2006/relationships/hyperlink" Target="https://medium.com/accredian/executors-in-apache-airflow-148fadee4992" TargetMode="External"/><Relationship Id="rId13" Type="http://schemas.openxmlformats.org/officeDocument/2006/relationships/hyperlink" Target="https://www.amazon.in/Mastering-Workflow-Management-Apache-Airflow-ebook/dp/B0CW1GM98F/ref=sr_1_1?crid=AHF487SYHE6U&amp;dib=eyJ2IjoiMSJ9._G8rNR7y7WPDYFrhBlvvpQ.rmBWgMcskBVDKdz1OUF36Ng6mos8bvUPGvzeJgZOlVw&amp;dib_tag=se&amp;keywords=Mastering+Workflow+Management+with+Apache+Airflow&amp;qid=1755874377&amp;sprefix=mastering+workflow+management+with+apache+airflow%2Caps%2C423&amp;sr=8-1" TargetMode="External"/><Relationship Id="rId18" Type="http://schemas.openxmlformats.org/officeDocument/2006/relationships/diagramQuickStyle" Target="../diagrams/quickStyle125.xml"/><Relationship Id="rId3" Type="http://schemas.openxmlformats.org/officeDocument/2006/relationships/hyperlink" Target="https://medium.com/@jabbalarajamohan/apache-spark-vs-apache-airflow-choosing-the-right-tool-for-data-pipelines-e0b85bc0b60e" TargetMode="External"/><Relationship Id="rId7" Type="http://schemas.openxmlformats.org/officeDocument/2006/relationships/hyperlink" Target="https://www.linkedin.com/posts/mentorsachin_airflow-shwetank-singh-ugcPost-7350115551500795904-BUso/?utm_source=share&amp;utm_medium=member_desktop&amp;rcm=ACoAADEs2XAB8-7TelfobrMhA9_jxB71Dn4BtW4" TargetMode="External"/><Relationship Id="rId12" Type="http://schemas.openxmlformats.org/officeDocument/2006/relationships/hyperlink" Target="https://www.astronomer.io/ebooks/data-pipelines-with-apache-airflow/" TargetMode="External"/><Relationship Id="rId17" Type="http://schemas.openxmlformats.org/officeDocument/2006/relationships/diagramLayout" Target="../diagrams/layout125.xml"/><Relationship Id="rId2" Type="http://schemas.openxmlformats.org/officeDocument/2006/relationships/hyperlink" Target="https://www.linkedin.com/pulse/exploring-airflow-first-impression-from-seasoned-ssis-prasenjit-das-6byvc/" TargetMode="External"/><Relationship Id="rId16" Type="http://schemas.openxmlformats.org/officeDocument/2006/relationships/diagramData" Target="../diagrams/data125.xml"/><Relationship Id="rId20" Type="http://schemas.microsoft.com/office/2007/relationships/diagramDrawing" Target="../diagrams/drawing125.xml"/><Relationship Id="rId1" Type="http://schemas.openxmlformats.org/officeDocument/2006/relationships/slideLayout" Target="../slideLayouts/slideLayout2.xml"/><Relationship Id="rId6" Type="http://schemas.openxmlformats.org/officeDocument/2006/relationships/hyperlink" Target="https://www.linkedin.com/posts/im-nsk_airflow-dataengineering-activity-7351456870269636608-QK_2/?utm_source=share&amp;utm_medium=member_desktop&amp;rcm=ACoAADEs2XAB8-7TelfobrMhA9_jxB71Dn4BtW4" TargetMode="External"/><Relationship Id="rId11" Type="http://schemas.openxmlformats.org/officeDocument/2006/relationships/hyperlink" Target="https://www.udemy.com/course/apache-airflow-the-operators-guide/?couponCode=MT180825C" TargetMode="External"/><Relationship Id="rId5" Type="http://schemas.openxmlformats.org/officeDocument/2006/relationships/hyperlink" Target="https://www.linkedin.com/pulse/comparing-data-orchestration-tools-comprehensive-look-alwin-augustin/" TargetMode="External"/><Relationship Id="rId15" Type="http://schemas.openxmlformats.org/officeDocument/2006/relationships/hyperlink" Target="https://github.com/PacktPublishing/Apache-Airflow-Best-Practices" TargetMode="External"/><Relationship Id="rId10" Type="http://schemas.openxmlformats.org/officeDocument/2006/relationships/hyperlink" Target="https://www.udemy.com/course/apache-airflow/?couponCode=MT180825C" TargetMode="External"/><Relationship Id="rId19" Type="http://schemas.openxmlformats.org/officeDocument/2006/relationships/diagramColors" Target="../diagrams/colors125.xml"/><Relationship Id="rId4" Type="http://schemas.openxmlformats.org/officeDocument/2006/relationships/hyperlink" Target="https://medium.com/@tonmoysaklain/airflow-vs-apache-flink-c0f24f596130" TargetMode="External"/><Relationship Id="rId9" Type="http://schemas.openxmlformats.org/officeDocument/2006/relationships/hyperlink" Target="https://www.udemy.com/course/the-complete-hands-on-course-to-master-apache-airflow/?couponCode=MT180825C" TargetMode="External"/><Relationship Id="rId14" Type="http://schemas.openxmlformats.org/officeDocument/2006/relationships/hyperlink" Target="https://www.amazon.in/Apache-Airflow-Demystified-Pipelines-Implementation-ebook/dp/B0CW1HL45S" TargetMode="External"/></Relationships>
</file>

<file path=ppt/slides/_rels/slide12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Layout" Target="../diagrams/layout126.xml"/><Relationship Id="rId7" Type="http://schemas.openxmlformats.org/officeDocument/2006/relationships/image" Target="../media/image55.png"/><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5" Type="http://schemas.openxmlformats.org/officeDocument/2006/relationships/diagramColors" Target="../diagrams/colors126.xml"/><Relationship Id="rId4" Type="http://schemas.openxmlformats.org/officeDocument/2006/relationships/diagramQuickStyle" Target="../diagrams/quickStyle126.xml"/></Relationships>
</file>

<file path=ppt/slides/_rels/slide128.xml.rels><?xml version="1.0" encoding="UTF-8" standalone="yes"?>
<Relationships xmlns="http://schemas.openxmlformats.org/package/2006/relationships"><Relationship Id="rId8" Type="http://schemas.openxmlformats.org/officeDocument/2006/relationships/diagramQuickStyle" Target="../diagrams/quickStyle127.xml"/><Relationship Id="rId3" Type="http://schemas.openxmlformats.org/officeDocument/2006/relationships/hyperlink" Target="https://github.com/PacktPublishing/Data-Quality-in-Practice" TargetMode="External"/><Relationship Id="rId7" Type="http://schemas.openxmlformats.org/officeDocument/2006/relationships/diagramLayout" Target="../diagrams/layout127.xml"/><Relationship Id="rId2" Type="http://schemas.openxmlformats.org/officeDocument/2006/relationships/hyperlink" Target="https://www.oreilly.com/library/view/data-quality-fundamentals/9781098112035/" TargetMode="External"/><Relationship Id="rId1" Type="http://schemas.openxmlformats.org/officeDocument/2006/relationships/slideLayout" Target="../slideLayouts/slideLayout2.xml"/><Relationship Id="rId6" Type="http://schemas.openxmlformats.org/officeDocument/2006/relationships/diagramData" Target="../diagrams/data127.xml"/><Relationship Id="rId5" Type="http://schemas.openxmlformats.org/officeDocument/2006/relationships/hyperlink" Target="https://open-metadata.org/" TargetMode="External"/><Relationship Id="rId10" Type="http://schemas.microsoft.com/office/2007/relationships/diagramDrawing" Target="../diagrams/drawing127.xml"/><Relationship Id="rId4" Type="http://schemas.openxmlformats.org/officeDocument/2006/relationships/hyperlink" Target="https://openlineage.io/" TargetMode="External"/><Relationship Id="rId9" Type="http://schemas.openxmlformats.org/officeDocument/2006/relationships/diagramColors" Target="../diagrams/colors127.xm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128.xml"/><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29.xml"/><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5" Type="http://schemas.openxmlformats.org/officeDocument/2006/relationships/diagramColors" Target="../diagrams/colors129.xml"/><Relationship Id="rId4" Type="http://schemas.openxmlformats.org/officeDocument/2006/relationships/diagramQuickStyle" Target="../diagrams/quickStyle129.xml"/></Relationships>
</file>

<file path=ppt/slides/_rels/slide131.xml.rels><?xml version="1.0" encoding="UTF-8" standalone="yes"?>
<Relationships xmlns="http://schemas.openxmlformats.org/package/2006/relationships"><Relationship Id="rId8" Type="http://schemas.openxmlformats.org/officeDocument/2006/relationships/hyperlink" Target="https://grafana.com/docs/grafana/latest/as-code/observability-as-code/" TargetMode="External"/><Relationship Id="rId13" Type="http://schemas.microsoft.com/office/2007/relationships/diagramDrawing" Target="../diagrams/drawing130.xml"/><Relationship Id="rId3" Type="http://schemas.openxmlformats.org/officeDocument/2006/relationships/hyperlink" Target="https://atlan.com/know/data-observability-tools/" TargetMode="External"/><Relationship Id="rId7" Type="http://schemas.openxmlformats.org/officeDocument/2006/relationships/hyperlink" Target="https://www.amazon.in/Data-Observability-Reality-Understand-Why/dp/9355424132" TargetMode="External"/><Relationship Id="rId12" Type="http://schemas.openxmlformats.org/officeDocument/2006/relationships/diagramColors" Target="../diagrams/colors130.xml"/><Relationship Id="rId2" Type="http://schemas.openxmlformats.org/officeDocument/2006/relationships/hyperlink" Target="https://www.montecarlodata.com/blog-pioneering-data-observability-data-code-infrastructure-ai/" TargetMode="External"/><Relationship Id="rId1" Type="http://schemas.openxmlformats.org/officeDocument/2006/relationships/slideLayout" Target="../slideLayouts/slideLayout2.xml"/><Relationship Id="rId6" Type="http://schemas.openxmlformats.org/officeDocument/2006/relationships/hyperlink" Target="https://www.packtpub.com/en-us/product/data-observability-for-data-engineering-9781804612095?srsltid=AfmBOopY7GWpC4MSDZC-zMgKYGyRSXrT6RkICD2Yz8gKq_GQ74NtHlml" TargetMode="External"/><Relationship Id="rId11" Type="http://schemas.openxmlformats.org/officeDocument/2006/relationships/diagramQuickStyle" Target="../diagrams/quickStyle130.xml"/><Relationship Id="rId5" Type="http://schemas.openxmlformats.org/officeDocument/2006/relationships/hyperlink" Target="https://github.com/Fundamentals-of-Data-Observability" TargetMode="External"/><Relationship Id="rId10" Type="http://schemas.openxmlformats.org/officeDocument/2006/relationships/diagramLayout" Target="../diagrams/layout130.xml"/><Relationship Id="rId4" Type="http://schemas.openxmlformats.org/officeDocument/2006/relationships/hyperlink" Target="https://www.bigeye.com/blog/data-observability" TargetMode="External"/><Relationship Id="rId9" Type="http://schemas.openxmlformats.org/officeDocument/2006/relationships/diagramData" Target="../diagrams/data130.xml"/></Relationships>
</file>

<file path=ppt/slides/_rels/slide1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diagramLayout" Target="../diagrams/layout131.xml"/><Relationship Id="rId7" Type="http://schemas.openxmlformats.org/officeDocument/2006/relationships/image" Target="../media/image57.png"/><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5" Type="http://schemas.openxmlformats.org/officeDocument/2006/relationships/diagramColors" Target="../diagrams/colors131.xml"/><Relationship Id="rId4" Type="http://schemas.openxmlformats.org/officeDocument/2006/relationships/diagramQuickStyle" Target="../diagrams/quickStyle131.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132.xml"/><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33.xml"/><Relationship Id="rId7" Type="http://schemas.openxmlformats.org/officeDocument/2006/relationships/image" Target="../media/image59.png"/><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4" Type="http://schemas.openxmlformats.org/officeDocument/2006/relationships/diagramQuickStyle" Target="../diagrams/quickStyle133.xml"/></Relationships>
</file>

<file path=ppt/slides/_rels/slide135.xml.rels><?xml version="1.0" encoding="UTF-8" standalone="yes"?>
<Relationships xmlns="http://schemas.openxmlformats.org/package/2006/relationships"><Relationship Id="rId3" Type="http://schemas.openxmlformats.org/officeDocument/2006/relationships/diagramLayout" Target="../diagrams/layout134.xml"/><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3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diagramLayout" Target="../diagrams/layout135.xml"/><Relationship Id="rId7" Type="http://schemas.openxmlformats.org/officeDocument/2006/relationships/image" Target="../media/image60.png"/><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4" Type="http://schemas.openxmlformats.org/officeDocument/2006/relationships/diagramQuickStyle" Target="../diagrams/quickStyle135.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36.xml"/><Relationship Id="rId7" Type="http://schemas.openxmlformats.org/officeDocument/2006/relationships/image" Target="../media/image62.png"/><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5" Type="http://schemas.openxmlformats.org/officeDocument/2006/relationships/diagramColors" Target="../diagrams/colors136.xml"/><Relationship Id="rId4" Type="http://schemas.openxmlformats.org/officeDocument/2006/relationships/diagramQuickStyle" Target="../diagrams/quickStyle136.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137.xml"/><Relationship Id="rId7" Type="http://schemas.openxmlformats.org/officeDocument/2006/relationships/image" Target="../media/image63.png"/><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5" Type="http://schemas.openxmlformats.org/officeDocument/2006/relationships/diagramColors" Target="../diagrams/colors137.xml"/><Relationship Id="rId4" Type="http://schemas.openxmlformats.org/officeDocument/2006/relationships/diagramQuickStyle" Target="../diagrams/quickStyle137.xml"/></Relationships>
</file>

<file path=ppt/slides/_rels/slide139.xml.rels><?xml version="1.0" encoding="UTF-8" standalone="yes"?>
<Relationships xmlns="http://schemas.openxmlformats.org/package/2006/relationships"><Relationship Id="rId8" Type="http://schemas.openxmlformats.org/officeDocument/2006/relationships/hyperlink" Target="https://fluentmigrator.github.io/" TargetMode="External"/><Relationship Id="rId13" Type="http://schemas.openxmlformats.org/officeDocument/2006/relationships/hyperlink" Target="https://www.amazon.in/Practical-Data-Migration-Johny-Morris/dp/1780175140/ref=mp_s_a_1_1" TargetMode="External"/><Relationship Id="rId3" Type="http://schemas.openxmlformats.org/officeDocument/2006/relationships/diagramLayout" Target="../diagrams/layout138.xml"/><Relationship Id="rId7" Type="http://schemas.openxmlformats.org/officeDocument/2006/relationships/hyperlink" Target="https://blogs.opentext.com/the-secret-sauce-of-the-document-migration-process/" TargetMode="External"/><Relationship Id="rId12" Type="http://schemas.openxmlformats.org/officeDocument/2006/relationships/hyperlink" Target="https://learn.microsoft.com/en-us/sql/relational-databases/backup-restore/back-up-and-restore-of-sql-server-databases?view=sql-server-ver16&amp;viewFallbackFrom=sql-server" TargetMode="External"/><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11" Type="http://schemas.openxmlformats.org/officeDocument/2006/relationships/hyperlink" Target="https://www.metisdata.io/blog/the-essential-guide-to-database-backup-tips-strategies" TargetMode="External"/><Relationship Id="rId5" Type="http://schemas.openxmlformats.org/officeDocument/2006/relationships/diagramColors" Target="../diagrams/colors138.xml"/><Relationship Id="rId10" Type="http://schemas.openxmlformats.org/officeDocument/2006/relationships/hyperlink" Target="https://aws.amazon.com/dms/" TargetMode="External"/><Relationship Id="rId4" Type="http://schemas.openxmlformats.org/officeDocument/2006/relationships/diagramQuickStyle" Target="../diagrams/quickStyle138.xml"/><Relationship Id="rId9" Type="http://schemas.openxmlformats.org/officeDocument/2006/relationships/hyperlink" Target="https://azure.microsoft.com/en-us/products/database-migration" TargetMode="External"/><Relationship Id="rId14" Type="http://schemas.openxmlformats.org/officeDocument/2006/relationships/hyperlink" Target="https://learn.microsoft.com/en-us/sql/relational-databases/backup-restore/back-up-and-restore-of-sql-server-databases?view=sql-server-ver16https://solutionsreview.com/backup-disaster-recovery/best-backup-recovery-books/" TargetMode="Externa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39.xml"/><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5" Type="http://schemas.openxmlformats.org/officeDocument/2006/relationships/diagramColors" Target="../diagrams/colors139.xml"/><Relationship Id="rId4" Type="http://schemas.openxmlformats.org/officeDocument/2006/relationships/diagramQuickStyle" Target="../diagrams/quickStyle139.xml"/></Relationships>
</file>

<file path=ppt/slides/_rels/slide14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diagramLayout" Target="../diagrams/layout140.xml"/><Relationship Id="rId7" Type="http://schemas.openxmlformats.org/officeDocument/2006/relationships/image" Target="../media/image64.png"/><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42.xml.rels><?xml version="1.0" encoding="UTF-8" standalone="yes"?>
<Relationships xmlns="http://schemas.openxmlformats.org/package/2006/relationships"><Relationship Id="rId3" Type="http://schemas.openxmlformats.org/officeDocument/2006/relationships/diagramLayout" Target="../diagrams/layout141.xml"/><Relationship Id="rId2" Type="http://schemas.openxmlformats.org/officeDocument/2006/relationships/diagramData" Target="../diagrams/data141.xml"/><Relationship Id="rId1" Type="http://schemas.openxmlformats.org/officeDocument/2006/relationships/slideLayout" Target="../slideLayouts/slideLayout2.xml"/><Relationship Id="rId6" Type="http://schemas.microsoft.com/office/2007/relationships/diagramDrawing" Target="../diagrams/drawing141.xml"/><Relationship Id="rId5" Type="http://schemas.openxmlformats.org/officeDocument/2006/relationships/diagramColors" Target="../diagrams/colors141.xml"/><Relationship Id="rId4" Type="http://schemas.openxmlformats.org/officeDocument/2006/relationships/diagramQuickStyle" Target="../diagrams/quickStyle141.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42.xml"/><Relationship Id="rId2" Type="http://schemas.openxmlformats.org/officeDocument/2006/relationships/diagramData" Target="../diagrams/data142.xml"/><Relationship Id="rId1" Type="http://schemas.openxmlformats.org/officeDocument/2006/relationships/slideLayout" Target="../slideLayouts/slideLayout2.xml"/><Relationship Id="rId6" Type="http://schemas.microsoft.com/office/2007/relationships/diagramDrawing" Target="../diagrams/drawing142.xml"/><Relationship Id="rId5" Type="http://schemas.openxmlformats.org/officeDocument/2006/relationships/diagramColors" Target="../diagrams/colors142.xml"/><Relationship Id="rId4" Type="http://schemas.openxmlformats.org/officeDocument/2006/relationships/diagramQuickStyle" Target="../diagrams/quickStyle142.xml"/></Relationships>
</file>

<file path=ppt/slides/_rels/slide144.xml.rels><?xml version="1.0" encoding="UTF-8" standalone="yes"?>
<Relationships xmlns="http://schemas.openxmlformats.org/package/2006/relationships"><Relationship Id="rId8" Type="http://schemas.openxmlformats.org/officeDocument/2006/relationships/hyperlink" Target="https://stackoverflow.com/questions/27307169/what-are-probabilistic-data-structures" TargetMode="External"/><Relationship Id="rId13" Type="http://schemas.openxmlformats.org/officeDocument/2006/relationships/hyperlink" Target="https://www.amazon.in/Algorithms-Data-Structures-Massive-Datasets-ebook/dp/B099J942ZJ" TargetMode="External"/><Relationship Id="rId18" Type="http://schemas.openxmlformats.org/officeDocument/2006/relationships/hyperlink" Target="https://courses.cs.duke.edu/cps238/fall01/" TargetMode="External"/><Relationship Id="rId3" Type="http://schemas.openxmlformats.org/officeDocument/2006/relationships/diagramLayout" Target="../diagrams/layout143.xml"/><Relationship Id="rId21" Type="http://schemas.openxmlformats.org/officeDocument/2006/relationships/hyperlink" Target="https://www.rasmuspagh.net/papers/external.pdf" TargetMode="External"/><Relationship Id="rId7" Type="http://schemas.openxmlformats.org/officeDocument/2006/relationships/hyperlink" Target="https://www.geeksforgeeks.org/introduction-to-the-probabilistic-data-structure/" TargetMode="External"/><Relationship Id="rId12" Type="http://schemas.openxmlformats.org/officeDocument/2006/relationships/hyperlink" Target="https://redis.io/docs/latest/develop/data-types/probabilistic/" TargetMode="External"/><Relationship Id="rId17" Type="http://schemas.openxmlformats.org/officeDocument/2006/relationships/hyperlink" Target="https://raw.githubusercontent.com/SSoelvsten/slides/out/io_efficient_computation.pdf" TargetMode="External"/><Relationship Id="rId2" Type="http://schemas.openxmlformats.org/officeDocument/2006/relationships/diagramData" Target="../diagrams/data143.xml"/><Relationship Id="rId16" Type="http://schemas.openxmlformats.org/officeDocument/2006/relationships/hyperlink" Target="https://en.wikipedia.org/wiki/Category:Probabilistic_data_structures" TargetMode="External"/><Relationship Id="rId20" Type="http://schemas.openxmlformats.org/officeDocument/2006/relationships/hyperlink" Target="https://courses.csail.mit.edu/6.897/spring05/lec/lec23.pdf" TargetMode="External"/><Relationship Id="rId1" Type="http://schemas.openxmlformats.org/officeDocument/2006/relationships/slideLayout" Target="../slideLayouts/slideLayout2.xml"/><Relationship Id="rId6" Type="http://schemas.microsoft.com/office/2007/relationships/diagramDrawing" Target="../diagrams/drawing143.xml"/><Relationship Id="rId11" Type="http://schemas.openxmlformats.org/officeDocument/2006/relationships/hyperlink" Target="https://blog.devgenius.io/advance-data-structures-for-data-engineering-part-ii-71e9901f1b3d" TargetMode="External"/><Relationship Id="rId5" Type="http://schemas.openxmlformats.org/officeDocument/2006/relationships/diagramColors" Target="../diagrams/colors143.xml"/><Relationship Id="rId15" Type="http://schemas.openxmlformats.org/officeDocument/2006/relationships/hyperlink" Target="https://www.amazon.in/Probabilistic-Structures-Blockchain-Based-Internet-Applications/dp/0367529947" TargetMode="External"/><Relationship Id="rId10" Type="http://schemas.openxmlformats.org/officeDocument/2006/relationships/hyperlink" Target="https://medium.com/@tech.anikghosh/probabilistic-data-structures-db5d238008eb" TargetMode="External"/><Relationship Id="rId19" Type="http://schemas.openxmlformats.org/officeDocument/2006/relationships/hyperlink" Target="https://en.wikipedia.org/wiki/External_memory_algorithm" TargetMode="External"/><Relationship Id="rId4" Type="http://schemas.openxmlformats.org/officeDocument/2006/relationships/diagramQuickStyle" Target="../diagrams/quickStyle143.xml"/><Relationship Id="rId9" Type="http://schemas.openxmlformats.org/officeDocument/2006/relationships/hyperlink" Target="https://towardsdatascience.com/probabilistic-data-structures-decoded-enhancing-performance-in-modern-computing-17f700e6ea47" TargetMode="External"/><Relationship Id="rId14" Type="http://schemas.openxmlformats.org/officeDocument/2006/relationships/hyperlink" Target="https://www.amazon.in/Probabilistic-Data-Structures-Algorithms-Applications-ebook/dp/B07MYKTY8W" TargetMode="External"/><Relationship Id="rId22" Type="http://schemas.openxmlformats.org/officeDocument/2006/relationships/hyperlink" Target="https://courses.cs.duke.edu/fall05/cps130/lectures/vitter.papers/Vit.IO_survey.pdf"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5883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7899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186562403"/>
              </p:ext>
            </p:extLst>
          </p:nvPr>
        </p:nvGraphicFramePr>
        <p:xfrm>
          <a:off x="275300" y="761999"/>
          <a:ext cx="8716300" cy="1738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973677042"/>
              </p:ext>
            </p:extLst>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0" y="762000"/>
            <a:ext cx="8624937"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r>
              <a:rPr lang="en-US" sz="1500" kern="0" spc="-80" dirty="0">
                <a:solidFill>
                  <a:schemeClr val="accent2"/>
                </a:solidFill>
              </a:rPr>
              <a:t>Selecting DBs(for Polyglot Persistence) based on DB Relationships[Discussion] – </a:t>
            </a:r>
          </a:p>
          <a:p>
            <a:pPr marL="12700" marR="5080"/>
            <a:r>
              <a:rPr lang="en-US" sz="1500" kern="0" spc="-80" dirty="0">
                <a:solidFill>
                  <a:schemeClr val="accent6"/>
                </a:solidFill>
              </a:rPr>
              <a:t>   One-to-One &amp; One-to-Many(&amp; Data Locality)</a:t>
            </a:r>
          </a:p>
          <a:p>
            <a:pPr marL="12700" marR="5080"/>
            <a:r>
              <a:rPr lang="en-US" sz="1500" kern="0" spc="-80" dirty="0">
                <a:solidFill>
                  <a:schemeClr val="accent6"/>
                </a:solidFill>
              </a:rPr>
              <a:t>   Many-to-Many</a:t>
            </a:r>
          </a:p>
          <a:p>
            <a:pPr marL="12700" marR="5080"/>
            <a:r>
              <a:rPr lang="en-US" sz="2400" kern="0" spc="-80" dirty="0">
                <a:solidFill>
                  <a:schemeClr val="accent2"/>
                </a:solidFill>
              </a:rPr>
              <a:t>  </a:t>
            </a:r>
            <a:r>
              <a:rPr lang="en-US" sz="1500" kern="0" spc="-80" dirty="0">
                <a:solidFill>
                  <a:schemeClr val="accent2"/>
                </a:solidFill>
              </a:rPr>
              <a:t>SQL vs </a:t>
            </a:r>
            <a:r>
              <a:rPr lang="en-US" sz="1500" kern="0" spc="-80" dirty="0" err="1">
                <a:solidFill>
                  <a:schemeClr val="accent2"/>
                </a:solidFill>
              </a:rPr>
              <a:t>NoSql</a:t>
            </a:r>
            <a:r>
              <a:rPr lang="en-US" sz="1500" kern="0" spc="-80" dirty="0">
                <a:solidFill>
                  <a:schemeClr val="accent2"/>
                </a:solidFill>
              </a:rPr>
              <a:t> vs </a:t>
            </a:r>
            <a:r>
              <a:rPr lang="en-US" sz="1500" kern="0" spc="-80" dirty="0" err="1">
                <a:solidFill>
                  <a:schemeClr val="accent2"/>
                </a:solidFill>
              </a:rPr>
              <a:t>NewSql</a:t>
            </a:r>
            <a:r>
              <a:rPr lang="en-US" sz="1500" kern="0" spc="-80" dirty="0">
                <a:solidFill>
                  <a:schemeClr val="accent2"/>
                </a:solidFill>
              </a:rPr>
              <a:t>(a new RDBMS type)</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537AB36C-0498-78E3-3921-D49808B5333D}"/>
              </a:ext>
            </a:extLst>
          </p:cNvPr>
          <p:cNvPicPr>
            <a:picLocks noChangeAspect="1"/>
          </p:cNvPicPr>
          <p:nvPr/>
        </p:nvPicPr>
        <p:blipFill>
          <a:blip r:embed="rId7"/>
          <a:stretch>
            <a:fillRect/>
          </a:stretch>
        </p:blipFill>
        <p:spPr>
          <a:xfrm>
            <a:off x="101143" y="1927192"/>
            <a:ext cx="8890457" cy="2523116"/>
          </a:xfrm>
          <a:prstGeom prst="rect">
            <a:avLst/>
          </a:prstGeom>
        </p:spPr>
      </p:pic>
      <p:sp>
        <p:nvSpPr>
          <p:cNvPr id="9" name="object 2">
            <a:extLst>
              <a:ext uri="{FF2B5EF4-FFF2-40B4-BE49-F238E27FC236}">
                <a16:creationId xmlns:a16="http://schemas.microsoft.com/office/drawing/2014/main" id="{7EBBC761-FE2B-C696-7F26-1AB061D43FD5}"/>
              </a:ext>
            </a:extLst>
          </p:cNvPr>
          <p:cNvSpPr txBox="1">
            <a:spLocks/>
          </p:cNvSpPr>
          <p:nvPr/>
        </p:nvSpPr>
        <p:spPr>
          <a:xfrm>
            <a:off x="152400" y="4466272"/>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Key Value </a:t>
            </a:r>
            <a:r>
              <a:rPr lang="en-US" sz="1600" kern="0" spc="-80" dirty="0">
                <a:solidFill>
                  <a:schemeClr val="accent6"/>
                </a:solidFill>
              </a:rPr>
              <a:t>– Mainly used for Application Cache or Session data</a:t>
            </a:r>
          </a:p>
          <a:p>
            <a:pPr marL="12700" marR="5080"/>
            <a:endParaRPr lang="en-US" sz="1600" kern="0" spc="-80" dirty="0">
              <a:solidFill>
                <a:schemeClr val="accent6"/>
              </a:solidFill>
            </a:endParaRPr>
          </a:p>
          <a:p>
            <a:pPr marL="12700" marR="5080"/>
            <a:r>
              <a:rPr lang="en-US" sz="1600" kern="0" spc="-80" dirty="0">
                <a:solidFill>
                  <a:schemeClr val="accent2"/>
                </a:solidFill>
              </a:rPr>
              <a:t>Document DB </a:t>
            </a:r>
            <a:r>
              <a:rPr lang="en-US" sz="1600" kern="0" spc="-80" dirty="0">
                <a:solidFill>
                  <a:schemeClr val="accent6"/>
                </a:solidFill>
              </a:rPr>
              <a:t>–In DDD terms, it seems if the relation is between some entity &amp; value object(s) &amp; it’s 1-to-1 or 1-to-many, then we can go for using such DB but else better to go with RDBMS(else the docs may have repetitive/redundant data).Also mind it, each doc has size limitations &amp; the docs collection as well has size limitations.</a:t>
            </a:r>
          </a:p>
        </p:txBody>
      </p:sp>
    </p:spTree>
    <p:extLst>
      <p:ext uri="{BB962C8B-B14F-4D97-AF65-F5344CB8AC3E}">
        <p14:creationId xmlns:p14="http://schemas.microsoft.com/office/powerpoint/2010/main" val="2171757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152400" y="609600"/>
            <a:ext cx="8624937" cy="58939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NoSql</a:t>
            </a:r>
            <a:r>
              <a:rPr lang="en-US" sz="2400" kern="0" spc="-80" dirty="0">
                <a:solidFill>
                  <a:schemeClr val="accent2"/>
                </a:solidFill>
              </a:rPr>
              <a:t> Types – </a:t>
            </a:r>
          </a:p>
          <a:p>
            <a:pPr marL="12700" marR="5080"/>
            <a:r>
              <a:rPr lang="en-US" sz="1300" kern="0" spc="-80" dirty="0">
                <a:solidFill>
                  <a:schemeClr val="accent2"/>
                </a:solidFill>
              </a:rPr>
              <a:t>Columnar DBs </a:t>
            </a:r>
            <a:r>
              <a:rPr lang="en-US" sz="1300" kern="0" spc="-80" dirty="0">
                <a:solidFill>
                  <a:schemeClr val="accent6"/>
                </a:solidFill>
              </a:rPr>
              <a:t>–</a:t>
            </a:r>
          </a:p>
          <a:p>
            <a:pPr marL="12700" marR="5080"/>
            <a:r>
              <a:rPr lang="en-US" sz="1300" kern="0" spc="-80" dirty="0">
                <a:solidFill>
                  <a:schemeClr val="accent6"/>
                </a:solidFill>
              </a:rPr>
              <a:t>DWs using Facts &amp; Dimensions[usually denormalized] [Discussion]</a:t>
            </a:r>
          </a:p>
          <a:p>
            <a:pPr marL="12700" marR="5080"/>
            <a:r>
              <a:rPr lang="en-US" sz="1300" kern="0" spc="-80" dirty="0">
                <a:solidFill>
                  <a:schemeClr val="accent6"/>
                </a:solidFill>
              </a:rPr>
              <a:t>Relational &amp; Modern DWs based on Row and Column Oriented DBs[Discussion]</a:t>
            </a:r>
          </a:p>
          <a:p>
            <a:pPr marL="12700" marR="5080"/>
            <a:endParaRPr lang="en-US" sz="1300" kern="0" spc="-80" dirty="0">
              <a:solidFill>
                <a:schemeClr val="accent6"/>
              </a:solidFill>
            </a:endParaRPr>
          </a:p>
          <a:p>
            <a:pPr marL="12700" marR="5080"/>
            <a:r>
              <a:rPr lang="en-US" sz="1300" kern="0" spc="-80" dirty="0" err="1">
                <a:solidFill>
                  <a:schemeClr val="accent2"/>
                </a:solidFill>
              </a:rPr>
              <a:t>Spatio</a:t>
            </a:r>
            <a:r>
              <a:rPr lang="en-US" sz="1300" kern="0" spc="-80" dirty="0">
                <a:solidFill>
                  <a:schemeClr val="accent2"/>
                </a:solidFill>
              </a:rPr>
              <a:t>- Temporal DBs </a:t>
            </a:r>
            <a:r>
              <a:rPr lang="en-US" sz="1300" kern="0" spc="-80" dirty="0">
                <a:solidFill>
                  <a:schemeClr val="accent6"/>
                </a:solidFill>
              </a:rPr>
              <a:t>– For this, </a:t>
            </a:r>
            <a:r>
              <a:rPr lang="en-US" sz="1300" kern="0" spc="-80" dirty="0" err="1">
                <a:solidFill>
                  <a:schemeClr val="accent6"/>
                </a:solidFill>
              </a:rPr>
              <a:t>PostGresSQL</a:t>
            </a:r>
            <a:r>
              <a:rPr lang="en-US" sz="1300" kern="0" spc="-80" dirty="0">
                <a:solidFill>
                  <a:schemeClr val="accent6"/>
                </a:solidFill>
              </a:rPr>
              <a:t>/</a:t>
            </a:r>
            <a:r>
              <a:rPr lang="en-US" sz="1300" kern="0" spc="-80" dirty="0" err="1">
                <a:solidFill>
                  <a:schemeClr val="accent6"/>
                </a:solidFill>
              </a:rPr>
              <a:t>PostGIS</a:t>
            </a:r>
            <a:r>
              <a:rPr lang="en-US" sz="1300" kern="0" spc="-80" dirty="0">
                <a:solidFill>
                  <a:schemeClr val="accent6"/>
                </a:solidFill>
              </a:rPr>
              <a:t> is a good general purpose option while </a:t>
            </a:r>
            <a:r>
              <a:rPr lang="en-US" sz="1300" kern="0" spc="-80" dirty="0" err="1">
                <a:solidFill>
                  <a:schemeClr val="accent6"/>
                </a:solidFill>
              </a:rPr>
              <a:t>GeoMesa</a:t>
            </a:r>
            <a:r>
              <a:rPr lang="en-US" sz="1300" kern="0" spc="-80" dirty="0">
                <a:solidFill>
                  <a:schemeClr val="accent6"/>
                </a:solidFill>
              </a:rPr>
              <a:t> &amp; other specialized options(e.g. </a:t>
            </a:r>
            <a:r>
              <a:rPr lang="en-US" sz="1300" kern="0" spc="-80" dirty="0" err="1">
                <a:solidFill>
                  <a:schemeClr val="accent6"/>
                </a:solidFill>
              </a:rPr>
              <a:t>SpaceTime</a:t>
            </a:r>
            <a:r>
              <a:rPr lang="en-US" sz="1300" kern="0" spc="-80" dirty="0">
                <a:solidFill>
                  <a:schemeClr val="accent6"/>
                </a:solidFill>
              </a:rPr>
              <a:t>) offer advantages for very large datasets or specific analytical requirements.</a:t>
            </a:r>
          </a:p>
          <a:p>
            <a:pPr marL="12700" marR="5080"/>
            <a:endParaRPr lang="en-US" sz="1300" kern="0" spc="-80" dirty="0">
              <a:solidFill>
                <a:schemeClr val="accent6"/>
              </a:solidFill>
            </a:endParaRPr>
          </a:p>
          <a:p>
            <a:pPr marL="12700" marR="5080"/>
            <a:r>
              <a:rPr lang="en-US" sz="1300" kern="0" spc="-80" dirty="0">
                <a:solidFill>
                  <a:schemeClr val="accent2"/>
                </a:solidFill>
              </a:rPr>
              <a:t>Graph DB </a:t>
            </a:r>
            <a:r>
              <a:rPr lang="en-US" sz="1300" kern="0" spc="-80" dirty="0">
                <a:solidFill>
                  <a:schemeClr val="accent6"/>
                </a:solidFill>
              </a:rPr>
              <a:t>– Can be mainly used for </a:t>
            </a:r>
            <a:r>
              <a:rPr lang="en-US" sz="1300" kern="0" spc="-80" dirty="0">
                <a:solidFill>
                  <a:schemeClr val="accent6"/>
                </a:solidFill>
                <a:highlight>
                  <a:srgbClr val="FFFF00"/>
                </a:highlight>
              </a:rPr>
              <a:t>Semantic Data Modelling</a:t>
            </a:r>
            <a:r>
              <a:rPr lang="en-US" sz="1300" kern="0" spc="-80" dirty="0">
                <a:solidFill>
                  <a:schemeClr val="accent6"/>
                </a:solidFill>
              </a:rPr>
              <a:t> i.e. modelling data not only to show the data but also its meaning via relationship between data e.g. sequential data(e.g. DNA sequences or to store the relationship between words/sentences </a:t>
            </a:r>
            <a:r>
              <a:rPr lang="en-US" sz="1300" kern="0" spc="-80" dirty="0" err="1">
                <a:solidFill>
                  <a:schemeClr val="accent6"/>
                </a:solidFill>
              </a:rPr>
              <a:t>etc</a:t>
            </a:r>
            <a:r>
              <a:rPr lang="en-US" sz="1300" kern="0" spc="-80" dirty="0">
                <a:solidFill>
                  <a:schemeClr val="accent6"/>
                </a:solidFill>
              </a:rPr>
              <a:t> in text[this technique is heavily used in Natural Language Processing]), hierarchical data or some other complex relational data as well</a:t>
            </a:r>
          </a:p>
          <a:p>
            <a:pPr marL="12700" marR="5080"/>
            <a:r>
              <a:rPr lang="en-US" sz="1300" kern="0" spc="-80" dirty="0">
                <a:solidFill>
                  <a:schemeClr val="accent6"/>
                </a:solidFill>
              </a:rPr>
              <a:t>      </a:t>
            </a:r>
          </a:p>
          <a:p>
            <a:pPr marL="12700" marR="5080"/>
            <a:r>
              <a:rPr lang="en-US" sz="1200" kern="0" spc="-80" dirty="0">
                <a:solidFill>
                  <a:schemeClr val="accent2"/>
                </a:solidFill>
              </a:rPr>
              <a:t>(Multi-Modal) Search DB </a:t>
            </a:r>
            <a:r>
              <a:rPr lang="en-US" sz="1200" kern="0" spc="-80" dirty="0">
                <a:solidFill>
                  <a:schemeClr val="accent6"/>
                </a:solidFill>
              </a:rPr>
              <a:t>– Mainly used for (multi-modal[text/images/videos]) search. State-Of-The-Art technique is to use Embeddings based Vector </a:t>
            </a:r>
            <a:r>
              <a:rPr lang="en-US" sz="1200" kern="0" spc="-80" dirty="0" err="1">
                <a:solidFill>
                  <a:schemeClr val="accent6"/>
                </a:solidFill>
              </a:rPr>
              <a:t>DBs.</a:t>
            </a:r>
            <a:endParaRPr lang="en-US" sz="12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tx2">
                    <a:lumMod val="60000"/>
                    <a:lumOff val="40000"/>
                  </a:schemeClr>
                </a:solidFill>
              </a:rPr>
              <a:t>N.B.-&gt; For Many-to-Many DB relationships better to opt for an RDBMS(preferably </a:t>
            </a:r>
            <a:r>
              <a:rPr lang="en-US" sz="1300" kern="0" spc="-80" dirty="0" err="1">
                <a:solidFill>
                  <a:schemeClr val="tx2">
                    <a:lumMod val="60000"/>
                    <a:lumOff val="40000"/>
                  </a:schemeClr>
                </a:solidFill>
              </a:rPr>
              <a:t>NewSql</a:t>
            </a:r>
            <a:r>
              <a:rPr lang="en-US" sz="1300" kern="0" spc="-80" dirty="0">
                <a:solidFill>
                  <a:schemeClr val="tx2">
                    <a:lumMod val="60000"/>
                    <a:lumOff val="40000"/>
                  </a:schemeClr>
                </a:solidFill>
              </a:rPr>
              <a:t> based) since in this case no much point of having cross data locality using Document DB(in-fact that ultimately leads to worse performance &amp; worse maintainability).</a:t>
            </a:r>
          </a:p>
          <a:p>
            <a:pPr marL="12700" marR="5080"/>
            <a:endParaRPr lang="en-US" sz="1300" kern="0" spc="-80" dirty="0">
              <a:solidFill>
                <a:schemeClr val="tx2">
                  <a:lumMod val="60000"/>
                  <a:lumOff val="40000"/>
                </a:schemeClr>
              </a:solidFill>
            </a:endParaRPr>
          </a:p>
          <a:p>
            <a:pPr marL="12700" marR="5080"/>
            <a:r>
              <a:rPr lang="en-US" sz="1300" kern="0" spc="-80" dirty="0">
                <a:solidFill>
                  <a:schemeClr val="tx2">
                    <a:lumMod val="60000"/>
                    <a:lumOff val="40000"/>
                  </a:schemeClr>
                </a:solidFill>
              </a:rPr>
              <a:t> </a:t>
            </a:r>
            <a:r>
              <a:rPr lang="en-US" sz="1500" kern="0" spc="-80" dirty="0">
                <a:solidFill>
                  <a:schemeClr val="accent2"/>
                </a:solidFill>
              </a:rPr>
              <a:t>For Further Exploration – </a:t>
            </a:r>
          </a:p>
          <a:p>
            <a:pPr marL="12700" marR="5080"/>
            <a:r>
              <a:rPr lang="en-US" sz="1500" kern="0" spc="-80" dirty="0">
                <a:solidFill>
                  <a:schemeClr val="accent2"/>
                </a:solidFill>
              </a:rPr>
              <a:t> </a:t>
            </a:r>
            <a:r>
              <a:rPr lang="en-IN" sz="1050" dirty="0">
                <a:hlinkClick r:id="rId2"/>
              </a:rPr>
              <a:t>Which DB to use ?</a:t>
            </a:r>
            <a:endParaRPr lang="en-IN" sz="1050" dirty="0"/>
          </a:p>
          <a:p>
            <a:pPr marL="12700" marR="5080"/>
            <a:r>
              <a:rPr lang="en-IN" sz="1050" dirty="0"/>
              <a:t> </a:t>
            </a:r>
            <a:r>
              <a:rPr lang="en-US" sz="1050" dirty="0">
                <a:hlinkClick r:id="rId3"/>
              </a:rPr>
              <a:t>In Memory Data Structures Representations In DB</a:t>
            </a:r>
            <a:endParaRPr lang="en-IN" sz="1050" dirty="0"/>
          </a:p>
          <a:p>
            <a:pPr marL="12700" marR="5080"/>
            <a:r>
              <a:rPr lang="en-IN" sz="1050" dirty="0"/>
              <a:t> </a:t>
            </a:r>
            <a:r>
              <a:rPr lang="en-US" sz="1050" dirty="0">
                <a:hlinkClick r:id="rId4"/>
              </a:rPr>
              <a:t>Time Series Databases - everything you need to know</a:t>
            </a:r>
            <a:endParaRPr lang="en-US" sz="1050" dirty="0"/>
          </a:p>
          <a:p>
            <a:pPr marL="12700" marR="5080"/>
            <a:r>
              <a:rPr lang="en-US" sz="1000" kern="0" spc="-80" dirty="0">
                <a:solidFill>
                  <a:schemeClr val="accent2"/>
                </a:solidFill>
              </a:rPr>
              <a:t> </a:t>
            </a:r>
            <a:r>
              <a:rPr lang="en-US" sz="1000" dirty="0">
                <a:hlinkClick r:id="rId5"/>
              </a:rPr>
              <a:t>Time Series Database - Amazon Timestream – AWS</a:t>
            </a:r>
            <a:endParaRPr lang="en-US" sz="1000" dirty="0"/>
          </a:p>
          <a:p>
            <a:pPr marL="12700" marR="5080"/>
            <a:r>
              <a:rPr lang="en-US" sz="1000" dirty="0"/>
              <a:t> </a:t>
            </a:r>
            <a:r>
              <a:rPr lang="en-IN" sz="1000" dirty="0" err="1">
                <a:hlinkClick r:id="rId6"/>
              </a:rPr>
              <a:t>MetricsDB</a:t>
            </a:r>
            <a:r>
              <a:rPr lang="en-IN" sz="1000" dirty="0">
                <a:hlinkClick r:id="rId6"/>
              </a:rPr>
              <a:t>: </a:t>
            </a:r>
            <a:r>
              <a:rPr lang="en-IN" sz="1000" dirty="0" err="1">
                <a:hlinkClick r:id="rId6"/>
              </a:rPr>
              <a:t>TimeSeries</a:t>
            </a:r>
            <a:r>
              <a:rPr lang="en-IN" sz="1000" dirty="0">
                <a:hlinkClick r:id="rId6"/>
              </a:rPr>
              <a:t> Database for storing metrics at Twitter</a:t>
            </a:r>
            <a:endParaRPr lang="en-IN" sz="1000" dirty="0"/>
          </a:p>
          <a:p>
            <a:pPr marL="12700" marR="5080"/>
            <a:r>
              <a:rPr lang="en-IN" sz="1000" dirty="0"/>
              <a:t> </a:t>
            </a:r>
            <a:r>
              <a:rPr lang="en-IN" sz="1000" dirty="0">
                <a:hlinkClick r:id="rId7"/>
              </a:rPr>
              <a:t>CRUD Database - Amazon Quantum Ledger Database (QLDB) - AWS</a:t>
            </a:r>
            <a:r>
              <a:rPr lang="en-US" sz="1000" kern="0" spc="-80" dirty="0">
                <a:solidFill>
                  <a:schemeClr val="accent2"/>
                </a:solidFill>
              </a:rPr>
              <a:t>   </a:t>
            </a:r>
          </a:p>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graphicFrame>
        <p:nvGraphicFramePr>
          <p:cNvPr id="9" name="Diagram 8">
            <a:extLst>
              <a:ext uri="{FF2B5EF4-FFF2-40B4-BE49-F238E27FC236}">
                <a16:creationId xmlns:a16="http://schemas.microsoft.com/office/drawing/2014/main" id="{11C23259-BD91-7D3D-2598-77D4BE7B74DD}"/>
              </a:ext>
            </a:extLst>
          </p:cNvPr>
          <p:cNvGraphicFramePr/>
          <p:nvPr>
            <p:extLst>
              <p:ext uri="{D42A27DB-BD31-4B8C-83A1-F6EECF244321}">
                <p14:modId xmlns:p14="http://schemas.microsoft.com/office/powerpoint/2010/main" val="2515565348"/>
              </p:ext>
            </p:extLst>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10399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7126D-A4A0-6D83-052A-7621A52902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E929E8-F448-A731-5C54-98B0ED238B4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DD3E8D8-FAE9-F4D7-5854-754CA11AB2A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E54D7A-4C78-EB65-4E9D-C2C322216161}"/>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480D1D3-AB03-BDB8-B0F7-0B6B4FCEF2D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E7AFD26-0261-8CC7-D00D-5E69E941B5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B0C2C112-37BF-2371-EA6D-F62F6CAD4D4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E880955-0DE8-9995-DB73-800E22EF6D84}"/>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EB76C1-32F7-9BF7-EEC2-2F6106F07DD1}"/>
              </a:ext>
            </a:extLst>
          </p:cNvPr>
          <p:cNvSpPr txBox="1">
            <a:spLocks/>
          </p:cNvSpPr>
          <p:nvPr/>
        </p:nvSpPr>
        <p:spPr>
          <a:xfrm>
            <a:off x="76200" y="762000"/>
            <a:ext cx="8624937" cy="8002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Data modeling progresses through three main stages: Conceptual (high-level business view), Logical (structured, platform-independent) and Physical (specific technical implementation). Conceptual defines "what" data is needed, logical organizes attributes and relationships, and physical defines "how" it's stored using specific technology, indexes, and constraints.</a:t>
            </a:r>
          </a:p>
        </p:txBody>
      </p:sp>
      <p:pic>
        <p:nvPicPr>
          <p:cNvPr id="10" name="Picture 9">
            <a:extLst>
              <a:ext uri="{FF2B5EF4-FFF2-40B4-BE49-F238E27FC236}">
                <a16:creationId xmlns:a16="http://schemas.microsoft.com/office/drawing/2014/main" id="{C209A1D6-6D2C-F6E7-606D-F93543C9F3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561875"/>
            <a:ext cx="9005937" cy="4381725"/>
          </a:xfrm>
          <a:prstGeom prst="rect">
            <a:avLst/>
          </a:prstGeom>
        </p:spPr>
      </p:pic>
    </p:spTree>
    <p:extLst>
      <p:ext uri="{BB962C8B-B14F-4D97-AF65-F5344CB8AC3E}">
        <p14:creationId xmlns:p14="http://schemas.microsoft.com/office/powerpoint/2010/main" val="303062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5E74-B3B7-568C-C811-3F7ADAD405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93E4FB6-7FA6-A7B0-2A0E-EA582A8A503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5314708-7BE6-A9A2-4EA8-710FF09281B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6E7265D-88A5-D393-8790-80C07A46AB0E}"/>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B208A92-FE7C-A467-311F-1317D10F748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4CB564C-732F-021F-E79B-AE08C47E8E4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5386A589-8EF5-6AAA-505D-15F3A906DE1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CB5163A-64EB-BEE1-20C9-86C6B7653CDE}"/>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2422671-C5CF-1BA9-947D-BEB7C989D404}"/>
              </a:ext>
            </a:extLst>
          </p:cNvPr>
          <p:cNvSpPr txBox="1">
            <a:spLocks/>
          </p:cNvSpPr>
          <p:nvPr/>
        </p:nvSpPr>
        <p:spPr>
          <a:xfrm>
            <a:off x="762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ER(Entity Relationship) Diagram for RDBMS</a:t>
            </a:r>
          </a:p>
          <a:p>
            <a:pPr marL="12700" marR="5080"/>
            <a:r>
              <a:rPr lang="en-US" sz="1300" kern="0" spc="-80" dirty="0">
                <a:solidFill>
                  <a:schemeClr val="accent6"/>
                </a:solidFill>
              </a:rPr>
              <a:t>An Entity-Relationship Diagram (ERD) is a visual, high-level structural model of a database that maps out relationships between entities (people, objects, concepts) and their attributes, acting as a blueprint for relational database design. It uses symbols like rectangles for entities, diamonds for relationships, and ovals for attributes to represent data structure.</a:t>
            </a:r>
          </a:p>
          <a:p>
            <a:pPr marL="12700" marR="5080"/>
            <a:r>
              <a:rPr lang="en-US" sz="1300" kern="0" spc="-80" dirty="0">
                <a:solidFill>
                  <a:schemeClr val="accent2"/>
                </a:solidFill>
              </a:rPr>
              <a:t>Core Components of an ERD</a:t>
            </a:r>
          </a:p>
          <a:p>
            <a:pPr marL="12700" marR="5080"/>
            <a:r>
              <a:rPr lang="en-US" sz="1300" kern="0" spc="-80" dirty="0">
                <a:solidFill>
                  <a:schemeClr val="accent2"/>
                </a:solidFill>
              </a:rPr>
              <a:t>Entities (Rectangles):</a:t>
            </a:r>
            <a:r>
              <a:rPr lang="en-US" sz="1300" kern="0" spc="-80" dirty="0">
                <a:solidFill>
                  <a:schemeClr val="accent6"/>
                </a:solidFill>
              </a:rPr>
              <a:t> Represent tables or objects, such as "Customer," "Product," or "Order".</a:t>
            </a:r>
          </a:p>
          <a:p>
            <a:pPr marL="12700" marR="5080"/>
            <a:r>
              <a:rPr lang="en-US" sz="1300" kern="0" spc="-80" dirty="0">
                <a:solidFill>
                  <a:schemeClr val="accent2"/>
                </a:solidFill>
              </a:rPr>
              <a:t>Attributes (Ovals/Fields):</a:t>
            </a:r>
            <a:r>
              <a:rPr lang="en-US" sz="1300" kern="0" spc="-80" dirty="0">
                <a:solidFill>
                  <a:schemeClr val="accent6"/>
                </a:solidFill>
              </a:rPr>
              <a:t> Describe characteristics of an entity, such as "Customer Name" or "Email".</a:t>
            </a:r>
          </a:p>
          <a:p>
            <a:pPr marL="12700" marR="5080"/>
            <a:r>
              <a:rPr lang="en-US" sz="1300" kern="0" spc="-80" dirty="0">
                <a:solidFill>
                  <a:schemeClr val="accent2"/>
                </a:solidFill>
              </a:rPr>
              <a:t>Relationships (Diamonds/Lines):</a:t>
            </a:r>
            <a:r>
              <a:rPr lang="en-US" sz="1300" kern="0" spc="-80" dirty="0">
                <a:solidFill>
                  <a:schemeClr val="accent6"/>
                </a:solidFill>
              </a:rPr>
              <a:t> Indicate how entities connect, such as "Customer" places "Order".</a:t>
            </a:r>
          </a:p>
          <a:p>
            <a:pPr marL="12700" marR="5080"/>
            <a:r>
              <a:rPr lang="en-US" sz="1300" kern="0" spc="-80" dirty="0">
                <a:solidFill>
                  <a:schemeClr val="accent2"/>
                </a:solidFill>
              </a:rPr>
              <a:t>Cardinality (Crow's Foot/Numbers): </a:t>
            </a:r>
            <a:r>
              <a:rPr lang="en-US" sz="1300" kern="0" spc="-80" dirty="0">
                <a:solidFill>
                  <a:schemeClr val="accent6"/>
                </a:solidFill>
              </a:rPr>
              <a:t>Defines numerical constraints (e.g., one-to-one, one-to-many, many-to-many). </a:t>
            </a:r>
          </a:p>
          <a:p>
            <a:pPr marL="12700" marR="5080"/>
            <a:endParaRPr lang="en-US" sz="1300" kern="0" spc="-80" dirty="0">
              <a:solidFill>
                <a:schemeClr val="accent6"/>
              </a:solidFill>
            </a:endParaRPr>
          </a:p>
          <a:p>
            <a:pPr marL="12700" marR="5080"/>
            <a:r>
              <a:rPr lang="en-US" sz="1300" kern="0" spc="-80" dirty="0">
                <a:solidFill>
                  <a:schemeClr val="accent2"/>
                </a:solidFill>
              </a:rPr>
              <a:t>Common Notations</a:t>
            </a:r>
          </a:p>
          <a:p>
            <a:pPr marL="12700" marR="5080"/>
            <a:r>
              <a:rPr lang="en-US" sz="1300" kern="0" spc="-80" dirty="0">
                <a:solidFill>
                  <a:schemeClr val="accent2"/>
                </a:solidFill>
              </a:rPr>
              <a:t>Chen’s Notation: </a:t>
            </a:r>
            <a:r>
              <a:rPr lang="en-US" sz="1300" kern="0" spc="-80" dirty="0">
                <a:solidFill>
                  <a:schemeClr val="accent6"/>
                </a:solidFill>
              </a:rPr>
              <a:t>Uses rectangles for entities, diamonds for relationships, and ovals for attributes.</a:t>
            </a:r>
          </a:p>
          <a:p>
            <a:pPr marL="12700" marR="5080"/>
            <a:r>
              <a:rPr lang="en-US" sz="1300" kern="0" spc="-80" dirty="0">
                <a:solidFill>
                  <a:schemeClr val="accent2"/>
                </a:solidFill>
              </a:rPr>
              <a:t>Crow’s Foot Notation:</a:t>
            </a:r>
            <a:r>
              <a:rPr lang="en-US" sz="1300" kern="0" spc="-80" dirty="0">
                <a:solidFill>
                  <a:schemeClr val="accent6"/>
                </a:solidFill>
              </a:rPr>
              <a:t> A more detailed, standard notation using lines and symbols to define cardinalities, often used in software engineering. </a:t>
            </a:r>
          </a:p>
          <a:p>
            <a:pPr marL="12700" marR="5080"/>
            <a:endParaRPr lang="en-US" sz="1300" kern="0" spc="-80" dirty="0">
              <a:solidFill>
                <a:schemeClr val="accent6"/>
              </a:solidFill>
            </a:endParaRPr>
          </a:p>
          <a:p>
            <a:pPr marL="12700" marR="5080"/>
            <a:r>
              <a:rPr lang="en-US" sz="1300" kern="0" spc="-80" dirty="0">
                <a:solidFill>
                  <a:schemeClr val="accent2"/>
                </a:solidFill>
              </a:rPr>
              <a:t>Benefits of Using ERDs</a:t>
            </a:r>
          </a:p>
          <a:p>
            <a:pPr marL="12700" marR="5080"/>
            <a:r>
              <a:rPr lang="en-US" sz="1300" kern="0" spc="-80" dirty="0">
                <a:solidFill>
                  <a:schemeClr val="accent2"/>
                </a:solidFill>
              </a:rPr>
              <a:t>Database Design &amp; Planning: </a:t>
            </a:r>
            <a:r>
              <a:rPr lang="en-US" sz="1300" kern="0" spc="-80" dirty="0">
                <a:solidFill>
                  <a:schemeClr val="accent6"/>
                </a:solidFill>
              </a:rPr>
              <a:t>Facilitates the creation of relational databases.</a:t>
            </a:r>
          </a:p>
          <a:p>
            <a:pPr marL="12700" marR="5080"/>
            <a:r>
              <a:rPr lang="en-US" sz="1300" kern="0" spc="-80" dirty="0">
                <a:solidFill>
                  <a:schemeClr val="accent2"/>
                </a:solidFill>
              </a:rPr>
              <a:t>Reduced Redundancy: </a:t>
            </a:r>
            <a:r>
              <a:rPr lang="en-US" sz="1300" kern="0" spc="-80" dirty="0">
                <a:solidFill>
                  <a:schemeClr val="accent6"/>
                </a:solidFill>
              </a:rPr>
              <a:t>Helps in normalizing data structures.</a:t>
            </a:r>
          </a:p>
          <a:p>
            <a:pPr marL="12700" marR="5080"/>
            <a:r>
              <a:rPr lang="en-US" sz="1300" kern="0" spc="-80" dirty="0">
                <a:solidFill>
                  <a:schemeClr val="accent2"/>
                </a:solidFill>
              </a:rPr>
              <a:t>Visualization: </a:t>
            </a:r>
            <a:r>
              <a:rPr lang="en-US" sz="1300" kern="0" spc="-80" dirty="0">
                <a:solidFill>
                  <a:schemeClr val="accent6"/>
                </a:solidFill>
              </a:rPr>
              <a:t>Simplifies complex data relationships for technical and non-technical stakeholders.</a:t>
            </a:r>
          </a:p>
          <a:p>
            <a:pPr marL="12700" marR="5080"/>
            <a:r>
              <a:rPr lang="en-US" sz="1300" kern="0" spc="-80" dirty="0">
                <a:solidFill>
                  <a:schemeClr val="accent2"/>
                </a:solidFill>
              </a:rPr>
              <a:t>Troubleshooting: </a:t>
            </a:r>
            <a:r>
              <a:rPr lang="en-US" sz="1300" kern="0" spc="-80" dirty="0">
                <a:solidFill>
                  <a:schemeClr val="accent6"/>
                </a:solidFill>
              </a:rPr>
              <a:t>Aids in debugging existing database structures. </a:t>
            </a:r>
          </a:p>
          <a:p>
            <a:pPr marL="12700" marR="5080"/>
            <a:endParaRPr lang="en-US" sz="1300" kern="0" spc="-80" dirty="0">
              <a:solidFill>
                <a:schemeClr val="accent6"/>
              </a:solidFill>
            </a:endParaRPr>
          </a:p>
          <a:p>
            <a:pPr marL="12700" marR="5080"/>
            <a:r>
              <a:rPr lang="en-US" sz="1300" kern="0" spc="-80" dirty="0">
                <a:solidFill>
                  <a:schemeClr val="accent6"/>
                </a:solidFill>
              </a:rPr>
              <a:t>ERDs are essential in software engineering, business information systems, and research to map out how information flows and is stored within a system. </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180457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98C6-DE95-220C-2410-D94076801D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8F55657-5099-72A5-91E1-B01843CA6F7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E8E1C4F-1225-6A55-26E7-5D573973917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F4C343-EA3B-2EC0-BF06-54DA05B57EA9}"/>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2020008-AACA-E191-FF64-658C9B30253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A597B5B-15FD-2988-0376-F9F5E4C3E48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3C1A3A57-CC32-F5E0-5937-6A7540E0066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9AB6C50-0B92-A7AB-258D-A6C4AA8C347B}"/>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97FBEDC-A2CF-5D10-8B4B-601D85019570}"/>
              </a:ext>
            </a:extLst>
          </p:cNvPr>
          <p:cNvSpPr txBox="1">
            <a:spLocks/>
          </p:cNvSpPr>
          <p:nvPr/>
        </p:nvSpPr>
        <p:spPr>
          <a:xfrm>
            <a:off x="762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NoSQL Data Model Diagram</a:t>
            </a:r>
          </a:p>
          <a:p>
            <a:pPr marL="12700" marR="5080"/>
            <a:r>
              <a:rPr lang="en-US" sz="1300" kern="0" spc="-80" dirty="0">
                <a:solidFill>
                  <a:schemeClr val="accent6"/>
                </a:solidFill>
              </a:rPr>
              <a:t>A NoSQL data model diagram visualizes how data is structured and stored in non-relational databases. Unlike the rigid table-and-row structure of SQL (relational) databases, NoSQL diagrams focus on application-specific access patterns and flexible schemas. </a:t>
            </a:r>
          </a:p>
          <a:p>
            <a:pPr marL="12700" marR="5080"/>
            <a:r>
              <a:rPr lang="en-US" sz="1300" kern="0" spc="-80" dirty="0">
                <a:solidFill>
                  <a:schemeClr val="accent6"/>
                </a:solidFill>
              </a:rPr>
              <a:t>There are four primary NoSQL data models, each represented by a different type of diagram: </a:t>
            </a:r>
          </a:p>
          <a:p>
            <a:pPr marL="12700" marR="5080"/>
            <a:r>
              <a:rPr lang="en-US" sz="1300" kern="0" spc="-80" dirty="0">
                <a:solidFill>
                  <a:schemeClr val="accent2"/>
                </a:solidFill>
              </a:rPr>
              <a:t>1. Document Model</a:t>
            </a:r>
          </a:p>
          <a:p>
            <a:pPr marL="12700" marR="5080"/>
            <a:r>
              <a:rPr lang="en-US" sz="1300" kern="0" spc="-80" dirty="0">
                <a:solidFill>
                  <a:schemeClr val="accent6"/>
                </a:solidFill>
              </a:rPr>
              <a:t>This model stores data in JSON, BSON, or XML documents. A diagram typically shows nested objects (hierarchical data) rather than separate linked tables. </a:t>
            </a:r>
          </a:p>
          <a:p>
            <a:pPr marL="12700" marR="5080"/>
            <a:r>
              <a:rPr lang="en-US" sz="1300" kern="0" spc="-80" dirty="0">
                <a:solidFill>
                  <a:schemeClr val="accent2"/>
                </a:solidFill>
              </a:rPr>
              <a:t>Key Concept: </a:t>
            </a:r>
            <a:r>
              <a:rPr lang="en-US" sz="1300" kern="0" spc="-80" dirty="0">
                <a:solidFill>
                  <a:schemeClr val="accent6"/>
                </a:solidFill>
              </a:rPr>
              <a:t>Data that is "read together" is "stored together" (embedding).</a:t>
            </a:r>
          </a:p>
          <a:p>
            <a:pPr marL="12700" marR="5080"/>
            <a:r>
              <a:rPr lang="en-US" sz="1300" kern="0" spc="-80" dirty="0">
                <a:solidFill>
                  <a:schemeClr val="accent2"/>
                </a:solidFill>
              </a:rPr>
              <a:t>Example: </a:t>
            </a:r>
            <a:r>
              <a:rPr lang="en-US" sz="1300" kern="0" spc="-80" dirty="0">
                <a:solidFill>
                  <a:schemeClr val="accent6"/>
                </a:solidFill>
              </a:rPr>
              <a:t>A User document containing an array of Orders. </a:t>
            </a:r>
          </a:p>
          <a:p>
            <a:pPr marL="12700" marR="5080"/>
            <a:r>
              <a:rPr lang="en-US" sz="1300" kern="0" spc="-80" dirty="0">
                <a:solidFill>
                  <a:schemeClr val="accent2"/>
                </a:solidFill>
              </a:rPr>
              <a:t>2. Key-Value Model</a:t>
            </a:r>
          </a:p>
          <a:p>
            <a:pPr marL="12700" marR="5080"/>
            <a:r>
              <a:rPr lang="en-US" sz="1300" kern="0" spc="-80" dirty="0">
                <a:solidFill>
                  <a:schemeClr val="accent6"/>
                </a:solidFill>
              </a:rPr>
              <a:t>The simplest form, where every item is a key-value pair. The diagram looks like a basic two-column map or dictionary. </a:t>
            </a:r>
          </a:p>
          <a:p>
            <a:pPr marL="12700" marR="5080"/>
            <a:r>
              <a:rPr lang="en-US" sz="1300" kern="0" spc="-80" dirty="0">
                <a:solidFill>
                  <a:schemeClr val="accent2"/>
                </a:solidFill>
              </a:rPr>
              <a:t>Key Concept: </a:t>
            </a:r>
            <a:r>
              <a:rPr lang="en-US" sz="1300" kern="0" spc="-80" dirty="0">
                <a:solidFill>
                  <a:schemeClr val="accent6"/>
                </a:solidFill>
              </a:rPr>
              <a:t>Extremely fast retrieval using a unique identifier.</a:t>
            </a:r>
          </a:p>
          <a:p>
            <a:pPr marL="12700" marR="5080"/>
            <a:r>
              <a:rPr lang="en-US" sz="1300" kern="0" spc="-80" dirty="0">
                <a:solidFill>
                  <a:schemeClr val="accent2"/>
                </a:solidFill>
              </a:rPr>
              <a:t>Example: </a:t>
            </a:r>
            <a:r>
              <a:rPr lang="en-US" sz="1300" kern="0" spc="-80" dirty="0" err="1">
                <a:solidFill>
                  <a:schemeClr val="accent6"/>
                </a:solidFill>
              </a:rPr>
              <a:t>Session_ID</a:t>
            </a:r>
            <a:r>
              <a:rPr lang="en-US" sz="1300" kern="0" spc="-80" dirty="0">
                <a:solidFill>
                  <a:schemeClr val="accent6"/>
                </a:solidFill>
              </a:rPr>
              <a:t> : {</a:t>
            </a:r>
            <a:r>
              <a:rPr lang="en-US" sz="1300" kern="0" spc="-80" dirty="0" err="1">
                <a:solidFill>
                  <a:schemeClr val="accent6"/>
                </a:solidFill>
              </a:rPr>
              <a:t>User_Data</a:t>
            </a:r>
            <a:r>
              <a:rPr lang="en-US" sz="1300" kern="0" spc="-80" dirty="0">
                <a:solidFill>
                  <a:schemeClr val="accent6"/>
                </a:solidFill>
              </a:rPr>
              <a:t>}. </a:t>
            </a:r>
          </a:p>
          <a:p>
            <a:pPr marL="12700" marR="5080"/>
            <a:r>
              <a:rPr lang="en-US" sz="1300" kern="0" spc="-80" dirty="0">
                <a:solidFill>
                  <a:schemeClr val="accent2"/>
                </a:solidFill>
              </a:rPr>
              <a:t>3. Wide-Column (Column Family) Model</a:t>
            </a:r>
          </a:p>
          <a:p>
            <a:pPr marL="12700" marR="5080"/>
            <a:r>
              <a:rPr lang="en-US" sz="1300" kern="0" spc="-80" dirty="0">
                <a:solidFill>
                  <a:schemeClr val="accent6"/>
                </a:solidFill>
              </a:rPr>
              <a:t>This model organizes data into columns rather than rows, grouped into "column families". Diagrams often show a table-like structure but with varying columns for each row. </a:t>
            </a:r>
          </a:p>
          <a:p>
            <a:pPr marL="12700" marR="5080"/>
            <a:r>
              <a:rPr lang="en-US" sz="1300" kern="0" spc="-80" dirty="0">
                <a:solidFill>
                  <a:schemeClr val="accent2"/>
                </a:solidFill>
              </a:rPr>
              <a:t>Key Concept: </a:t>
            </a:r>
            <a:r>
              <a:rPr lang="en-US" sz="1300" kern="0" spc="-80" dirty="0">
                <a:solidFill>
                  <a:schemeClr val="accent6"/>
                </a:solidFill>
              </a:rPr>
              <a:t>High performance for analytical queries on massive datasets.</a:t>
            </a:r>
          </a:p>
          <a:p>
            <a:pPr marL="12700" marR="5080"/>
            <a:r>
              <a:rPr lang="en-US" sz="1300" kern="0" spc="-80" dirty="0">
                <a:solidFill>
                  <a:schemeClr val="accent2"/>
                </a:solidFill>
              </a:rPr>
              <a:t>Example: </a:t>
            </a:r>
            <a:r>
              <a:rPr lang="en-US" sz="1300" kern="0" spc="-80" dirty="0">
                <a:solidFill>
                  <a:schemeClr val="accent6"/>
                </a:solidFill>
              </a:rPr>
              <a:t>Storing log data where different logs have different attributes. </a:t>
            </a:r>
          </a:p>
          <a:p>
            <a:pPr marL="12700" marR="5080"/>
            <a:r>
              <a:rPr lang="en-US" sz="1300" kern="0" spc="-80" dirty="0">
                <a:solidFill>
                  <a:schemeClr val="accent2"/>
                </a:solidFill>
              </a:rPr>
              <a:t>4. Graph Model</a:t>
            </a:r>
          </a:p>
          <a:p>
            <a:pPr marL="12700" marR="5080"/>
            <a:r>
              <a:rPr lang="en-US" sz="1300" kern="0" spc="-80" dirty="0">
                <a:solidFill>
                  <a:schemeClr val="accent6"/>
                </a:solidFill>
              </a:rPr>
              <a:t>Focuses on relationships between data elements. The diagram uses nodes (objects), edges (relationships), and properties (metadata). </a:t>
            </a:r>
          </a:p>
          <a:p>
            <a:pPr marL="12700" marR="5080"/>
            <a:r>
              <a:rPr lang="en-US" sz="1300" kern="0" spc="-80" dirty="0">
                <a:solidFill>
                  <a:schemeClr val="accent2"/>
                </a:solidFill>
              </a:rPr>
              <a:t>Key Concept: </a:t>
            </a:r>
            <a:r>
              <a:rPr lang="en-US" sz="1300" kern="0" spc="-80" dirty="0">
                <a:solidFill>
                  <a:schemeClr val="accent6"/>
                </a:solidFill>
              </a:rPr>
              <a:t>Ideal for complex interconnected data like social networks or recommendation engines.</a:t>
            </a:r>
          </a:p>
          <a:p>
            <a:pPr marL="12700" marR="5080"/>
            <a:r>
              <a:rPr lang="en-US" sz="1300" kern="0" spc="-80" dirty="0">
                <a:solidFill>
                  <a:schemeClr val="accent2"/>
                </a:solidFill>
              </a:rPr>
              <a:t>Example: </a:t>
            </a:r>
            <a:r>
              <a:rPr lang="en-US" sz="1300" kern="0" spc="-80" dirty="0">
                <a:solidFill>
                  <a:schemeClr val="accent6"/>
                </a:solidFill>
              </a:rPr>
              <a:t>Person A —friend of—&gt; Person B. </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160501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EA58-273A-748D-AC04-88FE07F4DAE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139811-9DCC-00ED-8B16-89F391F8623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566A72-642B-9F0B-C4F7-8D37A0EC78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2779CF-AF3B-7C0A-13AD-25CA3DCE9F8D}"/>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157B6D6-8CD6-4A56-6D90-E1B83CA8C03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E56FCCF-1516-FDE6-4281-CB3221E8F27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EC097E8A-25A1-1188-28CB-BD672E33424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7D9C549-5050-F033-90D8-6CEF11902FEF}"/>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3A55218-CE8C-7E9A-DB56-23430617483D}"/>
              </a:ext>
            </a:extLst>
          </p:cNvPr>
          <p:cNvSpPr txBox="1">
            <a:spLocks/>
          </p:cNvSpPr>
          <p:nvPr/>
        </p:nvSpPr>
        <p:spPr>
          <a:xfrm>
            <a:off x="76200" y="762000"/>
            <a:ext cx="8624937" cy="24468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NoSQL Data Model Diagram</a:t>
            </a:r>
          </a:p>
          <a:p>
            <a:pPr marL="12700" marR="5080"/>
            <a:r>
              <a:rPr lang="en-US" sz="1300" kern="0" spc="-80" dirty="0">
                <a:solidFill>
                  <a:schemeClr val="accent2"/>
                </a:solidFill>
              </a:rPr>
              <a:t>Key Differences from SQL (ERD) Diagrams</a:t>
            </a:r>
          </a:p>
          <a:p>
            <a:pPr marL="12700" marR="5080"/>
            <a:r>
              <a:rPr lang="en-US" sz="1300" kern="0" spc="-80" dirty="0">
                <a:solidFill>
                  <a:schemeClr val="accent2"/>
                </a:solidFill>
              </a:rPr>
              <a:t>De-normalization: </a:t>
            </a:r>
            <a:r>
              <a:rPr lang="en-US" sz="1300" kern="0" spc="-80" dirty="0">
                <a:solidFill>
                  <a:schemeClr val="accent6"/>
                </a:solidFill>
              </a:rPr>
              <a:t>NoSQL diagrams often show duplicate data across documents to avoid expensive joins.</a:t>
            </a:r>
          </a:p>
          <a:p>
            <a:pPr marL="12700" marR="5080"/>
            <a:r>
              <a:rPr lang="en-US" sz="1300" kern="0" spc="-80" dirty="0">
                <a:solidFill>
                  <a:schemeClr val="accent2"/>
                </a:solidFill>
              </a:rPr>
              <a:t>Schema-less:</a:t>
            </a:r>
            <a:r>
              <a:rPr lang="en-US" sz="1300" kern="0" spc="-80" dirty="0">
                <a:solidFill>
                  <a:schemeClr val="accent6"/>
                </a:solidFill>
              </a:rPr>
              <a:t> Diagrams are often "logical" or "physical" representations because the database itself doesn't enforce a fixed schema.</a:t>
            </a:r>
          </a:p>
          <a:p>
            <a:pPr marL="12700" marR="5080"/>
            <a:r>
              <a:rPr lang="en-US" sz="1300" kern="0" spc="-80" dirty="0">
                <a:solidFill>
                  <a:schemeClr val="accent2"/>
                </a:solidFill>
              </a:rPr>
              <a:t>Query-First Design: </a:t>
            </a:r>
            <a:r>
              <a:rPr lang="en-US" sz="1300" kern="0" spc="-80" dirty="0">
                <a:solidFill>
                  <a:schemeClr val="accent6"/>
                </a:solidFill>
              </a:rPr>
              <a:t>While SQL diagrams are built around entities, NoSQL diagrams are designed around the specific queries the application needs to run. </a:t>
            </a:r>
          </a:p>
          <a:p>
            <a:pPr marL="12700" marR="5080"/>
            <a:endParaRPr lang="en-US" sz="1300" kern="0" spc="-80" dirty="0">
              <a:solidFill>
                <a:schemeClr val="accent6"/>
              </a:solidFill>
            </a:endParaRPr>
          </a:p>
          <a:p>
            <a:pPr marL="12700" marR="5080"/>
            <a:r>
              <a:rPr lang="en-US" sz="2000" kern="0" spc="-80" dirty="0">
                <a:solidFill>
                  <a:schemeClr val="accent2"/>
                </a:solidFill>
              </a:rPr>
              <a:t>For Further Exploration</a:t>
            </a:r>
          </a:p>
          <a:p>
            <a:pPr marL="12700" marR="5080"/>
            <a:r>
              <a:rPr lang="es-ES" sz="1400" dirty="0">
                <a:hlinkClick r:id="rId7"/>
              </a:rPr>
              <a:t>NoSQL </a:t>
            </a:r>
            <a:r>
              <a:rPr lang="es-ES" sz="1400" dirty="0" err="1">
                <a:hlinkClick r:id="rId7"/>
              </a:rPr>
              <a:t>Database</a:t>
            </a:r>
            <a:r>
              <a:rPr lang="es-ES" sz="1400" dirty="0">
                <a:hlinkClick r:id="rId7"/>
              </a:rPr>
              <a:t> </a:t>
            </a:r>
            <a:r>
              <a:rPr lang="es-ES" sz="1400" dirty="0" err="1">
                <a:hlinkClick r:id="rId7"/>
              </a:rPr>
              <a:t>Design</a:t>
            </a:r>
            <a:r>
              <a:rPr lang="es-ES" sz="1400" dirty="0">
                <a:hlinkClick r:id="rId7"/>
              </a:rPr>
              <a:t> </a:t>
            </a:r>
            <a:r>
              <a:rPr lang="es-ES" sz="1400" dirty="0" err="1">
                <a:hlinkClick r:id="rId7"/>
              </a:rPr>
              <a:t>Example</a:t>
            </a:r>
            <a:endParaRPr lang="es-ES" sz="1400" dirty="0"/>
          </a:p>
          <a:p>
            <a:pPr marL="12700" marR="5080"/>
            <a:r>
              <a:rPr lang="en-US" sz="1400" dirty="0">
                <a:hlinkClick r:id="rId8"/>
              </a:rPr>
              <a:t>The Tao of NoSQL Data Modeling</a:t>
            </a:r>
            <a:endParaRPr lang="en-US" sz="1300" kern="0" spc="-80" dirty="0">
              <a:solidFill>
                <a:schemeClr val="accent2"/>
              </a:solidFill>
            </a:endParaRPr>
          </a:p>
        </p:txBody>
      </p:sp>
    </p:spTree>
    <p:extLst>
      <p:ext uri="{BB962C8B-B14F-4D97-AF65-F5344CB8AC3E}">
        <p14:creationId xmlns:p14="http://schemas.microsoft.com/office/powerpoint/2010/main" val="2845116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2224A-B645-2C65-F143-2958CC4B520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C80312-A989-C86F-378C-3AB6FF4E55B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C23DCD-E5C2-1198-79E1-278BBC5C050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5328C13-A34D-CCAB-D0F7-DEFE41CBA4C8}"/>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591C813-A71D-5313-D5C0-CA714138E91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A73908A-4FFA-B704-DC46-35A73B16A9F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0B4222F0-B900-356C-FF81-735E9304876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2A421E4-F0F3-1CC1-0D14-713AD5FD669B}"/>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BAA4C09-2360-A06B-7A97-0F8FDCBE9851}"/>
              </a:ext>
            </a:extLst>
          </p:cNvPr>
          <p:cNvSpPr txBox="1">
            <a:spLocks/>
          </p:cNvSpPr>
          <p:nvPr/>
        </p:nvSpPr>
        <p:spPr>
          <a:xfrm>
            <a:off x="762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Flow Diagram</a:t>
            </a:r>
          </a:p>
          <a:p>
            <a:pPr marL="12700" marR="5080"/>
            <a:r>
              <a:rPr lang="en-US" sz="1250" kern="0" spc="-80" dirty="0">
                <a:solidFill>
                  <a:schemeClr val="accent6"/>
                </a:solidFill>
              </a:rPr>
              <a:t>A Data Flow Diagram (DFD) is a visual, structured tool used in system analysis to map the flow of information, showing how data enters, moves through, is stored, and exits a system. It focuses on the data processes rather than control flow, utilizing four key symbols: external entities, processes, data stores, and data flows. </a:t>
            </a:r>
          </a:p>
          <a:p>
            <a:pPr marL="12700" marR="5080"/>
            <a:r>
              <a:rPr lang="en-US" sz="1250" kern="0" spc="-80" dirty="0">
                <a:solidFill>
                  <a:schemeClr val="accent2"/>
                </a:solidFill>
              </a:rPr>
              <a:t>Key Components &amp; Notation</a:t>
            </a:r>
          </a:p>
          <a:p>
            <a:pPr marL="12700" marR="5080"/>
            <a:r>
              <a:rPr lang="en-US" sz="1250" kern="0" spc="-80" dirty="0">
                <a:solidFill>
                  <a:schemeClr val="accent2"/>
                </a:solidFill>
              </a:rPr>
              <a:t>External Entity (Source/Sink): </a:t>
            </a:r>
            <a:r>
              <a:rPr lang="en-US" sz="1250" kern="0" spc="-80" dirty="0">
                <a:solidFill>
                  <a:schemeClr val="accent6"/>
                </a:solidFill>
              </a:rPr>
              <a:t>Rectangles representing external users or systems that interact with the system.</a:t>
            </a:r>
          </a:p>
          <a:p>
            <a:pPr marL="12700" marR="5080"/>
            <a:r>
              <a:rPr lang="en-US" sz="1250" kern="0" spc="-80" dirty="0">
                <a:solidFill>
                  <a:schemeClr val="accent2"/>
                </a:solidFill>
              </a:rPr>
              <a:t>Process: </a:t>
            </a:r>
            <a:r>
              <a:rPr lang="en-US" sz="1250" kern="0" spc="-80" dirty="0">
                <a:solidFill>
                  <a:schemeClr val="accent6"/>
                </a:solidFill>
              </a:rPr>
              <a:t>Circles or rounded rectangles representing transformations, activities, or actions on data.</a:t>
            </a:r>
          </a:p>
          <a:p>
            <a:pPr marL="12700" marR="5080"/>
            <a:r>
              <a:rPr lang="en-US" sz="1250" kern="0" spc="-80" dirty="0">
                <a:solidFill>
                  <a:schemeClr val="accent2"/>
                </a:solidFill>
              </a:rPr>
              <a:t>Data Store: </a:t>
            </a:r>
            <a:r>
              <a:rPr lang="en-US" sz="1250" kern="0" spc="-80" dirty="0">
                <a:solidFill>
                  <a:schemeClr val="accent6"/>
                </a:solidFill>
              </a:rPr>
              <a:t>Open-ended rectangles (or parallel lines) representing files or databases holding data.</a:t>
            </a:r>
          </a:p>
          <a:p>
            <a:pPr marL="12700" marR="5080"/>
            <a:r>
              <a:rPr lang="en-US" sz="1250" kern="0" spc="-80" dirty="0">
                <a:solidFill>
                  <a:schemeClr val="accent2"/>
                </a:solidFill>
              </a:rPr>
              <a:t>Data Flow: </a:t>
            </a:r>
            <a:r>
              <a:rPr lang="en-US" sz="1250" kern="0" spc="-80" dirty="0">
                <a:solidFill>
                  <a:schemeClr val="accent6"/>
                </a:solidFill>
              </a:rPr>
              <a:t>Arrows representing the movement of data between entities, processes, and stores. </a:t>
            </a:r>
          </a:p>
          <a:p>
            <a:pPr marL="12700" marR="5080"/>
            <a:endParaRPr lang="en-US" sz="1250" kern="0" spc="-80" dirty="0">
              <a:solidFill>
                <a:schemeClr val="accent2"/>
              </a:solidFill>
            </a:endParaRPr>
          </a:p>
          <a:p>
            <a:pPr marL="12700" marR="5080"/>
            <a:r>
              <a:rPr lang="en-US" sz="1250" kern="0" spc="-80" dirty="0">
                <a:solidFill>
                  <a:schemeClr val="accent2"/>
                </a:solidFill>
              </a:rPr>
              <a:t>Levels of DFDs</a:t>
            </a:r>
          </a:p>
          <a:p>
            <a:pPr marL="12700" marR="5080"/>
            <a:r>
              <a:rPr lang="en-US" sz="1250" kern="0" spc="-80" dirty="0">
                <a:solidFill>
                  <a:schemeClr val="accent6"/>
                </a:solidFill>
              </a:rPr>
              <a:t>DFDs are designed to represent systems at different levels of detail: </a:t>
            </a:r>
          </a:p>
          <a:p>
            <a:pPr marL="12700" marR="5080"/>
            <a:r>
              <a:rPr lang="en-US" sz="1250" kern="0" spc="-80" dirty="0">
                <a:solidFill>
                  <a:schemeClr val="accent2"/>
                </a:solidFill>
              </a:rPr>
              <a:t>Context Diagram (Level 0):</a:t>
            </a:r>
            <a:r>
              <a:rPr lang="en-US" sz="1250" kern="0" spc="-80" dirty="0">
                <a:solidFill>
                  <a:schemeClr val="accent6"/>
                </a:solidFill>
              </a:rPr>
              <a:t> A high-level overview showing the entire system as a single process interacting with external entities.</a:t>
            </a:r>
          </a:p>
          <a:p>
            <a:pPr marL="12700" marR="5080"/>
            <a:r>
              <a:rPr lang="en-US" sz="1250" kern="0" spc="-80" dirty="0">
                <a:solidFill>
                  <a:schemeClr val="accent2"/>
                </a:solidFill>
              </a:rPr>
              <a:t>Level 1 DFD:</a:t>
            </a:r>
            <a:r>
              <a:rPr lang="en-US" sz="1250" kern="0" spc="-80" dirty="0">
                <a:solidFill>
                  <a:schemeClr val="accent6"/>
                </a:solidFill>
              </a:rPr>
              <a:t> Breaks down the main process from the context diagram into major sub-processes, data stores, and data flows.</a:t>
            </a:r>
          </a:p>
          <a:p>
            <a:pPr marL="12700" marR="5080"/>
            <a:r>
              <a:rPr lang="en-US" sz="1250" kern="0" spc="-80" dirty="0">
                <a:solidFill>
                  <a:schemeClr val="accent2"/>
                </a:solidFill>
              </a:rPr>
              <a:t>Level 2 DFD: </a:t>
            </a:r>
            <a:r>
              <a:rPr lang="en-US" sz="1250" kern="0" spc="-80" dirty="0">
                <a:solidFill>
                  <a:schemeClr val="accent6"/>
                </a:solidFill>
              </a:rPr>
              <a:t>Provides further, more granular, and detailed, breakdown of specific processes identified in Level 1</a:t>
            </a:r>
          </a:p>
          <a:p>
            <a:pPr marL="12700" marR="5080"/>
            <a:r>
              <a:rPr lang="en-US" sz="1250" kern="0" spc="-80" dirty="0">
                <a:solidFill>
                  <a:schemeClr val="accent6"/>
                </a:solidFill>
              </a:rPr>
              <a:t>. </a:t>
            </a:r>
          </a:p>
          <a:p>
            <a:pPr marL="12700" marR="5080"/>
            <a:r>
              <a:rPr lang="en-US" sz="1250" kern="0" spc="-80" dirty="0">
                <a:solidFill>
                  <a:schemeClr val="accent2"/>
                </a:solidFill>
              </a:rPr>
              <a:t>Types of DFDs</a:t>
            </a:r>
          </a:p>
          <a:p>
            <a:pPr marL="12700" marR="5080"/>
            <a:r>
              <a:rPr lang="en-US" sz="1250" kern="0" spc="-80" dirty="0">
                <a:solidFill>
                  <a:schemeClr val="accent2"/>
                </a:solidFill>
              </a:rPr>
              <a:t>Logical DFD: </a:t>
            </a:r>
            <a:r>
              <a:rPr lang="en-US" sz="1250" kern="0" spc="-80" dirty="0">
                <a:solidFill>
                  <a:schemeClr val="accent6"/>
                </a:solidFill>
              </a:rPr>
              <a:t>Focuses on what the system does from a business perspective (e.g., "process order") without focusing on technical implementation.</a:t>
            </a:r>
          </a:p>
          <a:p>
            <a:pPr marL="12700" marR="5080"/>
            <a:r>
              <a:rPr lang="en-US" sz="1250" kern="0" spc="-80" dirty="0">
                <a:solidFill>
                  <a:schemeClr val="accent2"/>
                </a:solidFill>
              </a:rPr>
              <a:t>Physical DFD:</a:t>
            </a:r>
            <a:r>
              <a:rPr lang="en-US" sz="1250" kern="0" spc="-80" dirty="0">
                <a:solidFill>
                  <a:schemeClr val="accent6"/>
                </a:solidFill>
              </a:rPr>
              <a:t> Focuses on how the system is implemented technically (e.g., "program database," "paper form"). </a:t>
            </a:r>
          </a:p>
          <a:p>
            <a:pPr marL="12700" marR="5080"/>
            <a:endParaRPr lang="en-US" sz="1250" kern="0" spc="-80" dirty="0">
              <a:solidFill>
                <a:schemeClr val="accent6"/>
              </a:solidFill>
            </a:endParaRPr>
          </a:p>
          <a:p>
            <a:pPr marL="12700" marR="5080"/>
            <a:r>
              <a:rPr lang="en-US" sz="1250" kern="0" spc="-80" dirty="0">
                <a:solidFill>
                  <a:schemeClr val="accent2"/>
                </a:solidFill>
              </a:rPr>
              <a:t>Purpose and Benefits</a:t>
            </a:r>
          </a:p>
          <a:p>
            <a:pPr marL="12700" marR="5080"/>
            <a:r>
              <a:rPr lang="en-US" sz="1250" kern="0" spc="-80" dirty="0">
                <a:solidFill>
                  <a:schemeClr val="accent6"/>
                </a:solidFill>
              </a:rPr>
              <a:t>DFDs are crucial for documenting requirements, analyzing system functionality, and identifying inefficiencies, making them essential for system design and software engineering. They provide a clear, easy-to-understand representation for both technical developers and non-technical stakeholders.</a:t>
            </a:r>
          </a:p>
        </p:txBody>
      </p:sp>
    </p:spTree>
    <p:extLst>
      <p:ext uri="{BB962C8B-B14F-4D97-AF65-F5344CB8AC3E}">
        <p14:creationId xmlns:p14="http://schemas.microsoft.com/office/powerpoint/2010/main" val="3824707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91EA9-6D11-717A-3079-9FDC55AB2A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7F4EA1-5405-6623-9BA2-3B9E701B714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6EA15A4-206F-CF00-51DD-8A0632123C4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F58787C-DD41-C4E1-A926-3B9E1B3BE3A4}"/>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66B4455-5B65-31DB-65A5-4B0122FB8D4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323CEB8-4303-0D98-D717-27D4666D897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FC16DF7B-0167-F348-F622-C376FB1DAE5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65B444F-8625-CEE1-66EE-D6EACF0889D5}"/>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BABF047-7253-BD85-CB9D-AE4DD56AD35F}"/>
              </a:ext>
            </a:extLst>
          </p:cNvPr>
          <p:cNvSpPr txBox="1">
            <a:spLocks/>
          </p:cNvSpPr>
          <p:nvPr/>
        </p:nvSpPr>
        <p:spPr>
          <a:xfrm>
            <a:off x="76200" y="762000"/>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Flow Diagram</a:t>
            </a:r>
          </a:p>
          <a:p>
            <a:pPr marL="12700" marR="5080"/>
            <a:r>
              <a:rPr lang="en-US" sz="1250" kern="0" spc="-80" dirty="0">
                <a:solidFill>
                  <a:schemeClr val="accent2"/>
                </a:solidFill>
              </a:rPr>
              <a:t>Example: Online Shopping System</a:t>
            </a:r>
          </a:p>
          <a:p>
            <a:pPr marL="12700" marR="5080"/>
            <a:r>
              <a:rPr lang="en-US" sz="1250" kern="0" spc="-80" dirty="0">
                <a:solidFill>
                  <a:schemeClr val="accent6"/>
                </a:solidFill>
              </a:rPr>
              <a:t>To illustrate a DFD, consider the process of a customer placing an order on an online shopping website. This example focuses on a Level 0 DFD (Context Diagram), which provides a high-level overview of the entire system as a single process. </a:t>
            </a:r>
          </a:p>
          <a:p>
            <a:pPr marL="12700" marR="5080"/>
            <a:endParaRPr lang="en-US" sz="2000" kern="0" spc="-80" dirty="0">
              <a:solidFill>
                <a:schemeClr val="accent2"/>
              </a:solidFill>
            </a:endParaRPr>
          </a:p>
        </p:txBody>
      </p:sp>
      <p:pic>
        <p:nvPicPr>
          <p:cNvPr id="11" name="Picture 10">
            <a:extLst>
              <a:ext uri="{FF2B5EF4-FFF2-40B4-BE49-F238E27FC236}">
                <a16:creationId xmlns:a16="http://schemas.microsoft.com/office/drawing/2014/main" id="{EE0326D2-6BFE-8CFE-E2AB-DF223C4CED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911221"/>
            <a:ext cx="8839200" cy="3112026"/>
          </a:xfrm>
          <a:prstGeom prst="rect">
            <a:avLst/>
          </a:prstGeom>
        </p:spPr>
      </p:pic>
      <p:sp>
        <p:nvSpPr>
          <p:cNvPr id="13" name="object 2">
            <a:extLst>
              <a:ext uri="{FF2B5EF4-FFF2-40B4-BE49-F238E27FC236}">
                <a16:creationId xmlns:a16="http://schemas.microsoft.com/office/drawing/2014/main" id="{4126EA6B-491C-0D73-43A4-38B315EC1A3B}"/>
              </a:ext>
            </a:extLst>
          </p:cNvPr>
          <p:cNvSpPr txBox="1">
            <a:spLocks/>
          </p:cNvSpPr>
          <p:nvPr/>
        </p:nvSpPr>
        <p:spPr>
          <a:xfrm>
            <a:off x="76200" y="5174159"/>
            <a:ext cx="8624937"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6"/>
                </a:solidFill>
              </a:rPr>
              <a:t>A more detailed, Level 1 DFD would break down the single "Online Shopping System" process into major sub-processes like "Place Order," "Process Payment," and "Manage Inventory," showing data stores like an "Orders Database" and "Product Inventory". This hierarchical approach manages complexity by providing progressively deeper levels of detail. </a:t>
            </a:r>
          </a:p>
        </p:txBody>
      </p:sp>
    </p:spTree>
    <p:extLst>
      <p:ext uri="{BB962C8B-B14F-4D97-AF65-F5344CB8AC3E}">
        <p14:creationId xmlns:p14="http://schemas.microsoft.com/office/powerpoint/2010/main" val="364498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A4AC8-6C92-5290-3DBC-FF79AED7F3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F55D2E-B0ED-6E56-7163-9395DE8166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9B7DEB-3D24-FD78-20B8-22E72CEDD6C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2D1C97-CEB4-BB3F-F1C0-BB5DF06CA89B}"/>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26B9BFA-E4FA-60C7-23F9-4B3EAF3C15E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C6F02FE-581F-C901-72D8-68DC76E6D82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E932F8B4-1039-12D3-8535-733D6753819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0136C76-D635-1F39-F490-76C25E2DDFC7}"/>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FB72A78-52B9-EEC7-9404-D9394BCB19E3}"/>
              </a:ext>
            </a:extLst>
          </p:cNvPr>
          <p:cNvSpPr txBox="1">
            <a:spLocks/>
          </p:cNvSpPr>
          <p:nvPr/>
        </p:nvSpPr>
        <p:spPr>
          <a:xfrm>
            <a:off x="762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Master, Reference, Transactional And Meta Data</a:t>
            </a:r>
          </a:p>
        </p:txBody>
      </p:sp>
      <p:pic>
        <p:nvPicPr>
          <p:cNvPr id="17" name="Picture 16">
            <a:extLst>
              <a:ext uri="{FF2B5EF4-FFF2-40B4-BE49-F238E27FC236}">
                <a16:creationId xmlns:a16="http://schemas.microsoft.com/office/drawing/2014/main" id="{682C3D8A-F1B0-6C10-994C-1DDD99397C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149240"/>
            <a:ext cx="8610600" cy="2333334"/>
          </a:xfrm>
          <a:prstGeom prst="rect">
            <a:avLst/>
          </a:prstGeom>
        </p:spPr>
      </p:pic>
      <p:pic>
        <p:nvPicPr>
          <p:cNvPr id="19" name="Picture 18">
            <a:extLst>
              <a:ext uri="{FF2B5EF4-FFF2-40B4-BE49-F238E27FC236}">
                <a16:creationId xmlns:a16="http://schemas.microsoft.com/office/drawing/2014/main" id="{710901AA-F683-08E7-8AF2-7E37380E2B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3482574"/>
            <a:ext cx="8701136" cy="1540673"/>
          </a:xfrm>
          <a:prstGeom prst="rect">
            <a:avLst/>
          </a:prstGeom>
        </p:spPr>
      </p:pic>
      <p:sp>
        <p:nvSpPr>
          <p:cNvPr id="20" name="object 2">
            <a:extLst>
              <a:ext uri="{FF2B5EF4-FFF2-40B4-BE49-F238E27FC236}">
                <a16:creationId xmlns:a16="http://schemas.microsoft.com/office/drawing/2014/main" id="{ABFFEC3E-2977-D941-1734-3E194B1D9176}"/>
              </a:ext>
            </a:extLst>
          </p:cNvPr>
          <p:cNvSpPr txBox="1">
            <a:spLocks/>
          </p:cNvSpPr>
          <p:nvPr/>
        </p:nvSpPr>
        <p:spPr>
          <a:xfrm>
            <a:off x="76200" y="5081826"/>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US" sz="1400" dirty="0">
                <a:hlinkClick r:id="rId9"/>
              </a:rPr>
              <a:t>Understanding the Overlap Between Metadata, Master Data, Reference Data and Transaction Data | LinkedIn</a:t>
            </a:r>
            <a:endParaRPr lang="en-US" sz="1400" dirty="0"/>
          </a:p>
          <a:p>
            <a:pPr marL="12700" marR="5080"/>
            <a:r>
              <a:rPr lang="en-US" sz="1400" dirty="0">
                <a:hlinkClick r:id="rId10"/>
              </a:rPr>
              <a:t>The four types of data | Data Sentinel</a:t>
            </a:r>
            <a:endParaRPr lang="en-US" sz="1400" kern="0" spc="-80" dirty="0">
              <a:solidFill>
                <a:schemeClr val="accent2"/>
              </a:solidFill>
            </a:endParaRPr>
          </a:p>
        </p:txBody>
      </p:sp>
    </p:spTree>
    <p:extLst>
      <p:ext uri="{BB962C8B-B14F-4D97-AF65-F5344CB8AC3E}">
        <p14:creationId xmlns:p14="http://schemas.microsoft.com/office/powerpoint/2010/main" val="3829581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556-B56B-73A4-2EAF-D6A5961511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EA7901-2D69-3F52-3E6D-B8C4CF61D1C6}"/>
              </a:ext>
            </a:extLst>
          </p:cNvPr>
          <p:cNvSpPr/>
          <p:nvPr/>
        </p:nvSpPr>
        <p:spPr>
          <a:xfrm>
            <a:off x="1756803" y="72565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718F33D-09FD-73CC-178B-125AA1C4B0D4}"/>
              </a:ext>
            </a:extLst>
          </p:cNvPr>
          <p:cNvSpPr/>
          <p:nvPr/>
        </p:nvSpPr>
        <p:spPr>
          <a:xfrm>
            <a:off x="1756803" y="5714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CF2869A-BB89-0A6B-FBA0-1EEC938438A8}"/>
              </a:ext>
            </a:extLst>
          </p:cNvPr>
          <p:cNvGraphicFramePr/>
          <p:nvPr/>
        </p:nvGraphicFramePr>
        <p:xfrm>
          <a:off x="138981" y="32026"/>
          <a:ext cx="8714556"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A47BEC7-3728-B908-BBE0-E9700E374774}"/>
              </a:ext>
            </a:extLst>
          </p:cNvPr>
          <p:cNvSpPr txBox="1">
            <a:spLocks/>
          </p:cNvSpPr>
          <p:nvPr/>
        </p:nvSpPr>
        <p:spPr>
          <a:xfrm>
            <a:off x="138063" y="838759"/>
            <a:ext cx="8624937" cy="56169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rPr>
              <a:t>For Further Exploration(In General)</a:t>
            </a:r>
            <a:endParaRPr lang="en-IN" sz="2000" dirty="0">
              <a:solidFill>
                <a:schemeClr val="accent6"/>
              </a:solidFill>
            </a:endParaRPr>
          </a:p>
          <a:p>
            <a:pPr marL="12700" marR="5080"/>
            <a:r>
              <a:rPr lang="en-US" sz="1500" dirty="0">
                <a:hlinkClick r:id="rId7"/>
              </a:rPr>
              <a:t>Data Modeling Explained: Conceptual, Logical, &amp; Physical</a:t>
            </a:r>
            <a:r>
              <a:rPr lang="en-US" sz="1500" dirty="0"/>
              <a:t> </a:t>
            </a:r>
          </a:p>
          <a:p>
            <a:pPr marL="12700" marR="5080"/>
            <a:r>
              <a:rPr lang="en-US" sz="1500" dirty="0">
                <a:hlinkClick r:id="rId8"/>
              </a:rPr>
              <a:t>Introduction to relationships - EF Core | Microsoft Learn</a:t>
            </a:r>
            <a:endParaRPr lang="en-US" sz="1500" dirty="0"/>
          </a:p>
          <a:p>
            <a:pPr marL="12700" marR="5080"/>
            <a:r>
              <a:rPr lang="en-IN" sz="1500" dirty="0">
                <a:hlinkClick r:id="rId9"/>
              </a:rPr>
              <a:t>Refactoring Databases</a:t>
            </a:r>
            <a:endParaRPr lang="en-US" sz="1500" kern="0" spc="-80" dirty="0">
              <a:solidFill>
                <a:schemeClr val="accent2"/>
              </a:solidFill>
              <a:hlinkClick r:id="rId10"/>
            </a:endParaRPr>
          </a:p>
          <a:p>
            <a:pPr marL="12700" marR="5080"/>
            <a:r>
              <a:rPr lang="en-IN" sz="1500" dirty="0">
                <a:hlinkClick r:id="rId11"/>
              </a:rPr>
              <a:t>Database Model </a:t>
            </a:r>
            <a:r>
              <a:rPr lang="en-IN" sz="1500" dirty="0">
                <a:hlinkClick r:id="rId12"/>
              </a:rPr>
              <a:t>–</a:t>
            </a:r>
            <a:r>
              <a:rPr lang="en-IN" sz="1500" dirty="0">
                <a:hlinkClick r:id="rId11"/>
              </a:rPr>
              <a:t> </a:t>
            </a:r>
            <a:r>
              <a:rPr lang="en-IN" sz="1500" dirty="0" err="1">
                <a:hlinkClick r:id="rId11"/>
              </a:rPr>
              <a:t>jBilling</a:t>
            </a:r>
            <a:endParaRPr lang="en-IN" sz="1500" dirty="0"/>
          </a:p>
          <a:p>
            <a:pPr marL="12700" marR="5080"/>
            <a:r>
              <a:rPr lang="en-IN" sz="1500" dirty="0">
                <a:hlinkClick r:id="rId12"/>
              </a:rPr>
              <a:t>Microsoft SQL samples - SQL Server | Microsoft Learn</a:t>
            </a:r>
            <a:endParaRPr lang="en-IN" sz="1500" dirty="0"/>
          </a:p>
          <a:p>
            <a:pPr marL="12700" marR="5080"/>
            <a:r>
              <a:rPr lang="en-IN" sz="1500" dirty="0" err="1">
                <a:hlinkClick r:id="rId13"/>
              </a:rPr>
              <a:t>AdventureWorks</a:t>
            </a:r>
            <a:r>
              <a:rPr lang="en-IN" sz="1500" dirty="0">
                <a:hlinkClick r:id="rId13"/>
              </a:rPr>
              <a:t> - ER Diagram at dbdiagrams.com | HTML report</a:t>
            </a:r>
            <a:endParaRPr lang="en-IN" sz="1500" dirty="0"/>
          </a:p>
          <a:p>
            <a:pPr marL="12700" marR="5080"/>
            <a:r>
              <a:rPr lang="en-IN" sz="1500" dirty="0" err="1">
                <a:hlinkClick r:id="rId14"/>
              </a:rPr>
              <a:t>Adventureworks</a:t>
            </a:r>
            <a:r>
              <a:rPr lang="en-IN" sz="1500" dirty="0">
                <a:hlinkClick r:id="rId14"/>
              </a:rPr>
              <a:t> Database - Exercises, Practice, Solution</a:t>
            </a:r>
            <a:endParaRPr lang="en-IN" sz="1500" dirty="0"/>
          </a:p>
          <a:p>
            <a:pPr marL="12700" marR="5080"/>
            <a:r>
              <a:rPr lang="en-IN" sz="1500" dirty="0" err="1">
                <a:hlinkClick r:id="rId15"/>
              </a:rPr>
              <a:t>AdventureWorksDW</a:t>
            </a:r>
            <a:endParaRPr lang="en-IN" sz="1500" dirty="0"/>
          </a:p>
          <a:p>
            <a:pPr marL="12700" marR="5080"/>
            <a:r>
              <a:rPr lang="en-IN" sz="1500" dirty="0">
                <a:hlinkClick r:id="rId16"/>
              </a:rPr>
              <a:t>Uber-Database-Design-System</a:t>
            </a:r>
            <a:endParaRPr lang="en-IN" sz="1500" dirty="0"/>
          </a:p>
          <a:p>
            <a:pPr marL="12700" marR="5080"/>
            <a:r>
              <a:rPr lang="en-IN" sz="1500" dirty="0">
                <a:hlinkClick r:id="rId17"/>
              </a:rPr>
              <a:t>Yelp-Dataset/06_report/report.pdf at master · </a:t>
            </a:r>
            <a:r>
              <a:rPr lang="en-IN" sz="1500" dirty="0" err="1">
                <a:hlinkClick r:id="rId17"/>
              </a:rPr>
              <a:t>Tiankai</a:t>
            </a:r>
            <a:r>
              <a:rPr lang="en-IN" sz="1500" dirty="0">
                <a:hlinkClick r:id="rId17"/>
              </a:rPr>
              <a:t>-Jiang/Yelp-Dataset · GitHub</a:t>
            </a:r>
            <a:endParaRPr lang="en-IN" sz="1500" dirty="0"/>
          </a:p>
          <a:p>
            <a:pPr marL="12700" marR="5080"/>
            <a:r>
              <a:rPr lang="en-IN" sz="1500" dirty="0">
                <a:hlinkClick r:id="rId18"/>
              </a:rPr>
              <a:t>Airbnb Database Schema [classic] | </a:t>
            </a:r>
            <a:r>
              <a:rPr lang="en-IN" sz="1500" dirty="0" err="1">
                <a:hlinkClick r:id="rId18"/>
              </a:rPr>
              <a:t>Creately</a:t>
            </a:r>
            <a:endParaRPr lang="en-IN" sz="1500" dirty="0"/>
          </a:p>
          <a:p>
            <a:pPr marL="12700" marR="5080"/>
            <a:r>
              <a:rPr lang="en-IN" sz="1500" dirty="0">
                <a:hlinkClick r:id="rId19"/>
              </a:rPr>
              <a:t>Analytics Server Database Structure – Verizon Connect Enterprise Help</a:t>
            </a:r>
            <a:endParaRPr lang="en-IN" sz="1500" dirty="0"/>
          </a:p>
          <a:p>
            <a:pPr marL="12700" marR="5080"/>
            <a:r>
              <a:rPr lang="en-IN" sz="1500" dirty="0">
                <a:hlinkClick r:id="rId20"/>
              </a:rPr>
              <a:t>Dropbox DB Schema | System Design Primer</a:t>
            </a:r>
            <a:endParaRPr lang="en-IN" sz="1500" dirty="0"/>
          </a:p>
          <a:p>
            <a:pPr marL="12700" marR="5080"/>
            <a:r>
              <a:rPr lang="en-IN" sz="1500" dirty="0">
                <a:hlinkClick r:id="rId21"/>
              </a:rPr>
              <a:t>Netflix DB Schema | System Design Primer</a:t>
            </a:r>
            <a:endParaRPr lang="en-IN" sz="1500" dirty="0"/>
          </a:p>
          <a:p>
            <a:pPr marL="12700" marR="5080"/>
            <a:r>
              <a:rPr lang="en-IN" sz="1500" dirty="0">
                <a:hlinkClick r:id="rId22"/>
              </a:rPr>
              <a:t>Common Data model </a:t>
            </a:r>
            <a:r>
              <a:rPr lang="en-IN" sz="1500" dirty="0">
                <a:hlinkClick r:id="rId23"/>
              </a:rPr>
              <a:t>–</a:t>
            </a:r>
            <a:r>
              <a:rPr lang="en-IN" sz="1500" dirty="0">
                <a:hlinkClick r:id="rId22"/>
              </a:rPr>
              <a:t> Wikipedia</a:t>
            </a:r>
            <a:endParaRPr lang="en-IN" sz="1500" dirty="0"/>
          </a:p>
          <a:p>
            <a:pPr marL="12700" marR="5080"/>
            <a:r>
              <a:rPr lang="en-IN" sz="1500" dirty="0">
                <a:hlinkClick r:id="rId23"/>
              </a:rPr>
              <a:t>Common Data Model - Common Data Model | Microsoft Learn</a:t>
            </a:r>
            <a:endParaRPr lang="en-IN" sz="1500" dirty="0"/>
          </a:p>
          <a:p>
            <a:pPr marL="12700" marR="5080"/>
            <a:r>
              <a:rPr lang="en-US" sz="1500" dirty="0">
                <a:hlinkClick r:id="rId24"/>
              </a:rPr>
              <a:t>Common Data Model - Cloud Adoption Framework | Microsoft Learn</a:t>
            </a:r>
            <a:r>
              <a:rPr lang="en-US" sz="1500" kern="0" spc="-80" dirty="0">
                <a:solidFill>
                  <a:schemeClr val="accent2"/>
                </a:solidFill>
              </a:rPr>
              <a:t> </a:t>
            </a:r>
          </a:p>
          <a:p>
            <a:pPr marL="12700" marR="5080"/>
            <a:r>
              <a:rPr lang="en-US" sz="1500" dirty="0">
                <a:hlinkClick r:id="rId25"/>
              </a:rPr>
              <a:t>CDM</a:t>
            </a:r>
            <a:endParaRPr lang="en-US" sz="1500" dirty="0"/>
          </a:p>
          <a:p>
            <a:pPr marL="12700" marR="5080"/>
            <a:r>
              <a:rPr lang="en-US" sz="1500" dirty="0">
                <a:hlinkClick r:id="rId26"/>
              </a:rPr>
              <a:t>Database schema templates by </a:t>
            </a:r>
            <a:r>
              <a:rPr lang="en-US" sz="1500" dirty="0" err="1">
                <a:hlinkClick r:id="rId26"/>
              </a:rPr>
              <a:t>DrawSQL</a:t>
            </a:r>
            <a:r>
              <a:rPr lang="en-US" sz="1500" kern="0" spc="-80" dirty="0">
                <a:solidFill>
                  <a:schemeClr val="accent2"/>
                </a:solidFill>
              </a:rPr>
              <a:t> </a:t>
            </a:r>
          </a:p>
          <a:p>
            <a:pPr marL="12700" marR="5080"/>
            <a:r>
              <a:rPr lang="en-IN" sz="1500" dirty="0" err="1">
                <a:hlinkClick r:id="rId27"/>
              </a:rPr>
              <a:t>Vertabelo</a:t>
            </a:r>
            <a:r>
              <a:rPr lang="en-IN" sz="1500" dirty="0">
                <a:hlinkClick r:id="rId27"/>
              </a:rPr>
              <a:t> Database Modeler</a:t>
            </a:r>
            <a:endParaRPr lang="en-IN" sz="1500" dirty="0"/>
          </a:p>
          <a:p>
            <a:pPr marL="12700" marR="5080"/>
            <a:r>
              <a:rPr lang="en-US" sz="1500" dirty="0">
                <a:hlinkClick r:id="rId28"/>
              </a:rPr>
              <a:t>Books, an immutable double-entry accounting database service</a:t>
            </a:r>
            <a:endParaRPr lang="en-US" sz="1500" dirty="0"/>
          </a:p>
          <a:p>
            <a:pPr marL="12700" marR="5080"/>
            <a:endParaRPr lang="en-IN" sz="1500" dirty="0"/>
          </a:p>
          <a:p>
            <a:pPr marL="12700" marR="5080"/>
            <a:r>
              <a:rPr lang="en-US" sz="1500" kern="0" spc="-80" dirty="0">
                <a:solidFill>
                  <a:schemeClr val="accent2"/>
                </a:solidFill>
              </a:rPr>
              <a:t> </a:t>
            </a:r>
          </a:p>
        </p:txBody>
      </p:sp>
      <p:sp>
        <p:nvSpPr>
          <p:cNvPr id="7" name="object 2">
            <a:extLst>
              <a:ext uri="{FF2B5EF4-FFF2-40B4-BE49-F238E27FC236}">
                <a16:creationId xmlns:a16="http://schemas.microsoft.com/office/drawing/2014/main" id="{927344CB-9CB3-37C9-46FE-99DDB875B24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03097CCD-7D2C-26B0-736B-A44D1E075AA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294CDD3-713C-F8FC-2B5D-E7F133B12E29}"/>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4204453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556-B56B-73A4-2EAF-D6A5961511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EA7901-2D69-3F52-3E6D-B8C4CF61D1C6}"/>
              </a:ext>
            </a:extLst>
          </p:cNvPr>
          <p:cNvSpPr/>
          <p:nvPr/>
        </p:nvSpPr>
        <p:spPr>
          <a:xfrm>
            <a:off x="1756803" y="72565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718F33D-09FD-73CC-178B-125AA1C4B0D4}"/>
              </a:ext>
            </a:extLst>
          </p:cNvPr>
          <p:cNvSpPr/>
          <p:nvPr/>
        </p:nvSpPr>
        <p:spPr>
          <a:xfrm>
            <a:off x="1756803" y="57149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A47BEC7-3728-B908-BBE0-E9700E374774}"/>
              </a:ext>
            </a:extLst>
          </p:cNvPr>
          <p:cNvSpPr txBox="1">
            <a:spLocks/>
          </p:cNvSpPr>
          <p:nvPr/>
        </p:nvSpPr>
        <p:spPr>
          <a:xfrm>
            <a:off x="76200" y="838759"/>
            <a:ext cx="8624937" cy="438581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dirty="0">
                <a:solidFill>
                  <a:schemeClr val="accent2"/>
                </a:solidFill>
              </a:rPr>
              <a:t>For Further Exploration(NoSQL Data Modelling Resources)</a:t>
            </a:r>
            <a:endParaRPr lang="en-IN" sz="1200" dirty="0">
              <a:solidFill>
                <a:schemeClr val="accent6"/>
              </a:solidFill>
            </a:endParaRPr>
          </a:p>
          <a:p>
            <a:pPr marL="12700" marR="5080"/>
            <a:r>
              <a:rPr lang="en-US" sz="1100" dirty="0">
                <a:hlinkClick r:id="rId2"/>
              </a:rPr>
              <a:t>What is NoSQL Data Modeling? Definition &amp; FAQs | </a:t>
            </a:r>
            <a:r>
              <a:rPr lang="en-US" sz="1100" dirty="0" err="1">
                <a:hlinkClick r:id="rId2"/>
              </a:rPr>
              <a:t>ScyllaDB</a:t>
            </a:r>
            <a:endParaRPr lang="en-US" sz="1100" dirty="0"/>
          </a:p>
          <a:p>
            <a:pPr marL="12700" marR="5080"/>
            <a:r>
              <a:rPr lang="en-US" sz="1100" dirty="0">
                <a:hlinkClick r:id="rId3"/>
              </a:rPr>
              <a:t>How To Design Schema For NoSQL Data Models | MongoDB</a:t>
            </a:r>
            <a:endParaRPr lang="en-US" sz="1100" dirty="0"/>
          </a:p>
          <a:p>
            <a:pPr marL="12700" marR="5080"/>
            <a:r>
              <a:rPr lang="en-US" sz="1100" dirty="0">
                <a:hlinkClick r:id="rId4"/>
              </a:rPr>
              <a:t>NoSQL Data Modeling Techniques – Highly Scalable Blog</a:t>
            </a:r>
            <a:endParaRPr lang="en-US" sz="1100" dirty="0"/>
          </a:p>
          <a:p>
            <a:pPr marL="12700" marR="5080"/>
            <a:r>
              <a:rPr lang="en-IN" sz="1100" dirty="0">
                <a:hlinkClick r:id="rId5"/>
              </a:rPr>
              <a:t>Schema design for time series data  |  Bigtable Documentation  |  Google Cloud</a:t>
            </a:r>
            <a:endParaRPr lang="en-US" sz="1100" dirty="0"/>
          </a:p>
          <a:p>
            <a:pPr marL="12700" marR="5080"/>
            <a:r>
              <a:rPr lang="en-US" sz="1100" dirty="0">
                <a:hlinkClick r:id="rId6"/>
              </a:rPr>
              <a:t>The DynamoDB Book -- The most comprehensive book on data modeling with Amazon DynamoDB</a:t>
            </a:r>
            <a:endParaRPr lang="en-US" sz="1100" dirty="0"/>
          </a:p>
          <a:p>
            <a:pPr marL="12700" marR="5080"/>
            <a:r>
              <a:rPr lang="en-US" sz="1100" dirty="0">
                <a:hlinkClick r:id="rId7"/>
              </a:rPr>
              <a:t>Data Modeling with NoSQL Database: 3rd Edition</a:t>
            </a:r>
            <a:endParaRPr lang="en-US" sz="1100" kern="0" spc="-80" dirty="0">
              <a:solidFill>
                <a:schemeClr val="accent2"/>
              </a:solidFill>
            </a:endParaRPr>
          </a:p>
          <a:p>
            <a:pPr marL="12700" marR="5080"/>
            <a:r>
              <a:rPr lang="en-IN" sz="1100" dirty="0">
                <a:hlinkClick r:id="rId8"/>
              </a:rPr>
              <a:t>Steve </a:t>
            </a:r>
            <a:r>
              <a:rPr lang="en-IN" sz="1100" dirty="0" err="1">
                <a:hlinkClick r:id="rId8"/>
              </a:rPr>
              <a:t>Hobberman</a:t>
            </a:r>
            <a:r>
              <a:rPr lang="en-IN" sz="1100" dirty="0">
                <a:hlinkClick r:id="rId8"/>
              </a:rPr>
              <a:t> Books | Amazon.com</a:t>
            </a:r>
            <a:endParaRPr lang="en-IN" sz="1100" dirty="0"/>
          </a:p>
          <a:p>
            <a:pPr marL="12700" marR="5080"/>
            <a:r>
              <a:rPr lang="en-IN" sz="1100" dirty="0">
                <a:hlinkClick r:id="rId9"/>
              </a:rPr>
              <a:t>Temporal and Spatio-temporal Graphs in Neo4j</a:t>
            </a:r>
            <a:endParaRPr lang="en-IN" sz="1100" dirty="0"/>
          </a:p>
          <a:p>
            <a:pPr marL="12700" marR="5080"/>
            <a:endParaRPr lang="en-IN" sz="1100" dirty="0"/>
          </a:p>
          <a:p>
            <a:pPr marL="12700" marR="5080"/>
            <a:r>
              <a:rPr lang="en-IN" sz="1200" dirty="0">
                <a:solidFill>
                  <a:schemeClr val="accent2"/>
                </a:solidFill>
              </a:rPr>
              <a:t>For Further Exploration(NoSQL Analytics Resources)</a:t>
            </a:r>
          </a:p>
          <a:p>
            <a:pPr marL="12700" marR="5080"/>
            <a:r>
              <a:rPr lang="en-US" sz="1100" dirty="0">
                <a:hlinkClick r:id="rId10"/>
              </a:rPr>
              <a:t>Graph Analysis and Visualization | Wiley Online Books</a:t>
            </a:r>
            <a:endParaRPr lang="en-US" sz="1100" dirty="0"/>
          </a:p>
          <a:p>
            <a:pPr marL="12700" marR="5080"/>
            <a:r>
              <a:rPr lang="en-US" sz="1100" dirty="0">
                <a:hlinkClick r:id="rId11"/>
              </a:rPr>
              <a:t>Truthful Art, The: Data, Charts, and Maps for Communication</a:t>
            </a:r>
            <a:endParaRPr lang="en-US" sz="1100" dirty="0"/>
          </a:p>
          <a:p>
            <a:pPr marL="12700" marR="5080"/>
            <a:r>
              <a:rPr lang="en-IN" sz="1100" dirty="0">
                <a:hlinkClick r:id="rId12"/>
              </a:rPr>
              <a:t>Visualizing Graph Data</a:t>
            </a:r>
            <a:endParaRPr lang="en-IN" sz="1100" dirty="0"/>
          </a:p>
          <a:p>
            <a:pPr marL="12700" marR="5080"/>
            <a:r>
              <a:rPr lang="en-US" sz="1100" dirty="0">
                <a:hlinkClick r:id="rId13"/>
              </a:rPr>
              <a:t>Geospatial Analysis - spatial and GIS analysis techniques and GIS software.</a:t>
            </a:r>
            <a:endParaRPr lang="en-US" sz="1100" dirty="0"/>
          </a:p>
          <a:p>
            <a:pPr marL="12700" marR="5080"/>
            <a:r>
              <a:rPr lang="en-IN" sz="1100" dirty="0">
                <a:hlinkClick r:id="rId14"/>
              </a:rPr>
              <a:t>Geospatial-Analysis-with-SQL</a:t>
            </a:r>
            <a:endParaRPr lang="en-US" sz="1100" dirty="0"/>
          </a:p>
          <a:p>
            <a:pPr marL="12700" marR="5080"/>
            <a:r>
              <a:rPr lang="en-US" sz="1100" dirty="0">
                <a:hlinkClick r:id="rId15"/>
              </a:rPr>
              <a:t>Learning-Geospatial-Analysis-with-Python</a:t>
            </a:r>
            <a:endParaRPr lang="en-IN" sz="1100" dirty="0"/>
          </a:p>
          <a:p>
            <a:pPr marL="12700" marR="5080"/>
            <a:r>
              <a:rPr lang="en-US" sz="1100" dirty="0">
                <a:hlinkClick r:id="rId16"/>
              </a:rPr>
              <a:t>12 Methods for Visualizing Geospatial Data on a Map | SafeGraph</a:t>
            </a:r>
            <a:endParaRPr lang="en-US" sz="1100" dirty="0"/>
          </a:p>
          <a:p>
            <a:pPr marL="12700" marR="5080"/>
            <a:r>
              <a:rPr lang="en-IN" sz="1100" dirty="0">
                <a:hlinkClick r:id="rId17"/>
              </a:rPr>
              <a:t>Spatio-Temporal Graph Data Analytics</a:t>
            </a:r>
            <a:endParaRPr lang="en-IN" sz="1100" dirty="0"/>
          </a:p>
          <a:p>
            <a:pPr marL="12700" marR="5080"/>
            <a:r>
              <a:rPr lang="en-US" sz="1100" kern="0" spc="-80" dirty="0">
                <a:solidFill>
                  <a:schemeClr val="accent6"/>
                </a:solidFill>
              </a:rPr>
              <a:t>N.B – For the various Chart and Graph types in above Data Visualization resources, one can google/</a:t>
            </a:r>
            <a:r>
              <a:rPr lang="en-US" sz="1100" kern="0" spc="-80" dirty="0" err="1">
                <a:solidFill>
                  <a:schemeClr val="accent6"/>
                </a:solidFill>
              </a:rPr>
              <a:t>chatgpt</a:t>
            </a:r>
            <a:r>
              <a:rPr lang="en-US" sz="1100" kern="0" spc="-80" dirty="0">
                <a:solidFill>
                  <a:schemeClr val="accent6"/>
                </a:solidFill>
              </a:rPr>
              <a:t> for sample </a:t>
            </a:r>
            <a:r>
              <a:rPr lang="en-US" sz="1100" kern="0" spc="-80" dirty="0" err="1">
                <a:solidFill>
                  <a:schemeClr val="accent6"/>
                </a:solidFill>
              </a:rPr>
              <a:t>sql</a:t>
            </a:r>
            <a:r>
              <a:rPr lang="en-US" sz="1100" kern="0" spc="-80" dirty="0">
                <a:solidFill>
                  <a:schemeClr val="accent6"/>
                </a:solidFill>
              </a:rPr>
              <a:t> queries and understand the chart/graph.</a:t>
            </a:r>
          </a:p>
          <a:p>
            <a:pPr marL="12700" marR="5080"/>
            <a:endParaRPr lang="en-IN" sz="1100" dirty="0"/>
          </a:p>
          <a:p>
            <a:pPr marL="12700" marR="5080"/>
            <a:endParaRPr lang="en-IN" sz="1100" dirty="0"/>
          </a:p>
          <a:p>
            <a:pPr marL="12700" marR="5080"/>
            <a:endParaRPr lang="en-IN" sz="1500" dirty="0"/>
          </a:p>
          <a:p>
            <a:pPr marL="12700" marR="5080"/>
            <a:r>
              <a:rPr lang="en-US" sz="1500" kern="0" spc="-80" dirty="0">
                <a:solidFill>
                  <a:schemeClr val="accent2"/>
                </a:solidFill>
              </a:rPr>
              <a:t> </a:t>
            </a:r>
          </a:p>
        </p:txBody>
      </p:sp>
      <p:sp>
        <p:nvSpPr>
          <p:cNvPr id="7" name="object 2">
            <a:extLst>
              <a:ext uri="{FF2B5EF4-FFF2-40B4-BE49-F238E27FC236}">
                <a16:creationId xmlns:a16="http://schemas.microsoft.com/office/drawing/2014/main" id="{927344CB-9CB3-37C9-46FE-99DDB875B24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03097CCD-7D2C-26B0-736B-A44D1E075AA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294CDD3-713C-F8FC-2B5D-E7F133B12E29}"/>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grpSp>
        <p:nvGrpSpPr>
          <p:cNvPr id="3" name="Group 2">
            <a:extLst>
              <a:ext uri="{FF2B5EF4-FFF2-40B4-BE49-F238E27FC236}">
                <a16:creationId xmlns:a16="http://schemas.microsoft.com/office/drawing/2014/main" id="{252CF568-D95B-63E3-E37F-29AD36A64E4C}"/>
              </a:ext>
            </a:extLst>
          </p:cNvPr>
          <p:cNvGrpSpPr/>
          <p:nvPr/>
        </p:nvGrpSpPr>
        <p:grpSpPr>
          <a:xfrm>
            <a:off x="0" y="55459"/>
            <a:ext cx="8714556" cy="433513"/>
            <a:chOff x="0" y="65461"/>
            <a:chExt cx="8714556" cy="433513"/>
          </a:xfrm>
        </p:grpSpPr>
        <p:sp>
          <p:nvSpPr>
            <p:cNvPr id="9" name="Rectangle: Rounded Corners 8">
              <a:extLst>
                <a:ext uri="{FF2B5EF4-FFF2-40B4-BE49-F238E27FC236}">
                  <a16:creationId xmlns:a16="http://schemas.microsoft.com/office/drawing/2014/main" id="{C36B9285-E23C-EF94-6546-3DFFC0E4F839}"/>
                </a:ext>
              </a:extLst>
            </p:cNvPr>
            <p:cNvSpPr/>
            <p:nvPr/>
          </p:nvSpPr>
          <p:spPr>
            <a:xfrm>
              <a:off x="0" y="65461"/>
              <a:ext cx="8714556" cy="43351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8719C23E-4F51-4EF9-7339-9F34E1A0D881}"/>
                </a:ext>
              </a:extLst>
            </p:cNvPr>
            <p:cNvSpPr txBox="1"/>
            <p:nvPr/>
          </p:nvSpPr>
          <p:spPr>
            <a:xfrm>
              <a:off x="21162" y="86623"/>
              <a:ext cx="8672232" cy="3911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Data Modeling</a:t>
              </a:r>
              <a:endParaRPr lang="en-US" sz="2800" kern="1200" dirty="0">
                <a:solidFill>
                  <a:prstClr val="white"/>
                </a:solidFill>
                <a:latin typeface="Calibri"/>
                <a:ea typeface="+mn-ea"/>
                <a:cs typeface="+mn-cs"/>
              </a:endParaRPr>
            </a:p>
          </p:txBody>
        </p:sp>
      </p:grpSp>
    </p:spTree>
    <p:extLst>
      <p:ext uri="{BB962C8B-B14F-4D97-AF65-F5344CB8AC3E}">
        <p14:creationId xmlns:p14="http://schemas.microsoft.com/office/powerpoint/2010/main" val="2326588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7EC9C-4DAF-F497-8DB3-5DA7476F8D6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38C48C-AEDC-0935-7DCA-9C98999735E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B746BE-C8F4-7E0F-52F6-3829ACD42D2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E722AB3-0D47-7263-6CF4-0BAA3C63CFA3}"/>
              </a:ext>
            </a:extLst>
          </p:cNvPr>
          <p:cNvGraphicFramePr/>
          <p:nvPr/>
        </p:nvGraphicFramePr>
        <p:xfrm>
          <a:off x="138063" y="-57613"/>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F3C03E-2BD8-432B-254D-360CB69135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2356120-B554-6E71-35AD-B67B6313C50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6D37941-80AB-60A7-BFEC-00AE74CFBB00}"/>
              </a:ext>
            </a:extLst>
          </p:cNvPr>
          <p:cNvSpPr txBox="1">
            <a:spLocks/>
          </p:cNvSpPr>
          <p:nvPr/>
        </p:nvSpPr>
        <p:spPr>
          <a:xfrm>
            <a:off x="3673" y="674132"/>
            <a:ext cx="8915399" cy="54014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355600" marR="5080" indent="-342900">
              <a:buAutoNum type="arabicParenR"/>
            </a:pPr>
            <a:r>
              <a:rPr lang="en-US" sz="1300" kern="0" spc="-80" dirty="0">
                <a:solidFill>
                  <a:schemeClr val="accent6"/>
                </a:solidFill>
              </a:rPr>
              <a:t>If the app is write heavy(i.e. having more inserts/updates compared to selects w.r.t DB) then go for Normalized DB design else if its read heavy then go for Denormalized DB design. Also, via CQRS pattern,, data can be written in normalized DB while can be read from denormalized DB.</a:t>
            </a:r>
          </a:p>
          <a:p>
            <a:pPr marL="355600" marR="5080" indent="-342900">
              <a:buAutoNum type="arabicParenR"/>
            </a:pPr>
            <a:endParaRPr lang="en-US" sz="1300" kern="0" spc="-80" dirty="0">
              <a:solidFill>
                <a:schemeClr val="accent6"/>
              </a:solidFill>
            </a:endParaRPr>
          </a:p>
          <a:p>
            <a:pPr marL="355600" marR="5080" indent="-342900">
              <a:buAutoNum type="arabicParenR"/>
            </a:pPr>
            <a:r>
              <a:rPr lang="en-US" sz="1300" kern="0" spc="-80" dirty="0">
                <a:solidFill>
                  <a:schemeClr val="accent6"/>
                </a:solidFill>
              </a:rPr>
              <a:t>Use Audit Columns like </a:t>
            </a:r>
            <a:r>
              <a:rPr lang="en-US" sz="1300" kern="0" spc="-80" dirty="0" err="1">
                <a:solidFill>
                  <a:schemeClr val="accent6"/>
                </a:solidFill>
              </a:rPr>
              <a:t>CreatedBy</a:t>
            </a:r>
            <a:r>
              <a:rPr lang="en-US" sz="1300" kern="0" spc="-80" dirty="0">
                <a:solidFill>
                  <a:schemeClr val="accent6"/>
                </a:solidFill>
              </a:rPr>
              <a:t>, </a:t>
            </a:r>
            <a:r>
              <a:rPr lang="en-US" sz="1300" kern="0" spc="-80" dirty="0" err="1">
                <a:solidFill>
                  <a:schemeClr val="accent6"/>
                </a:solidFill>
              </a:rPr>
              <a:t>CreatedOn</a:t>
            </a:r>
            <a:r>
              <a:rPr lang="en-US" sz="1300" kern="0" spc="-80" dirty="0">
                <a:solidFill>
                  <a:schemeClr val="accent6"/>
                </a:solidFill>
              </a:rPr>
              <a:t>, </a:t>
            </a:r>
            <a:r>
              <a:rPr lang="en-US" sz="1300" kern="0" spc="-80" dirty="0" err="1">
                <a:solidFill>
                  <a:schemeClr val="accent6"/>
                </a:solidFill>
              </a:rPr>
              <a:t>LastUpdatedBy</a:t>
            </a:r>
            <a:r>
              <a:rPr lang="en-US" sz="1300" kern="0" spc="-80" dirty="0">
                <a:solidFill>
                  <a:schemeClr val="accent6"/>
                </a:solidFill>
              </a:rPr>
              <a:t> &amp; </a:t>
            </a:r>
            <a:r>
              <a:rPr lang="en-US" sz="1300" kern="0" spc="-80" dirty="0" err="1">
                <a:solidFill>
                  <a:schemeClr val="accent6"/>
                </a:solidFill>
              </a:rPr>
              <a:t>LastUpdatedOn</a:t>
            </a:r>
            <a:r>
              <a:rPr lang="en-US" sz="1300" kern="0" spc="-80" dirty="0">
                <a:solidFill>
                  <a:schemeClr val="accent6"/>
                </a:solidFill>
              </a:rPr>
              <a:t> if auditability is required.</a:t>
            </a:r>
          </a:p>
          <a:p>
            <a:pPr marL="355600" marR="5080" indent="-342900">
              <a:buAutoNum type="arabicParenR"/>
            </a:pPr>
            <a:endParaRPr lang="en-US" sz="1300" kern="0" spc="-80" dirty="0">
              <a:solidFill>
                <a:schemeClr val="accent6"/>
              </a:solidFill>
            </a:endParaRPr>
          </a:p>
          <a:p>
            <a:pPr marL="355600" marR="5080" indent="-342900">
              <a:buAutoNum type="arabicParenR"/>
            </a:pPr>
            <a:r>
              <a:rPr lang="en-US" sz="1300" kern="0" spc="-80" dirty="0">
                <a:solidFill>
                  <a:schemeClr val="accent6"/>
                </a:solidFill>
              </a:rPr>
              <a:t>Use Outbox(&amp; Inbox) patterns for any integration(to external/internal APIs, MQs or DBs or File Servers)</a:t>
            </a:r>
          </a:p>
          <a:p>
            <a:pPr marL="355600" marR="5080" indent="-342900">
              <a:buAutoNum type="arabicParenR"/>
            </a:pPr>
            <a:endParaRPr lang="en-US" sz="1300" kern="0" spc="-80" dirty="0">
              <a:solidFill>
                <a:schemeClr val="accent6"/>
              </a:solidFill>
            </a:endParaRPr>
          </a:p>
          <a:p>
            <a:pPr marL="355600" marR="5080" indent="-342900">
              <a:buAutoNum type="arabicParenR"/>
            </a:pPr>
            <a:r>
              <a:rPr lang="en-US" sz="1300" kern="0" spc="-80" dirty="0">
                <a:solidFill>
                  <a:schemeClr val="accent6"/>
                </a:solidFill>
              </a:rPr>
              <a:t>Check if Sync(Synchronous) Transactions needed to be handled &amp; Sync Transactions are in general needed for -   </a:t>
            </a:r>
          </a:p>
          <a:p>
            <a:pPr marL="12700" marR="5080"/>
            <a:r>
              <a:rPr lang="en-US" sz="1300" kern="0" spc="-80" dirty="0">
                <a:solidFill>
                  <a:schemeClr val="accent6"/>
                </a:solidFill>
              </a:rPr>
              <a:t>       a) Bulk(multiple) items of same record/row type[i.e. within same table] needs to be  </a:t>
            </a:r>
          </a:p>
          <a:p>
            <a:pPr marL="12700" marR="5080"/>
            <a:r>
              <a:rPr lang="en-US" sz="1300" kern="0" spc="-80" dirty="0">
                <a:solidFill>
                  <a:schemeClr val="accent6"/>
                </a:solidFill>
              </a:rPr>
              <a:t>           inserted/updated/deleted in an atomic way in “all or none” mode.</a:t>
            </a:r>
          </a:p>
          <a:p>
            <a:pPr marL="12700" marR="5080"/>
            <a:r>
              <a:rPr lang="en-US" sz="1300" kern="0" spc="-80" dirty="0">
                <a:solidFill>
                  <a:schemeClr val="accent6"/>
                </a:solidFill>
              </a:rPr>
              <a:t>       b) An object/record which needs to be </a:t>
            </a:r>
            <a:r>
              <a:rPr lang="en-US" sz="1300" kern="0" spc="-80" dirty="0" err="1">
                <a:solidFill>
                  <a:schemeClr val="accent6"/>
                </a:solidFill>
              </a:rPr>
              <a:t>splitted</a:t>
            </a:r>
            <a:r>
              <a:rPr lang="en-US" sz="1300" kern="0" spc="-80" dirty="0">
                <a:solidFill>
                  <a:schemeClr val="accent6"/>
                </a:solidFill>
              </a:rPr>
              <a:t> in parts &amp; each part needs to be inserted in different </a:t>
            </a:r>
          </a:p>
          <a:p>
            <a:pPr marL="12700" marR="5080"/>
            <a:r>
              <a:rPr lang="en-US" sz="1300" kern="0" spc="-80" dirty="0">
                <a:solidFill>
                  <a:schemeClr val="accent6"/>
                </a:solidFill>
              </a:rPr>
              <a:t>            DB tables</a:t>
            </a:r>
          </a:p>
          <a:p>
            <a:pPr marL="12700" marR="5080"/>
            <a:r>
              <a:rPr lang="en-US" sz="1300" kern="0" spc="-80" dirty="0">
                <a:solidFill>
                  <a:schemeClr val="accent6"/>
                </a:solidFill>
              </a:rPr>
              <a:t>       c) Multiple operations(e.g. insert &amp; some conditional update) needs to be done on the same record of </a:t>
            </a:r>
          </a:p>
          <a:p>
            <a:pPr marL="12700" marR="5080"/>
            <a:r>
              <a:rPr lang="en-US" sz="1300" kern="0" spc="-80" dirty="0">
                <a:solidFill>
                  <a:schemeClr val="accent6"/>
                </a:solidFill>
              </a:rPr>
              <a:t>           a table in an “all or none” mode.</a:t>
            </a:r>
          </a:p>
          <a:p>
            <a:pPr marL="12700" marR="5080"/>
            <a:r>
              <a:rPr lang="en-US" sz="1300" kern="0" spc="-80" dirty="0">
                <a:solidFill>
                  <a:schemeClr val="accent6"/>
                </a:solidFill>
              </a:rPr>
              <a:t>       d) A combination or all of a, b &amp; c above.</a:t>
            </a:r>
          </a:p>
          <a:p>
            <a:pPr marL="12700" marR="5080"/>
            <a:r>
              <a:rPr lang="en-US" sz="1300" kern="0" spc="-80" dirty="0">
                <a:solidFill>
                  <a:schemeClr val="accent6"/>
                </a:solidFill>
              </a:rPr>
              <a:t>       N.B. - Always wrap Synchronous Transactions using </a:t>
            </a:r>
            <a:r>
              <a:rPr lang="en-US" sz="1300" kern="0" spc="-80" dirty="0" err="1">
                <a:solidFill>
                  <a:schemeClr val="accent6"/>
                </a:solidFill>
              </a:rPr>
              <a:t>UnitOfWork</a:t>
            </a:r>
            <a:r>
              <a:rPr lang="en-US" sz="1300" kern="0" spc="-80" dirty="0">
                <a:solidFill>
                  <a:schemeClr val="accent6"/>
                </a:solidFill>
              </a:rPr>
              <a:t> Pattern.</a:t>
            </a:r>
          </a:p>
          <a:p>
            <a:pPr marL="12700" marR="5080"/>
            <a:endParaRPr lang="en-US" sz="1300" kern="0" spc="-80" dirty="0">
              <a:solidFill>
                <a:schemeClr val="accent6"/>
              </a:solidFill>
            </a:endParaRPr>
          </a:p>
          <a:p>
            <a:pPr marL="12700" marR="5080"/>
            <a:r>
              <a:rPr lang="en-US" sz="1300" kern="0" spc="-80" dirty="0">
                <a:solidFill>
                  <a:schemeClr val="accent6"/>
                </a:solidFill>
              </a:rPr>
              <a:t>5)    Check upfront if there is any </a:t>
            </a:r>
            <a:r>
              <a:rPr lang="en-US" sz="1300" kern="0" spc="-80" dirty="0" err="1">
                <a:solidFill>
                  <a:schemeClr val="accent6"/>
                </a:solidFill>
              </a:rPr>
              <a:t>usecase</a:t>
            </a:r>
            <a:r>
              <a:rPr lang="en-US" sz="1300" kern="0" spc="-80" dirty="0">
                <a:solidFill>
                  <a:schemeClr val="accent6"/>
                </a:solidFill>
              </a:rPr>
              <a:t> where the same record/row of a DB table can be (read +)     </a:t>
            </a:r>
          </a:p>
          <a:p>
            <a:pPr marL="12700" marR="5080"/>
            <a:r>
              <a:rPr lang="en-US" sz="1300" kern="0" spc="-80" dirty="0">
                <a:solidFill>
                  <a:schemeClr val="accent6"/>
                </a:solidFill>
              </a:rPr>
              <a:t>       written(updated/inserted) by multiple concurrent users/requests as depicted in  </a:t>
            </a:r>
            <a:r>
              <a:rPr lang="en-IN" sz="1000" dirty="0">
                <a:hlinkClick r:id="rId7"/>
              </a:rPr>
              <a:t>Concurrency Control in DBMS –   </a:t>
            </a:r>
          </a:p>
          <a:p>
            <a:pPr marL="12700" marR="5080"/>
            <a:r>
              <a:rPr lang="en-IN" sz="1000" dirty="0">
                <a:hlinkClick r:id="rId7"/>
              </a:rPr>
              <a:t>        </a:t>
            </a:r>
            <a:r>
              <a:rPr lang="en-IN" sz="1000" dirty="0" err="1">
                <a:hlinkClick r:id="rId7"/>
              </a:rPr>
              <a:t>GeeksforGeeks</a:t>
            </a:r>
            <a:r>
              <a:rPr lang="en-US" sz="1300" kern="0" spc="-80" dirty="0">
                <a:solidFill>
                  <a:schemeClr val="accent6"/>
                </a:solidFill>
              </a:rPr>
              <a:t>, then various concurrency issues can occur &amp; should be handled using Optimistic or Pessimistic</a:t>
            </a:r>
          </a:p>
          <a:p>
            <a:pPr marL="12700" marR="5080"/>
            <a:r>
              <a:rPr lang="en-US" sz="1300" kern="0" spc="-80" dirty="0">
                <a:solidFill>
                  <a:schemeClr val="accent6"/>
                </a:solidFill>
              </a:rPr>
              <a:t>       Concurrency checks. 2 common use-cases/scenarios related to this are – </a:t>
            </a:r>
          </a:p>
          <a:p>
            <a:pPr marL="12700" marR="5080"/>
            <a:r>
              <a:rPr lang="en-US" sz="1300" kern="0" spc="-80" dirty="0">
                <a:solidFill>
                  <a:schemeClr val="accent6"/>
                </a:solidFill>
              </a:rPr>
              <a:t>       a) Using integer IDs as PKs – say you read a max PK &amp; then do new to-be inserted PK = max PK + 1 &amp; then insert </a:t>
            </a:r>
          </a:p>
          <a:p>
            <a:pPr marL="12700" marR="5080"/>
            <a:r>
              <a:rPr lang="en-US" sz="1300" kern="0" spc="-80" dirty="0">
                <a:solidFill>
                  <a:schemeClr val="accent6"/>
                </a:solidFill>
              </a:rPr>
              <a:t>       the data with new PK. For multiple concurrent requests, concurrency issue(s) can happen here &amp; rather than    </a:t>
            </a:r>
          </a:p>
          <a:p>
            <a:pPr marL="12700" marR="5080"/>
            <a:r>
              <a:rPr lang="en-US" sz="1300" kern="0" spc="-80" dirty="0">
                <a:solidFill>
                  <a:schemeClr val="accent6"/>
                </a:solidFill>
              </a:rPr>
              <a:t>       explicitly using some optimistic or pessimistic concurrency control mechanism to handle the concurrency issue(s), </a:t>
            </a:r>
          </a:p>
          <a:p>
            <a:pPr marL="12700" marR="5080"/>
            <a:r>
              <a:rPr lang="en-US" sz="1300" kern="0" spc="-80" dirty="0">
                <a:solidFill>
                  <a:schemeClr val="accent6"/>
                </a:solidFill>
              </a:rPr>
              <a:t>       it’s better to change the DB design to use GUID based PKs instead of integer based PKs.</a:t>
            </a:r>
          </a:p>
        </p:txBody>
      </p:sp>
      <p:sp>
        <p:nvSpPr>
          <p:cNvPr id="8" name="AutoShape 2" descr="SQL vs NoSQL vs NewSQL. Adapting to the changing requirements… | by Gangani  Chamika | Medium">
            <a:extLst>
              <a:ext uri="{FF2B5EF4-FFF2-40B4-BE49-F238E27FC236}">
                <a16:creationId xmlns:a16="http://schemas.microsoft.com/office/drawing/2014/main" id="{15745741-B7A5-ED0C-52FF-A7EDF5D22F6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163D6AA-1A6E-A22A-7455-0AEAF61AA597}"/>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3995197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930A1-6C36-DDD2-ECAD-FAFA07C0577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EE2F60-BF78-7A97-DFF7-F27A312719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9A63A0-599F-E3BE-37D0-74E5DE27414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A8B1D2A-B1FA-FB57-42D8-A1CDB58632E9}"/>
              </a:ext>
            </a:extLst>
          </p:cNvPr>
          <p:cNvGraphicFramePr/>
          <p:nvPr/>
        </p:nvGraphicFramePr>
        <p:xfrm>
          <a:off x="76200" y="34425"/>
          <a:ext cx="90678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7B6FCEF-A6DE-0CFC-1C30-A8E88FB4430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769954E-49A1-6EF6-D402-446670653DD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D8CFB13-2594-7A9F-FE3E-CE02573522F1}"/>
              </a:ext>
            </a:extLst>
          </p:cNvPr>
          <p:cNvSpPr txBox="1">
            <a:spLocks/>
          </p:cNvSpPr>
          <p:nvPr/>
        </p:nvSpPr>
        <p:spPr>
          <a:xfrm>
            <a:off x="3673" y="674132"/>
            <a:ext cx="8915399" cy="42011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300" kern="0" spc="-80" dirty="0">
              <a:solidFill>
                <a:schemeClr val="accent6"/>
              </a:solidFill>
            </a:endParaRPr>
          </a:p>
          <a:p>
            <a:pPr marL="12700" marR="5080"/>
            <a:r>
              <a:rPr lang="en-US" sz="1300" kern="0" spc="-80" dirty="0">
                <a:solidFill>
                  <a:schemeClr val="accent6"/>
                </a:solidFill>
              </a:rPr>
              <a:t>       b) Any booking of something e.g. you want to book a hotel room A from today till next 3 days while there is</a:t>
            </a:r>
          </a:p>
          <a:p>
            <a:pPr marL="12700" marR="5080"/>
            <a:r>
              <a:rPr lang="en-US" sz="1300" kern="0" spc="-80" dirty="0">
                <a:solidFill>
                  <a:schemeClr val="accent6"/>
                </a:solidFill>
              </a:rPr>
              <a:t>       another user who wants to book the same hotel room A for tomorrow only &amp; both the requests have come at the </a:t>
            </a:r>
          </a:p>
          <a:p>
            <a:pPr marL="12700" marR="5080"/>
            <a:r>
              <a:rPr lang="en-US" sz="1300" kern="0" spc="-80" dirty="0">
                <a:solidFill>
                  <a:schemeClr val="accent6"/>
                </a:solidFill>
              </a:rPr>
              <a:t>       same time &amp; so concurrency is happening &amp; that needs to be controlled/handled. Distributed Locking(</a:t>
            </a:r>
            <a:r>
              <a:rPr lang="en-US" sz="1000" dirty="0">
                <a:hlinkClick r:id="rId7"/>
              </a:rPr>
              <a:t>How to do</a:t>
            </a:r>
          </a:p>
          <a:p>
            <a:pPr marL="12700" marR="5080"/>
            <a:r>
              <a:rPr lang="en-US" sz="1000" dirty="0">
                <a:hlinkClick r:id="rId7"/>
              </a:rPr>
              <a:t>       distributed locking — Martin </a:t>
            </a:r>
            <a:r>
              <a:rPr lang="en-US" sz="1000" dirty="0" err="1">
                <a:hlinkClick r:id="rId7"/>
              </a:rPr>
              <a:t>Kleppmann’s</a:t>
            </a:r>
            <a:r>
              <a:rPr lang="en-US" sz="1000" dirty="0">
                <a:hlinkClick r:id="rId7"/>
              </a:rPr>
              <a:t> blog</a:t>
            </a:r>
            <a:r>
              <a:rPr lang="en-US" sz="1300" kern="0" spc="-80" dirty="0">
                <a:solidFill>
                  <a:schemeClr val="accent6"/>
                </a:solidFill>
              </a:rPr>
              <a:t>) on impacted rows only using some attribute/column say </a:t>
            </a:r>
          </a:p>
          <a:p>
            <a:pPr marL="12700" marR="5080"/>
            <a:r>
              <a:rPr lang="en-US" sz="1300" kern="0" spc="-80" dirty="0">
                <a:solidFill>
                  <a:schemeClr val="accent6"/>
                </a:solidFill>
              </a:rPr>
              <a:t>       </a:t>
            </a:r>
            <a:r>
              <a:rPr lang="en-US" sz="1300" kern="0" spc="-80" dirty="0" err="1">
                <a:solidFill>
                  <a:schemeClr val="accent6"/>
                </a:solidFill>
              </a:rPr>
              <a:t>LockedByUserID</a:t>
            </a:r>
            <a:r>
              <a:rPr lang="en-US" sz="1300" kern="0" spc="-80" dirty="0">
                <a:solidFill>
                  <a:schemeClr val="accent6"/>
                </a:solidFill>
              </a:rPr>
              <a:t> seems to be the best way to handle such scenario(s). But then again in this case other client </a:t>
            </a:r>
          </a:p>
          <a:p>
            <a:pPr marL="12700" marR="5080"/>
            <a:r>
              <a:rPr lang="en-US" sz="1300" kern="0" spc="-80" dirty="0">
                <a:solidFill>
                  <a:schemeClr val="accent6"/>
                </a:solidFill>
              </a:rPr>
              <a:t>       requests may have to implement Retry +  Circuit Breaker Resiliency patterns or there needs to be MQ based async </a:t>
            </a:r>
          </a:p>
          <a:p>
            <a:pPr marL="12700" marR="5080"/>
            <a:r>
              <a:rPr lang="en-US" sz="1300" kern="0" spc="-80" dirty="0">
                <a:solidFill>
                  <a:schemeClr val="accent6"/>
                </a:solidFill>
              </a:rPr>
              <a:t>       layer to process requests one by one before the distributed locking comes into picture.</a:t>
            </a:r>
          </a:p>
          <a:p>
            <a:pPr marL="12700" marR="5080"/>
            <a:endParaRPr lang="en-US" sz="1300" kern="0" spc="-80" dirty="0">
              <a:solidFill>
                <a:schemeClr val="accent6"/>
              </a:solidFill>
            </a:endParaRPr>
          </a:p>
          <a:p>
            <a:pPr marL="355600" marR="5080" indent="-342900">
              <a:buAutoNum type="arabicParenR" startAt="6"/>
            </a:pPr>
            <a:r>
              <a:rPr lang="en-US" sz="1300" kern="0" spc="-80" dirty="0">
                <a:solidFill>
                  <a:schemeClr val="accent6"/>
                </a:solidFill>
              </a:rPr>
              <a:t>Have proper index being applied to fetch queries for join &amp; where clause columns. Also check volumetrics upfront </a:t>
            </a:r>
          </a:p>
          <a:p>
            <a:pPr marL="12700" marR="5080"/>
            <a:r>
              <a:rPr lang="en-US" sz="1300" kern="0" spc="-80" dirty="0">
                <a:solidFill>
                  <a:schemeClr val="accent6"/>
                </a:solidFill>
              </a:rPr>
              <a:t>        and see if partitioning is needed for some transactional tables/collections(e.g. Cosmos Mongo has a constraint </a:t>
            </a:r>
          </a:p>
          <a:p>
            <a:pPr marL="12700" marR="5080"/>
            <a:r>
              <a:rPr lang="en-US" sz="1300" kern="0" spc="-80" dirty="0">
                <a:solidFill>
                  <a:schemeClr val="accent6"/>
                </a:solidFill>
              </a:rPr>
              <a:t>        that single default partition size cannot be &gt; 20GB) which can grow (hugely) with time. If  yes, then have the </a:t>
            </a:r>
          </a:p>
          <a:p>
            <a:pPr marL="12700" marR="5080"/>
            <a:r>
              <a:rPr lang="en-US" sz="1300" kern="0" spc="-80" dirty="0">
                <a:solidFill>
                  <a:schemeClr val="accent6"/>
                </a:solidFill>
              </a:rPr>
              <a:t>        partition key in where clause of each update and select query for such transactional tables else performance can </a:t>
            </a:r>
          </a:p>
          <a:p>
            <a:pPr marL="12700" marR="5080"/>
            <a:r>
              <a:rPr lang="en-US" sz="1300" kern="0" spc="-80" dirty="0">
                <a:solidFill>
                  <a:schemeClr val="accent6"/>
                </a:solidFill>
              </a:rPr>
              <a:t>        degrade heavily with growth of data. Purging &amp; Archiving data based on some retention policy also can be a </a:t>
            </a:r>
          </a:p>
          <a:p>
            <a:pPr marL="12700" marR="5080"/>
            <a:r>
              <a:rPr lang="en-US" sz="1300" kern="0" spc="-80" dirty="0">
                <a:solidFill>
                  <a:schemeClr val="accent6"/>
                </a:solidFill>
              </a:rPr>
              <a:t>        solution but sometimes both Partitioning and Retention policy based implementation might be needed.</a:t>
            </a:r>
          </a:p>
          <a:p>
            <a:pPr marL="12700" marR="5080"/>
            <a:endParaRPr lang="en-US" sz="1300" kern="0" spc="-80" dirty="0">
              <a:solidFill>
                <a:schemeClr val="accent6"/>
              </a:solidFill>
            </a:endParaRPr>
          </a:p>
          <a:p>
            <a:pPr marL="355600" marR="5080" indent="-342900">
              <a:buAutoNum type="arabicParenR" startAt="7"/>
            </a:pPr>
            <a:r>
              <a:rPr lang="en-US" sz="1300" kern="0" spc="-80" dirty="0">
                <a:solidFill>
                  <a:schemeClr val="accent6"/>
                </a:solidFill>
              </a:rPr>
              <a:t>In any Data pipeline, decide upfront the data processing framework(s)/tool(s) &amp; kind of storage to be used i.e. use </a:t>
            </a:r>
          </a:p>
          <a:p>
            <a:pPr marL="12700" marR="5080"/>
            <a:r>
              <a:rPr lang="en-US" sz="1300" kern="0" spc="-80" dirty="0">
                <a:solidFill>
                  <a:schemeClr val="accent6"/>
                </a:solidFill>
              </a:rPr>
              <a:t>        the right tool for the right job(in the right way) e.g. there can be need to use persistent storage or in-memory </a:t>
            </a:r>
          </a:p>
          <a:p>
            <a:pPr marL="12700" marR="5080"/>
            <a:r>
              <a:rPr lang="en-US" sz="1300" kern="0" spc="-80" dirty="0">
                <a:solidFill>
                  <a:schemeClr val="accent6"/>
                </a:solidFill>
              </a:rPr>
              <a:t>        storage &amp; retention policy can be applied to both  &amp; retention period can be as low as deleting the records just </a:t>
            </a:r>
          </a:p>
          <a:p>
            <a:pPr marL="12700" marR="5080"/>
            <a:r>
              <a:rPr lang="en-US" sz="1300" kern="0" spc="-80" dirty="0">
                <a:solidFill>
                  <a:schemeClr val="accent6"/>
                </a:solidFill>
              </a:rPr>
              <a:t>        after processing or it can be very long periods of say 50 years or even more(</a:t>
            </a:r>
            <a:r>
              <a:rPr lang="en-US" sz="1300" kern="0" spc="-80" dirty="0" err="1">
                <a:solidFill>
                  <a:schemeClr val="accent6"/>
                </a:solidFill>
              </a:rPr>
              <a:t>atleast</a:t>
            </a:r>
            <a:r>
              <a:rPr lang="en-US" sz="1300" kern="0" spc="-80" dirty="0">
                <a:solidFill>
                  <a:schemeClr val="accent6"/>
                </a:solidFill>
              </a:rPr>
              <a:t> for persistent storage) as well </a:t>
            </a:r>
          </a:p>
          <a:p>
            <a:pPr marL="12700" marR="5080"/>
            <a:r>
              <a:rPr lang="en-US" sz="1300" kern="0" spc="-80" dirty="0">
                <a:solidFill>
                  <a:schemeClr val="accent6"/>
                </a:solidFill>
              </a:rPr>
              <a:t>        due to some compliance.</a:t>
            </a:r>
          </a:p>
        </p:txBody>
      </p:sp>
      <p:sp>
        <p:nvSpPr>
          <p:cNvPr id="8" name="AutoShape 2" descr="SQL vs NoSQL vs NewSQL. Adapting to the changing requirements… | by Gangani  Chamika | Medium">
            <a:extLst>
              <a:ext uri="{FF2B5EF4-FFF2-40B4-BE49-F238E27FC236}">
                <a16:creationId xmlns:a16="http://schemas.microsoft.com/office/drawing/2014/main" id="{A4A47E68-2D21-D06F-1B10-B6ED22EFD2E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5174353-C854-2790-8027-176FAB0AA590}"/>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3005149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DDAA-0021-9F04-07C1-4E38314858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9D422C-1EF4-2627-6B91-66CAC86F297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1BF0AA6-5493-224E-2773-A465D99CE6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4E1FFC5-95C8-A85F-73C2-0234BD3856EF}"/>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CC11AFD-D51A-86F7-839A-4FDE3756999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B0BD5D5-CF15-F707-7D1A-9510816257B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FA057F6B-E2B2-B9B3-C392-C71D64ED745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4DA8DA0-630F-4DF1-52B7-5FB2502FB99C}"/>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AAEDE67B-7D35-B4D8-C591-D78D9F657DBB}"/>
              </a:ext>
            </a:extLst>
          </p:cNvPr>
          <p:cNvSpPr txBox="1"/>
          <p:nvPr/>
        </p:nvSpPr>
        <p:spPr>
          <a:xfrm>
            <a:off x="0" y="799464"/>
            <a:ext cx="8867874" cy="5078313"/>
          </a:xfrm>
          <a:prstGeom prst="rect">
            <a:avLst/>
          </a:prstGeom>
          <a:noFill/>
        </p:spPr>
        <p:txBody>
          <a:bodyPr wrap="square">
            <a:spAutoFit/>
          </a:bodyPr>
          <a:lstStyle/>
          <a:p>
            <a:pPr lvl="0" eaLnBrk="0" fontAlgn="base" hangingPunct="0">
              <a:spcBef>
                <a:spcPct val="0"/>
              </a:spcBef>
              <a:spcAft>
                <a:spcPct val="0"/>
              </a:spcAft>
            </a:pPr>
            <a:r>
              <a:rPr lang="en-US" altLang="en-US" sz="1200" b="1" kern="0" spc="-80" dirty="0">
                <a:solidFill>
                  <a:schemeClr val="accent6"/>
                </a:solidFill>
                <a:latin typeface="Lucida Sans"/>
                <a:ea typeface="+mj-ea"/>
              </a:rPr>
              <a:t>Semantic data modeling creates a business-focused, structured model of data that captures its meaning, relationships, and context, acting as a layer between raw data and users for analysis. It abstracts complex underlying data structures into easy-to-understand subject areas, enabling technical and non-technical users to analyze data intuitively, integrate disparate systems, and support advanced analytics without needing to understand the technical complexity.  </a:t>
            </a:r>
          </a:p>
          <a:p>
            <a:pPr lvl="0" eaLnBrk="0" fontAlgn="base" hangingPunct="0">
              <a:spcBef>
                <a:spcPct val="0"/>
              </a:spcBef>
              <a:spcAft>
                <a:spcPct val="0"/>
              </a:spcAft>
            </a:pPr>
            <a:r>
              <a:rPr lang="en-US" altLang="en-US" sz="1200" b="1" kern="0" spc="-80" dirty="0">
                <a:solidFill>
                  <a:schemeClr val="accent2"/>
                </a:solidFill>
                <a:latin typeface="Lucida Sans"/>
                <a:ea typeface="+mj-ea"/>
              </a:rPr>
              <a:t>How it works</a:t>
            </a:r>
          </a:p>
          <a:p>
            <a:pPr lvl="0" eaLnBrk="0" fontAlgn="base" hangingPunct="0">
              <a:spcBef>
                <a:spcPct val="0"/>
              </a:spcBef>
              <a:spcAft>
                <a:spcPct val="0"/>
              </a:spcAft>
            </a:pPr>
            <a:r>
              <a:rPr lang="en-US" altLang="en-US" sz="1200" b="1" kern="0" spc="-80" dirty="0">
                <a:solidFill>
                  <a:schemeClr val="accent2"/>
                </a:solidFill>
                <a:latin typeface="Lucida Sans"/>
                <a:ea typeface="+mj-ea"/>
              </a:rPr>
              <a:t>Capturing Meaning and Context:</a:t>
            </a:r>
            <a:r>
              <a:rPr lang="en-US" altLang="en-US" sz="1200" b="1" kern="0" spc="-80" dirty="0">
                <a:solidFill>
                  <a:schemeClr val="accent6"/>
                </a:solidFill>
                <a:latin typeface="Lucida Sans"/>
                <a:ea typeface="+mj-ea"/>
              </a:rPr>
              <a:t> Semantic models focus on the "meaning" of data and its relationships within a specific domain. </a:t>
            </a:r>
          </a:p>
          <a:p>
            <a:pPr lvl="0" eaLnBrk="0" fontAlgn="base" hangingPunct="0">
              <a:spcBef>
                <a:spcPct val="0"/>
              </a:spcBef>
              <a:spcAft>
                <a:spcPct val="0"/>
              </a:spcAft>
            </a:pPr>
            <a:r>
              <a:rPr lang="en-US" altLang="en-US" sz="1200" b="1" kern="0" spc="-80" dirty="0">
                <a:solidFill>
                  <a:schemeClr val="accent2"/>
                </a:solidFill>
                <a:latin typeface="Lucida Sans"/>
                <a:ea typeface="+mj-ea"/>
              </a:rPr>
              <a:t>Abstraction: </a:t>
            </a:r>
            <a:r>
              <a:rPr lang="en-US" altLang="en-US" sz="1200" b="1" kern="0" spc="-80" dirty="0">
                <a:solidFill>
                  <a:schemeClr val="accent6"/>
                </a:solidFill>
                <a:latin typeface="Lucida Sans"/>
                <a:ea typeface="+mj-ea"/>
              </a:rPr>
              <a:t>They abstract physical database objects into logical dimensions, presenting data in a way that aligns with business understanding. </a:t>
            </a:r>
          </a:p>
          <a:p>
            <a:pPr lvl="0" eaLnBrk="0" fontAlgn="base" hangingPunct="0">
              <a:spcBef>
                <a:spcPct val="0"/>
              </a:spcBef>
              <a:spcAft>
                <a:spcPct val="0"/>
              </a:spcAft>
            </a:pPr>
            <a:r>
              <a:rPr lang="en-US" altLang="en-US" sz="1200" b="1" kern="0" spc="-80" dirty="0">
                <a:solidFill>
                  <a:schemeClr val="accent2"/>
                </a:solidFill>
                <a:latin typeface="Lucida Sans"/>
                <a:ea typeface="+mj-ea"/>
              </a:rPr>
              <a:t>User-Friendly Layer: </a:t>
            </a:r>
            <a:r>
              <a:rPr lang="en-US" altLang="en-US" sz="1200" b="1" kern="0" spc="-80" dirty="0">
                <a:solidFill>
                  <a:schemeClr val="accent6"/>
                </a:solidFill>
                <a:latin typeface="Lucida Sans"/>
                <a:ea typeface="+mj-ea"/>
              </a:rPr>
              <a:t>This model serves as a "translation layer" between the underlying data and business users. </a:t>
            </a:r>
          </a:p>
          <a:p>
            <a:pPr lvl="0" eaLnBrk="0" fontAlgn="base" hangingPunct="0">
              <a:spcBef>
                <a:spcPct val="0"/>
              </a:spcBef>
              <a:spcAft>
                <a:spcPct val="0"/>
              </a:spcAft>
            </a:pPr>
            <a:r>
              <a:rPr lang="en-US" altLang="en-US" sz="1200" b="1" kern="0" spc="-80" dirty="0">
                <a:solidFill>
                  <a:schemeClr val="accent2"/>
                </a:solidFill>
                <a:latin typeface="Lucida Sans"/>
                <a:ea typeface="+mj-ea"/>
              </a:rPr>
              <a:t>Subject Areas and Hierarchies: </a:t>
            </a:r>
            <a:r>
              <a:rPr lang="en-US" altLang="en-US" sz="1200" b="1" kern="0" spc="-80" dirty="0">
                <a:solidFill>
                  <a:schemeClr val="accent6"/>
                </a:solidFill>
                <a:latin typeface="Lucida Sans"/>
                <a:ea typeface="+mj-ea"/>
              </a:rPr>
              <a:t>Data is organized into intuitive subject areas, tables, columns, and hierarchies that reflect business structures. </a:t>
            </a:r>
          </a:p>
          <a:p>
            <a:pPr lvl="0" eaLnBrk="0" fontAlgn="base" hangingPunct="0">
              <a:spcBef>
                <a:spcPct val="0"/>
              </a:spcBef>
              <a:spcAft>
                <a:spcPct val="0"/>
              </a:spcAft>
            </a:pPr>
            <a:r>
              <a:rPr lang="en-US" altLang="en-US" sz="1200" b="1" kern="0" spc="-80" dirty="0">
                <a:solidFill>
                  <a:schemeClr val="accent2"/>
                </a:solidFill>
                <a:latin typeface="Lucida Sans"/>
                <a:ea typeface="+mj-ea"/>
              </a:rPr>
              <a:t>Formal Knowledge Representation:</a:t>
            </a:r>
            <a:r>
              <a:rPr lang="en-US" altLang="en-US" sz="1200" b="1" kern="0" spc="-80" dirty="0">
                <a:solidFill>
                  <a:schemeClr val="accent6"/>
                </a:solidFill>
                <a:latin typeface="Lucida Sans"/>
                <a:ea typeface="+mj-ea"/>
              </a:rPr>
              <a:t> Techniques like ontologies and formal knowledge representation are used to define concepts, relationships, and rules precisely. </a:t>
            </a:r>
          </a:p>
          <a:p>
            <a:pPr lvl="0" eaLnBrk="0" fontAlgn="base" hangingPunct="0">
              <a:spcBef>
                <a:spcPct val="0"/>
              </a:spcBef>
              <a:spcAft>
                <a:spcPct val="0"/>
              </a:spcAft>
            </a:pPr>
            <a:r>
              <a:rPr lang="en-US" altLang="en-US" sz="1200" b="1" kern="0" spc="-80" dirty="0">
                <a:solidFill>
                  <a:schemeClr val="accent2"/>
                </a:solidFill>
                <a:latin typeface="Lucida Sans"/>
                <a:ea typeface="+mj-ea"/>
              </a:rPr>
              <a:t>Benefits</a:t>
            </a:r>
          </a:p>
          <a:p>
            <a:pPr lvl="0" eaLnBrk="0" fontAlgn="base" hangingPunct="0">
              <a:spcBef>
                <a:spcPct val="0"/>
              </a:spcBef>
              <a:spcAft>
                <a:spcPct val="0"/>
              </a:spcAft>
            </a:pPr>
            <a:r>
              <a:rPr lang="en-US" altLang="en-US" sz="1200" b="1" kern="0" spc="-80" dirty="0">
                <a:solidFill>
                  <a:schemeClr val="accent2"/>
                </a:solidFill>
                <a:latin typeface="Lucida Sans"/>
                <a:ea typeface="+mj-ea"/>
              </a:rPr>
              <a:t>Improved Understanding:</a:t>
            </a:r>
            <a:r>
              <a:rPr lang="en-US" altLang="en-US" sz="1200" b="1" kern="0" spc="-80" dirty="0">
                <a:solidFill>
                  <a:schemeClr val="accent6"/>
                </a:solidFill>
                <a:latin typeface="Lucida Sans"/>
                <a:ea typeface="+mj-ea"/>
              </a:rPr>
              <a:t> Makes data understandable for both technical and non-technical stakeholders. </a:t>
            </a:r>
          </a:p>
          <a:p>
            <a:pPr lvl="0" eaLnBrk="0" fontAlgn="base" hangingPunct="0">
              <a:spcBef>
                <a:spcPct val="0"/>
              </a:spcBef>
              <a:spcAft>
                <a:spcPct val="0"/>
              </a:spcAft>
            </a:pPr>
            <a:r>
              <a:rPr lang="en-US" altLang="en-US" sz="1200" b="1" kern="0" spc="-80" dirty="0">
                <a:solidFill>
                  <a:schemeClr val="accent2"/>
                </a:solidFill>
                <a:latin typeface="Lucida Sans"/>
                <a:ea typeface="+mj-ea"/>
              </a:rPr>
              <a:t>Enhanced Analytics:</a:t>
            </a:r>
            <a:r>
              <a:rPr lang="en-US" altLang="en-US" sz="1200" b="1" kern="0" spc="-80" dirty="0">
                <a:solidFill>
                  <a:schemeClr val="accent6"/>
                </a:solidFill>
                <a:latin typeface="Lucida Sans"/>
                <a:ea typeface="+mj-ea"/>
              </a:rPr>
              <a:t> Supports advanced analytical applications by exposing a metrics-oriented data layer. </a:t>
            </a:r>
          </a:p>
          <a:p>
            <a:pPr lvl="0" eaLnBrk="0" fontAlgn="base" hangingPunct="0">
              <a:spcBef>
                <a:spcPct val="0"/>
              </a:spcBef>
              <a:spcAft>
                <a:spcPct val="0"/>
              </a:spcAft>
            </a:pPr>
            <a:r>
              <a:rPr lang="en-US" altLang="en-US" sz="1200" b="1" kern="0" spc="-80" dirty="0">
                <a:solidFill>
                  <a:schemeClr val="accent2"/>
                </a:solidFill>
                <a:latin typeface="Lucida Sans"/>
                <a:ea typeface="+mj-ea"/>
              </a:rPr>
              <a:t>Data Integration:</a:t>
            </a:r>
            <a:r>
              <a:rPr lang="en-US" altLang="en-US" sz="1200" b="1" kern="0" spc="-80" dirty="0">
                <a:solidFill>
                  <a:schemeClr val="accent6"/>
                </a:solidFill>
                <a:latin typeface="Lucida Sans"/>
                <a:ea typeface="+mj-ea"/>
              </a:rPr>
              <a:t> Facilitates data integration and interoperability across different systems. </a:t>
            </a:r>
          </a:p>
          <a:p>
            <a:pPr lvl="0" eaLnBrk="0" fontAlgn="base" hangingPunct="0">
              <a:spcBef>
                <a:spcPct val="0"/>
              </a:spcBef>
              <a:spcAft>
                <a:spcPct val="0"/>
              </a:spcAft>
            </a:pPr>
            <a:r>
              <a:rPr lang="en-US" altLang="en-US" sz="1200" b="1" kern="0" spc="-80" dirty="0">
                <a:solidFill>
                  <a:schemeClr val="accent2"/>
                </a:solidFill>
                <a:latin typeface="Lucida Sans"/>
                <a:ea typeface="+mj-ea"/>
              </a:rPr>
              <a:t>Reduced Redundancy: </a:t>
            </a:r>
            <a:r>
              <a:rPr lang="en-US" altLang="en-US" sz="1200" b="1" kern="0" spc="-80" dirty="0">
                <a:solidFill>
                  <a:schemeClr val="accent6"/>
                </a:solidFill>
                <a:latin typeface="Lucida Sans"/>
                <a:ea typeface="+mj-ea"/>
              </a:rPr>
              <a:t>Helps identify and eliminate data redundancies before physical implementation. </a:t>
            </a:r>
          </a:p>
          <a:p>
            <a:pPr lvl="0" eaLnBrk="0" fontAlgn="base" hangingPunct="0">
              <a:spcBef>
                <a:spcPct val="0"/>
              </a:spcBef>
              <a:spcAft>
                <a:spcPct val="0"/>
              </a:spcAft>
            </a:pPr>
            <a:r>
              <a:rPr lang="en-US" altLang="en-US" sz="1200" b="1" kern="0" spc="-80" dirty="0">
                <a:solidFill>
                  <a:schemeClr val="accent2"/>
                </a:solidFill>
                <a:latin typeface="Lucida Sans"/>
                <a:ea typeface="+mj-ea"/>
              </a:rPr>
              <a:t>Informed Decision-Making: </a:t>
            </a:r>
            <a:r>
              <a:rPr lang="en-US" altLang="en-US" sz="1200" b="1" kern="0" spc="-80" dirty="0">
                <a:solidFill>
                  <a:schemeClr val="accent6"/>
                </a:solidFill>
                <a:latin typeface="Lucida Sans"/>
                <a:ea typeface="+mj-ea"/>
              </a:rPr>
              <a:t>Allows users to query data in an intuitive way to answer business questions and make better decisions. </a:t>
            </a:r>
          </a:p>
          <a:p>
            <a:pPr lvl="0" eaLnBrk="0" fontAlgn="base" hangingPunct="0">
              <a:spcBef>
                <a:spcPct val="0"/>
              </a:spcBef>
              <a:spcAft>
                <a:spcPct val="0"/>
              </a:spcAft>
            </a:pPr>
            <a:r>
              <a:rPr lang="en-US" altLang="en-US" sz="1200" b="1" kern="0" spc="-80" dirty="0">
                <a:solidFill>
                  <a:schemeClr val="accent2"/>
                </a:solidFill>
                <a:latin typeface="Lucida Sans"/>
                <a:ea typeface="+mj-ea"/>
              </a:rPr>
              <a:t>Common Use Cases</a:t>
            </a:r>
          </a:p>
          <a:p>
            <a:pPr lvl="0" eaLnBrk="0" fontAlgn="base" hangingPunct="0">
              <a:spcBef>
                <a:spcPct val="0"/>
              </a:spcBef>
              <a:spcAft>
                <a:spcPct val="0"/>
              </a:spcAft>
            </a:pPr>
            <a:r>
              <a:rPr lang="en-US" altLang="en-US" sz="1200" b="1" kern="0" spc="-80" dirty="0">
                <a:solidFill>
                  <a:schemeClr val="accent2"/>
                </a:solidFill>
                <a:latin typeface="Lucida Sans"/>
                <a:ea typeface="+mj-ea"/>
              </a:rPr>
              <a:t>Business Intelligence and Reporting: </a:t>
            </a:r>
            <a:r>
              <a:rPr lang="en-US" altLang="en-US" sz="1200" b="1" kern="0" spc="-80" dirty="0">
                <a:solidFill>
                  <a:schemeClr val="accent6"/>
                </a:solidFill>
                <a:latin typeface="Lucida Sans"/>
                <a:ea typeface="+mj-ea"/>
              </a:rPr>
              <a:t>Powers dashboards, analyses, and reports by providing a structured, understandable data source. </a:t>
            </a:r>
          </a:p>
          <a:p>
            <a:pPr lvl="0" eaLnBrk="0" fontAlgn="base" hangingPunct="0">
              <a:spcBef>
                <a:spcPct val="0"/>
              </a:spcBef>
              <a:spcAft>
                <a:spcPct val="0"/>
              </a:spcAft>
            </a:pPr>
            <a:r>
              <a:rPr lang="en-US" altLang="en-US" sz="1200" b="1" kern="0" spc="-80" dirty="0">
                <a:solidFill>
                  <a:schemeClr val="accent2"/>
                </a:solidFill>
                <a:latin typeface="Lucida Sans"/>
                <a:ea typeface="+mj-ea"/>
              </a:rPr>
              <a:t>Data Integration and Data Warehousing: </a:t>
            </a:r>
            <a:r>
              <a:rPr lang="en-US" altLang="en-US" sz="1200" b="1" kern="0" spc="-80" dirty="0">
                <a:solidFill>
                  <a:schemeClr val="accent6"/>
                </a:solidFill>
                <a:latin typeface="Lucida Sans"/>
                <a:ea typeface="+mj-ea"/>
              </a:rPr>
              <a:t>Helps integrate data from various sources and supports data resource planning. </a:t>
            </a:r>
          </a:p>
          <a:p>
            <a:pPr lvl="0" eaLnBrk="0" fontAlgn="base" hangingPunct="0">
              <a:spcBef>
                <a:spcPct val="0"/>
              </a:spcBef>
              <a:spcAft>
                <a:spcPct val="0"/>
              </a:spcAft>
            </a:pPr>
            <a:r>
              <a:rPr lang="en-US" altLang="en-US" sz="1200" b="1" kern="0" spc="-80" dirty="0">
                <a:solidFill>
                  <a:schemeClr val="accent2"/>
                </a:solidFill>
                <a:latin typeface="Lucida Sans"/>
                <a:ea typeface="+mj-ea"/>
              </a:rPr>
              <a:t>Data Science:</a:t>
            </a:r>
            <a:r>
              <a:rPr lang="en-US" altLang="en-US" sz="1200" b="1" kern="0" spc="-80" dirty="0">
                <a:solidFill>
                  <a:schemeClr val="accent6"/>
                </a:solidFill>
                <a:latin typeface="Lucida Sans"/>
                <a:ea typeface="+mj-ea"/>
              </a:rPr>
              <a:t> Provides structured business logic that can be leveraged in data science applications. </a:t>
            </a:r>
          </a:p>
          <a:p>
            <a:pPr lvl="0" eaLnBrk="0" fontAlgn="base" hangingPunct="0">
              <a:spcBef>
                <a:spcPct val="0"/>
              </a:spcBef>
              <a:spcAft>
                <a:spcPct val="0"/>
              </a:spcAft>
            </a:pPr>
            <a:r>
              <a:rPr lang="en-US" altLang="en-US" sz="1200" b="1" kern="0" spc="-80" dirty="0">
                <a:solidFill>
                  <a:schemeClr val="accent2"/>
                </a:solidFill>
                <a:latin typeface="Lucida Sans"/>
                <a:ea typeface="+mj-ea"/>
              </a:rPr>
              <a:t>Knowledge Management: </a:t>
            </a:r>
            <a:r>
              <a:rPr lang="en-US" altLang="en-US" sz="1200" b="1" kern="0" spc="-80" dirty="0">
                <a:solidFill>
                  <a:schemeClr val="accent6"/>
                </a:solidFill>
                <a:latin typeface="Lucida Sans"/>
                <a:ea typeface="+mj-ea"/>
              </a:rPr>
              <a:t>Organizes knowledge explicitly and makes it </a:t>
            </a:r>
            <a:r>
              <a:rPr lang="en-US" altLang="en-US" sz="1200" b="1" kern="0" spc="-80" dirty="0" err="1">
                <a:solidFill>
                  <a:schemeClr val="accent6"/>
                </a:solidFill>
                <a:latin typeface="Lucida Sans"/>
                <a:ea typeface="+mj-ea"/>
              </a:rPr>
              <a:t>queryable</a:t>
            </a:r>
            <a:r>
              <a:rPr lang="en-US" altLang="en-US" sz="1200" b="1" kern="0" spc="-80" dirty="0">
                <a:solidFill>
                  <a:schemeClr val="accent6"/>
                </a:solidFill>
                <a:latin typeface="Lucida Sans"/>
                <a:ea typeface="+mj-ea"/>
              </a:rPr>
              <a:t> for multiple decision-making tasks</a:t>
            </a:r>
          </a:p>
        </p:txBody>
      </p:sp>
      <p:sp>
        <p:nvSpPr>
          <p:cNvPr id="9" name="Rectangle 2">
            <a:extLst>
              <a:ext uri="{FF2B5EF4-FFF2-40B4-BE49-F238E27FC236}">
                <a16:creationId xmlns:a16="http://schemas.microsoft.com/office/drawing/2014/main" id="{846111E3-653C-17D4-39D1-5AF717362656}"/>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5204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86237-B899-7195-BFBA-DFCA4EB623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ABA310-8446-3B08-327C-68B6F24911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C565608-D2EB-DC12-31EF-A7A3B111786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4DF4DD-9FA5-55EC-18AE-A430A20D0D90}"/>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20C474C-7ECF-8634-DC72-B21B02AEA4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B2874FF-7741-BA83-72CD-20222A39152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461B5AF4-35C8-CE3B-2990-0CE7FDAF7F7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5DCE637-8A8D-12AC-184E-4050BDBEC9C9}"/>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59E300A8-BED7-92A7-984D-1B43257F8EAD}"/>
              </a:ext>
            </a:extLst>
          </p:cNvPr>
          <p:cNvSpPr txBox="1"/>
          <p:nvPr/>
        </p:nvSpPr>
        <p:spPr>
          <a:xfrm>
            <a:off x="-14337" y="635424"/>
            <a:ext cx="8867874" cy="5447645"/>
          </a:xfrm>
          <a:prstGeom prst="rect">
            <a:avLst/>
          </a:prstGeom>
          <a:noFill/>
        </p:spPr>
        <p:txBody>
          <a:bodyPr wrap="square">
            <a:spAutoFit/>
          </a:bodyPr>
          <a:lstStyle/>
          <a:p>
            <a:pPr lvl="0" eaLnBrk="0" fontAlgn="base" hangingPunct="0">
              <a:spcBef>
                <a:spcPct val="0"/>
              </a:spcBef>
              <a:spcAft>
                <a:spcPct val="0"/>
              </a:spcAft>
            </a:pP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data integrates both location (spatial) and time (temporal) information for objects or phenomena, allowing us to track their evolution and patterns over time and space. Common examples include GPS trajectories of moving vehicles, weather patterns, or the spread of diseases, and analyzing this data requires specialized methods to account for its unique properties like self-correlation and heterogeneity.  </a:t>
            </a:r>
          </a:p>
          <a:p>
            <a:pPr lvl="0" eaLnBrk="0" fontAlgn="base" hangingPunct="0">
              <a:spcBef>
                <a:spcPct val="0"/>
              </a:spcBef>
              <a:spcAft>
                <a:spcPct val="0"/>
              </a:spcAft>
            </a:pPr>
            <a:r>
              <a:rPr lang="en-US" altLang="en-US" sz="1200" b="1" kern="0" spc="-80" dirty="0">
                <a:solidFill>
                  <a:schemeClr val="accent2"/>
                </a:solidFill>
                <a:latin typeface="Lucida Sans"/>
                <a:ea typeface="+mj-ea"/>
              </a:rPr>
              <a:t>Key Characteristics</a:t>
            </a:r>
          </a:p>
          <a:p>
            <a:pPr lvl="0" eaLnBrk="0" fontAlgn="base" hangingPunct="0">
              <a:spcBef>
                <a:spcPct val="0"/>
              </a:spcBef>
              <a:spcAft>
                <a:spcPct val="0"/>
              </a:spcAft>
            </a:pPr>
            <a:r>
              <a:rPr lang="en-US" altLang="en-US" sz="1200" b="1" kern="0" spc="-80" dirty="0">
                <a:solidFill>
                  <a:schemeClr val="accent2"/>
                </a:solidFill>
                <a:latin typeface="Lucida Sans"/>
                <a:ea typeface="+mj-ea"/>
              </a:rPr>
              <a:t>Dual Properties: </a:t>
            </a:r>
            <a:r>
              <a:rPr lang="en-US" altLang="en-US" sz="1200" b="1" kern="0" spc="-80" dirty="0">
                <a:solidFill>
                  <a:schemeClr val="accent6"/>
                </a:solidFill>
                <a:latin typeface="Lucida Sans"/>
                <a:ea typeface="+mj-ea"/>
              </a:rPr>
              <a:t>The data explicitly captures both a geographic location (e.g., coordinates, grid cell) and a time stamp. </a:t>
            </a:r>
          </a:p>
          <a:p>
            <a:pPr lvl="0" eaLnBrk="0" fontAlgn="base" hangingPunct="0">
              <a:spcBef>
                <a:spcPct val="0"/>
              </a:spcBef>
              <a:spcAft>
                <a:spcPct val="0"/>
              </a:spcAft>
            </a:pPr>
            <a:r>
              <a:rPr lang="en-US" altLang="en-US" sz="1200" b="1" kern="0" spc="-80" dirty="0">
                <a:solidFill>
                  <a:schemeClr val="accent2"/>
                </a:solidFill>
                <a:latin typeface="Lucida Sans"/>
                <a:ea typeface="+mj-ea"/>
              </a:rPr>
              <a:t>Dynamic Nature: </a:t>
            </a: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objects can dynamically change their location or extent over time, like a moving car or a shifting weather front. </a:t>
            </a:r>
          </a:p>
          <a:p>
            <a:pPr lvl="0" eaLnBrk="0" fontAlgn="base" hangingPunct="0">
              <a:spcBef>
                <a:spcPct val="0"/>
              </a:spcBef>
              <a:spcAft>
                <a:spcPct val="0"/>
              </a:spcAft>
            </a:pPr>
            <a:r>
              <a:rPr lang="en-US" altLang="en-US" sz="1200" b="1" kern="0" spc="-80" dirty="0">
                <a:solidFill>
                  <a:schemeClr val="accent2"/>
                </a:solidFill>
                <a:latin typeface="Lucida Sans"/>
                <a:ea typeface="+mj-ea"/>
              </a:rPr>
              <a:t>Autocorrelation: </a:t>
            </a:r>
            <a:r>
              <a:rPr lang="en-US" altLang="en-US" sz="1200" b="1" kern="0" spc="-80" dirty="0">
                <a:solidFill>
                  <a:schemeClr val="accent6"/>
                </a:solidFill>
                <a:latin typeface="Lucida Sans"/>
                <a:ea typeface="+mj-ea"/>
              </a:rPr>
              <a:t>Nearby locations and nearby times often exhibit similar characteristics (e.g., a cluster of high temperatures in adjacent regions, according to ScienceDirect), which deviates from the independent samples assumption of traditional data mining. </a:t>
            </a:r>
          </a:p>
          <a:p>
            <a:pPr lvl="0" eaLnBrk="0" fontAlgn="base" hangingPunct="0">
              <a:spcBef>
                <a:spcPct val="0"/>
              </a:spcBef>
              <a:spcAft>
                <a:spcPct val="0"/>
              </a:spcAft>
            </a:pPr>
            <a:r>
              <a:rPr lang="en-US" altLang="en-US" sz="1200" b="1" kern="0" spc="-80" dirty="0">
                <a:solidFill>
                  <a:schemeClr val="accent2"/>
                </a:solidFill>
                <a:latin typeface="Lucida Sans"/>
                <a:ea typeface="+mj-ea"/>
              </a:rPr>
              <a:t>Heterogeneity: </a:t>
            </a:r>
            <a:r>
              <a:rPr lang="en-US" altLang="en-US" sz="1200" b="1" kern="0" spc="-80" dirty="0">
                <a:solidFill>
                  <a:schemeClr val="accent6"/>
                </a:solidFill>
                <a:latin typeface="Lucida Sans"/>
                <a:ea typeface="+mj-ea"/>
              </a:rPr>
              <a:t>The data can be diverse, with different types of spatial and temporal granularity, reflecting patterns at various levels of detail. </a:t>
            </a:r>
          </a:p>
          <a:p>
            <a:pPr lvl="0" eaLnBrk="0" fontAlgn="base" hangingPunct="0">
              <a:spcBef>
                <a:spcPct val="0"/>
              </a:spcBef>
              <a:spcAft>
                <a:spcPct val="0"/>
              </a:spcAft>
            </a:pPr>
            <a:r>
              <a:rPr lang="en-US" altLang="en-US" sz="1200" b="1" kern="0" spc="-80" dirty="0">
                <a:solidFill>
                  <a:schemeClr val="accent2"/>
                </a:solidFill>
                <a:latin typeface="Lucida Sans"/>
                <a:ea typeface="+mj-ea"/>
              </a:rPr>
              <a:t>Types of </a:t>
            </a: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Data</a:t>
            </a:r>
          </a:p>
          <a:p>
            <a:pPr lvl="0" eaLnBrk="0" fontAlgn="base" hangingPunct="0">
              <a:spcBef>
                <a:spcPct val="0"/>
              </a:spcBef>
              <a:spcAft>
                <a:spcPct val="0"/>
              </a:spcAft>
            </a:pPr>
            <a:r>
              <a:rPr lang="en-US" altLang="en-US" sz="1200" b="1" kern="0" spc="-80" dirty="0">
                <a:solidFill>
                  <a:schemeClr val="accent2"/>
                </a:solidFill>
                <a:latin typeface="Lucida Sans"/>
                <a:ea typeface="+mj-ea"/>
              </a:rPr>
              <a:t>Trajectory Data: </a:t>
            </a:r>
            <a:r>
              <a:rPr lang="en-US" altLang="en-US" sz="1200" b="1" kern="0" spc="-80" dirty="0">
                <a:solidFill>
                  <a:schemeClr val="accent6"/>
                </a:solidFill>
                <a:latin typeface="Lucida Sans"/>
                <a:ea typeface="+mj-ea"/>
              </a:rPr>
              <a:t>Captures the path of a moving object, such as the route of a flight or a person's movement tracked by a mobile device. </a:t>
            </a:r>
          </a:p>
          <a:p>
            <a:pPr lvl="0" eaLnBrk="0" fontAlgn="base" hangingPunct="0">
              <a:spcBef>
                <a:spcPct val="0"/>
              </a:spcBef>
              <a:spcAft>
                <a:spcPct val="0"/>
              </a:spcAft>
            </a:pPr>
            <a:r>
              <a:rPr lang="en-US" altLang="en-US" sz="1200" b="1" kern="0" spc="-80" dirty="0">
                <a:solidFill>
                  <a:schemeClr val="accent2"/>
                </a:solidFill>
                <a:latin typeface="Lucida Sans"/>
                <a:ea typeface="+mj-ea"/>
              </a:rPr>
              <a:t>Event Data: </a:t>
            </a:r>
            <a:r>
              <a:rPr lang="en-US" altLang="en-US" sz="1200" b="1" kern="0" spc="-80" dirty="0">
                <a:solidFill>
                  <a:schemeClr val="accent6"/>
                </a:solidFill>
                <a:latin typeface="Lucida Sans"/>
                <a:ea typeface="+mj-ea"/>
              </a:rPr>
              <a:t>Records specific events that occur at a particular time and place, like a traffic accident or the outbreak of a disease. </a:t>
            </a:r>
          </a:p>
          <a:p>
            <a:pPr lvl="0" eaLnBrk="0" fontAlgn="base" hangingPunct="0">
              <a:spcBef>
                <a:spcPct val="0"/>
              </a:spcBef>
              <a:spcAft>
                <a:spcPct val="0"/>
              </a:spcAft>
            </a:pPr>
            <a:r>
              <a:rPr lang="en-US" altLang="en-US" sz="1200" b="1" kern="0" spc="-80" dirty="0">
                <a:solidFill>
                  <a:schemeClr val="accent2"/>
                </a:solidFill>
                <a:latin typeface="Lucida Sans"/>
                <a:ea typeface="+mj-ea"/>
              </a:rPr>
              <a:t>Raster Data: </a:t>
            </a:r>
            <a:r>
              <a:rPr lang="en-US" altLang="en-US" sz="1200" b="1" kern="0" spc="-80" dirty="0">
                <a:solidFill>
                  <a:schemeClr val="accent6"/>
                </a:solidFill>
                <a:latin typeface="Lucida Sans"/>
                <a:ea typeface="+mj-ea"/>
              </a:rPr>
              <a:t>Represents data as a grid, where each cell (pixel) has a value that changes over time (e.g., satellite imagery showing evolving weather conditions). </a:t>
            </a:r>
          </a:p>
          <a:p>
            <a:pPr lvl="0" eaLnBrk="0" fontAlgn="base" hangingPunct="0">
              <a:spcBef>
                <a:spcPct val="0"/>
              </a:spcBef>
              <a:spcAft>
                <a:spcPct val="0"/>
              </a:spcAft>
            </a:pPr>
            <a:r>
              <a:rPr lang="en-US" altLang="en-US" sz="1200" b="1" kern="0" spc="-80" dirty="0">
                <a:solidFill>
                  <a:schemeClr val="accent2"/>
                </a:solidFill>
                <a:latin typeface="Lucida Sans"/>
                <a:ea typeface="+mj-ea"/>
              </a:rPr>
              <a:t>Applications</a:t>
            </a:r>
          </a:p>
          <a:p>
            <a:pPr lvl="0" eaLnBrk="0" fontAlgn="base" hangingPunct="0">
              <a:spcBef>
                <a:spcPct val="0"/>
              </a:spcBef>
              <a:spcAft>
                <a:spcPct val="0"/>
              </a:spcAft>
            </a:pPr>
            <a:r>
              <a:rPr lang="en-US" altLang="en-US" sz="1200" b="1" kern="0" spc="-80" dirty="0">
                <a:solidFill>
                  <a:schemeClr val="accent2"/>
                </a:solidFill>
                <a:latin typeface="Lucida Sans"/>
                <a:ea typeface="+mj-ea"/>
              </a:rPr>
              <a:t>Traffic and Transportation: </a:t>
            </a:r>
            <a:r>
              <a:rPr lang="en-US" altLang="en-US" sz="1200" b="1" kern="0" spc="-80" dirty="0">
                <a:solidFill>
                  <a:schemeClr val="accent6"/>
                </a:solidFill>
                <a:latin typeface="Lucida Sans"/>
                <a:ea typeface="+mj-ea"/>
              </a:rPr>
              <a:t>Analyzing traffic congestion and optimizing delivery routes. </a:t>
            </a:r>
          </a:p>
          <a:p>
            <a:pPr lvl="0" eaLnBrk="0" fontAlgn="base" hangingPunct="0">
              <a:spcBef>
                <a:spcPct val="0"/>
              </a:spcBef>
              <a:spcAft>
                <a:spcPct val="0"/>
              </a:spcAft>
            </a:pPr>
            <a:r>
              <a:rPr lang="en-US" altLang="en-US" sz="1200" b="1" kern="0" spc="-80" dirty="0">
                <a:solidFill>
                  <a:schemeClr val="accent2"/>
                </a:solidFill>
                <a:latin typeface="Lucida Sans"/>
                <a:ea typeface="+mj-ea"/>
              </a:rPr>
              <a:t>Environmental Monitoring: </a:t>
            </a:r>
            <a:r>
              <a:rPr lang="en-US" altLang="en-US" sz="1200" b="1" kern="0" spc="-80" dirty="0">
                <a:solidFill>
                  <a:schemeClr val="accent6"/>
                </a:solidFill>
                <a:latin typeface="Lucida Sans"/>
                <a:ea typeface="+mj-ea"/>
              </a:rPr>
              <a:t>Tracking climate variables and changes in natural disasters. </a:t>
            </a:r>
          </a:p>
          <a:p>
            <a:pPr lvl="0" eaLnBrk="0" fontAlgn="base" hangingPunct="0">
              <a:spcBef>
                <a:spcPct val="0"/>
              </a:spcBef>
              <a:spcAft>
                <a:spcPct val="0"/>
              </a:spcAft>
            </a:pPr>
            <a:r>
              <a:rPr lang="en-US" altLang="en-US" sz="1200" b="1" kern="0" spc="-80" dirty="0">
                <a:solidFill>
                  <a:schemeClr val="accent2"/>
                </a:solidFill>
                <a:latin typeface="Lucida Sans"/>
                <a:ea typeface="+mj-ea"/>
              </a:rPr>
              <a:t>Public Health: </a:t>
            </a:r>
            <a:r>
              <a:rPr lang="en-US" altLang="en-US" sz="1200" b="1" kern="0" spc="-80" dirty="0">
                <a:solidFill>
                  <a:schemeClr val="accent6"/>
                </a:solidFill>
                <a:latin typeface="Lucida Sans"/>
                <a:ea typeface="+mj-ea"/>
              </a:rPr>
              <a:t>Studying the spread of epidemics and their spatial correlation. </a:t>
            </a:r>
          </a:p>
          <a:p>
            <a:pPr lvl="0" eaLnBrk="0" fontAlgn="base" hangingPunct="0">
              <a:spcBef>
                <a:spcPct val="0"/>
              </a:spcBef>
              <a:spcAft>
                <a:spcPct val="0"/>
              </a:spcAft>
            </a:pPr>
            <a:r>
              <a:rPr lang="en-US" altLang="en-US" sz="1200" b="1" kern="0" spc="-80" dirty="0">
                <a:solidFill>
                  <a:schemeClr val="accent2"/>
                </a:solidFill>
                <a:latin typeface="Lucida Sans"/>
                <a:ea typeface="+mj-ea"/>
              </a:rPr>
              <a:t>Urban Planning: </a:t>
            </a:r>
            <a:r>
              <a:rPr lang="en-US" altLang="en-US" sz="1200" b="1" kern="0" spc="-80" dirty="0">
                <a:solidFill>
                  <a:schemeClr val="accent6"/>
                </a:solidFill>
                <a:latin typeface="Lucida Sans"/>
                <a:ea typeface="+mj-ea"/>
              </a:rPr>
              <a:t>Understanding population density changes and resource distribution. </a:t>
            </a:r>
          </a:p>
          <a:p>
            <a:pPr lvl="0" eaLnBrk="0" fontAlgn="base" hangingPunct="0">
              <a:spcBef>
                <a:spcPct val="0"/>
              </a:spcBef>
              <a:spcAft>
                <a:spcPct val="0"/>
              </a:spcAft>
            </a:pPr>
            <a:r>
              <a:rPr lang="en-US" altLang="en-US" sz="1200" b="1" kern="0" spc="-80" dirty="0">
                <a:solidFill>
                  <a:schemeClr val="accent2"/>
                </a:solidFill>
                <a:latin typeface="Lucida Sans"/>
                <a:ea typeface="+mj-ea"/>
              </a:rPr>
              <a:t>Analysis Challenges </a:t>
            </a:r>
          </a:p>
          <a:p>
            <a:pPr lvl="0" eaLnBrk="0" fontAlgn="base" hangingPunct="0">
              <a:spcBef>
                <a:spcPct val="0"/>
              </a:spcBef>
              <a:spcAft>
                <a:spcPct val="0"/>
              </a:spcAft>
            </a:pPr>
            <a:r>
              <a:rPr lang="en-US" altLang="en-US" sz="1200" b="1" kern="0" spc="-80" dirty="0">
                <a:solidFill>
                  <a:schemeClr val="accent6"/>
                </a:solidFill>
                <a:latin typeface="Lucida Sans"/>
                <a:ea typeface="+mj-ea"/>
              </a:rPr>
              <a:t>Traditional statistical and machine learning methods may not perform well on spatiotemporal data due to its complex, dynamic, and spatially dependent nature.</a:t>
            </a:r>
          </a:p>
          <a:p>
            <a:pPr lvl="0" eaLnBrk="0" fontAlgn="base" hangingPunct="0">
              <a:spcBef>
                <a:spcPct val="0"/>
              </a:spcBef>
              <a:spcAft>
                <a:spcPct val="0"/>
              </a:spcAft>
            </a:pPr>
            <a:r>
              <a:rPr lang="en-US" altLang="en-US" sz="1200" b="1" kern="0" spc="-80" dirty="0">
                <a:solidFill>
                  <a:schemeClr val="accent6"/>
                </a:solidFill>
                <a:latin typeface="Lucida Sans"/>
                <a:ea typeface="+mj-ea"/>
              </a:rPr>
              <a:t>Analyzing these datasets requires specialized models and techniques, often involving chronological networks or deep learning and physics-guided AI, to effectively identify trends and make predictions.</a:t>
            </a:r>
          </a:p>
        </p:txBody>
      </p:sp>
      <p:sp>
        <p:nvSpPr>
          <p:cNvPr id="9" name="Rectangle 2">
            <a:extLst>
              <a:ext uri="{FF2B5EF4-FFF2-40B4-BE49-F238E27FC236}">
                <a16:creationId xmlns:a16="http://schemas.microsoft.com/office/drawing/2014/main" id="{FE4A854D-C0E4-0C38-C3E5-6F0579200D3A}"/>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0106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098CD-BF05-7733-700E-D9AD9D0BB0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DC3FDC-CDFA-BD27-9026-9E0FA27552E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A064A1-4CCB-423D-5057-1FE8FABF83F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FE073C-8F84-8404-3AB2-C653498B3AA5}"/>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AC02FA3-5D7B-298B-5003-9DEB23E49C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7495D28-1BAF-66C0-CC9A-3AADB03209A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10219022-1779-86B9-595F-BC837659341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6908A41-0188-EBDF-A79B-3D1C49D547D2}"/>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D086026E-900F-C094-31DC-236EA873CB42}"/>
              </a:ext>
            </a:extLst>
          </p:cNvPr>
          <p:cNvSpPr txBox="1"/>
          <p:nvPr/>
        </p:nvSpPr>
        <p:spPr>
          <a:xfrm>
            <a:off x="-14337" y="635424"/>
            <a:ext cx="8867874" cy="5447645"/>
          </a:xfrm>
          <a:prstGeom prst="rect">
            <a:avLst/>
          </a:prstGeom>
          <a:noFill/>
        </p:spPr>
        <p:txBody>
          <a:bodyPr wrap="square">
            <a:spAutoFit/>
          </a:bodyPr>
          <a:lstStyle/>
          <a:p>
            <a:pPr lvl="0" eaLnBrk="0" fontAlgn="base" hangingPunct="0">
              <a:spcBef>
                <a:spcPct val="0"/>
              </a:spcBef>
              <a:spcAft>
                <a:spcPct val="0"/>
              </a:spcAft>
            </a:pPr>
            <a:r>
              <a:rPr lang="en-US" altLang="en-US" sz="1200" b="1" kern="0" spc="-80" dirty="0">
                <a:solidFill>
                  <a:schemeClr val="accent2"/>
                </a:solidFill>
                <a:latin typeface="Lucida Sans"/>
                <a:ea typeface="+mj-ea"/>
              </a:rPr>
              <a:t>1. Data Representation Techniques</a:t>
            </a:r>
          </a:p>
          <a:p>
            <a:pPr lvl="0" eaLnBrk="0" fontAlgn="base" hangingPunct="0">
              <a:spcBef>
                <a:spcPct val="0"/>
              </a:spcBef>
              <a:spcAft>
                <a:spcPct val="0"/>
              </a:spcAft>
            </a:pPr>
            <a:r>
              <a:rPr lang="en-US" altLang="en-US" sz="1200" b="1" kern="0" spc="-80" dirty="0">
                <a:solidFill>
                  <a:schemeClr val="accent2"/>
                </a:solidFill>
                <a:latin typeface="Lucida Sans"/>
                <a:ea typeface="+mj-ea"/>
              </a:rPr>
              <a:t>A. Grid-Based (Raster) Models[Continuous]</a:t>
            </a:r>
          </a:p>
          <a:p>
            <a:pPr lvl="0" eaLnBrk="0" fontAlgn="base" hangingPunct="0">
              <a:spcBef>
                <a:spcPct val="0"/>
              </a:spcBef>
              <a:spcAft>
                <a:spcPct val="0"/>
              </a:spcAft>
            </a:pPr>
            <a:r>
              <a:rPr lang="en-US" altLang="en-US" sz="1200" b="1" kern="0" spc="-80" dirty="0">
                <a:solidFill>
                  <a:schemeClr val="accent6"/>
                </a:solidFill>
                <a:latin typeface="Lucida Sans"/>
                <a:ea typeface="+mj-ea"/>
              </a:rPr>
              <a:t>The space is divided into cells (regular grids), and each cell stores attribute values over time.</a:t>
            </a:r>
          </a:p>
          <a:p>
            <a:pPr lvl="0" eaLnBrk="0" fontAlgn="base" hangingPunct="0">
              <a:spcBef>
                <a:spcPct val="0"/>
              </a:spcBef>
              <a:spcAft>
                <a:spcPct val="0"/>
              </a:spcAft>
            </a:pPr>
            <a:r>
              <a:rPr lang="en-US" altLang="en-US" sz="1200" b="1" kern="0" spc="-80" dirty="0">
                <a:solidFill>
                  <a:schemeClr val="accent6"/>
                </a:solidFill>
                <a:latin typeface="Lucida Sans"/>
                <a:ea typeface="+mj-ea"/>
              </a:rPr>
              <a:t>Common in remote sensing, climate modeling, and environmental monitoring.</a:t>
            </a:r>
          </a:p>
          <a:p>
            <a:pPr lvl="0" eaLnBrk="0" fontAlgn="base" hangingPunct="0">
              <a:spcBef>
                <a:spcPct val="0"/>
              </a:spcBef>
              <a:spcAft>
                <a:spcPct val="0"/>
              </a:spcAft>
            </a:pPr>
            <a:r>
              <a:rPr lang="en-US" altLang="en-US" sz="1200" b="1" kern="0" spc="-80" dirty="0">
                <a:solidFill>
                  <a:schemeClr val="accent2"/>
                </a:solidFill>
                <a:latin typeface="Lucida Sans"/>
                <a:ea typeface="+mj-ea"/>
              </a:rPr>
              <a:t>Temporal modeling: </a:t>
            </a:r>
            <a:r>
              <a:rPr lang="en-US" altLang="en-US" sz="1200" b="1" kern="0" spc="-80" dirty="0">
                <a:solidFill>
                  <a:schemeClr val="accent6"/>
                </a:solidFill>
                <a:latin typeface="Lucida Sans"/>
                <a:ea typeface="+mj-ea"/>
              </a:rPr>
              <a:t>Time can be handled as discrete snapshots (time series per cell) or as continuous functions.</a:t>
            </a:r>
          </a:p>
          <a:p>
            <a:pPr lvl="0" eaLnBrk="0" fontAlgn="base" hangingPunct="0">
              <a:spcBef>
                <a:spcPct val="0"/>
              </a:spcBef>
              <a:spcAft>
                <a:spcPct val="0"/>
              </a:spcAft>
            </a:pPr>
            <a:r>
              <a:rPr lang="en-US" altLang="en-US" sz="1200" b="1" kern="0" spc="-80" dirty="0">
                <a:solidFill>
                  <a:schemeClr val="accent2"/>
                </a:solidFill>
                <a:latin typeface="Lucida Sans"/>
                <a:ea typeface="+mj-ea"/>
              </a:rPr>
              <a:t>Pros: </a:t>
            </a:r>
            <a:r>
              <a:rPr lang="en-US" altLang="en-US" sz="1200" b="1" kern="0" spc="-80" dirty="0">
                <a:solidFill>
                  <a:schemeClr val="accent6"/>
                </a:solidFill>
                <a:latin typeface="Lucida Sans"/>
                <a:ea typeface="+mj-ea"/>
              </a:rPr>
              <a:t>Simple, easy to visualize and compute.</a:t>
            </a:r>
          </a:p>
          <a:p>
            <a:pPr lvl="0" eaLnBrk="0" fontAlgn="base" hangingPunct="0">
              <a:spcBef>
                <a:spcPct val="0"/>
              </a:spcBef>
              <a:spcAft>
                <a:spcPct val="0"/>
              </a:spcAft>
            </a:pPr>
            <a:r>
              <a:rPr lang="en-US" altLang="en-US" sz="1200" b="1" kern="0" spc="-80" dirty="0">
                <a:solidFill>
                  <a:schemeClr val="accent2"/>
                </a:solidFill>
                <a:latin typeface="Lucida Sans"/>
                <a:ea typeface="+mj-ea"/>
              </a:rPr>
              <a:t>Cons: </a:t>
            </a:r>
            <a:r>
              <a:rPr lang="en-US" altLang="en-US" sz="1200" b="1" kern="0" spc="-80" dirty="0">
                <a:solidFill>
                  <a:schemeClr val="accent6"/>
                </a:solidFill>
                <a:latin typeface="Lucida Sans"/>
                <a:ea typeface="+mj-ea"/>
              </a:rPr>
              <a:t>Can be memory-intensive for high-resolution grids; loses geometric detail.</a:t>
            </a:r>
          </a:p>
          <a:p>
            <a:pPr lvl="0" eaLnBrk="0" fontAlgn="base" hangingPunct="0">
              <a:spcBef>
                <a:spcPct val="0"/>
              </a:spcBef>
              <a:spcAft>
                <a:spcPct val="0"/>
              </a:spcAft>
            </a:pPr>
            <a:r>
              <a:rPr lang="en-US" altLang="en-US" sz="1200" b="1" kern="0" spc="-80" dirty="0">
                <a:solidFill>
                  <a:schemeClr val="accent2"/>
                </a:solidFill>
                <a:latin typeface="Lucida Sans"/>
                <a:ea typeface="+mj-ea"/>
              </a:rPr>
              <a:t>B. Vector-Based Models[Discrete]</a:t>
            </a:r>
          </a:p>
          <a:p>
            <a:pPr lvl="0" eaLnBrk="0" fontAlgn="base" hangingPunct="0">
              <a:spcBef>
                <a:spcPct val="0"/>
              </a:spcBef>
              <a:spcAft>
                <a:spcPct val="0"/>
              </a:spcAft>
            </a:pPr>
            <a:r>
              <a:rPr lang="en-US" altLang="en-US" sz="1200" b="1" kern="0" spc="-80" dirty="0">
                <a:solidFill>
                  <a:schemeClr val="accent6"/>
                </a:solidFill>
                <a:latin typeface="Lucida Sans"/>
                <a:ea typeface="+mj-ea"/>
              </a:rPr>
              <a:t>Space is represented as points, lines, or polygons, each with temporal attributes.</a:t>
            </a:r>
          </a:p>
          <a:p>
            <a:pPr lvl="0" eaLnBrk="0" fontAlgn="base" hangingPunct="0">
              <a:spcBef>
                <a:spcPct val="0"/>
              </a:spcBef>
              <a:spcAft>
                <a:spcPct val="0"/>
              </a:spcAft>
            </a:pPr>
            <a:r>
              <a:rPr lang="en-US" altLang="en-US" sz="1200" b="1" kern="0" spc="-80" dirty="0">
                <a:solidFill>
                  <a:schemeClr val="accent2"/>
                </a:solidFill>
                <a:latin typeface="Lucida Sans"/>
                <a:ea typeface="+mj-ea"/>
              </a:rPr>
              <a:t>Example:</a:t>
            </a:r>
            <a:r>
              <a:rPr lang="en-US" altLang="en-US" sz="1200" b="1" kern="0" spc="-80" dirty="0">
                <a:solidFill>
                  <a:schemeClr val="accent6"/>
                </a:solidFill>
                <a:latin typeface="Lucida Sans"/>
                <a:ea typeface="+mj-ea"/>
              </a:rPr>
              <a:t> A moving vehicle can be represented as a point with (x, y, t).</a:t>
            </a:r>
          </a:p>
          <a:p>
            <a:pPr lvl="0" eaLnBrk="0" fontAlgn="base" hangingPunct="0">
              <a:spcBef>
                <a:spcPct val="0"/>
              </a:spcBef>
              <a:spcAft>
                <a:spcPct val="0"/>
              </a:spcAft>
            </a:pPr>
            <a:r>
              <a:rPr lang="en-US" altLang="en-US" sz="1200" b="1" kern="0" spc="-80" dirty="0">
                <a:solidFill>
                  <a:schemeClr val="accent6"/>
                </a:solidFill>
                <a:latin typeface="Lucida Sans"/>
                <a:ea typeface="+mj-ea"/>
              </a:rPr>
              <a:t>Temporal dimension can be discrete timestamps or intervals.</a:t>
            </a:r>
          </a:p>
          <a:p>
            <a:pPr lvl="0" eaLnBrk="0" fontAlgn="base" hangingPunct="0">
              <a:spcBef>
                <a:spcPct val="0"/>
              </a:spcBef>
              <a:spcAft>
                <a:spcPct val="0"/>
              </a:spcAft>
            </a:pPr>
            <a:r>
              <a:rPr lang="en-US" altLang="en-US" sz="1200" b="1" kern="0" spc="-80" dirty="0">
                <a:solidFill>
                  <a:schemeClr val="accent2"/>
                </a:solidFill>
                <a:latin typeface="Lucida Sans"/>
                <a:ea typeface="+mj-ea"/>
              </a:rPr>
              <a:t>Pros: </a:t>
            </a:r>
            <a:r>
              <a:rPr lang="en-US" altLang="en-US" sz="1200" b="1" kern="0" spc="-80" dirty="0">
                <a:solidFill>
                  <a:schemeClr val="accent6"/>
                </a:solidFill>
                <a:latin typeface="Lucida Sans"/>
                <a:ea typeface="+mj-ea"/>
              </a:rPr>
              <a:t>High geometric accuracy; good for tracking moving objects.</a:t>
            </a:r>
          </a:p>
          <a:p>
            <a:pPr lvl="0" eaLnBrk="0" fontAlgn="base" hangingPunct="0">
              <a:spcBef>
                <a:spcPct val="0"/>
              </a:spcBef>
              <a:spcAft>
                <a:spcPct val="0"/>
              </a:spcAft>
            </a:pPr>
            <a:r>
              <a:rPr lang="en-US" altLang="en-US" sz="1200" b="1" kern="0" spc="-80" dirty="0">
                <a:solidFill>
                  <a:schemeClr val="accent2"/>
                </a:solidFill>
                <a:latin typeface="Lucida Sans"/>
                <a:ea typeface="+mj-ea"/>
              </a:rPr>
              <a:t>Cons: </a:t>
            </a:r>
            <a:r>
              <a:rPr lang="en-US" altLang="en-US" sz="1200" b="1" kern="0" spc="-80" dirty="0">
                <a:solidFill>
                  <a:schemeClr val="accent6"/>
                </a:solidFill>
                <a:latin typeface="Lucida Sans"/>
                <a:ea typeface="+mj-ea"/>
              </a:rPr>
              <a:t>Complex for large datasets; harder to query efficiently.</a:t>
            </a:r>
          </a:p>
          <a:p>
            <a:pPr lvl="0" eaLnBrk="0" fontAlgn="base" hangingPunct="0">
              <a:spcBef>
                <a:spcPct val="0"/>
              </a:spcBef>
              <a:spcAft>
                <a:spcPct val="0"/>
              </a:spcAft>
            </a:pPr>
            <a:r>
              <a:rPr lang="en-US" altLang="en-US" sz="1200" b="1" kern="0" spc="-80" dirty="0">
                <a:solidFill>
                  <a:schemeClr val="accent2"/>
                </a:solidFill>
                <a:latin typeface="Lucida Sans"/>
                <a:ea typeface="+mj-ea"/>
              </a:rPr>
              <a:t>C. Object-Oriented / Moving Object Models</a:t>
            </a:r>
          </a:p>
          <a:p>
            <a:pPr lvl="0" eaLnBrk="0" fontAlgn="base" hangingPunct="0">
              <a:spcBef>
                <a:spcPct val="0"/>
              </a:spcBef>
              <a:spcAft>
                <a:spcPct val="0"/>
              </a:spcAft>
            </a:pPr>
            <a:r>
              <a:rPr lang="en-US" altLang="en-US" sz="1200" b="1" kern="0" spc="-80" dirty="0">
                <a:solidFill>
                  <a:schemeClr val="accent2"/>
                </a:solidFill>
                <a:latin typeface="Lucida Sans"/>
                <a:ea typeface="+mj-ea"/>
              </a:rPr>
              <a:t>Treat moving entities as first-class objects with attributes:</a:t>
            </a:r>
            <a:r>
              <a:rPr lang="en-US" altLang="en-US" sz="1200" b="1" kern="0" spc="-80" dirty="0">
                <a:solidFill>
                  <a:schemeClr val="accent6"/>
                </a:solidFill>
                <a:latin typeface="Lucida Sans"/>
                <a:ea typeface="+mj-ea"/>
              </a:rPr>
              <a:t> position, velocity, and state.</a:t>
            </a:r>
          </a:p>
          <a:p>
            <a:pPr lvl="0" eaLnBrk="0" fontAlgn="base" hangingPunct="0">
              <a:spcBef>
                <a:spcPct val="0"/>
              </a:spcBef>
              <a:spcAft>
                <a:spcPct val="0"/>
              </a:spcAft>
            </a:pPr>
            <a:r>
              <a:rPr lang="en-US" altLang="en-US" sz="1200" b="1" kern="0" spc="-80" dirty="0">
                <a:solidFill>
                  <a:schemeClr val="accent2"/>
                </a:solidFill>
                <a:latin typeface="Lucida Sans"/>
                <a:ea typeface="+mj-ea"/>
              </a:rPr>
              <a:t>Examples:</a:t>
            </a:r>
          </a:p>
          <a:p>
            <a:pPr lvl="0" eaLnBrk="0" fontAlgn="base" hangingPunct="0">
              <a:spcBef>
                <a:spcPct val="0"/>
              </a:spcBef>
              <a:spcAft>
                <a:spcPct val="0"/>
              </a:spcAft>
            </a:pPr>
            <a:r>
              <a:rPr lang="en-US" altLang="en-US" sz="1200" b="1" kern="0" spc="-80" dirty="0">
                <a:solidFill>
                  <a:schemeClr val="accent6"/>
                </a:solidFill>
                <a:latin typeface="Lucida Sans"/>
                <a:ea typeface="+mj-ea"/>
              </a:rPr>
              <a:t>Trajectories: trajectory = { (x1, y1, t1), (x2, y2, t2), ... }</a:t>
            </a:r>
          </a:p>
          <a:p>
            <a:pPr lvl="0" eaLnBrk="0" fontAlgn="base" hangingPunct="0">
              <a:spcBef>
                <a:spcPct val="0"/>
              </a:spcBef>
              <a:spcAft>
                <a:spcPct val="0"/>
              </a:spcAft>
            </a:pPr>
            <a:r>
              <a:rPr lang="en-US" altLang="en-US" sz="1200" b="1" kern="0" spc="-80" dirty="0">
                <a:solidFill>
                  <a:schemeClr val="accent2"/>
                </a:solidFill>
                <a:latin typeface="Lucida Sans"/>
                <a:ea typeface="+mj-ea"/>
              </a:rPr>
              <a:t>Event-based updates:</a:t>
            </a:r>
            <a:r>
              <a:rPr lang="en-US" altLang="en-US" sz="1200" b="1" kern="0" spc="-80" dirty="0">
                <a:solidFill>
                  <a:schemeClr val="accent6"/>
                </a:solidFill>
                <a:latin typeface="Lucida Sans"/>
                <a:ea typeface="+mj-ea"/>
              </a:rPr>
              <a:t> Changes in object state at discrete times.</a:t>
            </a:r>
          </a:p>
          <a:p>
            <a:pPr lvl="0" eaLnBrk="0" fontAlgn="base" hangingPunct="0">
              <a:spcBef>
                <a:spcPct val="0"/>
              </a:spcBef>
              <a:spcAft>
                <a:spcPct val="0"/>
              </a:spcAft>
            </a:pPr>
            <a:r>
              <a:rPr lang="en-US" altLang="en-US" sz="1200" b="1" kern="0" spc="-80" dirty="0">
                <a:solidFill>
                  <a:schemeClr val="accent6"/>
                </a:solidFill>
                <a:latin typeface="Lucida Sans"/>
                <a:ea typeface="+mj-ea"/>
              </a:rPr>
              <a:t>Good for tracking vehicles, animals, people, satellites.</a:t>
            </a:r>
          </a:p>
          <a:p>
            <a:pPr lvl="0" eaLnBrk="0" fontAlgn="base" hangingPunct="0">
              <a:spcBef>
                <a:spcPct val="0"/>
              </a:spcBef>
              <a:spcAft>
                <a:spcPct val="0"/>
              </a:spcAft>
            </a:pPr>
            <a:r>
              <a:rPr lang="en-US" altLang="en-US" sz="1200" b="1" kern="0" spc="-80" dirty="0">
                <a:solidFill>
                  <a:schemeClr val="accent2"/>
                </a:solidFill>
                <a:latin typeface="Lucida Sans"/>
                <a:ea typeface="+mj-ea"/>
              </a:rPr>
              <a:t>D. Graph-Based Models</a:t>
            </a:r>
          </a:p>
          <a:p>
            <a:pPr lvl="0" eaLnBrk="0" fontAlgn="base" hangingPunct="0">
              <a:spcBef>
                <a:spcPct val="0"/>
              </a:spcBef>
              <a:spcAft>
                <a:spcPct val="0"/>
              </a:spcAft>
            </a:pPr>
            <a:r>
              <a:rPr lang="en-US" altLang="en-US" sz="1200" b="1" kern="0" spc="-80" dirty="0">
                <a:solidFill>
                  <a:schemeClr val="accent6"/>
                </a:solidFill>
                <a:latin typeface="Lucida Sans"/>
                <a:ea typeface="+mj-ea"/>
              </a:rPr>
              <a:t>Nodes represent spatial locations, edges represent connections, and attributes evolve over time.</a:t>
            </a:r>
          </a:p>
          <a:p>
            <a:pPr lvl="0" eaLnBrk="0" fontAlgn="base" hangingPunct="0">
              <a:spcBef>
                <a:spcPct val="0"/>
              </a:spcBef>
              <a:spcAft>
                <a:spcPct val="0"/>
              </a:spcAft>
            </a:pPr>
            <a:r>
              <a:rPr lang="en-US" altLang="en-US" sz="1200" b="1" kern="0" spc="-80" dirty="0">
                <a:solidFill>
                  <a:schemeClr val="accent6"/>
                </a:solidFill>
                <a:latin typeface="Lucida Sans"/>
                <a:ea typeface="+mj-ea"/>
              </a:rPr>
              <a:t>Useful in transport networks, social networks, disease spread.</a:t>
            </a:r>
          </a:p>
          <a:p>
            <a:pPr lvl="0" eaLnBrk="0" fontAlgn="base" hangingPunct="0">
              <a:spcBef>
                <a:spcPct val="0"/>
              </a:spcBef>
              <a:spcAft>
                <a:spcPct val="0"/>
              </a:spcAft>
            </a:pP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graphs:</a:t>
            </a:r>
            <a:r>
              <a:rPr lang="en-US" altLang="en-US" sz="1200" b="1" kern="0" spc="-80" dirty="0">
                <a:solidFill>
                  <a:schemeClr val="accent6"/>
                </a:solidFill>
                <a:latin typeface="Lucida Sans"/>
                <a:ea typeface="+mj-ea"/>
              </a:rPr>
              <a:t> G(t) = (V(t), E(t)) where both nodes and edges can change over time.</a:t>
            </a:r>
          </a:p>
          <a:p>
            <a:pPr lvl="0" eaLnBrk="0" fontAlgn="base" hangingPunct="0">
              <a:spcBef>
                <a:spcPct val="0"/>
              </a:spcBef>
              <a:spcAft>
                <a:spcPct val="0"/>
              </a:spcAft>
            </a:pPr>
            <a:r>
              <a:rPr lang="en-US" altLang="en-US" sz="1200" b="1" kern="0" spc="-80" dirty="0">
                <a:solidFill>
                  <a:schemeClr val="accent6"/>
                </a:solidFill>
                <a:latin typeface="Lucida Sans"/>
                <a:ea typeface="+mj-ea"/>
              </a:rPr>
              <a:t>Enables graph analytics and path prediction.</a:t>
            </a:r>
          </a:p>
          <a:p>
            <a:pPr lvl="0" eaLnBrk="0" fontAlgn="base" hangingPunct="0">
              <a:spcBef>
                <a:spcPct val="0"/>
              </a:spcBef>
              <a:spcAft>
                <a:spcPct val="0"/>
              </a:spcAft>
            </a:pPr>
            <a:r>
              <a:rPr lang="en-US" altLang="en-US" sz="1200" b="1" kern="0" spc="-80" dirty="0">
                <a:solidFill>
                  <a:schemeClr val="accent2"/>
                </a:solidFill>
                <a:latin typeface="Lucida Sans"/>
                <a:ea typeface="+mj-ea"/>
              </a:rPr>
              <a:t>E. Hybrid Models</a:t>
            </a:r>
          </a:p>
          <a:p>
            <a:pPr lvl="0" eaLnBrk="0" fontAlgn="base" hangingPunct="0">
              <a:spcBef>
                <a:spcPct val="0"/>
              </a:spcBef>
              <a:spcAft>
                <a:spcPct val="0"/>
              </a:spcAft>
            </a:pPr>
            <a:r>
              <a:rPr lang="en-US" altLang="en-US" sz="1200" b="1" kern="0" spc="-80" dirty="0">
                <a:solidFill>
                  <a:schemeClr val="accent6"/>
                </a:solidFill>
                <a:latin typeface="Lucida Sans"/>
                <a:ea typeface="+mj-ea"/>
              </a:rPr>
              <a:t>Combine raster/vector, grid/graph, or object-based approaches for complex applications.</a:t>
            </a:r>
          </a:p>
          <a:p>
            <a:pPr lvl="0" eaLnBrk="0" fontAlgn="base" hangingPunct="0">
              <a:spcBef>
                <a:spcPct val="0"/>
              </a:spcBef>
              <a:spcAft>
                <a:spcPct val="0"/>
              </a:spcAft>
            </a:pPr>
            <a:r>
              <a:rPr lang="en-US" altLang="en-US" sz="1200" b="1" kern="0" spc="-80" dirty="0">
                <a:solidFill>
                  <a:schemeClr val="accent2"/>
                </a:solidFill>
                <a:latin typeface="Lucida Sans"/>
                <a:ea typeface="+mj-ea"/>
              </a:rPr>
              <a:t>Example: </a:t>
            </a:r>
          </a:p>
          <a:p>
            <a:pPr lvl="0" eaLnBrk="0" fontAlgn="base" hangingPunct="0">
              <a:spcBef>
                <a:spcPct val="0"/>
              </a:spcBef>
              <a:spcAft>
                <a:spcPct val="0"/>
              </a:spcAft>
            </a:pPr>
            <a:r>
              <a:rPr lang="en-US" altLang="en-US" sz="1200" b="1" kern="0" spc="-80" dirty="0">
                <a:solidFill>
                  <a:schemeClr val="accent2"/>
                </a:solidFill>
                <a:latin typeface="Lucida Sans"/>
                <a:ea typeface="+mj-ea"/>
              </a:rPr>
              <a:t>Urban mobility:</a:t>
            </a:r>
          </a:p>
          <a:p>
            <a:pPr lvl="0" eaLnBrk="0" fontAlgn="base" hangingPunct="0">
              <a:spcBef>
                <a:spcPct val="0"/>
              </a:spcBef>
              <a:spcAft>
                <a:spcPct val="0"/>
              </a:spcAft>
            </a:pPr>
            <a:r>
              <a:rPr lang="en-US" altLang="en-US" sz="1200" b="1" kern="0" spc="-80" dirty="0">
                <a:solidFill>
                  <a:schemeClr val="accent6"/>
                </a:solidFill>
                <a:latin typeface="Lucida Sans"/>
                <a:ea typeface="+mj-ea"/>
              </a:rPr>
              <a:t>Roads → graph</a:t>
            </a:r>
          </a:p>
        </p:txBody>
      </p:sp>
      <p:sp>
        <p:nvSpPr>
          <p:cNvPr id="9" name="Rectangle 2">
            <a:extLst>
              <a:ext uri="{FF2B5EF4-FFF2-40B4-BE49-F238E27FC236}">
                <a16:creationId xmlns:a16="http://schemas.microsoft.com/office/drawing/2014/main" id="{A7A9DDF5-CF3B-D142-1589-6E8D865D86BB}"/>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2772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2C907-3BC1-D87F-68D7-1E2B94D638C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E174E1-66A0-954C-FE13-D8F2B66E0B0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8CB5DC2-224A-829D-E3E1-F625222D714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F1E5D7-599B-605B-F050-67B6E5159558}"/>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7D48A69-92B1-9D2B-E5A5-FDB3BC29571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3A3AB92-B9BB-DE62-74DA-DDF4BEB47D6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3D6EA4D4-716F-44E1-1C5C-0B1FBC36462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11AF847-12EF-CAF6-73B6-EAEEEE69BB46}"/>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41294D7C-177C-0E2C-2803-D2DEBC72F592}"/>
              </a:ext>
            </a:extLst>
          </p:cNvPr>
          <p:cNvSpPr txBox="1"/>
          <p:nvPr/>
        </p:nvSpPr>
        <p:spPr>
          <a:xfrm>
            <a:off x="-14337" y="635424"/>
            <a:ext cx="8867874" cy="5447645"/>
          </a:xfrm>
          <a:prstGeom prst="rect">
            <a:avLst/>
          </a:prstGeom>
          <a:noFill/>
        </p:spPr>
        <p:txBody>
          <a:bodyPr wrap="square">
            <a:spAutoFit/>
          </a:bodyPr>
          <a:lstStyle/>
          <a:p>
            <a:pPr lvl="0" eaLnBrk="0" fontAlgn="base" hangingPunct="0">
              <a:spcBef>
                <a:spcPct val="0"/>
              </a:spcBef>
              <a:spcAft>
                <a:spcPct val="0"/>
              </a:spcAft>
            </a:pPr>
            <a:r>
              <a:rPr lang="en-US" altLang="en-US" sz="1200" b="1" kern="0" spc="-80" dirty="0">
                <a:solidFill>
                  <a:schemeClr val="accent2"/>
                </a:solidFill>
                <a:latin typeface="Lucida Sans"/>
                <a:ea typeface="+mj-ea"/>
              </a:rPr>
              <a:t>2. Temporal Modeling Techniques</a:t>
            </a:r>
          </a:p>
          <a:p>
            <a:pPr lvl="0" eaLnBrk="0" fontAlgn="base" hangingPunct="0">
              <a:spcBef>
                <a:spcPct val="0"/>
              </a:spcBef>
              <a:spcAft>
                <a:spcPct val="0"/>
              </a:spcAft>
            </a:pPr>
            <a:r>
              <a:rPr lang="en-US" altLang="en-US" sz="1200" b="1" kern="0" spc="-80" dirty="0">
                <a:solidFill>
                  <a:schemeClr val="accent2"/>
                </a:solidFill>
                <a:latin typeface="Lucida Sans"/>
                <a:ea typeface="+mj-ea"/>
              </a:rPr>
              <a:t>Discrete time steps:</a:t>
            </a:r>
            <a:r>
              <a:rPr lang="en-US" altLang="en-US" sz="1200" b="1" kern="0" spc="-80" dirty="0">
                <a:solidFill>
                  <a:schemeClr val="accent6"/>
                </a:solidFill>
                <a:latin typeface="Lucida Sans"/>
                <a:ea typeface="+mj-ea"/>
              </a:rPr>
              <a:t> Data is captured at fixed intervals (hourly traffic, daily temperature).</a:t>
            </a:r>
          </a:p>
          <a:p>
            <a:pPr lvl="0" eaLnBrk="0" fontAlgn="base" hangingPunct="0">
              <a:spcBef>
                <a:spcPct val="0"/>
              </a:spcBef>
              <a:spcAft>
                <a:spcPct val="0"/>
              </a:spcAft>
            </a:pPr>
            <a:r>
              <a:rPr lang="en-US" altLang="en-US" sz="1200" b="1" kern="0" spc="-80" dirty="0">
                <a:solidFill>
                  <a:schemeClr val="accent2"/>
                </a:solidFill>
                <a:latin typeface="Lucida Sans"/>
                <a:ea typeface="+mj-ea"/>
              </a:rPr>
              <a:t>Event-based / asynchronous:</a:t>
            </a:r>
            <a:r>
              <a:rPr lang="en-US" altLang="en-US" sz="1200" b="1" kern="0" spc="-80" dirty="0">
                <a:solidFill>
                  <a:schemeClr val="accent6"/>
                </a:solidFill>
                <a:latin typeface="Lucida Sans"/>
                <a:ea typeface="+mj-ea"/>
              </a:rPr>
              <a:t> Only record when changes occur (sensor triggers, transactions).</a:t>
            </a:r>
          </a:p>
          <a:p>
            <a:pPr lvl="0" eaLnBrk="0" fontAlgn="base" hangingPunct="0">
              <a:spcBef>
                <a:spcPct val="0"/>
              </a:spcBef>
              <a:spcAft>
                <a:spcPct val="0"/>
              </a:spcAft>
            </a:pPr>
            <a:r>
              <a:rPr lang="en-US" altLang="en-US" sz="1200" b="1" kern="0" spc="-80" dirty="0">
                <a:solidFill>
                  <a:schemeClr val="accent2"/>
                </a:solidFill>
                <a:latin typeface="Lucida Sans"/>
                <a:ea typeface="+mj-ea"/>
              </a:rPr>
              <a:t>Continuous functions: </a:t>
            </a:r>
            <a:r>
              <a:rPr lang="en-US" altLang="en-US" sz="1200" b="1" kern="0" spc="-80" dirty="0">
                <a:solidFill>
                  <a:schemeClr val="accent6"/>
                </a:solidFill>
                <a:latin typeface="Lucida Sans"/>
                <a:ea typeface="+mj-ea"/>
              </a:rPr>
              <a:t>Represent time as continuous variable; often used in physics simulations or interpolation.</a:t>
            </a:r>
          </a:p>
          <a:p>
            <a:pPr lvl="0" eaLnBrk="0" fontAlgn="base" hangingPunct="0">
              <a:spcBef>
                <a:spcPct val="0"/>
              </a:spcBef>
              <a:spcAft>
                <a:spcPct val="0"/>
              </a:spcAft>
            </a:pPr>
            <a:r>
              <a:rPr lang="en-US" altLang="en-US" sz="1200" b="1" kern="0" spc="-80" dirty="0">
                <a:solidFill>
                  <a:schemeClr val="accent2"/>
                </a:solidFill>
                <a:latin typeface="Lucida Sans"/>
                <a:ea typeface="+mj-ea"/>
              </a:rPr>
              <a:t>Common temporal representations:</a:t>
            </a:r>
          </a:p>
          <a:p>
            <a:pPr lvl="0" eaLnBrk="0" fontAlgn="base" hangingPunct="0">
              <a:spcBef>
                <a:spcPct val="0"/>
              </a:spcBef>
              <a:spcAft>
                <a:spcPct val="0"/>
              </a:spcAft>
            </a:pPr>
            <a:r>
              <a:rPr lang="en-US" altLang="en-US" sz="1200" b="1" kern="0" spc="-80" dirty="0">
                <a:solidFill>
                  <a:schemeClr val="accent2"/>
                </a:solidFill>
                <a:latin typeface="Lucida Sans"/>
                <a:ea typeface="+mj-ea"/>
              </a:rPr>
              <a:t>Time-stamped snapshots:</a:t>
            </a:r>
            <a:r>
              <a:rPr lang="en-US" altLang="en-US" sz="1200" b="1" kern="0" spc="-80" dirty="0">
                <a:solidFill>
                  <a:schemeClr val="accent6"/>
                </a:solidFill>
                <a:latin typeface="Lucida Sans"/>
                <a:ea typeface="+mj-ea"/>
              </a:rPr>
              <a:t> Multiple static states over time.</a:t>
            </a:r>
          </a:p>
          <a:p>
            <a:pPr lvl="0" eaLnBrk="0" fontAlgn="base" hangingPunct="0">
              <a:spcBef>
                <a:spcPct val="0"/>
              </a:spcBef>
              <a:spcAft>
                <a:spcPct val="0"/>
              </a:spcAft>
            </a:pPr>
            <a:r>
              <a:rPr lang="en-US" altLang="en-US" sz="1200" b="1" kern="0" spc="-80" dirty="0">
                <a:solidFill>
                  <a:schemeClr val="accent2"/>
                </a:solidFill>
                <a:latin typeface="Lucida Sans"/>
                <a:ea typeface="+mj-ea"/>
              </a:rPr>
              <a:t>Intervals: </a:t>
            </a:r>
            <a:r>
              <a:rPr lang="en-US" altLang="en-US" sz="1200" b="1" kern="0" spc="-80" dirty="0">
                <a:solidFill>
                  <a:schemeClr val="accent6"/>
                </a:solidFill>
                <a:latin typeface="Lucida Sans"/>
                <a:ea typeface="+mj-ea"/>
              </a:rPr>
              <a:t>Start and end times for events.</a:t>
            </a:r>
          </a:p>
          <a:p>
            <a:pPr lvl="0" eaLnBrk="0" fontAlgn="base" hangingPunct="0">
              <a:spcBef>
                <a:spcPct val="0"/>
              </a:spcBef>
              <a:spcAft>
                <a:spcPct val="0"/>
              </a:spcAft>
            </a:pPr>
            <a:r>
              <a:rPr lang="en-US" altLang="en-US" sz="1200" b="1" kern="0" spc="-80" dirty="0">
                <a:solidFill>
                  <a:schemeClr val="accent2"/>
                </a:solidFill>
                <a:latin typeface="Lucida Sans"/>
                <a:ea typeface="+mj-ea"/>
              </a:rPr>
              <a:t>Trajectories / time series: </a:t>
            </a:r>
            <a:r>
              <a:rPr lang="en-US" altLang="en-US" sz="1200" b="1" kern="0" spc="-80" dirty="0">
                <a:solidFill>
                  <a:schemeClr val="accent6"/>
                </a:solidFill>
                <a:latin typeface="Lucida Sans"/>
                <a:ea typeface="+mj-ea"/>
              </a:rPr>
              <a:t>Continuous tracking of attributes over time.</a:t>
            </a:r>
          </a:p>
          <a:p>
            <a:pPr lvl="0" eaLnBrk="0" fontAlgn="base" hangingPunct="0">
              <a:spcBef>
                <a:spcPct val="0"/>
              </a:spcBef>
              <a:spcAft>
                <a:spcPct val="0"/>
              </a:spcAft>
            </a:pPr>
            <a:r>
              <a:rPr lang="en-US" altLang="en-US" sz="1200" b="1" kern="0" spc="-80" dirty="0">
                <a:solidFill>
                  <a:schemeClr val="accent2"/>
                </a:solidFill>
                <a:latin typeface="Lucida Sans"/>
                <a:ea typeface="+mj-ea"/>
              </a:rPr>
              <a:t>3. Data Storage and Query Techniques</a:t>
            </a:r>
          </a:p>
          <a:p>
            <a:pPr lvl="0" eaLnBrk="0" fontAlgn="base" hangingPunct="0">
              <a:spcBef>
                <a:spcPct val="0"/>
              </a:spcBef>
              <a:spcAft>
                <a:spcPct val="0"/>
              </a:spcAft>
            </a:pPr>
            <a:r>
              <a:rPr lang="en-US" altLang="en-US" sz="1200" b="1" kern="0" spc="-80" dirty="0">
                <a:solidFill>
                  <a:schemeClr val="accent2"/>
                </a:solidFill>
                <a:latin typeface="Lucida Sans"/>
                <a:ea typeface="+mj-ea"/>
              </a:rPr>
              <a:t>A. Relational + </a:t>
            </a: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Extensions</a:t>
            </a:r>
          </a:p>
          <a:p>
            <a:pPr lvl="0" eaLnBrk="0" fontAlgn="base" hangingPunct="0">
              <a:spcBef>
                <a:spcPct val="0"/>
              </a:spcBef>
              <a:spcAft>
                <a:spcPct val="0"/>
              </a:spcAft>
            </a:pPr>
            <a:r>
              <a:rPr lang="en-US" altLang="en-US" sz="1200" b="1" kern="0" spc="-80" dirty="0">
                <a:solidFill>
                  <a:schemeClr val="accent2"/>
                </a:solidFill>
                <a:latin typeface="Lucida Sans"/>
                <a:ea typeface="+mj-ea"/>
              </a:rPr>
              <a:t>Spatial databases: </a:t>
            </a:r>
            <a:r>
              <a:rPr lang="en-US" altLang="en-US" sz="1200" b="1" kern="0" spc="-80" dirty="0" err="1">
                <a:solidFill>
                  <a:schemeClr val="accent6"/>
                </a:solidFill>
                <a:latin typeface="Lucida Sans"/>
                <a:ea typeface="+mj-ea"/>
              </a:rPr>
              <a:t>PostGIS</a:t>
            </a:r>
            <a:r>
              <a:rPr lang="en-US" altLang="en-US" sz="1200" b="1" kern="0" spc="-80" dirty="0">
                <a:solidFill>
                  <a:schemeClr val="accent6"/>
                </a:solidFill>
                <a:latin typeface="Lucida Sans"/>
                <a:ea typeface="+mj-ea"/>
              </a:rPr>
              <a:t>, Oracle Spatial.</a:t>
            </a:r>
          </a:p>
          <a:p>
            <a:pPr lvl="0" eaLnBrk="0" fontAlgn="base" hangingPunct="0">
              <a:spcBef>
                <a:spcPct val="0"/>
              </a:spcBef>
              <a:spcAft>
                <a:spcPct val="0"/>
              </a:spcAft>
            </a:pPr>
            <a:r>
              <a:rPr lang="en-US" altLang="en-US" sz="1200" b="1" kern="0" spc="-80" dirty="0">
                <a:solidFill>
                  <a:schemeClr val="accent2"/>
                </a:solidFill>
                <a:latin typeface="Lucida Sans"/>
                <a:ea typeface="+mj-ea"/>
              </a:rPr>
              <a:t>Temporal tables: </a:t>
            </a:r>
            <a:r>
              <a:rPr lang="en-US" altLang="en-US" sz="1200" b="1" kern="0" spc="-80" dirty="0">
                <a:solidFill>
                  <a:schemeClr val="accent6"/>
                </a:solidFill>
                <a:latin typeface="Lucida Sans"/>
                <a:ea typeface="+mj-ea"/>
              </a:rPr>
              <a:t>Store validity periods with spatial objects.</a:t>
            </a:r>
          </a:p>
          <a:p>
            <a:pPr lvl="0" eaLnBrk="0" fontAlgn="base" hangingPunct="0">
              <a:spcBef>
                <a:spcPct val="0"/>
              </a:spcBef>
              <a:spcAft>
                <a:spcPct val="0"/>
              </a:spcAft>
            </a:pPr>
            <a:r>
              <a:rPr lang="en-US" altLang="en-US" sz="1200" b="1" kern="0" spc="-80" dirty="0">
                <a:solidFill>
                  <a:schemeClr val="accent2"/>
                </a:solidFill>
                <a:latin typeface="Lucida Sans"/>
                <a:ea typeface="+mj-ea"/>
              </a:rPr>
              <a:t>Query example: </a:t>
            </a:r>
            <a:r>
              <a:rPr lang="en-US" altLang="en-US" sz="1200" b="1" kern="0" spc="-80" dirty="0">
                <a:solidFill>
                  <a:schemeClr val="accent6"/>
                </a:solidFill>
                <a:latin typeface="Lucida Sans"/>
                <a:ea typeface="+mj-ea"/>
              </a:rPr>
              <a:t>Find regions where temperature &gt; 30°C during the last week.</a:t>
            </a:r>
          </a:p>
          <a:p>
            <a:pPr lvl="0" eaLnBrk="0" fontAlgn="base" hangingPunct="0">
              <a:spcBef>
                <a:spcPct val="0"/>
              </a:spcBef>
              <a:spcAft>
                <a:spcPct val="0"/>
              </a:spcAft>
            </a:pPr>
            <a:r>
              <a:rPr lang="en-US" altLang="en-US" sz="1200" b="1" kern="0" spc="-80" dirty="0">
                <a:solidFill>
                  <a:schemeClr val="accent2"/>
                </a:solidFill>
                <a:latin typeface="Lucida Sans"/>
                <a:ea typeface="+mj-ea"/>
              </a:rPr>
              <a:t>B. NoSQL / Graph Databases</a:t>
            </a:r>
          </a:p>
          <a:p>
            <a:pPr lvl="0" eaLnBrk="0" fontAlgn="base" hangingPunct="0">
              <a:spcBef>
                <a:spcPct val="0"/>
              </a:spcBef>
              <a:spcAft>
                <a:spcPct val="0"/>
              </a:spcAft>
            </a:pPr>
            <a:r>
              <a:rPr lang="en-US" altLang="en-US" sz="1200" b="1" kern="0" spc="-80" dirty="0">
                <a:solidFill>
                  <a:schemeClr val="accent6"/>
                </a:solidFill>
                <a:latin typeface="Lucida Sans"/>
                <a:ea typeface="+mj-ea"/>
              </a:rPr>
              <a:t>Neo4j, </a:t>
            </a:r>
            <a:r>
              <a:rPr lang="en-US" altLang="en-US" sz="1200" b="1" kern="0" spc="-80" dirty="0" err="1">
                <a:solidFill>
                  <a:schemeClr val="accent6"/>
                </a:solidFill>
                <a:latin typeface="Lucida Sans"/>
                <a:ea typeface="+mj-ea"/>
              </a:rPr>
              <a:t>ArangoDB</a:t>
            </a:r>
            <a:r>
              <a:rPr lang="en-US" altLang="en-US" sz="1200" b="1" kern="0" spc="-80" dirty="0">
                <a:solidFill>
                  <a:schemeClr val="accent6"/>
                </a:solidFill>
                <a:latin typeface="Lucida Sans"/>
                <a:ea typeface="+mj-ea"/>
              </a:rPr>
              <a:t>, </a:t>
            </a:r>
            <a:r>
              <a:rPr lang="en-US" altLang="en-US" sz="1200" b="1" kern="0" spc="-80" dirty="0" err="1">
                <a:solidFill>
                  <a:schemeClr val="accent6"/>
                </a:solidFill>
                <a:latin typeface="Lucida Sans"/>
                <a:ea typeface="+mj-ea"/>
              </a:rPr>
              <a:t>TigerGraph</a:t>
            </a:r>
            <a:r>
              <a:rPr lang="en-US" altLang="en-US" sz="1200" b="1" kern="0" spc="-80" dirty="0">
                <a:solidFill>
                  <a:schemeClr val="accent6"/>
                </a:solidFill>
                <a:latin typeface="Lucida Sans"/>
                <a:ea typeface="+mj-ea"/>
              </a:rPr>
              <a:t> for </a:t>
            </a: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graphs.</a:t>
            </a:r>
          </a:p>
          <a:p>
            <a:pPr lvl="0" eaLnBrk="0" fontAlgn="base" hangingPunct="0">
              <a:spcBef>
                <a:spcPct val="0"/>
              </a:spcBef>
              <a:spcAft>
                <a:spcPct val="0"/>
              </a:spcAft>
            </a:pPr>
            <a:r>
              <a:rPr lang="en-US" altLang="en-US" sz="1200" b="1" kern="0" spc="-80" dirty="0">
                <a:solidFill>
                  <a:schemeClr val="accent6"/>
                </a:solidFill>
                <a:latin typeface="Lucida Sans"/>
                <a:ea typeface="+mj-ea"/>
              </a:rPr>
              <a:t>MongoDB or Cassandra for storing trajectories or time-series linked with geospatial info.</a:t>
            </a:r>
          </a:p>
          <a:p>
            <a:pPr lvl="0" eaLnBrk="0" fontAlgn="base" hangingPunct="0">
              <a:spcBef>
                <a:spcPct val="0"/>
              </a:spcBef>
              <a:spcAft>
                <a:spcPct val="0"/>
              </a:spcAft>
            </a:pPr>
            <a:r>
              <a:rPr lang="en-US" altLang="en-US" sz="1200" b="1" kern="0" spc="-80" dirty="0">
                <a:solidFill>
                  <a:schemeClr val="accent2"/>
                </a:solidFill>
                <a:latin typeface="Lucida Sans"/>
                <a:ea typeface="+mj-ea"/>
              </a:rPr>
              <a:t>C. Specialized </a:t>
            </a: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Indexing</a:t>
            </a:r>
          </a:p>
          <a:p>
            <a:pPr lvl="0" eaLnBrk="0" fontAlgn="base" hangingPunct="0">
              <a:spcBef>
                <a:spcPct val="0"/>
              </a:spcBef>
              <a:spcAft>
                <a:spcPct val="0"/>
              </a:spcAft>
            </a:pPr>
            <a:r>
              <a:rPr lang="en-US" altLang="en-US" sz="1200" b="1" kern="0" spc="-80" dirty="0">
                <a:solidFill>
                  <a:schemeClr val="accent2"/>
                </a:solidFill>
                <a:latin typeface="Lucida Sans"/>
                <a:ea typeface="+mj-ea"/>
              </a:rPr>
              <a:t>R-Trees / Quadtrees: </a:t>
            </a:r>
            <a:r>
              <a:rPr lang="en-US" altLang="en-US" sz="1200" b="1" kern="0" spc="-80" dirty="0">
                <a:solidFill>
                  <a:schemeClr val="accent6"/>
                </a:solidFill>
                <a:latin typeface="Lucida Sans"/>
                <a:ea typeface="+mj-ea"/>
              </a:rPr>
              <a:t>Index spatial objects.</a:t>
            </a:r>
          </a:p>
          <a:p>
            <a:pPr lvl="0" eaLnBrk="0" fontAlgn="base" hangingPunct="0">
              <a:spcBef>
                <a:spcPct val="0"/>
              </a:spcBef>
              <a:spcAft>
                <a:spcPct val="0"/>
              </a:spcAft>
            </a:pPr>
            <a:r>
              <a:rPr lang="en-US" altLang="en-US" sz="1200" b="1" kern="0" spc="-80" dirty="0">
                <a:solidFill>
                  <a:schemeClr val="accent2"/>
                </a:solidFill>
                <a:latin typeface="Lucida Sans"/>
                <a:ea typeface="+mj-ea"/>
              </a:rPr>
              <a:t>3D R-Trees / Time-Parameterized R-Trees (TPR-Trees): </a:t>
            </a:r>
            <a:r>
              <a:rPr lang="en-US" altLang="en-US" sz="1200" b="1" kern="0" spc="-80" dirty="0">
                <a:solidFill>
                  <a:schemeClr val="accent6"/>
                </a:solidFill>
                <a:latin typeface="Lucida Sans"/>
                <a:ea typeface="+mj-ea"/>
              </a:rPr>
              <a:t>Index moving objects over time.</a:t>
            </a:r>
          </a:p>
          <a:p>
            <a:pPr lvl="0" eaLnBrk="0" fontAlgn="base" hangingPunct="0">
              <a:spcBef>
                <a:spcPct val="0"/>
              </a:spcBef>
              <a:spcAft>
                <a:spcPct val="0"/>
              </a:spcAft>
            </a:pPr>
            <a:r>
              <a:rPr lang="en-US" altLang="en-US" sz="1200" b="1" kern="0" spc="-80" dirty="0">
                <a:solidFill>
                  <a:schemeClr val="accent2"/>
                </a:solidFill>
                <a:latin typeface="Lucida Sans"/>
                <a:ea typeface="+mj-ea"/>
              </a:rPr>
              <a:t>Space-filling curves (Z-order, Hilbert): </a:t>
            </a:r>
            <a:r>
              <a:rPr lang="en-US" altLang="en-US" sz="1200" b="1" kern="0" spc="-80" dirty="0">
                <a:solidFill>
                  <a:schemeClr val="accent6"/>
                </a:solidFill>
                <a:latin typeface="Lucida Sans"/>
                <a:ea typeface="+mj-ea"/>
              </a:rPr>
              <a:t>Efficient storage and retrieval of </a:t>
            </a: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points.</a:t>
            </a:r>
          </a:p>
          <a:p>
            <a:pPr lvl="0" eaLnBrk="0" fontAlgn="base" hangingPunct="0">
              <a:spcBef>
                <a:spcPct val="0"/>
              </a:spcBef>
              <a:spcAft>
                <a:spcPct val="0"/>
              </a:spcAft>
            </a:pPr>
            <a:r>
              <a:rPr lang="en-US" altLang="en-US" sz="1200" b="1" kern="0" spc="-80" dirty="0">
                <a:solidFill>
                  <a:schemeClr val="accent2"/>
                </a:solidFill>
                <a:latin typeface="Lucida Sans"/>
                <a:ea typeface="+mj-ea"/>
              </a:rPr>
              <a:t>4. Modeling Approaches for Analysis</a:t>
            </a:r>
          </a:p>
          <a:p>
            <a:pPr lvl="0" eaLnBrk="0" fontAlgn="base" hangingPunct="0">
              <a:spcBef>
                <a:spcPct val="0"/>
              </a:spcBef>
              <a:spcAft>
                <a:spcPct val="0"/>
              </a:spcAft>
            </a:pPr>
            <a:r>
              <a:rPr lang="en-US" altLang="en-US" sz="1200" b="1" kern="0" spc="-80" dirty="0">
                <a:solidFill>
                  <a:schemeClr val="accent2"/>
                </a:solidFill>
                <a:latin typeface="Lucida Sans"/>
                <a:ea typeface="+mj-ea"/>
              </a:rPr>
              <a:t>A. Statistical / Probabilistic Models</a:t>
            </a:r>
          </a:p>
          <a:p>
            <a:pPr lvl="0" eaLnBrk="0" fontAlgn="base" hangingPunct="0">
              <a:spcBef>
                <a:spcPct val="0"/>
              </a:spcBef>
              <a:spcAft>
                <a:spcPct val="0"/>
              </a:spcAft>
            </a:pP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autoregressive models (STAR): </a:t>
            </a:r>
            <a:r>
              <a:rPr lang="en-US" altLang="en-US" sz="1200" b="1" kern="0" spc="-80" dirty="0">
                <a:solidFill>
                  <a:schemeClr val="accent6"/>
                </a:solidFill>
                <a:latin typeface="Lucida Sans"/>
                <a:ea typeface="+mj-ea"/>
              </a:rPr>
              <a:t>Predict value at location based on neighboring locations and previous time steps.</a:t>
            </a:r>
          </a:p>
          <a:p>
            <a:pPr lvl="0" eaLnBrk="0" fontAlgn="base" hangingPunct="0">
              <a:spcBef>
                <a:spcPct val="0"/>
              </a:spcBef>
              <a:spcAft>
                <a:spcPct val="0"/>
              </a:spcAft>
            </a:pPr>
            <a:r>
              <a:rPr lang="en-US" altLang="en-US" sz="1200" b="1" kern="0" spc="-80" dirty="0">
                <a:solidFill>
                  <a:schemeClr val="accent2"/>
                </a:solidFill>
                <a:latin typeface="Lucida Sans"/>
                <a:ea typeface="+mj-ea"/>
              </a:rPr>
              <a:t>Gaussian Processes for </a:t>
            </a:r>
            <a:r>
              <a:rPr lang="en-US" altLang="en-US" sz="1200" b="1" kern="0" spc="-80" dirty="0" err="1">
                <a:solidFill>
                  <a:schemeClr val="accent2"/>
                </a:solidFill>
                <a:latin typeface="Lucida Sans"/>
                <a:ea typeface="+mj-ea"/>
              </a:rPr>
              <a:t>spatio</a:t>
            </a:r>
            <a:r>
              <a:rPr lang="en-US" altLang="en-US" sz="1200" b="1" kern="0" spc="-80" dirty="0">
                <a:solidFill>
                  <a:schemeClr val="accent2"/>
                </a:solidFill>
                <a:latin typeface="Lucida Sans"/>
                <a:ea typeface="+mj-ea"/>
              </a:rPr>
              <a:t>-temporal data: </a:t>
            </a:r>
            <a:r>
              <a:rPr lang="en-US" altLang="en-US" sz="1200" b="1" kern="0" spc="-80" dirty="0">
                <a:solidFill>
                  <a:schemeClr val="accent6"/>
                </a:solidFill>
                <a:latin typeface="Lucida Sans"/>
                <a:ea typeface="+mj-ea"/>
              </a:rPr>
              <a:t>Continuous modeling for environmental monitoring.</a:t>
            </a:r>
          </a:p>
          <a:p>
            <a:pPr lvl="0" eaLnBrk="0" fontAlgn="base" hangingPunct="0">
              <a:spcBef>
                <a:spcPct val="0"/>
              </a:spcBef>
              <a:spcAft>
                <a:spcPct val="0"/>
              </a:spcAft>
            </a:pPr>
            <a:r>
              <a:rPr lang="en-US" altLang="en-US" sz="1200" b="1" kern="0" spc="-80" dirty="0">
                <a:solidFill>
                  <a:schemeClr val="accent2"/>
                </a:solidFill>
                <a:latin typeface="Lucida Sans"/>
                <a:ea typeface="+mj-ea"/>
              </a:rPr>
              <a:t>B. Machine Learning / Deep Learning</a:t>
            </a:r>
          </a:p>
          <a:p>
            <a:pPr lvl="0" eaLnBrk="0" fontAlgn="base" hangingPunct="0">
              <a:spcBef>
                <a:spcPct val="0"/>
              </a:spcBef>
              <a:spcAft>
                <a:spcPct val="0"/>
              </a:spcAft>
            </a:pPr>
            <a:r>
              <a:rPr lang="en-US" altLang="en-US" sz="1200" b="1" kern="0" spc="-80" dirty="0">
                <a:solidFill>
                  <a:schemeClr val="accent6"/>
                </a:solidFill>
                <a:latin typeface="Lucida Sans"/>
                <a:ea typeface="+mj-ea"/>
              </a:rPr>
              <a:t>RNNs / LSTMs / Transformers for time series of spatial points.</a:t>
            </a:r>
          </a:p>
          <a:p>
            <a:pPr lvl="0" eaLnBrk="0" fontAlgn="base" hangingPunct="0">
              <a:spcBef>
                <a:spcPct val="0"/>
              </a:spcBef>
              <a:spcAft>
                <a:spcPct val="0"/>
              </a:spcAft>
            </a:pPr>
            <a:r>
              <a:rPr lang="en-US" altLang="en-US" sz="1200" b="1" kern="0" spc="-80" dirty="0">
                <a:solidFill>
                  <a:schemeClr val="accent2"/>
                </a:solidFill>
                <a:latin typeface="Lucida Sans"/>
                <a:ea typeface="+mj-ea"/>
              </a:rPr>
              <a:t>Graph Neural Networks (GNNs): </a:t>
            </a:r>
            <a:r>
              <a:rPr lang="en-US" altLang="en-US" sz="1200" b="1" kern="0" spc="-80" dirty="0">
                <a:solidFill>
                  <a:schemeClr val="accent6"/>
                </a:solidFill>
                <a:latin typeface="Lucida Sans"/>
                <a:ea typeface="+mj-ea"/>
              </a:rPr>
              <a:t>On </a:t>
            </a: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graphs (e.g., traffic flow prediction).</a:t>
            </a:r>
          </a:p>
          <a:p>
            <a:pPr lvl="0" eaLnBrk="0" fontAlgn="base" hangingPunct="0">
              <a:spcBef>
                <a:spcPct val="0"/>
              </a:spcBef>
              <a:spcAft>
                <a:spcPct val="0"/>
              </a:spcAft>
            </a:pPr>
            <a:r>
              <a:rPr lang="en-US" altLang="en-US" sz="1200" b="1" kern="0" spc="-80" dirty="0" err="1">
                <a:solidFill>
                  <a:schemeClr val="accent2"/>
                </a:solidFill>
                <a:latin typeface="Lucida Sans"/>
                <a:ea typeface="+mj-ea"/>
              </a:rPr>
              <a:t>ConvLSTM</a:t>
            </a:r>
            <a:r>
              <a:rPr lang="en-US" altLang="en-US" sz="1200" b="1" kern="0" spc="-80" dirty="0">
                <a:solidFill>
                  <a:schemeClr val="accent2"/>
                </a:solidFill>
                <a:latin typeface="Lucida Sans"/>
                <a:ea typeface="+mj-ea"/>
              </a:rPr>
              <a:t> / ST-</a:t>
            </a:r>
            <a:r>
              <a:rPr lang="en-US" altLang="en-US" sz="1200" b="1" kern="0" spc="-80" dirty="0" err="1">
                <a:solidFill>
                  <a:schemeClr val="accent2"/>
                </a:solidFill>
                <a:latin typeface="Lucida Sans"/>
                <a:ea typeface="+mj-ea"/>
              </a:rPr>
              <a:t>ConvNet</a:t>
            </a:r>
            <a:r>
              <a:rPr lang="en-US" altLang="en-US" sz="1200" b="1" kern="0" spc="-80" dirty="0">
                <a:solidFill>
                  <a:schemeClr val="accent2"/>
                </a:solidFill>
                <a:latin typeface="Lucida Sans"/>
                <a:ea typeface="+mj-ea"/>
              </a:rPr>
              <a:t>: </a:t>
            </a:r>
            <a:r>
              <a:rPr lang="en-US" altLang="en-US" sz="1200" b="1" kern="0" spc="-80" dirty="0">
                <a:solidFill>
                  <a:schemeClr val="accent6"/>
                </a:solidFill>
                <a:latin typeface="Lucida Sans"/>
                <a:ea typeface="+mj-ea"/>
              </a:rPr>
              <a:t>Convolutional + temporal modeling for grids or images over time.</a:t>
            </a:r>
          </a:p>
        </p:txBody>
      </p:sp>
      <p:sp>
        <p:nvSpPr>
          <p:cNvPr id="9" name="Rectangle 2">
            <a:extLst>
              <a:ext uri="{FF2B5EF4-FFF2-40B4-BE49-F238E27FC236}">
                <a16:creationId xmlns:a16="http://schemas.microsoft.com/office/drawing/2014/main" id="{7A3040E5-E323-410D-CD5B-6AFA709C034D}"/>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0001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0E32-45B1-8E4D-0F26-F910CE4FA86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E38DEF-1473-134A-68C5-24218A6982E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191032-83E2-500F-02D0-96B035D7E76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970021-3B0D-FF7D-3636-0ED61A74A71F}"/>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17A0AB3-584E-EE49-F23A-E1F7FDFCB77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698D4C-7ADF-A73F-B491-D963C565EF6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DAC09196-37FB-4942-13C4-9D7DB059120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ED5EB3E-F564-C06F-B583-727A850C6C1A}"/>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211DCFD4-001F-7435-4157-73B63D673F62}"/>
              </a:ext>
            </a:extLst>
          </p:cNvPr>
          <p:cNvSpPr txBox="1"/>
          <p:nvPr/>
        </p:nvSpPr>
        <p:spPr>
          <a:xfrm>
            <a:off x="-14337" y="635424"/>
            <a:ext cx="8867874" cy="4755148"/>
          </a:xfrm>
          <a:prstGeom prst="rect">
            <a:avLst/>
          </a:prstGeom>
          <a:noFill/>
        </p:spPr>
        <p:txBody>
          <a:bodyPr wrap="square">
            <a:spAutoFit/>
          </a:bodyPr>
          <a:lstStyle/>
          <a:p>
            <a:pPr lvl="0" eaLnBrk="0" fontAlgn="base" hangingPunct="0">
              <a:spcBef>
                <a:spcPct val="0"/>
              </a:spcBef>
              <a:spcAft>
                <a:spcPct val="0"/>
              </a:spcAft>
            </a:pPr>
            <a:r>
              <a:rPr lang="en-US" altLang="en-US" sz="1200" b="1" kern="0" spc="-80" dirty="0">
                <a:solidFill>
                  <a:schemeClr val="accent2"/>
                </a:solidFill>
                <a:latin typeface="Lucida Sans"/>
                <a:ea typeface="+mj-ea"/>
              </a:rPr>
              <a:t>C. Simulation / Agent-Based Modeling</a:t>
            </a:r>
          </a:p>
          <a:p>
            <a:pPr lvl="0" eaLnBrk="0" fontAlgn="base" hangingPunct="0">
              <a:spcBef>
                <a:spcPct val="0"/>
              </a:spcBef>
              <a:spcAft>
                <a:spcPct val="0"/>
              </a:spcAft>
            </a:pPr>
            <a:r>
              <a:rPr lang="en-US" altLang="en-US" sz="1200" b="1" kern="0" spc="-80" dirty="0">
                <a:solidFill>
                  <a:schemeClr val="accent6"/>
                </a:solidFill>
                <a:latin typeface="Lucida Sans"/>
                <a:ea typeface="+mj-ea"/>
              </a:rPr>
              <a:t>Useful for urban mobility, crowd movement, epidemics.</a:t>
            </a:r>
          </a:p>
          <a:p>
            <a:pPr lvl="0" eaLnBrk="0" fontAlgn="base" hangingPunct="0">
              <a:spcBef>
                <a:spcPct val="0"/>
              </a:spcBef>
              <a:spcAft>
                <a:spcPct val="0"/>
              </a:spcAft>
            </a:pPr>
            <a:r>
              <a:rPr lang="en-US" altLang="en-US" sz="1200" b="1" kern="0" spc="-80" dirty="0">
                <a:solidFill>
                  <a:schemeClr val="accent6"/>
                </a:solidFill>
                <a:latin typeface="Lucida Sans"/>
                <a:ea typeface="+mj-ea"/>
              </a:rPr>
              <a:t>Each agent has </a:t>
            </a:r>
            <a:r>
              <a:rPr lang="en-US" altLang="en-US" sz="1200" b="1" kern="0" spc="-80" dirty="0" err="1">
                <a:solidFill>
                  <a:schemeClr val="accent6"/>
                </a:solidFill>
                <a:latin typeface="Lucida Sans"/>
                <a:ea typeface="+mj-ea"/>
              </a:rPr>
              <a:t>spatio</a:t>
            </a:r>
            <a:r>
              <a:rPr lang="en-US" altLang="en-US" sz="1200" b="1" kern="0" spc="-80" dirty="0">
                <a:solidFill>
                  <a:schemeClr val="accent6"/>
                </a:solidFill>
                <a:latin typeface="Lucida Sans"/>
                <a:ea typeface="+mj-ea"/>
              </a:rPr>
              <a:t>-temporal rules governing motion or interaction.</a:t>
            </a:r>
          </a:p>
          <a:p>
            <a:pPr lvl="0" eaLnBrk="0" fontAlgn="base" hangingPunct="0">
              <a:spcBef>
                <a:spcPct val="0"/>
              </a:spcBef>
              <a:spcAft>
                <a:spcPct val="0"/>
              </a:spcAft>
            </a:pPr>
            <a:r>
              <a:rPr lang="en-US" altLang="en-US" sz="1200" b="1" kern="0" spc="-80" dirty="0">
                <a:solidFill>
                  <a:schemeClr val="accent2"/>
                </a:solidFill>
                <a:latin typeface="Lucida Sans"/>
                <a:ea typeface="+mj-ea"/>
              </a:rPr>
              <a:t>5. Visualization and Analysis</a:t>
            </a:r>
          </a:p>
          <a:p>
            <a:pPr lvl="0" eaLnBrk="0" fontAlgn="base" hangingPunct="0">
              <a:spcBef>
                <a:spcPct val="0"/>
              </a:spcBef>
              <a:spcAft>
                <a:spcPct val="0"/>
              </a:spcAft>
            </a:pPr>
            <a:r>
              <a:rPr lang="en-US" altLang="en-US" sz="1200" b="1" kern="0" spc="-80" dirty="0">
                <a:solidFill>
                  <a:schemeClr val="accent6"/>
                </a:solidFill>
                <a:latin typeface="Lucida Sans"/>
                <a:ea typeface="+mj-ea"/>
              </a:rPr>
              <a:t>Animation over time on maps.</a:t>
            </a:r>
          </a:p>
          <a:p>
            <a:pPr lvl="0" eaLnBrk="0" fontAlgn="base" hangingPunct="0">
              <a:spcBef>
                <a:spcPct val="0"/>
              </a:spcBef>
              <a:spcAft>
                <a:spcPct val="0"/>
              </a:spcAft>
            </a:pPr>
            <a:r>
              <a:rPr lang="en-US" altLang="en-US" sz="1200" b="1" kern="0" spc="-80" dirty="0">
                <a:solidFill>
                  <a:schemeClr val="accent6"/>
                </a:solidFill>
                <a:latin typeface="Lucida Sans"/>
                <a:ea typeface="+mj-ea"/>
              </a:rPr>
              <a:t>Heatmaps / density maps for changing spatial distributions.</a:t>
            </a:r>
          </a:p>
          <a:p>
            <a:pPr lvl="0" eaLnBrk="0" fontAlgn="base" hangingPunct="0">
              <a:spcBef>
                <a:spcPct val="0"/>
              </a:spcBef>
              <a:spcAft>
                <a:spcPct val="0"/>
              </a:spcAft>
            </a:pPr>
            <a:r>
              <a:rPr lang="en-US" altLang="en-US" sz="1200" b="1" kern="0" spc="-80" dirty="0">
                <a:solidFill>
                  <a:schemeClr val="accent6"/>
                </a:solidFill>
                <a:latin typeface="Lucida Sans"/>
                <a:ea typeface="+mj-ea"/>
              </a:rPr>
              <a:t>Trajectory plots for moving objects.</a:t>
            </a:r>
          </a:p>
          <a:p>
            <a:pPr lvl="0" eaLnBrk="0" fontAlgn="base" hangingPunct="0">
              <a:spcBef>
                <a:spcPct val="0"/>
              </a:spcBef>
              <a:spcAft>
                <a:spcPct val="0"/>
              </a:spcAft>
            </a:pPr>
            <a:r>
              <a:rPr lang="en-US" altLang="en-US" sz="1200" b="1" kern="0" spc="-80" dirty="0">
                <a:solidFill>
                  <a:schemeClr val="accent6"/>
                </a:solidFill>
                <a:latin typeface="Lucida Sans"/>
                <a:ea typeface="+mj-ea"/>
              </a:rPr>
              <a:t>Interactive dashboards with time sliders.</a:t>
            </a:r>
          </a:p>
          <a:p>
            <a:pPr lvl="0" eaLnBrk="0" fontAlgn="base" hangingPunct="0">
              <a:spcBef>
                <a:spcPct val="0"/>
              </a:spcBef>
              <a:spcAft>
                <a:spcPct val="0"/>
              </a:spcAft>
            </a:pPr>
            <a:endParaRPr lang="en-US" altLang="en-US" sz="1200" b="1" kern="0" spc="-80" dirty="0">
              <a:solidFill>
                <a:schemeClr val="accent6"/>
              </a:solidFill>
              <a:latin typeface="Lucida Sans"/>
              <a:ea typeface="+mj-ea"/>
            </a:endParaRPr>
          </a:p>
          <a:p>
            <a:pPr eaLnBrk="0" fontAlgn="base" hangingPunct="0">
              <a:spcBef>
                <a:spcPct val="0"/>
              </a:spcBef>
              <a:spcAft>
                <a:spcPct val="0"/>
              </a:spcAft>
            </a:pPr>
            <a:r>
              <a:rPr lang="en-US" altLang="en-US" sz="1500" b="1" kern="0" spc="-80" dirty="0">
                <a:solidFill>
                  <a:schemeClr val="accent2"/>
                </a:solidFill>
                <a:latin typeface="Lucida Sans"/>
              </a:rPr>
              <a:t>Summary Table</a:t>
            </a: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a:p>
            <a:pPr lvl="0" eaLnBrk="0" fontAlgn="base" hangingPunct="0">
              <a:spcBef>
                <a:spcPct val="0"/>
              </a:spcBef>
              <a:spcAft>
                <a:spcPct val="0"/>
              </a:spcAft>
            </a:pPr>
            <a:r>
              <a:rPr lang="en-US" altLang="en-US" sz="1200" b="1" kern="0" spc="-80" dirty="0">
                <a:solidFill>
                  <a:schemeClr val="accent2"/>
                </a:solidFill>
                <a:latin typeface="Lucida Sans"/>
                <a:ea typeface="+mj-ea"/>
              </a:rPr>
              <a:t>	                  	               	</a:t>
            </a:r>
          </a:p>
          <a:p>
            <a:pPr lvl="0" eaLnBrk="0" fontAlgn="base" hangingPunct="0">
              <a:spcBef>
                <a:spcPct val="0"/>
              </a:spcBef>
              <a:spcAft>
                <a:spcPct val="0"/>
              </a:spcAft>
            </a:pPr>
            <a:endParaRPr lang="en-US" altLang="en-US" sz="1200" b="1" kern="0" spc="-80" dirty="0">
              <a:solidFill>
                <a:schemeClr val="accent2"/>
              </a:solidFill>
              <a:latin typeface="Lucida Sans"/>
              <a:ea typeface="+mj-ea"/>
            </a:endParaRPr>
          </a:p>
        </p:txBody>
      </p:sp>
      <p:sp>
        <p:nvSpPr>
          <p:cNvPr id="9" name="Rectangle 2">
            <a:extLst>
              <a:ext uri="{FF2B5EF4-FFF2-40B4-BE49-F238E27FC236}">
                <a16:creationId xmlns:a16="http://schemas.microsoft.com/office/drawing/2014/main" id="{627FF6A2-6B78-3A89-3B04-12B9A04C97A5}"/>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24FC001A-A06C-FB16-F4D9-8606D41D683B}"/>
              </a:ext>
            </a:extLst>
          </p:cNvPr>
          <p:cNvGraphicFramePr>
            <a:graphicFrameLocks noGrp="1"/>
          </p:cNvGraphicFramePr>
          <p:nvPr/>
        </p:nvGraphicFramePr>
        <p:xfrm>
          <a:off x="76200" y="2606040"/>
          <a:ext cx="8929740" cy="2880360"/>
        </p:xfrm>
        <a:graphic>
          <a:graphicData uri="http://schemas.openxmlformats.org/drawingml/2006/table">
            <a:tbl>
              <a:tblPr firstRow="1" bandRow="1">
                <a:tableStyleId>{5C22544A-7EE6-4342-B048-85BDC9FD1C3A}</a:tableStyleId>
              </a:tblPr>
              <a:tblGrid>
                <a:gridCol w="2232435">
                  <a:extLst>
                    <a:ext uri="{9D8B030D-6E8A-4147-A177-3AD203B41FA5}">
                      <a16:colId xmlns:a16="http://schemas.microsoft.com/office/drawing/2014/main" val="695951805"/>
                    </a:ext>
                  </a:extLst>
                </a:gridCol>
                <a:gridCol w="2232435">
                  <a:extLst>
                    <a:ext uri="{9D8B030D-6E8A-4147-A177-3AD203B41FA5}">
                      <a16:colId xmlns:a16="http://schemas.microsoft.com/office/drawing/2014/main" val="1120731500"/>
                    </a:ext>
                  </a:extLst>
                </a:gridCol>
                <a:gridCol w="2232435">
                  <a:extLst>
                    <a:ext uri="{9D8B030D-6E8A-4147-A177-3AD203B41FA5}">
                      <a16:colId xmlns:a16="http://schemas.microsoft.com/office/drawing/2014/main" val="4141145718"/>
                    </a:ext>
                  </a:extLst>
                </a:gridCol>
                <a:gridCol w="2232435">
                  <a:extLst>
                    <a:ext uri="{9D8B030D-6E8A-4147-A177-3AD203B41FA5}">
                      <a16:colId xmlns:a16="http://schemas.microsoft.com/office/drawing/2014/main" val="966010471"/>
                    </a:ext>
                  </a:extLst>
                </a:gridCol>
              </a:tblGrid>
              <a:tr h="370840">
                <a:tc>
                  <a:txBody>
                    <a:bodyPr/>
                    <a:lstStyle/>
                    <a:p>
                      <a:r>
                        <a:rPr lang="en-US" altLang="en-US" sz="1800" b="1" kern="0" spc="-80" dirty="0">
                          <a:solidFill>
                            <a:srgbClr val="FFFFFF"/>
                          </a:solidFill>
                          <a:latin typeface="Lucida Sans"/>
                          <a:ea typeface="+mn-ea"/>
                          <a:cs typeface="+mn-cs"/>
                        </a:rPr>
                        <a:t>Technique</a:t>
                      </a:r>
                      <a:endParaRPr lang="en-IN" dirty="0">
                        <a:solidFill>
                          <a:srgbClr val="FFFFFF"/>
                        </a:solidFill>
                      </a:endParaRPr>
                    </a:p>
                  </a:txBody>
                  <a:tcPr/>
                </a:tc>
                <a:tc>
                  <a:txBody>
                    <a:bodyPr/>
                    <a:lstStyle/>
                    <a:p>
                      <a:r>
                        <a:rPr lang="en-US" altLang="en-US" sz="1800" b="1" kern="0" spc="-80" dirty="0">
                          <a:solidFill>
                            <a:srgbClr val="FFFFFF"/>
                          </a:solidFill>
                          <a:latin typeface="Lucida Sans"/>
                          <a:ea typeface="+mn-ea"/>
                          <a:cs typeface="+mn-cs"/>
                        </a:rPr>
                        <a:t> Spatial Type</a:t>
                      </a:r>
                      <a:endParaRPr lang="en-IN" dirty="0">
                        <a:solidFill>
                          <a:srgbClr val="FFFFFF"/>
                        </a:solidFill>
                      </a:endParaRPr>
                    </a:p>
                  </a:txBody>
                  <a:tcPr/>
                </a:tc>
                <a:tc>
                  <a:txBody>
                    <a:bodyPr/>
                    <a:lstStyle/>
                    <a:p>
                      <a:r>
                        <a:rPr lang="en-US" altLang="en-US" sz="1800" b="1" kern="0" spc="-80" dirty="0">
                          <a:solidFill>
                            <a:srgbClr val="FFFFFF"/>
                          </a:solidFill>
                          <a:latin typeface="Lucida Sans"/>
                          <a:ea typeface="+mn-ea"/>
                          <a:cs typeface="+mn-cs"/>
                        </a:rPr>
                        <a:t>Temporal Type</a:t>
                      </a:r>
                      <a:endParaRPr lang="en-IN" dirty="0">
                        <a:solidFill>
                          <a:srgbClr val="FFFFFF"/>
                        </a:solidFill>
                      </a:endParaRPr>
                    </a:p>
                  </a:txBody>
                  <a:tcPr/>
                </a:tc>
                <a:tc>
                  <a:txBody>
                    <a:bodyPr/>
                    <a:lstStyle/>
                    <a:p>
                      <a:r>
                        <a:rPr lang="en-US" altLang="en-US" sz="1800" b="1" kern="0" spc="-80" dirty="0">
                          <a:solidFill>
                            <a:srgbClr val="FFFFFF"/>
                          </a:solidFill>
                          <a:latin typeface="Lucida Sans"/>
                          <a:ea typeface="+mn-ea"/>
                          <a:cs typeface="+mn-cs"/>
                        </a:rPr>
                        <a:t>Use Case</a:t>
                      </a:r>
                      <a:endParaRPr lang="en-IN" dirty="0">
                        <a:solidFill>
                          <a:srgbClr val="FFFFFF"/>
                        </a:solidFill>
                      </a:endParaRPr>
                    </a:p>
                  </a:txBody>
                  <a:tcPr/>
                </a:tc>
                <a:extLst>
                  <a:ext uri="{0D108BD9-81ED-4DB2-BD59-A6C34878D82A}">
                    <a16:rowId xmlns:a16="http://schemas.microsoft.com/office/drawing/2014/main" val="3297879578"/>
                  </a:ext>
                </a:extLst>
              </a:tr>
              <a:tr h="370840">
                <a:tc>
                  <a:txBody>
                    <a:bodyPr/>
                    <a:lstStyle/>
                    <a:p>
                      <a:r>
                        <a:rPr lang="en-IN" sz="1400" dirty="0"/>
                        <a:t>Raster grids</a:t>
                      </a:r>
                    </a:p>
                  </a:txBody>
                  <a:tcPr/>
                </a:tc>
                <a:tc>
                  <a:txBody>
                    <a:bodyPr/>
                    <a:lstStyle/>
                    <a:p>
                      <a:r>
                        <a:rPr lang="en-IN" sz="1400" dirty="0"/>
                        <a:t>Continuous</a:t>
                      </a:r>
                    </a:p>
                  </a:txBody>
                  <a:tcPr/>
                </a:tc>
                <a:tc>
                  <a:txBody>
                    <a:bodyPr/>
                    <a:lstStyle/>
                    <a:p>
                      <a:r>
                        <a:rPr lang="en-IN" sz="1400" dirty="0"/>
                        <a:t>Snapshots</a:t>
                      </a:r>
                    </a:p>
                  </a:txBody>
                  <a:tcPr/>
                </a:tc>
                <a:tc>
                  <a:txBody>
                    <a:bodyPr/>
                    <a:lstStyle/>
                    <a:p>
                      <a:r>
                        <a:rPr lang="en-IN" sz="1400" dirty="0"/>
                        <a:t>Climate, land use</a:t>
                      </a:r>
                    </a:p>
                  </a:txBody>
                  <a:tcPr/>
                </a:tc>
                <a:extLst>
                  <a:ext uri="{0D108BD9-81ED-4DB2-BD59-A6C34878D82A}">
                    <a16:rowId xmlns:a16="http://schemas.microsoft.com/office/drawing/2014/main" val="1082411027"/>
                  </a:ext>
                </a:extLst>
              </a:tr>
              <a:tr h="370840">
                <a:tc>
                  <a:txBody>
                    <a:bodyPr/>
                    <a:lstStyle/>
                    <a:p>
                      <a:r>
                        <a:rPr lang="en-IN" sz="1400" dirty="0"/>
                        <a:t>Vector object</a:t>
                      </a:r>
                    </a:p>
                  </a:txBody>
                  <a:tcPr/>
                </a:tc>
                <a:tc>
                  <a:txBody>
                    <a:bodyPr/>
                    <a:lstStyle/>
                    <a:p>
                      <a:r>
                        <a:rPr lang="en-IN" sz="1400" dirty="0"/>
                        <a:t>Points/lines/polygon</a:t>
                      </a:r>
                    </a:p>
                  </a:txBody>
                  <a:tcPr/>
                </a:tc>
                <a:tc>
                  <a:txBody>
                    <a:bodyPr/>
                    <a:lstStyle/>
                    <a:p>
                      <a:r>
                        <a:rPr lang="en-IN" sz="1400" dirty="0"/>
                        <a:t>Timestamps / intervals</a:t>
                      </a:r>
                    </a:p>
                  </a:txBody>
                  <a:tcPr/>
                </a:tc>
                <a:tc>
                  <a:txBody>
                    <a:bodyPr/>
                    <a:lstStyle/>
                    <a:p>
                      <a:r>
                        <a:rPr lang="en-IN" sz="1400" dirty="0"/>
                        <a:t>GIS, vehicles</a:t>
                      </a:r>
                    </a:p>
                    <a:p>
                      <a:endParaRPr lang="en-IN" sz="1400" dirty="0"/>
                    </a:p>
                  </a:txBody>
                  <a:tcPr/>
                </a:tc>
                <a:extLst>
                  <a:ext uri="{0D108BD9-81ED-4DB2-BD59-A6C34878D82A}">
                    <a16:rowId xmlns:a16="http://schemas.microsoft.com/office/drawing/2014/main" val="454205139"/>
                  </a:ext>
                </a:extLst>
              </a:tr>
              <a:tr h="131162">
                <a:tc>
                  <a:txBody>
                    <a:bodyPr/>
                    <a:lstStyle/>
                    <a:p>
                      <a:r>
                        <a:rPr lang="en-IN" sz="1400" dirty="0"/>
                        <a:t>Moving object</a:t>
                      </a:r>
                    </a:p>
                  </a:txBody>
                  <a:tcPr/>
                </a:tc>
                <a:tc>
                  <a:txBody>
                    <a:bodyPr/>
                    <a:lstStyle/>
                    <a:p>
                      <a:r>
                        <a:rPr lang="en-IN" sz="1400" dirty="0"/>
                        <a:t>Entities</a:t>
                      </a:r>
                    </a:p>
                  </a:txBody>
                  <a:tcPr/>
                </a:tc>
                <a:tc>
                  <a:txBody>
                    <a:bodyPr/>
                    <a:lstStyle/>
                    <a:p>
                      <a:r>
                        <a:rPr lang="en-IN" sz="1400" dirty="0"/>
                        <a:t>Trajectories</a:t>
                      </a:r>
                    </a:p>
                  </a:txBody>
                  <a:tcPr/>
                </a:tc>
                <a:tc>
                  <a:txBody>
                    <a:bodyPr/>
                    <a:lstStyle/>
                    <a:p>
                      <a:r>
                        <a:rPr lang="en-IN" sz="1400" dirty="0"/>
                        <a:t>Transportation, logistics</a:t>
                      </a:r>
                    </a:p>
                    <a:p>
                      <a:endParaRPr lang="en-IN" sz="1400" dirty="0"/>
                    </a:p>
                  </a:txBody>
                  <a:tcPr/>
                </a:tc>
                <a:extLst>
                  <a:ext uri="{0D108BD9-81ED-4DB2-BD59-A6C34878D82A}">
                    <a16:rowId xmlns:a16="http://schemas.microsoft.com/office/drawing/2014/main" val="230972806"/>
                  </a:ext>
                </a:extLst>
              </a:tr>
              <a:tr h="131162">
                <a:tc>
                  <a:txBody>
                    <a:bodyPr/>
                    <a:lstStyle/>
                    <a:p>
                      <a:r>
                        <a:rPr lang="en-IN" sz="1400" dirty="0"/>
                        <a:t>Graphs Nodes/Edges</a:t>
                      </a:r>
                    </a:p>
                  </a:txBody>
                  <a:tcPr/>
                </a:tc>
                <a:tc>
                  <a:txBody>
                    <a:bodyPr/>
                    <a:lstStyle/>
                    <a:p>
                      <a:r>
                        <a:rPr lang="en-IN" sz="1400" dirty="0"/>
                        <a:t>Dynamic</a:t>
                      </a:r>
                    </a:p>
                  </a:txBody>
                  <a:tcPr/>
                </a:tc>
                <a:tc>
                  <a:txBody>
                    <a:bodyPr/>
                    <a:lstStyle/>
                    <a:p>
                      <a:r>
                        <a:rPr lang="en-IN" sz="1400" dirty="0"/>
                        <a:t>Edges/Nodes</a:t>
                      </a:r>
                    </a:p>
                  </a:txBody>
                  <a:tcPr/>
                </a:tc>
                <a:tc>
                  <a:txBody>
                    <a:bodyPr/>
                    <a:lstStyle/>
                    <a:p>
                      <a:r>
                        <a:rPr lang="en-IN" sz="1400" dirty="0"/>
                        <a:t>Road networks, social networks</a:t>
                      </a:r>
                    </a:p>
                    <a:p>
                      <a:endParaRPr lang="en-IN" sz="1400" dirty="0"/>
                    </a:p>
                  </a:txBody>
                  <a:tcPr/>
                </a:tc>
                <a:extLst>
                  <a:ext uri="{0D108BD9-81ED-4DB2-BD59-A6C34878D82A}">
                    <a16:rowId xmlns:a16="http://schemas.microsoft.com/office/drawing/2014/main" val="1990113569"/>
                  </a:ext>
                </a:extLst>
              </a:tr>
              <a:tr h="370840">
                <a:tc>
                  <a:txBody>
                    <a:bodyPr/>
                    <a:lstStyle/>
                    <a:p>
                      <a:r>
                        <a:rPr lang="en-IN" sz="1400" dirty="0"/>
                        <a:t>Hybrid</a:t>
                      </a:r>
                    </a:p>
                  </a:txBody>
                  <a:tcPr/>
                </a:tc>
                <a:tc>
                  <a:txBody>
                    <a:bodyPr/>
                    <a:lstStyle/>
                    <a:p>
                      <a:r>
                        <a:rPr lang="en-IN" sz="1400" dirty="0"/>
                        <a:t>Mixed</a:t>
                      </a:r>
                    </a:p>
                  </a:txBody>
                  <a:tcPr/>
                </a:tc>
                <a:tc>
                  <a:txBody>
                    <a:bodyPr/>
                    <a:lstStyle/>
                    <a:p>
                      <a:r>
                        <a:rPr lang="en-IN" sz="1400" dirty="0"/>
                        <a:t>Mixed</a:t>
                      </a:r>
                    </a:p>
                  </a:txBody>
                  <a:tcPr/>
                </a:tc>
                <a:tc>
                  <a:txBody>
                    <a:bodyPr/>
                    <a:lstStyle/>
                    <a:p>
                      <a:r>
                        <a:rPr lang="en-IN" sz="1400" dirty="0"/>
                        <a:t>Complex urban modelling</a:t>
                      </a:r>
                    </a:p>
                  </a:txBody>
                  <a:tcPr/>
                </a:tc>
                <a:extLst>
                  <a:ext uri="{0D108BD9-81ED-4DB2-BD59-A6C34878D82A}">
                    <a16:rowId xmlns:a16="http://schemas.microsoft.com/office/drawing/2014/main" val="891333958"/>
                  </a:ext>
                </a:extLst>
              </a:tr>
            </a:tbl>
          </a:graphicData>
        </a:graphic>
      </p:graphicFrame>
    </p:spTree>
    <p:extLst>
      <p:ext uri="{BB962C8B-B14F-4D97-AF65-F5344CB8AC3E}">
        <p14:creationId xmlns:p14="http://schemas.microsoft.com/office/powerpoint/2010/main" val="1873172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A1198-0DD7-CC5F-8B00-E99ADD7F5C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F0A8BA-5252-5410-FFDD-C35FEB39190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924BFD-B815-4411-632D-71195CA504F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43CFF7D-90B2-9A07-9E3B-EE64B71EC3A8}"/>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D856E91-B7C3-9CC5-40A7-8C82FBCEB0F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B323377-A7BB-DA86-3844-922D4F771C2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D049B468-9D9D-2AB1-2D46-B0FF1402B7A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D8D4A93-B18D-9DA8-2C4D-B4F766FDFABC}"/>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3B6DD23A-036F-21A7-5007-88BAEBEA3BED}"/>
              </a:ext>
            </a:extLst>
          </p:cNvPr>
          <p:cNvSpPr txBox="1"/>
          <p:nvPr/>
        </p:nvSpPr>
        <p:spPr>
          <a:xfrm>
            <a:off x="0" y="799464"/>
            <a:ext cx="8867874" cy="5016758"/>
          </a:xfrm>
          <a:prstGeom prst="rect">
            <a:avLst/>
          </a:prstGeom>
          <a:noFill/>
        </p:spPr>
        <p:txBody>
          <a:bodyPr wrap="square">
            <a:spAutoFit/>
          </a:bodyPr>
          <a:lstStyle/>
          <a:p>
            <a:pPr lvl="0" eaLnBrk="0" fontAlgn="base" hangingPunct="0">
              <a:spcBef>
                <a:spcPct val="0"/>
              </a:spcBef>
              <a:spcAft>
                <a:spcPct val="0"/>
              </a:spcAft>
            </a:pPr>
            <a:r>
              <a:rPr lang="en-US" altLang="en-US" sz="1600" b="1" kern="0" spc="-80" dirty="0">
                <a:solidFill>
                  <a:schemeClr val="accent6"/>
                </a:solidFill>
                <a:latin typeface="Lucida Sans"/>
                <a:ea typeface="+mj-ea"/>
              </a:rPr>
              <a:t>Unstructured data modeling refers to the processes and techniques used to analyze and convert raw, undefined data (like text, images, and videos) into a usable format for extracting meaningful insights, often by leveraging Machine Learning (ML) and Natural Language Processing (NLP) to transform it into a structured representation that can be analyzed. This involves preprocessing the data, applying algorithms to identify patterns, and storing the transformed data in systems like </a:t>
            </a:r>
            <a:r>
              <a:rPr lang="en-US" altLang="en-US" sz="1600" b="1" kern="0" spc="-80" dirty="0">
                <a:solidFill>
                  <a:schemeClr val="accent6"/>
                </a:solidFill>
                <a:latin typeface="Lucida Sans"/>
                <a:ea typeface="+mj-ea"/>
                <a:hlinkClick r:id="rId7">
                  <a:extLst>
                    <a:ext uri="{A12FA001-AC4F-418D-AE19-62706E023703}">
                      <ahyp:hlinkClr xmlns:ahyp="http://schemas.microsoft.com/office/drawing/2018/hyperlinkcolor" val="tx"/>
                    </a:ext>
                  </a:extLst>
                </a:hlinkClick>
              </a:rPr>
              <a:t>NoSQL databases</a:t>
            </a:r>
            <a:r>
              <a:rPr lang="en-US" altLang="en-US" sz="1600" b="1" kern="0" spc="-80" dirty="0">
                <a:solidFill>
                  <a:schemeClr val="accent6"/>
                </a:solidFill>
                <a:latin typeface="Lucida Sans"/>
                <a:ea typeface="+mj-ea"/>
              </a:rPr>
              <a:t> or </a:t>
            </a:r>
            <a:r>
              <a:rPr lang="en-US" altLang="en-US" sz="1600" b="1" kern="0" spc="-80" dirty="0">
                <a:solidFill>
                  <a:schemeClr val="accent6"/>
                </a:solidFill>
                <a:latin typeface="Lucida Sans"/>
                <a:ea typeface="+mj-ea"/>
                <a:hlinkClick r:id="rId8">
                  <a:extLst>
                    <a:ext uri="{A12FA001-AC4F-418D-AE19-62706E023703}">
                      <ahyp:hlinkClr xmlns:ahyp="http://schemas.microsoft.com/office/drawing/2018/hyperlinkcolor" val="tx"/>
                    </a:ext>
                  </a:extLst>
                </a:hlinkClick>
              </a:rPr>
              <a:t>data lakes</a:t>
            </a:r>
            <a:r>
              <a:rPr lang="en-US" altLang="en-US" sz="1600" b="1" kern="0" spc="-80" dirty="0">
                <a:solidFill>
                  <a:schemeClr val="accent6"/>
                </a:solidFill>
                <a:latin typeface="Lucida Sans"/>
                <a:ea typeface="+mj-ea"/>
              </a:rPr>
              <a:t> to support applications like sentiment analysis, image recognition, and knowledge discovery.  </a:t>
            </a:r>
          </a:p>
          <a:p>
            <a:pPr lvl="0" eaLnBrk="0" fontAlgn="base" hangingPunct="0">
              <a:spcBef>
                <a:spcPct val="0"/>
              </a:spcBef>
              <a:spcAft>
                <a:spcPct val="0"/>
              </a:spcAft>
            </a:pPr>
            <a:r>
              <a:rPr lang="en-US" altLang="en-US" sz="1600" b="1" kern="0" spc="-80" dirty="0">
                <a:solidFill>
                  <a:schemeClr val="accent2"/>
                </a:solidFill>
                <a:latin typeface="Lucida Sans"/>
                <a:ea typeface="+mj-ea"/>
              </a:rPr>
              <a:t>Key Aspects of Unstructured Data Modeling</a:t>
            </a:r>
          </a:p>
          <a:p>
            <a:pPr lvl="0" eaLnBrk="0" fontAlgn="base" hangingPunct="0">
              <a:spcBef>
                <a:spcPct val="0"/>
              </a:spcBef>
              <a:spcAft>
                <a:spcPct val="0"/>
              </a:spcAft>
              <a:buFontTx/>
              <a:buChar char="•"/>
            </a:pPr>
            <a:r>
              <a:rPr lang="en-US" altLang="en-US" sz="1600" b="1" kern="0" spc="-80" dirty="0">
                <a:solidFill>
                  <a:schemeClr val="accent2"/>
                </a:solidFill>
                <a:latin typeface="Lucida Sans"/>
                <a:ea typeface="+mj-ea"/>
              </a:rPr>
              <a:t>Data Types: </a:t>
            </a:r>
          </a:p>
          <a:p>
            <a:pPr lvl="0" eaLnBrk="0" fontAlgn="base" hangingPunct="0">
              <a:spcBef>
                <a:spcPct val="0"/>
              </a:spcBef>
              <a:spcAft>
                <a:spcPct val="0"/>
              </a:spcAft>
            </a:pPr>
            <a:r>
              <a:rPr lang="en-US" altLang="en-US" sz="1600" b="1" kern="0" spc="-80" dirty="0">
                <a:solidFill>
                  <a:schemeClr val="accent6"/>
                </a:solidFill>
                <a:latin typeface="Lucida Sans"/>
                <a:ea typeface="+mj-ea"/>
              </a:rPr>
              <a:t>Unstructured data includes text documents, emails, social media posts, images, audio files, videos, and sensor data. </a:t>
            </a:r>
          </a:p>
          <a:p>
            <a:pPr lvl="0" eaLnBrk="0" fontAlgn="base" hangingPunct="0">
              <a:spcBef>
                <a:spcPct val="0"/>
              </a:spcBef>
              <a:spcAft>
                <a:spcPct val="0"/>
              </a:spcAft>
              <a:buFontTx/>
              <a:buChar char="•"/>
            </a:pPr>
            <a:r>
              <a:rPr lang="en-US" altLang="en-US" sz="1600" b="1" kern="0" spc="-80" dirty="0">
                <a:solidFill>
                  <a:schemeClr val="accent2"/>
                </a:solidFill>
                <a:latin typeface="Lucida Sans"/>
                <a:ea typeface="+mj-ea"/>
              </a:rPr>
              <a:t>Lack of Schema:</a:t>
            </a:r>
            <a:r>
              <a:rPr lang="en-US" altLang="en-US" sz="1600" b="1" kern="0" spc="-80" dirty="0">
                <a:solidFill>
                  <a:schemeClr val="accent6"/>
                </a:solidFill>
                <a:latin typeface="Lucida Sans"/>
                <a:ea typeface="+mj-ea"/>
              </a:rPr>
              <a:t> </a:t>
            </a:r>
          </a:p>
          <a:p>
            <a:pPr lvl="0" eaLnBrk="0" fontAlgn="base" hangingPunct="0">
              <a:spcBef>
                <a:spcPct val="0"/>
              </a:spcBef>
              <a:spcAft>
                <a:spcPct val="0"/>
              </a:spcAft>
            </a:pPr>
            <a:r>
              <a:rPr lang="en-US" altLang="en-US" sz="1600" b="1" kern="0" spc="-80" dirty="0">
                <a:solidFill>
                  <a:schemeClr val="accent6"/>
                </a:solidFill>
                <a:latin typeface="Lucida Sans"/>
                <a:ea typeface="+mj-ea"/>
              </a:rPr>
              <a:t>Unlike structured data (like that in traditional relational databases), unstructured data does not adhere to a predefined data model or fixed schema. </a:t>
            </a:r>
          </a:p>
          <a:p>
            <a:pPr lvl="0" eaLnBrk="0" fontAlgn="base" hangingPunct="0">
              <a:spcBef>
                <a:spcPct val="0"/>
              </a:spcBef>
              <a:spcAft>
                <a:spcPct val="0"/>
              </a:spcAft>
              <a:buFontTx/>
              <a:buChar char="•"/>
            </a:pPr>
            <a:r>
              <a:rPr lang="en-US" altLang="en-US" sz="1600" b="1" kern="0" spc="-80" dirty="0">
                <a:solidFill>
                  <a:schemeClr val="accent2"/>
                </a:solidFill>
                <a:latin typeface="Lucida Sans"/>
                <a:ea typeface="+mj-ea"/>
              </a:rPr>
              <a:t>Sophisticated Tools: </a:t>
            </a:r>
          </a:p>
          <a:p>
            <a:pPr lvl="0" eaLnBrk="0" fontAlgn="base" hangingPunct="0">
              <a:spcBef>
                <a:spcPct val="0"/>
              </a:spcBef>
              <a:spcAft>
                <a:spcPct val="0"/>
              </a:spcAft>
            </a:pPr>
            <a:r>
              <a:rPr lang="en-US" altLang="en-US" sz="1600" b="1" kern="0" spc="-80" dirty="0">
                <a:solidFill>
                  <a:schemeClr val="accent6"/>
                </a:solidFill>
                <a:latin typeface="Lucida Sans"/>
                <a:ea typeface="+mj-ea"/>
              </a:rPr>
              <a:t>Extracting insights from unstructured data requires advanced technologies, including ML and NLP, to process the raw data. </a:t>
            </a:r>
          </a:p>
          <a:p>
            <a:pPr lvl="0" eaLnBrk="0" fontAlgn="base" hangingPunct="0">
              <a:spcBef>
                <a:spcPct val="0"/>
              </a:spcBef>
              <a:spcAft>
                <a:spcPct val="0"/>
              </a:spcAft>
              <a:buFontTx/>
              <a:buChar char="•"/>
            </a:pPr>
            <a:r>
              <a:rPr lang="en-US" altLang="en-US" sz="1600" b="1" kern="0" spc="-80" dirty="0">
                <a:solidFill>
                  <a:schemeClr val="accent2"/>
                </a:solidFill>
                <a:latin typeface="Lucida Sans"/>
                <a:ea typeface="+mj-ea"/>
              </a:rPr>
              <a:t>Data Storage: </a:t>
            </a:r>
          </a:p>
          <a:p>
            <a:pPr lvl="0" eaLnBrk="0" fontAlgn="base" hangingPunct="0">
              <a:spcBef>
                <a:spcPct val="0"/>
              </a:spcBef>
              <a:spcAft>
                <a:spcPct val="0"/>
              </a:spcAft>
            </a:pPr>
            <a:r>
              <a:rPr lang="en-US" altLang="en-US" sz="1600" b="1" kern="0" spc="-80" dirty="0">
                <a:solidFill>
                  <a:schemeClr val="accent6"/>
                </a:solidFill>
                <a:latin typeface="Lucida Sans"/>
                <a:ea typeface="+mj-ea"/>
              </a:rPr>
              <a:t>Unstructured data is often stored in file systems, NoSQL databases, or data lakes, which are designed to handle massive amounts of raw, varied data. </a:t>
            </a:r>
          </a:p>
        </p:txBody>
      </p:sp>
      <p:sp>
        <p:nvSpPr>
          <p:cNvPr id="9" name="Rectangle 2">
            <a:extLst>
              <a:ext uri="{FF2B5EF4-FFF2-40B4-BE49-F238E27FC236}">
                <a16:creationId xmlns:a16="http://schemas.microsoft.com/office/drawing/2014/main" id="{B83A2F51-3757-D934-80BF-9A9231343228}"/>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3064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C6984-7909-9EE1-FB27-EA35828F439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FD7590-E42C-032E-B848-A03CD4FAC4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8727B09-DFCC-B8DC-4D4A-98CECA99211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A7CE9B4-CE48-5D91-EB17-7205FFF9C4BB}"/>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45CE8DC-2C48-047A-4677-B0D88B96C1A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990F181-44FA-6BB2-47AF-CC83BDD0C95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2A6E3ED0-A31D-2DB1-6E0B-742411C5ADC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1063054-27ED-E8CC-B554-B68924B58B9F}"/>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19CE0450-E778-87F3-58A8-8383631F9711}"/>
              </a:ext>
            </a:extLst>
          </p:cNvPr>
          <p:cNvSpPr txBox="1"/>
          <p:nvPr/>
        </p:nvSpPr>
        <p:spPr>
          <a:xfrm>
            <a:off x="0" y="799464"/>
            <a:ext cx="8867874" cy="4893647"/>
          </a:xfrm>
          <a:prstGeom prst="rect">
            <a:avLst/>
          </a:prstGeom>
          <a:noFill/>
        </p:spPr>
        <p:txBody>
          <a:bodyPr wrap="square">
            <a:spAutoFit/>
          </a:bodyPr>
          <a:lstStyle/>
          <a:p>
            <a:pPr lvl="0" eaLnBrk="0" fontAlgn="base" hangingPunct="0">
              <a:spcBef>
                <a:spcPct val="0"/>
              </a:spcBef>
              <a:spcAft>
                <a:spcPct val="0"/>
              </a:spcAft>
            </a:pPr>
            <a:r>
              <a:rPr lang="en-US" altLang="en-US" sz="1300" b="1" kern="0" spc="-80" dirty="0">
                <a:solidFill>
                  <a:schemeClr val="accent2"/>
                </a:solidFill>
                <a:latin typeface="Lucida Sans"/>
                <a:ea typeface="+mj-ea"/>
              </a:rPr>
              <a:t>Common Use Cases </a:t>
            </a:r>
          </a:p>
          <a:p>
            <a:pPr lvl="0" eaLnBrk="0" fontAlgn="base" hangingPunct="0">
              <a:spcBef>
                <a:spcPct val="0"/>
              </a:spcBef>
              <a:spcAft>
                <a:spcPct val="0"/>
              </a:spcAft>
              <a:buFontTx/>
              <a:buChar char="•"/>
            </a:pPr>
            <a:r>
              <a:rPr lang="en-US" altLang="en-US" sz="1300" b="1" kern="0" spc="-80" dirty="0">
                <a:solidFill>
                  <a:schemeClr val="accent2"/>
                </a:solidFill>
                <a:latin typeface="Lucida Sans"/>
                <a:ea typeface="+mj-ea"/>
              </a:rPr>
              <a:t>Text Analysis: </a:t>
            </a:r>
          </a:p>
          <a:p>
            <a:pPr lvl="0" eaLnBrk="0" fontAlgn="base" hangingPunct="0">
              <a:spcBef>
                <a:spcPct val="0"/>
              </a:spcBef>
              <a:spcAft>
                <a:spcPct val="0"/>
              </a:spcAft>
            </a:pPr>
            <a:r>
              <a:rPr lang="en-US" altLang="en-US" sz="1300" b="1" kern="0" spc="-80" dirty="0">
                <a:solidFill>
                  <a:schemeClr val="accent6"/>
                </a:solidFill>
                <a:latin typeface="Lucida Sans"/>
                <a:ea typeface="+mj-ea"/>
              </a:rPr>
              <a:t>Using NLP to analyze text data from customer reviews, social media, and documents to understand sentiment and categorize information.</a:t>
            </a:r>
          </a:p>
          <a:p>
            <a:pPr lvl="0" eaLnBrk="0" fontAlgn="base" hangingPunct="0">
              <a:spcBef>
                <a:spcPct val="0"/>
              </a:spcBef>
              <a:spcAft>
                <a:spcPct val="0"/>
              </a:spcAft>
              <a:buFontTx/>
              <a:buChar char="•"/>
            </a:pPr>
            <a:r>
              <a:rPr lang="en-US" altLang="en-US" sz="1300" b="1" kern="0" spc="-80" dirty="0">
                <a:solidFill>
                  <a:schemeClr val="accent2"/>
                </a:solidFill>
                <a:latin typeface="Lucida Sans"/>
                <a:ea typeface="+mj-ea"/>
              </a:rPr>
              <a:t>Image and Video Analysis: </a:t>
            </a:r>
          </a:p>
          <a:p>
            <a:pPr lvl="0" eaLnBrk="0" fontAlgn="base" hangingPunct="0">
              <a:spcBef>
                <a:spcPct val="0"/>
              </a:spcBef>
              <a:spcAft>
                <a:spcPct val="0"/>
              </a:spcAft>
            </a:pPr>
            <a:r>
              <a:rPr lang="en-US" altLang="en-US" sz="1300" b="1" kern="0" spc="-80" dirty="0">
                <a:solidFill>
                  <a:schemeClr val="accent6"/>
                </a:solidFill>
                <a:latin typeface="Lucida Sans"/>
                <a:ea typeface="+mj-ea"/>
              </a:rPr>
              <a:t>Applying computer vision techniques for tasks like facial recognition, object detection, and content classification.</a:t>
            </a:r>
          </a:p>
          <a:p>
            <a:pPr lvl="0" eaLnBrk="0" fontAlgn="base" hangingPunct="0">
              <a:spcBef>
                <a:spcPct val="0"/>
              </a:spcBef>
              <a:spcAft>
                <a:spcPct val="0"/>
              </a:spcAft>
              <a:buFontTx/>
              <a:buChar char="•"/>
            </a:pPr>
            <a:r>
              <a:rPr lang="en-US" altLang="en-US" sz="1300" b="1" kern="0" spc="-80" dirty="0">
                <a:solidFill>
                  <a:schemeClr val="accent2"/>
                </a:solidFill>
                <a:latin typeface="Lucida Sans"/>
                <a:ea typeface="+mj-ea"/>
              </a:rPr>
              <a:t>Speech and Audio Processing:</a:t>
            </a:r>
            <a:r>
              <a:rPr lang="en-US" altLang="en-US" sz="1300" b="1" kern="0" spc="-80" dirty="0">
                <a:solidFill>
                  <a:schemeClr val="accent6"/>
                </a:solidFill>
                <a:latin typeface="Lucida Sans"/>
                <a:ea typeface="+mj-ea"/>
              </a:rPr>
              <a:t> </a:t>
            </a:r>
          </a:p>
          <a:p>
            <a:pPr lvl="0" eaLnBrk="0" fontAlgn="base" hangingPunct="0">
              <a:spcBef>
                <a:spcPct val="0"/>
              </a:spcBef>
              <a:spcAft>
                <a:spcPct val="0"/>
              </a:spcAft>
            </a:pPr>
            <a:r>
              <a:rPr lang="en-US" altLang="en-US" sz="1300" b="1" kern="0" spc="-80" dirty="0">
                <a:solidFill>
                  <a:schemeClr val="accent6"/>
                </a:solidFill>
                <a:latin typeface="Lucida Sans"/>
                <a:ea typeface="+mj-ea"/>
              </a:rPr>
              <a:t>Analyzing audio data for speech recognition and to gauge voice sentiment.</a:t>
            </a:r>
          </a:p>
          <a:p>
            <a:pPr lvl="0" eaLnBrk="0" fontAlgn="base" hangingPunct="0">
              <a:spcBef>
                <a:spcPct val="0"/>
              </a:spcBef>
              <a:spcAft>
                <a:spcPct val="0"/>
              </a:spcAft>
              <a:buFontTx/>
              <a:buChar char="•"/>
            </a:pPr>
            <a:r>
              <a:rPr lang="en-US" altLang="en-US" sz="1300" b="1" kern="0" spc="-80" dirty="0">
                <a:solidFill>
                  <a:schemeClr val="accent2"/>
                </a:solidFill>
                <a:latin typeface="Lucida Sans"/>
                <a:ea typeface="+mj-ea"/>
              </a:rPr>
              <a:t>Knowledge Discovery: </a:t>
            </a:r>
          </a:p>
          <a:p>
            <a:pPr lvl="0" eaLnBrk="0" fontAlgn="base" hangingPunct="0">
              <a:spcBef>
                <a:spcPct val="0"/>
              </a:spcBef>
              <a:spcAft>
                <a:spcPct val="0"/>
              </a:spcAft>
            </a:pPr>
            <a:r>
              <a:rPr lang="en-US" altLang="en-US" sz="1300" b="1" kern="0" spc="-80" dirty="0">
                <a:solidFill>
                  <a:schemeClr val="accent6"/>
                </a:solidFill>
                <a:latin typeface="Lucida Sans"/>
                <a:ea typeface="+mj-ea"/>
              </a:rPr>
              <a:t>Uncovering patterns and relationships in unstructured data, such as common issues in customer support tickets.</a:t>
            </a:r>
          </a:p>
          <a:p>
            <a:pPr lvl="0" eaLnBrk="0" fontAlgn="base" hangingPunct="0">
              <a:spcBef>
                <a:spcPct val="0"/>
              </a:spcBef>
              <a:spcAft>
                <a:spcPct val="0"/>
              </a:spcAft>
            </a:pPr>
            <a:endParaRPr lang="en-US" altLang="en-US" sz="1300" b="1" kern="0" spc="-80" dirty="0">
              <a:solidFill>
                <a:schemeClr val="accent2"/>
              </a:solidFill>
              <a:latin typeface="Lucida Sans"/>
              <a:ea typeface="+mj-ea"/>
            </a:endParaRPr>
          </a:p>
          <a:p>
            <a:pPr lvl="0" eaLnBrk="0" fontAlgn="base" hangingPunct="0">
              <a:spcBef>
                <a:spcPct val="0"/>
              </a:spcBef>
              <a:spcAft>
                <a:spcPct val="0"/>
              </a:spcAft>
            </a:pPr>
            <a:r>
              <a:rPr lang="en-US" altLang="en-US" sz="1300" b="1" kern="0" spc="-80" dirty="0">
                <a:solidFill>
                  <a:schemeClr val="accent2"/>
                </a:solidFill>
                <a:latin typeface="Lucida Sans"/>
                <a:ea typeface="+mj-ea"/>
              </a:rPr>
              <a:t>Process of Unstructured Data Modeling(</a:t>
            </a:r>
            <a:r>
              <a:rPr lang="en-US" altLang="en-US" sz="1300" b="1" kern="0" spc="-80" dirty="0">
                <a:solidFill>
                  <a:schemeClr val="accent1"/>
                </a:solidFill>
                <a:latin typeface="Lucida Sans"/>
                <a:ea typeface="+mj-ea"/>
              </a:rPr>
              <a:t>check the “AI, ML, DL and Related Topics” deck slides for more info)</a:t>
            </a:r>
          </a:p>
          <a:p>
            <a:pPr lvl="0" eaLnBrk="0" fontAlgn="base" hangingPunct="0">
              <a:spcBef>
                <a:spcPct val="0"/>
              </a:spcBef>
              <a:spcAft>
                <a:spcPct val="0"/>
              </a:spcAft>
              <a:buFontTx/>
              <a:buAutoNum type="arabicPeriod"/>
            </a:pPr>
            <a:r>
              <a:rPr lang="en-US" altLang="en-US" sz="1300" b="1" kern="0" spc="-80" dirty="0">
                <a:solidFill>
                  <a:schemeClr val="accent2"/>
                </a:solidFill>
                <a:latin typeface="Lucida Sans"/>
                <a:ea typeface="+mj-ea"/>
              </a:rPr>
              <a:t>Data Collection: </a:t>
            </a:r>
          </a:p>
          <a:p>
            <a:pPr lvl="0" eaLnBrk="0" fontAlgn="base" hangingPunct="0">
              <a:spcBef>
                <a:spcPct val="0"/>
              </a:spcBef>
              <a:spcAft>
                <a:spcPct val="0"/>
              </a:spcAft>
            </a:pPr>
            <a:r>
              <a:rPr lang="en-US" altLang="en-US" sz="1300" b="1" kern="0" spc="-80" dirty="0">
                <a:solidFill>
                  <a:schemeClr val="accent6"/>
                </a:solidFill>
                <a:latin typeface="Lucida Sans"/>
                <a:ea typeface="+mj-ea"/>
              </a:rPr>
              <a:t>Gather large volumes of raw, unstructured data from various sources. </a:t>
            </a:r>
          </a:p>
          <a:p>
            <a:pPr lvl="0" eaLnBrk="0" fontAlgn="base" hangingPunct="0">
              <a:spcBef>
                <a:spcPct val="0"/>
              </a:spcBef>
              <a:spcAft>
                <a:spcPct val="0"/>
              </a:spcAft>
              <a:buFontTx/>
              <a:buAutoNum type="arabicPeriod" startAt="2"/>
            </a:pPr>
            <a:r>
              <a:rPr lang="en-US" altLang="en-US" sz="1300" b="1" kern="0" spc="-80" dirty="0">
                <a:solidFill>
                  <a:schemeClr val="accent2"/>
                </a:solidFill>
                <a:latin typeface="Lucida Sans"/>
                <a:ea typeface="+mj-ea"/>
              </a:rPr>
              <a:t>Preprocessing: </a:t>
            </a:r>
          </a:p>
          <a:p>
            <a:pPr lvl="0" eaLnBrk="0" fontAlgn="base" hangingPunct="0">
              <a:spcBef>
                <a:spcPct val="0"/>
              </a:spcBef>
              <a:spcAft>
                <a:spcPct val="0"/>
              </a:spcAft>
            </a:pPr>
            <a:r>
              <a:rPr lang="en-US" altLang="en-US" sz="1300" b="1" kern="0" spc="-80" dirty="0">
                <a:solidFill>
                  <a:schemeClr val="accent6"/>
                </a:solidFill>
                <a:latin typeface="Lucida Sans"/>
                <a:ea typeface="+mj-ea"/>
              </a:rPr>
              <a:t>Clean and prepare the data, which might involve steps like tokenization for text or feature extraction for images. </a:t>
            </a:r>
          </a:p>
          <a:p>
            <a:pPr lvl="0" eaLnBrk="0" fontAlgn="base" hangingPunct="0">
              <a:spcBef>
                <a:spcPct val="0"/>
              </a:spcBef>
              <a:spcAft>
                <a:spcPct val="0"/>
              </a:spcAft>
              <a:buFontTx/>
              <a:buAutoNum type="arabicPeriod" startAt="3"/>
            </a:pPr>
            <a:r>
              <a:rPr lang="en-US" altLang="en-US" sz="1300" b="1" kern="0" spc="-80" dirty="0">
                <a:solidFill>
                  <a:schemeClr val="accent2"/>
                </a:solidFill>
                <a:latin typeface="Lucida Sans"/>
                <a:ea typeface="+mj-ea"/>
              </a:rPr>
              <a:t>Feature Extraction/Representation: </a:t>
            </a:r>
          </a:p>
          <a:p>
            <a:pPr lvl="0" eaLnBrk="0" fontAlgn="base" hangingPunct="0">
              <a:spcBef>
                <a:spcPct val="0"/>
              </a:spcBef>
              <a:spcAft>
                <a:spcPct val="0"/>
              </a:spcAft>
            </a:pPr>
            <a:r>
              <a:rPr lang="en-US" altLang="en-US" sz="1300" b="1" kern="0" spc="-80" dirty="0">
                <a:solidFill>
                  <a:schemeClr val="accent6"/>
                </a:solidFill>
                <a:latin typeface="Lucida Sans"/>
                <a:ea typeface="+mj-ea"/>
              </a:rPr>
              <a:t>Convert the unstructured data into a structured format suitable for ML models, such as using techniques like </a:t>
            </a:r>
            <a:r>
              <a:rPr lang="en-US" altLang="en-US" sz="1300" b="1" kern="0" spc="-80" dirty="0">
                <a:solidFill>
                  <a:schemeClr val="accent6"/>
                </a:solidFill>
                <a:latin typeface="Lucida Sans"/>
                <a:ea typeface="+mj-ea"/>
                <a:hlinkClick r:id="rId7">
                  <a:extLst>
                    <a:ext uri="{A12FA001-AC4F-418D-AE19-62706E023703}">
                      <ahyp:hlinkClr xmlns:ahyp="http://schemas.microsoft.com/office/drawing/2018/hyperlinkcolor" val="tx"/>
                    </a:ext>
                  </a:extLst>
                </a:hlinkClick>
              </a:rPr>
              <a:t>Bag of Words (</a:t>
            </a:r>
            <a:r>
              <a:rPr lang="en-US" altLang="en-US" sz="1300" b="1" kern="0" spc="-80" dirty="0" err="1">
                <a:solidFill>
                  <a:schemeClr val="accent6"/>
                </a:solidFill>
                <a:latin typeface="Lucida Sans"/>
                <a:ea typeface="+mj-ea"/>
                <a:hlinkClick r:id="rId7">
                  <a:extLst>
                    <a:ext uri="{A12FA001-AC4F-418D-AE19-62706E023703}">
                      <ahyp:hlinkClr xmlns:ahyp="http://schemas.microsoft.com/office/drawing/2018/hyperlinkcolor" val="tx"/>
                    </a:ext>
                  </a:extLst>
                </a:hlinkClick>
              </a:rPr>
              <a:t>BoW</a:t>
            </a:r>
            <a:r>
              <a:rPr lang="en-US" altLang="en-US" sz="1300" b="1" kern="0" spc="-80" dirty="0">
                <a:solidFill>
                  <a:schemeClr val="accent6"/>
                </a:solidFill>
                <a:latin typeface="Lucida Sans"/>
                <a:ea typeface="+mj-ea"/>
                <a:hlinkClick r:id="rId7">
                  <a:extLst>
                    <a:ext uri="{A12FA001-AC4F-418D-AE19-62706E023703}">
                      <ahyp:hlinkClr xmlns:ahyp="http://schemas.microsoft.com/office/drawing/2018/hyperlinkcolor" val="tx"/>
                    </a:ext>
                  </a:extLst>
                </a:hlinkClick>
              </a:rPr>
              <a:t>)</a:t>
            </a:r>
            <a:r>
              <a:rPr lang="en-US" altLang="en-US" sz="1300" b="1" kern="0" spc="-80" dirty="0">
                <a:solidFill>
                  <a:schemeClr val="accent6"/>
                </a:solidFill>
                <a:latin typeface="Lucida Sans"/>
                <a:ea typeface="+mj-ea"/>
              </a:rPr>
              <a:t> or </a:t>
            </a:r>
            <a:r>
              <a:rPr lang="en-US" altLang="en-US" sz="1300" b="1" kern="0" spc="-80" dirty="0">
                <a:solidFill>
                  <a:schemeClr val="accent6"/>
                </a:solidFill>
                <a:latin typeface="Lucida Sans"/>
                <a:ea typeface="+mj-ea"/>
                <a:hlinkClick r:id="rId8">
                  <a:extLst>
                    <a:ext uri="{A12FA001-AC4F-418D-AE19-62706E023703}">
                      <ahyp:hlinkClr xmlns:ahyp="http://schemas.microsoft.com/office/drawing/2018/hyperlinkcolor" val="tx"/>
                    </a:ext>
                  </a:extLst>
                </a:hlinkClick>
              </a:rPr>
              <a:t>TF-IDF</a:t>
            </a:r>
            <a:r>
              <a:rPr lang="en-US" altLang="en-US" sz="1300" b="1" kern="0" spc="-80" dirty="0">
                <a:solidFill>
                  <a:schemeClr val="accent6"/>
                </a:solidFill>
                <a:latin typeface="Lucida Sans"/>
                <a:ea typeface="+mj-ea"/>
              </a:rPr>
              <a:t> for text data. </a:t>
            </a:r>
          </a:p>
          <a:p>
            <a:pPr lvl="0" eaLnBrk="0" fontAlgn="base" hangingPunct="0">
              <a:spcBef>
                <a:spcPct val="0"/>
              </a:spcBef>
              <a:spcAft>
                <a:spcPct val="0"/>
              </a:spcAft>
              <a:buFontTx/>
              <a:buAutoNum type="arabicPeriod" startAt="4"/>
            </a:pPr>
            <a:r>
              <a:rPr lang="en-US" altLang="en-US" sz="1300" b="1" kern="0" spc="-80" dirty="0">
                <a:solidFill>
                  <a:schemeClr val="accent2"/>
                </a:solidFill>
                <a:latin typeface="Lucida Sans"/>
                <a:ea typeface="+mj-ea"/>
              </a:rPr>
              <a:t>Modeling and Analysis: </a:t>
            </a:r>
          </a:p>
          <a:p>
            <a:pPr lvl="0" eaLnBrk="0" fontAlgn="base" hangingPunct="0">
              <a:spcBef>
                <a:spcPct val="0"/>
              </a:spcBef>
              <a:spcAft>
                <a:spcPct val="0"/>
              </a:spcAft>
            </a:pPr>
            <a:r>
              <a:rPr lang="en-US" altLang="en-US" sz="1300" b="1" kern="0" spc="-80" dirty="0">
                <a:solidFill>
                  <a:schemeClr val="accent6"/>
                </a:solidFill>
                <a:latin typeface="Lucida Sans"/>
                <a:ea typeface="+mj-ea"/>
              </a:rPr>
              <a:t>Apply ML algorithms to the structured representation to perform tasks like classification, clustering, and sentiment analysis. </a:t>
            </a:r>
          </a:p>
          <a:p>
            <a:pPr lvl="0" eaLnBrk="0" fontAlgn="base" hangingPunct="0">
              <a:spcBef>
                <a:spcPct val="0"/>
              </a:spcBef>
              <a:spcAft>
                <a:spcPct val="0"/>
              </a:spcAft>
              <a:buFontTx/>
              <a:buAutoNum type="arabicPeriod" startAt="5"/>
            </a:pPr>
            <a:r>
              <a:rPr lang="en-US" altLang="en-US" sz="1300" b="1" kern="0" spc="-80" dirty="0">
                <a:solidFill>
                  <a:schemeClr val="accent2"/>
                </a:solidFill>
                <a:latin typeface="Lucida Sans"/>
                <a:ea typeface="+mj-ea"/>
              </a:rPr>
              <a:t>Insight Generation: </a:t>
            </a:r>
          </a:p>
          <a:p>
            <a:pPr lvl="0" eaLnBrk="0" fontAlgn="base" hangingPunct="0">
              <a:spcBef>
                <a:spcPct val="0"/>
              </a:spcBef>
              <a:spcAft>
                <a:spcPct val="0"/>
              </a:spcAft>
            </a:pPr>
            <a:r>
              <a:rPr lang="en-US" altLang="en-US" sz="1300" b="1" kern="0" spc="-80" dirty="0">
                <a:solidFill>
                  <a:schemeClr val="accent6"/>
                </a:solidFill>
                <a:latin typeface="Lucida Sans"/>
                <a:ea typeface="+mj-ea"/>
              </a:rPr>
              <a:t>Leverage the results from the modeling process to gain actionable business insights. </a:t>
            </a:r>
          </a:p>
        </p:txBody>
      </p:sp>
      <p:sp>
        <p:nvSpPr>
          <p:cNvPr id="9" name="Rectangle 2">
            <a:extLst>
              <a:ext uri="{FF2B5EF4-FFF2-40B4-BE49-F238E27FC236}">
                <a16:creationId xmlns:a16="http://schemas.microsoft.com/office/drawing/2014/main" id="{B68A0F40-88F1-2964-2E64-FA32AC5AC496}"/>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1610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EC81E-8A7C-D4D1-2398-526E739164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324EDF-D33D-6D71-52EA-90BB5697179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413AC68-2B2D-BF1B-2DC7-2BBF8D39C9F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99CF28-219A-9505-FC07-FBCE2E9E88B9}"/>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F03A36-CB42-1558-9F7D-DBFC45905DB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8E3634A-D384-5F14-E130-1FC3B3162E4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3C77223-9D7F-2061-4C96-C800F8EB9975}"/>
              </a:ext>
            </a:extLst>
          </p:cNvPr>
          <p:cNvSpPr txBox="1">
            <a:spLocks/>
          </p:cNvSpPr>
          <p:nvPr/>
        </p:nvSpPr>
        <p:spPr>
          <a:xfrm>
            <a:off x="-7862" y="762000"/>
            <a:ext cx="8915399" cy="54630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Consolidation</a:t>
            </a:r>
          </a:p>
          <a:p>
            <a:pPr marL="12700" marR="5080"/>
            <a:r>
              <a:rPr lang="en-US" sz="1300" kern="0" spc="-80" dirty="0">
                <a:solidFill>
                  <a:schemeClr val="accent6"/>
                </a:solidFill>
              </a:rPr>
              <a:t>Data consolidation is the process of gathering data from multiple sources and combining it into a single(or less number of DBs/Tables/Schemas </a:t>
            </a:r>
            <a:r>
              <a:rPr lang="en-US" sz="1300" kern="0" spc="-80" dirty="0" err="1">
                <a:solidFill>
                  <a:schemeClr val="accent6"/>
                </a:solidFill>
              </a:rPr>
              <a:t>etc</a:t>
            </a:r>
            <a:r>
              <a:rPr lang="en-US" sz="1300" kern="0" spc="-80" dirty="0">
                <a:solidFill>
                  <a:schemeClr val="accent6"/>
                </a:solidFill>
              </a:rPr>
              <a:t> compared to earlier state), unified location, such as a data warehouse or data lake. This unified view helps break down data silos, improves data consistency, and provides a single source of truth for reporting, analytics, and decision-making.  </a:t>
            </a:r>
          </a:p>
          <a:p>
            <a:pPr marL="12700" marR="5080"/>
            <a:r>
              <a:rPr lang="en-US" sz="1300" kern="0" spc="-80" dirty="0">
                <a:solidFill>
                  <a:schemeClr val="accent2"/>
                </a:solidFill>
              </a:rPr>
              <a:t>Key aspects of data consolidation</a:t>
            </a:r>
          </a:p>
          <a:p>
            <a:pPr marL="12700" marR="5080"/>
            <a:r>
              <a:rPr lang="en-US" sz="1300" kern="0" spc="-80" dirty="0">
                <a:solidFill>
                  <a:schemeClr val="accent2"/>
                </a:solidFill>
              </a:rPr>
              <a:t>Combines disparate sources: </a:t>
            </a:r>
            <a:r>
              <a:rPr lang="en-US" sz="1300" kern="0" spc="-80" dirty="0">
                <a:solidFill>
                  <a:schemeClr val="accent6"/>
                </a:solidFill>
              </a:rPr>
              <a:t>It integrates data from various systems like applications, databases, and online platforms into one central repository. </a:t>
            </a:r>
          </a:p>
          <a:p>
            <a:pPr marL="12700" marR="5080"/>
            <a:r>
              <a:rPr lang="en-US" sz="1300" kern="0" spc="-80" dirty="0">
                <a:solidFill>
                  <a:schemeClr val="accent2"/>
                </a:solidFill>
              </a:rPr>
              <a:t>Creates a unified view:</a:t>
            </a:r>
            <a:r>
              <a:rPr lang="en-US" sz="1300" kern="0" spc="-80" dirty="0">
                <a:solidFill>
                  <a:schemeClr val="accent6"/>
                </a:solidFill>
              </a:rPr>
              <a:t> By combining and standardizing the data, it provides a comprehensive overview of information, such as a retailer combining sales data from physical stores and its online platform. </a:t>
            </a:r>
          </a:p>
          <a:p>
            <a:pPr marL="12700" marR="5080"/>
            <a:r>
              <a:rPr lang="en-US" sz="1300" kern="0" spc="-80" dirty="0">
                <a:solidFill>
                  <a:schemeClr val="accent2"/>
                </a:solidFill>
              </a:rPr>
              <a:t>Supports analytics and reporting: </a:t>
            </a:r>
            <a:r>
              <a:rPr lang="en-US" sz="1300" kern="0" spc="-80" dirty="0">
                <a:solidFill>
                  <a:schemeClr val="accent6"/>
                </a:solidFill>
              </a:rPr>
              <a:t>Consolidated data is easier to analyze, enabling better business intelligence, forecasting, and strategic decision-making. </a:t>
            </a:r>
          </a:p>
          <a:p>
            <a:pPr marL="12700" marR="5080"/>
            <a:r>
              <a:rPr lang="en-US" sz="1300" kern="0" spc="-80" dirty="0">
                <a:solidFill>
                  <a:schemeClr val="accent2"/>
                </a:solidFill>
              </a:rPr>
              <a:t>Uses various techniques: </a:t>
            </a:r>
            <a:r>
              <a:rPr lang="en-US" sz="1300" kern="0" spc="-80" dirty="0">
                <a:solidFill>
                  <a:schemeClr val="accent6"/>
                </a:solidFill>
              </a:rPr>
              <a:t>Common methods include ETL (Extract, Transform, Load) or ELT processes to ingest, clean, and store the data. </a:t>
            </a:r>
          </a:p>
          <a:p>
            <a:pPr marL="12700" marR="5080"/>
            <a:r>
              <a:rPr lang="en-US" sz="1300" kern="0" spc="-80" dirty="0">
                <a:solidFill>
                  <a:schemeClr val="accent2"/>
                </a:solidFill>
              </a:rPr>
              <a:t>Improves data governance:</a:t>
            </a:r>
            <a:r>
              <a:rPr lang="en-US" sz="1300" kern="0" spc="-80" dirty="0">
                <a:solidFill>
                  <a:schemeClr val="accent6"/>
                </a:solidFill>
              </a:rPr>
              <a:t> By centralizing data, organizations can better manage its security, integrity, and consistency. </a:t>
            </a:r>
          </a:p>
          <a:p>
            <a:pPr marL="12700" marR="5080"/>
            <a:r>
              <a:rPr lang="en-US" sz="1300" kern="0" spc="-80" dirty="0">
                <a:solidFill>
                  <a:schemeClr val="accent2"/>
                </a:solidFill>
              </a:rPr>
              <a:t>Benefits of data consolidation</a:t>
            </a:r>
          </a:p>
          <a:p>
            <a:pPr marL="12700" marR="5080"/>
            <a:r>
              <a:rPr lang="en-US" sz="1300" kern="0" spc="-80" dirty="0">
                <a:solidFill>
                  <a:schemeClr val="accent2"/>
                </a:solidFill>
              </a:rPr>
              <a:t>Better decision-making: </a:t>
            </a:r>
            <a:r>
              <a:rPr lang="en-US" sz="1300" kern="0" spc="-80" dirty="0">
                <a:solidFill>
                  <a:schemeClr val="accent6"/>
                </a:solidFill>
              </a:rPr>
              <a:t>A single source of truth leads to more informed and strategic choices. </a:t>
            </a:r>
          </a:p>
          <a:p>
            <a:pPr marL="12700" marR="5080"/>
            <a:r>
              <a:rPr lang="en-US" sz="1300" kern="0" spc="-80" dirty="0">
                <a:solidFill>
                  <a:schemeClr val="accent2"/>
                </a:solidFill>
              </a:rPr>
              <a:t>Increased operational efficiency:</a:t>
            </a:r>
            <a:r>
              <a:rPr lang="en-US" sz="1300" kern="0" spc="-80" dirty="0">
                <a:solidFill>
                  <a:schemeClr val="accent6"/>
                </a:solidFill>
              </a:rPr>
              <a:t> Streamlines data management and reduces the time spent on reconciling inconsistent data from different sources. </a:t>
            </a:r>
          </a:p>
          <a:p>
            <a:pPr marL="12700" marR="5080"/>
            <a:r>
              <a:rPr lang="en-US" sz="1300" kern="0" spc="-80" dirty="0">
                <a:solidFill>
                  <a:schemeClr val="accent2"/>
                </a:solidFill>
              </a:rPr>
              <a:t>Enhanced data accuracy and consistency: </a:t>
            </a:r>
            <a:r>
              <a:rPr lang="en-US" sz="1300" kern="0" spc="-80" dirty="0">
                <a:solidFill>
                  <a:schemeClr val="accent6"/>
                </a:solidFill>
              </a:rPr>
              <a:t>Centralizing data helps minimize redundancy and ensures information is standardized. </a:t>
            </a:r>
          </a:p>
          <a:p>
            <a:pPr marL="12700" marR="5080"/>
            <a:r>
              <a:rPr lang="en-US" sz="1300" kern="0" spc="-80" dirty="0">
                <a:solidFill>
                  <a:schemeClr val="accent2"/>
                </a:solidFill>
              </a:rPr>
              <a:t>Improved data accessibility:</a:t>
            </a:r>
            <a:r>
              <a:rPr lang="en-US" sz="1300" kern="0" spc="-80" dirty="0">
                <a:solidFill>
                  <a:schemeClr val="accent6"/>
                </a:solidFill>
              </a:rPr>
              <a:t> Provides a single point of access for users across different departments. </a:t>
            </a:r>
          </a:p>
          <a:p>
            <a:pPr marL="12700" marR="5080"/>
            <a:r>
              <a:rPr lang="en-US" sz="1300" kern="0" spc="-80" dirty="0">
                <a:solidFill>
                  <a:schemeClr val="accent2"/>
                </a:solidFill>
              </a:rPr>
              <a:t>Techniques</a:t>
            </a:r>
          </a:p>
          <a:p>
            <a:pPr marL="12700" marR="5080"/>
            <a:r>
              <a:rPr lang="en-US" sz="1300" kern="0" spc="-80" dirty="0">
                <a:solidFill>
                  <a:schemeClr val="accent6"/>
                </a:solidFill>
              </a:rPr>
              <a:t>You can consolidate data by position or category, especially using spreadsheet tools like Microsoft Excel. Other methods include using ETL tools for complex processes or hand-coding for highly customized solutions. </a:t>
            </a:r>
          </a:p>
        </p:txBody>
      </p:sp>
      <p:sp>
        <p:nvSpPr>
          <p:cNvPr id="8" name="AutoShape 2" descr="SQL vs NoSQL vs NewSQL. Adapting to the changing requirements… | by Gangani  Chamika | Medium">
            <a:extLst>
              <a:ext uri="{FF2B5EF4-FFF2-40B4-BE49-F238E27FC236}">
                <a16:creationId xmlns:a16="http://schemas.microsoft.com/office/drawing/2014/main" id="{074EA2C2-9505-23CF-6BAA-0C837F1382C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C17A42F-B269-167B-6CAF-A997921D7490}"/>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1128362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C9AC1-BDE6-782C-CB1C-45C0C838EF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2C9089-0EBE-556E-8515-9E5888BE9F6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C76BDA-D981-BEEA-FAD1-3380981AFC9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88E01C-F3D3-09DC-BEDB-CDB24D0A436E}"/>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10E5D8D-E2AD-2709-FD02-D36214AF1A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0AD931D-5B96-0503-CF76-D8336B2BBD7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8A3D120-6376-8140-19FD-8AF8AA3FAEBD}"/>
              </a:ext>
            </a:extLst>
          </p:cNvPr>
          <p:cNvSpPr txBox="1">
            <a:spLocks/>
          </p:cNvSpPr>
          <p:nvPr/>
        </p:nvSpPr>
        <p:spPr>
          <a:xfrm>
            <a:off x="-7862" y="762000"/>
            <a:ext cx="8915399" cy="30315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Spreadsheet software consolidation (like Excel) </a:t>
            </a:r>
          </a:p>
          <a:p>
            <a:pPr marL="12700" marR="5080"/>
            <a:r>
              <a:rPr lang="en-US" sz="1300" kern="0" spc="-80" dirty="0">
                <a:solidFill>
                  <a:schemeClr val="accent2"/>
                </a:solidFill>
              </a:rPr>
              <a:t>By position: </a:t>
            </a:r>
            <a:r>
              <a:rPr lang="en-US" sz="1300" kern="0" spc="-80" dirty="0">
                <a:solidFill>
                  <a:schemeClr val="accent6"/>
                </a:solidFill>
              </a:rPr>
              <a:t>Combine data from multiple worksheets that have the same layout and labels in the same order.</a:t>
            </a:r>
          </a:p>
          <a:p>
            <a:pPr marL="12700" marR="5080"/>
            <a:r>
              <a:rPr lang="en-US" sz="1300" kern="0" spc="-80" dirty="0">
                <a:solidFill>
                  <a:schemeClr val="accent2"/>
                </a:solidFill>
              </a:rPr>
              <a:t>By category:</a:t>
            </a:r>
            <a:r>
              <a:rPr lang="en-US" sz="1300" kern="0" spc="-80" dirty="0">
                <a:solidFill>
                  <a:schemeClr val="accent6"/>
                </a:solidFill>
              </a:rPr>
              <a:t> Combine data from worksheets that may have different layouts but share the same labels (e.g., "Sales" or "Revenue"). This is similar to a PivotTable, as shown in this Microsoft Support article. </a:t>
            </a:r>
          </a:p>
          <a:p>
            <a:pPr marL="12700" marR="5080"/>
            <a:r>
              <a:rPr lang="en-US" sz="1300" kern="0" spc="-80" dirty="0">
                <a:solidFill>
                  <a:schemeClr val="accent2"/>
                </a:solidFill>
              </a:rPr>
              <a:t>Data warehousing and business intelligence </a:t>
            </a:r>
          </a:p>
          <a:p>
            <a:pPr marL="12700" marR="5080"/>
            <a:r>
              <a:rPr lang="en-US" sz="1300" kern="0" spc="-80" dirty="0">
                <a:solidFill>
                  <a:schemeClr val="accent6"/>
                </a:solidFill>
              </a:rPr>
              <a:t>ETL (Extract, Transform, Load) tools: Use specialized tools to extract data from various sources, transform it into a standardized format, and then load it into a central repository like a data warehouse for analysis. This is best for batch processing and historical data. </a:t>
            </a:r>
          </a:p>
          <a:p>
            <a:pPr marL="12700" marR="5080"/>
            <a:r>
              <a:rPr lang="en-US" sz="1300" kern="0" spc="-80" dirty="0">
                <a:solidFill>
                  <a:schemeClr val="accent2"/>
                </a:solidFill>
              </a:rPr>
              <a:t>Custom solutions</a:t>
            </a:r>
          </a:p>
          <a:p>
            <a:pPr marL="12700" marR="5080"/>
            <a:r>
              <a:rPr lang="en-US" sz="1300" kern="0" spc="-80" dirty="0">
                <a:solidFill>
                  <a:schemeClr val="accent2"/>
                </a:solidFill>
              </a:rPr>
              <a:t>Hand-coding: </a:t>
            </a:r>
            <a:r>
              <a:rPr lang="en-US" sz="1300" kern="0" spc="-80" dirty="0">
                <a:solidFill>
                  <a:schemeClr val="accent6"/>
                </a:solidFill>
              </a:rPr>
              <a:t>Write custom scripts to extract, transform, and load data. This method offers high customization but requires technical expertise. </a:t>
            </a:r>
          </a:p>
          <a:p>
            <a:pPr marL="12700" marR="5080"/>
            <a:endParaRPr lang="en-US" sz="1300" kern="0" spc="-80" dirty="0">
              <a:solidFill>
                <a:schemeClr val="accent6"/>
              </a:solidFill>
            </a:endParaRPr>
          </a:p>
          <a:p>
            <a:pPr marL="12700" marR="5080"/>
            <a:r>
              <a:rPr lang="en-US" sz="1300" kern="0" spc="-80" dirty="0">
                <a:solidFill>
                  <a:schemeClr val="accent2"/>
                </a:solidFill>
              </a:rPr>
              <a:t>For Further Exploration</a:t>
            </a:r>
          </a:p>
          <a:p>
            <a:pPr marL="12700" marR="5080"/>
            <a:r>
              <a:rPr lang="en-IN" sz="1400" dirty="0">
                <a:hlinkClick r:id="rId7"/>
              </a:rPr>
              <a:t>What Is Data Consolidation? Process, Techniques &amp; Types | </a:t>
            </a:r>
            <a:r>
              <a:rPr lang="en-IN" sz="1400" dirty="0" err="1">
                <a:hlinkClick r:id="rId7"/>
              </a:rPr>
              <a:t>Rivery</a:t>
            </a:r>
            <a:r>
              <a:rPr lang="en-IN" sz="1400" dirty="0"/>
              <a:t>  </a:t>
            </a:r>
          </a:p>
          <a:p>
            <a:pPr marL="12700" marR="5080"/>
            <a:r>
              <a:rPr lang="en-IN" sz="1400" dirty="0">
                <a:hlinkClick r:id="rId8"/>
              </a:rPr>
              <a:t>Data Consolidation Techniques | LinkedIn</a:t>
            </a:r>
            <a:endParaRPr lang="en-US" sz="13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2D7916F-E40E-BC0A-61BF-4158066A5F4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4FC5324-DBA1-BE30-EA40-805F85B7E022}"/>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1742270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EFBE-8143-DB0E-30E0-C16F87788F0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971757-1F5F-8EA6-7FF4-C16372BAE15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B47161-82FD-B469-13BA-44E72AF2D9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89CF6E-51AC-1A7C-AA3A-980CA02C9EBC}"/>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00CC07E-8F72-4572-F847-90CA1E8B281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BD13E83-D8C1-4ED4-0AA6-DEE998716E6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392D210-B064-49A7-34F2-68D48EF0DB11}"/>
              </a:ext>
            </a:extLst>
          </p:cNvPr>
          <p:cNvSpPr txBox="1">
            <a:spLocks/>
          </p:cNvSpPr>
          <p:nvPr/>
        </p:nvSpPr>
        <p:spPr>
          <a:xfrm>
            <a:off x="-7862" y="762000"/>
            <a:ext cx="8915399" cy="60247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6"/>
                </a:solidFill>
              </a:rPr>
              <a:t>OLAP(Online Analytical Processing) is different from OLTP(Online Transaction Processing) in the sense that OLAP deals with large amount of data rows/records of table(s) within some DB(mainly reading thousands/millions or even billions/trillions, mainly in the form of some aggregate[s]) while OLTP deals with very few reads/writes(most of the times effecting only a single record in the DB) via normal </a:t>
            </a:r>
            <a:r>
              <a:rPr lang="en-US" sz="1350" kern="0" spc="-80" dirty="0" err="1">
                <a:solidFill>
                  <a:schemeClr val="accent6"/>
                </a:solidFill>
              </a:rPr>
              <a:t>sql</a:t>
            </a:r>
            <a:r>
              <a:rPr lang="en-US" sz="1350" kern="0" spc="-80" dirty="0">
                <a:solidFill>
                  <a:schemeClr val="accent6"/>
                </a:solidFill>
              </a:rPr>
              <a:t> selects/inserts/updates(or some equivalents e.g. in </a:t>
            </a:r>
            <a:r>
              <a:rPr lang="en-US" sz="1350" kern="0" spc="-80" dirty="0" err="1">
                <a:solidFill>
                  <a:schemeClr val="accent6"/>
                </a:solidFill>
              </a:rPr>
              <a:t>NoSql</a:t>
            </a:r>
            <a:r>
              <a:rPr lang="en-US" sz="1350" kern="0" spc="-80" dirty="0">
                <a:solidFill>
                  <a:schemeClr val="accent6"/>
                </a:solidFill>
              </a:rPr>
              <a:t>). Being read heavy, OLAP DBs are in general denormalized. To transfer the data from OLTP to OLAP, various (Real Time) ETL(Extract Transform Load)/ELT(Extract Load Transform) techniques &amp; strategies can be used e.g. doing nightly bulk/batch ETL to transfer data from a OLTP DB to a OLAP DB. This process is a type of Data Migration only ultimately.</a:t>
            </a:r>
          </a:p>
          <a:p>
            <a:pPr marL="12700" marR="5080"/>
            <a:r>
              <a:rPr lang="en-US" sz="1350" kern="0" spc="-80" dirty="0">
                <a:solidFill>
                  <a:schemeClr val="accent2"/>
                </a:solidFill>
              </a:rPr>
              <a:t>Dimensional data modeling</a:t>
            </a:r>
            <a:r>
              <a:rPr lang="en-US" sz="1350" kern="0" spc="-80" dirty="0">
                <a:solidFill>
                  <a:schemeClr val="accent6"/>
                </a:solidFill>
              </a:rPr>
              <a:t> organizes data into a star schema or snowflake schema for analytical purposes, using fact tables to store business process metrics and dimension tables for business context (who, what, when, where). Developed by </a:t>
            </a:r>
            <a:r>
              <a:rPr lang="en-US" sz="1350" kern="0" spc="-80" dirty="0">
                <a:solidFill>
                  <a:schemeClr val="accent6"/>
                </a:solidFill>
                <a:hlinkClick r:id="rId7">
                  <a:extLst>
                    <a:ext uri="{A12FA001-AC4F-418D-AE19-62706E023703}">
                      <ahyp:hlinkClr xmlns:ahyp="http://schemas.microsoft.com/office/drawing/2018/hyperlinkcolor" val="tx"/>
                    </a:ext>
                  </a:extLst>
                </a:hlinkClick>
              </a:rPr>
              <a:t>Ralph Kimball</a:t>
            </a:r>
            <a:r>
              <a:rPr lang="en-US" sz="1350" kern="0" spc="-80" dirty="0">
                <a:solidFill>
                  <a:schemeClr val="accent6"/>
                </a:solidFill>
              </a:rPr>
              <a:t>, this technique is optimized for fast data retrieval in data warehouses and business intelligence systems, making complex data understandable and usable for generating insights.</a:t>
            </a:r>
          </a:p>
          <a:p>
            <a:pPr lvl="0" eaLnBrk="0" fontAlgn="base" hangingPunct="0">
              <a:spcBef>
                <a:spcPct val="0"/>
              </a:spcBef>
              <a:spcAft>
                <a:spcPct val="0"/>
              </a:spcAft>
            </a:pPr>
            <a:r>
              <a:rPr lang="en-US" altLang="en-US" sz="1350" kern="0" spc="-80" dirty="0">
                <a:solidFill>
                  <a:schemeClr val="accent2"/>
                </a:solidFill>
              </a:rPr>
              <a:t>Key Concepts</a:t>
            </a:r>
          </a:p>
          <a:p>
            <a:pPr lvl="0" eaLnBrk="0" fontAlgn="base" hangingPunct="0">
              <a:spcBef>
                <a:spcPct val="0"/>
              </a:spcBef>
              <a:spcAft>
                <a:spcPct val="0"/>
              </a:spcAft>
              <a:buFontTx/>
              <a:buChar char="•"/>
            </a:pPr>
            <a:r>
              <a:rPr lang="en-US" altLang="en-US" sz="1350" kern="0" spc="-80" dirty="0">
                <a:solidFill>
                  <a:schemeClr val="accent2"/>
                </a:solidFill>
              </a:rPr>
              <a:t>Fact Table: </a:t>
            </a:r>
          </a:p>
          <a:p>
            <a:pPr lvl="0" eaLnBrk="0" fontAlgn="base" hangingPunct="0">
              <a:spcBef>
                <a:spcPct val="0"/>
              </a:spcBef>
              <a:spcAft>
                <a:spcPct val="0"/>
              </a:spcAft>
            </a:pPr>
            <a:r>
              <a:rPr lang="en-US" altLang="en-US" sz="1350" kern="0" spc="-80" dirty="0">
                <a:solidFill>
                  <a:schemeClr val="accent6"/>
                </a:solidFill>
              </a:rPr>
              <a:t>Contains quantitative measurements (facts) from a business process, such as sales, and connects to one or more dimension tables. </a:t>
            </a:r>
          </a:p>
          <a:p>
            <a:pPr lvl="0" eaLnBrk="0" fontAlgn="base" hangingPunct="0">
              <a:spcBef>
                <a:spcPct val="0"/>
              </a:spcBef>
              <a:spcAft>
                <a:spcPct val="0"/>
              </a:spcAft>
              <a:buFontTx/>
              <a:buChar char="•"/>
            </a:pPr>
            <a:r>
              <a:rPr lang="en-US" altLang="en-US" sz="1350" kern="0" spc="-80" dirty="0">
                <a:solidFill>
                  <a:schemeClr val="accent2"/>
                </a:solidFill>
              </a:rPr>
              <a:t>Dimension Table: </a:t>
            </a:r>
          </a:p>
          <a:p>
            <a:pPr lvl="0" eaLnBrk="0" fontAlgn="base" hangingPunct="0">
              <a:spcBef>
                <a:spcPct val="0"/>
              </a:spcBef>
              <a:spcAft>
                <a:spcPct val="0"/>
              </a:spcAft>
            </a:pPr>
            <a:r>
              <a:rPr lang="en-US" altLang="en-US" sz="1350" kern="0" spc="-80" dirty="0">
                <a:solidFill>
                  <a:schemeClr val="accent6"/>
                </a:solidFill>
              </a:rPr>
              <a:t>Stores descriptive attributes (dimensions) that provide context to the facts, like details about products, customers, or time. </a:t>
            </a:r>
          </a:p>
          <a:p>
            <a:pPr lvl="0" eaLnBrk="0" fontAlgn="base" hangingPunct="0">
              <a:spcBef>
                <a:spcPct val="0"/>
              </a:spcBef>
              <a:spcAft>
                <a:spcPct val="0"/>
              </a:spcAft>
              <a:buFontTx/>
              <a:buChar char="•"/>
            </a:pPr>
            <a:r>
              <a:rPr lang="en-US" altLang="en-US" sz="1350" kern="0" spc="-80" dirty="0">
                <a:solidFill>
                  <a:schemeClr val="accent2"/>
                </a:solidFill>
                <a:hlinkClick r:id="rId8">
                  <a:extLst>
                    <a:ext uri="{A12FA001-AC4F-418D-AE19-62706E023703}">
                      <ahyp:hlinkClr xmlns:ahyp="http://schemas.microsoft.com/office/drawing/2018/hyperlinkcolor" val="tx"/>
                    </a:ext>
                  </a:extLst>
                </a:hlinkClick>
              </a:rPr>
              <a:t>Star Schema</a:t>
            </a:r>
            <a:r>
              <a:rPr lang="en-US" altLang="en-US" sz="1350" kern="0" spc="-80" dirty="0">
                <a:solidFill>
                  <a:schemeClr val="accent2"/>
                </a:solidFill>
              </a:rPr>
              <a:t>: </a:t>
            </a:r>
          </a:p>
          <a:p>
            <a:pPr lvl="0" eaLnBrk="0" fontAlgn="base" hangingPunct="0">
              <a:spcBef>
                <a:spcPct val="0"/>
              </a:spcBef>
              <a:spcAft>
                <a:spcPct val="0"/>
              </a:spcAft>
            </a:pPr>
            <a:r>
              <a:rPr lang="en-US" altLang="en-US" sz="1350" kern="0" spc="-80" dirty="0">
                <a:solidFill>
                  <a:schemeClr val="accent6"/>
                </a:solidFill>
              </a:rPr>
              <a:t>A common structure where a central fact table is surrounded by multiple dimension tables, resembling a star's points. </a:t>
            </a:r>
          </a:p>
          <a:p>
            <a:pPr lvl="0" eaLnBrk="0" fontAlgn="base" hangingPunct="0">
              <a:spcBef>
                <a:spcPct val="0"/>
              </a:spcBef>
              <a:spcAft>
                <a:spcPct val="0"/>
              </a:spcAft>
              <a:buFontTx/>
              <a:buChar char="•"/>
            </a:pPr>
            <a:r>
              <a:rPr lang="en-US" altLang="en-US" sz="1350" kern="0" spc="-80" dirty="0">
                <a:solidFill>
                  <a:schemeClr val="accent2"/>
                </a:solidFill>
              </a:rPr>
              <a:t>Denormalization: </a:t>
            </a:r>
          </a:p>
          <a:p>
            <a:pPr lvl="0" eaLnBrk="0" fontAlgn="base" hangingPunct="0">
              <a:spcBef>
                <a:spcPct val="0"/>
              </a:spcBef>
              <a:spcAft>
                <a:spcPct val="0"/>
              </a:spcAft>
            </a:pPr>
            <a:r>
              <a:rPr lang="en-US" altLang="en-US" sz="1350" kern="0" spc="-80" dirty="0">
                <a:solidFill>
                  <a:schemeClr val="accent6"/>
                </a:solidFill>
              </a:rPr>
              <a:t>Dimensional models intentionally include redundancy to improve query performance and simplify data retrieval for analysis. </a:t>
            </a:r>
          </a:p>
          <a:p>
            <a:pPr marL="12700" marR="5080"/>
            <a:endParaRPr lang="en-US" sz="1350" kern="0" spc="-80" dirty="0">
              <a:solidFill>
                <a:schemeClr val="accent6"/>
              </a:solidFill>
            </a:endParaRPr>
          </a:p>
          <a:p>
            <a:pPr marL="12700" marR="5080"/>
            <a:endParaRPr lang="en-US" sz="1350" kern="0" spc="-80" dirty="0">
              <a:solidFill>
                <a:schemeClr val="accent6"/>
              </a:solidFill>
            </a:endParaRPr>
          </a:p>
          <a:p>
            <a:pPr marL="12700" marR="5080"/>
            <a:endParaRPr lang="en-US" sz="1350" kern="0" spc="-80" dirty="0">
              <a:solidFill>
                <a:schemeClr val="accent6"/>
              </a:solidFill>
            </a:endParaRPr>
          </a:p>
          <a:p>
            <a:pPr marL="12700" marR="5080"/>
            <a:r>
              <a:rPr lang="en-US" sz="1350" kern="0" spc="-80" dirty="0">
                <a:solidFill>
                  <a:schemeClr val="accent6"/>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4747F26F-6E09-F4B9-0366-C529237527A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8558E2E-31C0-8A13-4661-FADA491C7AD1}"/>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1" name="Rectangle 3">
            <a:extLst>
              <a:ext uri="{FF2B5EF4-FFF2-40B4-BE49-F238E27FC236}">
                <a16:creationId xmlns:a16="http://schemas.microsoft.com/office/drawing/2014/main" id="{0E746F5B-01FD-F3DD-14A7-B92C71D8B051}"/>
              </a:ext>
            </a:extLst>
          </p:cNvPr>
          <p:cNvSpPr>
            <a:spLocks noChangeArrowheads="1"/>
          </p:cNvSpPr>
          <p:nvPr/>
        </p:nvSpPr>
        <p:spPr bwMode="auto">
          <a:xfrm>
            <a:off x="0" y="-221829"/>
            <a:ext cx="65" cy="443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9161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C880-D4E9-545B-E4E1-CA8A6E76AB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45B9C96-2198-AD02-7B7D-FC95824178A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DE2564-5698-19FF-E13D-AAC26AF6B5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492CCC2-0138-F691-4CCC-581A8CFB7B17}"/>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256CEE-36DA-04E8-B1A4-213B910A27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FFEFF89-2781-51CE-3BAD-E4E0AC57422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9E82BAF-0DEF-1211-1C4F-331836686CD0}"/>
              </a:ext>
            </a:extLst>
          </p:cNvPr>
          <p:cNvSpPr txBox="1">
            <a:spLocks/>
          </p:cNvSpPr>
          <p:nvPr/>
        </p:nvSpPr>
        <p:spPr>
          <a:xfrm>
            <a:off x="-7862" y="762000"/>
            <a:ext cx="8915399" cy="49782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lvl="0" eaLnBrk="0" fontAlgn="base" hangingPunct="0">
              <a:spcBef>
                <a:spcPct val="0"/>
              </a:spcBef>
              <a:spcAft>
                <a:spcPct val="0"/>
              </a:spcAft>
            </a:pPr>
            <a:r>
              <a:rPr lang="en-US" altLang="en-US" sz="1350" kern="0" spc="-80" dirty="0">
                <a:solidFill>
                  <a:schemeClr val="accent2"/>
                </a:solidFill>
              </a:rPr>
              <a:t>How It Works</a:t>
            </a:r>
          </a:p>
          <a:p>
            <a:pPr lvl="0" eaLnBrk="0" fontAlgn="base" hangingPunct="0">
              <a:spcBef>
                <a:spcPct val="0"/>
              </a:spcBef>
              <a:spcAft>
                <a:spcPct val="0"/>
              </a:spcAft>
              <a:buFontTx/>
              <a:buAutoNum type="arabicPeriod"/>
            </a:pPr>
            <a:r>
              <a:rPr lang="en-US" altLang="en-US" sz="1500" kern="0" spc="-80" dirty="0">
                <a:solidFill>
                  <a:schemeClr val="accent2"/>
                </a:solidFill>
              </a:rPr>
              <a:t>Identify the Business Process: </a:t>
            </a:r>
          </a:p>
          <a:p>
            <a:pPr lvl="0" eaLnBrk="0" fontAlgn="base" hangingPunct="0">
              <a:spcBef>
                <a:spcPct val="0"/>
              </a:spcBef>
              <a:spcAft>
                <a:spcPct val="0"/>
              </a:spcAft>
            </a:pPr>
            <a:r>
              <a:rPr lang="en-US" altLang="en-US" sz="1500" kern="0" spc="-80" dirty="0">
                <a:solidFill>
                  <a:schemeClr val="accent6"/>
                </a:solidFill>
              </a:rPr>
              <a:t>Focus on a specific area of business, like sales or customer orders. </a:t>
            </a:r>
          </a:p>
          <a:p>
            <a:pPr lvl="0" eaLnBrk="0" fontAlgn="base" hangingPunct="0">
              <a:spcBef>
                <a:spcPct val="0"/>
              </a:spcBef>
              <a:spcAft>
                <a:spcPct val="0"/>
              </a:spcAft>
              <a:buFontTx/>
              <a:buAutoNum type="arabicPeriod" startAt="2"/>
            </a:pPr>
            <a:r>
              <a:rPr lang="en-US" altLang="en-US" sz="1500" kern="0" spc="-80" dirty="0">
                <a:solidFill>
                  <a:schemeClr val="accent2"/>
                </a:solidFill>
              </a:rPr>
              <a:t>Declare the Grain: </a:t>
            </a:r>
          </a:p>
          <a:p>
            <a:pPr lvl="0" eaLnBrk="0" fontAlgn="base" hangingPunct="0">
              <a:spcBef>
                <a:spcPct val="0"/>
              </a:spcBef>
              <a:spcAft>
                <a:spcPct val="0"/>
              </a:spcAft>
            </a:pPr>
            <a:r>
              <a:rPr lang="en-US" altLang="en-US" sz="1500" kern="0" spc="-80" dirty="0">
                <a:solidFill>
                  <a:schemeClr val="accent6"/>
                </a:solidFill>
              </a:rPr>
              <a:t>Define the lowest level of detail for the business process (e.g., one row per sales order line). </a:t>
            </a:r>
          </a:p>
          <a:p>
            <a:pPr lvl="0" eaLnBrk="0" fontAlgn="base" hangingPunct="0">
              <a:spcBef>
                <a:spcPct val="0"/>
              </a:spcBef>
              <a:spcAft>
                <a:spcPct val="0"/>
              </a:spcAft>
              <a:buFontTx/>
              <a:buAutoNum type="arabicPeriod" startAt="3"/>
            </a:pPr>
            <a:r>
              <a:rPr lang="en-US" altLang="en-US" sz="1500" kern="0" spc="-80" dirty="0">
                <a:solidFill>
                  <a:schemeClr val="accent2"/>
                </a:solidFill>
              </a:rPr>
              <a:t>Identify </a:t>
            </a:r>
            <a:r>
              <a:rPr lang="en-US" altLang="en-US" sz="1600" kern="0" spc="-80" dirty="0">
                <a:solidFill>
                  <a:schemeClr val="accent2"/>
                </a:solidFill>
              </a:rPr>
              <a:t>Dimensions</a:t>
            </a:r>
            <a:r>
              <a:rPr lang="en-US" altLang="en-US" sz="1500" kern="0" spc="-80" dirty="0">
                <a:solidFill>
                  <a:schemeClr val="accent2"/>
                </a:solidFill>
              </a:rPr>
              <a:t>: </a:t>
            </a:r>
          </a:p>
          <a:p>
            <a:pPr lvl="0" eaLnBrk="0" fontAlgn="base" hangingPunct="0">
              <a:spcBef>
                <a:spcPct val="0"/>
              </a:spcBef>
              <a:spcAft>
                <a:spcPct val="0"/>
              </a:spcAft>
            </a:pPr>
            <a:r>
              <a:rPr lang="en-US" altLang="en-US" sz="1500" kern="0" spc="-80" dirty="0">
                <a:solidFill>
                  <a:schemeClr val="accent6"/>
                </a:solidFill>
              </a:rPr>
              <a:t>Determine the descriptive context for the facts (e.g., product, store, date). </a:t>
            </a:r>
          </a:p>
          <a:p>
            <a:pPr lvl="0" eaLnBrk="0" fontAlgn="base" hangingPunct="0">
              <a:spcBef>
                <a:spcPct val="0"/>
              </a:spcBef>
              <a:spcAft>
                <a:spcPct val="0"/>
              </a:spcAft>
              <a:buFontTx/>
              <a:buAutoNum type="arabicPeriod" startAt="4"/>
            </a:pPr>
            <a:r>
              <a:rPr lang="en-US" altLang="en-US" sz="1500" kern="0" spc="-80" dirty="0">
                <a:solidFill>
                  <a:schemeClr val="accent2"/>
                </a:solidFill>
              </a:rPr>
              <a:t>Identify Facts: </a:t>
            </a:r>
          </a:p>
          <a:p>
            <a:pPr lvl="0" eaLnBrk="0" fontAlgn="base" hangingPunct="0">
              <a:spcBef>
                <a:spcPct val="0"/>
              </a:spcBef>
              <a:spcAft>
                <a:spcPct val="0"/>
              </a:spcAft>
            </a:pPr>
            <a:r>
              <a:rPr lang="en-US" altLang="en-US" sz="1500" kern="0" spc="-80" dirty="0">
                <a:solidFill>
                  <a:schemeClr val="accent6"/>
                </a:solidFill>
              </a:rPr>
              <a:t>Pinpoint the measurable data points from the business process (e.g., quantity, price, sales amount). </a:t>
            </a:r>
          </a:p>
          <a:p>
            <a:pPr lvl="0" eaLnBrk="0" fontAlgn="base" hangingPunct="0">
              <a:spcBef>
                <a:spcPct val="0"/>
              </a:spcBef>
              <a:spcAft>
                <a:spcPct val="0"/>
              </a:spcAft>
              <a:buFontTx/>
              <a:buAutoNum type="arabicPeriod" startAt="5"/>
            </a:pPr>
            <a:r>
              <a:rPr lang="en-US" altLang="en-US" sz="1500" kern="0" spc="-80" dirty="0">
                <a:solidFill>
                  <a:schemeClr val="accent2"/>
                </a:solidFill>
              </a:rPr>
              <a:t>Build the Model: </a:t>
            </a:r>
          </a:p>
          <a:p>
            <a:pPr lvl="0" eaLnBrk="0" fontAlgn="base" hangingPunct="0">
              <a:spcBef>
                <a:spcPct val="0"/>
              </a:spcBef>
              <a:spcAft>
                <a:spcPct val="0"/>
              </a:spcAft>
            </a:pPr>
            <a:r>
              <a:rPr lang="en-US" altLang="en-US" sz="1500" kern="0" spc="-80" dirty="0">
                <a:solidFill>
                  <a:schemeClr val="accent6"/>
                </a:solidFill>
              </a:rPr>
              <a:t>Create fact and dimension tables, linking them with primary and foreign keys to create a structured, analytical database. </a:t>
            </a:r>
          </a:p>
          <a:p>
            <a:pPr lvl="0" eaLnBrk="0" fontAlgn="base" hangingPunct="0">
              <a:spcBef>
                <a:spcPct val="0"/>
              </a:spcBef>
              <a:spcAft>
                <a:spcPct val="0"/>
              </a:spcAft>
            </a:pPr>
            <a:r>
              <a:rPr lang="en-US" altLang="en-US" sz="1500" kern="0" spc="-80" dirty="0">
                <a:solidFill>
                  <a:schemeClr val="accent2"/>
                </a:solidFill>
              </a:rPr>
              <a:t>Benefits</a:t>
            </a:r>
          </a:p>
          <a:p>
            <a:pPr lvl="0" eaLnBrk="0" fontAlgn="base" hangingPunct="0">
              <a:spcBef>
                <a:spcPct val="0"/>
              </a:spcBef>
              <a:spcAft>
                <a:spcPct val="0"/>
              </a:spcAft>
              <a:buFontTx/>
              <a:buChar char="•"/>
            </a:pPr>
            <a:r>
              <a:rPr lang="en-US" altLang="en-US" sz="1500" kern="0" spc="-80" dirty="0">
                <a:solidFill>
                  <a:schemeClr val="accent2"/>
                </a:solidFill>
              </a:rPr>
              <a:t>Performance: </a:t>
            </a:r>
          </a:p>
          <a:p>
            <a:pPr lvl="0" eaLnBrk="0" fontAlgn="base" hangingPunct="0">
              <a:spcBef>
                <a:spcPct val="0"/>
              </a:spcBef>
              <a:spcAft>
                <a:spcPct val="0"/>
              </a:spcAft>
            </a:pPr>
            <a:r>
              <a:rPr lang="en-US" altLang="en-US" sz="1500" kern="0" spc="-80" dirty="0">
                <a:solidFill>
                  <a:schemeClr val="accent6"/>
                </a:solidFill>
              </a:rPr>
              <a:t>Optimized for fast querying and data retrieval, especially for reporting and analytics. </a:t>
            </a:r>
          </a:p>
          <a:p>
            <a:pPr lvl="0" eaLnBrk="0" fontAlgn="base" hangingPunct="0">
              <a:spcBef>
                <a:spcPct val="0"/>
              </a:spcBef>
              <a:spcAft>
                <a:spcPct val="0"/>
              </a:spcAft>
              <a:buFontTx/>
              <a:buChar char="•"/>
            </a:pPr>
            <a:r>
              <a:rPr lang="en-US" altLang="en-US" sz="1500" kern="0" spc="-80" dirty="0">
                <a:solidFill>
                  <a:schemeClr val="accent2"/>
                </a:solidFill>
              </a:rPr>
              <a:t>User-Friendly: </a:t>
            </a:r>
          </a:p>
          <a:p>
            <a:pPr lvl="0" eaLnBrk="0" fontAlgn="base" hangingPunct="0">
              <a:spcBef>
                <a:spcPct val="0"/>
              </a:spcBef>
              <a:spcAft>
                <a:spcPct val="0"/>
              </a:spcAft>
            </a:pPr>
            <a:r>
              <a:rPr lang="en-US" altLang="en-US" sz="1500" kern="0" spc="-80" dirty="0">
                <a:solidFill>
                  <a:schemeClr val="accent6"/>
                </a:solidFill>
              </a:rPr>
              <a:t>The structure is intuitive and easy for business users to understand and query. </a:t>
            </a:r>
          </a:p>
          <a:p>
            <a:pPr lvl="0" eaLnBrk="0" fontAlgn="base" hangingPunct="0">
              <a:spcBef>
                <a:spcPct val="0"/>
              </a:spcBef>
              <a:spcAft>
                <a:spcPct val="0"/>
              </a:spcAft>
              <a:buFontTx/>
              <a:buChar char="•"/>
            </a:pPr>
            <a:r>
              <a:rPr lang="en-US" altLang="en-US" sz="1500" kern="0" spc="-80" dirty="0">
                <a:solidFill>
                  <a:schemeClr val="accent2"/>
                </a:solidFill>
              </a:rPr>
              <a:t>Scalability: </a:t>
            </a:r>
          </a:p>
          <a:p>
            <a:pPr lvl="0" eaLnBrk="0" fontAlgn="base" hangingPunct="0">
              <a:spcBef>
                <a:spcPct val="0"/>
              </a:spcBef>
              <a:spcAft>
                <a:spcPct val="0"/>
              </a:spcAft>
            </a:pPr>
            <a:r>
              <a:rPr lang="en-US" altLang="en-US" sz="1500" kern="0" spc="-80" dirty="0">
                <a:solidFill>
                  <a:schemeClr val="accent6"/>
                </a:solidFill>
              </a:rPr>
              <a:t>Provides a framework for handling large datasets and complex business processes. </a:t>
            </a:r>
          </a:p>
          <a:p>
            <a:pPr lvl="0" eaLnBrk="0" fontAlgn="base" hangingPunct="0">
              <a:spcBef>
                <a:spcPct val="0"/>
              </a:spcBef>
              <a:spcAft>
                <a:spcPct val="0"/>
              </a:spcAft>
              <a:buFontTx/>
              <a:buChar char="•"/>
            </a:pPr>
            <a:r>
              <a:rPr lang="en-US" altLang="en-US" sz="1500" kern="0" spc="-80" dirty="0">
                <a:solidFill>
                  <a:schemeClr val="accent2"/>
                </a:solidFill>
              </a:rPr>
              <a:t>Business Insights: </a:t>
            </a:r>
          </a:p>
          <a:p>
            <a:pPr lvl="0" eaLnBrk="0" fontAlgn="base" hangingPunct="0">
              <a:spcBef>
                <a:spcPct val="0"/>
              </a:spcBef>
              <a:spcAft>
                <a:spcPct val="0"/>
              </a:spcAft>
            </a:pPr>
            <a:r>
              <a:rPr lang="en-US" altLang="en-US" sz="1500" kern="0" spc="-80" dirty="0">
                <a:solidFill>
                  <a:schemeClr val="accent6"/>
                </a:solidFill>
              </a:rPr>
              <a:t>Enables deeper analysis of trends, patterns, and performance across various business dimensions. </a:t>
            </a:r>
            <a:endParaRPr lang="en-US" sz="15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2C8DC7C-724F-E3F1-B296-088EC2847F7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8C024DB-8F66-2124-A979-602B2C60A497}"/>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Rectangle 1">
            <a:extLst>
              <a:ext uri="{FF2B5EF4-FFF2-40B4-BE49-F238E27FC236}">
                <a16:creationId xmlns:a16="http://schemas.microsoft.com/office/drawing/2014/main" id="{FD2E7957-B335-183A-D514-7A1209C32B67}"/>
              </a:ext>
            </a:extLst>
          </p:cNvPr>
          <p:cNvSpPr>
            <a:spLocks noChangeArrowheads="1"/>
          </p:cNvSpPr>
          <p:nvPr/>
        </p:nvSpPr>
        <p:spPr bwMode="auto">
          <a:xfrm>
            <a:off x="0" y="-314162"/>
            <a:ext cx="65" cy="628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5405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B87B-73A1-5B7E-EFF6-DB2F091FD3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F119F7-1491-AF77-4F7E-896660797D6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5A804F-62A6-0C27-1CF7-3D64C60C272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4A1A2A-FE19-ACED-D24C-9020B2B066D8}"/>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62F59D3-1B43-BE3C-BFE2-16CFA743C1D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FFA0EB6-71A1-BF82-C478-251F6069437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D8419E7-7FC8-71D3-0DDE-87B4238ECBF1}"/>
              </a:ext>
            </a:extLst>
          </p:cNvPr>
          <p:cNvSpPr txBox="1">
            <a:spLocks/>
          </p:cNvSpPr>
          <p:nvPr/>
        </p:nvSpPr>
        <p:spPr>
          <a:xfrm>
            <a:off x="-7862" y="762000"/>
            <a:ext cx="8915399"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6"/>
                </a:solidFill>
              </a:rPr>
              <a:t>OLAP cubes are used to store large amounts of data in the form of facts and dimensions tables </a:t>
            </a:r>
            <a:r>
              <a:rPr lang="en-US" sz="1800" kern="0" spc="-80" dirty="0">
                <a:solidFill>
                  <a:schemeClr val="accent1"/>
                </a:solidFill>
              </a:rPr>
              <a:t>&amp; make them searchable in a easy &amp; fast manner. They allow quick retrieval of data by using nested arrays to store information across multiple dimensions</a:t>
            </a:r>
          </a:p>
          <a:p>
            <a:pPr marL="12700" marR="5080"/>
            <a:endParaRPr lang="en-US" sz="1350" kern="0" spc="-80" dirty="0">
              <a:solidFill>
                <a:schemeClr val="accent1"/>
              </a:solidFill>
            </a:endParaRPr>
          </a:p>
          <a:p>
            <a:pPr marL="12700" marR="5080"/>
            <a:endParaRPr lang="en-US" sz="1350" kern="0" spc="-80" dirty="0">
              <a:solidFill>
                <a:schemeClr val="accent1"/>
              </a:solidFill>
            </a:endParaRPr>
          </a:p>
          <a:p>
            <a:pPr marL="12700" marR="5080"/>
            <a:endParaRPr lang="en-US" sz="1350" kern="0" spc="-80" dirty="0">
              <a:solidFill>
                <a:schemeClr val="accent1"/>
              </a:solidFill>
            </a:endParaRPr>
          </a:p>
          <a:p>
            <a:pPr marL="12700" marR="5080"/>
            <a:endParaRPr lang="en-US" sz="1350" kern="0" spc="-80" dirty="0">
              <a:solidFill>
                <a:schemeClr val="accent1"/>
              </a:solidFill>
            </a:endParaRPr>
          </a:p>
          <a:p>
            <a:pPr marL="12700" marR="5080"/>
            <a:r>
              <a:rPr lang="en-US" sz="1600" kern="0" spc="-80" dirty="0">
                <a:solidFill>
                  <a:schemeClr val="accent2"/>
                </a:solidFill>
              </a:rPr>
              <a:t>For Further Exploration – </a:t>
            </a:r>
          </a:p>
          <a:p>
            <a:pPr marL="12700" marR="5080"/>
            <a:r>
              <a:rPr lang="en-US" sz="1500" dirty="0">
                <a:hlinkClick r:id="rId7"/>
              </a:rPr>
              <a:t>Data Warehouse Tutorial for Beginners: Learn Basic Concepts</a:t>
            </a:r>
            <a:endParaRPr lang="en-US" sz="1500" dirty="0"/>
          </a:p>
          <a:p>
            <a:pPr marL="12700" marR="5080"/>
            <a:r>
              <a:rPr lang="en-US" sz="1500" dirty="0">
                <a:hlinkClick r:id="rId8"/>
              </a:rPr>
              <a:t>Schemas used in data warehouses: Star, Galaxy, and Snowflake</a:t>
            </a:r>
            <a:endParaRPr lang="en-US" sz="1500" dirty="0"/>
          </a:p>
          <a:p>
            <a:pPr marL="12700" marR="5080"/>
            <a:r>
              <a:rPr lang="en-US" sz="1500" dirty="0">
                <a:hlinkClick r:id="rId9"/>
              </a:rPr>
              <a:t>Concepts for Data Engineers: Dimensional Data Modelling | by </a:t>
            </a:r>
            <a:r>
              <a:rPr lang="en-US" sz="1500" dirty="0" err="1">
                <a:hlinkClick r:id="rId9"/>
              </a:rPr>
              <a:t>Cássio</a:t>
            </a:r>
            <a:r>
              <a:rPr lang="en-US" sz="1500" dirty="0">
                <a:hlinkClick r:id="rId9"/>
              </a:rPr>
              <a:t> </a:t>
            </a:r>
            <a:r>
              <a:rPr lang="en-US" sz="1500" dirty="0" err="1">
                <a:hlinkClick r:id="rId9"/>
              </a:rPr>
              <a:t>Bolba</a:t>
            </a:r>
            <a:r>
              <a:rPr lang="en-US" sz="1500" dirty="0">
                <a:hlinkClick r:id="rId9"/>
              </a:rPr>
              <a:t> | Medium</a:t>
            </a:r>
            <a:endParaRPr lang="en-US" sz="1500" dirty="0"/>
          </a:p>
          <a:p>
            <a:pPr marL="12700" marR="5080"/>
            <a:r>
              <a:rPr lang="en-IN" sz="1500" dirty="0">
                <a:hlinkClick r:id="rId10"/>
              </a:rPr>
              <a:t>Concept Hierarchy in Data Mining </a:t>
            </a:r>
            <a:r>
              <a:rPr lang="en-IN" sz="1500" dirty="0">
                <a:hlinkClick r:id="rId11"/>
              </a:rPr>
              <a:t>–</a:t>
            </a:r>
            <a:r>
              <a:rPr lang="en-IN" sz="1500" dirty="0">
                <a:hlinkClick r:id="rId10"/>
              </a:rPr>
              <a:t> </a:t>
            </a:r>
            <a:r>
              <a:rPr lang="en-IN" sz="1500" dirty="0" err="1">
                <a:hlinkClick r:id="rId10"/>
              </a:rPr>
              <a:t>GeeksforGeeks</a:t>
            </a:r>
            <a:endParaRPr lang="en-IN" sz="1500" dirty="0"/>
          </a:p>
          <a:p>
            <a:pPr marL="12700" marR="5080"/>
            <a:r>
              <a:rPr lang="en-US" sz="1500" dirty="0">
                <a:hlinkClick r:id="rId11"/>
              </a:rPr>
              <a:t>Measures Their Categorization and Computation in Data Mining </a:t>
            </a:r>
            <a:r>
              <a:rPr lang="en-US" sz="1500" dirty="0">
                <a:hlinkClick r:id="rId12"/>
              </a:rPr>
              <a:t>–</a:t>
            </a:r>
            <a:r>
              <a:rPr lang="en-US" sz="1500" dirty="0">
                <a:hlinkClick r:id="rId11"/>
              </a:rPr>
              <a:t> </a:t>
            </a:r>
            <a:r>
              <a:rPr lang="en-US" sz="1500" dirty="0" err="1">
                <a:hlinkClick r:id="rId11"/>
              </a:rPr>
              <a:t>GeeksforGeeks</a:t>
            </a:r>
            <a:endParaRPr lang="en-US" sz="1500" dirty="0"/>
          </a:p>
          <a:p>
            <a:pPr marL="12700" marR="5080"/>
            <a:r>
              <a:rPr lang="en-US" sz="1500" dirty="0">
                <a:hlinkClick r:id="rId12"/>
              </a:rPr>
              <a:t>Data Warehouse vs. OLAP Cube? - Stack Overflow</a:t>
            </a:r>
            <a:endParaRPr lang="en-US" sz="1500" dirty="0"/>
          </a:p>
          <a:p>
            <a:pPr marL="12700" marR="5080"/>
            <a:r>
              <a:rPr lang="en-US" sz="1500" dirty="0">
                <a:hlinkClick r:id="rId13"/>
              </a:rPr>
              <a:t>What is OLAP? - Online Analytical Processing Explained </a:t>
            </a:r>
            <a:r>
              <a:rPr lang="en-US" sz="1500" dirty="0">
                <a:hlinkClick r:id="rId14"/>
              </a:rPr>
              <a:t>–</a:t>
            </a:r>
            <a:r>
              <a:rPr lang="en-US" sz="1500" dirty="0">
                <a:hlinkClick r:id="rId13"/>
              </a:rPr>
              <a:t> AWS</a:t>
            </a:r>
            <a:endParaRPr lang="en-US" sz="1500" dirty="0"/>
          </a:p>
          <a:p>
            <a:pPr marL="12700" marR="5080"/>
            <a:r>
              <a:rPr lang="en-US" sz="1500" dirty="0">
                <a:hlinkClick r:id="rId15"/>
              </a:rPr>
              <a:t>Data Cube or OLAP approach in Data Mining - </a:t>
            </a:r>
            <a:r>
              <a:rPr lang="en-US" sz="1500" dirty="0" err="1">
                <a:hlinkClick r:id="rId15"/>
              </a:rPr>
              <a:t>GeeksforGeeks</a:t>
            </a:r>
            <a:endParaRPr lang="en-US" sz="1500" dirty="0"/>
          </a:p>
          <a:p>
            <a:pPr marL="12700" marR="5080"/>
            <a:r>
              <a:rPr lang="en-US" sz="1500" dirty="0">
                <a:hlinkClick r:id="rId14"/>
              </a:rPr>
              <a:t>Types of OLAP Models for Databases &amp; Data Warehouses Simplified 101 - Learn | </a:t>
            </a:r>
            <a:r>
              <a:rPr lang="en-US" sz="1500" dirty="0" err="1">
                <a:hlinkClick r:id="rId14"/>
              </a:rPr>
              <a:t>Hevo</a:t>
            </a:r>
            <a:endParaRPr lang="en-US" sz="1500" dirty="0"/>
          </a:p>
          <a:p>
            <a:pPr marL="12700" marR="5080"/>
            <a:r>
              <a:rPr lang="en-IN" sz="1500" dirty="0">
                <a:hlinkClick r:id="rId16"/>
              </a:rPr>
              <a:t>OLAP Functions</a:t>
            </a:r>
            <a:endParaRPr lang="en-US" sz="1500" dirty="0"/>
          </a:p>
          <a:p>
            <a:pPr marL="12700" marR="5080"/>
            <a:r>
              <a:rPr lang="en-IN" sz="1500" dirty="0">
                <a:hlinkClick r:id="rId17"/>
              </a:rPr>
              <a:t>OLAP Operations - Scaler Topics</a:t>
            </a:r>
            <a:endParaRPr lang="en-IN" sz="1500" dirty="0"/>
          </a:p>
          <a:p>
            <a:pPr marL="12700" marR="5080"/>
            <a:r>
              <a:rPr lang="en-IN" sz="1500" dirty="0">
                <a:hlinkClick r:id="rId18"/>
              </a:rPr>
              <a:t>Understanding SSAS Multidimensional vs. Tabular Models - Saransh Inc.</a:t>
            </a:r>
            <a:endParaRPr lang="en-IN" sz="1500" dirty="0"/>
          </a:p>
          <a:p>
            <a:pPr marL="12700" marR="5080"/>
            <a:r>
              <a:rPr lang="en-IN" sz="1500" dirty="0">
                <a:hlinkClick r:id="rId19"/>
              </a:rPr>
              <a:t>Books - SQLBI</a:t>
            </a:r>
            <a:r>
              <a:rPr lang="en-US" sz="1500" kern="0" spc="-80" dirty="0">
                <a:solidFill>
                  <a:schemeClr val="accent6"/>
                </a:solidFill>
              </a:rPr>
              <a:t> </a:t>
            </a:r>
          </a:p>
          <a:p>
            <a:pPr marL="12700" marR="5080"/>
            <a:endParaRPr lang="en-US" sz="15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9195098-2649-8A06-4D4B-26722CCE418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D1DB08C-3D87-A3B5-9289-7F1EE72F5B8D}"/>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Rectangle 1">
            <a:extLst>
              <a:ext uri="{FF2B5EF4-FFF2-40B4-BE49-F238E27FC236}">
                <a16:creationId xmlns:a16="http://schemas.microsoft.com/office/drawing/2014/main" id="{65A3DAD8-E682-2225-A75D-E5984ACDC658}"/>
              </a:ext>
            </a:extLst>
          </p:cNvPr>
          <p:cNvSpPr>
            <a:spLocks noChangeArrowheads="1"/>
          </p:cNvSpPr>
          <p:nvPr/>
        </p:nvSpPr>
        <p:spPr bwMode="auto">
          <a:xfrm>
            <a:off x="0" y="-314162"/>
            <a:ext cx="65" cy="628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109503"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5157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85B91-42A9-9B08-EDA4-606A8B31301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2CF797-9D84-B83B-BA19-F2E6CD3BCB0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5C3B9D-E41C-68B1-C857-D61071434B0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8BF5F7-B6EE-3F1B-AE86-EB77DE15E1A4}"/>
              </a:ext>
            </a:extLst>
          </p:cNvPr>
          <p:cNvSpPr txBox="1">
            <a:spLocks/>
          </p:cNvSpPr>
          <p:nvPr/>
        </p:nvSpPr>
        <p:spPr>
          <a:xfrm>
            <a:off x="152400" y="7620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IN" sz="1300" kern="0" spc="-80" dirty="0">
                <a:solidFill>
                  <a:schemeClr val="accent6"/>
                </a:solidFill>
              </a:rPr>
              <a:t>ETL (Extract, Transform, Load) processes data in a separate staging area before loading, ideal for legacy systems and strict compliance. ELT (Extract, Load, Transform) loads raw data directly into the target warehouse, leveraging cloud scalability for faster, more flexible, and modern data processing</a:t>
            </a:r>
            <a:endParaRPr lang="en-US" sz="1300" kern="0" spc="-80" dirty="0">
              <a:solidFill>
                <a:schemeClr val="accent6"/>
              </a:solidFill>
            </a:endParaRPr>
          </a:p>
        </p:txBody>
      </p:sp>
      <p:sp>
        <p:nvSpPr>
          <p:cNvPr id="7" name="object 2">
            <a:extLst>
              <a:ext uri="{FF2B5EF4-FFF2-40B4-BE49-F238E27FC236}">
                <a16:creationId xmlns:a16="http://schemas.microsoft.com/office/drawing/2014/main" id="{509A8EA9-92C1-91D3-8F0D-9581AEEFAE8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E152218-149A-F107-A384-776713AB017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47504F5-1C1B-D734-647E-E3B64C360A0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874E9BA1-66FD-3984-C442-D53F04BC4D70}"/>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A6E3184E-0415-ECE7-F2BD-1F9AA8F2C62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1362163"/>
            <a:ext cx="9031337" cy="3438437"/>
          </a:xfrm>
          <a:prstGeom prst="rect">
            <a:avLst/>
          </a:prstGeom>
        </p:spPr>
      </p:pic>
      <p:pic>
        <p:nvPicPr>
          <p:cNvPr id="12" name="Picture 11">
            <a:extLst>
              <a:ext uri="{FF2B5EF4-FFF2-40B4-BE49-F238E27FC236}">
                <a16:creationId xmlns:a16="http://schemas.microsoft.com/office/drawing/2014/main" id="{2BE305EB-F5AD-8747-61F3-5F2EAA9189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4800599"/>
            <a:ext cx="8875661" cy="1113821"/>
          </a:xfrm>
          <a:prstGeom prst="rect">
            <a:avLst/>
          </a:prstGeom>
        </p:spPr>
      </p:pic>
    </p:spTree>
    <p:extLst>
      <p:ext uri="{BB962C8B-B14F-4D97-AF65-F5344CB8AC3E}">
        <p14:creationId xmlns:p14="http://schemas.microsoft.com/office/powerpoint/2010/main" val="3624528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00793-ECBB-2F18-19F7-16A31B2CE9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90320A-8F4C-F97E-1E60-12DA92192EF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1D6A18-5CFA-0D51-4861-05D284D34C0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A1A0060-7774-D37A-7198-5848142BB5D6}"/>
              </a:ext>
            </a:extLst>
          </p:cNvPr>
          <p:cNvSpPr txBox="1">
            <a:spLocks/>
          </p:cNvSpPr>
          <p:nvPr/>
        </p:nvSpPr>
        <p:spPr>
          <a:xfrm>
            <a:off x="152400" y="762000"/>
            <a:ext cx="8624937" cy="22775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Summary of Differences</a:t>
            </a:r>
          </a:p>
          <a:p>
            <a:pPr marL="12700" marR="5080"/>
            <a:r>
              <a:rPr lang="en-US" sz="1300" kern="0" spc="-80" dirty="0">
                <a:solidFill>
                  <a:schemeClr val="accent2"/>
                </a:solidFill>
              </a:rPr>
              <a:t>Transformation Timing:</a:t>
            </a:r>
            <a:r>
              <a:rPr lang="en-US" sz="1300" kern="0" spc="-80" dirty="0">
                <a:solidFill>
                  <a:schemeClr val="accent6"/>
                </a:solidFill>
              </a:rPr>
              <a:t> ETL transforms data before it reaches the target, while ELT transforms it after.</a:t>
            </a:r>
          </a:p>
          <a:p>
            <a:pPr marL="12700" marR="5080"/>
            <a:r>
              <a:rPr lang="en-US" sz="1300" kern="0" spc="-80" dirty="0">
                <a:solidFill>
                  <a:schemeClr val="accent2"/>
                </a:solidFill>
              </a:rPr>
              <a:t>Infrastructure: </a:t>
            </a:r>
            <a:r>
              <a:rPr lang="en-US" sz="1300" kern="0" spc="-80" dirty="0">
                <a:solidFill>
                  <a:schemeClr val="accent6"/>
                </a:solidFill>
              </a:rPr>
              <a:t>ELT is designed for modern cloud-based, high-performance data warehouses.</a:t>
            </a:r>
          </a:p>
          <a:p>
            <a:pPr marL="12700" marR="5080"/>
            <a:r>
              <a:rPr lang="en-US" sz="1300" kern="0" spc="-80" dirty="0">
                <a:solidFill>
                  <a:schemeClr val="accent2"/>
                </a:solidFill>
              </a:rPr>
              <a:t>Flexibility: </a:t>
            </a:r>
            <a:r>
              <a:rPr lang="en-US" sz="1300" kern="0" spc="-80" dirty="0">
                <a:solidFill>
                  <a:schemeClr val="accent6"/>
                </a:solidFill>
              </a:rPr>
              <a:t>ELT allows for the storage of raw data for future, on-demand transformation.</a:t>
            </a:r>
          </a:p>
          <a:p>
            <a:pPr marL="12700" marR="5080"/>
            <a:r>
              <a:rPr lang="en-US" sz="1300" kern="0" spc="-80" dirty="0">
                <a:solidFill>
                  <a:schemeClr val="accent2"/>
                </a:solidFill>
              </a:rPr>
              <a:t>Use Case: </a:t>
            </a:r>
            <a:r>
              <a:rPr lang="en-US" sz="1300" kern="0" spc="-80" dirty="0">
                <a:solidFill>
                  <a:schemeClr val="accent6"/>
                </a:solidFill>
              </a:rPr>
              <a:t>Use ETL for highly regulated data needing strict, upfront transformation. Use ELT for fast ingestion of large volumes of data (Big Data)</a:t>
            </a:r>
          </a:p>
          <a:p>
            <a:pPr marL="12700" marR="5080"/>
            <a:endParaRPr lang="en-US" sz="1300" kern="0" spc="-80" dirty="0">
              <a:solidFill>
                <a:schemeClr val="accent6"/>
              </a:solidFill>
            </a:endParaRPr>
          </a:p>
          <a:p>
            <a:pPr marL="12700" marR="5080"/>
            <a:r>
              <a:rPr lang="en-US" sz="1700" kern="0" spc="-80" dirty="0">
                <a:solidFill>
                  <a:schemeClr val="accent2"/>
                </a:solidFill>
              </a:rPr>
              <a:t>For Further Exploration</a:t>
            </a:r>
          </a:p>
          <a:p>
            <a:pPr marL="12700" marR="5080"/>
            <a:r>
              <a:rPr lang="en-US" sz="1800" dirty="0">
                <a:hlinkClick r:id="rId2"/>
              </a:rPr>
              <a:t>Why shift from ETL to ELT? - </a:t>
            </a:r>
            <a:r>
              <a:rPr lang="en-US" sz="1800" dirty="0" err="1">
                <a:hlinkClick r:id="rId2"/>
              </a:rPr>
              <a:t>Hexanika</a:t>
            </a:r>
            <a:r>
              <a:rPr lang="en-US" sz="1800" dirty="0">
                <a:hlinkClick r:id="rId2"/>
              </a:rPr>
              <a:t> (Think Beyond Data)</a:t>
            </a:r>
            <a:endParaRPr lang="en-US" sz="1800" dirty="0"/>
          </a:p>
          <a:p>
            <a:pPr marL="12700" marR="5080"/>
            <a:r>
              <a:rPr lang="en-US" sz="1800" dirty="0">
                <a:hlinkClick r:id="rId3"/>
              </a:rPr>
              <a:t>How to Build ETL Processes Using Azure Data Factory</a:t>
            </a:r>
            <a:endParaRPr lang="en-US" sz="1800" dirty="0"/>
          </a:p>
        </p:txBody>
      </p:sp>
      <p:sp>
        <p:nvSpPr>
          <p:cNvPr id="7" name="object 2">
            <a:extLst>
              <a:ext uri="{FF2B5EF4-FFF2-40B4-BE49-F238E27FC236}">
                <a16:creationId xmlns:a16="http://schemas.microsoft.com/office/drawing/2014/main" id="{3EC360E0-9B86-4A22-F8ED-88D6E858211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A01153D-CB44-CD10-E909-9F7E8884BFB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1C86AC7-1001-00D8-EF2D-F8671246377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AD6B0AF-AA59-430A-0EB2-81F877ABB467}"/>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88560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0844E-CCF5-C5E5-4E09-16618B75EF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5BD73A-7FA1-7503-4FD1-6025C26992F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39BFF0-8B41-C526-D4D6-32E4A12446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1128E6A-5BB4-9FA3-D7D9-9E8205F52102}"/>
              </a:ext>
            </a:extLst>
          </p:cNvPr>
          <p:cNvGraphicFramePr/>
          <p:nvPr/>
        </p:nvGraphicFramePr>
        <p:xfrm>
          <a:off x="0" y="34425"/>
          <a:ext cx="91440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89F7F58-3802-731D-D8D0-A212226F8DE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7477409-8284-7980-6BCD-1EFA98D514C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34D7DF9-6696-3686-742A-93D7F85ED684}"/>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5404A4B-ADA0-2D21-BE0F-A68C8BCA57C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72F3C216-E721-9DA4-C818-FF9CD2DBE43F}"/>
              </a:ext>
            </a:extLst>
          </p:cNvPr>
          <p:cNvSpPr txBox="1"/>
          <p:nvPr/>
        </p:nvSpPr>
        <p:spPr>
          <a:xfrm>
            <a:off x="0" y="745712"/>
            <a:ext cx="8915399" cy="5047536"/>
          </a:xfrm>
          <a:prstGeom prst="rect">
            <a:avLst/>
          </a:prstGeom>
          <a:noFill/>
        </p:spPr>
        <p:txBody>
          <a:bodyPr wrap="square">
            <a:spAutoFit/>
          </a:bodyPr>
          <a:lstStyle/>
          <a:p>
            <a:r>
              <a:rPr lang="en-US" sz="1400" b="1" kern="0" spc="-80" dirty="0">
                <a:solidFill>
                  <a:schemeClr val="accent6"/>
                </a:solidFill>
                <a:latin typeface="Lucida Sans"/>
                <a:ea typeface="+mj-ea"/>
              </a:rPr>
              <a:t>Automated data reconciliation uses a combination of software, algorithms, and AI to systematically compare data from different sources, identify discrepancies, and enable quick resolution. Comparison can be based on counts, actual values or both and should consider “as of date” ideally.    </a:t>
            </a:r>
          </a:p>
          <a:p>
            <a:r>
              <a:rPr lang="en-US" sz="1400" b="1" kern="0" spc="-80" dirty="0">
                <a:solidFill>
                  <a:schemeClr val="accent2"/>
                </a:solidFill>
                <a:latin typeface="Lucida Sans"/>
                <a:ea typeface="+mj-ea"/>
              </a:rPr>
              <a:t>Key techniques include: </a:t>
            </a:r>
          </a:p>
          <a:p>
            <a:r>
              <a:rPr lang="en-US" sz="1400" b="1" kern="0" spc="-80" dirty="0">
                <a:solidFill>
                  <a:schemeClr val="accent2"/>
                </a:solidFill>
                <a:latin typeface="Lucida Sans"/>
                <a:ea typeface="+mj-ea"/>
              </a:rPr>
              <a:t>Core Techniques</a:t>
            </a:r>
          </a:p>
          <a:p>
            <a:r>
              <a:rPr lang="en-US" sz="1400" b="1" kern="0" spc="-80" dirty="0">
                <a:solidFill>
                  <a:schemeClr val="accent2"/>
                </a:solidFill>
                <a:latin typeface="Lucida Sans"/>
                <a:ea typeface="+mj-ea"/>
              </a:rPr>
              <a:t>Automated Data Extraction &amp; Normalization:</a:t>
            </a:r>
            <a:r>
              <a:rPr lang="en-US" sz="1400" b="1" kern="0" spc="-80" dirty="0">
                <a:solidFill>
                  <a:schemeClr val="accent6"/>
                </a:solidFill>
                <a:latin typeface="Lucida Sans"/>
                <a:ea typeface="+mj-ea"/>
              </a:rPr>
              <a:t> </a:t>
            </a:r>
          </a:p>
          <a:p>
            <a:r>
              <a:rPr lang="en-US" sz="1400" b="1" kern="0" spc="-80" dirty="0">
                <a:solidFill>
                  <a:schemeClr val="accent6"/>
                </a:solidFill>
                <a:latin typeface="Lucida Sans"/>
                <a:ea typeface="+mj-ea"/>
              </a:rPr>
              <a:t>Data is automatically pulled from various sources (databases, APIs, spreadsheets) and converted into a standardized format for reliable comparison.</a:t>
            </a:r>
          </a:p>
          <a:p>
            <a:r>
              <a:rPr lang="en-US" sz="1400" b="1" kern="0" spc="-80" dirty="0">
                <a:solidFill>
                  <a:schemeClr val="accent2"/>
                </a:solidFill>
                <a:latin typeface="Lucida Sans"/>
                <a:ea typeface="+mj-ea"/>
              </a:rPr>
              <a:t>Automated Matching Algorithms: </a:t>
            </a:r>
            <a:r>
              <a:rPr lang="en-US" sz="1400" b="1" kern="0" spc="-80" dirty="0">
                <a:solidFill>
                  <a:schemeClr val="accent6"/>
                </a:solidFill>
                <a:latin typeface="Lucida Sans"/>
                <a:ea typeface="+mj-ea"/>
              </a:rPr>
              <a:t>Software uses predefined criteria to match transactions or records across systems. </a:t>
            </a:r>
          </a:p>
          <a:p>
            <a:r>
              <a:rPr lang="en-US" sz="1400" b="1" kern="0" spc="-80" dirty="0">
                <a:solidFill>
                  <a:schemeClr val="accent6"/>
                </a:solidFill>
                <a:latin typeface="Lucida Sans"/>
                <a:ea typeface="+mj-ea"/>
              </a:rPr>
              <a:t>This includes:</a:t>
            </a:r>
          </a:p>
          <a:p>
            <a:r>
              <a:rPr lang="en-US" sz="1400" b="1" kern="0" spc="-80" dirty="0">
                <a:solidFill>
                  <a:schemeClr val="accent2"/>
                </a:solidFill>
                <a:latin typeface="Lucida Sans"/>
                <a:ea typeface="+mj-ea"/>
              </a:rPr>
              <a:t>Deterministic Matching:</a:t>
            </a:r>
            <a:r>
              <a:rPr lang="en-US" sz="1400" b="1" kern="0" spc="-80" dirty="0">
                <a:solidFill>
                  <a:schemeClr val="accent6"/>
                </a:solidFill>
                <a:latin typeface="Lucida Sans"/>
                <a:ea typeface="+mj-ea"/>
              </a:rPr>
              <a:t> Requires exact matches on key fields (e.g., a specific transaction ID and amount).</a:t>
            </a:r>
          </a:p>
          <a:p>
            <a:r>
              <a:rPr lang="en-US" sz="1400" b="1" kern="0" spc="-80" dirty="0">
                <a:solidFill>
                  <a:schemeClr val="accent2"/>
                </a:solidFill>
                <a:latin typeface="Lucida Sans"/>
                <a:ea typeface="+mj-ea"/>
              </a:rPr>
              <a:t>Fuzzy Matching:</a:t>
            </a:r>
            <a:r>
              <a:rPr lang="en-US" sz="1400" b="1" kern="0" spc="-80" dirty="0">
                <a:solidFill>
                  <a:schemeClr val="accent6"/>
                </a:solidFill>
                <a:latin typeface="Lucida Sans"/>
                <a:ea typeface="+mj-ea"/>
              </a:rPr>
              <a:t> Identifies similar, but not identical, entries (e.g., "Robert Smith" and "Bob Smith," or "McDonald's" and "McDonalds") by allowing for minor variations, typos, or different aliases.</a:t>
            </a:r>
          </a:p>
          <a:p>
            <a:r>
              <a:rPr lang="en-US" sz="1400" b="1" kern="0" spc="-80" dirty="0">
                <a:solidFill>
                  <a:schemeClr val="accent2"/>
                </a:solidFill>
                <a:latin typeface="Lucida Sans"/>
                <a:ea typeface="+mj-ea"/>
              </a:rPr>
              <a:t>Probabilistic Matching: </a:t>
            </a:r>
            <a:r>
              <a:rPr lang="en-US" sz="1400" b="1" kern="0" spc="-80" dirty="0">
                <a:solidFill>
                  <a:schemeClr val="accent6"/>
                </a:solidFill>
                <a:latin typeface="Lucida Sans"/>
                <a:ea typeface="+mj-ea"/>
              </a:rPr>
              <a:t>Uses statistical methods to calculate the likelihood that records represent the same entity based on multiple factors, assigning a confidence score to potential matches.</a:t>
            </a:r>
          </a:p>
          <a:p>
            <a:r>
              <a:rPr lang="en-US" sz="1400" b="1" kern="0" spc="-80" dirty="0">
                <a:solidFill>
                  <a:schemeClr val="accent2"/>
                </a:solidFill>
                <a:latin typeface="Lucida Sans"/>
                <a:ea typeface="+mj-ea"/>
              </a:rPr>
              <a:t>One-to-many and Many-to-many Matching: </a:t>
            </a:r>
            <a:r>
              <a:rPr lang="en-US" sz="1400" b="1" kern="0" spc="-80" dirty="0">
                <a:solidFill>
                  <a:schemeClr val="accent6"/>
                </a:solidFill>
                <a:latin typeface="Lucida Sans"/>
                <a:ea typeface="+mj-ea"/>
              </a:rPr>
              <a:t>Handles complex scenarios where a single transaction in one system corresponds to multiple entries in another.</a:t>
            </a:r>
          </a:p>
          <a:p>
            <a:r>
              <a:rPr lang="en-US" sz="1400" b="1" kern="0" spc="-80" dirty="0">
                <a:solidFill>
                  <a:schemeClr val="accent2"/>
                </a:solidFill>
                <a:latin typeface="Lucida Sans"/>
                <a:ea typeface="+mj-ea"/>
              </a:rPr>
              <a:t>Exception Management Workflows: </a:t>
            </a:r>
            <a:r>
              <a:rPr lang="en-US" sz="1400" b="1" kern="0" spc="-80" dirty="0">
                <a:solidFill>
                  <a:schemeClr val="accent6"/>
                </a:solidFill>
                <a:latin typeface="Lucida Sans"/>
                <a:ea typeface="+mj-ea"/>
              </a:rPr>
              <a:t>Discrepancies or low-confidence matches are automatically flagged, categorized, and routed to the appropriate human teams for review and resolution.</a:t>
            </a:r>
          </a:p>
          <a:p>
            <a:r>
              <a:rPr lang="en-US" sz="1400" b="1" kern="0" spc="-80" dirty="0">
                <a:solidFill>
                  <a:schemeClr val="accent2"/>
                </a:solidFill>
                <a:latin typeface="Lucida Sans"/>
                <a:ea typeface="+mj-ea"/>
              </a:rPr>
              <a:t>Continuous Monitoring: </a:t>
            </a:r>
            <a:r>
              <a:rPr lang="en-US" sz="1400" b="1" kern="0" spc="-80" dirty="0">
                <a:solidFill>
                  <a:schemeClr val="accent6"/>
                </a:solidFill>
                <a:latin typeface="Lucida Sans"/>
                <a:ea typeface="+mj-ea"/>
              </a:rPr>
              <a:t>Instead of period-end batch processes, modern techniques involve real-time or near-real-time monitoring to detect issues as they occur, preventing them from cascading into larger problems. </a:t>
            </a:r>
          </a:p>
        </p:txBody>
      </p:sp>
    </p:spTree>
    <p:extLst>
      <p:ext uri="{BB962C8B-B14F-4D97-AF65-F5344CB8AC3E}">
        <p14:creationId xmlns:p14="http://schemas.microsoft.com/office/powerpoint/2010/main" val="2436213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124B-8240-12B0-1C3F-6A08FB900B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70CDBE-6327-AD83-9655-D1BB587CEB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AF4674-3459-9B68-0FAF-1071F234B50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1A5D4D-F6CB-245A-609B-3EE8B0BA06EF}"/>
              </a:ext>
            </a:extLst>
          </p:cNvPr>
          <p:cNvGraphicFramePr/>
          <p:nvPr/>
        </p:nvGraphicFramePr>
        <p:xfrm>
          <a:off x="0" y="34425"/>
          <a:ext cx="91440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BB90EFD-2E3B-D964-B17C-9DF9C6D79B6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774174F-3E38-0034-1D70-3D16E27C0BA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0490F63-7A65-6AFE-C7E1-9C3611CDB4A8}"/>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3E347E6-2E86-18F0-200A-CAF56F7CDE6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522AE87B-2360-F50D-C987-575AD82A89C8}"/>
              </a:ext>
            </a:extLst>
          </p:cNvPr>
          <p:cNvSpPr txBox="1"/>
          <p:nvPr/>
        </p:nvSpPr>
        <p:spPr>
          <a:xfrm>
            <a:off x="0" y="745712"/>
            <a:ext cx="8915399" cy="4832092"/>
          </a:xfrm>
          <a:prstGeom prst="rect">
            <a:avLst/>
          </a:prstGeom>
          <a:noFill/>
        </p:spPr>
        <p:txBody>
          <a:bodyPr wrap="square">
            <a:spAutoFit/>
          </a:bodyPr>
          <a:lstStyle/>
          <a:p>
            <a:r>
              <a:rPr lang="en-US" sz="1400" b="1" kern="0" spc="-80" dirty="0">
                <a:solidFill>
                  <a:schemeClr val="accent2"/>
                </a:solidFill>
                <a:latin typeface="Lucida Sans"/>
              </a:rPr>
              <a:t>Advanced Techniques with AI/ML</a:t>
            </a:r>
          </a:p>
          <a:p>
            <a:r>
              <a:rPr lang="en-US" sz="1400" b="1" kern="0" spc="-80" dirty="0">
                <a:solidFill>
                  <a:schemeClr val="accent2"/>
                </a:solidFill>
                <a:latin typeface="Lucida Sans"/>
              </a:rPr>
              <a:t>AI-Powered Anomaly Detection:</a:t>
            </a:r>
            <a:r>
              <a:rPr lang="en-US" sz="1400" b="1" kern="0" spc="-80" dirty="0">
                <a:solidFill>
                  <a:schemeClr val="accent6"/>
                </a:solidFill>
                <a:latin typeface="Lucida Sans"/>
              </a:rPr>
              <a:t> Machine learning models learn from historical patterns to identify unusual transactions or data entries that deviate from expected behavior, which might indicate errors or fraud.</a:t>
            </a:r>
          </a:p>
          <a:p>
            <a:r>
              <a:rPr lang="en-US" sz="1400" b="1" kern="0" spc="-80" dirty="0">
                <a:solidFill>
                  <a:schemeClr val="accent2"/>
                </a:solidFill>
                <a:latin typeface="Lucida Sans"/>
              </a:rPr>
              <a:t>Intelligent Rule Suggestions: </a:t>
            </a:r>
            <a:r>
              <a:rPr lang="en-US" sz="1400" b="1" kern="0" spc="-80" dirty="0">
                <a:solidFill>
                  <a:schemeClr val="accent6"/>
                </a:solidFill>
                <a:latin typeface="Lucida Sans"/>
              </a:rPr>
              <a:t>AI analyzes past reconciliation outcomes and user input to suggest new or refined matching rules, continuously improving the automation rate over time.</a:t>
            </a:r>
          </a:p>
          <a:p>
            <a:r>
              <a:rPr lang="en-US" sz="1400" b="1" kern="0" spc="-80" dirty="0">
                <a:solidFill>
                  <a:schemeClr val="accent2"/>
                </a:solidFill>
                <a:latin typeface="Lucida Sans"/>
              </a:rPr>
              <a:t>Natural Language Processing (NLP):</a:t>
            </a:r>
            <a:r>
              <a:rPr lang="en-US" sz="1400" b="1" kern="0" spc="-80" dirty="0">
                <a:solidFill>
                  <a:schemeClr val="accent6"/>
                </a:solidFill>
                <a:latin typeface="Lucida Sans"/>
              </a:rPr>
              <a:t> LLMs can interpret unstructured data from free-text descriptions or email attachments (like invoice details in a memo field) to extract relevant information and facilitate matching. </a:t>
            </a:r>
          </a:p>
          <a:p>
            <a:r>
              <a:rPr lang="en-US" sz="1400" b="1" kern="0" spc="-80" dirty="0">
                <a:solidFill>
                  <a:schemeClr val="accent2"/>
                </a:solidFill>
                <a:latin typeface="Lucida Sans"/>
              </a:rPr>
              <a:t>Implementation Best Practices</a:t>
            </a:r>
          </a:p>
          <a:p>
            <a:r>
              <a:rPr lang="en-US" sz="1400" b="1" kern="0" spc="-80" dirty="0">
                <a:solidFill>
                  <a:schemeClr val="accent2"/>
                </a:solidFill>
                <a:latin typeface="Lucida Sans"/>
              </a:rPr>
              <a:t>Standardize Data: </a:t>
            </a:r>
            <a:r>
              <a:rPr lang="en-US" sz="1400" b="1" kern="0" spc="-80" dirty="0">
                <a:solidFill>
                  <a:schemeClr val="accent6"/>
                </a:solidFill>
                <a:latin typeface="Lucida Sans"/>
              </a:rPr>
              <a:t>Ensure consistent data formats and definitions across all source systems to minimize errors during comparison.</a:t>
            </a:r>
          </a:p>
          <a:p>
            <a:r>
              <a:rPr lang="en-US" sz="1400" b="1" kern="0" spc="-80" dirty="0">
                <a:solidFill>
                  <a:schemeClr val="accent2"/>
                </a:solidFill>
                <a:latin typeface="Lucida Sans"/>
              </a:rPr>
              <a:t>Implement Data Quality Checks: </a:t>
            </a:r>
            <a:r>
              <a:rPr lang="en-US" sz="1400" b="1" kern="0" spc="-80" dirty="0">
                <a:solidFill>
                  <a:schemeClr val="accent6"/>
                </a:solidFill>
                <a:latin typeface="Lucida Sans"/>
              </a:rPr>
              <a:t>Validate data completeness, accuracy, and format before reconciliation to prevent bad data from entering the process.</a:t>
            </a:r>
          </a:p>
          <a:p>
            <a:r>
              <a:rPr lang="en-US" sz="1400" b="1" kern="0" spc="-80" dirty="0">
                <a:solidFill>
                  <a:schemeClr val="accent2"/>
                </a:solidFill>
                <a:latin typeface="Lucida Sans"/>
              </a:rPr>
              <a:t>Maintain Detailed Audit Trails:</a:t>
            </a:r>
            <a:r>
              <a:rPr lang="en-US" sz="1400" b="1" kern="0" spc="-80" dirty="0">
                <a:solidFill>
                  <a:schemeClr val="accent6"/>
                </a:solidFill>
                <a:latin typeface="Lucida Sans"/>
              </a:rPr>
              <a:t> The system should log every action, discrepancy, and resolution step for transparency, compliance (e.g., SOX, GDPR), and auditing purposes.</a:t>
            </a:r>
          </a:p>
          <a:p>
            <a:r>
              <a:rPr lang="en-US" sz="1400" b="1" kern="0" spc="-80" dirty="0">
                <a:solidFill>
                  <a:schemeClr val="accent2"/>
                </a:solidFill>
                <a:latin typeface="Lucida Sans"/>
              </a:rPr>
              <a:t>Integrate Systems:</a:t>
            </a:r>
            <a:r>
              <a:rPr lang="en-US" sz="1400" b="1" kern="0" spc="-80" dirty="0">
                <a:solidFill>
                  <a:schemeClr val="accent6"/>
                </a:solidFill>
                <a:latin typeface="Lucida Sans"/>
              </a:rPr>
              <a:t> Seamlessly connect the reconciliation platform with existing ERP, accounting, and banking systems to ensure real-time data flow and consistency across platforms.</a:t>
            </a:r>
          </a:p>
          <a:p>
            <a:r>
              <a:rPr lang="en-US" sz="1400" b="1" kern="0" spc="-80" dirty="0">
                <a:solidFill>
                  <a:schemeClr val="accent2"/>
                </a:solidFill>
                <a:latin typeface="Lucida Sans"/>
              </a:rPr>
              <a:t>Define Clear Governance:</a:t>
            </a:r>
            <a:r>
              <a:rPr lang="en-US" sz="1400" b="1" kern="0" spc="-80" dirty="0">
                <a:solidFill>
                  <a:schemeClr val="accent6"/>
                </a:solidFill>
                <a:latin typeface="Lucida Sans"/>
              </a:rPr>
              <a:t> Establish clear policies and assign roles and responsibilities for data quality, review, and approval of exceptions. </a:t>
            </a:r>
          </a:p>
          <a:p>
            <a:endParaRPr lang="en-US" sz="1400" b="1" kern="0" spc="-80" dirty="0">
              <a:solidFill>
                <a:schemeClr val="accent6"/>
              </a:solidFill>
              <a:latin typeface="Lucida Sans"/>
            </a:endParaRPr>
          </a:p>
          <a:p>
            <a:r>
              <a:rPr lang="en-US" sz="1400" b="1" kern="0" spc="-80" dirty="0">
                <a:solidFill>
                  <a:schemeClr val="accent2"/>
                </a:solidFill>
                <a:latin typeface="Lucida Sans"/>
              </a:rPr>
              <a:t>N.B. </a:t>
            </a:r>
            <a:r>
              <a:rPr lang="en-US" sz="1400" b="1" kern="0" spc="-80" dirty="0">
                <a:solidFill>
                  <a:schemeClr val="accent6"/>
                </a:solidFill>
                <a:latin typeface="Lucida Sans"/>
              </a:rPr>
              <a:t>After Reconciliation, various cleanups of various resources(DBs, DLQs </a:t>
            </a:r>
            <a:r>
              <a:rPr lang="en-US" sz="1400" b="1" kern="0" spc="-80" dirty="0" err="1">
                <a:solidFill>
                  <a:schemeClr val="accent6"/>
                </a:solidFill>
                <a:latin typeface="Lucida Sans"/>
              </a:rPr>
              <a:t>etc</a:t>
            </a:r>
            <a:r>
              <a:rPr lang="en-US" sz="1400" b="1" kern="0" spc="-80" dirty="0">
                <a:solidFill>
                  <a:schemeClr val="accent6"/>
                </a:solidFill>
                <a:latin typeface="Lucida Sans"/>
              </a:rPr>
              <a:t>) may be needed and after cleanup ,  replay also might be needed.</a:t>
            </a:r>
          </a:p>
        </p:txBody>
      </p:sp>
    </p:spTree>
    <p:extLst>
      <p:ext uri="{BB962C8B-B14F-4D97-AF65-F5344CB8AC3E}">
        <p14:creationId xmlns:p14="http://schemas.microsoft.com/office/powerpoint/2010/main" val="2192258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21110-C100-9297-21E2-79D22AF188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2223A4-6EE0-E7D8-1045-17F8C3DC472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FE055A-C2E5-67AA-2962-8A1DAB149AA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5DCDA82-8E44-4790-4246-43F54F50F644}"/>
              </a:ext>
            </a:extLst>
          </p:cNvPr>
          <p:cNvGraphicFramePr/>
          <p:nvPr/>
        </p:nvGraphicFramePr>
        <p:xfrm>
          <a:off x="0" y="34425"/>
          <a:ext cx="91440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3250795-64A4-7F91-50A8-0AA0B0DFA2B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30C19F5-6CE2-4834-0B04-4FF00B7BBDC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34FD1E8-E019-F7AE-B53D-063D86993638}"/>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3A7BE18-D58A-7FD3-EB4D-DB2E959AC69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A3FA4292-C168-5771-CE6B-4DDA6561905B}"/>
              </a:ext>
            </a:extLst>
          </p:cNvPr>
          <p:cNvSpPr txBox="1"/>
          <p:nvPr/>
        </p:nvSpPr>
        <p:spPr>
          <a:xfrm>
            <a:off x="0" y="745712"/>
            <a:ext cx="8915399" cy="1815882"/>
          </a:xfrm>
          <a:prstGeom prst="rect">
            <a:avLst/>
          </a:prstGeom>
          <a:noFill/>
        </p:spPr>
        <p:txBody>
          <a:bodyPr wrap="square">
            <a:spAutoFit/>
          </a:bodyPr>
          <a:lstStyle/>
          <a:p>
            <a:pPr marL="12700" marR="5080"/>
            <a:r>
              <a:rPr lang="en-US" sz="1400" b="1" kern="0" spc="-80" dirty="0">
                <a:solidFill>
                  <a:schemeClr val="accent2"/>
                </a:solidFill>
                <a:latin typeface="Lucida Sans"/>
              </a:rPr>
              <a:t>For Further Exploration – </a:t>
            </a:r>
          </a:p>
          <a:p>
            <a:pPr marL="12700" marR="5080"/>
            <a:r>
              <a:rPr lang="en-IN" sz="1400" dirty="0">
                <a:hlinkClick r:id="rId7"/>
              </a:rPr>
              <a:t>A Deep Dive into Agoda's Generic Reconciliation Platform</a:t>
            </a:r>
            <a:endParaRPr lang="en-IN" sz="1400" dirty="0"/>
          </a:p>
          <a:p>
            <a:pPr marL="12700" marR="5080"/>
            <a:r>
              <a:rPr lang="en-US" sz="1400" dirty="0">
                <a:hlinkClick r:id="rId8"/>
              </a:rPr>
              <a:t>Real Time Event Stream Reconciliation Pattern | by Rajesh Ojha | Medium</a:t>
            </a:r>
            <a:endParaRPr lang="en-US" sz="1400" dirty="0"/>
          </a:p>
          <a:p>
            <a:pPr marL="12700" marR="5080"/>
            <a:r>
              <a:rPr lang="en-US" sz="1400" dirty="0">
                <a:hlinkClick r:id="rId9"/>
              </a:rPr>
              <a:t>Pinecone: Data Reconciliation framework</a:t>
            </a:r>
            <a:endParaRPr lang="en-US" sz="1400" dirty="0"/>
          </a:p>
          <a:p>
            <a:pPr marL="12700" marR="5080"/>
            <a:r>
              <a:rPr lang="en-US" sz="1400" dirty="0">
                <a:hlinkClick r:id="rId10"/>
              </a:rPr>
              <a:t>Reconcile data with the Financial Reconciliation agent (preview) | Microsoft Learn</a:t>
            </a:r>
            <a:endParaRPr lang="en-US" sz="1400" dirty="0"/>
          </a:p>
          <a:p>
            <a:pPr marL="12700" marR="5080"/>
            <a:r>
              <a:rPr lang="en-US" sz="1400" dirty="0">
                <a:hlinkClick r:id="rId11"/>
              </a:rPr>
              <a:t>NLP-Powered Ledger Reconciliation With </a:t>
            </a:r>
            <a:r>
              <a:rPr lang="en-US" sz="1400" dirty="0" err="1">
                <a:hlinkClick r:id="rId11"/>
              </a:rPr>
              <a:t>LangChain</a:t>
            </a:r>
            <a:endParaRPr lang="en-US" sz="1400" dirty="0"/>
          </a:p>
          <a:p>
            <a:pPr marL="12700" marR="5080"/>
            <a:endParaRPr lang="en-US" sz="1400" kern="0" spc="-80" dirty="0">
              <a:solidFill>
                <a:schemeClr val="accent2"/>
              </a:solidFill>
            </a:endParaRPr>
          </a:p>
          <a:p>
            <a:endParaRPr lang="en-US" sz="1400" b="1" kern="0" spc="-80" dirty="0">
              <a:solidFill>
                <a:schemeClr val="accent6"/>
              </a:solidFill>
              <a:latin typeface="Lucida Sans"/>
            </a:endParaRPr>
          </a:p>
        </p:txBody>
      </p:sp>
    </p:spTree>
    <p:extLst>
      <p:ext uri="{BB962C8B-B14F-4D97-AF65-F5344CB8AC3E}">
        <p14:creationId xmlns:p14="http://schemas.microsoft.com/office/powerpoint/2010/main" val="1159345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E51DB-E210-C14F-FE56-5470EB515B6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9F49A0-52DC-5DAB-76B1-DB8C68A7B7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BB973A-C23E-9B1E-1B10-C37CD7626B7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CF6870-94F9-C14C-39CE-97F183B057FE}"/>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F9F3219-5749-418B-F1D5-6D9E0E38DC5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BF6B593-7FA2-3350-CD45-0FB822B048B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844FD5CF-314A-C425-4DC7-4F2A47A091B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7700222-EA3C-A472-F245-E88ED36A81FA}"/>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C020C9B3-02F9-057F-A68E-C761406672D4}"/>
              </a:ext>
            </a:extLst>
          </p:cNvPr>
          <p:cNvSpPr txBox="1"/>
          <p:nvPr/>
        </p:nvSpPr>
        <p:spPr>
          <a:xfrm>
            <a:off x="0" y="799464"/>
            <a:ext cx="8867874" cy="5221942"/>
          </a:xfrm>
          <a:prstGeom prst="rect">
            <a:avLst/>
          </a:prstGeom>
          <a:noFill/>
        </p:spPr>
        <p:txBody>
          <a:bodyPr wrap="square">
            <a:spAutoFit/>
          </a:bodyPr>
          <a:lstStyle/>
          <a:p>
            <a:pPr>
              <a:spcAft>
                <a:spcPts val="750"/>
              </a:spcAft>
            </a:pPr>
            <a:r>
              <a:rPr lang="en-US" sz="1200" b="1" kern="0" spc="-80" dirty="0">
                <a:solidFill>
                  <a:schemeClr val="accent6"/>
                </a:solidFill>
                <a:latin typeface="Lucida Sans"/>
                <a:ea typeface="+mj-ea"/>
              </a:rPr>
              <a:t>A Data Warehouse stores structured, curated data for BI and reporting, while a Data Lake holds vast amounts of raw, unstructured, semi-structured, and structured data. A Data Lakehouse combines the best of both by bringing data warehousing capabilities (like ACID transactions) to data lakes. A Data Vault is a specific modeling technique for data warehouses, while a Data Fabric is an architectural approach that provides seamless data access and management across a distributed data environment. Finally, a Data Mesh is a decentralized organizational and architectural model where data is treated as a product, owned by various domain teams. </a:t>
            </a:r>
          </a:p>
          <a:p>
            <a:pPr>
              <a:spcAft>
                <a:spcPts val="750"/>
              </a:spcAft>
            </a:pPr>
            <a:r>
              <a:rPr lang="en-US" sz="1200" b="1" kern="0" spc="-80" dirty="0">
                <a:solidFill>
                  <a:schemeClr val="accent2"/>
                </a:solidFill>
                <a:latin typeface="Lucida Sans"/>
                <a:ea typeface="+mj-ea"/>
              </a:rPr>
              <a:t>1. Data Warehouse</a:t>
            </a:r>
          </a:p>
          <a:p>
            <a:pPr>
              <a:spcAft>
                <a:spcPts val="750"/>
              </a:spcAft>
            </a:pPr>
            <a:r>
              <a:rPr lang="en-US" sz="1200" b="1" kern="0" spc="-80" dirty="0">
                <a:solidFill>
                  <a:schemeClr val="accent6"/>
                </a:solidFill>
                <a:latin typeface="Lucida Sans"/>
                <a:ea typeface="+mj-ea"/>
              </a:rPr>
              <a:t>Purpose: Optimized for BI, reporting, and analytical queries on structured, historical data. </a:t>
            </a:r>
          </a:p>
          <a:p>
            <a:pPr>
              <a:spcAft>
                <a:spcPts val="750"/>
              </a:spcAft>
            </a:pPr>
            <a:r>
              <a:rPr lang="en-US" sz="1200" b="1" kern="0" spc="-80" dirty="0">
                <a:solidFill>
                  <a:schemeClr val="accent6"/>
                </a:solidFill>
                <a:latin typeface="Lucida Sans"/>
                <a:ea typeface="+mj-ea"/>
              </a:rPr>
              <a:t>Data Type: Highly structured and curated data. </a:t>
            </a:r>
          </a:p>
          <a:p>
            <a:pPr>
              <a:spcAft>
                <a:spcPts val="750"/>
              </a:spcAft>
            </a:pPr>
            <a:r>
              <a:rPr lang="en-US" sz="1200" b="1" kern="0" spc="-80" dirty="0">
                <a:solidFill>
                  <a:schemeClr val="accent6"/>
                </a:solidFill>
                <a:latin typeface="Lucida Sans"/>
                <a:ea typeface="+mj-ea"/>
              </a:rPr>
              <a:t>Schema: Schema-on-write, meaning the structure is defined before data is loaded. </a:t>
            </a:r>
          </a:p>
          <a:p>
            <a:pPr>
              <a:spcAft>
                <a:spcPts val="750"/>
              </a:spcAft>
            </a:pPr>
            <a:r>
              <a:rPr lang="en-US" sz="1200" b="1" kern="0" spc="-80" dirty="0">
                <a:solidFill>
                  <a:schemeClr val="accent6"/>
                </a:solidFill>
                <a:latin typeface="Lucida Sans"/>
                <a:ea typeface="+mj-ea"/>
              </a:rPr>
              <a:t>Pros: Fast query performance and high data quality for specific business use cases. </a:t>
            </a:r>
          </a:p>
          <a:p>
            <a:pPr>
              <a:spcAft>
                <a:spcPts val="750"/>
              </a:spcAft>
            </a:pPr>
            <a:r>
              <a:rPr lang="en-US" sz="1200" b="1" kern="0" spc="-80" dirty="0">
                <a:solidFill>
                  <a:schemeClr val="accent2"/>
                </a:solidFill>
                <a:latin typeface="Lucida Sans"/>
                <a:ea typeface="+mj-ea"/>
              </a:rPr>
              <a:t>2. Data Lake</a:t>
            </a:r>
          </a:p>
          <a:p>
            <a:pPr>
              <a:spcAft>
                <a:spcPts val="750"/>
              </a:spcAft>
            </a:pPr>
            <a:r>
              <a:rPr lang="en-US" sz="1200" b="1" kern="0" spc="-80" dirty="0">
                <a:solidFill>
                  <a:schemeClr val="accent6"/>
                </a:solidFill>
                <a:latin typeface="Lucida Sans"/>
                <a:ea typeface="+mj-ea"/>
              </a:rPr>
              <a:t>Purpose:</a:t>
            </a:r>
          </a:p>
          <a:p>
            <a:pPr>
              <a:spcAft>
                <a:spcPts val="750"/>
              </a:spcAft>
            </a:pPr>
            <a:r>
              <a:rPr lang="en-US" sz="1200" b="1" kern="0" spc="-80" dirty="0">
                <a:solidFill>
                  <a:schemeClr val="accent6"/>
                </a:solidFill>
                <a:latin typeface="Lucida Sans"/>
                <a:ea typeface="+mj-ea"/>
              </a:rPr>
              <a:t>Stores all types of data in its raw format for exploration, data science, and future, undefined uses. </a:t>
            </a:r>
          </a:p>
          <a:p>
            <a:pPr>
              <a:spcAft>
                <a:spcPts val="750"/>
              </a:spcAft>
            </a:pPr>
            <a:r>
              <a:rPr lang="en-US" sz="1200" b="1" kern="0" spc="-80" dirty="0">
                <a:solidFill>
                  <a:schemeClr val="accent6"/>
                </a:solidFill>
                <a:latin typeface="Lucida Sans"/>
                <a:ea typeface="+mj-ea"/>
              </a:rPr>
              <a:t>Data Type:</a:t>
            </a:r>
          </a:p>
          <a:p>
            <a:pPr>
              <a:spcAft>
                <a:spcPts val="750"/>
              </a:spcAft>
            </a:pPr>
            <a:r>
              <a:rPr lang="en-US" sz="1200" b="1" kern="0" spc="-80" dirty="0">
                <a:solidFill>
                  <a:schemeClr val="accent6"/>
                </a:solidFill>
                <a:latin typeface="Lucida Sans"/>
                <a:ea typeface="+mj-ea"/>
              </a:rPr>
              <a:t>Raw, unprocessed data, including structured, semi-structured, and unstructured data. </a:t>
            </a:r>
          </a:p>
          <a:p>
            <a:pPr>
              <a:spcAft>
                <a:spcPts val="750"/>
              </a:spcAft>
            </a:pPr>
            <a:r>
              <a:rPr lang="en-US" sz="1200" b="1" kern="0" spc="-80" dirty="0">
                <a:solidFill>
                  <a:schemeClr val="accent6"/>
                </a:solidFill>
                <a:latin typeface="Lucida Sans"/>
                <a:ea typeface="+mj-ea"/>
              </a:rPr>
              <a:t>Schema:</a:t>
            </a:r>
          </a:p>
          <a:p>
            <a:pPr>
              <a:spcAft>
                <a:spcPts val="750"/>
              </a:spcAft>
            </a:pPr>
            <a:r>
              <a:rPr lang="en-US" sz="1200" b="1" kern="0" spc="-80" dirty="0">
                <a:solidFill>
                  <a:schemeClr val="accent6"/>
                </a:solidFill>
                <a:latin typeface="Lucida Sans"/>
                <a:ea typeface="+mj-ea"/>
              </a:rPr>
              <a:t>Schema-on-read, allowing for flexible data analysis later. </a:t>
            </a:r>
          </a:p>
          <a:p>
            <a:pPr>
              <a:spcAft>
                <a:spcPts val="750"/>
              </a:spcAft>
            </a:pPr>
            <a:r>
              <a:rPr lang="en-US" sz="1200" b="1" kern="0" spc="-80" dirty="0">
                <a:solidFill>
                  <a:schemeClr val="accent6"/>
                </a:solidFill>
                <a:latin typeface="Lucida Sans"/>
                <a:ea typeface="+mj-ea"/>
              </a:rPr>
              <a:t>Pros:</a:t>
            </a:r>
          </a:p>
          <a:p>
            <a:pPr>
              <a:spcAft>
                <a:spcPts val="750"/>
              </a:spcAft>
            </a:pPr>
            <a:r>
              <a:rPr lang="en-US" sz="1200" b="1" kern="0" spc="-80" dirty="0">
                <a:solidFill>
                  <a:schemeClr val="accent6"/>
                </a:solidFill>
                <a:latin typeface="Lucida Sans"/>
                <a:ea typeface="+mj-ea"/>
              </a:rPr>
              <a:t>High storage volume at a lower cost, ideal for big data and AI/ML workloads. </a:t>
            </a:r>
          </a:p>
        </p:txBody>
      </p:sp>
    </p:spTree>
    <p:extLst>
      <p:ext uri="{BB962C8B-B14F-4D97-AF65-F5344CB8AC3E}">
        <p14:creationId xmlns:p14="http://schemas.microsoft.com/office/powerpoint/2010/main" val="40492419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A72A-9AF2-9E07-9138-8CAC128CC7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D3D4D6-5FAF-C114-CB6A-1365AF91B3B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EAD323-C124-886F-AB31-1787314D9D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98309C-4977-F7E3-1391-3903678C0ACD}"/>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97E4B2D-C16A-B628-C6AF-09332292CD3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BA3FA75-287B-B157-79F0-ACB125C6DBD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D1DC1EB6-3C4E-F6E1-BD3A-36A18F193EC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4F3CF7C-487E-F539-7DBC-0E9DF9C18BA0}"/>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86B755C1-0B8E-724A-5E83-28AEC1EEB4E6}"/>
              </a:ext>
            </a:extLst>
          </p:cNvPr>
          <p:cNvSpPr txBox="1"/>
          <p:nvPr/>
        </p:nvSpPr>
        <p:spPr>
          <a:xfrm>
            <a:off x="0" y="799464"/>
            <a:ext cx="8867874" cy="5345053"/>
          </a:xfrm>
          <a:prstGeom prst="rect">
            <a:avLst/>
          </a:prstGeom>
          <a:noFill/>
        </p:spPr>
        <p:txBody>
          <a:bodyPr wrap="square">
            <a:spAutoFit/>
          </a:bodyPr>
          <a:lstStyle/>
          <a:p>
            <a:pPr>
              <a:spcAft>
                <a:spcPts val="750"/>
              </a:spcAft>
            </a:pPr>
            <a:r>
              <a:rPr lang="en-US" sz="1200" b="1" kern="0" spc="-80" dirty="0">
                <a:solidFill>
                  <a:schemeClr val="accent2"/>
                </a:solidFill>
                <a:latin typeface="Lucida Sans"/>
                <a:ea typeface="+mj-ea"/>
              </a:rPr>
              <a:t>3. Data Lakehouse</a:t>
            </a:r>
          </a:p>
          <a:p>
            <a:pPr>
              <a:spcAft>
                <a:spcPts val="750"/>
              </a:spcAft>
            </a:pPr>
            <a:r>
              <a:rPr lang="en-US" sz="1200" b="1" kern="0" spc="-80" dirty="0">
                <a:solidFill>
                  <a:schemeClr val="accent6"/>
                </a:solidFill>
                <a:latin typeface="Lucida Sans"/>
                <a:ea typeface="+mj-ea"/>
              </a:rPr>
              <a:t>Purpose:</a:t>
            </a:r>
          </a:p>
          <a:p>
            <a:pPr>
              <a:spcAft>
                <a:spcPts val="750"/>
              </a:spcAft>
            </a:pPr>
            <a:r>
              <a:rPr lang="en-US" sz="1200" b="1" kern="0" spc="-80" dirty="0">
                <a:solidFill>
                  <a:schemeClr val="accent6"/>
                </a:solidFill>
                <a:latin typeface="Lucida Sans"/>
                <a:ea typeface="+mj-ea"/>
              </a:rPr>
              <a:t>Unifies data warehousing and data lake capabilities into a single platform. </a:t>
            </a:r>
          </a:p>
          <a:p>
            <a:pPr>
              <a:spcAft>
                <a:spcPts val="750"/>
              </a:spcAft>
            </a:pPr>
            <a:r>
              <a:rPr lang="en-US" sz="1200" b="1" kern="0" spc="-80" dirty="0">
                <a:solidFill>
                  <a:schemeClr val="accent6"/>
                </a:solidFill>
                <a:latin typeface="Lucida Sans"/>
                <a:ea typeface="+mj-ea"/>
              </a:rPr>
              <a:t>Data Type:</a:t>
            </a:r>
          </a:p>
          <a:p>
            <a:pPr>
              <a:spcAft>
                <a:spcPts val="750"/>
              </a:spcAft>
            </a:pPr>
            <a:r>
              <a:rPr lang="en-US" sz="1200" b="1" kern="0" spc="-80" dirty="0">
                <a:solidFill>
                  <a:schemeClr val="accent6"/>
                </a:solidFill>
                <a:latin typeface="Lucida Sans"/>
                <a:ea typeface="+mj-ea"/>
              </a:rPr>
              <a:t>Supports both structured and unstructured data. </a:t>
            </a:r>
          </a:p>
          <a:p>
            <a:pPr>
              <a:spcAft>
                <a:spcPts val="750"/>
              </a:spcAft>
            </a:pPr>
            <a:r>
              <a:rPr lang="en-US" sz="1200" b="1" kern="0" spc="-80" dirty="0">
                <a:solidFill>
                  <a:schemeClr val="accent6"/>
                </a:solidFill>
                <a:latin typeface="Lucida Sans"/>
                <a:ea typeface="+mj-ea"/>
              </a:rPr>
              <a:t>Schema:</a:t>
            </a:r>
          </a:p>
          <a:p>
            <a:pPr>
              <a:spcAft>
                <a:spcPts val="750"/>
              </a:spcAft>
            </a:pPr>
            <a:r>
              <a:rPr lang="en-US" sz="1200" b="1" kern="0" spc="-80" dirty="0">
                <a:solidFill>
                  <a:schemeClr val="accent6"/>
                </a:solidFill>
                <a:latin typeface="Lucida Sans"/>
                <a:ea typeface="+mj-ea"/>
              </a:rPr>
              <a:t>Combines schema-on-write (for structured data) and schema-on-read (for raw data). </a:t>
            </a:r>
          </a:p>
          <a:p>
            <a:pPr>
              <a:spcAft>
                <a:spcPts val="750"/>
              </a:spcAft>
            </a:pPr>
            <a:r>
              <a:rPr lang="en-US" sz="1200" b="1" kern="0" spc="-80" dirty="0">
                <a:solidFill>
                  <a:schemeClr val="accent6"/>
                </a:solidFill>
                <a:latin typeface="Lucida Sans"/>
                <a:ea typeface="+mj-ea"/>
              </a:rPr>
              <a:t>Pros:</a:t>
            </a:r>
          </a:p>
          <a:p>
            <a:pPr>
              <a:spcAft>
                <a:spcPts val="750"/>
              </a:spcAft>
            </a:pPr>
            <a:r>
              <a:rPr lang="en-US" sz="1200" b="1" kern="0" spc="-80" dirty="0">
                <a:solidFill>
                  <a:schemeClr val="accent6"/>
                </a:solidFill>
                <a:latin typeface="Lucida Sans"/>
                <a:ea typeface="+mj-ea"/>
              </a:rPr>
              <a:t>Offers the flexibility of a data lake with the structure and advanced analytics of a data warehouse. </a:t>
            </a:r>
          </a:p>
          <a:p>
            <a:pPr>
              <a:spcAft>
                <a:spcPts val="750"/>
              </a:spcAft>
            </a:pPr>
            <a:r>
              <a:rPr lang="en-US" sz="1200" b="1" kern="0" spc="-80" dirty="0">
                <a:solidFill>
                  <a:schemeClr val="accent2"/>
                </a:solidFill>
                <a:latin typeface="Lucida Sans"/>
                <a:ea typeface="+mj-ea"/>
              </a:rPr>
              <a:t>4. Data Vault </a:t>
            </a:r>
          </a:p>
          <a:p>
            <a:pPr>
              <a:spcAft>
                <a:spcPts val="750"/>
              </a:spcAft>
            </a:pPr>
            <a:r>
              <a:rPr lang="en-US" sz="1200" b="1" kern="0" spc="-80" dirty="0">
                <a:solidFill>
                  <a:schemeClr val="accent6"/>
                </a:solidFill>
                <a:latin typeface="Lucida Sans"/>
                <a:ea typeface="+mj-ea"/>
              </a:rPr>
              <a:t>Purpose: A modeling technique to build a scalable and flexible data warehouse that captures historical data.</a:t>
            </a:r>
          </a:p>
          <a:p>
            <a:pPr>
              <a:spcAft>
                <a:spcPts val="750"/>
              </a:spcAft>
            </a:pPr>
            <a:r>
              <a:rPr lang="en-US" sz="1200" b="1" kern="0" spc="-80" dirty="0">
                <a:solidFill>
                  <a:schemeClr val="accent6"/>
                </a:solidFill>
                <a:latin typeface="Lucida Sans"/>
                <a:ea typeface="+mj-ea"/>
              </a:rPr>
              <a:t>Data Type: Primarily for structured data within a data warehousing context.</a:t>
            </a:r>
          </a:p>
          <a:p>
            <a:pPr>
              <a:spcAft>
                <a:spcPts val="750"/>
              </a:spcAft>
            </a:pPr>
            <a:r>
              <a:rPr lang="en-US" sz="1200" b="1" kern="0" spc="-80" dirty="0">
                <a:solidFill>
                  <a:schemeClr val="accent6"/>
                </a:solidFill>
                <a:latin typeface="Lucida Sans"/>
                <a:ea typeface="+mj-ea"/>
              </a:rPr>
              <a:t>Schema: Relational, but designed to handle historical changes efficiently.</a:t>
            </a:r>
          </a:p>
          <a:p>
            <a:pPr>
              <a:spcAft>
                <a:spcPts val="750"/>
              </a:spcAft>
            </a:pPr>
            <a:r>
              <a:rPr lang="en-US" sz="1200" b="1" kern="0" spc="-80" dirty="0">
                <a:solidFill>
                  <a:schemeClr val="accent6"/>
                </a:solidFill>
                <a:latin typeface="Lucida Sans"/>
                <a:ea typeface="+mj-ea"/>
              </a:rPr>
              <a:t>Pros: Provides a robust and audit-ready solution for historical data in a data warehouse.</a:t>
            </a:r>
          </a:p>
          <a:p>
            <a:pPr>
              <a:spcAft>
                <a:spcPts val="750"/>
              </a:spcAft>
            </a:pPr>
            <a:r>
              <a:rPr lang="en-US" sz="1200" b="1" kern="0" spc="-80" dirty="0">
                <a:solidFill>
                  <a:schemeClr val="accent2"/>
                </a:solidFill>
                <a:latin typeface="Lucida Sans"/>
              </a:rPr>
              <a:t>5. Data Fabric </a:t>
            </a:r>
          </a:p>
          <a:p>
            <a:pPr>
              <a:spcAft>
                <a:spcPts val="750"/>
              </a:spcAft>
            </a:pPr>
            <a:r>
              <a:rPr lang="en-US" sz="1200" b="1" kern="0" spc="-80" dirty="0">
                <a:solidFill>
                  <a:schemeClr val="accent6"/>
                </a:solidFill>
                <a:latin typeface="Lucida Sans"/>
              </a:rPr>
              <a:t>Purpose: A distributed architectural approach that provides seamless data access and management across various applications, platforms, and locations.</a:t>
            </a:r>
          </a:p>
          <a:p>
            <a:pPr>
              <a:spcAft>
                <a:spcPts val="750"/>
              </a:spcAft>
            </a:pPr>
            <a:endParaRPr lang="en-US" sz="1200" b="1" kern="0" spc="-80" dirty="0">
              <a:solidFill>
                <a:schemeClr val="accent6"/>
              </a:solidFill>
              <a:latin typeface="Lucida Sans"/>
              <a:ea typeface="+mj-ea"/>
            </a:endParaRPr>
          </a:p>
          <a:p>
            <a:pPr>
              <a:spcAft>
                <a:spcPts val="750"/>
              </a:spcAft>
            </a:pPr>
            <a:endParaRPr lang="en-US" sz="1200" b="1" kern="0" spc="-80" dirty="0">
              <a:solidFill>
                <a:schemeClr val="accent6"/>
              </a:solidFill>
              <a:latin typeface="Lucida Sans"/>
              <a:ea typeface="+mj-ea"/>
            </a:endParaRPr>
          </a:p>
        </p:txBody>
      </p:sp>
    </p:spTree>
    <p:extLst>
      <p:ext uri="{BB962C8B-B14F-4D97-AF65-F5344CB8AC3E}">
        <p14:creationId xmlns:p14="http://schemas.microsoft.com/office/powerpoint/2010/main" val="4238351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F6AFA-BCAA-D918-3C51-B014B25853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41920A-C22C-5188-E1C3-4B5C827CC4C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6385BEF-B895-1926-9DC5-AF8FAD590B8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6ED391-0A07-F75B-FF28-D930DFA98961}"/>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6D4F835-DDE8-BDBE-0443-8B77E05F18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F7D8C23-493E-A120-F0BD-86F61E6785A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E14E03E1-2A11-37FD-2D68-8B4E17B958A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D49B971-6FD9-CC49-3950-5C6460EFAEB4}"/>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7202B197-1C55-BF4E-88A7-CB75289CDD8C}"/>
              </a:ext>
            </a:extLst>
          </p:cNvPr>
          <p:cNvSpPr txBox="1"/>
          <p:nvPr/>
        </p:nvSpPr>
        <p:spPr>
          <a:xfrm>
            <a:off x="0" y="799464"/>
            <a:ext cx="8867874" cy="5032147"/>
          </a:xfrm>
          <a:prstGeom prst="rect">
            <a:avLst/>
          </a:prstGeom>
          <a:noFill/>
        </p:spPr>
        <p:txBody>
          <a:bodyPr wrap="square">
            <a:spAutoFit/>
          </a:bodyPr>
          <a:lstStyle/>
          <a:p>
            <a:pPr>
              <a:spcAft>
                <a:spcPts val="750"/>
              </a:spcAft>
            </a:pPr>
            <a:r>
              <a:rPr lang="en-US" sz="1200" b="1" kern="0" spc="-80" dirty="0">
                <a:solidFill>
                  <a:schemeClr val="accent6"/>
                </a:solidFill>
                <a:latin typeface="Lucida Sans"/>
              </a:rPr>
              <a:t>Data Type: Manages data regardless of its type or storage location.</a:t>
            </a:r>
          </a:p>
          <a:p>
            <a:pPr>
              <a:spcAft>
                <a:spcPts val="750"/>
              </a:spcAft>
            </a:pPr>
            <a:r>
              <a:rPr lang="en-US" sz="1200" b="1" kern="0" spc="-80" dirty="0">
                <a:solidFill>
                  <a:schemeClr val="accent6"/>
                </a:solidFill>
                <a:latin typeface="Lucida Sans"/>
              </a:rPr>
              <a:t>Schema: Operates across diverse data environments, enabling unified governance.</a:t>
            </a:r>
          </a:p>
          <a:p>
            <a:pPr>
              <a:spcAft>
                <a:spcPts val="750"/>
              </a:spcAft>
            </a:pPr>
            <a:r>
              <a:rPr lang="en-US" sz="1200" b="1" kern="0" spc="-80" dirty="0">
                <a:solidFill>
                  <a:schemeClr val="accent6"/>
                </a:solidFill>
                <a:latin typeface="Lucida Sans"/>
              </a:rPr>
              <a:t>Pros: Facilitates data discovery, access, and sharing in a heterogeneous data ecosystem.</a:t>
            </a:r>
          </a:p>
          <a:p>
            <a:pPr>
              <a:spcAft>
                <a:spcPts val="750"/>
              </a:spcAft>
            </a:pPr>
            <a:r>
              <a:rPr lang="en-US" sz="1200" b="1" kern="0" spc="-80" dirty="0">
                <a:solidFill>
                  <a:schemeClr val="accent2"/>
                </a:solidFill>
                <a:latin typeface="Lucida Sans"/>
                <a:ea typeface="+mj-ea"/>
              </a:rPr>
              <a:t>6. Data Mesh </a:t>
            </a:r>
          </a:p>
          <a:p>
            <a:pPr>
              <a:spcAft>
                <a:spcPts val="750"/>
              </a:spcAft>
            </a:pPr>
            <a:r>
              <a:rPr lang="en-US" sz="1200" b="1" kern="0" spc="-80" dirty="0">
                <a:solidFill>
                  <a:schemeClr val="accent6"/>
                </a:solidFill>
                <a:latin typeface="Lucida Sans"/>
                <a:ea typeface="+mj-ea"/>
              </a:rPr>
              <a:t>Purpose:</a:t>
            </a:r>
          </a:p>
          <a:p>
            <a:pPr>
              <a:spcAft>
                <a:spcPts val="750"/>
              </a:spcAft>
            </a:pPr>
            <a:r>
              <a:rPr lang="en-US" sz="1200" b="1" kern="0" spc="-80" dirty="0">
                <a:solidFill>
                  <a:schemeClr val="accent6"/>
                </a:solidFill>
                <a:latin typeface="Lucida Sans"/>
                <a:ea typeface="+mj-ea"/>
              </a:rPr>
              <a:t>A decentralized organizational and architectural paradigm where data is treated as a product, managed by domain-specific teams.</a:t>
            </a:r>
          </a:p>
          <a:p>
            <a:pPr>
              <a:spcAft>
                <a:spcPts val="750"/>
              </a:spcAft>
            </a:pPr>
            <a:r>
              <a:rPr lang="en-US" sz="1200" b="1" kern="0" spc="-80" dirty="0">
                <a:solidFill>
                  <a:schemeClr val="accent6"/>
                </a:solidFill>
                <a:latin typeface="Lucida Sans"/>
                <a:ea typeface="+mj-ea"/>
              </a:rPr>
              <a:t>Data Type:</a:t>
            </a:r>
          </a:p>
          <a:p>
            <a:pPr>
              <a:spcAft>
                <a:spcPts val="750"/>
              </a:spcAft>
            </a:pPr>
            <a:r>
              <a:rPr lang="en-US" sz="1200" b="1" kern="0" spc="-80" dirty="0">
                <a:solidFill>
                  <a:schemeClr val="accent6"/>
                </a:solidFill>
                <a:latin typeface="Lucida Sans"/>
                <a:ea typeface="+mj-ea"/>
              </a:rPr>
              <a:t>Supports various data types within its decentralized data products.</a:t>
            </a:r>
          </a:p>
          <a:p>
            <a:pPr>
              <a:spcAft>
                <a:spcPts val="750"/>
              </a:spcAft>
            </a:pPr>
            <a:r>
              <a:rPr lang="en-US" sz="1200" b="1" kern="0" spc="-80" dirty="0">
                <a:solidFill>
                  <a:schemeClr val="accent6"/>
                </a:solidFill>
                <a:latin typeface="Lucida Sans"/>
                <a:ea typeface="+mj-ea"/>
              </a:rPr>
              <a:t>Schema:</a:t>
            </a:r>
          </a:p>
          <a:p>
            <a:pPr>
              <a:spcAft>
                <a:spcPts val="750"/>
              </a:spcAft>
            </a:pPr>
            <a:r>
              <a:rPr lang="en-US" sz="1200" b="1" kern="0" spc="-80" dirty="0">
                <a:solidFill>
                  <a:schemeClr val="accent6"/>
                </a:solidFill>
                <a:latin typeface="Lucida Sans"/>
                <a:ea typeface="+mj-ea"/>
              </a:rPr>
              <a:t>Each data product team is responsible for its data's quality and governance.</a:t>
            </a:r>
          </a:p>
          <a:p>
            <a:pPr>
              <a:spcAft>
                <a:spcPts val="750"/>
              </a:spcAft>
            </a:pPr>
            <a:r>
              <a:rPr lang="en-US" sz="1200" b="1" kern="0" spc="-80" dirty="0">
                <a:solidFill>
                  <a:schemeClr val="accent6"/>
                </a:solidFill>
                <a:latin typeface="Lucida Sans"/>
                <a:ea typeface="+mj-ea"/>
              </a:rPr>
              <a:t>Pros:</a:t>
            </a:r>
          </a:p>
          <a:p>
            <a:pPr>
              <a:spcAft>
                <a:spcPts val="750"/>
              </a:spcAft>
            </a:pPr>
            <a:r>
              <a:rPr lang="en-US" sz="1200" b="1" kern="0" spc="-80" dirty="0">
                <a:solidFill>
                  <a:schemeClr val="accent6"/>
                </a:solidFill>
                <a:latin typeface="Lucida Sans"/>
                <a:ea typeface="+mj-ea"/>
              </a:rPr>
              <a:t>Addresses the limitations of centralized architectures by distributing data ownership, improving accountability, and fostering agility.</a:t>
            </a:r>
          </a:p>
          <a:p>
            <a:pPr>
              <a:spcAft>
                <a:spcPts val="750"/>
              </a:spcAft>
            </a:pPr>
            <a:endParaRPr lang="en-US" sz="1200" b="1" kern="0" spc="-80" dirty="0">
              <a:solidFill>
                <a:schemeClr val="accent6"/>
              </a:solidFill>
              <a:latin typeface="Lucida Sans"/>
              <a:ea typeface="+mj-ea"/>
            </a:endParaRPr>
          </a:p>
          <a:p>
            <a:pPr>
              <a:spcAft>
                <a:spcPts val="750"/>
              </a:spcAft>
            </a:pPr>
            <a:r>
              <a:rPr lang="en-US" sz="1700" b="1" kern="0" spc="-80" dirty="0">
                <a:solidFill>
                  <a:schemeClr val="accent2"/>
                </a:solidFill>
              </a:rPr>
              <a:t>For Further Exploration – </a:t>
            </a:r>
          </a:p>
          <a:p>
            <a:pPr>
              <a:spcAft>
                <a:spcPts val="750"/>
              </a:spcAft>
            </a:pPr>
            <a:r>
              <a:rPr lang="en-US" sz="1200" dirty="0">
                <a:hlinkClick r:id="rId7"/>
              </a:rPr>
              <a:t>Data </a:t>
            </a:r>
            <a:r>
              <a:rPr lang="en-US" sz="1200" dirty="0" err="1">
                <a:hlinkClick r:id="rId7"/>
              </a:rPr>
              <a:t>Warehouse,Data</a:t>
            </a:r>
            <a:r>
              <a:rPr lang="en-US" sz="1200" dirty="0">
                <a:hlinkClick r:id="rId7"/>
              </a:rPr>
              <a:t> </a:t>
            </a:r>
            <a:r>
              <a:rPr lang="en-US" sz="1200" dirty="0" err="1">
                <a:hlinkClick r:id="rId7"/>
              </a:rPr>
              <a:t>Lake,Lake</a:t>
            </a:r>
            <a:r>
              <a:rPr lang="en-US" sz="1200" dirty="0">
                <a:hlinkClick r:id="rId7"/>
              </a:rPr>
              <a:t> House, Data </a:t>
            </a:r>
            <a:r>
              <a:rPr lang="en-US" sz="1200" dirty="0" err="1">
                <a:hlinkClick r:id="rId7"/>
              </a:rPr>
              <a:t>Vault,Data</a:t>
            </a:r>
            <a:r>
              <a:rPr lang="en-US" sz="1200" dirty="0">
                <a:hlinkClick r:id="rId7"/>
              </a:rPr>
              <a:t> </a:t>
            </a:r>
            <a:r>
              <a:rPr lang="en-US" sz="1200" dirty="0" err="1">
                <a:hlinkClick r:id="rId7"/>
              </a:rPr>
              <a:t>Fabric,Data</a:t>
            </a:r>
            <a:r>
              <a:rPr lang="en-US" sz="1200" dirty="0">
                <a:hlinkClick r:id="rId7"/>
              </a:rPr>
              <a:t> Mesh – YouTube</a:t>
            </a:r>
            <a:endParaRPr lang="en-US" sz="1200" dirty="0"/>
          </a:p>
          <a:p>
            <a:pPr>
              <a:spcAft>
                <a:spcPts val="750"/>
              </a:spcAft>
            </a:pPr>
            <a:r>
              <a:rPr lang="en-IN" sz="1200" dirty="0">
                <a:hlinkClick r:id="rId8"/>
              </a:rPr>
              <a:t>Data Lakehouse, Data Mesh, and Data Fabric - James Serra - Data Toboggan - March 2023 – YouTube</a:t>
            </a:r>
            <a:endParaRPr lang="en-IN" sz="1200" dirty="0"/>
          </a:p>
        </p:txBody>
      </p:sp>
    </p:spTree>
    <p:extLst>
      <p:ext uri="{BB962C8B-B14F-4D97-AF65-F5344CB8AC3E}">
        <p14:creationId xmlns:p14="http://schemas.microsoft.com/office/powerpoint/2010/main" val="2271308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FA8FC-D476-3302-F8A9-3C537B4FA44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C12788B-6142-3AF7-EB44-68B14BEB09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12D431-3899-A1CA-2086-0D8E5962BDA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450F916-6341-0C62-3EC0-7B0E594512FE}"/>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3A68E45-78FB-8249-7509-531409527C6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48F6A4D-5E27-6C4B-7DDE-A071EB39158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70D326A0-EEA2-085D-339A-C3ADA42C2F3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624956B-ADB3-C02E-70CE-2233A0125811}"/>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71931C2F-3C92-42EF-86B6-5120EC8EAA87}"/>
              </a:ext>
            </a:extLst>
          </p:cNvPr>
          <p:cNvSpPr txBox="1"/>
          <p:nvPr/>
        </p:nvSpPr>
        <p:spPr>
          <a:xfrm>
            <a:off x="-14337" y="726800"/>
            <a:ext cx="8867874" cy="400110"/>
          </a:xfrm>
          <a:prstGeom prst="rect">
            <a:avLst/>
          </a:prstGeom>
          <a:noFill/>
        </p:spPr>
        <p:txBody>
          <a:bodyPr wrap="square">
            <a:spAutoFit/>
          </a:bodyPr>
          <a:lstStyle/>
          <a:p>
            <a:pPr>
              <a:spcAft>
                <a:spcPts val="750"/>
              </a:spcAft>
            </a:pPr>
            <a:r>
              <a:rPr lang="en-US" sz="2000" b="1" kern="0" spc="-80" dirty="0">
                <a:solidFill>
                  <a:schemeClr val="accent2"/>
                </a:solidFill>
                <a:latin typeface="Lucida Sans"/>
              </a:rPr>
              <a:t>Raw vs Curated vs Consumption Layers</a:t>
            </a:r>
            <a:endParaRPr lang="en-US" sz="2000" b="1" kern="0" spc="-80" dirty="0">
              <a:solidFill>
                <a:schemeClr val="accent2"/>
              </a:solidFill>
              <a:latin typeface="Lucida Sans"/>
              <a:ea typeface="+mj-ea"/>
            </a:endParaRPr>
          </a:p>
        </p:txBody>
      </p:sp>
      <p:pic>
        <p:nvPicPr>
          <p:cNvPr id="9" name="Picture 8">
            <a:extLst>
              <a:ext uri="{FF2B5EF4-FFF2-40B4-BE49-F238E27FC236}">
                <a16:creationId xmlns:a16="http://schemas.microsoft.com/office/drawing/2014/main" id="{EB10B744-66D2-EE1E-E7C5-461945AF6F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863" y="1213443"/>
            <a:ext cx="8624937" cy="3773982"/>
          </a:xfrm>
          <a:prstGeom prst="rect">
            <a:avLst/>
          </a:prstGeom>
        </p:spPr>
      </p:pic>
      <p:pic>
        <p:nvPicPr>
          <p:cNvPr id="13" name="Picture 12">
            <a:extLst>
              <a:ext uri="{FF2B5EF4-FFF2-40B4-BE49-F238E27FC236}">
                <a16:creationId xmlns:a16="http://schemas.microsoft.com/office/drawing/2014/main" id="{471D1497-B0A7-0BB6-FD1C-618FCAC9F25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4987425"/>
            <a:ext cx="8563074" cy="956175"/>
          </a:xfrm>
          <a:prstGeom prst="rect">
            <a:avLst/>
          </a:prstGeom>
        </p:spPr>
      </p:pic>
    </p:spTree>
    <p:extLst>
      <p:ext uri="{BB962C8B-B14F-4D97-AF65-F5344CB8AC3E}">
        <p14:creationId xmlns:p14="http://schemas.microsoft.com/office/powerpoint/2010/main" val="2217699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0B311-5397-EB6E-FF1B-1841C40254E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C67175-1E5D-E342-948E-F6E85207420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D3FA651-AE3F-B665-ACD3-C32737BDE5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9550FA3-12EC-7D49-DEB0-6F3562D1AED9}"/>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98DA4BE-D42A-9F97-696E-8C511F7542A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BED11EA-0557-ECA6-CB64-52E6B038DE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5FA807DB-D778-D1A4-0837-06CE23BE5EB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FF04027-774E-760F-B5BD-162237D96F0E}"/>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9BC69E15-BBF3-1D32-75AB-577E7BB1335B}"/>
              </a:ext>
            </a:extLst>
          </p:cNvPr>
          <p:cNvSpPr txBox="1"/>
          <p:nvPr/>
        </p:nvSpPr>
        <p:spPr>
          <a:xfrm>
            <a:off x="-14337" y="726800"/>
            <a:ext cx="8867874" cy="5370701"/>
          </a:xfrm>
          <a:prstGeom prst="rect">
            <a:avLst/>
          </a:prstGeom>
          <a:noFill/>
        </p:spPr>
        <p:txBody>
          <a:bodyPr wrap="square">
            <a:spAutoFit/>
          </a:bodyPr>
          <a:lstStyle/>
          <a:p>
            <a:pPr>
              <a:spcAft>
                <a:spcPts val="750"/>
              </a:spcAft>
            </a:pPr>
            <a:r>
              <a:rPr lang="en-US" sz="1700" b="1" kern="0" spc="-80" dirty="0">
                <a:solidFill>
                  <a:schemeClr val="accent2"/>
                </a:solidFill>
                <a:latin typeface="Lucida Sans"/>
              </a:rPr>
              <a:t>1. Raw Layer (Bronze)</a:t>
            </a:r>
          </a:p>
          <a:p>
            <a:pPr>
              <a:spcAft>
                <a:spcPts val="750"/>
              </a:spcAft>
            </a:pPr>
            <a:r>
              <a:rPr lang="en-US" sz="1200" b="1" kern="0" spc="-80" dirty="0">
                <a:solidFill>
                  <a:schemeClr val="accent6"/>
                </a:solidFill>
                <a:latin typeface="Lucida Sans"/>
              </a:rPr>
              <a:t>The Raw Layer acts as the landing zone for all incoming data. It acts as the "single source of truth" or a backup that allows for complete reprocessing if business logic changes later. </a:t>
            </a:r>
          </a:p>
          <a:p>
            <a:pPr>
              <a:spcAft>
                <a:spcPts val="750"/>
              </a:spcAft>
            </a:pPr>
            <a:r>
              <a:rPr lang="en-US" sz="1200" b="1" kern="0" spc="-80" dirty="0">
                <a:solidFill>
                  <a:schemeClr val="accent2"/>
                </a:solidFill>
                <a:latin typeface="Lucida Sans"/>
              </a:rPr>
              <a:t>Characteristics:</a:t>
            </a:r>
          </a:p>
          <a:p>
            <a:pPr>
              <a:spcAft>
                <a:spcPts val="750"/>
              </a:spcAft>
            </a:pPr>
            <a:r>
              <a:rPr lang="en-US" sz="1200" b="1" kern="0" spc="-80" dirty="0">
                <a:solidFill>
                  <a:schemeClr val="accent2"/>
                </a:solidFill>
                <a:latin typeface="Lucida Sans"/>
              </a:rPr>
              <a:t>Immutability: </a:t>
            </a:r>
            <a:r>
              <a:rPr lang="en-US" sz="1200" b="1" kern="0" spc="-80" dirty="0">
                <a:solidFill>
                  <a:schemeClr val="accent6"/>
                </a:solidFill>
                <a:latin typeface="Lucida Sans"/>
              </a:rPr>
              <a:t>No data modification allowed.</a:t>
            </a:r>
          </a:p>
          <a:p>
            <a:pPr>
              <a:spcAft>
                <a:spcPts val="750"/>
              </a:spcAft>
            </a:pPr>
            <a:r>
              <a:rPr lang="en-US" sz="1200" b="1" kern="0" spc="-80" dirty="0">
                <a:solidFill>
                  <a:schemeClr val="accent2"/>
                </a:solidFill>
                <a:latin typeface="Lucida Sans"/>
              </a:rPr>
              <a:t>Structure: </a:t>
            </a:r>
            <a:r>
              <a:rPr lang="en-US" sz="1200" b="1" kern="0" spc="-80" dirty="0">
                <a:solidFill>
                  <a:schemeClr val="accent6"/>
                </a:solidFill>
                <a:latin typeface="Lucida Sans"/>
              </a:rPr>
              <a:t>Stores data exactly as it comes from the source (e.g., IoT logs, CRM exports, Kafka feeds).</a:t>
            </a:r>
          </a:p>
          <a:p>
            <a:pPr>
              <a:spcAft>
                <a:spcPts val="750"/>
              </a:spcAft>
            </a:pPr>
            <a:r>
              <a:rPr lang="en-US" sz="1200" b="1" kern="0" spc="-80" dirty="0">
                <a:solidFill>
                  <a:schemeClr val="accent2"/>
                </a:solidFill>
                <a:latin typeface="Lucida Sans"/>
              </a:rPr>
              <a:t>Partitioning: </a:t>
            </a:r>
            <a:r>
              <a:rPr lang="en-US" sz="1200" b="1" kern="0" spc="-80" dirty="0">
                <a:solidFill>
                  <a:schemeClr val="accent6"/>
                </a:solidFill>
                <a:latin typeface="Lucida Sans"/>
              </a:rPr>
              <a:t>Often partitioned by ingestion date or source system for efficient retrieval.</a:t>
            </a:r>
          </a:p>
          <a:p>
            <a:pPr>
              <a:spcAft>
                <a:spcPts val="750"/>
              </a:spcAft>
            </a:pPr>
            <a:r>
              <a:rPr lang="en-US" sz="1200" b="1" kern="0" spc="-80" dirty="0">
                <a:solidFill>
                  <a:schemeClr val="accent2"/>
                </a:solidFill>
                <a:latin typeface="Lucida Sans"/>
              </a:rPr>
              <a:t>Best Practices: </a:t>
            </a:r>
            <a:r>
              <a:rPr lang="en-US" sz="1200" b="1" kern="0" spc="-80" dirty="0">
                <a:solidFill>
                  <a:schemeClr val="accent6"/>
                </a:solidFill>
                <a:latin typeface="Lucida Sans"/>
              </a:rPr>
              <a:t>Store files in inexpensive storage (S3, ADLS) using raw formats (CSV, JSON, XML). </a:t>
            </a:r>
          </a:p>
          <a:p>
            <a:pPr>
              <a:spcAft>
                <a:spcPts val="750"/>
              </a:spcAft>
            </a:pPr>
            <a:r>
              <a:rPr lang="en-US" sz="1700" b="1" kern="0" spc="-80" dirty="0">
                <a:solidFill>
                  <a:schemeClr val="accent2"/>
                </a:solidFill>
                <a:latin typeface="Lucida Sans"/>
              </a:rPr>
              <a:t>2. Curated/Enriched Layer (Silver) </a:t>
            </a:r>
          </a:p>
          <a:p>
            <a:pPr>
              <a:spcAft>
                <a:spcPts val="750"/>
              </a:spcAft>
            </a:pPr>
            <a:r>
              <a:rPr lang="en-US" sz="1200" b="1" kern="0" spc="-80" dirty="0">
                <a:solidFill>
                  <a:schemeClr val="accent6"/>
                </a:solidFill>
                <a:latin typeface="Lucida Sans"/>
              </a:rPr>
              <a:t>The Curated Layer takes raw data and transforms it into a "cleansed" state. It is the foundation for most analytical work, providing a trustworthy, validated dataset. </a:t>
            </a:r>
          </a:p>
          <a:p>
            <a:pPr>
              <a:spcAft>
                <a:spcPts val="750"/>
              </a:spcAft>
            </a:pPr>
            <a:r>
              <a:rPr lang="en-US" sz="1200" b="1" kern="0" spc="-80" dirty="0">
                <a:solidFill>
                  <a:schemeClr val="accent2"/>
                </a:solidFill>
                <a:latin typeface="Lucida Sans"/>
              </a:rPr>
              <a:t>Characteristics:</a:t>
            </a:r>
          </a:p>
          <a:p>
            <a:pPr>
              <a:spcAft>
                <a:spcPts val="750"/>
              </a:spcAft>
            </a:pPr>
            <a:r>
              <a:rPr lang="en-US" sz="1200" b="1" kern="0" spc="-80" dirty="0">
                <a:solidFill>
                  <a:schemeClr val="accent2"/>
                </a:solidFill>
                <a:latin typeface="Lucida Sans"/>
              </a:rPr>
              <a:t>Data Quality: </a:t>
            </a:r>
            <a:r>
              <a:rPr lang="en-US" sz="1200" b="1" kern="0" spc="-80" dirty="0">
                <a:solidFill>
                  <a:schemeClr val="accent6"/>
                </a:solidFill>
                <a:latin typeface="Lucida Sans"/>
              </a:rPr>
              <a:t>Records are filtered, missing values are handled, and data types are enforced.</a:t>
            </a:r>
          </a:p>
          <a:p>
            <a:pPr>
              <a:spcAft>
                <a:spcPts val="750"/>
              </a:spcAft>
            </a:pPr>
            <a:r>
              <a:rPr lang="en-US" sz="1200" b="1" kern="0" spc="-80" dirty="0">
                <a:solidFill>
                  <a:schemeClr val="accent2"/>
                </a:solidFill>
                <a:latin typeface="Lucida Sans"/>
              </a:rPr>
              <a:t>Structure: </a:t>
            </a:r>
            <a:r>
              <a:rPr lang="en-US" sz="1200" b="1" kern="0" spc="-80" dirty="0">
                <a:solidFill>
                  <a:schemeClr val="accent6"/>
                </a:solidFill>
                <a:latin typeface="Lucida Sans"/>
              </a:rPr>
              <a:t>Data is typically converted into efficient columnar formats like Parquet or Delta Lake.</a:t>
            </a:r>
          </a:p>
          <a:p>
            <a:pPr>
              <a:spcAft>
                <a:spcPts val="750"/>
              </a:spcAft>
            </a:pPr>
            <a:r>
              <a:rPr lang="en-US" sz="1200" b="1" kern="0" spc="-80" dirty="0">
                <a:solidFill>
                  <a:schemeClr val="accent2"/>
                </a:solidFill>
                <a:latin typeface="Lucida Sans"/>
              </a:rPr>
              <a:t>Integration:</a:t>
            </a:r>
            <a:r>
              <a:rPr lang="en-US" sz="1200" b="1" kern="0" spc="-80" dirty="0">
                <a:solidFill>
                  <a:schemeClr val="accent6"/>
                </a:solidFill>
                <a:latin typeface="Lucida Sans"/>
              </a:rPr>
              <a:t> Joins data from different sources to create a unified view.</a:t>
            </a:r>
          </a:p>
          <a:p>
            <a:pPr>
              <a:spcAft>
                <a:spcPts val="750"/>
              </a:spcAft>
            </a:pPr>
            <a:r>
              <a:rPr lang="en-US" sz="1200" b="1" kern="0" spc="-80" dirty="0">
                <a:solidFill>
                  <a:schemeClr val="accent2"/>
                </a:solidFill>
                <a:latin typeface="Lucida Sans"/>
              </a:rPr>
              <a:t>Key Operations: </a:t>
            </a:r>
            <a:r>
              <a:rPr lang="en-US" sz="1200" b="1" kern="0" spc="-80" dirty="0">
                <a:solidFill>
                  <a:schemeClr val="accent6"/>
                </a:solidFill>
                <a:latin typeface="Lucida Sans"/>
              </a:rPr>
              <a:t>Renaming columns, casting data types (string to timestamp), removing duplicates, handling nulls. </a:t>
            </a:r>
          </a:p>
          <a:p>
            <a:pPr>
              <a:spcAft>
                <a:spcPts val="750"/>
              </a:spcAft>
            </a:pPr>
            <a:r>
              <a:rPr lang="en-US" sz="1700" b="1" kern="0" spc="-80" dirty="0">
                <a:solidFill>
                  <a:schemeClr val="accent2"/>
                </a:solidFill>
                <a:latin typeface="Lucida Sans"/>
              </a:rPr>
              <a:t>3. Consumption Layer (Gold)</a:t>
            </a:r>
          </a:p>
          <a:p>
            <a:pPr>
              <a:spcAft>
                <a:spcPts val="750"/>
              </a:spcAft>
            </a:pPr>
            <a:r>
              <a:rPr lang="en-US" sz="1200" b="1" kern="0" spc="-80" dirty="0">
                <a:solidFill>
                  <a:schemeClr val="accent6"/>
                </a:solidFill>
                <a:latin typeface="Lucida Sans"/>
              </a:rPr>
              <a:t>The Consumption Layer is designed for high-performance querying and reporting. It provides the final, business-ready data (often called "Data Products"). </a:t>
            </a:r>
          </a:p>
        </p:txBody>
      </p:sp>
    </p:spTree>
    <p:extLst>
      <p:ext uri="{BB962C8B-B14F-4D97-AF65-F5344CB8AC3E}">
        <p14:creationId xmlns:p14="http://schemas.microsoft.com/office/powerpoint/2010/main" val="1321402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4DD7-2A35-885E-B6BC-9DA0C4CA9E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119D89-8B41-9215-8DCB-A7A9DE85E73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E492D6-87F8-5331-AF04-2990165F9F5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427382C-A619-2430-0686-7C340848D723}"/>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1F1A9A9-20CF-3462-61E0-095C23CA6C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913E2D1-595D-23FB-B9D9-AFDCC75A5D7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6B28968B-9116-5F39-63B3-B5325D5F764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A5D24D8-2630-DD85-FC62-8D6B8E03F949}"/>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5603D5F8-C777-9CB9-146D-CFFE048E93EE}"/>
              </a:ext>
            </a:extLst>
          </p:cNvPr>
          <p:cNvSpPr txBox="1"/>
          <p:nvPr/>
        </p:nvSpPr>
        <p:spPr>
          <a:xfrm>
            <a:off x="-14337" y="726800"/>
            <a:ext cx="8867874" cy="1790234"/>
          </a:xfrm>
          <a:prstGeom prst="rect">
            <a:avLst/>
          </a:prstGeom>
          <a:noFill/>
        </p:spPr>
        <p:txBody>
          <a:bodyPr wrap="square">
            <a:spAutoFit/>
          </a:bodyPr>
          <a:lstStyle/>
          <a:p>
            <a:pPr>
              <a:spcAft>
                <a:spcPts val="750"/>
              </a:spcAft>
            </a:pPr>
            <a:r>
              <a:rPr lang="en-US" sz="1700" b="1" kern="0" spc="-80" dirty="0">
                <a:solidFill>
                  <a:schemeClr val="accent2"/>
                </a:solidFill>
                <a:latin typeface="Lucida Sans"/>
              </a:rPr>
              <a:t>3. Consumption Layer (Gold)</a:t>
            </a:r>
          </a:p>
          <a:p>
            <a:pPr>
              <a:spcAft>
                <a:spcPts val="750"/>
              </a:spcAft>
            </a:pPr>
            <a:r>
              <a:rPr lang="en-US" sz="1200" b="1" kern="0" spc="-80" dirty="0">
                <a:solidFill>
                  <a:schemeClr val="accent2"/>
                </a:solidFill>
                <a:latin typeface="Lucida Sans"/>
              </a:rPr>
              <a:t>Characteristics:</a:t>
            </a:r>
          </a:p>
          <a:p>
            <a:pPr>
              <a:spcAft>
                <a:spcPts val="750"/>
              </a:spcAft>
            </a:pPr>
            <a:r>
              <a:rPr lang="en-US" sz="1200" b="1" kern="0" spc="-80" dirty="0">
                <a:solidFill>
                  <a:schemeClr val="accent6"/>
                </a:solidFill>
                <a:latin typeface="Lucida Sans"/>
              </a:rPr>
              <a:t>Optimized for Read: Optimized for analytical tools (Tableau, Power BI, SQL Engines).</a:t>
            </a:r>
          </a:p>
          <a:p>
            <a:pPr>
              <a:spcAft>
                <a:spcPts val="750"/>
              </a:spcAft>
            </a:pPr>
            <a:r>
              <a:rPr lang="en-US" sz="1200" b="1" kern="0" spc="-80" dirty="0">
                <a:solidFill>
                  <a:schemeClr val="accent2"/>
                </a:solidFill>
                <a:latin typeface="Lucida Sans"/>
              </a:rPr>
              <a:t>Data Modeling: </a:t>
            </a:r>
            <a:r>
              <a:rPr lang="en-US" sz="1200" b="1" kern="0" spc="-80" dirty="0">
                <a:solidFill>
                  <a:schemeClr val="accent6"/>
                </a:solidFill>
                <a:latin typeface="Lucida Sans"/>
              </a:rPr>
              <a:t>Data is frequently transformed into star schemas or Kimball dimensional models.</a:t>
            </a:r>
          </a:p>
          <a:p>
            <a:pPr>
              <a:spcAft>
                <a:spcPts val="750"/>
              </a:spcAft>
            </a:pPr>
            <a:r>
              <a:rPr lang="en-US" sz="1200" b="1" kern="0" spc="-80" dirty="0">
                <a:solidFill>
                  <a:schemeClr val="accent2"/>
                </a:solidFill>
                <a:latin typeface="Lucida Sans"/>
              </a:rPr>
              <a:t>Business Logic:</a:t>
            </a:r>
            <a:r>
              <a:rPr lang="en-US" sz="1200" b="1" kern="0" spc="-80" dirty="0">
                <a:solidFill>
                  <a:schemeClr val="accent6"/>
                </a:solidFill>
                <a:latin typeface="Lucida Sans"/>
              </a:rPr>
              <a:t> Contains finalized, aggregated metrics, such as "Monthly Active Users" or "Daily Revenue".</a:t>
            </a:r>
          </a:p>
          <a:p>
            <a:pPr>
              <a:spcAft>
                <a:spcPts val="750"/>
              </a:spcAft>
            </a:pPr>
            <a:r>
              <a:rPr lang="en-US" sz="1200" b="1" kern="0" spc="-80" dirty="0">
                <a:solidFill>
                  <a:schemeClr val="accent2"/>
                </a:solidFill>
                <a:latin typeface="Lucida Sans"/>
              </a:rPr>
              <a:t>Key Operations: </a:t>
            </a:r>
            <a:r>
              <a:rPr lang="en-US" sz="1200" b="1" kern="0" spc="-80" dirty="0">
                <a:solidFill>
                  <a:schemeClr val="accent6"/>
                </a:solidFill>
                <a:latin typeface="Lucida Sans"/>
              </a:rPr>
              <a:t>Aggregation, joining dim/fact tables, complex business rules, row-level security. </a:t>
            </a:r>
          </a:p>
        </p:txBody>
      </p:sp>
      <p:pic>
        <p:nvPicPr>
          <p:cNvPr id="9" name="Picture 8">
            <a:extLst>
              <a:ext uri="{FF2B5EF4-FFF2-40B4-BE49-F238E27FC236}">
                <a16:creationId xmlns:a16="http://schemas.microsoft.com/office/drawing/2014/main" id="{96D57021-CFB4-0D4B-46F4-BF7FF25F5C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2516290"/>
            <a:ext cx="8853536" cy="3427310"/>
          </a:xfrm>
          <a:prstGeom prst="rect">
            <a:avLst/>
          </a:prstGeom>
        </p:spPr>
      </p:pic>
    </p:spTree>
    <p:extLst>
      <p:ext uri="{BB962C8B-B14F-4D97-AF65-F5344CB8AC3E}">
        <p14:creationId xmlns:p14="http://schemas.microsoft.com/office/powerpoint/2010/main" val="4169298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55A7-A751-95D7-35D6-4B64FDD1B1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9D4D809-244C-26EE-7CA3-AABC8C2A024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E4E7CB-7DE6-D46B-73C3-8E690E23E7A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D3E8093-1815-451F-E434-E1B7492D7BA9}"/>
              </a:ext>
            </a:extLst>
          </p:cNvPr>
          <p:cNvGraphicFramePr/>
          <p:nvPr/>
        </p:nvGraphicFramePr>
        <p:xfrm>
          <a:off x="0" y="34425"/>
          <a:ext cx="8624937"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5518824-F37A-50FC-ECE5-C2C0E45718C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594EBFF-6B26-1DED-2B72-6B7C83A2DEE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A95B2B79-0849-5CF8-9B20-9DF8F172F11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2BD48E2-A3C6-C273-498F-E4E250984FF8}"/>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10" name="TextBox 9">
            <a:extLst>
              <a:ext uri="{FF2B5EF4-FFF2-40B4-BE49-F238E27FC236}">
                <a16:creationId xmlns:a16="http://schemas.microsoft.com/office/drawing/2014/main" id="{74373BEA-C01F-4879-3BE8-0610EF5090A3}"/>
              </a:ext>
            </a:extLst>
          </p:cNvPr>
          <p:cNvSpPr txBox="1"/>
          <p:nvPr/>
        </p:nvSpPr>
        <p:spPr>
          <a:xfrm>
            <a:off x="-14337" y="726800"/>
            <a:ext cx="8867874" cy="5021888"/>
          </a:xfrm>
          <a:prstGeom prst="rect">
            <a:avLst/>
          </a:prstGeom>
          <a:noFill/>
        </p:spPr>
        <p:txBody>
          <a:bodyPr wrap="square">
            <a:spAutoFit/>
          </a:bodyPr>
          <a:lstStyle/>
          <a:p>
            <a:pPr>
              <a:spcAft>
                <a:spcPts val="750"/>
              </a:spcAft>
            </a:pPr>
            <a:r>
              <a:rPr lang="en-US" sz="1700" b="1" kern="0" spc="-80" dirty="0">
                <a:solidFill>
                  <a:schemeClr val="accent2"/>
                </a:solidFill>
                <a:latin typeface="Lucida Sans"/>
              </a:rPr>
              <a:t>Key Takeaways for Data Engineering</a:t>
            </a:r>
          </a:p>
          <a:p>
            <a:pPr>
              <a:spcAft>
                <a:spcPts val="750"/>
              </a:spcAft>
            </a:pPr>
            <a:r>
              <a:rPr lang="en-US" sz="1200" b="1" kern="0" spc="-80" dirty="0">
                <a:solidFill>
                  <a:schemeClr val="accent2"/>
                </a:solidFill>
                <a:latin typeface="Lucida Sans"/>
              </a:rPr>
              <a:t>The "Reprocessing" Safety Net: </a:t>
            </a:r>
            <a:r>
              <a:rPr lang="en-US" sz="1200" b="1" kern="0" spc="-80" dirty="0">
                <a:solidFill>
                  <a:schemeClr val="accent6"/>
                </a:solidFill>
                <a:latin typeface="Lucida Sans"/>
              </a:rPr>
              <a:t>Because the Raw layer is preserved, you can always re-run the Raw -&gt; Silver pipeline if a logic error is discovered in the Silver -&gt; Gold transformation.</a:t>
            </a:r>
          </a:p>
          <a:p>
            <a:pPr>
              <a:spcAft>
                <a:spcPts val="750"/>
              </a:spcAft>
            </a:pPr>
            <a:r>
              <a:rPr lang="en-US" sz="1200" b="1" kern="0" spc="-80" dirty="0">
                <a:solidFill>
                  <a:schemeClr val="accent2"/>
                </a:solidFill>
                <a:latin typeface="Lucida Sans"/>
              </a:rPr>
              <a:t>Schema Enforcement: </a:t>
            </a:r>
            <a:r>
              <a:rPr lang="en-US" sz="1200" b="1" kern="0" spc="-80" dirty="0">
                <a:solidFill>
                  <a:schemeClr val="accent6"/>
                </a:solidFill>
                <a:latin typeface="Lucida Sans"/>
              </a:rPr>
              <a:t>Schema is generally enforced only when moving from Raw to Silver, not upon ingestion into Raw, allowing for flexible ingestion.</a:t>
            </a:r>
          </a:p>
          <a:p>
            <a:pPr>
              <a:spcAft>
                <a:spcPts val="750"/>
              </a:spcAft>
            </a:pPr>
            <a:r>
              <a:rPr lang="en-US" sz="1200" b="1" kern="0" spc="-80" dirty="0">
                <a:solidFill>
                  <a:schemeClr val="accent2"/>
                </a:solidFill>
                <a:latin typeface="Lucida Sans"/>
              </a:rPr>
              <a:t>Performance vs. Flexibility: </a:t>
            </a:r>
            <a:r>
              <a:rPr lang="en-US" sz="1200" b="1" kern="0" spc="-80" dirty="0">
                <a:solidFill>
                  <a:schemeClr val="accent6"/>
                </a:solidFill>
                <a:latin typeface="Lucida Sans"/>
              </a:rPr>
              <a:t>Raw provides high ingestion speed but poor query performance. Gold provides high query performance but lower flexibility. </a:t>
            </a:r>
          </a:p>
          <a:p>
            <a:pPr>
              <a:spcAft>
                <a:spcPts val="750"/>
              </a:spcAft>
            </a:pPr>
            <a:endParaRPr lang="en-US" sz="1200" b="1" kern="0" spc="-80" dirty="0">
              <a:solidFill>
                <a:schemeClr val="accent6"/>
              </a:solidFill>
              <a:latin typeface="Lucida Sans"/>
            </a:endParaRPr>
          </a:p>
          <a:p>
            <a:pPr>
              <a:spcAft>
                <a:spcPts val="750"/>
              </a:spcAft>
            </a:pPr>
            <a:r>
              <a:rPr lang="en-US" sz="1700" b="1" kern="0" spc="-80" dirty="0">
                <a:solidFill>
                  <a:schemeClr val="accent2"/>
                </a:solidFill>
                <a:latin typeface="Lucida Sans"/>
              </a:rPr>
              <a:t>For Further Exploration</a:t>
            </a:r>
          </a:p>
          <a:p>
            <a:pPr>
              <a:spcAft>
                <a:spcPts val="750"/>
              </a:spcAft>
            </a:pPr>
            <a:r>
              <a:rPr lang="en-US" sz="1600" dirty="0">
                <a:hlinkClick r:id="rId7"/>
              </a:rPr>
              <a:t>What's Wrong with the Medallion Architecture? - YouTube</a:t>
            </a:r>
            <a:endParaRPr lang="en-US" sz="1700" b="1" kern="0" spc="-80" dirty="0">
              <a:solidFill>
                <a:schemeClr val="accent2"/>
              </a:solidFill>
              <a:latin typeface="Lucida Sans"/>
            </a:endParaRPr>
          </a:p>
          <a:p>
            <a:pPr>
              <a:spcAft>
                <a:spcPts val="750"/>
              </a:spcAft>
            </a:pPr>
            <a:r>
              <a:rPr lang="en-US" sz="1600" dirty="0">
                <a:hlinkClick r:id="rId8"/>
              </a:rPr>
              <a:t>Implement Medallion Lakehouse Architecture in Fabric - Microsoft Fabric | Microsoft Learn</a:t>
            </a:r>
            <a:endParaRPr lang="en-US" sz="1600" dirty="0"/>
          </a:p>
          <a:p>
            <a:pPr>
              <a:spcAft>
                <a:spcPts val="750"/>
              </a:spcAft>
            </a:pPr>
            <a:r>
              <a:rPr lang="en-US" sz="1600" dirty="0">
                <a:hlinkClick r:id="rId9"/>
              </a:rPr>
              <a:t>Building and Automating Hudi Medallion Architecture with AWS Glue Workflow Hands on Labs </a:t>
            </a:r>
            <a:r>
              <a:rPr lang="en-US" sz="1600" dirty="0" err="1">
                <a:hlinkClick r:id="rId9"/>
              </a:rPr>
              <a:t>StepbyStep</a:t>
            </a:r>
            <a:endParaRPr lang="en-US" sz="1600" dirty="0"/>
          </a:p>
          <a:p>
            <a:pPr>
              <a:spcAft>
                <a:spcPts val="750"/>
              </a:spcAft>
            </a:pPr>
            <a:r>
              <a:rPr lang="en-IN" sz="1600" dirty="0">
                <a:hlinkClick r:id="rId10"/>
              </a:rPr>
              <a:t>Striking Gold: Mastering Medallion Architecture for Bronze, Silver, and Gold Tiers | by RK Iyer | Microsoft Azure | Medium</a:t>
            </a:r>
            <a:endParaRPr lang="en-IN" sz="1600" dirty="0"/>
          </a:p>
          <a:p>
            <a:pPr>
              <a:spcAft>
                <a:spcPts val="750"/>
              </a:spcAft>
            </a:pPr>
            <a:r>
              <a:rPr lang="en-IN" sz="1600" dirty="0">
                <a:hlinkClick r:id="rId11"/>
              </a:rPr>
              <a:t>Practical Data </a:t>
            </a:r>
            <a:r>
              <a:rPr lang="en-IN" sz="1600" dirty="0" err="1">
                <a:hlinkClick r:id="rId11"/>
              </a:rPr>
              <a:t>Modeling</a:t>
            </a:r>
            <a:r>
              <a:rPr lang="en-IN" sz="1600" dirty="0">
                <a:hlinkClick r:id="rId11"/>
              </a:rPr>
              <a:t>: Medallion Architecture via Free Databricks Edition | by Nikhil Doye | Medium</a:t>
            </a:r>
            <a:endParaRPr lang="en-IN" sz="1600" dirty="0"/>
          </a:p>
          <a:p>
            <a:pPr>
              <a:spcAft>
                <a:spcPts val="750"/>
              </a:spcAft>
            </a:pPr>
            <a:r>
              <a:rPr lang="en-US" sz="1600" dirty="0">
                <a:hlinkClick r:id="rId12"/>
              </a:rPr>
              <a:t>A No-Nonsense Guide to Medallion Architecture | by Akshay Sharma | Medium</a:t>
            </a:r>
            <a:endParaRPr lang="en-US" sz="1700" b="1" kern="0" spc="-80" dirty="0">
              <a:solidFill>
                <a:schemeClr val="accent2"/>
              </a:solidFill>
              <a:latin typeface="Lucida Sans"/>
            </a:endParaRPr>
          </a:p>
        </p:txBody>
      </p:sp>
    </p:spTree>
    <p:extLst>
      <p:ext uri="{BB962C8B-B14F-4D97-AF65-F5344CB8AC3E}">
        <p14:creationId xmlns:p14="http://schemas.microsoft.com/office/powerpoint/2010/main" val="2128411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D308-8364-9B5D-7B78-E78D496EDE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53EF4E-FA72-C6EB-5894-7A1D339455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33982D-F3CB-6F0E-DE7F-51A9A5BC3B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4D972B1-8617-ADB8-8F05-433BC64E986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31B4A5F-6E37-9585-50F1-01E14153827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448B891-35FC-4385-97EF-503AD638224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DD17E23-1634-BBA9-E658-EEE41FE722E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66F8F0E1-D6E5-3541-02CB-49329686F65C}"/>
              </a:ext>
            </a:extLst>
          </p:cNvPr>
          <p:cNvGraphicFramePr/>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D42F9F76-CF3F-8375-5FC4-7B3395FCE638}"/>
              </a:ext>
            </a:extLst>
          </p:cNvPr>
          <p:cNvSpPr txBox="1">
            <a:spLocks/>
          </p:cNvSpPr>
          <p:nvPr/>
        </p:nvSpPr>
        <p:spPr>
          <a:xfrm>
            <a:off x="138063" y="762000"/>
            <a:ext cx="8624937" cy="5770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6"/>
                </a:solidFill>
              </a:rPr>
              <a:t>The core difference between Schema-on-Write and Schema-on-Read lies in when the data is structured: before or after storage. Schema-on-Write prioritizes data consistency and fast querying, while Schema-on-Read offers flexibility and rapid data ingestion, especially for unstructured data</a:t>
            </a:r>
          </a:p>
        </p:txBody>
      </p:sp>
      <p:pic>
        <p:nvPicPr>
          <p:cNvPr id="13" name="Picture 12">
            <a:extLst>
              <a:ext uri="{FF2B5EF4-FFF2-40B4-BE49-F238E27FC236}">
                <a16:creationId xmlns:a16="http://schemas.microsoft.com/office/drawing/2014/main" id="{B8BB114C-78F7-D40F-D66E-420065D128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39081"/>
            <a:ext cx="8610600" cy="2739974"/>
          </a:xfrm>
          <a:prstGeom prst="rect">
            <a:avLst/>
          </a:prstGeom>
        </p:spPr>
      </p:pic>
      <p:pic>
        <p:nvPicPr>
          <p:cNvPr id="15" name="Picture 14">
            <a:extLst>
              <a:ext uri="{FF2B5EF4-FFF2-40B4-BE49-F238E27FC236}">
                <a16:creationId xmlns:a16="http://schemas.microsoft.com/office/drawing/2014/main" id="{0B1A7F75-98AD-6F53-0834-17EDDB9920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4111574"/>
            <a:ext cx="8915398" cy="1222426"/>
          </a:xfrm>
          <a:prstGeom prst="rect">
            <a:avLst/>
          </a:prstGeom>
        </p:spPr>
      </p:pic>
      <p:sp>
        <p:nvSpPr>
          <p:cNvPr id="16" name="object 2">
            <a:extLst>
              <a:ext uri="{FF2B5EF4-FFF2-40B4-BE49-F238E27FC236}">
                <a16:creationId xmlns:a16="http://schemas.microsoft.com/office/drawing/2014/main" id="{793D210B-7512-02E3-0CD0-C5C230A8563B}"/>
              </a:ext>
            </a:extLst>
          </p:cNvPr>
          <p:cNvSpPr txBox="1">
            <a:spLocks/>
          </p:cNvSpPr>
          <p:nvPr/>
        </p:nvSpPr>
        <p:spPr>
          <a:xfrm>
            <a:off x="138063" y="5366519"/>
            <a:ext cx="8624937" cy="5770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6"/>
                </a:solidFill>
              </a:rPr>
              <a:t>Many modern data architectures, such as the data </a:t>
            </a:r>
            <a:r>
              <a:rPr lang="en-US" sz="1250" kern="0" spc="-80" dirty="0" err="1">
                <a:solidFill>
                  <a:schemeClr val="accent6"/>
                </a:solidFill>
              </a:rPr>
              <a:t>lakehouse</a:t>
            </a:r>
            <a:r>
              <a:rPr lang="en-US" sz="1250" kern="0" spc="-80" dirty="0">
                <a:solidFill>
                  <a:schemeClr val="accent6"/>
                </a:solidFill>
              </a:rPr>
              <a:t>, use a hybrid approach, leveraging the flexibility of schema-on-read for raw data ingestion and the query efficiency of schema-on-write for structured, processed data. The best approach depends on specific business needs, data characteristics, and required performance. </a:t>
            </a:r>
          </a:p>
        </p:txBody>
      </p:sp>
    </p:spTree>
    <p:extLst>
      <p:ext uri="{BB962C8B-B14F-4D97-AF65-F5344CB8AC3E}">
        <p14:creationId xmlns:p14="http://schemas.microsoft.com/office/powerpoint/2010/main" val="2221749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DF456-499F-CDB9-1A5A-E73B096949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D51D56-B8B5-82AE-4D93-26363812F4E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AA302CA-E237-49D1-919A-F1927B2C05A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EFC3FE4-87B4-0BA7-6203-46AB0D6F4916}"/>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E8B0F68-6656-8D9C-0943-6B77C463B14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7E1A5C2-C4AA-C181-6FBD-0BDF1D442F3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39CAA114-59AA-E7D9-F48D-9C714C36260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854000D-3612-BD56-4FB1-9F015838DC58}"/>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pic>
        <p:nvPicPr>
          <p:cNvPr id="3" name="Picture 2">
            <a:extLst>
              <a:ext uri="{FF2B5EF4-FFF2-40B4-BE49-F238E27FC236}">
                <a16:creationId xmlns:a16="http://schemas.microsoft.com/office/drawing/2014/main" id="{83FC7344-E329-9C9A-E791-4F69459A49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729991"/>
            <a:ext cx="9144000" cy="448252"/>
          </a:xfrm>
          <a:prstGeom prst="rect">
            <a:avLst/>
          </a:prstGeom>
        </p:spPr>
      </p:pic>
      <p:pic>
        <p:nvPicPr>
          <p:cNvPr id="11" name="Picture 10">
            <a:extLst>
              <a:ext uri="{FF2B5EF4-FFF2-40B4-BE49-F238E27FC236}">
                <a16:creationId xmlns:a16="http://schemas.microsoft.com/office/drawing/2014/main" id="{A37918F1-88E1-673D-AC5B-08A069F32C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63" y="1178243"/>
            <a:ext cx="8853537" cy="4612957"/>
          </a:xfrm>
          <a:prstGeom prst="rect">
            <a:avLst/>
          </a:prstGeom>
        </p:spPr>
      </p:pic>
    </p:spTree>
    <p:extLst>
      <p:ext uri="{BB962C8B-B14F-4D97-AF65-F5344CB8AC3E}">
        <p14:creationId xmlns:p14="http://schemas.microsoft.com/office/powerpoint/2010/main" val="2179084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F728E-391D-E9B7-F424-D50599F0D8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1B1DB3C-BE31-9363-0035-B3CE18D78A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A63F98D-E579-D71D-488D-C084D39B5FB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1271FD-26C2-E3A6-B858-77E58432074F}"/>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07F474-593C-2AC5-095F-6F856A82383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E1B86DB-9012-CB2C-458E-8F5EB9A2046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24CEB29D-C341-2AC0-3704-76DD7ABFDF5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6042A0D-7BD6-0431-5413-9D5C8EA63B0C}"/>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pic>
        <p:nvPicPr>
          <p:cNvPr id="13" name="Picture 12">
            <a:extLst>
              <a:ext uri="{FF2B5EF4-FFF2-40B4-BE49-F238E27FC236}">
                <a16:creationId xmlns:a16="http://schemas.microsoft.com/office/drawing/2014/main" id="{13BC5E7D-012C-6B1C-88B3-FCAFBB0816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729991"/>
            <a:ext cx="9144000" cy="448252"/>
          </a:xfrm>
          <a:prstGeom prst="rect">
            <a:avLst/>
          </a:prstGeom>
        </p:spPr>
      </p:pic>
      <p:pic>
        <p:nvPicPr>
          <p:cNvPr id="15" name="Picture 14">
            <a:extLst>
              <a:ext uri="{FF2B5EF4-FFF2-40B4-BE49-F238E27FC236}">
                <a16:creationId xmlns:a16="http://schemas.microsoft.com/office/drawing/2014/main" id="{B1D653F4-AB0F-F0CF-8D4D-DD09F076C5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64" y="1180863"/>
            <a:ext cx="9005936" cy="4728312"/>
          </a:xfrm>
          <a:prstGeom prst="rect">
            <a:avLst/>
          </a:prstGeom>
        </p:spPr>
      </p:pic>
    </p:spTree>
    <p:extLst>
      <p:ext uri="{BB962C8B-B14F-4D97-AF65-F5344CB8AC3E}">
        <p14:creationId xmlns:p14="http://schemas.microsoft.com/office/powerpoint/2010/main" val="259634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3129D-D0D2-55D7-E152-2DFB875C83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24F5983-4480-6C29-A78B-39DD7ACD921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29E591-CFAD-A9DB-146B-A03ED4D10E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6C0231B-078A-B7D2-3D7E-2806501D139E}"/>
              </a:ext>
            </a:extLst>
          </p:cNvPr>
          <p:cNvGraphicFramePr/>
          <p:nvPr/>
        </p:nvGraphicFramePr>
        <p:xfrm>
          <a:off x="0" y="34425"/>
          <a:ext cx="89916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E09DEE9-3091-D8D3-524F-FE3A88F52D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27D2647-DB33-82BA-E99C-FD81EC558D3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AutoShape 2" descr="SQL vs NoSQL vs NewSQL. Adapting to the changing requirements… | by Gangani  Chamika | Medium">
            <a:extLst>
              <a:ext uri="{FF2B5EF4-FFF2-40B4-BE49-F238E27FC236}">
                <a16:creationId xmlns:a16="http://schemas.microsoft.com/office/drawing/2014/main" id="{08C1F4C6-2842-261D-6C1B-5AEFDA3848E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55C4C63-3A77-2F9D-9BA8-4DFA7B4C9426}"/>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E207948-1953-50AB-EBBA-74963C89FE15}"/>
              </a:ext>
            </a:extLst>
          </p:cNvPr>
          <p:cNvSpPr txBox="1">
            <a:spLocks/>
          </p:cNvSpPr>
          <p:nvPr/>
        </p:nvSpPr>
        <p:spPr>
          <a:xfrm>
            <a:off x="76200" y="762000"/>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Breakdown of Key "Vs"</a:t>
            </a:r>
          </a:p>
          <a:p>
            <a:pPr marL="12700" marR="5080"/>
            <a:r>
              <a:rPr lang="en-US" sz="1300" kern="0" spc="-80" dirty="0">
                <a:solidFill>
                  <a:schemeClr val="accent2"/>
                </a:solidFill>
              </a:rPr>
              <a:t>Volume &amp; Velocity:</a:t>
            </a:r>
            <a:r>
              <a:rPr lang="en-US" sz="1300" kern="0" spc="-80" dirty="0">
                <a:solidFill>
                  <a:schemeClr val="accent6"/>
                </a:solidFill>
              </a:rPr>
              <a:t> These demand specialized, distributed, and scalable storage (e.g., Hadoop HDFS, Cloud Data Lakes) and real-time processing engines (e.g., Apache Spark) to handle high-growth data rates.</a:t>
            </a:r>
          </a:p>
          <a:p>
            <a:pPr marL="12700" marR="5080"/>
            <a:r>
              <a:rPr lang="en-US" sz="1300" kern="0" spc="-80" dirty="0">
                <a:solidFill>
                  <a:schemeClr val="accent2"/>
                </a:solidFill>
              </a:rPr>
              <a:t>Variety &amp; Variability: </a:t>
            </a:r>
            <a:r>
              <a:rPr lang="en-US" sz="1300" kern="0" spc="-80" dirty="0">
                <a:solidFill>
                  <a:schemeClr val="accent6"/>
                </a:solidFill>
              </a:rPr>
              <a:t>These require sophisticated data engineering and ETL (Extract, Transform, Load) pipelines to integrate diverse, messy data types (unstructured) and handle inconsistent, unpredictable data inputs.</a:t>
            </a:r>
          </a:p>
          <a:p>
            <a:pPr marL="12700" marR="5080"/>
            <a:r>
              <a:rPr lang="en-US" sz="1300" kern="0" spc="-80" dirty="0">
                <a:solidFill>
                  <a:schemeClr val="accent2"/>
                </a:solidFill>
              </a:rPr>
              <a:t>Veracity, Validity, &amp; Value: </a:t>
            </a:r>
            <a:r>
              <a:rPr lang="en-US" sz="1300" kern="0" spc="-80" dirty="0">
                <a:solidFill>
                  <a:schemeClr val="accent6"/>
                </a:solidFill>
              </a:rPr>
              <a:t>These are critical for data governance. High-quality (veracity) and correctly applied (validity) data is mandatory to achieve actionable insights (value).</a:t>
            </a:r>
          </a:p>
          <a:p>
            <a:pPr marL="12700" marR="5080"/>
            <a:r>
              <a:rPr lang="en-US" sz="1300" kern="0" spc="-80" dirty="0">
                <a:solidFill>
                  <a:schemeClr val="accent2"/>
                </a:solidFill>
              </a:rPr>
              <a:t>Visualization &amp; Vulnerability: </a:t>
            </a:r>
            <a:r>
              <a:rPr lang="en-US" sz="1300" kern="0" spc="-80" dirty="0">
                <a:solidFill>
                  <a:schemeClr val="accent6"/>
                </a:solidFill>
              </a:rPr>
              <a:t>These address the, "So what?" and, "Is it safe?" aspect of data, respectively—ensuring data is not only analyzed but also effectively communicated and secured. </a:t>
            </a:r>
          </a:p>
          <a:p>
            <a:pPr marL="12700" marR="5080"/>
            <a:endParaRPr lang="en-US" sz="1300" kern="0" spc="-80" dirty="0">
              <a:solidFill>
                <a:schemeClr val="accent6"/>
              </a:solidFill>
            </a:endParaRPr>
          </a:p>
          <a:p>
            <a:pPr marL="12700" marR="5080"/>
            <a:r>
              <a:rPr lang="en-US" sz="1300" kern="0" spc="-80" dirty="0">
                <a:solidFill>
                  <a:schemeClr val="accent2"/>
                </a:solidFill>
              </a:rPr>
              <a:t>Other Potential Vs (Emerging)</a:t>
            </a:r>
          </a:p>
          <a:p>
            <a:pPr marL="12700" marR="5080"/>
            <a:r>
              <a:rPr lang="en-US" sz="1300" kern="0" spc="-80" dirty="0">
                <a:solidFill>
                  <a:schemeClr val="accent2"/>
                </a:solidFill>
              </a:rPr>
              <a:t>Viscosity:</a:t>
            </a:r>
            <a:r>
              <a:rPr lang="en-US" sz="1300" kern="0" spc="-80" dirty="0">
                <a:solidFill>
                  <a:schemeClr val="accent6"/>
                </a:solidFill>
              </a:rPr>
              <a:t> Measures the resistance to flow in the data, indicating how difficult it is to link, match, and transform data from different sources.</a:t>
            </a:r>
          </a:p>
          <a:p>
            <a:pPr marL="12700" marR="5080"/>
            <a:r>
              <a:rPr lang="en-US" sz="1300" kern="0" spc="-80" dirty="0">
                <a:solidFill>
                  <a:schemeClr val="accent2"/>
                </a:solidFill>
              </a:rPr>
              <a:t>Virality: </a:t>
            </a:r>
            <a:r>
              <a:rPr lang="en-US" sz="1300" kern="0" spc="-80" dirty="0">
                <a:solidFill>
                  <a:schemeClr val="accent6"/>
                </a:solidFill>
              </a:rPr>
              <a:t>The speed at which data spreads, particularly common in social media analytics.</a:t>
            </a:r>
          </a:p>
          <a:p>
            <a:pPr marL="12700" marR="5080"/>
            <a:r>
              <a:rPr lang="en-US" sz="1300" kern="0" spc="-80" dirty="0">
                <a:solidFill>
                  <a:schemeClr val="accent2"/>
                </a:solidFill>
              </a:rPr>
              <a:t>Venue: </a:t>
            </a:r>
            <a:r>
              <a:rPr lang="en-US" sz="1300" kern="0" spc="-80" dirty="0">
                <a:solidFill>
                  <a:schemeClr val="accent6"/>
                </a:solidFill>
              </a:rPr>
              <a:t>Defines the specific data source and its location (e.g., cloud, local server, specific application).</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r>
              <a:rPr lang="en-US" sz="1400" kern="0" spc="-80" dirty="0">
                <a:solidFill>
                  <a:schemeClr val="accent2"/>
                </a:solidFill>
              </a:rPr>
              <a:t>For Further Exploration – </a:t>
            </a:r>
          </a:p>
          <a:p>
            <a:pPr marL="12700" marR="5080"/>
            <a:r>
              <a:rPr lang="en-US" sz="1400" dirty="0">
                <a:hlinkClick r:id="rId7"/>
              </a:rPr>
              <a:t>Fifty-Six Big Data V’s Characteristics and Proposed Strategies to Overcome Security and Privacy</a:t>
            </a:r>
            <a:endParaRPr lang="en-US" sz="14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4131513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BF156-74FD-655D-9382-AF1EAB6E69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94E0CB-C411-A5EA-9F6D-98C490533A0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208E4B-12D6-3F9E-0161-3C524C75C5B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8A990F8-AD55-F74A-88A3-68A27254CEEB}"/>
              </a:ext>
            </a:extLst>
          </p:cNvPr>
          <p:cNvGraphicFramePr/>
          <p:nvPr>
            <p:extLst>
              <p:ext uri="{D42A27DB-BD31-4B8C-83A1-F6EECF244321}">
                <p14:modId xmlns:p14="http://schemas.microsoft.com/office/powerpoint/2010/main" val="3791880962"/>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21F8BC0-061D-42D2-8A6B-C773EA638524}"/>
              </a:ext>
            </a:extLst>
          </p:cNvPr>
          <p:cNvSpPr txBox="1">
            <a:spLocks/>
          </p:cNvSpPr>
          <p:nvPr/>
        </p:nvSpPr>
        <p:spPr>
          <a:xfrm>
            <a:off x="762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Distributed Data Pipeline</a:t>
            </a:r>
          </a:p>
          <a:p>
            <a:pPr marL="12700" marR="5080"/>
            <a:r>
              <a:rPr lang="en-US" sz="1300" kern="0" spc="-80" dirty="0">
                <a:solidFill>
                  <a:schemeClr val="accent2"/>
                </a:solidFill>
              </a:rPr>
              <a:t>Legend</a:t>
            </a:r>
          </a:p>
          <a:p>
            <a:pPr marL="12700" marR="5080"/>
            <a:r>
              <a:rPr lang="en-US" sz="1300" kern="0" spc="-80" dirty="0">
                <a:solidFill>
                  <a:schemeClr val="accent6"/>
                </a:solidFill>
              </a:rPr>
              <a:t>DP = Data Plane</a:t>
            </a:r>
          </a:p>
          <a:p>
            <a:pPr marL="12700" marR="5080"/>
            <a:r>
              <a:rPr lang="en-US" sz="1300" kern="0" spc="-80" dirty="0">
                <a:solidFill>
                  <a:schemeClr val="accent6"/>
                </a:solidFill>
              </a:rPr>
              <a:t>CP = Control Plane</a:t>
            </a:r>
          </a:p>
          <a:p>
            <a:pPr marL="12700" marR="5080"/>
            <a:r>
              <a:rPr lang="en-US" sz="1300" kern="0" spc="-80" dirty="0">
                <a:solidFill>
                  <a:schemeClr val="accent6"/>
                </a:solidFill>
              </a:rPr>
              <a:t>RT = Real-time / Streaming</a:t>
            </a:r>
          </a:p>
          <a:p>
            <a:pPr marL="12700" marR="5080"/>
            <a:r>
              <a:rPr lang="en-US" sz="1300" kern="0" spc="-80" dirty="0">
                <a:solidFill>
                  <a:schemeClr val="accent6"/>
                </a:solidFill>
              </a:rPr>
              <a:t>BT = Batch</a:t>
            </a:r>
          </a:p>
          <a:p>
            <a:pPr marL="12700" marR="5080"/>
            <a:endParaRPr lang="en-US" sz="1300" kern="0" spc="-80" dirty="0">
              <a:solidFill>
                <a:schemeClr val="accent6"/>
              </a:solidFill>
            </a:endParaRPr>
          </a:p>
          <a:p>
            <a:pPr marL="12700" marR="5080"/>
            <a:r>
              <a:rPr lang="en-US" sz="1300" kern="0" spc="-80" dirty="0">
                <a:solidFill>
                  <a:schemeClr val="accent2"/>
                </a:solidFill>
              </a:rPr>
              <a:t>1️⃣ Source &amp; Signal Generation</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Data Creation	     DP	      Raw data produced at origin	  IoT sensors, DB rows, logs</a:t>
            </a:r>
          </a:p>
          <a:p>
            <a:pPr marL="12700" marR="5080"/>
            <a:r>
              <a:rPr lang="en-US" sz="1300" kern="0" spc="-80" dirty="0">
                <a:solidFill>
                  <a:schemeClr val="accent6"/>
                </a:solidFill>
              </a:rPr>
              <a:t>Change Capture	     DP	      Detect changes efficiently	  CDC, </a:t>
            </a:r>
            <a:r>
              <a:rPr lang="en-US" sz="1300" kern="0" spc="-80" dirty="0" err="1">
                <a:solidFill>
                  <a:schemeClr val="accent6"/>
                </a:solidFill>
              </a:rPr>
              <a:t>Debezium</a:t>
            </a:r>
            <a:r>
              <a:rPr lang="en-US" sz="1300" kern="0" spc="-80" dirty="0">
                <a:solidFill>
                  <a:schemeClr val="accent6"/>
                </a:solidFill>
              </a:rPr>
              <a:t>, SQL Log Reader</a:t>
            </a:r>
          </a:p>
          <a:p>
            <a:pPr marL="12700" marR="5080"/>
            <a:r>
              <a:rPr lang="en-US" sz="1300" kern="0" spc="-80" dirty="0">
                <a:solidFill>
                  <a:schemeClr val="accent6"/>
                </a:solidFill>
              </a:rPr>
              <a:t>Event Emission	     DP	      Convert state → events	  Domain events, audit events</a:t>
            </a:r>
          </a:p>
          <a:p>
            <a:pPr marL="12700" marR="5080"/>
            <a:r>
              <a:rPr lang="en-US" sz="1300" kern="0" spc="-80" dirty="0">
                <a:solidFill>
                  <a:schemeClr val="accent6"/>
                </a:solidFill>
              </a:rPr>
              <a:t>Timestamp Assignment	     DP	      Event-time vs processing-time	  Device clock vs ingestion clock</a:t>
            </a:r>
          </a:p>
          <a:p>
            <a:pPr marL="12700" marR="5080"/>
            <a:r>
              <a:rPr lang="en-US" sz="1300" kern="0" spc="-80" dirty="0">
                <a:solidFill>
                  <a:schemeClr val="accent6"/>
                </a:solidFill>
              </a:rPr>
              <a:t>Metadata Enrichment	     DP	      Attach source metadata	  Source ID, region, schema version</a:t>
            </a:r>
          </a:p>
          <a:p>
            <a:pPr marL="12700" marR="5080"/>
            <a:r>
              <a:rPr lang="en-US" sz="1300" kern="0" spc="-80" dirty="0">
                <a:solidFill>
                  <a:schemeClr val="accent6"/>
                </a:solidFill>
              </a:rPr>
              <a:t>Compression	     DP	      Reduce payload size	                        </a:t>
            </a:r>
            <a:r>
              <a:rPr lang="en-US" sz="1300" kern="0" spc="-80" dirty="0" err="1">
                <a:solidFill>
                  <a:schemeClr val="accent6"/>
                </a:solidFill>
              </a:rPr>
              <a:t>Gzip</a:t>
            </a:r>
            <a:r>
              <a:rPr lang="en-US" sz="1300" kern="0" spc="-80" dirty="0">
                <a:solidFill>
                  <a:schemeClr val="accent6"/>
                </a:solidFill>
              </a:rPr>
              <a:t>, Snappy, LZ4</a:t>
            </a:r>
          </a:p>
          <a:p>
            <a:pPr marL="12700" marR="5080"/>
            <a:r>
              <a:rPr lang="en-US" sz="1300" kern="0" spc="-80" dirty="0">
                <a:solidFill>
                  <a:schemeClr val="accent6"/>
                </a:solidFill>
              </a:rPr>
              <a:t>Encryption	                           DP	      Secure data at rest/in flight	  TLS, envelope encryption</a:t>
            </a:r>
          </a:p>
          <a:p>
            <a:pPr marL="12700" marR="5080"/>
            <a:endParaRPr lang="en-US" sz="1300" kern="0" spc="-80" dirty="0">
              <a:solidFill>
                <a:schemeClr val="accent6"/>
              </a:solidFill>
            </a:endParaRPr>
          </a:p>
          <a:p>
            <a:pPr marL="12700" marR="5080"/>
            <a:r>
              <a:rPr lang="en-US" sz="1300" kern="0" spc="-80" dirty="0">
                <a:solidFill>
                  <a:schemeClr val="accent2"/>
                </a:solidFill>
              </a:rPr>
              <a:t>2️⃣ Ingestion Layer (Multi-Protocol)</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Protocol Normalization	    DP	      Accept heterogeneous protocols	  HTTP, MQTT, AMQP, </a:t>
            </a:r>
            <a:r>
              <a:rPr lang="en-US" sz="1300" kern="0" spc="-80" dirty="0" err="1">
                <a:solidFill>
                  <a:schemeClr val="accent6"/>
                </a:solidFill>
              </a:rPr>
              <a:t>gRPC</a:t>
            </a:r>
            <a:endParaRPr lang="en-US" sz="1300" kern="0" spc="-80" dirty="0">
              <a:solidFill>
                <a:schemeClr val="accent6"/>
              </a:solidFill>
            </a:endParaRPr>
          </a:p>
          <a:p>
            <a:pPr marL="12700" marR="5080"/>
            <a:r>
              <a:rPr lang="en-US" sz="1300" kern="0" spc="-80" dirty="0">
                <a:solidFill>
                  <a:schemeClr val="accent6"/>
                </a:solidFill>
              </a:rPr>
              <a:t>API Gateway	    CP	      Rate limit, auth, routing	  Kong, Azure APIM</a:t>
            </a:r>
          </a:p>
          <a:p>
            <a:pPr marL="12700" marR="5080"/>
            <a:r>
              <a:rPr lang="en-US" sz="1300" kern="0" spc="-80" dirty="0">
                <a:solidFill>
                  <a:schemeClr val="accent6"/>
                </a:solidFill>
              </a:rPr>
              <a:t>Buffering	                          DP	      Absorb bursts	                        Kafka, Event Hubs</a:t>
            </a:r>
          </a:p>
          <a:p>
            <a:pPr marL="12700" marR="5080"/>
            <a:r>
              <a:rPr lang="en-US" sz="1300" kern="0" spc="-80" dirty="0">
                <a:solidFill>
                  <a:schemeClr val="accent6"/>
                </a:solidFill>
              </a:rPr>
              <a:t>Backpressure Handling	    DP	      Prevent overload	                        Credits, windowed ACKs</a:t>
            </a:r>
          </a:p>
          <a:p>
            <a:pPr marL="12700" marR="5080"/>
            <a:r>
              <a:rPr lang="en-US" sz="1300" kern="0" spc="-80" dirty="0">
                <a:solidFill>
                  <a:schemeClr val="accent6"/>
                </a:solidFill>
              </a:rPr>
              <a:t>Idempotent Writes	    DP	      Prevent duplicates	                        Producer IDs, sequence numbers</a:t>
            </a:r>
          </a:p>
          <a:p>
            <a:pPr marL="12700" marR="5080"/>
            <a:r>
              <a:rPr lang="en-US" sz="1300" kern="0" spc="-80" dirty="0">
                <a:solidFill>
                  <a:schemeClr val="accent6"/>
                </a:solidFill>
              </a:rPr>
              <a:t>Dead Letter Routing	    DP	      Isolate malformed messages	  DLQ topics</a:t>
            </a:r>
          </a:p>
          <a:p>
            <a:pPr marL="12700" marR="5080"/>
            <a:r>
              <a:rPr lang="en-US" sz="1300" kern="0" spc="-80" dirty="0">
                <a:solidFill>
                  <a:schemeClr val="accent6"/>
                </a:solidFill>
              </a:rPr>
              <a:t>Multi-Tenant Isolation	    CP	      Prevent noisy neighbors	  Namespaces, quotas</a:t>
            </a:r>
          </a:p>
        </p:txBody>
      </p:sp>
      <p:sp>
        <p:nvSpPr>
          <p:cNvPr id="7" name="object 2">
            <a:extLst>
              <a:ext uri="{FF2B5EF4-FFF2-40B4-BE49-F238E27FC236}">
                <a16:creationId xmlns:a16="http://schemas.microsoft.com/office/drawing/2014/main" id="{39ACF20F-6905-F783-8CA3-FF43ACFC1D7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1E5566D-94D7-6130-EB97-C6CB707691C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64037C6-CE71-6074-F8E3-44091545354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99393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B423-B339-D5F1-0167-08A0FFFAE57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598960-D5AC-45B6-6E9A-6DCDF4EF6D2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57E9D5-E6C4-8392-8A03-6FC8F6621ED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45B4CF-F88B-5632-1D55-CD1A7C7D14C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9337465-D270-84D8-B70E-C4D31B21F984}"/>
              </a:ext>
            </a:extLst>
          </p:cNvPr>
          <p:cNvSpPr txBox="1">
            <a:spLocks/>
          </p:cNvSpPr>
          <p:nvPr/>
        </p:nvSpPr>
        <p:spPr>
          <a:xfrm>
            <a:off x="762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Distributed Data Pipeline</a:t>
            </a:r>
          </a:p>
          <a:p>
            <a:pPr marL="12700" marR="5080"/>
            <a:r>
              <a:rPr lang="en-US" sz="1300" kern="0" spc="-80" dirty="0">
                <a:solidFill>
                  <a:schemeClr val="accent2"/>
                </a:solidFill>
              </a:rPr>
              <a:t>3️⃣ Transport &amp; Messaging Fabric</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Topic/Stream Partitioning      DP	                      Horizontal scalability	           Hash, range, key-based</a:t>
            </a:r>
          </a:p>
          <a:p>
            <a:pPr marL="12700" marR="5080"/>
            <a:r>
              <a:rPr lang="en-US" sz="1300" kern="0" spc="-80" dirty="0">
                <a:solidFill>
                  <a:schemeClr val="accent6"/>
                </a:solidFill>
              </a:rPr>
              <a:t>Ordering Guarantees	         DP	                      Maintain event order	           Per-partition ordering</a:t>
            </a:r>
          </a:p>
          <a:p>
            <a:pPr marL="12700" marR="5080"/>
            <a:r>
              <a:rPr lang="en-US" sz="1300" kern="0" spc="-80" dirty="0">
                <a:solidFill>
                  <a:schemeClr val="accent6"/>
                </a:solidFill>
              </a:rPr>
              <a:t>Replication	                               DP	                      Fault tolerance	           ISR replicas</a:t>
            </a:r>
          </a:p>
          <a:p>
            <a:pPr marL="12700" marR="5080"/>
            <a:r>
              <a:rPr lang="en-US" sz="1300" kern="0" spc="-80" dirty="0">
                <a:solidFill>
                  <a:schemeClr val="accent6"/>
                </a:solidFill>
              </a:rPr>
              <a:t>Retention Policy	         CP	                      Time/size based retention      7 days, 1 TB</a:t>
            </a:r>
          </a:p>
          <a:p>
            <a:pPr marL="12700" marR="5080"/>
            <a:r>
              <a:rPr lang="en-US" sz="1300" kern="0" spc="-80" dirty="0">
                <a:solidFill>
                  <a:schemeClr val="accent6"/>
                </a:solidFill>
              </a:rPr>
              <a:t>Exactly-Once Support	         DP	                      No duplicates or loss	           EOS transactions</a:t>
            </a:r>
          </a:p>
          <a:p>
            <a:pPr marL="12700" marR="5080"/>
            <a:r>
              <a:rPr lang="en-US" sz="1300" kern="0" spc="-80" dirty="0">
                <a:solidFill>
                  <a:schemeClr val="accent6"/>
                </a:solidFill>
              </a:rPr>
              <a:t>Schema Registry	         CP	                      Enforce contract evolution       Avro/</a:t>
            </a:r>
            <a:r>
              <a:rPr lang="en-US" sz="1300" kern="0" spc="-80" dirty="0" err="1">
                <a:solidFill>
                  <a:schemeClr val="accent6"/>
                </a:solidFill>
              </a:rPr>
              <a:t>Protobuf</a:t>
            </a:r>
            <a:r>
              <a:rPr lang="en-US" sz="1300" kern="0" spc="-80" dirty="0">
                <a:solidFill>
                  <a:schemeClr val="accent6"/>
                </a:solidFill>
              </a:rPr>
              <a:t> Registry</a:t>
            </a:r>
          </a:p>
          <a:p>
            <a:pPr marL="12700" marR="5080"/>
            <a:r>
              <a:rPr lang="en-US" sz="1300" kern="0" spc="-80" dirty="0">
                <a:solidFill>
                  <a:schemeClr val="accent6"/>
                </a:solidFill>
              </a:rPr>
              <a:t>Cross-Region Replication        CP	                      DR &amp; locality	           </a:t>
            </a:r>
            <a:r>
              <a:rPr lang="en-US" sz="1300" kern="0" spc="-80" dirty="0" err="1">
                <a:solidFill>
                  <a:schemeClr val="accent6"/>
                </a:solidFill>
              </a:rPr>
              <a:t>MirrorMaker</a:t>
            </a:r>
            <a:r>
              <a:rPr lang="en-US" sz="1300" kern="0" spc="-80" dirty="0">
                <a:solidFill>
                  <a:schemeClr val="accent6"/>
                </a:solidFill>
              </a:rPr>
              <a:t>, Geo-replication</a:t>
            </a:r>
          </a:p>
          <a:p>
            <a:pPr marL="12700" marR="5080"/>
            <a:endParaRPr lang="en-US" sz="1300" kern="0" spc="-80" dirty="0">
              <a:solidFill>
                <a:schemeClr val="accent6"/>
              </a:solidFill>
            </a:endParaRPr>
          </a:p>
          <a:p>
            <a:pPr marL="12700" marR="5080"/>
            <a:r>
              <a:rPr lang="en-US" sz="1300" kern="0" spc="-80" dirty="0">
                <a:solidFill>
                  <a:schemeClr val="accent2"/>
                </a:solidFill>
              </a:rPr>
              <a:t>4️⃣ Pre-Processing &amp; Normalization</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Deserialization	         DP	                      Decode raw payload	          Avro/JSON/</a:t>
            </a:r>
            <a:r>
              <a:rPr lang="en-US" sz="1300" kern="0" spc="-80" dirty="0" err="1">
                <a:solidFill>
                  <a:schemeClr val="accent6"/>
                </a:solidFill>
              </a:rPr>
              <a:t>Protobuf</a:t>
            </a:r>
            <a:endParaRPr lang="en-US" sz="1300" kern="0" spc="-80" dirty="0">
              <a:solidFill>
                <a:schemeClr val="accent6"/>
              </a:solidFill>
            </a:endParaRPr>
          </a:p>
          <a:p>
            <a:pPr marL="12700" marR="5080"/>
            <a:r>
              <a:rPr lang="en-US" sz="1300" kern="0" spc="-80" dirty="0">
                <a:solidFill>
                  <a:schemeClr val="accent6"/>
                </a:solidFill>
              </a:rPr>
              <a:t>Schema Validation	         DP	                      Contract enforcement	          Required fields</a:t>
            </a:r>
          </a:p>
          <a:p>
            <a:pPr marL="12700" marR="5080"/>
            <a:r>
              <a:rPr lang="en-US" sz="1300" kern="0" spc="-80" dirty="0">
                <a:solidFill>
                  <a:schemeClr val="accent6"/>
                </a:solidFill>
              </a:rPr>
              <a:t>Canonical Modeling	         DP	                      Unified internal model	          Domain canonical schema</a:t>
            </a:r>
          </a:p>
          <a:p>
            <a:pPr marL="12700" marR="5080"/>
            <a:r>
              <a:rPr lang="en-US" sz="1300" kern="0" spc="-80" dirty="0">
                <a:solidFill>
                  <a:schemeClr val="accent6"/>
                </a:solidFill>
              </a:rPr>
              <a:t>Data Type Normalization        DP	                      Resolve mismatches	          UTC timestamps, decimals</a:t>
            </a:r>
          </a:p>
          <a:p>
            <a:pPr marL="12700" marR="5080"/>
            <a:r>
              <a:rPr lang="en-US" sz="1300" kern="0" spc="-80" dirty="0">
                <a:solidFill>
                  <a:schemeClr val="accent6"/>
                </a:solidFill>
              </a:rPr>
              <a:t>Field Masking	         CP	                      PII handling	                                Tokenization, hashing</a:t>
            </a:r>
          </a:p>
          <a:p>
            <a:pPr marL="12700" marR="5080"/>
            <a:r>
              <a:rPr lang="en-US" sz="1300" kern="0" spc="-80" dirty="0">
                <a:solidFill>
                  <a:schemeClr val="accent6"/>
                </a:solidFill>
              </a:rPr>
              <a:t>Null &amp; Default Handling	         DP	                      Safe processing	          Imputation rules</a:t>
            </a:r>
          </a:p>
          <a:p>
            <a:pPr marL="12700" marR="5080"/>
            <a:endParaRPr lang="en-US" sz="1300" kern="0" spc="-80" dirty="0">
              <a:solidFill>
                <a:schemeClr val="accent6"/>
              </a:solidFill>
            </a:endParaRPr>
          </a:p>
          <a:p>
            <a:pPr marL="12700" marR="5080"/>
            <a:r>
              <a:rPr lang="en-US" sz="1300" kern="0" spc="-80" dirty="0">
                <a:solidFill>
                  <a:schemeClr val="accent2"/>
                </a:solidFill>
              </a:rPr>
              <a:t>5️⃣ Stream Processing / ETL</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Stateless Transformations      DP	                     Map, filter, project	          Field mapping</a:t>
            </a:r>
          </a:p>
          <a:p>
            <a:pPr marL="12700" marR="5080"/>
            <a:r>
              <a:rPr lang="en-US" sz="1300" kern="0" spc="-80" dirty="0">
                <a:solidFill>
                  <a:schemeClr val="accent6"/>
                </a:solidFill>
              </a:rPr>
              <a:t>Stateful Operations	          DP	                     Aggregations	          Count, sum, windows</a:t>
            </a:r>
          </a:p>
          <a:p>
            <a:pPr marL="12700" marR="5080"/>
            <a:r>
              <a:rPr lang="en-US" sz="1300" kern="0" spc="-80" dirty="0">
                <a:solidFill>
                  <a:schemeClr val="accent6"/>
                </a:solidFill>
              </a:rPr>
              <a:t>Windowing	                                DP	                     Time-based grouping	          Tumbling, sliding</a:t>
            </a:r>
          </a:p>
          <a:p>
            <a:pPr marL="12700" marR="5080"/>
            <a:r>
              <a:rPr lang="en-US" sz="1300" kern="0" spc="-80" dirty="0">
                <a:solidFill>
                  <a:schemeClr val="accent6"/>
                </a:solidFill>
              </a:rPr>
              <a:t>Watermarks	          DP	                     Handle late data	          Event-time watermarks</a:t>
            </a:r>
          </a:p>
        </p:txBody>
      </p:sp>
      <p:sp>
        <p:nvSpPr>
          <p:cNvPr id="7" name="object 2">
            <a:extLst>
              <a:ext uri="{FF2B5EF4-FFF2-40B4-BE49-F238E27FC236}">
                <a16:creationId xmlns:a16="http://schemas.microsoft.com/office/drawing/2014/main" id="{9A54CA55-E610-F9BD-452A-8A2161C7CB7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63A3E0A-8D4E-799D-4168-59F92D1C786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5E7F246-6255-0494-4976-5F656228002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62550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7F828-FE33-A75F-21DF-9A1F95C698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81AC8D3-9E17-147A-1068-08C2255EB41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B1574F-A830-AFC6-4BAB-1E0F4EDF8520}"/>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12469F9-3939-901D-4B78-83815DD359B9}"/>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CDFE29E-8EEC-3418-4039-9BA59D89FC4C}"/>
              </a:ext>
            </a:extLst>
          </p:cNvPr>
          <p:cNvSpPr txBox="1">
            <a:spLocks/>
          </p:cNvSpPr>
          <p:nvPr/>
        </p:nvSpPr>
        <p:spPr>
          <a:xfrm>
            <a:off x="762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Distributed Data Pipeline</a:t>
            </a:r>
          </a:p>
          <a:p>
            <a:pPr marL="12700" marR="5080"/>
            <a:r>
              <a:rPr lang="en-US" sz="1300" kern="0" spc="-80" dirty="0">
                <a:solidFill>
                  <a:schemeClr val="accent2"/>
                </a:solidFill>
              </a:rPr>
              <a:t>5️⃣ Stream Processing / ETL</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Join Operations	          DP	                      Cross-stream joins	          Stream–stream, stream–table</a:t>
            </a:r>
          </a:p>
          <a:p>
            <a:pPr marL="12700" marR="5080"/>
            <a:r>
              <a:rPr lang="en-US" sz="1300" kern="0" spc="-80" dirty="0">
                <a:solidFill>
                  <a:schemeClr val="accent6"/>
                </a:solidFill>
              </a:rPr>
              <a:t>Deduplication	          DP	                      Remove duplicates	          Event ID + TTL</a:t>
            </a:r>
          </a:p>
          <a:p>
            <a:pPr marL="12700" marR="5080"/>
            <a:r>
              <a:rPr lang="en-US" sz="1300" kern="0" spc="-80" dirty="0">
                <a:solidFill>
                  <a:schemeClr val="accent6"/>
                </a:solidFill>
              </a:rPr>
              <a:t>Enrichment	                                DP	                      Add reference data	          Geo lookup, user profile</a:t>
            </a:r>
          </a:p>
          <a:p>
            <a:pPr marL="12700" marR="5080"/>
            <a:r>
              <a:rPr lang="en-US" sz="1300" kern="0" spc="-80" dirty="0">
                <a:solidFill>
                  <a:schemeClr val="accent6"/>
                </a:solidFill>
              </a:rPr>
              <a:t>CEP (Pattern Detection)	          DP	                      Detect sequences	          Fraud patterns</a:t>
            </a:r>
          </a:p>
          <a:p>
            <a:pPr marL="12700" marR="5080"/>
            <a:endParaRPr lang="en-US" sz="1300" kern="0" spc="-80" dirty="0">
              <a:solidFill>
                <a:schemeClr val="accent6"/>
              </a:solidFill>
            </a:endParaRPr>
          </a:p>
          <a:p>
            <a:pPr marL="12700" marR="5080"/>
            <a:r>
              <a:rPr lang="en-US" sz="1300" kern="0" spc="-80" dirty="0">
                <a:solidFill>
                  <a:schemeClr val="accent2"/>
                </a:solidFill>
              </a:rPr>
              <a:t>6️⃣ Quality, Validation &amp; Trust</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Data Quality Rules	          CP	                      Accuracy &amp; consistency	          Great Expectations</a:t>
            </a:r>
          </a:p>
          <a:p>
            <a:pPr marL="12700" marR="5080"/>
            <a:r>
              <a:rPr lang="en-US" sz="1300" kern="0" spc="-80" dirty="0">
                <a:solidFill>
                  <a:schemeClr val="accent6"/>
                </a:solidFill>
              </a:rPr>
              <a:t>Anomaly Detection	          DP	                      Spot abnormal patterns	          Volume spikes</a:t>
            </a:r>
          </a:p>
          <a:p>
            <a:pPr marL="12700" marR="5080"/>
            <a:r>
              <a:rPr lang="en-US" sz="1300" kern="0" spc="-80" dirty="0">
                <a:solidFill>
                  <a:schemeClr val="accent6"/>
                </a:solidFill>
              </a:rPr>
              <a:t>Drift Detection	          DP	                      Schema or data drift	          Feature distribution shifts</a:t>
            </a:r>
          </a:p>
          <a:p>
            <a:pPr marL="12700" marR="5080"/>
            <a:r>
              <a:rPr lang="en-US" sz="1300" kern="0" spc="-80" dirty="0">
                <a:solidFill>
                  <a:schemeClr val="accent6"/>
                </a:solidFill>
              </a:rPr>
              <a:t>Referential Integrity	          DP	                      Cross-entity checks	          Foreign key logic</a:t>
            </a:r>
          </a:p>
          <a:p>
            <a:pPr marL="12700" marR="5080"/>
            <a:r>
              <a:rPr lang="en-US" sz="1300" kern="0" spc="-80" dirty="0">
                <a:solidFill>
                  <a:schemeClr val="accent6"/>
                </a:solidFill>
              </a:rPr>
              <a:t>Reprocessing Support	          CP	                      Replay historical data	          Offset rewind</a:t>
            </a:r>
          </a:p>
          <a:p>
            <a:pPr marL="12700" marR="5080"/>
            <a:r>
              <a:rPr lang="en-US" sz="1300" kern="0" spc="-80" dirty="0">
                <a:solidFill>
                  <a:schemeClr val="accent6"/>
                </a:solidFill>
              </a:rPr>
              <a:t>Quarantine Bad Data	          DP	                      Prevent contamination	          Isolation topics</a:t>
            </a:r>
          </a:p>
          <a:p>
            <a:pPr marL="12700" marR="5080"/>
            <a:endParaRPr lang="en-US" sz="1300" kern="0" spc="-80" dirty="0">
              <a:solidFill>
                <a:schemeClr val="accent6"/>
              </a:solidFill>
            </a:endParaRPr>
          </a:p>
          <a:p>
            <a:pPr marL="12700" marR="5080"/>
            <a:r>
              <a:rPr lang="en-US" sz="1300" kern="0" spc="-80" dirty="0">
                <a:solidFill>
                  <a:schemeClr val="accent2"/>
                </a:solidFill>
              </a:rPr>
              <a:t>7️⃣ Storage (Polyglot Persistence)</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Hot Storage	                               DP	                      Low-latency reads	         Redis, </a:t>
            </a:r>
            <a:r>
              <a:rPr lang="en-US" sz="1300" kern="0" spc="-80" dirty="0" err="1">
                <a:solidFill>
                  <a:schemeClr val="accent6"/>
                </a:solidFill>
              </a:rPr>
              <a:t>RocksDB</a:t>
            </a:r>
            <a:endParaRPr lang="en-US" sz="1300" kern="0" spc="-80" dirty="0">
              <a:solidFill>
                <a:schemeClr val="accent6"/>
              </a:solidFill>
            </a:endParaRPr>
          </a:p>
          <a:p>
            <a:pPr marL="12700" marR="5080"/>
            <a:r>
              <a:rPr lang="en-US" sz="1300" kern="0" spc="-80" dirty="0">
                <a:solidFill>
                  <a:schemeClr val="accent6"/>
                </a:solidFill>
              </a:rPr>
              <a:t>Warm Storage	         DP	                      Analytical queries	         OLAP stores</a:t>
            </a:r>
          </a:p>
          <a:p>
            <a:pPr marL="12700" marR="5080"/>
            <a:r>
              <a:rPr lang="en-US" sz="1300" kern="0" spc="-80" dirty="0">
                <a:solidFill>
                  <a:schemeClr val="accent6"/>
                </a:solidFill>
              </a:rPr>
              <a:t>Cold Storage	         DP	                      Long-term archive	         Data Lake</a:t>
            </a:r>
          </a:p>
          <a:p>
            <a:pPr marL="12700" marR="5080"/>
            <a:r>
              <a:rPr lang="en-US" sz="1300" kern="0" spc="-80" dirty="0">
                <a:solidFill>
                  <a:schemeClr val="accent6"/>
                </a:solidFill>
              </a:rPr>
              <a:t>Partitioning Strategy	         DP	                      Query efficiency	         Time + key</a:t>
            </a:r>
          </a:p>
          <a:p>
            <a:pPr marL="12700" marR="5080"/>
            <a:r>
              <a:rPr lang="en-US" sz="1300" kern="0" spc="-80" dirty="0">
                <a:solidFill>
                  <a:schemeClr val="accent6"/>
                </a:solidFill>
              </a:rPr>
              <a:t>Compaction	         DP	                      Reduce storage	         Merge files</a:t>
            </a:r>
          </a:p>
          <a:p>
            <a:pPr marL="12700" marR="5080"/>
            <a:r>
              <a:rPr lang="en-US" sz="1300" kern="0" spc="-80" dirty="0">
                <a:solidFill>
                  <a:schemeClr val="accent6"/>
                </a:solidFill>
              </a:rPr>
              <a:t>Versioning	                               CP	                      Historical traceability	         Iceberg, Delta</a:t>
            </a:r>
          </a:p>
          <a:p>
            <a:pPr marL="12700" marR="5080"/>
            <a:r>
              <a:rPr lang="en-US" sz="1300" kern="0" spc="-80" dirty="0">
                <a:solidFill>
                  <a:schemeClr val="accent6"/>
                </a:solidFill>
              </a:rPr>
              <a:t>Encryption at Rest	         CP	                      Compliance	                               KMS keys</a:t>
            </a:r>
          </a:p>
        </p:txBody>
      </p:sp>
      <p:sp>
        <p:nvSpPr>
          <p:cNvPr id="7" name="object 2">
            <a:extLst>
              <a:ext uri="{FF2B5EF4-FFF2-40B4-BE49-F238E27FC236}">
                <a16:creationId xmlns:a16="http://schemas.microsoft.com/office/drawing/2014/main" id="{89FDF354-D32C-DB9B-170E-75301E74D6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71ECA73-166F-3145-3930-06B288F35CB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9B80FC6-05F5-DCDF-015B-91F1491EA76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51796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CC2E-F2A1-69DE-370D-A8F12ECA92A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796074-22C3-9503-A620-A1393DE39FE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CD94302-7128-997C-8240-FAA87241659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1AD5D70-820D-FC54-27FA-68677184025D}"/>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1E9855E-038B-347C-A446-07A2B603845C}"/>
              </a:ext>
            </a:extLst>
          </p:cNvPr>
          <p:cNvSpPr txBox="1">
            <a:spLocks/>
          </p:cNvSpPr>
          <p:nvPr/>
        </p:nvSpPr>
        <p:spPr>
          <a:xfrm>
            <a:off x="762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Distributed Data Pipeline</a:t>
            </a:r>
          </a:p>
          <a:p>
            <a:pPr marL="12700" marR="5080"/>
            <a:r>
              <a:rPr lang="en-US" sz="1300" kern="0" spc="-80" dirty="0">
                <a:solidFill>
                  <a:schemeClr val="accent2"/>
                </a:solidFill>
              </a:rPr>
              <a:t>8️⃣ Serving &amp; Consumption</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Query APIs	                                  DP	                        Consumer access	        REST, </a:t>
            </a:r>
            <a:r>
              <a:rPr lang="en-US" sz="1300" kern="0" spc="-80" dirty="0" err="1">
                <a:solidFill>
                  <a:schemeClr val="accent6"/>
                </a:solidFill>
              </a:rPr>
              <a:t>GraphQL</a:t>
            </a:r>
            <a:endParaRPr lang="en-US" sz="1300" kern="0" spc="-80" dirty="0">
              <a:solidFill>
                <a:schemeClr val="accent6"/>
              </a:solidFill>
            </a:endParaRPr>
          </a:p>
          <a:p>
            <a:pPr marL="12700" marR="5080"/>
            <a:r>
              <a:rPr lang="en-US" sz="1300" kern="0" spc="-80" dirty="0">
                <a:solidFill>
                  <a:schemeClr val="accent6"/>
                </a:solidFill>
              </a:rPr>
              <a:t>Materialized Views	            DP	                        Precomputed results	        Read models</a:t>
            </a:r>
          </a:p>
          <a:p>
            <a:pPr marL="12700" marR="5080"/>
            <a:r>
              <a:rPr lang="en-US" sz="1300" kern="0" spc="-80" dirty="0">
                <a:solidFill>
                  <a:schemeClr val="accent6"/>
                </a:solidFill>
              </a:rPr>
              <a:t>Caching Layer	            DP	                        Performance	        CDN, Redis</a:t>
            </a:r>
          </a:p>
          <a:p>
            <a:pPr marL="12700" marR="5080"/>
            <a:r>
              <a:rPr lang="en-US" sz="1300" kern="0" spc="-80" dirty="0">
                <a:solidFill>
                  <a:schemeClr val="accent6"/>
                </a:solidFill>
              </a:rPr>
              <a:t>Streaming Feeds	            DP	                        Downstream pipelines	        Fan-out topics</a:t>
            </a:r>
          </a:p>
          <a:p>
            <a:pPr marL="12700" marR="5080"/>
            <a:r>
              <a:rPr lang="en-US" sz="1300" kern="0" spc="-80" dirty="0">
                <a:solidFill>
                  <a:schemeClr val="accent6"/>
                </a:solidFill>
              </a:rPr>
              <a:t>BI &amp; Analytics	            DP	                        Human insights	        Dashboards</a:t>
            </a:r>
          </a:p>
          <a:p>
            <a:pPr marL="12700" marR="5080"/>
            <a:r>
              <a:rPr lang="en-US" sz="1300" kern="0" spc="-80" dirty="0">
                <a:solidFill>
                  <a:schemeClr val="accent6"/>
                </a:solidFill>
              </a:rPr>
              <a:t>ML Feature Feeds	            DP	                        Model consumption	        Feature store</a:t>
            </a:r>
          </a:p>
          <a:p>
            <a:pPr marL="12700" marR="5080"/>
            <a:r>
              <a:rPr lang="en-US" sz="1300" kern="0" spc="-80" dirty="0">
                <a:solidFill>
                  <a:schemeClr val="accent6"/>
                </a:solidFill>
              </a:rPr>
              <a:t>Access Control	            CP	                        Fine-grained security	        RBAC, ABAC</a:t>
            </a:r>
          </a:p>
          <a:p>
            <a:pPr marL="12700" marR="5080"/>
            <a:endParaRPr lang="en-US" sz="1300" kern="0" spc="-80" dirty="0">
              <a:solidFill>
                <a:schemeClr val="accent6"/>
              </a:solidFill>
            </a:endParaRPr>
          </a:p>
          <a:p>
            <a:pPr marL="12700" marR="5080"/>
            <a:r>
              <a:rPr lang="en-US" sz="1300" kern="0" spc="-80" dirty="0">
                <a:solidFill>
                  <a:schemeClr val="accent2"/>
                </a:solidFill>
              </a:rPr>
              <a:t>9️⃣ Orchestration &amp; Control Plane</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Workflow Orchestration	            CP	                        Step coordination	        Airflow, Temporal</a:t>
            </a:r>
          </a:p>
          <a:p>
            <a:pPr marL="12700" marR="5080"/>
            <a:r>
              <a:rPr lang="en-US" sz="1300" kern="0" spc="-80" dirty="0">
                <a:solidFill>
                  <a:schemeClr val="accent6"/>
                </a:solidFill>
              </a:rPr>
              <a:t>Autoscaling	                                  CP	                        Demand-based scaling	        KEDA</a:t>
            </a:r>
          </a:p>
          <a:p>
            <a:pPr marL="12700" marR="5080"/>
            <a:r>
              <a:rPr lang="en-US" sz="1300" kern="0" spc="-80" dirty="0">
                <a:solidFill>
                  <a:schemeClr val="accent6"/>
                </a:solidFill>
              </a:rPr>
              <a:t>Configuration Management      CP	                        Central config	        Consul, App Config</a:t>
            </a:r>
          </a:p>
          <a:p>
            <a:pPr marL="12700" marR="5080"/>
            <a:r>
              <a:rPr lang="en-US" sz="1300" kern="0" spc="-80" dirty="0">
                <a:solidFill>
                  <a:schemeClr val="accent6"/>
                </a:solidFill>
              </a:rPr>
              <a:t>Feature Flags	            CP	                        Controlled rollout	        Canary releases</a:t>
            </a:r>
          </a:p>
          <a:p>
            <a:pPr marL="12700" marR="5080"/>
            <a:r>
              <a:rPr lang="en-US" sz="1300" kern="0" spc="-80" dirty="0">
                <a:solidFill>
                  <a:schemeClr val="accent6"/>
                </a:solidFill>
              </a:rPr>
              <a:t>Deployment Strategies	            CP	                        Zero-downtime	        Blue/Green</a:t>
            </a:r>
          </a:p>
          <a:p>
            <a:pPr marL="12700" marR="5080"/>
            <a:r>
              <a:rPr lang="en-US" sz="1300" kern="0" spc="-80" dirty="0">
                <a:solidFill>
                  <a:schemeClr val="accent6"/>
                </a:solidFill>
              </a:rPr>
              <a:t>Schema Evolution	            CP	                        Backward compatibility       </a:t>
            </a:r>
            <a:r>
              <a:rPr lang="en-US" sz="1300" kern="0" spc="-80" dirty="0" err="1">
                <a:solidFill>
                  <a:schemeClr val="accent6"/>
                </a:solidFill>
              </a:rPr>
              <a:t>Compatibility</a:t>
            </a:r>
            <a:r>
              <a:rPr lang="en-US" sz="1300" kern="0" spc="-80" dirty="0">
                <a:solidFill>
                  <a:schemeClr val="accent6"/>
                </a:solidFill>
              </a:rPr>
              <a:t> rules</a:t>
            </a:r>
          </a:p>
          <a:p>
            <a:pPr marL="12700" marR="5080"/>
            <a:endParaRPr lang="en-US" sz="1300" kern="0" spc="-80" dirty="0">
              <a:solidFill>
                <a:schemeClr val="accent6"/>
              </a:solidFill>
            </a:endParaRPr>
          </a:p>
          <a:p>
            <a:pPr marL="12700" marR="5080"/>
            <a:r>
              <a:rPr lang="en-US" sz="1300" kern="0" spc="-80" dirty="0">
                <a:solidFill>
                  <a:schemeClr val="accent2"/>
                </a:solidFill>
              </a:rPr>
              <a:t>🔟 Observability &amp; Operations</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Metrics	                                  CP	                       System health	        Lag, throughput</a:t>
            </a:r>
          </a:p>
          <a:p>
            <a:pPr marL="12700" marR="5080"/>
            <a:r>
              <a:rPr lang="en-US" sz="1300" kern="0" spc="-80" dirty="0">
                <a:solidFill>
                  <a:schemeClr val="accent6"/>
                </a:solidFill>
              </a:rPr>
              <a:t>Distributed Tracing	            CP	                       End-to-end visibility	        Trace IDs</a:t>
            </a:r>
          </a:p>
          <a:p>
            <a:pPr marL="12700" marR="5080"/>
            <a:r>
              <a:rPr lang="en-US" sz="1300" kern="0" spc="-80" dirty="0">
                <a:solidFill>
                  <a:schemeClr val="accent6"/>
                </a:solidFill>
              </a:rPr>
              <a:t>Structured Logging	            CP	                       Debuggability	        Correlated logs</a:t>
            </a:r>
          </a:p>
          <a:p>
            <a:pPr marL="12700" marR="5080"/>
            <a:r>
              <a:rPr lang="en-US" sz="1300" kern="0" spc="-80" dirty="0">
                <a:solidFill>
                  <a:schemeClr val="accent6"/>
                </a:solidFill>
              </a:rPr>
              <a:t>SLA Monitoring	            CP	                       Business guarantees	        Freshness SLAs</a:t>
            </a:r>
          </a:p>
        </p:txBody>
      </p:sp>
      <p:sp>
        <p:nvSpPr>
          <p:cNvPr id="7" name="object 2">
            <a:extLst>
              <a:ext uri="{FF2B5EF4-FFF2-40B4-BE49-F238E27FC236}">
                <a16:creationId xmlns:a16="http://schemas.microsoft.com/office/drawing/2014/main" id="{85EC6376-2D6E-42B4-2C24-6C4F019F6FD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14D0549-9E28-06C3-DD33-51B1180AD03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9647A64-8625-EDC0-DF67-5660E1CF0BD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538009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E3CF5-4716-591A-EFCB-5F4F72733D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EB04F3-17C8-1E6A-ABF3-57C8645AEFD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47518D4-6DE0-9D01-CF0E-68C88542EE8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A5E1227-B9A5-22DC-57F9-BBC123A54557}"/>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591C718-D4F7-B68D-0F9C-0FB5F45E686E}"/>
              </a:ext>
            </a:extLst>
          </p:cNvPr>
          <p:cNvSpPr txBox="1">
            <a:spLocks/>
          </p:cNvSpPr>
          <p:nvPr/>
        </p:nvSpPr>
        <p:spPr>
          <a:xfrm>
            <a:off x="76200" y="762000"/>
            <a:ext cx="8624937"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Distributed Data Pipeline</a:t>
            </a:r>
          </a:p>
          <a:p>
            <a:pPr marL="12700" marR="5080"/>
            <a:r>
              <a:rPr lang="en-US" sz="1300" kern="0" spc="-80" dirty="0">
                <a:solidFill>
                  <a:schemeClr val="accent2"/>
                </a:solidFill>
              </a:rPr>
              <a:t>🔟 Observability &amp; Operations</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Alerting	                                  CP	                       Proactive response	               Lag alerts</a:t>
            </a:r>
          </a:p>
          <a:p>
            <a:pPr marL="12700" marR="5080"/>
            <a:r>
              <a:rPr lang="en-US" sz="1300" kern="0" spc="-80" dirty="0">
                <a:solidFill>
                  <a:schemeClr val="accent6"/>
                </a:solidFill>
              </a:rPr>
              <a:t>Cost Monitoring	            CP	                       FinOps	                                     Storage + compute</a:t>
            </a:r>
          </a:p>
          <a:p>
            <a:pPr marL="12700" marR="5080"/>
            <a:endParaRPr lang="en-US" sz="1300" kern="0" spc="-80" dirty="0">
              <a:solidFill>
                <a:schemeClr val="accent6"/>
              </a:solidFill>
            </a:endParaRPr>
          </a:p>
          <a:p>
            <a:pPr marL="12700" marR="5080"/>
            <a:r>
              <a:rPr lang="en-US" sz="1300" kern="0" spc="-80" dirty="0">
                <a:solidFill>
                  <a:schemeClr val="accent2"/>
                </a:solidFill>
              </a:rPr>
              <a:t>1️⃣1️⃣ Resilience, Recovery &amp; Governance</a:t>
            </a:r>
          </a:p>
          <a:p>
            <a:pPr marL="12700" marR="5080"/>
            <a:r>
              <a:rPr lang="en-US" sz="1300" kern="0" spc="-80" dirty="0">
                <a:solidFill>
                  <a:schemeClr val="accent2"/>
                </a:solidFill>
              </a:rPr>
              <a:t>Step	                                 Category	Description	                                     Examples</a:t>
            </a:r>
          </a:p>
          <a:p>
            <a:pPr marL="12700" marR="5080"/>
            <a:r>
              <a:rPr lang="en-US" sz="1300" kern="0" spc="-80" dirty="0">
                <a:solidFill>
                  <a:schemeClr val="accent6"/>
                </a:solidFill>
              </a:rPr>
              <a:t>Retry Strategies	           DP	                      Transient failure handling            Exponential backoff</a:t>
            </a:r>
          </a:p>
          <a:p>
            <a:pPr marL="12700" marR="5080"/>
            <a:r>
              <a:rPr lang="en-US" sz="1300" kern="0" spc="-80" dirty="0">
                <a:solidFill>
                  <a:schemeClr val="accent6"/>
                </a:solidFill>
              </a:rPr>
              <a:t>Circuit Breakers	           DP	                      Failure isolation	               Bulkheads</a:t>
            </a:r>
          </a:p>
          <a:p>
            <a:pPr marL="12700" marR="5080"/>
            <a:r>
              <a:rPr lang="en-US" sz="1300" kern="0" spc="-80" dirty="0">
                <a:solidFill>
                  <a:schemeClr val="accent6"/>
                </a:solidFill>
              </a:rPr>
              <a:t>Disaster Recovery	           CP	                      Regional failover	               Active-active</a:t>
            </a:r>
          </a:p>
          <a:p>
            <a:pPr marL="12700" marR="5080"/>
            <a:r>
              <a:rPr lang="en-US" sz="1300" kern="0" spc="-80" dirty="0">
                <a:solidFill>
                  <a:schemeClr val="accent6"/>
                </a:solidFill>
              </a:rPr>
              <a:t>Lineage Tracking	           CP	                      Auditability	                                     End-to-end lineage</a:t>
            </a:r>
          </a:p>
          <a:p>
            <a:pPr marL="12700" marR="5080"/>
            <a:r>
              <a:rPr lang="en-US" sz="1300" kern="0" spc="-80" dirty="0">
                <a:solidFill>
                  <a:schemeClr val="accent6"/>
                </a:solidFill>
              </a:rPr>
              <a:t>Compliance Enforcement         CP	                      Regulatory adherence	               GDPR, SOC2</a:t>
            </a:r>
          </a:p>
          <a:p>
            <a:pPr marL="12700" marR="5080"/>
            <a:r>
              <a:rPr lang="en-US" sz="1300" kern="0" spc="-80" dirty="0">
                <a:solidFill>
                  <a:schemeClr val="accent6"/>
                </a:solidFill>
              </a:rPr>
              <a:t>Data Deletion	           CP	                      Right to be forgotten	               Tombstone events</a:t>
            </a:r>
          </a:p>
          <a:p>
            <a:pPr marL="12700" marR="5080"/>
            <a:endParaRPr lang="en-US" sz="1300" kern="0" spc="-80" dirty="0">
              <a:solidFill>
                <a:schemeClr val="accent6"/>
              </a:solidFill>
            </a:endParaRPr>
          </a:p>
          <a:p>
            <a:pPr marL="12700" marR="5080"/>
            <a:r>
              <a:rPr lang="en-US" sz="1300" kern="0" spc="-80" dirty="0">
                <a:solidFill>
                  <a:schemeClr val="accent2"/>
                </a:solidFill>
              </a:rPr>
              <a:t>🧠 One-Line Summary</a:t>
            </a:r>
          </a:p>
          <a:p>
            <a:pPr marL="12700" marR="5080"/>
            <a:r>
              <a:rPr lang="en-US" sz="1300" kern="0" spc="-80" dirty="0">
                <a:solidFill>
                  <a:schemeClr val="accent6"/>
                </a:solidFill>
              </a:rPr>
              <a:t>Sources → Ingestion → Transport → Normalize → Process → Validate → Store → Serve → Observe → Govern</a:t>
            </a:r>
          </a:p>
          <a:p>
            <a:pPr marL="12700" marR="5080"/>
            <a:endParaRPr lang="en-US" sz="1300" kern="0" spc="-80" dirty="0">
              <a:solidFill>
                <a:schemeClr val="accent6"/>
              </a:solidFill>
            </a:endParaRPr>
          </a:p>
        </p:txBody>
      </p:sp>
      <p:sp>
        <p:nvSpPr>
          <p:cNvPr id="7" name="object 2">
            <a:extLst>
              <a:ext uri="{FF2B5EF4-FFF2-40B4-BE49-F238E27FC236}">
                <a16:creationId xmlns:a16="http://schemas.microsoft.com/office/drawing/2014/main" id="{9784FFAD-9995-9B02-E9E0-4089FC57B5F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4B30350-5C8B-B0DF-0FA9-F86670F8717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2284B51-EC85-FC7D-00C8-E657E067DD4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623079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16BC8-A0C9-78D8-149E-11EBD13241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A386E67-1045-64DB-CEFF-BB66D61E7E0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6093E3-D6A3-65C9-0ED1-3022EBDC430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2E2CB6-57AA-A490-4281-F0591B800755}"/>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8AB76CE-D9A1-49A9-120E-61070D03DCDD}"/>
              </a:ext>
            </a:extLst>
          </p:cNvPr>
          <p:cNvSpPr txBox="1">
            <a:spLocks/>
          </p:cNvSpPr>
          <p:nvPr/>
        </p:nvSpPr>
        <p:spPr>
          <a:xfrm>
            <a:off x="76200" y="762000"/>
            <a:ext cx="8624937" cy="23237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p>
          <a:p>
            <a:pPr marL="12700" marR="5080"/>
            <a:r>
              <a:rPr lang="en-IN" sz="1600" dirty="0">
                <a:hlinkClick r:id="rId7"/>
              </a:rPr>
              <a:t>Master Template for Building Data Architecture</a:t>
            </a:r>
            <a:endParaRPr lang="en-IN" sz="1600" dirty="0"/>
          </a:p>
          <a:p>
            <a:pPr marL="12700" marR="5080"/>
            <a:r>
              <a:rPr lang="en-IN" sz="1500" dirty="0">
                <a:hlinkClick r:id="rId8"/>
              </a:rPr>
              <a:t>Comprehensive Data Engineering Diagram</a:t>
            </a:r>
            <a:endParaRPr lang="en-IN" sz="1500" dirty="0"/>
          </a:p>
          <a:p>
            <a:pPr marL="12700" marR="5080"/>
            <a:r>
              <a:rPr lang="en-US" sz="1500" dirty="0">
                <a:hlinkClick r:id="rId9"/>
              </a:rPr>
              <a:t>Fundamentals of Data Engineering</a:t>
            </a:r>
            <a:endParaRPr lang="en-US" sz="1500" dirty="0"/>
          </a:p>
          <a:p>
            <a:pPr marL="12700" marR="5080"/>
            <a:r>
              <a:rPr lang="en-IN" sz="1500" dirty="0">
                <a:hlinkClick r:id="rId10"/>
              </a:rPr>
              <a:t>Data Engineering Design Patterns</a:t>
            </a:r>
            <a:endParaRPr lang="en-IN" sz="1500" dirty="0"/>
          </a:p>
          <a:p>
            <a:pPr marL="12700" marR="5080"/>
            <a:r>
              <a:rPr lang="en-US" sz="1500" dirty="0">
                <a:hlinkClick r:id="rId11"/>
              </a:rPr>
              <a:t>Data-Engineering-with-Python</a:t>
            </a:r>
            <a:endParaRPr lang="en-US" sz="1500" dirty="0"/>
          </a:p>
          <a:p>
            <a:pPr marL="12700" marR="5080"/>
            <a:r>
              <a:rPr lang="en-US" sz="1500" dirty="0">
                <a:hlinkClick r:id="rId12"/>
              </a:rPr>
              <a:t>Rebuilding Reliable Data Pipelines Through Modern Tools</a:t>
            </a:r>
            <a:endParaRPr lang="en-US" sz="1500" dirty="0"/>
          </a:p>
          <a:p>
            <a:pPr marL="12700" marR="5080"/>
            <a:r>
              <a:rPr lang="en-US" sz="1500" dirty="0">
                <a:hlinkClick r:id="rId13"/>
              </a:rPr>
              <a:t>Data Pipelines Pocket Reference</a:t>
            </a:r>
            <a:endParaRPr lang="en-US" sz="1500" dirty="0"/>
          </a:p>
          <a:p>
            <a:pPr marL="12700" marR="5080"/>
            <a:r>
              <a:rPr lang="en-US" sz="1500" dirty="0">
                <a:hlinkClick r:id="rId14"/>
              </a:rPr>
              <a:t>97 Things Every Data Engineer Should Know</a:t>
            </a:r>
            <a:endParaRPr lang="en-US" sz="1500" dirty="0"/>
          </a:p>
          <a:p>
            <a:pPr marL="12700" marR="5080"/>
            <a:r>
              <a:rPr lang="en-US" sz="1500" dirty="0">
                <a:hlinkClick r:id="rId15"/>
              </a:rPr>
              <a:t>Introducing “Database Performance at Scale”: A Free, Open Source Book - </a:t>
            </a:r>
            <a:r>
              <a:rPr lang="en-US" sz="1500" dirty="0" err="1">
                <a:hlinkClick r:id="rId15"/>
              </a:rPr>
              <a:t>ScyllaDB</a:t>
            </a:r>
            <a:endParaRPr lang="en-US" sz="1500" kern="0" spc="-80" dirty="0">
              <a:solidFill>
                <a:schemeClr val="accent2"/>
              </a:solidFill>
            </a:endParaRPr>
          </a:p>
        </p:txBody>
      </p:sp>
      <p:sp>
        <p:nvSpPr>
          <p:cNvPr id="7" name="object 2">
            <a:extLst>
              <a:ext uri="{FF2B5EF4-FFF2-40B4-BE49-F238E27FC236}">
                <a16:creationId xmlns:a16="http://schemas.microsoft.com/office/drawing/2014/main" id="{7535D7F6-4744-38E0-1254-291473DADA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DE74AAB-199B-36CC-44C8-C8493406093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0E07A59-1A39-D163-C263-26BD700BB1F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5909175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BB7F3-956D-73EE-246B-8E3ADBB9C6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E25B91-C120-E7B3-240B-12C97FD4FD1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561D72-0E85-0370-FF1B-20929694908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1058F8-6961-B3D4-EC89-4C3F2D2C672C}"/>
              </a:ext>
            </a:extLst>
          </p:cNvPr>
          <p:cNvGraphicFramePr/>
          <p:nvPr>
            <p:extLst>
              <p:ext uri="{D42A27DB-BD31-4B8C-83A1-F6EECF244321}">
                <p14:modId xmlns:p14="http://schemas.microsoft.com/office/powerpoint/2010/main" val="2547609706"/>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E163EF29-2A1D-02AF-9930-CAECC6C5751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14C9D88-EEA6-6F14-B4B1-92463413321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3ACF801-59CA-B574-BD61-CF881DE023C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0BFADB43-179E-AA4D-DEC4-C2A3388951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546" y="800736"/>
            <a:ext cx="9089632" cy="2228965"/>
          </a:xfrm>
          <a:prstGeom prst="rect">
            <a:avLst/>
          </a:prstGeom>
        </p:spPr>
      </p:pic>
      <p:pic>
        <p:nvPicPr>
          <p:cNvPr id="14" name="Picture 13">
            <a:extLst>
              <a:ext uri="{FF2B5EF4-FFF2-40B4-BE49-F238E27FC236}">
                <a16:creationId xmlns:a16="http://schemas.microsoft.com/office/drawing/2014/main" id="{DCA6BFC1-2D8D-E00B-F67C-B8BC965ECD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63" y="3162157"/>
            <a:ext cx="8889997" cy="2285507"/>
          </a:xfrm>
          <a:prstGeom prst="rect">
            <a:avLst/>
          </a:prstGeom>
        </p:spPr>
      </p:pic>
      <p:sp>
        <p:nvSpPr>
          <p:cNvPr id="2" name="object 2">
            <a:extLst>
              <a:ext uri="{FF2B5EF4-FFF2-40B4-BE49-F238E27FC236}">
                <a16:creationId xmlns:a16="http://schemas.microsoft.com/office/drawing/2014/main" id="{8EA2FD8C-C220-F253-7801-0E9716EA1F71}"/>
              </a:ext>
            </a:extLst>
          </p:cNvPr>
          <p:cNvSpPr txBox="1">
            <a:spLocks/>
          </p:cNvSpPr>
          <p:nvPr/>
        </p:nvSpPr>
        <p:spPr>
          <a:xfrm>
            <a:off x="138063" y="5567571"/>
            <a:ext cx="8624937" cy="4001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   N.B. –</a:t>
            </a:r>
            <a:r>
              <a:rPr lang="en-US" sz="1300" kern="0" spc="-80" dirty="0">
                <a:solidFill>
                  <a:schemeClr val="accent6"/>
                </a:solidFill>
              </a:rPr>
              <a:t> Instead of Event Driven approach, Polling approach also can be considered which can inherently handle </a:t>
            </a:r>
          </a:p>
          <a:p>
            <a:pPr marL="12700" marR="5080"/>
            <a:r>
              <a:rPr lang="en-US" sz="1300" kern="0" spc="-80" dirty="0">
                <a:solidFill>
                  <a:schemeClr val="accent6"/>
                </a:solidFill>
              </a:rPr>
              <a:t>   backpressure since the consumer will poll the producer at it’s own rate.</a:t>
            </a:r>
            <a:endParaRPr lang="en-US" sz="1700" kern="0" spc="-80" dirty="0">
              <a:solidFill>
                <a:schemeClr val="accent2"/>
              </a:solidFill>
            </a:endParaRPr>
          </a:p>
        </p:txBody>
      </p:sp>
    </p:spTree>
    <p:extLst>
      <p:ext uri="{BB962C8B-B14F-4D97-AF65-F5344CB8AC3E}">
        <p14:creationId xmlns:p14="http://schemas.microsoft.com/office/powerpoint/2010/main" val="772151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CCA37-2F15-B64D-7234-8E0F48BCC4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EDF2B4-59BF-58AF-ECB1-B0520608720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6324EC8-2A0F-448D-D2FE-E2E71ACEFD37}"/>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9C0383-2DBA-7170-4FED-08727F358A40}"/>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A507261D-7268-394E-E7AD-21FCF1955D2D}"/>
              </a:ext>
            </a:extLst>
          </p:cNvPr>
          <p:cNvSpPr txBox="1">
            <a:spLocks/>
          </p:cNvSpPr>
          <p:nvPr/>
        </p:nvSpPr>
        <p:spPr>
          <a:xfrm>
            <a:off x="138063" y="52401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b="0" kern="0" spc="-80" dirty="0">
                <a:solidFill>
                  <a:schemeClr val="accent2"/>
                </a:solidFill>
              </a:rPr>
              <a:t>  </a:t>
            </a:r>
          </a:p>
        </p:txBody>
      </p:sp>
      <p:sp>
        <p:nvSpPr>
          <p:cNvPr id="3" name="object 2">
            <a:extLst>
              <a:ext uri="{FF2B5EF4-FFF2-40B4-BE49-F238E27FC236}">
                <a16:creationId xmlns:a16="http://schemas.microsoft.com/office/drawing/2014/main" id="{D3B46077-9EF9-C3A5-675A-60CF1B40A44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A1D8331-45FE-D3DA-221A-E4C0838D50B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DE13F866-4563-9944-32C0-8EF28D3B68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819024"/>
            <a:ext cx="8889998" cy="2457576"/>
          </a:xfrm>
          <a:prstGeom prst="rect">
            <a:avLst/>
          </a:prstGeom>
        </p:spPr>
      </p:pic>
      <p:pic>
        <p:nvPicPr>
          <p:cNvPr id="12" name="Picture 11">
            <a:extLst>
              <a:ext uri="{FF2B5EF4-FFF2-40B4-BE49-F238E27FC236}">
                <a16:creationId xmlns:a16="http://schemas.microsoft.com/office/drawing/2014/main" id="{5BD7922A-7D56-FACB-CA26-2195A266C93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0" y="3352667"/>
            <a:ext cx="8799461" cy="2590933"/>
          </a:xfrm>
          <a:prstGeom prst="rect">
            <a:avLst/>
          </a:prstGeom>
        </p:spPr>
      </p:pic>
    </p:spTree>
    <p:extLst>
      <p:ext uri="{BB962C8B-B14F-4D97-AF65-F5344CB8AC3E}">
        <p14:creationId xmlns:p14="http://schemas.microsoft.com/office/powerpoint/2010/main" val="24764952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963E6-FF9D-D1AB-5E40-50594D67A5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C9B1CCD-B9E7-FE9F-F193-9F50FA86407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1892CC-FCB7-FD8E-1991-29FD9176F31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220EC39-491B-C94F-722C-A474B8A6AB4C}"/>
              </a:ext>
            </a:extLst>
          </p:cNvPr>
          <p:cNvGraphicFramePr/>
          <p:nvPr>
            <p:extLst>
              <p:ext uri="{D42A27DB-BD31-4B8C-83A1-F6EECF244321}">
                <p14:modId xmlns:p14="http://schemas.microsoft.com/office/powerpoint/2010/main" val="2697508116"/>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CC028DA6-AC36-C2B3-53C4-FDDCFA844004}"/>
              </a:ext>
            </a:extLst>
          </p:cNvPr>
          <p:cNvSpPr txBox="1">
            <a:spLocks/>
          </p:cNvSpPr>
          <p:nvPr/>
        </p:nvSpPr>
        <p:spPr>
          <a:xfrm>
            <a:off x="138063" y="52401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b="0" kern="0" spc="-80" dirty="0">
                <a:solidFill>
                  <a:schemeClr val="accent2"/>
                </a:solidFill>
              </a:rPr>
              <a:t>  </a:t>
            </a:r>
          </a:p>
        </p:txBody>
      </p:sp>
      <p:sp>
        <p:nvSpPr>
          <p:cNvPr id="3" name="object 2">
            <a:extLst>
              <a:ext uri="{FF2B5EF4-FFF2-40B4-BE49-F238E27FC236}">
                <a16:creationId xmlns:a16="http://schemas.microsoft.com/office/drawing/2014/main" id="{C173EE46-8201-8A31-198D-D1A8D6C0D13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C565AAA-BECD-8FB6-1115-7E45DDDC712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bject 2">
            <a:extLst>
              <a:ext uri="{FF2B5EF4-FFF2-40B4-BE49-F238E27FC236}">
                <a16:creationId xmlns:a16="http://schemas.microsoft.com/office/drawing/2014/main" id="{55DDCE19-5649-9C33-BA03-FF5DCB95FA69}"/>
              </a:ext>
            </a:extLst>
          </p:cNvPr>
          <p:cNvSpPr txBox="1">
            <a:spLocks/>
          </p:cNvSpPr>
          <p:nvPr/>
        </p:nvSpPr>
        <p:spPr>
          <a:xfrm>
            <a:off x="76200" y="762000"/>
            <a:ext cx="8624937" cy="50167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A very Common Canonical Architecture</a:t>
            </a:r>
          </a:p>
          <a:p>
            <a:pPr marL="12700" marR="5080"/>
            <a:r>
              <a:rPr lang="en-US" sz="1300" kern="0" spc="-80" dirty="0">
                <a:solidFill>
                  <a:schemeClr val="accent6"/>
                </a:solidFill>
              </a:rPr>
              <a:t>External System</a:t>
            </a:r>
          </a:p>
          <a:p>
            <a:pPr marL="12700" marR="5080"/>
            <a:r>
              <a:rPr lang="en-US" sz="1300" kern="0" spc="-80" dirty="0">
                <a:solidFill>
                  <a:schemeClr val="accent6"/>
                </a:solidFill>
              </a:rPr>
              <a:t>   │</a:t>
            </a:r>
          </a:p>
          <a:p>
            <a:pPr marL="12700" marR="5080"/>
            <a:r>
              <a:rPr lang="en-US" sz="1300" kern="0" spc="-80" dirty="0">
                <a:solidFill>
                  <a:schemeClr val="accent6"/>
                </a:solidFill>
              </a:rPr>
              <a:t>   │  (HTTP GET - pull)[or can be some SFTP file drop or something similar as well]</a:t>
            </a:r>
          </a:p>
          <a:p>
            <a:pPr marL="12700" marR="5080"/>
            <a:r>
              <a:rPr lang="en-US" sz="1300" kern="0" spc="-80" dirty="0">
                <a:solidFill>
                  <a:schemeClr val="accent6"/>
                </a:solidFill>
              </a:rPr>
              <a:t>   ▼</a:t>
            </a:r>
          </a:p>
          <a:p>
            <a:pPr marL="12700" marR="5080"/>
            <a:r>
              <a:rPr lang="en-US" sz="1300" kern="0" spc="-80" dirty="0">
                <a:solidFill>
                  <a:schemeClr val="accent6"/>
                </a:solidFill>
              </a:rPr>
              <a:t>Ingestion Service / Poller</a:t>
            </a:r>
          </a:p>
          <a:p>
            <a:pPr marL="12700" marR="5080"/>
            <a:r>
              <a:rPr lang="en-US" sz="1300" kern="0" spc="-80" dirty="0">
                <a:solidFill>
                  <a:schemeClr val="accent6"/>
                </a:solidFill>
              </a:rPr>
              <a:t>   │</a:t>
            </a:r>
          </a:p>
          <a:p>
            <a:pPr marL="12700" marR="5080"/>
            <a:r>
              <a:rPr lang="en-US" sz="1300" kern="0" spc="-80" dirty="0">
                <a:solidFill>
                  <a:schemeClr val="accent6"/>
                </a:solidFill>
              </a:rPr>
              <a:t>   │  (Publish events)[Can have intermediate processing steps like normalization, processing, storage </a:t>
            </a:r>
            <a:r>
              <a:rPr lang="en-US" sz="1300" kern="0" spc="-80" dirty="0" err="1">
                <a:solidFill>
                  <a:schemeClr val="accent6"/>
                </a:solidFill>
              </a:rPr>
              <a:t>etc</a:t>
            </a:r>
            <a:r>
              <a:rPr lang="en-US" sz="1300" kern="0" spc="-80" dirty="0">
                <a:solidFill>
                  <a:schemeClr val="accent6"/>
                </a:solidFill>
              </a:rPr>
              <a:t>]</a:t>
            </a:r>
          </a:p>
          <a:p>
            <a:pPr marL="12700" marR="5080"/>
            <a:r>
              <a:rPr lang="en-US" sz="1300" kern="0" spc="-80" dirty="0">
                <a:solidFill>
                  <a:schemeClr val="accent6"/>
                </a:solidFill>
              </a:rPr>
              <a:t>   ▼</a:t>
            </a:r>
          </a:p>
          <a:p>
            <a:pPr marL="12700" marR="5080"/>
            <a:r>
              <a:rPr lang="en-US" sz="1300" kern="0" spc="-80" dirty="0">
                <a:solidFill>
                  <a:schemeClr val="accent6"/>
                </a:solidFill>
              </a:rPr>
              <a:t>Public Pub/Sub (Kafka / SNS / </a:t>
            </a:r>
            <a:r>
              <a:rPr lang="en-US" sz="1300" kern="0" spc="-80" dirty="0" err="1">
                <a:solidFill>
                  <a:schemeClr val="accent6"/>
                </a:solidFill>
              </a:rPr>
              <a:t>PubSub</a:t>
            </a:r>
            <a:r>
              <a:rPr lang="en-US" sz="1300" kern="0" spc="-80" dirty="0">
                <a:solidFill>
                  <a:schemeClr val="accent6"/>
                </a:solidFill>
              </a:rPr>
              <a:t> / Event Hub)</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Subscribers / Consumers</a:t>
            </a:r>
          </a:p>
          <a:p>
            <a:pPr marL="12700" marR="5080"/>
            <a:r>
              <a:rPr lang="en-US" sz="1700" kern="0" spc="-80" dirty="0">
                <a:solidFill>
                  <a:schemeClr val="accent2"/>
                </a:solidFill>
              </a:rPr>
              <a:t>How It Works (Step-by-Step)</a:t>
            </a:r>
          </a:p>
          <a:p>
            <a:pPr marL="12700" marR="5080"/>
            <a:r>
              <a:rPr lang="en-US" sz="1300" kern="0" spc="-80" dirty="0">
                <a:solidFill>
                  <a:schemeClr val="accent2"/>
                </a:solidFill>
              </a:rPr>
              <a:t>Ingestion service periodically calls the external GET API</a:t>
            </a:r>
          </a:p>
          <a:p>
            <a:pPr marL="12700" marR="5080"/>
            <a:r>
              <a:rPr lang="en-US" sz="1300" kern="0" spc="-80" dirty="0">
                <a:solidFill>
                  <a:schemeClr val="accent6"/>
                </a:solidFill>
              </a:rPr>
              <a:t>Cron</a:t>
            </a:r>
          </a:p>
          <a:p>
            <a:pPr marL="12700" marR="5080"/>
            <a:r>
              <a:rPr lang="en-US" sz="1300" kern="0" spc="-80" dirty="0">
                <a:solidFill>
                  <a:schemeClr val="accent6"/>
                </a:solidFill>
              </a:rPr>
              <a:t>Scheduled job</a:t>
            </a:r>
          </a:p>
          <a:p>
            <a:pPr marL="12700" marR="5080"/>
            <a:r>
              <a:rPr lang="en-US" sz="1300" kern="0" spc="-80" dirty="0">
                <a:solidFill>
                  <a:schemeClr val="accent6"/>
                </a:solidFill>
              </a:rPr>
              <a:t>Event-triggered poll</a:t>
            </a:r>
          </a:p>
          <a:p>
            <a:pPr marL="12700" marR="5080"/>
            <a:r>
              <a:rPr lang="en-US" sz="1300" kern="0" spc="-80" dirty="0">
                <a:solidFill>
                  <a:schemeClr val="accent2"/>
                </a:solidFill>
              </a:rPr>
              <a:t>It:</a:t>
            </a:r>
          </a:p>
          <a:p>
            <a:pPr marL="12700" marR="5080"/>
            <a:r>
              <a:rPr lang="en-US" sz="1300" kern="0" spc="-80" dirty="0">
                <a:solidFill>
                  <a:schemeClr val="accent6"/>
                </a:solidFill>
              </a:rPr>
              <a:t>Parses response</a:t>
            </a:r>
          </a:p>
          <a:p>
            <a:pPr marL="12700" marR="5080"/>
            <a:r>
              <a:rPr lang="en-US" sz="1300" kern="0" spc="-80" dirty="0">
                <a:solidFill>
                  <a:schemeClr val="accent6"/>
                </a:solidFill>
              </a:rPr>
              <a:t>Normalizes data</a:t>
            </a:r>
          </a:p>
          <a:p>
            <a:pPr marL="12700" marR="5080"/>
            <a:r>
              <a:rPr lang="en-US" sz="1300" kern="0" spc="-80" dirty="0">
                <a:solidFill>
                  <a:schemeClr val="accent6"/>
                </a:solidFill>
              </a:rPr>
              <a:t>Deduplicates (important)</a:t>
            </a:r>
          </a:p>
          <a:p>
            <a:pPr marL="12700" marR="5080"/>
            <a:r>
              <a:rPr lang="en-US" sz="1300" kern="0" spc="-80" dirty="0">
                <a:solidFill>
                  <a:schemeClr val="accent6"/>
                </a:solidFill>
              </a:rPr>
              <a:t>Converts responses → events</a:t>
            </a:r>
          </a:p>
          <a:p>
            <a:pPr marL="12700" marR="5080"/>
            <a:r>
              <a:rPr lang="en-US" sz="1300" kern="0" spc="-80" dirty="0">
                <a:solidFill>
                  <a:schemeClr val="accent6"/>
                </a:solidFill>
              </a:rPr>
              <a:t>Publishes events to public Pub/Sub topic</a:t>
            </a:r>
          </a:p>
        </p:txBody>
      </p:sp>
    </p:spTree>
    <p:extLst>
      <p:ext uri="{BB962C8B-B14F-4D97-AF65-F5344CB8AC3E}">
        <p14:creationId xmlns:p14="http://schemas.microsoft.com/office/powerpoint/2010/main" val="3060099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65A70-ED35-4B30-A7C3-8A05720840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0BAED95-3D2E-8A80-9FEB-8BDEEE99477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D7329A-0C9B-E858-B801-175543C6D12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8A0B5E6-163C-F74D-74CC-28633656B720}"/>
              </a:ext>
            </a:extLst>
          </p:cNvPr>
          <p:cNvGraphicFramePr/>
          <p:nvPr>
            <p:extLst>
              <p:ext uri="{D42A27DB-BD31-4B8C-83A1-F6EECF244321}">
                <p14:modId xmlns:p14="http://schemas.microsoft.com/office/powerpoint/2010/main" val="4154441516"/>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5B93B429-4E62-943E-D285-2AD4B5E39722}"/>
              </a:ext>
            </a:extLst>
          </p:cNvPr>
          <p:cNvSpPr txBox="1">
            <a:spLocks/>
          </p:cNvSpPr>
          <p:nvPr/>
        </p:nvSpPr>
        <p:spPr>
          <a:xfrm>
            <a:off x="138063" y="52401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b="0" kern="0" spc="-80" dirty="0">
                <a:solidFill>
                  <a:schemeClr val="accent2"/>
                </a:solidFill>
              </a:rPr>
              <a:t>  </a:t>
            </a:r>
          </a:p>
        </p:txBody>
      </p:sp>
      <p:sp>
        <p:nvSpPr>
          <p:cNvPr id="3" name="object 2">
            <a:extLst>
              <a:ext uri="{FF2B5EF4-FFF2-40B4-BE49-F238E27FC236}">
                <a16:creationId xmlns:a16="http://schemas.microsoft.com/office/drawing/2014/main" id="{051056D8-0E2B-567E-E0E4-EEBB69279F6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D967912-9D14-E2BD-98FE-BA1FEE1B799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bject 2">
            <a:extLst>
              <a:ext uri="{FF2B5EF4-FFF2-40B4-BE49-F238E27FC236}">
                <a16:creationId xmlns:a16="http://schemas.microsoft.com/office/drawing/2014/main" id="{D1563BA9-EFE6-DD71-52D1-3DC1B2F284A7}"/>
              </a:ext>
            </a:extLst>
          </p:cNvPr>
          <p:cNvSpPr txBox="1">
            <a:spLocks/>
          </p:cNvSpPr>
          <p:nvPr/>
        </p:nvSpPr>
        <p:spPr>
          <a:xfrm>
            <a:off x="76200" y="762000"/>
            <a:ext cx="8624937"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 very Common Canonical Architecture</a:t>
            </a:r>
          </a:p>
          <a:p>
            <a:pPr marL="12700" marR="5080"/>
            <a:r>
              <a:rPr lang="en-US" sz="1700" kern="0" spc="-80" dirty="0">
                <a:solidFill>
                  <a:schemeClr val="accent2"/>
                </a:solidFill>
              </a:rPr>
              <a:t>Key Design Challenges (Important ⚠️)</a:t>
            </a:r>
          </a:p>
          <a:p>
            <a:pPr marL="12700" marR="5080"/>
            <a:r>
              <a:rPr lang="en-US" sz="1300" kern="0" spc="-80" dirty="0">
                <a:solidFill>
                  <a:schemeClr val="accent2"/>
                </a:solidFill>
              </a:rPr>
              <a:t>2. Polling Frequency vs Rate Limits</a:t>
            </a:r>
          </a:p>
          <a:p>
            <a:pPr marL="12700" marR="5080"/>
            <a:r>
              <a:rPr lang="en-US" sz="1300" kern="0" spc="-80" dirty="0">
                <a:solidFill>
                  <a:schemeClr val="accent2"/>
                </a:solidFill>
              </a:rPr>
              <a:t>Strategies:</a:t>
            </a:r>
          </a:p>
          <a:p>
            <a:pPr marL="12700" marR="5080"/>
            <a:r>
              <a:rPr lang="en-US" sz="1300" kern="0" spc="-80" dirty="0">
                <a:solidFill>
                  <a:schemeClr val="accent6"/>
                </a:solidFill>
              </a:rPr>
              <a:t>Adaptive polling</a:t>
            </a:r>
          </a:p>
          <a:p>
            <a:pPr marL="12700" marR="5080"/>
            <a:r>
              <a:rPr lang="en-US" sz="1300" kern="0" spc="-80" dirty="0">
                <a:solidFill>
                  <a:schemeClr val="accent6"/>
                </a:solidFill>
              </a:rPr>
              <a:t>Backoff on 429</a:t>
            </a:r>
          </a:p>
          <a:p>
            <a:pPr marL="12700" marR="5080"/>
            <a:r>
              <a:rPr lang="en-US" sz="1300" kern="0" spc="-80" dirty="0">
                <a:solidFill>
                  <a:schemeClr val="accent6"/>
                </a:solidFill>
              </a:rPr>
              <a:t>Delta endpoints (since=...)</a:t>
            </a:r>
          </a:p>
          <a:p>
            <a:pPr marL="12700" marR="5080"/>
            <a:r>
              <a:rPr lang="en-US" sz="1300" kern="0" spc="-80" dirty="0">
                <a:solidFill>
                  <a:schemeClr val="accent6"/>
                </a:solidFill>
              </a:rPr>
              <a:t>Change Data Capture APIs (if available)</a:t>
            </a:r>
          </a:p>
          <a:p>
            <a:pPr marL="12700" marR="5080"/>
            <a:r>
              <a:rPr lang="en-US" sz="1300" kern="0" spc="-80" dirty="0">
                <a:solidFill>
                  <a:schemeClr val="accent2"/>
                </a:solidFill>
              </a:rPr>
              <a:t>3. Event Semantics Mismatch</a:t>
            </a:r>
          </a:p>
          <a:p>
            <a:pPr marL="12700" marR="5080"/>
            <a:r>
              <a:rPr lang="en-US" sz="1300" kern="0" spc="-80" dirty="0">
                <a:solidFill>
                  <a:schemeClr val="accent2"/>
                </a:solidFill>
              </a:rPr>
              <a:t>GET API	      Pub/Sub</a:t>
            </a:r>
          </a:p>
          <a:p>
            <a:pPr marL="12700" marR="5080"/>
            <a:r>
              <a:rPr lang="en-US" sz="1300" kern="0" spc="-80" dirty="0">
                <a:solidFill>
                  <a:schemeClr val="accent6"/>
                </a:solidFill>
              </a:rPr>
              <a:t>Snapshot	      Event</a:t>
            </a:r>
          </a:p>
          <a:p>
            <a:pPr marL="12700" marR="5080"/>
            <a:r>
              <a:rPr lang="en-US" sz="1300" kern="0" spc="-80" dirty="0">
                <a:solidFill>
                  <a:schemeClr val="accent6"/>
                </a:solidFill>
              </a:rPr>
              <a:t>Pull	      Push</a:t>
            </a:r>
          </a:p>
          <a:p>
            <a:pPr marL="12700" marR="5080"/>
            <a:r>
              <a:rPr lang="en-US" sz="1300" kern="0" spc="-80" dirty="0">
                <a:solidFill>
                  <a:schemeClr val="accent6"/>
                </a:solidFill>
              </a:rPr>
              <a:t>State-based	      Change-based</a:t>
            </a:r>
          </a:p>
          <a:p>
            <a:pPr marL="12700" marR="5080"/>
            <a:r>
              <a:rPr lang="en-US" sz="1300" kern="0" spc="-80" dirty="0">
                <a:solidFill>
                  <a:schemeClr val="accent2"/>
                </a:solidFill>
              </a:rPr>
              <a:t>You must decide event meaning:</a:t>
            </a:r>
          </a:p>
          <a:p>
            <a:pPr marL="12700" marR="5080"/>
            <a:r>
              <a:rPr lang="en-US" sz="1300" kern="0" spc="-80" dirty="0" err="1">
                <a:solidFill>
                  <a:schemeClr val="accent6"/>
                </a:solidFill>
              </a:rPr>
              <a:t>EntityCreated</a:t>
            </a:r>
            <a:endParaRPr lang="en-US" sz="1300" kern="0" spc="-80" dirty="0">
              <a:solidFill>
                <a:schemeClr val="accent6"/>
              </a:solidFill>
            </a:endParaRPr>
          </a:p>
          <a:p>
            <a:pPr marL="12700" marR="5080"/>
            <a:r>
              <a:rPr lang="en-US" sz="1300" kern="0" spc="-80" dirty="0" err="1">
                <a:solidFill>
                  <a:schemeClr val="accent6"/>
                </a:solidFill>
              </a:rPr>
              <a:t>EntityUpdated</a:t>
            </a:r>
            <a:endParaRPr lang="en-US" sz="1300" kern="0" spc="-80" dirty="0">
              <a:solidFill>
                <a:schemeClr val="accent6"/>
              </a:solidFill>
            </a:endParaRPr>
          </a:p>
          <a:p>
            <a:pPr marL="12700" marR="5080"/>
            <a:r>
              <a:rPr lang="en-US" sz="1300" kern="0" spc="-80" dirty="0" err="1">
                <a:solidFill>
                  <a:schemeClr val="accent6"/>
                </a:solidFill>
              </a:rPr>
              <a:t>EntityDeleted</a:t>
            </a:r>
            <a:endParaRPr lang="en-US" sz="1300" kern="0" spc="-80" dirty="0">
              <a:solidFill>
                <a:schemeClr val="accent6"/>
              </a:solidFill>
            </a:endParaRPr>
          </a:p>
          <a:p>
            <a:pPr marL="12700" marR="5080"/>
            <a:r>
              <a:rPr lang="en-US" sz="1300" kern="0" spc="-80" dirty="0" err="1">
                <a:solidFill>
                  <a:schemeClr val="accent6"/>
                </a:solidFill>
              </a:rPr>
              <a:t>SnapshotRefreshed</a:t>
            </a:r>
            <a:endParaRPr lang="en-US" sz="1300" kern="0" spc="-80" dirty="0">
              <a:solidFill>
                <a:schemeClr val="accent6"/>
              </a:solidFill>
            </a:endParaRPr>
          </a:p>
          <a:p>
            <a:pPr marL="12700" marR="5080"/>
            <a:endParaRPr lang="en-US" sz="1300" kern="0" spc="-80" dirty="0">
              <a:solidFill>
                <a:schemeClr val="accent6"/>
              </a:solidFill>
            </a:endParaRPr>
          </a:p>
          <a:p>
            <a:pPr marL="12700" marR="5080"/>
            <a:r>
              <a:rPr lang="en-US" sz="1700" kern="0" spc="-80" dirty="0">
                <a:solidFill>
                  <a:schemeClr val="accent2"/>
                </a:solidFill>
              </a:rPr>
              <a:t>When This Is a Good Idea ✅</a:t>
            </a:r>
          </a:p>
          <a:p>
            <a:pPr marL="12700" marR="5080"/>
            <a:r>
              <a:rPr lang="en-US" sz="1300" kern="0" spc="-80" dirty="0">
                <a:solidFill>
                  <a:schemeClr val="accent6"/>
                </a:solidFill>
              </a:rPr>
              <a:t>✔ External system does not support webhooks</a:t>
            </a:r>
          </a:p>
          <a:p>
            <a:pPr marL="12700" marR="5080"/>
            <a:r>
              <a:rPr lang="en-US" sz="1300" kern="0" spc="-80" dirty="0">
                <a:solidFill>
                  <a:schemeClr val="accent6"/>
                </a:solidFill>
              </a:rPr>
              <a:t>✔ Legacy systems</a:t>
            </a:r>
          </a:p>
          <a:p>
            <a:pPr marL="12700" marR="5080"/>
            <a:r>
              <a:rPr lang="en-US" sz="1300" kern="0" spc="-80" dirty="0">
                <a:solidFill>
                  <a:schemeClr val="accent6"/>
                </a:solidFill>
              </a:rPr>
              <a:t>✔ Read-only integrations</a:t>
            </a:r>
          </a:p>
          <a:p>
            <a:pPr marL="12700" marR="5080"/>
            <a:r>
              <a:rPr lang="en-US" sz="1300" kern="0" spc="-80" dirty="0">
                <a:solidFill>
                  <a:schemeClr val="accent6"/>
                </a:solidFill>
              </a:rPr>
              <a:t>✔ Low-frequency updates</a:t>
            </a:r>
          </a:p>
          <a:p>
            <a:pPr marL="12700" marR="5080"/>
            <a:r>
              <a:rPr lang="en-US" sz="1300" kern="0" spc="-80" dirty="0">
                <a:solidFill>
                  <a:schemeClr val="accent6"/>
                </a:solidFill>
              </a:rPr>
              <a:t>✔ Eventually consistent systems</a:t>
            </a:r>
          </a:p>
        </p:txBody>
      </p:sp>
    </p:spTree>
    <p:extLst>
      <p:ext uri="{BB962C8B-B14F-4D97-AF65-F5344CB8AC3E}">
        <p14:creationId xmlns:p14="http://schemas.microsoft.com/office/powerpoint/2010/main" val="2678035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38563-EA2D-8B3C-9E1A-E80B18BCFA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492956-5D09-2250-D67D-BDEFA2A1155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AEB8BB-C30B-AD44-CD84-68EA8630C4F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CA9E274-5900-C3D4-E85D-954BA86BDC69}"/>
              </a:ext>
            </a:extLst>
          </p:cNvPr>
          <p:cNvGraphicFramePr/>
          <p:nvPr>
            <p:extLst>
              <p:ext uri="{D42A27DB-BD31-4B8C-83A1-F6EECF244321}">
                <p14:modId xmlns:p14="http://schemas.microsoft.com/office/powerpoint/2010/main" val="344825155"/>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C9A8A547-82F7-6F43-85D7-6D0442464F61}"/>
              </a:ext>
            </a:extLst>
          </p:cNvPr>
          <p:cNvSpPr txBox="1">
            <a:spLocks/>
          </p:cNvSpPr>
          <p:nvPr/>
        </p:nvSpPr>
        <p:spPr>
          <a:xfrm>
            <a:off x="138063" y="52401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b="0" kern="0" spc="-80" dirty="0">
                <a:solidFill>
                  <a:schemeClr val="accent2"/>
                </a:solidFill>
              </a:rPr>
              <a:t>  </a:t>
            </a:r>
          </a:p>
        </p:txBody>
      </p:sp>
      <p:sp>
        <p:nvSpPr>
          <p:cNvPr id="3" name="object 2">
            <a:extLst>
              <a:ext uri="{FF2B5EF4-FFF2-40B4-BE49-F238E27FC236}">
                <a16:creationId xmlns:a16="http://schemas.microsoft.com/office/drawing/2014/main" id="{81F6EB71-99DF-839B-D53E-85BAF78B27E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A81D8C5-5020-C5D4-82C3-8A5A4CD69F1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bject 2">
            <a:extLst>
              <a:ext uri="{FF2B5EF4-FFF2-40B4-BE49-F238E27FC236}">
                <a16:creationId xmlns:a16="http://schemas.microsoft.com/office/drawing/2014/main" id="{430106B9-2F30-DBA6-00A1-4F15F386A232}"/>
              </a:ext>
            </a:extLst>
          </p:cNvPr>
          <p:cNvSpPr txBox="1">
            <a:spLocks/>
          </p:cNvSpPr>
          <p:nvPr/>
        </p:nvSpPr>
        <p:spPr>
          <a:xfrm>
            <a:off x="76200" y="762000"/>
            <a:ext cx="8624937" cy="40318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 very Common Canonical Architecture</a:t>
            </a:r>
          </a:p>
          <a:p>
            <a:pPr marL="12700" marR="5080"/>
            <a:r>
              <a:rPr lang="en-US" sz="1700" kern="0" spc="-80" dirty="0">
                <a:solidFill>
                  <a:schemeClr val="accent2"/>
                </a:solidFill>
              </a:rPr>
              <a:t>When This Is a Bad Idea ❌</a:t>
            </a:r>
          </a:p>
          <a:p>
            <a:pPr marL="12700" marR="5080"/>
            <a:r>
              <a:rPr lang="en-US" sz="1300" kern="0" spc="-80" dirty="0">
                <a:solidFill>
                  <a:schemeClr val="accent6"/>
                </a:solidFill>
              </a:rPr>
              <a:t>❌ High-frequency, low-latency requirements</a:t>
            </a:r>
          </a:p>
          <a:p>
            <a:pPr marL="12700" marR="5080"/>
            <a:r>
              <a:rPr lang="en-US" sz="1300" kern="0" spc="-80" dirty="0">
                <a:solidFill>
                  <a:schemeClr val="accent6"/>
                </a:solidFill>
              </a:rPr>
              <a:t>❌ Strict ordering guarantees</a:t>
            </a:r>
          </a:p>
          <a:p>
            <a:pPr marL="12700" marR="5080"/>
            <a:r>
              <a:rPr lang="en-US" sz="1300" kern="0" spc="-80" dirty="0">
                <a:solidFill>
                  <a:schemeClr val="accent6"/>
                </a:solidFill>
              </a:rPr>
              <a:t>❌ Real-time trading / payments</a:t>
            </a:r>
          </a:p>
          <a:p>
            <a:pPr marL="12700" marR="5080"/>
            <a:r>
              <a:rPr lang="en-US" sz="1300" kern="0" spc="-80" dirty="0">
                <a:solidFill>
                  <a:schemeClr val="accent6"/>
                </a:solidFill>
              </a:rPr>
              <a:t>❌ APIs with no delta support</a:t>
            </a:r>
          </a:p>
          <a:p>
            <a:pPr marL="12700" marR="5080"/>
            <a:r>
              <a:rPr lang="en-US" sz="1300" kern="0" spc="-80" dirty="0">
                <a:solidFill>
                  <a:schemeClr val="accent2"/>
                </a:solidFill>
              </a:rPr>
              <a:t>In such cases, prefer:</a:t>
            </a:r>
          </a:p>
          <a:p>
            <a:pPr marL="12700" marR="5080"/>
            <a:r>
              <a:rPr lang="en-US" sz="1300" kern="0" spc="-80" dirty="0">
                <a:solidFill>
                  <a:schemeClr val="accent6"/>
                </a:solidFill>
              </a:rPr>
              <a:t>Webhooks</a:t>
            </a:r>
          </a:p>
          <a:p>
            <a:pPr marL="12700" marR="5080"/>
            <a:r>
              <a:rPr lang="en-US" sz="1300" kern="0" spc="-80" dirty="0">
                <a:solidFill>
                  <a:schemeClr val="accent6"/>
                </a:solidFill>
              </a:rPr>
              <a:t>Streaming APIs</a:t>
            </a:r>
          </a:p>
          <a:p>
            <a:pPr marL="12700" marR="5080"/>
            <a:r>
              <a:rPr lang="en-US" sz="1300" kern="0" spc="-80" dirty="0">
                <a:solidFill>
                  <a:schemeClr val="accent6"/>
                </a:solidFill>
              </a:rPr>
              <a:t>CDC</a:t>
            </a:r>
          </a:p>
          <a:p>
            <a:pPr marL="12700" marR="5080"/>
            <a:r>
              <a:rPr lang="en-US" sz="1300" kern="0" spc="-80" dirty="0">
                <a:solidFill>
                  <a:schemeClr val="accent6"/>
                </a:solidFill>
              </a:rPr>
              <a:t>Message-based integration</a:t>
            </a:r>
          </a:p>
          <a:p>
            <a:pPr marL="12700" marR="5080"/>
            <a:endParaRPr lang="en-US" sz="1300" kern="0" spc="-80" dirty="0">
              <a:solidFill>
                <a:schemeClr val="accent6"/>
              </a:solidFill>
            </a:endParaRPr>
          </a:p>
          <a:p>
            <a:pPr marL="12700" marR="5080"/>
            <a:r>
              <a:rPr lang="en-US" sz="1700" kern="0" spc="-80" dirty="0">
                <a:solidFill>
                  <a:schemeClr val="accent2"/>
                </a:solidFill>
              </a:rPr>
              <a:t>Better Alternatives (If Available)</a:t>
            </a:r>
          </a:p>
          <a:p>
            <a:pPr marL="12700" marR="5080"/>
            <a:r>
              <a:rPr lang="en-US" sz="1300" kern="0" spc="-80" dirty="0">
                <a:solidFill>
                  <a:schemeClr val="accent2"/>
                </a:solidFill>
              </a:rPr>
              <a:t>Alternative	                     Why Better</a:t>
            </a:r>
          </a:p>
          <a:p>
            <a:pPr marL="12700" marR="5080"/>
            <a:r>
              <a:rPr lang="en-US" sz="1300" kern="0" spc="-80" dirty="0">
                <a:solidFill>
                  <a:schemeClr val="accent6"/>
                </a:solidFill>
              </a:rPr>
              <a:t>Webhooks	                     True push</a:t>
            </a:r>
          </a:p>
          <a:p>
            <a:pPr marL="12700" marR="5080"/>
            <a:r>
              <a:rPr lang="en-US" sz="1300" kern="0" spc="-80" dirty="0">
                <a:solidFill>
                  <a:schemeClr val="accent6"/>
                </a:solidFill>
              </a:rPr>
              <a:t>Streaming APIs	Continuous feed</a:t>
            </a:r>
          </a:p>
          <a:p>
            <a:pPr marL="12700" marR="5080"/>
            <a:r>
              <a:rPr lang="en-US" sz="1300" kern="0" spc="-80" dirty="0">
                <a:solidFill>
                  <a:schemeClr val="accent6"/>
                </a:solidFill>
              </a:rPr>
              <a:t>CDC (</a:t>
            </a:r>
            <a:r>
              <a:rPr lang="en-US" sz="1300" kern="0" spc="-80" dirty="0" err="1">
                <a:solidFill>
                  <a:schemeClr val="accent6"/>
                </a:solidFill>
              </a:rPr>
              <a:t>Debezium</a:t>
            </a:r>
            <a:r>
              <a:rPr lang="en-US" sz="1300" kern="0" spc="-80" dirty="0">
                <a:solidFill>
                  <a:schemeClr val="accent6"/>
                </a:solidFill>
              </a:rPr>
              <a:t>)	Exactly-once semantics</a:t>
            </a:r>
          </a:p>
          <a:p>
            <a:pPr marL="12700" marR="5080"/>
            <a:r>
              <a:rPr lang="en-US" sz="1300" kern="0" spc="-80" dirty="0">
                <a:solidFill>
                  <a:schemeClr val="accent6"/>
                </a:solidFill>
              </a:rPr>
              <a:t>Event APIs	                      Native event model</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514128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098F-825C-4BED-1B7A-669EB8A8BD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2895F0-281B-B7E0-681B-BC6FE61E8E2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A7FAF0-74B2-3F1E-85B7-5378F61B277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5310A6-F74E-23F8-10CD-800BD2096ACA}"/>
              </a:ext>
            </a:extLst>
          </p:cNvPr>
          <p:cNvGraphicFramePr/>
          <p:nvPr>
            <p:extLst>
              <p:ext uri="{D42A27DB-BD31-4B8C-83A1-F6EECF244321}">
                <p14:modId xmlns:p14="http://schemas.microsoft.com/office/powerpoint/2010/main" val="2250504034"/>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7256AE46-E540-A681-A83F-83833E1D88B7}"/>
              </a:ext>
            </a:extLst>
          </p:cNvPr>
          <p:cNvSpPr txBox="1">
            <a:spLocks/>
          </p:cNvSpPr>
          <p:nvPr/>
        </p:nvSpPr>
        <p:spPr>
          <a:xfrm>
            <a:off x="138063" y="52401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b="0" kern="0" spc="-80" dirty="0">
                <a:solidFill>
                  <a:schemeClr val="accent2"/>
                </a:solidFill>
              </a:rPr>
              <a:t>  </a:t>
            </a:r>
          </a:p>
        </p:txBody>
      </p:sp>
      <p:sp>
        <p:nvSpPr>
          <p:cNvPr id="3" name="object 2">
            <a:extLst>
              <a:ext uri="{FF2B5EF4-FFF2-40B4-BE49-F238E27FC236}">
                <a16:creationId xmlns:a16="http://schemas.microsoft.com/office/drawing/2014/main" id="{C839DAE6-95B3-DDF3-A01C-6F4FEC88DA2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4E168CE-9CD7-729C-8EA8-A68C752719F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bject 2">
            <a:extLst>
              <a:ext uri="{FF2B5EF4-FFF2-40B4-BE49-F238E27FC236}">
                <a16:creationId xmlns:a16="http://schemas.microsoft.com/office/drawing/2014/main" id="{AEEB167A-7499-7241-F4D5-1B609A78E4AF}"/>
              </a:ext>
            </a:extLst>
          </p:cNvPr>
          <p:cNvSpPr txBox="1">
            <a:spLocks/>
          </p:cNvSpPr>
          <p:nvPr/>
        </p:nvSpPr>
        <p:spPr>
          <a:xfrm>
            <a:off x="76200" y="762000"/>
            <a:ext cx="8624937" cy="44165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 very Common Canonical Architecture</a:t>
            </a:r>
            <a:endParaRPr lang="en-US" sz="1300" kern="0" spc="-80" dirty="0">
              <a:solidFill>
                <a:schemeClr val="accent6"/>
              </a:solidFill>
            </a:endParaRPr>
          </a:p>
          <a:p>
            <a:pPr marL="12700" marR="5080"/>
            <a:r>
              <a:rPr lang="en-US" sz="1500" kern="0" spc="-80" dirty="0">
                <a:solidFill>
                  <a:schemeClr val="accent2"/>
                </a:solidFill>
              </a:rPr>
              <a:t>A Full Enterprise Ingestion </a:t>
            </a:r>
            <a:r>
              <a:rPr lang="en-US" sz="1500" kern="0" spc="-80">
                <a:solidFill>
                  <a:schemeClr val="accent2"/>
                </a:solidFill>
              </a:rPr>
              <a:t>Platform Example</a:t>
            </a:r>
            <a:endParaRPr lang="en-US" sz="1500" kern="0" spc="-80" dirty="0">
              <a:solidFill>
                <a:schemeClr val="accent2"/>
              </a:solidFill>
            </a:endParaRPr>
          </a:p>
          <a:p>
            <a:pPr marL="12700" marR="5080"/>
            <a:r>
              <a:rPr lang="en-US" sz="1300" kern="0" spc="-80" dirty="0">
                <a:solidFill>
                  <a:schemeClr val="accent6"/>
                </a:solidFill>
              </a:rPr>
              <a:t>Sources</a:t>
            </a:r>
          </a:p>
          <a:p>
            <a:pPr marL="12700" marR="5080"/>
            <a:r>
              <a:rPr lang="en-US" sz="1300" kern="0" spc="-80" dirty="0">
                <a:solidFill>
                  <a:schemeClr val="accent6"/>
                </a:solidFill>
              </a:rPr>
              <a:t> ├── APIs</a:t>
            </a:r>
          </a:p>
          <a:p>
            <a:pPr marL="12700" marR="5080"/>
            <a:r>
              <a:rPr lang="en-US" sz="1300" kern="0" spc="-80" dirty="0">
                <a:solidFill>
                  <a:schemeClr val="accent6"/>
                </a:solidFill>
              </a:rPr>
              <a:t> ├── Files</a:t>
            </a:r>
          </a:p>
          <a:p>
            <a:pPr marL="12700" marR="5080"/>
            <a:r>
              <a:rPr lang="en-US" sz="1300" kern="0" spc="-80" dirty="0">
                <a:solidFill>
                  <a:schemeClr val="accent6"/>
                </a:solidFill>
              </a:rPr>
              <a:t> ├── CDC</a:t>
            </a:r>
          </a:p>
          <a:p>
            <a:pPr marL="12700" marR="5080"/>
            <a:r>
              <a:rPr lang="en-US" sz="1300" kern="0" spc="-80" dirty="0">
                <a:solidFill>
                  <a:schemeClr val="accent6"/>
                </a:solidFill>
              </a:rPr>
              <a:t> ├── Streams</a:t>
            </a:r>
          </a:p>
          <a:p>
            <a:pPr marL="12700" marR="5080"/>
            <a:r>
              <a:rPr lang="en-US" sz="1300" kern="0" spc="-80" dirty="0">
                <a:solidFill>
                  <a:schemeClr val="accent6"/>
                </a:solidFill>
              </a:rPr>
              <a:t> ↓</a:t>
            </a:r>
          </a:p>
          <a:p>
            <a:pPr marL="12700" marR="5080"/>
            <a:r>
              <a:rPr lang="en-US" sz="1300" kern="0" spc="-80" dirty="0">
                <a:solidFill>
                  <a:schemeClr val="accent6"/>
                </a:solidFill>
              </a:rPr>
              <a:t>Unified Ingestion Layer</a:t>
            </a:r>
          </a:p>
          <a:p>
            <a:pPr marL="12700" marR="5080"/>
            <a:r>
              <a:rPr lang="en-US" sz="1300" kern="0" spc="-80" dirty="0">
                <a:solidFill>
                  <a:schemeClr val="accent6"/>
                </a:solidFill>
              </a:rPr>
              <a:t> ├── Validation</a:t>
            </a:r>
          </a:p>
          <a:p>
            <a:pPr marL="12700" marR="5080"/>
            <a:r>
              <a:rPr lang="en-US" sz="1300" kern="0" spc="-80" dirty="0">
                <a:solidFill>
                  <a:schemeClr val="accent6"/>
                </a:solidFill>
              </a:rPr>
              <a:t> ├── Schema Registry</a:t>
            </a:r>
          </a:p>
          <a:p>
            <a:pPr marL="12700" marR="5080"/>
            <a:r>
              <a:rPr lang="en-US" sz="1300" kern="0" spc="-80" dirty="0">
                <a:solidFill>
                  <a:schemeClr val="accent6"/>
                </a:solidFill>
              </a:rPr>
              <a:t> ├── Idempotency</a:t>
            </a:r>
          </a:p>
          <a:p>
            <a:pPr marL="12700" marR="5080"/>
            <a:r>
              <a:rPr lang="en-US" sz="1300" kern="0" spc="-80" dirty="0">
                <a:solidFill>
                  <a:schemeClr val="accent6"/>
                </a:solidFill>
              </a:rPr>
              <a:t> ↓</a:t>
            </a:r>
          </a:p>
          <a:p>
            <a:pPr marL="12700" marR="5080"/>
            <a:r>
              <a:rPr lang="en-US" sz="1300" kern="0" spc="-80" dirty="0">
                <a:solidFill>
                  <a:schemeClr val="accent6"/>
                </a:solidFill>
              </a:rPr>
              <a:t>Raw Data Lake (Immutable)</a:t>
            </a:r>
          </a:p>
          <a:p>
            <a:pPr marL="12700" marR="5080"/>
            <a:r>
              <a:rPr lang="en-US" sz="1300" kern="0" spc="-80" dirty="0">
                <a:solidFill>
                  <a:schemeClr val="accent6"/>
                </a:solidFill>
              </a:rPr>
              <a:t> ↓</a:t>
            </a:r>
          </a:p>
          <a:p>
            <a:pPr marL="12700" marR="5080"/>
            <a:r>
              <a:rPr lang="en-US" sz="1300" kern="0" spc="-80" dirty="0">
                <a:solidFill>
                  <a:schemeClr val="accent6"/>
                </a:solidFill>
              </a:rPr>
              <a:t>Curated Lake</a:t>
            </a:r>
          </a:p>
          <a:p>
            <a:pPr marL="12700" marR="5080"/>
            <a:r>
              <a:rPr lang="en-US" sz="1300" kern="0" spc="-80" dirty="0">
                <a:solidFill>
                  <a:schemeClr val="accent6"/>
                </a:solidFill>
              </a:rPr>
              <a:t> ↓</a:t>
            </a:r>
          </a:p>
          <a:p>
            <a:pPr marL="12700" marR="5080"/>
            <a:r>
              <a:rPr lang="en-US" sz="1300" kern="0" spc="-80" dirty="0">
                <a:solidFill>
                  <a:schemeClr val="accent6"/>
                </a:solidFill>
              </a:rPr>
              <a:t>Serving Stores</a:t>
            </a:r>
          </a:p>
          <a:p>
            <a:pPr marL="12700" marR="5080"/>
            <a:r>
              <a:rPr lang="en-US" sz="1300" kern="0" spc="-80" dirty="0">
                <a:solidFill>
                  <a:schemeClr val="accent6"/>
                </a:solidFill>
              </a:rPr>
              <a:t> ├── OLTP</a:t>
            </a:r>
          </a:p>
          <a:p>
            <a:pPr marL="12700" marR="5080"/>
            <a:r>
              <a:rPr lang="en-US" sz="1300" kern="0" spc="-80" dirty="0">
                <a:solidFill>
                  <a:schemeClr val="accent6"/>
                </a:solidFill>
              </a:rPr>
              <a:t> ├── OLAP</a:t>
            </a:r>
          </a:p>
          <a:p>
            <a:pPr marL="12700" marR="5080"/>
            <a:r>
              <a:rPr lang="en-US" sz="1300" kern="0" spc="-80" dirty="0">
                <a:solidFill>
                  <a:schemeClr val="accent6"/>
                </a:solidFill>
              </a:rPr>
              <a:t> ├── Search</a:t>
            </a:r>
          </a:p>
        </p:txBody>
      </p:sp>
    </p:spTree>
    <p:extLst>
      <p:ext uri="{BB962C8B-B14F-4D97-AF65-F5344CB8AC3E}">
        <p14:creationId xmlns:p14="http://schemas.microsoft.com/office/powerpoint/2010/main" val="2599073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FA15-E376-9C23-FBA6-23C45DA6A78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A79E33-E673-629B-5063-6DEB0325A04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3B3F56-6D9A-A49D-FA98-111C60B4A6A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6B351F-A6B3-C798-35A4-245F649977E6}"/>
              </a:ext>
            </a:extLst>
          </p:cNvPr>
          <p:cNvGraphicFramePr/>
          <p:nvPr>
            <p:extLst>
              <p:ext uri="{D42A27DB-BD31-4B8C-83A1-F6EECF244321}">
                <p14:modId xmlns:p14="http://schemas.microsoft.com/office/powerpoint/2010/main" val="1756435631"/>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B182E3A2-8A0A-E4E6-0C89-43C2DA29A4C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DC3C5A9-08FE-50F2-F899-0C6DB027C5C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EFC0C63-E78B-7F00-03F0-617B1E7B032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object 2">
            <a:extLst>
              <a:ext uri="{FF2B5EF4-FFF2-40B4-BE49-F238E27FC236}">
                <a16:creationId xmlns:a16="http://schemas.microsoft.com/office/drawing/2014/main" id="{6931D6DB-B612-3843-B0FC-AF6ECCCB5F6A}"/>
              </a:ext>
            </a:extLst>
          </p:cNvPr>
          <p:cNvSpPr txBox="1">
            <a:spLocks/>
          </p:cNvSpPr>
          <p:nvPr/>
        </p:nvSpPr>
        <p:spPr>
          <a:xfrm>
            <a:off x="138063" y="762000"/>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Change Data Capture (CDC) is a design pattern that identifies and captures changes in a source database and delivers those changes in real-time or near real-time to a target system. This is more efficient than full data reloads, as it only transfers incremental updates, minimizing overhead and ensuring data freshness. </a:t>
            </a:r>
          </a:p>
          <a:p>
            <a:pPr marL="12700" marR="5080"/>
            <a:endParaRPr lang="en-US" sz="1300" kern="0" spc="-80" dirty="0">
              <a:solidFill>
                <a:schemeClr val="accent6"/>
              </a:solidFill>
            </a:endParaRPr>
          </a:p>
          <a:p>
            <a:pPr marL="12700" marR="5080"/>
            <a:r>
              <a:rPr lang="en-US" sz="1700" kern="0" spc="-80" dirty="0">
                <a:solidFill>
                  <a:schemeClr val="accent2"/>
                </a:solidFill>
              </a:rPr>
              <a:t>CDC Methods</a:t>
            </a:r>
          </a:p>
        </p:txBody>
      </p:sp>
      <p:pic>
        <p:nvPicPr>
          <p:cNvPr id="11" name="Picture 10">
            <a:extLst>
              <a:ext uri="{FF2B5EF4-FFF2-40B4-BE49-F238E27FC236}">
                <a16:creationId xmlns:a16="http://schemas.microsoft.com/office/drawing/2014/main" id="{8AC64E1F-3530-FD11-DB97-CC9BBAFF50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828800"/>
            <a:ext cx="8777335" cy="2050703"/>
          </a:xfrm>
          <a:prstGeom prst="rect">
            <a:avLst/>
          </a:prstGeom>
        </p:spPr>
      </p:pic>
      <p:pic>
        <p:nvPicPr>
          <p:cNvPr id="13" name="Picture 12">
            <a:extLst>
              <a:ext uri="{FF2B5EF4-FFF2-40B4-BE49-F238E27FC236}">
                <a16:creationId xmlns:a16="http://schemas.microsoft.com/office/drawing/2014/main" id="{910BF397-47A1-B4E3-A137-8416D99CF0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8063" y="3879503"/>
            <a:ext cx="8777335" cy="2064097"/>
          </a:xfrm>
          <a:prstGeom prst="rect">
            <a:avLst/>
          </a:prstGeom>
        </p:spPr>
      </p:pic>
    </p:spTree>
    <p:extLst>
      <p:ext uri="{BB962C8B-B14F-4D97-AF65-F5344CB8AC3E}">
        <p14:creationId xmlns:p14="http://schemas.microsoft.com/office/powerpoint/2010/main" val="28768778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78860-1BB3-4CDE-14D1-3D3BB6CFAF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46E7F5-F72D-271C-BBC2-5D8A4D034E8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50BA63D-D792-36E8-8533-CEB83BA1B87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4D3AFA2-C589-6DC9-8C34-CFE47FC7511C}"/>
              </a:ext>
            </a:extLst>
          </p:cNvPr>
          <p:cNvGraphicFramePr/>
          <p:nvPr>
            <p:extLst>
              <p:ext uri="{D42A27DB-BD31-4B8C-83A1-F6EECF244321}">
                <p14:modId xmlns:p14="http://schemas.microsoft.com/office/powerpoint/2010/main" val="1077230584"/>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object 2">
            <a:extLst>
              <a:ext uri="{FF2B5EF4-FFF2-40B4-BE49-F238E27FC236}">
                <a16:creationId xmlns:a16="http://schemas.microsoft.com/office/drawing/2014/main" id="{78813ED6-AE8A-4B05-DB89-53F06842259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D78FD20-068E-3C84-6E8C-43E9D529298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BE16A57-4DEB-D432-0A09-8116E9C15B4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object 2">
            <a:extLst>
              <a:ext uri="{FF2B5EF4-FFF2-40B4-BE49-F238E27FC236}">
                <a16:creationId xmlns:a16="http://schemas.microsoft.com/office/drawing/2014/main" id="{25EF0FE6-C266-DC27-CCC9-9CF5FEAB756F}"/>
              </a:ext>
            </a:extLst>
          </p:cNvPr>
          <p:cNvSpPr txBox="1">
            <a:spLocks/>
          </p:cNvSpPr>
          <p:nvPr/>
        </p:nvSpPr>
        <p:spPr>
          <a:xfrm>
            <a:off x="138063" y="762000"/>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CDC Methods</a:t>
            </a:r>
          </a:p>
        </p:txBody>
      </p:sp>
      <p:pic>
        <p:nvPicPr>
          <p:cNvPr id="15" name="Picture 14">
            <a:extLst>
              <a:ext uri="{FF2B5EF4-FFF2-40B4-BE49-F238E27FC236}">
                <a16:creationId xmlns:a16="http://schemas.microsoft.com/office/drawing/2014/main" id="{7273A065-B25D-41B6-17A1-495D49407E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3302" y="1045438"/>
            <a:ext cx="8990697" cy="294640"/>
          </a:xfrm>
          <a:prstGeom prst="rect">
            <a:avLst/>
          </a:prstGeom>
        </p:spPr>
      </p:pic>
      <p:pic>
        <p:nvPicPr>
          <p:cNvPr id="17" name="Picture 16">
            <a:extLst>
              <a:ext uri="{FF2B5EF4-FFF2-40B4-BE49-F238E27FC236}">
                <a16:creationId xmlns:a16="http://schemas.microsoft.com/office/drawing/2014/main" id="{2E251ADC-C980-76CD-5913-F066DB6B196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2140" y="1361907"/>
            <a:ext cx="8799460" cy="2199640"/>
          </a:xfrm>
          <a:prstGeom prst="rect">
            <a:avLst/>
          </a:prstGeom>
        </p:spPr>
      </p:pic>
      <p:pic>
        <p:nvPicPr>
          <p:cNvPr id="19" name="Picture 18">
            <a:extLst>
              <a:ext uri="{FF2B5EF4-FFF2-40B4-BE49-F238E27FC236}">
                <a16:creationId xmlns:a16="http://schemas.microsoft.com/office/drawing/2014/main" id="{5A999A54-ABEC-2564-C289-F834E7EA805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2140" y="3583377"/>
            <a:ext cx="8799459" cy="2360224"/>
          </a:xfrm>
          <a:prstGeom prst="rect">
            <a:avLst/>
          </a:prstGeom>
        </p:spPr>
      </p:pic>
    </p:spTree>
    <p:extLst>
      <p:ext uri="{BB962C8B-B14F-4D97-AF65-F5344CB8AC3E}">
        <p14:creationId xmlns:p14="http://schemas.microsoft.com/office/powerpoint/2010/main" val="3894338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5F58A-75FA-0852-8E35-314E02F92A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AE899C2-3E3F-9F84-D807-3F5BF5BA485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3F9554A-FD54-63A1-3136-47E13BAF513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B2AA8C-F2EA-637C-23B5-4E018B5E6D88}"/>
              </a:ext>
            </a:extLst>
          </p:cNvPr>
          <p:cNvSpPr txBox="1">
            <a:spLocks/>
          </p:cNvSpPr>
          <p:nvPr/>
        </p:nvSpPr>
        <p:spPr>
          <a:xfrm>
            <a:off x="152400" y="762000"/>
            <a:ext cx="8624937" cy="54630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Principles of Effective CDC</a:t>
            </a:r>
          </a:p>
          <a:p>
            <a:pPr marL="12700" marR="5080"/>
            <a:r>
              <a:rPr lang="en-US" sz="1300" kern="0" spc="-80" dirty="0">
                <a:solidFill>
                  <a:schemeClr val="accent2"/>
                </a:solidFill>
              </a:rPr>
              <a:t>Minimal Impact:</a:t>
            </a:r>
            <a:r>
              <a:rPr lang="en-US" sz="1300" kern="0" spc="-80" dirty="0">
                <a:solidFill>
                  <a:schemeClr val="accent6"/>
                </a:solidFill>
              </a:rPr>
              <a:t> The CDC process should have the least possible performance impact on the source operational database.</a:t>
            </a:r>
          </a:p>
          <a:p>
            <a:pPr marL="12700" marR="5080"/>
            <a:r>
              <a:rPr lang="en-US" sz="1300" kern="0" spc="-80" dirty="0">
                <a:solidFill>
                  <a:schemeClr val="accent2"/>
                </a:solidFill>
              </a:rPr>
              <a:t>Transactional Consistency: </a:t>
            </a:r>
            <a:r>
              <a:rPr lang="en-US" sz="1300" kern="0" spc="-80" dirty="0">
                <a:solidFill>
                  <a:schemeClr val="accent6"/>
                </a:solidFill>
              </a:rPr>
              <a:t>Changes should only be captured once a transaction is committed to ensure data integrity.</a:t>
            </a:r>
          </a:p>
          <a:p>
            <a:pPr marL="12700" marR="5080"/>
            <a:r>
              <a:rPr lang="en-US" sz="1300" kern="0" spc="-80" dirty="0">
                <a:solidFill>
                  <a:schemeClr val="accent2"/>
                </a:solidFill>
              </a:rPr>
              <a:t>Idempotency: </a:t>
            </a:r>
            <a:r>
              <a:rPr lang="en-US" sz="1300" kern="0" spc="-80" dirty="0">
                <a:solidFill>
                  <a:schemeClr val="accent6"/>
                </a:solidFill>
              </a:rPr>
              <a:t>The system should handle potential duplicate events gracefully so that applying the same change multiple times does not lead to inconsistencies.</a:t>
            </a:r>
          </a:p>
          <a:p>
            <a:pPr marL="12700" marR="5080"/>
            <a:r>
              <a:rPr lang="en-US" sz="1300" kern="0" spc="-80" dirty="0">
                <a:solidFill>
                  <a:schemeClr val="accent2"/>
                </a:solidFill>
              </a:rPr>
              <a:t>Schema Evolution: </a:t>
            </a:r>
            <a:r>
              <a:rPr lang="en-US" sz="1300" kern="0" spc="-80" dirty="0">
                <a:solidFill>
                  <a:schemeClr val="accent6"/>
                </a:solidFill>
              </a:rPr>
              <a:t>The CDC pipeline should be able to manage schema changes (e.g., adding a new column) without breaking the data flow. </a:t>
            </a:r>
          </a:p>
          <a:p>
            <a:pPr marL="12700" marR="5080"/>
            <a:endParaRPr lang="en-US" sz="1300" kern="0" spc="-80" dirty="0">
              <a:solidFill>
                <a:schemeClr val="accent6"/>
              </a:solidFill>
            </a:endParaRPr>
          </a:p>
          <a:p>
            <a:pPr marL="12700" marR="5080"/>
            <a:r>
              <a:rPr lang="en-US" sz="1700" kern="0" spc="-80" dirty="0">
                <a:solidFill>
                  <a:schemeClr val="accent2"/>
                </a:solidFill>
              </a:rPr>
              <a:t>Common Use Cases</a:t>
            </a:r>
          </a:p>
          <a:p>
            <a:pPr marL="12700" marR="5080"/>
            <a:r>
              <a:rPr lang="en-US" sz="1300" kern="0" spc="-80" dirty="0">
                <a:solidFill>
                  <a:schemeClr val="accent2"/>
                </a:solidFill>
              </a:rPr>
              <a:t>Real-time Analytics:</a:t>
            </a:r>
            <a:r>
              <a:rPr lang="en-US" sz="1300" kern="0" spc="-80" dirty="0">
                <a:solidFill>
                  <a:schemeClr val="accent6"/>
                </a:solidFill>
              </a:rPr>
              <a:t> Powering operational dashboards and analytics platforms with the freshest data.</a:t>
            </a:r>
          </a:p>
          <a:p>
            <a:pPr marL="12700" marR="5080"/>
            <a:r>
              <a:rPr lang="en-US" sz="1300" kern="0" spc="-80" dirty="0">
                <a:solidFill>
                  <a:schemeClr val="accent2"/>
                </a:solidFill>
              </a:rPr>
              <a:t>Data Warehousing: </a:t>
            </a:r>
            <a:r>
              <a:rPr lang="en-US" sz="1300" kern="0" spc="-80" dirty="0">
                <a:solidFill>
                  <a:schemeClr val="accent6"/>
                </a:solidFill>
              </a:rPr>
              <a:t>Efficiently loading incremental data into data warehouses without large batch jobs.</a:t>
            </a:r>
          </a:p>
          <a:p>
            <a:pPr marL="12700" marR="5080"/>
            <a:r>
              <a:rPr lang="en-US" sz="1300" kern="0" spc="-80" dirty="0">
                <a:solidFill>
                  <a:schemeClr val="accent2"/>
                </a:solidFill>
              </a:rPr>
              <a:t>Microservices Data Exchange: </a:t>
            </a:r>
            <a:r>
              <a:rPr lang="en-US" sz="1300" kern="0" spc="-80" dirty="0">
                <a:solidFill>
                  <a:schemeClr val="accent6"/>
                </a:solidFill>
              </a:rPr>
              <a:t>Synchronizing data reliably across different microservices in an event-driven architecture.</a:t>
            </a:r>
          </a:p>
          <a:p>
            <a:pPr marL="12700" marR="5080"/>
            <a:r>
              <a:rPr lang="en-US" sz="1300" kern="0" spc="-80" dirty="0">
                <a:solidFill>
                  <a:schemeClr val="accent2"/>
                </a:solidFill>
              </a:rPr>
              <a:t>Caching &amp; Indexing: </a:t>
            </a:r>
            <a:r>
              <a:rPr lang="en-US" sz="1300" kern="0" spc="-80" dirty="0">
                <a:solidFill>
                  <a:schemeClr val="accent6"/>
                </a:solidFill>
              </a:rPr>
              <a:t>Invalidating caches or updating search indexes (e.g., Elasticsearch) as source data changes. </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r>
              <a:rPr lang="en-US" sz="1700" kern="0" spc="-80" dirty="0">
                <a:solidFill>
                  <a:schemeClr val="accent2"/>
                </a:solidFill>
              </a:rPr>
              <a:t>For Further Exploration</a:t>
            </a:r>
          </a:p>
          <a:p>
            <a:pPr marL="12700" marR="5080"/>
            <a:r>
              <a:rPr lang="en-US" sz="1200" dirty="0">
                <a:hlinkClick r:id="rId2"/>
              </a:rPr>
              <a:t>CDC (change data capture)—Approaches, architectures, and best practices</a:t>
            </a:r>
            <a:endParaRPr lang="en-US" sz="1200" dirty="0"/>
          </a:p>
          <a:p>
            <a:pPr marL="12700" marR="5080"/>
            <a:r>
              <a:rPr lang="en-US" sz="1200" dirty="0">
                <a:hlinkClick r:id="rId3"/>
              </a:rPr>
              <a:t>Change Data Capture 101: The complete guide</a:t>
            </a:r>
            <a:endParaRPr lang="en-US" sz="1200" dirty="0"/>
          </a:p>
          <a:p>
            <a:pPr marL="12700" marR="5080"/>
            <a:r>
              <a:rPr lang="en-US" sz="1200" dirty="0">
                <a:hlinkClick r:id="rId4"/>
              </a:rPr>
              <a:t>Streaming Change Data Capture: A Foundation for Modern Data Architectures | TDWI</a:t>
            </a:r>
            <a:endParaRPr lang="en-US" sz="1200" dirty="0"/>
          </a:p>
          <a:p>
            <a:pPr marL="12700" marR="5080"/>
            <a:r>
              <a:rPr lang="en-IN" sz="1200" dirty="0">
                <a:hlinkClick r:id="rId5"/>
              </a:rPr>
              <a:t>Data Mesh Patterns: Change Data Capture | by Eric Broda | TDS Archive | Medium</a:t>
            </a:r>
            <a:endParaRPr lang="en-US" sz="1200" dirty="0"/>
          </a:p>
          <a:p>
            <a:pPr marL="12700" marR="5080"/>
            <a:r>
              <a:rPr lang="en-IN" sz="1200" dirty="0">
                <a:hlinkClick r:id="rId6"/>
              </a:rPr>
              <a:t>Mastering Change Data Capture: A Hands-On Guide to Real-Time, Zero-Latency Synchronization Between Postgres, MySQL, and Kafka </a:t>
            </a:r>
            <a:endParaRPr lang="en-IN" sz="1200" dirty="0"/>
          </a:p>
          <a:p>
            <a:pPr marL="12700" marR="5080"/>
            <a:r>
              <a:rPr lang="en-US" sz="1200" dirty="0">
                <a:hlinkClick r:id="rId7"/>
              </a:rPr>
              <a:t>Evaluating Change Data Capture Tools: A Comprehensive Guide</a:t>
            </a:r>
            <a:endParaRPr lang="en-US" sz="1200" dirty="0"/>
          </a:p>
          <a:p>
            <a:pPr marL="12700" marR="5080"/>
            <a:endParaRPr lang="en-US" sz="1200" kern="0" spc="-80" dirty="0">
              <a:solidFill>
                <a:schemeClr val="accent2"/>
              </a:solidFill>
            </a:endParaRPr>
          </a:p>
        </p:txBody>
      </p:sp>
      <p:sp>
        <p:nvSpPr>
          <p:cNvPr id="7" name="object 2">
            <a:extLst>
              <a:ext uri="{FF2B5EF4-FFF2-40B4-BE49-F238E27FC236}">
                <a16:creationId xmlns:a16="http://schemas.microsoft.com/office/drawing/2014/main" id="{DC852798-08DB-4D87-339A-0FE2CB1B525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FDF10BC-2CF3-0BB7-427A-A6C200E9551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43439E6-6C7F-9F8C-E820-7F7B3A40651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F553359-6571-58F6-1653-BAAF5FB513B5}"/>
              </a:ext>
            </a:extLst>
          </p:cNvPr>
          <p:cNvGraphicFramePr/>
          <p:nvPr>
            <p:extLst>
              <p:ext uri="{D42A27DB-BD31-4B8C-83A1-F6EECF244321}">
                <p14:modId xmlns:p14="http://schemas.microsoft.com/office/powerpoint/2010/main" val="9921653"/>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0252279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72D9-DF9A-E372-F1F5-C2481E7F3D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D68923B-D38A-BF0C-9B10-7BDABB31B6D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2C9FCCF-49A5-69E0-3312-8B5EA545120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9010A73-4209-3F5F-5539-241D93F0D1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9159AC8-A499-379E-F639-AC13EBD8671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B8CFC51-A1CE-092F-2751-BE2806FC40A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7F82A93-FF7A-CEEC-1E3D-F976CEC74146}"/>
              </a:ext>
            </a:extLst>
          </p:cNvPr>
          <p:cNvGraphicFramePr/>
          <p:nvPr>
            <p:extLst>
              <p:ext uri="{D42A27DB-BD31-4B8C-83A1-F6EECF244321}">
                <p14:modId xmlns:p14="http://schemas.microsoft.com/office/powerpoint/2010/main" val="2829572425"/>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4C3F694-32B5-5B7C-6D4D-AEF5B0C9EC9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pic>
        <p:nvPicPr>
          <p:cNvPr id="6" name="Picture 5">
            <a:extLst>
              <a:ext uri="{FF2B5EF4-FFF2-40B4-BE49-F238E27FC236}">
                <a16:creationId xmlns:a16="http://schemas.microsoft.com/office/drawing/2014/main" id="{0B599233-4BBA-2990-B15B-EA92C708DF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1060329"/>
            <a:ext cx="8915398" cy="3365581"/>
          </a:xfrm>
          <a:prstGeom prst="rect">
            <a:avLst/>
          </a:prstGeom>
        </p:spPr>
      </p:pic>
      <p:sp>
        <p:nvSpPr>
          <p:cNvPr id="10" name="object 2">
            <a:extLst>
              <a:ext uri="{FF2B5EF4-FFF2-40B4-BE49-F238E27FC236}">
                <a16:creationId xmlns:a16="http://schemas.microsoft.com/office/drawing/2014/main" id="{8F1D7884-77FC-D876-25DC-680F3A392729}"/>
              </a:ext>
            </a:extLst>
          </p:cNvPr>
          <p:cNvSpPr txBox="1">
            <a:spLocks/>
          </p:cNvSpPr>
          <p:nvPr/>
        </p:nvSpPr>
        <p:spPr>
          <a:xfrm>
            <a:off x="1524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Hadoop vs Apache Spark : Key Differences</a:t>
            </a:r>
          </a:p>
        </p:txBody>
      </p:sp>
      <p:pic>
        <p:nvPicPr>
          <p:cNvPr id="14" name="Picture 13">
            <a:extLst>
              <a:ext uri="{FF2B5EF4-FFF2-40B4-BE49-F238E27FC236}">
                <a16:creationId xmlns:a16="http://schemas.microsoft.com/office/drawing/2014/main" id="{097F694C-3F1A-C8AF-1A3A-3C8B241C26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4263" y="4425911"/>
            <a:ext cx="8853537" cy="1511378"/>
          </a:xfrm>
          <a:prstGeom prst="rect">
            <a:avLst/>
          </a:prstGeom>
        </p:spPr>
      </p:pic>
    </p:spTree>
    <p:extLst>
      <p:ext uri="{BB962C8B-B14F-4D97-AF65-F5344CB8AC3E}">
        <p14:creationId xmlns:p14="http://schemas.microsoft.com/office/powerpoint/2010/main" val="4225509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A9A8-F48F-45A7-8558-A93DDA05BF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396C93-B17C-95C8-C1FC-67C2A7020B0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2371515-1447-8123-2768-5086A016370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E600B2B-8BE5-4DAF-8978-E4285A740E3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E631CCE-50CD-970E-1C6B-AC0FACD736F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E707467-D6A5-4523-90FE-7CBFD2BC74D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BFD3EC52-9129-0041-A427-B4B62D556554}"/>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DC756E0-DC3B-3250-9927-BB822DAAACED}"/>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ACD42E38-4B03-BEFE-DB55-660C54BBF8CD}"/>
              </a:ext>
            </a:extLst>
          </p:cNvPr>
          <p:cNvSpPr txBox="1">
            <a:spLocks/>
          </p:cNvSpPr>
          <p:nvPr/>
        </p:nvSpPr>
        <p:spPr>
          <a:xfrm>
            <a:off x="152400" y="762000"/>
            <a:ext cx="8624937" cy="33701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Hadoop vs Apache Spark : Key Differences</a:t>
            </a:r>
          </a:p>
          <a:p>
            <a:pPr marL="12700" marR="5080"/>
            <a:r>
              <a:rPr lang="en-US" sz="1700" kern="0" spc="-80" dirty="0">
                <a:solidFill>
                  <a:schemeClr val="accent2"/>
                </a:solidFill>
              </a:rPr>
              <a:t>Breakdown</a:t>
            </a:r>
          </a:p>
          <a:p>
            <a:pPr marL="12700" marR="5080"/>
            <a:r>
              <a:rPr lang="en-US" sz="1300" kern="0" spc="-80" dirty="0">
                <a:solidFill>
                  <a:schemeClr val="accent2"/>
                </a:solidFill>
              </a:rPr>
              <a:t>Performance:</a:t>
            </a:r>
            <a:r>
              <a:rPr lang="en-US" sz="1300" kern="0" spc="-80" dirty="0">
                <a:solidFill>
                  <a:schemeClr val="accent6"/>
                </a:solidFill>
              </a:rPr>
              <a:t> Spark is significantly faster than MapReduce because it keeps data in memory between operations rather than writing intermediate results to disk.</a:t>
            </a:r>
          </a:p>
          <a:p>
            <a:pPr marL="12700" marR="5080"/>
            <a:r>
              <a:rPr lang="en-US" sz="1300" kern="0" spc="-80" dirty="0">
                <a:solidFill>
                  <a:schemeClr val="accent2"/>
                </a:solidFill>
              </a:rPr>
              <a:t>Architecture: </a:t>
            </a:r>
            <a:r>
              <a:rPr lang="en-US" sz="1300" kern="0" spc="-80" dirty="0">
                <a:solidFill>
                  <a:schemeClr val="accent6"/>
                </a:solidFill>
              </a:rPr>
              <a:t>Hadoop includes both storage (HDFS) and processing (MapReduce), whereas Spark is purely a processing engine that must rely on a file system like HDFS or Amazon S3.</a:t>
            </a:r>
          </a:p>
          <a:p>
            <a:pPr marL="12700" marR="5080"/>
            <a:r>
              <a:rPr lang="en-US" sz="1300" kern="0" spc="-80" dirty="0">
                <a:solidFill>
                  <a:schemeClr val="accent2"/>
                </a:solidFill>
              </a:rPr>
              <a:t>Usability: </a:t>
            </a:r>
            <a:r>
              <a:rPr lang="en-US" sz="1300" kern="0" spc="-80" dirty="0">
                <a:solidFill>
                  <a:schemeClr val="accent6"/>
                </a:solidFill>
              </a:rPr>
              <a:t>Spark provides a more developer-friendly experience with high-level APIs in Python, Scala, and R, whereas Hadoop MapReduce requires complex Java coding.</a:t>
            </a:r>
          </a:p>
          <a:p>
            <a:pPr marL="12700" marR="5080"/>
            <a:r>
              <a:rPr lang="en-US" sz="1300" kern="0" spc="-80" dirty="0">
                <a:solidFill>
                  <a:schemeClr val="accent2"/>
                </a:solidFill>
              </a:rPr>
              <a:t>Security: </a:t>
            </a:r>
            <a:r>
              <a:rPr lang="en-US" sz="1300" kern="0" spc="-80" dirty="0">
                <a:solidFill>
                  <a:schemeClr val="accent6"/>
                </a:solidFill>
              </a:rPr>
              <a:t>Hadoop has more established security mechanisms (ACLs, Kerberos), while Spark often relies on integrating with Hadoop to achieve the same level. </a:t>
            </a:r>
          </a:p>
          <a:p>
            <a:pPr marL="12700" marR="5080"/>
            <a:endParaRPr lang="en-US" sz="1300" kern="0" spc="-80" dirty="0">
              <a:solidFill>
                <a:schemeClr val="accent6"/>
              </a:solidFill>
            </a:endParaRPr>
          </a:p>
          <a:p>
            <a:pPr marL="12700" marR="5080"/>
            <a:r>
              <a:rPr lang="en-US" sz="1300" kern="0" spc="-80" dirty="0">
                <a:solidFill>
                  <a:schemeClr val="accent2"/>
                </a:solidFill>
              </a:rPr>
              <a:t>When to Choose Which?</a:t>
            </a:r>
          </a:p>
          <a:p>
            <a:pPr marL="12700" marR="5080"/>
            <a:r>
              <a:rPr lang="en-US" sz="1300" kern="0" spc="-80" dirty="0">
                <a:solidFill>
                  <a:schemeClr val="accent6"/>
                </a:solidFill>
              </a:rPr>
              <a:t>Choose Hadoop: When you have petabytes of data, budget constraints, need high reliability for long-running batch jobs, and real-time processing is not required.</a:t>
            </a:r>
          </a:p>
          <a:p>
            <a:pPr marL="12700" marR="5080"/>
            <a:r>
              <a:rPr lang="en-US" sz="1300" kern="0" spc="-80" dirty="0">
                <a:solidFill>
                  <a:schemeClr val="accent6"/>
                </a:solidFill>
              </a:rPr>
              <a:t>Choose Spark: When you need real-time data streaming (e.g., streaming analytics), iterative machine learning algorithms, or fast, interactive ad-hoc queries</a:t>
            </a:r>
          </a:p>
        </p:txBody>
      </p:sp>
    </p:spTree>
    <p:extLst>
      <p:ext uri="{BB962C8B-B14F-4D97-AF65-F5344CB8AC3E}">
        <p14:creationId xmlns:p14="http://schemas.microsoft.com/office/powerpoint/2010/main" val="11408616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636D2-EAD4-2CB9-C7C9-4287404484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7B09AA-BFAB-497A-B649-C19A9841530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1B758D-83C0-BC8A-EBAD-C15C3B2DD2B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73378201-A9AE-F1E1-1A1F-58E00A6CFFA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03FAC41-78F3-6693-977C-A481B78BBFE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53CCBC9-441C-1F61-B43A-B37A6A48111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71E4438-8B9D-7A01-B917-A55E3CA20E1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675907D-54F5-D045-9671-77AE39376FD7}"/>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95F1607B-027F-A458-15F7-24183BE12FAC}"/>
              </a:ext>
            </a:extLst>
          </p:cNvPr>
          <p:cNvSpPr txBox="1">
            <a:spLocks/>
          </p:cNvSpPr>
          <p:nvPr/>
        </p:nvSpPr>
        <p:spPr>
          <a:xfrm>
            <a:off x="1524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6"/>
                </a:solidFill>
              </a:rPr>
              <a:t>                                 +----------------------+</a:t>
            </a:r>
          </a:p>
          <a:p>
            <a:pPr marL="12700" marR="5080"/>
            <a:r>
              <a:rPr lang="en-US" sz="1300" kern="0" spc="-80" dirty="0">
                <a:solidFill>
                  <a:schemeClr val="accent6"/>
                </a:solidFill>
              </a:rPr>
              <a:t>                         |     User Program     |</a:t>
            </a:r>
          </a:p>
          <a:p>
            <a:pPr marL="12700" marR="5080"/>
            <a:r>
              <a:rPr lang="en-US" sz="1300" kern="0" spc="-80" dirty="0">
                <a:solidFill>
                  <a:schemeClr val="accent6"/>
                </a:solidFill>
              </a:rPr>
              <a:t>                         | (Spark Application)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Driver        |</a:t>
            </a:r>
          </a:p>
          <a:p>
            <a:pPr marL="12700" marR="5080"/>
            <a:r>
              <a:rPr lang="en-US" sz="1300" kern="0" spc="-80" dirty="0">
                <a:solidFill>
                  <a:schemeClr val="accent6"/>
                </a:solidFill>
              </a:rPr>
              <a:t>                         |----------------------|</a:t>
            </a:r>
          </a:p>
          <a:p>
            <a:pPr marL="12700" marR="5080"/>
            <a:r>
              <a:rPr lang="en-US" sz="1300" kern="0" spc="-80" dirty="0">
                <a:solidFill>
                  <a:schemeClr val="accent6"/>
                </a:solidFill>
              </a:rPr>
              <a:t>                         | </a:t>
            </a:r>
            <a:r>
              <a:rPr lang="en-US" sz="1300" kern="0" spc="-80" dirty="0" err="1">
                <a:solidFill>
                  <a:schemeClr val="accent6"/>
                </a:solidFill>
              </a:rPr>
              <a:t>SparkSession</a:t>
            </a:r>
            <a:r>
              <a:rPr lang="en-US" sz="1300" kern="0" spc="-80" dirty="0">
                <a:solidFill>
                  <a:schemeClr val="accent6"/>
                </a:solidFill>
              </a:rPr>
              <a:t>         |</a:t>
            </a:r>
          </a:p>
          <a:p>
            <a:pPr marL="12700" marR="5080"/>
            <a:r>
              <a:rPr lang="en-US" sz="1300" kern="0" spc="-80" dirty="0">
                <a:solidFill>
                  <a:schemeClr val="accent6"/>
                </a:solidFill>
              </a:rPr>
              <a:t>                         | DAG Scheduler        |</a:t>
            </a:r>
          </a:p>
          <a:p>
            <a:pPr marL="12700" marR="5080"/>
            <a:r>
              <a:rPr lang="en-US" sz="1300" kern="0" spc="-80" dirty="0">
                <a:solidFill>
                  <a:schemeClr val="accent6"/>
                </a:solidFill>
              </a:rPr>
              <a:t>                         | Task Scheduler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 Requests Resources</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Cluster Manager          |</a:t>
            </a:r>
          </a:p>
          <a:p>
            <a:pPr marL="12700" marR="5080"/>
            <a:r>
              <a:rPr lang="en-US" sz="1300" kern="0" spc="-80" dirty="0">
                <a:solidFill>
                  <a:schemeClr val="accent6"/>
                </a:solidFill>
              </a:rPr>
              <a:t>                     | (Standalone / YARN / K8s etc.)   |</a:t>
            </a:r>
          </a:p>
          <a:p>
            <a:pPr marL="12700" marR="5080"/>
            <a:r>
              <a:rPr lang="en-US" sz="1300" kern="0" spc="-80" dirty="0">
                <a:solidFill>
                  <a:schemeClr val="accent6"/>
                </a:solidFill>
              </a:rPr>
              <a:t>                     +----------+-----------+------------+</a:t>
            </a:r>
          </a:p>
          <a:p>
            <a:pPr marL="12700" marR="5080"/>
            <a:r>
              <a:rPr lang="en-US" sz="1300" kern="0" spc="-80" dirty="0">
                <a:solidFill>
                  <a:schemeClr val="accent6"/>
                </a:solidFill>
              </a:rPr>
              <a:t>                                |           |</a:t>
            </a:r>
          </a:p>
          <a:p>
            <a:pPr marL="12700" marR="5080"/>
            <a:r>
              <a:rPr lang="en-US" sz="1300" kern="0" spc="-80" dirty="0">
                <a:solidFill>
                  <a:schemeClr val="accent6"/>
                </a:solidFill>
              </a:rPr>
              <a:t>                Allocates       |           | Allocates</a:t>
            </a:r>
          </a:p>
          <a:p>
            <a:pPr marL="12700" marR="5080"/>
            <a:r>
              <a:rPr lang="en-US" sz="1300" kern="0" spc="-80" dirty="0">
                <a:solidFill>
                  <a:schemeClr val="accent6"/>
                </a:solidFill>
              </a:rPr>
              <a:t>                Executors       |           | Executors</a:t>
            </a:r>
          </a:p>
          <a:p>
            <a:pPr marL="12700" marR="5080"/>
            <a:r>
              <a:rPr lang="en-US" sz="1300" kern="0" spc="-80" dirty="0">
                <a:solidFill>
                  <a:schemeClr val="accent6"/>
                </a:solidFill>
              </a:rPr>
              <a:t>                                v           </a:t>
            </a:r>
            <a:r>
              <a:rPr lang="en-US" sz="1300" kern="0" spc="-80" dirty="0" err="1">
                <a:solidFill>
                  <a:schemeClr val="accent6"/>
                </a:solidFill>
              </a:rPr>
              <a:t>v</a:t>
            </a:r>
            <a:endParaRPr lang="en-US" sz="1300" kern="0" spc="-80" dirty="0">
              <a:solidFill>
                <a:schemeClr val="accent6"/>
              </a:solidFill>
            </a:endParaRPr>
          </a:p>
        </p:txBody>
      </p:sp>
    </p:spTree>
    <p:extLst>
      <p:ext uri="{BB962C8B-B14F-4D97-AF65-F5344CB8AC3E}">
        <p14:creationId xmlns:p14="http://schemas.microsoft.com/office/powerpoint/2010/main" val="3552825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0162-11E9-03E4-0FC1-F71B86396A5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C35B593-D654-6F0B-776D-F29AF196DA2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4D5BD4-5720-6EF0-729D-FD446D3A082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10D5B3C-602F-610C-B9B6-75A2274514A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8C28F9B-94E1-9FE0-42DE-EB5DDDBB536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A4B7AB9-91F7-55FA-DB1A-0C7064C9883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FB74094-0BC2-083E-AB7A-220ACC5FFA25}"/>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BC35DB70-D8BC-CB18-0A8B-6A3DB276BD8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2296F61F-D114-B8ED-486E-E970BC1EAEBF}"/>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6"/>
                </a:solidFill>
              </a:rPr>
              <a:t>               +--------------------+   +--------------------+</a:t>
            </a:r>
          </a:p>
          <a:p>
            <a:pPr marL="12700" marR="5080"/>
            <a:r>
              <a:rPr lang="en-US" sz="1300" kern="0" spc="-80" dirty="0">
                <a:solidFill>
                  <a:schemeClr val="accent6"/>
                </a:solidFill>
              </a:rPr>
              <a:t>               |     Worker Node 1  |   |     Worker Node 2  |</a:t>
            </a:r>
          </a:p>
          <a:p>
            <a:pPr marL="12700" marR="5080"/>
            <a:r>
              <a:rPr lang="en-US" sz="1300" kern="0" spc="-80" dirty="0">
                <a:solidFill>
                  <a:schemeClr val="accent6"/>
                </a:solidFill>
              </a:rPr>
              <a:t>               |--------------------|   |--------------------|</a:t>
            </a:r>
          </a:p>
          <a:p>
            <a:pPr marL="12700" marR="5080"/>
            <a:r>
              <a:rPr lang="en-US" sz="1300" kern="0" spc="-80" dirty="0">
                <a:solidFill>
                  <a:schemeClr val="accent6"/>
                </a:solidFill>
              </a:rPr>
              <a:t>               |    Executor 1      |   |    Executor 3      |</a:t>
            </a:r>
          </a:p>
          <a:p>
            <a:pPr marL="12700" marR="5080"/>
            <a:r>
              <a:rPr lang="en-US" sz="1300" kern="0" spc="-80" dirty="0">
                <a:solidFill>
                  <a:schemeClr val="accent6"/>
                </a:solidFill>
              </a:rPr>
              <a:t>               |    - Task A        |   |    - Task C        |</a:t>
            </a:r>
          </a:p>
          <a:p>
            <a:pPr marL="12700" marR="5080"/>
            <a:r>
              <a:rPr lang="en-US" sz="1300" kern="0" spc="-80" dirty="0">
                <a:solidFill>
                  <a:schemeClr val="accent6"/>
                </a:solidFill>
              </a:rPr>
              <a:t>               |    - Task B        |   |    - Task D        |</a:t>
            </a:r>
          </a:p>
          <a:p>
            <a:pPr marL="12700" marR="5080"/>
            <a:r>
              <a:rPr lang="en-US" sz="1300" kern="0" spc="-80" dirty="0">
                <a:solidFill>
                  <a:schemeClr val="accent6"/>
                </a:solidFill>
              </a:rPr>
              <a:t>               |    - Cache Data    |   |    - Cache Data    |</a:t>
            </a:r>
          </a:p>
          <a:p>
            <a:pPr marL="12700" marR="5080"/>
            <a:r>
              <a:rPr lang="en-US" sz="1300" kern="0" spc="-80" dirty="0">
                <a:solidFill>
                  <a:schemeClr val="accent6"/>
                </a:solidFill>
              </a:rPr>
              <a:t>               |--------------------|   |--------------------|</a:t>
            </a:r>
          </a:p>
          <a:p>
            <a:pPr marL="12700" marR="5080"/>
            <a:r>
              <a:rPr lang="en-US" sz="1300" kern="0" spc="-80" dirty="0">
                <a:solidFill>
                  <a:schemeClr val="accent6"/>
                </a:solidFill>
              </a:rPr>
              <a:t>               |    Executor 2      |   |    Executor 4      |</a:t>
            </a:r>
          </a:p>
          <a:p>
            <a:pPr marL="12700" marR="5080"/>
            <a:r>
              <a:rPr lang="en-US" sz="1300" kern="0" spc="-80" dirty="0">
                <a:solidFill>
                  <a:schemeClr val="accent6"/>
                </a:solidFill>
              </a:rPr>
              <a:t>               |    - Task E        |   |    - Task F        |</a:t>
            </a:r>
          </a:p>
          <a:p>
            <a:pPr marL="12700" marR="5080"/>
            <a:r>
              <a:rPr lang="en-US" sz="1300" kern="0" spc="-80" dirty="0">
                <a:solidFill>
                  <a:schemeClr val="accent6"/>
                </a:solidFill>
              </a:rPr>
              <a:t>               +--------------------+   +--------------------+</a:t>
            </a:r>
          </a:p>
          <a:p>
            <a:pPr marL="12700" marR="5080"/>
            <a:r>
              <a:rPr lang="en-US" sz="1300" kern="0" spc="-80" dirty="0">
                <a:solidFill>
                  <a:schemeClr val="accent6"/>
                </a:solidFill>
              </a:rPr>
              <a:t>Apache Spark follows a master–worker style distributed architecture designed for fast, in-memory, large-scale data processing.</a:t>
            </a:r>
          </a:p>
          <a:p>
            <a:pPr marL="12700" marR="5080"/>
            <a:r>
              <a:rPr lang="en-US" sz="1300" kern="0" spc="-80" dirty="0">
                <a:solidFill>
                  <a:schemeClr val="accent2"/>
                </a:solidFill>
              </a:rPr>
              <a:t>🏗️ High-Level Components</a:t>
            </a:r>
          </a:p>
          <a:p>
            <a:pPr marL="12700" marR="5080"/>
            <a:r>
              <a:rPr lang="en-US" sz="1300" kern="0" spc="-80" dirty="0">
                <a:solidFill>
                  <a:schemeClr val="accent2"/>
                </a:solidFill>
              </a:rPr>
              <a:t>1️⃣ Driver Program (Master Brain)</a:t>
            </a:r>
          </a:p>
          <a:p>
            <a:pPr marL="12700" marR="5080"/>
            <a:r>
              <a:rPr lang="en-US" sz="1300" kern="0" spc="-80" dirty="0">
                <a:solidFill>
                  <a:schemeClr val="accent6"/>
                </a:solidFill>
              </a:rPr>
              <a:t>This is where your Spark application starts.</a:t>
            </a:r>
          </a:p>
          <a:p>
            <a:pPr marL="12700" marR="5080"/>
            <a:r>
              <a:rPr lang="en-US" sz="1300" kern="0" spc="-80" dirty="0">
                <a:solidFill>
                  <a:schemeClr val="accent2"/>
                </a:solidFill>
              </a:rPr>
              <a:t>Responsibilities:</a:t>
            </a:r>
          </a:p>
          <a:p>
            <a:pPr marL="12700" marR="5080"/>
            <a:r>
              <a:rPr lang="en-US" sz="1300" kern="0" spc="-80" dirty="0">
                <a:solidFill>
                  <a:schemeClr val="accent6"/>
                </a:solidFill>
              </a:rPr>
              <a:t>Runs your main() function</a:t>
            </a:r>
          </a:p>
          <a:p>
            <a:pPr marL="12700" marR="5080"/>
            <a:r>
              <a:rPr lang="en-US" sz="1300" kern="0" spc="-80" dirty="0">
                <a:solidFill>
                  <a:schemeClr val="accent6"/>
                </a:solidFill>
              </a:rPr>
              <a:t>Creates the </a:t>
            </a:r>
            <a:r>
              <a:rPr lang="en-US" sz="1300" kern="0" spc="-80" dirty="0" err="1">
                <a:solidFill>
                  <a:schemeClr val="accent6"/>
                </a:solidFill>
              </a:rPr>
              <a:t>SparkSession</a:t>
            </a:r>
            <a:r>
              <a:rPr lang="en-US" sz="1300" kern="0" spc="-80" dirty="0">
                <a:solidFill>
                  <a:schemeClr val="accent6"/>
                </a:solidFill>
              </a:rPr>
              <a:t> / </a:t>
            </a:r>
            <a:r>
              <a:rPr lang="en-US" sz="1300" kern="0" spc="-80" dirty="0" err="1">
                <a:solidFill>
                  <a:schemeClr val="accent6"/>
                </a:solidFill>
              </a:rPr>
              <a:t>SparkContext</a:t>
            </a:r>
            <a:endParaRPr lang="en-US" sz="1300" kern="0" spc="-80" dirty="0">
              <a:solidFill>
                <a:schemeClr val="accent6"/>
              </a:solidFill>
            </a:endParaRPr>
          </a:p>
          <a:p>
            <a:pPr marL="12700" marR="5080"/>
            <a:r>
              <a:rPr lang="en-US" sz="1300" kern="0" spc="-80" dirty="0">
                <a:solidFill>
                  <a:schemeClr val="accent6"/>
                </a:solidFill>
              </a:rPr>
              <a:t>Builds the DAG (Directed Acyclic Graph) of operations</a:t>
            </a:r>
          </a:p>
          <a:p>
            <a:pPr marL="12700" marR="5080"/>
            <a:r>
              <a:rPr lang="en-US" sz="1300" kern="0" spc="-80" dirty="0">
                <a:solidFill>
                  <a:schemeClr val="accent6"/>
                </a:solidFill>
              </a:rPr>
              <a:t>Splits jobs → stages → tasks</a:t>
            </a:r>
          </a:p>
          <a:p>
            <a:pPr marL="12700" marR="5080"/>
            <a:r>
              <a:rPr lang="en-US" sz="1300" kern="0" spc="-80" dirty="0">
                <a:solidFill>
                  <a:schemeClr val="accent6"/>
                </a:solidFill>
              </a:rPr>
              <a:t>Sends tasks to executors</a:t>
            </a:r>
          </a:p>
          <a:p>
            <a:pPr marL="12700" marR="5080"/>
            <a:r>
              <a:rPr lang="en-US" sz="1300" kern="0" spc="-80" dirty="0">
                <a:solidFill>
                  <a:schemeClr val="accent6"/>
                </a:solidFill>
              </a:rPr>
              <a:t>Collects results</a:t>
            </a:r>
          </a:p>
          <a:p>
            <a:pPr marL="12700" marR="5080"/>
            <a:r>
              <a:rPr lang="en-US" sz="1300" kern="0" spc="-80" dirty="0">
                <a:solidFill>
                  <a:schemeClr val="accent6"/>
                </a:solidFill>
              </a:rPr>
              <a:t>👉 Think of it as the project manager.</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767539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752B9-8727-5C8A-1174-4B5CA3513B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172A11-CF2A-C60E-8A21-15BDB48C9C9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626B6E-3DAF-A8ED-26FB-D497E7FB05E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A3ED4EE-EFEE-85EE-9CE1-68E8FE8BC3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ED0F8A2-DA89-C541-9CCF-BBF48D4C5AF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402A571-C856-AEA3-09AE-8AFD82873CF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7E890D6-3DF8-1FBC-3BC0-B0C617743359}"/>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F666F59-EDA1-EBC6-9B44-E7D75E8B981F}"/>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F9B01745-62B3-EB4B-67BF-C32CE0200D1F}"/>
              </a:ext>
            </a:extLst>
          </p:cNvPr>
          <p:cNvSpPr txBox="1">
            <a:spLocks/>
          </p:cNvSpPr>
          <p:nvPr/>
        </p:nvSpPr>
        <p:spPr>
          <a:xfrm>
            <a:off x="1524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2"/>
                </a:solidFill>
              </a:rPr>
              <a:t>🏗️ High-Level Components</a:t>
            </a:r>
          </a:p>
          <a:p>
            <a:pPr marL="12700" marR="5080"/>
            <a:r>
              <a:rPr lang="en-US" sz="1300" kern="0" spc="-80" dirty="0">
                <a:solidFill>
                  <a:schemeClr val="accent2"/>
                </a:solidFill>
              </a:rPr>
              <a:t>2️⃣ Cluster Manager (Resource Boss)</a:t>
            </a:r>
          </a:p>
          <a:p>
            <a:pPr marL="12700" marR="5080"/>
            <a:r>
              <a:rPr lang="en-US" sz="1300" kern="0" spc="-80" dirty="0">
                <a:solidFill>
                  <a:schemeClr val="accent6"/>
                </a:solidFill>
              </a:rPr>
              <a:t>Allocates resources (CPU / memory) across the cluster.</a:t>
            </a:r>
          </a:p>
          <a:p>
            <a:pPr marL="12700" marR="5080"/>
            <a:r>
              <a:rPr lang="en-US" sz="1300" kern="0" spc="-80" dirty="0">
                <a:solidFill>
                  <a:schemeClr val="accent6"/>
                </a:solidFill>
              </a:rPr>
              <a:t>Spark can run on different cluster managers:</a:t>
            </a:r>
          </a:p>
          <a:p>
            <a:pPr marL="12700" marR="5080"/>
            <a:r>
              <a:rPr lang="en-US" sz="1300" kern="0" spc="-80" dirty="0">
                <a:solidFill>
                  <a:schemeClr val="accent6"/>
                </a:solidFill>
              </a:rPr>
              <a:t>Standalone (Spark’s built-in)</a:t>
            </a:r>
          </a:p>
          <a:p>
            <a:pPr marL="12700" marR="5080"/>
            <a:r>
              <a:rPr lang="en-US" sz="1300" kern="0" spc="-80" dirty="0">
                <a:solidFill>
                  <a:schemeClr val="accent6"/>
                </a:solidFill>
              </a:rPr>
              <a:t>YARN</a:t>
            </a:r>
          </a:p>
          <a:p>
            <a:pPr marL="12700" marR="5080"/>
            <a:r>
              <a:rPr lang="en-US" sz="1300" kern="0" spc="-80" dirty="0">
                <a:solidFill>
                  <a:schemeClr val="accent6"/>
                </a:solidFill>
              </a:rPr>
              <a:t>Mesos</a:t>
            </a:r>
          </a:p>
          <a:p>
            <a:pPr marL="12700" marR="5080"/>
            <a:r>
              <a:rPr lang="en-US" sz="1300" kern="0" spc="-80" dirty="0">
                <a:solidFill>
                  <a:schemeClr val="accent6"/>
                </a:solidFill>
              </a:rPr>
              <a:t>Kubernetes</a:t>
            </a:r>
          </a:p>
          <a:p>
            <a:pPr marL="12700" marR="5080"/>
            <a:r>
              <a:rPr lang="en-US" sz="1300" kern="0" spc="-80" dirty="0">
                <a:solidFill>
                  <a:schemeClr val="accent2"/>
                </a:solidFill>
              </a:rPr>
              <a:t>Role:</a:t>
            </a:r>
          </a:p>
          <a:p>
            <a:pPr marL="12700" marR="5080"/>
            <a:r>
              <a:rPr lang="en-US" sz="1300" kern="0" spc="-80" dirty="0">
                <a:solidFill>
                  <a:schemeClr val="accent6"/>
                </a:solidFill>
              </a:rPr>
              <a:t>Launches executors</a:t>
            </a:r>
          </a:p>
          <a:p>
            <a:pPr marL="12700" marR="5080"/>
            <a:r>
              <a:rPr lang="en-US" sz="1300" kern="0" spc="-80" dirty="0">
                <a:solidFill>
                  <a:schemeClr val="accent6"/>
                </a:solidFill>
              </a:rPr>
              <a:t>Manages worker nodes</a:t>
            </a:r>
          </a:p>
          <a:p>
            <a:pPr marL="12700" marR="5080"/>
            <a:r>
              <a:rPr lang="en-US" sz="1300" kern="0" spc="-80" dirty="0">
                <a:solidFill>
                  <a:schemeClr val="accent6"/>
                </a:solidFill>
              </a:rPr>
              <a:t>Assigns resources to applications</a:t>
            </a:r>
          </a:p>
          <a:p>
            <a:pPr marL="12700" marR="5080"/>
            <a:r>
              <a:rPr lang="en-US" sz="1300" kern="0" spc="-80" dirty="0">
                <a:solidFill>
                  <a:schemeClr val="accent6"/>
                </a:solidFill>
              </a:rPr>
              <a:t>👉 Think of it as HR + Infrastructure.</a:t>
            </a:r>
          </a:p>
          <a:p>
            <a:pPr marL="12700" marR="5080"/>
            <a:r>
              <a:rPr lang="en-US" sz="1300" kern="0" spc="-80" dirty="0">
                <a:solidFill>
                  <a:schemeClr val="accent2"/>
                </a:solidFill>
              </a:rPr>
              <a:t>3️⃣ Worker Nodes</a:t>
            </a:r>
          </a:p>
          <a:p>
            <a:pPr marL="12700" marR="5080"/>
            <a:r>
              <a:rPr lang="en-US" sz="1300" kern="0" spc="-80" dirty="0">
                <a:solidFill>
                  <a:schemeClr val="accent6"/>
                </a:solidFill>
              </a:rPr>
              <a:t>Physical or virtual machines that actually do the computation.</a:t>
            </a:r>
          </a:p>
          <a:p>
            <a:pPr marL="12700" marR="5080"/>
            <a:r>
              <a:rPr lang="en-US" sz="1300" kern="0" spc="-80" dirty="0">
                <a:solidFill>
                  <a:schemeClr val="accent6"/>
                </a:solidFill>
              </a:rPr>
              <a:t>Each worker hosts one or more Executors.</a:t>
            </a:r>
          </a:p>
          <a:p>
            <a:pPr marL="12700" marR="5080"/>
            <a:r>
              <a:rPr lang="en-US" sz="1300" kern="0" spc="-80" dirty="0">
                <a:solidFill>
                  <a:schemeClr val="accent2"/>
                </a:solidFill>
              </a:rPr>
              <a:t>4️⃣ Executors (Real Workers)</a:t>
            </a:r>
          </a:p>
          <a:p>
            <a:pPr marL="12700" marR="5080"/>
            <a:r>
              <a:rPr lang="en-US" sz="1300" kern="0" spc="-80" dirty="0">
                <a:solidFill>
                  <a:schemeClr val="accent2"/>
                </a:solidFill>
              </a:rPr>
              <a:t>Executors are JVM processes running on worker nodes.</a:t>
            </a:r>
          </a:p>
          <a:p>
            <a:pPr marL="12700" marR="5080"/>
            <a:r>
              <a:rPr lang="en-US" sz="1300" kern="0" spc="-80" dirty="0">
                <a:solidFill>
                  <a:schemeClr val="accent2"/>
                </a:solidFill>
              </a:rPr>
              <a:t>They:</a:t>
            </a:r>
          </a:p>
          <a:p>
            <a:pPr marL="12700" marR="5080"/>
            <a:r>
              <a:rPr lang="en-US" sz="1300" kern="0" spc="-80" dirty="0">
                <a:solidFill>
                  <a:schemeClr val="accent6"/>
                </a:solidFill>
              </a:rPr>
              <a:t>Execute tasks</a:t>
            </a:r>
          </a:p>
          <a:p>
            <a:pPr marL="12700" marR="5080"/>
            <a:r>
              <a:rPr lang="en-US" sz="1300" kern="0" spc="-80" dirty="0">
                <a:solidFill>
                  <a:schemeClr val="accent6"/>
                </a:solidFill>
              </a:rPr>
              <a:t>Cache data in memory</a:t>
            </a:r>
          </a:p>
          <a:p>
            <a:pPr marL="12700" marR="5080"/>
            <a:r>
              <a:rPr lang="en-US" sz="1300" kern="0" spc="-80" dirty="0">
                <a:solidFill>
                  <a:schemeClr val="accent6"/>
                </a:solidFill>
              </a:rPr>
              <a:t>Return results to Driver</a:t>
            </a:r>
          </a:p>
          <a:p>
            <a:pPr marL="12700" marR="5080"/>
            <a:r>
              <a:rPr lang="en-US" sz="1300" kern="0" spc="-80" dirty="0">
                <a:solidFill>
                  <a:schemeClr val="accent6"/>
                </a:solidFill>
              </a:rPr>
              <a:t>Each Spark application has its own executors.</a:t>
            </a:r>
          </a:p>
          <a:p>
            <a:pPr marL="12700" marR="5080"/>
            <a:r>
              <a:rPr lang="en-US" sz="1300" kern="0" spc="-80" dirty="0">
                <a:solidFill>
                  <a:schemeClr val="accent6"/>
                </a:solidFill>
              </a:rPr>
              <a:t>👉 Think of executors as employees doing the real work.</a:t>
            </a:r>
          </a:p>
        </p:txBody>
      </p:sp>
    </p:spTree>
    <p:extLst>
      <p:ext uri="{BB962C8B-B14F-4D97-AF65-F5344CB8AC3E}">
        <p14:creationId xmlns:p14="http://schemas.microsoft.com/office/powerpoint/2010/main" val="3058482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2BB7E-286B-4E15-95C1-5E4F98061E1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6EEFB7-46CB-B033-E3CF-7C7B6881FC1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590B87-9AAA-01B4-6B15-51F7E024428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100BF1A0-29D3-E45C-2DCD-880618DD6BF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6AD9978-2017-7CAA-0258-A878B8F77D9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32D3D21-D690-C1D1-15FD-ECA16292D26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D1A651A-B294-AD1B-A5D9-30AC28B43305}"/>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6661DE5-0900-05B7-CA42-B8318EA72FF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C976074E-8B37-430D-B58E-A2D94B7841EA}"/>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2"/>
                </a:solidFill>
              </a:rPr>
              <a:t>🏗️ High-Level Components</a:t>
            </a:r>
          </a:p>
          <a:p>
            <a:pPr marL="12700" marR="5080"/>
            <a:r>
              <a:rPr lang="en-US" sz="1300" kern="0" spc="-80" dirty="0">
                <a:solidFill>
                  <a:schemeClr val="accent6"/>
                </a:solidFill>
              </a:rPr>
              <a:t>5️⃣ Tasks</a:t>
            </a:r>
          </a:p>
          <a:p>
            <a:pPr marL="12700" marR="5080"/>
            <a:r>
              <a:rPr lang="en-US" sz="1300" kern="0" spc="-80" dirty="0">
                <a:solidFill>
                  <a:schemeClr val="accent6"/>
                </a:solidFill>
              </a:rPr>
              <a:t>Smallest unit of work.</a:t>
            </a:r>
          </a:p>
          <a:p>
            <a:pPr marL="12700" marR="5080"/>
            <a:r>
              <a:rPr lang="en-US" sz="1300" kern="0" spc="-80" dirty="0">
                <a:solidFill>
                  <a:schemeClr val="accent6"/>
                </a:solidFill>
              </a:rPr>
              <a:t>One task per data partition</a:t>
            </a:r>
          </a:p>
          <a:p>
            <a:pPr marL="12700" marR="5080"/>
            <a:r>
              <a:rPr lang="en-US" sz="1300" kern="0" spc="-80" dirty="0">
                <a:solidFill>
                  <a:schemeClr val="accent6"/>
                </a:solidFill>
              </a:rPr>
              <a:t>Executed inside executors</a:t>
            </a:r>
          </a:p>
          <a:p>
            <a:pPr marL="12700" marR="5080"/>
            <a:r>
              <a:rPr lang="en-US" sz="1300" kern="0" spc="-80" dirty="0">
                <a:solidFill>
                  <a:schemeClr val="accent6"/>
                </a:solidFill>
              </a:rPr>
              <a:t>Created by Driver</a:t>
            </a:r>
          </a:p>
          <a:p>
            <a:pPr marL="12700" marR="5080"/>
            <a:endParaRPr lang="en-US" sz="1300" kern="0" spc="-80" dirty="0">
              <a:solidFill>
                <a:schemeClr val="accent6"/>
              </a:solidFill>
            </a:endParaRPr>
          </a:p>
          <a:p>
            <a:pPr marL="12700" marR="5080"/>
            <a:r>
              <a:rPr lang="en-US" sz="1300" kern="0" spc="-80" dirty="0">
                <a:solidFill>
                  <a:schemeClr val="accent2"/>
                </a:solidFill>
              </a:rPr>
              <a:t>🔄 Execution Flow (Very Important)</a:t>
            </a:r>
          </a:p>
          <a:p>
            <a:pPr marL="12700" marR="5080"/>
            <a:r>
              <a:rPr lang="en-US" sz="1300" kern="0" spc="-80" dirty="0">
                <a:solidFill>
                  <a:schemeClr val="accent2"/>
                </a:solidFill>
              </a:rPr>
              <a:t>Here’s what happens when you run Spark code:</a:t>
            </a:r>
          </a:p>
          <a:p>
            <a:pPr marL="12700" marR="5080"/>
            <a:r>
              <a:rPr lang="en-US" sz="1300" kern="0" spc="-80" dirty="0">
                <a:solidFill>
                  <a:schemeClr val="accent6"/>
                </a:solidFill>
              </a:rPr>
              <a:t>You submit Spark job</a:t>
            </a:r>
          </a:p>
          <a:p>
            <a:pPr marL="12700" marR="5080"/>
            <a:r>
              <a:rPr lang="en-US" sz="1300" kern="0" spc="-80" dirty="0">
                <a:solidFill>
                  <a:schemeClr val="accent6"/>
                </a:solidFill>
              </a:rPr>
              <a:t>Driver starts</a:t>
            </a:r>
          </a:p>
          <a:p>
            <a:pPr marL="12700" marR="5080"/>
            <a:r>
              <a:rPr lang="en-US" sz="1300" kern="0" spc="-80" dirty="0">
                <a:solidFill>
                  <a:schemeClr val="accent6"/>
                </a:solidFill>
              </a:rPr>
              <a:t>Driver asks Cluster Manager for resources</a:t>
            </a:r>
          </a:p>
          <a:p>
            <a:pPr marL="12700" marR="5080"/>
            <a:r>
              <a:rPr lang="en-US" sz="1300" kern="0" spc="-80" dirty="0">
                <a:solidFill>
                  <a:schemeClr val="accent6"/>
                </a:solidFill>
              </a:rPr>
              <a:t>Cluster Manager launches Executors</a:t>
            </a:r>
          </a:p>
          <a:p>
            <a:pPr marL="12700" marR="5080"/>
            <a:r>
              <a:rPr lang="en-US" sz="1300" kern="0" spc="-80" dirty="0">
                <a:solidFill>
                  <a:schemeClr val="accent6"/>
                </a:solidFill>
              </a:rPr>
              <a:t>Driver creates DAG</a:t>
            </a:r>
          </a:p>
          <a:p>
            <a:pPr marL="12700" marR="5080"/>
            <a:r>
              <a:rPr lang="en-US" sz="1300" kern="0" spc="-80" dirty="0">
                <a:solidFill>
                  <a:schemeClr val="accent6"/>
                </a:solidFill>
              </a:rPr>
              <a:t>DAG → Stages → Tasks</a:t>
            </a:r>
          </a:p>
          <a:p>
            <a:pPr marL="12700" marR="5080"/>
            <a:r>
              <a:rPr lang="en-US" sz="1300" kern="0" spc="-80" dirty="0">
                <a:solidFill>
                  <a:schemeClr val="accent6"/>
                </a:solidFill>
              </a:rPr>
              <a:t>Tasks sent to Executors</a:t>
            </a:r>
          </a:p>
          <a:p>
            <a:pPr marL="12700" marR="5080"/>
            <a:r>
              <a:rPr lang="en-US" sz="1300" kern="0" spc="-80" dirty="0">
                <a:solidFill>
                  <a:schemeClr val="accent6"/>
                </a:solidFill>
              </a:rPr>
              <a:t>Executors process data</a:t>
            </a:r>
          </a:p>
          <a:p>
            <a:pPr marL="12700" marR="5080"/>
            <a:r>
              <a:rPr lang="en-US" sz="1300" kern="0" spc="-80" dirty="0">
                <a:solidFill>
                  <a:schemeClr val="accent6"/>
                </a:solidFill>
              </a:rPr>
              <a:t>Results sent back to Driver</a:t>
            </a:r>
          </a:p>
          <a:p>
            <a:pPr marL="12700" marR="5080"/>
            <a:endParaRPr lang="en-US" sz="1300" kern="0" spc="-80" dirty="0">
              <a:solidFill>
                <a:schemeClr val="accent6"/>
              </a:solidFill>
            </a:endParaRPr>
          </a:p>
          <a:p>
            <a:pPr marL="12700" marR="5080"/>
            <a:r>
              <a:rPr lang="en-US" sz="1300" kern="0" spc="-80" dirty="0">
                <a:solidFill>
                  <a:schemeClr val="accent2"/>
                </a:solidFill>
              </a:rPr>
              <a:t>🧠 Internal Spark Architecture Layers</a:t>
            </a:r>
          </a:p>
          <a:p>
            <a:pPr marL="12700" marR="5080"/>
            <a:r>
              <a:rPr lang="en-US" sz="1300" kern="0" spc="-80" dirty="0">
                <a:solidFill>
                  <a:schemeClr val="accent2"/>
                </a:solidFill>
              </a:rPr>
              <a:t>✔️ Spark Core</a:t>
            </a:r>
          </a:p>
          <a:p>
            <a:pPr marL="12700" marR="5080"/>
            <a:r>
              <a:rPr lang="en-US" sz="1300" kern="0" spc="-80" dirty="0">
                <a:solidFill>
                  <a:schemeClr val="accent6"/>
                </a:solidFill>
              </a:rPr>
              <a:t>Task scheduling</a:t>
            </a:r>
          </a:p>
          <a:p>
            <a:pPr marL="12700" marR="5080"/>
            <a:r>
              <a:rPr lang="en-US" sz="1300" kern="0" spc="-80" dirty="0">
                <a:solidFill>
                  <a:schemeClr val="accent6"/>
                </a:solidFill>
              </a:rPr>
              <a:t>Memory management</a:t>
            </a:r>
          </a:p>
          <a:p>
            <a:pPr marL="12700" marR="5080"/>
            <a:r>
              <a:rPr lang="en-US" sz="1300" kern="0" spc="-80" dirty="0">
                <a:solidFill>
                  <a:schemeClr val="accent6"/>
                </a:solidFill>
              </a:rPr>
              <a:t>Fault tolerance</a:t>
            </a:r>
          </a:p>
          <a:p>
            <a:pPr marL="12700" marR="5080"/>
            <a:r>
              <a:rPr lang="en-US" sz="1300" kern="0" spc="-80" dirty="0">
                <a:solidFill>
                  <a:schemeClr val="accent6"/>
                </a:solidFill>
              </a:rPr>
              <a:t>I/O</a:t>
            </a:r>
          </a:p>
        </p:txBody>
      </p:sp>
    </p:spTree>
    <p:extLst>
      <p:ext uri="{BB962C8B-B14F-4D97-AF65-F5344CB8AC3E}">
        <p14:creationId xmlns:p14="http://schemas.microsoft.com/office/powerpoint/2010/main" val="600025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431F7-A1E4-34A3-C8A6-6A0EA7F26F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01983D-BDB2-37C2-0A3C-F5BA3F35A85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B354DA-1E65-A7D3-A3F7-9880B80A471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1F570FC2-1E59-B8BF-F9AA-4894E29902F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20B776C-1680-3A21-ACC9-89A984B1278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F05B2D8-7A4E-7594-3238-361459A9709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5ED36F1-736B-629C-FABC-29A8FFEC49DD}"/>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71D1975A-ABC6-7E81-EEC5-BFD1189B34C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1F346A33-0491-25B2-6007-AB1C3D838DC5}"/>
              </a:ext>
            </a:extLst>
          </p:cNvPr>
          <p:cNvSpPr txBox="1">
            <a:spLocks/>
          </p:cNvSpPr>
          <p:nvPr/>
        </p:nvSpPr>
        <p:spPr>
          <a:xfrm>
            <a:off x="152400" y="762000"/>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2"/>
                </a:solidFill>
              </a:rPr>
              <a:t>🧠 Internal Spark Architecture Layers</a:t>
            </a:r>
          </a:p>
          <a:p>
            <a:pPr marL="12700" marR="5080"/>
            <a:r>
              <a:rPr lang="en-US" sz="1300" kern="0" spc="-80" dirty="0">
                <a:solidFill>
                  <a:schemeClr val="accent2"/>
                </a:solidFill>
              </a:rPr>
              <a:t>✔️ Spark Core</a:t>
            </a:r>
          </a:p>
          <a:p>
            <a:pPr marL="12700" marR="5080"/>
            <a:r>
              <a:rPr lang="en-US" sz="1300" kern="0" spc="-80" dirty="0">
                <a:solidFill>
                  <a:schemeClr val="accent6"/>
                </a:solidFill>
              </a:rPr>
              <a:t>Task scheduling</a:t>
            </a:r>
          </a:p>
          <a:p>
            <a:pPr marL="12700" marR="5080"/>
            <a:r>
              <a:rPr lang="en-US" sz="1300" kern="0" spc="-80" dirty="0">
                <a:solidFill>
                  <a:schemeClr val="accent6"/>
                </a:solidFill>
              </a:rPr>
              <a:t>Memory management</a:t>
            </a:r>
          </a:p>
          <a:p>
            <a:pPr marL="12700" marR="5080"/>
            <a:r>
              <a:rPr lang="en-US" sz="1300" kern="0" spc="-80" dirty="0">
                <a:solidFill>
                  <a:schemeClr val="accent6"/>
                </a:solidFill>
              </a:rPr>
              <a:t>Fault tolerance</a:t>
            </a:r>
          </a:p>
          <a:p>
            <a:pPr marL="12700" marR="5080"/>
            <a:r>
              <a:rPr lang="en-US" sz="1300" kern="0" spc="-80" dirty="0">
                <a:solidFill>
                  <a:schemeClr val="accent6"/>
                </a:solidFill>
              </a:rPr>
              <a:t>I/O</a:t>
            </a:r>
          </a:p>
          <a:p>
            <a:pPr marL="12700" marR="5080"/>
            <a:r>
              <a:rPr lang="en-US" sz="1300" kern="0" spc="-80" dirty="0">
                <a:solidFill>
                  <a:schemeClr val="accent2"/>
                </a:solidFill>
              </a:rPr>
              <a:t>✔️ Higher-Level Libraries (built on Core)</a:t>
            </a:r>
          </a:p>
          <a:p>
            <a:pPr marL="12700" marR="5080"/>
            <a:r>
              <a:rPr lang="en-US" sz="1300" kern="0" spc="-80" dirty="0">
                <a:solidFill>
                  <a:schemeClr val="accent6"/>
                </a:solidFill>
              </a:rPr>
              <a:t>Spark SQL</a:t>
            </a:r>
          </a:p>
          <a:p>
            <a:pPr marL="12700" marR="5080"/>
            <a:r>
              <a:rPr lang="en-US" sz="1300" kern="0" spc="-80" dirty="0" err="1">
                <a:solidFill>
                  <a:schemeClr val="accent6"/>
                </a:solidFill>
              </a:rPr>
              <a:t>DataFrame</a:t>
            </a:r>
            <a:r>
              <a:rPr lang="en-US" sz="1300" kern="0" spc="-80" dirty="0">
                <a:solidFill>
                  <a:schemeClr val="accent6"/>
                </a:solidFill>
              </a:rPr>
              <a:t> / Dataset API</a:t>
            </a:r>
          </a:p>
          <a:p>
            <a:pPr marL="12700" marR="5080"/>
            <a:r>
              <a:rPr lang="en-US" sz="1300" kern="0" spc="-80" dirty="0" err="1">
                <a:solidFill>
                  <a:schemeClr val="accent6"/>
                </a:solidFill>
              </a:rPr>
              <a:t>MLlib</a:t>
            </a:r>
            <a:r>
              <a:rPr lang="en-US" sz="1300" kern="0" spc="-80" dirty="0">
                <a:solidFill>
                  <a:schemeClr val="accent6"/>
                </a:solidFill>
              </a:rPr>
              <a:t> (Machine Learning)</a:t>
            </a:r>
          </a:p>
          <a:p>
            <a:pPr marL="12700" marR="5080"/>
            <a:r>
              <a:rPr lang="en-US" sz="1300" kern="0" spc="-80" dirty="0" err="1">
                <a:solidFill>
                  <a:schemeClr val="accent6"/>
                </a:solidFill>
              </a:rPr>
              <a:t>GraphX</a:t>
            </a:r>
            <a:endParaRPr lang="en-US" sz="1300" kern="0" spc="-80" dirty="0">
              <a:solidFill>
                <a:schemeClr val="accent6"/>
              </a:solidFill>
            </a:endParaRPr>
          </a:p>
          <a:p>
            <a:pPr marL="12700" marR="5080"/>
            <a:r>
              <a:rPr lang="en-US" sz="1300" kern="0" spc="-80" dirty="0">
                <a:solidFill>
                  <a:schemeClr val="accent6"/>
                </a:solidFill>
              </a:rPr>
              <a:t>Structured Streaming</a:t>
            </a:r>
          </a:p>
          <a:p>
            <a:pPr marL="12700" marR="5080"/>
            <a:r>
              <a:rPr lang="en-US" sz="1300" kern="0" spc="-80" dirty="0">
                <a:solidFill>
                  <a:schemeClr val="accent6"/>
                </a:solidFill>
              </a:rPr>
              <a:t>All of these ultimately rely on Spark Core.</a:t>
            </a:r>
          </a:p>
          <a:p>
            <a:pPr marL="12700" marR="5080"/>
            <a:endParaRPr lang="en-US" sz="1300" kern="0" spc="-80" dirty="0">
              <a:solidFill>
                <a:schemeClr val="accent6"/>
              </a:solidFill>
            </a:endParaRPr>
          </a:p>
          <a:p>
            <a:pPr marL="12700" marR="5080"/>
            <a:r>
              <a:rPr lang="en-US" sz="1300" kern="0" spc="-80" dirty="0">
                <a:solidFill>
                  <a:schemeClr val="accent2"/>
                </a:solidFill>
              </a:rPr>
              <a:t>⚡ Why Spark Is Fast</a:t>
            </a:r>
          </a:p>
          <a:p>
            <a:pPr marL="12700" marR="5080"/>
            <a:r>
              <a:rPr lang="en-US" sz="1300" kern="0" spc="-80" dirty="0">
                <a:solidFill>
                  <a:schemeClr val="accent6"/>
                </a:solidFill>
              </a:rPr>
              <a:t>In-memory computation</a:t>
            </a:r>
          </a:p>
          <a:p>
            <a:pPr marL="12700" marR="5080"/>
            <a:r>
              <a:rPr lang="en-US" sz="1300" kern="0" spc="-80" dirty="0">
                <a:solidFill>
                  <a:schemeClr val="accent6"/>
                </a:solidFill>
              </a:rPr>
              <a:t>DAG execution (no unnecessary disk writes)</a:t>
            </a:r>
          </a:p>
          <a:p>
            <a:pPr marL="12700" marR="5080"/>
            <a:r>
              <a:rPr lang="en-US" sz="1300" kern="0" spc="-80" dirty="0">
                <a:solidFill>
                  <a:schemeClr val="accent6"/>
                </a:solidFill>
              </a:rPr>
              <a:t>Lazy evaluation</a:t>
            </a:r>
          </a:p>
          <a:p>
            <a:pPr marL="12700" marR="5080"/>
            <a:r>
              <a:rPr lang="en-US" sz="1300" kern="0" spc="-80" dirty="0">
                <a:solidFill>
                  <a:schemeClr val="accent6"/>
                </a:solidFill>
              </a:rPr>
              <a:t>Parallel processing</a:t>
            </a:r>
          </a:p>
          <a:p>
            <a:pPr marL="12700" marR="5080"/>
            <a:r>
              <a:rPr lang="en-US" sz="1300" kern="0" spc="-80" dirty="0">
                <a:solidFill>
                  <a:schemeClr val="accent6"/>
                </a:solidFill>
              </a:rPr>
              <a:t>Efficient fault recovery via lineage</a:t>
            </a:r>
          </a:p>
        </p:txBody>
      </p:sp>
    </p:spTree>
    <p:extLst>
      <p:ext uri="{BB962C8B-B14F-4D97-AF65-F5344CB8AC3E}">
        <p14:creationId xmlns:p14="http://schemas.microsoft.com/office/powerpoint/2010/main" val="2098943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CE43-4545-ACC2-DFAD-40A1C185B8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8625B46-B887-C3C5-4A99-8402D3DF862E}"/>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18EDE56-DCF3-84D2-C449-36A0499DB33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3FDE219-552B-3EF7-5B22-4E86E27C9D7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9A020F0-2DDB-59A3-0C48-EF7EC1C31D0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5DFC234-5D2E-B821-D223-9109914C298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634284D-11F5-4B59-7D8F-7826B573F8C7}"/>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D20F1BFB-9225-BAF5-C99D-CBF857B7164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09FF7A86-633C-D568-09E1-D5BD58B001EA}"/>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2"/>
                </a:solidFill>
              </a:rPr>
              <a:t>🧩 Simple Analogy</a:t>
            </a:r>
          </a:p>
          <a:p>
            <a:pPr marL="12700" marR="5080"/>
            <a:r>
              <a:rPr lang="en-US" sz="1300" kern="0" spc="-80" dirty="0">
                <a:solidFill>
                  <a:schemeClr val="accent2"/>
                </a:solidFill>
              </a:rPr>
              <a:t>Imagine a company:</a:t>
            </a:r>
          </a:p>
          <a:p>
            <a:pPr marL="12700" marR="5080"/>
            <a:r>
              <a:rPr lang="en-US" sz="1300" kern="0" spc="-80" dirty="0">
                <a:solidFill>
                  <a:schemeClr val="accent2"/>
                </a:solidFill>
              </a:rPr>
              <a:t>Spark	                      Real World</a:t>
            </a:r>
          </a:p>
          <a:p>
            <a:pPr marL="12700" marR="5080"/>
            <a:r>
              <a:rPr lang="en-US" sz="1300" kern="0" spc="-80" dirty="0">
                <a:solidFill>
                  <a:schemeClr val="accent6"/>
                </a:solidFill>
              </a:rPr>
              <a:t>Driver	                      Project Manager</a:t>
            </a:r>
          </a:p>
          <a:p>
            <a:pPr marL="12700" marR="5080"/>
            <a:r>
              <a:rPr lang="en-US" sz="1300" kern="0" spc="-80" dirty="0">
                <a:solidFill>
                  <a:schemeClr val="accent6"/>
                </a:solidFill>
              </a:rPr>
              <a:t>Cluster Manager	HR</a:t>
            </a:r>
          </a:p>
          <a:p>
            <a:pPr marL="12700" marR="5080"/>
            <a:r>
              <a:rPr lang="en-US" sz="1300" kern="0" spc="-80" dirty="0">
                <a:solidFill>
                  <a:schemeClr val="accent6"/>
                </a:solidFill>
              </a:rPr>
              <a:t>Worker Nodes	Office Buildings</a:t>
            </a:r>
          </a:p>
          <a:p>
            <a:pPr marL="12700" marR="5080"/>
            <a:r>
              <a:rPr lang="en-US" sz="1300" kern="0" spc="-80" dirty="0">
                <a:solidFill>
                  <a:schemeClr val="accent6"/>
                </a:solidFill>
              </a:rPr>
              <a:t>Executors	                      Employees</a:t>
            </a:r>
          </a:p>
          <a:p>
            <a:pPr marL="12700" marR="5080"/>
            <a:endParaRPr lang="en-US" sz="1300" kern="0" spc="-80" dirty="0">
              <a:solidFill>
                <a:schemeClr val="accent6"/>
              </a:solidFill>
            </a:endParaRPr>
          </a:p>
          <a:p>
            <a:pPr marL="12700" marR="5080"/>
            <a:r>
              <a:rPr lang="en-US" sz="1300" kern="0" spc="-80" dirty="0">
                <a:solidFill>
                  <a:schemeClr val="accent2"/>
                </a:solidFill>
              </a:rPr>
              <a:t>🔄 Job Execution Flow (Text Representation)</a:t>
            </a:r>
          </a:p>
          <a:p>
            <a:pPr marL="12700" marR="5080"/>
            <a:r>
              <a:rPr lang="en-US" sz="1300" kern="0" spc="-80" dirty="0">
                <a:solidFill>
                  <a:schemeClr val="accent6"/>
                </a:solidFill>
              </a:rPr>
              <a:t>User Code</a:t>
            </a:r>
          </a:p>
          <a:p>
            <a:pPr marL="12700" marR="5080"/>
            <a:r>
              <a:rPr lang="en-US" sz="1300" kern="0" spc="-80" dirty="0">
                <a:solidFill>
                  <a:schemeClr val="accent6"/>
                </a:solidFill>
              </a:rPr>
              <a:t>   ↓</a:t>
            </a:r>
          </a:p>
          <a:p>
            <a:pPr marL="12700" marR="5080"/>
            <a:r>
              <a:rPr lang="en-US" sz="1300" kern="0" spc="-80" dirty="0">
                <a:solidFill>
                  <a:schemeClr val="accent6"/>
                </a:solidFill>
              </a:rPr>
              <a:t>Driver Creates Logical Plan</a:t>
            </a:r>
          </a:p>
          <a:p>
            <a:pPr marL="12700" marR="5080"/>
            <a:r>
              <a:rPr lang="en-US" sz="1300" kern="0" spc="-80" dirty="0">
                <a:solidFill>
                  <a:schemeClr val="accent6"/>
                </a:solidFill>
              </a:rPr>
              <a:t>   ↓</a:t>
            </a:r>
          </a:p>
          <a:p>
            <a:pPr marL="12700" marR="5080"/>
            <a:r>
              <a:rPr lang="en-US" sz="1300" kern="0" spc="-80" dirty="0">
                <a:solidFill>
                  <a:schemeClr val="accent6"/>
                </a:solidFill>
              </a:rPr>
              <a:t>DAG (Directed Acyclic Graph)</a:t>
            </a:r>
          </a:p>
          <a:p>
            <a:pPr marL="12700" marR="5080"/>
            <a:r>
              <a:rPr lang="en-US" sz="1300" kern="0" spc="-80" dirty="0">
                <a:solidFill>
                  <a:schemeClr val="accent6"/>
                </a:solidFill>
              </a:rPr>
              <a:t>   ↓</a:t>
            </a:r>
          </a:p>
          <a:p>
            <a:pPr marL="12700" marR="5080"/>
            <a:r>
              <a:rPr lang="en-US" sz="1300" kern="0" spc="-80" dirty="0">
                <a:solidFill>
                  <a:schemeClr val="accent6"/>
                </a:solidFill>
              </a:rPr>
              <a:t>Stages (Split by Shuffle Boundaries)</a:t>
            </a:r>
          </a:p>
          <a:p>
            <a:pPr marL="12700" marR="5080"/>
            <a:r>
              <a:rPr lang="en-US" sz="1300" kern="0" spc="-80" dirty="0">
                <a:solidFill>
                  <a:schemeClr val="accent6"/>
                </a:solidFill>
              </a:rPr>
              <a:t>   ↓</a:t>
            </a:r>
          </a:p>
          <a:p>
            <a:pPr marL="12700" marR="5080"/>
            <a:r>
              <a:rPr lang="en-US" sz="1300" kern="0" spc="-80" dirty="0">
                <a:solidFill>
                  <a:schemeClr val="accent6"/>
                </a:solidFill>
              </a:rPr>
              <a:t>Tasks (One per Partition)</a:t>
            </a:r>
          </a:p>
          <a:p>
            <a:pPr marL="12700" marR="5080"/>
            <a:r>
              <a:rPr lang="en-US" sz="1300" kern="0" spc="-80" dirty="0">
                <a:solidFill>
                  <a:schemeClr val="accent6"/>
                </a:solidFill>
              </a:rPr>
              <a:t>   ↓</a:t>
            </a:r>
          </a:p>
          <a:p>
            <a:pPr marL="12700" marR="5080"/>
            <a:r>
              <a:rPr lang="en-US" sz="1300" kern="0" spc="-80" dirty="0">
                <a:solidFill>
                  <a:schemeClr val="accent6"/>
                </a:solidFill>
              </a:rPr>
              <a:t>Executors Execute Tasks in Parallel</a:t>
            </a:r>
          </a:p>
          <a:p>
            <a:pPr marL="12700" marR="5080"/>
            <a:r>
              <a:rPr lang="en-US" sz="1300" kern="0" spc="-80" dirty="0">
                <a:solidFill>
                  <a:schemeClr val="accent6"/>
                </a:solidFill>
              </a:rPr>
              <a:t>   ↓</a:t>
            </a:r>
          </a:p>
          <a:p>
            <a:pPr marL="12700" marR="5080"/>
            <a:r>
              <a:rPr lang="en-US" sz="1300" kern="0" spc="-80" dirty="0">
                <a:solidFill>
                  <a:schemeClr val="accent6"/>
                </a:solidFill>
              </a:rPr>
              <a:t>Results Sent Back to Driver</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1934984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69EF5-7DED-DA02-8F4A-DE4195F481D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E50FEC9-5C73-1847-EFF2-EA4ECF41BF8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7D620A-E7ED-EB03-DB2E-33101423853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DB7AF6D3-66EA-4A87-17B3-B9D51823020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65DB79C-5179-9E98-5D95-68B6235CED8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948EF88-7C06-350D-A846-07AA2703FDA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2DD2945F-4D23-B4B6-5248-68AB9F9D10C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007C5A3B-D71F-2F58-D9AE-32AC0870AD1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820D639F-0ECA-66C3-3DB2-670F9D693596}"/>
              </a:ext>
            </a:extLst>
          </p:cNvPr>
          <p:cNvSpPr txBox="1">
            <a:spLocks/>
          </p:cNvSpPr>
          <p:nvPr/>
        </p:nvSpPr>
        <p:spPr>
          <a:xfrm>
            <a:off x="152400" y="7620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Architecture</a:t>
            </a:r>
          </a:p>
          <a:p>
            <a:pPr marL="12700" marR="5080"/>
            <a:r>
              <a:rPr lang="en-US" sz="1300" kern="0" spc="-80" dirty="0">
                <a:solidFill>
                  <a:schemeClr val="accent2"/>
                </a:solidFill>
              </a:rPr>
              <a:t>🧠 Internal Logical Flow Diagram                                                               </a:t>
            </a:r>
          </a:p>
          <a:p>
            <a:pPr marL="12700" marR="5080"/>
            <a:r>
              <a:rPr lang="en-US" sz="1300" kern="0" spc="-80" dirty="0">
                <a:solidFill>
                  <a:schemeClr val="accent6"/>
                </a:solidFill>
              </a:rPr>
              <a:t>       </a:t>
            </a:r>
            <a:r>
              <a:rPr lang="en-US" sz="1200" kern="0" spc="-80" dirty="0">
                <a:solidFill>
                  <a:schemeClr val="accent6"/>
                </a:solidFill>
              </a:rPr>
              <a:t> Transformations (Lazy)</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a:solidFill>
                  <a:schemeClr val="accent6"/>
                </a:solidFill>
              </a:rPr>
              <a:t>        Logical Plan</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a:solidFill>
                  <a:schemeClr val="accent6"/>
                </a:solidFill>
              </a:rPr>
              <a:t>        DAG Scheduler</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a:solidFill>
                  <a:schemeClr val="accent6"/>
                </a:solidFill>
              </a:rPr>
              <a:t>        Stage Division</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a:solidFill>
                  <a:schemeClr val="accent6"/>
                </a:solidFill>
              </a:rPr>
              <a:t>        Task Scheduler</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a:solidFill>
                  <a:schemeClr val="accent6"/>
                </a:solidFill>
              </a:rPr>
              <a:t>        Executors Execute Tasks</a:t>
            </a:r>
          </a:p>
          <a:p>
            <a:pPr marL="12700" marR="5080"/>
            <a:r>
              <a:rPr lang="en-US" sz="1200" kern="0" spc="-80" dirty="0">
                <a:solidFill>
                  <a:schemeClr val="accent2"/>
                </a:solidFill>
              </a:rPr>
              <a:t>🏗 Memory View (Inside Executor)</a:t>
            </a:r>
          </a:p>
          <a:p>
            <a:pPr marL="12700" marR="5080"/>
            <a:r>
              <a:rPr lang="en-US" sz="1200" kern="0" spc="-80" dirty="0">
                <a:solidFill>
                  <a:schemeClr val="accent6"/>
                </a:solidFill>
              </a:rPr>
              <a:t>+----------------------------------+</a:t>
            </a:r>
          </a:p>
          <a:p>
            <a:pPr marL="12700" marR="5080"/>
            <a:r>
              <a:rPr lang="en-US" sz="1200" kern="0" spc="-80" dirty="0">
                <a:solidFill>
                  <a:schemeClr val="accent6"/>
                </a:solidFill>
              </a:rPr>
              <a:t>|           Executor JVM           |</a:t>
            </a:r>
          </a:p>
          <a:p>
            <a:pPr marL="12700" marR="5080"/>
            <a:r>
              <a:rPr lang="en-US" sz="1200" kern="0" spc="-80" dirty="0">
                <a:solidFill>
                  <a:schemeClr val="accent6"/>
                </a:solidFill>
              </a:rPr>
              <a:t>|----------------------------------|</a:t>
            </a:r>
          </a:p>
          <a:p>
            <a:pPr marL="12700" marR="5080"/>
            <a:r>
              <a:rPr lang="en-US" sz="1200" kern="0" spc="-80" dirty="0">
                <a:solidFill>
                  <a:schemeClr val="accent6"/>
                </a:solidFill>
              </a:rPr>
              <a:t>|  Execution Memory (Shuffles)     |</a:t>
            </a:r>
          </a:p>
          <a:p>
            <a:pPr marL="12700" marR="5080"/>
            <a:r>
              <a:rPr lang="en-US" sz="1200" kern="0" spc="-80" dirty="0">
                <a:solidFill>
                  <a:schemeClr val="accent6"/>
                </a:solidFill>
              </a:rPr>
              <a:t>|  Storage Memory (Cache/Persist)  |</a:t>
            </a:r>
          </a:p>
          <a:p>
            <a:pPr marL="12700" marR="5080"/>
            <a:r>
              <a:rPr lang="en-US" sz="1200" kern="0" spc="-80" dirty="0">
                <a:solidFill>
                  <a:schemeClr val="accent6"/>
                </a:solidFill>
              </a:rPr>
              <a:t>|  User Code                       |</a:t>
            </a:r>
          </a:p>
          <a:p>
            <a:pPr marL="12700" marR="5080"/>
            <a:r>
              <a:rPr lang="en-US" sz="1200" kern="0" spc="-80" dirty="0">
                <a:solidFill>
                  <a:schemeClr val="accent6"/>
                </a:solidFill>
              </a:rPr>
              <a:t>|  Task Threads                    |</a:t>
            </a:r>
          </a:p>
          <a:p>
            <a:pPr marL="12700" marR="5080"/>
            <a:r>
              <a:rPr lang="en-US" sz="1200" kern="0" spc="-80" dirty="0">
                <a:solidFill>
                  <a:schemeClr val="accent6"/>
                </a:solidFill>
              </a:rPr>
              <a:t>+----------------------------------+</a:t>
            </a:r>
          </a:p>
        </p:txBody>
      </p:sp>
    </p:spTree>
    <p:extLst>
      <p:ext uri="{BB962C8B-B14F-4D97-AF65-F5344CB8AC3E}">
        <p14:creationId xmlns:p14="http://schemas.microsoft.com/office/powerpoint/2010/main" val="11517415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1B68-85F5-8D0A-C7C1-E66DDF8F9D6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B4ED84-7526-A2EE-28C0-9B382AEFF66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B104E3-B8B9-BDB2-AB46-D9413822CE67}"/>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24926D5-691B-4C66-55DD-5E5E68E856A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B8C42EA-9070-6856-4457-276342CAFE1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8BD1978-F22F-5C64-ECB3-34378E2A366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A8AB06F-8768-8234-9EB8-84AEFF2984C8}"/>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53D2390D-6C41-7926-FC4F-83C4C700C065}"/>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B8E419B1-E37A-266E-9894-E4A96BD02429}"/>
              </a:ext>
            </a:extLst>
          </p:cNvPr>
          <p:cNvSpPr txBox="1">
            <a:spLocks/>
          </p:cNvSpPr>
          <p:nvPr/>
        </p:nvSpPr>
        <p:spPr>
          <a:xfrm>
            <a:off x="1524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Performance Optimization and Tuning</a:t>
            </a:r>
          </a:p>
          <a:p>
            <a:pPr marL="12700" marR="5080"/>
            <a:r>
              <a:rPr lang="en-US" sz="2000" kern="0" spc="-80" dirty="0">
                <a:solidFill>
                  <a:schemeClr val="accent2"/>
                </a:solidFill>
              </a:rPr>
              <a:t>Data Serialization and Storage</a:t>
            </a:r>
          </a:p>
        </p:txBody>
      </p:sp>
      <p:pic>
        <p:nvPicPr>
          <p:cNvPr id="6" name="Picture 5">
            <a:extLst>
              <a:ext uri="{FF2B5EF4-FFF2-40B4-BE49-F238E27FC236}">
                <a16:creationId xmlns:a16="http://schemas.microsoft.com/office/drawing/2014/main" id="{109514E4-ED11-83A3-52DB-B27AD8DAD2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377552"/>
            <a:ext cx="8991600" cy="3599625"/>
          </a:xfrm>
          <a:prstGeom prst="rect">
            <a:avLst/>
          </a:prstGeom>
        </p:spPr>
      </p:pic>
      <p:pic>
        <p:nvPicPr>
          <p:cNvPr id="13" name="Picture 12">
            <a:extLst>
              <a:ext uri="{FF2B5EF4-FFF2-40B4-BE49-F238E27FC236}">
                <a16:creationId xmlns:a16="http://schemas.microsoft.com/office/drawing/2014/main" id="{C37649C2-C628-8169-D497-2BEF490FFE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4977177"/>
            <a:ext cx="8777337" cy="920988"/>
          </a:xfrm>
          <a:prstGeom prst="rect">
            <a:avLst/>
          </a:prstGeom>
        </p:spPr>
      </p:pic>
    </p:spTree>
    <p:extLst>
      <p:ext uri="{BB962C8B-B14F-4D97-AF65-F5344CB8AC3E}">
        <p14:creationId xmlns:p14="http://schemas.microsoft.com/office/powerpoint/2010/main" val="35216604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0A40-C7C2-5AFC-6F6C-A6EB62AD9EF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83DDB5-7C67-9268-DF6E-D29A42D10A7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A89088-22C6-F2E3-6622-2806E9FB659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93D7B773-1030-DA8B-6A29-A0F259129BC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5B49D17-250B-CC0A-D3BD-F1F67BC62FC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87841DD-7972-3895-C57F-F7FA824E17A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30B8FDB-3DB8-449F-6FA5-A959951F2CC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F4EE6F8-EAA3-E33F-7562-04073161FB9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9436648F-A91A-16C8-529C-45615F6404C0}"/>
              </a:ext>
            </a:extLst>
          </p:cNvPr>
          <p:cNvSpPr txBox="1">
            <a:spLocks/>
          </p:cNvSpPr>
          <p:nvPr/>
        </p:nvSpPr>
        <p:spPr>
          <a:xfrm>
            <a:off x="1524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Performance Optimization and Tuning</a:t>
            </a:r>
          </a:p>
          <a:p>
            <a:pPr marL="12700" marR="5080"/>
            <a:r>
              <a:rPr lang="en-US" sz="2000" kern="0" spc="-80" dirty="0">
                <a:solidFill>
                  <a:schemeClr val="accent2"/>
                </a:solidFill>
              </a:rPr>
              <a:t>Join &amp; Shuffle Optimization</a:t>
            </a:r>
          </a:p>
        </p:txBody>
      </p:sp>
      <p:pic>
        <p:nvPicPr>
          <p:cNvPr id="15" name="Picture 14">
            <a:extLst>
              <a:ext uri="{FF2B5EF4-FFF2-40B4-BE49-F238E27FC236}">
                <a16:creationId xmlns:a16="http://schemas.microsoft.com/office/drawing/2014/main" id="{6DB4646E-3B32-CE49-FD30-095020E10F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389220"/>
            <a:ext cx="8915398" cy="3499248"/>
          </a:xfrm>
          <a:prstGeom prst="rect">
            <a:avLst/>
          </a:prstGeom>
        </p:spPr>
      </p:pic>
      <p:pic>
        <p:nvPicPr>
          <p:cNvPr id="17" name="Picture 16">
            <a:extLst>
              <a:ext uri="{FF2B5EF4-FFF2-40B4-BE49-F238E27FC236}">
                <a16:creationId xmlns:a16="http://schemas.microsoft.com/office/drawing/2014/main" id="{8AC1EADA-9669-10EF-2C05-F69F3C19E5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5023248"/>
            <a:ext cx="8915397" cy="864758"/>
          </a:xfrm>
          <a:prstGeom prst="rect">
            <a:avLst/>
          </a:prstGeom>
        </p:spPr>
      </p:pic>
    </p:spTree>
    <p:extLst>
      <p:ext uri="{BB962C8B-B14F-4D97-AF65-F5344CB8AC3E}">
        <p14:creationId xmlns:p14="http://schemas.microsoft.com/office/powerpoint/2010/main" val="20046350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40C98-2264-170D-708E-921068A027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BCE7043-2498-38D2-67C3-ACF674794DF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1CEB082-34C8-0E07-D05C-47FB6807D70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11A0450-7542-2FBD-CB54-AC327E7854F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2415333-F5F3-03D9-E703-2EDA3EF7DC8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638776B-2401-19A4-8D34-3F3FAF93E7B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2000A77F-27F0-B196-65AF-DB4BEC83C1D0}"/>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FF2A5DF-8EEF-ACD2-53EF-5FD38DDE087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BBA560E8-E081-45EE-A313-F0C1CEEA50D8}"/>
              </a:ext>
            </a:extLst>
          </p:cNvPr>
          <p:cNvSpPr txBox="1">
            <a:spLocks/>
          </p:cNvSpPr>
          <p:nvPr/>
        </p:nvSpPr>
        <p:spPr>
          <a:xfrm>
            <a:off x="1524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Performance Optimization and Tuning</a:t>
            </a:r>
          </a:p>
          <a:p>
            <a:pPr marL="12700" marR="5080"/>
            <a:r>
              <a:rPr lang="en-US" sz="2000" kern="0" spc="-80" dirty="0">
                <a:solidFill>
                  <a:schemeClr val="accent2"/>
                </a:solidFill>
              </a:rPr>
              <a:t>Memory &amp; Resource Management</a:t>
            </a:r>
          </a:p>
        </p:txBody>
      </p:sp>
      <p:pic>
        <p:nvPicPr>
          <p:cNvPr id="6" name="Picture 5">
            <a:extLst>
              <a:ext uri="{FF2B5EF4-FFF2-40B4-BE49-F238E27FC236}">
                <a16:creationId xmlns:a16="http://schemas.microsoft.com/office/drawing/2014/main" id="{6BAFA32E-3021-11CF-E6A2-C59034F4DF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384218"/>
            <a:ext cx="8915399" cy="3785714"/>
          </a:xfrm>
          <a:prstGeom prst="rect">
            <a:avLst/>
          </a:prstGeom>
        </p:spPr>
      </p:pic>
      <p:pic>
        <p:nvPicPr>
          <p:cNvPr id="13" name="Picture 12">
            <a:extLst>
              <a:ext uri="{FF2B5EF4-FFF2-40B4-BE49-F238E27FC236}">
                <a16:creationId xmlns:a16="http://schemas.microsoft.com/office/drawing/2014/main" id="{D431F9AC-8626-E3A1-7074-1FF53BA5F63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1" y="5023247"/>
            <a:ext cx="8915398" cy="920353"/>
          </a:xfrm>
          <a:prstGeom prst="rect">
            <a:avLst/>
          </a:prstGeom>
        </p:spPr>
      </p:pic>
    </p:spTree>
    <p:extLst>
      <p:ext uri="{BB962C8B-B14F-4D97-AF65-F5344CB8AC3E}">
        <p14:creationId xmlns:p14="http://schemas.microsoft.com/office/powerpoint/2010/main" val="33177961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CDF5F-33C1-9F56-C906-D9C5BF49C0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78490D-195F-525F-2006-93305255E34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2213CC1-1986-CCD4-909D-D50E21E2FF8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6772ED83-0EAF-F7B1-D724-D3C3799FF75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B455E1-4295-0C2F-D1BD-E44B7644B09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82CBD26-53A7-FA6D-B80C-9D3915D2FD8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860C57B1-9DA7-462D-35E9-23E1C2FC77F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169B2BB2-BDE6-C6C2-263E-519E226277FC}"/>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1828CC21-8286-F8D9-AF76-76126DC949D8}"/>
              </a:ext>
            </a:extLst>
          </p:cNvPr>
          <p:cNvSpPr txBox="1">
            <a:spLocks/>
          </p:cNvSpPr>
          <p:nvPr/>
        </p:nvSpPr>
        <p:spPr>
          <a:xfrm>
            <a:off x="1524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Performance Optimization and Tuning</a:t>
            </a:r>
          </a:p>
          <a:p>
            <a:pPr marL="12700" marR="5080"/>
            <a:r>
              <a:rPr lang="en-US" sz="2000" kern="0" spc="-80" dirty="0">
                <a:solidFill>
                  <a:schemeClr val="accent2"/>
                </a:solidFill>
              </a:rPr>
              <a:t>AQE(Adaptive Query Execution)</a:t>
            </a:r>
          </a:p>
        </p:txBody>
      </p:sp>
      <p:pic>
        <p:nvPicPr>
          <p:cNvPr id="12" name="Picture 11">
            <a:extLst>
              <a:ext uri="{FF2B5EF4-FFF2-40B4-BE49-F238E27FC236}">
                <a16:creationId xmlns:a16="http://schemas.microsoft.com/office/drawing/2014/main" id="{511B177F-28C4-2E14-18A6-0D3E8CD70B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1377553"/>
            <a:ext cx="8915398" cy="4510452"/>
          </a:xfrm>
          <a:prstGeom prst="rect">
            <a:avLst/>
          </a:prstGeom>
        </p:spPr>
      </p:pic>
    </p:spTree>
    <p:extLst>
      <p:ext uri="{BB962C8B-B14F-4D97-AF65-F5344CB8AC3E}">
        <p14:creationId xmlns:p14="http://schemas.microsoft.com/office/powerpoint/2010/main" val="29782655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927CD-417E-4D0F-F8BC-0B0A4ED6E7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4DE09F-2315-D98A-2EEF-1DFA8B178DA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325EEA8-E5CD-5502-B288-1291093B7823}"/>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67DFD860-9101-1151-EFD5-6323249BC6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D168D03-D8EE-9E26-BF4B-11448BCDF5C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0C5DC44-3E90-8801-E2E8-E4F4B74D2D5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8AF2FCB9-03BF-30A5-4E86-EA83D5D5E0B4}"/>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F16811B8-F031-0711-FF6E-42749FF28A9C}"/>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D8F6AAE0-DF6E-FEAA-70FA-326AF0E10198}"/>
              </a:ext>
            </a:extLst>
          </p:cNvPr>
          <p:cNvSpPr txBox="1">
            <a:spLocks/>
          </p:cNvSpPr>
          <p:nvPr/>
        </p:nvSpPr>
        <p:spPr>
          <a:xfrm>
            <a:off x="1524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Performance Optimization and Tuning</a:t>
            </a:r>
          </a:p>
          <a:p>
            <a:pPr marL="12700" marR="5080"/>
            <a:r>
              <a:rPr lang="en-US" sz="2000" kern="0" spc="-80" dirty="0">
                <a:solidFill>
                  <a:schemeClr val="accent2"/>
                </a:solidFill>
              </a:rPr>
              <a:t>Code Level Best Practices</a:t>
            </a:r>
          </a:p>
        </p:txBody>
      </p:sp>
      <p:pic>
        <p:nvPicPr>
          <p:cNvPr id="6" name="Picture 5">
            <a:extLst>
              <a:ext uri="{FF2B5EF4-FFF2-40B4-BE49-F238E27FC236}">
                <a16:creationId xmlns:a16="http://schemas.microsoft.com/office/drawing/2014/main" id="{8D132EEF-3343-7A9E-D269-F3E4917C57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377553"/>
            <a:ext cx="8991600" cy="4510451"/>
          </a:xfrm>
          <a:prstGeom prst="rect">
            <a:avLst/>
          </a:prstGeom>
        </p:spPr>
      </p:pic>
    </p:spTree>
    <p:extLst>
      <p:ext uri="{BB962C8B-B14F-4D97-AF65-F5344CB8AC3E}">
        <p14:creationId xmlns:p14="http://schemas.microsoft.com/office/powerpoint/2010/main" val="17931326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75FD-9044-7249-7F3F-1DA84DAA8F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577871-115C-8322-753F-B918C643D2A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3879F7-2169-4976-3D5C-B44561F73E6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7105456-300A-E4C6-3580-337A1BE3924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416D609-5A73-F60A-E36B-ADE123B785A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D40F6E3-1A49-05B6-5E8E-4856C5AD94B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9E7397BC-9D90-CFC1-1094-1477268106DC}"/>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577CB69E-07A6-7FB2-EF92-0A7B1F43355F}"/>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30257281-E6FF-CB3D-7E0D-B882710DD034}"/>
              </a:ext>
            </a:extLst>
          </p:cNvPr>
          <p:cNvSpPr txBox="1">
            <a:spLocks/>
          </p:cNvSpPr>
          <p:nvPr/>
        </p:nvSpPr>
        <p:spPr>
          <a:xfrm>
            <a:off x="152400" y="762000"/>
            <a:ext cx="8624937" cy="397031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a:t>
            </a:r>
          </a:p>
          <a:p>
            <a:pPr marL="12700" marR="5080"/>
            <a:r>
              <a:rPr lang="en-IN" sz="1300" dirty="0">
                <a:hlinkClick r:id="rId7"/>
              </a:rPr>
              <a:t>The Hadoop Ecosystem Table</a:t>
            </a:r>
            <a:endParaRPr lang="en-IN" sz="1300" dirty="0"/>
          </a:p>
          <a:p>
            <a:pPr marL="12700" marR="5080"/>
            <a:r>
              <a:rPr lang="en-IN" sz="1300" dirty="0">
                <a:hlinkClick r:id="rId8"/>
              </a:rPr>
              <a:t>Hadoop – Apache Hadoop 3.4.1</a:t>
            </a:r>
            <a:endParaRPr lang="en-IN" sz="1300" dirty="0"/>
          </a:p>
          <a:p>
            <a:pPr marL="12700" marR="5080"/>
            <a:r>
              <a:rPr lang="en-IN" sz="1200" dirty="0">
                <a:hlinkClick r:id="rId9"/>
              </a:rPr>
              <a:t>Hadoop Internals</a:t>
            </a:r>
            <a:endParaRPr lang="en-IN" sz="1200" dirty="0"/>
          </a:p>
          <a:p>
            <a:pPr marL="12700" marR="5080"/>
            <a:r>
              <a:rPr lang="en-US" sz="1200" dirty="0">
                <a:hlinkClick r:id="rId10"/>
              </a:rPr>
              <a:t>LearningSparkV2</a:t>
            </a:r>
            <a:endParaRPr lang="en-US" sz="1200" dirty="0"/>
          </a:p>
          <a:p>
            <a:pPr marL="12700" marR="5080"/>
            <a:r>
              <a:rPr lang="en-US" sz="1200" dirty="0">
                <a:hlinkClick r:id="rId11"/>
              </a:rPr>
              <a:t>Spark-The-Definitive-Guide</a:t>
            </a:r>
            <a:endParaRPr lang="en-US" sz="1200" dirty="0"/>
          </a:p>
          <a:p>
            <a:pPr marL="12700" marR="5080"/>
            <a:r>
              <a:rPr lang="en-IN" sz="1200" dirty="0">
                <a:hlinkClick r:id="rId12"/>
              </a:rPr>
              <a:t>Why </a:t>
            </a:r>
            <a:r>
              <a:rPr lang="en-IN" sz="1200" dirty="0" err="1">
                <a:hlinkClick r:id="rId12"/>
              </a:rPr>
              <a:t>PySpark</a:t>
            </a:r>
            <a:r>
              <a:rPr lang="en-IN" sz="1200" dirty="0">
                <a:hlinkClick r:id="rId12"/>
              </a:rPr>
              <a:t>| LinkedIn</a:t>
            </a:r>
            <a:endParaRPr lang="en-IN" sz="1200" dirty="0"/>
          </a:p>
          <a:p>
            <a:pPr marL="12700" marR="5080"/>
            <a:r>
              <a:rPr lang="en-US" sz="1200" dirty="0">
                <a:hlinkClick r:id="rId13"/>
              </a:rPr>
              <a:t>Mastering-Apache-Spark-2x</a:t>
            </a:r>
            <a:endParaRPr lang="en-US" sz="1200" dirty="0"/>
          </a:p>
          <a:p>
            <a:pPr marL="12700" marR="5080"/>
            <a:r>
              <a:rPr lang="en-IN" sz="1200" dirty="0">
                <a:hlinkClick r:id="rId14"/>
              </a:rPr>
              <a:t>Data-Algorithms-with-Spark</a:t>
            </a:r>
            <a:endParaRPr lang="en-US" sz="1200" kern="0" spc="-80" dirty="0">
              <a:solidFill>
                <a:schemeClr val="accent2"/>
              </a:solidFill>
            </a:endParaRPr>
          </a:p>
          <a:p>
            <a:pPr marL="12700" marR="5080"/>
            <a:r>
              <a:rPr lang="en-IN" sz="1200" dirty="0">
                <a:hlinkClick r:id="rId15"/>
              </a:rPr>
              <a:t>Overview - Spark 3.5.3 Documentation</a:t>
            </a:r>
            <a:endParaRPr lang="en-IN" sz="1200" dirty="0"/>
          </a:p>
          <a:p>
            <a:pPr marL="12700" marR="5080"/>
            <a:r>
              <a:rPr lang="en-US" sz="1200" dirty="0">
                <a:hlinkClick r:id="rId16"/>
              </a:rPr>
              <a:t>Spark Core - The Internals of Spark Core</a:t>
            </a:r>
            <a:endParaRPr lang="en-US" sz="1200" dirty="0"/>
          </a:p>
          <a:p>
            <a:pPr marL="12700" marR="5080"/>
            <a:r>
              <a:rPr lang="en-US" sz="1200" dirty="0">
                <a:hlinkClick r:id="rId17"/>
              </a:rPr>
              <a:t>Spark Internals</a:t>
            </a:r>
            <a:endParaRPr lang="en-US" sz="1200" dirty="0"/>
          </a:p>
          <a:p>
            <a:pPr marL="12700" marR="5080"/>
            <a:r>
              <a:rPr lang="en-US" sz="1300" dirty="0">
                <a:hlinkClick r:id="rId18"/>
              </a:rPr>
              <a:t>Resilient Distributed Dataset (RDD) - The Internals of Spark Core</a:t>
            </a:r>
            <a:r>
              <a:rPr lang="en-IN" sz="1300" u="sng" dirty="0">
                <a:solidFill>
                  <a:srgbClr val="000000"/>
                </a:solidFill>
                <a:latin typeface="UICTFontTextStyleBody"/>
                <a:ea typeface="Aptos" panose="020B0004020202020204" pitchFamily="34" charset="0"/>
                <a:cs typeface="Aptos" panose="020B0004020202020204" pitchFamily="34" charset="0"/>
              </a:rPr>
              <a:t> </a:t>
            </a:r>
            <a:r>
              <a:rPr lang="en-IN" sz="1300" kern="0" spc="-80" dirty="0">
                <a:solidFill>
                  <a:schemeClr val="accent6"/>
                </a:solidFill>
              </a:rPr>
              <a:t>(Resiliency &amp; better read throughput is achieved via in-memory Replication across servers while better write throughput is achieved via partitioning)    </a:t>
            </a:r>
          </a:p>
          <a:p>
            <a:pPr marL="12700" marR="5080"/>
            <a:r>
              <a:rPr lang="en-IN" sz="1300" dirty="0">
                <a:hlinkClick r:id="rId19"/>
              </a:rPr>
              <a:t>Big Data File Formats</a:t>
            </a:r>
            <a:endParaRPr lang="en-IN" sz="1300" dirty="0"/>
          </a:p>
          <a:p>
            <a:pPr marL="12700" marR="5080"/>
            <a:r>
              <a:rPr lang="en-US" sz="1300" dirty="0">
                <a:hlinkClick r:id="rId20"/>
              </a:rPr>
              <a:t>Some aspects of parallel and distributed iterative algorithms—A survey – ScienceDirect</a:t>
            </a:r>
            <a:endParaRPr lang="en-US" sz="1300" dirty="0"/>
          </a:p>
          <a:p>
            <a:pPr marL="12700" marR="5080"/>
            <a:r>
              <a:rPr lang="en-US" sz="1300" dirty="0">
                <a:hlinkClick r:id="rId21"/>
              </a:rPr>
              <a:t>Bigdata-on-Kubernetes</a:t>
            </a:r>
            <a:endParaRPr lang="en-US" sz="1300" dirty="0"/>
          </a:p>
          <a:p>
            <a:pPr marL="12700" marR="5080"/>
            <a:r>
              <a:rPr lang="en-US" sz="1300" dirty="0">
                <a:hlinkClick r:id="rId22"/>
              </a:rPr>
              <a:t>Challenges (BD2)</a:t>
            </a:r>
            <a:r>
              <a:rPr lang="en-US" sz="1300" dirty="0"/>
              <a:t> </a:t>
            </a:r>
          </a:p>
          <a:p>
            <a:pPr marL="12700" marR="5080"/>
            <a:r>
              <a:rPr lang="en-US" sz="1300" dirty="0">
                <a:hlinkClick r:id="rId23"/>
              </a:rPr>
              <a:t>At most once, at least once, exactly once - by Alex Xu</a:t>
            </a:r>
            <a:endParaRPr lang="en-US" sz="1300" dirty="0"/>
          </a:p>
          <a:p>
            <a:pPr marL="12700" marR="5080"/>
            <a:r>
              <a:rPr lang="en-IN" sz="1300" dirty="0">
                <a:hlinkClick r:id="rId24"/>
              </a:rPr>
              <a:t>Data Processing Architecture On Microsoft Azure | by Karunakar Kotha | Medium</a:t>
            </a:r>
            <a:endParaRPr lang="en-IN" sz="1300" dirty="0"/>
          </a:p>
        </p:txBody>
      </p:sp>
    </p:spTree>
    <p:extLst>
      <p:ext uri="{BB962C8B-B14F-4D97-AF65-F5344CB8AC3E}">
        <p14:creationId xmlns:p14="http://schemas.microsoft.com/office/powerpoint/2010/main" val="31401324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5904B-1880-7D61-4776-1AF5124ECC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293097-CB34-93A1-C57C-78682A8D5D5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72C935A-BC7B-FBA3-192F-33838B17AA97}"/>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2C852A66-A4C3-47CA-EE87-14E1735E608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26691B4-CDAC-B8D3-D7A7-7237BC7C4D0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9EF60D2-ACCB-FE76-85CA-54BA25E533D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A436ADA-B215-C907-5FD1-DEB0021E7A35}"/>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D3A1B52-9DD6-9375-B06D-9D39FBFC7510}"/>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088138D3-9668-5DFE-6E62-F55D92C00630}"/>
              </a:ext>
            </a:extLst>
          </p:cNvPr>
          <p:cNvSpPr txBox="1">
            <a:spLocks/>
          </p:cNvSpPr>
          <p:nvPr/>
        </p:nvSpPr>
        <p:spPr>
          <a:xfrm>
            <a:off x="152400" y="762000"/>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vs Apache Flink: Key Differences</a:t>
            </a:r>
          </a:p>
          <a:p>
            <a:pPr marL="12700" marR="5080"/>
            <a:r>
              <a:rPr lang="en-US" sz="1300" kern="0" spc="-80" dirty="0">
                <a:solidFill>
                  <a:schemeClr val="accent6"/>
                </a:solidFill>
              </a:rPr>
              <a:t>Apache Flink and Apache Spark are both powerful, open-source data processing frameworks designed for large-scale operations, but they differ fundamentally in their core processing models. Flink is a true stream processor designed for low-latency, real-time event-by-event processing, while Spark is primarily a batch processing engine that uses micro-batches to emulate streaming</a:t>
            </a:r>
          </a:p>
        </p:txBody>
      </p:sp>
      <p:pic>
        <p:nvPicPr>
          <p:cNvPr id="10" name="Picture 9">
            <a:extLst>
              <a:ext uri="{FF2B5EF4-FFF2-40B4-BE49-F238E27FC236}">
                <a16:creationId xmlns:a16="http://schemas.microsoft.com/office/drawing/2014/main" id="{6956CBE1-D8AD-2D41-20C2-E47ED63DDE7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1828799"/>
            <a:ext cx="8915398" cy="4114801"/>
          </a:xfrm>
          <a:prstGeom prst="rect">
            <a:avLst/>
          </a:prstGeom>
        </p:spPr>
      </p:pic>
    </p:spTree>
    <p:extLst>
      <p:ext uri="{BB962C8B-B14F-4D97-AF65-F5344CB8AC3E}">
        <p14:creationId xmlns:p14="http://schemas.microsoft.com/office/powerpoint/2010/main" val="28654279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C3CD-BF49-8AAE-4C11-87032809A0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E7A2FF-E692-CCDF-15F1-C6D56C6A06F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A7925D-4464-A4FF-5AA3-F9F74054376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5F62BFC-7354-AEEB-3705-CDD0CEDDCF9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C5E361F-D318-CC78-0F27-91C56936555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7C07B62-E1C6-FD58-BE52-BBA511D6D5D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B37C9C4-D11B-DB76-B3E1-0726512E970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CB2221AD-81F1-9114-DAED-54A36E5F510A}"/>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37EC73CD-8D97-3040-5610-BE3C0038E56C}"/>
              </a:ext>
            </a:extLst>
          </p:cNvPr>
          <p:cNvSpPr txBox="1">
            <a:spLocks/>
          </p:cNvSpPr>
          <p:nvPr/>
        </p:nvSpPr>
        <p:spPr>
          <a:xfrm>
            <a:off x="1524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vs Apache Flink: Key Differences</a:t>
            </a:r>
          </a:p>
        </p:txBody>
      </p:sp>
      <p:pic>
        <p:nvPicPr>
          <p:cNvPr id="12" name="Picture 11">
            <a:extLst>
              <a:ext uri="{FF2B5EF4-FFF2-40B4-BE49-F238E27FC236}">
                <a16:creationId xmlns:a16="http://schemas.microsoft.com/office/drawing/2014/main" id="{E5CEE4ED-D82A-4943-F04E-4EA40F6404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2" y="1054076"/>
            <a:ext cx="8853537" cy="332170"/>
          </a:xfrm>
          <a:prstGeom prst="rect">
            <a:avLst/>
          </a:prstGeom>
        </p:spPr>
      </p:pic>
      <p:pic>
        <p:nvPicPr>
          <p:cNvPr id="14" name="Picture 13">
            <a:extLst>
              <a:ext uri="{FF2B5EF4-FFF2-40B4-BE49-F238E27FC236}">
                <a16:creationId xmlns:a16="http://schemas.microsoft.com/office/drawing/2014/main" id="{2E8F0EB9-DB6F-CD78-C6FF-31D0F9CAA5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1" y="1386245"/>
            <a:ext cx="8799460" cy="4501760"/>
          </a:xfrm>
          <a:prstGeom prst="rect">
            <a:avLst/>
          </a:prstGeom>
        </p:spPr>
      </p:pic>
    </p:spTree>
    <p:extLst>
      <p:ext uri="{BB962C8B-B14F-4D97-AF65-F5344CB8AC3E}">
        <p14:creationId xmlns:p14="http://schemas.microsoft.com/office/powerpoint/2010/main" val="3053957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8D537-DE9C-81AC-96BC-2FE6D912427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A7F039B-4948-196D-3778-DABF24A8B12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DF990FA-AD22-6449-4DD0-BD041D1B0AC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8A990964-D1C6-054A-9FB8-BAF0B739F54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55AF903-D60B-747D-AC10-A9C6EDEA35D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6F272A3-25C3-0CB6-6CD6-26A9D7D36A5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5980733-2B4B-F96E-0A60-D2DE9763B7EE}"/>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B32EFF59-6403-AB60-A187-E6302A5B298E}"/>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1494E84B-B86C-F53C-911A-AF48D1B297EC}"/>
              </a:ext>
            </a:extLst>
          </p:cNvPr>
          <p:cNvSpPr txBox="1">
            <a:spLocks/>
          </p:cNvSpPr>
          <p:nvPr/>
        </p:nvSpPr>
        <p:spPr>
          <a:xfrm>
            <a:off x="152400" y="762000"/>
            <a:ext cx="8624937" cy="17081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Spark vs Apache Flink: Key Differences</a:t>
            </a:r>
          </a:p>
          <a:p>
            <a:pPr marL="12700" marR="5080"/>
            <a:r>
              <a:rPr lang="en-US" sz="1300" kern="0" spc="-80" dirty="0">
                <a:solidFill>
                  <a:schemeClr val="accent2"/>
                </a:solidFill>
              </a:rPr>
              <a:t>Key Takeaways</a:t>
            </a:r>
          </a:p>
          <a:p>
            <a:pPr marL="12700" marR="5080"/>
            <a:r>
              <a:rPr lang="en-US" sz="1300" kern="0" spc="-80" dirty="0">
                <a:solidFill>
                  <a:schemeClr val="accent2"/>
                </a:solidFill>
              </a:rPr>
              <a:t>Choose Apache Flink </a:t>
            </a:r>
            <a:r>
              <a:rPr lang="en-US" sz="1300" kern="0" spc="-80" dirty="0">
                <a:solidFill>
                  <a:schemeClr val="accent6"/>
                </a:solidFill>
              </a:rPr>
              <a:t>if your application requires true real-time, event-by-event processing with minimal latency (milliseconds), sophisticated state management, and complex event processing capabilities (e.g., fraud detection, real-time recommendations).</a:t>
            </a:r>
          </a:p>
          <a:p>
            <a:pPr marL="12700" marR="5080"/>
            <a:r>
              <a:rPr lang="en-US" sz="1300" kern="0" spc="-80" dirty="0">
                <a:solidFill>
                  <a:schemeClr val="accent2"/>
                </a:solidFill>
              </a:rPr>
              <a:t>Choose Apache Spark </a:t>
            </a:r>
            <a:r>
              <a:rPr lang="en-US" sz="1300" kern="0" spc="-80" dirty="0">
                <a:solidFill>
                  <a:schemeClr val="accent6"/>
                </a:solidFill>
              </a:rPr>
              <a:t>if your primary workloads involve large-scale, high-throughput batch processing, ETL jobs, or extensive machine learning model training, and if your team is already invested in its mature and extensive ecosystem.</a:t>
            </a:r>
          </a:p>
        </p:txBody>
      </p:sp>
    </p:spTree>
    <p:extLst>
      <p:ext uri="{BB962C8B-B14F-4D97-AF65-F5344CB8AC3E}">
        <p14:creationId xmlns:p14="http://schemas.microsoft.com/office/powerpoint/2010/main" val="20839263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E42A-6807-EB50-058E-234023E903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CB03D8-E99C-8532-9666-EA12205A4BA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266F4C-F630-A32C-E474-CC6495EF2EB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DE59091-892E-D98E-994E-8DE3872CB25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715FBF5-2B2D-8E8A-491C-ACC182D07A3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FA81380-C296-EF77-4C3C-184B47F5E9A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0F94413-6FCA-331D-08E0-00AF992989FB}"/>
              </a:ext>
            </a:extLst>
          </p:cNvPr>
          <p:cNvGraphicFramePr/>
          <p:nvPr>
            <p:extLst>
              <p:ext uri="{D42A27DB-BD31-4B8C-83A1-F6EECF244321}">
                <p14:modId xmlns:p14="http://schemas.microsoft.com/office/powerpoint/2010/main" val="3680396326"/>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96CBFCA7-A7F6-1947-080F-B087338DFD9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C8700B07-49CA-23C0-2D72-18CE527725E0}"/>
              </a:ext>
            </a:extLst>
          </p:cNvPr>
          <p:cNvSpPr txBox="1">
            <a:spLocks/>
          </p:cNvSpPr>
          <p:nvPr/>
        </p:nvSpPr>
        <p:spPr>
          <a:xfrm>
            <a:off x="1524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1️⃣ </a:t>
            </a:r>
            <a:r>
              <a:rPr lang="en-US" sz="1300" kern="0" spc="-80" dirty="0">
                <a:solidFill>
                  <a:schemeClr val="accent2"/>
                </a:solidFill>
              </a:rPr>
              <a:t>High-Level Logical Architecture</a:t>
            </a:r>
          </a:p>
          <a:p>
            <a:pPr marL="12700" marR="5080"/>
            <a:r>
              <a:rPr lang="en-US" sz="1300" kern="0" spc="-80" dirty="0">
                <a:solidFill>
                  <a:schemeClr val="accent6"/>
                </a:solidFill>
              </a:rPr>
              <a:t>                     USER / CLIENT</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Flink Client     |</a:t>
            </a:r>
          </a:p>
          <a:p>
            <a:pPr marL="12700" marR="5080"/>
            <a:r>
              <a:rPr lang="en-US" sz="1300" kern="0" spc="-80" dirty="0">
                <a:solidFill>
                  <a:schemeClr val="accent6"/>
                </a:solidFill>
              </a:rPr>
              <a:t>                 | (CLI / REST / API)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Submit </a:t>
            </a:r>
            <a:r>
              <a:rPr lang="en-US" sz="1300" kern="0" spc="-80" dirty="0" err="1">
                <a:solidFill>
                  <a:schemeClr val="accent6"/>
                </a:solidFill>
              </a:rPr>
              <a:t>JobGraph</a:t>
            </a:r>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FLINK CLUSTER                  |</a:t>
            </a:r>
          </a:p>
          <a:p>
            <a:pPr marL="12700" marR="5080"/>
            <a:r>
              <a:rPr lang="en-US" sz="1300" kern="0" spc="-80" dirty="0">
                <a:solidFill>
                  <a:schemeClr val="accent6"/>
                </a:solidFill>
              </a:rPr>
              <a:t>        |                                             |</a:t>
            </a:r>
          </a:p>
          <a:p>
            <a:pPr marL="12700" marR="5080"/>
            <a:r>
              <a:rPr lang="en-US" sz="1300" kern="0" spc="-80" dirty="0">
                <a:solidFill>
                  <a:schemeClr val="accent6"/>
                </a:solidFill>
              </a:rPr>
              <a:t>        |   +-------------------------------+         |</a:t>
            </a:r>
          </a:p>
          <a:p>
            <a:pPr marL="12700" marR="5080"/>
            <a:r>
              <a:rPr lang="en-US" sz="1300" kern="0" spc="-80" dirty="0">
                <a:solidFill>
                  <a:schemeClr val="accent6"/>
                </a:solidFill>
              </a:rPr>
              <a:t>        |   |        </a:t>
            </a:r>
            <a:r>
              <a:rPr lang="en-US" sz="1300" kern="0" spc="-80" dirty="0" err="1">
                <a:solidFill>
                  <a:schemeClr val="accent6"/>
                </a:solidFill>
              </a:rPr>
              <a:t>JobManager</a:t>
            </a:r>
            <a:r>
              <a:rPr lang="en-US" sz="1300" kern="0" spc="-80" dirty="0">
                <a:solidFill>
                  <a:schemeClr val="accent6"/>
                </a:solidFill>
              </a:rPr>
              <a:t>(s)          |         |</a:t>
            </a:r>
          </a:p>
          <a:p>
            <a:pPr marL="12700" marR="5080"/>
            <a:r>
              <a:rPr lang="en-US" sz="1300" kern="0" spc="-80" dirty="0">
                <a:solidFill>
                  <a:schemeClr val="accent6"/>
                </a:solidFill>
              </a:rPr>
              <a:t>        |   |  (Master / Dispatcher)       |         |</a:t>
            </a:r>
          </a:p>
          <a:p>
            <a:pPr marL="12700" marR="5080"/>
            <a:r>
              <a:rPr lang="en-US" sz="1300" kern="0" spc="-80" dirty="0">
                <a:solidFill>
                  <a:schemeClr val="accent6"/>
                </a:solidFill>
              </a:rPr>
              <a:t>        |   |                               |         |</a:t>
            </a:r>
          </a:p>
          <a:p>
            <a:pPr marL="12700" marR="5080"/>
            <a:r>
              <a:rPr lang="en-US" sz="1300" kern="0" spc="-80" dirty="0">
                <a:solidFill>
                  <a:schemeClr val="accent6"/>
                </a:solidFill>
              </a:rPr>
              <a:t>        |   |  - Job Submission             |         |</a:t>
            </a:r>
          </a:p>
          <a:p>
            <a:pPr marL="12700" marR="5080"/>
            <a:r>
              <a:rPr lang="en-US" sz="1300" kern="0" spc="-80" dirty="0">
                <a:solidFill>
                  <a:schemeClr val="accent6"/>
                </a:solidFill>
              </a:rPr>
              <a:t>        |   |  - Scheduling                 |         |</a:t>
            </a:r>
          </a:p>
          <a:p>
            <a:pPr marL="12700" marR="5080"/>
            <a:r>
              <a:rPr lang="en-US" sz="1300" kern="0" spc="-80" dirty="0">
                <a:solidFill>
                  <a:schemeClr val="accent6"/>
                </a:solidFill>
              </a:rPr>
              <a:t>        |   |  - Checkpoint Coordination   |         |</a:t>
            </a:r>
          </a:p>
          <a:p>
            <a:pPr marL="12700" marR="5080"/>
            <a:r>
              <a:rPr lang="en-US" sz="1300" kern="0" spc="-80" dirty="0">
                <a:solidFill>
                  <a:schemeClr val="accent6"/>
                </a:solidFill>
              </a:rPr>
              <a:t>        |   |  - Failure Recovery          |         |</a:t>
            </a:r>
          </a:p>
          <a:p>
            <a:pPr marL="12700" marR="5080"/>
            <a:r>
              <a:rPr lang="en-US" sz="1300" kern="0" spc="-80" dirty="0">
                <a:solidFill>
                  <a:schemeClr val="accent6"/>
                </a:solidFill>
              </a:rPr>
              <a:t>        |   +---------------+---------------+         |</a:t>
            </a:r>
          </a:p>
          <a:p>
            <a:pPr marL="12700" marR="5080"/>
            <a:r>
              <a:rPr lang="en-US" sz="1300" kern="0" spc="-80" dirty="0">
                <a:solidFill>
                  <a:schemeClr val="accent6"/>
                </a:solidFill>
              </a:rPr>
              <a:t>        |                   |                         |</a:t>
            </a:r>
          </a:p>
        </p:txBody>
      </p:sp>
    </p:spTree>
    <p:extLst>
      <p:ext uri="{BB962C8B-B14F-4D97-AF65-F5344CB8AC3E}">
        <p14:creationId xmlns:p14="http://schemas.microsoft.com/office/powerpoint/2010/main" val="41588555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72EB5-4667-780A-1503-01213CF17D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5C85CEE-F794-E7B0-D812-93D0DC5A923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CFA5DD7-E1F0-4FD8-57CB-0DC18019AAE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15C39FE-221D-BB82-3142-73787B737BD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B680643-E42B-3519-E0D8-24273051D74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8E38B4D-A7A3-5D36-9BC8-C16C0D2E767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649520C-CBFE-57EE-14E1-0675F13C0880}"/>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310E2E05-AFD2-7967-FB87-D92E3CE3AB2D}"/>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A7CBD158-33A2-6CE4-3A87-5C151402812C}"/>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1️⃣ </a:t>
            </a:r>
            <a:r>
              <a:rPr lang="en-US" sz="1300" kern="0" spc="-80" dirty="0">
                <a:solidFill>
                  <a:schemeClr val="accent2"/>
                </a:solidFill>
              </a:rPr>
              <a:t>High-Level Logical Architecture</a:t>
            </a:r>
          </a:p>
          <a:p>
            <a:pPr marL="12700" marR="5080"/>
            <a:r>
              <a:rPr lang="en-US" sz="1300" kern="0" spc="-80" dirty="0">
                <a:solidFill>
                  <a:schemeClr val="accent2"/>
                </a:solidFill>
              </a:rPr>
              <a:t>|            Task Deployment                  |</a:t>
            </a:r>
          </a:p>
          <a:p>
            <a:pPr marL="12700" marR="5080"/>
            <a:r>
              <a:rPr lang="en-US" sz="1300" kern="0" spc="-80" dirty="0">
                <a:solidFill>
                  <a:schemeClr val="accent6"/>
                </a:solidFill>
              </a:rPr>
              <a:t>        |                   |                         |</a:t>
            </a:r>
          </a:p>
          <a:p>
            <a:pPr marL="12700" marR="5080"/>
            <a:r>
              <a:rPr lang="en-US" sz="1300" kern="0" spc="-80" dirty="0">
                <a:solidFill>
                  <a:schemeClr val="accent6"/>
                </a:solidFill>
              </a:rPr>
              <a:t>        |   ---------------------------------------   |</a:t>
            </a:r>
          </a:p>
          <a:p>
            <a:pPr marL="12700" marR="5080"/>
            <a:r>
              <a:rPr lang="en-US" sz="1300" kern="0" spc="-80" dirty="0">
                <a:solidFill>
                  <a:schemeClr val="accent6"/>
                </a:solidFill>
              </a:rPr>
              <a:t>        |   |              |              |         | |</a:t>
            </a:r>
          </a:p>
          <a:p>
            <a:pPr marL="12700" marR="5080"/>
            <a:r>
              <a:rPr lang="en-US" sz="1300" kern="0" spc="-80" dirty="0">
                <a:solidFill>
                  <a:schemeClr val="accent6"/>
                </a:solidFill>
              </a:rPr>
              <a:t>        |   v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r>
              <a:rPr lang="en-US" sz="1300" kern="0" spc="-80" dirty="0">
                <a:solidFill>
                  <a:schemeClr val="accent6"/>
                </a:solidFill>
              </a:rPr>
              <a:t> |</a:t>
            </a:r>
          </a:p>
          <a:p>
            <a:pPr marL="12700" marR="5080"/>
            <a:r>
              <a:rPr lang="en-US" sz="1300" kern="0" spc="-80" dirty="0">
                <a:solidFill>
                  <a:schemeClr val="accent6"/>
                </a:solidFill>
              </a:rPr>
              <a:t>        |+-------+     +-------+     +-------+ +-------+</a:t>
            </a:r>
          </a:p>
          <a:p>
            <a:pPr marL="12700" marR="5080"/>
            <a:r>
              <a:rPr lang="en-US" sz="1300" kern="0" spc="-80" dirty="0">
                <a:solidFill>
                  <a:schemeClr val="accent6"/>
                </a:solidFill>
              </a:rPr>
              <a:t>        ||</a:t>
            </a:r>
            <a:r>
              <a:rPr lang="en-US" sz="1300" kern="0" spc="-80" dirty="0" err="1">
                <a:solidFill>
                  <a:schemeClr val="accent6"/>
                </a:solidFill>
              </a:rPr>
              <a:t>TaskMgr</a:t>
            </a:r>
            <a:r>
              <a:rPr lang="en-US" sz="1300" kern="0" spc="-80" dirty="0">
                <a:solidFill>
                  <a:schemeClr val="accent6"/>
                </a:solidFill>
              </a:rPr>
              <a:t>|     |</a:t>
            </a:r>
            <a:r>
              <a:rPr lang="en-US" sz="1300" kern="0" spc="-80" dirty="0" err="1">
                <a:solidFill>
                  <a:schemeClr val="accent6"/>
                </a:solidFill>
              </a:rPr>
              <a:t>TaskMgr</a:t>
            </a:r>
            <a:r>
              <a:rPr lang="en-US" sz="1300" kern="0" spc="-80" dirty="0">
                <a:solidFill>
                  <a:schemeClr val="accent6"/>
                </a:solidFill>
              </a:rPr>
              <a:t>|     |</a:t>
            </a:r>
            <a:r>
              <a:rPr lang="en-US" sz="1300" kern="0" spc="-80" dirty="0" err="1">
                <a:solidFill>
                  <a:schemeClr val="accent6"/>
                </a:solidFill>
              </a:rPr>
              <a:t>TaskMgr</a:t>
            </a:r>
            <a:r>
              <a:rPr lang="en-US" sz="1300" kern="0" spc="-80" dirty="0">
                <a:solidFill>
                  <a:schemeClr val="accent6"/>
                </a:solidFill>
              </a:rPr>
              <a:t>| |</a:t>
            </a:r>
            <a:r>
              <a:rPr lang="en-US" sz="1300" kern="0" spc="-80" dirty="0" err="1">
                <a:solidFill>
                  <a:schemeClr val="accent6"/>
                </a:solidFill>
              </a:rPr>
              <a:t>TaskMgr</a:t>
            </a:r>
            <a:r>
              <a:rPr lang="en-US" sz="1300" kern="0" spc="-80" dirty="0">
                <a:solidFill>
                  <a:schemeClr val="accent6"/>
                </a:solidFill>
              </a:rPr>
              <a:t>|</a:t>
            </a:r>
          </a:p>
          <a:p>
            <a:pPr marL="12700" marR="5080"/>
            <a:r>
              <a:rPr lang="en-US" sz="1300" kern="0" spc="-80" dirty="0">
                <a:solidFill>
                  <a:schemeClr val="accent6"/>
                </a:solidFill>
              </a:rPr>
              <a:t>        |+-------+     +-------+     +-------+ +-------+</a:t>
            </a:r>
          </a:p>
          <a:p>
            <a:pPr marL="12700" marR="5080"/>
            <a:r>
              <a:rPr lang="en-US" sz="1300" kern="0" spc="-80" dirty="0">
                <a:solidFill>
                  <a:schemeClr val="accent6"/>
                </a:solidFill>
              </a:rPr>
              <a:t>        |   |              |              |         |</a:t>
            </a:r>
          </a:p>
          <a:p>
            <a:pPr marL="12700" marR="5080"/>
            <a:r>
              <a:rPr lang="en-US" sz="1300" kern="0" spc="-80" dirty="0">
                <a:solidFill>
                  <a:schemeClr val="accent6"/>
                </a:solidFill>
              </a:rPr>
              <a:t>        |   | Slots        | Slots        | Slots   |</a:t>
            </a:r>
          </a:p>
          <a:p>
            <a:pPr marL="12700" marR="5080"/>
            <a:r>
              <a:rPr lang="en-US" sz="1300" kern="0" spc="-80" dirty="0">
                <a:solidFill>
                  <a:schemeClr val="accent6"/>
                </a:solidFill>
              </a:rPr>
              <a:t>        |   v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endParaRPr lang="en-US" sz="1300" kern="0" spc="-80" dirty="0">
              <a:solidFill>
                <a:schemeClr val="accent6"/>
              </a:solidFill>
            </a:endParaRPr>
          </a:p>
          <a:p>
            <a:pPr marL="12700" marR="5080"/>
            <a:r>
              <a:rPr lang="en-US" sz="1300" kern="0" spc="-80" dirty="0">
                <a:solidFill>
                  <a:schemeClr val="accent6"/>
                </a:solidFill>
              </a:rPr>
              <a:t>        | [Subtasks]    [Subtasks]    [Subtasks] [Subtasks]</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endParaRPr lang="en-US" sz="1300" kern="0" spc="-80" dirty="0">
              <a:solidFill>
                <a:schemeClr val="accent2"/>
              </a:solidFill>
            </a:endParaRPr>
          </a:p>
          <a:p>
            <a:pPr marL="12700" marR="5080"/>
            <a:r>
              <a:rPr lang="en-US" sz="1300" kern="0" spc="-80" dirty="0">
                <a:solidFill>
                  <a:schemeClr val="accent2"/>
                </a:solidFill>
              </a:rPr>
              <a:t>Core Components Explained</a:t>
            </a:r>
          </a:p>
          <a:p>
            <a:pPr marL="12700" marR="5080"/>
            <a:r>
              <a:rPr lang="en-US" sz="1300" kern="0" spc="-80" dirty="0">
                <a:solidFill>
                  <a:schemeClr val="accent2"/>
                </a:solidFill>
              </a:rPr>
              <a:t>🔹 Flink Client</a:t>
            </a:r>
          </a:p>
          <a:p>
            <a:pPr marL="12700" marR="5080"/>
            <a:r>
              <a:rPr lang="en-US" sz="1300" kern="0" spc="-80" dirty="0">
                <a:solidFill>
                  <a:schemeClr val="accent6"/>
                </a:solidFill>
              </a:rPr>
              <a:t>Builds the </a:t>
            </a:r>
            <a:r>
              <a:rPr lang="en-US" sz="1300" kern="0" spc="-80" dirty="0" err="1">
                <a:solidFill>
                  <a:schemeClr val="accent6"/>
                </a:solidFill>
              </a:rPr>
              <a:t>JobGraph</a:t>
            </a:r>
            <a:endParaRPr lang="en-US" sz="1300" kern="0" spc="-80" dirty="0">
              <a:solidFill>
                <a:schemeClr val="accent6"/>
              </a:solidFill>
            </a:endParaRPr>
          </a:p>
          <a:p>
            <a:pPr marL="12700" marR="5080"/>
            <a:r>
              <a:rPr lang="en-US" sz="1300" kern="0" spc="-80" dirty="0">
                <a:solidFill>
                  <a:schemeClr val="accent6"/>
                </a:solidFill>
              </a:rPr>
              <a:t>Uploads job JARs</a:t>
            </a:r>
          </a:p>
          <a:p>
            <a:pPr marL="12700" marR="5080"/>
            <a:r>
              <a:rPr lang="en-US" sz="1300" kern="0" spc="-80" dirty="0">
                <a:solidFill>
                  <a:schemeClr val="accent6"/>
                </a:solidFill>
              </a:rPr>
              <a:t>Submits jobs</a:t>
            </a:r>
          </a:p>
          <a:p>
            <a:pPr marL="12700" marR="5080"/>
            <a:r>
              <a:rPr lang="en-US" sz="1300" kern="0" spc="-80" dirty="0">
                <a:solidFill>
                  <a:schemeClr val="accent6"/>
                </a:solidFill>
              </a:rPr>
              <a:t>Can exit after submission (cluster keeps running)</a:t>
            </a: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8847228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14CF0-4EBF-402D-4671-BDBD35DCEE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1FB45C-57A9-FE0E-75AB-0DAEE50AC45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C6EDB47-F610-9174-E666-7B76DB558FA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771BC49B-EEC4-87DF-D270-CC2216AF28C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867C3EA-F21B-3671-5FEC-27CEFEE41B5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97E3063-1972-B1A6-49EF-1C6EDE75620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AFADBD6-9940-2171-B537-91A8EF9D00A7}"/>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BBF72A50-7EF8-3246-1569-90C96A6E9D0E}"/>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6A566753-8612-F569-33BA-D1C6D564554C}"/>
              </a:ext>
            </a:extLst>
          </p:cNvPr>
          <p:cNvSpPr txBox="1">
            <a:spLocks/>
          </p:cNvSpPr>
          <p:nvPr/>
        </p:nvSpPr>
        <p:spPr>
          <a:xfrm>
            <a:off x="152400" y="762000"/>
            <a:ext cx="8624937" cy="46012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Core Components Explained</a:t>
            </a:r>
          </a:p>
          <a:p>
            <a:pPr marL="12700" marR="5080"/>
            <a:r>
              <a:rPr lang="en-US" sz="1300" kern="0" spc="-80" dirty="0">
                <a:solidFill>
                  <a:schemeClr val="accent6"/>
                </a:solidFill>
              </a:rPr>
              <a:t>🔹 </a:t>
            </a:r>
            <a:r>
              <a:rPr lang="en-US" sz="1300" kern="0" spc="-80" dirty="0" err="1">
                <a:solidFill>
                  <a:schemeClr val="accent6"/>
                </a:solidFill>
              </a:rPr>
              <a:t>JobManager</a:t>
            </a:r>
            <a:r>
              <a:rPr lang="en-US" sz="1300" kern="0" spc="-80" dirty="0">
                <a:solidFill>
                  <a:schemeClr val="accent6"/>
                </a:solidFill>
              </a:rPr>
              <a:t> (Master Node)</a:t>
            </a:r>
          </a:p>
          <a:p>
            <a:pPr marL="12700" marR="5080"/>
            <a:r>
              <a:rPr lang="en-US" sz="1300" kern="0" spc="-80" dirty="0">
                <a:solidFill>
                  <a:schemeClr val="accent6"/>
                </a:solidFill>
              </a:rPr>
              <a:t>Internally consists of:</a:t>
            </a:r>
          </a:p>
          <a:p>
            <a:pPr marL="12700" marR="5080"/>
            <a:r>
              <a:rPr lang="en-US" sz="1300" kern="0" spc="-80" dirty="0">
                <a:solidFill>
                  <a:schemeClr val="accent6"/>
                </a:solidFill>
              </a:rPr>
              <a:t>+--------------------------------------+</a:t>
            </a:r>
          </a:p>
          <a:p>
            <a:pPr marL="12700" marR="5080"/>
            <a:r>
              <a:rPr lang="en-US" sz="1300" kern="0" spc="-80" dirty="0">
                <a:solidFill>
                  <a:schemeClr val="accent6"/>
                </a:solidFill>
              </a:rPr>
              <a:t>| Dispatcher                           |</a:t>
            </a:r>
          </a:p>
          <a:p>
            <a:pPr marL="12700" marR="5080"/>
            <a:r>
              <a:rPr lang="en-US" sz="1300" kern="0" spc="-80" dirty="0">
                <a:solidFill>
                  <a:schemeClr val="accent6"/>
                </a:solidFill>
              </a:rPr>
              <a:t>|  - Accepts job submissions          |</a:t>
            </a:r>
          </a:p>
          <a:p>
            <a:pPr marL="12700" marR="5080"/>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ResourceManager</a:t>
            </a:r>
            <a:r>
              <a:rPr lang="en-US" sz="1300" kern="0" spc="-80" dirty="0">
                <a:solidFill>
                  <a:schemeClr val="accent6"/>
                </a:solidFill>
              </a:rPr>
              <a:t>                     |</a:t>
            </a:r>
          </a:p>
          <a:p>
            <a:pPr marL="12700" marR="5080"/>
            <a:r>
              <a:rPr lang="en-US" sz="1300" kern="0" spc="-80" dirty="0">
                <a:solidFill>
                  <a:schemeClr val="accent6"/>
                </a:solidFill>
              </a:rPr>
              <a:t>|  - Allocates </a:t>
            </a:r>
            <a:r>
              <a:rPr lang="en-US" sz="1300" kern="0" spc="-80" dirty="0" err="1">
                <a:solidFill>
                  <a:schemeClr val="accent6"/>
                </a:solidFill>
              </a:rPr>
              <a:t>TaskManagers</a:t>
            </a:r>
            <a:r>
              <a:rPr lang="en-US" sz="1300" kern="0" spc="-80" dirty="0">
                <a:solidFill>
                  <a:schemeClr val="accent6"/>
                </a:solidFill>
              </a:rPr>
              <a:t>           |</a:t>
            </a:r>
          </a:p>
          <a:p>
            <a:pPr marL="12700" marR="5080"/>
            <a:r>
              <a:rPr lang="en-US" sz="1300" kern="0" spc="-80" dirty="0">
                <a:solidFill>
                  <a:schemeClr val="accent6"/>
                </a:solidFill>
              </a:rPr>
              <a:t>|  - Talks to YARN/K8s/Standalone     |</a:t>
            </a:r>
          </a:p>
          <a:p>
            <a:pPr marL="12700" marR="5080"/>
            <a:r>
              <a:rPr lang="en-US" sz="1300" kern="0" spc="-80" dirty="0">
                <a:solidFill>
                  <a:schemeClr val="accent6"/>
                </a:solidFill>
              </a:rPr>
              <a:t>+--------------------------------------+</a:t>
            </a:r>
          </a:p>
          <a:p>
            <a:pPr marL="12700" marR="5080"/>
            <a:r>
              <a:rPr lang="en-US" sz="1300" kern="0" spc="-80" dirty="0">
                <a:solidFill>
                  <a:schemeClr val="accent6"/>
                </a:solidFill>
              </a:rPr>
              <a:t>| </a:t>
            </a:r>
            <a:r>
              <a:rPr lang="en-US" sz="1300" kern="0" spc="-80" dirty="0" err="1">
                <a:solidFill>
                  <a:schemeClr val="accent6"/>
                </a:solidFill>
              </a:rPr>
              <a:t>JobMaster</a:t>
            </a:r>
            <a:r>
              <a:rPr lang="en-US" sz="1300" kern="0" spc="-80" dirty="0">
                <a:solidFill>
                  <a:schemeClr val="accent6"/>
                </a:solidFill>
              </a:rPr>
              <a:t> (per job)                 |</a:t>
            </a:r>
          </a:p>
          <a:p>
            <a:pPr marL="12700" marR="5080"/>
            <a:r>
              <a:rPr lang="en-US" sz="1300" kern="0" spc="-80" dirty="0">
                <a:solidFill>
                  <a:schemeClr val="accent6"/>
                </a:solidFill>
              </a:rPr>
              <a:t>|  - Builds </a:t>
            </a:r>
            <a:r>
              <a:rPr lang="en-US" sz="1300" kern="0" spc="-80" dirty="0" err="1">
                <a:solidFill>
                  <a:schemeClr val="accent6"/>
                </a:solidFill>
              </a:rPr>
              <a:t>ExecutionGraph</a:t>
            </a:r>
            <a:r>
              <a:rPr lang="en-US" sz="1300" kern="0" spc="-80" dirty="0">
                <a:solidFill>
                  <a:schemeClr val="accent6"/>
                </a:solidFill>
              </a:rPr>
              <a:t>            |</a:t>
            </a:r>
          </a:p>
          <a:p>
            <a:pPr marL="12700" marR="5080"/>
            <a:r>
              <a:rPr lang="en-US" sz="1300" kern="0" spc="-80" dirty="0">
                <a:solidFill>
                  <a:schemeClr val="accent6"/>
                </a:solidFill>
              </a:rPr>
              <a:t>|  - Schedules tasks                 |</a:t>
            </a:r>
          </a:p>
          <a:p>
            <a:pPr marL="12700" marR="5080"/>
            <a:r>
              <a:rPr lang="en-US" sz="1300" kern="0" spc="-80" dirty="0">
                <a:solidFill>
                  <a:schemeClr val="accent6"/>
                </a:solidFill>
              </a:rPr>
              <a:t>|  - Coordinates checkpoints         |</a:t>
            </a:r>
          </a:p>
          <a:p>
            <a:pPr marL="12700" marR="5080"/>
            <a:r>
              <a:rPr lang="en-US" sz="1300" kern="0" spc="-80" dirty="0">
                <a:solidFill>
                  <a:schemeClr val="accent6"/>
                </a:solidFill>
              </a:rPr>
              <a:t>|  - Handles failures                |</a:t>
            </a:r>
          </a:p>
          <a:p>
            <a:pPr marL="12700" marR="5080"/>
            <a:r>
              <a:rPr lang="en-US" sz="1300" kern="0" spc="-80" dirty="0">
                <a:solidFill>
                  <a:schemeClr val="accent6"/>
                </a:solidFill>
              </a:rPr>
              <a:t>+--------------------------------------+</a:t>
            </a:r>
          </a:p>
          <a:p>
            <a:pPr marL="12700" marR="5080"/>
            <a:r>
              <a:rPr lang="en-US" sz="1300" kern="0" spc="-80" dirty="0">
                <a:solidFill>
                  <a:schemeClr val="accent2"/>
                </a:solidFill>
              </a:rPr>
              <a:t>Responsibilities:</a:t>
            </a:r>
          </a:p>
          <a:p>
            <a:pPr marL="12700" marR="5080"/>
            <a:r>
              <a:rPr lang="en-US" sz="1300" kern="0" spc="-80" dirty="0">
                <a:solidFill>
                  <a:schemeClr val="accent6"/>
                </a:solidFill>
              </a:rPr>
              <a:t>✅ Converts </a:t>
            </a:r>
            <a:r>
              <a:rPr lang="en-US" sz="1300" kern="0" spc="-80" dirty="0" err="1">
                <a:solidFill>
                  <a:schemeClr val="accent6"/>
                </a:solidFill>
              </a:rPr>
              <a:t>JobGraph</a:t>
            </a:r>
            <a:r>
              <a:rPr lang="en-US" sz="1300" kern="0" spc="-80" dirty="0">
                <a:solidFill>
                  <a:schemeClr val="accent6"/>
                </a:solidFill>
              </a:rPr>
              <a:t> → </a:t>
            </a:r>
            <a:r>
              <a:rPr lang="en-US" sz="1300" kern="0" spc="-80" dirty="0" err="1">
                <a:solidFill>
                  <a:schemeClr val="accent6"/>
                </a:solidFill>
              </a:rPr>
              <a:t>ExecutionGraph</a:t>
            </a:r>
            <a:endParaRPr lang="en-US" sz="1300" kern="0" spc="-80" dirty="0">
              <a:solidFill>
                <a:schemeClr val="accent6"/>
              </a:solidFill>
            </a:endParaRPr>
          </a:p>
          <a:p>
            <a:pPr marL="12700" marR="5080"/>
            <a:r>
              <a:rPr lang="en-US" sz="1300" kern="0" spc="-80" dirty="0">
                <a:solidFill>
                  <a:schemeClr val="accent6"/>
                </a:solidFill>
              </a:rPr>
              <a:t>✅ Assigns tasks to slots</a:t>
            </a:r>
          </a:p>
          <a:p>
            <a:pPr marL="12700" marR="5080"/>
            <a:r>
              <a:rPr lang="en-US" sz="1300" kern="0" spc="-80" dirty="0">
                <a:solidFill>
                  <a:schemeClr val="accent6"/>
                </a:solidFill>
              </a:rPr>
              <a:t>✅ Triggers checkpoints</a:t>
            </a:r>
          </a:p>
          <a:p>
            <a:pPr marL="12700" marR="5080"/>
            <a:r>
              <a:rPr lang="en-US" sz="1300" kern="0" spc="-80" dirty="0">
                <a:solidFill>
                  <a:schemeClr val="accent6"/>
                </a:solidFill>
              </a:rPr>
              <a:t>✅ Restarts failed tasks</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598485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40376-32F3-13BA-C8B0-F469E64EC0B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34F6F1-A488-5ECF-413E-0BE4C669580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D0206B8-DFCE-FF95-2656-9E6973D680E5}"/>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7F5713FE-7E9D-BDC4-81A1-676B29BDEA1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6FEA292-C1A3-C1D5-DA73-EC4F6FD75C5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562F780-9BF9-4D79-B9BE-9E0EB41D849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4E6240E-A4D0-780C-66C7-43D77C3C9837}"/>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7FB29F8F-4E33-DFA6-5D74-CE2B10D9B59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BC7C0218-9AC3-C0A9-670E-1B56CBC6BAA0}"/>
              </a:ext>
            </a:extLst>
          </p:cNvPr>
          <p:cNvSpPr txBox="1">
            <a:spLocks/>
          </p:cNvSpPr>
          <p:nvPr/>
        </p:nvSpPr>
        <p:spPr>
          <a:xfrm>
            <a:off x="152400" y="762000"/>
            <a:ext cx="8624937" cy="60016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Core Components Explained</a:t>
            </a:r>
          </a:p>
          <a:p>
            <a:pPr marL="12700" marR="5080"/>
            <a:r>
              <a:rPr lang="en-US" sz="1300" kern="0" spc="-80" dirty="0">
                <a:solidFill>
                  <a:schemeClr val="accent2"/>
                </a:solidFill>
              </a:rPr>
              <a:t>🔹 </a:t>
            </a:r>
            <a:r>
              <a:rPr lang="en-US" sz="1300" kern="0" spc="-80" dirty="0" err="1">
                <a:solidFill>
                  <a:schemeClr val="accent2"/>
                </a:solidFill>
              </a:rPr>
              <a:t>TaskManager</a:t>
            </a:r>
            <a:r>
              <a:rPr lang="en-US" sz="1300" kern="0" spc="-80" dirty="0">
                <a:solidFill>
                  <a:schemeClr val="accent2"/>
                </a:solidFill>
              </a:rPr>
              <a:t> (Worker Nodes)</a:t>
            </a:r>
          </a:p>
          <a:p>
            <a:pPr marL="12700" marR="5080"/>
            <a:r>
              <a:rPr lang="en-US" sz="1300" kern="0" spc="-80" dirty="0">
                <a:solidFill>
                  <a:schemeClr val="accent6"/>
                </a:solidFill>
              </a:rPr>
              <a:t>Each </a:t>
            </a:r>
            <a:r>
              <a:rPr lang="en-US" sz="1300" kern="0" spc="-80" dirty="0" err="1">
                <a:solidFill>
                  <a:schemeClr val="accent6"/>
                </a:solidFill>
              </a:rPr>
              <a:t>TaskManager</a:t>
            </a:r>
            <a:r>
              <a:rPr lang="en-US" sz="1300" kern="0" spc="-80" dirty="0">
                <a:solidFill>
                  <a:schemeClr val="accent6"/>
                </a:solidFill>
              </a:rPr>
              <a:t> contains:</a:t>
            </a:r>
          </a:p>
          <a:p>
            <a:pPr marL="12700" marR="5080"/>
            <a:r>
              <a:rPr lang="en-US" sz="1300" kern="0" spc="-80" dirty="0" err="1">
                <a:solidFill>
                  <a:schemeClr val="accent6"/>
                </a:solidFill>
              </a:rPr>
              <a:t>TaskManager</a:t>
            </a:r>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 +-- Slot 1 → Subtask</a:t>
            </a:r>
          </a:p>
          <a:p>
            <a:pPr marL="12700" marR="5080"/>
            <a:r>
              <a:rPr lang="en-US" sz="1300" kern="0" spc="-80" dirty="0">
                <a:solidFill>
                  <a:schemeClr val="accent6"/>
                </a:solidFill>
              </a:rPr>
              <a:t> +-- Slot 2 → Subtask</a:t>
            </a:r>
          </a:p>
          <a:p>
            <a:pPr marL="12700" marR="5080"/>
            <a:r>
              <a:rPr lang="en-US" sz="1300" kern="0" spc="-80" dirty="0">
                <a:solidFill>
                  <a:schemeClr val="accent6"/>
                </a:solidFill>
              </a:rPr>
              <a:t> +-- Slot 3 → Subtask</a:t>
            </a:r>
          </a:p>
          <a:p>
            <a:pPr marL="12700" marR="5080"/>
            <a:r>
              <a:rPr lang="en-US" sz="1300" kern="0" spc="-80" dirty="0">
                <a:solidFill>
                  <a:schemeClr val="accent2"/>
                </a:solidFill>
              </a:rPr>
              <a:t>They:</a:t>
            </a:r>
          </a:p>
          <a:p>
            <a:pPr marL="12700" marR="5080"/>
            <a:r>
              <a:rPr lang="en-US" sz="1300" kern="0" spc="-80" dirty="0">
                <a:solidFill>
                  <a:schemeClr val="accent6"/>
                </a:solidFill>
              </a:rPr>
              <a:t>Execute operators</a:t>
            </a:r>
          </a:p>
          <a:p>
            <a:pPr marL="12700" marR="5080"/>
            <a:r>
              <a:rPr lang="en-US" sz="1300" kern="0" spc="-80" dirty="0">
                <a:solidFill>
                  <a:schemeClr val="accent6"/>
                </a:solidFill>
              </a:rPr>
              <a:t>Exchange data over network</a:t>
            </a:r>
          </a:p>
          <a:p>
            <a:pPr marL="12700" marR="5080"/>
            <a:r>
              <a:rPr lang="en-US" sz="1300" kern="0" spc="-80" dirty="0">
                <a:solidFill>
                  <a:schemeClr val="accent6"/>
                </a:solidFill>
              </a:rPr>
              <a:t>Maintain local state</a:t>
            </a:r>
          </a:p>
          <a:p>
            <a:pPr marL="12700" marR="5080"/>
            <a:r>
              <a:rPr lang="en-US" sz="1300" kern="0" spc="-80" dirty="0">
                <a:solidFill>
                  <a:schemeClr val="accent6"/>
                </a:solidFill>
              </a:rPr>
              <a:t>Send heartbeats to </a:t>
            </a:r>
            <a:r>
              <a:rPr lang="en-US" sz="1300" kern="0" spc="-80" dirty="0" err="1">
                <a:solidFill>
                  <a:schemeClr val="accent6"/>
                </a:solidFill>
              </a:rPr>
              <a:t>JobManager</a:t>
            </a:r>
            <a:endParaRPr lang="en-US" sz="1300" kern="0" spc="-80" dirty="0">
              <a:solidFill>
                <a:schemeClr val="accent6"/>
              </a:solidFill>
            </a:endParaRPr>
          </a:p>
          <a:p>
            <a:pPr marL="12700" marR="5080"/>
            <a:endParaRPr lang="en-US" sz="1300" kern="0" spc="-80" dirty="0">
              <a:solidFill>
                <a:schemeClr val="accent6"/>
              </a:solidFill>
            </a:endParaRPr>
          </a:p>
          <a:p>
            <a:pPr marL="12700" marR="5080"/>
            <a:r>
              <a:rPr lang="en-US" sz="1300" kern="0" spc="-80" dirty="0">
                <a:solidFill>
                  <a:schemeClr val="accent2"/>
                </a:solidFill>
              </a:rPr>
              <a:t>3️⃣ Slot &amp; Parallelism Model</a:t>
            </a:r>
          </a:p>
          <a:p>
            <a:pPr marL="12700" marR="5080"/>
            <a:r>
              <a:rPr lang="en-US" sz="1300" kern="0" spc="-80" dirty="0">
                <a:solidFill>
                  <a:schemeClr val="accent6"/>
                </a:solidFill>
              </a:rPr>
              <a:t>1 </a:t>
            </a:r>
            <a:r>
              <a:rPr lang="en-US" sz="1300" kern="0" spc="-80" dirty="0" err="1">
                <a:solidFill>
                  <a:schemeClr val="accent6"/>
                </a:solidFill>
              </a:rPr>
              <a:t>TaskManager</a:t>
            </a:r>
            <a:r>
              <a:rPr lang="en-US" sz="1300" kern="0" spc="-80" dirty="0">
                <a:solidFill>
                  <a:schemeClr val="accent6"/>
                </a:solidFill>
              </a:rPr>
              <a:t> (4 Slots)</a:t>
            </a:r>
          </a:p>
          <a:p>
            <a:pPr marL="12700" marR="5080"/>
            <a:r>
              <a:rPr lang="en-US" sz="1300" kern="0" spc="-80" dirty="0">
                <a:solidFill>
                  <a:schemeClr val="accent6"/>
                </a:solidFill>
              </a:rPr>
              <a:t>+--------------------------------+</a:t>
            </a:r>
          </a:p>
          <a:p>
            <a:pPr marL="12700" marR="5080"/>
            <a:r>
              <a:rPr lang="en-US" sz="1300" kern="0" spc="-80" dirty="0">
                <a:solidFill>
                  <a:schemeClr val="accent6"/>
                </a:solidFill>
              </a:rPr>
              <a:t>| Slot1 | Slot2 | Slot3 | Slot4 |</a:t>
            </a:r>
          </a:p>
          <a:p>
            <a:pPr marL="12700" marR="5080"/>
            <a:r>
              <a:rPr lang="en-US" sz="1300" kern="0" spc="-80" dirty="0">
                <a:solidFill>
                  <a:schemeClr val="accent6"/>
                </a:solidFill>
              </a:rPr>
              <a:t>+--------------------------------+</a:t>
            </a:r>
          </a:p>
          <a:p>
            <a:pPr marL="12700" marR="5080"/>
            <a:r>
              <a:rPr lang="en-US" sz="1300" kern="0" spc="-80" dirty="0">
                <a:solidFill>
                  <a:schemeClr val="accent6"/>
                </a:solidFill>
              </a:rPr>
              <a:t>Each slot can run ONE parallel subtask.</a:t>
            </a:r>
          </a:p>
          <a:p>
            <a:pPr marL="12700" marR="5080"/>
            <a:r>
              <a:rPr lang="en-US" sz="1300" kern="0" spc="-80" dirty="0">
                <a:solidFill>
                  <a:schemeClr val="accent6"/>
                </a:solidFill>
              </a:rPr>
              <a:t>Total Parallelism:</a:t>
            </a:r>
          </a:p>
          <a:p>
            <a:pPr marL="12700" marR="5080"/>
            <a:r>
              <a:rPr lang="en-US" sz="1300" kern="0" spc="-80" dirty="0">
                <a:solidFill>
                  <a:schemeClr val="accent6"/>
                </a:solidFill>
              </a:rPr>
              <a:t>Parallelism = </a:t>
            </a:r>
            <a:r>
              <a:rPr lang="en-US" sz="1300" kern="0" spc="-80" dirty="0" err="1">
                <a:solidFill>
                  <a:schemeClr val="accent6"/>
                </a:solidFill>
              </a:rPr>
              <a:t>TaskManagers</a:t>
            </a:r>
            <a:r>
              <a:rPr lang="en-US" sz="1300" kern="0" spc="-80" dirty="0">
                <a:solidFill>
                  <a:schemeClr val="accent6"/>
                </a:solidFill>
              </a:rPr>
              <a:t> × Slots</a:t>
            </a:r>
          </a:p>
          <a:p>
            <a:pPr marL="12700" marR="5080"/>
            <a:endParaRPr lang="en-US" sz="1300" kern="0" spc="-80" dirty="0">
              <a:solidFill>
                <a:schemeClr val="accent6"/>
              </a:solidFill>
            </a:endParaRPr>
          </a:p>
          <a:p>
            <a:pPr marL="12700" marR="5080"/>
            <a:r>
              <a:rPr lang="en-US" sz="1300" kern="0" spc="-80" dirty="0">
                <a:solidFill>
                  <a:schemeClr val="accent2"/>
                </a:solidFill>
              </a:rPr>
              <a:t>4️⃣ Dataflow / Operator Pipeline</a:t>
            </a:r>
          </a:p>
          <a:p>
            <a:pPr marL="12700" marR="5080"/>
            <a:r>
              <a:rPr lang="en-US" sz="1300" kern="0" spc="-80" dirty="0">
                <a:solidFill>
                  <a:schemeClr val="accent2"/>
                </a:solidFill>
              </a:rPr>
              <a:t>Example:</a:t>
            </a:r>
          </a:p>
          <a:p>
            <a:pPr marL="12700" marR="5080"/>
            <a:r>
              <a:rPr lang="en-US" sz="1300" kern="0" spc="-80" dirty="0">
                <a:solidFill>
                  <a:schemeClr val="accent6"/>
                </a:solidFill>
              </a:rPr>
              <a:t>Source → Map → </a:t>
            </a:r>
            <a:r>
              <a:rPr lang="en-US" sz="1300" kern="0" spc="-80" dirty="0" err="1">
                <a:solidFill>
                  <a:schemeClr val="accent6"/>
                </a:solidFill>
              </a:rPr>
              <a:t>KeyBy</a:t>
            </a:r>
            <a:r>
              <a:rPr lang="en-US" sz="1300" kern="0" spc="-80" dirty="0">
                <a:solidFill>
                  <a:schemeClr val="accent6"/>
                </a:solidFill>
              </a:rPr>
              <a:t> → Window → Reduce → Sink</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40609900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DE63B-D49D-FA8B-BAB0-270261B125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90C8CE-CD5F-95D9-B59C-D6745C7AB40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6F1A97-FAC8-07BC-CC40-0B5114C2053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7CF788B-9E15-BB6F-69AE-93C1042D27D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DB07BA4-CD76-B5DE-66FF-59F89875EE2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D805983-5FBD-CCED-66D7-954E92727F0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A30FB6C2-452C-761A-4A66-C47E60A99DFC}"/>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C8E77AB-6D80-EA36-2236-CC052309E4F6}"/>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AEFCB0C8-2A65-89CF-FAC2-012C99BC2D61}"/>
              </a:ext>
            </a:extLst>
          </p:cNvPr>
          <p:cNvSpPr txBox="1">
            <a:spLocks/>
          </p:cNvSpPr>
          <p:nvPr/>
        </p:nvSpPr>
        <p:spPr>
          <a:xfrm>
            <a:off x="152400" y="762000"/>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Core Components Explained</a:t>
            </a:r>
          </a:p>
          <a:p>
            <a:pPr marL="12700" marR="5080"/>
            <a:r>
              <a:rPr lang="en-US" sz="1300" kern="0" spc="-80" dirty="0">
                <a:solidFill>
                  <a:schemeClr val="accent2"/>
                </a:solidFill>
              </a:rPr>
              <a:t>4️⃣ Dataflow / Operator Pipeline</a:t>
            </a:r>
          </a:p>
          <a:p>
            <a:pPr marL="12700" marR="5080"/>
            <a:r>
              <a:rPr lang="en-US" sz="1300" kern="0" spc="-80" dirty="0">
                <a:solidFill>
                  <a:schemeClr val="accent2"/>
                </a:solidFill>
              </a:rPr>
              <a:t>Internally becomes:</a:t>
            </a:r>
          </a:p>
          <a:p>
            <a:pPr marL="12700" marR="5080"/>
            <a:r>
              <a:rPr lang="en-US" sz="1300" kern="0" spc="-80" dirty="0">
                <a:solidFill>
                  <a:schemeClr val="accent6"/>
                </a:solidFill>
              </a:rPr>
              <a:t>Source Subtasks</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Shuffle / Network Exchange</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Window Subtasks</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Sink Subtasks</a:t>
            </a:r>
          </a:p>
          <a:p>
            <a:pPr marL="12700" marR="5080"/>
            <a:r>
              <a:rPr lang="en-US" sz="1300" kern="0" spc="-80" dirty="0">
                <a:solidFill>
                  <a:schemeClr val="accent2"/>
                </a:solidFill>
              </a:rPr>
              <a:t>Key points:</a:t>
            </a:r>
          </a:p>
          <a:p>
            <a:pPr marL="12700" marR="5080"/>
            <a:r>
              <a:rPr lang="en-US" sz="1300" kern="0" spc="-80" dirty="0">
                <a:solidFill>
                  <a:schemeClr val="accent6"/>
                </a:solidFill>
              </a:rPr>
              <a:t>Operators are chained for performance</a:t>
            </a:r>
          </a:p>
          <a:p>
            <a:pPr marL="12700" marR="5080"/>
            <a:r>
              <a:rPr lang="en-US" sz="1300" kern="0" spc="-80" dirty="0">
                <a:solidFill>
                  <a:schemeClr val="accent6"/>
                </a:solidFill>
              </a:rPr>
              <a:t>Network shuffles occur at </a:t>
            </a:r>
            <a:r>
              <a:rPr lang="en-US" sz="1300" kern="0" spc="-80" dirty="0" err="1">
                <a:solidFill>
                  <a:schemeClr val="accent6"/>
                </a:solidFill>
              </a:rPr>
              <a:t>keyBy</a:t>
            </a:r>
            <a:r>
              <a:rPr lang="en-US" sz="1300" kern="0" spc="-80" dirty="0">
                <a:solidFill>
                  <a:schemeClr val="accent6"/>
                </a:solidFill>
              </a:rPr>
              <a:t>, rebalance, etc.</a:t>
            </a:r>
          </a:p>
          <a:p>
            <a:pPr marL="12700" marR="5080"/>
            <a:r>
              <a:rPr lang="en-US" sz="1300" kern="0" spc="-80" dirty="0">
                <a:solidFill>
                  <a:schemeClr val="accent2"/>
                </a:solidFill>
              </a:rPr>
              <a:t>5️⃣ Execution Graph Layers</a:t>
            </a:r>
          </a:p>
          <a:p>
            <a:pPr marL="12700" marR="5080"/>
            <a:r>
              <a:rPr lang="en-US" sz="1200" kern="0" spc="-80" dirty="0">
                <a:solidFill>
                  <a:schemeClr val="accent6"/>
                </a:solidFill>
              </a:rPr>
              <a:t>User Code</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err="1">
                <a:solidFill>
                  <a:schemeClr val="accent6"/>
                </a:solidFill>
              </a:rPr>
              <a:t>StreamGraph</a:t>
            </a:r>
            <a:r>
              <a:rPr lang="en-US" sz="1200" kern="0" spc="-80" dirty="0">
                <a:solidFill>
                  <a:schemeClr val="accent6"/>
                </a:solidFill>
              </a:rPr>
              <a:t> (logical pipeline)</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err="1">
                <a:solidFill>
                  <a:schemeClr val="accent6"/>
                </a:solidFill>
              </a:rPr>
              <a:t>JobGraph</a:t>
            </a:r>
            <a:r>
              <a:rPr lang="en-US" sz="1200" kern="0" spc="-80" dirty="0">
                <a:solidFill>
                  <a:schemeClr val="accent6"/>
                </a:solidFill>
              </a:rPr>
              <a:t> (physical operators)</a:t>
            </a:r>
          </a:p>
          <a:p>
            <a:pPr marL="12700" marR="5080"/>
            <a:r>
              <a:rPr lang="en-US" sz="1200" kern="0" spc="-80" dirty="0">
                <a:solidFill>
                  <a:schemeClr val="accent6"/>
                </a:solidFill>
              </a:rPr>
              <a:t>   |</a:t>
            </a:r>
          </a:p>
          <a:p>
            <a:pPr marL="12700" marR="5080"/>
            <a:r>
              <a:rPr lang="en-US" sz="1200" kern="0" spc="-80" dirty="0">
                <a:solidFill>
                  <a:schemeClr val="accent6"/>
                </a:solidFill>
              </a:rPr>
              <a:t>   v</a:t>
            </a:r>
          </a:p>
          <a:p>
            <a:pPr marL="12700" marR="5080"/>
            <a:r>
              <a:rPr lang="en-US" sz="1200" kern="0" spc="-80" dirty="0" err="1">
                <a:solidFill>
                  <a:schemeClr val="accent6"/>
                </a:solidFill>
              </a:rPr>
              <a:t>ExecutionGraph</a:t>
            </a:r>
            <a:r>
              <a:rPr lang="en-US" sz="1200" kern="0" spc="-80" dirty="0">
                <a:solidFill>
                  <a:schemeClr val="accent6"/>
                </a:solidFill>
              </a:rPr>
              <a:t> (runtime scheduling)</a:t>
            </a:r>
          </a:p>
        </p:txBody>
      </p:sp>
    </p:spTree>
    <p:extLst>
      <p:ext uri="{BB962C8B-B14F-4D97-AF65-F5344CB8AC3E}">
        <p14:creationId xmlns:p14="http://schemas.microsoft.com/office/powerpoint/2010/main" val="25978096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3D34-5116-00E6-31CE-0DA7064F58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59E486-A5C0-9066-D1C8-D6B1515BB4A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E99FFE-0F40-7937-C82E-14D0A5438566}"/>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2114B2D-3A80-B190-C607-C0A17242930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96CA09B-4BE7-7DF3-2862-89E1259DB15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1FEC1EE-609F-6B79-8CAF-8F3C5DA805A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84DDBC39-0932-2877-09B4-722F8EFB800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1E79B84-95A7-6E0E-6D55-60D582B6DA24}"/>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2F8512DC-E3F0-92DC-6A72-07E71BAF7283}"/>
              </a:ext>
            </a:extLst>
          </p:cNvPr>
          <p:cNvSpPr txBox="1">
            <a:spLocks/>
          </p:cNvSpPr>
          <p:nvPr/>
        </p:nvSpPr>
        <p:spPr>
          <a:xfrm>
            <a:off x="1524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Core Components Explained</a:t>
            </a:r>
          </a:p>
          <a:p>
            <a:pPr marL="12700" marR="5080"/>
            <a:r>
              <a:rPr lang="en-US" sz="1300" kern="0" spc="-80" dirty="0">
                <a:solidFill>
                  <a:schemeClr val="accent2"/>
                </a:solidFill>
              </a:rPr>
              <a:t>6️⃣ State Management Architecture</a:t>
            </a:r>
          </a:p>
          <a:p>
            <a:pPr marL="12700" marR="5080"/>
            <a:r>
              <a:rPr lang="en-US" sz="1300" kern="0" spc="-80" dirty="0">
                <a:solidFill>
                  <a:schemeClr val="accent6"/>
                </a:solidFill>
              </a:rPr>
              <a:t>Operator</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State Backend</a:t>
            </a:r>
          </a:p>
          <a:p>
            <a:pPr marL="12700" marR="5080"/>
            <a:r>
              <a:rPr lang="en-US" sz="1300" kern="0" spc="-80" dirty="0">
                <a:solidFill>
                  <a:schemeClr val="accent6"/>
                </a:solidFill>
              </a:rPr>
              <a:t>   |</a:t>
            </a:r>
          </a:p>
          <a:p>
            <a:pPr marL="12700" marR="5080"/>
            <a:r>
              <a:rPr lang="en-US" sz="1300" kern="0" spc="-80" dirty="0">
                <a:solidFill>
                  <a:schemeClr val="accent6"/>
                </a:solidFill>
              </a:rPr>
              <a:t>   +--&gt; Heap State (JVM)</a:t>
            </a:r>
          </a:p>
          <a:p>
            <a:pPr marL="12700" marR="5080"/>
            <a:r>
              <a:rPr lang="en-US" sz="1300" kern="0" spc="-80" dirty="0">
                <a:solidFill>
                  <a:schemeClr val="accent6"/>
                </a:solidFill>
              </a:rPr>
              <a:t>   |</a:t>
            </a:r>
          </a:p>
          <a:p>
            <a:pPr marL="12700" marR="5080"/>
            <a:r>
              <a:rPr lang="en-US" sz="1300" kern="0" spc="-80" dirty="0">
                <a:solidFill>
                  <a:schemeClr val="accent6"/>
                </a:solidFill>
              </a:rPr>
              <a:t>   +--&gt; </a:t>
            </a:r>
            <a:r>
              <a:rPr lang="en-US" sz="1300" kern="0" spc="-80" dirty="0" err="1">
                <a:solidFill>
                  <a:schemeClr val="accent6"/>
                </a:solidFill>
              </a:rPr>
              <a:t>RocksDB</a:t>
            </a:r>
            <a:r>
              <a:rPr lang="en-US" sz="1300" kern="0" spc="-80" dirty="0">
                <a:solidFill>
                  <a:schemeClr val="accent6"/>
                </a:solidFill>
              </a:rPr>
              <a:t> (disk-based)</a:t>
            </a:r>
          </a:p>
          <a:p>
            <a:pPr marL="12700" marR="5080"/>
            <a:r>
              <a:rPr lang="en-US" sz="1300" kern="0" spc="-80" dirty="0">
                <a:solidFill>
                  <a:schemeClr val="accent2"/>
                </a:solidFill>
              </a:rPr>
              <a:t>Types of state:</a:t>
            </a:r>
          </a:p>
          <a:p>
            <a:pPr marL="12700" marR="5080"/>
            <a:r>
              <a:rPr lang="en-US" sz="1300" kern="0" spc="-80" dirty="0">
                <a:solidFill>
                  <a:schemeClr val="accent6"/>
                </a:solidFill>
              </a:rPr>
              <a:t>Keyed State</a:t>
            </a:r>
          </a:p>
          <a:p>
            <a:pPr marL="12700" marR="5080"/>
            <a:r>
              <a:rPr lang="en-US" sz="1300" kern="0" spc="-80" dirty="0">
                <a:solidFill>
                  <a:schemeClr val="accent6"/>
                </a:solidFill>
              </a:rPr>
              <a:t>Operator State</a:t>
            </a:r>
          </a:p>
          <a:p>
            <a:pPr marL="12700" marR="5080"/>
            <a:r>
              <a:rPr lang="en-US" sz="1300" kern="0" spc="-80" dirty="0">
                <a:solidFill>
                  <a:schemeClr val="accent6"/>
                </a:solidFill>
              </a:rPr>
              <a:t>Broadcast State</a:t>
            </a:r>
          </a:p>
          <a:p>
            <a:pPr marL="12700" marR="5080"/>
            <a:r>
              <a:rPr lang="en-US" sz="1300" kern="0" spc="-80" dirty="0">
                <a:solidFill>
                  <a:schemeClr val="accent2"/>
                </a:solidFill>
              </a:rPr>
              <a:t>7️⃣ Checkpointing &amp; Fault Tolerance (Exactly Once)</a:t>
            </a:r>
          </a:p>
          <a:p>
            <a:pPr marL="12700" marR="5080"/>
            <a:r>
              <a:rPr lang="en-US" sz="1300" kern="0" spc="-80" dirty="0" err="1">
                <a:solidFill>
                  <a:schemeClr val="accent6"/>
                </a:solidFill>
              </a:rPr>
              <a:t>JobManager</a:t>
            </a:r>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Trigger Checkpoint Barrier</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Source → Operator → Operator → Sink</a:t>
            </a:r>
          </a:p>
          <a:p>
            <a:pPr marL="12700" marR="5080"/>
            <a:r>
              <a:rPr lang="en-US" sz="1300" kern="0" spc="-80" dirty="0">
                <a:solidFill>
                  <a:schemeClr val="accent6"/>
                </a:solidFill>
              </a:rPr>
              <a:t>    |        |          |</a:t>
            </a:r>
          </a:p>
          <a:p>
            <a:pPr marL="12700" marR="5080"/>
            <a:r>
              <a:rPr lang="en-US" sz="1300" kern="0" spc="-80" dirty="0">
                <a:solidFill>
                  <a:schemeClr val="accent6"/>
                </a:solidFill>
              </a:rPr>
              <a:t> Save State Save State Save State</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Remote Storage (S3 / HDFS / GCS)</a:t>
            </a:r>
          </a:p>
        </p:txBody>
      </p:sp>
    </p:spTree>
    <p:extLst>
      <p:ext uri="{BB962C8B-B14F-4D97-AF65-F5344CB8AC3E}">
        <p14:creationId xmlns:p14="http://schemas.microsoft.com/office/powerpoint/2010/main" val="14906471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86255-C721-5D57-853D-AB00D979C2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0F9305-699C-746F-0461-6BCC7AF141C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FB9AD4-DA8B-31FA-D76B-18F8290D2CE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7654E9F-9E17-1DA6-67ED-7CAEDF3BC38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D43ECA2-478B-999C-9614-D50BDE3D033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B85B156-41FE-6516-5D95-A517987B743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255EAA03-2980-5D51-1E50-999FAF7C9BC8}"/>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F09D848-A2AF-6FCA-C023-0947AB16CD80}"/>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32A73B21-951E-F762-135F-08BD2DE9FE7C}"/>
              </a:ext>
            </a:extLst>
          </p:cNvPr>
          <p:cNvSpPr txBox="1">
            <a:spLocks/>
          </p:cNvSpPr>
          <p:nvPr/>
        </p:nvSpPr>
        <p:spPr>
          <a:xfrm>
            <a:off x="1524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Core Components Explained</a:t>
            </a:r>
          </a:p>
          <a:p>
            <a:pPr marL="12700" marR="5080"/>
            <a:r>
              <a:rPr lang="en-US" sz="1250" kern="0" spc="-80" dirty="0">
                <a:solidFill>
                  <a:schemeClr val="accent2"/>
                </a:solidFill>
              </a:rPr>
              <a:t>7️⃣ Checkpointing &amp; Fault Tolerance (Exactly Once)</a:t>
            </a:r>
          </a:p>
          <a:p>
            <a:pPr marL="12700" marR="5080"/>
            <a:r>
              <a:rPr lang="en-US" sz="1250" kern="0" spc="-80" dirty="0">
                <a:solidFill>
                  <a:schemeClr val="accent2"/>
                </a:solidFill>
              </a:rPr>
              <a:t>On failure:</a:t>
            </a:r>
          </a:p>
          <a:p>
            <a:pPr marL="12700" marR="5080"/>
            <a:r>
              <a:rPr lang="en-US" sz="1250" kern="0" spc="-80" dirty="0">
                <a:solidFill>
                  <a:schemeClr val="accent6"/>
                </a:solidFill>
              </a:rPr>
              <a:t>Failure detected</a:t>
            </a:r>
          </a:p>
          <a:p>
            <a:pPr marL="12700" marR="5080"/>
            <a:r>
              <a:rPr lang="en-US" sz="1250" kern="0" spc="-80" dirty="0">
                <a:solidFill>
                  <a:schemeClr val="accent6"/>
                </a:solidFill>
              </a:rPr>
              <a:t>     |</a:t>
            </a:r>
          </a:p>
          <a:p>
            <a:pPr marL="12700" marR="5080"/>
            <a:r>
              <a:rPr lang="en-US" sz="1250" kern="0" spc="-80" dirty="0" err="1">
                <a:solidFill>
                  <a:schemeClr val="accent6"/>
                </a:solidFill>
              </a:rPr>
              <a:t>JobManager</a:t>
            </a:r>
            <a:r>
              <a:rPr lang="en-US" sz="1250" kern="0" spc="-80" dirty="0">
                <a:solidFill>
                  <a:schemeClr val="accent6"/>
                </a:solidFill>
              </a:rPr>
              <a:t> Restarts Tasks</a:t>
            </a:r>
          </a:p>
          <a:p>
            <a:pPr marL="12700" marR="5080"/>
            <a:r>
              <a:rPr lang="en-US" sz="1250" kern="0" spc="-80" dirty="0">
                <a:solidFill>
                  <a:schemeClr val="accent6"/>
                </a:solidFill>
              </a:rPr>
              <a:t>     |</a:t>
            </a:r>
          </a:p>
          <a:p>
            <a:pPr marL="12700" marR="5080"/>
            <a:r>
              <a:rPr lang="en-US" sz="1250" kern="0" spc="-80" dirty="0">
                <a:solidFill>
                  <a:schemeClr val="accent6"/>
                </a:solidFill>
              </a:rPr>
              <a:t>Restore State from Checkpoint</a:t>
            </a:r>
          </a:p>
          <a:p>
            <a:pPr marL="12700" marR="5080"/>
            <a:r>
              <a:rPr lang="en-US" sz="1250" kern="0" spc="-80" dirty="0">
                <a:solidFill>
                  <a:schemeClr val="accent6"/>
                </a:solidFill>
              </a:rPr>
              <a:t>     |</a:t>
            </a:r>
          </a:p>
          <a:p>
            <a:pPr marL="12700" marR="5080"/>
            <a:r>
              <a:rPr lang="en-US" sz="1250" kern="0" spc="-80" dirty="0">
                <a:solidFill>
                  <a:schemeClr val="accent6"/>
                </a:solidFill>
              </a:rPr>
              <a:t>Continue Processing</a:t>
            </a:r>
          </a:p>
          <a:p>
            <a:pPr marL="12700" marR="5080"/>
            <a:r>
              <a:rPr lang="en-US" sz="1250" kern="0" spc="-80" dirty="0">
                <a:solidFill>
                  <a:schemeClr val="accent2"/>
                </a:solidFill>
              </a:rPr>
              <a:t>Guarantees:</a:t>
            </a:r>
          </a:p>
          <a:p>
            <a:pPr marL="12700" marR="5080"/>
            <a:r>
              <a:rPr lang="en-US" sz="1250" kern="0" spc="-80" dirty="0">
                <a:solidFill>
                  <a:schemeClr val="accent6"/>
                </a:solidFill>
              </a:rPr>
              <a:t>✅ Exactly-once</a:t>
            </a:r>
          </a:p>
          <a:p>
            <a:pPr marL="12700" marR="5080"/>
            <a:r>
              <a:rPr lang="en-US" sz="1250" kern="0" spc="-80" dirty="0">
                <a:solidFill>
                  <a:schemeClr val="accent6"/>
                </a:solidFill>
              </a:rPr>
              <a:t>✅ At-least-once (configurable)</a:t>
            </a:r>
          </a:p>
          <a:p>
            <a:pPr marL="12700" marR="5080"/>
            <a:r>
              <a:rPr lang="en-US" sz="1250" kern="0" spc="-80" dirty="0">
                <a:solidFill>
                  <a:schemeClr val="accent2"/>
                </a:solidFill>
              </a:rPr>
              <a:t>8️⃣ Deployment Architectures</a:t>
            </a:r>
          </a:p>
          <a:p>
            <a:pPr marL="12700" marR="5080"/>
            <a:r>
              <a:rPr lang="en-US" sz="1250" kern="0" spc="-80" dirty="0">
                <a:solidFill>
                  <a:schemeClr val="accent6"/>
                </a:solidFill>
              </a:rPr>
              <a:t>Standalone</a:t>
            </a:r>
          </a:p>
          <a:p>
            <a:pPr marL="12700" marR="5080"/>
            <a:r>
              <a:rPr lang="en-US" sz="1250" kern="0" spc="-80" dirty="0">
                <a:solidFill>
                  <a:schemeClr val="accent6"/>
                </a:solidFill>
              </a:rPr>
              <a:t>User → </a:t>
            </a:r>
            <a:r>
              <a:rPr lang="en-US" sz="1250" kern="0" spc="-80" dirty="0" err="1">
                <a:solidFill>
                  <a:schemeClr val="accent6"/>
                </a:solidFill>
              </a:rPr>
              <a:t>JobManager</a:t>
            </a:r>
            <a:r>
              <a:rPr lang="en-US" sz="1250" kern="0" spc="-80" dirty="0">
                <a:solidFill>
                  <a:schemeClr val="accent6"/>
                </a:solidFill>
              </a:rPr>
              <a:t> → </a:t>
            </a:r>
            <a:r>
              <a:rPr lang="en-US" sz="1250" kern="0" spc="-80" dirty="0" err="1">
                <a:solidFill>
                  <a:schemeClr val="accent6"/>
                </a:solidFill>
              </a:rPr>
              <a:t>TaskManagers</a:t>
            </a:r>
            <a:endParaRPr lang="en-US" sz="1250" kern="0" spc="-80" dirty="0">
              <a:solidFill>
                <a:schemeClr val="accent6"/>
              </a:solidFill>
            </a:endParaRPr>
          </a:p>
          <a:p>
            <a:pPr marL="12700" marR="5080"/>
            <a:r>
              <a:rPr lang="en-US" sz="1250" kern="0" spc="-80" dirty="0">
                <a:solidFill>
                  <a:schemeClr val="accent6"/>
                </a:solidFill>
              </a:rPr>
              <a:t>YARN / Kubernetes</a:t>
            </a:r>
          </a:p>
          <a:p>
            <a:pPr marL="12700" marR="5080"/>
            <a:r>
              <a:rPr lang="en-US" sz="1250" kern="0" spc="-80" dirty="0">
                <a:solidFill>
                  <a:schemeClr val="accent6"/>
                </a:solidFill>
              </a:rPr>
              <a:t>User</a:t>
            </a:r>
          </a:p>
          <a:p>
            <a:pPr marL="12700" marR="5080"/>
            <a:r>
              <a:rPr lang="en-US" sz="1250" kern="0" spc="-80" dirty="0">
                <a:solidFill>
                  <a:schemeClr val="accent6"/>
                </a:solidFill>
              </a:rPr>
              <a:t> |</a:t>
            </a:r>
          </a:p>
          <a:p>
            <a:pPr marL="12700" marR="5080"/>
            <a:r>
              <a:rPr lang="en-US" sz="1250" kern="0" spc="-80" dirty="0">
                <a:solidFill>
                  <a:schemeClr val="accent6"/>
                </a:solidFill>
              </a:rPr>
              <a:t> v</a:t>
            </a:r>
          </a:p>
          <a:p>
            <a:pPr marL="12700" marR="5080"/>
            <a:r>
              <a:rPr lang="en-US" sz="1250" kern="0" spc="-80" dirty="0">
                <a:solidFill>
                  <a:schemeClr val="accent6"/>
                </a:solidFill>
              </a:rPr>
              <a:t>Resource Manager (YARN/K8s)</a:t>
            </a:r>
          </a:p>
          <a:p>
            <a:pPr marL="12700" marR="5080"/>
            <a:r>
              <a:rPr lang="en-US" sz="1250" kern="0" spc="-80" dirty="0">
                <a:solidFill>
                  <a:schemeClr val="accent6"/>
                </a:solidFill>
              </a:rPr>
              <a:t> |</a:t>
            </a:r>
          </a:p>
          <a:p>
            <a:pPr marL="12700" marR="5080"/>
            <a:r>
              <a:rPr lang="en-US" sz="1250" kern="0" spc="-80" dirty="0">
                <a:solidFill>
                  <a:schemeClr val="accent6"/>
                </a:solidFill>
              </a:rPr>
              <a:t> v</a:t>
            </a:r>
          </a:p>
          <a:p>
            <a:pPr marL="12700" marR="5080"/>
            <a:r>
              <a:rPr lang="en-US" sz="1250" kern="0" spc="-80" dirty="0" err="1">
                <a:solidFill>
                  <a:schemeClr val="accent6"/>
                </a:solidFill>
              </a:rPr>
              <a:t>JobManager</a:t>
            </a:r>
            <a:r>
              <a:rPr lang="en-US" sz="1250" kern="0" spc="-80" dirty="0">
                <a:solidFill>
                  <a:schemeClr val="accent6"/>
                </a:solidFill>
              </a:rPr>
              <a:t> Pod</a:t>
            </a:r>
          </a:p>
          <a:p>
            <a:pPr marL="12700" marR="5080"/>
            <a:r>
              <a:rPr lang="en-US" sz="1250" kern="0" spc="-80" dirty="0">
                <a:solidFill>
                  <a:schemeClr val="accent6"/>
                </a:solidFill>
              </a:rPr>
              <a:t> |</a:t>
            </a:r>
          </a:p>
          <a:p>
            <a:pPr marL="12700" marR="5080"/>
            <a:r>
              <a:rPr lang="en-US" sz="1250" kern="0" spc="-80" dirty="0">
                <a:solidFill>
                  <a:schemeClr val="accent6"/>
                </a:solidFill>
              </a:rPr>
              <a:t> v</a:t>
            </a:r>
          </a:p>
          <a:p>
            <a:pPr marL="12700" marR="5080"/>
            <a:r>
              <a:rPr lang="en-US" sz="1250" kern="0" spc="-80" dirty="0" err="1">
                <a:solidFill>
                  <a:schemeClr val="accent6"/>
                </a:solidFill>
              </a:rPr>
              <a:t>TaskManager</a:t>
            </a:r>
            <a:r>
              <a:rPr lang="en-US" sz="1250" kern="0" spc="-80" dirty="0">
                <a:solidFill>
                  <a:schemeClr val="accent6"/>
                </a:solidFill>
              </a:rPr>
              <a:t> Pods</a:t>
            </a:r>
          </a:p>
        </p:txBody>
      </p:sp>
    </p:spTree>
    <p:extLst>
      <p:ext uri="{BB962C8B-B14F-4D97-AF65-F5344CB8AC3E}">
        <p14:creationId xmlns:p14="http://schemas.microsoft.com/office/powerpoint/2010/main" val="55706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B2EFA-E589-C1B7-5A6C-E3B7438519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51818D-8FD7-B96F-A929-7BB0208DCB1E}"/>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594ACED-7803-3793-9FB1-C234A21CECB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8BFE47F6-1EA4-56B5-9392-150D892625F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AC327BD-D68C-C05F-6EEC-CC4CD7CF014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10E51E2-CCAA-8F9F-2BB0-DBC1AB0FDB7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74DA29D-E086-3652-688F-7DC4B403FB0E}"/>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338DCA1-33BD-2C74-CA3C-020106F0489B}"/>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5CC4964D-7F9D-DD99-43CF-71DDA7658661}"/>
              </a:ext>
            </a:extLst>
          </p:cNvPr>
          <p:cNvSpPr txBox="1">
            <a:spLocks/>
          </p:cNvSpPr>
          <p:nvPr/>
        </p:nvSpPr>
        <p:spPr>
          <a:xfrm>
            <a:off x="152400" y="762000"/>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Core Components Explained</a:t>
            </a:r>
          </a:p>
          <a:p>
            <a:pPr marL="12700" marR="5080"/>
            <a:r>
              <a:rPr lang="en-US" sz="1250" kern="0" spc="-80" dirty="0">
                <a:solidFill>
                  <a:schemeClr val="accent6"/>
                </a:solidFill>
              </a:rPr>
              <a:t>9️⃣ </a:t>
            </a:r>
            <a:r>
              <a:rPr lang="en-US" sz="1250" kern="0" spc="-80" dirty="0">
                <a:solidFill>
                  <a:schemeClr val="accent2"/>
                </a:solidFill>
              </a:rPr>
              <a:t>Memory Model (Simplified)</a:t>
            </a:r>
          </a:p>
          <a:p>
            <a:pPr marL="12700" marR="5080"/>
            <a:r>
              <a:rPr lang="en-US" sz="1250" kern="0" spc="-80" dirty="0" err="1">
                <a:solidFill>
                  <a:schemeClr val="accent6"/>
                </a:solidFill>
              </a:rPr>
              <a:t>TaskManager</a:t>
            </a:r>
            <a:r>
              <a:rPr lang="en-US" sz="1250" kern="0" spc="-80" dirty="0">
                <a:solidFill>
                  <a:schemeClr val="accent6"/>
                </a:solidFill>
              </a:rPr>
              <a:t> Memory</a:t>
            </a:r>
          </a:p>
          <a:p>
            <a:pPr marL="12700" marR="5080"/>
            <a:r>
              <a:rPr lang="en-US" sz="1250" kern="0" spc="-80" dirty="0">
                <a:solidFill>
                  <a:schemeClr val="accent6"/>
                </a:solidFill>
              </a:rPr>
              <a:t> |</a:t>
            </a:r>
          </a:p>
          <a:p>
            <a:pPr marL="12700" marR="5080"/>
            <a:r>
              <a:rPr lang="en-US" sz="1250" kern="0" spc="-80" dirty="0">
                <a:solidFill>
                  <a:schemeClr val="accent6"/>
                </a:solidFill>
              </a:rPr>
              <a:t> +-- Framework Heap</a:t>
            </a:r>
          </a:p>
          <a:p>
            <a:pPr marL="12700" marR="5080"/>
            <a:r>
              <a:rPr lang="en-US" sz="1250" kern="0" spc="-80" dirty="0">
                <a:solidFill>
                  <a:schemeClr val="accent6"/>
                </a:solidFill>
              </a:rPr>
              <a:t> +-- Task Heap</a:t>
            </a:r>
          </a:p>
          <a:p>
            <a:pPr marL="12700" marR="5080"/>
            <a:r>
              <a:rPr lang="en-US" sz="1250" kern="0" spc="-80" dirty="0">
                <a:solidFill>
                  <a:schemeClr val="accent6"/>
                </a:solidFill>
              </a:rPr>
              <a:t> +-- Managed Memory</a:t>
            </a:r>
          </a:p>
          <a:p>
            <a:pPr marL="12700" marR="5080"/>
            <a:r>
              <a:rPr lang="en-US" sz="1250" kern="0" spc="-80" dirty="0">
                <a:solidFill>
                  <a:schemeClr val="accent6"/>
                </a:solidFill>
              </a:rPr>
              <a:t> +-- Network Buffers</a:t>
            </a:r>
          </a:p>
          <a:p>
            <a:pPr marL="12700" marR="5080"/>
            <a:r>
              <a:rPr lang="en-US" sz="1250" kern="0" spc="-80" dirty="0">
                <a:solidFill>
                  <a:schemeClr val="accent6"/>
                </a:solidFill>
              </a:rPr>
              <a:t> +-- </a:t>
            </a:r>
            <a:r>
              <a:rPr lang="en-US" sz="1250" kern="0" spc="-80" dirty="0" err="1">
                <a:solidFill>
                  <a:schemeClr val="accent6"/>
                </a:solidFill>
              </a:rPr>
              <a:t>RocksDB</a:t>
            </a:r>
            <a:r>
              <a:rPr lang="en-US" sz="1250" kern="0" spc="-80" dirty="0">
                <a:solidFill>
                  <a:schemeClr val="accent6"/>
                </a:solidFill>
              </a:rPr>
              <a:t> Native Memory</a:t>
            </a:r>
          </a:p>
          <a:p>
            <a:pPr marL="12700" marR="5080"/>
            <a:r>
              <a:rPr lang="en-US" sz="1250" kern="0" spc="-80" dirty="0">
                <a:solidFill>
                  <a:schemeClr val="accent2"/>
                </a:solidFill>
              </a:rPr>
              <a:t>🔁 Complete Runtime Flow (End to End)</a:t>
            </a:r>
          </a:p>
          <a:p>
            <a:pPr marL="12700" marR="5080"/>
            <a:r>
              <a:rPr lang="en-US" sz="1250" kern="0" spc="-80" dirty="0">
                <a:solidFill>
                  <a:schemeClr val="accent6"/>
                </a:solidFill>
              </a:rPr>
              <a:t>1. User submits job</a:t>
            </a:r>
          </a:p>
          <a:p>
            <a:pPr marL="12700" marR="5080"/>
            <a:r>
              <a:rPr lang="en-US" sz="1250" kern="0" spc="-80" dirty="0">
                <a:solidFill>
                  <a:schemeClr val="accent6"/>
                </a:solidFill>
              </a:rPr>
              <a:t>2. Client builds </a:t>
            </a:r>
            <a:r>
              <a:rPr lang="en-US" sz="1250" kern="0" spc="-80" dirty="0" err="1">
                <a:solidFill>
                  <a:schemeClr val="accent6"/>
                </a:solidFill>
              </a:rPr>
              <a:t>JobGraph</a:t>
            </a:r>
            <a:endParaRPr lang="en-US" sz="1250" kern="0" spc="-80" dirty="0">
              <a:solidFill>
                <a:schemeClr val="accent6"/>
              </a:solidFill>
            </a:endParaRPr>
          </a:p>
          <a:p>
            <a:pPr marL="12700" marR="5080"/>
            <a:r>
              <a:rPr lang="en-US" sz="1250" kern="0" spc="-80" dirty="0">
                <a:solidFill>
                  <a:schemeClr val="accent6"/>
                </a:solidFill>
              </a:rPr>
              <a:t>3. </a:t>
            </a:r>
            <a:r>
              <a:rPr lang="en-US" sz="1250" kern="0" spc="-80" dirty="0" err="1">
                <a:solidFill>
                  <a:schemeClr val="accent6"/>
                </a:solidFill>
              </a:rPr>
              <a:t>JobManager</a:t>
            </a:r>
            <a:r>
              <a:rPr lang="en-US" sz="1250" kern="0" spc="-80" dirty="0">
                <a:solidFill>
                  <a:schemeClr val="accent6"/>
                </a:solidFill>
              </a:rPr>
              <a:t> creates </a:t>
            </a:r>
            <a:r>
              <a:rPr lang="en-US" sz="1250" kern="0" spc="-80" dirty="0" err="1">
                <a:solidFill>
                  <a:schemeClr val="accent6"/>
                </a:solidFill>
              </a:rPr>
              <a:t>ExecutionGraph</a:t>
            </a:r>
            <a:endParaRPr lang="en-US" sz="1250" kern="0" spc="-80" dirty="0">
              <a:solidFill>
                <a:schemeClr val="accent6"/>
              </a:solidFill>
            </a:endParaRPr>
          </a:p>
          <a:p>
            <a:pPr marL="12700" marR="5080"/>
            <a:r>
              <a:rPr lang="en-US" sz="1250" kern="0" spc="-80" dirty="0">
                <a:solidFill>
                  <a:schemeClr val="accent6"/>
                </a:solidFill>
              </a:rPr>
              <a:t>4. </a:t>
            </a:r>
            <a:r>
              <a:rPr lang="en-US" sz="1250" kern="0" spc="-80" dirty="0" err="1">
                <a:solidFill>
                  <a:schemeClr val="accent6"/>
                </a:solidFill>
              </a:rPr>
              <a:t>ResourceManager</a:t>
            </a:r>
            <a:r>
              <a:rPr lang="en-US" sz="1250" kern="0" spc="-80" dirty="0">
                <a:solidFill>
                  <a:schemeClr val="accent6"/>
                </a:solidFill>
              </a:rPr>
              <a:t> allocates </a:t>
            </a:r>
            <a:r>
              <a:rPr lang="en-US" sz="1250" kern="0" spc="-80" dirty="0" err="1">
                <a:solidFill>
                  <a:schemeClr val="accent6"/>
                </a:solidFill>
              </a:rPr>
              <a:t>TaskManagers</a:t>
            </a:r>
            <a:endParaRPr lang="en-US" sz="1250" kern="0" spc="-80" dirty="0">
              <a:solidFill>
                <a:schemeClr val="accent6"/>
              </a:solidFill>
            </a:endParaRPr>
          </a:p>
          <a:p>
            <a:pPr marL="12700" marR="5080"/>
            <a:r>
              <a:rPr lang="en-US" sz="1250" kern="0" spc="-80" dirty="0">
                <a:solidFill>
                  <a:schemeClr val="accent6"/>
                </a:solidFill>
              </a:rPr>
              <a:t>5. Tasks deployed to slots</a:t>
            </a:r>
          </a:p>
          <a:p>
            <a:pPr marL="12700" marR="5080"/>
            <a:r>
              <a:rPr lang="en-US" sz="1250" kern="0" spc="-80" dirty="0">
                <a:solidFill>
                  <a:schemeClr val="accent6"/>
                </a:solidFill>
              </a:rPr>
              <a:t>6. Data starts flowing</a:t>
            </a:r>
          </a:p>
          <a:p>
            <a:pPr marL="12700" marR="5080"/>
            <a:r>
              <a:rPr lang="en-US" sz="1250" kern="0" spc="-80" dirty="0">
                <a:solidFill>
                  <a:schemeClr val="accent6"/>
                </a:solidFill>
              </a:rPr>
              <a:t>7. Checkpoints triggered periodically</a:t>
            </a:r>
          </a:p>
          <a:p>
            <a:pPr marL="12700" marR="5080"/>
            <a:r>
              <a:rPr lang="en-US" sz="1250" kern="0" spc="-80" dirty="0">
                <a:solidFill>
                  <a:schemeClr val="accent6"/>
                </a:solidFill>
              </a:rPr>
              <a:t>8. Failures → automatic recovery</a:t>
            </a:r>
          </a:p>
          <a:p>
            <a:pPr marL="12700" marR="5080"/>
            <a:r>
              <a:rPr lang="en-US" sz="1250" kern="0" spc="-80" dirty="0">
                <a:solidFill>
                  <a:schemeClr val="accent6"/>
                </a:solidFill>
              </a:rPr>
              <a:t>9. Results written to Sink</a:t>
            </a:r>
          </a:p>
          <a:p>
            <a:pPr marL="12700" marR="5080"/>
            <a:endParaRPr lang="en-US" sz="1250" kern="0" spc="-80" dirty="0">
              <a:solidFill>
                <a:schemeClr val="accent6"/>
              </a:solidFill>
            </a:endParaRPr>
          </a:p>
          <a:p>
            <a:pPr marL="12700" marR="5080"/>
            <a:r>
              <a:rPr lang="en-US" sz="1250" kern="0" spc="-80" dirty="0">
                <a:solidFill>
                  <a:schemeClr val="accent2"/>
                </a:solidFill>
              </a:rPr>
              <a:t>✅ Key Architectural Strengths</a:t>
            </a:r>
          </a:p>
          <a:p>
            <a:pPr marL="12700" marR="5080"/>
            <a:r>
              <a:rPr lang="en-US" sz="1250" kern="0" spc="-80" dirty="0">
                <a:solidFill>
                  <a:schemeClr val="accent6"/>
                </a:solidFill>
              </a:rPr>
              <a:t>True streaming (not micro-batch)</a:t>
            </a:r>
          </a:p>
          <a:p>
            <a:pPr marL="12700" marR="5080"/>
            <a:r>
              <a:rPr lang="en-US" sz="1250" kern="0" spc="-80" dirty="0">
                <a:solidFill>
                  <a:schemeClr val="accent6"/>
                </a:solidFill>
              </a:rPr>
              <a:t>Event-time processing</a:t>
            </a:r>
          </a:p>
          <a:p>
            <a:pPr marL="12700" marR="5080"/>
            <a:r>
              <a:rPr lang="en-US" sz="1250" kern="0" spc="-80" dirty="0">
                <a:solidFill>
                  <a:schemeClr val="accent6"/>
                </a:solidFill>
              </a:rPr>
              <a:t>Exactly-once state consistency</a:t>
            </a:r>
          </a:p>
          <a:p>
            <a:pPr marL="12700" marR="5080"/>
            <a:r>
              <a:rPr lang="en-US" sz="1250" kern="0" spc="-80" dirty="0">
                <a:solidFill>
                  <a:schemeClr val="accent6"/>
                </a:solidFill>
              </a:rPr>
              <a:t>Massive horizontal scalability</a:t>
            </a:r>
          </a:p>
          <a:p>
            <a:pPr marL="12700" marR="5080"/>
            <a:r>
              <a:rPr lang="en-US" sz="1250" kern="0" spc="-80" dirty="0">
                <a:solidFill>
                  <a:schemeClr val="accent6"/>
                </a:solidFill>
              </a:rPr>
              <a:t>Backpressure aware</a:t>
            </a:r>
          </a:p>
          <a:p>
            <a:pPr marL="12700" marR="5080"/>
            <a:r>
              <a:rPr lang="en-US" sz="1250" kern="0" spc="-80" dirty="0">
                <a:solidFill>
                  <a:schemeClr val="accent6"/>
                </a:solidFill>
              </a:rPr>
              <a:t>Fine-grained recovery (task-level, not job-level)</a:t>
            </a:r>
          </a:p>
        </p:txBody>
      </p:sp>
    </p:spTree>
    <p:extLst>
      <p:ext uri="{BB962C8B-B14F-4D97-AF65-F5344CB8AC3E}">
        <p14:creationId xmlns:p14="http://schemas.microsoft.com/office/powerpoint/2010/main" val="26331725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B9C2D-F8BE-45F6-39A0-BEB582B5FB5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DF7994-8B9E-510F-0F2D-B6DDED4237A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D9A9409-D4DE-B1A1-53F4-6945CFAFDC9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23FDE188-8B6A-3DED-49D0-D1E27A362FC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1619E46-E452-3AF4-ECFC-AD2462AAC50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FF48E36-7631-FB84-A383-60BD54B2DEF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A81CE3B4-5EBB-19A4-008E-FBFDD38D9AA7}"/>
              </a:ext>
            </a:extLst>
          </p:cNvPr>
          <p:cNvGraphicFramePr/>
          <p:nvPr>
            <p:extLst>
              <p:ext uri="{D42A27DB-BD31-4B8C-83A1-F6EECF244321}">
                <p14:modId xmlns:p14="http://schemas.microsoft.com/office/powerpoint/2010/main" val="3705127030"/>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39409AAC-F50D-6E41-92B7-38693F1C457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EB558B69-C43D-EAFC-C9E7-4A418A242D9F}"/>
              </a:ext>
            </a:extLst>
          </p:cNvPr>
          <p:cNvSpPr txBox="1">
            <a:spLocks/>
          </p:cNvSpPr>
          <p:nvPr/>
        </p:nvSpPr>
        <p:spPr>
          <a:xfrm>
            <a:off x="152400" y="762000"/>
            <a:ext cx="8624937" cy="47320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Complex Events Processing</a:t>
            </a:r>
          </a:p>
          <a:p>
            <a:pPr marL="12700" marR="5080"/>
            <a:r>
              <a:rPr lang="en-US" sz="1250" kern="0" spc="-80" dirty="0">
                <a:solidFill>
                  <a:schemeClr val="accent6"/>
                </a:solidFill>
              </a:rPr>
              <a:t>Complex Event Processing (CEP) is a technology for tracking and analyzing, in real-time, streams of data from </a:t>
            </a:r>
            <a:r>
              <a:rPr lang="en-US" sz="1250" kern="0" spc="-80" dirty="0">
                <a:solidFill>
                  <a:schemeClr val="accent1"/>
                </a:solidFill>
              </a:rPr>
              <a:t>multiple sources(maybe with multiple schemas) </a:t>
            </a:r>
            <a:r>
              <a:rPr lang="en-US" sz="1250" kern="0" spc="-80" dirty="0">
                <a:solidFill>
                  <a:schemeClr val="accent6"/>
                </a:solidFill>
              </a:rPr>
              <a:t>to identify meaningful patterns, relationships, or complex events (e.g., fraud, system failures). It enables immediate, proactive actions by processing data continuously as it arrives, rather than waiting to store it. </a:t>
            </a:r>
          </a:p>
          <a:p>
            <a:pPr marL="12700" marR="5080"/>
            <a:endParaRPr lang="en-US" sz="1250" kern="0" spc="-80" dirty="0">
              <a:solidFill>
                <a:schemeClr val="accent6"/>
              </a:solidFill>
            </a:endParaRPr>
          </a:p>
          <a:p>
            <a:pPr marL="12700" marR="5080"/>
            <a:r>
              <a:rPr lang="en-US" sz="1250" kern="0" spc="-80" dirty="0">
                <a:solidFill>
                  <a:schemeClr val="accent2"/>
                </a:solidFill>
              </a:rPr>
              <a:t>Why and When We Need CEP</a:t>
            </a:r>
          </a:p>
          <a:p>
            <a:pPr marL="12700" marR="5080"/>
            <a:r>
              <a:rPr lang="en-US" sz="1250" kern="0" spc="-80" dirty="0">
                <a:solidFill>
                  <a:schemeClr val="accent2"/>
                </a:solidFill>
              </a:rPr>
              <a:t>Real-time Decision Making: </a:t>
            </a:r>
            <a:r>
              <a:rPr lang="en-US" sz="1250" kern="0" spc="-80" dirty="0">
                <a:solidFill>
                  <a:schemeClr val="accent6"/>
                </a:solidFill>
              </a:rPr>
              <a:t>Necessary when delays cause significant losses or risks, such as in algorithmic trading (stock price shifts).</a:t>
            </a:r>
          </a:p>
          <a:p>
            <a:pPr marL="12700" marR="5080"/>
            <a:r>
              <a:rPr lang="en-US" sz="1250" kern="0" spc="-80" dirty="0">
                <a:solidFill>
                  <a:schemeClr val="accent2"/>
                </a:solidFill>
              </a:rPr>
              <a:t>Pattern Recognition &amp; Correlation: </a:t>
            </a:r>
            <a:r>
              <a:rPr lang="en-US" sz="1250" kern="0" spc="-80" dirty="0">
                <a:solidFill>
                  <a:schemeClr val="accent6"/>
                </a:solidFill>
              </a:rPr>
              <a:t>Needed to identify a sequence of events, like detecting a credit card transaction followed by a suspicious login (security/fraud detection).</a:t>
            </a:r>
          </a:p>
          <a:p>
            <a:pPr marL="12700" marR="5080"/>
            <a:r>
              <a:rPr lang="en-US" sz="1250" kern="0" spc="-80" dirty="0">
                <a:solidFill>
                  <a:schemeClr val="accent2"/>
                </a:solidFill>
              </a:rPr>
              <a:t>IoT and Sensor Data Monitoring: </a:t>
            </a:r>
            <a:r>
              <a:rPr lang="en-US" sz="1250" kern="0" spc="-80" dirty="0">
                <a:solidFill>
                  <a:schemeClr val="accent6"/>
                </a:solidFill>
              </a:rPr>
              <a:t>Essential for analyzing thousands of data points from industrial facilities to predict malfunctions before they occur.</a:t>
            </a:r>
          </a:p>
          <a:p>
            <a:pPr marL="12700" marR="5080"/>
            <a:r>
              <a:rPr lang="en-US" sz="1250" kern="0" spc="-80" dirty="0">
                <a:solidFill>
                  <a:schemeClr val="accent2"/>
                </a:solidFill>
              </a:rPr>
              <a:t>Complex Scenario Detection: </a:t>
            </a:r>
            <a:r>
              <a:rPr lang="en-US" sz="1250" kern="0" spc="-80" dirty="0">
                <a:solidFill>
                  <a:schemeClr val="accent6"/>
                </a:solidFill>
              </a:rPr>
              <a:t>Used to infer high-level situations, such as identifying a "wedding" from separate events like church bells, rice throwing, and a couple in special attire.</a:t>
            </a:r>
          </a:p>
          <a:p>
            <a:pPr marL="12700" marR="5080"/>
            <a:r>
              <a:rPr lang="en-US" sz="1250" kern="0" spc="-80" dirty="0">
                <a:solidFill>
                  <a:schemeClr val="accent2"/>
                </a:solidFill>
              </a:rPr>
              <a:t>Business Activity Monitoring (BAM): </a:t>
            </a:r>
            <a:r>
              <a:rPr lang="en-US" sz="1250" kern="0" spc="-80" dirty="0">
                <a:solidFill>
                  <a:schemeClr val="accent6"/>
                </a:solidFill>
              </a:rPr>
              <a:t>Used for tracking logistics, supply chains, or customer interactions to detect bottlenecks or opportunities. </a:t>
            </a:r>
          </a:p>
          <a:p>
            <a:pPr marL="12700" marR="5080"/>
            <a:endParaRPr lang="en-US" sz="1250" kern="0" spc="-80" dirty="0">
              <a:solidFill>
                <a:schemeClr val="accent6"/>
              </a:solidFill>
            </a:endParaRPr>
          </a:p>
          <a:p>
            <a:pPr marL="12700" marR="5080"/>
            <a:r>
              <a:rPr lang="en-US" sz="1250" kern="0" spc="-80" dirty="0">
                <a:solidFill>
                  <a:schemeClr val="accent2"/>
                </a:solidFill>
              </a:rPr>
              <a:t>Key Characteristics</a:t>
            </a:r>
          </a:p>
          <a:p>
            <a:pPr marL="12700" marR="5080"/>
            <a:r>
              <a:rPr lang="en-US" sz="1250" kern="0" spc="-80" dirty="0">
                <a:solidFill>
                  <a:schemeClr val="accent2"/>
                </a:solidFill>
              </a:rPr>
              <a:t>High Volume &amp; Speed: </a:t>
            </a:r>
            <a:r>
              <a:rPr lang="en-US" sz="1250" kern="0" spc="-80" dirty="0">
                <a:solidFill>
                  <a:schemeClr val="accent6"/>
                </a:solidFill>
              </a:rPr>
              <a:t>Handles massive streams of data.</a:t>
            </a:r>
          </a:p>
          <a:p>
            <a:pPr marL="12700" marR="5080"/>
            <a:r>
              <a:rPr lang="en-US" sz="1250" kern="0" spc="-80" dirty="0">
                <a:solidFill>
                  <a:schemeClr val="accent2"/>
                </a:solidFill>
              </a:rPr>
              <a:t>Low Latency: </a:t>
            </a:r>
            <a:r>
              <a:rPr lang="en-US" sz="1250" kern="0" spc="-80" dirty="0">
                <a:solidFill>
                  <a:schemeClr val="accent6"/>
                </a:solidFill>
              </a:rPr>
              <a:t>Processes and alerts in near real-time.</a:t>
            </a:r>
          </a:p>
          <a:p>
            <a:pPr marL="12700" marR="5080"/>
            <a:r>
              <a:rPr lang="en-US" sz="1250" kern="0" spc="-80" dirty="0">
                <a:solidFill>
                  <a:schemeClr val="accent2"/>
                </a:solidFill>
              </a:rPr>
              <a:t>Temporal Correlations:</a:t>
            </a:r>
            <a:r>
              <a:rPr lang="en-US" sz="1250" kern="0" spc="-80" dirty="0">
                <a:solidFill>
                  <a:schemeClr val="accent6"/>
                </a:solidFill>
              </a:rPr>
              <a:t> Understands the time relationship between events. </a:t>
            </a:r>
          </a:p>
          <a:p>
            <a:pPr marL="12700" marR="5080"/>
            <a:r>
              <a:rPr lang="en-US" sz="1250" kern="0" spc="-80" dirty="0">
                <a:solidFill>
                  <a:schemeClr val="accent6"/>
                </a:solidFill>
              </a:rPr>
              <a:t>Common use cases include fraud detection in banking, IoT sensor monitoring in manufacturing, algorithmic trading, and autonomous vehicle decision-making.</a:t>
            </a:r>
          </a:p>
        </p:txBody>
      </p:sp>
    </p:spTree>
    <p:extLst>
      <p:ext uri="{BB962C8B-B14F-4D97-AF65-F5344CB8AC3E}">
        <p14:creationId xmlns:p14="http://schemas.microsoft.com/office/powerpoint/2010/main" val="22441694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28B6-C8A6-888E-75C8-A6A3DA4994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89E5C9D-97F6-7C62-43C9-04ED028A25D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E03FC5-EF60-D39A-9906-F32414F430C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18F7A0E-45B4-A37A-5DA3-431D83AF000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2CE239C-1C98-3676-5548-7328299C709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385DD4A-9545-2985-1DCC-19E5F9D8549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BA14210F-9DC8-5395-7A93-021BB7F16370}"/>
              </a:ext>
            </a:extLst>
          </p:cNvPr>
          <p:cNvGraphicFramePr/>
          <p:nvPr>
            <p:extLst>
              <p:ext uri="{D42A27DB-BD31-4B8C-83A1-F6EECF244321}">
                <p14:modId xmlns:p14="http://schemas.microsoft.com/office/powerpoint/2010/main" val="3174682854"/>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B9097BA8-A817-7852-E7F2-5360D4AF29FA}"/>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70C78815-C4D5-971C-928B-B8C01D0ACFAF}"/>
              </a:ext>
            </a:extLst>
          </p:cNvPr>
          <p:cNvSpPr txBox="1">
            <a:spLocks/>
          </p:cNvSpPr>
          <p:nvPr/>
        </p:nvSpPr>
        <p:spPr>
          <a:xfrm>
            <a:off x="152400" y="762000"/>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Think of CEP as:</a:t>
            </a:r>
          </a:p>
          <a:p>
            <a:pPr marL="12700" marR="5080"/>
            <a:r>
              <a:rPr lang="en-US" sz="1250" kern="0" spc="-80" dirty="0">
                <a:solidFill>
                  <a:schemeClr val="accent6"/>
                </a:solidFill>
              </a:rPr>
              <a:t>A stateful NFA (Non-Deterministic Finite Automaton) running per key over ordered event streams.</a:t>
            </a:r>
          </a:p>
          <a:p>
            <a:pPr marL="12700" marR="5080"/>
            <a:r>
              <a:rPr lang="en-US" sz="1250" kern="0" spc="-80" dirty="0">
                <a:solidFill>
                  <a:schemeClr val="accent2"/>
                </a:solidFill>
              </a:rPr>
              <a:t>Every key maintains:</a:t>
            </a:r>
          </a:p>
          <a:p>
            <a:pPr marL="12700" marR="5080"/>
            <a:r>
              <a:rPr lang="en-US" sz="1250" kern="0" spc="-80" dirty="0">
                <a:solidFill>
                  <a:schemeClr val="accent6"/>
                </a:solidFill>
              </a:rPr>
              <a:t>partial matches</a:t>
            </a:r>
          </a:p>
          <a:p>
            <a:pPr marL="12700" marR="5080"/>
            <a:r>
              <a:rPr lang="en-US" sz="1250" kern="0" spc="-80" dirty="0">
                <a:solidFill>
                  <a:schemeClr val="accent6"/>
                </a:solidFill>
              </a:rPr>
              <a:t>timers</a:t>
            </a:r>
          </a:p>
          <a:p>
            <a:pPr marL="12700" marR="5080"/>
            <a:r>
              <a:rPr lang="en-US" sz="1250" kern="0" spc="-80" dirty="0">
                <a:solidFill>
                  <a:schemeClr val="accent6"/>
                </a:solidFill>
              </a:rPr>
              <a:t>state</a:t>
            </a:r>
          </a:p>
          <a:p>
            <a:pPr marL="12700" marR="5080"/>
            <a:r>
              <a:rPr lang="en-US" sz="1250" kern="0" spc="-80" dirty="0">
                <a:solidFill>
                  <a:schemeClr val="accent6"/>
                </a:solidFill>
              </a:rPr>
              <a:t>branches (due to non-determinism)</a:t>
            </a:r>
          </a:p>
          <a:p>
            <a:pPr marL="12700" marR="5080"/>
            <a:r>
              <a:rPr lang="en-US" sz="1250" kern="0" spc="-80" dirty="0">
                <a:solidFill>
                  <a:schemeClr val="accent6"/>
                </a:solidFill>
              </a:rPr>
              <a:t>This is critical for understanding memory growth and performance.</a:t>
            </a:r>
          </a:p>
          <a:p>
            <a:pPr marL="12700" marR="5080"/>
            <a:r>
              <a:rPr lang="en-US" sz="1250" kern="0" spc="-80" dirty="0">
                <a:solidFill>
                  <a:schemeClr val="accent2"/>
                </a:solidFill>
              </a:rPr>
              <a:t>1. Core CEP Building Blocks</a:t>
            </a:r>
          </a:p>
          <a:p>
            <a:pPr marL="12700" marR="5080"/>
            <a:r>
              <a:rPr lang="en-US" sz="1250" kern="0" spc="-80" dirty="0">
                <a:solidFill>
                  <a:schemeClr val="accent2"/>
                </a:solidFill>
              </a:rPr>
              <a:t>1️⃣ Event Stream</a:t>
            </a:r>
          </a:p>
          <a:p>
            <a:pPr marL="12700" marR="5080"/>
            <a:r>
              <a:rPr lang="en-US" sz="1250" kern="0" spc="-80" dirty="0">
                <a:solidFill>
                  <a:schemeClr val="accent2"/>
                </a:solidFill>
              </a:rPr>
              <a:t>CEP always works on:</a:t>
            </a:r>
          </a:p>
          <a:p>
            <a:pPr marL="12700" marR="5080"/>
            <a:r>
              <a:rPr lang="en-US" sz="1250" kern="0" spc="-80" dirty="0">
                <a:solidFill>
                  <a:schemeClr val="accent6"/>
                </a:solidFill>
              </a:rPr>
              <a:t>Keyed DataStream&lt;T&gt;</a:t>
            </a:r>
          </a:p>
          <a:p>
            <a:pPr marL="12700" marR="5080"/>
            <a:r>
              <a:rPr lang="en-US" sz="1250" kern="0" spc="-80" dirty="0">
                <a:solidFill>
                  <a:schemeClr val="accent2"/>
                </a:solidFill>
              </a:rPr>
              <a:t>Why?</a:t>
            </a:r>
          </a:p>
          <a:p>
            <a:pPr marL="12700" marR="5080"/>
            <a:r>
              <a:rPr lang="en-US" sz="1250" kern="0" spc="-80" dirty="0">
                <a:solidFill>
                  <a:schemeClr val="accent6"/>
                </a:solidFill>
              </a:rPr>
              <a:t>Because CEP maintains independent pattern machines per key.</a:t>
            </a:r>
          </a:p>
          <a:p>
            <a:pPr marL="12700" marR="5080"/>
            <a:r>
              <a:rPr lang="en-US" sz="1250" kern="0" spc="-80" dirty="0">
                <a:solidFill>
                  <a:schemeClr val="accent2"/>
                </a:solidFill>
              </a:rPr>
              <a:t>If you skip </a:t>
            </a:r>
            <a:r>
              <a:rPr lang="en-US" sz="1250" kern="0" spc="-80" dirty="0" err="1">
                <a:solidFill>
                  <a:schemeClr val="accent2"/>
                </a:solidFill>
              </a:rPr>
              <a:t>keyBy</a:t>
            </a:r>
            <a:r>
              <a:rPr lang="en-US" sz="1250" kern="0" spc="-80" dirty="0">
                <a:solidFill>
                  <a:schemeClr val="accent2"/>
                </a:solidFill>
              </a:rPr>
              <a:t>():</a:t>
            </a:r>
          </a:p>
          <a:p>
            <a:pPr marL="12700" marR="5080"/>
            <a:r>
              <a:rPr lang="en-US" sz="1250" kern="0" spc="-80" dirty="0">
                <a:solidFill>
                  <a:schemeClr val="accent6"/>
                </a:solidFill>
              </a:rPr>
              <a:t>❌ One giant global NFA</a:t>
            </a:r>
          </a:p>
          <a:p>
            <a:pPr marL="12700" marR="5080"/>
            <a:r>
              <a:rPr lang="en-US" sz="1250" kern="0" spc="-80" dirty="0">
                <a:solidFill>
                  <a:schemeClr val="accent6"/>
                </a:solidFill>
              </a:rPr>
              <a:t>❌ Massive state</a:t>
            </a:r>
          </a:p>
          <a:p>
            <a:pPr marL="12700" marR="5080"/>
            <a:r>
              <a:rPr lang="en-US" sz="1250" kern="0" spc="-80" dirty="0">
                <a:solidFill>
                  <a:schemeClr val="accent6"/>
                </a:solidFill>
              </a:rPr>
              <a:t>❌ Poor scalability</a:t>
            </a:r>
          </a:p>
          <a:p>
            <a:pPr marL="12700" marR="5080"/>
            <a:endParaRPr lang="en-US" sz="1250" kern="0" spc="-80" dirty="0">
              <a:solidFill>
                <a:schemeClr val="accent6"/>
              </a:solidFill>
            </a:endParaRPr>
          </a:p>
          <a:p>
            <a:pPr marL="12700" marR="5080"/>
            <a:endParaRPr lang="en-US" sz="1250" kern="0" spc="-80" dirty="0">
              <a:solidFill>
                <a:schemeClr val="accent6"/>
              </a:solidFill>
            </a:endParaRPr>
          </a:p>
          <a:p>
            <a:pPr marL="12700" marR="5080"/>
            <a:endParaRPr lang="en-US" sz="1250" kern="0" spc="-80" dirty="0">
              <a:solidFill>
                <a:schemeClr val="accent6"/>
              </a:solidFill>
            </a:endParaRP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23320375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B92A-44B2-6907-FF59-36C5B4834B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C79685-1953-D45B-0911-E0FB53366B2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94B7AF-EAE8-3DF7-4EDE-75C35197D71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F6867D14-9FD2-F6EB-4C84-4632B46CD4B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B5A638F-5474-F774-EA74-18DBA07F5BD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F650E2B-29EA-1D0A-8B90-5F041DD6EE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B563214-C83C-9C89-D4F3-3B6BB7D28616}"/>
              </a:ext>
            </a:extLst>
          </p:cNvPr>
          <p:cNvGraphicFramePr/>
          <p:nvPr>
            <p:extLst>
              <p:ext uri="{D42A27DB-BD31-4B8C-83A1-F6EECF244321}">
                <p14:modId xmlns:p14="http://schemas.microsoft.com/office/powerpoint/2010/main" val="3628161715"/>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8A912F70-31DD-C189-5F11-3DD0D27F9687}"/>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008791D8-AFFC-9207-59B8-282FF0C16FBA}"/>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1. Core CEP Building Blocks</a:t>
            </a:r>
          </a:p>
          <a:p>
            <a:pPr marL="12700" marR="5080"/>
            <a:r>
              <a:rPr lang="en-US" sz="1250" kern="0" spc="-80" dirty="0">
                <a:solidFill>
                  <a:schemeClr val="accent6"/>
                </a:solidFill>
              </a:rPr>
              <a:t>2️⃣ Pattern</a:t>
            </a:r>
          </a:p>
          <a:p>
            <a:pPr marL="12700" marR="5080"/>
            <a:r>
              <a:rPr lang="en-US" sz="1250" kern="0" spc="-80" dirty="0">
                <a:solidFill>
                  <a:schemeClr val="accent6"/>
                </a:solidFill>
              </a:rPr>
              <a:t>A pattern is a sequence graph, not just a list.</a:t>
            </a:r>
          </a:p>
          <a:p>
            <a:pPr marL="12700" marR="5080"/>
            <a:r>
              <a:rPr lang="en-US" sz="1250" kern="0" spc="-80" dirty="0">
                <a:solidFill>
                  <a:schemeClr val="accent2"/>
                </a:solidFill>
              </a:rPr>
              <a:t>Example:</a:t>
            </a:r>
          </a:p>
          <a:p>
            <a:pPr marL="12700" marR="5080"/>
            <a:r>
              <a:rPr lang="en-US" sz="1250" kern="0" spc="-80" dirty="0" err="1">
                <a:solidFill>
                  <a:schemeClr val="accent6"/>
                </a:solidFill>
              </a:rPr>
              <a:t>Pattern.begin</a:t>
            </a:r>
            <a:r>
              <a:rPr lang="en-US" sz="1250" kern="0" spc="-80" dirty="0">
                <a:solidFill>
                  <a:schemeClr val="accent6"/>
                </a:solidFill>
              </a:rPr>
              <a:t>("A")</a:t>
            </a:r>
          </a:p>
          <a:p>
            <a:pPr marL="12700" marR="5080"/>
            <a:r>
              <a:rPr lang="en-US" sz="1250" kern="0" spc="-80" dirty="0">
                <a:solidFill>
                  <a:schemeClr val="accent6"/>
                </a:solidFill>
              </a:rPr>
              <a:t>  .where(...)</a:t>
            </a:r>
          </a:p>
          <a:p>
            <a:pPr marL="12700" marR="5080"/>
            <a:r>
              <a:rPr lang="en-US" sz="1250" kern="0" spc="-80" dirty="0">
                <a:solidFill>
                  <a:schemeClr val="accent6"/>
                </a:solidFill>
              </a:rPr>
              <a:t>  .next("B")</a:t>
            </a:r>
          </a:p>
          <a:p>
            <a:pPr marL="12700" marR="5080"/>
            <a:r>
              <a:rPr lang="en-US" sz="1250" kern="0" spc="-80" dirty="0">
                <a:solidFill>
                  <a:schemeClr val="accent6"/>
                </a:solidFill>
              </a:rPr>
              <a:t>  .where(...)</a:t>
            </a:r>
          </a:p>
          <a:p>
            <a:pPr marL="12700" marR="5080"/>
            <a:r>
              <a:rPr lang="en-US" sz="1250" kern="0" spc="-80" dirty="0">
                <a:solidFill>
                  <a:schemeClr val="accent6"/>
                </a:solidFill>
              </a:rPr>
              <a:t>  .within(</a:t>
            </a:r>
            <a:r>
              <a:rPr lang="en-US" sz="1250" kern="0" spc="-80" dirty="0" err="1">
                <a:solidFill>
                  <a:schemeClr val="accent6"/>
                </a:solidFill>
              </a:rPr>
              <a:t>Time.minutes</a:t>
            </a:r>
            <a:r>
              <a:rPr lang="en-US" sz="1250" kern="0" spc="-80" dirty="0">
                <a:solidFill>
                  <a:schemeClr val="accent6"/>
                </a:solidFill>
              </a:rPr>
              <a:t>(5));</a:t>
            </a:r>
          </a:p>
          <a:p>
            <a:pPr marL="12700" marR="5080"/>
            <a:r>
              <a:rPr lang="en-US" sz="1250" kern="0" spc="-80" dirty="0">
                <a:solidFill>
                  <a:schemeClr val="accent2"/>
                </a:solidFill>
              </a:rPr>
              <a:t>Internally becomes:</a:t>
            </a:r>
          </a:p>
          <a:p>
            <a:pPr marL="12700" marR="5080"/>
            <a:r>
              <a:rPr lang="en-US" sz="1250" kern="0" spc="-80" dirty="0">
                <a:solidFill>
                  <a:schemeClr val="accent6"/>
                </a:solidFill>
              </a:rPr>
              <a:t>A --&gt; B</a:t>
            </a:r>
          </a:p>
          <a:p>
            <a:pPr marL="12700" marR="5080"/>
            <a:r>
              <a:rPr lang="en-US" sz="1250" kern="0" spc="-80" dirty="0">
                <a:solidFill>
                  <a:schemeClr val="accent2"/>
                </a:solidFill>
              </a:rPr>
              <a:t>Each node stores:</a:t>
            </a:r>
          </a:p>
          <a:p>
            <a:pPr marL="12700" marR="5080"/>
            <a:r>
              <a:rPr lang="en-US" sz="1250" kern="0" spc="-80" dirty="0">
                <a:solidFill>
                  <a:schemeClr val="accent6"/>
                </a:solidFill>
              </a:rPr>
              <a:t>predicate</a:t>
            </a:r>
          </a:p>
          <a:p>
            <a:pPr marL="12700" marR="5080"/>
            <a:r>
              <a:rPr lang="en-US" sz="1250" kern="0" spc="-80" dirty="0">
                <a:solidFill>
                  <a:schemeClr val="accent6"/>
                </a:solidFill>
              </a:rPr>
              <a:t>quantifier</a:t>
            </a:r>
          </a:p>
          <a:p>
            <a:pPr marL="12700" marR="5080"/>
            <a:r>
              <a:rPr lang="en-US" sz="1250" kern="0" spc="-80" dirty="0">
                <a:solidFill>
                  <a:schemeClr val="accent6"/>
                </a:solidFill>
              </a:rPr>
              <a:t>consuming strategy</a:t>
            </a:r>
          </a:p>
          <a:p>
            <a:pPr marL="12700" marR="5080"/>
            <a:r>
              <a:rPr lang="en-US" sz="1250" kern="0" spc="-80" dirty="0">
                <a:solidFill>
                  <a:schemeClr val="accent6"/>
                </a:solidFill>
              </a:rPr>
              <a:t>window constraint</a:t>
            </a:r>
          </a:p>
          <a:p>
            <a:pPr marL="12700" marR="5080"/>
            <a:r>
              <a:rPr lang="en-US" sz="1250" kern="0" spc="-80" dirty="0">
                <a:solidFill>
                  <a:schemeClr val="accent2"/>
                </a:solidFill>
              </a:rPr>
              <a:t>3️⃣ </a:t>
            </a:r>
            <a:r>
              <a:rPr lang="en-US" sz="1250" kern="0" spc="-80" dirty="0" err="1">
                <a:solidFill>
                  <a:schemeClr val="accent2"/>
                </a:solidFill>
              </a:rPr>
              <a:t>PatternStream</a:t>
            </a:r>
            <a:endParaRPr lang="en-US" sz="1250" kern="0" spc="-80" dirty="0">
              <a:solidFill>
                <a:schemeClr val="accent2"/>
              </a:solidFill>
            </a:endParaRPr>
          </a:p>
          <a:p>
            <a:pPr marL="12700" marR="5080"/>
            <a:r>
              <a:rPr lang="en-US" sz="1250" kern="0" spc="-80" dirty="0">
                <a:solidFill>
                  <a:schemeClr val="accent2"/>
                </a:solidFill>
              </a:rPr>
              <a:t>After applying pattern:</a:t>
            </a:r>
          </a:p>
          <a:p>
            <a:pPr marL="12700" marR="5080"/>
            <a:r>
              <a:rPr lang="en-US" sz="1250" kern="0" spc="-80" dirty="0" err="1">
                <a:solidFill>
                  <a:schemeClr val="accent6"/>
                </a:solidFill>
              </a:rPr>
              <a:t>CEP.pattern</a:t>
            </a:r>
            <a:r>
              <a:rPr lang="en-US" sz="1250" kern="0" spc="-80" dirty="0">
                <a:solidFill>
                  <a:schemeClr val="accent6"/>
                </a:solidFill>
              </a:rPr>
              <a:t>(stream, pattern)</a:t>
            </a:r>
          </a:p>
          <a:p>
            <a:pPr marL="12700" marR="5080"/>
            <a:r>
              <a:rPr lang="en-US" sz="1250" kern="0" spc="-80" dirty="0">
                <a:solidFill>
                  <a:schemeClr val="accent6"/>
                </a:solidFill>
              </a:rPr>
              <a:t>you get:</a:t>
            </a:r>
          </a:p>
          <a:p>
            <a:pPr marL="12700" marR="5080"/>
            <a:r>
              <a:rPr lang="en-US" sz="1250" kern="0" spc="-80" dirty="0" err="1">
                <a:solidFill>
                  <a:schemeClr val="accent6"/>
                </a:solidFill>
              </a:rPr>
              <a:t>PatternStream</a:t>
            </a:r>
            <a:r>
              <a:rPr lang="en-US" sz="1250" kern="0" spc="-80" dirty="0">
                <a:solidFill>
                  <a:schemeClr val="accent6"/>
                </a:solidFill>
              </a:rPr>
              <a:t>&lt;T&gt;</a:t>
            </a:r>
          </a:p>
          <a:p>
            <a:pPr marL="12700" marR="5080"/>
            <a:r>
              <a:rPr lang="en-US" sz="1250" kern="0" spc="-80" dirty="0">
                <a:solidFill>
                  <a:schemeClr val="accent2"/>
                </a:solidFill>
              </a:rPr>
              <a:t>Which you resolve via:</a:t>
            </a:r>
          </a:p>
          <a:p>
            <a:pPr marL="12700" marR="5080"/>
            <a:r>
              <a:rPr lang="en-US" sz="1250" kern="0" spc="-80" dirty="0">
                <a:solidFill>
                  <a:schemeClr val="accent6"/>
                </a:solidFill>
              </a:rPr>
              <a:t>select()</a:t>
            </a:r>
          </a:p>
          <a:p>
            <a:pPr marL="12700" marR="5080"/>
            <a:r>
              <a:rPr lang="en-US" sz="1250" kern="0" spc="-80" dirty="0" err="1">
                <a:solidFill>
                  <a:schemeClr val="accent6"/>
                </a:solidFill>
              </a:rPr>
              <a:t>flatSelect</a:t>
            </a:r>
            <a:r>
              <a:rPr lang="en-US" sz="1250" kern="0" spc="-80" dirty="0">
                <a:solidFill>
                  <a:schemeClr val="accent6"/>
                </a:solidFill>
              </a:rPr>
              <a:t>()</a:t>
            </a:r>
          </a:p>
          <a:p>
            <a:pPr marL="12700" marR="5080"/>
            <a:r>
              <a:rPr lang="en-US" sz="1250" kern="0" spc="-80" dirty="0">
                <a:solidFill>
                  <a:schemeClr val="accent6"/>
                </a:solidFill>
              </a:rPr>
              <a:t>process()</a:t>
            </a:r>
          </a:p>
        </p:txBody>
      </p:sp>
    </p:spTree>
    <p:extLst>
      <p:ext uri="{BB962C8B-B14F-4D97-AF65-F5344CB8AC3E}">
        <p14:creationId xmlns:p14="http://schemas.microsoft.com/office/powerpoint/2010/main" val="19927810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64208-F028-0B37-A472-732847C1622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08E72A-C347-4F8B-E601-9138954384F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0694A9-63BC-CA04-FF8A-FDDB53AFBEA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F86FE2EE-28BA-BB51-B55E-DC5B19EE4F8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2EFC3DA-063B-FF1F-F740-1DBC1C44227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9424A06-58E1-672B-2369-42FECC052E4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0229F6B-D7E3-9A99-4064-50EAADB6E39C}"/>
              </a:ext>
            </a:extLst>
          </p:cNvPr>
          <p:cNvGraphicFramePr/>
          <p:nvPr>
            <p:extLst>
              <p:ext uri="{D42A27DB-BD31-4B8C-83A1-F6EECF244321}">
                <p14:modId xmlns:p14="http://schemas.microsoft.com/office/powerpoint/2010/main" val="176313208"/>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FC30A117-2BEB-BB7A-7FE7-BE810911A8DB}"/>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88AD3AE6-0EA8-BDAD-75C9-3286E6D8BB7C}"/>
              </a:ext>
            </a:extLst>
          </p:cNvPr>
          <p:cNvSpPr txBox="1">
            <a:spLocks/>
          </p:cNvSpPr>
          <p:nvPr/>
        </p:nvSpPr>
        <p:spPr>
          <a:xfrm>
            <a:off x="152400" y="762000"/>
            <a:ext cx="8624937" cy="47320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2. Pattern Operators (VERY IMPORTANT)</a:t>
            </a:r>
          </a:p>
          <a:p>
            <a:pPr marL="12700" marR="5080"/>
            <a:r>
              <a:rPr lang="en-US" sz="1250" kern="0" spc="-80" dirty="0">
                <a:solidFill>
                  <a:schemeClr val="accent6"/>
                </a:solidFill>
              </a:rPr>
              <a:t>These define how events are consumed.</a:t>
            </a:r>
          </a:p>
          <a:p>
            <a:pPr marL="12700" marR="5080"/>
            <a:r>
              <a:rPr lang="en-US" sz="1250" kern="0" spc="-80" dirty="0">
                <a:solidFill>
                  <a:schemeClr val="accent6"/>
                </a:solidFill>
              </a:rPr>
              <a:t>▶ next() — STRICT contiguity</a:t>
            </a:r>
          </a:p>
          <a:p>
            <a:pPr marL="12700" marR="5080"/>
            <a:r>
              <a:rPr lang="en-US" sz="1250" kern="0" spc="-80" dirty="0">
                <a:solidFill>
                  <a:schemeClr val="accent6"/>
                </a:solidFill>
              </a:rPr>
              <a:t>A immediately followed by B</a:t>
            </a:r>
          </a:p>
          <a:p>
            <a:pPr marL="12700" marR="5080"/>
            <a:r>
              <a:rPr lang="en-US" sz="1250" kern="0" spc="-80" dirty="0">
                <a:solidFill>
                  <a:schemeClr val="accent6"/>
                </a:solidFill>
              </a:rPr>
              <a:t>No unrelated events allowed in between.</a:t>
            </a:r>
          </a:p>
          <a:p>
            <a:pPr marL="12700" marR="5080"/>
            <a:r>
              <a:rPr lang="en-US" sz="1250" kern="0" spc="-80" dirty="0">
                <a:solidFill>
                  <a:schemeClr val="accent6"/>
                </a:solidFill>
              </a:rPr>
              <a:t>If anything appears between A and B → match discarded.</a:t>
            </a:r>
          </a:p>
          <a:p>
            <a:pPr marL="12700" marR="5080"/>
            <a:r>
              <a:rPr lang="en-US" sz="1250" kern="0" spc="-80" dirty="0">
                <a:solidFill>
                  <a:schemeClr val="accent6"/>
                </a:solidFill>
              </a:rPr>
              <a:t>Use when order must be exact.</a:t>
            </a:r>
          </a:p>
          <a:p>
            <a:pPr marL="12700" marR="5080"/>
            <a:r>
              <a:rPr lang="en-US" sz="1250" kern="0" spc="-80" dirty="0">
                <a:solidFill>
                  <a:schemeClr val="accent6"/>
                </a:solidFill>
              </a:rPr>
              <a:t>▶ </a:t>
            </a:r>
            <a:r>
              <a:rPr lang="en-US" sz="1250" kern="0" spc="-80" dirty="0" err="1">
                <a:solidFill>
                  <a:schemeClr val="accent6"/>
                </a:solidFill>
              </a:rPr>
              <a:t>followedBy</a:t>
            </a:r>
            <a:r>
              <a:rPr lang="en-US" sz="1250" kern="0" spc="-80" dirty="0">
                <a:solidFill>
                  <a:schemeClr val="accent6"/>
                </a:solidFill>
              </a:rPr>
              <a:t>() — RELAXED contiguity</a:t>
            </a:r>
          </a:p>
          <a:p>
            <a:pPr marL="12700" marR="5080"/>
            <a:r>
              <a:rPr lang="en-US" sz="1250" kern="0" spc="-80" dirty="0">
                <a:solidFill>
                  <a:schemeClr val="accent6"/>
                </a:solidFill>
              </a:rPr>
              <a:t>A ... anything ... B</a:t>
            </a:r>
          </a:p>
          <a:p>
            <a:pPr marL="12700" marR="5080"/>
            <a:r>
              <a:rPr lang="en-US" sz="1250" kern="0" spc="-80" dirty="0">
                <a:solidFill>
                  <a:schemeClr val="accent6"/>
                </a:solidFill>
              </a:rPr>
              <a:t>Intermediate events allowed.</a:t>
            </a:r>
          </a:p>
          <a:p>
            <a:pPr marL="12700" marR="5080"/>
            <a:r>
              <a:rPr lang="en-US" sz="1250" kern="0" spc="-80" dirty="0">
                <a:solidFill>
                  <a:schemeClr val="accent6"/>
                </a:solidFill>
              </a:rPr>
              <a:t>Most common.</a:t>
            </a:r>
          </a:p>
          <a:p>
            <a:pPr marL="12700" marR="5080"/>
            <a:r>
              <a:rPr lang="en-US" sz="1250" kern="0" spc="-80" dirty="0">
                <a:solidFill>
                  <a:schemeClr val="accent6"/>
                </a:solidFill>
              </a:rPr>
              <a:t>▶ </a:t>
            </a:r>
            <a:r>
              <a:rPr lang="en-US" sz="1250" kern="0" spc="-80" dirty="0" err="1">
                <a:solidFill>
                  <a:schemeClr val="accent6"/>
                </a:solidFill>
              </a:rPr>
              <a:t>followedByAny</a:t>
            </a:r>
            <a:r>
              <a:rPr lang="en-US" sz="1250" kern="0" spc="-80" dirty="0">
                <a:solidFill>
                  <a:schemeClr val="accent6"/>
                </a:solidFill>
              </a:rPr>
              <a:t>() — NON-DETERMINISTIC</a:t>
            </a:r>
          </a:p>
          <a:p>
            <a:pPr marL="12700" marR="5080"/>
            <a:r>
              <a:rPr lang="en-US" sz="1250" kern="0" spc="-80" dirty="0">
                <a:solidFill>
                  <a:schemeClr val="accent6"/>
                </a:solidFill>
              </a:rPr>
              <a:t>Creates branching paths.</a:t>
            </a:r>
          </a:p>
          <a:p>
            <a:pPr marL="12700" marR="5080"/>
            <a:r>
              <a:rPr lang="en-US" sz="1250" kern="0" spc="-80" dirty="0">
                <a:solidFill>
                  <a:schemeClr val="accent6"/>
                </a:solidFill>
              </a:rPr>
              <a:t>Example:</a:t>
            </a:r>
          </a:p>
          <a:p>
            <a:pPr marL="12700" marR="5080"/>
            <a:r>
              <a:rPr lang="en-US" sz="1250" kern="0" spc="-80" dirty="0">
                <a:solidFill>
                  <a:schemeClr val="accent6"/>
                </a:solidFill>
              </a:rPr>
              <a:t>A</a:t>
            </a:r>
          </a:p>
          <a:p>
            <a:pPr marL="12700" marR="5080"/>
            <a:r>
              <a:rPr lang="en-US" sz="1250" kern="0" spc="-80" dirty="0">
                <a:solidFill>
                  <a:schemeClr val="accent6"/>
                </a:solidFill>
              </a:rPr>
              <a:t> \→ B1</a:t>
            </a:r>
          </a:p>
          <a:p>
            <a:pPr marL="12700" marR="5080"/>
            <a:r>
              <a:rPr lang="en-US" sz="1250" kern="0" spc="-80" dirty="0">
                <a:solidFill>
                  <a:schemeClr val="accent6"/>
                </a:solidFill>
              </a:rPr>
              <a:t> \→ B2</a:t>
            </a:r>
          </a:p>
          <a:p>
            <a:pPr marL="12700" marR="5080"/>
            <a:r>
              <a:rPr lang="en-US" sz="1250" kern="0" spc="-80" dirty="0">
                <a:solidFill>
                  <a:schemeClr val="accent6"/>
                </a:solidFill>
              </a:rPr>
              <a:t>Explodes state if stream is dense.</a:t>
            </a:r>
          </a:p>
          <a:p>
            <a:pPr marL="12700" marR="5080"/>
            <a:r>
              <a:rPr lang="en-US" sz="1250" kern="0" spc="-80" dirty="0">
                <a:solidFill>
                  <a:schemeClr val="accent6"/>
                </a:solidFill>
              </a:rPr>
              <a:t>⚠️ Use sparingly.</a:t>
            </a:r>
          </a:p>
          <a:p>
            <a:pPr marL="12700" marR="5080"/>
            <a:endParaRPr lang="en-US" sz="1250" kern="0" spc="-80" dirty="0">
              <a:solidFill>
                <a:schemeClr val="accent6"/>
              </a:solidFill>
            </a:endParaRPr>
          </a:p>
          <a:p>
            <a:pPr marL="12700" marR="5080"/>
            <a:endParaRPr lang="en-US" sz="1250" kern="0" spc="-80" dirty="0">
              <a:solidFill>
                <a:schemeClr val="accent6"/>
              </a:solidFill>
            </a:endParaRPr>
          </a:p>
          <a:p>
            <a:pPr marL="12700" marR="5080"/>
            <a:endParaRPr lang="en-US" sz="1250" kern="0" spc="-80" dirty="0">
              <a:solidFill>
                <a:schemeClr val="accent6"/>
              </a:solidFill>
            </a:endParaRP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41507190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1D58-53A1-64C8-67C7-767B348ACD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2F95D0-3708-4E1B-684E-80F163EDFDC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CCF672-86E8-0215-73CF-EA765C8257E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593D5A2-C6F8-06A7-CEFF-74E08179495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A4D2EC6-FF72-C5E8-819A-44476195D11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D81BE8-491E-5716-1A72-95242BFF190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BFD95F7-14DD-45E8-1C31-45B4D0C392C3}"/>
              </a:ext>
            </a:extLst>
          </p:cNvPr>
          <p:cNvGraphicFramePr/>
          <p:nvPr>
            <p:extLst>
              <p:ext uri="{D42A27DB-BD31-4B8C-83A1-F6EECF244321}">
                <p14:modId xmlns:p14="http://schemas.microsoft.com/office/powerpoint/2010/main" val="2201115732"/>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D89E030C-35F5-7195-FB93-7AC7ABF889C4}"/>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7FA4BCE3-38F2-19AA-42A9-7EEDA05FC074}"/>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3. Quantifiers (Repetition Semantics)</a:t>
            </a:r>
          </a:p>
          <a:p>
            <a:pPr marL="12700" marR="5080"/>
            <a:r>
              <a:rPr lang="en-US" sz="1250" kern="0" spc="-80" dirty="0" err="1">
                <a:solidFill>
                  <a:schemeClr val="accent6"/>
                </a:solidFill>
              </a:rPr>
              <a:t>oneOrMore</a:t>
            </a:r>
            <a:r>
              <a:rPr lang="en-US" sz="1250" kern="0" spc="-80" dirty="0">
                <a:solidFill>
                  <a:schemeClr val="accent6"/>
                </a:solidFill>
              </a:rPr>
              <a:t>()</a:t>
            </a:r>
          </a:p>
          <a:p>
            <a:pPr marL="12700" marR="5080"/>
            <a:r>
              <a:rPr lang="en-US" sz="1250" kern="0" spc="-80" dirty="0">
                <a:solidFill>
                  <a:schemeClr val="accent6"/>
                </a:solidFill>
              </a:rPr>
              <a:t>A+</a:t>
            </a:r>
          </a:p>
          <a:p>
            <a:pPr marL="12700" marR="5080"/>
            <a:r>
              <a:rPr lang="en-US" sz="1250" kern="0" spc="-80" dirty="0">
                <a:solidFill>
                  <a:schemeClr val="accent6"/>
                </a:solidFill>
              </a:rPr>
              <a:t>times(n)</a:t>
            </a:r>
          </a:p>
          <a:p>
            <a:pPr marL="12700" marR="5080"/>
            <a:r>
              <a:rPr lang="en-US" sz="1250" kern="0" spc="-80" dirty="0">
                <a:solidFill>
                  <a:schemeClr val="accent6"/>
                </a:solidFill>
              </a:rPr>
              <a:t>A{n}</a:t>
            </a:r>
          </a:p>
          <a:p>
            <a:pPr marL="12700" marR="5080"/>
            <a:r>
              <a:rPr lang="en-US" sz="1250" kern="0" spc="-80" dirty="0">
                <a:solidFill>
                  <a:schemeClr val="accent6"/>
                </a:solidFill>
              </a:rPr>
              <a:t>times(</a:t>
            </a:r>
            <a:r>
              <a:rPr lang="en-US" sz="1250" kern="0" spc="-80" dirty="0" err="1">
                <a:solidFill>
                  <a:schemeClr val="accent6"/>
                </a:solidFill>
              </a:rPr>
              <a:t>m,n</a:t>
            </a:r>
            <a:r>
              <a:rPr lang="en-US" sz="1250" kern="0" spc="-80" dirty="0">
                <a:solidFill>
                  <a:schemeClr val="accent6"/>
                </a:solidFill>
              </a:rPr>
              <a:t>)</a:t>
            </a:r>
          </a:p>
          <a:p>
            <a:pPr marL="12700" marR="5080"/>
            <a:r>
              <a:rPr lang="en-US" sz="1250" kern="0" spc="-80" dirty="0">
                <a:solidFill>
                  <a:schemeClr val="accent6"/>
                </a:solidFill>
              </a:rPr>
              <a:t>A{</a:t>
            </a:r>
            <a:r>
              <a:rPr lang="en-US" sz="1250" kern="0" spc="-80" dirty="0" err="1">
                <a:solidFill>
                  <a:schemeClr val="accent6"/>
                </a:solidFill>
              </a:rPr>
              <a:t>m,n</a:t>
            </a:r>
            <a:r>
              <a:rPr lang="en-US" sz="1250" kern="0" spc="-80" dirty="0">
                <a:solidFill>
                  <a:schemeClr val="accent6"/>
                </a:solidFill>
              </a:rPr>
              <a:t>}</a:t>
            </a:r>
          </a:p>
          <a:p>
            <a:pPr marL="12700" marR="5080"/>
            <a:r>
              <a:rPr lang="en-US" sz="1250" kern="0" spc="-80" dirty="0">
                <a:solidFill>
                  <a:schemeClr val="accent6"/>
                </a:solidFill>
              </a:rPr>
              <a:t>greedy()</a:t>
            </a:r>
          </a:p>
          <a:p>
            <a:pPr marL="12700" marR="5080"/>
            <a:r>
              <a:rPr lang="en-US" sz="1250" kern="0" spc="-80" dirty="0">
                <a:solidFill>
                  <a:schemeClr val="accent6"/>
                </a:solidFill>
              </a:rPr>
              <a:t>Consumes maximum possible events.</a:t>
            </a:r>
          </a:p>
          <a:p>
            <a:pPr marL="12700" marR="5080"/>
            <a:r>
              <a:rPr lang="en-US" sz="1250" kern="0" spc="-80" dirty="0">
                <a:solidFill>
                  <a:schemeClr val="accent6"/>
                </a:solidFill>
              </a:rPr>
              <a:t>optional()</a:t>
            </a:r>
          </a:p>
          <a:p>
            <a:pPr marL="12700" marR="5080"/>
            <a:r>
              <a:rPr lang="en-US" sz="1250" kern="0" spc="-80" dirty="0">
                <a:solidFill>
                  <a:schemeClr val="accent6"/>
                </a:solidFill>
              </a:rPr>
              <a:t>Makes pattern nullable.</a:t>
            </a:r>
          </a:p>
          <a:p>
            <a:pPr marL="12700" marR="5080"/>
            <a:r>
              <a:rPr lang="en-US" sz="1250" kern="0" spc="-80" dirty="0" err="1">
                <a:solidFill>
                  <a:schemeClr val="accent6"/>
                </a:solidFill>
              </a:rPr>
              <a:t>allowCombinations</a:t>
            </a:r>
            <a:r>
              <a:rPr lang="en-US" sz="1250" kern="0" spc="-80" dirty="0">
                <a:solidFill>
                  <a:schemeClr val="accent6"/>
                </a:solidFill>
              </a:rPr>
              <a:t>()</a:t>
            </a:r>
          </a:p>
          <a:p>
            <a:pPr marL="12700" marR="5080"/>
            <a:r>
              <a:rPr lang="en-US" sz="1250" kern="0" spc="-80" dirty="0">
                <a:solidFill>
                  <a:schemeClr val="accent6"/>
                </a:solidFill>
              </a:rPr>
              <a:t>Creates all permutations.</a:t>
            </a:r>
          </a:p>
          <a:p>
            <a:pPr marL="12700" marR="5080"/>
            <a:r>
              <a:rPr lang="en-US" sz="1250" kern="0" spc="-80" dirty="0">
                <a:solidFill>
                  <a:schemeClr val="accent6"/>
                </a:solidFill>
              </a:rPr>
              <a:t>⚠️ This is combinatorial explosion territory.</a:t>
            </a:r>
          </a:p>
          <a:p>
            <a:pPr marL="12700" marR="5080"/>
            <a:endParaRPr lang="en-US" sz="1250" kern="0" spc="-80" dirty="0">
              <a:solidFill>
                <a:schemeClr val="accent6"/>
              </a:solidFill>
            </a:endParaRPr>
          </a:p>
          <a:p>
            <a:pPr marL="12700" marR="5080"/>
            <a:r>
              <a:rPr lang="en-US" sz="1250" kern="0" spc="-80" dirty="0">
                <a:solidFill>
                  <a:schemeClr val="accent2"/>
                </a:solidFill>
              </a:rPr>
              <a:t>4. Conditions</a:t>
            </a:r>
          </a:p>
          <a:p>
            <a:pPr marL="12700" marR="5080"/>
            <a:r>
              <a:rPr lang="en-US" sz="1250" kern="0" spc="-80" dirty="0" err="1">
                <a:solidFill>
                  <a:schemeClr val="accent6"/>
                </a:solidFill>
              </a:rPr>
              <a:t>SimpleCondition</a:t>
            </a:r>
            <a:endParaRPr lang="en-US" sz="1250" kern="0" spc="-80" dirty="0">
              <a:solidFill>
                <a:schemeClr val="accent6"/>
              </a:solidFill>
            </a:endParaRPr>
          </a:p>
          <a:p>
            <a:pPr marL="12700" marR="5080"/>
            <a:r>
              <a:rPr lang="en-US" sz="1250" kern="0" spc="-80" dirty="0">
                <a:solidFill>
                  <a:schemeClr val="accent6"/>
                </a:solidFill>
              </a:rPr>
              <a:t>Single event filtering.</a:t>
            </a:r>
          </a:p>
          <a:p>
            <a:pPr marL="12700" marR="5080"/>
            <a:r>
              <a:rPr lang="en-US" sz="1250" kern="0" spc="-80" dirty="0" err="1">
                <a:solidFill>
                  <a:schemeClr val="accent6"/>
                </a:solidFill>
              </a:rPr>
              <a:t>IterativeCondition</a:t>
            </a:r>
            <a:endParaRPr lang="en-US" sz="1250" kern="0" spc="-80" dirty="0">
              <a:solidFill>
                <a:schemeClr val="accent6"/>
              </a:solidFill>
            </a:endParaRPr>
          </a:p>
          <a:p>
            <a:pPr marL="12700" marR="5080"/>
            <a:r>
              <a:rPr lang="en-US" sz="1250" kern="0" spc="-80" dirty="0">
                <a:solidFill>
                  <a:schemeClr val="accent6"/>
                </a:solidFill>
              </a:rPr>
              <a:t>Can access previously matched events:</a:t>
            </a:r>
          </a:p>
          <a:p>
            <a:pPr marL="12700" marR="5080"/>
            <a:r>
              <a:rPr lang="en-US" sz="1250" kern="0" spc="-80" dirty="0" err="1">
                <a:solidFill>
                  <a:schemeClr val="accent6"/>
                </a:solidFill>
              </a:rPr>
              <a:t>ctx.getEventsForPattern</a:t>
            </a:r>
            <a:r>
              <a:rPr lang="en-US" sz="1250" kern="0" spc="-80" dirty="0">
                <a:solidFill>
                  <a:schemeClr val="accent6"/>
                </a:solidFill>
              </a:rPr>
              <a:t>("A")</a:t>
            </a:r>
          </a:p>
          <a:p>
            <a:pPr marL="12700" marR="5080"/>
            <a:r>
              <a:rPr lang="en-US" sz="1250" kern="0" spc="-80" dirty="0">
                <a:solidFill>
                  <a:schemeClr val="accent6"/>
                </a:solidFill>
              </a:rPr>
              <a:t>Used for:</a:t>
            </a:r>
          </a:p>
          <a:p>
            <a:pPr marL="12700" marR="5080"/>
            <a:r>
              <a:rPr lang="en-US" sz="1250" kern="0" spc="-80" dirty="0">
                <a:solidFill>
                  <a:schemeClr val="accent6"/>
                </a:solidFill>
              </a:rPr>
              <a:t>cumulative thresholds</a:t>
            </a:r>
          </a:p>
          <a:p>
            <a:pPr marL="12700" marR="5080"/>
            <a:r>
              <a:rPr lang="en-US" sz="1250" kern="0" spc="-80" dirty="0">
                <a:solidFill>
                  <a:schemeClr val="accent6"/>
                </a:solidFill>
              </a:rPr>
              <a:t>relational logic</a:t>
            </a:r>
          </a:p>
          <a:p>
            <a:pPr marL="12700" marR="5080"/>
            <a:r>
              <a:rPr lang="en-US" sz="1250" kern="0" spc="-80" dirty="0">
                <a:solidFill>
                  <a:schemeClr val="accent6"/>
                </a:solidFill>
              </a:rPr>
              <a:t>⚠️ Expensive — each evaluation scans partial state.</a:t>
            </a:r>
          </a:p>
        </p:txBody>
      </p:sp>
    </p:spTree>
    <p:extLst>
      <p:ext uri="{BB962C8B-B14F-4D97-AF65-F5344CB8AC3E}">
        <p14:creationId xmlns:p14="http://schemas.microsoft.com/office/powerpoint/2010/main" val="35118575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EDBA-496E-61BB-F969-C17160A794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C9EE639-0943-9FF2-FDB8-74683DFA7CB9}"/>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7A5378-943B-E9D2-FA0F-B301806FFAD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BBE1BDC-2F66-958B-DEFA-CAF9565092B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DAA927-958E-6CCB-8EBF-DE3F317A197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394A0A1-1225-2334-F65B-891958D82AE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CD040D25-6E96-3022-0363-885D696672BB}"/>
              </a:ext>
            </a:extLst>
          </p:cNvPr>
          <p:cNvGraphicFramePr/>
          <p:nvPr>
            <p:extLst>
              <p:ext uri="{D42A27DB-BD31-4B8C-83A1-F6EECF244321}">
                <p14:modId xmlns:p14="http://schemas.microsoft.com/office/powerpoint/2010/main" val="2472123404"/>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3F3D4F6-DA27-317A-6442-82AE413629BD}"/>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1FC47010-0190-DF5D-0043-8C7D320543EE}"/>
              </a:ext>
            </a:extLst>
          </p:cNvPr>
          <p:cNvSpPr txBox="1">
            <a:spLocks/>
          </p:cNvSpPr>
          <p:nvPr/>
        </p:nvSpPr>
        <p:spPr>
          <a:xfrm>
            <a:off x="152400" y="762000"/>
            <a:ext cx="8624937" cy="47320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5. Time Semantics</a:t>
            </a:r>
          </a:p>
          <a:p>
            <a:pPr marL="12700" marR="5080"/>
            <a:r>
              <a:rPr lang="en-US" sz="1250" kern="0" spc="-80" dirty="0">
                <a:solidFill>
                  <a:schemeClr val="accent6"/>
                </a:solidFill>
              </a:rPr>
              <a:t>CEP is highly sensitive to time configuration.</a:t>
            </a:r>
          </a:p>
          <a:p>
            <a:pPr marL="12700" marR="5080"/>
            <a:r>
              <a:rPr lang="en-US" sz="1250" kern="0" spc="-80" dirty="0">
                <a:solidFill>
                  <a:schemeClr val="accent6"/>
                </a:solidFill>
              </a:rPr>
              <a:t>Event Time (recommended)</a:t>
            </a:r>
          </a:p>
          <a:p>
            <a:pPr marL="12700" marR="5080"/>
            <a:r>
              <a:rPr lang="en-US" sz="1250" kern="0" spc="-80" dirty="0">
                <a:solidFill>
                  <a:schemeClr val="accent6"/>
                </a:solidFill>
              </a:rPr>
              <a:t>Uses timestamps + watermarks.</a:t>
            </a:r>
          </a:p>
          <a:p>
            <a:pPr marL="12700" marR="5080"/>
            <a:r>
              <a:rPr lang="en-US" sz="1250" kern="0" spc="-80" dirty="0">
                <a:solidFill>
                  <a:schemeClr val="accent6"/>
                </a:solidFill>
              </a:rPr>
              <a:t>Patterns respect logical event order.</a:t>
            </a:r>
          </a:p>
          <a:p>
            <a:pPr marL="12700" marR="5080"/>
            <a:r>
              <a:rPr lang="en-US" sz="1250" kern="0" spc="-80" dirty="0">
                <a:solidFill>
                  <a:schemeClr val="accent6"/>
                </a:solidFill>
              </a:rPr>
              <a:t>Processing Time</a:t>
            </a:r>
          </a:p>
          <a:p>
            <a:pPr marL="12700" marR="5080"/>
            <a:r>
              <a:rPr lang="en-US" sz="1250" kern="0" spc="-80" dirty="0">
                <a:solidFill>
                  <a:schemeClr val="accent6"/>
                </a:solidFill>
              </a:rPr>
              <a:t>Uses machine clock.</a:t>
            </a:r>
          </a:p>
          <a:p>
            <a:pPr marL="12700" marR="5080"/>
            <a:r>
              <a:rPr lang="en-US" sz="1250" kern="0" spc="-80" dirty="0">
                <a:solidFill>
                  <a:schemeClr val="accent6"/>
                </a:solidFill>
              </a:rPr>
              <a:t>Fast but unsafe for disorder.</a:t>
            </a:r>
          </a:p>
          <a:p>
            <a:pPr marL="12700" marR="5080"/>
            <a:r>
              <a:rPr lang="en-US" sz="1250" kern="0" spc="-80" dirty="0">
                <a:solidFill>
                  <a:schemeClr val="accent6"/>
                </a:solidFill>
              </a:rPr>
              <a:t>Ingestion Time (rarely used)</a:t>
            </a:r>
          </a:p>
          <a:p>
            <a:pPr marL="12700" marR="5080"/>
            <a:r>
              <a:rPr lang="en-US" sz="1250" kern="0" spc="-80" dirty="0">
                <a:solidFill>
                  <a:schemeClr val="accent6"/>
                </a:solidFill>
              </a:rPr>
              <a:t>Hybrid.</a:t>
            </a:r>
          </a:p>
          <a:p>
            <a:pPr marL="12700" marR="5080"/>
            <a:r>
              <a:rPr lang="en-US" sz="1250" kern="0" spc="-80" dirty="0">
                <a:solidFill>
                  <a:schemeClr val="accent6"/>
                </a:solidFill>
              </a:rPr>
              <a:t>within()</a:t>
            </a:r>
          </a:p>
          <a:p>
            <a:pPr marL="12700" marR="5080"/>
            <a:r>
              <a:rPr lang="en-US" sz="1250" kern="0" spc="-80" dirty="0">
                <a:solidFill>
                  <a:schemeClr val="accent6"/>
                </a:solidFill>
              </a:rPr>
              <a:t>Defines pattern window:</a:t>
            </a:r>
          </a:p>
          <a:p>
            <a:pPr marL="12700" marR="5080"/>
            <a:r>
              <a:rPr lang="en-US" sz="1250" kern="0" spc="-80" dirty="0">
                <a:solidFill>
                  <a:schemeClr val="accent6"/>
                </a:solidFill>
              </a:rPr>
              <a:t>.within(</a:t>
            </a:r>
            <a:r>
              <a:rPr lang="en-US" sz="1250" kern="0" spc="-80" dirty="0" err="1">
                <a:solidFill>
                  <a:schemeClr val="accent6"/>
                </a:solidFill>
              </a:rPr>
              <a:t>Time.minutes</a:t>
            </a:r>
            <a:r>
              <a:rPr lang="en-US" sz="1250" kern="0" spc="-80" dirty="0">
                <a:solidFill>
                  <a:schemeClr val="accent6"/>
                </a:solidFill>
              </a:rPr>
              <a:t>(10))</a:t>
            </a:r>
          </a:p>
          <a:p>
            <a:pPr marL="12700" marR="5080"/>
            <a:r>
              <a:rPr lang="en-US" sz="1250" kern="0" spc="-80" dirty="0">
                <a:solidFill>
                  <a:schemeClr val="accent2"/>
                </a:solidFill>
              </a:rPr>
              <a:t>Meaning:</a:t>
            </a:r>
          </a:p>
          <a:p>
            <a:pPr marL="12700" marR="5080"/>
            <a:r>
              <a:rPr lang="en-US" sz="1250" kern="0" spc="-80" dirty="0">
                <a:solidFill>
                  <a:schemeClr val="accent6"/>
                </a:solidFill>
              </a:rPr>
              <a:t>From FIRST matched event to LAST.</a:t>
            </a:r>
          </a:p>
          <a:p>
            <a:pPr marL="12700" marR="5080"/>
            <a:r>
              <a:rPr lang="en-US" sz="1250" kern="0" spc="-80" dirty="0">
                <a:solidFill>
                  <a:schemeClr val="accent6"/>
                </a:solidFill>
              </a:rPr>
              <a:t>Not per step.</a:t>
            </a:r>
          </a:p>
          <a:p>
            <a:pPr marL="12700" marR="5080"/>
            <a:r>
              <a:rPr lang="en-US" sz="1250" kern="0" spc="-80" dirty="0">
                <a:solidFill>
                  <a:schemeClr val="accent6"/>
                </a:solidFill>
              </a:rPr>
              <a:t>Timer Behavior</a:t>
            </a:r>
          </a:p>
          <a:p>
            <a:pPr marL="12700" marR="5080"/>
            <a:r>
              <a:rPr lang="en-US" sz="1250" kern="0" spc="-80" dirty="0">
                <a:solidFill>
                  <a:schemeClr val="accent6"/>
                </a:solidFill>
              </a:rPr>
              <a:t>CEP registers timers internally:</a:t>
            </a:r>
          </a:p>
          <a:p>
            <a:pPr marL="12700" marR="5080"/>
            <a:r>
              <a:rPr lang="en-US" sz="1250" kern="0" spc="-80" dirty="0">
                <a:solidFill>
                  <a:schemeClr val="accent6"/>
                </a:solidFill>
              </a:rPr>
              <a:t>Pattern start time + within()</a:t>
            </a:r>
          </a:p>
          <a:p>
            <a:pPr marL="12700" marR="5080"/>
            <a:r>
              <a:rPr lang="en-US" sz="1250" kern="0" spc="-80" dirty="0">
                <a:solidFill>
                  <a:schemeClr val="accent6"/>
                </a:solidFill>
              </a:rPr>
              <a:t>When fires:</a:t>
            </a:r>
          </a:p>
          <a:p>
            <a:pPr marL="12700" marR="5080"/>
            <a:r>
              <a:rPr lang="en-US" sz="1250" kern="0" spc="-80" dirty="0">
                <a:solidFill>
                  <a:schemeClr val="accent6"/>
                </a:solidFill>
              </a:rPr>
              <a:t>→ partial matches discarded</a:t>
            </a:r>
          </a:p>
          <a:p>
            <a:pPr marL="12700" marR="5080"/>
            <a:endParaRPr lang="en-US" sz="1250" kern="0" spc="-80" dirty="0">
              <a:solidFill>
                <a:schemeClr val="accent6"/>
              </a:solidFill>
            </a:endParaRP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253873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1622-847C-0D12-4E81-BE4CC653DD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9CB756-99AC-6269-CCED-B4D36398BF4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4570E4-96AC-C6FE-CC54-06CA998453D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B5D3E27B-D8FE-9637-57BA-00923379080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854237A-67E6-CCEC-FB98-77536513C78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88C69E2-7A29-9071-5D9F-1777BE14872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B45439A-D187-96A2-9009-694965473597}"/>
              </a:ext>
            </a:extLst>
          </p:cNvPr>
          <p:cNvGraphicFramePr/>
          <p:nvPr>
            <p:extLst>
              <p:ext uri="{D42A27DB-BD31-4B8C-83A1-F6EECF244321}">
                <p14:modId xmlns:p14="http://schemas.microsoft.com/office/powerpoint/2010/main" val="1714053957"/>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382ECF8-7792-B538-5370-F1AA0B1ED95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73C9F0BE-3B60-9224-5DA1-ADE25D06251D}"/>
              </a:ext>
            </a:extLst>
          </p:cNvPr>
          <p:cNvSpPr txBox="1">
            <a:spLocks/>
          </p:cNvSpPr>
          <p:nvPr/>
        </p:nvSpPr>
        <p:spPr>
          <a:xfrm>
            <a:off x="152400" y="762000"/>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6. </a:t>
            </a:r>
            <a:r>
              <a:rPr lang="en-US" sz="1250" kern="0" spc="-80" dirty="0" err="1">
                <a:solidFill>
                  <a:schemeClr val="accent2"/>
                </a:solidFill>
              </a:rPr>
              <a:t>AfterMatchSkipStrategy</a:t>
            </a:r>
            <a:r>
              <a:rPr lang="en-US" sz="1250" kern="0" spc="-80" dirty="0">
                <a:solidFill>
                  <a:schemeClr val="accent2"/>
                </a:solidFill>
              </a:rPr>
              <a:t> (CRITICAL)</a:t>
            </a:r>
          </a:p>
          <a:p>
            <a:pPr marL="12700" marR="5080"/>
            <a:r>
              <a:rPr lang="en-US" sz="1250" kern="0" spc="-80" dirty="0">
                <a:solidFill>
                  <a:schemeClr val="accent6"/>
                </a:solidFill>
              </a:rPr>
              <a:t>Controls overlapping matches.</a:t>
            </a:r>
          </a:p>
          <a:p>
            <a:pPr marL="12700" marR="5080"/>
            <a:r>
              <a:rPr lang="en-US" sz="1250" kern="0" spc="-80" dirty="0" err="1">
                <a:solidFill>
                  <a:schemeClr val="accent6"/>
                </a:solidFill>
              </a:rPr>
              <a:t>noSkip</a:t>
            </a:r>
            <a:r>
              <a:rPr lang="en-US" sz="1250" kern="0" spc="-80" dirty="0">
                <a:solidFill>
                  <a:schemeClr val="accent6"/>
                </a:solidFill>
              </a:rPr>
              <a:t>() (default)</a:t>
            </a:r>
          </a:p>
          <a:p>
            <a:pPr marL="12700" marR="5080"/>
            <a:r>
              <a:rPr lang="en-US" sz="1250" kern="0" spc="-80" dirty="0">
                <a:solidFill>
                  <a:schemeClr val="accent6"/>
                </a:solidFill>
              </a:rPr>
              <a:t>Returns ALL matches.</a:t>
            </a:r>
          </a:p>
          <a:p>
            <a:pPr marL="12700" marR="5080"/>
            <a:r>
              <a:rPr lang="en-US" sz="1250" kern="0" spc="-80" dirty="0">
                <a:solidFill>
                  <a:schemeClr val="accent6"/>
                </a:solidFill>
              </a:rPr>
              <a:t>Produces duplicates.</a:t>
            </a:r>
          </a:p>
          <a:p>
            <a:pPr marL="12700" marR="5080"/>
            <a:r>
              <a:rPr lang="en-US" sz="1250" kern="0" spc="-80" dirty="0" err="1">
                <a:solidFill>
                  <a:schemeClr val="accent6"/>
                </a:solidFill>
              </a:rPr>
              <a:t>skipPastLastEvent</a:t>
            </a:r>
            <a:r>
              <a:rPr lang="en-US" sz="1250" kern="0" spc="-80" dirty="0">
                <a:solidFill>
                  <a:schemeClr val="accent6"/>
                </a:solidFill>
              </a:rPr>
              <a:t>()</a:t>
            </a:r>
          </a:p>
          <a:p>
            <a:pPr marL="12700" marR="5080"/>
            <a:r>
              <a:rPr lang="en-US" sz="1250" kern="0" spc="-80" dirty="0">
                <a:solidFill>
                  <a:schemeClr val="accent6"/>
                </a:solidFill>
              </a:rPr>
              <a:t>Consumes whole match.</a:t>
            </a:r>
          </a:p>
          <a:p>
            <a:pPr marL="12700" marR="5080"/>
            <a:r>
              <a:rPr lang="en-US" sz="1250" kern="0" spc="-80" dirty="0">
                <a:solidFill>
                  <a:schemeClr val="accent6"/>
                </a:solidFill>
              </a:rPr>
              <a:t>Most practical for alerts.</a:t>
            </a:r>
          </a:p>
          <a:p>
            <a:pPr marL="12700" marR="5080"/>
            <a:r>
              <a:rPr lang="en-US" sz="1250" kern="0" spc="-80" dirty="0" err="1">
                <a:solidFill>
                  <a:schemeClr val="accent6"/>
                </a:solidFill>
              </a:rPr>
              <a:t>skipToNext</a:t>
            </a:r>
            <a:r>
              <a:rPr lang="en-US" sz="1250" kern="0" spc="-80" dirty="0">
                <a:solidFill>
                  <a:schemeClr val="accent6"/>
                </a:solidFill>
              </a:rPr>
              <a:t>()</a:t>
            </a:r>
          </a:p>
          <a:p>
            <a:pPr marL="12700" marR="5080"/>
            <a:r>
              <a:rPr lang="en-US" sz="1250" kern="0" spc="-80" dirty="0">
                <a:solidFill>
                  <a:schemeClr val="accent6"/>
                </a:solidFill>
              </a:rPr>
              <a:t>Moves one event forward.</a:t>
            </a:r>
          </a:p>
          <a:p>
            <a:pPr marL="12700" marR="5080"/>
            <a:r>
              <a:rPr lang="en-US" sz="1250" kern="0" spc="-80" dirty="0" err="1">
                <a:solidFill>
                  <a:schemeClr val="accent6"/>
                </a:solidFill>
              </a:rPr>
              <a:t>skipToFirst</a:t>
            </a:r>
            <a:r>
              <a:rPr lang="en-US" sz="1250" kern="0" spc="-80" dirty="0">
                <a:solidFill>
                  <a:schemeClr val="accent6"/>
                </a:solidFill>
              </a:rPr>
              <a:t>("A")</a:t>
            </a:r>
          </a:p>
          <a:p>
            <a:pPr marL="12700" marR="5080"/>
            <a:r>
              <a:rPr lang="en-US" sz="1250" kern="0" spc="-80" dirty="0">
                <a:solidFill>
                  <a:schemeClr val="accent6"/>
                </a:solidFill>
              </a:rPr>
              <a:t>Custom skip anchor.</a:t>
            </a:r>
          </a:p>
          <a:p>
            <a:pPr marL="12700" marR="5080"/>
            <a:r>
              <a:rPr lang="en-US" sz="1250" kern="0" spc="-80" dirty="0">
                <a:solidFill>
                  <a:schemeClr val="accent6"/>
                </a:solidFill>
              </a:rPr>
              <a:t>Example impact:</a:t>
            </a:r>
          </a:p>
          <a:p>
            <a:pPr marL="12700" marR="5080"/>
            <a:r>
              <a:rPr lang="en-US" sz="1250" kern="0" spc="-80" dirty="0">
                <a:solidFill>
                  <a:schemeClr val="accent6"/>
                </a:solidFill>
              </a:rPr>
              <a:t>Events: A </a:t>
            </a:r>
            <a:r>
              <a:rPr lang="en-US" sz="1250" kern="0" spc="-80" dirty="0" err="1">
                <a:solidFill>
                  <a:schemeClr val="accent6"/>
                </a:solidFill>
              </a:rPr>
              <a:t>A</a:t>
            </a:r>
            <a:r>
              <a:rPr lang="en-US" sz="1250" kern="0" spc="-80" dirty="0">
                <a:solidFill>
                  <a:schemeClr val="accent6"/>
                </a:solidFill>
              </a:rPr>
              <a:t> B</a:t>
            </a:r>
          </a:p>
          <a:p>
            <a:pPr marL="12700" marR="5080"/>
            <a:r>
              <a:rPr lang="en-US" sz="1250" kern="0" spc="-80" dirty="0">
                <a:solidFill>
                  <a:schemeClr val="accent6"/>
                </a:solidFill>
              </a:rPr>
              <a:t>Pattern: A </a:t>
            </a:r>
            <a:r>
              <a:rPr lang="en-US" sz="1250" kern="0" spc="-80" dirty="0" err="1">
                <a:solidFill>
                  <a:schemeClr val="accent6"/>
                </a:solidFill>
              </a:rPr>
              <a:t>followedBy</a:t>
            </a:r>
            <a:r>
              <a:rPr lang="en-US" sz="1250" kern="0" spc="-80" dirty="0">
                <a:solidFill>
                  <a:schemeClr val="accent6"/>
                </a:solidFill>
              </a:rPr>
              <a:t> B</a:t>
            </a:r>
          </a:p>
          <a:p>
            <a:pPr marL="12700" marR="5080"/>
            <a:r>
              <a:rPr lang="en-US" sz="1250" kern="0" spc="-80" dirty="0" err="1">
                <a:solidFill>
                  <a:schemeClr val="accent6"/>
                </a:solidFill>
              </a:rPr>
              <a:t>noSkip</a:t>
            </a:r>
            <a:r>
              <a:rPr lang="en-US" sz="1250" kern="0" spc="-80" dirty="0">
                <a:solidFill>
                  <a:schemeClr val="accent6"/>
                </a:solidFill>
              </a:rPr>
              <a:t>:</a:t>
            </a:r>
          </a:p>
          <a:p>
            <a:pPr marL="12700" marR="5080"/>
            <a:r>
              <a:rPr lang="en-US" sz="1250" kern="0" spc="-80" dirty="0">
                <a:solidFill>
                  <a:schemeClr val="accent6"/>
                </a:solidFill>
              </a:rPr>
              <a:t>[A1,B], [A2,B]</a:t>
            </a:r>
          </a:p>
          <a:p>
            <a:pPr marL="12700" marR="5080"/>
            <a:r>
              <a:rPr lang="en-US" sz="1250" kern="0" spc="-80" dirty="0" err="1">
                <a:solidFill>
                  <a:schemeClr val="accent6"/>
                </a:solidFill>
              </a:rPr>
              <a:t>skipPastLast</a:t>
            </a:r>
            <a:r>
              <a:rPr lang="en-US" sz="1250" kern="0" spc="-80" dirty="0">
                <a:solidFill>
                  <a:schemeClr val="accent6"/>
                </a:solidFill>
              </a:rPr>
              <a:t>:</a:t>
            </a:r>
          </a:p>
          <a:p>
            <a:pPr marL="12700" marR="5080"/>
            <a:r>
              <a:rPr lang="en-US" sz="1250" kern="0" spc="-80" dirty="0">
                <a:solidFill>
                  <a:schemeClr val="accent6"/>
                </a:solidFill>
              </a:rPr>
              <a:t>[A2,B]</a:t>
            </a:r>
          </a:p>
          <a:p>
            <a:pPr marL="12700" marR="5080"/>
            <a:endParaRPr lang="en-US" sz="1250" kern="0" spc="-80" dirty="0">
              <a:solidFill>
                <a:schemeClr val="accent6"/>
              </a:solidFill>
            </a:endParaRPr>
          </a:p>
          <a:p>
            <a:pPr marL="12700" marR="5080"/>
            <a:endParaRPr lang="en-US" sz="1250" kern="0" spc="-80" dirty="0">
              <a:solidFill>
                <a:schemeClr val="accent6"/>
              </a:solidFill>
            </a:endParaRP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4308018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97EC-FA2E-8F9E-994E-29658FC9AA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2CBD1E-4ECE-2C43-4FB9-0826FFABFB4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00E913-2876-FD17-EBDB-AB2DAB0D2D3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C0935CD8-F9D4-B3EA-4474-6F223F33BF1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61EEA70-85E2-41EC-5B5B-28D0960E2CC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586B382-99F8-0C3F-71A9-1797E77FC5D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84DEAC5-A9FF-D8DE-5401-3DCFEBFD20D1}"/>
              </a:ext>
            </a:extLst>
          </p:cNvPr>
          <p:cNvGraphicFramePr/>
          <p:nvPr>
            <p:extLst>
              <p:ext uri="{D42A27DB-BD31-4B8C-83A1-F6EECF244321}">
                <p14:modId xmlns:p14="http://schemas.microsoft.com/office/powerpoint/2010/main" val="1864968442"/>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95D95D9D-724B-C760-54EA-6342522DB52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401E86EA-C4D7-9A03-31A0-30F463F0A2AF}"/>
              </a:ext>
            </a:extLst>
          </p:cNvPr>
          <p:cNvSpPr txBox="1">
            <a:spLocks/>
          </p:cNvSpPr>
          <p:nvPr/>
        </p:nvSpPr>
        <p:spPr>
          <a:xfrm>
            <a:off x="152400" y="762000"/>
            <a:ext cx="8624937" cy="51167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7. Internal Engine (Advanced)</a:t>
            </a:r>
          </a:p>
          <a:p>
            <a:pPr marL="12700" marR="5080"/>
            <a:r>
              <a:rPr lang="en-US" sz="1250" kern="0" spc="-80" dirty="0">
                <a:solidFill>
                  <a:schemeClr val="accent6"/>
                </a:solidFill>
              </a:rPr>
              <a:t>CEP runs:</a:t>
            </a:r>
          </a:p>
          <a:p>
            <a:pPr marL="12700" marR="5080"/>
            <a:r>
              <a:rPr lang="en-US" sz="1250" kern="0" spc="-80" dirty="0">
                <a:solidFill>
                  <a:schemeClr val="accent6"/>
                </a:solidFill>
              </a:rPr>
              <a:t>Per key:</a:t>
            </a:r>
          </a:p>
          <a:p>
            <a:pPr marL="12700" marR="5080"/>
            <a:r>
              <a:rPr lang="en-US" sz="1250" kern="0" spc="-80" dirty="0">
                <a:solidFill>
                  <a:schemeClr val="accent6"/>
                </a:solidFill>
              </a:rPr>
              <a:t>NFA Instance</a:t>
            </a:r>
          </a:p>
          <a:p>
            <a:pPr marL="12700" marR="5080"/>
            <a:r>
              <a:rPr lang="en-US" sz="1250" kern="0" spc="-80" dirty="0">
                <a:solidFill>
                  <a:schemeClr val="accent6"/>
                </a:solidFill>
              </a:rPr>
              <a:t> |</a:t>
            </a:r>
          </a:p>
          <a:p>
            <a:pPr marL="12700" marR="5080"/>
            <a:r>
              <a:rPr lang="en-US" sz="1250" kern="0" spc="-80" dirty="0">
                <a:solidFill>
                  <a:schemeClr val="accent6"/>
                </a:solidFill>
              </a:rPr>
              <a:t> +-- Active States</a:t>
            </a:r>
          </a:p>
          <a:p>
            <a:pPr marL="12700" marR="5080"/>
            <a:r>
              <a:rPr lang="en-US" sz="1250" kern="0" spc="-80" dirty="0">
                <a:solidFill>
                  <a:schemeClr val="accent6"/>
                </a:solidFill>
              </a:rPr>
              <a:t> +-- Partial Matches</a:t>
            </a:r>
          </a:p>
          <a:p>
            <a:pPr marL="12700" marR="5080"/>
            <a:r>
              <a:rPr lang="en-US" sz="1250" kern="0" spc="-80" dirty="0">
                <a:solidFill>
                  <a:schemeClr val="accent6"/>
                </a:solidFill>
              </a:rPr>
              <a:t> +-- Timers</a:t>
            </a:r>
          </a:p>
          <a:p>
            <a:pPr marL="12700" marR="5080"/>
            <a:r>
              <a:rPr lang="en-US" sz="1250" kern="0" spc="-80" dirty="0">
                <a:solidFill>
                  <a:schemeClr val="accent6"/>
                </a:solidFill>
              </a:rPr>
              <a:t>Each incoming event:</a:t>
            </a:r>
          </a:p>
          <a:p>
            <a:pPr marL="12700" marR="5080"/>
            <a:r>
              <a:rPr lang="en-US" sz="1250" kern="0" spc="-80" dirty="0">
                <a:solidFill>
                  <a:schemeClr val="accent6"/>
                </a:solidFill>
              </a:rPr>
              <a:t>Evaluated against ALL active states</a:t>
            </a:r>
          </a:p>
          <a:p>
            <a:pPr marL="12700" marR="5080"/>
            <a:r>
              <a:rPr lang="en-US" sz="1250" kern="0" spc="-80" dirty="0">
                <a:solidFill>
                  <a:schemeClr val="accent6"/>
                </a:solidFill>
              </a:rPr>
              <a:t>Creates new branches</a:t>
            </a:r>
          </a:p>
          <a:p>
            <a:pPr marL="12700" marR="5080"/>
            <a:r>
              <a:rPr lang="en-US" sz="1250" kern="0" spc="-80" dirty="0">
                <a:solidFill>
                  <a:schemeClr val="accent6"/>
                </a:solidFill>
              </a:rPr>
              <a:t>Old branches expire via timers</a:t>
            </a:r>
          </a:p>
          <a:p>
            <a:pPr marL="12700" marR="5080"/>
            <a:r>
              <a:rPr lang="en-US" sz="1250" kern="0" spc="-80" dirty="0">
                <a:solidFill>
                  <a:schemeClr val="accent6"/>
                </a:solidFill>
              </a:rPr>
              <a:t>This explains why CEP can become memory-heavy.</a:t>
            </a:r>
          </a:p>
          <a:p>
            <a:pPr marL="12700" marR="5080"/>
            <a:endParaRPr lang="en-US" sz="1250" kern="0" spc="-80" dirty="0">
              <a:solidFill>
                <a:schemeClr val="accent6"/>
              </a:solidFill>
            </a:endParaRPr>
          </a:p>
          <a:p>
            <a:pPr marL="12700" marR="5080"/>
            <a:r>
              <a:rPr lang="en-US" sz="1250" kern="0" spc="-80" dirty="0">
                <a:solidFill>
                  <a:schemeClr val="accent2"/>
                </a:solidFill>
              </a:rPr>
              <a:t>8. State Backend Interaction</a:t>
            </a:r>
          </a:p>
          <a:p>
            <a:pPr marL="12700" marR="5080"/>
            <a:r>
              <a:rPr lang="en-US" sz="1250" kern="0" spc="-80" dirty="0">
                <a:solidFill>
                  <a:schemeClr val="accent6"/>
                </a:solidFill>
              </a:rPr>
              <a:t>CEP stores:</a:t>
            </a:r>
          </a:p>
          <a:p>
            <a:pPr marL="12700" marR="5080"/>
            <a:r>
              <a:rPr lang="en-US" sz="1250" kern="0" spc="-80" dirty="0">
                <a:solidFill>
                  <a:schemeClr val="accent6"/>
                </a:solidFill>
              </a:rPr>
              <a:t>partial matches</a:t>
            </a:r>
          </a:p>
          <a:p>
            <a:pPr marL="12700" marR="5080"/>
            <a:r>
              <a:rPr lang="en-US" sz="1250" kern="0" spc="-80" dirty="0">
                <a:solidFill>
                  <a:schemeClr val="accent6"/>
                </a:solidFill>
              </a:rPr>
              <a:t>counters</a:t>
            </a:r>
          </a:p>
          <a:p>
            <a:pPr marL="12700" marR="5080"/>
            <a:r>
              <a:rPr lang="en-US" sz="1250" kern="0" spc="-80" dirty="0">
                <a:solidFill>
                  <a:schemeClr val="accent6"/>
                </a:solidFill>
              </a:rPr>
              <a:t>timestamps</a:t>
            </a:r>
          </a:p>
          <a:p>
            <a:pPr marL="12700" marR="5080"/>
            <a:r>
              <a:rPr lang="en-US" sz="1250" kern="0" spc="-80" dirty="0">
                <a:solidFill>
                  <a:schemeClr val="accent6"/>
                </a:solidFill>
              </a:rPr>
              <a:t>Inside:</a:t>
            </a:r>
          </a:p>
          <a:p>
            <a:pPr marL="12700" marR="5080"/>
            <a:r>
              <a:rPr lang="en-US" sz="1250" kern="0" spc="-80" dirty="0">
                <a:solidFill>
                  <a:schemeClr val="accent6"/>
                </a:solidFill>
              </a:rPr>
              <a:t>Keyed State Backend</a:t>
            </a:r>
          </a:p>
          <a:p>
            <a:pPr marL="12700" marR="5080"/>
            <a:r>
              <a:rPr lang="en-US" sz="1250" kern="0" spc="-80" dirty="0">
                <a:solidFill>
                  <a:schemeClr val="accent6"/>
                </a:solidFill>
              </a:rPr>
              <a:t>Usually:</a:t>
            </a:r>
          </a:p>
          <a:p>
            <a:pPr marL="12700" marR="5080"/>
            <a:r>
              <a:rPr lang="en-US" sz="1250" kern="0" spc="-80" dirty="0">
                <a:solidFill>
                  <a:schemeClr val="accent6"/>
                </a:solidFill>
              </a:rPr>
              <a:t>Heap (small jobs)</a:t>
            </a:r>
          </a:p>
          <a:p>
            <a:pPr marL="12700" marR="5080"/>
            <a:r>
              <a:rPr lang="en-US" sz="1250" kern="0" spc="-80" dirty="0" err="1">
                <a:solidFill>
                  <a:schemeClr val="accent6"/>
                </a:solidFill>
              </a:rPr>
              <a:t>RocksDB</a:t>
            </a:r>
            <a:r>
              <a:rPr lang="en-US" sz="1250" kern="0" spc="-80" dirty="0">
                <a:solidFill>
                  <a:schemeClr val="accent6"/>
                </a:solidFill>
              </a:rPr>
              <a:t> (large CEP)</a:t>
            </a:r>
          </a:p>
        </p:txBody>
      </p:sp>
    </p:spTree>
    <p:extLst>
      <p:ext uri="{BB962C8B-B14F-4D97-AF65-F5344CB8AC3E}">
        <p14:creationId xmlns:p14="http://schemas.microsoft.com/office/powerpoint/2010/main" val="18617003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CB1F-64F0-8BF8-880C-077BA123F6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AFE8AC-6C73-0368-C827-398A04AA803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3D06C08-3449-58E1-7C9D-24267CD0CA9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F8E2BDF-4902-4467-3151-A241D249907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54F5B1C-BACB-C5B8-8812-6BD4A241465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69D29C1-C004-47AC-30DE-7A0ABB0D07A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561537D-5B65-5C6A-BDA4-1350C7CB6684}"/>
              </a:ext>
            </a:extLst>
          </p:cNvPr>
          <p:cNvGraphicFramePr/>
          <p:nvPr>
            <p:extLst>
              <p:ext uri="{D42A27DB-BD31-4B8C-83A1-F6EECF244321}">
                <p14:modId xmlns:p14="http://schemas.microsoft.com/office/powerpoint/2010/main" val="2897121379"/>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11AD710-8E1E-BAEB-DE8D-EB411634E5B5}"/>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8C58905A-D37E-78AC-22F1-851CDE3A5DDA}"/>
              </a:ext>
            </a:extLst>
          </p:cNvPr>
          <p:cNvSpPr txBox="1">
            <a:spLocks/>
          </p:cNvSpPr>
          <p:nvPr/>
        </p:nvSpPr>
        <p:spPr>
          <a:xfrm>
            <a:off x="152400" y="762000"/>
            <a:ext cx="8624937" cy="47320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8. State Backend Interaction</a:t>
            </a:r>
          </a:p>
          <a:p>
            <a:pPr marL="12700" marR="5080"/>
            <a:r>
              <a:rPr lang="en-US" sz="1250" kern="0" spc="-80" dirty="0">
                <a:solidFill>
                  <a:schemeClr val="accent2"/>
                </a:solidFill>
              </a:rPr>
              <a:t>Rule:</a:t>
            </a:r>
          </a:p>
          <a:p>
            <a:pPr marL="12700" marR="5080"/>
            <a:r>
              <a:rPr lang="en-US" sz="1250" kern="0" spc="-80" dirty="0">
                <a:solidFill>
                  <a:schemeClr val="accent6"/>
                </a:solidFill>
              </a:rPr>
              <a:t>If pattern window is large → MUST use </a:t>
            </a:r>
            <a:r>
              <a:rPr lang="en-US" sz="1250" kern="0" spc="-80" dirty="0" err="1">
                <a:solidFill>
                  <a:schemeClr val="accent6"/>
                </a:solidFill>
              </a:rPr>
              <a:t>RocksDB</a:t>
            </a:r>
            <a:r>
              <a:rPr lang="en-US" sz="1250" kern="0" spc="-80" dirty="0">
                <a:solidFill>
                  <a:schemeClr val="accent6"/>
                </a:solidFill>
              </a:rPr>
              <a:t>.</a:t>
            </a:r>
          </a:p>
          <a:p>
            <a:pPr marL="12700" marR="5080"/>
            <a:r>
              <a:rPr lang="en-US" sz="1250" kern="0" spc="-80" dirty="0">
                <a:solidFill>
                  <a:schemeClr val="accent6"/>
                </a:solidFill>
              </a:rPr>
              <a:t>Heap will OOM.</a:t>
            </a:r>
          </a:p>
          <a:p>
            <a:pPr marL="12700" marR="5080"/>
            <a:endParaRPr lang="en-US" sz="1250" kern="0" spc="-80" dirty="0">
              <a:solidFill>
                <a:schemeClr val="accent6"/>
              </a:solidFill>
            </a:endParaRPr>
          </a:p>
          <a:p>
            <a:pPr marL="12700" marR="5080"/>
            <a:r>
              <a:rPr lang="en-US" sz="1250" kern="0" spc="-80" dirty="0">
                <a:solidFill>
                  <a:schemeClr val="accent2"/>
                </a:solidFill>
              </a:rPr>
              <a:t>9. Late Events Handling</a:t>
            </a:r>
          </a:p>
          <a:p>
            <a:pPr marL="12700" marR="5080"/>
            <a:r>
              <a:rPr lang="en-US" sz="1250" kern="0" spc="-80" dirty="0">
                <a:solidFill>
                  <a:schemeClr val="accent2"/>
                </a:solidFill>
              </a:rPr>
              <a:t>CEP respects watermarks.</a:t>
            </a:r>
          </a:p>
          <a:p>
            <a:pPr marL="12700" marR="5080"/>
            <a:r>
              <a:rPr lang="en-US" sz="1250" kern="0" spc="-80" dirty="0">
                <a:solidFill>
                  <a:schemeClr val="accent2"/>
                </a:solidFill>
              </a:rPr>
              <a:t>Late events:</a:t>
            </a:r>
          </a:p>
          <a:p>
            <a:pPr marL="12700" marR="5080"/>
            <a:r>
              <a:rPr lang="en-US" sz="1250" kern="0" spc="-80" dirty="0">
                <a:solidFill>
                  <a:schemeClr val="accent6"/>
                </a:solidFill>
              </a:rPr>
              <a:t>ignored</a:t>
            </a:r>
          </a:p>
          <a:p>
            <a:pPr marL="12700" marR="5080"/>
            <a:r>
              <a:rPr lang="en-US" sz="1250" kern="0" spc="-80" dirty="0">
                <a:solidFill>
                  <a:schemeClr val="accent6"/>
                </a:solidFill>
              </a:rPr>
              <a:t>or routed via side output (if configured)</a:t>
            </a:r>
          </a:p>
          <a:p>
            <a:pPr marL="12700" marR="5080"/>
            <a:r>
              <a:rPr lang="en-US" sz="1250" kern="0" spc="-80" dirty="0">
                <a:solidFill>
                  <a:schemeClr val="accent2"/>
                </a:solidFill>
              </a:rPr>
              <a:t>But:</a:t>
            </a:r>
          </a:p>
          <a:p>
            <a:pPr marL="12700" marR="5080"/>
            <a:r>
              <a:rPr lang="en-US" sz="1250" kern="0" spc="-80" dirty="0">
                <a:solidFill>
                  <a:schemeClr val="accent6"/>
                </a:solidFill>
              </a:rPr>
              <a:t>CEP does NOT re-open closed patterns.</a:t>
            </a:r>
          </a:p>
          <a:p>
            <a:pPr marL="12700" marR="5080"/>
            <a:r>
              <a:rPr lang="en-US" sz="1250" kern="0" spc="-80" dirty="0">
                <a:solidFill>
                  <a:schemeClr val="accent6"/>
                </a:solidFill>
              </a:rPr>
              <a:t>Once watermark passes window → done.</a:t>
            </a:r>
          </a:p>
          <a:p>
            <a:pPr marL="12700" marR="5080"/>
            <a:endParaRPr lang="en-US" sz="1250" kern="0" spc="-80" dirty="0">
              <a:solidFill>
                <a:schemeClr val="accent6"/>
              </a:solidFill>
            </a:endParaRPr>
          </a:p>
          <a:p>
            <a:pPr marL="12700" marR="5080"/>
            <a:r>
              <a:rPr lang="en-US" sz="1250" kern="0" spc="-80" dirty="0">
                <a:solidFill>
                  <a:schemeClr val="accent6"/>
                </a:solidFill>
              </a:rPr>
              <a:t>10. Output Modes</a:t>
            </a:r>
          </a:p>
          <a:p>
            <a:pPr marL="12700" marR="5080"/>
            <a:r>
              <a:rPr lang="en-US" sz="1250" kern="0" spc="-80" dirty="0">
                <a:solidFill>
                  <a:schemeClr val="accent6"/>
                </a:solidFill>
              </a:rPr>
              <a:t>select()</a:t>
            </a:r>
          </a:p>
          <a:p>
            <a:pPr marL="12700" marR="5080"/>
            <a:r>
              <a:rPr lang="en-US" sz="1250" kern="0" spc="-80" dirty="0">
                <a:solidFill>
                  <a:schemeClr val="accent6"/>
                </a:solidFill>
              </a:rPr>
              <a:t>Single match → single output.</a:t>
            </a:r>
          </a:p>
          <a:p>
            <a:pPr marL="12700" marR="5080"/>
            <a:r>
              <a:rPr lang="en-US" sz="1250" kern="0" spc="-80" dirty="0" err="1">
                <a:solidFill>
                  <a:schemeClr val="accent6"/>
                </a:solidFill>
              </a:rPr>
              <a:t>flatSelect</a:t>
            </a:r>
            <a:r>
              <a:rPr lang="en-US" sz="1250" kern="0" spc="-80" dirty="0">
                <a:solidFill>
                  <a:schemeClr val="accent6"/>
                </a:solidFill>
              </a:rPr>
              <a:t>()</a:t>
            </a:r>
          </a:p>
          <a:p>
            <a:pPr marL="12700" marR="5080"/>
            <a:r>
              <a:rPr lang="en-US" sz="1250" kern="0" spc="-80" dirty="0">
                <a:solidFill>
                  <a:schemeClr val="accent6"/>
                </a:solidFill>
              </a:rPr>
              <a:t>Single match → multiple outputs.</a:t>
            </a:r>
          </a:p>
          <a:p>
            <a:pPr marL="12700" marR="5080"/>
            <a:r>
              <a:rPr lang="en-US" sz="1250" kern="0" spc="-80" dirty="0">
                <a:solidFill>
                  <a:schemeClr val="accent6"/>
                </a:solidFill>
              </a:rPr>
              <a:t>process()</a:t>
            </a:r>
          </a:p>
          <a:p>
            <a:pPr marL="12700" marR="5080"/>
            <a:r>
              <a:rPr lang="en-US" sz="1250" kern="0" spc="-80" dirty="0">
                <a:solidFill>
                  <a:schemeClr val="accent6"/>
                </a:solidFill>
              </a:rPr>
              <a:t>Low-level access with context + timestamps.</a:t>
            </a:r>
          </a:p>
          <a:p>
            <a:pPr marL="12700" marR="5080"/>
            <a:r>
              <a:rPr lang="en-US" sz="1250" kern="0" spc="-80" dirty="0">
                <a:solidFill>
                  <a:schemeClr val="accent6"/>
                </a:solidFill>
              </a:rPr>
              <a:t>Use for advanced logic.</a:t>
            </a: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8620784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BBCEA-A816-6686-65C3-68A452CB23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D21FF1-294E-26A3-A464-C2E1D69C5AE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9729D2-F531-667C-C176-74A0370582B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715CD809-77EA-8847-3762-2649A21801C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90958F8-1B86-4DAF-B39E-EFF57E08011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0F23CD8-EE61-7A6D-1A04-96CC98FE324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F2F892A-9236-473B-6D47-1C8830E3BBA3}"/>
              </a:ext>
            </a:extLst>
          </p:cNvPr>
          <p:cNvGraphicFramePr/>
          <p:nvPr>
            <p:extLst>
              <p:ext uri="{D42A27DB-BD31-4B8C-83A1-F6EECF244321}">
                <p14:modId xmlns:p14="http://schemas.microsoft.com/office/powerpoint/2010/main" val="1830537128"/>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FF4E7524-EF1D-6A28-BAB2-0F66B00514F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F76DC0DE-C4B6-658D-C5E2-6C90C350C5B0}"/>
              </a:ext>
            </a:extLst>
          </p:cNvPr>
          <p:cNvSpPr txBox="1">
            <a:spLocks/>
          </p:cNvSpPr>
          <p:nvPr/>
        </p:nvSpPr>
        <p:spPr>
          <a:xfrm>
            <a:off x="152400" y="762000"/>
            <a:ext cx="8624937" cy="51167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11. Typical CEP Patterns</a:t>
            </a:r>
          </a:p>
          <a:p>
            <a:pPr marL="12700" marR="5080"/>
            <a:r>
              <a:rPr lang="en-US" sz="1250" kern="0" spc="-80" dirty="0">
                <a:solidFill>
                  <a:schemeClr val="accent6"/>
                </a:solidFill>
              </a:rPr>
              <a:t>Sequence</a:t>
            </a:r>
          </a:p>
          <a:p>
            <a:pPr marL="12700" marR="5080"/>
            <a:r>
              <a:rPr lang="en-US" sz="1250" kern="0" spc="-80" dirty="0">
                <a:solidFill>
                  <a:schemeClr val="accent6"/>
                </a:solidFill>
              </a:rPr>
              <a:t>Login → Failed → Failed → Locked</a:t>
            </a:r>
          </a:p>
          <a:p>
            <a:pPr marL="12700" marR="5080"/>
            <a:r>
              <a:rPr lang="en-US" sz="1250" kern="0" spc="-80" dirty="0">
                <a:solidFill>
                  <a:schemeClr val="accent6"/>
                </a:solidFill>
              </a:rPr>
              <a:t>Absence</a:t>
            </a:r>
          </a:p>
          <a:p>
            <a:pPr marL="12700" marR="5080"/>
            <a:r>
              <a:rPr lang="en-US" sz="1250" kern="0" spc="-80" dirty="0">
                <a:solidFill>
                  <a:schemeClr val="accent6"/>
                </a:solidFill>
              </a:rPr>
              <a:t>Use NOT pattern:</a:t>
            </a:r>
          </a:p>
          <a:p>
            <a:pPr marL="12700" marR="5080"/>
            <a:r>
              <a:rPr lang="en-US" sz="1250" kern="0" spc="-80" dirty="0">
                <a:solidFill>
                  <a:schemeClr val="accent6"/>
                </a:solidFill>
              </a:rPr>
              <a:t>A </a:t>
            </a:r>
            <a:r>
              <a:rPr lang="en-US" sz="1250" kern="0" spc="-80" dirty="0" err="1">
                <a:solidFill>
                  <a:schemeClr val="accent6"/>
                </a:solidFill>
              </a:rPr>
              <a:t>followedBy</a:t>
            </a:r>
            <a:r>
              <a:rPr lang="en-US" sz="1250" kern="0" spc="-80" dirty="0">
                <a:solidFill>
                  <a:schemeClr val="accent6"/>
                </a:solidFill>
              </a:rPr>
              <a:t> NOT B within 5 min</a:t>
            </a:r>
          </a:p>
          <a:p>
            <a:pPr marL="12700" marR="5080"/>
            <a:r>
              <a:rPr lang="en-US" sz="1250" kern="0" spc="-80" dirty="0">
                <a:solidFill>
                  <a:schemeClr val="accent6"/>
                </a:solidFill>
              </a:rPr>
              <a:t>Threshold</a:t>
            </a:r>
          </a:p>
          <a:p>
            <a:pPr marL="12700" marR="5080"/>
            <a:r>
              <a:rPr lang="en-US" sz="1250" kern="0" spc="-80" dirty="0">
                <a:solidFill>
                  <a:schemeClr val="accent6"/>
                </a:solidFill>
              </a:rPr>
              <a:t>Using </a:t>
            </a:r>
            <a:r>
              <a:rPr lang="en-US" sz="1250" kern="0" spc="-80" dirty="0" err="1">
                <a:solidFill>
                  <a:schemeClr val="accent6"/>
                </a:solidFill>
              </a:rPr>
              <a:t>IterativeCondition</a:t>
            </a:r>
            <a:r>
              <a:rPr lang="en-US" sz="1250" kern="0" spc="-80" dirty="0">
                <a:solidFill>
                  <a:schemeClr val="accent6"/>
                </a:solidFill>
              </a:rPr>
              <a:t>.</a:t>
            </a:r>
          </a:p>
          <a:p>
            <a:pPr marL="12700" marR="5080"/>
            <a:r>
              <a:rPr lang="en-US" sz="1250" kern="0" spc="-80" dirty="0">
                <a:solidFill>
                  <a:schemeClr val="accent6"/>
                </a:solidFill>
              </a:rPr>
              <a:t>Rate limiting</a:t>
            </a:r>
          </a:p>
          <a:p>
            <a:pPr marL="12700" marR="5080"/>
            <a:r>
              <a:rPr lang="en-US" sz="1250" kern="0" spc="-80" dirty="0">
                <a:solidFill>
                  <a:schemeClr val="accent6"/>
                </a:solidFill>
              </a:rPr>
              <a:t>times(n).within()</a:t>
            </a:r>
          </a:p>
          <a:p>
            <a:pPr marL="12700" marR="5080"/>
            <a:r>
              <a:rPr lang="en-US" sz="1250" kern="0" spc="-80" dirty="0">
                <a:solidFill>
                  <a:schemeClr val="accent6"/>
                </a:solidFill>
              </a:rPr>
              <a:t>Fraud chains</a:t>
            </a:r>
          </a:p>
          <a:p>
            <a:pPr marL="12700" marR="5080"/>
            <a:r>
              <a:rPr lang="en-US" sz="1250" kern="0" spc="-80" dirty="0">
                <a:solidFill>
                  <a:schemeClr val="accent6"/>
                </a:solidFill>
              </a:rPr>
              <a:t>Multi-stage patterns.</a:t>
            </a:r>
          </a:p>
          <a:p>
            <a:pPr marL="12700" marR="5080"/>
            <a:endParaRPr lang="en-US" sz="1250" kern="0" spc="-80" dirty="0">
              <a:solidFill>
                <a:schemeClr val="accent6"/>
              </a:solidFill>
            </a:endParaRPr>
          </a:p>
          <a:p>
            <a:pPr marL="12700" marR="5080"/>
            <a:r>
              <a:rPr lang="en-US" sz="1250" kern="0" spc="-80" dirty="0">
                <a:solidFill>
                  <a:schemeClr val="accent2"/>
                </a:solidFill>
              </a:rPr>
              <a:t>12. Production Gotchas (REAL WORLD)</a:t>
            </a:r>
          </a:p>
          <a:p>
            <a:pPr marL="12700" marR="5080"/>
            <a:r>
              <a:rPr lang="en-US" sz="1250" kern="0" spc="-80" dirty="0">
                <a:solidFill>
                  <a:schemeClr val="accent6"/>
                </a:solidFill>
              </a:rPr>
              <a:t>⚠️ 1. Missing </a:t>
            </a:r>
            <a:r>
              <a:rPr lang="en-US" sz="1250" kern="0" spc="-80" dirty="0" err="1">
                <a:solidFill>
                  <a:schemeClr val="accent6"/>
                </a:solidFill>
              </a:rPr>
              <a:t>keyBy</a:t>
            </a:r>
            <a:r>
              <a:rPr lang="en-US" sz="1250" kern="0" spc="-80" dirty="0">
                <a:solidFill>
                  <a:schemeClr val="accent6"/>
                </a:solidFill>
              </a:rPr>
              <a:t>()</a:t>
            </a:r>
          </a:p>
          <a:p>
            <a:pPr marL="12700" marR="5080"/>
            <a:r>
              <a:rPr lang="en-US" sz="1250" kern="0" spc="-80" dirty="0">
                <a:solidFill>
                  <a:schemeClr val="accent6"/>
                </a:solidFill>
              </a:rPr>
              <a:t>Creates global NFA.</a:t>
            </a:r>
          </a:p>
          <a:p>
            <a:pPr marL="12700" marR="5080"/>
            <a:r>
              <a:rPr lang="en-US" sz="1250" kern="0" spc="-80" dirty="0">
                <a:solidFill>
                  <a:schemeClr val="accent6"/>
                </a:solidFill>
              </a:rPr>
              <a:t>Instant disaster.</a:t>
            </a:r>
          </a:p>
          <a:p>
            <a:pPr marL="12700" marR="5080"/>
            <a:r>
              <a:rPr lang="en-US" sz="1250" kern="0" spc="-80" dirty="0">
                <a:solidFill>
                  <a:schemeClr val="accent6"/>
                </a:solidFill>
              </a:rPr>
              <a:t>⚠️ 2. Using </a:t>
            </a:r>
            <a:r>
              <a:rPr lang="en-US" sz="1250" kern="0" spc="-80" dirty="0" err="1">
                <a:solidFill>
                  <a:schemeClr val="accent6"/>
                </a:solidFill>
              </a:rPr>
              <a:t>followedByAny</a:t>
            </a:r>
            <a:r>
              <a:rPr lang="en-US" sz="1250" kern="0" spc="-80" dirty="0">
                <a:solidFill>
                  <a:schemeClr val="accent6"/>
                </a:solidFill>
              </a:rPr>
              <a:t> blindly</a:t>
            </a:r>
          </a:p>
          <a:p>
            <a:pPr marL="12700" marR="5080"/>
            <a:r>
              <a:rPr lang="en-US" sz="1250" kern="0" spc="-80" dirty="0">
                <a:solidFill>
                  <a:schemeClr val="accent6"/>
                </a:solidFill>
              </a:rPr>
              <a:t>State explosion.</a:t>
            </a:r>
          </a:p>
          <a:p>
            <a:pPr marL="12700" marR="5080"/>
            <a:r>
              <a:rPr lang="en-US" sz="1250" kern="0" spc="-80" dirty="0">
                <a:solidFill>
                  <a:schemeClr val="accent6"/>
                </a:solidFill>
              </a:rPr>
              <a:t>⚠️ 3. Large within()</a:t>
            </a:r>
          </a:p>
          <a:p>
            <a:pPr marL="12700" marR="5080"/>
            <a:r>
              <a:rPr lang="en-US" sz="1250" kern="0" spc="-80" dirty="0">
                <a:solidFill>
                  <a:schemeClr val="accent6"/>
                </a:solidFill>
              </a:rPr>
              <a:t>Means long-lived state.</a:t>
            </a:r>
          </a:p>
          <a:p>
            <a:pPr marL="12700" marR="5080"/>
            <a:r>
              <a:rPr lang="en-US" sz="1250" kern="0" spc="-80" dirty="0">
                <a:solidFill>
                  <a:schemeClr val="accent6"/>
                </a:solidFill>
              </a:rPr>
              <a:t>Memory grows linearly with input.</a:t>
            </a:r>
          </a:p>
          <a:p>
            <a:pPr marL="12700" marR="5080"/>
            <a:r>
              <a:rPr lang="en-US" sz="1250" kern="0" spc="-80" dirty="0">
                <a:solidFill>
                  <a:schemeClr val="accent6"/>
                </a:solidFill>
              </a:rPr>
              <a:t>⚠️ 4. </a:t>
            </a:r>
            <a:r>
              <a:rPr lang="en-US" sz="1250" kern="0" spc="-80" dirty="0" err="1">
                <a:solidFill>
                  <a:schemeClr val="accent6"/>
                </a:solidFill>
              </a:rPr>
              <a:t>IterativeCondition</a:t>
            </a:r>
            <a:r>
              <a:rPr lang="en-US" sz="1250" kern="0" spc="-80" dirty="0">
                <a:solidFill>
                  <a:schemeClr val="accent6"/>
                </a:solidFill>
              </a:rPr>
              <a:t> abuse</a:t>
            </a:r>
          </a:p>
          <a:p>
            <a:pPr marL="12700" marR="5080"/>
            <a:r>
              <a:rPr lang="en-US" sz="1250" kern="0" spc="-80" dirty="0">
                <a:solidFill>
                  <a:schemeClr val="accent6"/>
                </a:solidFill>
              </a:rPr>
              <a:t>Each evaluation loops previous matches.</a:t>
            </a:r>
          </a:p>
          <a:p>
            <a:pPr marL="12700" marR="5080"/>
            <a:r>
              <a:rPr lang="en-US" sz="1250" kern="0" spc="-80" dirty="0">
                <a:solidFill>
                  <a:schemeClr val="accent6"/>
                </a:solidFill>
              </a:rPr>
              <a:t>CPU killer.</a:t>
            </a:r>
          </a:p>
        </p:txBody>
      </p:sp>
    </p:spTree>
    <p:extLst>
      <p:ext uri="{BB962C8B-B14F-4D97-AF65-F5344CB8AC3E}">
        <p14:creationId xmlns:p14="http://schemas.microsoft.com/office/powerpoint/2010/main" val="6048175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C5D1A-D15A-5691-631E-2D496BA232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BFBCD7-9C0C-9EF2-D2BF-A7F745C809A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C82053-37BB-B603-C528-1CB6B94A34D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97DACDF-3F24-3407-044E-1BC00BF998D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7263B96-395D-E453-1C3E-DE214D6D413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97ED450-A089-A573-88D5-EB296D5AA1D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7C374586-B369-8D39-77C5-A816EF9EB1E8}"/>
              </a:ext>
            </a:extLst>
          </p:cNvPr>
          <p:cNvGraphicFramePr/>
          <p:nvPr>
            <p:extLst>
              <p:ext uri="{D42A27DB-BD31-4B8C-83A1-F6EECF244321}">
                <p14:modId xmlns:p14="http://schemas.microsoft.com/office/powerpoint/2010/main" val="459881713"/>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A7A15DD3-729A-4C89-D3F2-F55010BA69AD}"/>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D5A1C41C-3610-7C4D-C790-928ECBE99B5B}"/>
              </a:ext>
            </a:extLst>
          </p:cNvPr>
          <p:cNvSpPr txBox="1">
            <a:spLocks/>
          </p:cNvSpPr>
          <p:nvPr/>
        </p:nvSpPr>
        <p:spPr>
          <a:xfrm>
            <a:off x="152400" y="762000"/>
            <a:ext cx="8624937" cy="51167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12. Production Gotchas (REAL WORLD)</a:t>
            </a:r>
          </a:p>
          <a:p>
            <a:pPr marL="12700" marR="5080"/>
            <a:r>
              <a:rPr lang="en-US" sz="1250" kern="0" spc="-80" dirty="0">
                <a:solidFill>
                  <a:schemeClr val="accent6"/>
                </a:solidFill>
              </a:rPr>
              <a:t>⚠️ 5. No </a:t>
            </a:r>
            <a:r>
              <a:rPr lang="en-US" sz="1250" kern="0" spc="-80" dirty="0" err="1">
                <a:solidFill>
                  <a:schemeClr val="accent6"/>
                </a:solidFill>
              </a:rPr>
              <a:t>AfterMatchSkipStrategy</a:t>
            </a:r>
            <a:endParaRPr lang="en-US" sz="1250" kern="0" spc="-80" dirty="0">
              <a:solidFill>
                <a:schemeClr val="accent6"/>
              </a:solidFill>
            </a:endParaRPr>
          </a:p>
          <a:p>
            <a:pPr marL="12700" marR="5080"/>
            <a:r>
              <a:rPr lang="en-US" sz="1250" kern="0" spc="-80" dirty="0">
                <a:solidFill>
                  <a:schemeClr val="accent6"/>
                </a:solidFill>
              </a:rPr>
              <a:t>Duplicate alerts everywhere.</a:t>
            </a:r>
          </a:p>
          <a:p>
            <a:pPr marL="12700" marR="5080"/>
            <a:r>
              <a:rPr lang="en-US" sz="1250" kern="0" spc="-80" dirty="0">
                <a:solidFill>
                  <a:schemeClr val="accent6"/>
                </a:solidFill>
              </a:rPr>
              <a:t>⚠️ 6. Forgetting watermarks</a:t>
            </a:r>
          </a:p>
          <a:p>
            <a:pPr marL="12700" marR="5080"/>
            <a:r>
              <a:rPr lang="en-US" sz="1250" kern="0" spc="-80" dirty="0">
                <a:solidFill>
                  <a:schemeClr val="accent6"/>
                </a:solidFill>
              </a:rPr>
              <a:t>Patterns never complete.</a:t>
            </a:r>
          </a:p>
          <a:p>
            <a:pPr marL="12700" marR="5080"/>
            <a:r>
              <a:rPr lang="en-US" sz="1250" kern="0" spc="-80" dirty="0">
                <a:solidFill>
                  <a:schemeClr val="accent6"/>
                </a:solidFill>
              </a:rPr>
              <a:t>⚠️ 7. Optional + looping quantifiers</a:t>
            </a:r>
          </a:p>
          <a:p>
            <a:pPr marL="12700" marR="5080"/>
            <a:r>
              <a:rPr lang="en-US" sz="1250" kern="0" spc="-80" dirty="0">
                <a:solidFill>
                  <a:schemeClr val="accent6"/>
                </a:solidFill>
              </a:rPr>
              <a:t>Creates infinite paths.</a:t>
            </a:r>
          </a:p>
          <a:p>
            <a:pPr marL="12700" marR="5080"/>
            <a:endParaRPr lang="en-US" sz="1250" kern="0" spc="-80" dirty="0">
              <a:solidFill>
                <a:schemeClr val="accent6"/>
              </a:solidFill>
            </a:endParaRPr>
          </a:p>
          <a:p>
            <a:pPr marL="12700" marR="5080"/>
            <a:r>
              <a:rPr lang="en-US" sz="1250" kern="0" spc="-80" dirty="0">
                <a:solidFill>
                  <a:schemeClr val="accent2"/>
                </a:solidFill>
              </a:rPr>
              <a:t>13. Performance Techniques</a:t>
            </a:r>
          </a:p>
          <a:p>
            <a:pPr marL="12700" marR="5080"/>
            <a:r>
              <a:rPr lang="en-US" sz="1250" kern="0" spc="-80" dirty="0">
                <a:solidFill>
                  <a:schemeClr val="accent6"/>
                </a:solidFill>
              </a:rPr>
              <a:t>✅ Always </a:t>
            </a:r>
            <a:r>
              <a:rPr lang="en-US" sz="1250" kern="0" spc="-80" dirty="0" err="1">
                <a:solidFill>
                  <a:schemeClr val="accent6"/>
                </a:solidFill>
              </a:rPr>
              <a:t>keyBy</a:t>
            </a:r>
            <a:endParaRPr lang="en-US" sz="1250" kern="0" spc="-80" dirty="0">
              <a:solidFill>
                <a:schemeClr val="accent6"/>
              </a:solidFill>
            </a:endParaRPr>
          </a:p>
          <a:p>
            <a:pPr marL="12700" marR="5080"/>
            <a:r>
              <a:rPr lang="en-US" sz="1250" kern="0" spc="-80" dirty="0">
                <a:solidFill>
                  <a:schemeClr val="accent6"/>
                </a:solidFill>
              </a:rPr>
              <a:t>✅ Use </a:t>
            </a:r>
            <a:r>
              <a:rPr lang="en-US" sz="1250" kern="0" spc="-80" dirty="0" err="1">
                <a:solidFill>
                  <a:schemeClr val="accent6"/>
                </a:solidFill>
              </a:rPr>
              <a:t>skipPastLastEvent</a:t>
            </a:r>
            <a:endParaRPr lang="en-US" sz="1250" kern="0" spc="-80" dirty="0">
              <a:solidFill>
                <a:schemeClr val="accent6"/>
              </a:solidFill>
            </a:endParaRPr>
          </a:p>
          <a:p>
            <a:pPr marL="12700" marR="5080"/>
            <a:r>
              <a:rPr lang="en-US" sz="1250" kern="0" spc="-80" dirty="0">
                <a:solidFill>
                  <a:schemeClr val="accent6"/>
                </a:solidFill>
              </a:rPr>
              <a:t>✅ Limit </a:t>
            </a:r>
            <a:r>
              <a:rPr lang="en-US" sz="1250" kern="0" spc="-80" dirty="0" err="1">
                <a:solidFill>
                  <a:schemeClr val="accent6"/>
                </a:solidFill>
              </a:rPr>
              <a:t>followedByAny</a:t>
            </a:r>
            <a:endParaRPr lang="en-US" sz="1250" kern="0" spc="-80" dirty="0">
              <a:solidFill>
                <a:schemeClr val="accent6"/>
              </a:solidFill>
            </a:endParaRPr>
          </a:p>
          <a:p>
            <a:pPr marL="12700" marR="5080"/>
            <a:r>
              <a:rPr lang="en-US" sz="1250" kern="0" spc="-80" dirty="0">
                <a:solidFill>
                  <a:schemeClr val="accent6"/>
                </a:solidFill>
              </a:rPr>
              <a:t>✅ Prefer </a:t>
            </a:r>
            <a:r>
              <a:rPr lang="en-US" sz="1250" kern="0" spc="-80" dirty="0" err="1">
                <a:solidFill>
                  <a:schemeClr val="accent6"/>
                </a:solidFill>
              </a:rPr>
              <a:t>SimpleCondition</a:t>
            </a:r>
            <a:endParaRPr lang="en-US" sz="1250" kern="0" spc="-80" dirty="0">
              <a:solidFill>
                <a:schemeClr val="accent6"/>
              </a:solidFill>
            </a:endParaRPr>
          </a:p>
          <a:p>
            <a:pPr marL="12700" marR="5080"/>
            <a:r>
              <a:rPr lang="en-US" sz="1250" kern="0" spc="-80" dirty="0">
                <a:solidFill>
                  <a:schemeClr val="accent6"/>
                </a:solidFill>
              </a:rPr>
              <a:t>✅ Keep within tight</a:t>
            </a:r>
          </a:p>
          <a:p>
            <a:pPr marL="12700" marR="5080"/>
            <a:r>
              <a:rPr lang="en-US" sz="1250" kern="0" spc="-80" dirty="0">
                <a:solidFill>
                  <a:schemeClr val="accent6"/>
                </a:solidFill>
              </a:rPr>
              <a:t>✅ Use </a:t>
            </a:r>
            <a:r>
              <a:rPr lang="en-US" sz="1250" kern="0" spc="-80" dirty="0" err="1">
                <a:solidFill>
                  <a:schemeClr val="accent6"/>
                </a:solidFill>
              </a:rPr>
              <a:t>RocksDB</a:t>
            </a:r>
            <a:r>
              <a:rPr lang="en-US" sz="1250" kern="0" spc="-80" dirty="0">
                <a:solidFill>
                  <a:schemeClr val="accent6"/>
                </a:solidFill>
              </a:rPr>
              <a:t> for large windows</a:t>
            </a:r>
          </a:p>
          <a:p>
            <a:pPr marL="12700" marR="5080"/>
            <a:r>
              <a:rPr lang="en-US" sz="1250" kern="0" spc="-80" dirty="0">
                <a:solidFill>
                  <a:schemeClr val="accent6"/>
                </a:solidFill>
              </a:rPr>
              <a:t>✅ Avoid </a:t>
            </a:r>
            <a:r>
              <a:rPr lang="en-US" sz="1250" kern="0" spc="-80" dirty="0" err="1">
                <a:solidFill>
                  <a:schemeClr val="accent6"/>
                </a:solidFill>
              </a:rPr>
              <a:t>allowCombinations</a:t>
            </a:r>
            <a:endParaRPr lang="en-US" sz="1250" kern="0" spc="-80" dirty="0">
              <a:solidFill>
                <a:schemeClr val="accent6"/>
              </a:solidFill>
            </a:endParaRPr>
          </a:p>
          <a:p>
            <a:pPr marL="12700" marR="5080"/>
            <a:r>
              <a:rPr lang="en-US" sz="1250" kern="0" spc="-80" dirty="0">
                <a:solidFill>
                  <a:schemeClr val="accent6"/>
                </a:solidFill>
              </a:rPr>
              <a:t>✅ Filter early BEFORE CEP</a:t>
            </a:r>
          </a:p>
          <a:p>
            <a:pPr marL="12700" marR="5080"/>
            <a:endParaRPr lang="en-US" sz="1250" kern="0" spc="-80" dirty="0">
              <a:solidFill>
                <a:schemeClr val="accent6"/>
              </a:solidFill>
            </a:endParaRPr>
          </a:p>
          <a:p>
            <a:pPr marL="12700" marR="5080"/>
            <a:r>
              <a:rPr lang="en-US" sz="1250" kern="0" spc="-80" dirty="0">
                <a:solidFill>
                  <a:schemeClr val="accent2"/>
                </a:solidFill>
              </a:rPr>
              <a:t>14. Debugging CEP</a:t>
            </a:r>
          </a:p>
          <a:p>
            <a:pPr marL="12700" marR="5080"/>
            <a:r>
              <a:rPr lang="en-US" sz="1250" kern="0" spc="-80" dirty="0">
                <a:solidFill>
                  <a:schemeClr val="accent2"/>
                </a:solidFill>
              </a:rPr>
              <a:t>Enable:</a:t>
            </a:r>
          </a:p>
          <a:p>
            <a:pPr marL="12700" marR="5080"/>
            <a:r>
              <a:rPr lang="en-US" sz="1250" kern="0" spc="-80" dirty="0" err="1">
                <a:solidFill>
                  <a:schemeClr val="accent6"/>
                </a:solidFill>
              </a:rPr>
              <a:t>execution.checkpointing.debug</a:t>
            </a:r>
            <a:endParaRPr lang="en-US" sz="1250" kern="0" spc="-80" dirty="0">
              <a:solidFill>
                <a:schemeClr val="accent6"/>
              </a:solidFill>
            </a:endParaRPr>
          </a:p>
          <a:p>
            <a:pPr marL="12700" marR="5080"/>
            <a:r>
              <a:rPr lang="en-US" sz="1250" kern="0" spc="-80" dirty="0">
                <a:solidFill>
                  <a:schemeClr val="accent2"/>
                </a:solidFill>
              </a:rPr>
              <a:t>Also:</a:t>
            </a:r>
          </a:p>
          <a:p>
            <a:pPr marL="12700" marR="5080"/>
            <a:r>
              <a:rPr lang="en-US" sz="1250" kern="0" spc="-80" dirty="0">
                <a:solidFill>
                  <a:schemeClr val="accent6"/>
                </a:solidFill>
              </a:rPr>
              <a:t>inspect state size</a:t>
            </a:r>
          </a:p>
          <a:p>
            <a:pPr marL="12700" marR="5080"/>
            <a:r>
              <a:rPr lang="en-US" sz="1250" kern="0" spc="-80" dirty="0">
                <a:solidFill>
                  <a:schemeClr val="accent6"/>
                </a:solidFill>
              </a:rPr>
              <a:t>log matched paths</a:t>
            </a:r>
          </a:p>
          <a:p>
            <a:pPr marL="12700" marR="5080"/>
            <a:r>
              <a:rPr lang="en-US" sz="1250" kern="0" spc="-80" dirty="0">
                <a:solidFill>
                  <a:schemeClr val="accent6"/>
                </a:solidFill>
              </a:rPr>
              <a:t>test patterns with small streams</a:t>
            </a:r>
          </a:p>
        </p:txBody>
      </p:sp>
    </p:spTree>
    <p:extLst>
      <p:ext uri="{BB962C8B-B14F-4D97-AF65-F5344CB8AC3E}">
        <p14:creationId xmlns:p14="http://schemas.microsoft.com/office/powerpoint/2010/main" val="36462940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105A-C955-ED78-2267-5EA75C3454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86575A-1140-AD49-A4AE-C8CCDA91D341}"/>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79A5131-4FE4-529A-DFDB-825D4C4E7104}"/>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8A7C8FF-A3C4-7319-C291-BD36F8B8C28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35FA9DB-CA74-5303-24D9-4C20E3395A6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81288C8-01D3-6877-8496-804D2FECD51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1F09BF14-DB60-7AEB-627F-8EC555F7FF75}"/>
              </a:ext>
            </a:extLst>
          </p:cNvPr>
          <p:cNvGraphicFramePr/>
          <p:nvPr>
            <p:extLst>
              <p:ext uri="{D42A27DB-BD31-4B8C-83A1-F6EECF244321}">
                <p14:modId xmlns:p14="http://schemas.microsoft.com/office/powerpoint/2010/main" val="514389191"/>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A8143447-739D-AA5B-7327-CB2A278576EE}"/>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CB8FE897-61F4-AB4F-E623-0E118D3F4E18}"/>
              </a:ext>
            </a:extLst>
          </p:cNvPr>
          <p:cNvSpPr txBox="1">
            <a:spLocks/>
          </p:cNvSpPr>
          <p:nvPr/>
        </p:nvSpPr>
        <p:spPr>
          <a:xfrm>
            <a:off x="152400" y="762000"/>
            <a:ext cx="8624937" cy="456278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 Apache Flink CEP</a:t>
            </a:r>
          </a:p>
          <a:p>
            <a:pPr marL="12700" marR="5080"/>
            <a:r>
              <a:rPr lang="en-US" sz="1250" kern="0" spc="-80" dirty="0">
                <a:solidFill>
                  <a:schemeClr val="accent2"/>
                </a:solidFill>
              </a:rPr>
              <a:t>15. Design Rules of Thumb</a:t>
            </a:r>
          </a:p>
          <a:p>
            <a:pPr marL="12700" marR="5080"/>
            <a:r>
              <a:rPr lang="en-US" sz="1250" kern="0" spc="-80" dirty="0">
                <a:solidFill>
                  <a:schemeClr val="accent6"/>
                </a:solidFill>
              </a:rPr>
              <a:t>Think in automata, not SQL.</a:t>
            </a:r>
          </a:p>
          <a:p>
            <a:pPr marL="12700" marR="5080"/>
            <a:r>
              <a:rPr lang="en-US" sz="1250" kern="0" spc="-80" dirty="0">
                <a:solidFill>
                  <a:schemeClr val="accent6"/>
                </a:solidFill>
              </a:rPr>
              <a:t>CEP is NOT a join engine.</a:t>
            </a:r>
          </a:p>
          <a:p>
            <a:pPr marL="12700" marR="5080"/>
            <a:r>
              <a:rPr lang="en-US" sz="1250" kern="0" spc="-80" dirty="0">
                <a:solidFill>
                  <a:schemeClr val="accent6"/>
                </a:solidFill>
              </a:rPr>
              <a:t>CEP is NOT batch analytics.</a:t>
            </a:r>
          </a:p>
          <a:p>
            <a:pPr marL="12700" marR="5080"/>
            <a:r>
              <a:rPr lang="en-US" sz="1250" kern="0" spc="-80" dirty="0">
                <a:solidFill>
                  <a:schemeClr val="accent2"/>
                </a:solidFill>
              </a:rPr>
              <a:t>CEP excels at:</a:t>
            </a:r>
          </a:p>
          <a:p>
            <a:pPr marL="12700" marR="5080"/>
            <a:r>
              <a:rPr lang="en-US" sz="1250" kern="0" spc="-80" dirty="0">
                <a:solidFill>
                  <a:schemeClr val="accent6"/>
                </a:solidFill>
              </a:rPr>
              <a:t>sequences</a:t>
            </a:r>
          </a:p>
          <a:p>
            <a:pPr marL="12700" marR="5080"/>
            <a:r>
              <a:rPr lang="en-US" sz="1250" kern="0" spc="-80" dirty="0">
                <a:solidFill>
                  <a:schemeClr val="accent6"/>
                </a:solidFill>
              </a:rPr>
              <a:t>temporal correlations</a:t>
            </a:r>
          </a:p>
          <a:p>
            <a:pPr marL="12700" marR="5080"/>
            <a:r>
              <a:rPr lang="en-US" sz="1250" kern="0" spc="-80" dirty="0">
                <a:solidFill>
                  <a:schemeClr val="accent6"/>
                </a:solidFill>
              </a:rPr>
              <a:t>behavioral detection</a:t>
            </a:r>
          </a:p>
          <a:p>
            <a:pPr marL="12700" marR="5080"/>
            <a:endParaRPr lang="en-US" sz="1250" kern="0" spc="-80" dirty="0">
              <a:solidFill>
                <a:schemeClr val="accent6"/>
              </a:solidFill>
            </a:endParaRPr>
          </a:p>
          <a:p>
            <a:pPr marL="12700" marR="5080"/>
            <a:r>
              <a:rPr lang="en-US" sz="1250" kern="0" spc="-80" dirty="0">
                <a:solidFill>
                  <a:schemeClr val="accent2"/>
                </a:solidFill>
              </a:rPr>
              <a:t>16. CEP vs SQL</a:t>
            </a:r>
          </a:p>
          <a:p>
            <a:pPr marL="12700" marR="5080"/>
            <a:r>
              <a:rPr lang="en-US" sz="1250" kern="0" spc="-80" dirty="0">
                <a:solidFill>
                  <a:schemeClr val="accent6"/>
                </a:solidFill>
              </a:rPr>
              <a:t>CEP:</a:t>
            </a:r>
          </a:p>
          <a:p>
            <a:pPr marL="12700" marR="5080"/>
            <a:r>
              <a:rPr lang="en-US" sz="1250" kern="0" spc="-80" dirty="0">
                <a:solidFill>
                  <a:schemeClr val="accent6"/>
                </a:solidFill>
              </a:rPr>
              <a:t>✔ Ordered</a:t>
            </a:r>
          </a:p>
          <a:p>
            <a:pPr marL="12700" marR="5080"/>
            <a:r>
              <a:rPr lang="en-US" sz="1250" kern="0" spc="-80" dirty="0">
                <a:solidFill>
                  <a:schemeClr val="accent6"/>
                </a:solidFill>
              </a:rPr>
              <a:t>✔ Stateful</a:t>
            </a:r>
          </a:p>
          <a:p>
            <a:pPr marL="12700" marR="5080"/>
            <a:r>
              <a:rPr lang="en-US" sz="1250" kern="0" spc="-80" dirty="0">
                <a:solidFill>
                  <a:schemeClr val="accent6"/>
                </a:solidFill>
              </a:rPr>
              <a:t>✔ Temporal</a:t>
            </a:r>
          </a:p>
          <a:p>
            <a:pPr marL="12700" marR="5080"/>
            <a:r>
              <a:rPr lang="en-US" sz="1250" kern="0" spc="-80" dirty="0">
                <a:solidFill>
                  <a:schemeClr val="accent6"/>
                </a:solidFill>
              </a:rPr>
              <a:t>SQL:</a:t>
            </a:r>
          </a:p>
          <a:p>
            <a:pPr marL="12700" marR="5080"/>
            <a:r>
              <a:rPr lang="en-US" sz="1250" kern="0" spc="-80" dirty="0">
                <a:solidFill>
                  <a:schemeClr val="accent6"/>
                </a:solidFill>
              </a:rPr>
              <a:t>✔ Relational</a:t>
            </a:r>
          </a:p>
          <a:p>
            <a:pPr marL="12700" marR="5080"/>
            <a:r>
              <a:rPr lang="en-US" sz="1250" kern="0" spc="-80" dirty="0">
                <a:solidFill>
                  <a:schemeClr val="accent6"/>
                </a:solidFill>
              </a:rPr>
              <a:t>✔ Set-based</a:t>
            </a:r>
          </a:p>
          <a:p>
            <a:pPr marL="12700" marR="5080"/>
            <a:r>
              <a:rPr lang="en-US" sz="1250" kern="0" spc="-80" dirty="0">
                <a:solidFill>
                  <a:schemeClr val="accent6"/>
                </a:solidFill>
              </a:rPr>
              <a:t>Use CEP only for temporal logic.</a:t>
            </a:r>
          </a:p>
          <a:p>
            <a:pPr marL="12700" marR="5080"/>
            <a:endParaRPr lang="en-US" sz="1250" kern="0" spc="-80" dirty="0">
              <a:solidFill>
                <a:schemeClr val="accent6"/>
              </a:solidFill>
            </a:endParaRPr>
          </a:p>
          <a:p>
            <a:pPr marL="12700" marR="5080"/>
            <a:r>
              <a:rPr lang="en-US" sz="1700" kern="0" spc="-80" dirty="0">
                <a:solidFill>
                  <a:schemeClr val="accent2"/>
                </a:solidFill>
              </a:rPr>
              <a:t>🧩 Summary Mental Model</a:t>
            </a:r>
          </a:p>
          <a:p>
            <a:pPr marL="12700" marR="5080"/>
            <a:r>
              <a:rPr lang="en-US" sz="1100" kern="0" spc="-80" dirty="0">
                <a:solidFill>
                  <a:schemeClr val="accent6"/>
                </a:solidFill>
              </a:rPr>
              <a:t>Keyed Stream -- &gt; Per-key NFA  </a:t>
            </a:r>
            <a:r>
              <a:rPr lang="en-US" sz="1100" kern="0" spc="-80" dirty="0">
                <a:solidFill>
                  <a:schemeClr val="accent6"/>
                </a:solidFill>
                <a:sym typeface="Wingdings" panose="05000000000000000000" pitchFamily="2" charset="2"/>
              </a:rPr>
              <a:t> </a:t>
            </a:r>
            <a:r>
              <a:rPr lang="en-US" sz="1100" kern="0" spc="-80" dirty="0">
                <a:solidFill>
                  <a:schemeClr val="accent6"/>
                </a:solidFill>
              </a:rPr>
              <a:t>Partial Matches --&gt;  Timers + State </a:t>
            </a:r>
            <a:r>
              <a:rPr lang="en-US" sz="1100" kern="0" spc="-80" dirty="0">
                <a:solidFill>
                  <a:schemeClr val="accent6"/>
                </a:solidFill>
                <a:sym typeface="Wingdings" panose="05000000000000000000" pitchFamily="2" charset="2"/>
              </a:rPr>
              <a:t>  </a:t>
            </a:r>
            <a:r>
              <a:rPr lang="en-US" sz="1100" kern="0" spc="-80" dirty="0">
                <a:solidFill>
                  <a:schemeClr val="accent6"/>
                </a:solidFill>
              </a:rPr>
              <a:t>Select / Alert</a:t>
            </a:r>
          </a:p>
          <a:p>
            <a:pPr marL="12700" marR="5080"/>
            <a:endParaRPr lang="en-US" sz="1100" kern="0" spc="-80" dirty="0">
              <a:solidFill>
                <a:schemeClr val="accent6"/>
              </a:solidFill>
            </a:endParaRPr>
          </a:p>
        </p:txBody>
      </p:sp>
    </p:spTree>
    <p:extLst>
      <p:ext uri="{BB962C8B-B14F-4D97-AF65-F5344CB8AC3E}">
        <p14:creationId xmlns:p14="http://schemas.microsoft.com/office/powerpoint/2010/main" val="38082907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95AC-6D1B-F4FA-86CE-8739606359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1D8516-FF29-86D8-3A3E-FCDC6108431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5CF815-497C-A335-2910-B28C48FD9F0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AE37A5F-53C1-E703-3A84-61095671DD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C7ABE67-D6E4-A7D6-8E42-BD038DB3319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8B21E11-1F04-54EB-8A97-E6F82C53FBC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F331BB96-9D2E-07B9-F229-B441B2185998}"/>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CB9A077-C549-E252-5DDC-C5E709A2AF6E}"/>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D47F17EE-477B-3C26-C7F3-8F8342899A2B}"/>
              </a:ext>
            </a:extLst>
          </p:cNvPr>
          <p:cNvSpPr txBox="1">
            <a:spLocks/>
          </p:cNvSpPr>
          <p:nvPr/>
        </p:nvSpPr>
        <p:spPr>
          <a:xfrm>
            <a:off x="152400" y="762000"/>
            <a:ext cx="8624937" cy="8848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Late Arriving Data Handling Techniques</a:t>
            </a:r>
          </a:p>
          <a:p>
            <a:pPr marL="12700" marR="5080"/>
            <a:r>
              <a:rPr lang="en-US" sz="1250" kern="0" spc="-80" dirty="0">
                <a:solidFill>
                  <a:schemeClr val="accent6"/>
                </a:solidFill>
              </a:rPr>
              <a:t>Late-arriving messages (data that arrives after its scheduled processing window or out-of-order) are a common issue in distributed, high-throughput systems like Apache Kafka, RabbitMQ, and streaming frameworks (Flink, Spark). Techniques to manage this involve a tradeoff between data completeness (accuracy) and latency (speed). </a:t>
            </a:r>
          </a:p>
        </p:txBody>
      </p:sp>
      <p:pic>
        <p:nvPicPr>
          <p:cNvPr id="10" name="Picture 9">
            <a:extLst>
              <a:ext uri="{FF2B5EF4-FFF2-40B4-BE49-F238E27FC236}">
                <a16:creationId xmlns:a16="http://schemas.microsoft.com/office/drawing/2014/main" id="{2373B8B0-1015-03CA-D4CD-667B3E39933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8599" y="1760522"/>
            <a:ext cx="8686799" cy="4183078"/>
          </a:xfrm>
          <a:prstGeom prst="rect">
            <a:avLst/>
          </a:prstGeom>
        </p:spPr>
      </p:pic>
    </p:spTree>
    <p:extLst>
      <p:ext uri="{BB962C8B-B14F-4D97-AF65-F5344CB8AC3E}">
        <p14:creationId xmlns:p14="http://schemas.microsoft.com/office/powerpoint/2010/main" val="25122124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2B6E1-3960-4456-4963-22497ED366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41C0D0-DB5D-E507-431E-396F742FBC1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1A0987-F12B-13A6-9136-01F1489406A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B5205F93-34D8-F0C7-AAD4-8E7A4741C3F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5D3B995-5100-4018-6194-852EC291DDB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949C105-1128-4A2C-3763-A9A6BE08114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71EF232-AC46-6DD1-915A-3172B39807A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73EEFA09-6E0A-C45F-403D-1B8D270B2440}"/>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0F72E37B-01B1-E13D-9717-9994413FE6CB}"/>
              </a:ext>
            </a:extLst>
          </p:cNvPr>
          <p:cNvSpPr txBox="1">
            <a:spLocks/>
          </p:cNvSpPr>
          <p:nvPr/>
        </p:nvSpPr>
        <p:spPr>
          <a:xfrm>
            <a:off x="1524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Late Arriving Data Handling Techniques</a:t>
            </a:r>
          </a:p>
        </p:txBody>
      </p:sp>
      <p:pic>
        <p:nvPicPr>
          <p:cNvPr id="12" name="Picture 11">
            <a:extLst>
              <a:ext uri="{FF2B5EF4-FFF2-40B4-BE49-F238E27FC236}">
                <a16:creationId xmlns:a16="http://schemas.microsoft.com/office/drawing/2014/main" id="{D7386BEC-C613-DCF3-4FF0-A9E7F8E9EE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281" y="1122680"/>
            <a:ext cx="8819780" cy="389652"/>
          </a:xfrm>
          <a:prstGeom prst="rect">
            <a:avLst/>
          </a:prstGeom>
        </p:spPr>
      </p:pic>
      <p:pic>
        <p:nvPicPr>
          <p:cNvPr id="14" name="Picture 13">
            <a:extLst>
              <a:ext uri="{FF2B5EF4-FFF2-40B4-BE49-F238E27FC236}">
                <a16:creationId xmlns:a16="http://schemas.microsoft.com/office/drawing/2014/main" id="{2BD3F561-1437-DAA9-CC8F-30BCF37B020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8281" y="1523999"/>
            <a:ext cx="8819779" cy="4364006"/>
          </a:xfrm>
          <a:prstGeom prst="rect">
            <a:avLst/>
          </a:prstGeom>
        </p:spPr>
      </p:pic>
    </p:spTree>
    <p:extLst>
      <p:ext uri="{BB962C8B-B14F-4D97-AF65-F5344CB8AC3E}">
        <p14:creationId xmlns:p14="http://schemas.microsoft.com/office/powerpoint/2010/main" val="4014789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F337-E0CB-C2E1-49F8-B7E7FC3675E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F55B48A-DC56-F4F0-35F6-91633062144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7880B6-66C0-2BBA-D720-CD0D45F77D7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735D6E58-E3F5-52B7-698D-274479A822E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6C9A108-2EC6-4B92-8B8C-01BF364A691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61AEE30-3E31-EA11-2B38-93B68F69494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352620C-6CB2-DFFC-27C0-DF2B0099B859}"/>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CE985E8F-2717-025D-8D9E-D043FA4B06B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4CC50433-3603-03F7-29A1-58E61A86D888}"/>
              </a:ext>
            </a:extLst>
          </p:cNvPr>
          <p:cNvSpPr txBox="1">
            <a:spLocks/>
          </p:cNvSpPr>
          <p:nvPr/>
        </p:nvSpPr>
        <p:spPr>
          <a:xfrm>
            <a:off x="1524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Late Arriving Data Handling Techniques</a:t>
            </a:r>
          </a:p>
        </p:txBody>
      </p:sp>
      <p:pic>
        <p:nvPicPr>
          <p:cNvPr id="12" name="Picture 11">
            <a:extLst>
              <a:ext uri="{FF2B5EF4-FFF2-40B4-BE49-F238E27FC236}">
                <a16:creationId xmlns:a16="http://schemas.microsoft.com/office/drawing/2014/main" id="{2C2E5CA2-EBA3-AE51-D7B6-94291891ED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281" y="1122680"/>
            <a:ext cx="8819780" cy="389652"/>
          </a:xfrm>
          <a:prstGeom prst="rect">
            <a:avLst/>
          </a:prstGeom>
        </p:spPr>
      </p:pic>
      <p:pic>
        <p:nvPicPr>
          <p:cNvPr id="10" name="Picture 9">
            <a:extLst>
              <a:ext uri="{FF2B5EF4-FFF2-40B4-BE49-F238E27FC236}">
                <a16:creationId xmlns:a16="http://schemas.microsoft.com/office/drawing/2014/main" id="{CDF495F1-8D9D-1B9F-BD33-1A3ED5B683D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761" y="1504189"/>
            <a:ext cx="8524239" cy="1620012"/>
          </a:xfrm>
          <a:prstGeom prst="rect">
            <a:avLst/>
          </a:prstGeom>
        </p:spPr>
      </p:pic>
      <p:sp>
        <p:nvSpPr>
          <p:cNvPr id="13" name="object 2">
            <a:extLst>
              <a:ext uri="{FF2B5EF4-FFF2-40B4-BE49-F238E27FC236}">
                <a16:creationId xmlns:a16="http://schemas.microsoft.com/office/drawing/2014/main" id="{995EF7D3-09C9-DCEC-EEB7-B06BCBB90EAB}"/>
              </a:ext>
            </a:extLst>
          </p:cNvPr>
          <p:cNvSpPr txBox="1">
            <a:spLocks/>
          </p:cNvSpPr>
          <p:nvPr/>
        </p:nvSpPr>
        <p:spPr>
          <a:xfrm>
            <a:off x="152400" y="3514412"/>
            <a:ext cx="8624937" cy="25006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2"/>
                </a:solidFill>
              </a:rPr>
              <a:t>Breakdown of Techniques</a:t>
            </a:r>
          </a:p>
          <a:p>
            <a:pPr marL="12700" marR="5080"/>
            <a:r>
              <a:rPr lang="en-US" sz="1250" kern="0" spc="-80" dirty="0">
                <a:solidFill>
                  <a:schemeClr val="accent2"/>
                </a:solidFill>
              </a:rPr>
              <a:t>1. Stream Processing Techniques (Event-Time)</a:t>
            </a:r>
          </a:p>
          <a:p>
            <a:pPr marL="12700" marR="5080"/>
            <a:r>
              <a:rPr lang="en-US" sz="1250" kern="0" spc="-80" dirty="0">
                <a:solidFill>
                  <a:schemeClr val="accent2"/>
                </a:solidFill>
              </a:rPr>
              <a:t>Watermarking: </a:t>
            </a:r>
            <a:r>
              <a:rPr lang="en-US" sz="1250" kern="0" spc="-80" dirty="0">
                <a:solidFill>
                  <a:schemeClr val="accent6"/>
                </a:solidFill>
              </a:rPr>
              <a:t>A watermark is a metadata timestamp that tells the system: "I believe all events with event time older than this watermark have arrived". If a message arrives after its watermark has passed, it is considered "late".</a:t>
            </a:r>
          </a:p>
          <a:p>
            <a:pPr marL="12700" marR="5080"/>
            <a:r>
              <a:rPr lang="en-US" sz="1250" kern="0" spc="-80" dirty="0">
                <a:solidFill>
                  <a:schemeClr val="accent2"/>
                </a:solidFill>
              </a:rPr>
              <a:t>Heuristic Watermarks: </a:t>
            </a:r>
            <a:r>
              <a:rPr lang="en-US" sz="1250" kern="0" spc="-80" dirty="0">
                <a:solidFill>
                  <a:schemeClr val="accent6"/>
                </a:solidFill>
              </a:rPr>
              <a:t>Use a 10-second buffer to handle typical network lag.</a:t>
            </a:r>
          </a:p>
          <a:p>
            <a:pPr marL="12700" marR="5080"/>
            <a:r>
              <a:rPr lang="en-US" sz="1250" kern="0" spc="-80" dirty="0">
                <a:solidFill>
                  <a:schemeClr val="accent2"/>
                </a:solidFill>
              </a:rPr>
              <a:t>Adaptive Watermarks:</a:t>
            </a:r>
            <a:r>
              <a:rPr lang="en-US" sz="1250" kern="0" spc="-80" dirty="0">
                <a:solidFill>
                  <a:schemeClr val="accent6"/>
                </a:solidFill>
              </a:rPr>
              <a:t> Monitor recent latency and adjust the watermark delay automatically.</a:t>
            </a:r>
          </a:p>
          <a:p>
            <a:pPr marL="12700" marR="5080"/>
            <a:r>
              <a:rPr lang="en-US" sz="1250" kern="0" spc="-80" dirty="0">
                <a:solidFill>
                  <a:schemeClr val="accent2"/>
                </a:solidFill>
              </a:rPr>
              <a:t>Allowed Lateness: </a:t>
            </a:r>
            <a:r>
              <a:rPr lang="en-US" sz="1250" kern="0" spc="-80" dirty="0">
                <a:solidFill>
                  <a:schemeClr val="accent6"/>
                </a:solidFill>
              </a:rPr>
              <a:t>Allows you to define a "grace period" (e.g., 10 minutes) for a window. Data arriving within this period triggers an update to the already produced result. </a:t>
            </a:r>
          </a:p>
          <a:p>
            <a:pPr marL="12700" marR="5080"/>
            <a:endParaRPr lang="en-US" sz="1250" kern="0" spc="-80" dirty="0">
              <a:solidFill>
                <a:schemeClr val="accent6"/>
              </a:solidFill>
            </a:endParaRPr>
          </a:p>
          <a:p>
            <a:pPr marL="12700" marR="5080"/>
            <a:r>
              <a:rPr lang="en-US" sz="1250" kern="0" spc="-80" dirty="0">
                <a:solidFill>
                  <a:schemeClr val="accent2"/>
                </a:solidFill>
              </a:rPr>
              <a:t>2. Message Broker &amp; Consumer Techniques (Order &amp; Retry)</a:t>
            </a:r>
          </a:p>
          <a:p>
            <a:pPr marL="12700" marR="5080"/>
            <a:r>
              <a:rPr lang="en-US" sz="1250" kern="0" spc="-80" dirty="0">
                <a:solidFill>
                  <a:schemeClr val="accent2"/>
                </a:solidFill>
              </a:rPr>
              <a:t>Ordered Queues (Partitioning): </a:t>
            </a:r>
            <a:r>
              <a:rPr lang="en-US" sz="1250" kern="0" spc="-80" dirty="0">
                <a:solidFill>
                  <a:schemeClr val="accent6"/>
                </a:solidFill>
              </a:rPr>
              <a:t>Kafka guarantees order only within a partition. By using a consistent key (e.g., </a:t>
            </a:r>
            <a:r>
              <a:rPr lang="en-US" sz="1250" kern="0" spc="-80" dirty="0" err="1">
                <a:solidFill>
                  <a:schemeClr val="accent6"/>
                </a:solidFill>
              </a:rPr>
              <a:t>user_id</a:t>
            </a:r>
            <a:r>
              <a:rPr lang="en-US" sz="1250" kern="0" spc="-80" dirty="0">
                <a:solidFill>
                  <a:schemeClr val="accent6"/>
                </a:solidFill>
              </a:rPr>
              <a:t>), all related events (e.g., </a:t>
            </a:r>
            <a:r>
              <a:rPr lang="en-US" sz="1250" kern="0" spc="-80" dirty="0" err="1">
                <a:solidFill>
                  <a:schemeClr val="accent6"/>
                </a:solidFill>
              </a:rPr>
              <a:t>CreateUser</a:t>
            </a:r>
            <a:r>
              <a:rPr lang="en-US" sz="1250" kern="0" spc="-80" dirty="0">
                <a:solidFill>
                  <a:schemeClr val="accent6"/>
                </a:solidFill>
              </a:rPr>
              <a:t>, </a:t>
            </a:r>
            <a:r>
              <a:rPr lang="en-US" sz="1250" kern="0" spc="-80" dirty="0" err="1">
                <a:solidFill>
                  <a:schemeClr val="accent6"/>
                </a:solidFill>
              </a:rPr>
              <a:t>UpdateUser</a:t>
            </a:r>
            <a:r>
              <a:rPr lang="en-US" sz="1250" kern="0" spc="-80" dirty="0">
                <a:solidFill>
                  <a:schemeClr val="accent6"/>
                </a:solidFill>
              </a:rPr>
              <a:t>) go to the same partition, ensuring they are consumed in order.</a:t>
            </a:r>
          </a:p>
          <a:p>
            <a:pPr marL="12700" marR="5080"/>
            <a:endParaRPr lang="en-US" sz="1250" kern="0" spc="-80" dirty="0">
              <a:solidFill>
                <a:schemeClr val="accent6"/>
              </a:solidFill>
            </a:endParaRPr>
          </a:p>
        </p:txBody>
      </p:sp>
    </p:spTree>
    <p:extLst>
      <p:ext uri="{BB962C8B-B14F-4D97-AF65-F5344CB8AC3E}">
        <p14:creationId xmlns:p14="http://schemas.microsoft.com/office/powerpoint/2010/main" val="35072252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DC3B-A7BA-8D21-4D78-87770511AD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B30B62-8A5E-6B76-10B3-FFFC652F171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F09D13F-9F57-8E86-9343-394D6292FBA0}"/>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FCEA325E-01B5-052D-2343-14EEDAE90AB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A402FD4-7078-969A-F1D5-63EFC7E238A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0D3DA0D-B68D-0742-03F8-0029E087227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67F85879-A73C-6DCB-DBFE-F68F0D112B5B}"/>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8B9EFD1-3401-1F44-5F23-DE5678E36FFE}"/>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C63D56A5-4809-345B-92CB-5222166ECEB1}"/>
              </a:ext>
            </a:extLst>
          </p:cNvPr>
          <p:cNvSpPr txBox="1">
            <a:spLocks/>
          </p:cNvSpPr>
          <p:nvPr/>
        </p:nvSpPr>
        <p:spPr>
          <a:xfrm>
            <a:off x="152400" y="762000"/>
            <a:ext cx="8624937" cy="43396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Late Arriving Data Handling Techniques</a:t>
            </a:r>
          </a:p>
          <a:p>
            <a:pPr marL="12700" marR="5080"/>
            <a:r>
              <a:rPr lang="en-US" sz="1700" kern="0" spc="-80" dirty="0">
                <a:solidFill>
                  <a:schemeClr val="accent2"/>
                </a:solidFill>
              </a:rPr>
              <a:t>Breakdown of Techniques</a:t>
            </a:r>
          </a:p>
          <a:p>
            <a:pPr marL="12700" marR="5080"/>
            <a:r>
              <a:rPr lang="en-US" sz="1250" kern="0" spc="-80" dirty="0">
                <a:solidFill>
                  <a:schemeClr val="accent2"/>
                </a:solidFill>
              </a:rPr>
              <a:t>2. Message Broker &amp; Consumer Techniques (Order &amp; Retry)</a:t>
            </a:r>
          </a:p>
          <a:p>
            <a:pPr marL="12700" marR="5080"/>
            <a:r>
              <a:rPr lang="en-US" sz="1250" kern="0" spc="-80" dirty="0">
                <a:solidFill>
                  <a:schemeClr val="accent2"/>
                </a:solidFill>
              </a:rPr>
              <a:t>Wait and Replay (Lookback Window): </a:t>
            </a:r>
            <a:r>
              <a:rPr lang="en-US" sz="1250" kern="0" spc="-80" dirty="0">
                <a:solidFill>
                  <a:schemeClr val="accent6"/>
                </a:solidFill>
              </a:rPr>
              <a:t>If the consumer is behind, or a producer produces late, the consumer uses a lookback period to poll for data from the past, as seen in Airflow DAGs.</a:t>
            </a:r>
          </a:p>
          <a:p>
            <a:pPr marL="12700" marR="5080"/>
            <a:r>
              <a:rPr lang="en-US" sz="1250" kern="0" spc="-80" dirty="0">
                <a:solidFill>
                  <a:schemeClr val="accent2"/>
                </a:solidFill>
              </a:rPr>
              <a:t>Dead Letter Queue (DLQ): </a:t>
            </a:r>
            <a:r>
              <a:rPr lang="en-US" sz="1250" kern="0" spc="-80" dirty="0">
                <a:solidFill>
                  <a:schemeClr val="accent6"/>
                </a:solidFill>
              </a:rPr>
              <a:t>When a message fails (e.g., because a required parent message has not arrived), it is sent to a DLQ. A separate, slower consumer picks it up later. </a:t>
            </a:r>
          </a:p>
          <a:p>
            <a:pPr marL="12700" marR="5080"/>
            <a:endParaRPr lang="en-US" sz="1250" kern="0" spc="-80" dirty="0">
              <a:solidFill>
                <a:schemeClr val="accent6"/>
              </a:solidFill>
            </a:endParaRPr>
          </a:p>
          <a:p>
            <a:pPr marL="12700" marR="5080"/>
            <a:r>
              <a:rPr lang="en-US" sz="1250" kern="0" spc="-80" dirty="0">
                <a:solidFill>
                  <a:schemeClr val="accent2"/>
                </a:solidFill>
              </a:rPr>
              <a:t>3. Data Modeling &amp; Storage Techniques</a:t>
            </a:r>
          </a:p>
          <a:p>
            <a:pPr marL="12700" marR="5080"/>
            <a:r>
              <a:rPr lang="en-US" sz="1250" kern="0" spc="-80" dirty="0">
                <a:solidFill>
                  <a:schemeClr val="accent2"/>
                </a:solidFill>
              </a:rPr>
              <a:t>Bi-Temporal Modeling: </a:t>
            </a:r>
            <a:r>
              <a:rPr lang="en-US" sz="1250" kern="0" spc="-80" dirty="0">
                <a:solidFill>
                  <a:schemeClr val="accent6"/>
                </a:solidFill>
              </a:rPr>
              <a:t>Tables store both the event time (when it happened) and the processing time (when it was added). This allows querying the system state exactly as it was at a specific point in time.</a:t>
            </a:r>
          </a:p>
          <a:p>
            <a:pPr marL="12700" marR="5080"/>
            <a:r>
              <a:rPr lang="en-US" sz="1250" kern="0" spc="-80" dirty="0">
                <a:solidFill>
                  <a:schemeClr val="accent2"/>
                </a:solidFill>
              </a:rPr>
              <a:t>Inferred (Stub) Member: </a:t>
            </a:r>
            <a:r>
              <a:rPr lang="en-US" sz="1250" kern="0" spc="-80" dirty="0">
                <a:solidFill>
                  <a:schemeClr val="accent6"/>
                </a:solidFill>
              </a:rPr>
              <a:t>In data warehousing, if a fact arrives before its dimension, create a "dummy" row (stub) for the dimension to satisfy foreign key constraints, and update it later. </a:t>
            </a:r>
          </a:p>
          <a:p>
            <a:pPr marL="12700" marR="5080"/>
            <a:endParaRPr lang="en-US" sz="1250" kern="0" spc="-80" dirty="0">
              <a:solidFill>
                <a:schemeClr val="accent6"/>
              </a:solidFill>
            </a:endParaRPr>
          </a:p>
          <a:p>
            <a:pPr marL="12700" marR="5080"/>
            <a:r>
              <a:rPr lang="en-US" sz="1250" kern="0" spc="-80" dirty="0">
                <a:solidFill>
                  <a:schemeClr val="accent2"/>
                </a:solidFill>
              </a:rPr>
              <a:t>Best Practices Summary</a:t>
            </a:r>
          </a:p>
          <a:p>
            <a:pPr marL="12700" marR="5080"/>
            <a:r>
              <a:rPr lang="en-US" sz="1250" kern="0" spc="-80" dirty="0">
                <a:solidFill>
                  <a:schemeClr val="accent2"/>
                </a:solidFill>
              </a:rPr>
              <a:t>Prefer Event Time: </a:t>
            </a:r>
            <a:r>
              <a:rPr lang="en-US" sz="1250" kern="0" spc="-80" dirty="0">
                <a:solidFill>
                  <a:schemeClr val="accent6"/>
                </a:solidFill>
              </a:rPr>
              <a:t>Always use the timestamp created by the source system, not the time it arrived at the broker.</a:t>
            </a:r>
          </a:p>
          <a:p>
            <a:pPr marL="12700" marR="5080"/>
            <a:r>
              <a:rPr lang="en-US" sz="1250" kern="0" spc="-80" dirty="0">
                <a:solidFill>
                  <a:schemeClr val="accent2"/>
                </a:solidFill>
              </a:rPr>
              <a:t>Design for Idempotency: </a:t>
            </a:r>
            <a:r>
              <a:rPr lang="en-US" sz="1250" kern="0" spc="-80" dirty="0">
                <a:solidFill>
                  <a:schemeClr val="accent6"/>
                </a:solidFill>
              </a:rPr>
              <a:t>Ensure that if you re-process a message, it doesn't create duplicate records.</a:t>
            </a:r>
          </a:p>
          <a:p>
            <a:pPr marL="12700" marR="5080"/>
            <a:r>
              <a:rPr lang="en-US" sz="1250" kern="0" spc="-80" dirty="0">
                <a:solidFill>
                  <a:schemeClr val="accent2"/>
                </a:solidFill>
              </a:rPr>
              <a:t>Monitor Lag: </a:t>
            </a:r>
            <a:r>
              <a:rPr lang="en-US" sz="1250" kern="0" spc="-80" dirty="0">
                <a:solidFill>
                  <a:schemeClr val="accent6"/>
                </a:solidFill>
              </a:rPr>
              <a:t>Continuously track the "late data" metrics to proactively adjust your watermark or grace period settings.</a:t>
            </a:r>
          </a:p>
          <a:p>
            <a:pPr marL="12700" marR="5080"/>
            <a:r>
              <a:rPr lang="en-US" sz="1250" kern="0" spc="-80" dirty="0">
                <a:solidFill>
                  <a:schemeClr val="accent2"/>
                </a:solidFill>
              </a:rPr>
              <a:t>Balance Latency/Completeness: </a:t>
            </a:r>
            <a:r>
              <a:rPr lang="en-US" sz="1250" kern="0" spc="-80" dirty="0">
                <a:solidFill>
                  <a:schemeClr val="accent6"/>
                </a:solidFill>
              </a:rPr>
              <a:t>If 100% accuracy is required, accept higher latency (longer windows). If speed is required, accept slight inaccuracies. </a:t>
            </a:r>
          </a:p>
          <a:p>
            <a:pPr marL="12700" marR="5080"/>
            <a:endParaRPr lang="en-US" sz="2000" kern="0" spc="-80" dirty="0">
              <a:solidFill>
                <a:schemeClr val="accent2"/>
              </a:solidFill>
            </a:endParaRPr>
          </a:p>
        </p:txBody>
      </p:sp>
    </p:spTree>
    <p:extLst>
      <p:ext uri="{BB962C8B-B14F-4D97-AF65-F5344CB8AC3E}">
        <p14:creationId xmlns:p14="http://schemas.microsoft.com/office/powerpoint/2010/main" val="7081433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6600-34A7-5DBB-3F8F-4926A282D9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948F5E-FEB5-61DB-B688-160E52336C7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5196AB-BA2C-33E3-751B-721E769D1EC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5373402-30B2-DB10-FBB9-7E9596A9818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0382151-6588-BAA5-6FC5-255299E4DCC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8B1CA2E-63A3-4B0D-1E87-2426D1E0CAD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9C406C2F-E857-A627-2007-A9F2FCED490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DC34F0E7-9846-38FD-D369-B3B627322532}"/>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F3BAF54A-E5A5-A0AB-27AD-A7847621081A}"/>
              </a:ext>
            </a:extLst>
          </p:cNvPr>
          <p:cNvSpPr txBox="1">
            <a:spLocks/>
          </p:cNvSpPr>
          <p:nvPr/>
        </p:nvSpPr>
        <p:spPr>
          <a:xfrm>
            <a:off x="152400" y="762000"/>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Flink Performance Optimization &amp; Tuning Techniques</a:t>
            </a:r>
          </a:p>
          <a:p>
            <a:pPr marL="12700" marR="5080"/>
            <a:r>
              <a:rPr lang="en-US" sz="1700" kern="0" spc="-80" dirty="0">
                <a:solidFill>
                  <a:schemeClr val="accent2"/>
                </a:solidFill>
              </a:rPr>
              <a:t>Memory Management and Tuning</a:t>
            </a:r>
          </a:p>
        </p:txBody>
      </p:sp>
      <p:pic>
        <p:nvPicPr>
          <p:cNvPr id="10" name="Picture 9">
            <a:extLst>
              <a:ext uri="{FF2B5EF4-FFF2-40B4-BE49-F238E27FC236}">
                <a16:creationId xmlns:a16="http://schemas.microsoft.com/office/drawing/2014/main" id="{011A0051-FFC8-8F6C-8C84-612A62F7882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399" y="1311189"/>
            <a:ext cx="8915397" cy="3321221"/>
          </a:xfrm>
          <a:prstGeom prst="rect">
            <a:avLst/>
          </a:prstGeom>
        </p:spPr>
      </p:pic>
      <p:pic>
        <p:nvPicPr>
          <p:cNvPr id="13" name="Picture 12">
            <a:extLst>
              <a:ext uri="{FF2B5EF4-FFF2-40B4-BE49-F238E27FC236}">
                <a16:creationId xmlns:a16="http://schemas.microsoft.com/office/drawing/2014/main" id="{F78F865F-822F-CE75-2CD4-756B99229B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4667135"/>
            <a:ext cx="9005936" cy="1276465"/>
          </a:xfrm>
          <a:prstGeom prst="rect">
            <a:avLst/>
          </a:prstGeom>
        </p:spPr>
      </p:pic>
    </p:spTree>
    <p:extLst>
      <p:ext uri="{BB962C8B-B14F-4D97-AF65-F5344CB8AC3E}">
        <p14:creationId xmlns:p14="http://schemas.microsoft.com/office/powerpoint/2010/main" val="40204857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11F95-F04E-1A11-72D2-2A3B0E559C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E113B5-BAC2-28FC-7D10-D61D93F7DA1D}"/>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56615A-3042-F351-0960-2862BC9E72C0}"/>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8DC86077-1146-0429-B604-83BE2E2F0BF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E62E163-3A15-60E3-94EA-FCCE77DCBD2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B32C3D5-CEF6-1C7F-BFCF-3FB543B6FCC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46139BF-B266-2B99-CC1F-6FBEB84711F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3D41E0F-3A3B-0756-8AC5-6693D01782F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2A8AE52E-C619-385C-3124-C98A4B03C77F}"/>
              </a:ext>
            </a:extLst>
          </p:cNvPr>
          <p:cNvSpPr txBox="1">
            <a:spLocks/>
          </p:cNvSpPr>
          <p:nvPr/>
        </p:nvSpPr>
        <p:spPr>
          <a:xfrm>
            <a:off x="152400" y="762000"/>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Flink Performance Optimization &amp; Tuning Techniques</a:t>
            </a:r>
          </a:p>
          <a:p>
            <a:pPr marL="12700" marR="5080"/>
            <a:r>
              <a:rPr lang="en-US" sz="1700" kern="0" spc="-80" dirty="0">
                <a:solidFill>
                  <a:schemeClr val="accent2"/>
                </a:solidFill>
              </a:rPr>
              <a:t>State &amp; Rock DB </a:t>
            </a:r>
            <a:r>
              <a:rPr lang="en-US" sz="1700" kern="0" spc="-80" dirty="0" err="1">
                <a:solidFill>
                  <a:schemeClr val="accent2"/>
                </a:solidFill>
              </a:rPr>
              <a:t>Optimzation</a:t>
            </a:r>
            <a:endParaRPr lang="en-US" sz="1700" kern="0" spc="-80" dirty="0">
              <a:solidFill>
                <a:schemeClr val="accent2"/>
              </a:solidFill>
            </a:endParaRPr>
          </a:p>
        </p:txBody>
      </p:sp>
      <p:pic>
        <p:nvPicPr>
          <p:cNvPr id="12" name="Picture 11">
            <a:extLst>
              <a:ext uri="{FF2B5EF4-FFF2-40B4-BE49-F238E27FC236}">
                <a16:creationId xmlns:a16="http://schemas.microsoft.com/office/drawing/2014/main" id="{C2CC133C-4795-470D-CF96-7D580A20BD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281" y="1343055"/>
            <a:ext cx="8819780" cy="1887379"/>
          </a:xfrm>
          <a:prstGeom prst="rect">
            <a:avLst/>
          </a:prstGeom>
        </p:spPr>
      </p:pic>
      <p:pic>
        <p:nvPicPr>
          <p:cNvPr id="15" name="Picture 14">
            <a:extLst>
              <a:ext uri="{FF2B5EF4-FFF2-40B4-BE49-F238E27FC236}">
                <a16:creationId xmlns:a16="http://schemas.microsoft.com/office/drawing/2014/main" id="{2BD44768-3297-6DDB-EB20-A556F5C9AF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5119" y="3224659"/>
            <a:ext cx="8590281" cy="2044809"/>
          </a:xfrm>
          <a:prstGeom prst="rect">
            <a:avLst/>
          </a:prstGeom>
        </p:spPr>
      </p:pic>
      <p:pic>
        <p:nvPicPr>
          <p:cNvPr id="17" name="Picture 16">
            <a:extLst>
              <a:ext uri="{FF2B5EF4-FFF2-40B4-BE49-F238E27FC236}">
                <a16:creationId xmlns:a16="http://schemas.microsoft.com/office/drawing/2014/main" id="{4AEB89C5-D3EC-C5A4-2199-86C1DC0C308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1000" y="5324455"/>
            <a:ext cx="8647061" cy="542945"/>
          </a:xfrm>
          <a:prstGeom prst="rect">
            <a:avLst/>
          </a:prstGeom>
        </p:spPr>
      </p:pic>
    </p:spTree>
    <p:extLst>
      <p:ext uri="{BB962C8B-B14F-4D97-AF65-F5344CB8AC3E}">
        <p14:creationId xmlns:p14="http://schemas.microsoft.com/office/powerpoint/2010/main" val="11544431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A9C57-64CF-99B7-D60F-9BEFD067AF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935E51-5C9C-EFAF-F85C-6BC38FD0DD9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9E3EB7-017F-6F8C-82A6-D9FFFBC8A56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6B89A864-92E4-117F-E747-29B9B352109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EDE9B9F-DE80-48DE-CF68-84117B05661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FCEB51C-A76A-A356-DF08-7A66BD0DF5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6D66BF3E-70C2-ABDC-D7E9-3B71F549E671}"/>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A85C5E5F-52C2-75FE-B74F-8F52A3F85CC0}"/>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D5F992B7-7CB4-D484-E9D6-85D325D3099F}"/>
              </a:ext>
            </a:extLst>
          </p:cNvPr>
          <p:cNvSpPr txBox="1">
            <a:spLocks/>
          </p:cNvSpPr>
          <p:nvPr/>
        </p:nvSpPr>
        <p:spPr>
          <a:xfrm>
            <a:off x="152400" y="762000"/>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Flink Performance Optimization &amp; Tuning Techniques</a:t>
            </a:r>
          </a:p>
          <a:p>
            <a:pPr marL="12700" marR="5080"/>
            <a:r>
              <a:rPr lang="en-US" sz="1700" kern="0" spc="-80" dirty="0">
                <a:solidFill>
                  <a:schemeClr val="accent2"/>
                </a:solidFill>
              </a:rPr>
              <a:t>Checkpointing and Fault Tolerance</a:t>
            </a:r>
          </a:p>
        </p:txBody>
      </p:sp>
      <p:pic>
        <p:nvPicPr>
          <p:cNvPr id="10" name="Picture 9">
            <a:extLst>
              <a:ext uri="{FF2B5EF4-FFF2-40B4-BE49-F238E27FC236}">
                <a16:creationId xmlns:a16="http://schemas.microsoft.com/office/drawing/2014/main" id="{F4EBFAFF-3C44-8EAE-7E0A-FCD9C3D5EA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1341547"/>
            <a:ext cx="8799460" cy="3681700"/>
          </a:xfrm>
          <a:prstGeom prst="rect">
            <a:avLst/>
          </a:prstGeom>
        </p:spPr>
      </p:pic>
      <p:pic>
        <p:nvPicPr>
          <p:cNvPr id="14" name="Picture 13">
            <a:extLst>
              <a:ext uri="{FF2B5EF4-FFF2-40B4-BE49-F238E27FC236}">
                <a16:creationId xmlns:a16="http://schemas.microsoft.com/office/drawing/2014/main" id="{BBC1ED48-E458-F00E-8C8F-C2C1D6D2A9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4264" y="5023247"/>
            <a:ext cx="8853536" cy="920353"/>
          </a:xfrm>
          <a:prstGeom prst="rect">
            <a:avLst/>
          </a:prstGeom>
        </p:spPr>
      </p:pic>
    </p:spTree>
    <p:extLst>
      <p:ext uri="{BB962C8B-B14F-4D97-AF65-F5344CB8AC3E}">
        <p14:creationId xmlns:p14="http://schemas.microsoft.com/office/powerpoint/2010/main" val="1680658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730E-0923-73D5-D333-6805DC18B4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5BBD21D-7114-0D9F-BB09-C92A7ED586C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204004B-6357-87DA-D727-93D3B72522F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EA5EEEA-2AB9-525D-D55A-EB45DE5CD80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1D55B9C-AB93-AC59-2950-286D2F19881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8EDD010-AC83-CBC3-17CA-90423FC69D3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FF03A9F6-4FC3-5674-788E-B7F74959F3A6}"/>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5E0D7122-7B8A-4BB2-5AF8-3DF713058B8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8E2AE534-E16F-944E-EC85-C4338D587C5F}"/>
              </a:ext>
            </a:extLst>
          </p:cNvPr>
          <p:cNvSpPr txBox="1">
            <a:spLocks/>
          </p:cNvSpPr>
          <p:nvPr/>
        </p:nvSpPr>
        <p:spPr>
          <a:xfrm>
            <a:off x="152400" y="762000"/>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Flink Performance Optimization &amp; Tuning Techniques</a:t>
            </a:r>
          </a:p>
          <a:p>
            <a:pPr marL="12700" marR="5080"/>
            <a:r>
              <a:rPr lang="en-US" sz="1700" kern="0" spc="-80" dirty="0">
                <a:solidFill>
                  <a:schemeClr val="accent2"/>
                </a:solidFill>
              </a:rPr>
              <a:t>SQL and Table API Optimization</a:t>
            </a:r>
          </a:p>
        </p:txBody>
      </p:sp>
      <p:pic>
        <p:nvPicPr>
          <p:cNvPr id="12" name="Picture 11">
            <a:extLst>
              <a:ext uri="{FF2B5EF4-FFF2-40B4-BE49-F238E27FC236}">
                <a16:creationId xmlns:a16="http://schemas.microsoft.com/office/drawing/2014/main" id="{F8441C6A-2925-BF5D-CF8F-19959570A4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2080" y="1317952"/>
            <a:ext cx="8783319" cy="3951516"/>
          </a:xfrm>
          <a:prstGeom prst="rect">
            <a:avLst/>
          </a:prstGeom>
        </p:spPr>
      </p:pic>
      <p:pic>
        <p:nvPicPr>
          <p:cNvPr id="15" name="Picture 14">
            <a:extLst>
              <a:ext uri="{FF2B5EF4-FFF2-40B4-BE49-F238E27FC236}">
                <a16:creationId xmlns:a16="http://schemas.microsoft.com/office/drawing/2014/main" id="{CDADBBE0-662D-243D-92A4-E114B12C15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5206962"/>
            <a:ext cx="8777337" cy="736638"/>
          </a:xfrm>
          <a:prstGeom prst="rect">
            <a:avLst/>
          </a:prstGeom>
        </p:spPr>
      </p:pic>
    </p:spTree>
    <p:extLst>
      <p:ext uri="{BB962C8B-B14F-4D97-AF65-F5344CB8AC3E}">
        <p14:creationId xmlns:p14="http://schemas.microsoft.com/office/powerpoint/2010/main" val="4167532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8B222-5BE4-BE9B-F7A9-C5E0ED3605D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DDD5E8-0FDE-E1AF-7835-9EDCBE80098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0996079-9F32-FFA2-951C-D3522729C17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6D563517-C1FA-547D-1F32-1688A17AC0E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7ED9300-6425-3226-AA34-A54B09D884C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B62F80E-87A8-2810-FA86-8B1120D923A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C0402FB-8041-4502-BD08-C4248BF3B46D}"/>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B586B84-9CFC-AD3E-42F0-A22FA4B03703}"/>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2" name="object 2">
            <a:extLst>
              <a:ext uri="{FF2B5EF4-FFF2-40B4-BE49-F238E27FC236}">
                <a16:creationId xmlns:a16="http://schemas.microsoft.com/office/drawing/2014/main" id="{1AD76ADF-622D-6463-B493-53863BD7310D}"/>
              </a:ext>
            </a:extLst>
          </p:cNvPr>
          <p:cNvSpPr txBox="1">
            <a:spLocks/>
          </p:cNvSpPr>
          <p:nvPr/>
        </p:nvSpPr>
        <p:spPr>
          <a:xfrm>
            <a:off x="152400" y="762000"/>
            <a:ext cx="8624937"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Flink Performance Optimization &amp; Tuning Techniques</a:t>
            </a:r>
          </a:p>
          <a:p>
            <a:pPr marL="12700" marR="5080"/>
            <a:r>
              <a:rPr lang="en-US" sz="1700" kern="0" spc="-80" dirty="0">
                <a:solidFill>
                  <a:schemeClr val="accent2"/>
                </a:solidFill>
              </a:rPr>
              <a:t>Task and Resource Execution</a:t>
            </a:r>
          </a:p>
        </p:txBody>
      </p:sp>
      <p:pic>
        <p:nvPicPr>
          <p:cNvPr id="10" name="Picture 9">
            <a:extLst>
              <a:ext uri="{FF2B5EF4-FFF2-40B4-BE49-F238E27FC236}">
                <a16:creationId xmlns:a16="http://schemas.microsoft.com/office/drawing/2014/main" id="{56CE2707-37EB-8684-8412-58DD307858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2" y="1305986"/>
            <a:ext cx="8878937" cy="4713813"/>
          </a:xfrm>
          <a:prstGeom prst="rect">
            <a:avLst/>
          </a:prstGeom>
        </p:spPr>
      </p:pic>
    </p:spTree>
    <p:extLst>
      <p:ext uri="{BB962C8B-B14F-4D97-AF65-F5344CB8AC3E}">
        <p14:creationId xmlns:p14="http://schemas.microsoft.com/office/powerpoint/2010/main" val="27113182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99758-BEA6-5BA4-8657-A4800AE0218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FC53B4-8BF1-9E9A-5E32-0E9355ED9C62}"/>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282BEB0-5BF3-4FAC-9E0A-0AF5F3D9E29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645146E-C54B-A829-6D22-DECE3D9EA97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8754DC2-D606-5917-C6CA-CA3134C864A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0FFFCDA-2363-7A55-8494-858AC487740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6C72E963-DB02-A86D-A2DD-49C3EE10FF08}"/>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C8D1E76E-F860-E3FE-1BE3-1D049B3020CF}"/>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0" name="object 2">
            <a:extLst>
              <a:ext uri="{FF2B5EF4-FFF2-40B4-BE49-F238E27FC236}">
                <a16:creationId xmlns:a16="http://schemas.microsoft.com/office/drawing/2014/main" id="{3032DE9E-1866-0145-E7B2-9429629BA457}"/>
              </a:ext>
            </a:extLst>
          </p:cNvPr>
          <p:cNvSpPr txBox="1">
            <a:spLocks/>
          </p:cNvSpPr>
          <p:nvPr/>
        </p:nvSpPr>
        <p:spPr>
          <a:xfrm>
            <a:off x="152400" y="762000"/>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a:t>
            </a:r>
          </a:p>
          <a:p>
            <a:pPr marL="12700" marR="5080"/>
            <a:r>
              <a:rPr lang="en-US" sz="1400" dirty="0">
                <a:hlinkClick r:id="rId7"/>
              </a:rPr>
              <a:t>Free E-Book - The ultimate data streaming guide - Kai </a:t>
            </a:r>
            <a:r>
              <a:rPr lang="en-US" sz="1400" dirty="0" err="1">
                <a:hlinkClick r:id="rId7"/>
              </a:rPr>
              <a:t>Waehner</a:t>
            </a:r>
            <a:endParaRPr lang="en-US" sz="1400" dirty="0"/>
          </a:p>
          <a:p>
            <a:pPr marL="12700" marR="5080"/>
            <a:r>
              <a:rPr lang="en-US" sz="1400" dirty="0">
                <a:hlinkClick r:id="rId8"/>
              </a:rPr>
              <a:t>What's the difference between Processing Time and Event Time in Apache Beam</a:t>
            </a:r>
            <a:endParaRPr lang="en-US" sz="1400" dirty="0"/>
          </a:p>
          <a:p>
            <a:pPr marL="12700" marR="5080"/>
            <a:r>
              <a:rPr lang="en-US" sz="1400" dirty="0">
                <a:hlinkClick r:id="rId9"/>
              </a:rPr>
              <a:t>Is there a difference between on-line learning, incremental learning and sequential learning</a:t>
            </a:r>
            <a:endParaRPr lang="en-IN" sz="1400" dirty="0">
              <a:latin typeface="Aptos" panose="020B0004020202020204" pitchFamily="34" charset="0"/>
              <a:ea typeface="Aptos" panose="020B0004020202020204" pitchFamily="34" charset="0"/>
              <a:cs typeface="Aptos" panose="020B0004020202020204" pitchFamily="34" charset="0"/>
            </a:endParaRPr>
          </a:p>
          <a:p>
            <a:pPr marL="12700" marR="5080"/>
            <a:r>
              <a:rPr lang="en-US" sz="1400" dirty="0">
                <a:hlinkClick r:id="rId10"/>
              </a:rPr>
              <a:t>Feature Deep Dive: Watermarking in Apache Spark Structured Streaming | Databricks Blog</a:t>
            </a:r>
            <a:endParaRPr lang="en-US" sz="1400" dirty="0"/>
          </a:p>
          <a:p>
            <a:pPr marL="12700" marR="5080"/>
            <a:r>
              <a:rPr lang="en-US" sz="1400" dirty="0">
                <a:hlinkClick r:id="rId11"/>
              </a:rPr>
              <a:t>Flink-Learning-Resources</a:t>
            </a:r>
            <a:endParaRPr lang="en-US" sz="1400" dirty="0"/>
          </a:p>
          <a:p>
            <a:pPr marL="12700" marR="5080"/>
            <a:r>
              <a:rPr lang="en-US" sz="1400" dirty="0">
                <a:hlinkClick r:id="rId12"/>
              </a:rPr>
              <a:t>Free Apache Flink Certification Course – </a:t>
            </a:r>
            <a:r>
              <a:rPr lang="en-US" sz="1400" dirty="0" err="1">
                <a:hlinkClick r:id="rId12"/>
              </a:rPr>
              <a:t>DataFlair</a:t>
            </a:r>
            <a:endParaRPr lang="en-US" sz="1400" dirty="0"/>
          </a:p>
          <a:p>
            <a:pPr marL="12700" marR="5080"/>
            <a:r>
              <a:rPr lang="en-US" sz="1400" dirty="0">
                <a:hlinkClick r:id="rId13"/>
              </a:rPr>
              <a:t>Stream Processing with Apache Flink</a:t>
            </a:r>
            <a:endParaRPr lang="en-US" sz="1400" dirty="0"/>
          </a:p>
          <a:p>
            <a:pPr marL="12700" marR="5080"/>
            <a:r>
              <a:rPr lang="en-IN" sz="1400" dirty="0">
                <a:hlinkClick r:id="rId14"/>
              </a:rPr>
              <a:t>Flink for the Apache Modern Data Stack</a:t>
            </a:r>
            <a:endParaRPr lang="en-US" sz="1400" dirty="0"/>
          </a:p>
          <a:p>
            <a:pPr marL="12700" marR="5080"/>
            <a:r>
              <a:rPr lang="nl-NL" sz="1400" dirty="0">
                <a:hlinkClick r:id="rId15"/>
              </a:rPr>
              <a:t>Apache Flink Documentation | Apache Flink</a:t>
            </a:r>
            <a:endParaRPr lang="nl-NL" sz="1400" dirty="0"/>
          </a:p>
          <a:p>
            <a:pPr marL="12700" marR="5080"/>
            <a:r>
              <a:rPr lang="en-US" sz="1400" dirty="0">
                <a:hlinkClick r:id="rId16"/>
              </a:rPr>
              <a:t>Apache Flink - Internal architecture of </a:t>
            </a:r>
            <a:r>
              <a:rPr lang="en-US" sz="1400" dirty="0" err="1">
                <a:hlinkClick r:id="rId16"/>
              </a:rPr>
              <a:t>pyflink</a:t>
            </a:r>
            <a:r>
              <a:rPr lang="en-US" sz="1400" dirty="0">
                <a:hlinkClick r:id="rId16"/>
              </a:rPr>
              <a:t> - Stack Overflow</a:t>
            </a:r>
            <a:endParaRPr lang="en-US" sz="1400" dirty="0"/>
          </a:p>
          <a:p>
            <a:pPr marL="12700" marR="5080"/>
            <a:r>
              <a:rPr lang="en-US" sz="1400" dirty="0">
                <a:hlinkClick r:id="rId17"/>
              </a:rPr>
              <a:t>Kafka for Architects - Katya Gorshkova</a:t>
            </a:r>
            <a:endParaRPr lang="en-US" sz="1400" dirty="0"/>
          </a:p>
          <a:p>
            <a:pPr marL="12700" marR="5080"/>
            <a:r>
              <a:rPr lang="en-US" sz="1400" dirty="0">
                <a:hlinkClick r:id="rId18"/>
              </a:rPr>
              <a:t>Resources for Apache Kafka, Data Streaming, Apache Flink, and More</a:t>
            </a:r>
            <a:endParaRPr lang="en-US" sz="1400" dirty="0"/>
          </a:p>
          <a:p>
            <a:pPr marL="12700" marR="5080"/>
            <a:r>
              <a:rPr lang="en-US" sz="1400" dirty="0">
                <a:hlinkClick r:id="rId19"/>
              </a:rPr>
              <a:t>Awesome-Flink</a:t>
            </a:r>
            <a:endParaRPr lang="en-US" sz="1400" dirty="0"/>
          </a:p>
          <a:p>
            <a:pPr marL="12700" marR="5080"/>
            <a:r>
              <a:rPr lang="en-US" sz="1400" dirty="0" err="1">
                <a:hlinkClick r:id="rId20"/>
              </a:rPr>
              <a:t>Streamdb</a:t>
            </a:r>
            <a:r>
              <a:rPr lang="en-US" sz="1400" dirty="0">
                <a:hlinkClick r:id="rId20"/>
              </a:rPr>
              <a:t>-Readings</a:t>
            </a:r>
            <a:endParaRPr lang="en-US" sz="1400" dirty="0"/>
          </a:p>
          <a:p>
            <a:pPr marL="12700" marR="5080"/>
            <a:r>
              <a:rPr lang="en-US" sz="1400" dirty="0">
                <a:hlinkClick r:id="rId21"/>
              </a:rPr>
              <a:t>Exploring Flow Architectures | Microsoft Learn</a:t>
            </a:r>
            <a:endParaRPr lang="en-US" sz="1400" dirty="0"/>
          </a:p>
          <a:p>
            <a:pPr marL="12700" marR="5080"/>
            <a:r>
              <a:rPr lang="en-IN" sz="1400" dirty="0">
                <a:hlinkClick r:id="rId22"/>
              </a:rPr>
              <a:t>Streaming Systems[Book]</a:t>
            </a:r>
            <a:endParaRPr lang="en-IN" sz="1400" dirty="0"/>
          </a:p>
          <a:p>
            <a:pPr marL="12700" marR="5080"/>
            <a:r>
              <a:rPr lang="en-IN" sz="1400" dirty="0">
                <a:hlinkClick r:id="rId23"/>
              </a:rPr>
              <a:t>Grokking Streaming Systems</a:t>
            </a:r>
            <a:endParaRPr lang="en-IN" sz="1400" dirty="0"/>
          </a:p>
          <a:p>
            <a:pPr marL="12700" marR="5080"/>
            <a:r>
              <a:rPr lang="en-IN" sz="1400" dirty="0">
                <a:hlinkClick r:id="rId24"/>
              </a:rPr>
              <a:t>Messages vs Stream</a:t>
            </a:r>
            <a:endParaRPr lang="en-US" sz="1400" dirty="0"/>
          </a:p>
          <a:p>
            <a:pPr marL="12700" marR="5080"/>
            <a:r>
              <a:rPr lang="en-US" sz="1400" dirty="0">
                <a:hlinkClick r:id="rId25"/>
              </a:rPr>
              <a:t>Azure Stream Analytics documentation - Azure Stream Analytics | Microsoft Learn</a:t>
            </a:r>
            <a:endParaRPr lang="en-IN" sz="1400" dirty="0"/>
          </a:p>
          <a:p>
            <a:pPr marL="12700" marR="5080"/>
            <a:endParaRPr lang="en-US" sz="13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133347978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8CD2-FAEC-C4F6-7383-C1D6E587CC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8DB7F3-1D43-EE6A-7631-B5DE0934D2B4}"/>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FA2861-33F2-2605-FA4B-E6AB67BF8233}"/>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139495C3-5C77-D88B-41B1-7D4049D0965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7D04B36-6EFA-D472-D54F-40E8C5D1239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36BC4AF-7D5A-85F5-27F1-44DFD889286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0A3D9FD-BCE0-5ACF-2456-77B349D9FBA8}"/>
              </a:ext>
            </a:extLst>
          </p:cNvPr>
          <p:cNvGraphicFramePr/>
          <p:nvPr>
            <p:extLst>
              <p:ext uri="{D42A27DB-BD31-4B8C-83A1-F6EECF244321}">
                <p14:modId xmlns:p14="http://schemas.microsoft.com/office/powerpoint/2010/main" val="2136490018"/>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1A9191E7-5692-C65A-788A-1B36AF5A1AE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F7F49694-5584-BC94-D681-EE6F3518B618}"/>
              </a:ext>
            </a:extLst>
          </p:cNvPr>
          <p:cNvSpPr txBox="1">
            <a:spLocks/>
          </p:cNvSpPr>
          <p:nvPr/>
        </p:nvSpPr>
        <p:spPr>
          <a:xfrm>
            <a:off x="152400" y="762000"/>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700" kern="0" spc="-80" dirty="0">
                <a:solidFill>
                  <a:schemeClr val="accent2"/>
                </a:solidFill>
              </a:rPr>
              <a:t>High-level logical flow</a:t>
            </a:r>
          </a:p>
          <a:p>
            <a:pPr marL="12700" marR="5080"/>
            <a:r>
              <a:rPr lang="en-US" sz="1300" kern="0" spc="-80" dirty="0">
                <a:solidFill>
                  <a:schemeClr val="accent6"/>
                </a:solidFill>
              </a:rPr>
              <a:t>                +-------------------+</a:t>
            </a:r>
          </a:p>
          <a:p>
            <a:pPr marL="12700" marR="5080"/>
            <a:r>
              <a:rPr lang="en-US" sz="1300" kern="0" spc="-80" dirty="0">
                <a:solidFill>
                  <a:schemeClr val="accent6"/>
                </a:solidFill>
              </a:rPr>
              <a:t>                |       User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Web Server   |</a:t>
            </a:r>
          </a:p>
          <a:p>
            <a:pPr marL="12700" marR="5080"/>
            <a:r>
              <a:rPr lang="en-US" sz="1300" kern="0" spc="-80" dirty="0">
                <a:solidFill>
                  <a:schemeClr val="accent6"/>
                </a:solidFill>
              </a:rPr>
              <a:t>                  |   (UI / API)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Metadata DB   |</a:t>
            </a:r>
          </a:p>
          <a:p>
            <a:pPr marL="12700" marR="5080"/>
            <a:r>
              <a:rPr lang="en-US" sz="1300" kern="0" spc="-80" dirty="0">
                <a:solidFill>
                  <a:schemeClr val="accent6"/>
                </a:solidFill>
              </a:rPr>
              <a:t>                  | (Postgres /  |</a:t>
            </a:r>
          </a:p>
          <a:p>
            <a:pPr marL="12700" marR="5080"/>
            <a:r>
              <a:rPr lang="en-US" sz="1300" kern="0" spc="-80" dirty="0">
                <a:solidFill>
                  <a:schemeClr val="accent6"/>
                </a:solidFill>
              </a:rPr>
              <a:t>                  |  MySQL etc.)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   Scheduler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creates task instances</a:t>
            </a:r>
          </a:p>
          <a:p>
            <a:pPr marL="12700" marR="5080"/>
            <a:r>
              <a:rPr lang="en-US" sz="1300" kern="0" spc="-80" dirty="0">
                <a:solidFill>
                  <a:schemeClr val="accent6"/>
                </a:solidFill>
              </a:rPr>
              <a:t>                          |</a:t>
            </a:r>
          </a:p>
        </p:txBody>
      </p:sp>
    </p:spTree>
    <p:extLst>
      <p:ext uri="{BB962C8B-B14F-4D97-AF65-F5344CB8AC3E}">
        <p14:creationId xmlns:p14="http://schemas.microsoft.com/office/powerpoint/2010/main" val="33032347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F85CF-E209-1A18-A8DC-0D571617AB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F330EE-9FC7-3C9B-5E02-40E7C49C5DD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73E80C-88A3-6784-010C-8ED40B4679A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3B4170C-415A-FA65-6C56-D98721EB15D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BCBAF80-2A05-9FBA-29D8-DFE9BCACDAE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F7055CE-411F-5F0A-AE3D-DAF8FDAF031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B2214DF-2D28-1AD5-D40A-5BAC55666E5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934E43D3-BEF3-81A8-3C4D-4A749D319B55}"/>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FF73D174-2E28-8635-10B7-C42704067D46}"/>
              </a:ext>
            </a:extLst>
          </p:cNvPr>
          <p:cNvSpPr txBox="1">
            <a:spLocks/>
          </p:cNvSpPr>
          <p:nvPr/>
        </p:nvSpPr>
        <p:spPr>
          <a:xfrm>
            <a:off x="152400" y="7620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700" kern="0" spc="-80" dirty="0">
                <a:solidFill>
                  <a:schemeClr val="accent2"/>
                </a:solidFill>
              </a:rPr>
              <a:t>High-level logical flow</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a:t>
            </a:r>
          </a:p>
          <a:p>
            <a:pPr marL="12700" marR="5080"/>
            <a:r>
              <a:rPr lang="en-US" sz="1300" kern="0" spc="-80" dirty="0">
                <a:solidFill>
                  <a:schemeClr val="accent6"/>
                </a:solidFill>
              </a:rPr>
              <a:t>        v                                    </a:t>
            </a:r>
            <a:r>
              <a:rPr lang="en-US" sz="1300" kern="0" spc="-80" dirty="0" err="1">
                <a:solidFill>
                  <a:schemeClr val="accent6"/>
                </a:solidFill>
              </a:rPr>
              <a:t>v</a:t>
            </a:r>
            <a:endParaRPr lang="en-US" sz="1300" kern="0" spc="-80" dirty="0">
              <a:solidFill>
                <a:schemeClr val="accent6"/>
              </a:solidFill>
            </a:endParaRPr>
          </a:p>
          <a:p>
            <a:pPr marL="12700" marR="5080"/>
            <a:r>
              <a:rPr lang="en-US" sz="1300" kern="0" spc="-80" dirty="0">
                <a:solidFill>
                  <a:schemeClr val="accent6"/>
                </a:solidFill>
              </a:rPr>
              <a:t> +--------------+                    +--------------+</a:t>
            </a:r>
          </a:p>
          <a:p>
            <a:pPr marL="12700" marR="5080"/>
            <a:r>
              <a:rPr lang="en-US" sz="1300" kern="0" spc="-80" dirty="0">
                <a:solidFill>
                  <a:schemeClr val="accent6"/>
                </a:solidFill>
              </a:rPr>
              <a:t> |   Workers    |                    |   Workers    |</a:t>
            </a:r>
          </a:p>
          <a:p>
            <a:pPr marL="12700" marR="5080"/>
            <a:r>
              <a:rPr lang="en-US" sz="1300" kern="0" spc="-80" dirty="0">
                <a:solidFill>
                  <a:schemeClr val="accent6"/>
                </a:solidFill>
              </a:rPr>
              <a:t> | (Celery/K8s) |                    | (Celery/K8s) |</a:t>
            </a:r>
          </a:p>
          <a:p>
            <a:pPr marL="12700" marR="5080"/>
            <a:r>
              <a:rPr lang="en-US" sz="1300" kern="0" spc="-80" dirty="0">
                <a:solidFill>
                  <a:schemeClr val="accent6"/>
                </a:solidFill>
              </a:rPr>
              <a:t> +------+-------+                    +------+-------+</a:t>
            </a:r>
          </a:p>
          <a:p>
            <a:pPr marL="12700" marR="5080"/>
            <a:r>
              <a:rPr lang="en-US" sz="1300" kern="0" spc="-80" dirty="0">
                <a:solidFill>
                  <a:schemeClr val="accent6"/>
                </a:solidFill>
              </a:rPr>
              <a:t>        |                                    |</a:t>
            </a:r>
          </a:p>
          <a:p>
            <a:pPr marL="12700" marR="5080"/>
            <a:r>
              <a:rPr lang="en-US" sz="1300" kern="0" spc="-80" dirty="0">
                <a:solidFill>
                  <a:schemeClr val="accent6"/>
                </a:solidFill>
              </a:rPr>
              <a:t>        +-------------execute tasks----------+</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External Systems</a:t>
            </a:r>
          </a:p>
          <a:p>
            <a:pPr marL="12700" marR="5080"/>
            <a:r>
              <a:rPr lang="en-US" sz="1300" kern="0" spc="-80" dirty="0">
                <a:solidFill>
                  <a:schemeClr val="accent6"/>
                </a:solidFill>
              </a:rPr>
              <a:t>     (S3, GCS, Spark, DBs, APIs, ML, etc.)</a:t>
            </a:r>
          </a:p>
          <a:p>
            <a:pPr marL="12700" marR="5080"/>
            <a:endParaRPr lang="en-US" sz="1300" kern="0" spc="-80" dirty="0">
              <a:solidFill>
                <a:schemeClr val="accent6"/>
              </a:solidFill>
            </a:endParaRPr>
          </a:p>
          <a:p>
            <a:pPr marL="12700" marR="5080"/>
            <a:r>
              <a:rPr lang="en-US" sz="1300" kern="0" spc="-80" dirty="0">
                <a:solidFill>
                  <a:schemeClr val="accent2"/>
                </a:solidFill>
              </a:rPr>
              <a:t>🏗️ Core Components </a:t>
            </a:r>
          </a:p>
          <a:p>
            <a:pPr marL="12700" marR="5080"/>
            <a:r>
              <a:rPr lang="en-US" sz="1300" kern="0" spc="-80" dirty="0">
                <a:solidFill>
                  <a:schemeClr val="accent2"/>
                </a:solidFill>
              </a:rPr>
              <a:t>1. DAG Files (Directed Acyclic Graphs)</a:t>
            </a:r>
          </a:p>
          <a:p>
            <a:pPr marL="12700" marR="5080"/>
            <a:r>
              <a:rPr lang="en-US" sz="1300" kern="0" spc="-80" dirty="0">
                <a:solidFill>
                  <a:schemeClr val="accent2"/>
                </a:solidFill>
              </a:rPr>
              <a:t>What they are</a:t>
            </a:r>
          </a:p>
          <a:p>
            <a:pPr marL="12700" marR="5080"/>
            <a:r>
              <a:rPr lang="en-US" sz="1300" kern="0" spc="-80" dirty="0">
                <a:solidFill>
                  <a:schemeClr val="accent6"/>
                </a:solidFill>
              </a:rPr>
              <a:t>Python files defining workflows.</a:t>
            </a:r>
          </a:p>
          <a:p>
            <a:pPr marL="12700" marR="5080"/>
            <a:r>
              <a:rPr lang="en-US" sz="1300" kern="0" spc="-80" dirty="0">
                <a:solidFill>
                  <a:schemeClr val="accent2"/>
                </a:solidFill>
              </a:rPr>
              <a:t>Contain:</a:t>
            </a:r>
          </a:p>
          <a:p>
            <a:pPr marL="12700" marR="5080"/>
            <a:r>
              <a:rPr lang="en-US" sz="1300" kern="0" spc="-80" dirty="0">
                <a:solidFill>
                  <a:schemeClr val="accent6"/>
                </a:solidFill>
              </a:rPr>
              <a:t>DAG definition</a:t>
            </a:r>
          </a:p>
          <a:p>
            <a:pPr marL="12700" marR="5080"/>
            <a:r>
              <a:rPr lang="en-US" sz="1300" kern="0" spc="-80" dirty="0">
                <a:solidFill>
                  <a:schemeClr val="accent6"/>
                </a:solidFill>
              </a:rPr>
              <a:t>Tasks</a:t>
            </a:r>
          </a:p>
        </p:txBody>
      </p:sp>
    </p:spTree>
    <p:extLst>
      <p:ext uri="{BB962C8B-B14F-4D97-AF65-F5344CB8AC3E}">
        <p14:creationId xmlns:p14="http://schemas.microsoft.com/office/powerpoint/2010/main" val="247707194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140DA-C4EC-65B5-F774-4F07D467B7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7F461C8-9A40-0751-1EF6-26E0151C362A}"/>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DCA052-2450-1BB9-99DA-BC2004D3B3E6}"/>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49A2FAFB-5BA8-CE1A-17D3-9016E1B2EBC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EF599A7-651B-F8A6-ED9D-BDD1DA05E9E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CAD53CD-234A-141E-95DD-93AE04FE45C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A48E9E1-9E47-918F-1B28-3C06EA99658A}"/>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E2B6D44-6396-AF27-777D-42C326922CB6}"/>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7244A44D-4532-65AD-1FE6-023B15BB6F4D}"/>
              </a:ext>
            </a:extLst>
          </p:cNvPr>
          <p:cNvSpPr txBox="1">
            <a:spLocks/>
          </p:cNvSpPr>
          <p:nvPr/>
        </p:nvSpPr>
        <p:spPr>
          <a:xfrm>
            <a:off x="1524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Core Components </a:t>
            </a:r>
          </a:p>
          <a:p>
            <a:pPr marL="12700" marR="5080"/>
            <a:r>
              <a:rPr lang="en-US" sz="1300" kern="0" spc="-80" dirty="0">
                <a:solidFill>
                  <a:schemeClr val="accent2"/>
                </a:solidFill>
              </a:rPr>
              <a:t>1. DAG Files (Directed Acyclic Graphs)</a:t>
            </a:r>
          </a:p>
          <a:p>
            <a:pPr marL="12700" marR="5080"/>
            <a:r>
              <a:rPr lang="en-US" sz="1300" kern="0" spc="-80" dirty="0">
                <a:solidFill>
                  <a:schemeClr val="accent2"/>
                </a:solidFill>
              </a:rPr>
              <a:t>Contain:</a:t>
            </a:r>
          </a:p>
          <a:p>
            <a:pPr marL="12700" marR="5080"/>
            <a:r>
              <a:rPr lang="en-US" sz="1300" kern="0" spc="-80" dirty="0">
                <a:solidFill>
                  <a:schemeClr val="accent6"/>
                </a:solidFill>
              </a:rPr>
              <a:t>Dependencies</a:t>
            </a:r>
          </a:p>
          <a:p>
            <a:pPr marL="12700" marR="5080"/>
            <a:r>
              <a:rPr lang="en-US" sz="1300" kern="0" spc="-80" dirty="0">
                <a:solidFill>
                  <a:schemeClr val="accent6"/>
                </a:solidFill>
              </a:rPr>
              <a:t>Scheduling rules</a:t>
            </a:r>
          </a:p>
          <a:p>
            <a:pPr marL="12700" marR="5080"/>
            <a:r>
              <a:rPr lang="en-US" sz="1300" kern="0" spc="-80" dirty="0">
                <a:solidFill>
                  <a:schemeClr val="accent2"/>
                </a:solidFill>
              </a:rPr>
              <a:t>Key points</a:t>
            </a:r>
          </a:p>
          <a:p>
            <a:pPr marL="12700" marR="5080"/>
            <a:r>
              <a:rPr lang="en-US" sz="1300" kern="0" spc="-80" dirty="0">
                <a:solidFill>
                  <a:schemeClr val="accent6"/>
                </a:solidFill>
              </a:rPr>
              <a:t>Stored in a shared folder (</a:t>
            </a:r>
            <a:r>
              <a:rPr lang="en-US" sz="1300" kern="0" spc="-80" dirty="0" err="1">
                <a:solidFill>
                  <a:schemeClr val="accent6"/>
                </a:solidFill>
              </a:rPr>
              <a:t>dags</a:t>
            </a:r>
            <a:r>
              <a:rPr lang="en-US" sz="1300" kern="0" spc="-80" dirty="0">
                <a:solidFill>
                  <a:schemeClr val="accent6"/>
                </a:solidFill>
              </a:rPr>
              <a:t>/)</a:t>
            </a:r>
          </a:p>
          <a:p>
            <a:pPr marL="12700" marR="5080"/>
            <a:r>
              <a:rPr lang="en-US" sz="1300" kern="0" spc="-80" dirty="0">
                <a:solidFill>
                  <a:schemeClr val="accent6"/>
                </a:solidFill>
              </a:rPr>
              <a:t>Parsed continuously by Scheduler &amp; Webserver</a:t>
            </a:r>
          </a:p>
          <a:p>
            <a:pPr marL="12700" marR="5080"/>
            <a:r>
              <a:rPr lang="en-US" sz="1300" kern="0" spc="-80" dirty="0">
                <a:solidFill>
                  <a:schemeClr val="accent2"/>
                </a:solidFill>
              </a:rPr>
              <a:t>Declarative: </a:t>
            </a:r>
            <a:r>
              <a:rPr lang="en-US" sz="1300" kern="0" spc="-80" dirty="0">
                <a:solidFill>
                  <a:schemeClr val="accent6"/>
                </a:solidFill>
              </a:rPr>
              <a:t>what to run, not how infrastructure runs it</a:t>
            </a:r>
          </a:p>
          <a:p>
            <a:pPr marL="12700" marR="5080"/>
            <a:r>
              <a:rPr lang="en-US" sz="1300" kern="0" spc="-80" dirty="0">
                <a:solidFill>
                  <a:schemeClr val="accent2"/>
                </a:solidFill>
              </a:rPr>
              <a:t>Example conceptually:</a:t>
            </a:r>
          </a:p>
          <a:p>
            <a:pPr marL="12700" marR="5080"/>
            <a:r>
              <a:rPr lang="en-US" sz="1300" kern="0" spc="-80" dirty="0" err="1">
                <a:solidFill>
                  <a:schemeClr val="accent6"/>
                </a:solidFill>
              </a:rPr>
              <a:t>extract_data</a:t>
            </a:r>
            <a:r>
              <a:rPr lang="en-US" sz="1300" kern="0" spc="-80" dirty="0">
                <a:solidFill>
                  <a:schemeClr val="accent6"/>
                </a:solidFill>
              </a:rPr>
              <a:t> &gt;&gt; </a:t>
            </a:r>
            <a:r>
              <a:rPr lang="en-US" sz="1300" kern="0" spc="-80" dirty="0" err="1">
                <a:solidFill>
                  <a:schemeClr val="accent6"/>
                </a:solidFill>
              </a:rPr>
              <a:t>transform_data</a:t>
            </a:r>
            <a:r>
              <a:rPr lang="en-US" sz="1300" kern="0" spc="-80" dirty="0">
                <a:solidFill>
                  <a:schemeClr val="accent6"/>
                </a:solidFill>
              </a:rPr>
              <a:t> &gt;&gt; </a:t>
            </a:r>
            <a:r>
              <a:rPr lang="en-US" sz="1300" kern="0" spc="-80" dirty="0" err="1">
                <a:solidFill>
                  <a:schemeClr val="accent6"/>
                </a:solidFill>
              </a:rPr>
              <a:t>load_data</a:t>
            </a:r>
            <a:endParaRPr lang="en-US" sz="1300" kern="0" spc="-80" dirty="0">
              <a:solidFill>
                <a:schemeClr val="accent6"/>
              </a:solidFill>
            </a:endParaRPr>
          </a:p>
          <a:p>
            <a:pPr marL="12700" marR="5080"/>
            <a:endParaRPr lang="en-US" sz="1300" kern="0" spc="-80" dirty="0">
              <a:solidFill>
                <a:schemeClr val="accent6"/>
              </a:solidFill>
            </a:endParaRPr>
          </a:p>
          <a:p>
            <a:pPr marL="12700" marR="5080"/>
            <a:r>
              <a:rPr lang="en-US" sz="1300" kern="0" spc="-80" dirty="0">
                <a:solidFill>
                  <a:schemeClr val="accent2"/>
                </a:solidFill>
              </a:rPr>
              <a:t>2. Web Server</a:t>
            </a:r>
          </a:p>
          <a:p>
            <a:pPr marL="12700" marR="5080"/>
            <a:r>
              <a:rPr lang="en-US" sz="1300" kern="0" spc="-80" dirty="0">
                <a:solidFill>
                  <a:schemeClr val="accent2"/>
                </a:solidFill>
              </a:rPr>
              <a:t>Purpose</a:t>
            </a:r>
          </a:p>
          <a:p>
            <a:pPr marL="12700" marR="5080"/>
            <a:r>
              <a:rPr lang="en-US" sz="1300" kern="0" spc="-80" dirty="0">
                <a:solidFill>
                  <a:schemeClr val="accent6"/>
                </a:solidFill>
              </a:rPr>
              <a:t>Provides UI + REST API</a:t>
            </a:r>
          </a:p>
          <a:p>
            <a:pPr marL="12700" marR="5080"/>
            <a:r>
              <a:rPr lang="en-US" sz="1300" kern="0" spc="-80" dirty="0">
                <a:solidFill>
                  <a:schemeClr val="accent2"/>
                </a:solidFill>
              </a:rPr>
              <a:t>Responsibilities</a:t>
            </a:r>
          </a:p>
          <a:p>
            <a:pPr marL="12700" marR="5080"/>
            <a:r>
              <a:rPr lang="en-US" sz="1300" kern="0" spc="-80" dirty="0">
                <a:solidFill>
                  <a:schemeClr val="accent6"/>
                </a:solidFill>
              </a:rPr>
              <a:t>Displays DAGs</a:t>
            </a:r>
          </a:p>
          <a:p>
            <a:pPr marL="12700" marR="5080"/>
            <a:r>
              <a:rPr lang="en-US" sz="1300" kern="0" spc="-80" dirty="0">
                <a:solidFill>
                  <a:schemeClr val="accent6"/>
                </a:solidFill>
              </a:rPr>
              <a:t>Shows task logs &amp; status</a:t>
            </a:r>
          </a:p>
          <a:p>
            <a:pPr marL="12700" marR="5080"/>
            <a:r>
              <a:rPr lang="en-US" sz="1300" kern="0" spc="-80" dirty="0">
                <a:solidFill>
                  <a:schemeClr val="accent2"/>
                </a:solidFill>
              </a:rPr>
              <a:t>Allows:</a:t>
            </a:r>
          </a:p>
          <a:p>
            <a:pPr marL="12700" marR="5080"/>
            <a:r>
              <a:rPr lang="en-US" sz="1300" kern="0" spc="-80" dirty="0">
                <a:solidFill>
                  <a:schemeClr val="accent6"/>
                </a:solidFill>
              </a:rPr>
              <a:t>Manual DAG trigger</a:t>
            </a:r>
          </a:p>
          <a:p>
            <a:pPr marL="12700" marR="5080"/>
            <a:r>
              <a:rPr lang="en-US" sz="1300" kern="0" spc="-80" dirty="0">
                <a:solidFill>
                  <a:schemeClr val="accent6"/>
                </a:solidFill>
              </a:rPr>
              <a:t>Pause/resume DAGs</a:t>
            </a:r>
          </a:p>
          <a:p>
            <a:pPr marL="12700" marR="5080"/>
            <a:r>
              <a:rPr lang="en-US" sz="1300" kern="0" spc="-80" dirty="0">
                <a:solidFill>
                  <a:schemeClr val="accent6"/>
                </a:solidFill>
              </a:rPr>
              <a:t>Clear tasks</a:t>
            </a:r>
          </a:p>
          <a:p>
            <a:pPr marL="12700" marR="5080"/>
            <a:r>
              <a:rPr lang="en-US" sz="1300" kern="0" spc="-80" dirty="0">
                <a:solidFill>
                  <a:schemeClr val="accent6"/>
                </a:solidFill>
              </a:rPr>
              <a:t>Reads everything from Metadata Database</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21973510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54F6B-3A8B-835C-A83E-A9A5149E13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458D38E-5123-C184-1C2D-1CF85CE95CC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6124CD-DD2C-264D-96D9-B327D6BC203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861B06C7-31CF-90FA-D548-3DCC2F67215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7546088-EA52-D668-2E13-8C23E541224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E239AAE-0376-7C59-E9CB-9ABEC94C0CB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F989980A-7480-F95A-3B79-BE5859C7581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6AF1B80-3DF4-EE96-6AF7-BC9E538F7C66}"/>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02B96564-A2E4-7D27-CC67-D5A962C120DB}"/>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Core Components </a:t>
            </a:r>
          </a:p>
          <a:p>
            <a:pPr marL="12700" marR="5080"/>
            <a:r>
              <a:rPr lang="en-US" sz="1300" kern="0" spc="-80" dirty="0">
                <a:solidFill>
                  <a:schemeClr val="accent2"/>
                </a:solidFill>
              </a:rPr>
              <a:t>2. Web Server</a:t>
            </a:r>
          </a:p>
          <a:p>
            <a:pPr marL="12700" marR="5080"/>
            <a:r>
              <a:rPr lang="en-US" sz="1300" kern="0" spc="-80" dirty="0">
                <a:solidFill>
                  <a:schemeClr val="accent2"/>
                </a:solidFill>
              </a:rPr>
              <a:t>Important</a:t>
            </a:r>
          </a:p>
          <a:p>
            <a:pPr marL="12700" marR="5080"/>
            <a:r>
              <a:rPr lang="en-US" sz="1300" kern="0" spc="-80" dirty="0">
                <a:solidFill>
                  <a:schemeClr val="accent6"/>
                </a:solidFill>
              </a:rPr>
              <a:t>Does NOT execute tasks.</a:t>
            </a:r>
          </a:p>
          <a:p>
            <a:pPr marL="12700" marR="5080"/>
            <a:r>
              <a:rPr lang="en-US" sz="1300" kern="0" spc="-80" dirty="0">
                <a:solidFill>
                  <a:schemeClr val="accent6"/>
                </a:solidFill>
              </a:rPr>
              <a:t>Purely visualization + control plane.</a:t>
            </a:r>
          </a:p>
          <a:p>
            <a:pPr marL="12700" marR="5080"/>
            <a:endParaRPr lang="en-US" sz="1300" kern="0" spc="-80" dirty="0">
              <a:solidFill>
                <a:schemeClr val="accent6"/>
              </a:solidFill>
            </a:endParaRPr>
          </a:p>
          <a:p>
            <a:pPr marL="12700" marR="5080"/>
            <a:r>
              <a:rPr lang="en-US" sz="1300" kern="0" spc="-80" dirty="0">
                <a:solidFill>
                  <a:schemeClr val="accent2"/>
                </a:solidFill>
              </a:rPr>
              <a:t>3. Metadata Database</a:t>
            </a:r>
          </a:p>
          <a:p>
            <a:pPr marL="12700" marR="5080"/>
            <a:r>
              <a:rPr lang="en-US" sz="1300" kern="0" spc="-80" dirty="0">
                <a:solidFill>
                  <a:schemeClr val="accent2"/>
                </a:solidFill>
              </a:rPr>
              <a:t>Purpose</a:t>
            </a:r>
          </a:p>
          <a:p>
            <a:pPr marL="12700" marR="5080"/>
            <a:r>
              <a:rPr lang="en-US" sz="1300" kern="0" spc="-80" dirty="0">
                <a:solidFill>
                  <a:schemeClr val="accent6"/>
                </a:solidFill>
              </a:rPr>
              <a:t>Single source of truth.</a:t>
            </a:r>
          </a:p>
          <a:p>
            <a:pPr marL="12700" marR="5080"/>
            <a:r>
              <a:rPr lang="en-US" sz="1300" kern="0" spc="-80" dirty="0">
                <a:solidFill>
                  <a:schemeClr val="accent2"/>
                </a:solidFill>
              </a:rPr>
              <a:t>Usually:</a:t>
            </a:r>
          </a:p>
          <a:p>
            <a:pPr marL="12700" marR="5080"/>
            <a:r>
              <a:rPr lang="en-US" sz="1300" kern="0" spc="-80" dirty="0">
                <a:solidFill>
                  <a:schemeClr val="accent6"/>
                </a:solidFill>
              </a:rPr>
              <a:t>PostgreSQL (production)</a:t>
            </a:r>
          </a:p>
          <a:p>
            <a:pPr marL="12700" marR="5080"/>
            <a:r>
              <a:rPr lang="en-US" sz="1300" kern="0" spc="-80" dirty="0">
                <a:solidFill>
                  <a:schemeClr val="accent6"/>
                </a:solidFill>
              </a:rPr>
              <a:t>MySQL</a:t>
            </a:r>
          </a:p>
          <a:p>
            <a:pPr marL="12700" marR="5080"/>
            <a:r>
              <a:rPr lang="en-US" sz="1300" kern="0" spc="-80" dirty="0">
                <a:solidFill>
                  <a:schemeClr val="accent2"/>
                </a:solidFill>
              </a:rPr>
              <a:t>Stores:</a:t>
            </a:r>
          </a:p>
          <a:p>
            <a:pPr marL="12700" marR="5080"/>
            <a:r>
              <a:rPr lang="en-US" sz="1300" kern="0" spc="-80" dirty="0">
                <a:solidFill>
                  <a:schemeClr val="accent6"/>
                </a:solidFill>
              </a:rPr>
              <a:t>DAG states</a:t>
            </a:r>
          </a:p>
          <a:p>
            <a:pPr marL="12700" marR="5080"/>
            <a:r>
              <a:rPr lang="en-US" sz="1300" kern="0" spc="-80" dirty="0">
                <a:solidFill>
                  <a:schemeClr val="accent6"/>
                </a:solidFill>
              </a:rPr>
              <a:t>Task instances</a:t>
            </a:r>
          </a:p>
          <a:p>
            <a:pPr marL="12700" marR="5080"/>
            <a:r>
              <a:rPr lang="en-US" sz="1300" kern="0" spc="-80" dirty="0">
                <a:solidFill>
                  <a:schemeClr val="accent2"/>
                </a:solidFill>
              </a:rPr>
              <a:t>Run history</a:t>
            </a:r>
          </a:p>
          <a:p>
            <a:pPr marL="12700" marR="5080"/>
            <a:r>
              <a:rPr lang="en-US" sz="1300" kern="0" spc="-80" dirty="0">
                <a:solidFill>
                  <a:schemeClr val="accent6"/>
                </a:solidFill>
              </a:rPr>
              <a:t>Connections</a:t>
            </a:r>
          </a:p>
          <a:p>
            <a:pPr marL="12700" marR="5080"/>
            <a:r>
              <a:rPr lang="en-US" sz="1300" kern="0" spc="-80" dirty="0">
                <a:solidFill>
                  <a:schemeClr val="accent6"/>
                </a:solidFill>
              </a:rPr>
              <a:t>Variables</a:t>
            </a:r>
          </a:p>
          <a:p>
            <a:pPr marL="12700" marR="5080"/>
            <a:r>
              <a:rPr lang="en-US" sz="1300" kern="0" spc="-80" dirty="0" err="1">
                <a:solidFill>
                  <a:schemeClr val="accent6"/>
                </a:solidFill>
              </a:rPr>
              <a:t>XComs</a:t>
            </a:r>
            <a:endParaRPr lang="en-US" sz="1300" kern="0" spc="-80" dirty="0">
              <a:solidFill>
                <a:schemeClr val="accent6"/>
              </a:solidFill>
            </a:endParaRPr>
          </a:p>
          <a:p>
            <a:pPr marL="12700" marR="5080"/>
            <a:r>
              <a:rPr lang="en-US" sz="1300" kern="0" spc="-80" dirty="0">
                <a:solidFill>
                  <a:schemeClr val="accent6"/>
                </a:solidFill>
              </a:rPr>
              <a:t>User info</a:t>
            </a:r>
          </a:p>
          <a:p>
            <a:pPr marL="12700" marR="5080"/>
            <a:r>
              <a:rPr lang="en-US" sz="1300" kern="0" spc="-80" dirty="0">
                <a:solidFill>
                  <a:schemeClr val="accent2"/>
                </a:solidFill>
              </a:rPr>
              <a:t>Think of it as:</a:t>
            </a:r>
          </a:p>
          <a:p>
            <a:pPr marL="12700" marR="5080"/>
            <a:r>
              <a:rPr lang="en-US" sz="1300" kern="0" spc="-80" dirty="0">
                <a:solidFill>
                  <a:schemeClr val="accent6"/>
                </a:solidFill>
              </a:rPr>
              <a:t>Airflow’s brain + memory</a:t>
            </a:r>
          </a:p>
          <a:p>
            <a:pPr marL="12700" marR="5080"/>
            <a:r>
              <a:rPr lang="en-US" sz="1300" kern="0" spc="-80" dirty="0">
                <a:solidFill>
                  <a:schemeClr val="accent6"/>
                </a:solidFill>
              </a:rPr>
              <a:t>Every component talks to it.</a:t>
            </a:r>
          </a:p>
        </p:txBody>
      </p:sp>
    </p:spTree>
    <p:extLst>
      <p:ext uri="{BB962C8B-B14F-4D97-AF65-F5344CB8AC3E}">
        <p14:creationId xmlns:p14="http://schemas.microsoft.com/office/powerpoint/2010/main" val="326631447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CB43C-18D7-C013-8C69-237B6459A9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CE89AB-03FC-3BE4-4A1F-2AC5EB29FAC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30D8BD-D228-E0D1-8C9C-BFD6973267C3}"/>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B7B62C44-0D99-E474-4608-5658F507476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70CBBA5-3BA2-7382-372E-BFA3BC93827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C3CFBEA-AFFB-3B03-FECF-8E5BF0A0F20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B5AC92DA-8039-DF4B-3252-29D7C84284F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23D2FBAF-6D79-A36B-94C4-316259FDCD87}"/>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A7692295-9432-0184-8F39-406342730D4B}"/>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Core Components </a:t>
            </a:r>
          </a:p>
          <a:p>
            <a:pPr marL="12700" marR="5080"/>
            <a:r>
              <a:rPr lang="en-US" sz="1300" kern="0" spc="-80" dirty="0">
                <a:solidFill>
                  <a:schemeClr val="accent2"/>
                </a:solidFill>
              </a:rPr>
              <a:t>4. Scheduler (Most Critical Component)</a:t>
            </a:r>
          </a:p>
          <a:p>
            <a:pPr marL="12700" marR="5080"/>
            <a:r>
              <a:rPr lang="en-US" sz="1300" kern="0" spc="-80" dirty="0">
                <a:solidFill>
                  <a:schemeClr val="accent2"/>
                </a:solidFill>
              </a:rPr>
              <a:t>Purpose</a:t>
            </a:r>
          </a:p>
          <a:p>
            <a:pPr marL="12700" marR="5080"/>
            <a:r>
              <a:rPr lang="en-US" sz="1300" kern="0" spc="-80" dirty="0">
                <a:solidFill>
                  <a:schemeClr val="accent6"/>
                </a:solidFill>
              </a:rPr>
              <a:t>Decides what should run and when.</a:t>
            </a:r>
          </a:p>
          <a:p>
            <a:pPr marL="12700" marR="5080"/>
            <a:r>
              <a:rPr lang="en-US" sz="1300" kern="0" spc="-80" dirty="0">
                <a:solidFill>
                  <a:schemeClr val="accent2"/>
                </a:solidFill>
              </a:rPr>
              <a:t>Responsibilities</a:t>
            </a:r>
          </a:p>
          <a:p>
            <a:pPr marL="12700" marR="5080"/>
            <a:r>
              <a:rPr lang="en-US" sz="1300" kern="0" spc="-80" dirty="0">
                <a:solidFill>
                  <a:schemeClr val="accent6"/>
                </a:solidFill>
              </a:rPr>
              <a:t>Parses DAGs</a:t>
            </a:r>
          </a:p>
          <a:p>
            <a:pPr marL="12700" marR="5080"/>
            <a:r>
              <a:rPr lang="en-US" sz="1300" kern="0" spc="-80" dirty="0">
                <a:solidFill>
                  <a:schemeClr val="accent6"/>
                </a:solidFill>
              </a:rPr>
              <a:t>Determines runnable tasks</a:t>
            </a:r>
          </a:p>
          <a:p>
            <a:pPr marL="12700" marR="5080"/>
            <a:r>
              <a:rPr lang="en-US" sz="1300" kern="0" spc="-80" dirty="0">
                <a:solidFill>
                  <a:schemeClr val="accent6"/>
                </a:solidFill>
              </a:rPr>
              <a:t>Creates Task Instances</a:t>
            </a:r>
          </a:p>
          <a:p>
            <a:pPr marL="12700" marR="5080"/>
            <a:r>
              <a:rPr lang="en-US" sz="1300" kern="0" spc="-80" dirty="0">
                <a:solidFill>
                  <a:schemeClr val="accent6"/>
                </a:solidFill>
              </a:rPr>
              <a:t>Pushes tasks to executor</a:t>
            </a:r>
          </a:p>
          <a:p>
            <a:pPr marL="12700" marR="5080"/>
            <a:r>
              <a:rPr lang="en-US" sz="1300" kern="0" spc="-80" dirty="0">
                <a:solidFill>
                  <a:schemeClr val="accent6"/>
                </a:solidFill>
              </a:rPr>
              <a:t>Monitors task heartbeats</a:t>
            </a:r>
          </a:p>
          <a:p>
            <a:pPr marL="12700" marR="5080"/>
            <a:r>
              <a:rPr lang="en-US" sz="1300" kern="0" spc="-80" dirty="0">
                <a:solidFill>
                  <a:schemeClr val="accent6"/>
                </a:solidFill>
              </a:rPr>
              <a:t>Handles retries &amp; SLA misses</a:t>
            </a:r>
          </a:p>
          <a:p>
            <a:pPr marL="12700" marR="5080"/>
            <a:r>
              <a:rPr lang="en-US" sz="1300" kern="0" spc="-80" dirty="0">
                <a:solidFill>
                  <a:schemeClr val="accent2"/>
                </a:solidFill>
              </a:rPr>
              <a:t>Internally:</a:t>
            </a:r>
          </a:p>
          <a:p>
            <a:pPr marL="12700" marR="5080"/>
            <a:r>
              <a:rPr lang="en-US" sz="1300" kern="0" spc="-80" dirty="0">
                <a:solidFill>
                  <a:schemeClr val="accent6"/>
                </a:solidFill>
              </a:rPr>
              <a:t>DAG → Task → </a:t>
            </a:r>
            <a:r>
              <a:rPr lang="en-US" sz="1300" kern="0" spc="-80" dirty="0" err="1">
                <a:solidFill>
                  <a:schemeClr val="accent6"/>
                </a:solidFill>
              </a:rPr>
              <a:t>TaskInstance</a:t>
            </a:r>
            <a:r>
              <a:rPr lang="en-US" sz="1300" kern="0" spc="-80" dirty="0">
                <a:solidFill>
                  <a:schemeClr val="accent6"/>
                </a:solidFill>
              </a:rPr>
              <a:t> → Executor Queue</a:t>
            </a:r>
          </a:p>
          <a:p>
            <a:pPr marL="12700" marR="5080"/>
            <a:r>
              <a:rPr lang="en-US" sz="1300" kern="0" spc="-80" dirty="0">
                <a:solidFill>
                  <a:schemeClr val="accent6"/>
                </a:solidFill>
              </a:rPr>
              <a:t>If Scheduler stops → Airflow is effectively dead.</a:t>
            </a:r>
          </a:p>
          <a:p>
            <a:pPr marL="12700" marR="5080"/>
            <a:endParaRPr lang="en-US" sz="1300" kern="0" spc="-80" dirty="0">
              <a:solidFill>
                <a:schemeClr val="accent6"/>
              </a:solidFill>
            </a:endParaRPr>
          </a:p>
          <a:p>
            <a:pPr marL="12700" marR="5080"/>
            <a:r>
              <a:rPr lang="en-US" sz="1300" kern="0" spc="-80" dirty="0">
                <a:solidFill>
                  <a:schemeClr val="accent2"/>
                </a:solidFill>
              </a:rPr>
              <a:t>5. Executor (Execution Strategy)</a:t>
            </a:r>
          </a:p>
          <a:p>
            <a:pPr marL="12700" marR="5080"/>
            <a:r>
              <a:rPr lang="en-US" sz="1300" kern="0" spc="-80" dirty="0">
                <a:solidFill>
                  <a:schemeClr val="accent6"/>
                </a:solidFill>
              </a:rPr>
              <a:t>Defines HOW tasks are executed.</a:t>
            </a:r>
          </a:p>
          <a:p>
            <a:pPr marL="12700" marR="5080"/>
            <a:r>
              <a:rPr lang="en-US" sz="1300" kern="0" spc="-80" dirty="0">
                <a:solidFill>
                  <a:schemeClr val="accent2"/>
                </a:solidFill>
              </a:rPr>
              <a:t>Common types:</a:t>
            </a:r>
          </a:p>
          <a:p>
            <a:pPr marL="12700" marR="5080"/>
            <a:r>
              <a:rPr lang="en-US" sz="1300" kern="0" spc="-80" dirty="0">
                <a:solidFill>
                  <a:schemeClr val="accent2"/>
                </a:solidFill>
              </a:rPr>
              <a:t>a) </a:t>
            </a:r>
            <a:r>
              <a:rPr lang="en-US" sz="1300" kern="0" spc="-80" dirty="0" err="1">
                <a:solidFill>
                  <a:schemeClr val="accent2"/>
                </a:solidFill>
              </a:rPr>
              <a:t>SequentialExecutor</a:t>
            </a:r>
            <a:r>
              <a:rPr lang="en-US" sz="1300" kern="0" spc="-80" dirty="0">
                <a:solidFill>
                  <a:schemeClr val="accent2"/>
                </a:solidFill>
              </a:rPr>
              <a:t> (local/dev only)</a:t>
            </a:r>
          </a:p>
          <a:p>
            <a:pPr marL="12700" marR="5080"/>
            <a:r>
              <a:rPr lang="en-US" sz="1300" kern="0" spc="-80" dirty="0">
                <a:solidFill>
                  <a:schemeClr val="accent6"/>
                </a:solidFill>
              </a:rPr>
              <a:t>1 task at a time</a:t>
            </a:r>
          </a:p>
          <a:p>
            <a:pPr marL="12700" marR="5080"/>
            <a:r>
              <a:rPr lang="en-US" sz="1300" kern="0" spc="-80" dirty="0">
                <a:solidFill>
                  <a:schemeClr val="accent2"/>
                </a:solidFill>
              </a:rPr>
              <a:t>b) </a:t>
            </a:r>
            <a:r>
              <a:rPr lang="en-US" sz="1300" kern="0" spc="-80" dirty="0" err="1">
                <a:solidFill>
                  <a:schemeClr val="accent2"/>
                </a:solidFill>
              </a:rPr>
              <a:t>LocalExecutor</a:t>
            </a:r>
            <a:endParaRPr lang="en-US" sz="1300" kern="0" spc="-80" dirty="0">
              <a:solidFill>
                <a:schemeClr val="accent2"/>
              </a:solidFill>
            </a:endParaRPr>
          </a:p>
          <a:p>
            <a:pPr marL="12700" marR="5080"/>
            <a:r>
              <a:rPr lang="en-US" sz="1300" kern="0" spc="-80" dirty="0">
                <a:solidFill>
                  <a:schemeClr val="accent6"/>
                </a:solidFill>
              </a:rPr>
              <a:t>Multiple processes on same machine</a:t>
            </a:r>
          </a:p>
          <a:p>
            <a:pPr marL="12700" marR="5080"/>
            <a:r>
              <a:rPr lang="en-US" sz="1300" kern="0" spc="-80" dirty="0">
                <a:solidFill>
                  <a:schemeClr val="accent6"/>
                </a:solidFill>
              </a:rPr>
              <a:t>Good for small setups.</a:t>
            </a:r>
          </a:p>
        </p:txBody>
      </p:sp>
    </p:spTree>
    <p:extLst>
      <p:ext uri="{BB962C8B-B14F-4D97-AF65-F5344CB8AC3E}">
        <p14:creationId xmlns:p14="http://schemas.microsoft.com/office/powerpoint/2010/main" val="7671192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D001-6893-A01C-8BD5-627A12DB8A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5152F3-CA8A-DB02-3568-1A276AAE817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B36B49-1416-9485-17D3-A22FF786EA0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E67E1A29-A984-9239-2DF1-78233EEB22C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A4909B8-9261-4185-88B0-9763E4C7207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9CE7101-501A-C71A-9A3F-50129DD21CE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A5FB7CA0-3EA4-883E-EA57-21C3532B29F1}"/>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D22C002D-BA0F-BDE5-3738-5BE7CAF4FC42}"/>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C8243909-294F-9C22-BD37-414FA4B81D74}"/>
              </a:ext>
            </a:extLst>
          </p:cNvPr>
          <p:cNvSpPr txBox="1">
            <a:spLocks/>
          </p:cNvSpPr>
          <p:nvPr/>
        </p:nvSpPr>
        <p:spPr>
          <a:xfrm>
            <a:off x="152400" y="7620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Core Components </a:t>
            </a:r>
          </a:p>
          <a:p>
            <a:pPr marL="12700" marR="5080"/>
            <a:r>
              <a:rPr lang="en-US" sz="1300" kern="0" spc="-80" dirty="0">
                <a:solidFill>
                  <a:schemeClr val="accent2"/>
                </a:solidFill>
              </a:rPr>
              <a:t>5. Executor (Execution Strategy)</a:t>
            </a:r>
          </a:p>
          <a:p>
            <a:pPr marL="12700" marR="5080"/>
            <a:r>
              <a:rPr lang="en-US" sz="1300" kern="0" spc="-80" dirty="0">
                <a:solidFill>
                  <a:schemeClr val="accent2"/>
                </a:solidFill>
              </a:rPr>
              <a:t>c) </a:t>
            </a:r>
            <a:r>
              <a:rPr lang="en-US" sz="1300" kern="0" spc="-80" dirty="0" err="1">
                <a:solidFill>
                  <a:schemeClr val="accent2"/>
                </a:solidFill>
              </a:rPr>
              <a:t>CeleryExecutor</a:t>
            </a:r>
            <a:r>
              <a:rPr lang="en-US" sz="1300" kern="0" spc="-80" dirty="0">
                <a:solidFill>
                  <a:schemeClr val="accent2"/>
                </a:solidFill>
              </a:rPr>
              <a:t> (distributed)</a:t>
            </a:r>
          </a:p>
          <a:p>
            <a:pPr marL="12700" marR="5080"/>
            <a:r>
              <a:rPr lang="en-US" sz="1300" kern="0" spc="-80" dirty="0">
                <a:solidFill>
                  <a:schemeClr val="accent6"/>
                </a:solidFill>
              </a:rPr>
              <a:t>Scheduler → Redis/RabbitMQ → Workers</a:t>
            </a:r>
          </a:p>
          <a:p>
            <a:pPr marL="12700" marR="5080"/>
            <a:r>
              <a:rPr lang="en-US" sz="1300" kern="0" spc="-80" dirty="0">
                <a:solidFill>
                  <a:schemeClr val="accent6"/>
                </a:solidFill>
              </a:rPr>
              <a:t>Defines HOW tasks are executed.</a:t>
            </a:r>
          </a:p>
          <a:p>
            <a:pPr marL="12700" marR="5080"/>
            <a:r>
              <a:rPr lang="en-US" sz="1300" kern="0" spc="-80" dirty="0">
                <a:solidFill>
                  <a:schemeClr val="accent2"/>
                </a:solidFill>
              </a:rPr>
              <a:t>d) </a:t>
            </a:r>
            <a:r>
              <a:rPr lang="en-US" sz="1300" kern="0" spc="-80" dirty="0" err="1">
                <a:solidFill>
                  <a:schemeClr val="accent2"/>
                </a:solidFill>
              </a:rPr>
              <a:t>KubernetesExecutor</a:t>
            </a:r>
            <a:endParaRPr lang="en-US" sz="1300" kern="0" spc="-80" dirty="0">
              <a:solidFill>
                <a:schemeClr val="accent2"/>
              </a:solidFill>
            </a:endParaRPr>
          </a:p>
          <a:p>
            <a:pPr marL="12700" marR="5080"/>
            <a:r>
              <a:rPr lang="en-US" sz="1300" kern="0" spc="-80" dirty="0">
                <a:solidFill>
                  <a:schemeClr val="accent6"/>
                </a:solidFill>
              </a:rPr>
              <a:t>Each task = new Kubernetes Pod</a:t>
            </a:r>
          </a:p>
          <a:p>
            <a:pPr marL="12700" marR="5080"/>
            <a:r>
              <a:rPr lang="en-US" sz="1300" kern="0" spc="-80" dirty="0">
                <a:solidFill>
                  <a:schemeClr val="accent6"/>
                </a:solidFill>
              </a:rPr>
              <a:t>Very cloud-native.</a:t>
            </a:r>
          </a:p>
          <a:p>
            <a:pPr marL="12700" marR="5080"/>
            <a:r>
              <a:rPr lang="en-US" sz="1300" kern="0" spc="-80" dirty="0">
                <a:solidFill>
                  <a:schemeClr val="accent2"/>
                </a:solidFill>
              </a:rPr>
              <a:t>e) </a:t>
            </a:r>
            <a:r>
              <a:rPr lang="en-US" sz="1300" kern="0" spc="-80" dirty="0" err="1">
                <a:solidFill>
                  <a:schemeClr val="accent2"/>
                </a:solidFill>
              </a:rPr>
              <a:t>CeleryKubernetesExecutor</a:t>
            </a:r>
            <a:endParaRPr lang="en-US" sz="1300" kern="0" spc="-80" dirty="0">
              <a:solidFill>
                <a:schemeClr val="accent2"/>
              </a:solidFill>
            </a:endParaRPr>
          </a:p>
          <a:p>
            <a:pPr marL="12700" marR="5080"/>
            <a:r>
              <a:rPr lang="en-US" sz="1300" kern="0" spc="-80" dirty="0">
                <a:solidFill>
                  <a:schemeClr val="accent6"/>
                </a:solidFill>
              </a:rPr>
              <a:t>Hybrid of Celery + K8s.</a:t>
            </a:r>
          </a:p>
          <a:p>
            <a:pPr marL="12700" marR="5080"/>
            <a:endParaRPr lang="en-US" sz="1300" kern="0" spc="-80" dirty="0">
              <a:solidFill>
                <a:schemeClr val="accent6"/>
              </a:solidFill>
            </a:endParaRPr>
          </a:p>
          <a:p>
            <a:pPr marL="12700" marR="5080"/>
            <a:r>
              <a:rPr lang="en-US" sz="1300" kern="0" spc="-80" dirty="0">
                <a:solidFill>
                  <a:schemeClr val="accent2"/>
                </a:solidFill>
              </a:rPr>
              <a:t>6. Workers (Task Runners)</a:t>
            </a:r>
          </a:p>
          <a:p>
            <a:pPr marL="12700" marR="5080"/>
            <a:r>
              <a:rPr lang="en-US" sz="1300" kern="0" spc="-80" dirty="0">
                <a:solidFill>
                  <a:schemeClr val="accent2"/>
                </a:solidFill>
              </a:rPr>
              <a:t>Purpose</a:t>
            </a:r>
          </a:p>
          <a:p>
            <a:pPr marL="12700" marR="5080"/>
            <a:r>
              <a:rPr lang="en-US" sz="1300" kern="0" spc="-80" dirty="0">
                <a:solidFill>
                  <a:schemeClr val="accent6"/>
                </a:solidFill>
              </a:rPr>
              <a:t>Actually execute your Python operators.</a:t>
            </a:r>
          </a:p>
          <a:p>
            <a:pPr marL="12700" marR="5080"/>
            <a:r>
              <a:rPr lang="en-US" sz="1300" kern="0" spc="-80" dirty="0">
                <a:solidFill>
                  <a:schemeClr val="accent2"/>
                </a:solidFill>
              </a:rPr>
              <a:t>They:</a:t>
            </a:r>
          </a:p>
          <a:p>
            <a:pPr marL="12700" marR="5080"/>
            <a:r>
              <a:rPr lang="en-US" sz="1300" kern="0" spc="-80" dirty="0">
                <a:solidFill>
                  <a:schemeClr val="accent6"/>
                </a:solidFill>
              </a:rPr>
              <a:t>Pull tasks from executor queue</a:t>
            </a:r>
          </a:p>
          <a:p>
            <a:pPr marL="12700" marR="5080"/>
            <a:r>
              <a:rPr lang="en-US" sz="1300" kern="0" spc="-80" dirty="0">
                <a:solidFill>
                  <a:schemeClr val="accent6"/>
                </a:solidFill>
              </a:rPr>
              <a:t>Run task code</a:t>
            </a:r>
          </a:p>
          <a:p>
            <a:pPr marL="12700" marR="5080"/>
            <a:r>
              <a:rPr lang="en-US" sz="1300" kern="0" spc="-80" dirty="0">
                <a:solidFill>
                  <a:schemeClr val="accent6"/>
                </a:solidFill>
              </a:rPr>
              <a:t>Stream logs</a:t>
            </a:r>
          </a:p>
          <a:p>
            <a:pPr marL="12700" marR="5080"/>
            <a:r>
              <a:rPr lang="en-US" sz="1300" kern="0" spc="-80" dirty="0">
                <a:solidFill>
                  <a:schemeClr val="accent6"/>
                </a:solidFill>
              </a:rPr>
              <a:t>Update DB with status</a:t>
            </a:r>
          </a:p>
          <a:p>
            <a:pPr marL="12700" marR="5080"/>
            <a:r>
              <a:rPr lang="en-US" sz="1300" kern="0" spc="-80" dirty="0">
                <a:solidFill>
                  <a:schemeClr val="accent6"/>
                </a:solidFill>
              </a:rPr>
              <a:t>Stateless machines.</a:t>
            </a:r>
          </a:p>
          <a:p>
            <a:pPr marL="12700" marR="5080"/>
            <a:r>
              <a:rPr lang="en-US" sz="1300" kern="0" spc="-80" dirty="0">
                <a:solidFill>
                  <a:schemeClr val="accent6"/>
                </a:solidFill>
              </a:rPr>
              <a:t>You scale Airflow mainly by adding workers.</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0198754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F31F-19F3-3F22-A04D-20DEAC1E74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75D691D-43C2-2085-CC8B-17A41069CFD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D9E4D2-4779-35C4-670B-A5CFF5CACE80}"/>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259846E-1494-FA91-6453-83899B3BDDA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8CAE4C1-ABF9-3634-15C4-F67D21F0D76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E744B2E-191F-93D5-74A3-7AA343C7654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2C43584-9645-4E70-CC0B-20498F579580}"/>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DC8849B1-B6C1-4F88-CFB0-DF562DA15E03}"/>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ED1B159D-6740-A6EF-2E19-272D63181C39}"/>
              </a:ext>
            </a:extLst>
          </p:cNvPr>
          <p:cNvSpPr txBox="1">
            <a:spLocks/>
          </p:cNvSpPr>
          <p:nvPr/>
        </p:nvSpPr>
        <p:spPr>
          <a:xfrm>
            <a:off x="152400" y="762000"/>
            <a:ext cx="8624937" cy="57092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Core Components </a:t>
            </a:r>
          </a:p>
          <a:p>
            <a:pPr marL="12700" marR="5080"/>
            <a:r>
              <a:rPr lang="en-US" sz="1300" kern="0" spc="-80" dirty="0">
                <a:solidFill>
                  <a:schemeClr val="accent2"/>
                </a:solidFill>
              </a:rPr>
              <a:t>7. Message Broker (Celery only)</a:t>
            </a:r>
          </a:p>
          <a:p>
            <a:pPr marL="12700" marR="5080"/>
            <a:r>
              <a:rPr lang="en-US" sz="1300" kern="0" spc="-80" dirty="0">
                <a:solidFill>
                  <a:schemeClr val="accent6"/>
                </a:solidFill>
              </a:rPr>
              <a:t>Redis or RabbitMQ.</a:t>
            </a:r>
          </a:p>
          <a:p>
            <a:pPr marL="12700" marR="5080"/>
            <a:r>
              <a:rPr lang="en-US" sz="1300" kern="0" spc="-80" dirty="0">
                <a:solidFill>
                  <a:schemeClr val="accent2"/>
                </a:solidFill>
              </a:rPr>
              <a:t>Used when:</a:t>
            </a:r>
          </a:p>
          <a:p>
            <a:pPr marL="12700" marR="5080"/>
            <a:r>
              <a:rPr lang="en-US" sz="1300" kern="0" spc="-80" dirty="0">
                <a:solidFill>
                  <a:schemeClr val="accent6"/>
                </a:solidFill>
              </a:rPr>
              <a:t>Executor = </a:t>
            </a:r>
            <a:r>
              <a:rPr lang="en-US" sz="1300" kern="0" spc="-80" dirty="0" err="1">
                <a:solidFill>
                  <a:schemeClr val="accent6"/>
                </a:solidFill>
              </a:rPr>
              <a:t>CeleryExecutor</a:t>
            </a:r>
            <a:endParaRPr lang="en-US" sz="1300" kern="0" spc="-80" dirty="0">
              <a:solidFill>
                <a:schemeClr val="accent6"/>
              </a:solidFill>
            </a:endParaRPr>
          </a:p>
          <a:p>
            <a:pPr marL="12700" marR="5080"/>
            <a:r>
              <a:rPr lang="en-US" sz="1300" kern="0" spc="-80" dirty="0">
                <a:solidFill>
                  <a:schemeClr val="accent2"/>
                </a:solidFill>
              </a:rPr>
              <a:t>Flow:</a:t>
            </a:r>
          </a:p>
          <a:p>
            <a:pPr marL="12700" marR="5080"/>
            <a:r>
              <a:rPr lang="en-US" sz="1300" kern="0" spc="-80" dirty="0">
                <a:solidFill>
                  <a:schemeClr val="accent6"/>
                </a:solidFill>
              </a:rPr>
              <a:t>Scheduler → Broker → Workers</a:t>
            </a:r>
          </a:p>
          <a:p>
            <a:pPr marL="12700" marR="5080"/>
            <a:r>
              <a:rPr lang="en-US" sz="1300" kern="0" spc="-80" dirty="0">
                <a:solidFill>
                  <a:schemeClr val="accent6"/>
                </a:solidFill>
              </a:rPr>
              <a:t>No broker needed for </a:t>
            </a:r>
            <a:r>
              <a:rPr lang="en-US" sz="1300" kern="0" spc="-80" dirty="0" err="1">
                <a:solidFill>
                  <a:schemeClr val="accent6"/>
                </a:solidFill>
              </a:rPr>
              <a:t>KubernetesExecutor</a:t>
            </a:r>
            <a:r>
              <a:rPr lang="en-US" sz="1300" kern="0" spc="-80" dirty="0">
                <a:solidFill>
                  <a:schemeClr val="accent6"/>
                </a:solidFill>
              </a:rPr>
              <a:t>.</a:t>
            </a:r>
          </a:p>
          <a:p>
            <a:pPr marL="12700" marR="5080"/>
            <a:endParaRPr lang="en-US" sz="1300" kern="0" spc="-80" dirty="0">
              <a:solidFill>
                <a:schemeClr val="accent6"/>
              </a:solidFill>
            </a:endParaRPr>
          </a:p>
          <a:p>
            <a:pPr marL="12700" marR="5080"/>
            <a:r>
              <a:rPr lang="en-US" sz="1300" kern="0" spc="-80" dirty="0">
                <a:solidFill>
                  <a:schemeClr val="accent2"/>
                </a:solidFill>
              </a:rPr>
              <a:t>8. </a:t>
            </a:r>
            <a:r>
              <a:rPr lang="en-US" sz="1300" kern="0" spc="-80" dirty="0" err="1">
                <a:solidFill>
                  <a:schemeClr val="accent2"/>
                </a:solidFill>
              </a:rPr>
              <a:t>Triggerer</a:t>
            </a:r>
            <a:r>
              <a:rPr lang="en-US" sz="1300" kern="0" spc="-80" dirty="0">
                <a:solidFill>
                  <a:schemeClr val="accent2"/>
                </a:solidFill>
              </a:rPr>
              <a:t> (Deferrable Operators – Airflow 2+)</a:t>
            </a:r>
          </a:p>
          <a:p>
            <a:pPr marL="12700" marR="5080"/>
            <a:r>
              <a:rPr lang="en-US" sz="1300" kern="0" spc="-80" dirty="0">
                <a:solidFill>
                  <a:schemeClr val="accent6"/>
                </a:solidFill>
              </a:rPr>
              <a:t>Used for async tasks (sensors, waiting jobs).</a:t>
            </a:r>
          </a:p>
          <a:p>
            <a:pPr marL="12700" marR="5080"/>
            <a:r>
              <a:rPr lang="en-US" sz="1300" kern="0" spc="-80" dirty="0">
                <a:solidFill>
                  <a:schemeClr val="accent2"/>
                </a:solidFill>
              </a:rPr>
              <a:t>Instead of blocking workers:</a:t>
            </a:r>
          </a:p>
          <a:p>
            <a:pPr marL="12700" marR="5080"/>
            <a:r>
              <a:rPr lang="en-US" sz="1300" kern="0" spc="-80" dirty="0">
                <a:solidFill>
                  <a:schemeClr val="accent6"/>
                </a:solidFill>
              </a:rPr>
              <a:t>Worker → </a:t>
            </a:r>
            <a:r>
              <a:rPr lang="en-US" sz="1300" kern="0" spc="-80" dirty="0" err="1">
                <a:solidFill>
                  <a:schemeClr val="accent6"/>
                </a:solidFill>
              </a:rPr>
              <a:t>Triggerer</a:t>
            </a:r>
            <a:r>
              <a:rPr lang="en-US" sz="1300" kern="0" spc="-80" dirty="0">
                <a:solidFill>
                  <a:schemeClr val="accent6"/>
                </a:solidFill>
              </a:rPr>
              <a:t> → resumes task later</a:t>
            </a:r>
          </a:p>
          <a:p>
            <a:pPr marL="12700" marR="5080"/>
            <a:r>
              <a:rPr lang="en-US" sz="1300" kern="0" spc="-80" dirty="0">
                <a:solidFill>
                  <a:schemeClr val="accent6"/>
                </a:solidFill>
              </a:rPr>
              <a:t>Massively improves scalability.</a:t>
            </a:r>
          </a:p>
          <a:p>
            <a:pPr marL="12700" marR="5080"/>
            <a:endParaRPr lang="en-US" sz="1300" kern="0" spc="-80" dirty="0">
              <a:solidFill>
                <a:schemeClr val="accent6"/>
              </a:solidFill>
            </a:endParaRPr>
          </a:p>
          <a:p>
            <a:pPr marL="12700" marR="5080"/>
            <a:r>
              <a:rPr lang="en-US" sz="1300" kern="0" spc="-80" dirty="0">
                <a:solidFill>
                  <a:schemeClr val="accent2"/>
                </a:solidFill>
              </a:rPr>
              <a:t>9. Logs Storage</a:t>
            </a:r>
          </a:p>
          <a:p>
            <a:pPr marL="12700" marR="5080"/>
            <a:r>
              <a:rPr lang="en-US" sz="1300" kern="0" spc="-80" dirty="0">
                <a:solidFill>
                  <a:schemeClr val="accent2"/>
                </a:solidFill>
              </a:rPr>
              <a:t>Where task logs live:</a:t>
            </a:r>
          </a:p>
          <a:p>
            <a:pPr marL="12700" marR="5080"/>
            <a:r>
              <a:rPr lang="en-US" sz="1300" kern="0" spc="-80" dirty="0">
                <a:solidFill>
                  <a:schemeClr val="accent6"/>
                </a:solidFill>
              </a:rPr>
              <a:t>Local filesystem</a:t>
            </a:r>
          </a:p>
          <a:p>
            <a:pPr marL="12700" marR="5080"/>
            <a:r>
              <a:rPr lang="en-US" sz="1300" kern="0" spc="-80" dirty="0">
                <a:solidFill>
                  <a:schemeClr val="accent6"/>
                </a:solidFill>
              </a:rPr>
              <a:t>S3 / GCS / Azure Blob</a:t>
            </a:r>
          </a:p>
          <a:p>
            <a:pPr marL="12700" marR="5080"/>
            <a:r>
              <a:rPr lang="en-US" sz="1300" kern="0" spc="-80" dirty="0">
                <a:solidFill>
                  <a:schemeClr val="accent6"/>
                </a:solidFill>
              </a:rPr>
              <a:t>Webserver reads logs from here.</a:t>
            </a:r>
          </a:p>
          <a:p>
            <a:pPr marL="12700" marR="5080"/>
            <a:endParaRPr lang="en-US" sz="1300" kern="0" spc="-80" dirty="0">
              <a:solidFill>
                <a:schemeClr val="accent6"/>
              </a:solidFill>
            </a:endParaRPr>
          </a:p>
          <a:p>
            <a:pPr marL="12700" marR="5080"/>
            <a:r>
              <a:rPr lang="en-US" sz="1300" kern="0" spc="-80" dirty="0">
                <a:solidFill>
                  <a:schemeClr val="accent2"/>
                </a:solidFill>
              </a:rPr>
              <a:t>N.B. - </a:t>
            </a:r>
            <a:r>
              <a:rPr lang="en-US" sz="1300" kern="0" spc="-80" dirty="0">
                <a:solidFill>
                  <a:schemeClr val="accent6"/>
                </a:solidFill>
              </a:rPr>
              <a:t> As of Feb 2026, DAG(s) can be written only in Python while the tasks can be written in almost any language including C#/Java/Python </a:t>
            </a:r>
            <a:r>
              <a:rPr lang="en-US" sz="1300" kern="0" spc="-80" dirty="0" err="1">
                <a:solidFill>
                  <a:schemeClr val="accent6"/>
                </a:solidFill>
              </a:rPr>
              <a:t>etc</a:t>
            </a:r>
            <a:r>
              <a:rPr lang="en-US" sz="1300" kern="0" spc="-80" dirty="0">
                <a:solidFill>
                  <a:schemeClr val="accent6"/>
                </a:solidFill>
              </a:rPr>
              <a:t> using </a:t>
            </a:r>
            <a:r>
              <a:rPr lang="en-US" sz="1300" kern="0" spc="-80" dirty="0" err="1">
                <a:solidFill>
                  <a:schemeClr val="accent6"/>
                </a:solidFill>
              </a:rPr>
              <a:t>KubernetesPodOperator</a:t>
            </a:r>
            <a:r>
              <a:rPr lang="en-US" sz="1300" kern="0" spc="-80" dirty="0">
                <a:solidFill>
                  <a:schemeClr val="accent6"/>
                </a:solidFill>
              </a:rPr>
              <a:t>(</a:t>
            </a:r>
            <a:r>
              <a:rPr lang="en-US" sz="1300" kern="0" spc="-80" dirty="0" err="1">
                <a:solidFill>
                  <a:schemeClr val="accent6"/>
                </a:solidFill>
              </a:rPr>
              <a:t>infact</a:t>
            </a:r>
            <a:r>
              <a:rPr lang="en-US" sz="1300" kern="0" spc="-80" dirty="0">
                <a:solidFill>
                  <a:schemeClr val="accent6"/>
                </a:solidFill>
              </a:rPr>
              <a:t>, you can run most scripts written in languages like </a:t>
            </a:r>
            <a:r>
              <a:rPr lang="en-US" sz="1300" kern="0" spc="-80" dirty="0" err="1">
                <a:solidFill>
                  <a:schemeClr val="accent6"/>
                </a:solidFill>
              </a:rPr>
              <a:t>Javascript</a:t>
            </a:r>
            <a:r>
              <a:rPr lang="en-US" sz="1300" kern="0" spc="-80" dirty="0">
                <a:solidFill>
                  <a:schemeClr val="accent6"/>
                </a:solidFill>
              </a:rPr>
              <a:t>, Go </a:t>
            </a:r>
            <a:r>
              <a:rPr lang="en-US" sz="1300" kern="0" spc="-80" dirty="0" err="1">
                <a:solidFill>
                  <a:schemeClr val="accent6"/>
                </a:solidFill>
              </a:rPr>
              <a:t>etc</a:t>
            </a:r>
            <a:r>
              <a:rPr lang="en-US" sz="1300" kern="0" spc="-80" dirty="0">
                <a:solidFill>
                  <a:schemeClr val="accent6"/>
                </a:solidFill>
              </a:rPr>
              <a:t> also using </a:t>
            </a:r>
            <a:r>
              <a:rPr lang="en-US" sz="1300" kern="0" spc="-80" dirty="0" err="1">
                <a:solidFill>
                  <a:schemeClr val="accent6"/>
                </a:solidFill>
              </a:rPr>
              <a:t>BashOperator</a:t>
            </a:r>
            <a:r>
              <a:rPr lang="en-US" sz="1300" kern="0" spc="-80" dirty="0">
                <a:solidFill>
                  <a:schemeClr val="accent6"/>
                </a:solidFill>
              </a:rPr>
              <a:t>).</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272998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8979E-6148-954A-3DDA-DD2B2A14807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0155928-C21F-6DE7-AA38-B517FCFF82C2}"/>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4D320E-67DB-0D53-EA09-B05AAEAA73EF}"/>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99CED6F1-3E68-C849-48D9-4B0497B423E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6CD3B2E-C20E-FD33-354E-18A280C098E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083AAB7-4DE4-40B1-8881-EB46751F6C8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1BEB8C3-02DB-2869-6AAC-75CEAEBDB95E}"/>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3010E637-DB90-8168-74BA-E960F0AADB7B}"/>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170E8EA9-558B-1FAD-298B-EB1F21140308}"/>
              </a:ext>
            </a:extLst>
          </p:cNvPr>
          <p:cNvSpPr txBox="1">
            <a:spLocks/>
          </p:cNvSpPr>
          <p:nvPr/>
        </p:nvSpPr>
        <p:spPr>
          <a:xfrm>
            <a:off x="152400" y="762000"/>
            <a:ext cx="8624937" cy="56938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Architecture</a:t>
            </a:r>
          </a:p>
          <a:p>
            <a:pPr marL="12700" marR="5080"/>
            <a:r>
              <a:rPr lang="en-US" sz="1300" kern="0" spc="-80" dirty="0">
                <a:solidFill>
                  <a:schemeClr val="accent2"/>
                </a:solidFill>
              </a:rPr>
              <a:t>🔁 Complete Runtime Flow (Step-by-Step)</a:t>
            </a:r>
          </a:p>
          <a:p>
            <a:pPr marL="12700" marR="5080"/>
            <a:r>
              <a:rPr lang="en-US" sz="1300" kern="0" spc="-80" dirty="0">
                <a:solidFill>
                  <a:schemeClr val="accent6"/>
                </a:solidFill>
              </a:rPr>
              <a:t>1. DAG written in Python</a:t>
            </a:r>
          </a:p>
          <a:p>
            <a:pPr marL="12700" marR="5080"/>
            <a:r>
              <a:rPr lang="en-US" sz="1300" kern="0" spc="-80" dirty="0">
                <a:solidFill>
                  <a:schemeClr val="accent6"/>
                </a:solidFill>
              </a:rPr>
              <a:t>2. Scheduler parses DAG</a:t>
            </a:r>
          </a:p>
          <a:p>
            <a:pPr marL="12700" marR="5080"/>
            <a:r>
              <a:rPr lang="en-US" sz="1300" kern="0" spc="-80" dirty="0">
                <a:solidFill>
                  <a:schemeClr val="accent6"/>
                </a:solidFill>
              </a:rPr>
              <a:t>3. Scheduler creates </a:t>
            </a:r>
            <a:r>
              <a:rPr lang="en-US" sz="1300" kern="0" spc="-80" dirty="0" err="1">
                <a:solidFill>
                  <a:schemeClr val="accent6"/>
                </a:solidFill>
              </a:rPr>
              <a:t>TaskInstance</a:t>
            </a:r>
            <a:endParaRPr lang="en-US" sz="1300" kern="0" spc="-80" dirty="0">
              <a:solidFill>
                <a:schemeClr val="accent6"/>
              </a:solidFill>
            </a:endParaRPr>
          </a:p>
          <a:p>
            <a:pPr marL="12700" marR="5080"/>
            <a:r>
              <a:rPr lang="en-US" sz="1300" kern="0" spc="-80" dirty="0">
                <a:solidFill>
                  <a:schemeClr val="accent6"/>
                </a:solidFill>
              </a:rPr>
              <a:t>4. Executor queues task</a:t>
            </a:r>
          </a:p>
          <a:p>
            <a:pPr marL="12700" marR="5080"/>
            <a:r>
              <a:rPr lang="en-US" sz="1300" kern="0" spc="-80" dirty="0">
                <a:solidFill>
                  <a:schemeClr val="accent6"/>
                </a:solidFill>
              </a:rPr>
              <a:t>5. Worker picks task</a:t>
            </a:r>
          </a:p>
          <a:p>
            <a:pPr marL="12700" marR="5080"/>
            <a:r>
              <a:rPr lang="en-US" sz="1300" kern="0" spc="-80" dirty="0">
                <a:solidFill>
                  <a:schemeClr val="accent6"/>
                </a:solidFill>
              </a:rPr>
              <a:t>6. Worker executes operator</a:t>
            </a:r>
          </a:p>
          <a:p>
            <a:pPr marL="12700" marR="5080"/>
            <a:r>
              <a:rPr lang="en-US" sz="1300" kern="0" spc="-80" dirty="0">
                <a:solidFill>
                  <a:schemeClr val="accent6"/>
                </a:solidFill>
              </a:rPr>
              <a:t>7. Result written to Metadata DB</a:t>
            </a:r>
          </a:p>
          <a:p>
            <a:pPr marL="12700" marR="5080"/>
            <a:r>
              <a:rPr lang="en-US" sz="1300" kern="0" spc="-80" dirty="0">
                <a:solidFill>
                  <a:schemeClr val="accent6"/>
                </a:solidFill>
              </a:rPr>
              <a:t>8. Logs written to storage</a:t>
            </a:r>
          </a:p>
          <a:p>
            <a:pPr marL="12700" marR="5080"/>
            <a:r>
              <a:rPr lang="en-US" sz="1300" kern="0" spc="-80" dirty="0">
                <a:solidFill>
                  <a:schemeClr val="accent6"/>
                </a:solidFill>
              </a:rPr>
              <a:t>9. Webserver shows status</a:t>
            </a:r>
          </a:p>
          <a:p>
            <a:pPr marL="12700" marR="5080"/>
            <a:r>
              <a:rPr lang="en-US" sz="1300" kern="0" spc="-80" dirty="0">
                <a:solidFill>
                  <a:schemeClr val="accent2"/>
                </a:solidFill>
              </a:rPr>
              <a:t>🧠 Mental Model </a:t>
            </a:r>
          </a:p>
          <a:p>
            <a:pPr marL="12700" marR="5080"/>
            <a:r>
              <a:rPr lang="en-US" sz="1300" kern="0" spc="-80" dirty="0">
                <a:solidFill>
                  <a:schemeClr val="accent2"/>
                </a:solidFill>
              </a:rPr>
              <a:t>Think of Airflow like this:</a:t>
            </a:r>
          </a:p>
          <a:p>
            <a:pPr marL="12700" marR="5080"/>
            <a:r>
              <a:rPr lang="en-US" sz="1300" kern="0" spc="-80" dirty="0">
                <a:solidFill>
                  <a:schemeClr val="accent6"/>
                </a:solidFill>
              </a:rPr>
              <a:t>DAG → Blueprint</a:t>
            </a:r>
          </a:p>
          <a:p>
            <a:pPr marL="12700" marR="5080"/>
            <a:r>
              <a:rPr lang="en-US" sz="1300" kern="0" spc="-80" dirty="0">
                <a:solidFill>
                  <a:schemeClr val="accent6"/>
                </a:solidFill>
              </a:rPr>
              <a:t>Scheduler → Brain</a:t>
            </a:r>
          </a:p>
          <a:p>
            <a:pPr marL="12700" marR="5080"/>
            <a:r>
              <a:rPr lang="en-US" sz="1300" kern="0" spc="-80" dirty="0">
                <a:solidFill>
                  <a:schemeClr val="accent6"/>
                </a:solidFill>
              </a:rPr>
              <a:t>Metadata DB → Memory</a:t>
            </a:r>
          </a:p>
          <a:p>
            <a:pPr marL="12700" marR="5080"/>
            <a:r>
              <a:rPr lang="en-US" sz="1300" kern="0" spc="-80" dirty="0">
                <a:solidFill>
                  <a:schemeClr val="accent6"/>
                </a:solidFill>
              </a:rPr>
              <a:t>Executor → Strategy</a:t>
            </a:r>
          </a:p>
          <a:p>
            <a:pPr marL="12700" marR="5080"/>
            <a:r>
              <a:rPr lang="en-US" sz="1300" kern="0" spc="-80" dirty="0">
                <a:solidFill>
                  <a:schemeClr val="accent6"/>
                </a:solidFill>
              </a:rPr>
              <a:t>Workers → Muscles</a:t>
            </a:r>
          </a:p>
          <a:p>
            <a:pPr marL="12700" marR="5080"/>
            <a:r>
              <a:rPr lang="en-US" sz="1300" kern="0" spc="-80" dirty="0">
                <a:solidFill>
                  <a:schemeClr val="accent6"/>
                </a:solidFill>
              </a:rPr>
              <a:t>Webserver → Face</a:t>
            </a:r>
          </a:p>
          <a:p>
            <a:pPr marL="12700" marR="5080"/>
            <a:r>
              <a:rPr lang="en-US" sz="1300" kern="0" spc="-80" dirty="0">
                <a:solidFill>
                  <a:schemeClr val="accent2"/>
                </a:solidFill>
              </a:rPr>
              <a:t>✅ Production Deployment Usually Looks Like</a:t>
            </a:r>
          </a:p>
          <a:p>
            <a:pPr marL="12700" marR="5080"/>
            <a:r>
              <a:rPr lang="en-US" sz="1300" kern="0" spc="-80" dirty="0">
                <a:solidFill>
                  <a:schemeClr val="accent6"/>
                </a:solidFill>
              </a:rPr>
              <a:t>Webserver (2 replicas)</a:t>
            </a:r>
          </a:p>
          <a:p>
            <a:pPr marL="12700" marR="5080"/>
            <a:r>
              <a:rPr lang="en-US" sz="1300" kern="0" spc="-80" dirty="0">
                <a:solidFill>
                  <a:schemeClr val="accent6"/>
                </a:solidFill>
              </a:rPr>
              <a:t>Scheduler (1–2 replicas)</a:t>
            </a:r>
          </a:p>
          <a:p>
            <a:pPr marL="12700" marR="5080"/>
            <a:r>
              <a:rPr lang="en-US" sz="1300" kern="0" spc="-80" dirty="0">
                <a:solidFill>
                  <a:schemeClr val="accent6"/>
                </a:solidFill>
              </a:rPr>
              <a:t>Metadata DB (Postgres)</a:t>
            </a:r>
          </a:p>
          <a:p>
            <a:pPr marL="12700" marR="5080"/>
            <a:r>
              <a:rPr lang="en-US" sz="1300" kern="0" spc="-80" dirty="0">
                <a:solidFill>
                  <a:schemeClr val="accent6"/>
                </a:solidFill>
              </a:rPr>
              <a:t>Redis/RabbitMQ (if Celery)</a:t>
            </a:r>
          </a:p>
          <a:p>
            <a:pPr marL="12700" marR="5080"/>
            <a:r>
              <a:rPr lang="en-US" sz="1300" kern="0" spc="-80" dirty="0">
                <a:solidFill>
                  <a:schemeClr val="accent6"/>
                </a:solidFill>
              </a:rPr>
              <a:t>Multiple Workers / K8s Pods</a:t>
            </a:r>
          </a:p>
          <a:p>
            <a:pPr marL="12700" marR="5080"/>
            <a:r>
              <a:rPr lang="en-US" sz="1300" kern="0" spc="-80" dirty="0">
                <a:solidFill>
                  <a:schemeClr val="accent6"/>
                </a:solidFill>
              </a:rPr>
              <a:t>Shared DAG + Log storage</a:t>
            </a:r>
          </a:p>
          <a:p>
            <a:pPr marL="12700" marR="5080"/>
            <a:endParaRPr lang="en-US" sz="1200" kern="0" spc="-80" dirty="0">
              <a:solidFill>
                <a:schemeClr val="accent2"/>
              </a:solidFill>
            </a:endParaRPr>
          </a:p>
        </p:txBody>
      </p:sp>
    </p:spTree>
    <p:extLst>
      <p:ext uri="{BB962C8B-B14F-4D97-AF65-F5344CB8AC3E}">
        <p14:creationId xmlns:p14="http://schemas.microsoft.com/office/powerpoint/2010/main" val="269394610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FCAAB-5B30-E994-52FD-08B96A82D7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06B071-7013-CB9E-4570-7F5AC792AAC3}"/>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6F2C186-36C4-061C-35F1-86A92F02E45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D6E7F16E-4094-5ED1-F9F6-A0D16B62F5D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1D3FD32-E2F6-1A11-B2CC-822407E32B5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304E235-BF6C-F143-AAED-8A70CB95F0D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0A5349B-CF75-C838-381D-77BE98B2789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9ECBDE8-FE1B-F0A2-64E1-6FDD80755B0F}"/>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4C9747E7-689A-120E-1705-30DDD115FBF0}"/>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Ingestion Techniques in Apache Airflow</a:t>
            </a:r>
          </a:p>
          <a:p>
            <a:pPr marL="12700" marR="5080"/>
            <a:r>
              <a:rPr lang="en-US" sz="1300" kern="0" spc="-80" dirty="0">
                <a:solidFill>
                  <a:schemeClr val="accent2"/>
                </a:solidFill>
              </a:rPr>
              <a:t>Airflow REST API: </a:t>
            </a:r>
            <a:r>
              <a:rPr lang="en-US" sz="1300" kern="0" spc="-80" dirty="0">
                <a:solidFill>
                  <a:schemeClr val="accent6"/>
                </a:solidFill>
              </a:rPr>
              <a:t>External systems can make an HTTP POST request to the Airflow API's </a:t>
            </a:r>
            <a:r>
              <a:rPr lang="en-US" sz="1300" kern="0" spc="-80" dirty="0" err="1">
                <a:solidFill>
                  <a:schemeClr val="accent6"/>
                </a:solidFill>
              </a:rPr>
              <a:t>dag</a:t>
            </a:r>
            <a:r>
              <a:rPr lang="en-US" sz="1300" kern="0" spc="-80" dirty="0">
                <a:solidFill>
                  <a:schemeClr val="accent6"/>
                </a:solidFill>
              </a:rPr>
              <a:t>. Runs endpoint or the </a:t>
            </a:r>
            <a:r>
              <a:rPr lang="en-US" sz="1300" kern="0" spc="-80" dirty="0" err="1">
                <a:solidFill>
                  <a:schemeClr val="accent6"/>
                </a:solidFill>
              </a:rPr>
              <a:t>assetEvents</a:t>
            </a:r>
            <a:r>
              <a:rPr lang="en-US" sz="1300" kern="0" spc="-80" dirty="0">
                <a:solidFill>
                  <a:schemeClr val="accent6"/>
                </a:solidFill>
              </a:rPr>
              <a:t> (for Airflow 2.9+) endpoint to trigger a specific DAG.</a:t>
            </a:r>
          </a:p>
          <a:p>
            <a:pPr marL="12700" marR="5080"/>
            <a:r>
              <a:rPr lang="en-US" sz="1300" kern="0" spc="-80" dirty="0">
                <a:solidFill>
                  <a:schemeClr val="accent2"/>
                </a:solidFill>
              </a:rPr>
              <a:t>How it works:</a:t>
            </a:r>
            <a:r>
              <a:rPr lang="en-US" sz="1300" kern="0" spc="-80" dirty="0">
                <a:solidFill>
                  <a:schemeClr val="accent6"/>
                </a:solidFill>
              </a:rPr>
              <a:t> An external service (e.g., an AWS Lambda function triggered by an S3 file upload) calls the API to initiate a DAG run, optionally passing configuration data in the request body, which the DAG can then use.</a:t>
            </a:r>
          </a:p>
          <a:p>
            <a:pPr marL="12700" marR="5080"/>
            <a:r>
              <a:rPr lang="en-US" sz="1300" kern="0" spc="-80" dirty="0">
                <a:solidFill>
                  <a:schemeClr val="accent2"/>
                </a:solidFill>
              </a:rPr>
              <a:t>Best for: </a:t>
            </a:r>
            <a:r>
              <a:rPr lang="en-US" sz="1300" kern="0" spc="-80" dirty="0">
                <a:solidFill>
                  <a:schemeClr val="accent6"/>
                </a:solidFill>
              </a:rPr>
              <a:t>Real-time, highly dynamic external triggers where the external system is responsible for making the API call.</a:t>
            </a:r>
          </a:p>
          <a:p>
            <a:pPr marL="12700" marR="5080"/>
            <a:endParaRPr lang="en-US" sz="1300" kern="0" spc="-80" dirty="0">
              <a:solidFill>
                <a:schemeClr val="accent6"/>
              </a:solidFill>
            </a:endParaRPr>
          </a:p>
          <a:p>
            <a:pPr marL="12700" marR="5080"/>
            <a:r>
              <a:rPr lang="en-US" sz="1300" kern="0" spc="-80" dirty="0">
                <a:solidFill>
                  <a:schemeClr val="accent2"/>
                </a:solidFill>
              </a:rPr>
              <a:t>Datasets (Assets):</a:t>
            </a:r>
            <a:r>
              <a:rPr lang="en-US" sz="1300" kern="0" spc="-80" dirty="0">
                <a:solidFill>
                  <a:schemeClr val="accent6"/>
                </a:solidFill>
              </a:rPr>
              <a:t> Airflow uses the concept of "Assets" (formerly Datasets) to manage data dependencies and trigger downstream DAGs when data is updated.</a:t>
            </a:r>
          </a:p>
          <a:p>
            <a:pPr marL="12700" marR="5080"/>
            <a:r>
              <a:rPr lang="en-US" sz="1300" kern="0" spc="-80" dirty="0">
                <a:solidFill>
                  <a:schemeClr val="accent2"/>
                </a:solidFill>
              </a:rPr>
              <a:t>How it works: </a:t>
            </a:r>
            <a:r>
              <a:rPr lang="en-US" sz="1300" kern="0" spc="-80" dirty="0">
                <a:solidFill>
                  <a:schemeClr val="accent6"/>
                </a:solidFill>
              </a:rPr>
              <a:t>When an external event occurs (e.g., a new file is created in S3), an external mechanism (like an AWS Lambda function) can call the Airflow API's create asset event endpoint, which then signals Airflow to schedule any DAGs that have that asset defined as a schedule.</a:t>
            </a:r>
          </a:p>
          <a:p>
            <a:pPr marL="12700" marR="5080"/>
            <a:endParaRPr lang="en-US" sz="1300" kern="0" spc="-80" dirty="0">
              <a:solidFill>
                <a:schemeClr val="accent6"/>
              </a:solidFill>
            </a:endParaRPr>
          </a:p>
          <a:p>
            <a:pPr marL="12700" marR="5080"/>
            <a:r>
              <a:rPr lang="en-US" sz="1300" kern="0" spc="-80" dirty="0">
                <a:solidFill>
                  <a:schemeClr val="accent2"/>
                </a:solidFill>
              </a:rPr>
              <a:t>Message Queues: </a:t>
            </a:r>
            <a:r>
              <a:rPr lang="en-US" sz="1300" kern="0" spc="-80" dirty="0">
                <a:solidFill>
                  <a:schemeClr val="accent6"/>
                </a:solidFill>
              </a:rPr>
              <a:t>Airflow can integrate with message queues like Apache Kafka, Amazon SQS, or RabbitMQ to enable event-driven scheduling.</a:t>
            </a:r>
          </a:p>
          <a:p>
            <a:pPr marL="12700" marR="5080"/>
            <a:r>
              <a:rPr lang="en-US" sz="1300" kern="0" spc="-80" dirty="0">
                <a:solidFill>
                  <a:schemeClr val="accent2"/>
                </a:solidFill>
              </a:rPr>
              <a:t>How it works (Poll-based): </a:t>
            </a:r>
            <a:r>
              <a:rPr lang="en-US" sz="1300" kern="0" spc="-80" dirty="0">
                <a:solidFill>
                  <a:schemeClr val="accent6"/>
                </a:solidFill>
              </a:rPr>
              <a:t>Airflow's internal Triggers (running in the </a:t>
            </a:r>
            <a:r>
              <a:rPr lang="en-US" sz="1300" kern="0" spc="-80" dirty="0" err="1">
                <a:solidFill>
                  <a:schemeClr val="accent6"/>
                </a:solidFill>
              </a:rPr>
              <a:t>Triggerer</a:t>
            </a:r>
            <a:r>
              <a:rPr lang="en-US" sz="1300" kern="0" spc="-80" dirty="0">
                <a:solidFill>
                  <a:schemeClr val="accent6"/>
                </a:solidFill>
              </a:rPr>
              <a:t> component) can poll the message queue for new messages. When a message is detected, it triggers the relevant DAG run.</a:t>
            </a:r>
          </a:p>
          <a:p>
            <a:pPr marL="12700" marR="5080"/>
            <a:r>
              <a:rPr lang="en-US" sz="1300" kern="0" spc="-80" dirty="0">
                <a:solidFill>
                  <a:schemeClr val="accent2"/>
                </a:solidFill>
              </a:rPr>
              <a:t>How it works (Push-based via external logic): </a:t>
            </a:r>
            <a:r>
              <a:rPr lang="en-US" sz="1300" kern="0" spc="-80" dirty="0">
                <a:solidFill>
                  <a:schemeClr val="accent6"/>
                </a:solidFill>
              </a:rPr>
              <a:t>An external application (a "dispatcher" or consumer) can monitor the queue and, upon receiving a message, use the Airflow REST API to trigger the appropriate DAG.</a:t>
            </a:r>
          </a:p>
          <a:p>
            <a:pPr marL="12700" marR="5080"/>
            <a:endParaRPr lang="en-US" sz="1300" kern="0" spc="-80" dirty="0">
              <a:solidFill>
                <a:schemeClr val="accent6"/>
              </a:solidFill>
            </a:endParaRPr>
          </a:p>
          <a:p>
            <a:pPr marL="12700" marR="5080"/>
            <a:r>
              <a:rPr lang="en-US" sz="1300" kern="0" spc="-80" dirty="0">
                <a:solidFill>
                  <a:schemeClr val="accent2"/>
                </a:solidFill>
              </a:rPr>
              <a:t>Sensors with Deferrable Operators: </a:t>
            </a:r>
            <a:r>
              <a:rPr lang="en-US" sz="1300" kern="0" spc="-80" dirty="0">
                <a:solidFill>
                  <a:schemeClr val="accent6"/>
                </a:solidFill>
              </a:rPr>
              <a:t>For scenarios in Airflow 2+ where the event timing is unpredictable, sensors can be used in a deferrable manner.</a:t>
            </a:r>
          </a:p>
          <a:p>
            <a:pPr marL="12700" marR="5080"/>
            <a:r>
              <a:rPr lang="en-US" sz="1300" kern="0" spc="-80" dirty="0">
                <a:solidFill>
                  <a:schemeClr val="accent2"/>
                </a:solidFill>
              </a:rPr>
              <a:t>How it works: </a:t>
            </a:r>
            <a:r>
              <a:rPr lang="en-US" sz="1300" kern="0" spc="-80" dirty="0">
                <a:solidFill>
                  <a:schemeClr val="accent6"/>
                </a:solidFill>
              </a:rPr>
              <a:t>A sensor task in a DAG is created to wait for a specific external condition to be met (e.g., a file to appear). When the condition isn't met, the task is deferred to a lightweight </a:t>
            </a:r>
            <a:r>
              <a:rPr lang="en-US" sz="1300" kern="0" spc="-80" dirty="0" err="1">
                <a:solidFill>
                  <a:schemeClr val="accent6"/>
                </a:solidFill>
              </a:rPr>
              <a:t>Triggerer</a:t>
            </a:r>
            <a:r>
              <a:rPr lang="en-US" sz="1300" kern="0" spc="-80" dirty="0">
                <a:solidFill>
                  <a:schemeClr val="accent6"/>
                </a:solidFill>
              </a:rPr>
              <a:t> process, freeing up a worker slot until the event occurs, at which point the task resumes. This is technically a polling mechanism, but it is</a:t>
            </a:r>
            <a:endParaRPr lang="en-US" sz="1200" kern="0" spc="-80" dirty="0">
              <a:solidFill>
                <a:schemeClr val="accent2"/>
              </a:solidFill>
            </a:endParaRPr>
          </a:p>
        </p:txBody>
      </p:sp>
    </p:spTree>
    <p:extLst>
      <p:ext uri="{BB962C8B-B14F-4D97-AF65-F5344CB8AC3E}">
        <p14:creationId xmlns:p14="http://schemas.microsoft.com/office/powerpoint/2010/main" val="19272456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EDDD3-DD6A-2C47-FCFE-C6C17D60D7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38F4983-A43A-1214-D5C9-0FB3C100A23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0F4176-251C-65FD-2CE6-100CB9275B5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BC3DAB05-E526-F4B8-3DEA-315A81F1898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953CA72-36FA-1377-4F9A-ACC701BB60A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320B80B-3F9D-3DDB-2CB6-F4F6E8904D7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7F995B17-27AD-8E01-B70B-58B4B35A7062}"/>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743E5EB1-01C7-4B25-BAD0-6A1D04522143}"/>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1FDC0883-F682-156C-55CB-5F28CCFF9D03}"/>
              </a:ext>
            </a:extLst>
          </p:cNvPr>
          <p:cNvSpPr txBox="1">
            <a:spLocks/>
          </p:cNvSpPr>
          <p:nvPr/>
        </p:nvSpPr>
        <p:spPr>
          <a:xfrm>
            <a:off x="152400" y="762000"/>
            <a:ext cx="8624937" cy="19697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Ingestion Techniques in Apache Airflow</a:t>
            </a:r>
          </a:p>
          <a:p>
            <a:pPr marL="12700" marR="5080"/>
            <a:r>
              <a:rPr lang="en-US" sz="1300" kern="0" spc="-80" dirty="0">
                <a:solidFill>
                  <a:schemeClr val="accent2"/>
                </a:solidFill>
              </a:rPr>
              <a:t>Sensors with Deferrable Operators: </a:t>
            </a:r>
            <a:r>
              <a:rPr lang="en-US" sz="1300" kern="0" spc="-80" dirty="0">
                <a:solidFill>
                  <a:schemeClr val="accent6"/>
                </a:solidFill>
              </a:rPr>
              <a:t>For scenarios in Airflow 2+ where the event timing is unpredictable, sensors can be used in a deferrable manner.</a:t>
            </a:r>
          </a:p>
          <a:p>
            <a:pPr marL="12700" marR="5080"/>
            <a:r>
              <a:rPr lang="en-US" sz="1300" kern="0" spc="-80" dirty="0">
                <a:solidFill>
                  <a:schemeClr val="accent2"/>
                </a:solidFill>
              </a:rPr>
              <a:t>How it works: </a:t>
            </a:r>
            <a:r>
              <a:rPr lang="en-US" sz="1300" kern="0" spc="-80" dirty="0">
                <a:solidFill>
                  <a:schemeClr val="accent6"/>
                </a:solidFill>
              </a:rPr>
              <a:t>A sensor task in a DAG is created to wait for a specific external condition to be met (e.g., a file to appear). When the condition isn't met, the task is deferred to a lightweight </a:t>
            </a:r>
            <a:r>
              <a:rPr lang="en-US" sz="1300" kern="0" spc="-80" dirty="0" err="1">
                <a:solidFill>
                  <a:schemeClr val="accent6"/>
                </a:solidFill>
              </a:rPr>
              <a:t>Triggerer</a:t>
            </a:r>
            <a:r>
              <a:rPr lang="en-US" sz="1300" kern="0" spc="-80" dirty="0">
                <a:solidFill>
                  <a:schemeClr val="accent6"/>
                </a:solidFill>
              </a:rPr>
              <a:t> process, freeing up a worker slot until the event occurs, at which point the task resumes. This is technically a polling mechanism, but it is resource-efficient and mimics event-driven behavior. </a:t>
            </a:r>
          </a:p>
          <a:p>
            <a:pPr marL="12700" marR="5080"/>
            <a:endParaRPr lang="en-US" sz="1300" kern="0" spc="-80" dirty="0">
              <a:solidFill>
                <a:schemeClr val="accent6"/>
              </a:solidFill>
            </a:endParaRPr>
          </a:p>
          <a:p>
            <a:pPr marL="12700" marR="5080"/>
            <a:r>
              <a:rPr lang="en-US" sz="1700" kern="0" spc="-80" dirty="0">
                <a:solidFill>
                  <a:schemeClr val="accent2"/>
                </a:solidFill>
              </a:rPr>
              <a:t>Other High Level Techniques</a:t>
            </a:r>
          </a:p>
        </p:txBody>
      </p:sp>
      <p:pic>
        <p:nvPicPr>
          <p:cNvPr id="6" name="Picture 5">
            <a:extLst>
              <a:ext uri="{FF2B5EF4-FFF2-40B4-BE49-F238E27FC236}">
                <a16:creationId xmlns:a16="http://schemas.microsoft.com/office/drawing/2014/main" id="{ECDA739D-CF35-8198-18BD-EBE12C1F4D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2819401"/>
            <a:ext cx="8915398" cy="1969770"/>
          </a:xfrm>
          <a:prstGeom prst="rect">
            <a:avLst/>
          </a:prstGeom>
        </p:spPr>
      </p:pic>
      <p:pic>
        <p:nvPicPr>
          <p:cNvPr id="13" name="Picture 12">
            <a:extLst>
              <a:ext uri="{FF2B5EF4-FFF2-40B4-BE49-F238E27FC236}">
                <a16:creationId xmlns:a16="http://schemas.microsoft.com/office/drawing/2014/main" id="{E25B40FE-91A6-D6B2-0626-032E6C399B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0" y="4848554"/>
            <a:ext cx="8458200" cy="1095046"/>
          </a:xfrm>
          <a:prstGeom prst="rect">
            <a:avLst/>
          </a:prstGeom>
        </p:spPr>
      </p:pic>
    </p:spTree>
    <p:extLst>
      <p:ext uri="{BB962C8B-B14F-4D97-AF65-F5344CB8AC3E}">
        <p14:creationId xmlns:p14="http://schemas.microsoft.com/office/powerpoint/2010/main" val="144576823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E378-CBDC-F2D3-DFB6-61DDBAFB98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2E6C63C-1CE0-9CE2-7127-19895EC97A20}"/>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A7BAE04-8402-0887-274B-72ED2C9A4B0D}"/>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2DD4856-5352-BE3A-5ED0-082F67A3E82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C06D108-D69E-F50D-007A-264426EB231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5F3F568-A4DB-E6C8-5F45-AB9B7B3FE5E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BD3CFE3-191C-AE59-DE99-56986B96ACD8}"/>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F8268DDD-865B-CA25-BCAB-D68A78C48A4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F6A76EAD-189B-8123-FC37-0A67643760CC}"/>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High Level Integration Architecture (Logical View)</a:t>
            </a:r>
          </a:p>
          <a:p>
            <a:pPr marL="12700" marR="5080"/>
            <a:r>
              <a:rPr lang="en-US" sz="1300" kern="0" spc="-80" dirty="0">
                <a:solidFill>
                  <a:schemeClr val="accent6"/>
                </a:solidFill>
              </a:rPr>
              <a:t>                Users / BI / APIs</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Airflow UI     |</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Metadata Database</a:t>
            </a:r>
          </a:p>
          <a:p>
            <a:pPr marL="12700" marR="5080"/>
            <a:r>
              <a:rPr lang="en-US" sz="1300" kern="0" spc="-80" dirty="0">
                <a:solidFill>
                  <a:schemeClr val="accent6"/>
                </a:solidFill>
              </a:rPr>
              <a:t>                          ^</a:t>
            </a:r>
          </a:p>
          <a:p>
            <a:pPr marL="12700" marR="5080"/>
            <a:r>
              <a:rPr lang="en-US" sz="1300" kern="0" spc="-80" dirty="0">
                <a:solidFill>
                  <a:schemeClr val="accent6"/>
                </a:solidFill>
              </a:rPr>
              <a:t>                          |</a:t>
            </a:r>
          </a:p>
          <a:p>
            <a:pPr marL="12700" marR="5080"/>
            <a:r>
              <a:rPr lang="en-US" sz="1300" kern="0" spc="-80" dirty="0">
                <a:solidFill>
                  <a:schemeClr val="accent6"/>
                </a:solidFill>
              </a:rPr>
              <a:t>                    Airflow Scheduler</a:t>
            </a:r>
          </a:p>
          <a:p>
            <a:pPr marL="12700" marR="5080"/>
            <a:r>
              <a:rPr lang="en-US" sz="1300" kern="0" spc="-80" dirty="0">
                <a:solidFill>
                  <a:schemeClr val="accent6"/>
                </a:solidFill>
              </a:rPr>
              <a:t>                          |</a:t>
            </a:r>
          </a:p>
          <a:p>
            <a:pPr marL="12700" marR="5080"/>
            <a:r>
              <a:rPr lang="en-US" sz="1300" kern="0" spc="-80" dirty="0">
                <a:solidFill>
                  <a:schemeClr val="accent6"/>
                </a:solidFill>
              </a:rPr>
              <a:t>                creates </a:t>
            </a:r>
            <a:r>
              <a:rPr lang="en-US" sz="1300" kern="0" spc="-80" dirty="0" err="1">
                <a:solidFill>
                  <a:schemeClr val="accent6"/>
                </a:solidFill>
              </a:rPr>
              <a:t>TaskInstances</a:t>
            </a:r>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t>
            </a:r>
          </a:p>
          <a:p>
            <a:pPr marL="12700" marR="5080"/>
            <a:r>
              <a:rPr lang="en-US" sz="1300" kern="0" spc="-80" dirty="0">
                <a:solidFill>
                  <a:schemeClr val="accent6"/>
                </a:solidFill>
              </a:rPr>
              <a:t>        |                |               |            |</a:t>
            </a:r>
          </a:p>
          <a:p>
            <a:pPr marL="12700" marR="5080"/>
            <a:r>
              <a:rPr lang="en-US" sz="1300" kern="0" spc="-80" dirty="0">
                <a:solidFill>
                  <a:schemeClr val="accent6"/>
                </a:solidFill>
              </a:rPr>
              <a:t>        v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r>
              <a:rPr lang="en-US" sz="1300" kern="0" spc="-80" dirty="0">
                <a:solidFill>
                  <a:schemeClr val="accent6"/>
                </a:solidFill>
              </a:rPr>
              <a:t>            </a:t>
            </a:r>
            <a:r>
              <a:rPr lang="en-US" sz="1300" kern="0" spc="-80" dirty="0" err="1">
                <a:solidFill>
                  <a:schemeClr val="accent6"/>
                </a:solidFill>
              </a:rPr>
              <a:t>v</a:t>
            </a:r>
            <a:endParaRPr lang="en-US" sz="1300" kern="0" spc="-80" dirty="0">
              <a:solidFill>
                <a:schemeClr val="accent6"/>
              </a:solidFill>
            </a:endParaRPr>
          </a:p>
          <a:p>
            <a:pPr marL="12700" marR="5080"/>
            <a:r>
              <a:rPr lang="en-US" sz="1300" kern="0" spc="-80" dirty="0">
                <a:solidFill>
                  <a:schemeClr val="accent6"/>
                </a:solidFill>
              </a:rPr>
              <a:t>     Kafka           Spark Jobs        Flink Jobs   DQ / Lineage</a:t>
            </a:r>
          </a:p>
          <a:p>
            <a:pPr marL="12700" marR="5080"/>
            <a:r>
              <a:rPr lang="en-US" sz="1300" kern="0" spc="-80" dirty="0">
                <a:solidFill>
                  <a:schemeClr val="accent6"/>
                </a:solidFill>
              </a:rPr>
              <a:t> (Producers/        (Batch / ML)     (Streaming)   (GE / OL)</a:t>
            </a:r>
          </a:p>
          <a:p>
            <a:pPr marL="12700" marR="5080"/>
            <a:r>
              <a:rPr lang="en-US" sz="1300" kern="0" spc="-80" dirty="0">
                <a:solidFill>
                  <a:schemeClr val="accent6"/>
                </a:solidFill>
              </a:rPr>
              <a:t>  Consumers)</a:t>
            </a:r>
          </a:p>
        </p:txBody>
      </p:sp>
    </p:spTree>
    <p:extLst>
      <p:ext uri="{BB962C8B-B14F-4D97-AF65-F5344CB8AC3E}">
        <p14:creationId xmlns:p14="http://schemas.microsoft.com/office/powerpoint/2010/main" val="16181085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5795E-B0D4-3B8E-BE1A-9CD4EDFD39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5A744F-19FF-D160-15D5-B9D33D9C4B8E}"/>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4585A2A-5B31-323A-D034-9A13F54C2A0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F12510EC-87E7-411E-475E-1DEAFAA8100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D5421A3-AD0B-5D20-CE63-3D03528C69A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6BFB858-5441-B483-AF59-AE17CFD7413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BDD721B9-191C-4225-0F65-8C96BB3E1BAA}"/>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0D5E1777-919B-BA80-0963-1D4687C8146D}"/>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AD644FDA-D5A6-EA73-AAFB-F059AE1D4A50}"/>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High Level Integration Architecture (Logical View)</a:t>
            </a: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Data Lake / Warehouse</a:t>
            </a:r>
          </a:p>
          <a:p>
            <a:pPr marL="12700" marR="5080"/>
            <a:r>
              <a:rPr lang="en-US" sz="1300" kern="0" spc="-80" dirty="0">
                <a:solidFill>
                  <a:schemeClr val="accent6"/>
                </a:solidFill>
              </a:rPr>
              <a:t>             (S3/GCS/HDFS/</a:t>
            </a:r>
            <a:r>
              <a:rPr lang="en-US" sz="1300" kern="0" spc="-80" dirty="0" err="1">
                <a:solidFill>
                  <a:schemeClr val="accent6"/>
                </a:solidFill>
              </a:rPr>
              <a:t>BigQuery</a:t>
            </a:r>
            <a:r>
              <a:rPr lang="en-US" sz="1300" kern="0" spc="-80" dirty="0">
                <a:solidFill>
                  <a:schemeClr val="accent6"/>
                </a:solidFill>
              </a:rPr>
              <a:t>/Snowflake)</a:t>
            </a:r>
          </a:p>
          <a:p>
            <a:pPr marL="12700" marR="5080"/>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                          v</a:t>
            </a:r>
          </a:p>
          <a:p>
            <a:pPr marL="12700" marR="5080"/>
            <a:r>
              <a:rPr lang="en-US" sz="1300" kern="0" spc="-80" dirty="0">
                <a:solidFill>
                  <a:schemeClr val="accent6"/>
                </a:solidFill>
              </a:rPr>
              <a:t>                   Analytics / ML</a:t>
            </a:r>
          </a:p>
          <a:p>
            <a:pPr marL="12700" marR="5080"/>
            <a:r>
              <a:rPr lang="en-US" sz="1300" kern="0" spc="-80" dirty="0">
                <a:solidFill>
                  <a:schemeClr val="accent6"/>
                </a:solidFill>
              </a:rPr>
              <a:t>Airflow is the control plane, not the compute engine.</a:t>
            </a:r>
          </a:p>
          <a:p>
            <a:pPr marL="12700" marR="5080"/>
            <a:endParaRPr lang="en-US" sz="1300" kern="0" spc="-80" dirty="0">
              <a:solidFill>
                <a:schemeClr val="accent6"/>
              </a:solidFill>
            </a:endParaRPr>
          </a:p>
          <a:p>
            <a:pPr marL="12700" marR="5080"/>
            <a:r>
              <a:rPr lang="en-US" sz="1300" kern="0" spc="-80" dirty="0">
                <a:solidFill>
                  <a:schemeClr val="accent2"/>
                </a:solidFill>
              </a:rPr>
              <a:t>🧠 Core Philosophy</a:t>
            </a:r>
          </a:p>
          <a:p>
            <a:pPr marL="12700" marR="5080"/>
            <a:r>
              <a:rPr lang="en-US" sz="1300" kern="0" spc="-80" dirty="0">
                <a:solidFill>
                  <a:schemeClr val="accent6"/>
                </a:solidFill>
              </a:rPr>
              <a:t>Airflow does NOT process data.</a:t>
            </a:r>
          </a:p>
          <a:p>
            <a:pPr marL="12700" marR="5080"/>
            <a:r>
              <a:rPr lang="en-US" sz="1300" kern="0" spc="-80" dirty="0">
                <a:solidFill>
                  <a:schemeClr val="accent2"/>
                </a:solidFill>
              </a:rPr>
              <a:t>It orchestrates:</a:t>
            </a:r>
          </a:p>
          <a:p>
            <a:pPr marL="12700" marR="5080"/>
            <a:r>
              <a:rPr lang="en-US" sz="1300" kern="0" spc="-80" dirty="0">
                <a:solidFill>
                  <a:schemeClr val="accent6"/>
                </a:solidFill>
              </a:rPr>
              <a:t>when Spark runs</a:t>
            </a:r>
          </a:p>
          <a:p>
            <a:pPr marL="12700" marR="5080"/>
            <a:r>
              <a:rPr lang="en-US" sz="1300" kern="0" spc="-80" dirty="0">
                <a:solidFill>
                  <a:schemeClr val="accent6"/>
                </a:solidFill>
              </a:rPr>
              <a:t>when Flink starts</a:t>
            </a:r>
          </a:p>
          <a:p>
            <a:pPr marL="12700" marR="5080"/>
            <a:r>
              <a:rPr lang="en-US" sz="1300" kern="0" spc="-80" dirty="0">
                <a:solidFill>
                  <a:schemeClr val="accent6"/>
                </a:solidFill>
              </a:rPr>
              <a:t>when Kafka topics are consumed</a:t>
            </a:r>
          </a:p>
          <a:p>
            <a:pPr marL="12700" marR="5080"/>
            <a:r>
              <a:rPr lang="en-US" sz="1300" kern="0" spc="-80" dirty="0">
                <a:solidFill>
                  <a:schemeClr val="accent6"/>
                </a:solidFill>
              </a:rPr>
              <a:t>when data quality checks execute</a:t>
            </a:r>
          </a:p>
          <a:p>
            <a:pPr marL="12700" marR="5080"/>
            <a:r>
              <a:rPr lang="en-US" sz="1300" kern="0" spc="-80" dirty="0">
                <a:solidFill>
                  <a:schemeClr val="accent6"/>
                </a:solidFill>
              </a:rPr>
              <a:t>when lineage metadata is emitted</a:t>
            </a:r>
          </a:p>
          <a:p>
            <a:pPr marL="12700" marR="5080"/>
            <a:r>
              <a:rPr lang="en-US" sz="1300" kern="0" spc="-80" dirty="0">
                <a:solidFill>
                  <a:schemeClr val="accent2"/>
                </a:solidFill>
              </a:rPr>
              <a:t>1️⃣ Airflow + Kafka Integration</a:t>
            </a:r>
          </a:p>
          <a:p>
            <a:pPr marL="12700" marR="5080"/>
            <a:r>
              <a:rPr lang="en-US" sz="1300" kern="0" spc="-80" dirty="0">
                <a:solidFill>
                  <a:schemeClr val="accent2"/>
                </a:solidFill>
              </a:rPr>
              <a:t>Purpose</a:t>
            </a:r>
          </a:p>
          <a:p>
            <a:pPr marL="12700" marR="5080"/>
            <a:r>
              <a:rPr lang="en-US" sz="1300" kern="0" spc="-80" dirty="0">
                <a:solidFill>
                  <a:schemeClr val="accent2"/>
                </a:solidFill>
              </a:rPr>
              <a:t>Used for:</a:t>
            </a:r>
          </a:p>
          <a:p>
            <a:pPr marL="12700" marR="5080"/>
            <a:r>
              <a:rPr lang="en-US" sz="1300" kern="0" spc="-80" dirty="0">
                <a:solidFill>
                  <a:schemeClr val="accent6"/>
                </a:solidFill>
              </a:rPr>
              <a:t>Event-driven pipelines</a:t>
            </a:r>
          </a:p>
          <a:p>
            <a:pPr marL="12700" marR="5080"/>
            <a:r>
              <a:rPr lang="en-US" sz="1300" kern="0" spc="-80" dirty="0">
                <a:solidFill>
                  <a:schemeClr val="accent6"/>
                </a:solidFill>
              </a:rPr>
              <a:t>Triggering DAGs from streams</a:t>
            </a:r>
          </a:p>
          <a:p>
            <a:pPr marL="12700" marR="5080"/>
            <a:r>
              <a:rPr lang="en-US" sz="1300" kern="0" spc="-80" dirty="0">
                <a:solidFill>
                  <a:schemeClr val="accent6"/>
                </a:solidFill>
              </a:rPr>
              <a:t>Consuming messages for downstream batch</a:t>
            </a:r>
          </a:p>
        </p:txBody>
      </p:sp>
    </p:spTree>
    <p:extLst>
      <p:ext uri="{BB962C8B-B14F-4D97-AF65-F5344CB8AC3E}">
        <p14:creationId xmlns:p14="http://schemas.microsoft.com/office/powerpoint/2010/main" val="47221319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FC0-9FD9-66CD-1EEE-87CF04D5AE6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37BEE41-094C-7BC7-B431-3FF5832CE5B3}"/>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6B6577-4456-0BFE-122B-3EAD52E6EC5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A0C7296-BFCB-AB81-78F1-BBB4A95D92C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C370734-157E-8BBE-FC0F-5F0D9D97776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95DB9A6-15AB-54CA-F32B-3634D6955AC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2C811F9B-3162-2ECF-AE65-E2FA98CEE45E}"/>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8B5D94F6-1625-B904-39B5-693181FAD3BF}"/>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2B13C682-94EF-17AF-7603-A1465B11CF18}"/>
              </a:ext>
            </a:extLst>
          </p:cNvPr>
          <p:cNvSpPr txBox="1">
            <a:spLocks/>
          </p:cNvSpPr>
          <p:nvPr/>
        </p:nvSpPr>
        <p:spPr>
          <a:xfrm>
            <a:off x="152400" y="7620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1️⃣ Airflow + Kafka Integration</a:t>
            </a:r>
          </a:p>
          <a:p>
            <a:pPr marL="12700" marR="5080"/>
            <a:r>
              <a:rPr lang="en-US" sz="1300" kern="0" spc="-80" dirty="0">
                <a:solidFill>
                  <a:schemeClr val="accent2"/>
                </a:solidFill>
              </a:rPr>
              <a:t>Typical Pattern</a:t>
            </a:r>
          </a:p>
          <a:p>
            <a:pPr marL="12700" marR="5080"/>
            <a:r>
              <a:rPr lang="en-US" sz="1300" kern="0" spc="-80" dirty="0">
                <a:solidFill>
                  <a:schemeClr val="accent6"/>
                </a:solidFill>
              </a:rPr>
              <a:t>Kafka Topic → Airflow Sensor → DAG Trigger → Spark/Flink</a:t>
            </a:r>
          </a:p>
          <a:p>
            <a:pPr marL="12700" marR="5080"/>
            <a:r>
              <a:rPr lang="en-US" sz="1300" kern="0" spc="-80" dirty="0">
                <a:solidFill>
                  <a:schemeClr val="accent2"/>
                </a:solidFill>
              </a:rPr>
              <a:t>How it works</a:t>
            </a:r>
          </a:p>
          <a:p>
            <a:pPr marL="12700" marR="5080"/>
            <a:r>
              <a:rPr lang="en-US" sz="1300" kern="0" spc="-80" dirty="0">
                <a:solidFill>
                  <a:schemeClr val="accent2"/>
                </a:solidFill>
              </a:rPr>
              <a:t>Airflow uses:</a:t>
            </a:r>
          </a:p>
          <a:p>
            <a:pPr marL="12700" marR="5080"/>
            <a:r>
              <a:rPr lang="en-US" sz="1300" kern="0" spc="-80" dirty="0">
                <a:solidFill>
                  <a:schemeClr val="accent6"/>
                </a:solidFill>
              </a:rPr>
              <a:t>Kafka sensors</a:t>
            </a:r>
          </a:p>
          <a:p>
            <a:pPr marL="12700" marR="5080"/>
            <a:r>
              <a:rPr lang="en-US" sz="1300" kern="0" spc="-80" dirty="0">
                <a:solidFill>
                  <a:schemeClr val="accent6"/>
                </a:solidFill>
              </a:rPr>
              <a:t>Kafka producers</a:t>
            </a:r>
          </a:p>
          <a:p>
            <a:pPr marL="12700" marR="5080"/>
            <a:r>
              <a:rPr lang="en-US" sz="1300" kern="0" spc="-80" dirty="0">
                <a:solidFill>
                  <a:schemeClr val="accent6"/>
                </a:solidFill>
              </a:rPr>
              <a:t>Deferrable operators (</a:t>
            </a:r>
            <a:r>
              <a:rPr lang="en-US" sz="1300" kern="0" spc="-80" dirty="0" err="1">
                <a:solidFill>
                  <a:schemeClr val="accent6"/>
                </a:solidFill>
              </a:rPr>
              <a:t>Triggerer</a:t>
            </a:r>
            <a:r>
              <a:rPr lang="en-US" sz="1300" kern="0" spc="-80" dirty="0">
                <a:solidFill>
                  <a:schemeClr val="accent6"/>
                </a:solidFill>
              </a:rPr>
              <a:t>)</a:t>
            </a:r>
          </a:p>
          <a:p>
            <a:pPr marL="12700" marR="5080"/>
            <a:r>
              <a:rPr lang="en-US" sz="1300" kern="0" spc="-80" dirty="0">
                <a:solidFill>
                  <a:schemeClr val="accent2"/>
                </a:solidFill>
              </a:rPr>
              <a:t>Flow:</a:t>
            </a:r>
          </a:p>
          <a:p>
            <a:pPr marL="12700" marR="5080"/>
            <a:r>
              <a:rPr lang="en-US" sz="1300" kern="0" spc="-80" dirty="0">
                <a:solidFill>
                  <a:schemeClr val="accent6"/>
                </a:solidFill>
              </a:rPr>
              <a:t>Kafka receives event</a:t>
            </a:r>
          </a:p>
          <a:p>
            <a:pPr marL="12700" marR="5080"/>
            <a:r>
              <a:rPr lang="en-US" sz="1300" kern="0" spc="-80" dirty="0">
                <a:solidFill>
                  <a:schemeClr val="accent6"/>
                </a:solidFill>
              </a:rPr>
              <a:t>↓</a:t>
            </a:r>
          </a:p>
          <a:p>
            <a:pPr marL="12700" marR="5080"/>
            <a:r>
              <a:rPr lang="en-US" sz="1300" kern="0" spc="-80" dirty="0">
                <a:solidFill>
                  <a:schemeClr val="accent6"/>
                </a:solidFill>
              </a:rPr>
              <a:t>Airflow </a:t>
            </a:r>
            <a:r>
              <a:rPr lang="en-US" sz="1300" kern="0" spc="-80" dirty="0" err="1">
                <a:solidFill>
                  <a:schemeClr val="accent6"/>
                </a:solidFill>
              </a:rPr>
              <a:t>KafkaSensor</a:t>
            </a:r>
            <a:r>
              <a:rPr lang="en-US" sz="1300" kern="0" spc="-80" dirty="0">
                <a:solidFill>
                  <a:schemeClr val="accent6"/>
                </a:solidFill>
              </a:rPr>
              <a:t> waits</a:t>
            </a:r>
          </a:p>
          <a:p>
            <a:pPr marL="12700" marR="5080"/>
            <a:r>
              <a:rPr lang="en-US" sz="1300" kern="0" spc="-80" dirty="0">
                <a:solidFill>
                  <a:schemeClr val="accent6"/>
                </a:solidFill>
              </a:rPr>
              <a:t>↓</a:t>
            </a:r>
          </a:p>
          <a:p>
            <a:pPr marL="12700" marR="5080"/>
            <a:r>
              <a:rPr lang="en-US" sz="1300" kern="0" spc="-80" dirty="0">
                <a:solidFill>
                  <a:schemeClr val="accent6"/>
                </a:solidFill>
              </a:rPr>
              <a:t>Scheduler triggers DAG</a:t>
            </a:r>
          </a:p>
          <a:p>
            <a:pPr marL="12700" marR="5080"/>
            <a:r>
              <a:rPr lang="en-US" sz="1300" kern="0" spc="-80" dirty="0">
                <a:solidFill>
                  <a:schemeClr val="accent6"/>
                </a:solidFill>
              </a:rPr>
              <a:t>↓</a:t>
            </a:r>
          </a:p>
          <a:p>
            <a:pPr marL="12700" marR="5080"/>
            <a:r>
              <a:rPr lang="en-US" sz="1300" kern="0" spc="-80" dirty="0">
                <a:solidFill>
                  <a:schemeClr val="accent6"/>
                </a:solidFill>
              </a:rPr>
              <a:t>Spark/Flink job launched</a:t>
            </a:r>
          </a:p>
          <a:p>
            <a:pPr marL="12700" marR="5080"/>
            <a:r>
              <a:rPr lang="en-US" sz="1300" kern="0" spc="-80" dirty="0">
                <a:solidFill>
                  <a:schemeClr val="accent2"/>
                </a:solidFill>
              </a:rPr>
              <a:t>Important</a:t>
            </a:r>
          </a:p>
          <a:p>
            <a:pPr marL="12700" marR="5080"/>
            <a:r>
              <a:rPr lang="en-US" sz="1300" kern="0" spc="-80" dirty="0">
                <a:solidFill>
                  <a:schemeClr val="accent6"/>
                </a:solidFill>
              </a:rPr>
              <a:t>Airflow does NOT replace Kafka consumers.</a:t>
            </a:r>
          </a:p>
          <a:p>
            <a:pPr marL="12700" marR="5080"/>
            <a:r>
              <a:rPr lang="en-US" sz="1300" kern="0" spc="-80" dirty="0">
                <a:solidFill>
                  <a:schemeClr val="accent6"/>
                </a:solidFill>
              </a:rPr>
              <a:t>Kafka = data movement</a:t>
            </a:r>
          </a:p>
          <a:p>
            <a:pPr marL="12700" marR="5080"/>
            <a:r>
              <a:rPr lang="en-US" sz="1300" kern="0" spc="-80" dirty="0">
                <a:solidFill>
                  <a:schemeClr val="accent6"/>
                </a:solidFill>
              </a:rPr>
              <a:t>Airflow = orchestration</a:t>
            </a: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8724564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D96FC-28B0-AC55-EEF3-EA25718C8D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1B14EB-9F45-673B-F8BB-8EE6CE88248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96FF25-91C1-CD34-5B2E-DFE3824632C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824FD051-B6FE-818E-12B7-CFA79F13DF4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41B648-0440-1C85-5F43-DF8C72D0A4C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DFB4AC9-A5B8-1879-CD93-BB9C41D7E7B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71150AB7-8E4F-D9AA-AEF3-4050851CEDC4}"/>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63571A63-7318-7AA4-4135-A31978D3671A}"/>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0829E28D-7704-6B11-7329-FF1896C3529B}"/>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2️⃣ Airflow + Spark Integration (Batch / ML)</a:t>
            </a:r>
          </a:p>
          <a:p>
            <a:pPr marL="12700" marR="5080"/>
            <a:r>
              <a:rPr lang="en-US" sz="1300" kern="0" spc="-80" dirty="0">
                <a:solidFill>
                  <a:schemeClr val="accent2"/>
                </a:solidFill>
              </a:rPr>
              <a:t>Role of Spark</a:t>
            </a:r>
          </a:p>
          <a:p>
            <a:pPr marL="12700" marR="5080"/>
            <a:r>
              <a:rPr lang="en-US" sz="1300" kern="0" spc="-80" dirty="0">
                <a:solidFill>
                  <a:schemeClr val="accent6"/>
                </a:solidFill>
              </a:rPr>
              <a:t>ETL</a:t>
            </a:r>
          </a:p>
          <a:p>
            <a:pPr marL="12700" marR="5080"/>
            <a:r>
              <a:rPr lang="en-US" sz="1300" kern="0" spc="-80" dirty="0">
                <a:solidFill>
                  <a:schemeClr val="accent6"/>
                </a:solidFill>
              </a:rPr>
              <a:t>Feature engineering</a:t>
            </a:r>
          </a:p>
          <a:p>
            <a:pPr marL="12700" marR="5080"/>
            <a:r>
              <a:rPr lang="en-US" sz="1300" kern="0" spc="-80" dirty="0">
                <a:solidFill>
                  <a:schemeClr val="accent6"/>
                </a:solidFill>
              </a:rPr>
              <a:t>Model training</a:t>
            </a:r>
          </a:p>
          <a:p>
            <a:pPr marL="12700" marR="5080"/>
            <a:r>
              <a:rPr lang="en-US" sz="1300" kern="0" spc="-80" dirty="0">
                <a:solidFill>
                  <a:schemeClr val="accent6"/>
                </a:solidFill>
              </a:rPr>
              <a:t>Large batch transformations</a:t>
            </a:r>
          </a:p>
          <a:p>
            <a:pPr marL="12700" marR="5080"/>
            <a:r>
              <a:rPr lang="en-US" sz="1300" kern="0" spc="-80" dirty="0">
                <a:solidFill>
                  <a:schemeClr val="accent2"/>
                </a:solidFill>
              </a:rPr>
              <a:t>Integration Methods</a:t>
            </a:r>
          </a:p>
          <a:p>
            <a:pPr marL="12700" marR="5080"/>
            <a:r>
              <a:rPr lang="en-US" sz="1300" kern="0" spc="-80" dirty="0">
                <a:solidFill>
                  <a:schemeClr val="accent2"/>
                </a:solidFill>
              </a:rPr>
              <a:t>Airflow uses:</a:t>
            </a:r>
          </a:p>
          <a:p>
            <a:pPr marL="12700" marR="5080"/>
            <a:r>
              <a:rPr lang="en-US" sz="1300" kern="0" spc="-80" dirty="0" err="1">
                <a:solidFill>
                  <a:schemeClr val="accent6"/>
                </a:solidFill>
              </a:rPr>
              <a:t>SparkSubmitOperator</a:t>
            </a:r>
            <a:endParaRPr lang="en-US" sz="1300" kern="0" spc="-80" dirty="0">
              <a:solidFill>
                <a:schemeClr val="accent6"/>
              </a:solidFill>
            </a:endParaRPr>
          </a:p>
          <a:p>
            <a:pPr marL="12700" marR="5080"/>
            <a:r>
              <a:rPr lang="en-US" sz="1300" kern="0" spc="-80" dirty="0" err="1">
                <a:solidFill>
                  <a:schemeClr val="accent6"/>
                </a:solidFill>
              </a:rPr>
              <a:t>LivyOperator</a:t>
            </a:r>
            <a:endParaRPr lang="en-US" sz="1300" kern="0" spc="-80" dirty="0">
              <a:solidFill>
                <a:schemeClr val="accent6"/>
              </a:solidFill>
            </a:endParaRPr>
          </a:p>
          <a:p>
            <a:pPr marL="12700" marR="5080"/>
            <a:r>
              <a:rPr lang="en-US" sz="1300" kern="0" spc="-80" dirty="0" err="1">
                <a:solidFill>
                  <a:schemeClr val="accent6"/>
                </a:solidFill>
              </a:rPr>
              <a:t>KubernetesPodOperator</a:t>
            </a:r>
            <a:r>
              <a:rPr lang="en-US" sz="1300" kern="0" spc="-80" dirty="0">
                <a:solidFill>
                  <a:schemeClr val="accent6"/>
                </a:solidFill>
              </a:rPr>
              <a:t> (Spark on K8s)</a:t>
            </a:r>
          </a:p>
          <a:p>
            <a:pPr marL="12700" marR="5080"/>
            <a:r>
              <a:rPr lang="en-US" sz="1300" kern="0" spc="-80" dirty="0">
                <a:solidFill>
                  <a:schemeClr val="accent2"/>
                </a:solidFill>
              </a:rPr>
              <a:t>Flow</a:t>
            </a:r>
          </a:p>
          <a:p>
            <a:pPr marL="12700" marR="5080"/>
            <a:r>
              <a:rPr lang="en-US" sz="1300" kern="0" spc="-80" dirty="0">
                <a:solidFill>
                  <a:schemeClr val="accent6"/>
                </a:solidFill>
              </a:rPr>
              <a:t>Airflow Scheduler</a:t>
            </a:r>
          </a:p>
          <a:p>
            <a:pPr marL="12700" marR="5080"/>
            <a:r>
              <a:rPr lang="en-US" sz="1300" kern="0" spc="-80" dirty="0">
                <a:solidFill>
                  <a:schemeClr val="accent6"/>
                </a:solidFill>
              </a:rPr>
              <a:t>   ↓</a:t>
            </a:r>
          </a:p>
          <a:p>
            <a:pPr marL="12700" marR="5080"/>
            <a:r>
              <a:rPr lang="en-US" sz="1300" kern="0" spc="-80" dirty="0" err="1">
                <a:solidFill>
                  <a:schemeClr val="accent6"/>
                </a:solidFill>
              </a:rPr>
              <a:t>SparkSubmitOperator</a:t>
            </a:r>
            <a:endParaRPr lang="en-US" sz="1300" kern="0" spc="-80" dirty="0">
              <a:solidFill>
                <a:schemeClr val="accent6"/>
              </a:solidFill>
            </a:endParaRPr>
          </a:p>
          <a:p>
            <a:pPr marL="12700" marR="5080"/>
            <a:r>
              <a:rPr lang="en-US" sz="1300" kern="0" spc="-80" dirty="0">
                <a:solidFill>
                  <a:schemeClr val="accent6"/>
                </a:solidFill>
              </a:rPr>
              <a:t>   ↓</a:t>
            </a:r>
          </a:p>
          <a:p>
            <a:pPr marL="12700" marR="5080"/>
            <a:r>
              <a:rPr lang="en-US" sz="1300" kern="0" spc="-80" dirty="0">
                <a:solidFill>
                  <a:schemeClr val="accent6"/>
                </a:solidFill>
              </a:rPr>
              <a:t>Spark Driver</a:t>
            </a:r>
          </a:p>
          <a:p>
            <a:pPr marL="12700" marR="5080"/>
            <a:r>
              <a:rPr lang="en-US" sz="1300" kern="0" spc="-80" dirty="0">
                <a:solidFill>
                  <a:schemeClr val="accent6"/>
                </a:solidFill>
              </a:rPr>
              <a:t>   ↓</a:t>
            </a:r>
          </a:p>
          <a:p>
            <a:pPr marL="12700" marR="5080"/>
            <a:r>
              <a:rPr lang="en-US" sz="1300" kern="0" spc="-80" dirty="0">
                <a:solidFill>
                  <a:schemeClr val="accent6"/>
                </a:solidFill>
              </a:rPr>
              <a:t>Spark Executors</a:t>
            </a:r>
          </a:p>
          <a:p>
            <a:pPr marL="12700" marR="5080"/>
            <a:r>
              <a:rPr lang="en-US" sz="1300" kern="0" spc="-80" dirty="0">
                <a:solidFill>
                  <a:schemeClr val="accent6"/>
                </a:solidFill>
              </a:rPr>
              <a:t>   ↓</a:t>
            </a:r>
          </a:p>
          <a:p>
            <a:pPr marL="12700" marR="5080"/>
            <a:r>
              <a:rPr lang="en-US" sz="1300" kern="0" spc="-80" dirty="0">
                <a:solidFill>
                  <a:schemeClr val="accent6"/>
                </a:solidFill>
              </a:rPr>
              <a:t>Results → Data Lake/Warehouse</a:t>
            </a:r>
          </a:p>
          <a:p>
            <a:pPr marL="12700" marR="5080"/>
            <a:r>
              <a:rPr lang="en-US" sz="1300" kern="0" spc="-80" dirty="0">
                <a:solidFill>
                  <a:schemeClr val="accent2"/>
                </a:solidFill>
              </a:rPr>
              <a:t>Airflow </a:t>
            </a:r>
            <a:r>
              <a:rPr lang="en-US" sz="1300" kern="0" spc="-80" dirty="0" err="1">
                <a:solidFill>
                  <a:schemeClr val="accent2"/>
                </a:solidFill>
              </a:rPr>
              <a:t>tracks:</a:t>
            </a:r>
            <a:r>
              <a:rPr lang="en-US" sz="1300" kern="0" spc="-80" dirty="0" err="1">
                <a:solidFill>
                  <a:schemeClr val="accent6"/>
                </a:solidFill>
              </a:rPr>
              <a:t>job</a:t>
            </a:r>
            <a:r>
              <a:rPr lang="en-US" sz="1300" kern="0" spc="-80" dirty="0">
                <a:solidFill>
                  <a:schemeClr val="accent6"/>
                </a:solidFill>
              </a:rPr>
              <a:t> state, retries, SLA, downstream dependencies </a:t>
            </a:r>
            <a:r>
              <a:rPr lang="en-US" sz="1300" kern="0" spc="-80" dirty="0" err="1">
                <a:solidFill>
                  <a:schemeClr val="accent6"/>
                </a:solidFill>
              </a:rPr>
              <a:t>etc</a:t>
            </a:r>
            <a:endParaRPr lang="en-US" sz="1300" kern="0" spc="-80" dirty="0">
              <a:solidFill>
                <a:schemeClr val="accent6"/>
              </a:solidFill>
            </a:endParaRPr>
          </a:p>
          <a:p>
            <a:pPr marL="12700" marR="5080"/>
            <a:r>
              <a:rPr lang="en-US" sz="1300" kern="0" spc="-80" dirty="0">
                <a:solidFill>
                  <a:schemeClr val="accent2"/>
                </a:solidFill>
              </a:rPr>
              <a:t>Spark handles: </a:t>
            </a:r>
            <a:r>
              <a:rPr lang="en-US" sz="1300" kern="0" spc="-80" dirty="0">
                <a:solidFill>
                  <a:schemeClr val="accent6"/>
                </a:solidFill>
              </a:rPr>
              <a:t>compute, shuffles, memory</a:t>
            </a:r>
          </a:p>
        </p:txBody>
      </p:sp>
    </p:spTree>
    <p:extLst>
      <p:ext uri="{BB962C8B-B14F-4D97-AF65-F5344CB8AC3E}">
        <p14:creationId xmlns:p14="http://schemas.microsoft.com/office/powerpoint/2010/main" val="13648335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134A8-4D1A-2F6D-31F8-F4DECE36ED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9C40295-713C-0745-C9A7-28BD79F3F049}"/>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960F79-35B5-DC0D-8A4B-B9D8991535E7}"/>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FEFA0573-2497-FEF1-7F07-5A697B9EBB0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FA8309F-EB26-9A6D-05F8-17DC43B4000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B769CAD-4B54-7E97-E3FA-50F351A55D5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5B6E4BC-3C2C-9BB7-601E-66E1CA5FFD9B}"/>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8B8F5AFE-B9FD-2587-E335-D5B2E07E18D3}"/>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6BD58295-3468-D59F-D766-701D8F37D3CA}"/>
              </a:ext>
            </a:extLst>
          </p:cNvPr>
          <p:cNvSpPr txBox="1">
            <a:spLocks/>
          </p:cNvSpPr>
          <p:nvPr/>
        </p:nvSpPr>
        <p:spPr>
          <a:xfrm>
            <a:off x="152400" y="7620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3️⃣ Airflow + Flink Integration (Streaming)</a:t>
            </a:r>
          </a:p>
          <a:p>
            <a:pPr marL="12700" marR="5080"/>
            <a:r>
              <a:rPr lang="en-US" sz="1300" kern="0" spc="-80" dirty="0">
                <a:solidFill>
                  <a:schemeClr val="accent6"/>
                </a:solidFill>
              </a:rPr>
              <a:t>Role of Flink</a:t>
            </a:r>
          </a:p>
          <a:p>
            <a:pPr marL="12700" marR="5080"/>
            <a:r>
              <a:rPr lang="en-US" sz="1300" kern="0" spc="-80" dirty="0">
                <a:solidFill>
                  <a:schemeClr val="accent6"/>
                </a:solidFill>
              </a:rPr>
              <a:t>Real-time aggregation</a:t>
            </a:r>
          </a:p>
          <a:p>
            <a:pPr marL="12700" marR="5080"/>
            <a:r>
              <a:rPr lang="en-US" sz="1300" kern="0" spc="-80" dirty="0">
                <a:solidFill>
                  <a:schemeClr val="accent6"/>
                </a:solidFill>
              </a:rPr>
              <a:t>Stateful stream processing</a:t>
            </a:r>
          </a:p>
          <a:p>
            <a:pPr marL="12700" marR="5080"/>
            <a:r>
              <a:rPr lang="en-US" sz="1300" kern="0" spc="-80" dirty="0">
                <a:solidFill>
                  <a:schemeClr val="accent6"/>
                </a:solidFill>
              </a:rPr>
              <a:t>CEP</a:t>
            </a:r>
          </a:p>
          <a:p>
            <a:pPr marL="12700" marR="5080"/>
            <a:r>
              <a:rPr lang="en-US" sz="1300" kern="0" spc="-80" dirty="0">
                <a:solidFill>
                  <a:schemeClr val="accent2"/>
                </a:solidFill>
              </a:rPr>
              <a:t>Pattern</a:t>
            </a:r>
          </a:p>
          <a:p>
            <a:pPr marL="12700" marR="5080"/>
            <a:r>
              <a:rPr lang="en-US" sz="1300" kern="0" spc="-80" dirty="0">
                <a:solidFill>
                  <a:schemeClr val="accent6"/>
                </a:solidFill>
              </a:rPr>
              <a:t>Airflow manages Flink job lifecycle:</a:t>
            </a:r>
          </a:p>
          <a:p>
            <a:pPr marL="12700" marR="5080"/>
            <a:r>
              <a:rPr lang="en-US" sz="1300" kern="0" spc="-80" dirty="0">
                <a:solidFill>
                  <a:schemeClr val="accent6"/>
                </a:solidFill>
              </a:rPr>
              <a:t>Airflow → Start Flink Job</a:t>
            </a:r>
          </a:p>
          <a:p>
            <a:pPr marL="12700" marR="5080"/>
            <a:r>
              <a:rPr lang="en-US" sz="1300" kern="0" spc="-80" dirty="0">
                <a:solidFill>
                  <a:schemeClr val="accent6"/>
                </a:solidFill>
              </a:rPr>
              <a:t>Airflow → Monitor Job</a:t>
            </a:r>
          </a:p>
          <a:p>
            <a:pPr marL="12700" marR="5080"/>
            <a:r>
              <a:rPr lang="en-US" sz="1300" kern="0" spc="-80" dirty="0">
                <a:solidFill>
                  <a:schemeClr val="accent6"/>
                </a:solidFill>
              </a:rPr>
              <a:t>Airflow → Restart on failure</a:t>
            </a:r>
          </a:p>
          <a:p>
            <a:pPr marL="12700" marR="5080"/>
            <a:r>
              <a:rPr lang="en-US" sz="1300" kern="0" spc="-80" dirty="0">
                <a:solidFill>
                  <a:schemeClr val="accent6"/>
                </a:solidFill>
              </a:rPr>
              <a:t>Flink continuously consumes Kafka.</a:t>
            </a:r>
          </a:p>
          <a:p>
            <a:pPr marL="12700" marR="5080"/>
            <a:r>
              <a:rPr lang="en-US" sz="1300" kern="0" spc="-80" dirty="0">
                <a:solidFill>
                  <a:schemeClr val="accent2"/>
                </a:solidFill>
              </a:rPr>
              <a:t>Airflow only:</a:t>
            </a:r>
          </a:p>
          <a:p>
            <a:pPr marL="12700" marR="5080"/>
            <a:r>
              <a:rPr lang="en-US" sz="1300" kern="0" spc="-80" dirty="0">
                <a:solidFill>
                  <a:schemeClr val="accent6"/>
                </a:solidFill>
              </a:rPr>
              <a:t>deploys</a:t>
            </a:r>
          </a:p>
          <a:p>
            <a:pPr marL="12700" marR="5080"/>
            <a:r>
              <a:rPr lang="en-US" sz="1300" kern="0" spc="-80" dirty="0">
                <a:solidFill>
                  <a:schemeClr val="accent6"/>
                </a:solidFill>
              </a:rPr>
              <a:t>upgrades</a:t>
            </a:r>
          </a:p>
          <a:p>
            <a:pPr marL="12700" marR="5080"/>
            <a:r>
              <a:rPr lang="en-US" sz="1300" kern="0" spc="-80" dirty="0">
                <a:solidFill>
                  <a:schemeClr val="accent6"/>
                </a:solidFill>
              </a:rPr>
              <a:t>Coordinates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41925055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40FF-E1B1-8573-C3E8-2BA7D5874B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E122D32-C34F-C725-66EA-63E0A3F6D2F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4C681A-3E5B-A306-9047-CA188BBE156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DC95DD70-9602-69A1-E863-9E2D1C8E979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ECA856A-C60C-124A-8EF0-662BBF57219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6AABC10-D919-30BD-438B-48ED4A297DA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687C915D-9315-958E-A7DD-DCB9B3F00DCB}"/>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B45329A0-FF1C-1972-FBD4-C5A10AD5B29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3F400852-357B-8E52-49F0-955D1A5AFB0C}"/>
              </a:ext>
            </a:extLst>
          </p:cNvPr>
          <p:cNvSpPr txBox="1">
            <a:spLocks/>
          </p:cNvSpPr>
          <p:nvPr/>
        </p:nvSpPr>
        <p:spPr>
          <a:xfrm>
            <a:off x="152400" y="762000"/>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4️⃣ Airflow + Data Quality (Great Expectations)</a:t>
            </a:r>
          </a:p>
          <a:p>
            <a:pPr marL="12700" marR="5080"/>
            <a:r>
              <a:rPr lang="en-US" sz="1300" kern="0" spc="-80" dirty="0">
                <a:solidFill>
                  <a:schemeClr val="accent2"/>
                </a:solidFill>
              </a:rPr>
              <a:t>Purpose</a:t>
            </a:r>
          </a:p>
          <a:p>
            <a:pPr marL="12700" marR="5080"/>
            <a:r>
              <a:rPr lang="en-US" sz="1300" kern="0" spc="-80" dirty="0">
                <a:solidFill>
                  <a:schemeClr val="accent6"/>
                </a:solidFill>
              </a:rPr>
              <a:t>Prevent garbage data entering analytics.</a:t>
            </a:r>
          </a:p>
          <a:p>
            <a:pPr marL="12700" marR="5080"/>
            <a:r>
              <a:rPr lang="en-US" sz="1300" kern="0" spc="-80" dirty="0">
                <a:solidFill>
                  <a:schemeClr val="accent2"/>
                </a:solidFill>
              </a:rPr>
              <a:t>Pattern</a:t>
            </a:r>
          </a:p>
          <a:p>
            <a:pPr marL="12700" marR="5080"/>
            <a:r>
              <a:rPr lang="en-US" sz="1300" kern="0" spc="-80" dirty="0">
                <a:solidFill>
                  <a:schemeClr val="accent6"/>
                </a:solidFill>
              </a:rPr>
              <a:t>Spark/Flink finishes</a:t>
            </a:r>
          </a:p>
          <a:p>
            <a:pPr marL="12700" marR="5080"/>
            <a:r>
              <a:rPr lang="en-US" sz="1300" kern="0" spc="-80" dirty="0">
                <a:solidFill>
                  <a:schemeClr val="accent6"/>
                </a:solidFill>
              </a:rPr>
              <a:t>↓</a:t>
            </a:r>
          </a:p>
          <a:p>
            <a:pPr marL="12700" marR="5080"/>
            <a:r>
              <a:rPr lang="en-US" sz="1300" kern="0" spc="-80" dirty="0">
                <a:solidFill>
                  <a:schemeClr val="accent6"/>
                </a:solidFill>
              </a:rPr>
              <a:t>Great Expectations task runs</a:t>
            </a:r>
          </a:p>
          <a:p>
            <a:pPr marL="12700" marR="5080"/>
            <a:r>
              <a:rPr lang="en-US" sz="1300" kern="0" spc="-80" dirty="0">
                <a:solidFill>
                  <a:schemeClr val="accent6"/>
                </a:solidFill>
              </a:rPr>
              <a:t>↓</a:t>
            </a:r>
          </a:p>
          <a:p>
            <a:pPr marL="12700" marR="5080"/>
            <a:r>
              <a:rPr lang="en-US" sz="1300" kern="0" spc="-80" dirty="0">
                <a:solidFill>
                  <a:schemeClr val="accent6"/>
                </a:solidFill>
              </a:rPr>
              <a:t>Pass → continue DAG</a:t>
            </a:r>
          </a:p>
          <a:p>
            <a:pPr marL="12700" marR="5080"/>
            <a:r>
              <a:rPr lang="en-US" sz="1300" kern="0" spc="-80" dirty="0">
                <a:solidFill>
                  <a:schemeClr val="accent6"/>
                </a:solidFill>
              </a:rPr>
              <a:t>Fail → stop + alert</a:t>
            </a:r>
          </a:p>
          <a:p>
            <a:pPr marL="12700" marR="5080"/>
            <a:r>
              <a:rPr lang="en-US" sz="1300" kern="0" spc="-80" dirty="0">
                <a:solidFill>
                  <a:schemeClr val="accent2"/>
                </a:solidFill>
              </a:rPr>
              <a:t>Example Flow</a:t>
            </a:r>
          </a:p>
          <a:p>
            <a:pPr marL="12700" marR="5080"/>
            <a:r>
              <a:rPr lang="en-US" sz="1300" kern="0" spc="-80" dirty="0">
                <a:solidFill>
                  <a:schemeClr val="accent6"/>
                </a:solidFill>
              </a:rPr>
              <a:t>Extract → Transform → Validate → Load</a:t>
            </a:r>
          </a:p>
          <a:p>
            <a:pPr marL="12700" marR="5080"/>
            <a:r>
              <a:rPr lang="en-US" sz="1300" kern="0" spc="-80" dirty="0">
                <a:solidFill>
                  <a:schemeClr val="accent6"/>
                </a:solidFill>
              </a:rPr>
              <a:t>Validation happens before warehouse load.</a:t>
            </a:r>
          </a:p>
          <a:p>
            <a:pPr marL="12700" marR="5080"/>
            <a:r>
              <a:rPr lang="en-US" sz="1300" kern="0" spc="-80" dirty="0">
                <a:solidFill>
                  <a:schemeClr val="accent2"/>
                </a:solidFill>
              </a:rPr>
              <a:t>Results stored in:</a:t>
            </a:r>
          </a:p>
          <a:p>
            <a:pPr marL="12700" marR="5080"/>
            <a:r>
              <a:rPr lang="en-US" sz="1300" kern="0" spc="-80" dirty="0">
                <a:solidFill>
                  <a:schemeClr val="accent6"/>
                </a:solidFill>
              </a:rPr>
              <a:t>S3/GCS</a:t>
            </a:r>
          </a:p>
          <a:p>
            <a:pPr marL="12700" marR="5080"/>
            <a:r>
              <a:rPr lang="en-US" sz="1300" kern="0" spc="-80" dirty="0">
                <a:solidFill>
                  <a:schemeClr val="accent6"/>
                </a:solidFill>
              </a:rPr>
              <a:t>Metadata DB</a:t>
            </a:r>
          </a:p>
          <a:p>
            <a:pPr marL="12700" marR="5080"/>
            <a:r>
              <a:rPr lang="en-US" sz="1300" kern="0" spc="-80" dirty="0">
                <a:solidFill>
                  <a:schemeClr val="accent6"/>
                </a:solidFill>
              </a:rPr>
              <a:t>Data Docs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29309834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B545E-5404-44CA-49C5-5C115F00AD7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E3C4C0-056C-3426-1A90-D9CBA51E3353}"/>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583F91C-B9E1-543E-ECB7-826DA190D01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E99C329A-74D3-339B-C058-F7E14F60678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0F353ED-C7EA-D7AA-B48A-F21ABA8E22C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C847B8B-09F3-E227-7D2F-DAC9C9445CF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26DE6BF-A593-539A-3675-276A3B1827F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E072744C-FDA3-6E2A-8EC2-AD175DBDEC58}"/>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712AD781-A835-708C-44EE-F45C2F33CF82}"/>
              </a:ext>
            </a:extLst>
          </p:cNvPr>
          <p:cNvSpPr txBox="1">
            <a:spLocks/>
          </p:cNvSpPr>
          <p:nvPr/>
        </p:nvSpPr>
        <p:spPr>
          <a:xfrm>
            <a:off x="152400" y="7620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5️⃣ Airflow + Data Lineage (</a:t>
            </a:r>
            <a:r>
              <a:rPr lang="en-US" sz="1300" kern="0" spc="-80" dirty="0" err="1">
                <a:solidFill>
                  <a:schemeClr val="accent2"/>
                </a:solidFill>
              </a:rPr>
              <a:t>OpenLineage</a:t>
            </a:r>
            <a:r>
              <a:rPr lang="en-US" sz="1300" kern="0" spc="-80" dirty="0">
                <a:solidFill>
                  <a:schemeClr val="accent2"/>
                </a:solidFill>
              </a:rPr>
              <a:t> + Marquez)</a:t>
            </a:r>
          </a:p>
          <a:p>
            <a:pPr marL="12700" marR="5080"/>
            <a:r>
              <a:rPr lang="en-US" sz="1300" kern="0" spc="-80" dirty="0">
                <a:solidFill>
                  <a:schemeClr val="accent2"/>
                </a:solidFill>
              </a:rPr>
              <a:t>Purpose</a:t>
            </a:r>
          </a:p>
          <a:p>
            <a:pPr marL="12700" marR="5080"/>
            <a:r>
              <a:rPr lang="en-US" sz="1300" kern="0" spc="-80" dirty="0">
                <a:solidFill>
                  <a:schemeClr val="accent2"/>
                </a:solidFill>
              </a:rPr>
              <a:t>Track:</a:t>
            </a:r>
          </a:p>
          <a:p>
            <a:pPr marL="12700" marR="5080"/>
            <a:r>
              <a:rPr lang="en-US" sz="1300" kern="0" spc="-80" dirty="0">
                <a:solidFill>
                  <a:schemeClr val="accent6"/>
                </a:solidFill>
              </a:rPr>
              <a:t>dataset origins</a:t>
            </a:r>
          </a:p>
          <a:p>
            <a:pPr marL="12700" marR="5080"/>
            <a:r>
              <a:rPr lang="en-US" sz="1300" kern="0" spc="-80" dirty="0">
                <a:solidFill>
                  <a:schemeClr val="accent6"/>
                </a:solidFill>
              </a:rPr>
              <a:t>transformations</a:t>
            </a:r>
          </a:p>
          <a:p>
            <a:pPr marL="12700" marR="5080"/>
            <a:r>
              <a:rPr lang="en-US" sz="1300" kern="0" spc="-80" dirty="0">
                <a:solidFill>
                  <a:schemeClr val="accent6"/>
                </a:solidFill>
              </a:rPr>
              <a:t>consumers</a:t>
            </a:r>
          </a:p>
          <a:p>
            <a:pPr marL="12700" marR="5080"/>
            <a:r>
              <a:rPr lang="en-US" sz="1300" kern="0" spc="-80" dirty="0">
                <a:solidFill>
                  <a:schemeClr val="accent2"/>
                </a:solidFill>
              </a:rPr>
              <a:t>Flow</a:t>
            </a:r>
          </a:p>
          <a:p>
            <a:pPr marL="12700" marR="5080"/>
            <a:r>
              <a:rPr lang="en-US" sz="1300" kern="0" spc="-80" dirty="0">
                <a:solidFill>
                  <a:schemeClr val="accent6"/>
                </a:solidFill>
              </a:rPr>
              <a:t>Airflow Task Runs</a:t>
            </a:r>
          </a:p>
          <a:p>
            <a:pPr marL="12700" marR="5080"/>
            <a:r>
              <a:rPr lang="en-US" sz="1300" kern="0" spc="-80" dirty="0">
                <a:solidFill>
                  <a:schemeClr val="accent6"/>
                </a:solidFill>
              </a:rPr>
              <a:t>↓</a:t>
            </a:r>
          </a:p>
          <a:p>
            <a:pPr marL="12700" marR="5080"/>
            <a:r>
              <a:rPr lang="en-US" sz="1300" kern="0" spc="-80" dirty="0" err="1">
                <a:solidFill>
                  <a:schemeClr val="accent6"/>
                </a:solidFill>
              </a:rPr>
              <a:t>OpenLineage</a:t>
            </a:r>
            <a:r>
              <a:rPr lang="en-US" sz="1300" kern="0" spc="-80" dirty="0">
                <a:solidFill>
                  <a:schemeClr val="accent6"/>
                </a:solidFill>
              </a:rPr>
              <a:t> events emitted</a:t>
            </a:r>
          </a:p>
          <a:p>
            <a:pPr marL="12700" marR="5080"/>
            <a:r>
              <a:rPr lang="en-US" sz="1300" kern="0" spc="-80" dirty="0">
                <a:solidFill>
                  <a:schemeClr val="accent6"/>
                </a:solidFill>
              </a:rPr>
              <a:t>↓</a:t>
            </a:r>
          </a:p>
          <a:p>
            <a:pPr marL="12700" marR="5080"/>
            <a:r>
              <a:rPr lang="en-US" sz="1300" kern="0" spc="-80" dirty="0">
                <a:solidFill>
                  <a:schemeClr val="accent6"/>
                </a:solidFill>
              </a:rPr>
              <a:t>Marquez stores metadata</a:t>
            </a:r>
          </a:p>
          <a:p>
            <a:pPr marL="12700" marR="5080"/>
            <a:r>
              <a:rPr lang="en-US" sz="1300" kern="0" spc="-80" dirty="0">
                <a:solidFill>
                  <a:schemeClr val="accent6"/>
                </a:solidFill>
              </a:rPr>
              <a:t>↓</a:t>
            </a:r>
          </a:p>
          <a:p>
            <a:pPr marL="12700" marR="5080"/>
            <a:r>
              <a:rPr lang="en-US" sz="1300" kern="0" spc="-80" dirty="0">
                <a:solidFill>
                  <a:schemeClr val="accent6"/>
                </a:solidFill>
              </a:rPr>
              <a:t>Lineage UI visualization</a:t>
            </a:r>
          </a:p>
          <a:p>
            <a:pPr marL="12700" marR="5080"/>
            <a:r>
              <a:rPr lang="en-US" sz="1300" kern="0" spc="-80" dirty="0">
                <a:solidFill>
                  <a:schemeClr val="accent2"/>
                </a:solidFill>
              </a:rPr>
              <a:t>Automatically captures:</a:t>
            </a:r>
          </a:p>
          <a:p>
            <a:pPr marL="12700" marR="5080"/>
            <a:r>
              <a:rPr lang="en-US" sz="1300" kern="0" spc="-80" dirty="0">
                <a:solidFill>
                  <a:schemeClr val="accent6"/>
                </a:solidFill>
              </a:rPr>
              <a:t>inputs</a:t>
            </a:r>
          </a:p>
          <a:p>
            <a:pPr marL="12700" marR="5080"/>
            <a:r>
              <a:rPr lang="en-US" sz="1300" kern="0" spc="-80" dirty="0">
                <a:solidFill>
                  <a:schemeClr val="accent6"/>
                </a:solidFill>
              </a:rPr>
              <a:t>outputs</a:t>
            </a:r>
          </a:p>
          <a:p>
            <a:pPr marL="12700" marR="5080"/>
            <a:r>
              <a:rPr lang="en-US" sz="1300" kern="0" spc="-80" dirty="0">
                <a:solidFill>
                  <a:schemeClr val="accent6"/>
                </a:solidFill>
              </a:rPr>
              <a:t>job metadata</a:t>
            </a:r>
          </a:p>
          <a:p>
            <a:pPr marL="12700" marR="5080"/>
            <a:r>
              <a:rPr lang="en-US" sz="1300" kern="0" spc="-80" dirty="0">
                <a:solidFill>
                  <a:schemeClr val="accent6"/>
                </a:solidFill>
              </a:rPr>
              <a:t>owners</a:t>
            </a:r>
          </a:p>
          <a:p>
            <a:pPr marL="12700" marR="5080"/>
            <a:r>
              <a:rPr lang="en-US" sz="1300" kern="0" spc="-80" dirty="0">
                <a:solidFill>
                  <a:schemeClr val="accent6"/>
                </a:solidFill>
              </a:rPr>
              <a:t>Critical for governance.</a:t>
            </a: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26689592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6F0DF-B819-A367-B251-9FF8CDFDB3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84BE4D-456D-08BB-387E-60776CDD35B8}"/>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41DCCB-6634-7B83-EFD6-90C5697482C9}"/>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0B8EA405-06F7-B25D-7FF1-D6E22078DD4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10D7153-F261-000B-83F3-E5B3F51F4A2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545236F-A03A-0408-F017-69577512CF8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4A8466B0-371E-009E-B744-9EFE3B0A24A4}"/>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4EA70C18-C828-8D7D-06FA-74A302929939}"/>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7C33DB10-AE92-2D46-E7F6-4FBDA370A79C}"/>
              </a:ext>
            </a:extLst>
          </p:cNvPr>
          <p:cNvSpPr txBox="1">
            <a:spLocks/>
          </p:cNvSpPr>
          <p:nvPr/>
        </p:nvSpPr>
        <p:spPr>
          <a:xfrm>
            <a:off x="1524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Full End-to-End Runtime Example</a:t>
            </a:r>
          </a:p>
          <a:p>
            <a:pPr marL="12700" marR="5080"/>
            <a:r>
              <a:rPr lang="en-US" sz="1300" kern="0" spc="-80" dirty="0">
                <a:solidFill>
                  <a:schemeClr val="accent6"/>
                </a:solidFill>
              </a:rPr>
              <a:t>1. Kafka receives raw events</a:t>
            </a:r>
          </a:p>
          <a:p>
            <a:pPr marL="12700" marR="5080"/>
            <a:r>
              <a:rPr lang="en-US" sz="1300" kern="0" spc="-80" dirty="0">
                <a:solidFill>
                  <a:schemeClr val="accent6"/>
                </a:solidFill>
              </a:rPr>
              <a:t>2. Airflow </a:t>
            </a:r>
            <a:r>
              <a:rPr lang="en-US" sz="1300" kern="0" spc="-80" dirty="0" err="1">
                <a:solidFill>
                  <a:schemeClr val="accent6"/>
                </a:solidFill>
              </a:rPr>
              <a:t>KafkaSensor</a:t>
            </a:r>
            <a:r>
              <a:rPr lang="en-US" sz="1300" kern="0" spc="-80" dirty="0">
                <a:solidFill>
                  <a:schemeClr val="accent6"/>
                </a:solidFill>
              </a:rPr>
              <a:t> detects volume threshold</a:t>
            </a:r>
          </a:p>
          <a:p>
            <a:pPr marL="12700" marR="5080"/>
            <a:r>
              <a:rPr lang="en-US" sz="1300" kern="0" spc="-80" dirty="0">
                <a:solidFill>
                  <a:schemeClr val="accent6"/>
                </a:solidFill>
              </a:rPr>
              <a:t>3. DAG triggered</a:t>
            </a:r>
          </a:p>
          <a:p>
            <a:pPr marL="12700" marR="5080"/>
            <a:r>
              <a:rPr lang="en-US" sz="1300" kern="0" spc="-80" dirty="0">
                <a:solidFill>
                  <a:schemeClr val="accent6"/>
                </a:solidFill>
              </a:rPr>
              <a:t>4. Spark batch ETL runs</a:t>
            </a:r>
          </a:p>
          <a:p>
            <a:pPr marL="12700" marR="5080"/>
            <a:r>
              <a:rPr lang="en-US" sz="1300" kern="0" spc="-80" dirty="0">
                <a:solidFill>
                  <a:schemeClr val="accent6"/>
                </a:solidFill>
              </a:rPr>
              <a:t>5. Flink streaming job aggregates real-time metrics</a:t>
            </a:r>
          </a:p>
          <a:p>
            <a:pPr marL="12700" marR="5080"/>
            <a:r>
              <a:rPr lang="en-US" sz="1300" kern="0" spc="-80" dirty="0">
                <a:solidFill>
                  <a:schemeClr val="accent6"/>
                </a:solidFill>
              </a:rPr>
              <a:t>6. Great Expectations validates curated tables</a:t>
            </a:r>
          </a:p>
          <a:p>
            <a:pPr marL="12700" marR="5080"/>
            <a:r>
              <a:rPr lang="en-US" sz="1300" kern="0" spc="-80" dirty="0">
                <a:solidFill>
                  <a:schemeClr val="accent6"/>
                </a:solidFill>
              </a:rPr>
              <a:t>7. </a:t>
            </a:r>
            <a:r>
              <a:rPr lang="en-US" sz="1300" kern="0" spc="-80" dirty="0" err="1">
                <a:solidFill>
                  <a:schemeClr val="accent6"/>
                </a:solidFill>
              </a:rPr>
              <a:t>OpenLineage</a:t>
            </a:r>
            <a:r>
              <a:rPr lang="en-US" sz="1300" kern="0" spc="-80" dirty="0">
                <a:solidFill>
                  <a:schemeClr val="accent6"/>
                </a:solidFill>
              </a:rPr>
              <a:t> emits lineage</a:t>
            </a:r>
          </a:p>
          <a:p>
            <a:pPr marL="12700" marR="5080"/>
            <a:r>
              <a:rPr lang="en-US" sz="1300" kern="0" spc="-80" dirty="0">
                <a:solidFill>
                  <a:schemeClr val="accent6"/>
                </a:solidFill>
              </a:rPr>
              <a:t>8. Marquez stores metadata</a:t>
            </a:r>
          </a:p>
          <a:p>
            <a:pPr marL="12700" marR="5080"/>
            <a:r>
              <a:rPr lang="en-US" sz="1300" kern="0" spc="-80" dirty="0">
                <a:solidFill>
                  <a:schemeClr val="accent6"/>
                </a:solidFill>
              </a:rPr>
              <a:t>9. Data lands in warehouse</a:t>
            </a:r>
          </a:p>
          <a:p>
            <a:pPr marL="12700" marR="5080"/>
            <a:r>
              <a:rPr lang="en-US" sz="1300" kern="0" spc="-80" dirty="0">
                <a:solidFill>
                  <a:schemeClr val="accent6"/>
                </a:solidFill>
              </a:rPr>
              <a:t>10. BI dashboards refresh</a:t>
            </a:r>
          </a:p>
          <a:p>
            <a:pPr marL="12700" marR="5080"/>
            <a:endParaRPr lang="en-US" sz="1300" kern="0" spc="-80" dirty="0">
              <a:solidFill>
                <a:schemeClr val="accent6"/>
              </a:solidFill>
            </a:endParaRPr>
          </a:p>
          <a:p>
            <a:pPr marL="12700" marR="5080"/>
            <a:r>
              <a:rPr lang="en-US" sz="1300" kern="0" spc="-80" dirty="0">
                <a:solidFill>
                  <a:schemeClr val="accent2"/>
                </a:solidFill>
              </a:rPr>
              <a:t>🏗️ Production Reference Architecture</a:t>
            </a:r>
          </a:p>
          <a:p>
            <a:pPr marL="12700" marR="5080"/>
            <a:r>
              <a:rPr lang="en-US" sz="1300" kern="0" spc="-80" dirty="0">
                <a:solidFill>
                  <a:schemeClr val="accent6"/>
                </a:solidFill>
              </a:rPr>
              <a:t>Airflow:</a:t>
            </a:r>
          </a:p>
          <a:p>
            <a:pPr marL="12700" marR="5080"/>
            <a:r>
              <a:rPr lang="en-US" sz="1300" kern="0" spc="-80" dirty="0">
                <a:solidFill>
                  <a:schemeClr val="accent6"/>
                </a:solidFill>
              </a:rPr>
              <a:t>  - Webserver (2 replicas)</a:t>
            </a:r>
          </a:p>
          <a:p>
            <a:pPr marL="12700" marR="5080"/>
            <a:r>
              <a:rPr lang="en-US" sz="1300" kern="0" spc="-80" dirty="0">
                <a:solidFill>
                  <a:schemeClr val="accent6"/>
                </a:solidFill>
              </a:rPr>
              <a:t>  - Scheduler (1–2)</a:t>
            </a:r>
          </a:p>
          <a:p>
            <a:pPr marL="12700" marR="5080"/>
            <a:r>
              <a:rPr lang="en-US" sz="1300" kern="0" spc="-80" dirty="0">
                <a:solidFill>
                  <a:schemeClr val="accent6"/>
                </a:solidFill>
              </a:rPr>
              <a:t>  - </a:t>
            </a:r>
            <a:r>
              <a:rPr lang="en-US" sz="1300" kern="0" spc="-80" dirty="0" err="1">
                <a:solidFill>
                  <a:schemeClr val="accent6"/>
                </a:solidFill>
              </a:rPr>
              <a:t>Triggerer</a:t>
            </a:r>
            <a:endParaRPr lang="en-US" sz="1300" kern="0" spc="-80" dirty="0">
              <a:solidFill>
                <a:schemeClr val="accent6"/>
              </a:solidFill>
            </a:endParaRPr>
          </a:p>
          <a:p>
            <a:pPr marL="12700" marR="5080"/>
            <a:r>
              <a:rPr lang="en-US" sz="1300" kern="0" spc="-80" dirty="0">
                <a:solidFill>
                  <a:schemeClr val="accent6"/>
                </a:solidFill>
              </a:rPr>
              <a:t>  - Workers (auto-scaled)</a:t>
            </a:r>
          </a:p>
          <a:p>
            <a:pPr marL="12700" marR="5080"/>
            <a:r>
              <a:rPr lang="en-US" sz="1300" kern="0" spc="-80" dirty="0">
                <a:solidFill>
                  <a:schemeClr val="accent6"/>
                </a:solidFill>
              </a:rPr>
              <a:t>Streaming:</a:t>
            </a:r>
          </a:p>
          <a:p>
            <a:pPr marL="12700" marR="5080"/>
            <a:r>
              <a:rPr lang="en-US" sz="1300" kern="0" spc="-80" dirty="0">
                <a:solidFill>
                  <a:schemeClr val="accent6"/>
                </a:solidFill>
              </a:rPr>
              <a:t>  - Kafka Cluster</a:t>
            </a:r>
          </a:p>
          <a:p>
            <a:pPr marL="12700" marR="5080"/>
            <a:r>
              <a:rPr lang="en-US" sz="1300" kern="0" spc="-80" dirty="0">
                <a:solidFill>
                  <a:schemeClr val="accent6"/>
                </a:solidFill>
              </a:rPr>
              <a:t>  - Flink Cluster</a:t>
            </a:r>
          </a:p>
          <a:p>
            <a:pPr marL="12700" marR="5080"/>
            <a:r>
              <a:rPr lang="en-US" sz="1300" kern="0" spc="-80" dirty="0">
                <a:solidFill>
                  <a:schemeClr val="accent6"/>
                </a:solidFill>
              </a:rPr>
              <a:t>Batch:</a:t>
            </a:r>
          </a:p>
          <a:p>
            <a:pPr marL="12700" marR="5080"/>
            <a:r>
              <a:rPr lang="en-US" sz="1300" kern="0" spc="-80" dirty="0">
                <a:solidFill>
                  <a:schemeClr val="accent6"/>
                </a:solidFill>
              </a:rPr>
              <a:t>  - Spark on YARN / Kubernetes</a:t>
            </a:r>
          </a:p>
        </p:txBody>
      </p:sp>
    </p:spTree>
    <p:extLst>
      <p:ext uri="{BB962C8B-B14F-4D97-AF65-F5344CB8AC3E}">
        <p14:creationId xmlns:p14="http://schemas.microsoft.com/office/powerpoint/2010/main" val="212458845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F5B2-9B68-8F6C-E205-1E967F14C1B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6B61806-47C6-4780-8D95-7B0D25B5947E}"/>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4CD95FF-015D-7F09-9DCB-E52200F53352}"/>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318B720A-A81F-B724-6D1E-DBAF8A7D9F1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9319E8C-47FF-C35A-C089-C6E0917250D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86A4115-37FC-E1CA-3F33-7A28BB9F23E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383DDC8F-15FC-F51C-D916-2F91B9738EF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AF934B26-AB21-304C-E9F0-B530568C5E53}"/>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6E0ECA14-6162-71D9-FCAA-AAF5D266A180}"/>
              </a:ext>
            </a:extLst>
          </p:cNvPr>
          <p:cNvSpPr txBox="1">
            <a:spLocks/>
          </p:cNvSpPr>
          <p:nvPr/>
        </p:nvSpPr>
        <p:spPr>
          <a:xfrm>
            <a:off x="152400" y="762000"/>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 Production Reference Architecture</a:t>
            </a:r>
          </a:p>
          <a:p>
            <a:pPr marL="12700" marR="5080"/>
            <a:r>
              <a:rPr lang="en-US" sz="1300" kern="0" spc="-80" dirty="0">
                <a:solidFill>
                  <a:schemeClr val="accent6"/>
                </a:solidFill>
              </a:rPr>
              <a:t>Governance:</a:t>
            </a:r>
          </a:p>
          <a:p>
            <a:pPr marL="12700" marR="5080"/>
            <a:r>
              <a:rPr lang="en-US" sz="1300" kern="0" spc="-80" dirty="0">
                <a:solidFill>
                  <a:schemeClr val="accent6"/>
                </a:solidFill>
              </a:rPr>
              <a:t>  - Great Expectations</a:t>
            </a:r>
          </a:p>
          <a:p>
            <a:pPr marL="12700" marR="5080"/>
            <a:r>
              <a:rPr lang="en-US" sz="1300" kern="0" spc="-80" dirty="0">
                <a:solidFill>
                  <a:schemeClr val="accent6"/>
                </a:solidFill>
              </a:rPr>
              <a:t>  - </a:t>
            </a:r>
            <a:r>
              <a:rPr lang="en-US" sz="1300" kern="0" spc="-80" dirty="0" err="1">
                <a:solidFill>
                  <a:schemeClr val="accent6"/>
                </a:solidFill>
              </a:rPr>
              <a:t>OpenLineage</a:t>
            </a:r>
            <a:endParaRPr lang="en-US" sz="1300" kern="0" spc="-80" dirty="0">
              <a:solidFill>
                <a:schemeClr val="accent6"/>
              </a:solidFill>
            </a:endParaRPr>
          </a:p>
          <a:p>
            <a:pPr marL="12700" marR="5080"/>
            <a:r>
              <a:rPr lang="en-US" sz="1300" kern="0" spc="-80" dirty="0">
                <a:solidFill>
                  <a:schemeClr val="accent6"/>
                </a:solidFill>
              </a:rPr>
              <a:t>  - Marquez</a:t>
            </a:r>
          </a:p>
          <a:p>
            <a:pPr marL="12700" marR="5080"/>
            <a:r>
              <a:rPr lang="en-US" sz="1300" kern="0" spc="-80" dirty="0">
                <a:solidFill>
                  <a:schemeClr val="accent6"/>
                </a:solidFill>
              </a:rPr>
              <a:t>Storage:</a:t>
            </a:r>
          </a:p>
          <a:p>
            <a:pPr marL="12700" marR="5080"/>
            <a:r>
              <a:rPr lang="en-US" sz="1300" kern="0" spc="-80" dirty="0">
                <a:solidFill>
                  <a:schemeClr val="accent6"/>
                </a:solidFill>
              </a:rPr>
              <a:t>  - S3 / GCS / HDFS</a:t>
            </a:r>
          </a:p>
          <a:p>
            <a:pPr marL="12700" marR="5080"/>
            <a:r>
              <a:rPr lang="en-US" sz="1300" kern="0" spc="-80" dirty="0">
                <a:solidFill>
                  <a:schemeClr val="accent6"/>
                </a:solidFill>
              </a:rPr>
              <a:t>  - Warehouse (Snowflake / </a:t>
            </a:r>
            <a:r>
              <a:rPr lang="en-US" sz="1300" kern="0" spc="-80" dirty="0" err="1">
                <a:solidFill>
                  <a:schemeClr val="accent6"/>
                </a:solidFill>
              </a:rPr>
              <a:t>BigQuery</a:t>
            </a:r>
            <a:r>
              <a:rPr lang="en-US" sz="1300" kern="0" spc="-80" dirty="0">
                <a:solidFill>
                  <a:schemeClr val="accent6"/>
                </a:solidFill>
              </a:rPr>
              <a:t>)</a:t>
            </a:r>
          </a:p>
          <a:p>
            <a:pPr marL="12700" marR="5080"/>
            <a:r>
              <a:rPr lang="en-US" sz="1300" kern="0" spc="-80" dirty="0">
                <a:solidFill>
                  <a:schemeClr val="accent6"/>
                </a:solidFill>
              </a:rPr>
              <a:t>Observability:</a:t>
            </a:r>
          </a:p>
          <a:p>
            <a:pPr marL="12700" marR="5080"/>
            <a:r>
              <a:rPr lang="en-US" sz="1300" kern="0" spc="-80" dirty="0">
                <a:solidFill>
                  <a:schemeClr val="accent6"/>
                </a:solidFill>
              </a:rPr>
              <a:t>  - Prometheus</a:t>
            </a:r>
          </a:p>
          <a:p>
            <a:pPr marL="12700" marR="5080"/>
            <a:r>
              <a:rPr lang="en-US" sz="1300" kern="0" spc="-80" dirty="0">
                <a:solidFill>
                  <a:schemeClr val="accent6"/>
                </a:solidFill>
              </a:rPr>
              <a:t>  - Grafana</a:t>
            </a:r>
          </a:p>
          <a:p>
            <a:pPr marL="12700" marR="5080"/>
            <a:r>
              <a:rPr lang="en-US" sz="1300" kern="0" spc="-80" dirty="0">
                <a:solidFill>
                  <a:schemeClr val="accent2"/>
                </a:solidFill>
              </a:rPr>
              <a:t>🎯 Key Design Principles</a:t>
            </a:r>
          </a:p>
          <a:p>
            <a:pPr marL="12700" marR="5080"/>
            <a:r>
              <a:rPr lang="en-US" sz="1300" kern="0" spc="-80" dirty="0">
                <a:solidFill>
                  <a:schemeClr val="accent6"/>
                </a:solidFill>
              </a:rPr>
              <a:t>✅ Airflow is orchestration only</a:t>
            </a:r>
          </a:p>
          <a:p>
            <a:pPr marL="12700" marR="5080"/>
            <a:r>
              <a:rPr lang="en-US" sz="1300" kern="0" spc="-80" dirty="0">
                <a:solidFill>
                  <a:schemeClr val="accent6"/>
                </a:solidFill>
              </a:rPr>
              <a:t>Never data processing.</a:t>
            </a:r>
          </a:p>
          <a:p>
            <a:pPr marL="12700" marR="5080"/>
            <a:r>
              <a:rPr lang="en-US" sz="1300" kern="0" spc="-80" dirty="0">
                <a:solidFill>
                  <a:schemeClr val="accent6"/>
                </a:solidFill>
              </a:rPr>
              <a:t>✅ Streaming &amp; Batch separation</a:t>
            </a:r>
          </a:p>
          <a:p>
            <a:pPr marL="12700" marR="5080"/>
            <a:r>
              <a:rPr lang="en-US" sz="1300" kern="0" spc="-80" dirty="0">
                <a:solidFill>
                  <a:schemeClr val="accent6"/>
                </a:solidFill>
              </a:rPr>
              <a:t>Kafka/Flink = real time</a:t>
            </a:r>
          </a:p>
          <a:p>
            <a:pPr marL="12700" marR="5080"/>
            <a:r>
              <a:rPr lang="en-US" sz="1300" kern="0" spc="-80" dirty="0">
                <a:solidFill>
                  <a:schemeClr val="accent6"/>
                </a:solidFill>
              </a:rPr>
              <a:t>Spark = batch</a:t>
            </a:r>
          </a:p>
          <a:p>
            <a:pPr marL="12700" marR="5080"/>
            <a:r>
              <a:rPr lang="en-US" sz="1300" kern="0" spc="-80" dirty="0">
                <a:solidFill>
                  <a:schemeClr val="accent6"/>
                </a:solidFill>
              </a:rPr>
              <a:t>Airflow = coordinator</a:t>
            </a:r>
          </a:p>
          <a:p>
            <a:pPr marL="12700" marR="5080"/>
            <a:r>
              <a:rPr lang="en-US" sz="1300" kern="0" spc="-80" dirty="0">
                <a:solidFill>
                  <a:schemeClr val="accent6"/>
                </a:solidFill>
              </a:rPr>
              <a:t>✅ Data Quality is a DAG stage, not afterthought</a:t>
            </a:r>
          </a:p>
          <a:p>
            <a:pPr marL="12700" marR="5080"/>
            <a:r>
              <a:rPr lang="en-US" sz="1300" kern="0" spc="-80" dirty="0">
                <a:solidFill>
                  <a:schemeClr val="accent6"/>
                </a:solidFill>
              </a:rPr>
              <a:t>Always:</a:t>
            </a:r>
          </a:p>
          <a:p>
            <a:pPr marL="12700" marR="5080"/>
            <a:r>
              <a:rPr lang="en-US" sz="1300" kern="0" spc="-80" dirty="0">
                <a:solidFill>
                  <a:schemeClr val="accent6"/>
                </a:solidFill>
              </a:rPr>
              <a:t>Transform → Validate → Publish</a:t>
            </a:r>
          </a:p>
          <a:p>
            <a:pPr marL="12700" marR="5080"/>
            <a:r>
              <a:rPr lang="en-US" sz="1300" kern="0" spc="-80" dirty="0">
                <a:solidFill>
                  <a:schemeClr val="accent6"/>
                </a:solidFill>
              </a:rPr>
              <a:t>✅ Lineage is emitted automatically</a:t>
            </a:r>
          </a:p>
          <a:p>
            <a:pPr marL="12700" marR="5080"/>
            <a:r>
              <a:rPr lang="en-US" sz="1300" kern="0" spc="-80" dirty="0">
                <a:solidFill>
                  <a:schemeClr val="accent6"/>
                </a:solidFill>
              </a:rPr>
              <a:t>No manual tracking.</a:t>
            </a:r>
          </a:p>
          <a:p>
            <a:pPr marL="12700" marR="5080"/>
            <a:r>
              <a:rPr lang="en-US" sz="1300" kern="0" spc="-80" dirty="0">
                <a:solidFill>
                  <a:schemeClr val="accent6"/>
                </a:solidFill>
              </a:rPr>
              <a:t>✅ Stateless workers</a:t>
            </a:r>
          </a:p>
          <a:p>
            <a:pPr marL="12700" marR="5080"/>
            <a:r>
              <a:rPr lang="en-US" sz="1300" kern="0" spc="-80" dirty="0">
                <a:solidFill>
                  <a:schemeClr val="accent6"/>
                </a:solidFill>
              </a:rPr>
              <a:t>Everything durable goes to external systems.</a:t>
            </a:r>
          </a:p>
        </p:txBody>
      </p:sp>
    </p:spTree>
    <p:extLst>
      <p:ext uri="{BB962C8B-B14F-4D97-AF65-F5344CB8AC3E}">
        <p14:creationId xmlns:p14="http://schemas.microsoft.com/office/powerpoint/2010/main" val="40409969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7FFB1-E8BD-F06C-2933-490161CD39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07E8F0-3D3D-54CB-E251-C46AF7274266}"/>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9ACBCC-B1A8-CC1E-4E01-E784DA176418}"/>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7" name="object 2">
            <a:extLst>
              <a:ext uri="{FF2B5EF4-FFF2-40B4-BE49-F238E27FC236}">
                <a16:creationId xmlns:a16="http://schemas.microsoft.com/office/drawing/2014/main" id="{573CCBC8-280D-025E-6EBB-E593D0CDB2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7510EC4-9421-7B45-E6FC-423E1DFC80C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BA0991F-601A-5150-FA3F-E92C16A650A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376EA71-4550-DA1D-9E23-98C44E7CA02A}"/>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object 2">
            <a:extLst>
              <a:ext uri="{FF2B5EF4-FFF2-40B4-BE49-F238E27FC236}">
                <a16:creationId xmlns:a16="http://schemas.microsoft.com/office/drawing/2014/main" id="{8CC682EE-B061-7E8E-DCDD-F898564DA681}"/>
              </a:ext>
            </a:extLst>
          </p:cNvPr>
          <p:cNvSpPr txBox="1">
            <a:spLocks/>
          </p:cNvSpPr>
          <p:nvPr/>
        </p:nvSpPr>
        <p:spPr>
          <a:xfrm>
            <a:off x="152400" y="762000"/>
            <a:ext cx="8624937" cy="1846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2"/>
              </a:solidFill>
            </a:endParaRPr>
          </a:p>
        </p:txBody>
      </p:sp>
      <p:sp>
        <p:nvSpPr>
          <p:cNvPr id="12" name="object 2">
            <a:extLst>
              <a:ext uri="{FF2B5EF4-FFF2-40B4-BE49-F238E27FC236}">
                <a16:creationId xmlns:a16="http://schemas.microsoft.com/office/drawing/2014/main" id="{9EC51961-6FD3-3249-9C1D-9A39E8AD7D36}"/>
              </a:ext>
            </a:extLst>
          </p:cNvPr>
          <p:cNvSpPr txBox="1">
            <a:spLocks/>
          </p:cNvSpPr>
          <p:nvPr/>
        </p:nvSpPr>
        <p:spPr>
          <a:xfrm>
            <a:off x="152400" y="762000"/>
            <a:ext cx="8624937" cy="32162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Apache Airflow Integration Architecture</a:t>
            </a:r>
          </a:p>
          <a:p>
            <a:pPr marL="12700" marR="5080"/>
            <a:r>
              <a:rPr lang="en-US" sz="1300" kern="0" spc="-80" dirty="0">
                <a:solidFill>
                  <a:schemeClr val="accent2"/>
                </a:solidFill>
              </a:rPr>
              <a:t>⚠️ Common Mistakes</a:t>
            </a:r>
          </a:p>
          <a:p>
            <a:pPr marL="12700" marR="5080"/>
            <a:r>
              <a:rPr lang="en-US" sz="1300" kern="0" spc="-80" dirty="0">
                <a:solidFill>
                  <a:schemeClr val="accent6"/>
                </a:solidFill>
              </a:rPr>
              <a:t>❌ Using Airflow as streaming processor</a:t>
            </a:r>
          </a:p>
          <a:p>
            <a:pPr marL="12700" marR="5080"/>
            <a:r>
              <a:rPr lang="en-US" sz="1300" kern="0" spc="-80" dirty="0">
                <a:solidFill>
                  <a:schemeClr val="accent6"/>
                </a:solidFill>
              </a:rPr>
              <a:t>❌ Running Spark inside Airflow workers</a:t>
            </a:r>
          </a:p>
          <a:p>
            <a:pPr marL="12700" marR="5080"/>
            <a:r>
              <a:rPr lang="en-US" sz="1300" kern="0" spc="-80" dirty="0">
                <a:solidFill>
                  <a:schemeClr val="accent6"/>
                </a:solidFill>
              </a:rPr>
              <a:t>❌ Skipping quality gates</a:t>
            </a:r>
          </a:p>
          <a:p>
            <a:pPr marL="12700" marR="5080"/>
            <a:r>
              <a:rPr lang="en-US" sz="1300" kern="0" spc="-80" dirty="0">
                <a:solidFill>
                  <a:schemeClr val="accent6"/>
                </a:solidFill>
              </a:rPr>
              <a:t>❌ No lineage</a:t>
            </a:r>
          </a:p>
          <a:p>
            <a:pPr marL="12700" marR="5080"/>
            <a:r>
              <a:rPr lang="en-US" sz="1300" kern="0" spc="-80" dirty="0">
                <a:solidFill>
                  <a:schemeClr val="accent6"/>
                </a:solidFill>
              </a:rPr>
              <a:t>❌ Tight coupling between DAGs and compute</a:t>
            </a:r>
          </a:p>
          <a:p>
            <a:pPr marL="12700" marR="5080"/>
            <a:endParaRPr lang="en-US" sz="1300" kern="0" spc="-80" dirty="0">
              <a:solidFill>
                <a:schemeClr val="accent6"/>
              </a:solidFill>
            </a:endParaRPr>
          </a:p>
          <a:p>
            <a:pPr marL="12700" marR="5080"/>
            <a:r>
              <a:rPr lang="en-US" sz="1300" kern="0" spc="-80" dirty="0">
                <a:solidFill>
                  <a:schemeClr val="accent2"/>
                </a:solidFill>
              </a:rPr>
              <a:t>🧠 Mental Model</a:t>
            </a:r>
          </a:p>
          <a:p>
            <a:pPr marL="12700" marR="5080"/>
            <a:r>
              <a:rPr lang="en-US" sz="1300" kern="0" spc="-80" dirty="0">
                <a:solidFill>
                  <a:schemeClr val="accent2"/>
                </a:solidFill>
              </a:rPr>
              <a:t>Think of Airflow as:</a:t>
            </a:r>
          </a:p>
          <a:p>
            <a:pPr marL="12700" marR="5080"/>
            <a:r>
              <a:rPr lang="en-US" sz="1300" kern="0" spc="-80" dirty="0">
                <a:solidFill>
                  <a:schemeClr val="accent6"/>
                </a:solidFill>
              </a:rPr>
              <a:t>Distributed conductor of an orchestra</a:t>
            </a:r>
          </a:p>
          <a:p>
            <a:pPr marL="12700" marR="5080"/>
            <a:r>
              <a:rPr lang="en-US" sz="1300" kern="0" spc="-80" dirty="0">
                <a:solidFill>
                  <a:schemeClr val="accent6"/>
                </a:solidFill>
              </a:rPr>
              <a:t>Kafka, Spark, Flink, GE, Marquez are musicians.</a:t>
            </a:r>
          </a:p>
          <a:p>
            <a:pPr marL="12700" marR="5080"/>
            <a:r>
              <a:rPr lang="en-US" sz="1300" kern="0" spc="-80" dirty="0">
                <a:solidFill>
                  <a:schemeClr val="accent6"/>
                </a:solidFill>
              </a:rPr>
              <a:t>Airflow only coordinates timing.</a:t>
            </a:r>
          </a:p>
          <a:p>
            <a:pPr marL="12700" marR="5080"/>
            <a:endParaRPr lang="en-US" sz="1300" kern="0" spc="-80" dirty="0">
              <a:solidFill>
                <a:schemeClr val="accent6"/>
              </a:solidFill>
            </a:endParaRPr>
          </a:p>
          <a:p>
            <a:pPr marL="12700" marR="5080"/>
            <a:endParaRPr lang="en-US" sz="2000" kern="0" spc="-80" dirty="0">
              <a:solidFill>
                <a:schemeClr val="accent2"/>
              </a:solidFill>
            </a:endParaRPr>
          </a:p>
        </p:txBody>
      </p:sp>
    </p:spTree>
    <p:extLst>
      <p:ext uri="{BB962C8B-B14F-4D97-AF65-F5344CB8AC3E}">
        <p14:creationId xmlns:p14="http://schemas.microsoft.com/office/powerpoint/2010/main" val="266685783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8BDF-E443-961D-4820-52FFCBAE6DC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DD2F884-BDAC-A8C8-3048-B7B72F66DEF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C8CBCE-8F2F-2DC3-F1F4-06BDA4F7C42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80E1833-C40E-C9E8-8454-C0D76689021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B485AD6-8717-9D1A-4732-A954A39DFA0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5DF6473-0119-EB9F-8B66-8B2C40F9F439}"/>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42560D8-30C4-7683-A56B-41F70FCF908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9C68E294-C431-9526-2663-D5E1C9739282}"/>
              </a:ext>
            </a:extLst>
          </p:cNvPr>
          <p:cNvSpPr txBox="1"/>
          <p:nvPr/>
        </p:nvSpPr>
        <p:spPr>
          <a:xfrm>
            <a:off x="0" y="745712"/>
            <a:ext cx="8915399" cy="4247317"/>
          </a:xfrm>
          <a:prstGeom prst="rect">
            <a:avLst/>
          </a:prstGeom>
          <a:noFill/>
        </p:spPr>
        <p:txBody>
          <a:bodyPr wrap="square">
            <a:spAutoFit/>
          </a:bodyPr>
          <a:lstStyle/>
          <a:p>
            <a:pPr marL="12700" marR="5080"/>
            <a:r>
              <a:rPr lang="en-US" sz="2000" b="1" kern="0" spc="-80" dirty="0">
                <a:solidFill>
                  <a:schemeClr val="accent2"/>
                </a:solidFill>
              </a:rPr>
              <a:t>For Further  Exploration -   </a:t>
            </a:r>
          </a:p>
          <a:p>
            <a:pPr marL="12700" marR="5080"/>
            <a:r>
              <a:rPr lang="en-US" dirty="0">
                <a:hlinkClick r:id="rId2"/>
              </a:rPr>
              <a:t>Exploring Airflow: First Impression from a Seasoned SSIS &amp; ODI User</a:t>
            </a:r>
            <a:endParaRPr lang="en-US" dirty="0"/>
          </a:p>
          <a:p>
            <a:pPr marL="12700" marR="5080"/>
            <a:r>
              <a:rPr lang="en-IN" dirty="0">
                <a:hlinkClick r:id="rId3"/>
              </a:rPr>
              <a:t>Apache Spark vs. Apache Airflow</a:t>
            </a:r>
            <a:endParaRPr lang="en-IN" dirty="0"/>
          </a:p>
          <a:p>
            <a:pPr marL="12700" marR="5080"/>
            <a:r>
              <a:rPr lang="en-US" dirty="0">
                <a:hlinkClick r:id="rId4"/>
              </a:rPr>
              <a:t>Airflow vs Apache Flink</a:t>
            </a:r>
            <a:endParaRPr lang="en-US" dirty="0"/>
          </a:p>
          <a:p>
            <a:pPr marL="12700" marR="5080"/>
            <a:r>
              <a:rPr lang="en-US" dirty="0">
                <a:hlinkClick r:id="rId5"/>
              </a:rPr>
              <a:t>Data Orchestration Tools: A Comprehensive Look at Apache Airflow, AWS Glue, and ADF</a:t>
            </a:r>
            <a:endParaRPr lang="en-US" dirty="0"/>
          </a:p>
          <a:p>
            <a:pPr marL="12700" marR="5080"/>
            <a:r>
              <a:rPr lang="en-IN" dirty="0">
                <a:hlinkClick r:id="rId6"/>
              </a:rPr>
              <a:t>Apache Airflow Resource I</a:t>
            </a:r>
            <a:endParaRPr lang="en-IN" dirty="0"/>
          </a:p>
          <a:p>
            <a:pPr marL="12700" marR="5080"/>
            <a:r>
              <a:rPr lang="en-IN" dirty="0">
                <a:hlinkClick r:id="rId7"/>
              </a:rPr>
              <a:t>Apache Airflow Resource II</a:t>
            </a:r>
            <a:endParaRPr lang="en-IN" dirty="0"/>
          </a:p>
          <a:p>
            <a:pPr marL="12700" marR="5080"/>
            <a:r>
              <a:rPr lang="en-US" dirty="0">
                <a:hlinkClick r:id="rId8"/>
              </a:rPr>
              <a:t>Executors in Apache-Airflow</a:t>
            </a:r>
            <a:endParaRPr lang="en-US" dirty="0"/>
          </a:p>
          <a:p>
            <a:pPr marL="12700" marR="5080"/>
            <a:r>
              <a:rPr lang="en-US" dirty="0">
                <a:hlinkClick r:id="rId9"/>
              </a:rPr>
              <a:t>The Complete Hands-On Introduction to Apache Airflow 3 | Udemy</a:t>
            </a:r>
            <a:endParaRPr lang="en-US" dirty="0"/>
          </a:p>
          <a:p>
            <a:pPr marL="12700" marR="5080"/>
            <a:r>
              <a:rPr lang="en-US" dirty="0">
                <a:hlinkClick r:id="rId10"/>
              </a:rPr>
              <a:t>Apache Airflow | A Real-Time &amp; Hands-On Course on Airflow | Udemy</a:t>
            </a:r>
            <a:endParaRPr lang="en-US" dirty="0"/>
          </a:p>
          <a:p>
            <a:pPr marL="12700" marR="5080"/>
            <a:r>
              <a:rPr lang="en-US" dirty="0">
                <a:hlinkClick r:id="rId11"/>
              </a:rPr>
              <a:t>Apache Airflow: The Operators Guide | Udemy</a:t>
            </a:r>
            <a:endParaRPr lang="en-US" dirty="0"/>
          </a:p>
          <a:p>
            <a:pPr marL="12700" marR="5080"/>
            <a:r>
              <a:rPr lang="en-US" dirty="0">
                <a:hlinkClick r:id="rId12"/>
              </a:rPr>
              <a:t>Data Pipelines with Apache Airflow®</a:t>
            </a:r>
            <a:endParaRPr lang="en-US" dirty="0"/>
          </a:p>
          <a:p>
            <a:pPr marL="12700" marR="5080"/>
            <a:r>
              <a:rPr lang="en-IN" dirty="0">
                <a:hlinkClick r:id="rId13"/>
              </a:rPr>
              <a:t>Mastering Workflow Management with Apache Airflow</a:t>
            </a:r>
            <a:endParaRPr lang="en-IN" dirty="0"/>
          </a:p>
          <a:p>
            <a:pPr marL="12700" marR="5080"/>
            <a:r>
              <a:rPr lang="en-US" dirty="0">
                <a:hlinkClick r:id="rId14"/>
              </a:rPr>
              <a:t>Apache Airflow Demystified: Build, Schedule, and Monitor Data Pipelines</a:t>
            </a:r>
            <a:endParaRPr lang="en-US" dirty="0"/>
          </a:p>
          <a:p>
            <a:pPr marL="12700" marR="5080"/>
            <a:r>
              <a:rPr lang="en-US" dirty="0">
                <a:hlinkClick r:id="rId15"/>
              </a:rPr>
              <a:t>Apache-Airflow-Best-Practices</a:t>
            </a:r>
            <a:endParaRPr lang="en-US" kern="0" spc="-80" dirty="0">
              <a:solidFill>
                <a:schemeClr val="accent2"/>
              </a:solidFill>
            </a:endParaRPr>
          </a:p>
        </p:txBody>
      </p:sp>
      <p:graphicFrame>
        <p:nvGraphicFramePr>
          <p:cNvPr id="9" name="Diagram 8">
            <a:extLst>
              <a:ext uri="{FF2B5EF4-FFF2-40B4-BE49-F238E27FC236}">
                <a16:creationId xmlns:a16="http://schemas.microsoft.com/office/drawing/2014/main" id="{6A896B98-A1C2-FFDF-9A95-6ECC793BB9C3}"/>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Tree>
    <p:extLst>
      <p:ext uri="{BB962C8B-B14F-4D97-AF65-F5344CB8AC3E}">
        <p14:creationId xmlns:p14="http://schemas.microsoft.com/office/powerpoint/2010/main" val="144379449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F16E-AC08-2896-ACDA-30BB9A3DCE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D55E42E-82D3-464A-5BC0-A355FC13EEEC}"/>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EF2ECC-B03A-C4BF-9672-BAF21173A1BC}"/>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4D598B2-7641-8C0A-76F4-4033FD3F9316}"/>
              </a:ext>
            </a:extLst>
          </p:cNvPr>
          <p:cNvSpPr txBox="1">
            <a:spLocks/>
          </p:cNvSpPr>
          <p:nvPr/>
        </p:nvSpPr>
        <p:spPr>
          <a:xfrm>
            <a:off x="152400" y="762000"/>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Data Quality, Reliability, and Lineage form the foundation of trusted data engineering. Data Quality ensures data is accurate and fit for purpose (Accuracy, Completeness). Data Reliability ensures data is trustworthy and consistent over time. Data Lineage maps the lifecycle, tracing origins, transformations, and dependencies.</a:t>
            </a:r>
          </a:p>
          <a:p>
            <a:pPr marL="12700" marR="5080"/>
            <a:r>
              <a:rPr lang="en-US" sz="1700" kern="0" spc="-80" dirty="0">
                <a:solidFill>
                  <a:schemeClr val="accent2"/>
                </a:solidFill>
              </a:rPr>
              <a:t>Comparison of Data Quality, Reliability, and Lineage </a:t>
            </a:r>
          </a:p>
        </p:txBody>
      </p:sp>
      <p:sp>
        <p:nvSpPr>
          <p:cNvPr id="7" name="object 2">
            <a:extLst>
              <a:ext uri="{FF2B5EF4-FFF2-40B4-BE49-F238E27FC236}">
                <a16:creationId xmlns:a16="http://schemas.microsoft.com/office/drawing/2014/main" id="{270C7E90-0FC6-ABB6-B2AB-FC0562A7429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FC5770C-22B7-FB1E-D830-A4655FFEBF3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1154426-26E9-363C-090D-10D7EBA85DA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78BFC4E4-5B25-B40B-1ED2-50BDD8B287F1}"/>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FACCF51B-1657-380D-CDC5-DC4F2CE2C2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663" y="1623774"/>
            <a:ext cx="8802736" cy="2496742"/>
          </a:xfrm>
          <a:prstGeom prst="rect">
            <a:avLst/>
          </a:prstGeom>
        </p:spPr>
      </p:pic>
      <p:pic>
        <p:nvPicPr>
          <p:cNvPr id="13" name="Picture 12">
            <a:extLst>
              <a:ext uri="{FF2B5EF4-FFF2-40B4-BE49-F238E27FC236}">
                <a16:creationId xmlns:a16="http://schemas.microsoft.com/office/drawing/2014/main" id="{0BEE47DC-B64C-47A3-52B1-0CB7167C3A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4263" y="4120516"/>
            <a:ext cx="8624937" cy="1746884"/>
          </a:xfrm>
          <a:prstGeom prst="rect">
            <a:avLst/>
          </a:prstGeom>
        </p:spPr>
      </p:pic>
    </p:spTree>
    <p:extLst>
      <p:ext uri="{BB962C8B-B14F-4D97-AF65-F5344CB8AC3E}">
        <p14:creationId xmlns:p14="http://schemas.microsoft.com/office/powerpoint/2010/main" val="33029471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1ADD-4FCF-B0E4-8894-C9249D5B24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A961B1-3C20-57F4-FDB7-5543B1BAC595}"/>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691CF94-6535-BA53-D1BE-2521230DA801}"/>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308DD24-82FC-1F72-215E-9D5E348A64D6}"/>
              </a:ext>
            </a:extLst>
          </p:cNvPr>
          <p:cNvSpPr txBox="1">
            <a:spLocks/>
          </p:cNvSpPr>
          <p:nvPr/>
        </p:nvSpPr>
        <p:spPr>
          <a:xfrm>
            <a:off x="152400" y="762000"/>
            <a:ext cx="8624937" cy="42780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Breakdown</a:t>
            </a:r>
          </a:p>
          <a:p>
            <a:pPr marL="12700" marR="5080"/>
            <a:r>
              <a:rPr lang="en-US" sz="1300" kern="0" spc="-80" dirty="0">
                <a:solidFill>
                  <a:schemeClr val="accent2"/>
                </a:solidFill>
              </a:rPr>
              <a:t>Data Quality (The "What"):</a:t>
            </a:r>
            <a:r>
              <a:rPr lang="en-US" sz="1300" kern="0" spc="-80" dirty="0">
                <a:solidFill>
                  <a:schemeClr val="accent6"/>
                </a:solidFill>
              </a:rPr>
              <a:t> Focuses on the inherent characteristics of data. High-quality data is accurate, complete, consistent, unique, and timely.</a:t>
            </a:r>
          </a:p>
          <a:p>
            <a:pPr marL="12700" marR="5080"/>
            <a:r>
              <a:rPr lang="en-US" sz="1300" kern="0" spc="-80" dirty="0">
                <a:solidFill>
                  <a:schemeClr val="accent2"/>
                </a:solidFill>
              </a:rPr>
              <a:t>Data Reliability (The "When"): </a:t>
            </a:r>
            <a:r>
              <a:rPr lang="en-US" sz="1300" kern="0" spc="-80" dirty="0">
                <a:solidFill>
                  <a:schemeClr val="accent6"/>
                </a:solidFill>
              </a:rPr>
              <a:t>Focuses on whether the data can be trusted over time. This is increasingly managed via Data Observability, which acts as a "smoke detector" for data systems, spotting issues like schema changes or unexpected volume drops.</a:t>
            </a:r>
          </a:p>
          <a:p>
            <a:pPr marL="12700" marR="5080"/>
            <a:r>
              <a:rPr lang="en-US" sz="1300" kern="0" spc="-80" dirty="0">
                <a:solidFill>
                  <a:schemeClr val="accent2"/>
                </a:solidFill>
              </a:rPr>
              <a:t>Data Lineage (The "How"):</a:t>
            </a:r>
            <a:r>
              <a:rPr lang="en-US" sz="1300" kern="0" spc="-80" dirty="0">
                <a:solidFill>
                  <a:schemeClr val="accent6"/>
                </a:solidFill>
              </a:rPr>
              <a:t> Provides the context, showing how data moves from source to destination. It is critical for Impact Analysis (what breaks if I change this?) and Root Cause Analysis (why is this dashboard wrong?). </a:t>
            </a:r>
          </a:p>
          <a:p>
            <a:pPr marL="12700" marR="5080"/>
            <a:endParaRPr lang="en-US" sz="1300" kern="0" spc="-80" dirty="0">
              <a:solidFill>
                <a:schemeClr val="accent6"/>
              </a:solidFill>
            </a:endParaRPr>
          </a:p>
          <a:p>
            <a:pPr marL="12700" marR="5080"/>
            <a:r>
              <a:rPr lang="en-US" sz="1300" kern="0" spc="-80" dirty="0">
                <a:solidFill>
                  <a:schemeClr val="accent2"/>
                </a:solidFill>
              </a:rPr>
              <a:t>How They Work Together</a:t>
            </a:r>
          </a:p>
          <a:p>
            <a:pPr marL="12700" marR="5080"/>
            <a:r>
              <a:rPr lang="en-US" sz="1300" kern="0" spc="-80" dirty="0">
                <a:solidFill>
                  <a:schemeClr val="accent6"/>
                </a:solidFill>
              </a:rPr>
              <a:t>Lineage helps identify which upstream data source is causing a quality issue. Reliability (observability) tells you that a table is not updating. Once you realize the data is unreliable, you use lineage to find the root cause, and data quality checks to fix the data.</a:t>
            </a:r>
          </a:p>
          <a:p>
            <a:pPr marL="12700" marR="5080"/>
            <a:endParaRPr lang="en-US" sz="1300" kern="0" spc="-80" dirty="0">
              <a:solidFill>
                <a:schemeClr val="accent6"/>
              </a:solidFill>
            </a:endParaRPr>
          </a:p>
          <a:p>
            <a:pPr marL="12700" marR="5080"/>
            <a:r>
              <a:rPr lang="en-US" sz="1700" kern="0" spc="-80" dirty="0">
                <a:solidFill>
                  <a:schemeClr val="accent2"/>
                </a:solidFill>
              </a:rPr>
              <a:t>For Further Exploration</a:t>
            </a:r>
          </a:p>
          <a:p>
            <a:pPr marL="12700" marR="5080"/>
            <a:r>
              <a:rPr lang="en-IN" sz="1800" dirty="0">
                <a:hlinkClick r:id="rId2"/>
              </a:rPr>
              <a:t>Data Quality Fundamentals [Book]</a:t>
            </a:r>
            <a:endParaRPr lang="en-IN" sz="1800" dirty="0"/>
          </a:p>
          <a:p>
            <a:pPr marL="12700" marR="5080"/>
            <a:r>
              <a:rPr lang="en-US" sz="1800" dirty="0">
                <a:hlinkClick r:id="rId3"/>
              </a:rPr>
              <a:t>Data-Quality-in-Practice</a:t>
            </a:r>
            <a:endParaRPr lang="en-US" sz="1800" dirty="0"/>
          </a:p>
          <a:p>
            <a:pPr marL="12700" marR="5080"/>
            <a:r>
              <a:rPr lang="en-IN" sz="1800" dirty="0" err="1">
                <a:hlinkClick r:id="rId4"/>
              </a:rPr>
              <a:t>OpenLineage</a:t>
            </a:r>
            <a:endParaRPr lang="en-IN" sz="1800" dirty="0"/>
          </a:p>
          <a:p>
            <a:pPr marL="12700" marR="5080"/>
            <a:r>
              <a:rPr lang="en-IN" sz="1800" dirty="0" err="1">
                <a:hlinkClick r:id="rId5"/>
              </a:rPr>
              <a:t>OpenMetadata</a:t>
            </a:r>
            <a:r>
              <a:rPr lang="en-IN" sz="1800" dirty="0">
                <a:hlinkClick r:id="rId5"/>
              </a:rPr>
              <a:t>: #1 Open Source Metadata Platform</a:t>
            </a:r>
            <a:endParaRPr lang="en-US" sz="1700" kern="0" spc="-80" dirty="0">
              <a:solidFill>
                <a:schemeClr val="accent2"/>
              </a:solidFill>
            </a:endParaRPr>
          </a:p>
        </p:txBody>
      </p:sp>
      <p:sp>
        <p:nvSpPr>
          <p:cNvPr id="7" name="object 2">
            <a:extLst>
              <a:ext uri="{FF2B5EF4-FFF2-40B4-BE49-F238E27FC236}">
                <a16:creationId xmlns:a16="http://schemas.microsoft.com/office/drawing/2014/main" id="{D94607C1-9344-23C0-49A9-C2FDB20108C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FB76BAF-3907-D8DC-AEF9-6212E751870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971E5C6-9235-0527-D875-F8ABCBFCCCD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BD3B43F6-35F6-6C33-108D-9AFCB6ACF03E}"/>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68740227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2F648-7610-28FD-9F85-AA228660D6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31B4929-EE74-13E1-70F9-B77D98B683E2}"/>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A067AA-E9FE-438A-AFD5-91E08762CB7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507868E-2BED-1735-9840-46649A33BB2F}"/>
              </a:ext>
            </a:extLst>
          </p:cNvPr>
          <p:cNvSpPr txBox="1">
            <a:spLocks/>
          </p:cNvSpPr>
          <p:nvPr/>
        </p:nvSpPr>
        <p:spPr>
          <a:xfrm>
            <a:off x="152400" y="762000"/>
            <a:ext cx="8624937"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6"/>
                </a:solidFill>
              </a:rPr>
              <a:t>Data observability is the ability to monitor, measure, and manage the health and performance of data across its entire lifecycle, enabling organizations to proactively detect, resolve, and prevent data issues before they impact the business. </a:t>
            </a:r>
          </a:p>
          <a:p>
            <a:pPr marL="12700" marR="5080"/>
            <a:endParaRPr lang="en-US" sz="1300" kern="0" spc="-80" dirty="0">
              <a:solidFill>
                <a:schemeClr val="accent6"/>
              </a:solidFill>
            </a:endParaRPr>
          </a:p>
          <a:p>
            <a:pPr marL="12700" marR="5080"/>
            <a:r>
              <a:rPr lang="en-US" sz="1700" kern="0" spc="-80" dirty="0">
                <a:solidFill>
                  <a:schemeClr val="accent2"/>
                </a:solidFill>
              </a:rPr>
              <a:t>The Five Pillars of Data Observability</a:t>
            </a:r>
          </a:p>
          <a:p>
            <a:pPr marL="12700" marR="5080"/>
            <a:r>
              <a:rPr lang="en-US" sz="1300" kern="0" spc="-80" dirty="0">
                <a:solidFill>
                  <a:schemeClr val="accent6"/>
                </a:solidFill>
              </a:rPr>
              <a:t>Data observability provides a comprehensive understanding of data health by focusing on five key pillars: </a:t>
            </a:r>
          </a:p>
          <a:p>
            <a:pPr marL="12700" marR="5080"/>
            <a:r>
              <a:rPr lang="en-US" sz="1300" kern="0" spc="-80" dirty="0">
                <a:solidFill>
                  <a:schemeClr val="accent2"/>
                </a:solidFill>
              </a:rPr>
              <a:t>Freshness: </a:t>
            </a:r>
            <a:r>
              <a:rPr lang="en-US" sz="1300" kern="0" spc="-80" dirty="0">
                <a:solidFill>
                  <a:schemeClr val="accent6"/>
                </a:solidFill>
              </a:rPr>
              <a:t>Measures the timeliness of the data, ensuring it is up-to-date and updated at expected intervals.</a:t>
            </a:r>
          </a:p>
          <a:p>
            <a:pPr marL="12700" marR="5080"/>
            <a:r>
              <a:rPr lang="en-US" sz="1300" kern="0" spc="-80" dirty="0">
                <a:solidFill>
                  <a:schemeClr val="accent2"/>
                </a:solidFill>
              </a:rPr>
              <a:t>Volume: </a:t>
            </a:r>
            <a:r>
              <a:rPr lang="en-US" sz="1300" kern="0" spc="-80" dirty="0">
                <a:solidFill>
                  <a:schemeClr val="accent6"/>
                </a:solidFill>
              </a:rPr>
              <a:t>Tracks the amount of data in a dataset or flowing through a pipeline to detect unexpected spikes or drops that might indicate issues like missing records or duplicate data.</a:t>
            </a:r>
          </a:p>
          <a:p>
            <a:pPr marL="12700" marR="5080"/>
            <a:r>
              <a:rPr lang="en-US" sz="1300" kern="0" spc="-80" dirty="0">
                <a:solidFill>
                  <a:schemeClr val="accent2"/>
                </a:solidFill>
              </a:rPr>
              <a:t>Distribution: </a:t>
            </a:r>
            <a:r>
              <a:rPr lang="en-US" sz="1300" kern="0" spc="-80" dirty="0">
                <a:solidFill>
                  <a:schemeClr val="accent6"/>
                </a:solidFill>
              </a:rPr>
              <a:t>Monitors key statistical properties (mean, median, standard deviation) and the range of data values to identify anomalies or drift from expected patterns.</a:t>
            </a:r>
          </a:p>
          <a:p>
            <a:pPr marL="12700" marR="5080"/>
            <a:r>
              <a:rPr lang="en-US" sz="1300" kern="0" spc="-80" dirty="0">
                <a:solidFill>
                  <a:schemeClr val="accent2"/>
                </a:solidFill>
              </a:rPr>
              <a:t>Schema: </a:t>
            </a:r>
            <a:r>
              <a:rPr lang="en-US" sz="1300" kern="0" spc="-80" dirty="0">
                <a:solidFill>
                  <a:schemeClr val="accent6"/>
                </a:solidFill>
              </a:rPr>
              <a:t>Tracks changes in the structure and organization of data (e.g., column additions/deletions, type changes) which can break downstream processes.</a:t>
            </a:r>
          </a:p>
          <a:p>
            <a:pPr marL="12700" marR="5080"/>
            <a:r>
              <a:rPr lang="en-US" sz="1300" kern="0" spc="-80" dirty="0">
                <a:solidFill>
                  <a:schemeClr val="accent2"/>
                </a:solidFill>
              </a:rPr>
              <a:t>Lineage:</a:t>
            </a:r>
            <a:r>
              <a:rPr lang="en-US" sz="1300" kern="0" spc="-80" dirty="0">
                <a:solidFill>
                  <a:schemeClr val="accent6"/>
                </a:solidFill>
              </a:rPr>
              <a:t> Maps the data's journey from source to destination, including all transformations and dependencies, which is crucial for root cause analysis and impact assessment. </a:t>
            </a:r>
          </a:p>
          <a:p>
            <a:pPr marL="12700" marR="5080"/>
            <a:endParaRPr lang="en-US" sz="1300" kern="0" spc="-80" dirty="0">
              <a:solidFill>
                <a:schemeClr val="accent6"/>
              </a:solidFill>
            </a:endParaRPr>
          </a:p>
          <a:p>
            <a:pPr marL="12700" marR="5080"/>
            <a:r>
              <a:rPr lang="en-US" sz="1700" kern="0" spc="-80" dirty="0">
                <a:solidFill>
                  <a:schemeClr val="accent2"/>
                </a:solidFill>
              </a:rPr>
              <a:t>The Role of Data Observability</a:t>
            </a:r>
          </a:p>
          <a:p>
            <a:pPr marL="12700" marR="5080"/>
            <a:r>
              <a:rPr lang="en-US" sz="1300" kern="0" spc="-80" dirty="0">
                <a:solidFill>
                  <a:schemeClr val="accent6"/>
                </a:solidFill>
              </a:rPr>
              <a:t>Data observability is crucial for maintaining data reliability and trust. It differs from traditional monitoring and data quality by: </a:t>
            </a:r>
          </a:p>
          <a:p>
            <a:pPr marL="12700" marR="5080"/>
            <a:r>
              <a:rPr lang="en-US" sz="1300" kern="0" spc="-80" dirty="0">
                <a:solidFill>
                  <a:schemeClr val="accent2"/>
                </a:solidFill>
              </a:rPr>
              <a:t>Proactive vs. Reactive: </a:t>
            </a:r>
            <a:r>
              <a:rPr lang="en-US" sz="1300" kern="0" spc="-80" dirty="0">
                <a:solidFill>
                  <a:schemeClr val="accent6"/>
                </a:solidFill>
              </a:rPr>
              <a:t>Observability uses machine learning to automatically detect both known and unknown issues (anomalies) in real-time, in contrast to traditional data quality's reactive, rule-based approach.</a:t>
            </a:r>
          </a:p>
          <a:p>
            <a:pPr marL="12700" marR="5080"/>
            <a:r>
              <a:rPr lang="en-US" sz="1300" kern="0" spc="-80" dirty="0">
                <a:solidFill>
                  <a:schemeClr val="accent2"/>
                </a:solidFill>
              </a:rPr>
              <a:t>Context and Scope: </a:t>
            </a:r>
            <a:r>
              <a:rPr lang="en-US" sz="1300" kern="0" spc="-80" dirty="0">
                <a:solidFill>
                  <a:schemeClr val="accent6"/>
                </a:solidFill>
              </a:rPr>
              <a:t>It provides deep context (lineage, ownership, recent changes) and end-to-end visibility across the data ecosystem, not just isolated data points or pipeline metrics.</a:t>
            </a:r>
          </a:p>
          <a:p>
            <a:pPr marL="12700" marR="5080"/>
            <a:r>
              <a:rPr lang="en-US" sz="1300" kern="0" spc="-80" dirty="0">
                <a:solidFill>
                  <a:schemeClr val="accent2"/>
                </a:solidFill>
              </a:rPr>
              <a:t>Faster Resolution: B</a:t>
            </a:r>
            <a:r>
              <a:rPr lang="en-US" sz="1300" kern="0" spc="-80" dirty="0">
                <a:solidFill>
                  <a:schemeClr val="accent6"/>
                </a:solidFill>
              </a:rPr>
              <a:t>y providing insights into where and why an issue occurred, it drastically reduces the Mean Time to Resolution (MTTR), minimizing data downtime. </a:t>
            </a:r>
          </a:p>
        </p:txBody>
      </p:sp>
      <p:sp>
        <p:nvSpPr>
          <p:cNvPr id="7" name="object 2">
            <a:extLst>
              <a:ext uri="{FF2B5EF4-FFF2-40B4-BE49-F238E27FC236}">
                <a16:creationId xmlns:a16="http://schemas.microsoft.com/office/drawing/2014/main" id="{4001A005-6844-1FA6-E7BA-6071903A6C6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FD8C1B3-6D87-D002-EB7C-32252AF7B36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7E3277B-9B1A-CA31-A4E7-B76D7279964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F494A0C-1ECF-AA30-F362-753BE4D19B37}"/>
              </a:ext>
            </a:extLst>
          </p:cNvPr>
          <p:cNvGraphicFramePr/>
          <p:nvPr>
            <p:extLst>
              <p:ext uri="{D42A27DB-BD31-4B8C-83A1-F6EECF244321}">
                <p14:modId xmlns:p14="http://schemas.microsoft.com/office/powerpoint/2010/main" val="1961484646"/>
              </p:ext>
            </p:extLst>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705276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D0F9B-DD94-C83C-299F-2DB1788D30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5F0773-B550-F198-4DDF-396FAFD01C37}"/>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F50823-45D3-BC5E-FEBD-F44AB55505CB}"/>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BBB7DAB-37F4-7F25-496D-286B56ECDD52}"/>
              </a:ext>
            </a:extLst>
          </p:cNvPr>
          <p:cNvSpPr txBox="1">
            <a:spLocks/>
          </p:cNvSpPr>
          <p:nvPr/>
        </p:nvSpPr>
        <p:spPr>
          <a:xfrm>
            <a:off x="152400" y="762000"/>
            <a:ext cx="8624937" cy="50937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Observability as Code (</a:t>
            </a:r>
            <a:r>
              <a:rPr lang="en-US" sz="1700" kern="0" spc="-80" dirty="0" err="1">
                <a:solidFill>
                  <a:schemeClr val="accent2"/>
                </a:solidFill>
              </a:rPr>
              <a:t>DataOps</a:t>
            </a:r>
            <a:r>
              <a:rPr lang="en-US" sz="1700" kern="0" spc="-80" dirty="0">
                <a:solidFill>
                  <a:schemeClr val="accent2"/>
                </a:solidFill>
              </a:rPr>
              <a:t>)</a:t>
            </a:r>
          </a:p>
          <a:p>
            <a:pPr marL="12700" marR="5080"/>
            <a:r>
              <a:rPr lang="en-US" sz="1250" kern="0" spc="-80" dirty="0">
                <a:solidFill>
                  <a:schemeClr val="accent6"/>
                </a:solidFill>
              </a:rPr>
              <a:t>Data Observability as Code (</a:t>
            </a:r>
            <a:r>
              <a:rPr lang="en-US" sz="1250" kern="0" spc="-80" dirty="0" err="1">
                <a:solidFill>
                  <a:schemeClr val="accent6"/>
                </a:solidFill>
              </a:rPr>
              <a:t>OaC</a:t>
            </a:r>
            <a:r>
              <a:rPr lang="en-US" sz="1250" kern="0" spc="-80" dirty="0">
                <a:solidFill>
                  <a:schemeClr val="accent6"/>
                </a:solidFill>
              </a:rPr>
              <a:t>) is an extension of the </a:t>
            </a:r>
            <a:r>
              <a:rPr lang="en-US" sz="1250" kern="0" spc="-80" dirty="0" err="1">
                <a:solidFill>
                  <a:schemeClr val="accent6"/>
                </a:solidFill>
              </a:rPr>
              <a:t>DataOps</a:t>
            </a:r>
            <a:r>
              <a:rPr lang="en-US" sz="1250" kern="0" spc="-80" dirty="0">
                <a:solidFill>
                  <a:schemeClr val="accent6"/>
                </a:solidFill>
              </a:rPr>
              <a:t> and Infrastructure as Code (</a:t>
            </a:r>
            <a:r>
              <a:rPr lang="en-US" sz="1250" kern="0" spc="-80" dirty="0" err="1">
                <a:solidFill>
                  <a:schemeClr val="accent6"/>
                </a:solidFill>
              </a:rPr>
              <a:t>IaC</a:t>
            </a:r>
            <a:r>
              <a:rPr lang="en-US" sz="1250" kern="0" spc="-80" dirty="0">
                <a:solidFill>
                  <a:schemeClr val="accent6"/>
                </a:solidFill>
              </a:rPr>
              <a:t>) principles, where the configuration and management of data observability settings are defined and managed through code (e.g., YAML files). </a:t>
            </a:r>
          </a:p>
          <a:p>
            <a:pPr marL="12700" marR="5080"/>
            <a:r>
              <a:rPr lang="en-US" sz="1250" kern="0" spc="-80" dirty="0">
                <a:solidFill>
                  <a:schemeClr val="accent2"/>
                </a:solidFill>
              </a:rPr>
              <a:t>Version Control: </a:t>
            </a:r>
            <a:r>
              <a:rPr lang="en-US" sz="1250" kern="0" spc="-80" dirty="0">
                <a:solidFill>
                  <a:schemeClr val="accent6"/>
                </a:solidFill>
              </a:rPr>
              <a:t>Configuration files for monitors, alerts, and dashboards are stored in version control systems (like Git), allowing for change tracking, collaboration, and easy rollbacks.</a:t>
            </a:r>
          </a:p>
          <a:p>
            <a:pPr marL="12700" marR="5080"/>
            <a:r>
              <a:rPr lang="en-US" sz="1250" kern="0" spc="-80" dirty="0">
                <a:solidFill>
                  <a:schemeClr val="accent2"/>
                </a:solidFill>
              </a:rPr>
              <a:t>Consistency and Automation: </a:t>
            </a:r>
            <a:r>
              <a:rPr lang="en-US" sz="1250" kern="0" spc="-80" dirty="0" err="1">
                <a:solidFill>
                  <a:schemeClr val="accent6"/>
                </a:solidFill>
              </a:rPr>
              <a:t>OaC</a:t>
            </a:r>
            <a:r>
              <a:rPr lang="en-US" sz="1250" kern="0" spc="-80" dirty="0">
                <a:solidFill>
                  <a:schemeClr val="accent6"/>
                </a:solidFill>
              </a:rPr>
              <a:t> ensures consistent observability configurations across different environments (development, staging, production), reducing manual errors and accelerating deployment.</a:t>
            </a:r>
          </a:p>
          <a:p>
            <a:pPr marL="12700" marR="5080"/>
            <a:r>
              <a:rPr lang="en-US" sz="1250" kern="0" spc="-80" dirty="0">
                <a:solidFill>
                  <a:schemeClr val="accent2"/>
                </a:solidFill>
              </a:rPr>
              <a:t>Integration with CI/CD: </a:t>
            </a:r>
            <a:r>
              <a:rPr lang="en-US" sz="1250" kern="0" spc="-80" dirty="0">
                <a:solidFill>
                  <a:schemeClr val="accent6"/>
                </a:solidFill>
              </a:rPr>
              <a:t>It integrates seamlessly into Continuous Integration/Continuous Deployment (CI/CD) pipelines, meaning observability checks become an integral part of the development and deployment process, catching issues earlier (shifting left). </a:t>
            </a:r>
          </a:p>
          <a:p>
            <a:pPr marL="12700" marR="5080"/>
            <a:endParaRPr lang="en-US" sz="1700" kern="0" spc="-80" dirty="0">
              <a:solidFill>
                <a:schemeClr val="accent2"/>
              </a:solidFill>
            </a:endParaRPr>
          </a:p>
          <a:p>
            <a:pPr marL="12700" marR="5080"/>
            <a:r>
              <a:rPr lang="en-US" sz="1700" kern="0" spc="-80" dirty="0">
                <a:solidFill>
                  <a:schemeClr val="accent2"/>
                </a:solidFill>
              </a:rPr>
              <a:t>Implementation Guide and Best Practices</a:t>
            </a:r>
          </a:p>
          <a:p>
            <a:pPr marL="12700" marR="5080"/>
            <a:r>
              <a:rPr lang="en-US" sz="1250" kern="0" spc="-80" dirty="0">
                <a:solidFill>
                  <a:schemeClr val="accent6"/>
                </a:solidFill>
              </a:rPr>
              <a:t>Implementing a robust data observability practice involves strategic planning and a phased approach: </a:t>
            </a:r>
          </a:p>
          <a:p>
            <a:pPr marL="12700" marR="5080"/>
            <a:r>
              <a:rPr lang="en-US" sz="1250" kern="0" spc="-80" dirty="0">
                <a:solidFill>
                  <a:schemeClr val="accent2"/>
                </a:solidFill>
              </a:rPr>
              <a:t>Define Clear Objectives:</a:t>
            </a:r>
            <a:r>
              <a:rPr lang="en-US" sz="1250" kern="0" spc="-80" dirty="0">
                <a:solidFill>
                  <a:schemeClr val="accent6"/>
                </a:solidFill>
              </a:rPr>
              <a:t> Identify the business value you aim to achieve, such as ensuring a critical executive dashboard is always accurate or protecting an ML model from data drift.</a:t>
            </a:r>
          </a:p>
          <a:p>
            <a:pPr marL="12700" marR="5080"/>
            <a:r>
              <a:rPr lang="en-US" sz="1250" kern="0" spc="-80" dirty="0">
                <a:solidFill>
                  <a:schemeClr val="accent2"/>
                </a:solidFill>
              </a:rPr>
              <a:t>Identify Critical Data Assets: </a:t>
            </a:r>
            <a:r>
              <a:rPr lang="en-US" sz="1250" kern="0" spc="-80" dirty="0">
                <a:solidFill>
                  <a:schemeClr val="accent6"/>
                </a:solidFill>
              </a:rPr>
              <a:t>Start with high-impact or high-risk tables and pipelines that would cause significant business pain if they failed.</a:t>
            </a:r>
          </a:p>
          <a:p>
            <a:pPr marL="12700" marR="5080"/>
            <a:endParaRPr lang="en-US" sz="1300" kern="0" spc="-80" dirty="0">
              <a:solidFill>
                <a:schemeClr val="accent6"/>
              </a:solidFill>
            </a:endParaRPr>
          </a:p>
          <a:p>
            <a:pPr marL="12700" marR="5080"/>
            <a:r>
              <a:rPr lang="en-US" sz="1700" kern="0" spc="-80" dirty="0">
                <a:solidFill>
                  <a:schemeClr val="accent2"/>
                </a:solidFill>
              </a:rPr>
              <a:t>Implement Layered Monitoring:</a:t>
            </a:r>
          </a:p>
          <a:p>
            <a:pPr marL="12700" marR="5080"/>
            <a:r>
              <a:rPr lang="en-US" sz="1250" kern="0" spc="-80" dirty="0">
                <a:solidFill>
                  <a:schemeClr val="accent2"/>
                </a:solidFill>
              </a:rPr>
              <a:t>Crawl: </a:t>
            </a:r>
            <a:r>
              <a:rPr lang="en-US" sz="1250" kern="0" spc="-80" dirty="0">
                <a:solidFill>
                  <a:schemeClr val="accent6"/>
                </a:solidFill>
              </a:rPr>
              <a:t>Begin with basic, automated monitoring for freshness, volume, and schema across your data environment.</a:t>
            </a:r>
          </a:p>
          <a:p>
            <a:pPr marL="12700" marR="5080"/>
            <a:r>
              <a:rPr lang="en-US" sz="1250" kern="0" spc="-80" dirty="0">
                <a:solidFill>
                  <a:schemeClr val="accent2"/>
                </a:solidFill>
              </a:rPr>
              <a:t>Walk: </a:t>
            </a:r>
            <a:r>
              <a:rPr lang="en-US" sz="1250" kern="0" spc="-80" dirty="0">
                <a:solidFill>
                  <a:schemeClr val="accent6"/>
                </a:solidFill>
              </a:rPr>
              <a:t>Add more sophisticated, custom monitors and integrate with incident response workflows.</a:t>
            </a:r>
          </a:p>
          <a:p>
            <a:pPr marL="12700" marR="5080"/>
            <a:r>
              <a:rPr lang="en-US" sz="1250" kern="0" spc="-80" dirty="0">
                <a:solidFill>
                  <a:schemeClr val="accent2"/>
                </a:solidFill>
              </a:rPr>
              <a:t>Run: </a:t>
            </a:r>
            <a:r>
              <a:rPr lang="en-US" sz="1250" kern="0" spc="-80" dirty="0">
                <a:solidFill>
                  <a:schemeClr val="accent6"/>
                </a:solidFill>
              </a:rPr>
              <a:t>Focus on prevention and use advanced features like automated root cause analysis and AI-driven anomaly detection to continuously improve reliability.</a:t>
            </a:r>
          </a:p>
          <a:p>
            <a:pPr marL="12700" marR="5080"/>
            <a:r>
              <a:rPr lang="en-US" sz="1250" kern="0" spc="-80" dirty="0">
                <a:solidFill>
                  <a:schemeClr val="accent2"/>
                </a:solidFill>
              </a:rPr>
              <a:t>Assign Clear Ownership: </a:t>
            </a:r>
            <a:r>
              <a:rPr lang="en-US" sz="1250" kern="0" spc="-80" dirty="0">
                <a:solidFill>
                  <a:schemeClr val="accent6"/>
                </a:solidFill>
              </a:rPr>
              <a:t>Define who owns which data products and pipelines to ensure clear accountability when issues arise.</a:t>
            </a:r>
          </a:p>
        </p:txBody>
      </p:sp>
      <p:sp>
        <p:nvSpPr>
          <p:cNvPr id="7" name="object 2">
            <a:extLst>
              <a:ext uri="{FF2B5EF4-FFF2-40B4-BE49-F238E27FC236}">
                <a16:creationId xmlns:a16="http://schemas.microsoft.com/office/drawing/2014/main" id="{F3AC17D8-53EC-6F4F-E392-C8C1141F308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B9E8958-AAEC-AD65-7FEA-EAEC561CDB3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CAAE7F3-A7F4-200A-E16B-F81508857E6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E002DE8B-B329-BC87-9A21-45FAE5969E4A}"/>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564436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80C3-3F2E-D0D1-9BC4-370196AF88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77E8AB-E6F2-AC53-5EDD-02136E8B2F2F}"/>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3AB0D6-687C-0B62-3345-FD0A7953CBCA}"/>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F0D406E-C7FB-A1BB-DDF7-5B294EF17858}"/>
              </a:ext>
            </a:extLst>
          </p:cNvPr>
          <p:cNvSpPr txBox="1">
            <a:spLocks/>
          </p:cNvSpPr>
          <p:nvPr/>
        </p:nvSpPr>
        <p:spPr>
          <a:xfrm>
            <a:off x="152400" y="762000"/>
            <a:ext cx="8624937" cy="378565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Implement Layered Monitoring:</a:t>
            </a:r>
          </a:p>
          <a:p>
            <a:pPr marL="12700" marR="5080"/>
            <a:r>
              <a:rPr lang="en-US" sz="1300" kern="0" spc="-80" dirty="0">
                <a:solidFill>
                  <a:schemeClr val="accent2"/>
                </a:solidFill>
              </a:rPr>
              <a:t>Establish SLAs and SLOs: </a:t>
            </a:r>
            <a:r>
              <a:rPr lang="en-US" sz="1300" kern="0" spc="-80" dirty="0">
                <a:solidFill>
                  <a:schemeClr val="accent6"/>
                </a:solidFill>
              </a:rPr>
              <a:t>Define Service Level Agreements (SLAs) and Service Level Objectives (SLOs) to set clear expectations for data reliability with stakeholders.</a:t>
            </a:r>
          </a:p>
          <a:p>
            <a:pPr marL="12700" marR="5080"/>
            <a:r>
              <a:rPr lang="en-US" sz="1300" kern="0" spc="-80" dirty="0">
                <a:solidFill>
                  <a:schemeClr val="accent2"/>
                </a:solidFill>
              </a:rPr>
              <a:t>Integrate with Existing Workflows: </a:t>
            </a:r>
            <a:r>
              <a:rPr lang="en-US" sz="1300" kern="0" spc="-80" dirty="0">
                <a:solidFill>
                  <a:schemeClr val="accent6"/>
                </a:solidFill>
              </a:rPr>
              <a:t>Ensure your observability tools integrate with existing data orchestration tools (like </a:t>
            </a:r>
            <a:r>
              <a:rPr lang="en-US" sz="1300" kern="0" spc="-80" dirty="0" err="1">
                <a:solidFill>
                  <a:schemeClr val="accent6"/>
                </a:solidFill>
              </a:rPr>
              <a:t>dbt</a:t>
            </a:r>
            <a:r>
              <a:rPr lang="en-US" sz="1300" kern="0" spc="-80" dirty="0">
                <a:solidFill>
                  <a:schemeClr val="accent6"/>
                </a:solidFill>
              </a:rPr>
              <a:t>, Airflow) and communication platforms (like Slack or PagerDuty) to streamline issue resolution.</a:t>
            </a:r>
          </a:p>
          <a:p>
            <a:pPr marL="12700" marR="5080"/>
            <a:r>
              <a:rPr lang="en-US" sz="1300" kern="0" spc="-80" dirty="0">
                <a:solidFill>
                  <a:schemeClr val="accent2"/>
                </a:solidFill>
              </a:rPr>
              <a:t>Foster a Culture of Learning: </a:t>
            </a:r>
            <a:r>
              <a:rPr lang="en-US" sz="1300" kern="0" spc="-80" dirty="0">
                <a:solidFill>
                  <a:schemeClr val="accent6"/>
                </a:solidFill>
              </a:rPr>
              <a:t>After an incident is resolved, conduct a post-mortem to understand what went wrong and update tests or monitors to prevent recurrence. </a:t>
            </a:r>
          </a:p>
          <a:p>
            <a:pPr marL="12700" marR="5080"/>
            <a:r>
              <a:rPr lang="en-US" sz="1300" kern="0" spc="-80" dirty="0">
                <a:solidFill>
                  <a:schemeClr val="accent6"/>
                </a:solidFill>
              </a:rPr>
              <a:t>Leading commercial tools include </a:t>
            </a:r>
            <a:r>
              <a:rPr lang="en-US" sz="1300" kern="0" spc="-80" dirty="0" err="1">
                <a:solidFill>
                  <a:schemeClr val="accent6"/>
                </a:solidFill>
              </a:rPr>
              <a:t>Metaplane</a:t>
            </a:r>
            <a:r>
              <a:rPr lang="en-US" sz="1300" kern="0" spc="-80" dirty="0">
                <a:solidFill>
                  <a:schemeClr val="accent6"/>
                </a:solidFill>
              </a:rPr>
              <a:t>, Monte Carlo, and </a:t>
            </a:r>
            <a:r>
              <a:rPr lang="en-US" sz="1300" kern="0" spc="-80" dirty="0" err="1">
                <a:solidFill>
                  <a:schemeClr val="accent6"/>
                </a:solidFill>
              </a:rPr>
              <a:t>Datafold</a:t>
            </a:r>
            <a:r>
              <a:rPr lang="en-US" sz="1300" kern="0" spc="-80" dirty="0">
                <a:solidFill>
                  <a:schemeClr val="accent6"/>
                </a:solidFill>
              </a:rPr>
              <a:t> which offer end-to-end solutions, while open-source options like </a:t>
            </a:r>
            <a:r>
              <a:rPr lang="en-US" sz="1300" kern="0" spc="-80" dirty="0" err="1">
                <a:solidFill>
                  <a:schemeClr val="accent6"/>
                </a:solidFill>
              </a:rPr>
              <a:t>OpenMetadata</a:t>
            </a:r>
            <a:r>
              <a:rPr lang="en-US" sz="1300" kern="0" spc="-80" dirty="0">
                <a:solidFill>
                  <a:schemeClr val="accent6"/>
                </a:solidFill>
              </a:rPr>
              <a:t> and </a:t>
            </a:r>
            <a:r>
              <a:rPr lang="en-US" sz="1300" kern="0" spc="-80" dirty="0" err="1">
                <a:solidFill>
                  <a:schemeClr val="accent6"/>
                </a:solidFill>
              </a:rPr>
              <a:t>OpenLineage</a:t>
            </a:r>
            <a:r>
              <a:rPr lang="en-US" sz="1300" kern="0" spc="-80" dirty="0">
                <a:solidFill>
                  <a:schemeClr val="accent6"/>
                </a:solidFill>
              </a:rPr>
              <a:t> provide a foundation for building custom solutions. </a:t>
            </a:r>
          </a:p>
          <a:p>
            <a:pPr marL="12700" marR="5080"/>
            <a:endParaRPr lang="en-US" sz="1300" kern="0" spc="-80" dirty="0">
              <a:solidFill>
                <a:schemeClr val="accent6"/>
              </a:solidFill>
            </a:endParaRPr>
          </a:p>
          <a:p>
            <a:pPr marL="12700" marR="5080"/>
            <a:r>
              <a:rPr lang="en-US" sz="1400" kern="0" spc="-80" dirty="0">
                <a:solidFill>
                  <a:schemeClr val="accent2"/>
                </a:solidFill>
              </a:rPr>
              <a:t>For Further Exploration</a:t>
            </a:r>
          </a:p>
          <a:p>
            <a:pPr marL="12700" marR="5080"/>
            <a:r>
              <a:rPr lang="en-IN" sz="1400" dirty="0">
                <a:hlinkClick r:id="rId2"/>
              </a:rPr>
              <a:t>Pioneering Data Observability: Data, Code, Infrastructure, &amp; AI</a:t>
            </a:r>
            <a:endParaRPr lang="en-IN" sz="1400" dirty="0"/>
          </a:p>
          <a:p>
            <a:pPr marL="12700" marR="5080"/>
            <a:r>
              <a:rPr lang="en-US" sz="1400" dirty="0">
                <a:hlinkClick r:id="rId3"/>
              </a:rPr>
              <a:t>Top 14 Data Observability Tools in 2026: Key Features</a:t>
            </a:r>
            <a:endParaRPr lang="en-US" sz="1400" dirty="0"/>
          </a:p>
          <a:p>
            <a:pPr marL="12700" marR="5080"/>
            <a:r>
              <a:rPr lang="en-US" sz="1400" dirty="0">
                <a:hlinkClick r:id="rId4"/>
              </a:rPr>
              <a:t>Complete guide to understanding data observability in 2024</a:t>
            </a:r>
            <a:endParaRPr lang="en-US" sz="1400" kern="0" spc="-80" dirty="0">
              <a:solidFill>
                <a:schemeClr val="accent2"/>
              </a:solidFill>
            </a:endParaRPr>
          </a:p>
          <a:p>
            <a:pPr marL="12700" marR="5080"/>
            <a:r>
              <a:rPr lang="en-IN" sz="1400" dirty="0">
                <a:hlinkClick r:id="rId5"/>
              </a:rPr>
              <a:t>Fundamentals-of-Data-Observability</a:t>
            </a:r>
            <a:endParaRPr lang="en-IN" sz="1400" dirty="0"/>
          </a:p>
          <a:p>
            <a:pPr marL="12700" marR="5080"/>
            <a:r>
              <a:rPr lang="en-US" sz="1400" dirty="0">
                <a:hlinkClick r:id="rId6"/>
              </a:rPr>
              <a:t>Data Observability for Data Engineering | Data | eBook</a:t>
            </a:r>
            <a:endParaRPr lang="en-US" sz="1400" dirty="0"/>
          </a:p>
          <a:p>
            <a:pPr marL="12700" marR="5080"/>
            <a:r>
              <a:rPr lang="en-US" sz="1400" dirty="0">
                <a:hlinkClick r:id="rId7"/>
              </a:rPr>
              <a:t>Data Observability, The Reality: Understand the Why and How</a:t>
            </a:r>
            <a:endParaRPr lang="en-US" sz="1400" dirty="0"/>
          </a:p>
          <a:p>
            <a:pPr marL="12700" marR="5080"/>
            <a:r>
              <a:rPr lang="en-IN" sz="1400" dirty="0">
                <a:hlinkClick r:id="rId8"/>
              </a:rPr>
              <a:t>Observability as code | Grafana documentation</a:t>
            </a:r>
            <a:endParaRPr lang="en-US" sz="1400" kern="0" spc="-80" dirty="0">
              <a:solidFill>
                <a:schemeClr val="accent2"/>
              </a:solidFill>
            </a:endParaRPr>
          </a:p>
        </p:txBody>
      </p:sp>
      <p:sp>
        <p:nvSpPr>
          <p:cNvPr id="7" name="object 2">
            <a:extLst>
              <a:ext uri="{FF2B5EF4-FFF2-40B4-BE49-F238E27FC236}">
                <a16:creationId xmlns:a16="http://schemas.microsoft.com/office/drawing/2014/main" id="{382B62E0-AF37-22AE-5245-1EBD8735EE4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4F3E2D9-629C-DF70-898F-A56C44538CF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C1A1D21-7F29-BF87-90BC-7DE749C91CF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29B559DF-6908-58FB-BC8D-D447DBAB636F}"/>
              </a:ext>
            </a:extLst>
          </p:cNvPr>
          <p:cNvGraphicFramePr/>
          <p:nvPr/>
        </p:nvGraphicFramePr>
        <p:xfrm>
          <a:off x="112663" y="55595"/>
          <a:ext cx="8915398" cy="40160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8122493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C5682-34E4-6371-BDDC-31B81F4AF7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F2C6A2-8918-8B8D-FC18-3438AEC5FC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5285AA-1FB0-CD0E-C6F7-91BE67DC896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BB87A9A-384B-D937-14F2-E3FCB9CABD7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19ECEF1-2D77-562A-4FD0-13463BB35C7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8184C21-E361-FA5C-67B3-081868F90A0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A550AE1-B21B-A833-A1C0-3378608FE6D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53A4E86D-0FE0-5331-8879-2755843A16E9}"/>
              </a:ext>
            </a:extLst>
          </p:cNvPr>
          <p:cNvGraphicFramePr/>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869FE512-2872-35E3-1EEF-F863173B31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400" y="762000"/>
            <a:ext cx="8991599" cy="4407932"/>
          </a:xfrm>
          <a:prstGeom prst="rect">
            <a:avLst/>
          </a:prstGeom>
        </p:spPr>
      </p:pic>
      <p:pic>
        <p:nvPicPr>
          <p:cNvPr id="13" name="Picture 12">
            <a:extLst>
              <a:ext uri="{FF2B5EF4-FFF2-40B4-BE49-F238E27FC236}">
                <a16:creationId xmlns:a16="http://schemas.microsoft.com/office/drawing/2014/main" id="{E1238E5B-C078-8398-6267-55F0FB91DC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5169932"/>
            <a:ext cx="8839200" cy="773668"/>
          </a:xfrm>
          <a:prstGeom prst="rect">
            <a:avLst/>
          </a:prstGeom>
        </p:spPr>
      </p:pic>
    </p:spTree>
    <p:extLst>
      <p:ext uri="{BB962C8B-B14F-4D97-AF65-F5344CB8AC3E}">
        <p14:creationId xmlns:p14="http://schemas.microsoft.com/office/powerpoint/2010/main" val="10388029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F553-31C3-F91B-221E-C8226AE96D9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E79CB6-1C1A-397C-FC42-5361E4F9301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D1E66E-49E8-4698-01F4-458200DAA54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58B5B5F-BF28-78D0-5360-687F840F7F1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9B01EE8-D2F6-6122-5F3A-9CBC5203D6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B42B743-5E9A-750B-D782-429733CE25C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0CC50CF-B1B9-A14E-954F-40830CDC744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C195DD34-A991-2B25-5773-374C3E41D2C7}"/>
              </a:ext>
            </a:extLst>
          </p:cNvPr>
          <p:cNvGraphicFramePr/>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E1946D43-5227-3447-7153-0F4748F7E7AA}"/>
              </a:ext>
            </a:extLst>
          </p:cNvPr>
          <p:cNvSpPr txBox="1">
            <a:spLocks/>
          </p:cNvSpPr>
          <p:nvPr/>
        </p:nvSpPr>
        <p:spPr>
          <a:xfrm>
            <a:off x="0" y="762000"/>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50" kern="0" spc="-80" dirty="0">
                <a:solidFill>
                  <a:schemeClr val="accent2"/>
                </a:solidFill>
              </a:rPr>
              <a:t>Breakdown</a:t>
            </a:r>
          </a:p>
          <a:p>
            <a:pPr marL="12700" marR="5080"/>
            <a:r>
              <a:rPr lang="en-US" sz="1250" kern="0" spc="-80" dirty="0">
                <a:solidFill>
                  <a:schemeClr val="accent2"/>
                </a:solidFill>
              </a:rPr>
              <a:t>1. Data Latency: The Pipeline Speedometer</a:t>
            </a:r>
          </a:p>
          <a:p>
            <a:pPr marL="12700" marR="5080"/>
            <a:r>
              <a:rPr lang="en-US" sz="1250" kern="0" spc="-80" dirty="0">
                <a:solidFill>
                  <a:schemeClr val="accent6"/>
                </a:solidFill>
              </a:rPr>
              <a:t>Data latency is a technical, infrastructure-focused metric. It measures how quickly your data pipeline (Extract, Transform, Load - ETL) moves data from the source (e.g., a website user action) to the destination (e.g., a data warehouse like Snowflake or Redshift). </a:t>
            </a:r>
          </a:p>
          <a:p>
            <a:pPr marL="12700" marR="5080"/>
            <a:r>
              <a:rPr lang="en-US" sz="1250" kern="0" spc="-80" dirty="0">
                <a:solidFill>
                  <a:schemeClr val="accent2"/>
                </a:solidFill>
              </a:rPr>
              <a:t>Low Latency (Real-time/Streaming): </a:t>
            </a:r>
            <a:r>
              <a:rPr lang="en-US" sz="1250" kern="0" spc="-80" dirty="0">
                <a:solidFill>
                  <a:schemeClr val="accent6"/>
                </a:solidFill>
              </a:rPr>
              <a:t>Data flows within seconds or milliseconds.</a:t>
            </a:r>
          </a:p>
          <a:p>
            <a:pPr marL="12700" marR="5080"/>
            <a:r>
              <a:rPr lang="en-US" sz="1250" kern="0" spc="-80" dirty="0">
                <a:solidFill>
                  <a:schemeClr val="accent2"/>
                </a:solidFill>
              </a:rPr>
              <a:t>High Latency (Batch): </a:t>
            </a:r>
            <a:r>
              <a:rPr lang="en-US" sz="1250" kern="0" spc="-80" dirty="0">
                <a:solidFill>
                  <a:schemeClr val="accent6"/>
                </a:solidFill>
              </a:rPr>
              <a:t>Data flows daily or hourly (e.g., nightly batch jobs).</a:t>
            </a:r>
          </a:p>
          <a:p>
            <a:pPr marL="12700" marR="5080"/>
            <a:r>
              <a:rPr lang="en-US" sz="1250" kern="0" spc="-80" dirty="0">
                <a:solidFill>
                  <a:schemeClr val="accent2"/>
                </a:solidFill>
              </a:rPr>
              <a:t>Goal: </a:t>
            </a:r>
            <a:r>
              <a:rPr lang="en-US" sz="1250" kern="0" spc="-80" dirty="0">
                <a:solidFill>
                  <a:schemeClr val="accent6"/>
                </a:solidFill>
              </a:rPr>
              <a:t>To reduce the "bottleneck" in the ingestion process. </a:t>
            </a:r>
          </a:p>
          <a:p>
            <a:pPr marL="12700" marR="5080"/>
            <a:r>
              <a:rPr lang="en-US" sz="1250" kern="0" spc="-80" dirty="0">
                <a:solidFill>
                  <a:schemeClr val="accent2"/>
                </a:solidFill>
              </a:rPr>
              <a:t>2. Data Freshness: The Data Compass</a:t>
            </a:r>
          </a:p>
          <a:p>
            <a:pPr marL="12700" marR="5080"/>
            <a:r>
              <a:rPr lang="en-US" sz="1250" kern="0" spc="-80" dirty="0">
                <a:solidFill>
                  <a:schemeClr val="accent6"/>
                </a:solidFill>
              </a:rPr>
              <a:t>Data freshness is a data quality dimension focusing on the "age" of the data when a user or machine learning model consumes it. It compares the data against the present moment. </a:t>
            </a:r>
          </a:p>
          <a:p>
            <a:pPr marL="12700" marR="5080"/>
            <a:r>
              <a:rPr lang="en-US" sz="1250" kern="0" spc="-80" dirty="0">
                <a:solidFill>
                  <a:schemeClr val="accent2"/>
                </a:solidFill>
              </a:rPr>
              <a:t>Fresh Data:</a:t>
            </a:r>
            <a:r>
              <a:rPr lang="en-US" sz="1250" kern="0" spc="-80" dirty="0">
                <a:solidFill>
                  <a:schemeClr val="accent6"/>
                </a:solidFill>
              </a:rPr>
              <a:t> Describes the real world right now.</a:t>
            </a:r>
          </a:p>
          <a:p>
            <a:pPr marL="12700" marR="5080"/>
            <a:r>
              <a:rPr lang="en-US" sz="1250" kern="0" spc="-80" dirty="0">
                <a:solidFill>
                  <a:schemeClr val="accent2"/>
                </a:solidFill>
              </a:rPr>
              <a:t>Stale Data: </a:t>
            </a:r>
            <a:r>
              <a:rPr lang="en-US" sz="1250" kern="0" spc="-80" dirty="0">
                <a:solidFill>
                  <a:schemeClr val="accent6"/>
                </a:solidFill>
              </a:rPr>
              <a:t>A, accurate, but old record (e.g., a 1-hour old stock price is useless for high-frequency trading).</a:t>
            </a:r>
          </a:p>
          <a:p>
            <a:pPr marL="12700" marR="5080"/>
            <a:r>
              <a:rPr lang="en-US" sz="1250" kern="0" spc="-80" dirty="0">
                <a:solidFill>
                  <a:schemeClr val="accent6"/>
                </a:solidFill>
              </a:rPr>
              <a:t>Goal: To ensure the data reflects the current state of reality. </a:t>
            </a:r>
          </a:p>
          <a:p>
            <a:pPr marL="12700" marR="5080"/>
            <a:endParaRPr lang="en-US" sz="1250" kern="0" spc="-80" dirty="0">
              <a:solidFill>
                <a:schemeClr val="accent6"/>
              </a:solidFill>
            </a:endParaRPr>
          </a:p>
          <a:p>
            <a:pPr marL="12700" marR="5080"/>
            <a:r>
              <a:rPr lang="en-US" sz="1250" kern="0" spc="-80" dirty="0">
                <a:solidFill>
                  <a:schemeClr val="accent2"/>
                </a:solidFill>
              </a:rPr>
              <a:t>The "Dangerous Quadrant": Fast + Stale</a:t>
            </a:r>
          </a:p>
          <a:p>
            <a:pPr marL="12700" marR="5080"/>
            <a:r>
              <a:rPr lang="en-US" sz="1250" kern="0" spc="-80" dirty="0">
                <a:solidFill>
                  <a:schemeClr val="accent6"/>
                </a:solidFill>
              </a:rPr>
              <a:t>A major point of confusion is thinking that fast (low latency) equals fresh (high quality). However, a system can be Fast but Stale. </a:t>
            </a:r>
          </a:p>
          <a:p>
            <a:pPr marL="12700" marR="5080"/>
            <a:r>
              <a:rPr lang="en-US" sz="1250" kern="0" spc="-80" dirty="0">
                <a:solidFill>
                  <a:schemeClr val="accent2"/>
                </a:solidFill>
              </a:rPr>
              <a:t>Fast + Stale (Dangerous): </a:t>
            </a:r>
            <a:r>
              <a:rPr lang="en-US" sz="1250" kern="0" spc="-80" dirty="0">
                <a:solidFill>
                  <a:schemeClr val="accent6"/>
                </a:solidFill>
              </a:rPr>
              <a:t>Your dashboard loads in 10ms (Low Latency), but it is showing yesterday's sales figures (Low Freshness). The system feels responsive but is providing outdated information, which is dangerous. </a:t>
            </a:r>
          </a:p>
          <a:p>
            <a:pPr marL="12700" marR="5080"/>
            <a:r>
              <a:rPr lang="en-US" sz="1250" kern="0" spc="-80" dirty="0">
                <a:solidFill>
                  <a:schemeClr val="accent6"/>
                </a:solidFill>
              </a:rPr>
              <a:t>The Ideal: Fast + Fresh. Low latency pipelines that run continuously, ensuring the data in your BI tool is never more than a few seconds or minutes old.</a:t>
            </a:r>
          </a:p>
        </p:txBody>
      </p:sp>
    </p:spTree>
    <p:extLst>
      <p:ext uri="{BB962C8B-B14F-4D97-AF65-F5344CB8AC3E}">
        <p14:creationId xmlns:p14="http://schemas.microsoft.com/office/powerpoint/2010/main" val="29318246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F47DA-8950-041D-D1AF-6783E2CE0E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E8760FE-1334-504F-201D-9D9C7634C75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63379D-8925-CE8D-057B-0211E26C436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8637C40-C822-B692-D717-22166840EE4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D47DD36-8590-6086-0D79-DB95783C7FA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17FCC78-84EF-8EAC-181F-641960948CD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741F08C-334B-FAE6-97CD-4B18125BE83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9" name="Diagram 8">
            <a:extLst>
              <a:ext uri="{FF2B5EF4-FFF2-40B4-BE49-F238E27FC236}">
                <a16:creationId xmlns:a16="http://schemas.microsoft.com/office/drawing/2014/main" id="{DAAC91FA-258C-E125-5C5B-3192E514DCCA}"/>
              </a:ext>
            </a:extLst>
          </p:cNvPr>
          <p:cNvGraphicFramePr/>
          <p:nvPr/>
        </p:nvGraphicFramePr>
        <p:xfrm>
          <a:off x="152400" y="34425"/>
          <a:ext cx="8839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object 2">
            <a:extLst>
              <a:ext uri="{FF2B5EF4-FFF2-40B4-BE49-F238E27FC236}">
                <a16:creationId xmlns:a16="http://schemas.microsoft.com/office/drawing/2014/main" id="{84D8CD8F-18C0-577B-CAAC-247229275242}"/>
              </a:ext>
            </a:extLst>
          </p:cNvPr>
          <p:cNvSpPr txBox="1">
            <a:spLocks/>
          </p:cNvSpPr>
          <p:nvPr/>
        </p:nvSpPr>
        <p:spPr>
          <a:xfrm>
            <a:off x="138063" y="762000"/>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Real World Patterns</a:t>
            </a:r>
            <a:endParaRPr lang="en-US" sz="1700" kern="0" spc="-80" dirty="0">
              <a:solidFill>
                <a:schemeClr val="accent6"/>
              </a:solidFill>
            </a:endParaRPr>
          </a:p>
        </p:txBody>
      </p:sp>
      <p:pic>
        <p:nvPicPr>
          <p:cNvPr id="11" name="Picture 10">
            <a:extLst>
              <a:ext uri="{FF2B5EF4-FFF2-40B4-BE49-F238E27FC236}">
                <a16:creationId xmlns:a16="http://schemas.microsoft.com/office/drawing/2014/main" id="{AEC79097-5569-8AF9-436B-5F248229AB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767" y="998719"/>
            <a:ext cx="8814112" cy="3406102"/>
          </a:xfrm>
          <a:prstGeom prst="rect">
            <a:avLst/>
          </a:prstGeom>
        </p:spPr>
      </p:pic>
      <p:sp>
        <p:nvSpPr>
          <p:cNvPr id="12" name="object 2">
            <a:extLst>
              <a:ext uri="{FF2B5EF4-FFF2-40B4-BE49-F238E27FC236}">
                <a16:creationId xmlns:a16="http://schemas.microsoft.com/office/drawing/2014/main" id="{A0990026-800C-545C-93D5-0BA81304FA40}"/>
              </a:ext>
            </a:extLst>
          </p:cNvPr>
          <p:cNvSpPr txBox="1">
            <a:spLocks/>
          </p:cNvSpPr>
          <p:nvPr/>
        </p:nvSpPr>
        <p:spPr>
          <a:xfrm>
            <a:off x="107131" y="4527828"/>
            <a:ext cx="8624937"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Best Practices for Data Teams</a:t>
            </a:r>
          </a:p>
          <a:p>
            <a:pPr marL="12700" marR="5080"/>
            <a:r>
              <a:rPr lang="en-US" sz="1250" kern="0" spc="-80" dirty="0">
                <a:solidFill>
                  <a:schemeClr val="accent2"/>
                </a:solidFill>
              </a:rPr>
              <a:t>Monitor Both: </a:t>
            </a:r>
            <a:r>
              <a:rPr lang="en-US" sz="1250" kern="0" spc="-80" dirty="0">
                <a:solidFill>
                  <a:schemeClr val="accent6"/>
                </a:solidFill>
              </a:rPr>
              <a:t>Track latency (pipeline speed) and data age (time since last record) in your observability platform.</a:t>
            </a:r>
          </a:p>
          <a:p>
            <a:pPr marL="12700" marR="5080"/>
            <a:r>
              <a:rPr lang="en-US" sz="1250" kern="0" spc="-80" dirty="0">
                <a:solidFill>
                  <a:schemeClr val="accent2"/>
                </a:solidFill>
              </a:rPr>
              <a:t>Define SLAs: </a:t>
            </a:r>
            <a:r>
              <a:rPr lang="en-US" sz="1250" kern="0" spc="-80" dirty="0">
                <a:solidFill>
                  <a:schemeClr val="accent6"/>
                </a:solidFill>
              </a:rPr>
              <a:t>Set Service Level Agreements (SLAs) for data freshness based on business needs (e.g., "Customer data must be &lt; 5 mins old").</a:t>
            </a:r>
          </a:p>
          <a:p>
            <a:pPr marL="12700" marR="5080"/>
            <a:r>
              <a:rPr lang="en-US" sz="1250" kern="0" spc="-80" dirty="0">
                <a:solidFill>
                  <a:schemeClr val="accent2"/>
                </a:solidFill>
              </a:rPr>
              <a:t>Minimize Hops: </a:t>
            </a:r>
            <a:r>
              <a:rPr lang="en-US" sz="1250" kern="0" spc="-80" dirty="0">
                <a:solidFill>
                  <a:schemeClr val="accent6"/>
                </a:solidFill>
              </a:rPr>
              <a:t>Reduce the number of steps in your ETL pipeline; every step adds latency and reduces freshness.</a:t>
            </a:r>
          </a:p>
          <a:p>
            <a:pPr marL="12700" marR="5080"/>
            <a:r>
              <a:rPr lang="en-US" sz="1250" kern="0" spc="-80" dirty="0">
                <a:solidFill>
                  <a:schemeClr val="accent2"/>
                </a:solidFill>
              </a:rPr>
              <a:t>Use Streaming/CDC: </a:t>
            </a:r>
            <a:r>
              <a:rPr lang="en-US" sz="1250" kern="0" spc="-80" dirty="0">
                <a:solidFill>
                  <a:schemeClr val="accent6"/>
                </a:solidFill>
              </a:rPr>
              <a:t>Use Change Data Capture (CDC) or streaming platforms (e.g., Kafka, Flink) to move away from batch-based bottlenecks</a:t>
            </a:r>
            <a:r>
              <a:rPr lang="en-US" sz="1250" kern="0" spc="-80" dirty="0">
                <a:solidFill>
                  <a:schemeClr val="accent2"/>
                </a:solidFill>
              </a:rPr>
              <a:t>.</a:t>
            </a:r>
            <a:endParaRPr lang="en-US" sz="1250" kern="0" spc="-80" dirty="0">
              <a:solidFill>
                <a:schemeClr val="accent6"/>
              </a:solidFill>
            </a:endParaRPr>
          </a:p>
        </p:txBody>
      </p:sp>
    </p:spTree>
    <p:extLst>
      <p:ext uri="{BB962C8B-B14F-4D97-AF65-F5344CB8AC3E}">
        <p14:creationId xmlns:p14="http://schemas.microsoft.com/office/powerpoint/2010/main" val="27850155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5A64-0E94-A9FD-60C5-ACDDE1C6C50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F9CA1C5-AD0C-04EA-5BCF-B3361FEECBA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776E66-F53A-6E03-2E71-50036B6792E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25099F-9B55-B4CD-8121-B9CA7C8883A5}"/>
              </a:ext>
            </a:extLst>
          </p:cNvPr>
          <p:cNvGraphicFramePr/>
          <p:nvPr/>
        </p:nvGraphicFramePr>
        <p:xfrm>
          <a:off x="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85EE7E-651D-EC73-9E4D-7A2168BF508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B09E15C-0405-ED04-B2F1-5B631C05EC1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78957FB-2FB9-4F47-6C8B-BE460FCB596E}"/>
              </a:ext>
            </a:extLst>
          </p:cNvPr>
          <p:cNvSpPr txBox="1">
            <a:spLocks/>
          </p:cNvSpPr>
          <p:nvPr/>
        </p:nvSpPr>
        <p:spPr>
          <a:xfrm>
            <a:off x="102503" y="609600"/>
            <a:ext cx="8915399" cy="609397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Migration</a:t>
            </a:r>
          </a:p>
          <a:p>
            <a:pPr marL="12700" marR="5080"/>
            <a:r>
              <a:rPr lang="en-US" sz="1350" kern="0" spc="-80" dirty="0">
                <a:solidFill>
                  <a:schemeClr val="accent6"/>
                </a:solidFill>
              </a:rPr>
              <a:t>Basically, for any type of (huge) Data Migration, should use E(T)L/EL(T) tools(custom-built or OSS/Free or COTS) with capabilities like -</a:t>
            </a:r>
          </a:p>
          <a:p>
            <a:pPr marL="12700" marR="5080"/>
            <a:r>
              <a:rPr lang="en-US" sz="1350" kern="0" spc="-80" dirty="0">
                <a:solidFill>
                  <a:schemeClr val="accent6"/>
                </a:solidFill>
              </a:rPr>
              <a:t>a) Good Observability</a:t>
            </a:r>
          </a:p>
          <a:p>
            <a:pPr marL="12700" marR="5080"/>
            <a:r>
              <a:rPr lang="en-US" sz="1350" kern="0" spc="-80" dirty="0">
                <a:solidFill>
                  <a:schemeClr val="accent6"/>
                </a:solidFill>
              </a:rPr>
              <a:t>b) Good Resiliency</a:t>
            </a:r>
          </a:p>
          <a:p>
            <a:pPr marL="12700" marR="5080"/>
            <a:r>
              <a:rPr lang="en-US" sz="1350" kern="0" spc="-80" dirty="0">
                <a:solidFill>
                  <a:schemeClr val="accent6"/>
                </a:solidFill>
              </a:rPr>
              <a:t>c) Good Performance</a:t>
            </a:r>
          </a:p>
          <a:p>
            <a:pPr marL="12700" marR="5080"/>
            <a:r>
              <a:rPr lang="en-US" sz="1350" kern="0" spc="-80" dirty="0">
                <a:solidFill>
                  <a:schemeClr val="accent6"/>
                </a:solidFill>
              </a:rPr>
              <a:t>d) Good (Horizontal) Scalability</a:t>
            </a:r>
          </a:p>
          <a:p>
            <a:pPr marL="12700" marR="5080"/>
            <a:r>
              <a:rPr lang="en-US" sz="1350" kern="0" spc="-80" dirty="0">
                <a:solidFill>
                  <a:schemeClr val="accent6"/>
                </a:solidFill>
              </a:rPr>
              <a:t>e) Validating correctness of source &amp; destination data(after migration), maybe using counts, hashes </a:t>
            </a:r>
            <a:r>
              <a:rPr lang="en-US" sz="1350" kern="0" spc="-80" dirty="0" err="1">
                <a:solidFill>
                  <a:schemeClr val="accent6"/>
                </a:solidFill>
              </a:rPr>
              <a:t>etc</a:t>
            </a:r>
            <a:endParaRPr lang="en-US" sz="1350" kern="0" spc="-80" dirty="0">
              <a:solidFill>
                <a:schemeClr val="accent6"/>
              </a:solidFill>
            </a:endParaRPr>
          </a:p>
          <a:p>
            <a:pPr marL="12700" marR="5080"/>
            <a:endParaRPr lang="en-US" sz="1350" kern="0" spc="-80" dirty="0">
              <a:solidFill>
                <a:schemeClr val="accent6"/>
              </a:solidFill>
            </a:endParaRPr>
          </a:p>
          <a:p>
            <a:pPr marL="12700" marR="5080"/>
            <a:r>
              <a:rPr lang="en-US" sz="1350" kern="0" spc="-80" dirty="0">
                <a:solidFill>
                  <a:schemeClr val="accent6"/>
                </a:solidFill>
              </a:rPr>
              <a:t>Although other NFRs(e.g. Security, Config driven </a:t>
            </a:r>
            <a:r>
              <a:rPr lang="en-US" sz="1350" kern="0" spc="-80" dirty="0" err="1">
                <a:solidFill>
                  <a:schemeClr val="accent6"/>
                </a:solidFill>
              </a:rPr>
              <a:t>etc</a:t>
            </a:r>
            <a:r>
              <a:rPr lang="en-US" sz="1350" kern="0" spc="-80" dirty="0">
                <a:solidFill>
                  <a:schemeClr val="accent6"/>
                </a:solidFill>
              </a:rPr>
              <a:t>) can also be important based on contextual requirements, but the above 5 NFRs are kind of bare minimum needed to be addressed in most Data Migration projects(especially, if the Data volume is huge).For Autoscaling, can take a API based approach </a:t>
            </a:r>
            <a:r>
              <a:rPr lang="en-US" sz="1350" kern="0" spc="-80" dirty="0" err="1">
                <a:solidFill>
                  <a:schemeClr val="accent6"/>
                </a:solidFill>
              </a:rPr>
              <a:t>alongwith</a:t>
            </a:r>
            <a:r>
              <a:rPr lang="en-US" sz="1350" kern="0" spc="-80" dirty="0">
                <a:solidFill>
                  <a:schemeClr val="accent6"/>
                </a:solidFill>
              </a:rPr>
              <a:t> some Background Service in the front.</a:t>
            </a:r>
          </a:p>
          <a:p>
            <a:pPr marL="12700" marR="5080"/>
            <a:endParaRPr lang="en-US" sz="1350" kern="0" spc="-80" dirty="0">
              <a:solidFill>
                <a:schemeClr val="accent6"/>
              </a:solidFill>
            </a:endParaRPr>
          </a:p>
          <a:p>
            <a:pPr marL="12700" marR="5080"/>
            <a:r>
              <a:rPr lang="en-US" sz="1350" kern="0" spc="-80" dirty="0">
                <a:solidFill>
                  <a:schemeClr val="accent6"/>
                </a:solidFill>
              </a:rPr>
              <a:t>By the way, there are high chances that the source &amp; destination primary key doesn’t have any direct mapping &amp; so you may need to use some Business Functionality Specifying Column(s) of the tables based uniqueness (logic) to identify a record to migrate(insert/update) from source to destination. Schema versioning also can become important for certain Data Migrations. </a:t>
            </a:r>
          </a:p>
          <a:p>
            <a:pPr marL="12700" marR="5080"/>
            <a:r>
              <a:rPr lang="en-US" sz="1350" kern="0" spc="-80" dirty="0">
                <a:solidFill>
                  <a:schemeClr val="accent6"/>
                </a:solidFill>
              </a:rPr>
              <a:t>Also, if you have a </a:t>
            </a:r>
            <a:r>
              <a:rPr lang="en-US" sz="1350" kern="0" spc="-80" dirty="0" err="1">
                <a:solidFill>
                  <a:schemeClr val="accent6"/>
                </a:solidFill>
              </a:rPr>
              <a:t>CreatedBy</a:t>
            </a:r>
            <a:r>
              <a:rPr lang="en-US" sz="1350" kern="0" spc="-80" dirty="0">
                <a:solidFill>
                  <a:schemeClr val="accent6"/>
                </a:solidFill>
              </a:rPr>
              <a:t> Audit column in the destination table then that can turn out to be very useful w.r.t data migration since say for normal process you can set </a:t>
            </a:r>
            <a:r>
              <a:rPr lang="en-US" sz="1350" kern="0" spc="-80" dirty="0" err="1">
                <a:solidFill>
                  <a:schemeClr val="accent6"/>
                </a:solidFill>
              </a:rPr>
              <a:t>CreatedBy</a:t>
            </a:r>
            <a:r>
              <a:rPr lang="en-US" sz="1350" kern="0" spc="-80" dirty="0">
                <a:solidFill>
                  <a:schemeClr val="accent6"/>
                </a:solidFill>
              </a:rPr>
              <a:t> to “system” &amp; for data migration tasks can be set to “data migration system”(or something else that identifies the data migration task) &amp; that can ultimately help in testing.</a:t>
            </a:r>
          </a:p>
          <a:p>
            <a:pPr marL="12700" marR="5080"/>
            <a:r>
              <a:rPr lang="en-US" sz="1350" kern="0" spc="-80" dirty="0">
                <a:solidFill>
                  <a:schemeClr val="accent6"/>
                </a:solidFill>
              </a:rPr>
              <a:t>Also, deletion of source data might be needed after migration(if applicable) &amp; as part of prod release rollback plan, if something goes wrong then the whole migrated data may need deletion &amp; for that its better to check upfront that how much time </a:t>
            </a:r>
            <a:r>
              <a:rPr lang="en-US" sz="1350" kern="0" spc="-80" dirty="0" err="1">
                <a:solidFill>
                  <a:schemeClr val="accent6"/>
                </a:solidFill>
              </a:rPr>
              <a:t>atleast</a:t>
            </a:r>
            <a:r>
              <a:rPr lang="en-US" sz="1350" kern="0" spc="-80" dirty="0">
                <a:solidFill>
                  <a:schemeClr val="accent6"/>
                </a:solidFill>
              </a:rPr>
              <a:t> a small sample of the actual data size takes &amp; then extrapolate if needed.</a:t>
            </a:r>
          </a:p>
          <a:p>
            <a:pPr marL="12700" marR="5080"/>
            <a:endParaRPr lang="en-US" sz="1350" kern="0" spc="-80" dirty="0">
              <a:solidFill>
                <a:schemeClr val="accent6"/>
              </a:solidFill>
            </a:endParaRPr>
          </a:p>
          <a:p>
            <a:pPr marL="12700" marR="5080"/>
            <a:endParaRPr lang="en-US" sz="135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967AC44-8656-9F2D-4979-26561221BE5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2741549-7AF6-9C25-A85B-FC4E6BBABD40}"/>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Tree>
    <p:extLst>
      <p:ext uri="{BB962C8B-B14F-4D97-AF65-F5344CB8AC3E}">
        <p14:creationId xmlns:p14="http://schemas.microsoft.com/office/powerpoint/2010/main" val="345665391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3E52F-5711-E0BF-B21B-35D3F158B19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F76B52-9E86-68B8-178C-7E9294B8A85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DC5D4A-6362-FF04-7C41-0FA4DDF5998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F066828-82BE-8F6C-7118-C75C53C2112E}"/>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F695630-FAD8-097C-DDFF-6848F6D8CEA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4BB5713-540A-FB72-93F1-F2CF03BF739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391BA74-5FFB-CEB1-BD06-E687C486B89E}"/>
              </a:ext>
            </a:extLst>
          </p:cNvPr>
          <p:cNvSpPr txBox="1">
            <a:spLocks/>
          </p:cNvSpPr>
          <p:nvPr/>
        </p:nvSpPr>
        <p:spPr>
          <a:xfrm>
            <a:off x="76201" y="762000"/>
            <a:ext cx="8915399" cy="3539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3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92A1B6F-CB68-3C2B-0955-40A2ECF9AC8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810B110-B28D-406D-A5CC-8DA1F8578FE4}"/>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16873AC6-580D-9FE6-F501-59BFEB2052F8}"/>
              </a:ext>
            </a:extLst>
          </p:cNvPr>
          <p:cNvSpPr txBox="1">
            <a:spLocks/>
          </p:cNvSpPr>
          <p:nvPr/>
        </p:nvSpPr>
        <p:spPr>
          <a:xfrm>
            <a:off x="102503" y="728990"/>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Migration Techniques(Moving Data)</a:t>
            </a:r>
          </a:p>
        </p:txBody>
      </p:sp>
      <p:pic>
        <p:nvPicPr>
          <p:cNvPr id="11" name="Picture 10">
            <a:extLst>
              <a:ext uri="{FF2B5EF4-FFF2-40B4-BE49-F238E27FC236}">
                <a16:creationId xmlns:a16="http://schemas.microsoft.com/office/drawing/2014/main" id="{F064129F-CA2B-9D63-9017-4F61DB548D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762" y="1023610"/>
            <a:ext cx="8906140" cy="3180032"/>
          </a:xfrm>
          <a:prstGeom prst="rect">
            <a:avLst/>
          </a:prstGeom>
        </p:spPr>
      </p:pic>
      <p:pic>
        <p:nvPicPr>
          <p:cNvPr id="14" name="Picture 13">
            <a:extLst>
              <a:ext uri="{FF2B5EF4-FFF2-40B4-BE49-F238E27FC236}">
                <a16:creationId xmlns:a16="http://schemas.microsoft.com/office/drawing/2014/main" id="{ABC27E0F-3C4D-10B4-1F63-1E47117603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4203642"/>
            <a:ext cx="8763000" cy="1739958"/>
          </a:xfrm>
          <a:prstGeom prst="rect">
            <a:avLst/>
          </a:prstGeom>
        </p:spPr>
      </p:pic>
    </p:spTree>
    <p:extLst>
      <p:ext uri="{BB962C8B-B14F-4D97-AF65-F5344CB8AC3E}">
        <p14:creationId xmlns:p14="http://schemas.microsoft.com/office/powerpoint/2010/main" val="19117322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5DCE-E522-ED45-9CFF-B9A016DB7C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8864FC4-4CF7-9910-03BE-EF397624C61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AAEA3C-E6E4-51CB-F8C4-D4B84EE569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2DFABB0-0BE6-DB34-79B5-91D849C2C35D}"/>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32B9E79-1236-D90D-6ECE-BCB0E4D0480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2C6677F-A638-BFE9-C943-02549319764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9C5B3F-AC6A-1DC6-9D45-DD5E5182DD49}"/>
              </a:ext>
            </a:extLst>
          </p:cNvPr>
          <p:cNvSpPr txBox="1">
            <a:spLocks/>
          </p:cNvSpPr>
          <p:nvPr/>
        </p:nvSpPr>
        <p:spPr>
          <a:xfrm>
            <a:off x="76201" y="762000"/>
            <a:ext cx="8915399" cy="3539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3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59CE624-EF03-3D61-C25D-8416F58D8B1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1893496-0FFA-0E45-43F6-0B63361DE096}"/>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1A8DDE5E-0B40-B79D-2A19-324202BF1A8F}"/>
              </a:ext>
            </a:extLst>
          </p:cNvPr>
          <p:cNvSpPr txBox="1">
            <a:spLocks/>
          </p:cNvSpPr>
          <p:nvPr/>
        </p:nvSpPr>
        <p:spPr>
          <a:xfrm>
            <a:off x="102503" y="728990"/>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Backup Techniques(Protecting Data)</a:t>
            </a:r>
          </a:p>
        </p:txBody>
      </p:sp>
      <p:pic>
        <p:nvPicPr>
          <p:cNvPr id="13" name="Picture 12">
            <a:extLst>
              <a:ext uri="{FF2B5EF4-FFF2-40B4-BE49-F238E27FC236}">
                <a16:creationId xmlns:a16="http://schemas.microsoft.com/office/drawing/2014/main" id="{CDFBC241-ED0D-0073-CD53-428B40AF5D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023610"/>
            <a:ext cx="8915399" cy="4691389"/>
          </a:xfrm>
          <a:prstGeom prst="rect">
            <a:avLst/>
          </a:prstGeom>
        </p:spPr>
      </p:pic>
    </p:spTree>
    <p:extLst>
      <p:ext uri="{BB962C8B-B14F-4D97-AF65-F5344CB8AC3E}">
        <p14:creationId xmlns:p14="http://schemas.microsoft.com/office/powerpoint/2010/main" val="36900650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CF899-A269-9D06-4FE1-1C84ABF706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3265BF-10FA-E621-3AF9-8686DFDFE1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B82B4D-F01C-5998-22DC-0BB1E2DE15B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AF1AD9C-33D5-1524-3330-8632D61BF578}"/>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8886A39-365B-45F2-A541-6201AB2E75A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B816128-1550-DE3E-943C-4BD321D45DE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558BE6A-A4DC-2D20-76D1-E0B2B468A6FE}"/>
              </a:ext>
            </a:extLst>
          </p:cNvPr>
          <p:cNvSpPr txBox="1">
            <a:spLocks/>
          </p:cNvSpPr>
          <p:nvPr/>
        </p:nvSpPr>
        <p:spPr>
          <a:xfrm>
            <a:off x="76201" y="762000"/>
            <a:ext cx="8915399" cy="3539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3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D8F8E6E-71D1-8202-7C1D-5DE713DA0F7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370A0EA-92CB-A674-A5BB-A8111116FE9B}"/>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03BFB0C8-5290-A0E8-D8EE-F9CC85831517}"/>
              </a:ext>
            </a:extLst>
          </p:cNvPr>
          <p:cNvSpPr txBox="1">
            <a:spLocks/>
          </p:cNvSpPr>
          <p:nvPr/>
        </p:nvSpPr>
        <p:spPr>
          <a:xfrm>
            <a:off x="102503" y="728990"/>
            <a:ext cx="8915399"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Data Restore &amp; Recovery Techniques(Restoring Data)</a:t>
            </a:r>
          </a:p>
        </p:txBody>
      </p:sp>
      <p:pic>
        <p:nvPicPr>
          <p:cNvPr id="11" name="Picture 10">
            <a:extLst>
              <a:ext uri="{FF2B5EF4-FFF2-40B4-BE49-F238E27FC236}">
                <a16:creationId xmlns:a16="http://schemas.microsoft.com/office/drawing/2014/main" id="{21E2E698-0E36-9317-E922-FEAF2A2524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028494"/>
            <a:ext cx="8853537" cy="4686506"/>
          </a:xfrm>
          <a:prstGeom prst="rect">
            <a:avLst/>
          </a:prstGeom>
        </p:spPr>
      </p:pic>
    </p:spTree>
    <p:extLst>
      <p:ext uri="{BB962C8B-B14F-4D97-AF65-F5344CB8AC3E}">
        <p14:creationId xmlns:p14="http://schemas.microsoft.com/office/powerpoint/2010/main" val="126645615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FFF73-0E99-E8B0-568D-A941A8BE64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8F137D-8003-9178-4B62-D10F2CC4D6F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DEE8EA-E24F-9633-44ED-F5B27601DF4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750A93E-DC4A-3C77-23C5-2DCED3A71BC7}"/>
              </a:ext>
            </a:extLst>
          </p:cNvPr>
          <p:cNvGraphicFramePr/>
          <p:nvPr/>
        </p:nvGraphicFramePr>
        <p:xfrm>
          <a:off x="0" y="34425"/>
          <a:ext cx="8915399"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05EF37B-F591-1019-2718-F28B07DFDEC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162FFA4-5107-3FA8-AE48-2846E93898C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2ED4907-B2EC-4129-A180-D910CC696743}"/>
              </a:ext>
            </a:extLst>
          </p:cNvPr>
          <p:cNvSpPr txBox="1">
            <a:spLocks/>
          </p:cNvSpPr>
          <p:nvPr/>
        </p:nvSpPr>
        <p:spPr>
          <a:xfrm>
            <a:off x="76201" y="762000"/>
            <a:ext cx="8915399" cy="3539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3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49A8A94-5E77-9C1E-961A-B1F0CDCAF17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03CA465-770B-7B59-D6A6-D48C368CA031}"/>
              </a:ext>
            </a:extLst>
          </p:cNvPr>
          <p:cNvSpPr txBox="1">
            <a:spLocks/>
          </p:cNvSpPr>
          <p:nvPr/>
        </p:nvSpPr>
        <p:spPr>
          <a:xfrm>
            <a:off x="228600" y="685800"/>
            <a:ext cx="8624937" cy="4924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  </a:t>
            </a:r>
            <a:endParaRPr lang="en-US" sz="1600" kern="0" spc="-80" dirty="0">
              <a:solidFill>
                <a:schemeClr val="accent2"/>
              </a:solidFill>
            </a:endParaRPr>
          </a:p>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87E8419F-B5AF-18F2-0F67-00967CDCCD4F}"/>
              </a:ext>
            </a:extLst>
          </p:cNvPr>
          <p:cNvSpPr txBox="1">
            <a:spLocks/>
          </p:cNvSpPr>
          <p:nvPr/>
        </p:nvSpPr>
        <p:spPr>
          <a:xfrm>
            <a:off x="76201" y="728990"/>
            <a:ext cx="8915399" cy="329320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Key Strategies for Success</a:t>
            </a:r>
          </a:p>
          <a:p>
            <a:pPr marL="12700" marR="5080"/>
            <a:r>
              <a:rPr lang="en-US" sz="1350" kern="0" spc="-80" dirty="0">
                <a:solidFill>
                  <a:schemeClr val="accent2"/>
                </a:solidFill>
              </a:rPr>
              <a:t>3-2-1 Rule: </a:t>
            </a:r>
            <a:r>
              <a:rPr lang="en-US" sz="1350" kern="0" spc="-80" dirty="0">
                <a:solidFill>
                  <a:schemeClr val="accent6"/>
                </a:solidFill>
              </a:rPr>
              <a:t>Keep 3 copies of data, on 2 different media, with 1 copy off-site.</a:t>
            </a:r>
          </a:p>
          <a:p>
            <a:pPr marL="12700" marR="5080"/>
            <a:r>
              <a:rPr lang="en-US" sz="1350" kern="0" spc="-80" dirty="0">
                <a:solidFill>
                  <a:schemeClr val="accent2"/>
                </a:solidFill>
              </a:rPr>
              <a:t>4-3-2 Rule:</a:t>
            </a:r>
            <a:r>
              <a:rPr lang="en-US" sz="1350" kern="0" spc="-80" dirty="0">
                <a:solidFill>
                  <a:schemeClr val="accent6"/>
                </a:solidFill>
              </a:rPr>
              <a:t> 4 copies, 3 locations, 2 off-site (improved 3-2-1 for ransomware protection).</a:t>
            </a:r>
          </a:p>
          <a:p>
            <a:pPr marL="12700" marR="5080"/>
            <a:r>
              <a:rPr lang="en-US" sz="1350" kern="0" spc="-80" dirty="0">
                <a:solidFill>
                  <a:schemeClr val="accent2"/>
                </a:solidFill>
              </a:rPr>
              <a:t>Pre-migration Test: </a:t>
            </a:r>
            <a:r>
              <a:rPr lang="en-US" sz="1350" kern="0" spc="-80" dirty="0">
                <a:solidFill>
                  <a:schemeClr val="accent6"/>
                </a:solidFill>
              </a:rPr>
              <a:t>Always validate data in a staging environment that mirrors production before going live.</a:t>
            </a:r>
          </a:p>
          <a:p>
            <a:pPr marL="12700" marR="5080"/>
            <a:r>
              <a:rPr lang="en-US" sz="1350" kern="0" spc="-80" dirty="0">
                <a:solidFill>
                  <a:schemeClr val="accent2"/>
                </a:solidFill>
              </a:rPr>
              <a:t>Automation: </a:t>
            </a:r>
            <a:r>
              <a:rPr lang="en-US" sz="1350" kern="0" spc="-80" dirty="0">
                <a:solidFill>
                  <a:schemeClr val="accent6"/>
                </a:solidFill>
              </a:rPr>
              <a:t>Utilize tools to automate backups and migration tasks to reduce human error.</a:t>
            </a:r>
          </a:p>
          <a:p>
            <a:pPr marL="12700" marR="5080"/>
            <a:endParaRPr lang="en-US" sz="1350" kern="0" spc="-80" dirty="0">
              <a:solidFill>
                <a:schemeClr val="accent6"/>
              </a:solidFill>
            </a:endParaRPr>
          </a:p>
          <a:p>
            <a:pPr marL="12700" marR="5080"/>
            <a:r>
              <a:rPr lang="en-US" sz="1800" kern="0" spc="-80" dirty="0">
                <a:solidFill>
                  <a:schemeClr val="accent2"/>
                </a:solidFill>
              </a:rPr>
              <a:t>For Further Exploration – </a:t>
            </a:r>
          </a:p>
          <a:p>
            <a:pPr marL="12700" marR="5080"/>
            <a:r>
              <a:rPr lang="en-US" sz="1400" dirty="0">
                <a:hlinkClick r:id="rId7"/>
              </a:rPr>
              <a:t>The Secret Sauce of the Document Migration Process - OpenText Blogs</a:t>
            </a:r>
            <a:endParaRPr lang="en-US" sz="1400" dirty="0"/>
          </a:p>
          <a:p>
            <a:pPr marL="12700" marR="5080"/>
            <a:r>
              <a:rPr lang="en-IN" sz="1400" dirty="0">
                <a:hlinkClick r:id="rId8"/>
              </a:rPr>
              <a:t>Fluent migrations framework for .NET | </a:t>
            </a:r>
            <a:r>
              <a:rPr lang="en-IN" sz="1400" dirty="0" err="1">
                <a:hlinkClick r:id="rId8"/>
              </a:rPr>
              <a:t>FluentMigrator</a:t>
            </a:r>
            <a:r>
              <a:rPr lang="en-IN" sz="1400" dirty="0">
                <a:hlinkClick r:id="rId8"/>
              </a:rPr>
              <a:t> documentation</a:t>
            </a:r>
            <a:endParaRPr lang="en-IN" sz="1400" dirty="0"/>
          </a:p>
          <a:p>
            <a:pPr marL="12700" marR="5080"/>
            <a:r>
              <a:rPr lang="en-IN" sz="1400" dirty="0">
                <a:hlinkClick r:id="rId9"/>
              </a:rPr>
              <a:t>Azure Database Migration Service | Microsoft Azure</a:t>
            </a:r>
            <a:endParaRPr lang="en-IN" sz="1400" dirty="0"/>
          </a:p>
          <a:p>
            <a:pPr marL="12700" marR="5080"/>
            <a:r>
              <a:rPr lang="en-IN" sz="1400" dirty="0">
                <a:hlinkClick r:id="rId10"/>
              </a:rPr>
              <a:t>Cloud Database Migration - AWS Database Migration Service (AWS DMS) - AWS</a:t>
            </a:r>
            <a:endParaRPr lang="en-IN" sz="1400" dirty="0"/>
          </a:p>
          <a:p>
            <a:pPr marL="12700" marR="5080"/>
            <a:r>
              <a:rPr lang="en-US" sz="1400" dirty="0">
                <a:hlinkClick r:id="rId11"/>
              </a:rPr>
              <a:t>The Essential Guide to Database Backup: Tips &amp; Strategies | Metis</a:t>
            </a:r>
            <a:endParaRPr lang="en-US" sz="1400" dirty="0"/>
          </a:p>
          <a:p>
            <a:pPr marL="12700" marR="5080"/>
            <a:r>
              <a:rPr lang="en-US" sz="1400" dirty="0">
                <a:hlinkClick r:id="rId12"/>
              </a:rPr>
              <a:t>Back Up and Restore of SQL Server Databases - SQL Server | Microsoft Learn</a:t>
            </a:r>
            <a:endParaRPr lang="en-US" sz="1400" dirty="0"/>
          </a:p>
          <a:p>
            <a:pPr marL="12700" marR="5080"/>
            <a:r>
              <a:rPr lang="en-US" sz="1400" dirty="0">
                <a:hlinkClick r:id="rId13"/>
              </a:rPr>
              <a:t>Practical Data Migration</a:t>
            </a:r>
            <a:endParaRPr lang="en-US" sz="1400" kern="0" spc="-80" dirty="0">
              <a:solidFill>
                <a:schemeClr val="accent6"/>
              </a:solidFill>
              <a:hlinkClick r:id="rId14"/>
            </a:endParaRP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328051390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A7D1-5743-5862-14B4-F26DA880C3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8611F49-994D-DB13-0DB2-42938591C21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C2C716E-FC4F-E548-1C53-585D5D58CE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457EC2-1D12-B4F4-18C8-9DD85D4E9156}"/>
              </a:ext>
            </a:extLst>
          </p:cNvPr>
          <p:cNvGraphicFramePr/>
          <p:nvPr>
            <p:extLst>
              <p:ext uri="{D42A27DB-BD31-4B8C-83A1-F6EECF244321}">
                <p14:modId xmlns:p14="http://schemas.microsoft.com/office/powerpoint/2010/main" val="1398022247"/>
              </p:ext>
            </p:extLst>
          </p:nvPr>
        </p:nvGraphicFramePr>
        <p:xfrm>
          <a:off x="-76200" y="34425"/>
          <a:ext cx="9220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D30A27D-744E-6BBE-739E-CCB2DFF00D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7495133-7918-3071-7756-51A1DE95D10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C006B03-2DD6-CCAD-9181-8B3915FC6517}"/>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09AB28F-EC5B-2521-1455-9D71C05AE57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FFB55C7B-738F-823F-EC2C-68B832B28772}"/>
              </a:ext>
            </a:extLst>
          </p:cNvPr>
          <p:cNvSpPr txBox="1"/>
          <p:nvPr/>
        </p:nvSpPr>
        <p:spPr>
          <a:xfrm>
            <a:off x="0" y="745712"/>
            <a:ext cx="8915399" cy="4455066"/>
          </a:xfrm>
          <a:prstGeom prst="rect">
            <a:avLst/>
          </a:prstGeom>
          <a:noFill/>
        </p:spPr>
        <p:txBody>
          <a:bodyPr wrap="square">
            <a:spAutoFit/>
          </a:bodyPr>
          <a:lstStyle/>
          <a:p>
            <a:pPr marL="12700" marR="5080"/>
            <a:r>
              <a:rPr lang="en-US" sz="1350" b="1" kern="0" spc="-80" dirty="0">
                <a:solidFill>
                  <a:schemeClr val="accent6"/>
                </a:solidFill>
                <a:latin typeface="Lucida Sans"/>
                <a:ea typeface="+mj-ea"/>
              </a:rPr>
              <a:t>Probabilistic data structures are algorithms that provide fast, memory-efficient, and approximate answers to queries on massive datasets, sacrificing absolute accuracy for speed and space. They use randomization/hashing to offer near-perfect results, making them ideal for high-throughput, real-time applications where minor errors are acceptable, </a:t>
            </a:r>
            <a:r>
              <a:rPr lang="en-US" sz="1350" b="1" kern="0" spc="-80" dirty="0">
                <a:solidFill>
                  <a:schemeClr val="accent6"/>
                </a:solidFill>
                <a:latin typeface="Lucida Sans"/>
              </a:rPr>
              <a:t>trading perfect accuracy for significantly lower memory usage and faster processing speeds.</a:t>
            </a:r>
            <a:r>
              <a:rPr lang="en-US" sz="1350" b="1" kern="0" spc="-80" dirty="0">
                <a:solidFill>
                  <a:schemeClr val="accent6"/>
                </a:solidFill>
                <a:latin typeface="Lucida Sans"/>
                <a:ea typeface="+mj-ea"/>
              </a:rPr>
              <a:t>. They are foundational in Big Data, streaming analytics, and networking, as they allow handling billions of elements in a few kilobytes or megabytes of memory. </a:t>
            </a:r>
          </a:p>
          <a:p>
            <a:pPr marL="12700" marR="5080"/>
            <a:endParaRPr lang="en-US" sz="1350" b="1" kern="0" spc="-80" dirty="0">
              <a:solidFill>
                <a:schemeClr val="accent6"/>
              </a:solidFill>
              <a:latin typeface="Lucida Sans"/>
              <a:ea typeface="+mj-ea"/>
            </a:endParaRPr>
          </a:p>
          <a:p>
            <a:pPr marL="12700" marR="5080"/>
            <a:r>
              <a:rPr lang="en-US" sz="1350" b="1" kern="0" spc="-80" dirty="0">
                <a:solidFill>
                  <a:schemeClr val="accent2"/>
                </a:solidFill>
                <a:latin typeface="Lucida Sans"/>
                <a:ea typeface="+mj-ea"/>
              </a:rPr>
              <a:t>Why We Need Them</a:t>
            </a:r>
          </a:p>
          <a:p>
            <a:pPr marL="12700" marR="5080"/>
            <a:r>
              <a:rPr lang="en-US" sz="1350" b="1" kern="0" spc="-80" dirty="0">
                <a:solidFill>
                  <a:schemeClr val="accent2"/>
                </a:solidFill>
                <a:latin typeface="Lucida Sans"/>
                <a:ea typeface="+mj-ea"/>
              </a:rPr>
              <a:t>Memory Efficiency: </a:t>
            </a:r>
            <a:r>
              <a:rPr lang="en-US" sz="1350" b="1" kern="0" spc="-80" dirty="0">
                <a:solidFill>
                  <a:schemeClr val="accent6"/>
                </a:solidFill>
                <a:latin typeface="Lucida Sans"/>
                <a:ea typeface="+mj-ea"/>
              </a:rPr>
              <a:t>They can represent massive datasets in just a few kilobytes or megabytes, handling billions of elements in space where traditional structures (like Sets or </a:t>
            </a:r>
            <a:r>
              <a:rPr lang="en-US" sz="1350" b="1" kern="0" spc="-80" dirty="0" err="1">
                <a:solidFill>
                  <a:schemeClr val="accent6"/>
                </a:solidFill>
                <a:latin typeface="Lucida Sans"/>
                <a:ea typeface="+mj-ea"/>
              </a:rPr>
              <a:t>HashMaps</a:t>
            </a:r>
            <a:r>
              <a:rPr lang="en-US" sz="1350" b="1" kern="0" spc="-80" dirty="0">
                <a:solidFill>
                  <a:schemeClr val="accent6"/>
                </a:solidFill>
                <a:latin typeface="Lucida Sans"/>
                <a:ea typeface="+mj-ea"/>
              </a:rPr>
              <a:t>) would exceed memory constraints.</a:t>
            </a:r>
          </a:p>
          <a:p>
            <a:pPr marL="12700" marR="5080"/>
            <a:r>
              <a:rPr lang="en-US" sz="1350" b="1" kern="0" spc="-80" dirty="0">
                <a:solidFill>
                  <a:schemeClr val="accent2"/>
                </a:solidFill>
                <a:latin typeface="Lucida Sans"/>
                <a:ea typeface="+mj-ea"/>
              </a:rPr>
              <a:t>Speed: </a:t>
            </a:r>
            <a:r>
              <a:rPr lang="en-US" sz="1350" b="1" kern="0" spc="-80" dirty="0">
                <a:solidFill>
                  <a:schemeClr val="accent6"/>
                </a:solidFill>
                <a:latin typeface="Lucida Sans"/>
                <a:ea typeface="+mj-ea"/>
              </a:rPr>
              <a:t>Operations like insertion and lookup are often , where  is the number of hash functions, providing constant time complexity independent of data size.</a:t>
            </a:r>
          </a:p>
          <a:p>
            <a:pPr marL="12700" marR="5080"/>
            <a:r>
              <a:rPr lang="en-US" sz="1350" b="1" kern="0" spc="-80" dirty="0">
                <a:solidFill>
                  <a:schemeClr val="accent2"/>
                </a:solidFill>
                <a:latin typeface="Lucida Sans"/>
                <a:ea typeface="+mj-ea"/>
              </a:rPr>
              <a:t>Handling Large Scale Data: </a:t>
            </a:r>
            <a:r>
              <a:rPr lang="en-US" sz="1350" b="1" kern="0" spc="-80" dirty="0">
                <a:solidFill>
                  <a:schemeClr val="accent6"/>
                </a:solidFill>
                <a:latin typeface="Lucida Sans"/>
                <a:ea typeface="+mj-ea"/>
              </a:rPr>
              <a:t>They are essential for streaming data or big data scenarios (e.g., counting unique users, checking membership in a huge list). </a:t>
            </a:r>
          </a:p>
          <a:p>
            <a:pPr marL="12700" marR="5080"/>
            <a:endParaRPr lang="en-US" sz="1350" b="1" kern="0" spc="-80" dirty="0">
              <a:solidFill>
                <a:schemeClr val="accent6"/>
              </a:solidFill>
              <a:latin typeface="Lucida Sans"/>
              <a:ea typeface="+mj-ea"/>
            </a:endParaRPr>
          </a:p>
          <a:p>
            <a:pPr marL="12700" marR="5080"/>
            <a:r>
              <a:rPr lang="en-US" sz="1350" b="1" kern="0" spc="-80" dirty="0">
                <a:solidFill>
                  <a:schemeClr val="accent2"/>
                </a:solidFill>
                <a:latin typeface="Lucida Sans"/>
                <a:ea typeface="+mj-ea"/>
              </a:rPr>
              <a:t>Core Concepts and Components</a:t>
            </a:r>
          </a:p>
          <a:p>
            <a:pPr marL="12700" marR="5080"/>
            <a:r>
              <a:rPr lang="en-US" sz="1350" b="1" kern="0" spc="-80" dirty="0">
                <a:solidFill>
                  <a:schemeClr val="accent2"/>
                </a:solidFill>
                <a:latin typeface="Lucida Sans"/>
                <a:ea typeface="+mj-ea"/>
              </a:rPr>
              <a:t>Hashing: </a:t>
            </a:r>
            <a:r>
              <a:rPr lang="en-US" sz="1350" b="1" kern="0" spc="-80" dirty="0">
                <a:solidFill>
                  <a:schemeClr val="accent6"/>
                </a:solidFill>
                <a:latin typeface="Lucida Sans"/>
                <a:ea typeface="+mj-ea"/>
              </a:rPr>
              <a:t>Maps arbitrary data to a specific, often randomized, location.</a:t>
            </a:r>
          </a:p>
          <a:p>
            <a:pPr marL="12700" marR="5080"/>
            <a:r>
              <a:rPr lang="en-US" sz="1350" b="1" kern="0" spc="-80" dirty="0">
                <a:solidFill>
                  <a:schemeClr val="accent2"/>
                </a:solidFill>
                <a:latin typeface="Lucida Sans"/>
                <a:ea typeface="+mj-ea"/>
              </a:rPr>
              <a:t>Bit Array/Sketch: </a:t>
            </a:r>
            <a:r>
              <a:rPr lang="en-US" sz="1350" b="1" kern="0" spc="-80" dirty="0">
                <a:solidFill>
                  <a:schemeClr val="accent6"/>
                </a:solidFill>
                <a:latin typeface="Lucida Sans"/>
                <a:ea typeface="+mj-ea"/>
              </a:rPr>
              <a:t>A compact, fixed-size representation of data, rather than storing the data itself.</a:t>
            </a:r>
          </a:p>
          <a:p>
            <a:pPr marL="12700" marR="5080"/>
            <a:r>
              <a:rPr lang="en-US" sz="1350" b="1" kern="0" spc="-80" dirty="0">
                <a:solidFill>
                  <a:schemeClr val="accent2"/>
                </a:solidFill>
                <a:latin typeface="Lucida Sans"/>
                <a:ea typeface="+mj-ea"/>
              </a:rPr>
              <a:t>False Positive (FP): </a:t>
            </a:r>
            <a:r>
              <a:rPr lang="en-US" sz="1350" b="1" kern="0" spc="-80" dirty="0">
                <a:solidFill>
                  <a:schemeClr val="accent6"/>
                </a:solidFill>
                <a:latin typeface="Lucida Sans"/>
                <a:ea typeface="+mj-ea"/>
              </a:rPr>
              <a:t>Claiming an item is present when it is not (permitted).</a:t>
            </a:r>
          </a:p>
          <a:p>
            <a:pPr marL="12700" marR="5080"/>
            <a:r>
              <a:rPr lang="en-US" sz="1350" b="1" kern="0" spc="-80" dirty="0">
                <a:solidFill>
                  <a:schemeClr val="accent2"/>
                </a:solidFill>
                <a:latin typeface="Lucida Sans"/>
                <a:ea typeface="+mj-ea"/>
              </a:rPr>
              <a:t>False Negative (FN): </a:t>
            </a:r>
            <a:r>
              <a:rPr lang="en-US" sz="1350" b="1" kern="0" spc="-80" dirty="0">
                <a:solidFill>
                  <a:schemeClr val="accent6"/>
                </a:solidFill>
                <a:latin typeface="Lucida Sans"/>
                <a:ea typeface="+mj-ea"/>
              </a:rPr>
              <a:t>Claiming an item is absent when it is present (NOT permitted).</a:t>
            </a:r>
          </a:p>
          <a:p>
            <a:pPr marL="12700" marR="5080"/>
            <a:r>
              <a:rPr lang="en-US" sz="1350" b="1" kern="0" spc="-80" dirty="0">
                <a:solidFill>
                  <a:schemeClr val="accent2"/>
                </a:solidFill>
                <a:latin typeface="Lucida Sans"/>
                <a:ea typeface="+mj-ea"/>
              </a:rPr>
              <a:t>Error Rate (ER):</a:t>
            </a:r>
            <a:r>
              <a:rPr lang="en-US" sz="1350" b="1" kern="0" spc="-80" dirty="0">
                <a:solidFill>
                  <a:schemeClr val="accent6"/>
                </a:solidFill>
                <a:latin typeface="Lucida Sans"/>
                <a:ea typeface="+mj-ea"/>
              </a:rPr>
              <a:t> The probability of a false positive.</a:t>
            </a:r>
          </a:p>
        </p:txBody>
      </p:sp>
    </p:spTree>
    <p:extLst>
      <p:ext uri="{BB962C8B-B14F-4D97-AF65-F5344CB8AC3E}">
        <p14:creationId xmlns:p14="http://schemas.microsoft.com/office/powerpoint/2010/main" val="53007281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94CC1-99D7-C5A7-C452-5AA1908EFD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9C7D4B-E21F-D940-C8B2-000DCBB18A5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499157-10CA-C0E3-F3C2-F10C6CE16DE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9C0D4B-36F4-5C30-19D5-3C6AEB052802}"/>
              </a:ext>
            </a:extLst>
          </p:cNvPr>
          <p:cNvGraphicFramePr/>
          <p:nvPr/>
        </p:nvGraphicFramePr>
        <p:xfrm>
          <a:off x="-76200" y="34425"/>
          <a:ext cx="9220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B549058-CF6A-666F-9A53-0BB66E759C9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510AC37-5C0E-D3C2-0323-8F421A03B34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AD032E4-877E-CA12-DA1E-F4A7EADB473B}"/>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53E2920-713E-FA6B-CF4A-6F67A58C14A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5B52DFB7-46C9-A1FB-7778-B74D46E257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142" y="762000"/>
            <a:ext cx="9029858" cy="3810000"/>
          </a:xfrm>
          <a:prstGeom prst="rect">
            <a:avLst/>
          </a:prstGeom>
        </p:spPr>
      </p:pic>
      <p:pic>
        <p:nvPicPr>
          <p:cNvPr id="13" name="Picture 12">
            <a:extLst>
              <a:ext uri="{FF2B5EF4-FFF2-40B4-BE49-F238E27FC236}">
                <a16:creationId xmlns:a16="http://schemas.microsoft.com/office/drawing/2014/main" id="{57BB87B9-04F3-3400-E1E6-CAA7D858306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4800" y="4572000"/>
            <a:ext cx="8877142" cy="1371600"/>
          </a:xfrm>
          <a:prstGeom prst="rect">
            <a:avLst/>
          </a:prstGeom>
        </p:spPr>
      </p:pic>
    </p:spTree>
    <p:extLst>
      <p:ext uri="{BB962C8B-B14F-4D97-AF65-F5344CB8AC3E}">
        <p14:creationId xmlns:p14="http://schemas.microsoft.com/office/powerpoint/2010/main" val="29131190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3FE83-4EA7-3104-D5DA-07639805A8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09B52BF-A0F9-2F45-DE34-CB95D67C0C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6D5EBFB-0FE8-6577-5E35-E38EFEBB7B4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F1CDD2-909D-6686-C365-2E98CC9FF1AE}"/>
              </a:ext>
            </a:extLst>
          </p:cNvPr>
          <p:cNvGraphicFramePr/>
          <p:nvPr/>
        </p:nvGraphicFramePr>
        <p:xfrm>
          <a:off x="-76200" y="34425"/>
          <a:ext cx="9220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9C275FD-F98E-6441-8652-403D605614B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8EB32AC-35A9-2715-911F-604D0276771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98CFAD7-61C3-E1AD-2C10-9973A8E1AB82}"/>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908A415-B746-BD6A-A70E-A9421CED6FD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9EE9C23A-16AF-5637-C69D-21DAB318055D}"/>
              </a:ext>
            </a:extLst>
          </p:cNvPr>
          <p:cNvSpPr txBox="1"/>
          <p:nvPr/>
        </p:nvSpPr>
        <p:spPr>
          <a:xfrm>
            <a:off x="0" y="745712"/>
            <a:ext cx="8915399" cy="4870564"/>
          </a:xfrm>
          <a:prstGeom prst="rect">
            <a:avLst/>
          </a:prstGeom>
          <a:noFill/>
        </p:spPr>
        <p:txBody>
          <a:bodyPr wrap="square">
            <a:spAutoFit/>
          </a:bodyPr>
          <a:lstStyle/>
          <a:p>
            <a:pPr marL="12700" marR="5080"/>
            <a:r>
              <a:rPr lang="en-US" sz="1350" b="1" kern="0" spc="-80" dirty="0">
                <a:solidFill>
                  <a:schemeClr val="accent2"/>
                </a:solidFill>
                <a:latin typeface="Lucida Sans"/>
                <a:ea typeface="+mj-ea"/>
              </a:rPr>
              <a:t>Detailed Analysis by Category</a:t>
            </a:r>
          </a:p>
          <a:p>
            <a:pPr marL="12700" marR="5080"/>
            <a:r>
              <a:rPr lang="en-US" sz="1350" b="1" kern="0" spc="-80" dirty="0">
                <a:solidFill>
                  <a:schemeClr val="accent2"/>
                </a:solidFill>
                <a:latin typeface="Lucida Sans"/>
                <a:ea typeface="+mj-ea"/>
              </a:rPr>
              <a:t>1. Membership Queries (Is  in Set ?)</a:t>
            </a:r>
          </a:p>
          <a:p>
            <a:pPr marL="12700" marR="5080"/>
            <a:r>
              <a:rPr lang="en-US" sz="1350" b="1" kern="0" spc="-80" dirty="0">
                <a:solidFill>
                  <a:schemeClr val="accent2"/>
                </a:solidFill>
                <a:latin typeface="Lucida Sans"/>
                <a:ea typeface="+mj-ea"/>
              </a:rPr>
              <a:t>Bloom Filter: </a:t>
            </a:r>
            <a:r>
              <a:rPr lang="en-US" sz="1350" b="1" kern="0" spc="-80" dirty="0">
                <a:solidFill>
                  <a:schemeClr val="accent6"/>
                </a:solidFill>
                <a:latin typeface="Lucida Sans"/>
                <a:ea typeface="+mj-ea"/>
              </a:rPr>
              <a:t>Uses bits and  hash functions. To insert, hash  times and set bits to 1. To query, check if all </a:t>
            </a:r>
          </a:p>
          <a:p>
            <a:pPr marL="12700" marR="5080"/>
            <a:r>
              <a:rPr lang="en-US" sz="1350" b="1" kern="0" spc="-80" dirty="0">
                <a:solidFill>
                  <a:schemeClr val="accent6"/>
                </a:solidFill>
                <a:latin typeface="Lucida Sans"/>
                <a:ea typeface="+mj-ea"/>
              </a:rPr>
              <a:t>bits are 1. It may say "Yes" when it's "No" (false positive), but never "No" when it's "Yes".</a:t>
            </a:r>
          </a:p>
          <a:p>
            <a:pPr marL="12700" marR="5080"/>
            <a:r>
              <a:rPr lang="en-US" sz="1350" b="1" kern="0" spc="-80" dirty="0">
                <a:solidFill>
                  <a:schemeClr val="accent2"/>
                </a:solidFill>
                <a:latin typeface="Lucida Sans"/>
                <a:ea typeface="+mj-ea"/>
              </a:rPr>
              <a:t>Cuckoo Filter:</a:t>
            </a:r>
            <a:r>
              <a:rPr lang="en-US" sz="1350" b="1" kern="0" spc="-80" dirty="0">
                <a:solidFill>
                  <a:schemeClr val="accent6"/>
                </a:solidFill>
                <a:latin typeface="Lucida Sans"/>
                <a:ea typeface="+mj-ea"/>
              </a:rPr>
              <a:t> More efficient than Bloom filters for deletion. It stores a "fingerprint" of the element in one of two hash-mapped buckets. If a bucket is full, it "cuckoos" existing items to their alternative location.</a:t>
            </a:r>
          </a:p>
          <a:p>
            <a:pPr marL="12700" marR="5080"/>
            <a:r>
              <a:rPr lang="en-US" sz="1350" b="1" kern="0" spc="-80" dirty="0">
                <a:solidFill>
                  <a:schemeClr val="accent2"/>
                </a:solidFill>
                <a:latin typeface="Lucida Sans"/>
                <a:ea typeface="+mj-ea"/>
              </a:rPr>
              <a:t>Use When: </a:t>
            </a:r>
            <a:r>
              <a:rPr lang="en-US" sz="1350" b="1" kern="0" spc="-80" dirty="0">
                <a:solidFill>
                  <a:schemeClr val="accent6"/>
                </a:solidFill>
                <a:latin typeface="Lucida Sans"/>
                <a:ea typeface="+mj-ea"/>
              </a:rPr>
              <a:t>Cache filtering, Database lookup (avoiding disk), Network packet routing. </a:t>
            </a:r>
          </a:p>
          <a:p>
            <a:pPr marL="12700" marR="5080"/>
            <a:r>
              <a:rPr lang="en-US" sz="1350" b="1" kern="0" spc="-80" dirty="0">
                <a:solidFill>
                  <a:schemeClr val="accent2"/>
                </a:solidFill>
                <a:latin typeface="Lucida Sans"/>
                <a:ea typeface="+mj-ea"/>
              </a:rPr>
              <a:t>2. Cardinality Estimation (How many unique  in ?)</a:t>
            </a:r>
          </a:p>
          <a:p>
            <a:pPr marL="12700" marR="5080"/>
            <a:r>
              <a:rPr lang="en-US" sz="1350" b="1" kern="0" spc="-80" dirty="0" err="1">
                <a:solidFill>
                  <a:schemeClr val="accent2"/>
                </a:solidFill>
                <a:latin typeface="Lucida Sans"/>
                <a:ea typeface="+mj-ea"/>
              </a:rPr>
              <a:t>HyperLogLog</a:t>
            </a:r>
            <a:r>
              <a:rPr lang="en-US" sz="1350" b="1" kern="0" spc="-80" dirty="0">
                <a:solidFill>
                  <a:schemeClr val="accent2"/>
                </a:solidFill>
                <a:latin typeface="Lucida Sans"/>
                <a:ea typeface="+mj-ea"/>
              </a:rPr>
              <a:t> (HLL): </a:t>
            </a:r>
            <a:r>
              <a:rPr lang="en-US" sz="1350" b="1" kern="0" spc="-80" dirty="0">
                <a:solidFill>
                  <a:schemeClr val="accent6"/>
                </a:solidFill>
                <a:latin typeface="Lucida Sans"/>
                <a:ea typeface="+mj-ea"/>
              </a:rPr>
              <a:t>Estimates cardinality by analyzing the maximum number of leading zeros in the binary representation of hashed items. It is extremely space-efficient, often providing ~2% error using only 1.5KB of memory to count over 1 billion items.</a:t>
            </a:r>
          </a:p>
          <a:p>
            <a:pPr marL="12700" marR="5080"/>
            <a:r>
              <a:rPr lang="en-US" sz="1350" b="1" kern="0" spc="-80" dirty="0">
                <a:solidFill>
                  <a:schemeClr val="accent2"/>
                </a:solidFill>
                <a:latin typeface="Lucida Sans"/>
                <a:ea typeface="+mj-ea"/>
              </a:rPr>
              <a:t>Use When: </a:t>
            </a:r>
            <a:r>
              <a:rPr lang="en-US" sz="1350" b="1" kern="0" spc="-80" dirty="0">
                <a:solidFill>
                  <a:schemeClr val="accent6"/>
                </a:solidFill>
                <a:latin typeface="Lucida Sans"/>
                <a:ea typeface="+mj-ea"/>
              </a:rPr>
              <a:t>Tracking unique visitors (UV), Counting unique IP addresses in logs, Web analytics. </a:t>
            </a:r>
          </a:p>
          <a:p>
            <a:pPr marL="12700" marR="5080"/>
            <a:r>
              <a:rPr lang="en-US" sz="1350" b="1" kern="0" spc="-80" dirty="0">
                <a:solidFill>
                  <a:schemeClr val="accent2"/>
                </a:solidFill>
                <a:latin typeface="Lucida Sans"/>
                <a:ea typeface="+mj-ea"/>
              </a:rPr>
              <a:t>3. Frequency Estimation (How many times did  occur?)</a:t>
            </a:r>
          </a:p>
          <a:p>
            <a:pPr marL="12700" marR="5080"/>
            <a:r>
              <a:rPr lang="en-US" sz="1350" b="1" kern="0" spc="-80" dirty="0">
                <a:solidFill>
                  <a:schemeClr val="accent2"/>
                </a:solidFill>
                <a:latin typeface="Lucida Sans"/>
                <a:ea typeface="+mj-ea"/>
              </a:rPr>
              <a:t>Count-Min Sketch: </a:t>
            </a:r>
            <a:r>
              <a:rPr lang="en-US" sz="1350" b="1" kern="0" spc="-80" dirty="0">
                <a:solidFill>
                  <a:schemeClr val="accent6"/>
                </a:solidFill>
                <a:latin typeface="Lucida Sans"/>
                <a:ea typeface="+mj-ea"/>
              </a:rPr>
              <a:t>A 2D array (depth , width ) where each row uses a different hash function. Updates increment counters at  positions. Queries return the minimum value among the  hashed positions, ensuring the estimate is never less than actual.</a:t>
            </a:r>
          </a:p>
          <a:p>
            <a:pPr marL="12700" marR="5080"/>
            <a:r>
              <a:rPr lang="en-US" sz="1350" b="1" kern="0" spc="-80" dirty="0">
                <a:solidFill>
                  <a:schemeClr val="accent2"/>
                </a:solidFill>
                <a:latin typeface="Lucida Sans"/>
                <a:ea typeface="+mj-ea"/>
              </a:rPr>
              <a:t>Use When: </a:t>
            </a:r>
            <a:r>
              <a:rPr lang="en-US" sz="1350" b="1" kern="0" spc="-80" dirty="0">
                <a:solidFill>
                  <a:schemeClr val="accent6"/>
                </a:solidFill>
                <a:latin typeface="Lucida Sans"/>
                <a:ea typeface="+mj-ea"/>
              </a:rPr>
              <a:t>Identifying "Heavy Hitters" (top 1% popular items), Network traffic monitoring, Streaming data analysis. </a:t>
            </a:r>
          </a:p>
          <a:p>
            <a:pPr marL="12700" marR="5080"/>
            <a:r>
              <a:rPr lang="en-US" sz="1350" b="1" kern="0" spc="-80" dirty="0">
                <a:solidFill>
                  <a:schemeClr val="accent2"/>
                </a:solidFill>
                <a:latin typeface="Lucida Sans"/>
                <a:ea typeface="+mj-ea"/>
              </a:rPr>
              <a:t>4. Similarity Estimation (How similar are Set A and Set B?)</a:t>
            </a:r>
          </a:p>
          <a:p>
            <a:pPr marL="12700" marR="5080"/>
            <a:r>
              <a:rPr lang="en-US" sz="1350" b="1" kern="0" spc="-80" dirty="0" err="1">
                <a:solidFill>
                  <a:schemeClr val="accent2"/>
                </a:solidFill>
                <a:latin typeface="Lucida Sans"/>
                <a:ea typeface="+mj-ea"/>
              </a:rPr>
              <a:t>MinHash</a:t>
            </a:r>
            <a:r>
              <a:rPr lang="en-US" sz="1350" b="1" kern="0" spc="-80" dirty="0">
                <a:solidFill>
                  <a:schemeClr val="accent2"/>
                </a:solidFill>
                <a:latin typeface="Lucida Sans"/>
                <a:ea typeface="+mj-ea"/>
              </a:rPr>
              <a:t>:</a:t>
            </a:r>
            <a:r>
              <a:rPr lang="en-US" sz="1350" b="1" kern="0" spc="-80" dirty="0">
                <a:solidFill>
                  <a:schemeClr val="accent6"/>
                </a:solidFill>
                <a:latin typeface="Lucida Sans"/>
                <a:ea typeface="+mj-ea"/>
              </a:rPr>
              <a:t> Uses hash functions to produce a signature of a set. The probability that the minimum hash value of two sets is the same equals their Jaccard similarity.</a:t>
            </a:r>
          </a:p>
          <a:p>
            <a:pPr marL="12700" marR="5080"/>
            <a:r>
              <a:rPr lang="en-US" sz="1350" b="1" kern="0" spc="-80" dirty="0">
                <a:solidFill>
                  <a:schemeClr val="accent2"/>
                </a:solidFill>
                <a:latin typeface="Lucida Sans"/>
                <a:ea typeface="+mj-ea"/>
              </a:rPr>
              <a:t>Use When: </a:t>
            </a:r>
            <a:r>
              <a:rPr lang="en-US" sz="1350" b="1" kern="0" spc="-80" dirty="0">
                <a:solidFill>
                  <a:schemeClr val="accent6"/>
                </a:solidFill>
                <a:latin typeface="Lucida Sans"/>
                <a:ea typeface="+mj-ea"/>
              </a:rPr>
              <a:t>Detecting duplicate documents, Content recommendation systems. </a:t>
            </a:r>
          </a:p>
          <a:p>
            <a:pPr marL="12700" marR="5080"/>
            <a:endParaRPr lang="en-US" sz="1350" b="1" kern="0" spc="-80" dirty="0">
              <a:solidFill>
                <a:schemeClr val="accent6"/>
              </a:solidFill>
              <a:latin typeface="Lucida Sans"/>
              <a:ea typeface="+mj-ea"/>
            </a:endParaRPr>
          </a:p>
        </p:txBody>
      </p:sp>
    </p:spTree>
    <p:extLst>
      <p:ext uri="{BB962C8B-B14F-4D97-AF65-F5344CB8AC3E}">
        <p14:creationId xmlns:p14="http://schemas.microsoft.com/office/powerpoint/2010/main" val="414601669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731B3-BC95-EDBB-FC85-08881CD2BC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D57C071-CA84-0ECD-3594-27968025FBF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47B9185-1F07-12EA-A303-D7640CA0280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FD0B891-6A77-7F54-529C-EA8CE6FC9B58}"/>
              </a:ext>
            </a:extLst>
          </p:cNvPr>
          <p:cNvGraphicFramePr/>
          <p:nvPr/>
        </p:nvGraphicFramePr>
        <p:xfrm>
          <a:off x="-76200" y="34425"/>
          <a:ext cx="9220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43C0CAD-D546-FC7E-1DB0-760B5C47B13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573159B-29EF-7E2C-0DA9-05A0CB9B0A0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89FB8B3-3667-8117-E510-9991B86F003A}"/>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48D3A70-8657-AC35-BE37-BFBCE003E3A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F22CD393-D0A2-1C91-DE7B-7D583776EEFA}"/>
              </a:ext>
            </a:extLst>
          </p:cNvPr>
          <p:cNvSpPr txBox="1"/>
          <p:nvPr/>
        </p:nvSpPr>
        <p:spPr>
          <a:xfrm>
            <a:off x="0" y="745712"/>
            <a:ext cx="8915399" cy="5078313"/>
          </a:xfrm>
          <a:prstGeom prst="rect">
            <a:avLst/>
          </a:prstGeom>
          <a:noFill/>
        </p:spPr>
        <p:txBody>
          <a:bodyPr wrap="square">
            <a:spAutoFit/>
          </a:bodyPr>
          <a:lstStyle/>
          <a:p>
            <a:pPr marL="12700" marR="5080"/>
            <a:r>
              <a:rPr lang="en-US" sz="1350" b="1" kern="0" spc="-80" dirty="0">
                <a:solidFill>
                  <a:schemeClr val="accent2"/>
                </a:solidFill>
                <a:latin typeface="Lucida Sans"/>
                <a:ea typeface="+mj-ea"/>
              </a:rPr>
              <a:t>Implementation Patterns &amp; Gotchas</a:t>
            </a:r>
          </a:p>
          <a:p>
            <a:pPr marL="12700" marR="5080"/>
            <a:r>
              <a:rPr lang="en-US" sz="1350" b="1" kern="0" spc="-80" dirty="0">
                <a:solidFill>
                  <a:schemeClr val="accent2"/>
                </a:solidFill>
                <a:latin typeface="Lucida Sans"/>
                <a:ea typeface="+mj-ea"/>
              </a:rPr>
              <a:t>Parameter Tuning:</a:t>
            </a:r>
            <a:r>
              <a:rPr lang="en-US" sz="1350" b="1" kern="0" spc="-80" dirty="0">
                <a:solidFill>
                  <a:schemeClr val="accent6"/>
                </a:solidFill>
                <a:latin typeface="Lucida Sans"/>
                <a:ea typeface="+mj-ea"/>
              </a:rPr>
              <a:t> Accuracy depends on size (m) and hash functions (k). High accuracy = higher memory.</a:t>
            </a:r>
          </a:p>
          <a:p>
            <a:pPr marL="12700" marR="5080"/>
            <a:r>
              <a:rPr lang="en-US" sz="1350" b="1" kern="0" spc="-80" dirty="0">
                <a:solidFill>
                  <a:schemeClr val="accent2"/>
                </a:solidFill>
                <a:latin typeface="Lucida Sans"/>
                <a:ea typeface="+mj-ea"/>
              </a:rPr>
              <a:t>Hashing Matters: </a:t>
            </a:r>
            <a:r>
              <a:rPr lang="en-US" sz="1350" b="1" kern="0" spc="-80" dirty="0">
                <a:solidFill>
                  <a:schemeClr val="accent6"/>
                </a:solidFill>
                <a:latin typeface="Lucida Sans"/>
                <a:ea typeface="+mj-ea"/>
              </a:rPr>
              <a:t>Using weak or non-independent hash functions increases false positives.</a:t>
            </a:r>
          </a:p>
          <a:p>
            <a:pPr marL="12700" marR="5080"/>
            <a:r>
              <a:rPr lang="en-US" sz="1350" b="1" kern="0" spc="-80" dirty="0">
                <a:solidFill>
                  <a:schemeClr val="accent2"/>
                </a:solidFill>
                <a:latin typeface="Lucida Sans"/>
                <a:ea typeface="+mj-ea"/>
              </a:rPr>
              <a:t>Idempotency: </a:t>
            </a:r>
            <a:r>
              <a:rPr lang="en-US" sz="1350" b="1" kern="0" spc="-80" dirty="0">
                <a:solidFill>
                  <a:schemeClr val="accent6"/>
                </a:solidFill>
                <a:latin typeface="Lucida Sans"/>
                <a:ea typeface="+mj-ea"/>
              </a:rPr>
              <a:t>Most PDS are idempotent—adding the same item multiple times does not change the result (like in HLL).</a:t>
            </a:r>
          </a:p>
          <a:p>
            <a:pPr marL="12700" marR="5080"/>
            <a:r>
              <a:rPr lang="en-US" sz="1350" b="1" kern="0" spc="-80" dirty="0">
                <a:solidFill>
                  <a:schemeClr val="accent2"/>
                </a:solidFill>
                <a:latin typeface="Lucida Sans"/>
                <a:ea typeface="+mj-ea"/>
              </a:rPr>
              <a:t>Merging: </a:t>
            </a:r>
            <a:r>
              <a:rPr lang="en-US" sz="1350" b="1" kern="0" spc="-80" dirty="0">
                <a:solidFill>
                  <a:schemeClr val="accent6"/>
                </a:solidFill>
                <a:latin typeface="Lucida Sans"/>
                <a:ea typeface="+mj-ea"/>
              </a:rPr>
              <a:t>HLL and Bloom Filters can be merged (</a:t>
            </a:r>
            <a:r>
              <a:rPr lang="en-US" sz="1350" b="1" kern="0" spc="-80" dirty="0" err="1">
                <a:solidFill>
                  <a:schemeClr val="accent6"/>
                </a:solidFill>
                <a:latin typeface="Lucida Sans"/>
                <a:ea typeface="+mj-ea"/>
              </a:rPr>
              <a:t>unioned</a:t>
            </a:r>
            <a:r>
              <a:rPr lang="en-US" sz="1350" b="1" kern="0" spc="-80" dirty="0">
                <a:solidFill>
                  <a:schemeClr val="accent6"/>
                </a:solidFill>
                <a:latin typeface="Lucida Sans"/>
                <a:ea typeface="+mj-ea"/>
              </a:rPr>
              <a:t>) easily, which is useful in distributed systems (e.g., merging counters from 10 different servers).</a:t>
            </a:r>
          </a:p>
          <a:p>
            <a:pPr marL="12700" marR="5080"/>
            <a:endParaRPr lang="en-US" sz="1350" b="1" kern="0" spc="-80" dirty="0">
              <a:solidFill>
                <a:schemeClr val="accent6"/>
              </a:solidFill>
              <a:latin typeface="Lucida Sans"/>
              <a:ea typeface="+mj-ea"/>
            </a:endParaRPr>
          </a:p>
          <a:p>
            <a:pPr marL="12700" marR="5080"/>
            <a:r>
              <a:rPr lang="en-US" sz="1350" b="1" kern="0" spc="-80" dirty="0">
                <a:solidFill>
                  <a:schemeClr val="accent2"/>
                </a:solidFill>
                <a:latin typeface="Lucida Sans"/>
              </a:rPr>
              <a:t>Summary of When to Use What</a:t>
            </a:r>
          </a:p>
          <a:p>
            <a:pPr marL="12700" marR="5080"/>
            <a:r>
              <a:rPr lang="en-US" sz="1350" b="1" kern="0" spc="-80" dirty="0">
                <a:solidFill>
                  <a:schemeClr val="accent6"/>
                </a:solidFill>
                <a:latin typeface="Lucida Sans"/>
              </a:rPr>
              <a:t>Is the item definitely not in the set? - Bloom Filter (fastest/smallest).</a:t>
            </a:r>
          </a:p>
          <a:p>
            <a:pPr marL="12700" marR="5080"/>
            <a:r>
              <a:rPr lang="en-US" sz="1350" b="1" kern="0" spc="-80" dirty="0">
                <a:solidFill>
                  <a:schemeClr val="accent6"/>
                </a:solidFill>
                <a:latin typeface="Lucida Sans"/>
              </a:rPr>
              <a:t>Does the item exist and need to be deleted?  - Cuckoo Filter.</a:t>
            </a:r>
          </a:p>
          <a:p>
            <a:pPr marL="12700" marR="5080"/>
            <a:r>
              <a:rPr lang="en-US" sz="1350" b="1" kern="0" spc="-80" dirty="0">
                <a:solidFill>
                  <a:schemeClr val="accent6"/>
                </a:solidFill>
                <a:latin typeface="Lucida Sans"/>
              </a:rPr>
              <a:t>How many unique users visited in 1 second? -  </a:t>
            </a:r>
            <a:r>
              <a:rPr lang="en-US" sz="1350" b="1" kern="0" spc="-80" dirty="0" err="1">
                <a:solidFill>
                  <a:schemeClr val="accent6"/>
                </a:solidFill>
                <a:latin typeface="Lucida Sans"/>
              </a:rPr>
              <a:t>HyperLogLog</a:t>
            </a:r>
            <a:r>
              <a:rPr lang="en-US" sz="1350" b="1" kern="0" spc="-80" dirty="0">
                <a:solidFill>
                  <a:schemeClr val="accent6"/>
                </a:solidFill>
                <a:latin typeface="Lucida Sans"/>
              </a:rPr>
              <a:t>.</a:t>
            </a:r>
          </a:p>
          <a:p>
            <a:pPr marL="12700" marR="5080"/>
            <a:r>
              <a:rPr lang="en-US" sz="1350" b="1" kern="0" spc="-80" dirty="0">
                <a:solidFill>
                  <a:schemeClr val="accent6"/>
                </a:solidFill>
                <a:latin typeface="Lucida Sans"/>
              </a:rPr>
              <a:t>What are the top 100 search queries?  -  Count-Min Sketch.</a:t>
            </a:r>
          </a:p>
          <a:p>
            <a:pPr marL="12700" marR="5080"/>
            <a:r>
              <a:rPr lang="en-US" sz="1350" b="1" kern="0" spc="-80" dirty="0">
                <a:solidFill>
                  <a:schemeClr val="accent6"/>
                </a:solidFill>
                <a:latin typeface="Lucida Sans"/>
              </a:rPr>
              <a:t>Is this document similar to another? - </a:t>
            </a:r>
            <a:r>
              <a:rPr lang="en-US" sz="1350" b="1" kern="0" spc="-80" dirty="0" err="1">
                <a:solidFill>
                  <a:schemeClr val="accent6"/>
                </a:solidFill>
                <a:latin typeface="Lucida Sans"/>
              </a:rPr>
              <a:t>MinHash</a:t>
            </a:r>
            <a:r>
              <a:rPr lang="en-US" sz="1350" b="1" kern="0" spc="-80" dirty="0">
                <a:solidFill>
                  <a:schemeClr val="accent6"/>
                </a:solidFill>
                <a:latin typeface="Lucida Sans"/>
              </a:rPr>
              <a:t>.</a:t>
            </a:r>
          </a:p>
          <a:p>
            <a:pPr marL="12700" marR="5080"/>
            <a:r>
              <a:rPr lang="en-US" sz="1350" b="1" kern="0" spc="-80" dirty="0">
                <a:solidFill>
                  <a:schemeClr val="accent6"/>
                </a:solidFill>
                <a:latin typeface="Lucida Sans"/>
              </a:rPr>
              <a:t>What is the 99th percentile latency of my API?  -  T-Digest. </a:t>
            </a:r>
          </a:p>
          <a:p>
            <a:pPr marL="12700" marR="5080"/>
            <a:endParaRPr lang="en-US" sz="1350" b="1" kern="0" spc="-80" dirty="0">
              <a:solidFill>
                <a:schemeClr val="accent6"/>
              </a:solidFill>
              <a:latin typeface="Lucida Sans"/>
            </a:endParaRPr>
          </a:p>
          <a:p>
            <a:pPr marL="12700" marR="5080"/>
            <a:r>
              <a:rPr lang="en-US" sz="1350" b="1" kern="0" spc="-80" dirty="0">
                <a:solidFill>
                  <a:schemeClr val="accent2"/>
                </a:solidFill>
                <a:latin typeface="Lucida Sans"/>
              </a:rPr>
              <a:t>Common Patterns and Best Practices</a:t>
            </a:r>
          </a:p>
          <a:p>
            <a:pPr marL="12700" marR="5080"/>
            <a:r>
              <a:rPr lang="en-US" sz="1350" b="1" kern="0" spc="-80" dirty="0">
                <a:solidFill>
                  <a:schemeClr val="accent2"/>
                </a:solidFill>
                <a:latin typeface="Lucida Sans"/>
              </a:rPr>
              <a:t>Scaling: </a:t>
            </a:r>
            <a:r>
              <a:rPr lang="en-US" sz="1350" b="1" kern="0" spc="-80" dirty="0">
                <a:solidFill>
                  <a:schemeClr val="accent6"/>
                </a:solidFill>
                <a:latin typeface="Lucida Sans"/>
              </a:rPr>
              <a:t>Use a "Scalable Bloom Filter" (cascade of filters) if the number of items is unknown.</a:t>
            </a:r>
          </a:p>
          <a:p>
            <a:pPr marL="12700" marR="5080"/>
            <a:r>
              <a:rPr lang="en-US" sz="1350" b="1" kern="0" spc="-80" dirty="0">
                <a:solidFill>
                  <a:schemeClr val="accent2"/>
                </a:solidFill>
                <a:latin typeface="Lucida Sans"/>
              </a:rPr>
              <a:t>Mergeability: </a:t>
            </a:r>
            <a:r>
              <a:rPr lang="en-US" sz="1350" b="1" kern="0" spc="-80" dirty="0">
                <a:solidFill>
                  <a:schemeClr val="accent6"/>
                </a:solidFill>
                <a:latin typeface="Lucida Sans"/>
              </a:rPr>
              <a:t>HLL and CMS are mergeable. You can run them on multiple servers and combine the results.</a:t>
            </a:r>
          </a:p>
          <a:p>
            <a:pPr marL="12700" marR="5080"/>
            <a:r>
              <a:rPr lang="en-US" sz="1350" b="1" kern="0" spc="-80" dirty="0">
                <a:solidFill>
                  <a:schemeClr val="accent2"/>
                </a:solidFill>
                <a:latin typeface="Lucida Sans"/>
              </a:rPr>
              <a:t>Parameters: </a:t>
            </a:r>
            <a:r>
              <a:rPr lang="en-US" sz="1350" b="1" kern="0" spc="-80" dirty="0">
                <a:solidFill>
                  <a:schemeClr val="accent6"/>
                </a:solidFill>
                <a:latin typeface="Lucida Sans"/>
              </a:rPr>
              <a:t>Always calculate the optimal size (m) and hash functions (k) based on expected items (n) and desired error rate (e).</a:t>
            </a:r>
          </a:p>
          <a:p>
            <a:pPr marL="12700" marR="5080"/>
            <a:r>
              <a:rPr lang="en-US" sz="1350" b="1" kern="0" spc="-80" dirty="0">
                <a:solidFill>
                  <a:schemeClr val="accent2"/>
                </a:solidFill>
                <a:latin typeface="Lucida Sans"/>
              </a:rPr>
              <a:t>Libraries: </a:t>
            </a:r>
            <a:r>
              <a:rPr lang="en-US" sz="1350" b="1" kern="0" spc="-80" dirty="0">
                <a:solidFill>
                  <a:schemeClr val="accent6"/>
                </a:solidFill>
                <a:latin typeface="Lucida Sans"/>
              </a:rPr>
              <a:t>Instead of manual implementation, use battle-tested libraries like Redis Bloom, Google Guava, or Apache </a:t>
            </a:r>
            <a:r>
              <a:rPr lang="en-US" sz="1350" b="1" kern="0" spc="-80" dirty="0" err="1">
                <a:solidFill>
                  <a:schemeClr val="accent6"/>
                </a:solidFill>
                <a:latin typeface="Lucida Sans"/>
              </a:rPr>
              <a:t>Datasketches</a:t>
            </a:r>
            <a:r>
              <a:rPr lang="en-US" sz="1350" b="1" kern="0" spc="-80" dirty="0">
                <a:solidFill>
                  <a:schemeClr val="accent6"/>
                </a:solidFill>
                <a:latin typeface="Lucida Sans"/>
              </a:rPr>
              <a:t>. </a:t>
            </a:r>
          </a:p>
          <a:p>
            <a:pPr marL="12700" marR="5080"/>
            <a:endParaRPr lang="en-US" sz="1350" b="1" kern="0" spc="-80" dirty="0">
              <a:solidFill>
                <a:schemeClr val="accent6"/>
              </a:solidFill>
              <a:latin typeface="Lucida Sans"/>
              <a:ea typeface="+mj-ea"/>
            </a:endParaRPr>
          </a:p>
        </p:txBody>
      </p:sp>
    </p:spTree>
    <p:extLst>
      <p:ext uri="{BB962C8B-B14F-4D97-AF65-F5344CB8AC3E}">
        <p14:creationId xmlns:p14="http://schemas.microsoft.com/office/powerpoint/2010/main" val="201302159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D851D-E37B-A581-13B8-5DAF114F22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AF877A-B254-E100-5898-9A03B0EB431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21E0C8C-4BDF-C98C-ED6E-A35086720FD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C97652-ED7F-AFB3-BA61-3C4BFA0825F9}"/>
              </a:ext>
            </a:extLst>
          </p:cNvPr>
          <p:cNvGraphicFramePr/>
          <p:nvPr>
            <p:extLst>
              <p:ext uri="{D42A27DB-BD31-4B8C-83A1-F6EECF244321}">
                <p14:modId xmlns:p14="http://schemas.microsoft.com/office/powerpoint/2010/main" val="4139378457"/>
              </p:ext>
            </p:extLst>
          </p:nvPr>
        </p:nvGraphicFramePr>
        <p:xfrm>
          <a:off x="-76200" y="34425"/>
          <a:ext cx="92202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4FFD137-BC6B-6268-6233-8086E6EEB5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8AA3E2B-0FB9-F101-6A36-631B7A6FD87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DECAC31-8BC6-7824-9921-1A9C41DF94AD}"/>
              </a:ext>
            </a:extLst>
          </p:cNvPr>
          <p:cNvSpPr txBox="1">
            <a:spLocks/>
          </p:cNvSpPr>
          <p:nvPr/>
        </p:nvSpPr>
        <p:spPr>
          <a:xfrm>
            <a:off x="0" y="785366"/>
            <a:ext cx="8915399" cy="7694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a:p>
            <a:pPr marL="12700" marR="5080"/>
            <a:endParaRPr lang="en-US" sz="1000" kern="0" spc="-80" dirty="0">
              <a:solidFill>
                <a:schemeClr val="accent6"/>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D2A12C3-4D4A-DE0A-7F8C-B66EB2503F0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65EDB9A7-F0A4-11FF-EA70-9C8EDD9DFE35}"/>
              </a:ext>
            </a:extLst>
          </p:cNvPr>
          <p:cNvSpPr txBox="1"/>
          <p:nvPr/>
        </p:nvSpPr>
        <p:spPr>
          <a:xfrm>
            <a:off x="0" y="745712"/>
            <a:ext cx="8915399" cy="5386090"/>
          </a:xfrm>
          <a:prstGeom prst="rect">
            <a:avLst/>
          </a:prstGeom>
          <a:noFill/>
        </p:spPr>
        <p:txBody>
          <a:bodyPr wrap="square">
            <a:spAutoFit/>
          </a:bodyPr>
          <a:lstStyle/>
          <a:p>
            <a:r>
              <a:rPr lang="en-US" sz="2000" b="1" kern="0" spc="-80" dirty="0">
                <a:solidFill>
                  <a:schemeClr val="accent2"/>
                </a:solidFill>
              </a:rPr>
              <a:t>For Further Exploration(Probabilistic Data Structures and some other Advanced Niche Topics)</a:t>
            </a:r>
          </a:p>
          <a:p>
            <a:r>
              <a:rPr lang="en-US" sz="1900" b="1" dirty="0">
                <a:hlinkClick r:id="rId7"/>
              </a:rPr>
              <a:t>Introduction to the Probabilistic Data Structure </a:t>
            </a:r>
            <a:r>
              <a:rPr lang="en-US" sz="1900" b="1" dirty="0">
                <a:hlinkClick r:id="rId8"/>
              </a:rPr>
              <a:t>–</a:t>
            </a:r>
            <a:r>
              <a:rPr lang="en-US" sz="1900" b="1" dirty="0">
                <a:hlinkClick r:id="rId7"/>
              </a:rPr>
              <a:t> </a:t>
            </a:r>
            <a:r>
              <a:rPr lang="en-US" sz="1900" b="1" dirty="0" err="1">
                <a:hlinkClick r:id="rId7"/>
              </a:rPr>
              <a:t>GeeksforGeeks</a:t>
            </a:r>
            <a:endParaRPr lang="en-US" sz="1900" b="1" dirty="0"/>
          </a:p>
          <a:p>
            <a:r>
              <a:rPr lang="en-US" sz="1900" b="1" dirty="0">
                <a:hlinkClick r:id="rId9"/>
              </a:rPr>
              <a:t>Probabilistic Data Structures Decoded: Enhancing Performance in Modern Computing</a:t>
            </a:r>
            <a:endParaRPr lang="en-US" sz="1900" b="1" dirty="0">
              <a:hlinkClick r:id="rId8"/>
            </a:endParaRPr>
          </a:p>
          <a:p>
            <a:r>
              <a:rPr lang="en-US" sz="1900" b="1" dirty="0">
                <a:hlinkClick r:id="rId8"/>
              </a:rPr>
              <a:t>What are probabilistic data structures? - Stack Overflow</a:t>
            </a:r>
            <a:endParaRPr lang="en-US" sz="1900" b="1" dirty="0"/>
          </a:p>
          <a:p>
            <a:r>
              <a:rPr lang="en-US" sz="1900" b="1" dirty="0">
                <a:hlinkClick r:id="rId10"/>
              </a:rPr>
              <a:t>Probabilistic Data Structures Simplified | by Anik | Medium</a:t>
            </a:r>
            <a:endParaRPr lang="en-US" sz="1900" b="1" dirty="0"/>
          </a:p>
          <a:p>
            <a:r>
              <a:rPr lang="en-US" sz="1900" b="1" dirty="0">
                <a:hlinkClick r:id="rId11"/>
              </a:rPr>
              <a:t>Advance Data Structures for Data Engineering — Part II</a:t>
            </a:r>
            <a:endParaRPr lang="en-US" sz="1900" b="1" dirty="0"/>
          </a:p>
          <a:p>
            <a:r>
              <a:rPr lang="en-IN" sz="1900" b="1" dirty="0">
                <a:hlinkClick r:id="rId12"/>
              </a:rPr>
              <a:t>Probabilistic | Docs</a:t>
            </a:r>
            <a:endParaRPr lang="en-IN" sz="1900" b="1" dirty="0"/>
          </a:p>
          <a:p>
            <a:r>
              <a:rPr lang="en-IN" sz="1900" b="1" dirty="0">
                <a:hlinkClick r:id="rId13"/>
              </a:rPr>
              <a:t>Algorithms and Data Structures for Massive Datasets eBook</a:t>
            </a:r>
            <a:endParaRPr lang="en-IN" sz="1900" b="1" dirty="0"/>
          </a:p>
          <a:p>
            <a:r>
              <a:rPr lang="en-US" sz="1900" b="1" dirty="0">
                <a:hlinkClick r:id="rId14"/>
              </a:rPr>
              <a:t>Probabilistic Data Structures and Algorithms for Big Data Applications eBook</a:t>
            </a:r>
            <a:endParaRPr lang="en-IN" sz="1900" b="1" dirty="0"/>
          </a:p>
          <a:p>
            <a:r>
              <a:rPr lang="en-US" sz="1900" b="1" dirty="0">
                <a:hlinkClick r:id="rId15"/>
              </a:rPr>
              <a:t>Probabilistic Data Structures for Blockchain-Based Internet of Things Applications</a:t>
            </a:r>
            <a:endParaRPr lang="en-US" sz="1900" b="1" dirty="0"/>
          </a:p>
          <a:p>
            <a:r>
              <a:rPr lang="en-US" sz="1900" b="1" dirty="0" err="1">
                <a:hlinkClick r:id="rId16"/>
              </a:rPr>
              <a:t>Category:Probabilistic</a:t>
            </a:r>
            <a:r>
              <a:rPr lang="en-US" sz="1900" b="1" dirty="0">
                <a:hlinkClick r:id="rId16"/>
              </a:rPr>
              <a:t> data structures – Wikipedia</a:t>
            </a:r>
            <a:endParaRPr lang="en-US" sz="1900" b="1" dirty="0"/>
          </a:p>
          <a:p>
            <a:r>
              <a:rPr lang="en-IN" sz="1900" b="1" dirty="0" err="1">
                <a:hlinkClick r:id="rId17"/>
              </a:rPr>
              <a:t>IO_Efficient_Computation</a:t>
            </a:r>
            <a:endParaRPr lang="en-IN" sz="1900" b="1" dirty="0"/>
          </a:p>
          <a:p>
            <a:r>
              <a:rPr lang="en-US" sz="1900" b="1" dirty="0">
                <a:hlinkClick r:id="rId18"/>
              </a:rPr>
              <a:t>CPS 296 Advanced Topics in CS</a:t>
            </a:r>
            <a:endParaRPr lang="en-US" sz="1900" b="1" dirty="0"/>
          </a:p>
          <a:p>
            <a:r>
              <a:rPr lang="en-IN" sz="1900" b="1" dirty="0">
                <a:hlinkClick r:id="rId19"/>
              </a:rPr>
              <a:t>External memory algorithm – Wikipedia</a:t>
            </a:r>
            <a:endParaRPr lang="en-US" sz="1900" b="1" dirty="0"/>
          </a:p>
          <a:p>
            <a:r>
              <a:rPr lang="en-IN" sz="1900" b="1" dirty="0">
                <a:hlinkClick r:id="rId20"/>
              </a:rPr>
              <a:t>External_Memory_Algos.pdf</a:t>
            </a:r>
            <a:endParaRPr lang="en-IN" sz="1900" b="1" dirty="0"/>
          </a:p>
          <a:p>
            <a:r>
              <a:rPr lang="en-IN" sz="1900" b="1" dirty="0">
                <a:hlinkClick r:id="rId21"/>
              </a:rPr>
              <a:t>External.pdf</a:t>
            </a:r>
            <a:endParaRPr lang="en-IN" sz="1900" b="1" dirty="0"/>
          </a:p>
          <a:p>
            <a:r>
              <a:rPr lang="en-IN" sz="1900" b="1" dirty="0">
                <a:hlinkClick r:id="rId22"/>
              </a:rPr>
              <a:t>Vit.IO_survey.pdf</a:t>
            </a:r>
            <a:endParaRPr lang="en-US" sz="1900" b="1" dirty="0"/>
          </a:p>
        </p:txBody>
      </p:sp>
    </p:spTree>
    <p:extLst>
      <p:ext uri="{BB962C8B-B14F-4D97-AF65-F5344CB8AC3E}">
        <p14:creationId xmlns:p14="http://schemas.microsoft.com/office/powerpoint/2010/main" val="278398549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11500</TotalTime>
  <Words>20579</Words>
  <Application>Microsoft Office PowerPoint</Application>
  <PresentationFormat>Custom</PresentationFormat>
  <Paragraphs>2708</Paragraphs>
  <Slides>145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145</vt:i4>
      </vt:variant>
    </vt:vector>
  </HeadingPairs>
  <TitlesOfParts>
    <vt:vector size="153" baseType="lpstr">
      <vt:lpstr>Aptos</vt:lpstr>
      <vt:lpstr>Arial</vt:lpstr>
      <vt:lpstr>Calibri</vt:lpstr>
      <vt:lpstr>Google Sans</vt:lpstr>
      <vt:lpstr>Lucida Sans</vt:lpstr>
      <vt:lpstr>UICTFontTextStyleBody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539</cp:revision>
  <dcterms:created xsi:type="dcterms:W3CDTF">2020-11-03T17:16:52Z</dcterms:created>
  <dcterms:modified xsi:type="dcterms:W3CDTF">2026-02-24T07:38:00Z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