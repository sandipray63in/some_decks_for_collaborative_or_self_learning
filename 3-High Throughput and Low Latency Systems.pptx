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ppt/diagrams/data40.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Override PartName="/ppt/diagrams/drawing40.xml" ContentType="application/vnd.ms-office.drawingml.diagramDrawing+xml"/>
  <Override PartName="/ppt/diagrams/data41.xml" ContentType="application/vnd.openxmlformats-officedocument.drawingml.diagramData+xml"/>
  <Override PartName="/ppt/diagrams/layout41.xml" ContentType="application/vnd.openxmlformats-officedocument.drawingml.diagramLayout+xml"/>
  <Override PartName="/ppt/diagrams/quickStyle41.xml" ContentType="application/vnd.openxmlformats-officedocument.drawingml.diagramStyle+xml"/>
  <Override PartName="/ppt/diagrams/colors41.xml" ContentType="application/vnd.openxmlformats-officedocument.drawingml.diagramColors+xml"/>
  <Override PartName="/ppt/diagrams/drawing41.xml" ContentType="application/vnd.ms-office.drawingml.diagramDrawing+xml"/>
  <Override PartName="/ppt/diagrams/data42.xml" ContentType="application/vnd.openxmlformats-officedocument.drawingml.diagramData+xml"/>
  <Override PartName="/ppt/diagrams/layout42.xml" ContentType="application/vnd.openxmlformats-officedocument.drawingml.diagramLayout+xml"/>
  <Override PartName="/ppt/diagrams/quickStyle42.xml" ContentType="application/vnd.openxmlformats-officedocument.drawingml.diagramStyle+xml"/>
  <Override PartName="/ppt/diagrams/colors42.xml" ContentType="application/vnd.openxmlformats-officedocument.drawingml.diagramColors+xml"/>
  <Override PartName="/ppt/diagrams/drawing42.xml" ContentType="application/vnd.ms-office.drawingml.diagramDrawing+xml"/>
  <Override PartName="/ppt/diagrams/data43.xml" ContentType="application/vnd.openxmlformats-officedocument.drawingml.diagramData+xml"/>
  <Override PartName="/ppt/diagrams/layout43.xml" ContentType="application/vnd.openxmlformats-officedocument.drawingml.diagramLayout+xml"/>
  <Override PartName="/ppt/diagrams/quickStyle43.xml" ContentType="application/vnd.openxmlformats-officedocument.drawingml.diagramStyle+xml"/>
  <Override PartName="/ppt/diagrams/colors43.xml" ContentType="application/vnd.openxmlformats-officedocument.drawingml.diagramColors+xml"/>
  <Override PartName="/ppt/diagrams/drawing43.xml" ContentType="application/vnd.ms-office.drawingml.diagramDrawing+xml"/>
  <Override PartName="/ppt/diagrams/data44.xml" ContentType="application/vnd.openxmlformats-officedocument.drawingml.diagramData+xml"/>
  <Override PartName="/ppt/diagrams/layout44.xml" ContentType="application/vnd.openxmlformats-officedocument.drawingml.diagramLayout+xml"/>
  <Override PartName="/ppt/diagrams/quickStyle44.xml" ContentType="application/vnd.openxmlformats-officedocument.drawingml.diagramStyle+xml"/>
  <Override PartName="/ppt/diagrams/colors44.xml" ContentType="application/vnd.openxmlformats-officedocument.drawingml.diagramColors+xml"/>
  <Override PartName="/ppt/diagrams/drawing44.xml" ContentType="application/vnd.ms-office.drawingml.diagramDrawing+xml"/>
  <Override PartName="/ppt/diagrams/data45.xml" ContentType="application/vnd.openxmlformats-officedocument.drawingml.diagramData+xml"/>
  <Override PartName="/ppt/diagrams/layout45.xml" ContentType="application/vnd.openxmlformats-officedocument.drawingml.diagramLayout+xml"/>
  <Override PartName="/ppt/diagrams/quickStyle45.xml" ContentType="application/vnd.openxmlformats-officedocument.drawingml.diagramStyle+xml"/>
  <Override PartName="/ppt/diagrams/colors45.xml" ContentType="application/vnd.openxmlformats-officedocument.drawingml.diagramColors+xml"/>
  <Override PartName="/ppt/diagrams/drawing45.xml" ContentType="application/vnd.ms-office.drawingml.diagramDrawing+xml"/>
  <Override PartName="/ppt/diagrams/data46.xml" ContentType="application/vnd.openxmlformats-officedocument.drawingml.diagramData+xml"/>
  <Override PartName="/ppt/diagrams/layout46.xml" ContentType="application/vnd.openxmlformats-officedocument.drawingml.diagramLayout+xml"/>
  <Override PartName="/ppt/diagrams/quickStyle46.xml" ContentType="application/vnd.openxmlformats-officedocument.drawingml.diagramStyle+xml"/>
  <Override PartName="/ppt/diagrams/colors46.xml" ContentType="application/vnd.openxmlformats-officedocument.drawingml.diagramColors+xml"/>
  <Override PartName="/ppt/diagrams/drawing46.xml" ContentType="application/vnd.ms-office.drawingml.diagramDrawing+xml"/>
  <Override PartName="/ppt/diagrams/data47.xml" ContentType="application/vnd.openxmlformats-officedocument.drawingml.diagramData+xml"/>
  <Override PartName="/ppt/diagrams/layout47.xml" ContentType="application/vnd.openxmlformats-officedocument.drawingml.diagramLayout+xml"/>
  <Override PartName="/ppt/diagrams/quickStyle47.xml" ContentType="application/vnd.openxmlformats-officedocument.drawingml.diagramStyle+xml"/>
  <Override PartName="/ppt/diagrams/colors47.xml" ContentType="application/vnd.openxmlformats-officedocument.drawingml.diagramColors+xml"/>
  <Override PartName="/ppt/diagrams/drawing47.xml" ContentType="application/vnd.ms-office.drawingml.diagramDrawing+xml"/>
  <Override PartName="/ppt/diagrams/data48.xml" ContentType="application/vnd.openxmlformats-officedocument.drawingml.diagramData+xml"/>
  <Override PartName="/ppt/diagrams/layout48.xml" ContentType="application/vnd.openxmlformats-officedocument.drawingml.diagramLayout+xml"/>
  <Override PartName="/ppt/diagrams/quickStyle48.xml" ContentType="application/vnd.openxmlformats-officedocument.drawingml.diagramStyle+xml"/>
  <Override PartName="/ppt/diagrams/colors48.xml" ContentType="application/vnd.openxmlformats-officedocument.drawingml.diagramColors+xml"/>
  <Override PartName="/ppt/diagrams/drawing48.xml" ContentType="application/vnd.ms-office.drawingml.diagramDrawing+xml"/>
  <Override PartName="/ppt/diagrams/data49.xml" ContentType="application/vnd.openxmlformats-officedocument.drawingml.diagramData+xml"/>
  <Override PartName="/ppt/diagrams/layout49.xml" ContentType="application/vnd.openxmlformats-officedocument.drawingml.diagramLayout+xml"/>
  <Override PartName="/ppt/diagrams/quickStyle49.xml" ContentType="application/vnd.openxmlformats-officedocument.drawingml.diagramStyle+xml"/>
  <Override PartName="/ppt/diagrams/colors49.xml" ContentType="application/vnd.openxmlformats-officedocument.drawingml.diagramColors+xml"/>
  <Override PartName="/ppt/diagrams/drawing49.xml" ContentType="application/vnd.ms-office.drawingml.diagramDrawing+xml"/>
  <Override PartName="/ppt/diagrams/data50.xml" ContentType="application/vnd.openxmlformats-officedocument.drawingml.diagramData+xml"/>
  <Override PartName="/ppt/diagrams/layout50.xml" ContentType="application/vnd.openxmlformats-officedocument.drawingml.diagramLayout+xml"/>
  <Override PartName="/ppt/diagrams/quickStyle50.xml" ContentType="application/vnd.openxmlformats-officedocument.drawingml.diagramStyle+xml"/>
  <Override PartName="/ppt/diagrams/colors50.xml" ContentType="application/vnd.openxmlformats-officedocument.drawingml.diagramColors+xml"/>
  <Override PartName="/ppt/diagrams/drawing50.xml" ContentType="application/vnd.ms-office.drawingml.diagramDrawing+xml"/>
  <Override PartName="/ppt/diagrams/data51.xml" ContentType="application/vnd.openxmlformats-officedocument.drawingml.diagramData+xml"/>
  <Override PartName="/ppt/diagrams/layout51.xml" ContentType="application/vnd.openxmlformats-officedocument.drawingml.diagramLayout+xml"/>
  <Override PartName="/ppt/diagrams/quickStyle51.xml" ContentType="application/vnd.openxmlformats-officedocument.drawingml.diagramStyle+xml"/>
  <Override PartName="/ppt/diagrams/colors51.xml" ContentType="application/vnd.openxmlformats-officedocument.drawingml.diagramColors+xml"/>
  <Override PartName="/ppt/diagrams/drawing51.xml" ContentType="application/vnd.ms-office.drawingml.diagramDrawing+xml"/>
  <Override PartName="/ppt/diagrams/data52.xml" ContentType="application/vnd.openxmlformats-officedocument.drawingml.diagramData+xml"/>
  <Override PartName="/ppt/diagrams/layout52.xml" ContentType="application/vnd.openxmlformats-officedocument.drawingml.diagramLayout+xml"/>
  <Override PartName="/ppt/diagrams/quickStyle52.xml" ContentType="application/vnd.openxmlformats-officedocument.drawingml.diagramStyle+xml"/>
  <Override PartName="/ppt/diagrams/colors52.xml" ContentType="application/vnd.openxmlformats-officedocument.drawingml.diagramColors+xml"/>
  <Override PartName="/ppt/diagrams/drawing52.xml" ContentType="application/vnd.ms-office.drawingml.diagramDrawing+xml"/>
  <Override PartName="/ppt/diagrams/data53.xml" ContentType="application/vnd.openxmlformats-officedocument.drawingml.diagramData+xml"/>
  <Override PartName="/ppt/diagrams/layout53.xml" ContentType="application/vnd.openxmlformats-officedocument.drawingml.diagramLayout+xml"/>
  <Override PartName="/ppt/diagrams/quickStyle53.xml" ContentType="application/vnd.openxmlformats-officedocument.drawingml.diagramStyle+xml"/>
  <Override PartName="/ppt/diagrams/colors53.xml" ContentType="application/vnd.openxmlformats-officedocument.drawingml.diagramColors+xml"/>
  <Override PartName="/ppt/diagrams/drawing53.xml" ContentType="application/vnd.ms-office.drawingml.diagramDrawing+xml"/>
  <Override PartName="/ppt/diagrams/data54.xml" ContentType="application/vnd.openxmlformats-officedocument.drawingml.diagramData+xml"/>
  <Override PartName="/ppt/diagrams/layout54.xml" ContentType="application/vnd.openxmlformats-officedocument.drawingml.diagramLayout+xml"/>
  <Override PartName="/ppt/diagrams/quickStyle54.xml" ContentType="application/vnd.openxmlformats-officedocument.drawingml.diagramStyle+xml"/>
  <Override PartName="/ppt/diagrams/colors54.xml" ContentType="application/vnd.openxmlformats-officedocument.drawingml.diagramColors+xml"/>
  <Override PartName="/ppt/diagrams/drawing54.xml" ContentType="application/vnd.ms-office.drawingml.diagramDrawing+xml"/>
  <Override PartName="/ppt/diagrams/data55.xml" ContentType="application/vnd.openxmlformats-officedocument.drawingml.diagramData+xml"/>
  <Override PartName="/ppt/diagrams/layout55.xml" ContentType="application/vnd.openxmlformats-officedocument.drawingml.diagramLayout+xml"/>
  <Override PartName="/ppt/diagrams/quickStyle55.xml" ContentType="application/vnd.openxmlformats-officedocument.drawingml.diagramStyle+xml"/>
  <Override PartName="/ppt/diagrams/colors55.xml" ContentType="application/vnd.openxmlformats-officedocument.drawingml.diagramColors+xml"/>
  <Override PartName="/ppt/diagrams/drawing55.xml" ContentType="application/vnd.ms-office.drawingml.diagramDrawing+xml"/>
  <Override PartName="/ppt/diagrams/data56.xml" ContentType="application/vnd.openxmlformats-officedocument.drawingml.diagramData+xml"/>
  <Override PartName="/ppt/diagrams/layout56.xml" ContentType="application/vnd.openxmlformats-officedocument.drawingml.diagramLayout+xml"/>
  <Override PartName="/ppt/diagrams/quickStyle56.xml" ContentType="application/vnd.openxmlformats-officedocument.drawingml.diagramStyle+xml"/>
  <Override PartName="/ppt/diagrams/colors56.xml" ContentType="application/vnd.openxmlformats-officedocument.drawingml.diagramColors+xml"/>
  <Override PartName="/ppt/diagrams/drawing56.xml" ContentType="application/vnd.ms-office.drawingml.diagramDrawing+xml"/>
  <Override PartName="/ppt/diagrams/data57.xml" ContentType="application/vnd.openxmlformats-officedocument.drawingml.diagramData+xml"/>
  <Override PartName="/ppt/diagrams/layout57.xml" ContentType="application/vnd.openxmlformats-officedocument.drawingml.diagramLayout+xml"/>
  <Override PartName="/ppt/diagrams/quickStyle57.xml" ContentType="application/vnd.openxmlformats-officedocument.drawingml.diagramStyle+xml"/>
  <Override PartName="/ppt/diagrams/colors57.xml" ContentType="application/vnd.openxmlformats-officedocument.drawingml.diagramColors+xml"/>
  <Override PartName="/ppt/diagrams/drawing57.xml" ContentType="application/vnd.ms-office.drawingml.diagramDrawing+xml"/>
  <Override PartName="/ppt/diagrams/data58.xml" ContentType="application/vnd.openxmlformats-officedocument.drawingml.diagramData+xml"/>
  <Override PartName="/ppt/diagrams/layout58.xml" ContentType="application/vnd.openxmlformats-officedocument.drawingml.diagramLayout+xml"/>
  <Override PartName="/ppt/diagrams/quickStyle58.xml" ContentType="application/vnd.openxmlformats-officedocument.drawingml.diagramStyle+xml"/>
  <Override PartName="/ppt/diagrams/colors58.xml" ContentType="application/vnd.openxmlformats-officedocument.drawingml.diagramColors+xml"/>
  <Override PartName="/ppt/diagrams/drawing58.xml" ContentType="application/vnd.ms-office.drawingml.diagramDrawing+xml"/>
  <Override PartName="/ppt/diagrams/data59.xml" ContentType="application/vnd.openxmlformats-officedocument.drawingml.diagramData+xml"/>
  <Override PartName="/ppt/diagrams/layout59.xml" ContentType="application/vnd.openxmlformats-officedocument.drawingml.diagramLayout+xml"/>
  <Override PartName="/ppt/diagrams/quickStyle59.xml" ContentType="application/vnd.openxmlformats-officedocument.drawingml.diagramStyle+xml"/>
  <Override PartName="/ppt/diagrams/colors59.xml" ContentType="application/vnd.openxmlformats-officedocument.drawingml.diagramColors+xml"/>
  <Override PartName="/ppt/diagrams/drawing59.xml" ContentType="application/vnd.ms-office.drawingml.diagramDrawing+xml"/>
  <Override PartName="/ppt/diagrams/data60.xml" ContentType="application/vnd.openxmlformats-officedocument.drawingml.diagramData+xml"/>
  <Override PartName="/ppt/diagrams/layout60.xml" ContentType="application/vnd.openxmlformats-officedocument.drawingml.diagramLayout+xml"/>
  <Override PartName="/ppt/diagrams/quickStyle60.xml" ContentType="application/vnd.openxmlformats-officedocument.drawingml.diagramStyle+xml"/>
  <Override PartName="/ppt/diagrams/colors60.xml" ContentType="application/vnd.openxmlformats-officedocument.drawingml.diagramColors+xml"/>
  <Override PartName="/ppt/diagrams/drawing60.xml" ContentType="application/vnd.ms-office.drawingml.diagramDrawing+xml"/>
  <Override PartName="/ppt/diagrams/data61.xml" ContentType="application/vnd.openxmlformats-officedocument.drawingml.diagramData+xml"/>
  <Override PartName="/ppt/diagrams/layout61.xml" ContentType="application/vnd.openxmlformats-officedocument.drawingml.diagramLayout+xml"/>
  <Override PartName="/ppt/diagrams/quickStyle61.xml" ContentType="application/vnd.openxmlformats-officedocument.drawingml.diagramStyle+xml"/>
  <Override PartName="/ppt/diagrams/colors61.xml" ContentType="application/vnd.openxmlformats-officedocument.drawingml.diagramColors+xml"/>
  <Override PartName="/ppt/diagrams/drawing61.xml" ContentType="application/vnd.ms-office.drawingml.diagramDrawing+xml"/>
  <Override PartName="/ppt/diagrams/data62.xml" ContentType="application/vnd.openxmlformats-officedocument.drawingml.diagramData+xml"/>
  <Override PartName="/ppt/diagrams/layout62.xml" ContentType="application/vnd.openxmlformats-officedocument.drawingml.diagramLayout+xml"/>
  <Override PartName="/ppt/diagrams/quickStyle62.xml" ContentType="application/vnd.openxmlformats-officedocument.drawingml.diagramStyle+xml"/>
  <Override PartName="/ppt/diagrams/colors62.xml" ContentType="application/vnd.openxmlformats-officedocument.drawingml.diagramColors+xml"/>
  <Override PartName="/ppt/diagrams/drawing62.xml" ContentType="application/vnd.ms-office.drawingml.diagramDrawing+xml"/>
  <Override PartName="/ppt/diagrams/data63.xml" ContentType="application/vnd.openxmlformats-officedocument.drawingml.diagramData+xml"/>
  <Override PartName="/ppt/diagrams/layout63.xml" ContentType="application/vnd.openxmlformats-officedocument.drawingml.diagramLayout+xml"/>
  <Override PartName="/ppt/diagrams/quickStyle63.xml" ContentType="application/vnd.openxmlformats-officedocument.drawingml.diagramStyle+xml"/>
  <Override PartName="/ppt/diagrams/colors63.xml" ContentType="application/vnd.openxmlformats-officedocument.drawingml.diagramColors+xml"/>
  <Override PartName="/ppt/diagrams/drawing63.xml" ContentType="application/vnd.ms-office.drawingml.diagramDrawing+xml"/>
  <Override PartName="/ppt/diagrams/data64.xml" ContentType="application/vnd.openxmlformats-officedocument.drawingml.diagramData+xml"/>
  <Override PartName="/ppt/diagrams/layout64.xml" ContentType="application/vnd.openxmlformats-officedocument.drawingml.diagramLayout+xml"/>
  <Override PartName="/ppt/diagrams/quickStyle64.xml" ContentType="application/vnd.openxmlformats-officedocument.drawingml.diagramStyle+xml"/>
  <Override PartName="/ppt/diagrams/colors64.xml" ContentType="application/vnd.openxmlformats-officedocument.drawingml.diagramColors+xml"/>
  <Override PartName="/ppt/diagrams/drawing64.xml" ContentType="application/vnd.ms-office.drawingml.diagramDrawing+xml"/>
  <Override PartName="/ppt/diagrams/data65.xml" ContentType="application/vnd.openxmlformats-officedocument.drawingml.diagramData+xml"/>
  <Override PartName="/ppt/diagrams/layout65.xml" ContentType="application/vnd.openxmlformats-officedocument.drawingml.diagramLayout+xml"/>
  <Override PartName="/ppt/diagrams/quickStyle65.xml" ContentType="application/vnd.openxmlformats-officedocument.drawingml.diagramStyle+xml"/>
  <Override PartName="/ppt/diagrams/colors65.xml" ContentType="application/vnd.openxmlformats-officedocument.drawingml.diagramColors+xml"/>
  <Override PartName="/ppt/diagrams/drawing65.xml" ContentType="application/vnd.ms-office.drawingml.diagramDrawing+xml"/>
  <Override PartName="/ppt/diagrams/data66.xml" ContentType="application/vnd.openxmlformats-officedocument.drawingml.diagramData+xml"/>
  <Override PartName="/ppt/diagrams/layout66.xml" ContentType="application/vnd.openxmlformats-officedocument.drawingml.diagramLayout+xml"/>
  <Override PartName="/ppt/diagrams/quickStyle66.xml" ContentType="application/vnd.openxmlformats-officedocument.drawingml.diagramStyle+xml"/>
  <Override PartName="/ppt/diagrams/colors66.xml" ContentType="application/vnd.openxmlformats-officedocument.drawingml.diagramColors+xml"/>
  <Override PartName="/ppt/diagrams/drawing66.xml" ContentType="application/vnd.ms-office.drawingml.diagramDrawing+xml"/>
  <Override PartName="/ppt/diagrams/data67.xml" ContentType="application/vnd.openxmlformats-officedocument.drawingml.diagramData+xml"/>
  <Override PartName="/ppt/diagrams/layout67.xml" ContentType="application/vnd.openxmlformats-officedocument.drawingml.diagramLayout+xml"/>
  <Override PartName="/ppt/diagrams/quickStyle67.xml" ContentType="application/vnd.openxmlformats-officedocument.drawingml.diagramStyle+xml"/>
  <Override PartName="/ppt/diagrams/colors67.xml" ContentType="application/vnd.openxmlformats-officedocument.drawingml.diagramColors+xml"/>
  <Override PartName="/ppt/diagrams/drawing67.xml" ContentType="application/vnd.ms-office.drawingml.diagramDrawing+xml"/>
  <Override PartName="/ppt/diagrams/data68.xml" ContentType="application/vnd.openxmlformats-officedocument.drawingml.diagramData+xml"/>
  <Override PartName="/ppt/diagrams/layout68.xml" ContentType="application/vnd.openxmlformats-officedocument.drawingml.diagramLayout+xml"/>
  <Override PartName="/ppt/diagrams/quickStyle68.xml" ContentType="application/vnd.openxmlformats-officedocument.drawingml.diagramStyle+xml"/>
  <Override PartName="/ppt/diagrams/colors68.xml" ContentType="application/vnd.openxmlformats-officedocument.drawingml.diagramColors+xml"/>
  <Override PartName="/ppt/diagrams/drawing68.xml" ContentType="application/vnd.ms-office.drawingml.diagramDrawing+xml"/>
  <Override PartName="/ppt/diagrams/data69.xml" ContentType="application/vnd.openxmlformats-officedocument.drawingml.diagramData+xml"/>
  <Override PartName="/ppt/diagrams/layout69.xml" ContentType="application/vnd.openxmlformats-officedocument.drawingml.diagramLayout+xml"/>
  <Override PartName="/ppt/diagrams/quickStyle69.xml" ContentType="application/vnd.openxmlformats-officedocument.drawingml.diagramStyle+xml"/>
  <Override PartName="/ppt/diagrams/colors69.xml" ContentType="application/vnd.openxmlformats-officedocument.drawingml.diagramColors+xml"/>
  <Override PartName="/ppt/diagrams/drawing69.xml" ContentType="application/vnd.ms-office.drawingml.diagramDrawing+xml"/>
  <Override PartName="/ppt/diagrams/data70.xml" ContentType="application/vnd.openxmlformats-officedocument.drawingml.diagramData+xml"/>
  <Override PartName="/ppt/diagrams/layout70.xml" ContentType="application/vnd.openxmlformats-officedocument.drawingml.diagramLayout+xml"/>
  <Override PartName="/ppt/diagrams/quickStyle70.xml" ContentType="application/vnd.openxmlformats-officedocument.drawingml.diagramStyle+xml"/>
  <Override PartName="/ppt/diagrams/colors70.xml" ContentType="application/vnd.openxmlformats-officedocument.drawingml.diagramColors+xml"/>
  <Override PartName="/ppt/diagrams/drawing70.xml" ContentType="application/vnd.ms-office.drawingml.diagramDrawing+xml"/>
  <Override PartName="/ppt/diagrams/data71.xml" ContentType="application/vnd.openxmlformats-officedocument.drawingml.diagramData+xml"/>
  <Override PartName="/ppt/diagrams/layout71.xml" ContentType="application/vnd.openxmlformats-officedocument.drawingml.diagramLayout+xml"/>
  <Override PartName="/ppt/diagrams/quickStyle71.xml" ContentType="application/vnd.openxmlformats-officedocument.drawingml.diagramStyle+xml"/>
  <Override PartName="/ppt/diagrams/colors71.xml" ContentType="application/vnd.openxmlformats-officedocument.drawingml.diagramColors+xml"/>
  <Override PartName="/ppt/diagrams/drawing71.xml" ContentType="application/vnd.ms-office.drawingml.diagramDrawing+xml"/>
  <Override PartName="/ppt/diagrams/data72.xml" ContentType="application/vnd.openxmlformats-officedocument.drawingml.diagramData+xml"/>
  <Override PartName="/ppt/diagrams/layout72.xml" ContentType="application/vnd.openxmlformats-officedocument.drawingml.diagramLayout+xml"/>
  <Override PartName="/ppt/diagrams/quickStyle72.xml" ContentType="application/vnd.openxmlformats-officedocument.drawingml.diagramStyle+xml"/>
  <Override PartName="/ppt/diagrams/colors72.xml" ContentType="application/vnd.openxmlformats-officedocument.drawingml.diagramColors+xml"/>
  <Override PartName="/ppt/diagrams/drawing72.xml" ContentType="application/vnd.ms-office.drawingml.diagramDrawing+xml"/>
  <Override PartName="/ppt/diagrams/data73.xml" ContentType="application/vnd.openxmlformats-officedocument.drawingml.diagramData+xml"/>
  <Override PartName="/ppt/diagrams/layout73.xml" ContentType="application/vnd.openxmlformats-officedocument.drawingml.diagramLayout+xml"/>
  <Override PartName="/ppt/diagrams/quickStyle73.xml" ContentType="application/vnd.openxmlformats-officedocument.drawingml.diagramStyle+xml"/>
  <Override PartName="/ppt/diagrams/colors73.xml" ContentType="application/vnd.openxmlformats-officedocument.drawingml.diagramColors+xml"/>
  <Override PartName="/ppt/diagrams/drawing73.xml" ContentType="application/vnd.ms-office.drawingml.diagramDrawing+xml"/>
  <Override PartName="/ppt/diagrams/data74.xml" ContentType="application/vnd.openxmlformats-officedocument.drawingml.diagramData+xml"/>
  <Override PartName="/ppt/diagrams/layout74.xml" ContentType="application/vnd.openxmlformats-officedocument.drawingml.diagramLayout+xml"/>
  <Override PartName="/ppt/diagrams/quickStyle74.xml" ContentType="application/vnd.openxmlformats-officedocument.drawingml.diagramStyle+xml"/>
  <Override PartName="/ppt/diagrams/colors74.xml" ContentType="application/vnd.openxmlformats-officedocument.drawingml.diagramColors+xml"/>
  <Override PartName="/ppt/diagrams/drawing74.xml" ContentType="application/vnd.ms-office.drawingml.diagramDrawing+xml"/>
  <Override PartName="/ppt/diagrams/data75.xml" ContentType="application/vnd.openxmlformats-officedocument.drawingml.diagramData+xml"/>
  <Override PartName="/ppt/diagrams/layout75.xml" ContentType="application/vnd.openxmlformats-officedocument.drawingml.diagramLayout+xml"/>
  <Override PartName="/ppt/diagrams/quickStyle75.xml" ContentType="application/vnd.openxmlformats-officedocument.drawingml.diagramStyle+xml"/>
  <Override PartName="/ppt/diagrams/colors75.xml" ContentType="application/vnd.openxmlformats-officedocument.drawingml.diagramColors+xml"/>
  <Override PartName="/ppt/diagrams/drawing75.xml" ContentType="application/vnd.ms-office.drawingml.diagramDrawing+xml"/>
  <Override PartName="/ppt/diagrams/data76.xml" ContentType="application/vnd.openxmlformats-officedocument.drawingml.diagramData+xml"/>
  <Override PartName="/ppt/diagrams/layout76.xml" ContentType="application/vnd.openxmlformats-officedocument.drawingml.diagramLayout+xml"/>
  <Override PartName="/ppt/diagrams/quickStyle76.xml" ContentType="application/vnd.openxmlformats-officedocument.drawingml.diagramStyle+xml"/>
  <Override PartName="/ppt/diagrams/colors76.xml" ContentType="application/vnd.openxmlformats-officedocument.drawingml.diagramColors+xml"/>
  <Override PartName="/ppt/diagrams/drawing76.xml" ContentType="application/vnd.ms-office.drawingml.diagramDrawing+xml"/>
  <Override PartName="/ppt/diagrams/data77.xml" ContentType="application/vnd.openxmlformats-officedocument.drawingml.diagramData+xml"/>
  <Override PartName="/ppt/diagrams/layout77.xml" ContentType="application/vnd.openxmlformats-officedocument.drawingml.diagramLayout+xml"/>
  <Override PartName="/ppt/diagrams/quickStyle77.xml" ContentType="application/vnd.openxmlformats-officedocument.drawingml.diagramStyle+xml"/>
  <Override PartName="/ppt/diagrams/colors77.xml" ContentType="application/vnd.openxmlformats-officedocument.drawingml.diagramColors+xml"/>
  <Override PartName="/ppt/diagrams/drawing77.xml" ContentType="application/vnd.ms-office.drawingml.diagramDrawing+xml"/>
  <Override PartName="/ppt/diagrams/data78.xml" ContentType="application/vnd.openxmlformats-officedocument.drawingml.diagramData+xml"/>
  <Override PartName="/ppt/diagrams/layout78.xml" ContentType="application/vnd.openxmlformats-officedocument.drawingml.diagramLayout+xml"/>
  <Override PartName="/ppt/diagrams/quickStyle78.xml" ContentType="application/vnd.openxmlformats-officedocument.drawingml.diagramStyle+xml"/>
  <Override PartName="/ppt/diagrams/colors78.xml" ContentType="application/vnd.openxmlformats-officedocument.drawingml.diagramColors+xml"/>
  <Override PartName="/ppt/diagrams/drawing78.xml" ContentType="application/vnd.ms-office.drawingml.diagramDrawing+xml"/>
  <Override PartName="/ppt/diagrams/data79.xml" ContentType="application/vnd.openxmlformats-officedocument.drawingml.diagramData+xml"/>
  <Override PartName="/ppt/diagrams/layout79.xml" ContentType="application/vnd.openxmlformats-officedocument.drawingml.diagramLayout+xml"/>
  <Override PartName="/ppt/diagrams/quickStyle79.xml" ContentType="application/vnd.openxmlformats-officedocument.drawingml.diagramStyle+xml"/>
  <Override PartName="/ppt/diagrams/colors79.xml" ContentType="application/vnd.openxmlformats-officedocument.drawingml.diagramColors+xml"/>
  <Override PartName="/ppt/diagrams/drawing79.xml" ContentType="application/vnd.ms-office.drawingml.diagramDrawing+xml"/>
  <Override PartName="/ppt/diagrams/data80.xml" ContentType="application/vnd.openxmlformats-officedocument.drawingml.diagramData+xml"/>
  <Override PartName="/ppt/diagrams/layout80.xml" ContentType="application/vnd.openxmlformats-officedocument.drawingml.diagramLayout+xml"/>
  <Override PartName="/ppt/diagrams/quickStyle80.xml" ContentType="application/vnd.openxmlformats-officedocument.drawingml.diagramStyle+xml"/>
  <Override PartName="/ppt/diagrams/colors80.xml" ContentType="application/vnd.openxmlformats-officedocument.drawingml.diagramColors+xml"/>
  <Override PartName="/ppt/diagrams/drawing80.xml" ContentType="application/vnd.ms-office.drawingml.diagramDrawing+xml"/>
  <Override PartName="/ppt/diagrams/data81.xml" ContentType="application/vnd.openxmlformats-officedocument.drawingml.diagramData+xml"/>
  <Override PartName="/ppt/diagrams/layout81.xml" ContentType="application/vnd.openxmlformats-officedocument.drawingml.diagramLayout+xml"/>
  <Override PartName="/ppt/diagrams/quickStyle81.xml" ContentType="application/vnd.openxmlformats-officedocument.drawingml.diagramStyle+xml"/>
  <Override PartName="/ppt/diagrams/colors81.xml" ContentType="application/vnd.openxmlformats-officedocument.drawingml.diagramColors+xml"/>
  <Override PartName="/ppt/diagrams/drawing81.xml" ContentType="application/vnd.ms-office.drawingml.diagramDrawing+xml"/>
  <Override PartName="/ppt/diagrams/data82.xml" ContentType="application/vnd.openxmlformats-officedocument.drawingml.diagramData+xml"/>
  <Override PartName="/ppt/diagrams/layout82.xml" ContentType="application/vnd.openxmlformats-officedocument.drawingml.diagramLayout+xml"/>
  <Override PartName="/ppt/diagrams/quickStyle82.xml" ContentType="application/vnd.openxmlformats-officedocument.drawingml.diagramStyle+xml"/>
  <Override PartName="/ppt/diagrams/colors82.xml" ContentType="application/vnd.openxmlformats-officedocument.drawingml.diagramColors+xml"/>
  <Override PartName="/ppt/diagrams/drawing82.xml" ContentType="application/vnd.ms-office.drawingml.diagramDrawing+xml"/>
  <Override PartName="/ppt/diagrams/data83.xml" ContentType="application/vnd.openxmlformats-officedocument.drawingml.diagramData+xml"/>
  <Override PartName="/ppt/diagrams/layout83.xml" ContentType="application/vnd.openxmlformats-officedocument.drawingml.diagramLayout+xml"/>
  <Override PartName="/ppt/diagrams/quickStyle83.xml" ContentType="application/vnd.openxmlformats-officedocument.drawingml.diagramStyle+xml"/>
  <Override PartName="/ppt/diagrams/colors83.xml" ContentType="application/vnd.openxmlformats-officedocument.drawingml.diagramColors+xml"/>
  <Override PartName="/ppt/diagrams/drawing83.xml" ContentType="application/vnd.ms-office.drawingml.diagramDrawing+xml"/>
  <Override PartName="/ppt/diagrams/data84.xml" ContentType="application/vnd.openxmlformats-officedocument.drawingml.diagramData+xml"/>
  <Override PartName="/ppt/diagrams/layout84.xml" ContentType="application/vnd.openxmlformats-officedocument.drawingml.diagramLayout+xml"/>
  <Override PartName="/ppt/diagrams/quickStyle84.xml" ContentType="application/vnd.openxmlformats-officedocument.drawingml.diagramStyle+xml"/>
  <Override PartName="/ppt/diagrams/colors84.xml" ContentType="application/vnd.openxmlformats-officedocument.drawingml.diagramColors+xml"/>
  <Override PartName="/ppt/diagrams/drawing84.xml" ContentType="application/vnd.ms-office.drawingml.diagramDrawing+xml"/>
  <Override PartName="/ppt/diagrams/data85.xml" ContentType="application/vnd.openxmlformats-officedocument.drawingml.diagramData+xml"/>
  <Override PartName="/ppt/diagrams/layout85.xml" ContentType="application/vnd.openxmlformats-officedocument.drawingml.diagramLayout+xml"/>
  <Override PartName="/ppt/diagrams/quickStyle85.xml" ContentType="application/vnd.openxmlformats-officedocument.drawingml.diagramStyle+xml"/>
  <Override PartName="/ppt/diagrams/colors85.xml" ContentType="application/vnd.openxmlformats-officedocument.drawingml.diagramColors+xml"/>
  <Override PartName="/ppt/diagrams/drawing85.xml" ContentType="application/vnd.ms-office.drawingml.diagramDrawing+xml"/>
  <Override PartName="/ppt/diagrams/data86.xml" ContentType="application/vnd.openxmlformats-officedocument.drawingml.diagramData+xml"/>
  <Override PartName="/ppt/diagrams/layout86.xml" ContentType="application/vnd.openxmlformats-officedocument.drawingml.diagramLayout+xml"/>
  <Override PartName="/ppt/diagrams/quickStyle86.xml" ContentType="application/vnd.openxmlformats-officedocument.drawingml.diagramStyle+xml"/>
  <Override PartName="/ppt/diagrams/colors86.xml" ContentType="application/vnd.openxmlformats-officedocument.drawingml.diagramColors+xml"/>
  <Override PartName="/ppt/diagrams/drawing86.xml" ContentType="application/vnd.ms-office.drawingml.diagramDrawing+xml"/>
  <Override PartName="/ppt/diagrams/data87.xml" ContentType="application/vnd.openxmlformats-officedocument.drawingml.diagramData+xml"/>
  <Override PartName="/ppt/diagrams/layout87.xml" ContentType="application/vnd.openxmlformats-officedocument.drawingml.diagramLayout+xml"/>
  <Override PartName="/ppt/diagrams/quickStyle87.xml" ContentType="application/vnd.openxmlformats-officedocument.drawingml.diagramStyle+xml"/>
  <Override PartName="/ppt/diagrams/colors87.xml" ContentType="application/vnd.openxmlformats-officedocument.drawingml.diagramColors+xml"/>
  <Override PartName="/ppt/diagrams/drawing87.xml" ContentType="application/vnd.ms-office.drawingml.diagramDrawing+xml"/>
  <Override PartName="/ppt/diagrams/data88.xml" ContentType="application/vnd.openxmlformats-officedocument.drawingml.diagramData+xml"/>
  <Override PartName="/ppt/diagrams/layout88.xml" ContentType="application/vnd.openxmlformats-officedocument.drawingml.diagramLayout+xml"/>
  <Override PartName="/ppt/diagrams/quickStyle88.xml" ContentType="application/vnd.openxmlformats-officedocument.drawingml.diagramStyle+xml"/>
  <Override PartName="/ppt/diagrams/colors88.xml" ContentType="application/vnd.openxmlformats-officedocument.drawingml.diagramColors+xml"/>
  <Override PartName="/ppt/diagrams/drawing88.xml" ContentType="application/vnd.ms-office.drawingml.diagramDrawing+xml"/>
  <Override PartName="/ppt/diagrams/data89.xml" ContentType="application/vnd.openxmlformats-officedocument.drawingml.diagramData+xml"/>
  <Override PartName="/ppt/diagrams/layout89.xml" ContentType="application/vnd.openxmlformats-officedocument.drawingml.diagramLayout+xml"/>
  <Override PartName="/ppt/diagrams/quickStyle89.xml" ContentType="application/vnd.openxmlformats-officedocument.drawingml.diagramStyle+xml"/>
  <Override PartName="/ppt/diagrams/colors89.xml" ContentType="application/vnd.openxmlformats-officedocument.drawingml.diagramColors+xml"/>
  <Override PartName="/ppt/diagrams/drawing89.xml" ContentType="application/vnd.ms-office.drawingml.diagramDrawing+xml"/>
  <Override PartName="/ppt/diagrams/data90.xml" ContentType="application/vnd.openxmlformats-officedocument.drawingml.diagramData+xml"/>
  <Override PartName="/ppt/diagrams/layout90.xml" ContentType="application/vnd.openxmlformats-officedocument.drawingml.diagramLayout+xml"/>
  <Override PartName="/ppt/diagrams/quickStyle90.xml" ContentType="application/vnd.openxmlformats-officedocument.drawingml.diagramStyle+xml"/>
  <Override PartName="/ppt/diagrams/colors90.xml" ContentType="application/vnd.openxmlformats-officedocument.drawingml.diagramColors+xml"/>
  <Override PartName="/ppt/diagrams/drawing90.xml" ContentType="application/vnd.ms-office.drawingml.diagramDrawing+xml"/>
  <Override PartName="/ppt/diagrams/data91.xml" ContentType="application/vnd.openxmlformats-officedocument.drawingml.diagramData+xml"/>
  <Override PartName="/ppt/diagrams/layout91.xml" ContentType="application/vnd.openxmlformats-officedocument.drawingml.diagramLayout+xml"/>
  <Override PartName="/ppt/diagrams/quickStyle91.xml" ContentType="application/vnd.openxmlformats-officedocument.drawingml.diagramStyle+xml"/>
  <Override PartName="/ppt/diagrams/colors91.xml" ContentType="application/vnd.openxmlformats-officedocument.drawingml.diagramColors+xml"/>
  <Override PartName="/ppt/diagrams/drawing91.xml" ContentType="application/vnd.ms-office.drawingml.diagramDrawing+xml"/>
  <Override PartName="/ppt/diagrams/data92.xml" ContentType="application/vnd.openxmlformats-officedocument.drawingml.diagramData+xml"/>
  <Override PartName="/ppt/diagrams/layout92.xml" ContentType="application/vnd.openxmlformats-officedocument.drawingml.diagramLayout+xml"/>
  <Override PartName="/ppt/diagrams/quickStyle92.xml" ContentType="application/vnd.openxmlformats-officedocument.drawingml.diagramStyle+xml"/>
  <Override PartName="/ppt/diagrams/colors92.xml" ContentType="application/vnd.openxmlformats-officedocument.drawingml.diagramColors+xml"/>
  <Override PartName="/ppt/diagrams/drawing92.xml" ContentType="application/vnd.ms-office.drawingml.diagramDrawing+xml"/>
  <Override PartName="/ppt/diagrams/data93.xml" ContentType="application/vnd.openxmlformats-officedocument.drawingml.diagramData+xml"/>
  <Override PartName="/ppt/diagrams/layout93.xml" ContentType="application/vnd.openxmlformats-officedocument.drawingml.diagramLayout+xml"/>
  <Override PartName="/ppt/diagrams/quickStyle93.xml" ContentType="application/vnd.openxmlformats-officedocument.drawingml.diagramStyle+xml"/>
  <Override PartName="/ppt/diagrams/colors93.xml" ContentType="application/vnd.openxmlformats-officedocument.drawingml.diagramColors+xml"/>
  <Override PartName="/ppt/diagrams/drawing93.xml" ContentType="application/vnd.ms-office.drawingml.diagramDrawing+xml"/>
  <Override PartName="/ppt/diagrams/data94.xml" ContentType="application/vnd.openxmlformats-officedocument.drawingml.diagramData+xml"/>
  <Override PartName="/ppt/diagrams/layout94.xml" ContentType="application/vnd.openxmlformats-officedocument.drawingml.diagramLayout+xml"/>
  <Override PartName="/ppt/diagrams/quickStyle94.xml" ContentType="application/vnd.openxmlformats-officedocument.drawingml.diagramStyle+xml"/>
  <Override PartName="/ppt/diagrams/colors94.xml" ContentType="application/vnd.openxmlformats-officedocument.drawingml.diagramColors+xml"/>
  <Override PartName="/ppt/diagrams/drawing94.xml" ContentType="application/vnd.ms-office.drawingml.diagramDrawing+xml"/>
  <Override PartName="/ppt/diagrams/data95.xml" ContentType="application/vnd.openxmlformats-officedocument.drawingml.diagramData+xml"/>
  <Override PartName="/ppt/diagrams/layout95.xml" ContentType="application/vnd.openxmlformats-officedocument.drawingml.diagramLayout+xml"/>
  <Override PartName="/ppt/diagrams/quickStyle95.xml" ContentType="application/vnd.openxmlformats-officedocument.drawingml.diagramStyle+xml"/>
  <Override PartName="/ppt/diagrams/colors95.xml" ContentType="application/vnd.openxmlformats-officedocument.drawingml.diagramColors+xml"/>
  <Override PartName="/ppt/diagrams/drawing95.xml" ContentType="application/vnd.ms-office.drawingml.diagramDrawing+xml"/>
  <Override PartName="/ppt/diagrams/data96.xml" ContentType="application/vnd.openxmlformats-officedocument.drawingml.diagramData+xml"/>
  <Override PartName="/ppt/diagrams/layout96.xml" ContentType="application/vnd.openxmlformats-officedocument.drawingml.diagramLayout+xml"/>
  <Override PartName="/ppt/diagrams/quickStyle96.xml" ContentType="application/vnd.openxmlformats-officedocument.drawingml.diagramStyle+xml"/>
  <Override PartName="/ppt/diagrams/colors96.xml" ContentType="application/vnd.openxmlformats-officedocument.drawingml.diagramColors+xml"/>
  <Override PartName="/ppt/diagrams/drawing96.xml" ContentType="application/vnd.ms-office.drawingml.diagramDrawing+xml"/>
  <Override PartName="/ppt/diagrams/data97.xml" ContentType="application/vnd.openxmlformats-officedocument.drawingml.diagramData+xml"/>
  <Override PartName="/ppt/diagrams/layout97.xml" ContentType="application/vnd.openxmlformats-officedocument.drawingml.diagramLayout+xml"/>
  <Override PartName="/ppt/diagrams/quickStyle97.xml" ContentType="application/vnd.openxmlformats-officedocument.drawingml.diagramStyle+xml"/>
  <Override PartName="/ppt/diagrams/colors97.xml" ContentType="application/vnd.openxmlformats-officedocument.drawingml.diagramColors+xml"/>
  <Override PartName="/ppt/diagrams/drawing97.xml" ContentType="application/vnd.ms-office.drawingml.diagramDrawing+xml"/>
  <Override PartName="/ppt/diagrams/data98.xml" ContentType="application/vnd.openxmlformats-officedocument.drawingml.diagramData+xml"/>
  <Override PartName="/ppt/diagrams/layout98.xml" ContentType="application/vnd.openxmlformats-officedocument.drawingml.diagramLayout+xml"/>
  <Override PartName="/ppt/diagrams/quickStyle98.xml" ContentType="application/vnd.openxmlformats-officedocument.drawingml.diagramStyle+xml"/>
  <Override PartName="/ppt/diagrams/colors98.xml" ContentType="application/vnd.openxmlformats-officedocument.drawingml.diagramColors+xml"/>
  <Override PartName="/ppt/diagrams/drawing98.xml" ContentType="application/vnd.ms-office.drawingml.diagramDrawing+xml"/>
  <Override PartName="/ppt/diagrams/data99.xml" ContentType="application/vnd.openxmlformats-officedocument.drawingml.diagramData+xml"/>
  <Override PartName="/ppt/diagrams/layout99.xml" ContentType="application/vnd.openxmlformats-officedocument.drawingml.diagramLayout+xml"/>
  <Override PartName="/ppt/diagrams/quickStyle99.xml" ContentType="application/vnd.openxmlformats-officedocument.drawingml.diagramStyle+xml"/>
  <Override PartName="/ppt/diagrams/colors99.xml" ContentType="application/vnd.openxmlformats-officedocument.drawingml.diagramColors+xml"/>
  <Override PartName="/ppt/diagrams/drawing99.xml" ContentType="application/vnd.ms-office.drawingml.diagramDrawing+xml"/>
  <Override PartName="/ppt/diagrams/data100.xml" ContentType="application/vnd.openxmlformats-officedocument.drawingml.diagramData+xml"/>
  <Override PartName="/ppt/diagrams/layout100.xml" ContentType="application/vnd.openxmlformats-officedocument.drawingml.diagramLayout+xml"/>
  <Override PartName="/ppt/diagrams/quickStyle100.xml" ContentType="application/vnd.openxmlformats-officedocument.drawingml.diagramStyle+xml"/>
  <Override PartName="/ppt/diagrams/colors100.xml" ContentType="application/vnd.openxmlformats-officedocument.drawingml.diagramColors+xml"/>
  <Override PartName="/ppt/diagrams/drawing100.xml" ContentType="application/vnd.ms-office.drawingml.diagramDrawing+xml"/>
  <Override PartName="/ppt/diagrams/data101.xml" ContentType="application/vnd.openxmlformats-officedocument.drawingml.diagramData+xml"/>
  <Override PartName="/ppt/diagrams/layout101.xml" ContentType="application/vnd.openxmlformats-officedocument.drawingml.diagramLayout+xml"/>
  <Override PartName="/ppt/diagrams/quickStyle101.xml" ContentType="application/vnd.openxmlformats-officedocument.drawingml.diagramStyle+xml"/>
  <Override PartName="/ppt/diagrams/colors101.xml" ContentType="application/vnd.openxmlformats-officedocument.drawingml.diagramColors+xml"/>
  <Override PartName="/ppt/diagrams/drawing101.xml" ContentType="application/vnd.ms-office.drawingml.diagramDrawing+xml"/>
  <Override PartName="/ppt/diagrams/data102.xml" ContentType="application/vnd.openxmlformats-officedocument.drawingml.diagramData+xml"/>
  <Override PartName="/ppt/diagrams/layout102.xml" ContentType="application/vnd.openxmlformats-officedocument.drawingml.diagramLayout+xml"/>
  <Override PartName="/ppt/diagrams/quickStyle102.xml" ContentType="application/vnd.openxmlformats-officedocument.drawingml.diagramStyle+xml"/>
  <Override PartName="/ppt/diagrams/colors102.xml" ContentType="application/vnd.openxmlformats-officedocument.drawingml.diagramColors+xml"/>
  <Override PartName="/ppt/diagrams/drawing102.xml" ContentType="application/vnd.ms-office.drawingml.diagramDrawing+xml"/>
  <Override PartName="/ppt/diagrams/data103.xml" ContentType="application/vnd.openxmlformats-officedocument.drawingml.diagramData+xml"/>
  <Override PartName="/ppt/diagrams/layout103.xml" ContentType="application/vnd.openxmlformats-officedocument.drawingml.diagramLayout+xml"/>
  <Override PartName="/ppt/diagrams/quickStyle103.xml" ContentType="application/vnd.openxmlformats-officedocument.drawingml.diagramStyle+xml"/>
  <Override PartName="/ppt/diagrams/colors103.xml" ContentType="application/vnd.openxmlformats-officedocument.drawingml.diagramColors+xml"/>
  <Override PartName="/ppt/diagrams/drawing103.xml" ContentType="application/vnd.ms-office.drawingml.diagramDrawing+xml"/>
  <Override PartName="/ppt/diagrams/data104.xml" ContentType="application/vnd.openxmlformats-officedocument.drawingml.diagramData+xml"/>
  <Override PartName="/ppt/diagrams/layout104.xml" ContentType="application/vnd.openxmlformats-officedocument.drawingml.diagramLayout+xml"/>
  <Override PartName="/ppt/diagrams/quickStyle104.xml" ContentType="application/vnd.openxmlformats-officedocument.drawingml.diagramStyle+xml"/>
  <Override PartName="/ppt/diagrams/colors104.xml" ContentType="application/vnd.openxmlformats-officedocument.drawingml.diagramColors+xml"/>
  <Override PartName="/ppt/diagrams/drawing104.xml" ContentType="application/vnd.ms-office.drawingml.diagramDrawing+xml"/>
  <Override PartName="/ppt/diagrams/data105.xml" ContentType="application/vnd.openxmlformats-officedocument.drawingml.diagramData+xml"/>
  <Override PartName="/ppt/diagrams/layout105.xml" ContentType="application/vnd.openxmlformats-officedocument.drawingml.diagramLayout+xml"/>
  <Override PartName="/ppt/diagrams/quickStyle105.xml" ContentType="application/vnd.openxmlformats-officedocument.drawingml.diagramStyle+xml"/>
  <Override PartName="/ppt/diagrams/colors105.xml" ContentType="application/vnd.openxmlformats-officedocument.drawingml.diagramColors+xml"/>
  <Override PartName="/ppt/diagrams/drawing105.xml" ContentType="application/vnd.ms-office.drawingml.diagramDrawing+xml"/>
  <Override PartName="/ppt/diagrams/data106.xml" ContentType="application/vnd.openxmlformats-officedocument.drawingml.diagramData+xml"/>
  <Override PartName="/ppt/diagrams/layout106.xml" ContentType="application/vnd.openxmlformats-officedocument.drawingml.diagramLayout+xml"/>
  <Override PartName="/ppt/diagrams/quickStyle106.xml" ContentType="application/vnd.openxmlformats-officedocument.drawingml.diagramStyle+xml"/>
  <Override PartName="/ppt/diagrams/colors106.xml" ContentType="application/vnd.openxmlformats-officedocument.drawingml.diagramColors+xml"/>
  <Override PartName="/ppt/diagrams/drawing106.xml" ContentType="application/vnd.ms-office.drawingml.diagramDrawing+xml"/>
  <Override PartName="/ppt/diagrams/data107.xml" ContentType="application/vnd.openxmlformats-officedocument.drawingml.diagramData+xml"/>
  <Override PartName="/ppt/diagrams/layout107.xml" ContentType="application/vnd.openxmlformats-officedocument.drawingml.diagramLayout+xml"/>
  <Override PartName="/ppt/diagrams/quickStyle107.xml" ContentType="application/vnd.openxmlformats-officedocument.drawingml.diagramStyle+xml"/>
  <Override PartName="/ppt/diagrams/colors107.xml" ContentType="application/vnd.openxmlformats-officedocument.drawingml.diagramColors+xml"/>
  <Override PartName="/ppt/diagrams/drawing107.xml" ContentType="application/vnd.ms-office.drawingml.diagramDrawing+xml"/>
  <Override PartName="/ppt/diagrams/data108.xml" ContentType="application/vnd.openxmlformats-officedocument.drawingml.diagramData+xml"/>
  <Override PartName="/ppt/diagrams/layout108.xml" ContentType="application/vnd.openxmlformats-officedocument.drawingml.diagramLayout+xml"/>
  <Override PartName="/ppt/diagrams/quickStyle108.xml" ContentType="application/vnd.openxmlformats-officedocument.drawingml.diagramStyle+xml"/>
  <Override PartName="/ppt/diagrams/colors108.xml" ContentType="application/vnd.openxmlformats-officedocument.drawingml.diagramColors+xml"/>
  <Override PartName="/ppt/diagrams/drawing108.xml" ContentType="application/vnd.ms-office.drawingml.diagramDrawing+xml"/>
  <Override PartName="/ppt/diagrams/data109.xml" ContentType="application/vnd.openxmlformats-officedocument.drawingml.diagramData+xml"/>
  <Override PartName="/ppt/diagrams/layout109.xml" ContentType="application/vnd.openxmlformats-officedocument.drawingml.diagramLayout+xml"/>
  <Override PartName="/ppt/diagrams/quickStyle109.xml" ContentType="application/vnd.openxmlformats-officedocument.drawingml.diagramStyle+xml"/>
  <Override PartName="/ppt/diagrams/colors109.xml" ContentType="application/vnd.openxmlformats-officedocument.drawingml.diagramColors+xml"/>
  <Override PartName="/ppt/diagrams/drawing109.xml" ContentType="application/vnd.ms-office.drawingml.diagramDrawing+xml"/>
  <Override PartName="/ppt/diagrams/data110.xml" ContentType="application/vnd.openxmlformats-officedocument.drawingml.diagramData+xml"/>
  <Override PartName="/ppt/diagrams/layout110.xml" ContentType="application/vnd.openxmlformats-officedocument.drawingml.diagramLayout+xml"/>
  <Override PartName="/ppt/diagrams/quickStyle110.xml" ContentType="application/vnd.openxmlformats-officedocument.drawingml.diagramStyle+xml"/>
  <Override PartName="/ppt/diagrams/colors110.xml" ContentType="application/vnd.openxmlformats-officedocument.drawingml.diagramColors+xml"/>
  <Override PartName="/ppt/diagrams/drawing110.xml" ContentType="application/vnd.ms-office.drawingml.diagramDrawing+xml"/>
  <Override PartName="/ppt/diagrams/data111.xml" ContentType="application/vnd.openxmlformats-officedocument.drawingml.diagramData+xml"/>
  <Override PartName="/ppt/diagrams/layout111.xml" ContentType="application/vnd.openxmlformats-officedocument.drawingml.diagramLayout+xml"/>
  <Override PartName="/ppt/diagrams/quickStyle111.xml" ContentType="application/vnd.openxmlformats-officedocument.drawingml.diagramStyle+xml"/>
  <Override PartName="/ppt/diagrams/colors111.xml" ContentType="application/vnd.openxmlformats-officedocument.drawingml.diagramColors+xml"/>
  <Override PartName="/ppt/diagrams/drawing111.xml" ContentType="application/vnd.ms-office.drawingml.diagramDrawing+xml"/>
  <Override PartName="/ppt/diagrams/data112.xml" ContentType="application/vnd.openxmlformats-officedocument.drawingml.diagramData+xml"/>
  <Override PartName="/ppt/diagrams/layout112.xml" ContentType="application/vnd.openxmlformats-officedocument.drawingml.diagramLayout+xml"/>
  <Override PartName="/ppt/diagrams/quickStyle112.xml" ContentType="application/vnd.openxmlformats-officedocument.drawingml.diagramStyle+xml"/>
  <Override PartName="/ppt/diagrams/colors112.xml" ContentType="application/vnd.openxmlformats-officedocument.drawingml.diagramColors+xml"/>
  <Override PartName="/ppt/diagrams/drawing112.xml" ContentType="application/vnd.ms-office.drawingml.diagramDrawing+xml"/>
  <Override PartName="/ppt/diagrams/data113.xml" ContentType="application/vnd.openxmlformats-officedocument.drawingml.diagramData+xml"/>
  <Override PartName="/ppt/diagrams/layout113.xml" ContentType="application/vnd.openxmlformats-officedocument.drawingml.diagramLayout+xml"/>
  <Override PartName="/ppt/diagrams/quickStyle113.xml" ContentType="application/vnd.openxmlformats-officedocument.drawingml.diagramStyle+xml"/>
  <Override PartName="/ppt/diagrams/colors113.xml" ContentType="application/vnd.openxmlformats-officedocument.drawingml.diagramColors+xml"/>
  <Override PartName="/ppt/diagrams/drawing113.xml" ContentType="application/vnd.ms-office.drawingml.diagramDrawing+xml"/>
  <Override PartName="/ppt/diagrams/data114.xml" ContentType="application/vnd.openxmlformats-officedocument.drawingml.diagramData+xml"/>
  <Override PartName="/ppt/diagrams/layout114.xml" ContentType="application/vnd.openxmlformats-officedocument.drawingml.diagramLayout+xml"/>
  <Override PartName="/ppt/diagrams/quickStyle114.xml" ContentType="application/vnd.openxmlformats-officedocument.drawingml.diagramStyle+xml"/>
  <Override PartName="/ppt/diagrams/colors114.xml" ContentType="application/vnd.openxmlformats-officedocument.drawingml.diagramColors+xml"/>
  <Override PartName="/ppt/diagrams/drawing114.xml" ContentType="application/vnd.ms-office.drawingml.diagramDrawing+xml"/>
  <Override PartName="/ppt/diagrams/data115.xml" ContentType="application/vnd.openxmlformats-officedocument.drawingml.diagramData+xml"/>
  <Override PartName="/ppt/diagrams/layout115.xml" ContentType="application/vnd.openxmlformats-officedocument.drawingml.diagramLayout+xml"/>
  <Override PartName="/ppt/diagrams/quickStyle115.xml" ContentType="application/vnd.openxmlformats-officedocument.drawingml.diagramStyle+xml"/>
  <Override PartName="/ppt/diagrams/colors115.xml" ContentType="application/vnd.openxmlformats-officedocument.drawingml.diagramColors+xml"/>
  <Override PartName="/ppt/diagrams/drawing115.xml" ContentType="application/vnd.ms-office.drawingml.diagramDrawing+xml"/>
  <Override PartName="/ppt/diagrams/data116.xml" ContentType="application/vnd.openxmlformats-officedocument.drawingml.diagramData+xml"/>
  <Override PartName="/ppt/diagrams/layout116.xml" ContentType="application/vnd.openxmlformats-officedocument.drawingml.diagramLayout+xml"/>
  <Override PartName="/ppt/diagrams/quickStyle116.xml" ContentType="application/vnd.openxmlformats-officedocument.drawingml.diagramStyle+xml"/>
  <Override PartName="/ppt/diagrams/colors116.xml" ContentType="application/vnd.openxmlformats-officedocument.drawingml.diagramColors+xml"/>
  <Override PartName="/ppt/diagrams/drawing116.xml" ContentType="application/vnd.ms-office.drawingml.diagramDrawing+xml"/>
  <Override PartName="/ppt/diagrams/data117.xml" ContentType="application/vnd.openxmlformats-officedocument.drawingml.diagramData+xml"/>
  <Override PartName="/ppt/diagrams/layout117.xml" ContentType="application/vnd.openxmlformats-officedocument.drawingml.diagramLayout+xml"/>
  <Override PartName="/ppt/diagrams/quickStyle117.xml" ContentType="application/vnd.openxmlformats-officedocument.drawingml.diagramStyle+xml"/>
  <Override PartName="/ppt/diagrams/colors117.xml" ContentType="application/vnd.openxmlformats-officedocument.drawingml.diagramColors+xml"/>
  <Override PartName="/ppt/diagrams/drawing117.xml" ContentType="application/vnd.ms-office.drawingml.diagramDrawing+xml"/>
  <Override PartName="/ppt/diagrams/data118.xml" ContentType="application/vnd.openxmlformats-officedocument.drawingml.diagramData+xml"/>
  <Override PartName="/ppt/diagrams/layout118.xml" ContentType="application/vnd.openxmlformats-officedocument.drawingml.diagramLayout+xml"/>
  <Override PartName="/ppt/diagrams/quickStyle118.xml" ContentType="application/vnd.openxmlformats-officedocument.drawingml.diagramStyle+xml"/>
  <Override PartName="/ppt/diagrams/colors118.xml" ContentType="application/vnd.openxmlformats-officedocument.drawingml.diagramColors+xml"/>
  <Override PartName="/ppt/diagrams/drawing118.xml" ContentType="application/vnd.ms-office.drawingml.diagramDrawing+xml"/>
  <Override PartName="/ppt/diagrams/data119.xml" ContentType="application/vnd.openxmlformats-officedocument.drawingml.diagramData+xml"/>
  <Override PartName="/ppt/diagrams/layout119.xml" ContentType="application/vnd.openxmlformats-officedocument.drawingml.diagramLayout+xml"/>
  <Override PartName="/ppt/diagrams/quickStyle119.xml" ContentType="application/vnd.openxmlformats-officedocument.drawingml.diagramStyle+xml"/>
  <Override PartName="/ppt/diagrams/colors119.xml" ContentType="application/vnd.openxmlformats-officedocument.drawingml.diagramColors+xml"/>
  <Override PartName="/ppt/diagrams/drawing119.xml" ContentType="application/vnd.ms-office.drawingml.diagramDrawing+xml"/>
  <Override PartName="/ppt/diagrams/data120.xml" ContentType="application/vnd.openxmlformats-officedocument.drawingml.diagramData+xml"/>
  <Override PartName="/ppt/diagrams/layout120.xml" ContentType="application/vnd.openxmlformats-officedocument.drawingml.diagramLayout+xml"/>
  <Override PartName="/ppt/diagrams/quickStyle120.xml" ContentType="application/vnd.openxmlformats-officedocument.drawingml.diagramStyle+xml"/>
  <Override PartName="/ppt/diagrams/colors120.xml" ContentType="application/vnd.openxmlformats-officedocument.drawingml.diagramColors+xml"/>
  <Override PartName="/ppt/diagrams/drawing120.xml" ContentType="application/vnd.ms-office.drawingml.diagramDrawing+xml"/>
  <Override PartName="/ppt/diagrams/data121.xml" ContentType="application/vnd.openxmlformats-officedocument.drawingml.diagramData+xml"/>
  <Override PartName="/ppt/diagrams/layout121.xml" ContentType="application/vnd.openxmlformats-officedocument.drawingml.diagramLayout+xml"/>
  <Override PartName="/ppt/diagrams/quickStyle121.xml" ContentType="application/vnd.openxmlformats-officedocument.drawingml.diagramStyle+xml"/>
  <Override PartName="/ppt/diagrams/colors121.xml" ContentType="application/vnd.openxmlformats-officedocument.drawingml.diagramColors+xml"/>
  <Override PartName="/ppt/diagrams/drawing121.xml" ContentType="application/vnd.ms-office.drawingml.diagramDrawing+xml"/>
  <Override PartName="/ppt/diagrams/data122.xml" ContentType="application/vnd.openxmlformats-officedocument.drawingml.diagramData+xml"/>
  <Override PartName="/ppt/diagrams/layout122.xml" ContentType="application/vnd.openxmlformats-officedocument.drawingml.diagramLayout+xml"/>
  <Override PartName="/ppt/diagrams/quickStyle122.xml" ContentType="application/vnd.openxmlformats-officedocument.drawingml.diagramStyle+xml"/>
  <Override PartName="/ppt/diagrams/colors122.xml" ContentType="application/vnd.openxmlformats-officedocument.drawingml.diagramColors+xml"/>
  <Override PartName="/ppt/diagrams/drawing122.xml" ContentType="application/vnd.ms-office.drawingml.diagramDrawing+xml"/>
  <Override PartName="/ppt/diagrams/data123.xml" ContentType="application/vnd.openxmlformats-officedocument.drawingml.diagramData+xml"/>
  <Override PartName="/ppt/diagrams/layout123.xml" ContentType="application/vnd.openxmlformats-officedocument.drawingml.diagramLayout+xml"/>
  <Override PartName="/ppt/diagrams/quickStyle123.xml" ContentType="application/vnd.openxmlformats-officedocument.drawingml.diagramStyle+xml"/>
  <Override PartName="/ppt/diagrams/colors123.xml" ContentType="application/vnd.openxmlformats-officedocument.drawingml.diagramColors+xml"/>
  <Override PartName="/ppt/diagrams/drawing123.xml" ContentType="application/vnd.ms-office.drawingml.diagramDrawing+xml"/>
  <Override PartName="/ppt/diagrams/data124.xml" ContentType="application/vnd.openxmlformats-officedocument.drawingml.diagramData+xml"/>
  <Override PartName="/ppt/diagrams/layout124.xml" ContentType="application/vnd.openxmlformats-officedocument.drawingml.diagramLayout+xml"/>
  <Override PartName="/ppt/diagrams/quickStyle124.xml" ContentType="application/vnd.openxmlformats-officedocument.drawingml.diagramStyle+xml"/>
  <Override PartName="/ppt/diagrams/colors124.xml" ContentType="application/vnd.openxmlformats-officedocument.drawingml.diagramColors+xml"/>
  <Override PartName="/ppt/diagrams/drawing124.xml" ContentType="application/vnd.ms-office.drawingml.diagramDrawing+xml"/>
  <Override PartName="/ppt/diagrams/data125.xml" ContentType="application/vnd.openxmlformats-officedocument.drawingml.diagramData+xml"/>
  <Override PartName="/ppt/diagrams/layout125.xml" ContentType="application/vnd.openxmlformats-officedocument.drawingml.diagramLayout+xml"/>
  <Override PartName="/ppt/diagrams/quickStyle125.xml" ContentType="application/vnd.openxmlformats-officedocument.drawingml.diagramStyle+xml"/>
  <Override PartName="/ppt/diagrams/colors125.xml" ContentType="application/vnd.openxmlformats-officedocument.drawingml.diagramColors+xml"/>
  <Override PartName="/ppt/diagrams/drawing125.xml" ContentType="application/vnd.ms-office.drawingml.diagramDrawing+xml"/>
  <Override PartName="/ppt/diagrams/data126.xml" ContentType="application/vnd.openxmlformats-officedocument.drawingml.diagramData+xml"/>
  <Override PartName="/ppt/diagrams/layout126.xml" ContentType="application/vnd.openxmlformats-officedocument.drawingml.diagramLayout+xml"/>
  <Override PartName="/ppt/diagrams/quickStyle126.xml" ContentType="application/vnd.openxmlformats-officedocument.drawingml.diagramStyle+xml"/>
  <Override PartName="/ppt/diagrams/colors126.xml" ContentType="application/vnd.openxmlformats-officedocument.drawingml.diagramColors+xml"/>
  <Override PartName="/ppt/diagrams/drawing126.xml" ContentType="application/vnd.ms-office.drawingml.diagramDrawing+xml"/>
  <Override PartName="/ppt/diagrams/data127.xml" ContentType="application/vnd.openxmlformats-officedocument.drawingml.diagramData+xml"/>
  <Override PartName="/ppt/diagrams/layout127.xml" ContentType="application/vnd.openxmlformats-officedocument.drawingml.diagramLayout+xml"/>
  <Override PartName="/ppt/diagrams/quickStyle127.xml" ContentType="application/vnd.openxmlformats-officedocument.drawingml.diagramStyle+xml"/>
  <Override PartName="/ppt/diagrams/colors127.xml" ContentType="application/vnd.openxmlformats-officedocument.drawingml.diagramColors+xml"/>
  <Override PartName="/ppt/diagrams/drawing127.xml" ContentType="application/vnd.ms-office.drawingml.diagramDrawing+xml"/>
  <Override PartName="/ppt/diagrams/data128.xml" ContentType="application/vnd.openxmlformats-officedocument.drawingml.diagramData+xml"/>
  <Override PartName="/ppt/diagrams/layout128.xml" ContentType="application/vnd.openxmlformats-officedocument.drawingml.diagramLayout+xml"/>
  <Override PartName="/ppt/diagrams/quickStyle128.xml" ContentType="application/vnd.openxmlformats-officedocument.drawingml.diagramStyle+xml"/>
  <Override PartName="/ppt/diagrams/colors128.xml" ContentType="application/vnd.openxmlformats-officedocument.drawingml.diagramColors+xml"/>
  <Override PartName="/ppt/diagrams/drawing128.xml" ContentType="application/vnd.ms-office.drawingml.diagramDrawing+xml"/>
  <Override PartName="/ppt/diagrams/data129.xml" ContentType="application/vnd.openxmlformats-officedocument.drawingml.diagramData+xml"/>
  <Override PartName="/ppt/diagrams/layout129.xml" ContentType="application/vnd.openxmlformats-officedocument.drawingml.diagramLayout+xml"/>
  <Override PartName="/ppt/diagrams/quickStyle129.xml" ContentType="application/vnd.openxmlformats-officedocument.drawingml.diagramStyle+xml"/>
  <Override PartName="/ppt/diagrams/colors129.xml" ContentType="application/vnd.openxmlformats-officedocument.drawingml.diagramColors+xml"/>
  <Override PartName="/ppt/diagrams/drawing129.xml" ContentType="application/vnd.ms-office.drawingml.diagramDrawing+xml"/>
  <Override PartName="/ppt/diagrams/data130.xml" ContentType="application/vnd.openxmlformats-officedocument.drawingml.diagramData+xml"/>
  <Override PartName="/ppt/diagrams/layout130.xml" ContentType="application/vnd.openxmlformats-officedocument.drawingml.diagramLayout+xml"/>
  <Override PartName="/ppt/diagrams/quickStyle130.xml" ContentType="application/vnd.openxmlformats-officedocument.drawingml.diagramStyle+xml"/>
  <Override PartName="/ppt/diagrams/colors130.xml" ContentType="application/vnd.openxmlformats-officedocument.drawingml.diagramColors+xml"/>
  <Override PartName="/ppt/diagrams/drawing130.xml" ContentType="application/vnd.ms-office.drawingml.diagramDrawing+xml"/>
  <Override PartName="/ppt/diagrams/data131.xml" ContentType="application/vnd.openxmlformats-officedocument.drawingml.diagramData+xml"/>
  <Override PartName="/ppt/diagrams/layout131.xml" ContentType="application/vnd.openxmlformats-officedocument.drawingml.diagramLayout+xml"/>
  <Override PartName="/ppt/diagrams/quickStyle131.xml" ContentType="application/vnd.openxmlformats-officedocument.drawingml.diagramStyle+xml"/>
  <Override PartName="/ppt/diagrams/colors131.xml" ContentType="application/vnd.openxmlformats-officedocument.drawingml.diagramColors+xml"/>
  <Override PartName="/ppt/diagrams/drawing131.xml" ContentType="application/vnd.ms-office.drawingml.diagramDrawing+xml"/>
  <Override PartName="/ppt/diagrams/data132.xml" ContentType="application/vnd.openxmlformats-officedocument.drawingml.diagramData+xml"/>
  <Override PartName="/ppt/diagrams/layout132.xml" ContentType="application/vnd.openxmlformats-officedocument.drawingml.diagramLayout+xml"/>
  <Override PartName="/ppt/diagrams/quickStyle132.xml" ContentType="application/vnd.openxmlformats-officedocument.drawingml.diagramStyle+xml"/>
  <Override PartName="/ppt/diagrams/colors132.xml" ContentType="application/vnd.openxmlformats-officedocument.drawingml.diagramColors+xml"/>
  <Override PartName="/ppt/diagrams/drawing132.xml" ContentType="application/vnd.ms-office.drawingml.diagramDrawing+xml"/>
  <Override PartName="/ppt/diagrams/data133.xml" ContentType="application/vnd.openxmlformats-officedocument.drawingml.diagramData+xml"/>
  <Override PartName="/ppt/diagrams/layout133.xml" ContentType="application/vnd.openxmlformats-officedocument.drawingml.diagramLayout+xml"/>
  <Override PartName="/ppt/diagrams/quickStyle133.xml" ContentType="application/vnd.openxmlformats-officedocument.drawingml.diagramStyle+xml"/>
  <Override PartName="/ppt/diagrams/colors133.xml" ContentType="application/vnd.openxmlformats-officedocument.drawingml.diagramColors+xml"/>
  <Override PartName="/ppt/diagrams/drawing133.xml" ContentType="application/vnd.ms-office.drawingml.diagramDrawing+xml"/>
  <Override PartName="/ppt/diagrams/data134.xml" ContentType="application/vnd.openxmlformats-officedocument.drawingml.diagramData+xml"/>
  <Override PartName="/ppt/diagrams/layout134.xml" ContentType="application/vnd.openxmlformats-officedocument.drawingml.diagramLayout+xml"/>
  <Override PartName="/ppt/diagrams/quickStyle134.xml" ContentType="application/vnd.openxmlformats-officedocument.drawingml.diagramStyle+xml"/>
  <Override PartName="/ppt/diagrams/colors134.xml" ContentType="application/vnd.openxmlformats-officedocument.drawingml.diagramColors+xml"/>
  <Override PartName="/ppt/diagrams/drawing134.xml" ContentType="application/vnd.ms-office.drawingml.diagramDrawing+xml"/>
  <Override PartName="/ppt/diagrams/data135.xml" ContentType="application/vnd.openxmlformats-officedocument.drawingml.diagramData+xml"/>
  <Override PartName="/ppt/diagrams/layout135.xml" ContentType="application/vnd.openxmlformats-officedocument.drawingml.diagramLayout+xml"/>
  <Override PartName="/ppt/diagrams/quickStyle135.xml" ContentType="application/vnd.openxmlformats-officedocument.drawingml.diagramStyle+xml"/>
  <Override PartName="/ppt/diagrams/colors135.xml" ContentType="application/vnd.openxmlformats-officedocument.drawingml.diagramColors+xml"/>
  <Override PartName="/ppt/diagrams/drawing135.xml" ContentType="application/vnd.ms-office.drawingml.diagramDrawing+xml"/>
  <Override PartName="/ppt/diagrams/data136.xml" ContentType="application/vnd.openxmlformats-officedocument.drawingml.diagramData+xml"/>
  <Override PartName="/ppt/diagrams/layout136.xml" ContentType="application/vnd.openxmlformats-officedocument.drawingml.diagramLayout+xml"/>
  <Override PartName="/ppt/diagrams/quickStyle136.xml" ContentType="application/vnd.openxmlformats-officedocument.drawingml.diagramStyle+xml"/>
  <Override PartName="/ppt/diagrams/colors136.xml" ContentType="application/vnd.openxmlformats-officedocument.drawingml.diagramColors+xml"/>
  <Override PartName="/ppt/diagrams/drawing136.xml" ContentType="application/vnd.ms-office.drawingml.diagramDrawing+xml"/>
  <Override PartName="/ppt/diagrams/data137.xml" ContentType="application/vnd.openxmlformats-officedocument.drawingml.diagramData+xml"/>
  <Override PartName="/ppt/diagrams/layout137.xml" ContentType="application/vnd.openxmlformats-officedocument.drawingml.diagramLayout+xml"/>
  <Override PartName="/ppt/diagrams/quickStyle137.xml" ContentType="application/vnd.openxmlformats-officedocument.drawingml.diagramStyle+xml"/>
  <Override PartName="/ppt/diagrams/colors137.xml" ContentType="application/vnd.openxmlformats-officedocument.drawingml.diagramColors+xml"/>
  <Override PartName="/ppt/diagrams/drawing137.xml" ContentType="application/vnd.ms-office.drawingml.diagramDrawing+xml"/>
  <Override PartName="/ppt/diagrams/data138.xml" ContentType="application/vnd.openxmlformats-officedocument.drawingml.diagramData+xml"/>
  <Override PartName="/ppt/diagrams/layout138.xml" ContentType="application/vnd.openxmlformats-officedocument.drawingml.diagramLayout+xml"/>
  <Override PartName="/ppt/diagrams/quickStyle138.xml" ContentType="application/vnd.openxmlformats-officedocument.drawingml.diagramStyle+xml"/>
  <Override PartName="/ppt/diagrams/colors138.xml" ContentType="application/vnd.openxmlformats-officedocument.drawingml.diagramColors+xml"/>
  <Override PartName="/ppt/diagrams/drawing138.xml" ContentType="application/vnd.ms-office.drawingml.diagramDrawing+xml"/>
  <Override PartName="/ppt/diagrams/data139.xml" ContentType="application/vnd.openxmlformats-officedocument.drawingml.diagramData+xml"/>
  <Override PartName="/ppt/diagrams/layout139.xml" ContentType="application/vnd.openxmlformats-officedocument.drawingml.diagramLayout+xml"/>
  <Override PartName="/ppt/diagrams/quickStyle139.xml" ContentType="application/vnd.openxmlformats-officedocument.drawingml.diagramStyle+xml"/>
  <Override PartName="/ppt/diagrams/colors139.xml" ContentType="application/vnd.openxmlformats-officedocument.drawingml.diagramColors+xml"/>
  <Override PartName="/ppt/diagrams/drawing139.xml" ContentType="application/vnd.ms-office.drawingml.diagramDrawing+xml"/>
  <Override PartName="/ppt/diagrams/data140.xml" ContentType="application/vnd.openxmlformats-officedocument.drawingml.diagramData+xml"/>
  <Override PartName="/ppt/diagrams/layout140.xml" ContentType="application/vnd.openxmlformats-officedocument.drawingml.diagramLayout+xml"/>
  <Override PartName="/ppt/diagrams/quickStyle140.xml" ContentType="application/vnd.openxmlformats-officedocument.drawingml.diagramStyle+xml"/>
  <Override PartName="/ppt/diagrams/colors140.xml" ContentType="application/vnd.openxmlformats-officedocument.drawingml.diagramColors+xml"/>
  <Override PartName="/ppt/diagrams/drawing140.xml" ContentType="application/vnd.ms-office.drawingml.diagramDrawing+xml"/>
  <Override PartName="/ppt/diagrams/data141.xml" ContentType="application/vnd.openxmlformats-officedocument.drawingml.diagramData+xml"/>
  <Override PartName="/ppt/diagrams/layout141.xml" ContentType="application/vnd.openxmlformats-officedocument.drawingml.diagramLayout+xml"/>
  <Override PartName="/ppt/diagrams/quickStyle141.xml" ContentType="application/vnd.openxmlformats-officedocument.drawingml.diagramStyle+xml"/>
  <Override PartName="/ppt/diagrams/colors141.xml" ContentType="application/vnd.openxmlformats-officedocument.drawingml.diagramColors+xml"/>
  <Override PartName="/ppt/diagrams/drawing141.xml" ContentType="application/vnd.ms-office.drawingml.diagramDrawing+xml"/>
  <Override PartName="/ppt/diagrams/data142.xml" ContentType="application/vnd.openxmlformats-officedocument.drawingml.diagramData+xml"/>
  <Override PartName="/ppt/diagrams/layout142.xml" ContentType="application/vnd.openxmlformats-officedocument.drawingml.diagramLayout+xml"/>
  <Override PartName="/ppt/diagrams/quickStyle142.xml" ContentType="application/vnd.openxmlformats-officedocument.drawingml.diagramStyle+xml"/>
  <Override PartName="/ppt/diagrams/colors142.xml" ContentType="application/vnd.openxmlformats-officedocument.drawingml.diagramColors+xml"/>
  <Override PartName="/ppt/diagrams/drawing142.xml" ContentType="application/vnd.ms-office.drawingml.diagramDrawing+xml"/>
  <Override PartName="/ppt/diagrams/data143.xml" ContentType="application/vnd.openxmlformats-officedocument.drawingml.diagramData+xml"/>
  <Override PartName="/ppt/diagrams/layout143.xml" ContentType="application/vnd.openxmlformats-officedocument.drawingml.diagramLayout+xml"/>
  <Override PartName="/ppt/diagrams/quickStyle143.xml" ContentType="application/vnd.openxmlformats-officedocument.drawingml.diagramStyle+xml"/>
  <Override PartName="/ppt/diagrams/colors143.xml" ContentType="application/vnd.openxmlformats-officedocument.drawingml.diagramColors+xml"/>
  <Override PartName="/ppt/diagrams/drawing143.xml" ContentType="application/vnd.ms-office.drawingml.diagramDrawing+xml"/>
  <Override PartName="/ppt/diagrams/data144.xml" ContentType="application/vnd.openxmlformats-officedocument.drawingml.diagramData+xml"/>
  <Override PartName="/ppt/diagrams/layout144.xml" ContentType="application/vnd.openxmlformats-officedocument.drawingml.diagramLayout+xml"/>
  <Override PartName="/ppt/diagrams/quickStyle144.xml" ContentType="application/vnd.openxmlformats-officedocument.drawingml.diagramStyle+xml"/>
  <Override PartName="/ppt/diagrams/colors144.xml" ContentType="application/vnd.openxmlformats-officedocument.drawingml.diagramColors+xml"/>
  <Override PartName="/ppt/diagrams/drawing144.xml" ContentType="application/vnd.ms-office.drawingml.diagramDrawing+xml"/>
  <Override PartName="/ppt/diagrams/data145.xml" ContentType="application/vnd.openxmlformats-officedocument.drawingml.diagramData+xml"/>
  <Override PartName="/ppt/diagrams/layout145.xml" ContentType="application/vnd.openxmlformats-officedocument.drawingml.diagramLayout+xml"/>
  <Override PartName="/ppt/diagrams/quickStyle145.xml" ContentType="application/vnd.openxmlformats-officedocument.drawingml.diagramStyle+xml"/>
  <Override PartName="/ppt/diagrams/colors145.xml" ContentType="application/vnd.openxmlformats-officedocument.drawingml.diagramColors+xml"/>
  <Override PartName="/ppt/diagrams/drawing145.xml" ContentType="application/vnd.ms-office.drawingml.diagramDrawing+xml"/>
  <Override PartName="/ppt/diagrams/data146.xml" ContentType="application/vnd.openxmlformats-officedocument.drawingml.diagramData+xml"/>
  <Override PartName="/ppt/diagrams/layout146.xml" ContentType="application/vnd.openxmlformats-officedocument.drawingml.diagramLayout+xml"/>
  <Override PartName="/ppt/diagrams/quickStyle146.xml" ContentType="application/vnd.openxmlformats-officedocument.drawingml.diagramStyle+xml"/>
  <Override PartName="/ppt/diagrams/colors146.xml" ContentType="application/vnd.openxmlformats-officedocument.drawingml.diagramColors+xml"/>
  <Override PartName="/ppt/diagrams/drawing146.xml" ContentType="application/vnd.ms-office.drawingml.diagramDrawing+xml"/>
  <Override PartName="/ppt/diagrams/data147.xml" ContentType="application/vnd.openxmlformats-officedocument.drawingml.diagramData+xml"/>
  <Override PartName="/ppt/diagrams/layout147.xml" ContentType="application/vnd.openxmlformats-officedocument.drawingml.diagramLayout+xml"/>
  <Override PartName="/ppt/diagrams/quickStyle147.xml" ContentType="application/vnd.openxmlformats-officedocument.drawingml.diagramStyle+xml"/>
  <Override PartName="/ppt/diagrams/colors147.xml" ContentType="application/vnd.openxmlformats-officedocument.drawingml.diagramColors+xml"/>
  <Override PartName="/ppt/diagrams/drawing147.xml" ContentType="application/vnd.ms-office.drawingml.diagramDrawing+xml"/>
  <Override PartName="/ppt/diagrams/data148.xml" ContentType="application/vnd.openxmlformats-officedocument.drawingml.diagramData+xml"/>
  <Override PartName="/ppt/diagrams/layout148.xml" ContentType="application/vnd.openxmlformats-officedocument.drawingml.diagramLayout+xml"/>
  <Override PartName="/ppt/diagrams/quickStyle148.xml" ContentType="application/vnd.openxmlformats-officedocument.drawingml.diagramStyle+xml"/>
  <Override PartName="/ppt/diagrams/colors148.xml" ContentType="application/vnd.openxmlformats-officedocument.drawingml.diagramColors+xml"/>
  <Override PartName="/ppt/diagrams/drawing148.xml" ContentType="application/vnd.ms-office.drawingml.diagramDrawing+xml"/>
  <Override PartName="/ppt/diagrams/data149.xml" ContentType="application/vnd.openxmlformats-officedocument.drawingml.diagramData+xml"/>
  <Override PartName="/ppt/diagrams/layout149.xml" ContentType="application/vnd.openxmlformats-officedocument.drawingml.diagramLayout+xml"/>
  <Override PartName="/ppt/diagrams/quickStyle149.xml" ContentType="application/vnd.openxmlformats-officedocument.drawingml.diagramStyle+xml"/>
  <Override PartName="/ppt/diagrams/colors149.xml" ContentType="application/vnd.openxmlformats-officedocument.drawingml.diagramColors+xml"/>
  <Override PartName="/ppt/diagrams/drawing149.xml" ContentType="application/vnd.ms-office.drawingml.diagramDrawing+xml"/>
  <Override PartName="/ppt/diagrams/data150.xml" ContentType="application/vnd.openxmlformats-officedocument.drawingml.diagramData+xml"/>
  <Override PartName="/ppt/diagrams/layout150.xml" ContentType="application/vnd.openxmlformats-officedocument.drawingml.diagramLayout+xml"/>
  <Override PartName="/ppt/diagrams/quickStyle150.xml" ContentType="application/vnd.openxmlformats-officedocument.drawingml.diagramStyle+xml"/>
  <Override PartName="/ppt/diagrams/colors150.xml" ContentType="application/vnd.openxmlformats-officedocument.drawingml.diagramColors+xml"/>
  <Override PartName="/ppt/diagrams/drawing150.xml" ContentType="application/vnd.ms-office.drawingml.diagramDrawing+xml"/>
  <Override PartName="/ppt/diagrams/data151.xml" ContentType="application/vnd.openxmlformats-officedocument.drawingml.diagramData+xml"/>
  <Override PartName="/ppt/diagrams/layout151.xml" ContentType="application/vnd.openxmlformats-officedocument.drawingml.diagramLayout+xml"/>
  <Override PartName="/ppt/diagrams/quickStyle151.xml" ContentType="application/vnd.openxmlformats-officedocument.drawingml.diagramStyle+xml"/>
  <Override PartName="/ppt/diagrams/colors151.xml" ContentType="application/vnd.openxmlformats-officedocument.drawingml.diagramColors+xml"/>
  <Override PartName="/ppt/diagrams/drawing151.xml" ContentType="application/vnd.ms-office.drawingml.diagramDrawing+xml"/>
  <Override PartName="/ppt/diagrams/data152.xml" ContentType="application/vnd.openxmlformats-officedocument.drawingml.diagramData+xml"/>
  <Override PartName="/ppt/diagrams/layout152.xml" ContentType="application/vnd.openxmlformats-officedocument.drawingml.diagramLayout+xml"/>
  <Override PartName="/ppt/diagrams/quickStyle152.xml" ContentType="application/vnd.openxmlformats-officedocument.drawingml.diagramStyle+xml"/>
  <Override PartName="/ppt/diagrams/colors152.xml" ContentType="application/vnd.openxmlformats-officedocument.drawingml.diagramColors+xml"/>
  <Override PartName="/ppt/diagrams/drawing152.xml" ContentType="application/vnd.ms-office.drawingml.diagramDrawing+xml"/>
  <Override PartName="/ppt/diagrams/data153.xml" ContentType="application/vnd.openxmlformats-officedocument.drawingml.diagramData+xml"/>
  <Override PartName="/ppt/diagrams/layout153.xml" ContentType="application/vnd.openxmlformats-officedocument.drawingml.diagramLayout+xml"/>
  <Override PartName="/ppt/diagrams/quickStyle153.xml" ContentType="application/vnd.openxmlformats-officedocument.drawingml.diagramStyle+xml"/>
  <Override PartName="/ppt/diagrams/colors153.xml" ContentType="application/vnd.openxmlformats-officedocument.drawingml.diagramColors+xml"/>
  <Override PartName="/ppt/diagrams/drawing153.xml" ContentType="application/vnd.ms-office.drawingml.diagramDrawing+xml"/>
  <Override PartName="/ppt/diagrams/data154.xml" ContentType="application/vnd.openxmlformats-officedocument.drawingml.diagramData+xml"/>
  <Override PartName="/ppt/diagrams/layout154.xml" ContentType="application/vnd.openxmlformats-officedocument.drawingml.diagramLayout+xml"/>
  <Override PartName="/ppt/diagrams/quickStyle154.xml" ContentType="application/vnd.openxmlformats-officedocument.drawingml.diagramStyle+xml"/>
  <Override PartName="/ppt/diagrams/colors154.xml" ContentType="application/vnd.openxmlformats-officedocument.drawingml.diagramColors+xml"/>
  <Override PartName="/ppt/diagrams/drawing154.xml" ContentType="application/vnd.ms-office.drawingml.diagramDrawing+xml"/>
  <Override PartName="/ppt/diagrams/data155.xml" ContentType="application/vnd.openxmlformats-officedocument.drawingml.diagramData+xml"/>
  <Override PartName="/ppt/diagrams/layout155.xml" ContentType="application/vnd.openxmlformats-officedocument.drawingml.diagramLayout+xml"/>
  <Override PartName="/ppt/diagrams/quickStyle155.xml" ContentType="application/vnd.openxmlformats-officedocument.drawingml.diagramStyle+xml"/>
  <Override PartName="/ppt/diagrams/colors155.xml" ContentType="application/vnd.openxmlformats-officedocument.drawingml.diagramColors+xml"/>
  <Override PartName="/ppt/diagrams/drawing155.xml" ContentType="application/vnd.ms-office.drawingml.diagramDrawing+xml"/>
  <Override PartName="/ppt/diagrams/data156.xml" ContentType="application/vnd.openxmlformats-officedocument.drawingml.diagramData+xml"/>
  <Override PartName="/ppt/diagrams/layout156.xml" ContentType="application/vnd.openxmlformats-officedocument.drawingml.diagramLayout+xml"/>
  <Override PartName="/ppt/diagrams/quickStyle156.xml" ContentType="application/vnd.openxmlformats-officedocument.drawingml.diagramStyle+xml"/>
  <Override PartName="/ppt/diagrams/colors156.xml" ContentType="application/vnd.openxmlformats-officedocument.drawingml.diagramColors+xml"/>
  <Override PartName="/ppt/diagrams/drawing156.xml" ContentType="application/vnd.ms-office.drawingml.diagramDrawing+xml"/>
  <Override PartName="/ppt/diagrams/data157.xml" ContentType="application/vnd.openxmlformats-officedocument.drawingml.diagramData+xml"/>
  <Override PartName="/ppt/diagrams/layout157.xml" ContentType="application/vnd.openxmlformats-officedocument.drawingml.diagramLayout+xml"/>
  <Override PartName="/ppt/diagrams/quickStyle157.xml" ContentType="application/vnd.openxmlformats-officedocument.drawingml.diagramStyle+xml"/>
  <Override PartName="/ppt/diagrams/colors157.xml" ContentType="application/vnd.openxmlformats-officedocument.drawingml.diagramColors+xml"/>
  <Override PartName="/ppt/diagrams/drawing157.xml" ContentType="application/vnd.ms-office.drawingml.diagramDrawing+xml"/>
  <Override PartName="/ppt/diagrams/data158.xml" ContentType="application/vnd.openxmlformats-officedocument.drawingml.diagramData+xml"/>
  <Override PartName="/ppt/diagrams/layout158.xml" ContentType="application/vnd.openxmlformats-officedocument.drawingml.diagramLayout+xml"/>
  <Override PartName="/ppt/diagrams/quickStyle158.xml" ContentType="application/vnd.openxmlformats-officedocument.drawingml.diagramStyle+xml"/>
  <Override PartName="/ppt/diagrams/colors158.xml" ContentType="application/vnd.openxmlformats-officedocument.drawingml.diagramColors+xml"/>
  <Override PartName="/ppt/diagrams/drawing158.xml" ContentType="application/vnd.ms-office.drawingml.diagramDrawing+xml"/>
  <Override PartName="/ppt/diagrams/data159.xml" ContentType="application/vnd.openxmlformats-officedocument.drawingml.diagramData+xml"/>
  <Override PartName="/ppt/diagrams/layout159.xml" ContentType="application/vnd.openxmlformats-officedocument.drawingml.diagramLayout+xml"/>
  <Override PartName="/ppt/diagrams/quickStyle159.xml" ContentType="application/vnd.openxmlformats-officedocument.drawingml.diagramStyle+xml"/>
  <Override PartName="/ppt/diagrams/colors159.xml" ContentType="application/vnd.openxmlformats-officedocument.drawingml.diagramColors+xml"/>
  <Override PartName="/ppt/diagrams/drawing159.xml" ContentType="application/vnd.ms-office.drawingml.diagramDrawing+xml"/>
  <Override PartName="/ppt/diagrams/data160.xml" ContentType="application/vnd.openxmlformats-officedocument.drawingml.diagramData+xml"/>
  <Override PartName="/ppt/diagrams/layout160.xml" ContentType="application/vnd.openxmlformats-officedocument.drawingml.diagramLayout+xml"/>
  <Override PartName="/ppt/diagrams/quickStyle160.xml" ContentType="application/vnd.openxmlformats-officedocument.drawingml.diagramStyle+xml"/>
  <Override PartName="/ppt/diagrams/colors160.xml" ContentType="application/vnd.openxmlformats-officedocument.drawingml.diagramColors+xml"/>
  <Override PartName="/ppt/diagrams/drawing160.xml" ContentType="application/vnd.ms-office.drawingml.diagramDrawing+xml"/>
  <Override PartName="/ppt/diagrams/data161.xml" ContentType="application/vnd.openxmlformats-officedocument.drawingml.diagramData+xml"/>
  <Override PartName="/ppt/diagrams/layout161.xml" ContentType="application/vnd.openxmlformats-officedocument.drawingml.diagramLayout+xml"/>
  <Override PartName="/ppt/diagrams/quickStyle161.xml" ContentType="application/vnd.openxmlformats-officedocument.drawingml.diagramStyle+xml"/>
  <Override PartName="/ppt/diagrams/colors161.xml" ContentType="application/vnd.openxmlformats-officedocument.drawingml.diagramColors+xml"/>
  <Override PartName="/ppt/diagrams/drawing161.xml" ContentType="application/vnd.ms-office.drawingml.diagramDrawing+xml"/>
  <Override PartName="/ppt/diagrams/data162.xml" ContentType="application/vnd.openxmlformats-officedocument.drawingml.diagramData+xml"/>
  <Override PartName="/ppt/diagrams/layout162.xml" ContentType="application/vnd.openxmlformats-officedocument.drawingml.diagramLayout+xml"/>
  <Override PartName="/ppt/diagrams/quickStyle162.xml" ContentType="application/vnd.openxmlformats-officedocument.drawingml.diagramStyle+xml"/>
  <Override PartName="/ppt/diagrams/colors162.xml" ContentType="application/vnd.openxmlformats-officedocument.drawingml.diagramColors+xml"/>
  <Override PartName="/ppt/diagrams/drawing162.xml" ContentType="application/vnd.ms-office.drawingml.diagramDrawing+xml"/>
  <Override PartName="/ppt/diagrams/data163.xml" ContentType="application/vnd.openxmlformats-officedocument.drawingml.diagramData+xml"/>
  <Override PartName="/ppt/diagrams/layout163.xml" ContentType="application/vnd.openxmlformats-officedocument.drawingml.diagramLayout+xml"/>
  <Override PartName="/ppt/diagrams/quickStyle163.xml" ContentType="application/vnd.openxmlformats-officedocument.drawingml.diagramStyle+xml"/>
  <Override PartName="/ppt/diagrams/colors163.xml" ContentType="application/vnd.openxmlformats-officedocument.drawingml.diagramColors+xml"/>
  <Override PartName="/ppt/diagrams/drawing163.xml" ContentType="application/vnd.ms-office.drawingml.diagramDrawing+xml"/>
  <Override PartName="/ppt/diagrams/data164.xml" ContentType="application/vnd.openxmlformats-officedocument.drawingml.diagramData+xml"/>
  <Override PartName="/ppt/diagrams/layout164.xml" ContentType="application/vnd.openxmlformats-officedocument.drawingml.diagramLayout+xml"/>
  <Override PartName="/ppt/diagrams/quickStyle164.xml" ContentType="application/vnd.openxmlformats-officedocument.drawingml.diagramStyle+xml"/>
  <Override PartName="/ppt/diagrams/colors164.xml" ContentType="application/vnd.openxmlformats-officedocument.drawingml.diagramColors+xml"/>
  <Override PartName="/ppt/diagrams/drawing164.xml" ContentType="application/vnd.ms-office.drawingml.diagramDrawing+xml"/>
  <Override PartName="/ppt/diagrams/data165.xml" ContentType="application/vnd.openxmlformats-officedocument.drawingml.diagramData+xml"/>
  <Override PartName="/ppt/diagrams/layout165.xml" ContentType="application/vnd.openxmlformats-officedocument.drawingml.diagramLayout+xml"/>
  <Override PartName="/ppt/diagrams/quickStyle165.xml" ContentType="application/vnd.openxmlformats-officedocument.drawingml.diagramStyle+xml"/>
  <Override PartName="/ppt/diagrams/colors165.xml" ContentType="application/vnd.openxmlformats-officedocument.drawingml.diagramColors+xml"/>
  <Override PartName="/ppt/diagrams/drawing165.xml" ContentType="application/vnd.ms-office.drawingml.diagramDrawing+xml"/>
  <Override PartName="/ppt/diagrams/data166.xml" ContentType="application/vnd.openxmlformats-officedocument.drawingml.diagramData+xml"/>
  <Override PartName="/ppt/diagrams/layout166.xml" ContentType="application/vnd.openxmlformats-officedocument.drawingml.diagramLayout+xml"/>
  <Override PartName="/ppt/diagrams/quickStyle166.xml" ContentType="application/vnd.openxmlformats-officedocument.drawingml.diagramStyle+xml"/>
  <Override PartName="/ppt/diagrams/colors166.xml" ContentType="application/vnd.openxmlformats-officedocument.drawingml.diagramColors+xml"/>
  <Override PartName="/ppt/diagrams/drawing166.xml" ContentType="application/vnd.ms-office.drawingml.diagramDrawing+xml"/>
  <Override PartName="/ppt/diagrams/data167.xml" ContentType="application/vnd.openxmlformats-officedocument.drawingml.diagramData+xml"/>
  <Override PartName="/ppt/diagrams/layout167.xml" ContentType="application/vnd.openxmlformats-officedocument.drawingml.diagramLayout+xml"/>
  <Override PartName="/ppt/diagrams/quickStyle167.xml" ContentType="application/vnd.openxmlformats-officedocument.drawingml.diagramStyle+xml"/>
  <Override PartName="/ppt/diagrams/colors167.xml" ContentType="application/vnd.openxmlformats-officedocument.drawingml.diagramColors+xml"/>
  <Override PartName="/ppt/diagrams/drawing167.xml" ContentType="application/vnd.ms-office.drawingml.diagramDrawing+xml"/>
  <Override PartName="/ppt/diagrams/data168.xml" ContentType="application/vnd.openxmlformats-officedocument.drawingml.diagramData+xml"/>
  <Override PartName="/ppt/diagrams/layout168.xml" ContentType="application/vnd.openxmlformats-officedocument.drawingml.diagramLayout+xml"/>
  <Override PartName="/ppt/diagrams/quickStyle168.xml" ContentType="application/vnd.openxmlformats-officedocument.drawingml.diagramStyle+xml"/>
  <Override PartName="/ppt/diagrams/colors168.xml" ContentType="application/vnd.openxmlformats-officedocument.drawingml.diagramColors+xml"/>
  <Override PartName="/ppt/diagrams/drawing168.xml" ContentType="application/vnd.ms-office.drawingml.diagramDrawing+xml"/>
  <Override PartName="/ppt/diagrams/data169.xml" ContentType="application/vnd.openxmlformats-officedocument.drawingml.diagramData+xml"/>
  <Override PartName="/ppt/diagrams/layout169.xml" ContentType="application/vnd.openxmlformats-officedocument.drawingml.diagramLayout+xml"/>
  <Override PartName="/ppt/diagrams/quickStyle169.xml" ContentType="application/vnd.openxmlformats-officedocument.drawingml.diagramStyle+xml"/>
  <Override PartName="/ppt/diagrams/colors169.xml" ContentType="application/vnd.openxmlformats-officedocument.drawingml.diagramColors+xml"/>
  <Override PartName="/ppt/diagrams/drawing169.xml" ContentType="application/vnd.ms-office.drawingml.diagramDrawing+xml"/>
  <Override PartName="/ppt/diagrams/data170.xml" ContentType="application/vnd.openxmlformats-officedocument.drawingml.diagramData+xml"/>
  <Override PartName="/ppt/diagrams/layout170.xml" ContentType="application/vnd.openxmlformats-officedocument.drawingml.diagramLayout+xml"/>
  <Override PartName="/ppt/diagrams/quickStyle170.xml" ContentType="application/vnd.openxmlformats-officedocument.drawingml.diagramStyle+xml"/>
  <Override PartName="/ppt/diagrams/colors170.xml" ContentType="application/vnd.openxmlformats-officedocument.drawingml.diagramColors+xml"/>
  <Override PartName="/ppt/diagrams/drawing170.xml" ContentType="application/vnd.ms-office.drawingml.diagramDrawing+xml"/>
  <Override PartName="/ppt/diagrams/data171.xml" ContentType="application/vnd.openxmlformats-officedocument.drawingml.diagramData+xml"/>
  <Override PartName="/ppt/diagrams/layout171.xml" ContentType="application/vnd.openxmlformats-officedocument.drawingml.diagramLayout+xml"/>
  <Override PartName="/ppt/diagrams/quickStyle171.xml" ContentType="application/vnd.openxmlformats-officedocument.drawingml.diagramStyle+xml"/>
  <Override PartName="/ppt/diagrams/colors171.xml" ContentType="application/vnd.openxmlformats-officedocument.drawingml.diagramColors+xml"/>
  <Override PartName="/ppt/diagrams/drawing171.xml" ContentType="application/vnd.ms-office.drawingml.diagramDrawing+xml"/>
  <Override PartName="/ppt/diagrams/data172.xml" ContentType="application/vnd.openxmlformats-officedocument.drawingml.diagramData+xml"/>
  <Override PartName="/ppt/diagrams/layout172.xml" ContentType="application/vnd.openxmlformats-officedocument.drawingml.diagramLayout+xml"/>
  <Override PartName="/ppt/diagrams/quickStyle172.xml" ContentType="application/vnd.openxmlformats-officedocument.drawingml.diagramStyle+xml"/>
  <Override PartName="/ppt/diagrams/colors172.xml" ContentType="application/vnd.openxmlformats-officedocument.drawingml.diagramColors+xml"/>
  <Override PartName="/ppt/diagrams/drawing172.xml" ContentType="application/vnd.ms-office.drawingml.diagramDrawing+xml"/>
  <Override PartName="/ppt/diagrams/data173.xml" ContentType="application/vnd.openxmlformats-officedocument.drawingml.diagramData+xml"/>
  <Override PartName="/ppt/diagrams/layout173.xml" ContentType="application/vnd.openxmlformats-officedocument.drawingml.diagramLayout+xml"/>
  <Override PartName="/ppt/diagrams/quickStyle173.xml" ContentType="application/vnd.openxmlformats-officedocument.drawingml.diagramStyle+xml"/>
  <Override PartName="/ppt/diagrams/colors173.xml" ContentType="application/vnd.openxmlformats-officedocument.drawingml.diagramColors+xml"/>
  <Override PartName="/ppt/diagrams/drawing173.xml" ContentType="application/vnd.ms-office.drawingml.diagramDrawing+xml"/>
  <Override PartName="/ppt/diagrams/data174.xml" ContentType="application/vnd.openxmlformats-officedocument.drawingml.diagramData+xml"/>
  <Override PartName="/ppt/diagrams/layout174.xml" ContentType="application/vnd.openxmlformats-officedocument.drawingml.diagramLayout+xml"/>
  <Override PartName="/ppt/diagrams/quickStyle174.xml" ContentType="application/vnd.openxmlformats-officedocument.drawingml.diagramStyle+xml"/>
  <Override PartName="/ppt/diagrams/colors174.xml" ContentType="application/vnd.openxmlformats-officedocument.drawingml.diagramColors+xml"/>
  <Override PartName="/ppt/diagrams/drawing174.xml" ContentType="application/vnd.ms-office.drawingml.diagramDrawing+xml"/>
  <Override PartName="/ppt/diagrams/data175.xml" ContentType="application/vnd.openxmlformats-officedocument.drawingml.diagramData+xml"/>
  <Override PartName="/ppt/diagrams/layout175.xml" ContentType="application/vnd.openxmlformats-officedocument.drawingml.diagramLayout+xml"/>
  <Override PartName="/ppt/diagrams/quickStyle175.xml" ContentType="application/vnd.openxmlformats-officedocument.drawingml.diagramStyle+xml"/>
  <Override PartName="/ppt/diagrams/colors175.xml" ContentType="application/vnd.openxmlformats-officedocument.drawingml.diagramColors+xml"/>
  <Override PartName="/ppt/diagrams/drawing175.xml" ContentType="application/vnd.ms-office.drawingml.diagramDrawing+xml"/>
  <Override PartName="/ppt/diagrams/data176.xml" ContentType="application/vnd.openxmlformats-officedocument.drawingml.diagramData+xml"/>
  <Override PartName="/ppt/diagrams/layout176.xml" ContentType="application/vnd.openxmlformats-officedocument.drawingml.diagramLayout+xml"/>
  <Override PartName="/ppt/diagrams/quickStyle176.xml" ContentType="application/vnd.openxmlformats-officedocument.drawingml.diagramStyle+xml"/>
  <Override PartName="/ppt/diagrams/colors176.xml" ContentType="application/vnd.openxmlformats-officedocument.drawingml.diagramColors+xml"/>
  <Override PartName="/ppt/diagrams/drawing176.xml" ContentType="application/vnd.ms-office.drawingml.diagramDrawing+xml"/>
  <Override PartName="/ppt/diagrams/data177.xml" ContentType="application/vnd.openxmlformats-officedocument.drawingml.diagramData+xml"/>
  <Override PartName="/ppt/diagrams/layout177.xml" ContentType="application/vnd.openxmlformats-officedocument.drawingml.diagramLayout+xml"/>
  <Override PartName="/ppt/diagrams/quickStyle177.xml" ContentType="application/vnd.openxmlformats-officedocument.drawingml.diagramStyle+xml"/>
  <Override PartName="/ppt/diagrams/colors177.xml" ContentType="application/vnd.openxmlformats-officedocument.drawingml.diagramColors+xml"/>
  <Override PartName="/ppt/diagrams/drawing177.xml" ContentType="application/vnd.ms-office.drawingml.diagramDrawing+xml"/>
  <Override PartName="/ppt/diagrams/data178.xml" ContentType="application/vnd.openxmlformats-officedocument.drawingml.diagramData+xml"/>
  <Override PartName="/ppt/diagrams/layout178.xml" ContentType="application/vnd.openxmlformats-officedocument.drawingml.diagramLayout+xml"/>
  <Override PartName="/ppt/diagrams/quickStyle178.xml" ContentType="application/vnd.openxmlformats-officedocument.drawingml.diagramStyle+xml"/>
  <Override PartName="/ppt/diagrams/colors178.xml" ContentType="application/vnd.openxmlformats-officedocument.drawingml.diagramColors+xml"/>
  <Override PartName="/ppt/diagrams/drawing178.xml" ContentType="application/vnd.ms-office.drawingml.diagramDrawing+xml"/>
  <Override PartName="/ppt/diagrams/data179.xml" ContentType="application/vnd.openxmlformats-officedocument.drawingml.diagramData+xml"/>
  <Override PartName="/ppt/diagrams/layout179.xml" ContentType="application/vnd.openxmlformats-officedocument.drawingml.diagramLayout+xml"/>
  <Override PartName="/ppt/diagrams/quickStyle179.xml" ContentType="application/vnd.openxmlformats-officedocument.drawingml.diagramStyle+xml"/>
  <Override PartName="/ppt/diagrams/colors179.xml" ContentType="application/vnd.openxmlformats-officedocument.drawingml.diagramColors+xml"/>
  <Override PartName="/ppt/diagrams/drawing179.xml" ContentType="application/vnd.ms-office.drawingml.diagramDrawing+xml"/>
  <Override PartName="/ppt/diagrams/data180.xml" ContentType="application/vnd.openxmlformats-officedocument.drawingml.diagramData+xml"/>
  <Override PartName="/ppt/diagrams/layout180.xml" ContentType="application/vnd.openxmlformats-officedocument.drawingml.diagramLayout+xml"/>
  <Override PartName="/ppt/diagrams/quickStyle180.xml" ContentType="application/vnd.openxmlformats-officedocument.drawingml.diagramStyle+xml"/>
  <Override PartName="/ppt/diagrams/colors180.xml" ContentType="application/vnd.openxmlformats-officedocument.drawingml.diagramColors+xml"/>
  <Override PartName="/ppt/diagrams/drawing180.xml" ContentType="application/vnd.ms-office.drawingml.diagramDrawing+xml"/>
  <Override PartName="/ppt/diagrams/data181.xml" ContentType="application/vnd.openxmlformats-officedocument.drawingml.diagramData+xml"/>
  <Override PartName="/ppt/diagrams/layout181.xml" ContentType="application/vnd.openxmlformats-officedocument.drawingml.diagramLayout+xml"/>
  <Override PartName="/ppt/diagrams/quickStyle181.xml" ContentType="application/vnd.openxmlformats-officedocument.drawingml.diagramStyle+xml"/>
  <Override PartName="/ppt/diagrams/colors181.xml" ContentType="application/vnd.openxmlformats-officedocument.drawingml.diagramColors+xml"/>
  <Override PartName="/ppt/diagrams/drawing181.xml" ContentType="application/vnd.ms-office.drawingml.diagramDrawing+xml"/>
  <Override PartName="/ppt/diagrams/data182.xml" ContentType="application/vnd.openxmlformats-officedocument.drawingml.diagramData+xml"/>
  <Override PartName="/ppt/diagrams/layout182.xml" ContentType="application/vnd.openxmlformats-officedocument.drawingml.diagramLayout+xml"/>
  <Override PartName="/ppt/diagrams/quickStyle182.xml" ContentType="application/vnd.openxmlformats-officedocument.drawingml.diagramStyle+xml"/>
  <Override PartName="/ppt/diagrams/colors182.xml" ContentType="application/vnd.openxmlformats-officedocument.drawingml.diagramColors+xml"/>
  <Override PartName="/ppt/diagrams/drawing182.xml" ContentType="application/vnd.ms-office.drawingml.diagramDrawing+xml"/>
  <Override PartName="/ppt/diagrams/data183.xml" ContentType="application/vnd.openxmlformats-officedocument.drawingml.diagramData+xml"/>
  <Override PartName="/ppt/diagrams/layout183.xml" ContentType="application/vnd.openxmlformats-officedocument.drawingml.diagramLayout+xml"/>
  <Override PartName="/ppt/diagrams/quickStyle183.xml" ContentType="application/vnd.openxmlformats-officedocument.drawingml.diagramStyle+xml"/>
  <Override PartName="/ppt/diagrams/colors183.xml" ContentType="application/vnd.openxmlformats-officedocument.drawingml.diagramColors+xml"/>
  <Override PartName="/ppt/diagrams/drawing183.xml" ContentType="application/vnd.ms-office.drawingml.diagramDrawing+xml"/>
  <Override PartName="/ppt/diagrams/data184.xml" ContentType="application/vnd.openxmlformats-officedocument.drawingml.diagramData+xml"/>
  <Override PartName="/ppt/diagrams/layout184.xml" ContentType="application/vnd.openxmlformats-officedocument.drawingml.diagramLayout+xml"/>
  <Override PartName="/ppt/diagrams/quickStyle184.xml" ContentType="application/vnd.openxmlformats-officedocument.drawingml.diagramStyle+xml"/>
  <Override PartName="/ppt/diagrams/colors184.xml" ContentType="application/vnd.openxmlformats-officedocument.drawingml.diagramColors+xml"/>
  <Override PartName="/ppt/diagrams/drawing184.xml" ContentType="application/vnd.ms-office.drawingml.diagramDrawing+xml"/>
  <Override PartName="/ppt/diagrams/data185.xml" ContentType="application/vnd.openxmlformats-officedocument.drawingml.diagramData+xml"/>
  <Override PartName="/ppt/diagrams/layout185.xml" ContentType="application/vnd.openxmlformats-officedocument.drawingml.diagramLayout+xml"/>
  <Override PartName="/ppt/diagrams/quickStyle185.xml" ContentType="application/vnd.openxmlformats-officedocument.drawingml.diagramStyle+xml"/>
  <Override PartName="/ppt/diagrams/colors185.xml" ContentType="application/vnd.openxmlformats-officedocument.drawingml.diagramColors+xml"/>
  <Override PartName="/ppt/diagrams/drawing185.xml" ContentType="application/vnd.ms-office.drawingml.diagramDrawing+xml"/>
  <Override PartName="/ppt/diagrams/data186.xml" ContentType="application/vnd.openxmlformats-officedocument.drawingml.diagramData+xml"/>
  <Override PartName="/ppt/diagrams/layout186.xml" ContentType="application/vnd.openxmlformats-officedocument.drawingml.diagramLayout+xml"/>
  <Override PartName="/ppt/diagrams/quickStyle186.xml" ContentType="application/vnd.openxmlformats-officedocument.drawingml.diagramStyle+xml"/>
  <Override PartName="/ppt/diagrams/colors186.xml" ContentType="application/vnd.openxmlformats-officedocument.drawingml.diagramColors+xml"/>
  <Override PartName="/ppt/diagrams/drawing186.xml" ContentType="application/vnd.ms-office.drawingml.diagramDrawing+xml"/>
  <Override PartName="/ppt/diagrams/data187.xml" ContentType="application/vnd.openxmlformats-officedocument.drawingml.diagramData+xml"/>
  <Override PartName="/ppt/diagrams/layout187.xml" ContentType="application/vnd.openxmlformats-officedocument.drawingml.diagramLayout+xml"/>
  <Override PartName="/ppt/diagrams/quickStyle187.xml" ContentType="application/vnd.openxmlformats-officedocument.drawingml.diagramStyle+xml"/>
  <Override PartName="/ppt/diagrams/colors187.xml" ContentType="application/vnd.openxmlformats-officedocument.drawingml.diagramColors+xml"/>
  <Override PartName="/ppt/diagrams/drawing187.xml" ContentType="application/vnd.ms-office.drawingml.diagramDrawing+xml"/>
  <Override PartName="/ppt/diagrams/data188.xml" ContentType="application/vnd.openxmlformats-officedocument.drawingml.diagramData+xml"/>
  <Override PartName="/ppt/diagrams/layout188.xml" ContentType="application/vnd.openxmlformats-officedocument.drawingml.diagramLayout+xml"/>
  <Override PartName="/ppt/diagrams/quickStyle188.xml" ContentType="application/vnd.openxmlformats-officedocument.drawingml.diagramStyle+xml"/>
  <Override PartName="/ppt/diagrams/colors188.xml" ContentType="application/vnd.openxmlformats-officedocument.drawingml.diagramColors+xml"/>
  <Override PartName="/ppt/diagrams/drawing188.xml" ContentType="application/vnd.ms-office.drawingml.diagramDrawing+xml"/>
  <Override PartName="/ppt/diagrams/data189.xml" ContentType="application/vnd.openxmlformats-officedocument.drawingml.diagramData+xml"/>
  <Override PartName="/ppt/diagrams/layout189.xml" ContentType="application/vnd.openxmlformats-officedocument.drawingml.diagramLayout+xml"/>
  <Override PartName="/ppt/diagrams/quickStyle189.xml" ContentType="application/vnd.openxmlformats-officedocument.drawingml.diagramStyle+xml"/>
  <Override PartName="/ppt/diagrams/colors189.xml" ContentType="application/vnd.openxmlformats-officedocument.drawingml.diagramColors+xml"/>
  <Override PartName="/ppt/diagrams/drawing189.xml" ContentType="application/vnd.ms-office.drawingml.diagramDrawing+xml"/>
  <Override PartName="/ppt/diagrams/data190.xml" ContentType="application/vnd.openxmlformats-officedocument.drawingml.diagramData+xml"/>
  <Override PartName="/ppt/diagrams/layout190.xml" ContentType="application/vnd.openxmlformats-officedocument.drawingml.diagramLayout+xml"/>
  <Override PartName="/ppt/diagrams/quickStyle190.xml" ContentType="application/vnd.openxmlformats-officedocument.drawingml.diagramStyle+xml"/>
  <Override PartName="/ppt/diagrams/colors190.xml" ContentType="application/vnd.openxmlformats-officedocument.drawingml.diagramColors+xml"/>
  <Override PartName="/ppt/diagrams/drawing190.xml" ContentType="application/vnd.ms-office.drawingml.diagramDrawing+xml"/>
  <Override PartName="/ppt/diagrams/data191.xml" ContentType="application/vnd.openxmlformats-officedocument.drawingml.diagramData+xml"/>
  <Override PartName="/ppt/diagrams/layout191.xml" ContentType="application/vnd.openxmlformats-officedocument.drawingml.diagramLayout+xml"/>
  <Override PartName="/ppt/diagrams/quickStyle191.xml" ContentType="application/vnd.openxmlformats-officedocument.drawingml.diagramStyle+xml"/>
  <Override PartName="/ppt/diagrams/colors191.xml" ContentType="application/vnd.openxmlformats-officedocument.drawingml.diagramColors+xml"/>
  <Override PartName="/ppt/diagrams/drawing191.xml" ContentType="application/vnd.ms-office.drawingml.diagramDrawing+xml"/>
  <Override PartName="/ppt/diagrams/data192.xml" ContentType="application/vnd.openxmlformats-officedocument.drawingml.diagramData+xml"/>
  <Override PartName="/ppt/diagrams/layout192.xml" ContentType="application/vnd.openxmlformats-officedocument.drawingml.diagramLayout+xml"/>
  <Override PartName="/ppt/diagrams/quickStyle192.xml" ContentType="application/vnd.openxmlformats-officedocument.drawingml.diagramStyle+xml"/>
  <Override PartName="/ppt/diagrams/colors192.xml" ContentType="application/vnd.openxmlformats-officedocument.drawingml.diagramColors+xml"/>
  <Override PartName="/ppt/diagrams/drawing192.xml" ContentType="application/vnd.ms-office.drawingml.diagramDrawing+xml"/>
  <Override PartName="/ppt/diagrams/data193.xml" ContentType="application/vnd.openxmlformats-officedocument.drawingml.diagramData+xml"/>
  <Override PartName="/ppt/diagrams/layout193.xml" ContentType="application/vnd.openxmlformats-officedocument.drawingml.diagramLayout+xml"/>
  <Override PartName="/ppt/diagrams/quickStyle193.xml" ContentType="application/vnd.openxmlformats-officedocument.drawingml.diagramStyle+xml"/>
  <Override PartName="/ppt/diagrams/colors193.xml" ContentType="application/vnd.openxmlformats-officedocument.drawingml.diagramColors+xml"/>
  <Override PartName="/ppt/diagrams/drawing193.xml" ContentType="application/vnd.ms-office.drawingml.diagramDrawing+xml"/>
  <Override PartName="/ppt/diagrams/data194.xml" ContentType="application/vnd.openxmlformats-officedocument.drawingml.diagramData+xml"/>
  <Override PartName="/ppt/diagrams/layout194.xml" ContentType="application/vnd.openxmlformats-officedocument.drawingml.diagramLayout+xml"/>
  <Override PartName="/ppt/diagrams/quickStyle194.xml" ContentType="application/vnd.openxmlformats-officedocument.drawingml.diagramStyle+xml"/>
  <Override PartName="/ppt/diagrams/colors194.xml" ContentType="application/vnd.openxmlformats-officedocument.drawingml.diagramColors+xml"/>
  <Override PartName="/ppt/diagrams/drawing194.xml" ContentType="application/vnd.ms-office.drawingml.diagramDrawing+xml"/>
  <Override PartName="/ppt/diagrams/data195.xml" ContentType="application/vnd.openxmlformats-officedocument.drawingml.diagramData+xml"/>
  <Override PartName="/ppt/diagrams/layout195.xml" ContentType="application/vnd.openxmlformats-officedocument.drawingml.diagramLayout+xml"/>
  <Override PartName="/ppt/diagrams/quickStyle195.xml" ContentType="application/vnd.openxmlformats-officedocument.drawingml.diagramStyle+xml"/>
  <Override PartName="/ppt/diagrams/colors195.xml" ContentType="application/vnd.openxmlformats-officedocument.drawingml.diagramColors+xml"/>
  <Override PartName="/ppt/diagrams/drawing195.xml" ContentType="application/vnd.ms-office.drawingml.diagramDrawing+xml"/>
  <Override PartName="/ppt/diagrams/data196.xml" ContentType="application/vnd.openxmlformats-officedocument.drawingml.diagramData+xml"/>
  <Override PartName="/ppt/diagrams/layout196.xml" ContentType="application/vnd.openxmlformats-officedocument.drawingml.diagramLayout+xml"/>
  <Override PartName="/ppt/diagrams/quickStyle196.xml" ContentType="application/vnd.openxmlformats-officedocument.drawingml.diagramStyle+xml"/>
  <Override PartName="/ppt/diagrams/colors196.xml" ContentType="application/vnd.openxmlformats-officedocument.drawingml.diagramColors+xml"/>
  <Override PartName="/ppt/diagrams/drawing196.xml" ContentType="application/vnd.ms-office.drawingml.diagramDrawing+xml"/>
  <Override PartName="/ppt/diagrams/data197.xml" ContentType="application/vnd.openxmlformats-officedocument.drawingml.diagramData+xml"/>
  <Override PartName="/ppt/diagrams/layout197.xml" ContentType="application/vnd.openxmlformats-officedocument.drawingml.diagramLayout+xml"/>
  <Override PartName="/ppt/diagrams/quickStyle197.xml" ContentType="application/vnd.openxmlformats-officedocument.drawingml.diagramStyle+xml"/>
  <Override PartName="/ppt/diagrams/colors197.xml" ContentType="application/vnd.openxmlformats-officedocument.drawingml.diagramColors+xml"/>
  <Override PartName="/ppt/diagrams/drawing197.xml" ContentType="application/vnd.ms-office.drawingml.diagramDrawing+xml"/>
  <Override PartName="/ppt/diagrams/data198.xml" ContentType="application/vnd.openxmlformats-officedocument.drawingml.diagramData+xml"/>
  <Override PartName="/ppt/diagrams/layout198.xml" ContentType="application/vnd.openxmlformats-officedocument.drawingml.diagramLayout+xml"/>
  <Override PartName="/ppt/diagrams/quickStyle198.xml" ContentType="application/vnd.openxmlformats-officedocument.drawingml.diagramStyle+xml"/>
  <Override PartName="/ppt/diagrams/colors198.xml" ContentType="application/vnd.openxmlformats-officedocument.drawingml.diagramColors+xml"/>
  <Override PartName="/ppt/diagrams/drawing198.xml" ContentType="application/vnd.ms-office.drawingml.diagramDrawing+xml"/>
  <Override PartName="/ppt/diagrams/data199.xml" ContentType="application/vnd.openxmlformats-officedocument.drawingml.diagramData+xml"/>
  <Override PartName="/ppt/diagrams/layout199.xml" ContentType="application/vnd.openxmlformats-officedocument.drawingml.diagramLayout+xml"/>
  <Override PartName="/ppt/diagrams/quickStyle199.xml" ContentType="application/vnd.openxmlformats-officedocument.drawingml.diagramStyle+xml"/>
  <Override PartName="/ppt/diagrams/colors199.xml" ContentType="application/vnd.openxmlformats-officedocument.drawingml.diagramColors+xml"/>
  <Override PartName="/ppt/diagrams/drawing199.xml" ContentType="application/vnd.ms-office.drawingml.diagramDrawing+xml"/>
  <Override PartName="/ppt/diagrams/data200.xml" ContentType="application/vnd.openxmlformats-officedocument.drawingml.diagramData+xml"/>
  <Override PartName="/ppt/diagrams/layout200.xml" ContentType="application/vnd.openxmlformats-officedocument.drawingml.diagramLayout+xml"/>
  <Override PartName="/ppt/diagrams/quickStyle200.xml" ContentType="application/vnd.openxmlformats-officedocument.drawingml.diagramStyle+xml"/>
  <Override PartName="/ppt/diagrams/colors200.xml" ContentType="application/vnd.openxmlformats-officedocument.drawingml.diagramColors+xml"/>
  <Override PartName="/ppt/diagrams/drawing200.xml" ContentType="application/vnd.ms-office.drawingml.diagramDrawing+xml"/>
  <Override PartName="/ppt/diagrams/data201.xml" ContentType="application/vnd.openxmlformats-officedocument.drawingml.diagramData+xml"/>
  <Override PartName="/ppt/diagrams/layout201.xml" ContentType="application/vnd.openxmlformats-officedocument.drawingml.diagramLayout+xml"/>
  <Override PartName="/ppt/diagrams/quickStyle201.xml" ContentType="application/vnd.openxmlformats-officedocument.drawingml.diagramStyle+xml"/>
  <Override PartName="/ppt/diagrams/colors201.xml" ContentType="application/vnd.openxmlformats-officedocument.drawingml.diagramColors+xml"/>
  <Override PartName="/ppt/diagrams/drawing201.xml" ContentType="application/vnd.ms-office.drawingml.diagramDrawing+xml"/>
  <Override PartName="/ppt/diagrams/data202.xml" ContentType="application/vnd.openxmlformats-officedocument.drawingml.diagramData+xml"/>
  <Override PartName="/ppt/diagrams/layout202.xml" ContentType="application/vnd.openxmlformats-officedocument.drawingml.diagramLayout+xml"/>
  <Override PartName="/ppt/diagrams/quickStyle202.xml" ContentType="application/vnd.openxmlformats-officedocument.drawingml.diagramStyle+xml"/>
  <Override PartName="/ppt/diagrams/colors202.xml" ContentType="application/vnd.openxmlformats-officedocument.drawingml.diagramColors+xml"/>
  <Override PartName="/ppt/diagrams/drawing202.xml" ContentType="application/vnd.ms-office.drawingml.diagramDrawing+xml"/>
  <Override PartName="/ppt/diagrams/data203.xml" ContentType="application/vnd.openxmlformats-officedocument.drawingml.diagramData+xml"/>
  <Override PartName="/ppt/diagrams/layout203.xml" ContentType="application/vnd.openxmlformats-officedocument.drawingml.diagramLayout+xml"/>
  <Override PartName="/ppt/diagrams/quickStyle203.xml" ContentType="application/vnd.openxmlformats-officedocument.drawingml.diagramStyle+xml"/>
  <Override PartName="/ppt/diagrams/colors203.xml" ContentType="application/vnd.openxmlformats-officedocument.drawingml.diagramColors+xml"/>
  <Override PartName="/ppt/diagrams/drawing203.xml" ContentType="application/vnd.ms-office.drawingml.diagramDrawing+xml"/>
  <Override PartName="/ppt/diagrams/data204.xml" ContentType="application/vnd.openxmlformats-officedocument.drawingml.diagramData+xml"/>
  <Override PartName="/ppt/diagrams/layout204.xml" ContentType="application/vnd.openxmlformats-officedocument.drawingml.diagramLayout+xml"/>
  <Override PartName="/ppt/diagrams/quickStyle204.xml" ContentType="application/vnd.openxmlformats-officedocument.drawingml.diagramStyle+xml"/>
  <Override PartName="/ppt/diagrams/colors204.xml" ContentType="application/vnd.openxmlformats-officedocument.drawingml.diagramColors+xml"/>
  <Override PartName="/ppt/diagrams/drawing204.xml" ContentType="application/vnd.ms-office.drawingml.diagramDrawing+xml"/>
  <Override PartName="/ppt/diagrams/data205.xml" ContentType="application/vnd.openxmlformats-officedocument.drawingml.diagramData+xml"/>
  <Override PartName="/ppt/diagrams/layout205.xml" ContentType="application/vnd.openxmlformats-officedocument.drawingml.diagramLayout+xml"/>
  <Override PartName="/ppt/diagrams/quickStyle205.xml" ContentType="application/vnd.openxmlformats-officedocument.drawingml.diagramStyle+xml"/>
  <Override PartName="/ppt/diagrams/colors205.xml" ContentType="application/vnd.openxmlformats-officedocument.drawingml.diagramColors+xml"/>
  <Override PartName="/ppt/diagrams/drawing205.xml" ContentType="application/vnd.ms-office.drawingml.diagramDrawing+xml"/>
  <Override PartName="/ppt/diagrams/data206.xml" ContentType="application/vnd.openxmlformats-officedocument.drawingml.diagramData+xml"/>
  <Override PartName="/ppt/diagrams/layout206.xml" ContentType="application/vnd.openxmlformats-officedocument.drawingml.diagramLayout+xml"/>
  <Override PartName="/ppt/diagrams/quickStyle206.xml" ContentType="application/vnd.openxmlformats-officedocument.drawingml.diagramStyle+xml"/>
  <Override PartName="/ppt/diagrams/colors206.xml" ContentType="application/vnd.openxmlformats-officedocument.drawingml.diagramColors+xml"/>
  <Override PartName="/ppt/diagrams/drawing206.xml" ContentType="application/vnd.ms-office.drawingml.diagramDrawing+xml"/>
  <Override PartName="/ppt/diagrams/data207.xml" ContentType="application/vnd.openxmlformats-officedocument.drawingml.diagramData+xml"/>
  <Override PartName="/ppt/diagrams/layout207.xml" ContentType="application/vnd.openxmlformats-officedocument.drawingml.diagramLayout+xml"/>
  <Override PartName="/ppt/diagrams/quickStyle207.xml" ContentType="application/vnd.openxmlformats-officedocument.drawingml.diagramStyle+xml"/>
  <Override PartName="/ppt/diagrams/colors207.xml" ContentType="application/vnd.openxmlformats-officedocument.drawingml.diagramColors+xml"/>
  <Override PartName="/ppt/diagrams/drawing207.xml" ContentType="application/vnd.ms-office.drawingml.diagramDrawing+xml"/>
  <Override PartName="/ppt/diagrams/data208.xml" ContentType="application/vnd.openxmlformats-officedocument.drawingml.diagramData+xml"/>
  <Override PartName="/ppt/diagrams/layout208.xml" ContentType="application/vnd.openxmlformats-officedocument.drawingml.diagramLayout+xml"/>
  <Override PartName="/ppt/diagrams/quickStyle208.xml" ContentType="application/vnd.openxmlformats-officedocument.drawingml.diagramStyle+xml"/>
  <Override PartName="/ppt/diagrams/colors208.xml" ContentType="application/vnd.openxmlformats-officedocument.drawingml.diagramColors+xml"/>
  <Override PartName="/ppt/diagrams/drawing208.xml" ContentType="application/vnd.ms-office.drawingml.diagramDrawing+xml"/>
  <Override PartName="/ppt/diagrams/data209.xml" ContentType="application/vnd.openxmlformats-officedocument.drawingml.diagramData+xml"/>
  <Override PartName="/ppt/diagrams/layout209.xml" ContentType="application/vnd.openxmlformats-officedocument.drawingml.diagramLayout+xml"/>
  <Override PartName="/ppt/diagrams/quickStyle209.xml" ContentType="application/vnd.openxmlformats-officedocument.drawingml.diagramStyle+xml"/>
  <Override PartName="/ppt/diagrams/colors209.xml" ContentType="application/vnd.openxmlformats-officedocument.drawingml.diagramColors+xml"/>
  <Override PartName="/ppt/diagrams/drawing209.xml" ContentType="application/vnd.ms-office.drawingml.diagramDrawing+xml"/>
  <Override PartName="/ppt/diagrams/data210.xml" ContentType="application/vnd.openxmlformats-officedocument.drawingml.diagramData+xml"/>
  <Override PartName="/ppt/diagrams/layout210.xml" ContentType="application/vnd.openxmlformats-officedocument.drawingml.diagramLayout+xml"/>
  <Override PartName="/ppt/diagrams/quickStyle210.xml" ContentType="application/vnd.openxmlformats-officedocument.drawingml.diagramStyle+xml"/>
  <Override PartName="/ppt/diagrams/colors210.xml" ContentType="application/vnd.openxmlformats-officedocument.drawingml.diagramColors+xml"/>
  <Override PartName="/ppt/diagrams/drawing210.xml" ContentType="application/vnd.ms-office.drawingml.diagramDrawing+xml"/>
  <Override PartName="/ppt/diagrams/data211.xml" ContentType="application/vnd.openxmlformats-officedocument.drawingml.diagramData+xml"/>
  <Override PartName="/ppt/diagrams/layout211.xml" ContentType="application/vnd.openxmlformats-officedocument.drawingml.diagramLayout+xml"/>
  <Override PartName="/ppt/diagrams/quickStyle211.xml" ContentType="application/vnd.openxmlformats-officedocument.drawingml.diagramStyle+xml"/>
  <Override PartName="/ppt/diagrams/colors211.xml" ContentType="application/vnd.openxmlformats-officedocument.drawingml.diagramColors+xml"/>
  <Override PartName="/ppt/diagrams/drawing211.xml" ContentType="application/vnd.ms-office.drawingml.diagramDrawing+xml"/>
  <Override PartName="/ppt/diagrams/data212.xml" ContentType="application/vnd.openxmlformats-officedocument.drawingml.diagramData+xml"/>
  <Override PartName="/ppt/diagrams/layout212.xml" ContentType="application/vnd.openxmlformats-officedocument.drawingml.diagramLayout+xml"/>
  <Override PartName="/ppt/diagrams/quickStyle212.xml" ContentType="application/vnd.openxmlformats-officedocument.drawingml.diagramStyle+xml"/>
  <Override PartName="/ppt/diagrams/colors212.xml" ContentType="application/vnd.openxmlformats-officedocument.drawingml.diagramColors+xml"/>
  <Override PartName="/ppt/diagrams/drawing212.xml" ContentType="application/vnd.ms-office.drawingml.diagramDrawing+xml"/>
  <Override PartName="/ppt/diagrams/data213.xml" ContentType="application/vnd.openxmlformats-officedocument.drawingml.diagramData+xml"/>
  <Override PartName="/ppt/diagrams/layout213.xml" ContentType="application/vnd.openxmlformats-officedocument.drawingml.diagramLayout+xml"/>
  <Override PartName="/ppt/diagrams/quickStyle213.xml" ContentType="application/vnd.openxmlformats-officedocument.drawingml.diagramStyle+xml"/>
  <Override PartName="/ppt/diagrams/colors213.xml" ContentType="application/vnd.openxmlformats-officedocument.drawingml.diagramColors+xml"/>
  <Override PartName="/ppt/diagrams/drawing213.xml" ContentType="application/vnd.ms-office.drawingml.diagramDrawing+xml"/>
  <Override PartName="/ppt/diagrams/data214.xml" ContentType="application/vnd.openxmlformats-officedocument.drawingml.diagramData+xml"/>
  <Override PartName="/ppt/diagrams/layout214.xml" ContentType="application/vnd.openxmlformats-officedocument.drawingml.diagramLayout+xml"/>
  <Override PartName="/ppt/diagrams/quickStyle214.xml" ContentType="application/vnd.openxmlformats-officedocument.drawingml.diagramStyle+xml"/>
  <Override PartName="/ppt/diagrams/colors214.xml" ContentType="application/vnd.openxmlformats-officedocument.drawingml.diagramColors+xml"/>
  <Override PartName="/ppt/diagrams/drawing214.xml" ContentType="application/vnd.ms-office.drawingml.diagramDrawing+xml"/>
  <Override PartName="/ppt/diagrams/data215.xml" ContentType="application/vnd.openxmlformats-officedocument.drawingml.diagramData+xml"/>
  <Override PartName="/ppt/diagrams/layout215.xml" ContentType="application/vnd.openxmlformats-officedocument.drawingml.diagramLayout+xml"/>
  <Override PartName="/ppt/diagrams/quickStyle215.xml" ContentType="application/vnd.openxmlformats-officedocument.drawingml.diagramStyle+xml"/>
  <Override PartName="/ppt/diagrams/colors215.xml" ContentType="application/vnd.openxmlformats-officedocument.drawingml.diagramColors+xml"/>
  <Override PartName="/ppt/diagrams/drawing215.xml" ContentType="application/vnd.ms-office.drawingml.diagramDrawing+xml"/>
  <Override PartName="/ppt/diagrams/data216.xml" ContentType="application/vnd.openxmlformats-officedocument.drawingml.diagramData+xml"/>
  <Override PartName="/ppt/diagrams/layout216.xml" ContentType="application/vnd.openxmlformats-officedocument.drawingml.diagramLayout+xml"/>
  <Override PartName="/ppt/diagrams/quickStyle216.xml" ContentType="application/vnd.openxmlformats-officedocument.drawingml.diagramStyle+xml"/>
  <Override PartName="/ppt/diagrams/colors216.xml" ContentType="application/vnd.openxmlformats-officedocument.drawingml.diagramColors+xml"/>
  <Override PartName="/ppt/diagrams/drawing216.xml" ContentType="application/vnd.ms-office.drawingml.diagramDrawing+xml"/>
  <Override PartName="/ppt/diagrams/data217.xml" ContentType="application/vnd.openxmlformats-officedocument.drawingml.diagramData+xml"/>
  <Override PartName="/ppt/diagrams/layout217.xml" ContentType="application/vnd.openxmlformats-officedocument.drawingml.diagramLayout+xml"/>
  <Override PartName="/ppt/diagrams/quickStyle217.xml" ContentType="application/vnd.openxmlformats-officedocument.drawingml.diagramStyle+xml"/>
  <Override PartName="/ppt/diagrams/colors217.xml" ContentType="application/vnd.openxmlformats-officedocument.drawingml.diagramColors+xml"/>
  <Override PartName="/ppt/diagrams/drawing217.xml" ContentType="application/vnd.ms-office.drawingml.diagramDrawing+xml"/>
  <Override PartName="/ppt/diagrams/data218.xml" ContentType="application/vnd.openxmlformats-officedocument.drawingml.diagramData+xml"/>
  <Override PartName="/ppt/diagrams/layout218.xml" ContentType="application/vnd.openxmlformats-officedocument.drawingml.diagramLayout+xml"/>
  <Override PartName="/ppt/diagrams/quickStyle218.xml" ContentType="application/vnd.openxmlformats-officedocument.drawingml.diagramStyle+xml"/>
  <Override PartName="/ppt/diagrams/colors218.xml" ContentType="application/vnd.openxmlformats-officedocument.drawingml.diagramColors+xml"/>
  <Override PartName="/ppt/diagrams/drawing218.xml" ContentType="application/vnd.ms-office.drawingml.diagramDrawing+xml"/>
  <Override PartName="/ppt/diagrams/data219.xml" ContentType="application/vnd.openxmlformats-officedocument.drawingml.diagramData+xml"/>
  <Override PartName="/ppt/diagrams/layout219.xml" ContentType="application/vnd.openxmlformats-officedocument.drawingml.diagramLayout+xml"/>
  <Override PartName="/ppt/diagrams/quickStyle219.xml" ContentType="application/vnd.openxmlformats-officedocument.drawingml.diagramStyle+xml"/>
  <Override PartName="/ppt/diagrams/colors219.xml" ContentType="application/vnd.openxmlformats-officedocument.drawingml.diagramColors+xml"/>
  <Override PartName="/ppt/diagrams/drawing219.xml" ContentType="application/vnd.ms-office.drawingml.diagramDrawing+xml"/>
  <Override PartName="/ppt/diagrams/data220.xml" ContentType="application/vnd.openxmlformats-officedocument.drawingml.diagramData+xml"/>
  <Override PartName="/ppt/diagrams/layout220.xml" ContentType="application/vnd.openxmlformats-officedocument.drawingml.diagramLayout+xml"/>
  <Override PartName="/ppt/diagrams/quickStyle220.xml" ContentType="application/vnd.openxmlformats-officedocument.drawingml.diagramStyle+xml"/>
  <Override PartName="/ppt/diagrams/colors220.xml" ContentType="application/vnd.openxmlformats-officedocument.drawingml.diagramColors+xml"/>
  <Override PartName="/ppt/diagrams/drawing220.xml" ContentType="application/vnd.ms-office.drawingml.diagramDrawing+xml"/>
  <Override PartName="/ppt/diagrams/data221.xml" ContentType="application/vnd.openxmlformats-officedocument.drawingml.diagramData+xml"/>
  <Override PartName="/ppt/diagrams/layout221.xml" ContentType="application/vnd.openxmlformats-officedocument.drawingml.diagramLayout+xml"/>
  <Override PartName="/ppt/diagrams/quickStyle221.xml" ContentType="application/vnd.openxmlformats-officedocument.drawingml.diagramStyle+xml"/>
  <Override PartName="/ppt/diagrams/colors221.xml" ContentType="application/vnd.openxmlformats-officedocument.drawingml.diagramColors+xml"/>
  <Override PartName="/ppt/diagrams/drawing221.xml" ContentType="application/vnd.ms-office.drawingml.diagramDrawing+xml"/>
  <Override PartName="/ppt/diagrams/data222.xml" ContentType="application/vnd.openxmlformats-officedocument.drawingml.diagramData+xml"/>
  <Override PartName="/ppt/diagrams/layout222.xml" ContentType="application/vnd.openxmlformats-officedocument.drawingml.diagramLayout+xml"/>
  <Override PartName="/ppt/diagrams/quickStyle222.xml" ContentType="application/vnd.openxmlformats-officedocument.drawingml.diagramStyle+xml"/>
  <Override PartName="/ppt/diagrams/colors222.xml" ContentType="application/vnd.openxmlformats-officedocument.drawingml.diagramColors+xml"/>
  <Override PartName="/ppt/diagrams/drawing222.xml" ContentType="application/vnd.ms-office.drawingml.diagramDrawing+xml"/>
  <Override PartName="/ppt/diagrams/data223.xml" ContentType="application/vnd.openxmlformats-officedocument.drawingml.diagramData+xml"/>
  <Override PartName="/ppt/diagrams/layout223.xml" ContentType="application/vnd.openxmlformats-officedocument.drawingml.diagramLayout+xml"/>
  <Override PartName="/ppt/diagrams/quickStyle223.xml" ContentType="application/vnd.openxmlformats-officedocument.drawingml.diagramStyle+xml"/>
  <Override PartName="/ppt/diagrams/colors223.xml" ContentType="application/vnd.openxmlformats-officedocument.drawingml.diagramColors+xml"/>
  <Override PartName="/ppt/diagrams/drawing223.xml" ContentType="application/vnd.ms-office.drawingml.diagramDrawing+xml"/>
  <Override PartName="/ppt/diagrams/data224.xml" ContentType="application/vnd.openxmlformats-officedocument.drawingml.diagramData+xml"/>
  <Override PartName="/ppt/diagrams/layout224.xml" ContentType="application/vnd.openxmlformats-officedocument.drawingml.diagramLayout+xml"/>
  <Override PartName="/ppt/diagrams/quickStyle224.xml" ContentType="application/vnd.openxmlformats-officedocument.drawingml.diagramStyle+xml"/>
  <Override PartName="/ppt/diagrams/colors224.xml" ContentType="application/vnd.openxmlformats-officedocument.drawingml.diagramColors+xml"/>
  <Override PartName="/ppt/diagrams/drawing224.xml" ContentType="application/vnd.ms-office.drawingml.diagramDrawing+xml"/>
  <Override PartName="/ppt/diagrams/data225.xml" ContentType="application/vnd.openxmlformats-officedocument.drawingml.diagramData+xml"/>
  <Override PartName="/ppt/diagrams/layout225.xml" ContentType="application/vnd.openxmlformats-officedocument.drawingml.diagramLayout+xml"/>
  <Override PartName="/ppt/diagrams/quickStyle225.xml" ContentType="application/vnd.openxmlformats-officedocument.drawingml.diagramStyle+xml"/>
  <Override PartName="/ppt/diagrams/colors225.xml" ContentType="application/vnd.openxmlformats-officedocument.drawingml.diagramColors+xml"/>
  <Override PartName="/ppt/diagrams/drawing225.xml" ContentType="application/vnd.ms-office.drawingml.diagramDrawing+xml"/>
  <Override PartName="/ppt/diagrams/data226.xml" ContentType="application/vnd.openxmlformats-officedocument.drawingml.diagramData+xml"/>
  <Override PartName="/ppt/diagrams/layout226.xml" ContentType="application/vnd.openxmlformats-officedocument.drawingml.diagramLayout+xml"/>
  <Override PartName="/ppt/diagrams/quickStyle226.xml" ContentType="application/vnd.openxmlformats-officedocument.drawingml.diagramStyle+xml"/>
  <Override PartName="/ppt/diagrams/colors226.xml" ContentType="application/vnd.openxmlformats-officedocument.drawingml.diagramColors+xml"/>
  <Override PartName="/ppt/diagrams/drawing226.xml" ContentType="application/vnd.ms-office.drawingml.diagramDrawing+xml"/>
  <Override PartName="/ppt/diagrams/data227.xml" ContentType="application/vnd.openxmlformats-officedocument.drawingml.diagramData+xml"/>
  <Override PartName="/ppt/diagrams/layout227.xml" ContentType="application/vnd.openxmlformats-officedocument.drawingml.diagramLayout+xml"/>
  <Override PartName="/ppt/diagrams/quickStyle227.xml" ContentType="application/vnd.openxmlformats-officedocument.drawingml.diagramStyle+xml"/>
  <Override PartName="/ppt/diagrams/colors227.xml" ContentType="application/vnd.openxmlformats-officedocument.drawingml.diagramColors+xml"/>
  <Override PartName="/ppt/diagrams/drawing227.xml" ContentType="application/vnd.ms-office.drawingml.diagramDrawing+xml"/>
  <Override PartName="/ppt/diagrams/data228.xml" ContentType="application/vnd.openxmlformats-officedocument.drawingml.diagramData+xml"/>
  <Override PartName="/ppt/diagrams/layout228.xml" ContentType="application/vnd.openxmlformats-officedocument.drawingml.diagramLayout+xml"/>
  <Override PartName="/ppt/diagrams/quickStyle228.xml" ContentType="application/vnd.openxmlformats-officedocument.drawingml.diagramStyle+xml"/>
  <Override PartName="/ppt/diagrams/colors228.xml" ContentType="application/vnd.openxmlformats-officedocument.drawingml.diagramColors+xml"/>
  <Override PartName="/ppt/diagrams/drawing228.xml" ContentType="application/vnd.ms-office.drawingml.diagramDrawing+xml"/>
  <Override PartName="/ppt/diagrams/data229.xml" ContentType="application/vnd.openxmlformats-officedocument.drawingml.diagramData+xml"/>
  <Override PartName="/ppt/diagrams/layout229.xml" ContentType="application/vnd.openxmlformats-officedocument.drawingml.diagramLayout+xml"/>
  <Override PartName="/ppt/diagrams/quickStyle229.xml" ContentType="application/vnd.openxmlformats-officedocument.drawingml.diagramStyle+xml"/>
  <Override PartName="/ppt/diagrams/colors229.xml" ContentType="application/vnd.openxmlformats-officedocument.drawingml.diagramColors+xml"/>
  <Override PartName="/ppt/diagrams/drawing229.xml" ContentType="application/vnd.ms-office.drawingml.diagramDrawing+xml"/>
  <Override PartName="/ppt/diagrams/data230.xml" ContentType="application/vnd.openxmlformats-officedocument.drawingml.diagramData+xml"/>
  <Override PartName="/ppt/diagrams/layout230.xml" ContentType="application/vnd.openxmlformats-officedocument.drawingml.diagramLayout+xml"/>
  <Override PartName="/ppt/diagrams/quickStyle230.xml" ContentType="application/vnd.openxmlformats-officedocument.drawingml.diagramStyle+xml"/>
  <Override PartName="/ppt/diagrams/colors230.xml" ContentType="application/vnd.openxmlformats-officedocument.drawingml.diagramColors+xml"/>
  <Override PartName="/ppt/diagrams/drawing230.xml" ContentType="application/vnd.ms-office.drawingml.diagramDrawing+xml"/>
  <Override PartName="/ppt/diagrams/data231.xml" ContentType="application/vnd.openxmlformats-officedocument.drawingml.diagramData+xml"/>
  <Override PartName="/ppt/diagrams/layout231.xml" ContentType="application/vnd.openxmlformats-officedocument.drawingml.diagramLayout+xml"/>
  <Override PartName="/ppt/diagrams/quickStyle231.xml" ContentType="application/vnd.openxmlformats-officedocument.drawingml.diagramStyle+xml"/>
  <Override PartName="/ppt/diagrams/colors231.xml" ContentType="application/vnd.openxmlformats-officedocument.drawingml.diagramColors+xml"/>
  <Override PartName="/ppt/diagrams/drawing231.xml" ContentType="application/vnd.ms-office.drawingml.diagramDrawing+xml"/>
  <Override PartName="/ppt/diagrams/data232.xml" ContentType="application/vnd.openxmlformats-officedocument.drawingml.diagramData+xml"/>
  <Override PartName="/ppt/diagrams/layout232.xml" ContentType="application/vnd.openxmlformats-officedocument.drawingml.diagramLayout+xml"/>
  <Override PartName="/ppt/diagrams/quickStyle232.xml" ContentType="application/vnd.openxmlformats-officedocument.drawingml.diagramStyle+xml"/>
  <Override PartName="/ppt/diagrams/colors232.xml" ContentType="application/vnd.openxmlformats-officedocument.drawingml.diagramColors+xml"/>
  <Override PartName="/ppt/diagrams/drawing232.xml" ContentType="application/vnd.ms-office.drawingml.diagramDrawing+xml"/>
  <Override PartName="/ppt/diagrams/data233.xml" ContentType="application/vnd.openxmlformats-officedocument.drawingml.diagramData+xml"/>
  <Override PartName="/ppt/diagrams/layout233.xml" ContentType="application/vnd.openxmlformats-officedocument.drawingml.diagramLayout+xml"/>
  <Override PartName="/ppt/diagrams/quickStyle233.xml" ContentType="application/vnd.openxmlformats-officedocument.drawingml.diagramStyle+xml"/>
  <Override PartName="/ppt/diagrams/colors233.xml" ContentType="application/vnd.openxmlformats-officedocument.drawingml.diagramColors+xml"/>
  <Override PartName="/ppt/diagrams/drawing233.xml" ContentType="application/vnd.ms-office.drawingml.diagramDrawing+xml"/>
  <Override PartName="/ppt/diagrams/data234.xml" ContentType="application/vnd.openxmlformats-officedocument.drawingml.diagramData+xml"/>
  <Override PartName="/ppt/diagrams/layout234.xml" ContentType="application/vnd.openxmlformats-officedocument.drawingml.diagramLayout+xml"/>
  <Override PartName="/ppt/diagrams/quickStyle234.xml" ContentType="application/vnd.openxmlformats-officedocument.drawingml.diagramStyle+xml"/>
  <Override PartName="/ppt/diagrams/colors234.xml" ContentType="application/vnd.openxmlformats-officedocument.drawingml.diagramColors+xml"/>
  <Override PartName="/ppt/diagrams/drawing234.xml" ContentType="application/vnd.ms-office.drawingml.diagramDrawing+xml"/>
  <Override PartName="/ppt/diagrams/data235.xml" ContentType="application/vnd.openxmlformats-officedocument.drawingml.diagramData+xml"/>
  <Override PartName="/ppt/diagrams/layout235.xml" ContentType="application/vnd.openxmlformats-officedocument.drawingml.diagramLayout+xml"/>
  <Override PartName="/ppt/diagrams/quickStyle235.xml" ContentType="application/vnd.openxmlformats-officedocument.drawingml.diagramStyle+xml"/>
  <Override PartName="/ppt/diagrams/colors235.xml" ContentType="application/vnd.openxmlformats-officedocument.drawingml.diagramColors+xml"/>
  <Override PartName="/ppt/diagrams/drawing235.xml" ContentType="application/vnd.ms-office.drawingml.diagramDrawing+xml"/>
  <Override PartName="/ppt/diagrams/data236.xml" ContentType="application/vnd.openxmlformats-officedocument.drawingml.diagramData+xml"/>
  <Override PartName="/ppt/diagrams/layout236.xml" ContentType="application/vnd.openxmlformats-officedocument.drawingml.diagramLayout+xml"/>
  <Override PartName="/ppt/diagrams/quickStyle236.xml" ContentType="application/vnd.openxmlformats-officedocument.drawingml.diagramStyle+xml"/>
  <Override PartName="/ppt/diagrams/colors236.xml" ContentType="application/vnd.openxmlformats-officedocument.drawingml.diagramColors+xml"/>
  <Override PartName="/ppt/diagrams/drawing236.xml" ContentType="application/vnd.ms-office.drawingml.diagramDrawing+xml"/>
  <Override PartName="/ppt/diagrams/data237.xml" ContentType="application/vnd.openxmlformats-officedocument.drawingml.diagramData+xml"/>
  <Override PartName="/ppt/diagrams/layout237.xml" ContentType="application/vnd.openxmlformats-officedocument.drawingml.diagramLayout+xml"/>
  <Override PartName="/ppt/diagrams/quickStyle237.xml" ContentType="application/vnd.openxmlformats-officedocument.drawingml.diagramStyle+xml"/>
  <Override PartName="/ppt/diagrams/colors237.xml" ContentType="application/vnd.openxmlformats-officedocument.drawingml.diagramColors+xml"/>
  <Override PartName="/ppt/diagrams/drawing237.xml" ContentType="application/vnd.ms-office.drawingml.diagramDrawing+xml"/>
  <Override PartName="/ppt/diagrams/data238.xml" ContentType="application/vnd.openxmlformats-officedocument.drawingml.diagramData+xml"/>
  <Override PartName="/ppt/diagrams/layout238.xml" ContentType="application/vnd.openxmlformats-officedocument.drawingml.diagramLayout+xml"/>
  <Override PartName="/ppt/diagrams/quickStyle238.xml" ContentType="application/vnd.openxmlformats-officedocument.drawingml.diagramStyle+xml"/>
  <Override PartName="/ppt/diagrams/colors238.xml" ContentType="application/vnd.openxmlformats-officedocument.drawingml.diagramColors+xml"/>
  <Override PartName="/ppt/diagrams/drawing238.xml" ContentType="application/vnd.ms-office.drawingml.diagramDrawing+xml"/>
  <Override PartName="/ppt/diagrams/data239.xml" ContentType="application/vnd.openxmlformats-officedocument.drawingml.diagramData+xml"/>
  <Override PartName="/ppt/diagrams/layout239.xml" ContentType="application/vnd.openxmlformats-officedocument.drawingml.diagramLayout+xml"/>
  <Override PartName="/ppt/diagrams/quickStyle239.xml" ContentType="application/vnd.openxmlformats-officedocument.drawingml.diagramStyle+xml"/>
  <Override PartName="/ppt/diagrams/colors239.xml" ContentType="application/vnd.openxmlformats-officedocument.drawingml.diagramColors+xml"/>
  <Override PartName="/ppt/diagrams/drawing239.xml" ContentType="application/vnd.ms-office.drawingml.diagramDrawing+xml"/>
  <Override PartName="/ppt/diagrams/data240.xml" ContentType="application/vnd.openxmlformats-officedocument.drawingml.diagramData+xml"/>
  <Override PartName="/ppt/diagrams/layout240.xml" ContentType="application/vnd.openxmlformats-officedocument.drawingml.diagramLayout+xml"/>
  <Override PartName="/ppt/diagrams/quickStyle240.xml" ContentType="application/vnd.openxmlformats-officedocument.drawingml.diagramStyle+xml"/>
  <Override PartName="/ppt/diagrams/colors240.xml" ContentType="application/vnd.openxmlformats-officedocument.drawingml.diagramColors+xml"/>
  <Override PartName="/ppt/diagrams/drawing240.xml" ContentType="application/vnd.ms-office.drawingml.diagramDrawing+xml"/>
  <Override PartName="/ppt/diagrams/data241.xml" ContentType="application/vnd.openxmlformats-officedocument.drawingml.diagramData+xml"/>
  <Override PartName="/ppt/diagrams/layout241.xml" ContentType="application/vnd.openxmlformats-officedocument.drawingml.diagramLayout+xml"/>
  <Override PartName="/ppt/diagrams/quickStyle241.xml" ContentType="application/vnd.openxmlformats-officedocument.drawingml.diagramStyle+xml"/>
  <Override PartName="/ppt/diagrams/colors241.xml" ContentType="application/vnd.openxmlformats-officedocument.drawingml.diagramColors+xml"/>
  <Override PartName="/ppt/diagrams/drawing241.xml" ContentType="application/vnd.ms-office.drawingml.diagramDrawing+xml"/>
  <Override PartName="/ppt/diagrams/data242.xml" ContentType="application/vnd.openxmlformats-officedocument.drawingml.diagramData+xml"/>
  <Override PartName="/ppt/diagrams/layout242.xml" ContentType="application/vnd.openxmlformats-officedocument.drawingml.diagramLayout+xml"/>
  <Override PartName="/ppt/diagrams/quickStyle242.xml" ContentType="application/vnd.openxmlformats-officedocument.drawingml.diagramStyle+xml"/>
  <Override PartName="/ppt/diagrams/colors242.xml" ContentType="application/vnd.openxmlformats-officedocument.drawingml.diagramColors+xml"/>
  <Override PartName="/ppt/diagrams/drawing242.xml" ContentType="application/vnd.ms-office.drawingml.diagramDrawing+xml"/>
  <Override PartName="/ppt/diagrams/data243.xml" ContentType="application/vnd.openxmlformats-officedocument.drawingml.diagramData+xml"/>
  <Override PartName="/ppt/diagrams/layout243.xml" ContentType="application/vnd.openxmlformats-officedocument.drawingml.diagramLayout+xml"/>
  <Override PartName="/ppt/diagrams/quickStyle243.xml" ContentType="application/vnd.openxmlformats-officedocument.drawingml.diagramStyle+xml"/>
  <Override PartName="/ppt/diagrams/colors243.xml" ContentType="application/vnd.openxmlformats-officedocument.drawingml.diagramColors+xml"/>
  <Override PartName="/ppt/diagrams/drawing243.xml" ContentType="application/vnd.ms-office.drawingml.diagramDrawing+xml"/>
  <Override PartName="/ppt/diagrams/data244.xml" ContentType="application/vnd.openxmlformats-officedocument.drawingml.diagramData+xml"/>
  <Override PartName="/ppt/diagrams/layout244.xml" ContentType="application/vnd.openxmlformats-officedocument.drawingml.diagramLayout+xml"/>
  <Override PartName="/ppt/diagrams/quickStyle244.xml" ContentType="application/vnd.openxmlformats-officedocument.drawingml.diagramStyle+xml"/>
  <Override PartName="/ppt/diagrams/colors244.xml" ContentType="application/vnd.openxmlformats-officedocument.drawingml.diagramColors+xml"/>
  <Override PartName="/ppt/diagrams/drawing244.xml" ContentType="application/vnd.ms-office.drawingml.diagramDrawing+xml"/>
  <Override PartName="/ppt/diagrams/data245.xml" ContentType="application/vnd.openxmlformats-officedocument.drawingml.diagramData+xml"/>
  <Override PartName="/ppt/diagrams/layout245.xml" ContentType="application/vnd.openxmlformats-officedocument.drawingml.diagramLayout+xml"/>
  <Override PartName="/ppt/diagrams/quickStyle245.xml" ContentType="application/vnd.openxmlformats-officedocument.drawingml.diagramStyle+xml"/>
  <Override PartName="/ppt/diagrams/colors245.xml" ContentType="application/vnd.openxmlformats-officedocument.drawingml.diagramColors+xml"/>
  <Override PartName="/ppt/diagrams/drawing245.xml" ContentType="application/vnd.ms-office.drawingml.diagramDrawing+xml"/>
  <Override PartName="/ppt/diagrams/data246.xml" ContentType="application/vnd.openxmlformats-officedocument.drawingml.diagramData+xml"/>
  <Override PartName="/ppt/diagrams/layout246.xml" ContentType="application/vnd.openxmlformats-officedocument.drawingml.diagramLayout+xml"/>
  <Override PartName="/ppt/diagrams/quickStyle246.xml" ContentType="application/vnd.openxmlformats-officedocument.drawingml.diagramStyle+xml"/>
  <Override PartName="/ppt/diagrams/colors246.xml" ContentType="application/vnd.openxmlformats-officedocument.drawingml.diagramColors+xml"/>
  <Override PartName="/ppt/diagrams/drawing246.xml" ContentType="application/vnd.ms-office.drawingml.diagramDrawing+xml"/>
  <Override PartName="/ppt/diagrams/data247.xml" ContentType="application/vnd.openxmlformats-officedocument.drawingml.diagramData+xml"/>
  <Override PartName="/ppt/diagrams/layout247.xml" ContentType="application/vnd.openxmlformats-officedocument.drawingml.diagramLayout+xml"/>
  <Override PartName="/ppt/diagrams/quickStyle247.xml" ContentType="application/vnd.openxmlformats-officedocument.drawingml.diagramStyle+xml"/>
  <Override PartName="/ppt/diagrams/colors247.xml" ContentType="application/vnd.openxmlformats-officedocument.drawingml.diagramColors+xml"/>
  <Override PartName="/ppt/diagrams/drawing247.xml" ContentType="application/vnd.ms-office.drawingml.diagramDrawing+xml"/>
  <Override PartName="/ppt/diagrams/data248.xml" ContentType="application/vnd.openxmlformats-officedocument.drawingml.diagramData+xml"/>
  <Override PartName="/ppt/diagrams/layout248.xml" ContentType="application/vnd.openxmlformats-officedocument.drawingml.diagramLayout+xml"/>
  <Override PartName="/ppt/diagrams/quickStyle248.xml" ContentType="application/vnd.openxmlformats-officedocument.drawingml.diagramStyle+xml"/>
  <Override PartName="/ppt/diagrams/colors248.xml" ContentType="application/vnd.openxmlformats-officedocument.drawingml.diagramColors+xml"/>
  <Override PartName="/ppt/diagrams/drawing248.xml" ContentType="application/vnd.ms-office.drawingml.diagramDrawing+xml"/>
  <Override PartName="/ppt/diagrams/data249.xml" ContentType="application/vnd.openxmlformats-officedocument.drawingml.diagramData+xml"/>
  <Override PartName="/ppt/diagrams/layout249.xml" ContentType="application/vnd.openxmlformats-officedocument.drawingml.diagramLayout+xml"/>
  <Override PartName="/ppt/diagrams/quickStyle249.xml" ContentType="application/vnd.openxmlformats-officedocument.drawingml.diagramStyle+xml"/>
  <Override PartName="/ppt/diagrams/colors249.xml" ContentType="application/vnd.openxmlformats-officedocument.drawingml.diagramColors+xml"/>
  <Override PartName="/ppt/diagrams/drawing249.xml" ContentType="application/vnd.ms-office.drawingml.diagramDrawing+xml"/>
  <Override PartName="/ppt/diagrams/data250.xml" ContentType="application/vnd.openxmlformats-officedocument.drawingml.diagramData+xml"/>
  <Override PartName="/ppt/diagrams/layout250.xml" ContentType="application/vnd.openxmlformats-officedocument.drawingml.diagramLayout+xml"/>
  <Override PartName="/ppt/diagrams/quickStyle250.xml" ContentType="application/vnd.openxmlformats-officedocument.drawingml.diagramStyle+xml"/>
  <Override PartName="/ppt/diagrams/colors250.xml" ContentType="application/vnd.openxmlformats-officedocument.drawingml.diagramColors+xml"/>
  <Override PartName="/ppt/diagrams/drawing250.xml" ContentType="application/vnd.ms-office.drawingml.diagramDrawing+xml"/>
  <Override PartName="/ppt/diagrams/data251.xml" ContentType="application/vnd.openxmlformats-officedocument.drawingml.diagramData+xml"/>
  <Override PartName="/ppt/diagrams/layout251.xml" ContentType="application/vnd.openxmlformats-officedocument.drawingml.diagramLayout+xml"/>
  <Override PartName="/ppt/diagrams/quickStyle251.xml" ContentType="application/vnd.openxmlformats-officedocument.drawingml.diagramStyle+xml"/>
  <Override PartName="/ppt/diagrams/colors251.xml" ContentType="application/vnd.openxmlformats-officedocument.drawingml.diagramColors+xml"/>
  <Override PartName="/ppt/diagrams/drawing251.xml" ContentType="application/vnd.ms-office.drawingml.diagramDrawing+xml"/>
  <Override PartName="/ppt/diagrams/data252.xml" ContentType="application/vnd.openxmlformats-officedocument.drawingml.diagramData+xml"/>
  <Override PartName="/ppt/diagrams/layout252.xml" ContentType="application/vnd.openxmlformats-officedocument.drawingml.diagramLayout+xml"/>
  <Override PartName="/ppt/diagrams/quickStyle252.xml" ContentType="application/vnd.openxmlformats-officedocument.drawingml.diagramStyle+xml"/>
  <Override PartName="/ppt/diagrams/colors252.xml" ContentType="application/vnd.openxmlformats-officedocument.drawingml.diagramColors+xml"/>
  <Override PartName="/ppt/diagrams/drawing252.xml" ContentType="application/vnd.ms-office.drawingml.diagramDrawing+xml"/>
  <Override PartName="/ppt/diagrams/data253.xml" ContentType="application/vnd.openxmlformats-officedocument.drawingml.diagramData+xml"/>
  <Override PartName="/ppt/diagrams/layout253.xml" ContentType="application/vnd.openxmlformats-officedocument.drawingml.diagramLayout+xml"/>
  <Override PartName="/ppt/diagrams/quickStyle253.xml" ContentType="application/vnd.openxmlformats-officedocument.drawingml.diagramStyle+xml"/>
  <Override PartName="/ppt/diagrams/colors253.xml" ContentType="application/vnd.openxmlformats-officedocument.drawingml.diagramColors+xml"/>
  <Override PartName="/ppt/diagrams/drawing253.xml" ContentType="application/vnd.ms-office.drawingml.diagramDrawing+xml"/>
  <Override PartName="/ppt/diagrams/data254.xml" ContentType="application/vnd.openxmlformats-officedocument.drawingml.diagramData+xml"/>
  <Override PartName="/ppt/diagrams/layout254.xml" ContentType="application/vnd.openxmlformats-officedocument.drawingml.diagramLayout+xml"/>
  <Override PartName="/ppt/diagrams/quickStyle254.xml" ContentType="application/vnd.openxmlformats-officedocument.drawingml.diagramStyle+xml"/>
  <Override PartName="/ppt/diagrams/colors254.xml" ContentType="application/vnd.openxmlformats-officedocument.drawingml.diagramColors+xml"/>
  <Override PartName="/ppt/diagrams/drawing254.xml" ContentType="application/vnd.ms-office.drawingml.diagramDrawing+xml"/>
  <Override PartName="/ppt/diagrams/data255.xml" ContentType="application/vnd.openxmlformats-officedocument.drawingml.diagramData+xml"/>
  <Override PartName="/ppt/diagrams/layout255.xml" ContentType="application/vnd.openxmlformats-officedocument.drawingml.diagramLayout+xml"/>
  <Override PartName="/ppt/diagrams/quickStyle255.xml" ContentType="application/vnd.openxmlformats-officedocument.drawingml.diagramStyle+xml"/>
  <Override PartName="/ppt/diagrams/colors255.xml" ContentType="application/vnd.openxmlformats-officedocument.drawingml.diagramColors+xml"/>
  <Override PartName="/ppt/diagrams/drawing255.xml" ContentType="application/vnd.ms-office.drawingml.diagramDrawing+xml"/>
  <Override PartName="/ppt/diagrams/data256.xml" ContentType="application/vnd.openxmlformats-officedocument.drawingml.diagramData+xml"/>
  <Override PartName="/ppt/diagrams/layout256.xml" ContentType="application/vnd.openxmlformats-officedocument.drawingml.diagramLayout+xml"/>
  <Override PartName="/ppt/diagrams/quickStyle256.xml" ContentType="application/vnd.openxmlformats-officedocument.drawingml.diagramStyle+xml"/>
  <Override PartName="/ppt/diagrams/colors256.xml" ContentType="application/vnd.openxmlformats-officedocument.drawingml.diagramColors+xml"/>
  <Override PartName="/ppt/diagrams/drawing256.xml" ContentType="application/vnd.ms-office.drawingml.diagramDrawing+xml"/>
  <Override PartName="/ppt/diagrams/data257.xml" ContentType="application/vnd.openxmlformats-officedocument.drawingml.diagramData+xml"/>
  <Override PartName="/ppt/diagrams/layout257.xml" ContentType="application/vnd.openxmlformats-officedocument.drawingml.diagramLayout+xml"/>
  <Override PartName="/ppt/diagrams/quickStyle257.xml" ContentType="application/vnd.openxmlformats-officedocument.drawingml.diagramStyle+xml"/>
  <Override PartName="/ppt/diagrams/colors257.xml" ContentType="application/vnd.openxmlformats-officedocument.drawingml.diagramColors+xml"/>
  <Override PartName="/ppt/diagrams/drawing257.xml" ContentType="application/vnd.ms-office.drawingml.diagramDrawing+xml"/>
  <Override PartName="/ppt/diagrams/data258.xml" ContentType="application/vnd.openxmlformats-officedocument.drawingml.diagramData+xml"/>
  <Override PartName="/ppt/diagrams/layout258.xml" ContentType="application/vnd.openxmlformats-officedocument.drawingml.diagramLayout+xml"/>
  <Override PartName="/ppt/diagrams/quickStyle258.xml" ContentType="application/vnd.openxmlformats-officedocument.drawingml.diagramStyle+xml"/>
  <Override PartName="/ppt/diagrams/colors258.xml" ContentType="application/vnd.openxmlformats-officedocument.drawingml.diagramColors+xml"/>
  <Override PartName="/ppt/diagrams/drawing258.xml" ContentType="application/vnd.ms-office.drawingml.diagramDrawing+xml"/>
  <Override PartName="/ppt/diagrams/data259.xml" ContentType="application/vnd.openxmlformats-officedocument.drawingml.diagramData+xml"/>
  <Override PartName="/ppt/diagrams/layout259.xml" ContentType="application/vnd.openxmlformats-officedocument.drawingml.diagramLayout+xml"/>
  <Override PartName="/ppt/diagrams/quickStyle259.xml" ContentType="application/vnd.openxmlformats-officedocument.drawingml.diagramStyle+xml"/>
  <Override PartName="/ppt/diagrams/colors259.xml" ContentType="application/vnd.openxmlformats-officedocument.drawingml.diagramColors+xml"/>
  <Override PartName="/ppt/diagrams/drawing259.xml" ContentType="application/vnd.ms-office.drawingml.diagramDrawing+xml"/>
  <Override PartName="/ppt/diagrams/data260.xml" ContentType="application/vnd.openxmlformats-officedocument.drawingml.diagramData+xml"/>
  <Override PartName="/ppt/diagrams/layout260.xml" ContentType="application/vnd.openxmlformats-officedocument.drawingml.diagramLayout+xml"/>
  <Override PartName="/ppt/diagrams/quickStyle260.xml" ContentType="application/vnd.openxmlformats-officedocument.drawingml.diagramStyle+xml"/>
  <Override PartName="/ppt/diagrams/colors260.xml" ContentType="application/vnd.openxmlformats-officedocument.drawingml.diagramColors+xml"/>
  <Override PartName="/ppt/diagrams/drawing260.xml" ContentType="application/vnd.ms-office.drawingml.diagramDrawing+xml"/>
  <Override PartName="/ppt/diagrams/data261.xml" ContentType="application/vnd.openxmlformats-officedocument.drawingml.diagramData+xml"/>
  <Override PartName="/ppt/diagrams/layout261.xml" ContentType="application/vnd.openxmlformats-officedocument.drawingml.diagramLayout+xml"/>
  <Override PartName="/ppt/diagrams/quickStyle261.xml" ContentType="application/vnd.openxmlformats-officedocument.drawingml.diagramStyle+xml"/>
  <Override PartName="/ppt/diagrams/colors261.xml" ContentType="application/vnd.openxmlformats-officedocument.drawingml.diagramColors+xml"/>
  <Override PartName="/ppt/diagrams/drawing261.xml" ContentType="application/vnd.ms-office.drawingml.diagramDrawing+xml"/>
  <Override PartName="/ppt/diagrams/data262.xml" ContentType="application/vnd.openxmlformats-officedocument.drawingml.diagramData+xml"/>
  <Override PartName="/ppt/diagrams/layout262.xml" ContentType="application/vnd.openxmlformats-officedocument.drawingml.diagramLayout+xml"/>
  <Override PartName="/ppt/diagrams/quickStyle262.xml" ContentType="application/vnd.openxmlformats-officedocument.drawingml.diagramStyle+xml"/>
  <Override PartName="/ppt/diagrams/colors262.xml" ContentType="application/vnd.openxmlformats-officedocument.drawingml.diagramColors+xml"/>
  <Override PartName="/ppt/diagrams/drawing262.xml" ContentType="application/vnd.ms-office.drawingml.diagramDrawing+xml"/>
  <Override PartName="/ppt/diagrams/data263.xml" ContentType="application/vnd.openxmlformats-officedocument.drawingml.diagramData+xml"/>
  <Override PartName="/ppt/diagrams/layout263.xml" ContentType="application/vnd.openxmlformats-officedocument.drawingml.diagramLayout+xml"/>
  <Override PartName="/ppt/diagrams/quickStyle263.xml" ContentType="application/vnd.openxmlformats-officedocument.drawingml.diagramStyle+xml"/>
  <Override PartName="/ppt/diagrams/colors263.xml" ContentType="application/vnd.openxmlformats-officedocument.drawingml.diagramColors+xml"/>
  <Override PartName="/ppt/diagrams/drawing263.xml" ContentType="application/vnd.ms-office.drawingml.diagramDrawing+xml"/>
  <Override PartName="/ppt/diagrams/data264.xml" ContentType="application/vnd.openxmlformats-officedocument.drawingml.diagramData+xml"/>
  <Override PartName="/ppt/diagrams/layout264.xml" ContentType="application/vnd.openxmlformats-officedocument.drawingml.diagramLayout+xml"/>
  <Override PartName="/ppt/diagrams/quickStyle264.xml" ContentType="application/vnd.openxmlformats-officedocument.drawingml.diagramStyle+xml"/>
  <Override PartName="/ppt/diagrams/colors264.xml" ContentType="application/vnd.openxmlformats-officedocument.drawingml.diagramColors+xml"/>
  <Override PartName="/ppt/diagrams/drawing264.xml" ContentType="application/vnd.ms-office.drawingml.diagramDrawing+xml"/>
  <Override PartName="/ppt/diagrams/data265.xml" ContentType="application/vnd.openxmlformats-officedocument.drawingml.diagramData+xml"/>
  <Override PartName="/ppt/diagrams/layout265.xml" ContentType="application/vnd.openxmlformats-officedocument.drawingml.diagramLayout+xml"/>
  <Override PartName="/ppt/diagrams/quickStyle265.xml" ContentType="application/vnd.openxmlformats-officedocument.drawingml.diagramStyle+xml"/>
  <Override PartName="/ppt/diagrams/colors265.xml" ContentType="application/vnd.openxmlformats-officedocument.drawingml.diagramColors+xml"/>
  <Override PartName="/ppt/diagrams/drawing265.xml" ContentType="application/vnd.ms-office.drawingml.diagramDrawing+xml"/>
  <Override PartName="/ppt/diagrams/data266.xml" ContentType="application/vnd.openxmlformats-officedocument.drawingml.diagramData+xml"/>
  <Override PartName="/ppt/diagrams/layout266.xml" ContentType="application/vnd.openxmlformats-officedocument.drawingml.diagramLayout+xml"/>
  <Override PartName="/ppt/diagrams/quickStyle266.xml" ContentType="application/vnd.openxmlformats-officedocument.drawingml.diagramStyle+xml"/>
  <Override PartName="/ppt/diagrams/colors266.xml" ContentType="application/vnd.openxmlformats-officedocument.drawingml.diagramColors+xml"/>
  <Override PartName="/ppt/diagrams/drawing266.xml" ContentType="application/vnd.ms-office.drawingml.diagramDrawing+xml"/>
  <Override PartName="/ppt/diagrams/data267.xml" ContentType="application/vnd.openxmlformats-officedocument.drawingml.diagramData+xml"/>
  <Override PartName="/ppt/diagrams/layout267.xml" ContentType="application/vnd.openxmlformats-officedocument.drawingml.diagramLayout+xml"/>
  <Override PartName="/ppt/diagrams/quickStyle267.xml" ContentType="application/vnd.openxmlformats-officedocument.drawingml.diagramStyle+xml"/>
  <Override PartName="/ppt/diagrams/colors267.xml" ContentType="application/vnd.openxmlformats-officedocument.drawingml.diagramColors+xml"/>
  <Override PartName="/ppt/diagrams/drawing267.xml" ContentType="application/vnd.ms-office.drawingml.diagramDrawing+xml"/>
  <Override PartName="/ppt/diagrams/data268.xml" ContentType="application/vnd.openxmlformats-officedocument.drawingml.diagramData+xml"/>
  <Override PartName="/ppt/diagrams/layout268.xml" ContentType="application/vnd.openxmlformats-officedocument.drawingml.diagramLayout+xml"/>
  <Override PartName="/ppt/diagrams/quickStyle268.xml" ContentType="application/vnd.openxmlformats-officedocument.drawingml.diagramStyle+xml"/>
  <Override PartName="/ppt/diagrams/colors268.xml" ContentType="application/vnd.openxmlformats-officedocument.drawingml.diagramColors+xml"/>
  <Override PartName="/ppt/diagrams/drawing268.xml" ContentType="application/vnd.ms-office.drawingml.diagramDrawing+xml"/>
  <Override PartName="/ppt/diagrams/data269.xml" ContentType="application/vnd.openxmlformats-officedocument.drawingml.diagramData+xml"/>
  <Override PartName="/ppt/diagrams/layout269.xml" ContentType="application/vnd.openxmlformats-officedocument.drawingml.diagramLayout+xml"/>
  <Override PartName="/ppt/diagrams/quickStyle269.xml" ContentType="application/vnd.openxmlformats-officedocument.drawingml.diagramStyle+xml"/>
  <Override PartName="/ppt/diagrams/colors269.xml" ContentType="application/vnd.openxmlformats-officedocument.drawingml.diagramColors+xml"/>
  <Override PartName="/ppt/diagrams/drawing269.xml" ContentType="application/vnd.ms-office.drawingml.diagramDrawing+xml"/>
  <Override PartName="/ppt/diagrams/data270.xml" ContentType="application/vnd.openxmlformats-officedocument.drawingml.diagramData+xml"/>
  <Override PartName="/ppt/diagrams/layout270.xml" ContentType="application/vnd.openxmlformats-officedocument.drawingml.diagramLayout+xml"/>
  <Override PartName="/ppt/diagrams/quickStyle270.xml" ContentType="application/vnd.openxmlformats-officedocument.drawingml.diagramStyle+xml"/>
  <Override PartName="/ppt/diagrams/colors270.xml" ContentType="application/vnd.openxmlformats-officedocument.drawingml.diagramColors+xml"/>
  <Override PartName="/ppt/diagrams/drawing270.xml" ContentType="application/vnd.ms-office.drawingml.diagramDrawing+xml"/>
  <Override PartName="/ppt/diagrams/data271.xml" ContentType="application/vnd.openxmlformats-officedocument.drawingml.diagramData+xml"/>
  <Override PartName="/ppt/diagrams/layout271.xml" ContentType="application/vnd.openxmlformats-officedocument.drawingml.diagramLayout+xml"/>
  <Override PartName="/ppt/diagrams/quickStyle271.xml" ContentType="application/vnd.openxmlformats-officedocument.drawingml.diagramStyle+xml"/>
  <Override PartName="/ppt/diagrams/colors271.xml" ContentType="application/vnd.openxmlformats-officedocument.drawingml.diagramColors+xml"/>
  <Override PartName="/ppt/diagrams/drawing271.xml" ContentType="application/vnd.ms-office.drawingml.diagramDrawing+xml"/>
  <Override PartName="/ppt/diagrams/data272.xml" ContentType="application/vnd.openxmlformats-officedocument.drawingml.diagramData+xml"/>
  <Override PartName="/ppt/diagrams/layout272.xml" ContentType="application/vnd.openxmlformats-officedocument.drawingml.diagramLayout+xml"/>
  <Override PartName="/ppt/diagrams/quickStyle272.xml" ContentType="application/vnd.openxmlformats-officedocument.drawingml.diagramStyle+xml"/>
  <Override PartName="/ppt/diagrams/colors272.xml" ContentType="application/vnd.openxmlformats-officedocument.drawingml.diagramColors+xml"/>
  <Override PartName="/ppt/diagrams/drawing272.xml" ContentType="application/vnd.ms-office.drawingml.diagramDrawing+xml"/>
  <Override PartName="/ppt/diagrams/data273.xml" ContentType="application/vnd.openxmlformats-officedocument.drawingml.diagramData+xml"/>
  <Override PartName="/ppt/diagrams/layout273.xml" ContentType="application/vnd.openxmlformats-officedocument.drawingml.diagramLayout+xml"/>
  <Override PartName="/ppt/diagrams/quickStyle273.xml" ContentType="application/vnd.openxmlformats-officedocument.drawingml.diagramStyle+xml"/>
  <Override PartName="/ppt/diagrams/colors273.xml" ContentType="application/vnd.openxmlformats-officedocument.drawingml.diagramColors+xml"/>
  <Override PartName="/ppt/diagrams/drawing273.xml" ContentType="application/vnd.ms-office.drawingml.diagramDrawing+xml"/>
  <Override PartName="/ppt/diagrams/data274.xml" ContentType="application/vnd.openxmlformats-officedocument.drawingml.diagramData+xml"/>
  <Override PartName="/ppt/diagrams/layout274.xml" ContentType="application/vnd.openxmlformats-officedocument.drawingml.diagramLayout+xml"/>
  <Override PartName="/ppt/diagrams/quickStyle274.xml" ContentType="application/vnd.openxmlformats-officedocument.drawingml.diagramStyle+xml"/>
  <Override PartName="/ppt/diagrams/colors274.xml" ContentType="application/vnd.openxmlformats-officedocument.drawingml.diagramColors+xml"/>
  <Override PartName="/ppt/diagrams/drawing274.xml" ContentType="application/vnd.ms-office.drawingml.diagramDrawing+xml"/>
  <Override PartName="/ppt/diagrams/data275.xml" ContentType="application/vnd.openxmlformats-officedocument.drawingml.diagramData+xml"/>
  <Override PartName="/ppt/diagrams/layout275.xml" ContentType="application/vnd.openxmlformats-officedocument.drawingml.diagramLayout+xml"/>
  <Override PartName="/ppt/diagrams/quickStyle275.xml" ContentType="application/vnd.openxmlformats-officedocument.drawingml.diagramStyle+xml"/>
  <Override PartName="/ppt/diagrams/colors275.xml" ContentType="application/vnd.openxmlformats-officedocument.drawingml.diagramColors+xml"/>
  <Override PartName="/ppt/diagrams/drawing275.xml" ContentType="application/vnd.ms-office.drawingml.diagramDrawing+xml"/>
  <Override PartName="/ppt/diagrams/data276.xml" ContentType="application/vnd.openxmlformats-officedocument.drawingml.diagramData+xml"/>
  <Override PartName="/ppt/diagrams/layout276.xml" ContentType="application/vnd.openxmlformats-officedocument.drawingml.diagramLayout+xml"/>
  <Override PartName="/ppt/diagrams/quickStyle276.xml" ContentType="application/vnd.openxmlformats-officedocument.drawingml.diagramStyle+xml"/>
  <Override PartName="/ppt/diagrams/colors276.xml" ContentType="application/vnd.openxmlformats-officedocument.drawingml.diagramColors+xml"/>
  <Override PartName="/ppt/diagrams/drawing276.xml" ContentType="application/vnd.ms-office.drawingml.diagramDrawing+xml"/>
  <Override PartName="/ppt/diagrams/data277.xml" ContentType="application/vnd.openxmlformats-officedocument.drawingml.diagramData+xml"/>
  <Override PartName="/ppt/diagrams/layout277.xml" ContentType="application/vnd.openxmlformats-officedocument.drawingml.diagramLayout+xml"/>
  <Override PartName="/ppt/diagrams/quickStyle277.xml" ContentType="application/vnd.openxmlformats-officedocument.drawingml.diagramStyle+xml"/>
  <Override PartName="/ppt/diagrams/colors277.xml" ContentType="application/vnd.openxmlformats-officedocument.drawingml.diagramColors+xml"/>
  <Override PartName="/ppt/diagrams/drawing277.xml" ContentType="application/vnd.ms-office.drawingml.diagramDrawing+xml"/>
  <Override PartName="/ppt/diagrams/data278.xml" ContentType="application/vnd.openxmlformats-officedocument.drawingml.diagramData+xml"/>
  <Override PartName="/ppt/diagrams/layout278.xml" ContentType="application/vnd.openxmlformats-officedocument.drawingml.diagramLayout+xml"/>
  <Override PartName="/ppt/diagrams/quickStyle278.xml" ContentType="application/vnd.openxmlformats-officedocument.drawingml.diagramStyle+xml"/>
  <Override PartName="/ppt/diagrams/colors278.xml" ContentType="application/vnd.openxmlformats-officedocument.drawingml.diagramColors+xml"/>
  <Override PartName="/ppt/diagrams/drawing278.xml" ContentType="application/vnd.ms-office.drawingml.diagramDrawing+xml"/>
  <Override PartName="/ppt/diagrams/data279.xml" ContentType="application/vnd.openxmlformats-officedocument.drawingml.diagramData+xml"/>
  <Override PartName="/ppt/diagrams/layout279.xml" ContentType="application/vnd.openxmlformats-officedocument.drawingml.diagramLayout+xml"/>
  <Override PartName="/ppt/diagrams/quickStyle279.xml" ContentType="application/vnd.openxmlformats-officedocument.drawingml.diagramStyle+xml"/>
  <Override PartName="/ppt/diagrams/colors279.xml" ContentType="application/vnd.openxmlformats-officedocument.drawingml.diagramColors+xml"/>
  <Override PartName="/ppt/diagrams/drawing279.xml" ContentType="application/vnd.ms-office.drawingml.diagramDrawing+xml"/>
  <Override PartName="/ppt/diagrams/data280.xml" ContentType="application/vnd.openxmlformats-officedocument.drawingml.diagramData+xml"/>
  <Override PartName="/ppt/diagrams/layout280.xml" ContentType="application/vnd.openxmlformats-officedocument.drawingml.diagramLayout+xml"/>
  <Override PartName="/ppt/diagrams/quickStyle280.xml" ContentType="application/vnd.openxmlformats-officedocument.drawingml.diagramStyle+xml"/>
  <Override PartName="/ppt/diagrams/colors280.xml" ContentType="application/vnd.openxmlformats-officedocument.drawingml.diagramColors+xml"/>
  <Override PartName="/ppt/diagrams/drawing280.xml" ContentType="application/vnd.ms-office.drawingml.diagramDrawing+xml"/>
  <Override PartName="/ppt/diagrams/data281.xml" ContentType="application/vnd.openxmlformats-officedocument.drawingml.diagramData+xml"/>
  <Override PartName="/ppt/diagrams/layout281.xml" ContentType="application/vnd.openxmlformats-officedocument.drawingml.diagramLayout+xml"/>
  <Override PartName="/ppt/diagrams/quickStyle281.xml" ContentType="application/vnd.openxmlformats-officedocument.drawingml.diagramStyle+xml"/>
  <Override PartName="/ppt/diagrams/colors281.xml" ContentType="application/vnd.openxmlformats-officedocument.drawingml.diagramColors+xml"/>
  <Override PartName="/ppt/diagrams/drawing281.xml" ContentType="application/vnd.ms-office.drawingml.diagramDrawing+xml"/>
  <Override PartName="/ppt/diagrams/data282.xml" ContentType="application/vnd.openxmlformats-officedocument.drawingml.diagramData+xml"/>
  <Override PartName="/ppt/diagrams/layout282.xml" ContentType="application/vnd.openxmlformats-officedocument.drawingml.diagramLayout+xml"/>
  <Override PartName="/ppt/diagrams/quickStyle282.xml" ContentType="application/vnd.openxmlformats-officedocument.drawingml.diagramStyle+xml"/>
  <Override PartName="/ppt/diagrams/colors282.xml" ContentType="application/vnd.openxmlformats-officedocument.drawingml.diagramColors+xml"/>
  <Override PartName="/ppt/diagrams/drawing282.xml" ContentType="application/vnd.ms-office.drawingml.diagramDrawing+xml"/>
  <Override PartName="/ppt/diagrams/data283.xml" ContentType="application/vnd.openxmlformats-officedocument.drawingml.diagramData+xml"/>
  <Override PartName="/ppt/diagrams/layout283.xml" ContentType="application/vnd.openxmlformats-officedocument.drawingml.diagramLayout+xml"/>
  <Override PartName="/ppt/diagrams/quickStyle283.xml" ContentType="application/vnd.openxmlformats-officedocument.drawingml.diagramStyle+xml"/>
  <Override PartName="/ppt/diagrams/colors283.xml" ContentType="application/vnd.openxmlformats-officedocument.drawingml.diagramColors+xml"/>
  <Override PartName="/ppt/diagrams/drawing283.xml" ContentType="application/vnd.ms-office.drawingml.diagramDrawing+xml"/>
  <Override PartName="/ppt/diagrams/data284.xml" ContentType="application/vnd.openxmlformats-officedocument.drawingml.diagramData+xml"/>
  <Override PartName="/ppt/diagrams/layout284.xml" ContentType="application/vnd.openxmlformats-officedocument.drawingml.diagramLayout+xml"/>
  <Override PartName="/ppt/diagrams/quickStyle284.xml" ContentType="application/vnd.openxmlformats-officedocument.drawingml.diagramStyle+xml"/>
  <Override PartName="/ppt/diagrams/colors284.xml" ContentType="application/vnd.openxmlformats-officedocument.drawingml.diagramColors+xml"/>
  <Override PartName="/ppt/diagrams/drawing284.xml" ContentType="application/vnd.ms-office.drawingml.diagramDrawing+xml"/>
  <Override PartName="/ppt/diagrams/data285.xml" ContentType="application/vnd.openxmlformats-officedocument.drawingml.diagramData+xml"/>
  <Override PartName="/ppt/diagrams/layout285.xml" ContentType="application/vnd.openxmlformats-officedocument.drawingml.diagramLayout+xml"/>
  <Override PartName="/ppt/diagrams/quickStyle285.xml" ContentType="application/vnd.openxmlformats-officedocument.drawingml.diagramStyle+xml"/>
  <Override PartName="/ppt/diagrams/colors285.xml" ContentType="application/vnd.openxmlformats-officedocument.drawingml.diagramColors+xml"/>
  <Override PartName="/ppt/diagrams/drawing285.xml" ContentType="application/vnd.ms-office.drawingml.diagramDrawing+xml"/>
  <Override PartName="/ppt/diagrams/data286.xml" ContentType="application/vnd.openxmlformats-officedocument.drawingml.diagramData+xml"/>
  <Override PartName="/ppt/diagrams/layout286.xml" ContentType="application/vnd.openxmlformats-officedocument.drawingml.diagramLayout+xml"/>
  <Override PartName="/ppt/diagrams/quickStyle286.xml" ContentType="application/vnd.openxmlformats-officedocument.drawingml.diagramStyle+xml"/>
  <Override PartName="/ppt/diagrams/colors286.xml" ContentType="application/vnd.openxmlformats-officedocument.drawingml.diagramColors+xml"/>
  <Override PartName="/ppt/diagrams/drawing286.xml" ContentType="application/vnd.ms-office.drawingml.diagramDrawing+xml"/>
  <Override PartName="/ppt/diagrams/data287.xml" ContentType="application/vnd.openxmlformats-officedocument.drawingml.diagramData+xml"/>
  <Override PartName="/ppt/diagrams/layout287.xml" ContentType="application/vnd.openxmlformats-officedocument.drawingml.diagramLayout+xml"/>
  <Override PartName="/ppt/diagrams/quickStyle287.xml" ContentType="application/vnd.openxmlformats-officedocument.drawingml.diagramStyle+xml"/>
  <Override PartName="/ppt/diagrams/colors287.xml" ContentType="application/vnd.openxmlformats-officedocument.drawingml.diagramColors+xml"/>
  <Override PartName="/ppt/diagrams/drawing287.xml" ContentType="application/vnd.ms-office.drawingml.diagramDrawing+xml"/>
  <Override PartName="/ppt/diagrams/data288.xml" ContentType="application/vnd.openxmlformats-officedocument.drawingml.diagramData+xml"/>
  <Override PartName="/ppt/diagrams/layout288.xml" ContentType="application/vnd.openxmlformats-officedocument.drawingml.diagramLayout+xml"/>
  <Override PartName="/ppt/diagrams/quickStyle288.xml" ContentType="application/vnd.openxmlformats-officedocument.drawingml.diagramStyle+xml"/>
  <Override PartName="/ppt/diagrams/colors288.xml" ContentType="application/vnd.openxmlformats-officedocument.drawingml.diagramColors+xml"/>
  <Override PartName="/ppt/diagrams/drawing288.xml" ContentType="application/vnd.ms-office.drawingml.diagramDrawing+xml"/>
  <Override PartName="/ppt/diagrams/data289.xml" ContentType="application/vnd.openxmlformats-officedocument.drawingml.diagramData+xml"/>
  <Override PartName="/ppt/diagrams/layout289.xml" ContentType="application/vnd.openxmlformats-officedocument.drawingml.diagramLayout+xml"/>
  <Override PartName="/ppt/diagrams/quickStyle289.xml" ContentType="application/vnd.openxmlformats-officedocument.drawingml.diagramStyle+xml"/>
  <Override PartName="/ppt/diagrams/colors289.xml" ContentType="application/vnd.openxmlformats-officedocument.drawingml.diagramColors+xml"/>
  <Override PartName="/ppt/diagrams/drawing289.xml" ContentType="application/vnd.ms-office.drawingml.diagramDrawing+xml"/>
  <Override PartName="/ppt/diagrams/data290.xml" ContentType="application/vnd.openxmlformats-officedocument.drawingml.diagramData+xml"/>
  <Override PartName="/ppt/diagrams/layout290.xml" ContentType="application/vnd.openxmlformats-officedocument.drawingml.diagramLayout+xml"/>
  <Override PartName="/ppt/diagrams/quickStyle290.xml" ContentType="application/vnd.openxmlformats-officedocument.drawingml.diagramStyle+xml"/>
  <Override PartName="/ppt/diagrams/colors290.xml" ContentType="application/vnd.openxmlformats-officedocument.drawingml.diagramColors+xml"/>
  <Override PartName="/ppt/diagrams/drawing290.xml" ContentType="application/vnd.ms-office.drawingml.diagramDrawing+xml"/>
  <Override PartName="/ppt/diagrams/data291.xml" ContentType="application/vnd.openxmlformats-officedocument.drawingml.diagramData+xml"/>
  <Override PartName="/ppt/diagrams/layout291.xml" ContentType="application/vnd.openxmlformats-officedocument.drawingml.diagramLayout+xml"/>
  <Override PartName="/ppt/diagrams/quickStyle291.xml" ContentType="application/vnd.openxmlformats-officedocument.drawingml.diagramStyle+xml"/>
  <Override PartName="/ppt/diagrams/colors291.xml" ContentType="application/vnd.openxmlformats-officedocument.drawingml.diagramColors+xml"/>
  <Override PartName="/ppt/diagrams/drawing291.xml" ContentType="application/vnd.ms-office.drawingml.diagramDrawing+xml"/>
  <Override PartName="/ppt/diagrams/data292.xml" ContentType="application/vnd.openxmlformats-officedocument.drawingml.diagramData+xml"/>
  <Override PartName="/ppt/diagrams/layout292.xml" ContentType="application/vnd.openxmlformats-officedocument.drawingml.diagramLayout+xml"/>
  <Override PartName="/ppt/diagrams/quickStyle292.xml" ContentType="application/vnd.openxmlformats-officedocument.drawingml.diagramStyle+xml"/>
  <Override PartName="/ppt/diagrams/colors292.xml" ContentType="application/vnd.openxmlformats-officedocument.drawingml.diagramColors+xml"/>
  <Override PartName="/ppt/diagrams/drawing292.xml" ContentType="application/vnd.ms-office.drawingml.diagramDrawing+xml"/>
  <Override PartName="/ppt/diagrams/data293.xml" ContentType="application/vnd.openxmlformats-officedocument.drawingml.diagramData+xml"/>
  <Override PartName="/ppt/diagrams/layout293.xml" ContentType="application/vnd.openxmlformats-officedocument.drawingml.diagramLayout+xml"/>
  <Override PartName="/ppt/diagrams/quickStyle293.xml" ContentType="application/vnd.openxmlformats-officedocument.drawingml.diagramStyle+xml"/>
  <Override PartName="/ppt/diagrams/colors293.xml" ContentType="application/vnd.openxmlformats-officedocument.drawingml.diagramColors+xml"/>
  <Override PartName="/ppt/diagrams/drawing293.xml" ContentType="application/vnd.ms-office.drawingml.diagramDrawing+xml"/>
  <Override PartName="/ppt/diagrams/data294.xml" ContentType="application/vnd.openxmlformats-officedocument.drawingml.diagramData+xml"/>
  <Override PartName="/ppt/diagrams/layout294.xml" ContentType="application/vnd.openxmlformats-officedocument.drawingml.diagramLayout+xml"/>
  <Override PartName="/ppt/diagrams/quickStyle294.xml" ContentType="application/vnd.openxmlformats-officedocument.drawingml.diagramStyle+xml"/>
  <Override PartName="/ppt/diagrams/colors294.xml" ContentType="application/vnd.openxmlformats-officedocument.drawingml.diagramColors+xml"/>
  <Override PartName="/ppt/diagrams/drawing294.xml" ContentType="application/vnd.ms-office.drawingml.diagramDrawing+xml"/>
  <Override PartName="/ppt/diagrams/data295.xml" ContentType="application/vnd.openxmlformats-officedocument.drawingml.diagramData+xml"/>
  <Override PartName="/ppt/diagrams/layout295.xml" ContentType="application/vnd.openxmlformats-officedocument.drawingml.diagramLayout+xml"/>
  <Override PartName="/ppt/diagrams/quickStyle295.xml" ContentType="application/vnd.openxmlformats-officedocument.drawingml.diagramStyle+xml"/>
  <Override PartName="/ppt/diagrams/colors295.xml" ContentType="application/vnd.openxmlformats-officedocument.drawingml.diagramColors+xml"/>
  <Override PartName="/ppt/diagrams/drawing295.xml" ContentType="application/vnd.ms-office.drawingml.diagramDrawing+xml"/>
  <Override PartName="/ppt/diagrams/data296.xml" ContentType="application/vnd.openxmlformats-officedocument.drawingml.diagramData+xml"/>
  <Override PartName="/ppt/diagrams/layout296.xml" ContentType="application/vnd.openxmlformats-officedocument.drawingml.diagramLayout+xml"/>
  <Override PartName="/ppt/diagrams/quickStyle296.xml" ContentType="application/vnd.openxmlformats-officedocument.drawingml.diagramStyle+xml"/>
  <Override PartName="/ppt/diagrams/colors296.xml" ContentType="application/vnd.openxmlformats-officedocument.drawingml.diagramColors+xml"/>
  <Override PartName="/ppt/diagrams/drawing296.xml" ContentType="application/vnd.ms-office.drawingml.diagramDrawing+xml"/>
  <Override PartName="/ppt/diagrams/data297.xml" ContentType="application/vnd.openxmlformats-officedocument.drawingml.diagramData+xml"/>
  <Override PartName="/ppt/diagrams/layout297.xml" ContentType="application/vnd.openxmlformats-officedocument.drawingml.diagramLayout+xml"/>
  <Override PartName="/ppt/diagrams/quickStyle297.xml" ContentType="application/vnd.openxmlformats-officedocument.drawingml.diagramStyle+xml"/>
  <Override PartName="/ppt/diagrams/colors297.xml" ContentType="application/vnd.openxmlformats-officedocument.drawingml.diagramColors+xml"/>
  <Override PartName="/ppt/diagrams/drawing297.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03"/>
  </p:notesMasterIdLst>
  <p:sldIdLst>
    <p:sldId id="1068" r:id="rId5"/>
    <p:sldId id="982" r:id="rId6"/>
    <p:sldId id="983" r:id="rId7"/>
    <p:sldId id="985" r:id="rId8"/>
    <p:sldId id="986" r:id="rId9"/>
    <p:sldId id="987" r:id="rId10"/>
    <p:sldId id="988" r:id="rId11"/>
    <p:sldId id="989" r:id="rId12"/>
    <p:sldId id="990" r:id="rId13"/>
    <p:sldId id="991" r:id="rId14"/>
    <p:sldId id="992" r:id="rId15"/>
    <p:sldId id="993" r:id="rId16"/>
    <p:sldId id="994" r:id="rId17"/>
    <p:sldId id="995" r:id="rId18"/>
    <p:sldId id="996" r:id="rId19"/>
    <p:sldId id="997" r:id="rId20"/>
    <p:sldId id="998" r:id="rId21"/>
    <p:sldId id="999" r:id="rId22"/>
    <p:sldId id="562" r:id="rId23"/>
    <p:sldId id="563" r:id="rId24"/>
    <p:sldId id="564" r:id="rId25"/>
    <p:sldId id="1032" r:id="rId26"/>
    <p:sldId id="1033" r:id="rId27"/>
    <p:sldId id="1034" r:id="rId28"/>
    <p:sldId id="1035" r:id="rId29"/>
    <p:sldId id="1036" r:id="rId30"/>
    <p:sldId id="1037" r:id="rId31"/>
    <p:sldId id="1038" r:id="rId32"/>
    <p:sldId id="1039" r:id="rId33"/>
    <p:sldId id="1040" r:id="rId34"/>
    <p:sldId id="1041" r:id="rId35"/>
    <p:sldId id="1042" r:id="rId36"/>
    <p:sldId id="1043" r:id="rId37"/>
    <p:sldId id="1044" r:id="rId38"/>
    <p:sldId id="1045" r:id="rId39"/>
    <p:sldId id="700" r:id="rId40"/>
    <p:sldId id="1069" r:id="rId41"/>
    <p:sldId id="1070" r:id="rId42"/>
    <p:sldId id="1181" r:id="rId43"/>
    <p:sldId id="1182" r:id="rId44"/>
    <p:sldId id="1003" r:id="rId45"/>
    <p:sldId id="1187" r:id="rId46"/>
    <p:sldId id="1188" r:id="rId47"/>
    <p:sldId id="1189" r:id="rId48"/>
    <p:sldId id="1190" r:id="rId49"/>
    <p:sldId id="592" r:id="rId50"/>
    <p:sldId id="593" r:id="rId51"/>
    <p:sldId id="594" r:id="rId52"/>
    <p:sldId id="595" r:id="rId53"/>
    <p:sldId id="596" r:id="rId54"/>
    <p:sldId id="597" r:id="rId55"/>
    <p:sldId id="598" r:id="rId56"/>
    <p:sldId id="599" r:id="rId57"/>
    <p:sldId id="600" r:id="rId58"/>
    <p:sldId id="601" r:id="rId59"/>
    <p:sldId id="602" r:id="rId60"/>
    <p:sldId id="603" r:id="rId61"/>
    <p:sldId id="604" r:id="rId62"/>
    <p:sldId id="605" r:id="rId63"/>
    <p:sldId id="606" r:id="rId64"/>
    <p:sldId id="366" r:id="rId65"/>
    <p:sldId id="580" r:id="rId66"/>
    <p:sldId id="581" r:id="rId67"/>
    <p:sldId id="578" r:id="rId68"/>
    <p:sldId id="582" r:id="rId69"/>
    <p:sldId id="584" r:id="rId70"/>
    <p:sldId id="583" r:id="rId71"/>
    <p:sldId id="585" r:id="rId72"/>
    <p:sldId id="586" r:id="rId73"/>
    <p:sldId id="587" r:id="rId74"/>
    <p:sldId id="588" r:id="rId75"/>
    <p:sldId id="589" r:id="rId76"/>
    <p:sldId id="590" r:id="rId77"/>
    <p:sldId id="591" r:id="rId78"/>
    <p:sldId id="607" r:id="rId79"/>
    <p:sldId id="1075" r:id="rId80"/>
    <p:sldId id="1076" r:id="rId81"/>
    <p:sldId id="1077" r:id="rId82"/>
    <p:sldId id="1078" r:id="rId83"/>
    <p:sldId id="1079" r:id="rId84"/>
    <p:sldId id="1080" r:id="rId85"/>
    <p:sldId id="1081" r:id="rId86"/>
    <p:sldId id="1082" r:id="rId87"/>
    <p:sldId id="1083" r:id="rId88"/>
    <p:sldId id="579" r:id="rId89"/>
    <p:sldId id="1046" r:id="rId90"/>
    <p:sldId id="1047" r:id="rId91"/>
    <p:sldId id="1049" r:id="rId92"/>
    <p:sldId id="1050" r:id="rId93"/>
    <p:sldId id="1085" r:id="rId94"/>
    <p:sldId id="1084" r:id="rId95"/>
    <p:sldId id="1087" r:id="rId96"/>
    <p:sldId id="1086" r:id="rId97"/>
    <p:sldId id="1088" r:id="rId98"/>
    <p:sldId id="1089" r:id="rId99"/>
    <p:sldId id="1090" r:id="rId100"/>
    <p:sldId id="1048" r:id="rId101"/>
    <p:sldId id="1184" r:id="rId102"/>
    <p:sldId id="1185" r:id="rId103"/>
    <p:sldId id="542" r:id="rId104"/>
    <p:sldId id="543" r:id="rId105"/>
    <p:sldId id="544" r:id="rId106"/>
    <p:sldId id="545" r:id="rId107"/>
    <p:sldId id="546" r:id="rId108"/>
    <p:sldId id="547" r:id="rId109"/>
    <p:sldId id="548" r:id="rId110"/>
    <p:sldId id="549" r:id="rId111"/>
    <p:sldId id="550" r:id="rId112"/>
    <p:sldId id="551" r:id="rId113"/>
    <p:sldId id="552" r:id="rId114"/>
    <p:sldId id="553" r:id="rId115"/>
    <p:sldId id="554" r:id="rId116"/>
    <p:sldId id="555" r:id="rId117"/>
    <p:sldId id="556" r:id="rId118"/>
    <p:sldId id="617" r:id="rId119"/>
    <p:sldId id="618" r:id="rId120"/>
    <p:sldId id="619" r:id="rId121"/>
    <p:sldId id="526" r:id="rId122"/>
    <p:sldId id="382" r:id="rId123"/>
    <p:sldId id="1186" r:id="rId124"/>
    <p:sldId id="384" r:id="rId125"/>
    <p:sldId id="385" r:id="rId126"/>
    <p:sldId id="383" r:id="rId127"/>
    <p:sldId id="387" r:id="rId128"/>
    <p:sldId id="1074" r:id="rId129"/>
    <p:sldId id="969" r:id="rId130"/>
    <p:sldId id="970" r:id="rId131"/>
    <p:sldId id="971" r:id="rId132"/>
    <p:sldId id="972" r:id="rId133"/>
    <p:sldId id="1094" r:id="rId134"/>
    <p:sldId id="1091" r:id="rId135"/>
    <p:sldId id="1092" r:id="rId136"/>
    <p:sldId id="389" r:id="rId137"/>
    <p:sldId id="566" r:id="rId138"/>
    <p:sldId id="567" r:id="rId139"/>
    <p:sldId id="568" r:id="rId140"/>
    <p:sldId id="569" r:id="rId141"/>
    <p:sldId id="570" r:id="rId142"/>
    <p:sldId id="571" r:id="rId143"/>
    <p:sldId id="572" r:id="rId144"/>
    <p:sldId id="1095" r:id="rId145"/>
    <p:sldId id="1172" r:id="rId146"/>
    <p:sldId id="1173" r:id="rId147"/>
    <p:sldId id="573" r:id="rId148"/>
    <p:sldId id="390" r:id="rId149"/>
    <p:sldId id="574" r:id="rId150"/>
    <p:sldId id="575" r:id="rId151"/>
    <p:sldId id="1097" r:id="rId152"/>
    <p:sldId id="1093" r:id="rId153"/>
    <p:sldId id="388" r:id="rId154"/>
    <p:sldId id="973" r:id="rId155"/>
    <p:sldId id="386" r:id="rId156"/>
    <p:sldId id="613" r:id="rId157"/>
    <p:sldId id="614" r:id="rId158"/>
    <p:sldId id="1098" r:id="rId159"/>
    <p:sldId id="1099" r:id="rId160"/>
    <p:sldId id="1071" r:id="rId161"/>
    <p:sldId id="1072" r:id="rId162"/>
    <p:sldId id="1073" r:id="rId163"/>
    <p:sldId id="565" r:id="rId164"/>
    <p:sldId id="1183" r:id="rId165"/>
    <p:sldId id="391" r:id="rId166"/>
    <p:sldId id="392" r:id="rId167"/>
    <p:sldId id="1156" r:id="rId168"/>
    <p:sldId id="1157" r:id="rId169"/>
    <p:sldId id="1158" r:id="rId170"/>
    <p:sldId id="1160" r:id="rId171"/>
    <p:sldId id="1159" r:id="rId172"/>
    <p:sldId id="1161" r:id="rId173"/>
    <p:sldId id="1162" r:id="rId174"/>
    <p:sldId id="1163" r:id="rId175"/>
    <p:sldId id="1170" r:id="rId176"/>
    <p:sldId id="1171" r:id="rId177"/>
    <p:sldId id="1164" r:id="rId178"/>
    <p:sldId id="1165" r:id="rId179"/>
    <p:sldId id="1169" r:id="rId180"/>
    <p:sldId id="1175" r:id="rId181"/>
    <p:sldId id="1176" r:id="rId182"/>
    <p:sldId id="1180" r:id="rId183"/>
    <p:sldId id="1177" r:id="rId184"/>
    <p:sldId id="1178" r:id="rId185"/>
    <p:sldId id="1179" r:id="rId186"/>
    <p:sldId id="1174" r:id="rId187"/>
    <p:sldId id="609" r:id="rId188"/>
    <p:sldId id="531" r:id="rId189"/>
    <p:sldId id="532" r:id="rId190"/>
    <p:sldId id="533" r:id="rId191"/>
    <p:sldId id="534" r:id="rId192"/>
    <p:sldId id="535" r:id="rId193"/>
    <p:sldId id="536" r:id="rId194"/>
    <p:sldId id="980" r:id="rId195"/>
    <p:sldId id="981" r:id="rId196"/>
    <p:sldId id="1108" r:id="rId197"/>
    <p:sldId id="1109" r:id="rId198"/>
    <p:sldId id="1110" r:id="rId199"/>
    <p:sldId id="1111" r:id="rId200"/>
    <p:sldId id="1112" r:id="rId201"/>
    <p:sldId id="1113" r:id="rId202"/>
    <p:sldId id="1114" r:id="rId203"/>
    <p:sldId id="1115" r:id="rId204"/>
    <p:sldId id="1116" r:id="rId205"/>
    <p:sldId id="1117" r:id="rId206"/>
    <p:sldId id="1118" r:id="rId207"/>
    <p:sldId id="1119" r:id="rId208"/>
    <p:sldId id="537" r:id="rId209"/>
    <p:sldId id="1120" r:id="rId210"/>
    <p:sldId id="1121" r:id="rId211"/>
    <p:sldId id="1122" r:id="rId212"/>
    <p:sldId id="1123" r:id="rId213"/>
    <p:sldId id="1125" r:id="rId214"/>
    <p:sldId id="1124" r:id="rId215"/>
    <p:sldId id="1126" r:id="rId216"/>
    <p:sldId id="1127" r:id="rId217"/>
    <p:sldId id="1128" r:id="rId218"/>
    <p:sldId id="1129" r:id="rId219"/>
    <p:sldId id="1130" r:id="rId220"/>
    <p:sldId id="1131" r:id="rId221"/>
    <p:sldId id="1132" r:id="rId222"/>
    <p:sldId id="1133" r:id="rId223"/>
    <p:sldId id="1134" r:id="rId224"/>
    <p:sldId id="1135" r:id="rId225"/>
    <p:sldId id="1136" r:id="rId226"/>
    <p:sldId id="1137" r:id="rId227"/>
    <p:sldId id="1138" r:id="rId228"/>
    <p:sldId id="1139" r:id="rId229"/>
    <p:sldId id="1140" r:id="rId230"/>
    <p:sldId id="1141" r:id="rId231"/>
    <p:sldId id="1142" r:id="rId232"/>
    <p:sldId id="1143" r:id="rId233"/>
    <p:sldId id="1144" r:id="rId234"/>
    <p:sldId id="1145" r:id="rId235"/>
    <p:sldId id="1146" r:id="rId236"/>
    <p:sldId id="1147" r:id="rId237"/>
    <p:sldId id="1148" r:id="rId238"/>
    <p:sldId id="1151" r:id="rId239"/>
    <p:sldId id="1152" r:id="rId240"/>
    <p:sldId id="1153" r:id="rId241"/>
    <p:sldId id="1154" r:id="rId242"/>
    <p:sldId id="1155" r:id="rId243"/>
    <p:sldId id="1150" r:id="rId244"/>
    <p:sldId id="654" r:id="rId245"/>
    <p:sldId id="1051" r:id="rId246"/>
    <p:sldId id="1052" r:id="rId247"/>
    <p:sldId id="1053" r:id="rId248"/>
    <p:sldId id="1054" r:id="rId249"/>
    <p:sldId id="1055" r:id="rId250"/>
    <p:sldId id="1056" r:id="rId251"/>
    <p:sldId id="1057" r:id="rId252"/>
    <p:sldId id="1058" r:id="rId253"/>
    <p:sldId id="1059" r:id="rId254"/>
    <p:sldId id="1060" r:id="rId255"/>
    <p:sldId id="1061" r:id="rId256"/>
    <p:sldId id="1062" r:id="rId257"/>
    <p:sldId id="1063" r:id="rId258"/>
    <p:sldId id="1064" r:id="rId259"/>
    <p:sldId id="1065" r:id="rId260"/>
    <p:sldId id="1066" r:id="rId261"/>
    <p:sldId id="1067" r:id="rId262"/>
    <p:sldId id="1103" r:id="rId263"/>
    <p:sldId id="1104" r:id="rId264"/>
    <p:sldId id="622" r:id="rId265"/>
    <p:sldId id="620" r:id="rId266"/>
    <p:sldId id="621" r:id="rId267"/>
    <p:sldId id="1191" r:id="rId268"/>
    <p:sldId id="1192" r:id="rId269"/>
    <p:sldId id="1193" r:id="rId270"/>
    <p:sldId id="1194" r:id="rId271"/>
    <p:sldId id="1195" r:id="rId272"/>
    <p:sldId id="1196" r:id="rId273"/>
    <p:sldId id="1013" r:id="rId274"/>
    <p:sldId id="1016" r:id="rId275"/>
    <p:sldId id="1017" r:id="rId276"/>
    <p:sldId id="1018" r:id="rId277"/>
    <p:sldId id="1019" r:id="rId278"/>
    <p:sldId id="1020" r:id="rId279"/>
    <p:sldId id="1021" r:id="rId280"/>
    <p:sldId id="1023" r:id="rId281"/>
    <p:sldId id="1022" r:id="rId282"/>
    <p:sldId id="1025" r:id="rId283"/>
    <p:sldId id="1024" r:id="rId284"/>
    <p:sldId id="1026" r:id="rId285"/>
    <p:sldId id="1027" r:id="rId286"/>
    <p:sldId id="1028" r:id="rId287"/>
    <p:sldId id="1029" r:id="rId288"/>
    <p:sldId id="1030" r:id="rId289"/>
    <p:sldId id="1031" r:id="rId290"/>
    <p:sldId id="1004" r:id="rId291"/>
    <p:sldId id="1005" r:id="rId292"/>
    <p:sldId id="1006" r:id="rId293"/>
    <p:sldId id="1001" r:id="rId294"/>
    <p:sldId id="1000" r:id="rId295"/>
    <p:sldId id="1002" r:id="rId296"/>
    <p:sldId id="1007" r:id="rId297"/>
    <p:sldId id="1008" r:id="rId298"/>
    <p:sldId id="1009" r:id="rId299"/>
    <p:sldId id="1010" r:id="rId300"/>
    <p:sldId id="1011" r:id="rId301"/>
    <p:sldId id="294" r:id="rId302"/>
  </p:sldIdLst>
  <p:sldSz cx="9144000" cy="5943600"/>
  <p:notesSz cx="9144000" cy="59436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16" userDrawn="1">
          <p15:clr>
            <a:srgbClr val="A4A3A4"/>
          </p15:clr>
        </p15:guide>
        <p15:guide id="2" pos="2160">
          <p15:clr>
            <a:srgbClr val="A4A3A4"/>
          </p15:clr>
        </p15:guide>
        <p15:guide id="3" pos="960" userDrawn="1">
          <p15:clr>
            <a:srgbClr val="A4A3A4"/>
          </p15:clr>
        </p15:guide>
        <p15:guide id="4" pos="3696" userDrawn="1">
          <p15:clr>
            <a:srgbClr val="A4A3A4"/>
          </p15:clr>
        </p15:guide>
        <p15:guide id="5" orient="horz" pos="244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ael J McMahan" initials="MJM" lastIdx="43" clrIdx="0">
    <p:extLst>
      <p:ext uri="{19B8F6BF-5375-455C-9EA6-DF929625EA0E}">
        <p15:presenceInfo xmlns:p15="http://schemas.microsoft.com/office/powerpoint/2012/main" userId="S::o004618@ofgbancorp.com::f5de8ce0-42e9-4038-a990-3facc77dc678" providerId="AD"/>
      </p:ext>
    </p:extLst>
  </p:cmAuthor>
  <p:cmAuthor id="2" name="Alvarez Holgado, Raquel (Cognizant)" initials="AHR(" lastIdx="2" clrIdx="1">
    <p:extLst>
      <p:ext uri="{19B8F6BF-5375-455C-9EA6-DF929625EA0E}">
        <p15:presenceInfo xmlns:p15="http://schemas.microsoft.com/office/powerpoint/2012/main" userId="S-1-5-21-1178368992-402679808-390482200-3157283" providerId="AD"/>
      </p:ext>
    </p:extLst>
  </p:cmAuthor>
  <p:cmAuthor id="3" name="david martin" initials="dm" lastIdx="1" clrIdx="2">
    <p:extLst>
      <p:ext uri="{19B8F6BF-5375-455C-9EA6-DF929625EA0E}">
        <p15:presenceInfo xmlns:p15="http://schemas.microsoft.com/office/powerpoint/2012/main" userId="david marti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22F2"/>
    <a:srgbClr val="1E1A20"/>
    <a:srgbClr val="727272"/>
    <a:srgbClr val="DFF7F1"/>
    <a:srgbClr val="F1EAFF"/>
    <a:srgbClr val="64597A"/>
    <a:srgbClr val="FFFFFF"/>
    <a:srgbClr val="F8DBFD"/>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84" autoAdjust="0"/>
    <p:restoredTop sz="93431" autoAdjust="0"/>
  </p:normalViewPr>
  <p:slideViewPr>
    <p:cSldViewPr>
      <p:cViewPr varScale="1">
        <p:scale>
          <a:sx n="58" d="100"/>
          <a:sy n="58" d="100"/>
        </p:scale>
        <p:origin x="1544" y="268"/>
      </p:cViewPr>
      <p:guideLst>
        <p:guide orient="horz" pos="2016"/>
        <p:guide pos="2160"/>
        <p:guide pos="960"/>
        <p:guide pos="3696"/>
        <p:guide orient="horz" pos="244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99" Type="http://schemas.openxmlformats.org/officeDocument/2006/relationships/slide" Target="slides/slide295.xml"/><Relationship Id="rId21" Type="http://schemas.openxmlformats.org/officeDocument/2006/relationships/slide" Target="slides/slide17.xml"/><Relationship Id="rId63" Type="http://schemas.openxmlformats.org/officeDocument/2006/relationships/slide" Target="slides/slide59.xml"/><Relationship Id="rId159" Type="http://schemas.openxmlformats.org/officeDocument/2006/relationships/slide" Target="slides/slide155.xml"/><Relationship Id="rId170" Type="http://schemas.openxmlformats.org/officeDocument/2006/relationships/slide" Target="slides/slide166.xml"/><Relationship Id="rId226" Type="http://schemas.openxmlformats.org/officeDocument/2006/relationships/slide" Target="slides/slide222.xml"/><Relationship Id="rId268" Type="http://schemas.openxmlformats.org/officeDocument/2006/relationships/slide" Target="slides/slide264.xml"/><Relationship Id="rId32" Type="http://schemas.openxmlformats.org/officeDocument/2006/relationships/slide" Target="slides/slide28.xml"/><Relationship Id="rId74" Type="http://schemas.openxmlformats.org/officeDocument/2006/relationships/slide" Target="slides/slide70.xml"/><Relationship Id="rId128" Type="http://schemas.openxmlformats.org/officeDocument/2006/relationships/slide" Target="slides/slide124.xml"/><Relationship Id="rId5" Type="http://schemas.openxmlformats.org/officeDocument/2006/relationships/slide" Target="slides/slide1.xml"/><Relationship Id="rId181" Type="http://schemas.openxmlformats.org/officeDocument/2006/relationships/slide" Target="slides/slide177.xml"/><Relationship Id="rId237" Type="http://schemas.openxmlformats.org/officeDocument/2006/relationships/slide" Target="slides/slide233.xml"/><Relationship Id="rId279" Type="http://schemas.openxmlformats.org/officeDocument/2006/relationships/slide" Target="slides/slide275.xml"/><Relationship Id="rId43" Type="http://schemas.openxmlformats.org/officeDocument/2006/relationships/slide" Target="slides/slide39.xml"/><Relationship Id="rId139" Type="http://schemas.openxmlformats.org/officeDocument/2006/relationships/slide" Target="slides/slide135.xml"/><Relationship Id="rId290" Type="http://schemas.openxmlformats.org/officeDocument/2006/relationships/slide" Target="slides/slide286.xml"/><Relationship Id="rId304" Type="http://schemas.openxmlformats.org/officeDocument/2006/relationships/commentAuthors" Target="commentAuthors.xml"/><Relationship Id="rId85" Type="http://schemas.openxmlformats.org/officeDocument/2006/relationships/slide" Target="slides/slide81.xml"/><Relationship Id="rId150" Type="http://schemas.openxmlformats.org/officeDocument/2006/relationships/slide" Target="slides/slide146.xml"/><Relationship Id="rId192" Type="http://schemas.openxmlformats.org/officeDocument/2006/relationships/slide" Target="slides/slide188.xml"/><Relationship Id="rId206" Type="http://schemas.openxmlformats.org/officeDocument/2006/relationships/slide" Target="slides/slide202.xml"/><Relationship Id="rId248" Type="http://schemas.openxmlformats.org/officeDocument/2006/relationships/slide" Target="slides/slide244.xml"/><Relationship Id="rId12" Type="http://schemas.openxmlformats.org/officeDocument/2006/relationships/slide" Target="slides/slide8.xml"/><Relationship Id="rId108" Type="http://schemas.openxmlformats.org/officeDocument/2006/relationships/slide" Target="slides/slide104.xml"/><Relationship Id="rId54" Type="http://schemas.openxmlformats.org/officeDocument/2006/relationships/slide" Target="slides/slide50.xml"/><Relationship Id="rId96" Type="http://schemas.openxmlformats.org/officeDocument/2006/relationships/slide" Target="slides/slide92.xml"/><Relationship Id="rId161" Type="http://schemas.openxmlformats.org/officeDocument/2006/relationships/slide" Target="slides/slide157.xml"/><Relationship Id="rId217" Type="http://schemas.openxmlformats.org/officeDocument/2006/relationships/slide" Target="slides/slide213.xml"/><Relationship Id="rId259" Type="http://schemas.openxmlformats.org/officeDocument/2006/relationships/slide" Target="slides/slide255.xml"/><Relationship Id="rId23" Type="http://schemas.openxmlformats.org/officeDocument/2006/relationships/slide" Target="slides/slide19.xml"/><Relationship Id="rId119" Type="http://schemas.openxmlformats.org/officeDocument/2006/relationships/slide" Target="slides/slide115.xml"/><Relationship Id="rId270" Type="http://schemas.openxmlformats.org/officeDocument/2006/relationships/slide" Target="slides/slide266.xml"/><Relationship Id="rId291" Type="http://schemas.openxmlformats.org/officeDocument/2006/relationships/slide" Target="slides/slide287.xml"/><Relationship Id="rId305" Type="http://schemas.openxmlformats.org/officeDocument/2006/relationships/presProps" Target="presProps.xml"/><Relationship Id="rId44" Type="http://schemas.openxmlformats.org/officeDocument/2006/relationships/slide" Target="slides/slide40.xml"/><Relationship Id="rId65" Type="http://schemas.openxmlformats.org/officeDocument/2006/relationships/slide" Target="slides/slide61.xml"/><Relationship Id="rId86" Type="http://schemas.openxmlformats.org/officeDocument/2006/relationships/slide" Target="slides/slide82.xml"/><Relationship Id="rId130" Type="http://schemas.openxmlformats.org/officeDocument/2006/relationships/slide" Target="slides/slide126.xml"/><Relationship Id="rId151" Type="http://schemas.openxmlformats.org/officeDocument/2006/relationships/slide" Target="slides/slide147.xml"/><Relationship Id="rId172" Type="http://schemas.openxmlformats.org/officeDocument/2006/relationships/slide" Target="slides/slide168.xml"/><Relationship Id="rId193" Type="http://schemas.openxmlformats.org/officeDocument/2006/relationships/slide" Target="slides/slide189.xml"/><Relationship Id="rId207" Type="http://schemas.openxmlformats.org/officeDocument/2006/relationships/slide" Target="slides/slide203.xml"/><Relationship Id="rId228" Type="http://schemas.openxmlformats.org/officeDocument/2006/relationships/slide" Target="slides/slide224.xml"/><Relationship Id="rId249" Type="http://schemas.openxmlformats.org/officeDocument/2006/relationships/slide" Target="slides/slide245.xml"/><Relationship Id="rId13" Type="http://schemas.openxmlformats.org/officeDocument/2006/relationships/slide" Target="slides/slide9.xml"/><Relationship Id="rId109" Type="http://schemas.openxmlformats.org/officeDocument/2006/relationships/slide" Target="slides/slide105.xml"/><Relationship Id="rId260" Type="http://schemas.openxmlformats.org/officeDocument/2006/relationships/slide" Target="slides/slide256.xml"/><Relationship Id="rId281" Type="http://schemas.openxmlformats.org/officeDocument/2006/relationships/slide" Target="slides/slide277.xml"/><Relationship Id="rId34" Type="http://schemas.openxmlformats.org/officeDocument/2006/relationships/slide" Target="slides/slide30.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20" Type="http://schemas.openxmlformats.org/officeDocument/2006/relationships/slide" Target="slides/slide116.xml"/><Relationship Id="rId141" Type="http://schemas.openxmlformats.org/officeDocument/2006/relationships/slide" Target="slides/slide137.xml"/><Relationship Id="rId7" Type="http://schemas.openxmlformats.org/officeDocument/2006/relationships/slide" Target="slides/slide3.xml"/><Relationship Id="rId162" Type="http://schemas.openxmlformats.org/officeDocument/2006/relationships/slide" Target="slides/slide158.xml"/><Relationship Id="rId183" Type="http://schemas.openxmlformats.org/officeDocument/2006/relationships/slide" Target="slides/slide179.xml"/><Relationship Id="rId218" Type="http://schemas.openxmlformats.org/officeDocument/2006/relationships/slide" Target="slides/slide214.xml"/><Relationship Id="rId239" Type="http://schemas.openxmlformats.org/officeDocument/2006/relationships/slide" Target="slides/slide235.xml"/><Relationship Id="rId250" Type="http://schemas.openxmlformats.org/officeDocument/2006/relationships/slide" Target="slides/slide246.xml"/><Relationship Id="rId271" Type="http://schemas.openxmlformats.org/officeDocument/2006/relationships/slide" Target="slides/slide267.xml"/><Relationship Id="rId292" Type="http://schemas.openxmlformats.org/officeDocument/2006/relationships/slide" Target="slides/slide288.xml"/><Relationship Id="rId306" Type="http://schemas.openxmlformats.org/officeDocument/2006/relationships/viewProps" Target="viewProps.xml"/><Relationship Id="rId24" Type="http://schemas.openxmlformats.org/officeDocument/2006/relationships/slide" Target="slides/slide20.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31" Type="http://schemas.openxmlformats.org/officeDocument/2006/relationships/slide" Target="slides/slide127.xml"/><Relationship Id="rId152" Type="http://schemas.openxmlformats.org/officeDocument/2006/relationships/slide" Target="slides/slide148.xml"/><Relationship Id="rId173" Type="http://schemas.openxmlformats.org/officeDocument/2006/relationships/slide" Target="slides/slide169.xml"/><Relationship Id="rId194" Type="http://schemas.openxmlformats.org/officeDocument/2006/relationships/slide" Target="slides/slide190.xml"/><Relationship Id="rId208" Type="http://schemas.openxmlformats.org/officeDocument/2006/relationships/slide" Target="slides/slide204.xml"/><Relationship Id="rId229" Type="http://schemas.openxmlformats.org/officeDocument/2006/relationships/slide" Target="slides/slide225.xml"/><Relationship Id="rId240" Type="http://schemas.openxmlformats.org/officeDocument/2006/relationships/slide" Target="slides/slide236.xml"/><Relationship Id="rId261" Type="http://schemas.openxmlformats.org/officeDocument/2006/relationships/slide" Target="slides/slide257.xml"/><Relationship Id="rId14" Type="http://schemas.openxmlformats.org/officeDocument/2006/relationships/slide" Target="slides/slide10.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282" Type="http://schemas.openxmlformats.org/officeDocument/2006/relationships/slide" Target="slides/slide278.xml"/><Relationship Id="rId8" Type="http://schemas.openxmlformats.org/officeDocument/2006/relationships/slide" Target="slides/slide4.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slide" Target="slides/slide159.xml"/><Relationship Id="rId184" Type="http://schemas.openxmlformats.org/officeDocument/2006/relationships/slide" Target="slides/slide180.xml"/><Relationship Id="rId219" Type="http://schemas.openxmlformats.org/officeDocument/2006/relationships/slide" Target="slides/slide215.xml"/><Relationship Id="rId230" Type="http://schemas.openxmlformats.org/officeDocument/2006/relationships/slide" Target="slides/slide226.xml"/><Relationship Id="rId251" Type="http://schemas.openxmlformats.org/officeDocument/2006/relationships/slide" Target="slides/slide247.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272" Type="http://schemas.openxmlformats.org/officeDocument/2006/relationships/slide" Target="slides/slide268.xml"/><Relationship Id="rId293" Type="http://schemas.openxmlformats.org/officeDocument/2006/relationships/slide" Target="slides/slide289.xml"/><Relationship Id="rId307" Type="http://schemas.openxmlformats.org/officeDocument/2006/relationships/theme" Target="theme/theme1.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74" Type="http://schemas.openxmlformats.org/officeDocument/2006/relationships/slide" Target="slides/slide170.xml"/><Relationship Id="rId195" Type="http://schemas.openxmlformats.org/officeDocument/2006/relationships/slide" Target="slides/slide191.xml"/><Relationship Id="rId209" Type="http://schemas.openxmlformats.org/officeDocument/2006/relationships/slide" Target="slides/slide205.xml"/><Relationship Id="rId220" Type="http://schemas.openxmlformats.org/officeDocument/2006/relationships/slide" Target="slides/slide216.xml"/><Relationship Id="rId241" Type="http://schemas.openxmlformats.org/officeDocument/2006/relationships/slide" Target="slides/slide237.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262" Type="http://schemas.openxmlformats.org/officeDocument/2006/relationships/slide" Target="slides/slide258.xml"/><Relationship Id="rId283" Type="http://schemas.openxmlformats.org/officeDocument/2006/relationships/slide" Target="slides/slide279.xml"/><Relationship Id="rId78" Type="http://schemas.openxmlformats.org/officeDocument/2006/relationships/slide" Target="slides/slide74.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64" Type="http://schemas.openxmlformats.org/officeDocument/2006/relationships/slide" Target="slides/slide160.xml"/><Relationship Id="rId185" Type="http://schemas.openxmlformats.org/officeDocument/2006/relationships/slide" Target="slides/slide181.xml"/><Relationship Id="rId9" Type="http://schemas.openxmlformats.org/officeDocument/2006/relationships/slide" Target="slides/slide5.xml"/><Relationship Id="rId210" Type="http://schemas.openxmlformats.org/officeDocument/2006/relationships/slide" Target="slides/slide206.xml"/><Relationship Id="rId26" Type="http://schemas.openxmlformats.org/officeDocument/2006/relationships/slide" Target="slides/slide22.xml"/><Relationship Id="rId231" Type="http://schemas.openxmlformats.org/officeDocument/2006/relationships/slide" Target="slides/slide227.xml"/><Relationship Id="rId252" Type="http://schemas.openxmlformats.org/officeDocument/2006/relationships/slide" Target="slides/slide248.xml"/><Relationship Id="rId273" Type="http://schemas.openxmlformats.org/officeDocument/2006/relationships/slide" Target="slides/slide269.xml"/><Relationship Id="rId294" Type="http://schemas.openxmlformats.org/officeDocument/2006/relationships/slide" Target="slides/slide290.xml"/><Relationship Id="rId308" Type="http://schemas.openxmlformats.org/officeDocument/2006/relationships/tableStyles" Target="tableStyles.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75" Type="http://schemas.openxmlformats.org/officeDocument/2006/relationships/slide" Target="slides/slide171.xml"/><Relationship Id="rId196" Type="http://schemas.openxmlformats.org/officeDocument/2006/relationships/slide" Target="slides/slide192.xml"/><Relationship Id="rId200" Type="http://schemas.openxmlformats.org/officeDocument/2006/relationships/slide" Target="slides/slide196.xml"/><Relationship Id="rId16" Type="http://schemas.openxmlformats.org/officeDocument/2006/relationships/slide" Target="slides/slide12.xml"/><Relationship Id="rId221" Type="http://schemas.openxmlformats.org/officeDocument/2006/relationships/slide" Target="slides/slide217.xml"/><Relationship Id="rId242" Type="http://schemas.openxmlformats.org/officeDocument/2006/relationships/slide" Target="slides/slide238.xml"/><Relationship Id="rId263" Type="http://schemas.openxmlformats.org/officeDocument/2006/relationships/slide" Target="slides/slide259.xml"/><Relationship Id="rId284" Type="http://schemas.openxmlformats.org/officeDocument/2006/relationships/slide" Target="slides/slide280.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 Id="rId165" Type="http://schemas.openxmlformats.org/officeDocument/2006/relationships/slide" Target="slides/slide161.xml"/><Relationship Id="rId186" Type="http://schemas.openxmlformats.org/officeDocument/2006/relationships/slide" Target="slides/slide182.xml"/><Relationship Id="rId211" Type="http://schemas.openxmlformats.org/officeDocument/2006/relationships/slide" Target="slides/slide207.xml"/><Relationship Id="rId232" Type="http://schemas.openxmlformats.org/officeDocument/2006/relationships/slide" Target="slides/slide228.xml"/><Relationship Id="rId253" Type="http://schemas.openxmlformats.org/officeDocument/2006/relationships/slide" Target="slides/slide249.xml"/><Relationship Id="rId274" Type="http://schemas.openxmlformats.org/officeDocument/2006/relationships/slide" Target="slides/slide270.xml"/><Relationship Id="rId295" Type="http://schemas.openxmlformats.org/officeDocument/2006/relationships/slide" Target="slides/slide291.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80" Type="http://schemas.openxmlformats.org/officeDocument/2006/relationships/slide" Target="slides/slide76.xml"/><Relationship Id="rId155" Type="http://schemas.openxmlformats.org/officeDocument/2006/relationships/slide" Target="slides/slide151.xml"/><Relationship Id="rId176" Type="http://schemas.openxmlformats.org/officeDocument/2006/relationships/slide" Target="slides/slide172.xml"/><Relationship Id="rId197" Type="http://schemas.openxmlformats.org/officeDocument/2006/relationships/slide" Target="slides/slide193.xml"/><Relationship Id="rId201" Type="http://schemas.openxmlformats.org/officeDocument/2006/relationships/slide" Target="slides/slide197.xml"/><Relationship Id="rId222" Type="http://schemas.openxmlformats.org/officeDocument/2006/relationships/slide" Target="slides/slide218.xml"/><Relationship Id="rId243" Type="http://schemas.openxmlformats.org/officeDocument/2006/relationships/slide" Target="slides/slide239.xml"/><Relationship Id="rId264" Type="http://schemas.openxmlformats.org/officeDocument/2006/relationships/slide" Target="slides/slide260.xml"/><Relationship Id="rId285" Type="http://schemas.openxmlformats.org/officeDocument/2006/relationships/slide" Target="slides/slide281.xml"/><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 Id="rId70" Type="http://schemas.openxmlformats.org/officeDocument/2006/relationships/slide" Target="slides/slide66.xml"/><Relationship Id="rId91" Type="http://schemas.openxmlformats.org/officeDocument/2006/relationships/slide" Target="slides/slide87.xml"/><Relationship Id="rId145" Type="http://schemas.openxmlformats.org/officeDocument/2006/relationships/slide" Target="slides/slide141.xml"/><Relationship Id="rId166" Type="http://schemas.openxmlformats.org/officeDocument/2006/relationships/slide" Target="slides/slide162.xml"/><Relationship Id="rId187" Type="http://schemas.openxmlformats.org/officeDocument/2006/relationships/slide" Target="slides/slide183.xml"/><Relationship Id="rId1" Type="http://schemas.openxmlformats.org/officeDocument/2006/relationships/customXml" Target="../customXml/item1.xml"/><Relationship Id="rId212" Type="http://schemas.openxmlformats.org/officeDocument/2006/relationships/slide" Target="slides/slide208.xml"/><Relationship Id="rId233" Type="http://schemas.openxmlformats.org/officeDocument/2006/relationships/slide" Target="slides/slide229.xml"/><Relationship Id="rId254" Type="http://schemas.openxmlformats.org/officeDocument/2006/relationships/slide" Target="slides/slide250.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275" Type="http://schemas.openxmlformats.org/officeDocument/2006/relationships/slide" Target="slides/slide271.xml"/><Relationship Id="rId296" Type="http://schemas.openxmlformats.org/officeDocument/2006/relationships/slide" Target="slides/slide292.xml"/><Relationship Id="rId300" Type="http://schemas.openxmlformats.org/officeDocument/2006/relationships/slide" Target="slides/slide296.xml"/><Relationship Id="rId60" Type="http://schemas.openxmlformats.org/officeDocument/2006/relationships/slide" Target="slides/slide56.xml"/><Relationship Id="rId81" Type="http://schemas.openxmlformats.org/officeDocument/2006/relationships/slide" Target="slides/slide77.xml"/><Relationship Id="rId135" Type="http://schemas.openxmlformats.org/officeDocument/2006/relationships/slide" Target="slides/slide131.xml"/><Relationship Id="rId156" Type="http://schemas.openxmlformats.org/officeDocument/2006/relationships/slide" Target="slides/slide152.xml"/><Relationship Id="rId177" Type="http://schemas.openxmlformats.org/officeDocument/2006/relationships/slide" Target="slides/slide173.xml"/><Relationship Id="rId198" Type="http://schemas.openxmlformats.org/officeDocument/2006/relationships/slide" Target="slides/slide194.xml"/><Relationship Id="rId202" Type="http://schemas.openxmlformats.org/officeDocument/2006/relationships/slide" Target="slides/slide198.xml"/><Relationship Id="rId223" Type="http://schemas.openxmlformats.org/officeDocument/2006/relationships/slide" Target="slides/slide219.xml"/><Relationship Id="rId244" Type="http://schemas.openxmlformats.org/officeDocument/2006/relationships/slide" Target="slides/slide240.xml"/><Relationship Id="rId18" Type="http://schemas.openxmlformats.org/officeDocument/2006/relationships/slide" Target="slides/slide14.xml"/><Relationship Id="rId39" Type="http://schemas.openxmlformats.org/officeDocument/2006/relationships/slide" Target="slides/slide35.xml"/><Relationship Id="rId265" Type="http://schemas.openxmlformats.org/officeDocument/2006/relationships/slide" Target="slides/slide261.xml"/><Relationship Id="rId286" Type="http://schemas.openxmlformats.org/officeDocument/2006/relationships/slide" Target="slides/slide282.xml"/><Relationship Id="rId50" Type="http://schemas.openxmlformats.org/officeDocument/2006/relationships/slide" Target="slides/slide46.xml"/><Relationship Id="rId104" Type="http://schemas.openxmlformats.org/officeDocument/2006/relationships/slide" Target="slides/slide100.xml"/><Relationship Id="rId125" Type="http://schemas.openxmlformats.org/officeDocument/2006/relationships/slide" Target="slides/slide121.xml"/><Relationship Id="rId146" Type="http://schemas.openxmlformats.org/officeDocument/2006/relationships/slide" Target="slides/slide142.xml"/><Relationship Id="rId167" Type="http://schemas.openxmlformats.org/officeDocument/2006/relationships/slide" Target="slides/slide163.xml"/><Relationship Id="rId188" Type="http://schemas.openxmlformats.org/officeDocument/2006/relationships/slide" Target="slides/slide184.xml"/><Relationship Id="rId71" Type="http://schemas.openxmlformats.org/officeDocument/2006/relationships/slide" Target="slides/slide67.xml"/><Relationship Id="rId92" Type="http://schemas.openxmlformats.org/officeDocument/2006/relationships/slide" Target="slides/slide88.xml"/><Relationship Id="rId213" Type="http://schemas.openxmlformats.org/officeDocument/2006/relationships/slide" Target="slides/slide209.xml"/><Relationship Id="rId234" Type="http://schemas.openxmlformats.org/officeDocument/2006/relationships/slide" Target="slides/slide230.xml"/><Relationship Id="rId2" Type="http://schemas.openxmlformats.org/officeDocument/2006/relationships/customXml" Target="../customXml/item2.xml"/><Relationship Id="rId29" Type="http://schemas.openxmlformats.org/officeDocument/2006/relationships/slide" Target="slides/slide25.xml"/><Relationship Id="rId255" Type="http://schemas.openxmlformats.org/officeDocument/2006/relationships/slide" Target="slides/slide251.xml"/><Relationship Id="rId276" Type="http://schemas.openxmlformats.org/officeDocument/2006/relationships/slide" Target="slides/slide272.xml"/><Relationship Id="rId297" Type="http://schemas.openxmlformats.org/officeDocument/2006/relationships/slide" Target="slides/slide293.xml"/><Relationship Id="rId40" Type="http://schemas.openxmlformats.org/officeDocument/2006/relationships/slide" Target="slides/slide36.xml"/><Relationship Id="rId115" Type="http://schemas.openxmlformats.org/officeDocument/2006/relationships/slide" Target="slides/slide111.xml"/><Relationship Id="rId136" Type="http://schemas.openxmlformats.org/officeDocument/2006/relationships/slide" Target="slides/slide132.xml"/><Relationship Id="rId157" Type="http://schemas.openxmlformats.org/officeDocument/2006/relationships/slide" Target="slides/slide153.xml"/><Relationship Id="rId178" Type="http://schemas.openxmlformats.org/officeDocument/2006/relationships/slide" Target="slides/slide174.xml"/><Relationship Id="rId301" Type="http://schemas.openxmlformats.org/officeDocument/2006/relationships/slide" Target="slides/slide297.xml"/><Relationship Id="rId61" Type="http://schemas.openxmlformats.org/officeDocument/2006/relationships/slide" Target="slides/slide57.xml"/><Relationship Id="rId82" Type="http://schemas.openxmlformats.org/officeDocument/2006/relationships/slide" Target="slides/slide78.xml"/><Relationship Id="rId199" Type="http://schemas.openxmlformats.org/officeDocument/2006/relationships/slide" Target="slides/slide195.xml"/><Relationship Id="rId203" Type="http://schemas.openxmlformats.org/officeDocument/2006/relationships/slide" Target="slides/slide199.xml"/><Relationship Id="rId19" Type="http://schemas.openxmlformats.org/officeDocument/2006/relationships/slide" Target="slides/slide15.xml"/><Relationship Id="rId224" Type="http://schemas.openxmlformats.org/officeDocument/2006/relationships/slide" Target="slides/slide220.xml"/><Relationship Id="rId245" Type="http://schemas.openxmlformats.org/officeDocument/2006/relationships/slide" Target="slides/slide241.xml"/><Relationship Id="rId266" Type="http://schemas.openxmlformats.org/officeDocument/2006/relationships/slide" Target="slides/slide262.xml"/><Relationship Id="rId287" Type="http://schemas.openxmlformats.org/officeDocument/2006/relationships/slide" Target="slides/slide283.xml"/><Relationship Id="rId30" Type="http://schemas.openxmlformats.org/officeDocument/2006/relationships/slide" Target="slides/slide2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openxmlformats.org/officeDocument/2006/relationships/slide" Target="slides/slide16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189" Type="http://schemas.openxmlformats.org/officeDocument/2006/relationships/slide" Target="slides/slide185.xml"/><Relationship Id="rId3" Type="http://schemas.openxmlformats.org/officeDocument/2006/relationships/customXml" Target="../customXml/item3.xml"/><Relationship Id="rId214" Type="http://schemas.openxmlformats.org/officeDocument/2006/relationships/slide" Target="slides/slide210.xml"/><Relationship Id="rId235" Type="http://schemas.openxmlformats.org/officeDocument/2006/relationships/slide" Target="slides/slide231.xml"/><Relationship Id="rId256" Type="http://schemas.openxmlformats.org/officeDocument/2006/relationships/slide" Target="slides/slide252.xml"/><Relationship Id="rId277" Type="http://schemas.openxmlformats.org/officeDocument/2006/relationships/slide" Target="slides/slide273.xml"/><Relationship Id="rId298" Type="http://schemas.openxmlformats.org/officeDocument/2006/relationships/slide" Target="slides/slide294.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302" Type="http://schemas.openxmlformats.org/officeDocument/2006/relationships/slide" Target="slides/slide298.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179" Type="http://schemas.openxmlformats.org/officeDocument/2006/relationships/slide" Target="slides/slide175.xml"/><Relationship Id="rId190" Type="http://schemas.openxmlformats.org/officeDocument/2006/relationships/slide" Target="slides/slide186.xml"/><Relationship Id="rId204" Type="http://schemas.openxmlformats.org/officeDocument/2006/relationships/slide" Target="slides/slide200.xml"/><Relationship Id="rId225" Type="http://schemas.openxmlformats.org/officeDocument/2006/relationships/slide" Target="slides/slide221.xml"/><Relationship Id="rId246" Type="http://schemas.openxmlformats.org/officeDocument/2006/relationships/slide" Target="slides/slide242.xml"/><Relationship Id="rId267" Type="http://schemas.openxmlformats.org/officeDocument/2006/relationships/slide" Target="slides/slide263.xml"/><Relationship Id="rId288" Type="http://schemas.openxmlformats.org/officeDocument/2006/relationships/slide" Target="slides/slide284.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94" Type="http://schemas.openxmlformats.org/officeDocument/2006/relationships/slide" Target="slides/slide90.xml"/><Relationship Id="rId148" Type="http://schemas.openxmlformats.org/officeDocument/2006/relationships/slide" Target="slides/slide144.xml"/><Relationship Id="rId169" Type="http://schemas.openxmlformats.org/officeDocument/2006/relationships/slide" Target="slides/slide165.xml"/><Relationship Id="rId4" Type="http://schemas.openxmlformats.org/officeDocument/2006/relationships/slideMaster" Target="slideMasters/slideMaster1.xml"/><Relationship Id="rId180" Type="http://schemas.openxmlformats.org/officeDocument/2006/relationships/slide" Target="slides/slide176.xml"/><Relationship Id="rId215" Type="http://schemas.openxmlformats.org/officeDocument/2006/relationships/slide" Target="slides/slide211.xml"/><Relationship Id="rId236" Type="http://schemas.openxmlformats.org/officeDocument/2006/relationships/slide" Target="slides/slide232.xml"/><Relationship Id="rId257" Type="http://schemas.openxmlformats.org/officeDocument/2006/relationships/slide" Target="slides/slide253.xml"/><Relationship Id="rId278" Type="http://schemas.openxmlformats.org/officeDocument/2006/relationships/slide" Target="slides/slide274.xml"/><Relationship Id="rId303" Type="http://schemas.openxmlformats.org/officeDocument/2006/relationships/notesMaster" Target="notesMasters/notesMaster1.xml"/><Relationship Id="rId42" Type="http://schemas.openxmlformats.org/officeDocument/2006/relationships/slide" Target="slides/slide38.xml"/><Relationship Id="rId84" Type="http://schemas.openxmlformats.org/officeDocument/2006/relationships/slide" Target="slides/slide80.xml"/><Relationship Id="rId138" Type="http://schemas.openxmlformats.org/officeDocument/2006/relationships/slide" Target="slides/slide134.xml"/><Relationship Id="rId191" Type="http://schemas.openxmlformats.org/officeDocument/2006/relationships/slide" Target="slides/slide187.xml"/><Relationship Id="rId205" Type="http://schemas.openxmlformats.org/officeDocument/2006/relationships/slide" Target="slides/slide201.xml"/><Relationship Id="rId247" Type="http://schemas.openxmlformats.org/officeDocument/2006/relationships/slide" Target="slides/slide243.xml"/><Relationship Id="rId107" Type="http://schemas.openxmlformats.org/officeDocument/2006/relationships/slide" Target="slides/slide103.xml"/><Relationship Id="rId289" Type="http://schemas.openxmlformats.org/officeDocument/2006/relationships/slide" Target="slides/slide285.xml"/><Relationship Id="rId11" Type="http://schemas.openxmlformats.org/officeDocument/2006/relationships/slide" Target="slides/slide7.xml"/><Relationship Id="rId53" Type="http://schemas.openxmlformats.org/officeDocument/2006/relationships/slide" Target="slides/slide49.xml"/><Relationship Id="rId149" Type="http://schemas.openxmlformats.org/officeDocument/2006/relationships/slide" Target="slides/slide145.xml"/><Relationship Id="rId95" Type="http://schemas.openxmlformats.org/officeDocument/2006/relationships/slide" Target="slides/slide91.xml"/><Relationship Id="rId160" Type="http://schemas.openxmlformats.org/officeDocument/2006/relationships/slide" Target="slides/slide156.xml"/><Relationship Id="rId216" Type="http://schemas.openxmlformats.org/officeDocument/2006/relationships/slide" Target="slides/slide212.xml"/><Relationship Id="rId258" Type="http://schemas.openxmlformats.org/officeDocument/2006/relationships/slide" Target="slides/slide254.xml"/><Relationship Id="rId22" Type="http://schemas.openxmlformats.org/officeDocument/2006/relationships/slide" Target="slides/slide18.xml"/><Relationship Id="rId64" Type="http://schemas.openxmlformats.org/officeDocument/2006/relationships/slide" Target="slides/slide60.xml"/><Relationship Id="rId118" Type="http://schemas.openxmlformats.org/officeDocument/2006/relationships/slide" Target="slides/slide114.xml"/><Relationship Id="rId171" Type="http://schemas.openxmlformats.org/officeDocument/2006/relationships/slide" Target="slides/slide167.xml"/><Relationship Id="rId227" Type="http://schemas.openxmlformats.org/officeDocument/2006/relationships/slide" Target="slides/slide223.xml"/><Relationship Id="rId269" Type="http://schemas.openxmlformats.org/officeDocument/2006/relationships/slide" Target="slides/slide265.xml"/><Relationship Id="rId33" Type="http://schemas.openxmlformats.org/officeDocument/2006/relationships/slide" Target="slides/slide29.xml"/><Relationship Id="rId129" Type="http://schemas.openxmlformats.org/officeDocument/2006/relationships/slide" Target="slides/slide125.xml"/><Relationship Id="rId280" Type="http://schemas.openxmlformats.org/officeDocument/2006/relationships/slide" Target="slides/slide276.xml"/><Relationship Id="rId75" Type="http://schemas.openxmlformats.org/officeDocument/2006/relationships/slide" Target="slides/slide71.xml"/><Relationship Id="rId140" Type="http://schemas.openxmlformats.org/officeDocument/2006/relationships/slide" Target="slides/slide136.xml"/><Relationship Id="rId182" Type="http://schemas.openxmlformats.org/officeDocument/2006/relationships/slide" Target="slides/slide178.xml"/><Relationship Id="rId6" Type="http://schemas.openxmlformats.org/officeDocument/2006/relationships/slide" Target="slides/slide2.xml"/><Relationship Id="rId238" Type="http://schemas.openxmlformats.org/officeDocument/2006/relationships/slide" Target="slides/slide234.xml"/></Relationships>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HTLL(High Throughput &amp; Low Latency) Systems[mainly in .NET] - Refresher</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solidFill>
                <a:schemeClr val="bg1"/>
              </a:solidFill>
              <a:latin typeface="Google Sans"/>
              <a:ea typeface="+mn-ea"/>
              <a:cs typeface="+mn-cs"/>
            </a:rPr>
            <a:t>HTLL, HTHL, LTLL &amp; LTHL</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solidFill>
                <a:schemeClr val="bg1"/>
              </a:solidFill>
              <a:latin typeface="Google Sans"/>
              <a:ea typeface="+mn-ea"/>
              <a:cs typeface="+mn-cs"/>
            </a:rPr>
            <a:t>HTLL, HTHL, LTLL &amp; LTHL</a:t>
          </a:r>
          <a:endParaRPr lang="en-US"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solidFill>
                <a:schemeClr val="bg1"/>
              </a:solidFill>
              <a:latin typeface="Google Sans"/>
              <a:ea typeface="+mn-ea"/>
              <a:cs typeface="+mn-cs"/>
            </a:rPr>
            <a:t>HTLL, HTHL, LTLL &amp; LTHL</a:t>
          </a:r>
          <a:endParaRPr lang="en-US"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solidFill>
                <a:schemeClr val="bg1"/>
              </a:solidFill>
              <a:latin typeface="Google Sans"/>
              <a:ea typeface="+mn-ea"/>
              <a:cs typeface="+mn-cs"/>
            </a:rPr>
            <a:t>HTLL, HTHL, LTLL &amp; LTHL</a:t>
          </a:r>
          <a:endParaRPr lang="en-US"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solidFill>
                <a:schemeClr val="bg1"/>
              </a:solidFill>
              <a:latin typeface="Google Sans"/>
              <a:ea typeface="+mn-ea"/>
              <a:cs typeface="+mn-cs"/>
            </a:rPr>
            <a:t>HTLL, HTHL, LTLL &amp; LTHL</a:t>
          </a:r>
          <a:endParaRPr lang="en-US"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solidFill>
                <a:schemeClr val="bg1"/>
              </a:solidFill>
              <a:latin typeface="Google Sans"/>
              <a:ea typeface="+mn-ea"/>
              <a:cs typeface="+mn-cs"/>
            </a:rPr>
            <a:t>HTLL, HTHL, LTLL &amp; LTHL</a:t>
          </a:r>
          <a:endParaRPr lang="en-US"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solidFill>
                <a:schemeClr val="bg1"/>
              </a:solidFill>
              <a:latin typeface="Google Sans"/>
              <a:ea typeface="+mn-ea"/>
              <a:cs typeface="+mn-cs"/>
            </a:rPr>
            <a:t>HTLL, HTHL, LTLL &amp; LTHL</a:t>
          </a:r>
          <a:endParaRPr lang="en-US"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solidFill>
                <a:schemeClr val="bg1"/>
              </a:solidFill>
              <a:latin typeface="Google Sans"/>
              <a:ea typeface="+mn-ea"/>
              <a:cs typeface="+mn-cs"/>
            </a:rPr>
            <a:t>HTLL, HTHL, LTLL &amp; LTHL</a:t>
          </a:r>
          <a:endParaRPr lang="en-US"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solidFill>
                <a:schemeClr val="bg1"/>
              </a:solidFill>
              <a:latin typeface="Google Sans"/>
              <a:ea typeface="+mn-ea"/>
              <a:cs typeface="+mn-cs"/>
            </a:rPr>
            <a:t>HTLL, HTHL, LTLL &amp; LTHL</a:t>
          </a:r>
          <a:endParaRPr lang="en-US"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solidFill>
                <a:schemeClr val="bg1"/>
              </a:solidFill>
              <a:latin typeface="Google Sans"/>
              <a:ea typeface="+mn-ea"/>
              <a:cs typeface="+mn-cs"/>
            </a:rPr>
            <a:t>HTLL, HTHL, LTLL &amp; LTHL</a:t>
          </a:r>
          <a:endParaRPr lang="en-US"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solidFill>
                <a:schemeClr val="bg1"/>
              </a:solidFill>
              <a:latin typeface="Google Sans"/>
              <a:ea typeface="+mn-ea"/>
              <a:cs typeface="+mn-cs"/>
            </a:rPr>
            <a:t>HTLL, HTHL, LTLL &amp; LTHL</a:t>
          </a:r>
          <a:endParaRPr lang="en-US"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solidFill>
                <a:schemeClr val="bg1"/>
              </a:solidFill>
              <a:latin typeface="Google Sans"/>
              <a:ea typeface="+mn-ea"/>
              <a:cs typeface="+mn-cs"/>
            </a:rPr>
            <a:t>HTLL, HTHL, LTLL &amp; LTHL</a:t>
          </a:r>
          <a:endParaRPr lang="en-US"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solidFill>
                <a:schemeClr val="bg1"/>
              </a:solidFill>
              <a:latin typeface="Google Sans"/>
              <a:ea typeface="+mn-ea"/>
              <a:cs typeface="+mn-cs"/>
            </a:rPr>
            <a:t>HTLL, HTHL, LTLL &amp; LTHL</a:t>
          </a:r>
          <a:endParaRPr lang="en-US"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solidFill>
                <a:schemeClr val="bg1"/>
              </a:solidFill>
              <a:latin typeface="Google Sans"/>
              <a:ea typeface="+mn-ea"/>
              <a:cs typeface="+mn-cs"/>
            </a:rPr>
            <a:t>HTLL, HTHL, LTLL &amp; LTHL</a:t>
          </a:r>
          <a:endParaRPr lang="en-US"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solidFill>
                <a:schemeClr val="bg1"/>
              </a:solidFill>
              <a:latin typeface="Google Sans"/>
              <a:ea typeface="+mn-ea"/>
              <a:cs typeface="+mn-cs"/>
            </a:rPr>
            <a:t>Building HTLL Systems in .NET(High Level Techniques)</a:t>
          </a:r>
          <a:endParaRPr lang="en-US"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solidFill>
                <a:schemeClr val="bg1"/>
              </a:solidFill>
              <a:latin typeface="Google Sans"/>
              <a:ea typeface="+mn-ea"/>
              <a:cs typeface="+mn-cs"/>
            </a:rPr>
            <a:t>Building HTLL Systems in .NET(High Level Techniques)</a:t>
          </a:r>
          <a:endParaRPr lang="en-US"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solidFill>
                <a:schemeClr val="bg1"/>
              </a:solidFill>
              <a:latin typeface="Google Sans"/>
              <a:ea typeface="+mn-ea"/>
              <a:cs typeface="+mn-cs"/>
            </a:rPr>
            <a:t>Building HTLL Systems in .NET(High Level Techniques)</a:t>
          </a:r>
          <a:endParaRPr lang="en-US"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Some Basic (.NET) Concepts(but very important w.r.t HTLL Systems)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X="-536"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Some Basic (.NET) Concepts(but very important w.r.t HTLL Systems)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Some Basic (.NET) Concepts(but very important w.r.t HTLL Systems)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Some Basic (.NET) Concepts(but very important w.r.t HTLL Systems)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Some Basic (.NET) Concepts(but very important w.r.t HTLL Systems)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Some Basic (.NET) Concepts(but very important w.r.t HTLL Systems)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Some Basic (.NET) Concepts(but very important w.r.t HTLL Systems)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Some Basic (.NET) Concepts(but very important w.r.t HTLL Systems)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Some Basic (.NET) Concepts(but very important w.r.t HTLL Systems)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Some Basic (.NET) Concepts(but very important w.r.t HTLL Systems)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Some Basic (.NET) Concepts(but very important w.r.t HTLL Systems)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Some Basic (.NET) Concepts(but very important w.r.t HTLL Systems)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Some Basic (.NET) Concepts(but very important w.r.t HTLL Systems)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Some Basic (.NET) Concepts(but very important w.r.t HTLL Systems)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Some Basic (.NET) Concepts(but very important w.r.t HTLL Systems)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Some Basic (.NET) Concepts(but very important w.r.t HTLL Systems)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Some Basic (.NET) Concepts(but very important w.r.t HTLL Systems)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Some Basic (.NET) Concepts(but very important w.r.t HTLL Systems)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Some Basic (.NET) Concepts(but very important w.r.t HTLL Systems)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Some Basic (.NET) Concepts(but very important w.r.t HTLL Systems)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Some Basic (.NET) Concepts(but very important w.r.t HTLL Systems)</a:t>
          </a:r>
          <a:endParaRPr lang="en-US"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Some Basic (.NET) Concepts(but very important w.r.t HTLL Systems)</a:t>
          </a:r>
          <a:endParaRPr lang="en-US"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Some Basic (.NET) Concepts(but very important w.r.t HTLL Systems)</a:t>
          </a:r>
          <a:endParaRPr lang="en-US"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Some Basic (.NET) Concepts(but very important w.r.t HTLL Systems)</a:t>
          </a:r>
          <a:endParaRPr lang="en-US"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Some Basic (.NET) Concepts(but very important w.r.t HTLL Systems)</a:t>
          </a:r>
          <a:endParaRPr lang="en-US"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Some Basic (.NET) Concepts(but very important w.r.t HTLL Systems)</a:t>
          </a:r>
          <a:endParaRPr lang="en-US"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Some Basic (.NET) Concepts(but very important w.r.t HTLL Systems)</a:t>
          </a:r>
          <a:endParaRPr lang="en-US"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Garbage Collection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Garbage Collection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Garbage Collection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Garbage Collection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Garbage Collection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Garbage Collection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Garbage Collection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Garbage Collection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Garbage Collection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Garbage Collection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Garbage Collection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Garbage Collection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Garbage Collection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Garbage Collection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Garbage Collection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Garbage Collection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Garbage Collection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Garbage Collection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Garbage Collection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Garbage Collection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Garbage Collection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Garbage Collection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Garbage Collection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Garbage Collection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Garbage Collection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Garbage Collection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Garbage Collection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Garbage Collection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Garbage Collection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Garbage Collection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Garbage Collection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Garbage Collection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Garbage Collection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Garbage Collection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Garbage Collection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Garbage Collection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Garbage Collection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Garbage Collection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Garbage Collection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Garbage Collection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Memory Hierarchy</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Memory Hierarchy</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Memory Hierarchy</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Memory Hierarchy</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Memory Hierarchy</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Memory Hierarchy</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Memory Hierarchy</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Memory Hierarchy</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Memory Hierarchy</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Memory Hierarchy</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Memory Hierarchy</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Memory Hierarchy</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Read and Write Amplification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Read and Write Amplification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DOP(Data Oriented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DOP(Data Oriented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DOP(Data Oriented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DOP(Data Oriented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DOP(Data Oriented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DOP(Data Oriented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DOP(Data Oriented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Advanced DOP(Data Oriented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Advanced DOP(Data Oriented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Advanced DOP(Data Oriented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Advanced DOP(Data Oriented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Advanced DOP(Data Oriented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Advanced DOP(Data Oriented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Advanced DOP(Data Oriented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DOP(Data Oriented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Allocation Free Patterns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Allocation Free Patterns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Allocation Free Patterns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in .NET(Core)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Concurrent Programming(/</a:t>
          </a:r>
          <a:r>
            <a:rPr lang="en-US" b="1" i="0" dirty="0" err="1"/>
            <a:t>MultiThreading</a:t>
          </a:r>
          <a:r>
            <a:rPr lang="en-US" b="1" i="0" dirty="0"/>
            <a:t>) vs Multi Core Parallel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Multi Core Parallel Programming in .NET(Core)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Multi Core Parallel Programming in .NET(Core)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User Space, Kernel Space &amp; Systems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User Space, Kernel Space &amp; Systems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User Space, Kernel Space &amp; Systems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User Space, Kernel Space &amp; Systems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User Space, Kernel Space &amp; Systems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User Space, Kernel Space &amp; Systems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User Space, Kernel Space &amp; Systems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User Space, Kernel Space &amp; Systems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User Space, Kernel Space &amp; Systems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User Space, Kernel Space &amp; Systems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User Space, Kernel Space &amp; Systems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User Space, Kernel Space &amp; Systems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User Space, Kernel Space &amp; Systems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User Space, Kernel Space &amp; Systems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User Space, Kernel Space &amp; Systems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User Space, Kernel Space &amp; Systems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User Space, Kernel Space &amp; Systems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User Space, Kernel Space &amp; Systems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User Space, Kernel Space &amp; Systems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User Space, Kernel Space &amp; Systems Programming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Stream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Stream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Stream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Stream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Stream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Stream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Stream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Stream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Stream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Stream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Stream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Stream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Stream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Stream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Stream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Stream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Stream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Stream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Stream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Stream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Stream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Network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Network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Network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Network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Network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Network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Network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Network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Network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Network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Network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Network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Network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Network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Network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Network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Network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Network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Network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Network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Network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Network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Network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Network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Network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Network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Network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Network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Network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Network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Network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Network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Network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Network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Network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Network Programming</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ADO.NET</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ADO.NET</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ADO.NET</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ADO.NET</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ADO.NET</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ADO.NET</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ADO.NET</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ADO.NET</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ADO.NET</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ADO.NET</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Dapper Micro ORM</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Dapper Micro ORM</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Dapper Micro ORM</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Dapper Micro ORM</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Dapper Micro ORM</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Dapper Micro ORM</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Dapper Micro ORM</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Dapper Micro ORM</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JIT &amp; AoT Compilation</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JIT &amp; AoT Compilation</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Cold Start </a:t>
          </a:r>
          <a:r>
            <a:rPr lang="en-US" dirty="0" err="1"/>
            <a:t>Optimisation</a:t>
          </a:r>
          <a:r>
            <a:rPr lang="en-US" dirty="0"/>
            <a:t> Techniques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Cold Start </a:t>
          </a:r>
          <a:r>
            <a:rPr lang="en-US" dirty="0" err="1"/>
            <a:t>Optimisation</a:t>
          </a:r>
          <a:r>
            <a:rPr lang="en-US" dirty="0"/>
            <a:t> Techniques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Cold Start </a:t>
          </a:r>
          <a:r>
            <a:rPr lang="en-US" dirty="0" err="1"/>
            <a:t>Optimisation</a:t>
          </a:r>
          <a:r>
            <a:rPr lang="en-US" dirty="0"/>
            <a:t> Techniques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solidFill>
                <a:schemeClr val="bg1"/>
              </a:solidFill>
              <a:latin typeface="Google Sans"/>
              <a:ea typeface="+mn-ea"/>
              <a:cs typeface="+mn-cs"/>
            </a:rPr>
            <a:t>Cost Optimization in HLTT Systems</a:t>
          </a:r>
          <a:endParaRPr lang="en-US"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solidFill>
                <a:schemeClr val="bg1"/>
              </a:solidFill>
              <a:latin typeface="Google Sans"/>
              <a:ea typeface="+mn-ea"/>
              <a:cs typeface="+mn-cs"/>
            </a:rPr>
            <a:t>Cost Optimization in HLTT Systems</a:t>
          </a:r>
          <a:endParaRPr lang="en-US"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solidFill>
                <a:schemeClr val="bg1"/>
              </a:solidFill>
              <a:latin typeface="Google Sans"/>
              <a:ea typeface="+mn-ea"/>
              <a:cs typeface="+mn-cs"/>
            </a:rPr>
            <a:t>Cost Optimization in HLTT Systems</a:t>
          </a:r>
          <a:endParaRPr lang="en-US"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solidFill>
                <a:schemeClr val="bg1"/>
              </a:solidFill>
              <a:latin typeface="Google Sans"/>
              <a:ea typeface="+mn-ea"/>
              <a:cs typeface="+mn-cs"/>
            </a:rPr>
            <a:t>Cost Optimization in HLTT Systems</a:t>
          </a:r>
          <a:endParaRPr lang="en-US"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solidFill>
                <a:schemeClr val="bg1"/>
              </a:solidFill>
              <a:latin typeface="Google Sans"/>
              <a:ea typeface="+mn-ea"/>
              <a:cs typeface="+mn-cs"/>
            </a:rPr>
            <a:t>Cost Optimization in HLTT Systems</a:t>
          </a:r>
          <a:endParaRPr lang="en-US"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solidFill>
                <a:schemeClr val="bg1"/>
              </a:solidFill>
              <a:latin typeface="Google Sans"/>
              <a:ea typeface="+mn-ea"/>
              <a:cs typeface="+mn-cs"/>
            </a:rPr>
            <a:t>Cost Optimization in HLTT Systems</a:t>
          </a:r>
          <a:endParaRPr lang="en-US"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Mechanical Sympathy</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Mechanical Sympathy</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Mechanical Sympathy</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Mechanical Sympathy</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Mechanical Sympathy</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Mechanical Sympathy</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Mechanical Sympathy</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Mechanical Sympathy</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Mechanical Sympathy</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Mechanical Sympathy</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Mechanical Sympathy</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Mechanical Sympathy</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Mechanical Sympathy</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Mechanical Sympathy</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Mechanical Sympathy</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Mechanical Sympathy</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Mechanical Sympathy</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solidFill>
                <a:schemeClr val="bg1"/>
              </a:solidFill>
              <a:latin typeface="Google Sans"/>
              <a:ea typeface="+mn-ea"/>
              <a:cs typeface="+mn-cs"/>
            </a:rPr>
            <a:t>Some Niche Low Level Tips for HTLL Systems</a:t>
          </a:r>
          <a:endParaRPr lang="en-US"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solidFill>
                <a:schemeClr val="bg1"/>
              </a:solidFill>
              <a:latin typeface="Google Sans"/>
              <a:ea typeface="+mn-ea"/>
              <a:cs typeface="+mn-cs"/>
            </a:rPr>
            <a:t>Some Niche Low Level Tips for HTLL Systems</a:t>
          </a:r>
          <a:endParaRPr lang="en-US"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solidFill>
                <a:schemeClr val="bg1"/>
              </a:solidFill>
              <a:latin typeface="Google Sans"/>
              <a:ea typeface="+mn-ea"/>
              <a:cs typeface="+mn-cs"/>
            </a:rPr>
            <a:t>Some Niche Low Level Tips for HTLL Systems</a:t>
          </a:r>
          <a:endParaRPr lang="en-US"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solidFill>
                <a:schemeClr val="bg1"/>
              </a:solidFill>
              <a:latin typeface="Google Sans"/>
              <a:ea typeface="+mn-ea"/>
              <a:cs typeface="+mn-cs"/>
            </a:rPr>
            <a:t>Some Niche Low Level Tips for HTLL Systems</a:t>
          </a:r>
          <a:endParaRPr lang="en-US"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solidFill>
                <a:schemeClr val="bg1"/>
              </a:solidFill>
              <a:latin typeface="Google Sans"/>
              <a:ea typeface="+mn-ea"/>
              <a:cs typeface="+mn-cs"/>
            </a:rPr>
            <a:t>Some Niche Low Level Tips for HTLL Systems</a:t>
          </a:r>
          <a:endParaRPr lang="en-US"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solidFill>
                <a:schemeClr val="bg1"/>
              </a:solidFill>
              <a:latin typeface="Google Sans"/>
              <a:ea typeface="+mn-ea"/>
              <a:cs typeface="+mn-cs"/>
            </a:rPr>
            <a:t>Some Niche Low Level Tips for HTLL Systems</a:t>
          </a:r>
          <a:endParaRPr lang="en-US"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solidFill>
                <a:schemeClr val="bg1"/>
              </a:solidFill>
              <a:latin typeface="Google Sans"/>
              <a:ea typeface="+mn-ea"/>
              <a:cs typeface="+mn-cs"/>
            </a:rPr>
            <a:t>Some Niche Low Level Tips for HTLL Systems</a:t>
          </a:r>
          <a:endParaRPr lang="en-US"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solidFill>
                <a:schemeClr val="bg1"/>
              </a:solidFill>
              <a:latin typeface="Google Sans"/>
              <a:ea typeface="+mn-ea"/>
              <a:cs typeface="+mn-cs"/>
            </a:rPr>
            <a:t>Some Niche Low Level Tips for HTLL Systems</a:t>
          </a:r>
          <a:endParaRPr lang="en-US"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solidFill>
                <a:schemeClr val="bg1"/>
              </a:solidFill>
              <a:latin typeface="Google Sans"/>
              <a:ea typeface="+mn-ea"/>
              <a:cs typeface="+mn-cs"/>
            </a:rPr>
            <a:t>Some Niche Low Level Tips for HTLL Systems</a:t>
          </a:r>
          <a:endParaRPr lang="en-US"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solidFill>
                <a:schemeClr val="bg1"/>
              </a:solidFill>
              <a:latin typeface="Google Sans"/>
              <a:ea typeface="+mn-ea"/>
              <a:cs typeface="+mn-cs"/>
            </a:rPr>
            <a:t>Some Niche Low Level Tips for HTLL Systems</a:t>
          </a:r>
          <a:endParaRPr lang="en-US"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solidFill>
                <a:schemeClr val="bg1"/>
              </a:solidFill>
              <a:latin typeface="Google Sans"/>
              <a:ea typeface="+mn-ea"/>
              <a:cs typeface="+mn-cs"/>
            </a:rPr>
            <a:t>HTLL Systems Performance in Depth</a:t>
          </a:r>
          <a:endParaRPr lang="en-US"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83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121680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HTLL(High Throughput &amp; Low Latency) Systems[mainly in .NET] - Refresher</a:t>
          </a:r>
          <a:endParaRPr lang="en-US" sz="2500" kern="1200" dirty="0">
            <a:solidFill>
              <a:schemeClr val="bg1"/>
            </a:solidFill>
          </a:endParaRPr>
        </a:p>
      </dsp:txBody>
      <dsp:txXfrm>
        <a:off x="59399" y="59399"/>
        <a:ext cx="8597502" cy="10980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solidFill>
                <a:schemeClr val="bg1"/>
              </a:solidFill>
              <a:latin typeface="Google Sans"/>
              <a:ea typeface="+mn-ea"/>
              <a:cs typeface="+mn-cs"/>
            </a:rPr>
            <a:t>HTLL, HTHL, LTLL &amp; LTHL</a:t>
          </a:r>
          <a:endParaRPr lang="en-US" sz="3100" kern="1200" dirty="0"/>
        </a:p>
      </dsp:txBody>
      <dsp:txXfrm>
        <a:off x="36296" y="36296"/>
        <a:ext cx="8643708" cy="67094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solidFill>
                <a:schemeClr val="bg1"/>
              </a:solidFill>
              <a:latin typeface="Google Sans"/>
              <a:ea typeface="+mn-ea"/>
              <a:cs typeface="+mn-cs"/>
            </a:rPr>
            <a:t>HTLL, HTHL, LTLL &amp; LTHL</a:t>
          </a:r>
          <a:endParaRPr lang="en-US" sz="3100" kern="1200" dirty="0">
            <a:solidFill>
              <a:schemeClr val="bg1"/>
            </a:solidFill>
          </a:endParaRPr>
        </a:p>
      </dsp:txBody>
      <dsp:txXfrm>
        <a:off x="36296" y="36296"/>
        <a:ext cx="8643708" cy="67094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solidFill>
                <a:schemeClr val="bg1"/>
              </a:solidFill>
              <a:latin typeface="Google Sans"/>
              <a:ea typeface="+mn-ea"/>
              <a:cs typeface="+mn-cs"/>
            </a:rPr>
            <a:t>HTLL, HTHL, LTLL &amp; LTHL</a:t>
          </a:r>
          <a:endParaRPr lang="en-US" sz="3100" kern="1200" dirty="0">
            <a:solidFill>
              <a:schemeClr val="bg1"/>
            </a:solidFill>
          </a:endParaRPr>
        </a:p>
      </dsp:txBody>
      <dsp:txXfrm>
        <a:off x="36296" y="36296"/>
        <a:ext cx="8643708" cy="67094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solidFill>
                <a:schemeClr val="bg1"/>
              </a:solidFill>
              <a:latin typeface="Google Sans"/>
              <a:ea typeface="+mn-ea"/>
              <a:cs typeface="+mn-cs"/>
            </a:rPr>
            <a:t>HTLL, HTHL, LTLL &amp; LTHL</a:t>
          </a:r>
          <a:endParaRPr lang="en-US" sz="3100" kern="1200" dirty="0">
            <a:solidFill>
              <a:schemeClr val="bg1"/>
            </a:solidFill>
          </a:endParaRPr>
        </a:p>
      </dsp:txBody>
      <dsp:txXfrm>
        <a:off x="36296" y="36296"/>
        <a:ext cx="8643708" cy="67094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solidFill>
                <a:schemeClr val="bg1"/>
              </a:solidFill>
              <a:latin typeface="Google Sans"/>
              <a:ea typeface="+mn-ea"/>
              <a:cs typeface="+mn-cs"/>
            </a:rPr>
            <a:t>HTLL, HTHL, LTLL &amp; LTHL</a:t>
          </a:r>
          <a:endParaRPr lang="en-US" sz="3100" kern="1200" dirty="0">
            <a:solidFill>
              <a:schemeClr val="bg1"/>
            </a:solidFill>
          </a:endParaRPr>
        </a:p>
      </dsp:txBody>
      <dsp:txXfrm>
        <a:off x="36296" y="36296"/>
        <a:ext cx="8643708" cy="67094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solidFill>
                <a:schemeClr val="bg1"/>
              </a:solidFill>
              <a:latin typeface="Google Sans"/>
              <a:ea typeface="+mn-ea"/>
              <a:cs typeface="+mn-cs"/>
            </a:rPr>
            <a:t>HTLL, HTHL, LTLL &amp; LTHL</a:t>
          </a:r>
          <a:endParaRPr lang="en-US" sz="3100" kern="1200" dirty="0">
            <a:solidFill>
              <a:schemeClr val="bg1"/>
            </a:solidFill>
          </a:endParaRPr>
        </a:p>
      </dsp:txBody>
      <dsp:txXfrm>
        <a:off x="36296" y="36296"/>
        <a:ext cx="8643708" cy="67094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solidFill>
                <a:schemeClr val="bg1"/>
              </a:solidFill>
              <a:latin typeface="Google Sans"/>
              <a:ea typeface="+mn-ea"/>
              <a:cs typeface="+mn-cs"/>
            </a:rPr>
            <a:t>HTLL, HTHL, LTLL &amp; LTHL</a:t>
          </a:r>
          <a:endParaRPr lang="en-US" sz="3100" kern="1200" dirty="0">
            <a:solidFill>
              <a:schemeClr val="bg1"/>
            </a:solidFill>
          </a:endParaRPr>
        </a:p>
      </dsp:txBody>
      <dsp:txXfrm>
        <a:off x="36296" y="36296"/>
        <a:ext cx="8643708" cy="67094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solidFill>
                <a:schemeClr val="bg1"/>
              </a:solidFill>
              <a:latin typeface="Google Sans"/>
              <a:ea typeface="+mn-ea"/>
              <a:cs typeface="+mn-cs"/>
            </a:rPr>
            <a:t>HTLL, HTHL, LTLL &amp; LTHL</a:t>
          </a:r>
          <a:endParaRPr lang="en-US" sz="3100" kern="1200" dirty="0">
            <a:solidFill>
              <a:schemeClr val="bg1"/>
            </a:solidFill>
          </a:endParaRPr>
        </a:p>
      </dsp:txBody>
      <dsp:txXfrm>
        <a:off x="36296" y="36296"/>
        <a:ext cx="8643708" cy="67094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solidFill>
                <a:schemeClr val="bg1"/>
              </a:solidFill>
              <a:latin typeface="Google Sans"/>
              <a:ea typeface="+mn-ea"/>
              <a:cs typeface="+mn-cs"/>
            </a:rPr>
            <a:t>HTLL, HTHL, LTLL &amp; LTHL</a:t>
          </a:r>
          <a:endParaRPr lang="en-US" sz="3100" kern="1200" dirty="0">
            <a:solidFill>
              <a:schemeClr val="bg1"/>
            </a:solidFill>
          </a:endParaRPr>
        </a:p>
      </dsp:txBody>
      <dsp:txXfrm>
        <a:off x="36296" y="36296"/>
        <a:ext cx="8643708" cy="670943"/>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solidFill>
                <a:schemeClr val="bg1"/>
              </a:solidFill>
              <a:latin typeface="Google Sans"/>
              <a:ea typeface="+mn-ea"/>
              <a:cs typeface="+mn-cs"/>
            </a:rPr>
            <a:t>HTLL, HTHL, LTLL &amp; LTHL</a:t>
          </a:r>
          <a:endParaRPr lang="en-US" sz="3100" kern="1200" dirty="0">
            <a:solidFill>
              <a:schemeClr val="bg1"/>
            </a:solidFill>
          </a:endParaRPr>
        </a:p>
      </dsp:txBody>
      <dsp:txXfrm>
        <a:off x="36296" y="36296"/>
        <a:ext cx="8643708" cy="670943"/>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solidFill>
                <a:schemeClr val="bg1"/>
              </a:solidFill>
              <a:latin typeface="Google Sans"/>
              <a:ea typeface="+mn-ea"/>
              <a:cs typeface="+mn-cs"/>
            </a:rPr>
            <a:t>HTLL, HTHL, LTLL &amp; LTHL</a:t>
          </a:r>
          <a:endParaRPr lang="en-US" sz="3100" kern="1200" dirty="0">
            <a:solidFill>
              <a:schemeClr val="bg1"/>
            </a:solidFill>
          </a:endParaRPr>
        </a:p>
      </dsp:txBody>
      <dsp:txXfrm>
        <a:off x="36296" y="36296"/>
        <a:ext cx="8643708" cy="670943"/>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solidFill>
                <a:schemeClr val="bg1"/>
              </a:solidFill>
              <a:latin typeface="Google Sans"/>
              <a:ea typeface="+mn-ea"/>
              <a:cs typeface="+mn-cs"/>
            </a:rPr>
            <a:t>HTLL, HTHL, LTLL &amp; LTHL</a:t>
          </a:r>
          <a:endParaRPr lang="en-US" sz="3100" kern="1200" dirty="0">
            <a:solidFill>
              <a:schemeClr val="bg1"/>
            </a:solidFill>
          </a:endParaRPr>
        </a:p>
      </dsp:txBody>
      <dsp:txXfrm>
        <a:off x="36296" y="36296"/>
        <a:ext cx="8643708" cy="670943"/>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solidFill>
                <a:schemeClr val="bg1"/>
              </a:solidFill>
              <a:latin typeface="Google Sans"/>
              <a:ea typeface="+mn-ea"/>
              <a:cs typeface="+mn-cs"/>
            </a:rPr>
            <a:t>HTLL, HTHL, LTLL &amp; LTHL</a:t>
          </a:r>
          <a:endParaRPr lang="en-US" sz="3100" kern="1200" dirty="0">
            <a:solidFill>
              <a:schemeClr val="bg1"/>
            </a:solidFill>
          </a:endParaRPr>
        </a:p>
      </dsp:txBody>
      <dsp:txXfrm>
        <a:off x="36296" y="36296"/>
        <a:ext cx="8643708" cy="670943"/>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solidFill>
                <a:schemeClr val="bg1"/>
              </a:solidFill>
              <a:latin typeface="Google Sans"/>
              <a:ea typeface="+mn-ea"/>
              <a:cs typeface="+mn-cs"/>
            </a:rPr>
            <a:t>HTLL, HTHL, LTLL &amp; LTHL</a:t>
          </a:r>
          <a:endParaRPr lang="en-US" sz="3100" kern="1200" dirty="0">
            <a:solidFill>
              <a:schemeClr val="bg1"/>
            </a:solidFill>
          </a:endParaRPr>
        </a:p>
      </dsp:txBody>
      <dsp:txXfrm>
        <a:off x="36296" y="36296"/>
        <a:ext cx="8643708" cy="670943"/>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8021"/>
          <a:ext cx="8716300" cy="71954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solidFill>
                <a:schemeClr val="bg1"/>
              </a:solidFill>
              <a:latin typeface="Google Sans"/>
              <a:ea typeface="+mn-ea"/>
              <a:cs typeface="+mn-cs"/>
            </a:rPr>
            <a:t>Building HTLL Systems in .NET(High Level Techniques)</a:t>
          </a:r>
          <a:endParaRPr lang="en-US" sz="3000" kern="1200" dirty="0">
            <a:solidFill>
              <a:schemeClr val="bg1"/>
            </a:solidFill>
          </a:endParaRPr>
        </a:p>
      </dsp:txBody>
      <dsp:txXfrm>
        <a:off x="35125" y="43146"/>
        <a:ext cx="8646050" cy="649299"/>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8021"/>
          <a:ext cx="8716300" cy="71954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solidFill>
                <a:schemeClr val="bg1"/>
              </a:solidFill>
              <a:latin typeface="Google Sans"/>
              <a:ea typeface="+mn-ea"/>
              <a:cs typeface="+mn-cs"/>
            </a:rPr>
            <a:t>Building HTLL Systems in .NET(High Level Techniques)</a:t>
          </a:r>
          <a:endParaRPr lang="en-US" sz="3000" kern="1200" dirty="0">
            <a:solidFill>
              <a:schemeClr val="bg1"/>
            </a:solidFill>
          </a:endParaRPr>
        </a:p>
      </dsp:txBody>
      <dsp:txXfrm>
        <a:off x="35125" y="43146"/>
        <a:ext cx="8646050" cy="649299"/>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8021"/>
          <a:ext cx="8716300" cy="71954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solidFill>
                <a:schemeClr val="bg1"/>
              </a:solidFill>
              <a:latin typeface="Google Sans"/>
              <a:ea typeface="+mn-ea"/>
              <a:cs typeface="+mn-cs"/>
            </a:rPr>
            <a:t>Building HTLL Systems in .NET(High Level Techniques)</a:t>
          </a:r>
          <a:endParaRPr lang="en-US" sz="3000" kern="1200" dirty="0">
            <a:solidFill>
              <a:schemeClr val="bg1"/>
            </a:solidFill>
          </a:endParaRPr>
        </a:p>
      </dsp:txBody>
      <dsp:txXfrm>
        <a:off x="35125" y="43146"/>
        <a:ext cx="8646050" cy="649299"/>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95049"/>
          <a:ext cx="8716300" cy="5516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dirty="0"/>
            <a:t>Some Basic (.NET) Concepts(but very important w.r.t HTLL Systems)</a:t>
          </a:r>
          <a:endParaRPr lang="en-US" sz="2300" kern="1200" dirty="0"/>
        </a:p>
      </dsp:txBody>
      <dsp:txXfrm>
        <a:off x="26930" y="121979"/>
        <a:ext cx="8662440" cy="497795"/>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95049"/>
          <a:ext cx="8716300" cy="5516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dirty="0"/>
            <a:t>Some Basic (.NET) Concepts(but very important w.r.t HTLL Systems)</a:t>
          </a:r>
          <a:endParaRPr lang="en-US" sz="2300" kern="1200" dirty="0"/>
        </a:p>
      </dsp:txBody>
      <dsp:txXfrm>
        <a:off x="26930" y="121979"/>
        <a:ext cx="8662440" cy="497795"/>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95049"/>
          <a:ext cx="8716300" cy="5516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dirty="0"/>
            <a:t>Some Basic (.NET) Concepts(but very important w.r.t HTLL Systems)</a:t>
          </a:r>
          <a:endParaRPr lang="en-US" sz="2300" kern="1200" dirty="0"/>
        </a:p>
      </dsp:txBody>
      <dsp:txXfrm>
        <a:off x="26930" y="121979"/>
        <a:ext cx="8662440" cy="497795"/>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95049"/>
          <a:ext cx="8716300" cy="5516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dirty="0"/>
            <a:t>Some Basic (.NET) Concepts(but very important w.r.t HTLL Systems)</a:t>
          </a:r>
          <a:endParaRPr lang="en-US" sz="2300" kern="1200" dirty="0"/>
        </a:p>
      </dsp:txBody>
      <dsp:txXfrm>
        <a:off x="26930" y="121979"/>
        <a:ext cx="8662440" cy="497795"/>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95049"/>
          <a:ext cx="8716300" cy="5516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dirty="0"/>
            <a:t>Some Basic (.NET) Concepts(but very important w.r.t HTLL Systems)</a:t>
          </a:r>
          <a:endParaRPr lang="en-US" sz="2300" kern="1200" dirty="0"/>
        </a:p>
      </dsp:txBody>
      <dsp:txXfrm>
        <a:off x="26930" y="121979"/>
        <a:ext cx="8662440" cy="497795"/>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95049"/>
          <a:ext cx="8716300" cy="5516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dirty="0"/>
            <a:t>Some Basic (.NET) Concepts(but very important w.r.t HTLL Systems)</a:t>
          </a:r>
          <a:endParaRPr lang="en-US" sz="2300" kern="1200" dirty="0"/>
        </a:p>
      </dsp:txBody>
      <dsp:txXfrm>
        <a:off x="26930" y="121979"/>
        <a:ext cx="8662440" cy="497795"/>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95049"/>
          <a:ext cx="8716300" cy="5516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dirty="0"/>
            <a:t>Some Basic (.NET) Concepts(but very important w.r.t HTLL Systems)</a:t>
          </a:r>
          <a:endParaRPr lang="en-US" sz="2300" kern="1200" dirty="0"/>
        </a:p>
      </dsp:txBody>
      <dsp:txXfrm>
        <a:off x="26930" y="121979"/>
        <a:ext cx="8662440" cy="497795"/>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95049"/>
          <a:ext cx="8716300" cy="5516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dirty="0"/>
            <a:t>Some Basic (.NET) Concepts(but very important w.r.t HTLL Systems)</a:t>
          </a:r>
          <a:endParaRPr lang="en-US" sz="2300" kern="1200" dirty="0"/>
        </a:p>
      </dsp:txBody>
      <dsp:txXfrm>
        <a:off x="26930" y="121979"/>
        <a:ext cx="8662440" cy="497795"/>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95049"/>
          <a:ext cx="8716300" cy="5516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dirty="0"/>
            <a:t>Some Basic (.NET) Concepts(but very important w.r.t HTLL Systems)</a:t>
          </a:r>
          <a:endParaRPr lang="en-US" sz="2300" kern="1200" dirty="0"/>
        </a:p>
      </dsp:txBody>
      <dsp:txXfrm>
        <a:off x="26930" y="121979"/>
        <a:ext cx="8662440" cy="497795"/>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95049"/>
          <a:ext cx="8716300" cy="5516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dirty="0"/>
            <a:t>Some Basic (.NET) Concepts(but very important w.r.t HTLL Systems)</a:t>
          </a:r>
          <a:endParaRPr lang="en-US" sz="2300" kern="1200" dirty="0"/>
        </a:p>
      </dsp:txBody>
      <dsp:txXfrm>
        <a:off x="26930" y="121979"/>
        <a:ext cx="8662440" cy="497795"/>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95049"/>
          <a:ext cx="8716300" cy="5516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dirty="0"/>
            <a:t>Some Basic (.NET) Concepts(but very important w.r.t HTLL Systems)</a:t>
          </a:r>
          <a:endParaRPr lang="en-US" sz="2300" kern="1200" dirty="0"/>
        </a:p>
      </dsp:txBody>
      <dsp:txXfrm>
        <a:off x="26930" y="121979"/>
        <a:ext cx="8662440" cy="497795"/>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95049"/>
          <a:ext cx="8716300" cy="5516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dirty="0"/>
            <a:t>Some Basic (.NET) Concepts(but very important w.r.t HTLL Systems)</a:t>
          </a:r>
          <a:endParaRPr lang="en-US" sz="2300" kern="1200" dirty="0"/>
        </a:p>
      </dsp:txBody>
      <dsp:txXfrm>
        <a:off x="26930" y="121979"/>
        <a:ext cx="8662440" cy="497795"/>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95049"/>
          <a:ext cx="8716300" cy="5516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dirty="0"/>
            <a:t>Some Basic (.NET) Concepts(but very important w.r.t HTLL Systems)</a:t>
          </a:r>
          <a:endParaRPr lang="en-US" sz="2300" kern="1200" dirty="0"/>
        </a:p>
      </dsp:txBody>
      <dsp:txXfrm>
        <a:off x="26930" y="121979"/>
        <a:ext cx="8662440" cy="497795"/>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95049"/>
          <a:ext cx="8716300" cy="5516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dirty="0"/>
            <a:t>Some Basic (.NET) Concepts(but very important w.r.t HTLL Systems)</a:t>
          </a:r>
          <a:endParaRPr lang="en-US" sz="2300" kern="1200" dirty="0"/>
        </a:p>
      </dsp:txBody>
      <dsp:txXfrm>
        <a:off x="26930" y="121979"/>
        <a:ext cx="8662440" cy="497795"/>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95049"/>
          <a:ext cx="8716300" cy="5516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dirty="0"/>
            <a:t>Some Basic (.NET) Concepts(but very important w.r.t HTLL Systems)</a:t>
          </a:r>
          <a:endParaRPr lang="en-US" sz="2300" kern="1200" dirty="0"/>
        </a:p>
      </dsp:txBody>
      <dsp:txXfrm>
        <a:off x="26930" y="121979"/>
        <a:ext cx="8662440" cy="497795"/>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95049"/>
          <a:ext cx="8716300" cy="5516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dirty="0"/>
            <a:t>Some Basic (.NET) Concepts(but very important w.r.t HTLL Systems)</a:t>
          </a:r>
          <a:endParaRPr lang="en-US" sz="2300" kern="1200" dirty="0"/>
        </a:p>
      </dsp:txBody>
      <dsp:txXfrm>
        <a:off x="26930" y="121979"/>
        <a:ext cx="8662440" cy="497795"/>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95049"/>
          <a:ext cx="8716300" cy="5516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dirty="0"/>
            <a:t>Some Basic (.NET) Concepts(but very important w.r.t HTLL Systems)</a:t>
          </a:r>
          <a:endParaRPr lang="en-US" sz="2300" kern="1200" dirty="0"/>
        </a:p>
      </dsp:txBody>
      <dsp:txXfrm>
        <a:off x="26930" y="121979"/>
        <a:ext cx="8662440" cy="497795"/>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95049"/>
          <a:ext cx="8716300" cy="5516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dirty="0"/>
            <a:t>Some Basic (.NET) Concepts(but very important w.r.t HTLL Systems)</a:t>
          </a:r>
          <a:endParaRPr lang="en-US" sz="2300" kern="1200" dirty="0"/>
        </a:p>
      </dsp:txBody>
      <dsp:txXfrm>
        <a:off x="26930" y="121979"/>
        <a:ext cx="8662440" cy="497795"/>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95049"/>
          <a:ext cx="8716300" cy="5516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dirty="0"/>
            <a:t>Some Basic (.NET) Concepts(but very important w.r.t HTLL Systems)</a:t>
          </a:r>
          <a:endParaRPr lang="en-US" sz="2300" kern="1200" dirty="0"/>
        </a:p>
      </dsp:txBody>
      <dsp:txXfrm>
        <a:off x="26930" y="121979"/>
        <a:ext cx="8662440" cy="497795"/>
      </dsp:txXfrm>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95049"/>
          <a:ext cx="8716300" cy="5516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dirty="0"/>
            <a:t>Some Basic (.NET) Concepts(but very important w.r.t HTLL Systems)</a:t>
          </a:r>
          <a:endParaRPr lang="en-US" sz="2300" kern="1200" dirty="0"/>
        </a:p>
      </dsp:txBody>
      <dsp:txXfrm>
        <a:off x="26930" y="121979"/>
        <a:ext cx="8662440" cy="497795"/>
      </dsp:txXfrm>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95049"/>
          <a:ext cx="8716300" cy="5516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dirty="0"/>
            <a:t>Some Basic (.NET) Concepts(but very important w.r.t HTLL Systems)</a:t>
          </a:r>
          <a:endParaRPr lang="en-US" sz="2300" kern="1200" dirty="0">
            <a:solidFill>
              <a:schemeClr val="bg1"/>
            </a:solidFill>
          </a:endParaRPr>
        </a:p>
      </dsp:txBody>
      <dsp:txXfrm>
        <a:off x="26930" y="121979"/>
        <a:ext cx="8662440" cy="497795"/>
      </dsp:txXfrm>
    </dsp:sp>
  </dsp:spTree>
</dsp:drawing>
</file>

<file path=ppt/diagrams/drawing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95049"/>
          <a:ext cx="8716300" cy="5516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dirty="0"/>
            <a:t>Some Basic (.NET) Concepts(but very important w.r.t HTLL Systems)</a:t>
          </a:r>
          <a:endParaRPr lang="en-US" sz="2300" kern="1200" dirty="0">
            <a:solidFill>
              <a:schemeClr val="bg1"/>
            </a:solidFill>
          </a:endParaRPr>
        </a:p>
      </dsp:txBody>
      <dsp:txXfrm>
        <a:off x="26930" y="121979"/>
        <a:ext cx="8662440" cy="497795"/>
      </dsp:txXfrm>
    </dsp:sp>
  </dsp:spTree>
</dsp:drawing>
</file>

<file path=ppt/diagrams/drawing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95049"/>
          <a:ext cx="8716300" cy="5516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dirty="0"/>
            <a:t>Some Basic (.NET) Concepts(but very important w.r.t HTLL Systems)</a:t>
          </a:r>
          <a:endParaRPr lang="en-US" sz="2300" kern="1200" dirty="0">
            <a:solidFill>
              <a:schemeClr val="bg1"/>
            </a:solidFill>
          </a:endParaRPr>
        </a:p>
      </dsp:txBody>
      <dsp:txXfrm>
        <a:off x="26930" y="121979"/>
        <a:ext cx="8662440" cy="497795"/>
      </dsp:txXfrm>
    </dsp:sp>
  </dsp:spTree>
</dsp:drawing>
</file>

<file path=ppt/diagrams/drawing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95049"/>
          <a:ext cx="8716300" cy="5516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dirty="0"/>
            <a:t>Some Basic (.NET) Concepts(but very important w.r.t HTLL Systems)</a:t>
          </a:r>
          <a:endParaRPr lang="en-US" sz="2300" kern="1200" dirty="0">
            <a:solidFill>
              <a:schemeClr val="bg1"/>
            </a:solidFill>
          </a:endParaRPr>
        </a:p>
      </dsp:txBody>
      <dsp:txXfrm>
        <a:off x="26930" y="121979"/>
        <a:ext cx="8662440" cy="497795"/>
      </dsp:txXfrm>
    </dsp:sp>
  </dsp:spTree>
</dsp:drawing>
</file>

<file path=ppt/diagrams/drawing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95049"/>
          <a:ext cx="8716300" cy="5516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dirty="0"/>
            <a:t>Some Basic (.NET) Concepts(but very important w.r.t HTLL Systems)</a:t>
          </a:r>
          <a:endParaRPr lang="en-US" sz="2300" kern="1200" dirty="0">
            <a:solidFill>
              <a:schemeClr val="bg1"/>
            </a:solidFill>
          </a:endParaRPr>
        </a:p>
      </dsp:txBody>
      <dsp:txXfrm>
        <a:off x="26930" y="121979"/>
        <a:ext cx="8662440" cy="497795"/>
      </dsp:txXfrm>
    </dsp:sp>
  </dsp:spTree>
</dsp:drawing>
</file>

<file path=ppt/diagrams/drawing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95049"/>
          <a:ext cx="8716300" cy="5516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dirty="0"/>
            <a:t>Some Basic (.NET) Concepts(but very important w.r.t HTLL Systems)</a:t>
          </a:r>
          <a:endParaRPr lang="en-US" sz="2300" kern="1200" dirty="0">
            <a:solidFill>
              <a:schemeClr val="bg1"/>
            </a:solidFill>
          </a:endParaRPr>
        </a:p>
      </dsp:txBody>
      <dsp:txXfrm>
        <a:off x="26930" y="121979"/>
        <a:ext cx="8662440" cy="497795"/>
      </dsp:txXfrm>
    </dsp:sp>
  </dsp:spTree>
</dsp:drawing>
</file>

<file path=ppt/diagrams/drawing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95049"/>
          <a:ext cx="8716300" cy="5516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dirty="0"/>
            <a:t>Some Basic (.NET) Concepts(but very important w.r.t HTLL Systems)</a:t>
          </a:r>
          <a:endParaRPr lang="en-US" sz="2300" kern="1200" dirty="0">
            <a:solidFill>
              <a:schemeClr val="bg1"/>
            </a:solidFill>
          </a:endParaRPr>
        </a:p>
      </dsp:txBody>
      <dsp:txXfrm>
        <a:off x="26930" y="121979"/>
        <a:ext cx="8662440" cy="497795"/>
      </dsp:txXfrm>
    </dsp:sp>
  </dsp:spTree>
</dsp:drawing>
</file>

<file path=ppt/diagrams/drawing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Garbage Collection</a:t>
          </a:r>
          <a:endParaRPr lang="en-US" sz="3100" kern="1200" dirty="0"/>
        </a:p>
      </dsp:txBody>
      <dsp:txXfrm>
        <a:off x="36296" y="36296"/>
        <a:ext cx="8643708" cy="670943"/>
      </dsp:txXfrm>
    </dsp:sp>
  </dsp:spTree>
</dsp:drawing>
</file>

<file path=ppt/diagrams/drawing4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Garbage Collection</a:t>
          </a:r>
          <a:endParaRPr lang="en-US" sz="3100" kern="1200" dirty="0"/>
        </a:p>
      </dsp:txBody>
      <dsp:txXfrm>
        <a:off x="36296" y="36296"/>
        <a:ext cx="8643708" cy="670943"/>
      </dsp:txXfrm>
    </dsp:sp>
  </dsp:spTree>
</dsp:drawing>
</file>

<file path=ppt/diagrams/drawing4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Garbage Collection</a:t>
          </a:r>
          <a:endParaRPr lang="en-US" sz="3100" kern="1200" dirty="0"/>
        </a:p>
      </dsp:txBody>
      <dsp:txXfrm>
        <a:off x="36296" y="36296"/>
        <a:ext cx="8643708" cy="670943"/>
      </dsp:txXfrm>
    </dsp:sp>
  </dsp:spTree>
</dsp:drawing>
</file>

<file path=ppt/diagrams/drawing4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Garbage Collection</a:t>
          </a:r>
          <a:endParaRPr lang="en-US" sz="3100" kern="1200" dirty="0"/>
        </a:p>
      </dsp:txBody>
      <dsp:txXfrm>
        <a:off x="36296" y="36296"/>
        <a:ext cx="8643708" cy="670943"/>
      </dsp:txXfrm>
    </dsp:sp>
  </dsp:spTree>
</dsp:drawing>
</file>

<file path=ppt/diagrams/drawing5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Garbage Collection</a:t>
          </a:r>
          <a:endParaRPr lang="en-US" sz="3100" kern="1200" dirty="0"/>
        </a:p>
      </dsp:txBody>
      <dsp:txXfrm>
        <a:off x="36296" y="36296"/>
        <a:ext cx="8643708" cy="670943"/>
      </dsp:txXfrm>
    </dsp:sp>
  </dsp:spTree>
</dsp:drawing>
</file>

<file path=ppt/diagrams/drawing5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Garbage Collection</a:t>
          </a:r>
          <a:endParaRPr lang="en-US" sz="3100" kern="1200" dirty="0"/>
        </a:p>
      </dsp:txBody>
      <dsp:txXfrm>
        <a:off x="36296" y="36296"/>
        <a:ext cx="8643708" cy="670943"/>
      </dsp:txXfrm>
    </dsp:sp>
  </dsp:spTree>
</dsp:drawing>
</file>

<file path=ppt/diagrams/drawing5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Garbage Collection</a:t>
          </a:r>
          <a:endParaRPr lang="en-US" sz="3100" kern="1200" dirty="0"/>
        </a:p>
      </dsp:txBody>
      <dsp:txXfrm>
        <a:off x="36296" y="36296"/>
        <a:ext cx="8643708" cy="670943"/>
      </dsp:txXfrm>
    </dsp:sp>
  </dsp:spTree>
</dsp:drawing>
</file>

<file path=ppt/diagrams/drawing5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Garbage Collection</a:t>
          </a:r>
          <a:endParaRPr lang="en-US" sz="3100" kern="1200" dirty="0"/>
        </a:p>
      </dsp:txBody>
      <dsp:txXfrm>
        <a:off x="36296" y="36296"/>
        <a:ext cx="8643708" cy="670943"/>
      </dsp:txXfrm>
    </dsp:sp>
  </dsp:spTree>
</dsp:drawing>
</file>

<file path=ppt/diagrams/drawing5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Garbage Collection</a:t>
          </a:r>
          <a:endParaRPr lang="en-US" sz="3100" kern="1200" dirty="0"/>
        </a:p>
      </dsp:txBody>
      <dsp:txXfrm>
        <a:off x="36296" y="36296"/>
        <a:ext cx="8643708" cy="670943"/>
      </dsp:txXfrm>
    </dsp:sp>
  </dsp:spTree>
</dsp:drawing>
</file>

<file path=ppt/diagrams/drawing5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Garbage Collection</a:t>
          </a:r>
          <a:endParaRPr lang="en-US" sz="3100" kern="1200" dirty="0"/>
        </a:p>
      </dsp:txBody>
      <dsp:txXfrm>
        <a:off x="36296" y="36296"/>
        <a:ext cx="8643708" cy="670943"/>
      </dsp:txXfrm>
    </dsp:sp>
  </dsp:spTree>
</dsp:drawing>
</file>

<file path=ppt/diagrams/drawing5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Garbage Collection</a:t>
          </a:r>
          <a:endParaRPr lang="en-US" sz="3100" kern="1200" dirty="0"/>
        </a:p>
      </dsp:txBody>
      <dsp:txXfrm>
        <a:off x="36296" y="36296"/>
        <a:ext cx="8643708" cy="670943"/>
      </dsp:txXfrm>
    </dsp:sp>
  </dsp:spTree>
</dsp:drawing>
</file>

<file path=ppt/diagrams/drawing5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Garbage Collection</a:t>
          </a:r>
          <a:endParaRPr lang="en-US" sz="3100" kern="1200" dirty="0"/>
        </a:p>
      </dsp:txBody>
      <dsp:txXfrm>
        <a:off x="36296" y="36296"/>
        <a:ext cx="8643708" cy="670943"/>
      </dsp:txXfrm>
    </dsp:sp>
  </dsp:spTree>
</dsp:drawing>
</file>

<file path=ppt/diagrams/drawing5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Garbage Collection</a:t>
          </a:r>
          <a:endParaRPr lang="en-US" sz="3100" kern="1200" dirty="0"/>
        </a:p>
      </dsp:txBody>
      <dsp:txXfrm>
        <a:off x="36296" y="36296"/>
        <a:ext cx="8643708" cy="670943"/>
      </dsp:txXfrm>
    </dsp:sp>
  </dsp:spTree>
</dsp:drawing>
</file>

<file path=ppt/diagrams/drawing5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Garbage Collection</a:t>
          </a:r>
          <a:endParaRPr lang="en-US" sz="3100" kern="1200" dirty="0"/>
        </a:p>
      </dsp:txBody>
      <dsp:txXfrm>
        <a:off x="36296" y="36296"/>
        <a:ext cx="8643708" cy="670943"/>
      </dsp:txXfrm>
    </dsp:sp>
  </dsp:spTree>
</dsp:drawing>
</file>

<file path=ppt/diagrams/drawing6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Garbage Collection</a:t>
          </a:r>
          <a:endParaRPr lang="en-US" sz="3100" kern="1200" dirty="0"/>
        </a:p>
      </dsp:txBody>
      <dsp:txXfrm>
        <a:off x="36296" y="36296"/>
        <a:ext cx="8643708" cy="670943"/>
      </dsp:txXfrm>
    </dsp:sp>
  </dsp:spTree>
</dsp:drawing>
</file>

<file path=ppt/diagrams/drawing6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Garbage Collection</a:t>
          </a:r>
          <a:endParaRPr lang="en-US" sz="3100" kern="1200" dirty="0"/>
        </a:p>
      </dsp:txBody>
      <dsp:txXfrm>
        <a:off x="36296" y="36296"/>
        <a:ext cx="8643708" cy="670943"/>
      </dsp:txXfrm>
    </dsp:sp>
  </dsp:spTree>
</dsp:drawing>
</file>

<file path=ppt/diagrams/drawing6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Garbage Collection</a:t>
          </a:r>
          <a:endParaRPr lang="en-US" sz="3100" kern="1200" dirty="0"/>
        </a:p>
      </dsp:txBody>
      <dsp:txXfrm>
        <a:off x="36296" y="36296"/>
        <a:ext cx="8643708" cy="670943"/>
      </dsp:txXfrm>
    </dsp:sp>
  </dsp:spTree>
</dsp:drawing>
</file>

<file path=ppt/diagrams/drawing6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Garbage Collection</a:t>
          </a:r>
          <a:endParaRPr lang="en-US" sz="3100" kern="1200" dirty="0"/>
        </a:p>
      </dsp:txBody>
      <dsp:txXfrm>
        <a:off x="36296" y="36296"/>
        <a:ext cx="8643708" cy="670943"/>
      </dsp:txXfrm>
    </dsp:sp>
  </dsp:spTree>
</dsp:drawing>
</file>

<file path=ppt/diagrams/drawing6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Garbage Collection</a:t>
          </a:r>
          <a:endParaRPr lang="en-US" sz="3100" kern="1200" dirty="0"/>
        </a:p>
      </dsp:txBody>
      <dsp:txXfrm>
        <a:off x="36296" y="36296"/>
        <a:ext cx="8643708" cy="670943"/>
      </dsp:txXfrm>
    </dsp:sp>
  </dsp:spTree>
</dsp:drawing>
</file>

<file path=ppt/diagrams/drawing6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Garbage Collection</a:t>
          </a:r>
          <a:endParaRPr lang="en-US" sz="3100" kern="1200" dirty="0"/>
        </a:p>
      </dsp:txBody>
      <dsp:txXfrm>
        <a:off x="36296" y="36296"/>
        <a:ext cx="8643708" cy="670943"/>
      </dsp:txXfrm>
    </dsp:sp>
  </dsp:spTree>
</dsp:drawing>
</file>

<file path=ppt/diagrams/drawing6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Garbage Collection</a:t>
          </a:r>
          <a:endParaRPr lang="en-US" sz="3100" kern="1200" dirty="0"/>
        </a:p>
      </dsp:txBody>
      <dsp:txXfrm>
        <a:off x="36296" y="36296"/>
        <a:ext cx="8643708" cy="670943"/>
      </dsp:txXfrm>
    </dsp:sp>
  </dsp:spTree>
</dsp:drawing>
</file>

<file path=ppt/diagrams/drawing6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Garbage Collection</a:t>
          </a:r>
          <a:endParaRPr lang="en-US" sz="3100" kern="1200" dirty="0"/>
        </a:p>
      </dsp:txBody>
      <dsp:txXfrm>
        <a:off x="36296" y="36296"/>
        <a:ext cx="8643708" cy="670943"/>
      </dsp:txXfrm>
    </dsp:sp>
  </dsp:spTree>
</dsp:drawing>
</file>

<file path=ppt/diagrams/drawing6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Garbage Collection</a:t>
          </a:r>
          <a:endParaRPr lang="en-US" sz="3100" kern="1200" dirty="0"/>
        </a:p>
      </dsp:txBody>
      <dsp:txXfrm>
        <a:off x="36296" y="36296"/>
        <a:ext cx="8643708" cy="670943"/>
      </dsp:txXfrm>
    </dsp:sp>
  </dsp:spTree>
</dsp:drawing>
</file>

<file path=ppt/diagrams/drawing6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Garbage Collection</a:t>
          </a:r>
          <a:endParaRPr lang="en-US" sz="3100" kern="1200" dirty="0"/>
        </a:p>
      </dsp:txBody>
      <dsp:txXfrm>
        <a:off x="36296" y="36296"/>
        <a:ext cx="8643708" cy="670943"/>
      </dsp:txXfrm>
    </dsp:sp>
  </dsp:spTree>
</dsp:drawing>
</file>

<file path=ppt/diagrams/drawing7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Garbage Collection</a:t>
          </a:r>
          <a:endParaRPr lang="en-US" sz="3100" kern="1200" dirty="0"/>
        </a:p>
      </dsp:txBody>
      <dsp:txXfrm>
        <a:off x="36296" y="36296"/>
        <a:ext cx="8643708" cy="670943"/>
      </dsp:txXfrm>
    </dsp:sp>
  </dsp:spTree>
</dsp:drawing>
</file>

<file path=ppt/diagrams/drawing7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Garbage Collection</a:t>
          </a:r>
          <a:endParaRPr lang="en-US" sz="3100" kern="1200" dirty="0"/>
        </a:p>
      </dsp:txBody>
      <dsp:txXfrm>
        <a:off x="36296" y="36296"/>
        <a:ext cx="8643708" cy="670943"/>
      </dsp:txXfrm>
    </dsp:sp>
  </dsp:spTree>
</dsp:drawing>
</file>

<file path=ppt/diagrams/drawing7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Garbage Collection</a:t>
          </a:r>
          <a:endParaRPr lang="en-US" sz="3100" kern="1200" dirty="0"/>
        </a:p>
      </dsp:txBody>
      <dsp:txXfrm>
        <a:off x="36296" y="36296"/>
        <a:ext cx="8643708" cy="670943"/>
      </dsp:txXfrm>
    </dsp:sp>
  </dsp:spTree>
</dsp:drawing>
</file>

<file path=ppt/diagrams/drawing7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Garbage Collection</a:t>
          </a:r>
          <a:endParaRPr lang="en-US" sz="3100" kern="1200" dirty="0"/>
        </a:p>
      </dsp:txBody>
      <dsp:txXfrm>
        <a:off x="36296" y="36296"/>
        <a:ext cx="8643708" cy="670943"/>
      </dsp:txXfrm>
    </dsp:sp>
  </dsp:spTree>
</dsp:drawing>
</file>

<file path=ppt/diagrams/drawing7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Garbage Collection</a:t>
          </a:r>
          <a:endParaRPr lang="en-US" sz="3100" kern="1200" dirty="0"/>
        </a:p>
      </dsp:txBody>
      <dsp:txXfrm>
        <a:off x="36296" y="36296"/>
        <a:ext cx="8643708" cy="670943"/>
      </dsp:txXfrm>
    </dsp:sp>
  </dsp:spTree>
</dsp:drawing>
</file>

<file path=ppt/diagrams/drawing7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Garbage Collection</a:t>
          </a:r>
          <a:endParaRPr lang="en-US" sz="3100" kern="1200" dirty="0"/>
        </a:p>
      </dsp:txBody>
      <dsp:txXfrm>
        <a:off x="36296" y="36296"/>
        <a:ext cx="8643708" cy="670943"/>
      </dsp:txXfrm>
    </dsp:sp>
  </dsp:spTree>
</dsp:drawing>
</file>

<file path=ppt/diagrams/drawing7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Garbage Collection</a:t>
          </a:r>
          <a:endParaRPr lang="en-US" sz="3100" kern="1200" dirty="0"/>
        </a:p>
      </dsp:txBody>
      <dsp:txXfrm>
        <a:off x="36296" y="36296"/>
        <a:ext cx="8643708" cy="670943"/>
      </dsp:txXfrm>
    </dsp:sp>
  </dsp:spTree>
</dsp:drawing>
</file>

<file path=ppt/diagrams/drawing7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Garbage Collection</a:t>
          </a:r>
          <a:endParaRPr lang="en-US" sz="3100" kern="1200" dirty="0"/>
        </a:p>
      </dsp:txBody>
      <dsp:txXfrm>
        <a:off x="36296" y="36296"/>
        <a:ext cx="8643708" cy="670943"/>
      </dsp:txXfrm>
    </dsp:sp>
  </dsp:spTree>
</dsp:drawing>
</file>

<file path=ppt/diagrams/drawing7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Garbage Collection</a:t>
          </a:r>
          <a:endParaRPr lang="en-US" sz="3100" kern="1200" dirty="0"/>
        </a:p>
      </dsp:txBody>
      <dsp:txXfrm>
        <a:off x="36296" y="36296"/>
        <a:ext cx="8643708" cy="670943"/>
      </dsp:txXfrm>
    </dsp:sp>
  </dsp:spTree>
</dsp:drawing>
</file>

<file path=ppt/diagrams/drawing7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Garbage Collection</a:t>
          </a:r>
          <a:endParaRPr lang="en-US" sz="3100" kern="1200" dirty="0"/>
        </a:p>
      </dsp:txBody>
      <dsp:txXfrm>
        <a:off x="36296" y="36296"/>
        <a:ext cx="8643708" cy="670943"/>
      </dsp:txXfrm>
    </dsp:sp>
  </dsp:spTree>
</dsp:drawing>
</file>

<file path=ppt/diagrams/drawing8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Garbage Collection</a:t>
          </a:r>
          <a:endParaRPr lang="en-US" sz="3100" kern="1200" dirty="0"/>
        </a:p>
      </dsp:txBody>
      <dsp:txXfrm>
        <a:off x="36296" y="36296"/>
        <a:ext cx="8643708" cy="670943"/>
      </dsp:txXfrm>
    </dsp:sp>
  </dsp:spTree>
</dsp:drawing>
</file>

<file path=ppt/diagrams/drawing8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Garbage Collection</a:t>
          </a:r>
          <a:endParaRPr lang="en-US" sz="3100" kern="1200" dirty="0"/>
        </a:p>
      </dsp:txBody>
      <dsp:txXfrm>
        <a:off x="36296" y="36296"/>
        <a:ext cx="8643708" cy="670943"/>
      </dsp:txXfrm>
    </dsp:sp>
  </dsp:spTree>
</dsp:drawing>
</file>

<file path=ppt/diagrams/drawing8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Garbage Collection</a:t>
          </a:r>
          <a:endParaRPr lang="en-US" sz="3100" kern="1200" dirty="0"/>
        </a:p>
      </dsp:txBody>
      <dsp:txXfrm>
        <a:off x="36296" y="36296"/>
        <a:ext cx="8643708" cy="670943"/>
      </dsp:txXfrm>
    </dsp:sp>
  </dsp:spTree>
</dsp:drawing>
</file>

<file path=ppt/diagrams/drawing8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Garbage Collection</a:t>
          </a:r>
          <a:endParaRPr lang="en-US" sz="3100" kern="1200" dirty="0"/>
        </a:p>
      </dsp:txBody>
      <dsp:txXfrm>
        <a:off x="36296" y="36296"/>
        <a:ext cx="8643708" cy="670943"/>
      </dsp:txXfrm>
    </dsp:sp>
  </dsp:spTree>
</dsp:drawing>
</file>

<file path=ppt/diagrams/drawing8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Garbage Collection</a:t>
          </a:r>
          <a:endParaRPr lang="en-US" sz="3100" kern="1200" dirty="0"/>
        </a:p>
      </dsp:txBody>
      <dsp:txXfrm>
        <a:off x="36296" y="36296"/>
        <a:ext cx="8643708" cy="670943"/>
      </dsp:txXfrm>
    </dsp:sp>
  </dsp:spTree>
</dsp:drawing>
</file>

<file path=ppt/diagrams/drawing8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Garbage Collection</a:t>
          </a:r>
          <a:endParaRPr lang="en-US" sz="3100" kern="1200" dirty="0"/>
        </a:p>
      </dsp:txBody>
      <dsp:txXfrm>
        <a:off x="36296" y="36296"/>
        <a:ext cx="8643708" cy="670943"/>
      </dsp:txXfrm>
    </dsp:sp>
  </dsp:spTree>
</dsp:drawing>
</file>

<file path=ppt/diagrams/drawing8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Memory Hierarchy</a:t>
          </a:r>
          <a:endParaRPr lang="en-US" sz="3100" kern="1200" dirty="0"/>
        </a:p>
      </dsp:txBody>
      <dsp:txXfrm>
        <a:off x="36296" y="36296"/>
        <a:ext cx="8643708" cy="670943"/>
      </dsp:txXfrm>
    </dsp:sp>
  </dsp:spTree>
</dsp:drawing>
</file>

<file path=ppt/diagrams/drawing8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Memory Hierarchy</a:t>
          </a:r>
          <a:endParaRPr lang="en-US" sz="3100" kern="1200" dirty="0"/>
        </a:p>
      </dsp:txBody>
      <dsp:txXfrm>
        <a:off x="36296" y="36296"/>
        <a:ext cx="8643708" cy="670943"/>
      </dsp:txXfrm>
    </dsp:sp>
  </dsp:spTree>
</dsp:drawing>
</file>

<file path=ppt/diagrams/drawing8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Memory Hierarchy</a:t>
          </a:r>
          <a:endParaRPr lang="en-US" sz="3100" kern="1200" dirty="0"/>
        </a:p>
      </dsp:txBody>
      <dsp:txXfrm>
        <a:off x="36296" y="36296"/>
        <a:ext cx="8643708" cy="670943"/>
      </dsp:txXfrm>
    </dsp:sp>
  </dsp:spTree>
</dsp:drawing>
</file>

<file path=ppt/diagrams/drawing8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Memory Hierarchy</a:t>
          </a:r>
          <a:endParaRPr lang="en-US" sz="3100" kern="1200" dirty="0"/>
        </a:p>
      </dsp:txBody>
      <dsp:txXfrm>
        <a:off x="36296" y="36296"/>
        <a:ext cx="8643708" cy="670943"/>
      </dsp:txXfrm>
    </dsp:sp>
  </dsp:spTree>
</dsp:drawing>
</file>

<file path=ppt/diagrams/drawing9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Memory Hierarchy</a:t>
          </a:r>
          <a:endParaRPr lang="en-US" sz="3100" kern="1200" dirty="0"/>
        </a:p>
      </dsp:txBody>
      <dsp:txXfrm>
        <a:off x="36296" y="36296"/>
        <a:ext cx="8643708" cy="670943"/>
      </dsp:txXfrm>
    </dsp:sp>
  </dsp:spTree>
</dsp:drawing>
</file>

<file path=ppt/diagrams/drawing9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Memory Hierarchy</a:t>
          </a:r>
          <a:endParaRPr lang="en-US" sz="3100" kern="1200" dirty="0"/>
        </a:p>
      </dsp:txBody>
      <dsp:txXfrm>
        <a:off x="36296" y="36296"/>
        <a:ext cx="8643708" cy="670943"/>
      </dsp:txXfrm>
    </dsp:sp>
  </dsp:spTree>
</dsp:drawing>
</file>

<file path=ppt/diagrams/drawing9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Memory Hierarchy</a:t>
          </a:r>
          <a:endParaRPr lang="en-US" sz="3100" kern="1200" dirty="0"/>
        </a:p>
      </dsp:txBody>
      <dsp:txXfrm>
        <a:off x="36296" y="36296"/>
        <a:ext cx="8643708" cy="670943"/>
      </dsp:txXfrm>
    </dsp:sp>
  </dsp:spTree>
</dsp:drawing>
</file>

<file path=ppt/diagrams/drawing9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Memory Hierarchy</a:t>
          </a:r>
          <a:endParaRPr lang="en-US" sz="3100" kern="1200" dirty="0"/>
        </a:p>
      </dsp:txBody>
      <dsp:txXfrm>
        <a:off x="36296" y="36296"/>
        <a:ext cx="8643708" cy="670943"/>
      </dsp:txXfrm>
    </dsp:sp>
  </dsp:spTree>
</dsp:drawing>
</file>

<file path=ppt/diagrams/drawing9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Memory Hierarchy</a:t>
          </a:r>
          <a:endParaRPr lang="en-US" sz="3100" kern="1200" dirty="0"/>
        </a:p>
      </dsp:txBody>
      <dsp:txXfrm>
        <a:off x="36296" y="36296"/>
        <a:ext cx="8643708" cy="670943"/>
      </dsp:txXfrm>
    </dsp:sp>
  </dsp:spTree>
</dsp:drawing>
</file>

<file path=ppt/diagrams/drawing9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Memory Hierarchy</a:t>
          </a:r>
          <a:endParaRPr lang="en-US" sz="3100" kern="1200" dirty="0"/>
        </a:p>
      </dsp:txBody>
      <dsp:txXfrm>
        <a:off x="36296" y="36296"/>
        <a:ext cx="8643708" cy="670943"/>
      </dsp:txXfrm>
    </dsp:sp>
  </dsp:spTree>
</dsp:drawing>
</file>

<file path=ppt/diagrams/drawing9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Memory Hierarchy</a:t>
          </a:r>
          <a:endParaRPr lang="en-US" sz="3100" kern="1200" dirty="0"/>
        </a:p>
      </dsp:txBody>
      <dsp:txXfrm>
        <a:off x="36296" y="36296"/>
        <a:ext cx="8643708" cy="670943"/>
      </dsp:txXfrm>
    </dsp:sp>
  </dsp:spTree>
</dsp:drawing>
</file>

<file path=ppt/diagrams/drawing9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Memory Hierarchy</a:t>
          </a:r>
          <a:endParaRPr lang="en-US" sz="3100" kern="1200" dirty="0"/>
        </a:p>
      </dsp:txBody>
      <dsp:txXfrm>
        <a:off x="36296" y="36296"/>
        <a:ext cx="8643708" cy="670943"/>
      </dsp:txXfrm>
    </dsp:sp>
  </dsp:spTree>
</dsp:drawing>
</file>

<file path=ppt/diagrams/drawing9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Read and Write Amplification</a:t>
          </a:r>
          <a:endParaRPr lang="en-US" sz="3100" kern="1200" dirty="0"/>
        </a:p>
      </dsp:txBody>
      <dsp:txXfrm>
        <a:off x="36296" y="36296"/>
        <a:ext cx="8643708" cy="670943"/>
      </dsp:txXfrm>
    </dsp:sp>
  </dsp:spTree>
</dsp:drawing>
</file>

<file path=ppt/diagrams/drawing9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Read and Write Amplification</a:t>
          </a:r>
          <a:endParaRPr lang="en-US" sz="3100" kern="1200" dirty="0"/>
        </a:p>
      </dsp:txBody>
      <dsp:txXfrm>
        <a:off x="36296" y="36296"/>
        <a:ext cx="8643708" cy="670943"/>
      </dsp:txXfrm>
    </dsp:sp>
  </dsp:spTree>
</dsp:drawing>
</file>

<file path=ppt/diagrams/drawing10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DOP(Data Oriented Programming)</a:t>
          </a:r>
        </a:p>
      </dsp:txBody>
      <dsp:txXfrm>
        <a:off x="21162" y="21162"/>
        <a:ext cx="8873074" cy="391189"/>
      </dsp:txXfrm>
    </dsp:sp>
  </dsp:spTree>
</dsp:drawing>
</file>

<file path=ppt/diagrams/drawing10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DOP(Data Oriented Programming)</a:t>
          </a:r>
        </a:p>
      </dsp:txBody>
      <dsp:txXfrm>
        <a:off x="21162" y="21162"/>
        <a:ext cx="8873074" cy="391189"/>
      </dsp:txXfrm>
    </dsp:sp>
  </dsp:spTree>
</dsp:drawing>
</file>

<file path=ppt/diagrams/drawing10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DOP(Data Oriented Programming)</a:t>
          </a:r>
        </a:p>
      </dsp:txBody>
      <dsp:txXfrm>
        <a:off x="21162" y="21162"/>
        <a:ext cx="8873074" cy="391189"/>
      </dsp:txXfrm>
    </dsp:sp>
  </dsp:spTree>
</dsp:drawing>
</file>

<file path=ppt/diagrams/drawing10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DOP(Data Oriented Programming)</a:t>
          </a:r>
        </a:p>
      </dsp:txBody>
      <dsp:txXfrm>
        <a:off x="21162" y="21162"/>
        <a:ext cx="8873074" cy="391189"/>
      </dsp:txXfrm>
    </dsp:sp>
  </dsp:spTree>
</dsp:drawing>
</file>

<file path=ppt/diagrams/drawing10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DOP(Data Oriented Programming)</a:t>
          </a:r>
        </a:p>
      </dsp:txBody>
      <dsp:txXfrm>
        <a:off x="21162" y="21162"/>
        <a:ext cx="8873074" cy="391189"/>
      </dsp:txXfrm>
    </dsp:sp>
  </dsp:spTree>
</dsp:drawing>
</file>

<file path=ppt/diagrams/drawing10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DOP(Data Oriented Programming)</a:t>
          </a:r>
        </a:p>
      </dsp:txBody>
      <dsp:txXfrm>
        <a:off x="21162" y="21162"/>
        <a:ext cx="8873074" cy="391189"/>
      </dsp:txXfrm>
    </dsp:sp>
  </dsp:spTree>
</dsp:drawing>
</file>

<file path=ppt/diagrams/drawing10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DOP(Data Oriented Programming)</a:t>
          </a:r>
        </a:p>
      </dsp:txBody>
      <dsp:txXfrm>
        <a:off x="21162" y="21162"/>
        <a:ext cx="8873074" cy="391189"/>
      </dsp:txXfrm>
    </dsp:sp>
  </dsp:spTree>
</dsp:drawing>
</file>

<file path=ppt/diagrams/drawing10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Advanced DOP(Data Oriented Programming)</a:t>
          </a:r>
        </a:p>
      </dsp:txBody>
      <dsp:txXfrm>
        <a:off x="21162" y="21162"/>
        <a:ext cx="8873074" cy="391189"/>
      </dsp:txXfrm>
    </dsp:sp>
  </dsp:spTree>
</dsp:drawing>
</file>

<file path=ppt/diagrams/drawing10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Advanced DOP(Data Oriented Programming)</a:t>
          </a:r>
        </a:p>
      </dsp:txBody>
      <dsp:txXfrm>
        <a:off x="21162" y="21162"/>
        <a:ext cx="8873074" cy="391189"/>
      </dsp:txXfrm>
    </dsp:sp>
  </dsp:spTree>
</dsp:drawing>
</file>

<file path=ppt/diagrams/drawing10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Advanced DOP(Data Oriented Programming)</a:t>
          </a:r>
        </a:p>
      </dsp:txBody>
      <dsp:txXfrm>
        <a:off x="21162" y="21162"/>
        <a:ext cx="8873074" cy="391189"/>
      </dsp:txXfrm>
    </dsp:sp>
  </dsp:spTree>
</dsp:drawing>
</file>

<file path=ppt/diagrams/drawing1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Advanced DOP(Data Oriented Programming)</a:t>
          </a:r>
        </a:p>
      </dsp:txBody>
      <dsp:txXfrm>
        <a:off x="21162" y="21162"/>
        <a:ext cx="8873074" cy="391189"/>
      </dsp:txXfrm>
    </dsp:sp>
  </dsp:spTree>
</dsp:drawing>
</file>

<file path=ppt/diagrams/drawing1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Advanced DOP(Data Oriented Programming)</a:t>
          </a:r>
        </a:p>
      </dsp:txBody>
      <dsp:txXfrm>
        <a:off x="21162" y="21162"/>
        <a:ext cx="8873074" cy="391189"/>
      </dsp:txXfrm>
    </dsp:sp>
  </dsp:spTree>
</dsp:drawing>
</file>

<file path=ppt/diagrams/drawing1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Advanced DOP(Data Oriented Programming)</a:t>
          </a:r>
        </a:p>
      </dsp:txBody>
      <dsp:txXfrm>
        <a:off x="21162" y="21162"/>
        <a:ext cx="8873074" cy="391189"/>
      </dsp:txXfrm>
    </dsp:sp>
  </dsp:spTree>
</dsp:drawing>
</file>

<file path=ppt/diagrams/drawing1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Advanced DOP(Data Oriented Programming)</a:t>
          </a:r>
        </a:p>
      </dsp:txBody>
      <dsp:txXfrm>
        <a:off x="21162" y="21162"/>
        <a:ext cx="8873074" cy="391189"/>
      </dsp:txXfrm>
    </dsp:sp>
  </dsp:spTree>
</dsp:drawing>
</file>

<file path=ppt/diagrams/drawing1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DOP(Data Oriented Programming)</a:t>
          </a:r>
        </a:p>
      </dsp:txBody>
      <dsp:txXfrm>
        <a:off x="21162" y="21162"/>
        <a:ext cx="8873074" cy="391189"/>
      </dsp:txXfrm>
    </dsp:sp>
  </dsp:spTree>
</dsp:drawing>
</file>

<file path=ppt/diagrams/drawing1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Allocation Free Patterns</a:t>
          </a:r>
        </a:p>
      </dsp:txBody>
      <dsp:txXfrm>
        <a:off x="36296" y="36296"/>
        <a:ext cx="8643708" cy="670943"/>
      </dsp:txXfrm>
    </dsp:sp>
  </dsp:spTree>
</dsp:drawing>
</file>

<file path=ppt/diagrams/drawing1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Allocation Free Patterns</a:t>
          </a:r>
        </a:p>
      </dsp:txBody>
      <dsp:txXfrm>
        <a:off x="36296" y="36296"/>
        <a:ext cx="8643708" cy="670943"/>
      </dsp:txXfrm>
    </dsp:sp>
  </dsp:spTree>
</dsp:drawing>
</file>

<file path=ppt/diagrams/drawing1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Allocation Free Patterns</a:t>
          </a:r>
        </a:p>
      </dsp:txBody>
      <dsp:txXfrm>
        <a:off x="36296" y="36296"/>
        <a:ext cx="8643708" cy="670943"/>
      </dsp:txXfrm>
    </dsp:sp>
  </dsp:spTree>
</dsp:drawing>
</file>

<file path=ppt/diagrams/drawing1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1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1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1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1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1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1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1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1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1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1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1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1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1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1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45319"/>
          <a:ext cx="8716300" cy="64759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1" i="0" kern="1200" dirty="0"/>
            <a:t>Concurrent Programming(/</a:t>
          </a:r>
          <a:r>
            <a:rPr lang="en-US" sz="2700" b="1" i="0" kern="1200" dirty="0" err="1"/>
            <a:t>MultiThreading</a:t>
          </a:r>
          <a:r>
            <a:rPr lang="en-US" sz="2700" b="1" i="0" kern="1200" dirty="0"/>
            <a:t>) in .NET(Core)</a:t>
          </a:r>
          <a:endParaRPr lang="en-US" sz="2700" kern="1200" dirty="0"/>
        </a:p>
      </dsp:txBody>
      <dsp:txXfrm>
        <a:off x="31613" y="76932"/>
        <a:ext cx="8653074" cy="584369"/>
      </dsp:txXfrm>
    </dsp:sp>
  </dsp:spTree>
</dsp:drawing>
</file>

<file path=ppt/diagrams/drawing1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1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1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1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1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1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1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1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1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1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1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1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1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1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14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45319"/>
          <a:ext cx="8716300" cy="64759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1" i="0" kern="1200" dirty="0"/>
            <a:t>Concurrent Programming(/</a:t>
          </a:r>
          <a:r>
            <a:rPr lang="en-US" sz="2700" b="1" i="0" kern="1200" dirty="0" err="1"/>
            <a:t>MultiThreading</a:t>
          </a:r>
          <a:r>
            <a:rPr lang="en-US" sz="2700" b="1" i="0" kern="1200" dirty="0"/>
            <a:t>) in .NET(Core)</a:t>
          </a:r>
          <a:endParaRPr lang="en-US" sz="2700" kern="1200" dirty="0"/>
        </a:p>
      </dsp:txBody>
      <dsp:txXfrm>
        <a:off x="31613" y="76932"/>
        <a:ext cx="8653074" cy="584369"/>
      </dsp:txXfrm>
    </dsp:sp>
  </dsp:spTree>
</dsp:drawing>
</file>

<file path=ppt/diagrams/drawing14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14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15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15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15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45319"/>
          <a:ext cx="8716300" cy="64759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1" i="0" kern="1200" dirty="0"/>
            <a:t>Concurrent Programming(/</a:t>
          </a:r>
          <a:r>
            <a:rPr lang="en-US" sz="2700" b="1" i="0" kern="1200" dirty="0" err="1"/>
            <a:t>MultiThreading</a:t>
          </a:r>
          <a:r>
            <a:rPr lang="en-US" sz="2700" b="1" i="0" kern="1200" dirty="0"/>
            <a:t>) in .NET(Core)</a:t>
          </a:r>
          <a:endParaRPr lang="en-US" sz="2700" kern="1200" dirty="0"/>
        </a:p>
      </dsp:txBody>
      <dsp:txXfrm>
        <a:off x="31613" y="76932"/>
        <a:ext cx="8653074" cy="584369"/>
      </dsp:txXfrm>
    </dsp:sp>
  </dsp:spTree>
</dsp:drawing>
</file>

<file path=ppt/diagrams/drawing15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15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15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45319"/>
          <a:ext cx="8716300" cy="64759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1" i="0" kern="1200" dirty="0"/>
            <a:t>Concurrent Programming(/</a:t>
          </a:r>
          <a:r>
            <a:rPr lang="en-US" sz="2700" b="1" i="0" kern="1200" dirty="0" err="1"/>
            <a:t>MultiThreading</a:t>
          </a:r>
          <a:r>
            <a:rPr lang="en-US" sz="2700" b="1" i="0" kern="1200" dirty="0"/>
            <a:t>) in .NET(Core)</a:t>
          </a:r>
          <a:endParaRPr lang="en-US" sz="2700" kern="1200" dirty="0"/>
        </a:p>
      </dsp:txBody>
      <dsp:txXfrm>
        <a:off x="31613" y="76932"/>
        <a:ext cx="8653074" cy="584369"/>
      </dsp:txXfrm>
    </dsp:sp>
  </dsp:spTree>
</dsp:drawing>
</file>

<file path=ppt/diagrams/drawing15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15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15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15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16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2886"/>
          <a:ext cx="8716300"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Concurrent Programming(/</a:t>
          </a:r>
          <a:r>
            <a:rPr lang="en-US" sz="2800" b="1" i="0" kern="1200" dirty="0" err="1"/>
            <a:t>MultiThreading</a:t>
          </a:r>
          <a:r>
            <a:rPr lang="en-US" sz="2800" b="1" i="0" kern="1200" dirty="0"/>
            <a:t>) in .NET(Core)</a:t>
          </a:r>
          <a:endParaRPr lang="en-US" sz="2800" kern="1200" dirty="0"/>
        </a:p>
      </dsp:txBody>
      <dsp:txXfrm>
        <a:off x="32784" y="65670"/>
        <a:ext cx="8650732" cy="606012"/>
      </dsp:txXfrm>
    </dsp:sp>
  </dsp:spTree>
</dsp:drawing>
</file>

<file path=ppt/diagrams/drawing16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70717"/>
          <a:ext cx="9067799" cy="50368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i="0" kern="1200" dirty="0"/>
            <a:t>Concurrent Programming(/</a:t>
          </a:r>
          <a:r>
            <a:rPr lang="en-US" sz="2100" b="1" i="0" kern="1200" dirty="0" err="1"/>
            <a:t>MultiThreading</a:t>
          </a:r>
          <a:r>
            <a:rPr lang="en-US" sz="2100" b="1" i="0" kern="1200" dirty="0"/>
            <a:t>) vs Multi Core Parallel Programming</a:t>
          </a:r>
          <a:endParaRPr lang="en-US" sz="2100" kern="1200" dirty="0"/>
        </a:p>
      </dsp:txBody>
      <dsp:txXfrm>
        <a:off x="24588" y="95305"/>
        <a:ext cx="9018623" cy="454509"/>
      </dsp:txXfrm>
    </dsp:sp>
  </dsp:spTree>
</dsp:drawing>
</file>

<file path=ppt/diagrams/drawing16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Multi Core Parallel Programming in .NET(Core)</a:t>
          </a:r>
        </a:p>
      </dsp:txBody>
      <dsp:txXfrm>
        <a:off x="36296" y="36296"/>
        <a:ext cx="8643708" cy="670943"/>
      </dsp:txXfrm>
    </dsp:sp>
  </dsp:spTree>
</dsp:drawing>
</file>

<file path=ppt/diagrams/drawing16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Multi Core Parallel Programming in .NET(Core)</a:t>
          </a:r>
        </a:p>
      </dsp:txBody>
      <dsp:txXfrm>
        <a:off x="36296" y="36296"/>
        <a:ext cx="8643708" cy="670943"/>
      </dsp:txXfrm>
    </dsp:sp>
  </dsp:spTree>
</dsp:drawing>
</file>

<file path=ppt/diagrams/drawing16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User Space, Kernel Space &amp; Systems Programming</a:t>
          </a:r>
        </a:p>
      </dsp:txBody>
      <dsp:txXfrm>
        <a:off x="36296" y="36296"/>
        <a:ext cx="8643708" cy="670943"/>
      </dsp:txXfrm>
    </dsp:sp>
  </dsp:spTree>
</dsp:drawing>
</file>

<file path=ppt/diagrams/drawing16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User Space, Kernel Space &amp; Systems Programming</a:t>
          </a:r>
        </a:p>
      </dsp:txBody>
      <dsp:txXfrm>
        <a:off x="36296" y="36296"/>
        <a:ext cx="8643708" cy="670943"/>
      </dsp:txXfrm>
    </dsp:sp>
  </dsp:spTree>
</dsp:drawing>
</file>

<file path=ppt/diagrams/drawing16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User Space, Kernel Space &amp; Systems Programming</a:t>
          </a:r>
        </a:p>
      </dsp:txBody>
      <dsp:txXfrm>
        <a:off x="36296" y="36296"/>
        <a:ext cx="8643708" cy="670943"/>
      </dsp:txXfrm>
    </dsp:sp>
  </dsp:spTree>
</dsp:drawing>
</file>

<file path=ppt/diagrams/drawing16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User Space, Kernel Space &amp; Systems Programming</a:t>
          </a:r>
        </a:p>
      </dsp:txBody>
      <dsp:txXfrm>
        <a:off x="36296" y="36296"/>
        <a:ext cx="8643708" cy="670943"/>
      </dsp:txXfrm>
    </dsp:sp>
  </dsp:spTree>
</dsp:drawing>
</file>

<file path=ppt/diagrams/drawing16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User Space, Kernel Space &amp; Systems Programming</a:t>
          </a:r>
        </a:p>
      </dsp:txBody>
      <dsp:txXfrm>
        <a:off x="36296" y="36296"/>
        <a:ext cx="8643708" cy="670943"/>
      </dsp:txXfrm>
    </dsp:sp>
  </dsp:spTree>
</dsp:drawing>
</file>

<file path=ppt/diagrams/drawing16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User Space, Kernel Space &amp; Systems Programming</a:t>
          </a:r>
        </a:p>
      </dsp:txBody>
      <dsp:txXfrm>
        <a:off x="36296" y="36296"/>
        <a:ext cx="8643708" cy="670943"/>
      </dsp:txXfrm>
    </dsp:sp>
  </dsp:spTree>
</dsp:drawing>
</file>

<file path=ppt/diagrams/drawing17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User Space, Kernel Space &amp; Systems Programming</a:t>
          </a:r>
        </a:p>
      </dsp:txBody>
      <dsp:txXfrm>
        <a:off x="36296" y="36296"/>
        <a:ext cx="8643708" cy="670943"/>
      </dsp:txXfrm>
    </dsp:sp>
  </dsp:spTree>
</dsp:drawing>
</file>

<file path=ppt/diagrams/drawing17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User Space, Kernel Space &amp; Systems Programming</a:t>
          </a:r>
        </a:p>
      </dsp:txBody>
      <dsp:txXfrm>
        <a:off x="36296" y="36296"/>
        <a:ext cx="8643708" cy="670943"/>
      </dsp:txXfrm>
    </dsp:sp>
  </dsp:spTree>
</dsp:drawing>
</file>

<file path=ppt/diagrams/drawing17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User Space, Kernel Space &amp; Systems Programming</a:t>
          </a:r>
        </a:p>
      </dsp:txBody>
      <dsp:txXfrm>
        <a:off x="36296" y="36296"/>
        <a:ext cx="8643708" cy="670943"/>
      </dsp:txXfrm>
    </dsp:sp>
  </dsp:spTree>
</dsp:drawing>
</file>

<file path=ppt/diagrams/drawing17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User Space, Kernel Space &amp; Systems Programming</a:t>
          </a:r>
        </a:p>
      </dsp:txBody>
      <dsp:txXfrm>
        <a:off x="36296" y="36296"/>
        <a:ext cx="8643708" cy="670943"/>
      </dsp:txXfrm>
    </dsp:sp>
  </dsp:spTree>
</dsp:drawing>
</file>

<file path=ppt/diagrams/drawing17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User Space, Kernel Space &amp; Systems Programming</a:t>
          </a:r>
        </a:p>
      </dsp:txBody>
      <dsp:txXfrm>
        <a:off x="36296" y="36296"/>
        <a:ext cx="8643708" cy="670943"/>
      </dsp:txXfrm>
    </dsp:sp>
  </dsp:spTree>
</dsp:drawing>
</file>

<file path=ppt/diagrams/drawing17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User Space, Kernel Space &amp; Systems Programming</a:t>
          </a:r>
        </a:p>
      </dsp:txBody>
      <dsp:txXfrm>
        <a:off x="36296" y="36296"/>
        <a:ext cx="8643708" cy="670943"/>
      </dsp:txXfrm>
    </dsp:sp>
  </dsp:spTree>
</dsp:drawing>
</file>

<file path=ppt/diagrams/drawing17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User Space, Kernel Space &amp; Systems Programming</a:t>
          </a:r>
        </a:p>
      </dsp:txBody>
      <dsp:txXfrm>
        <a:off x="36296" y="36296"/>
        <a:ext cx="8643708" cy="670943"/>
      </dsp:txXfrm>
    </dsp:sp>
  </dsp:spTree>
</dsp:drawing>
</file>

<file path=ppt/diagrams/drawing17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User Space, Kernel Space &amp; Systems Programming</a:t>
          </a:r>
        </a:p>
      </dsp:txBody>
      <dsp:txXfrm>
        <a:off x="36296" y="36296"/>
        <a:ext cx="8643708" cy="670943"/>
      </dsp:txXfrm>
    </dsp:sp>
  </dsp:spTree>
</dsp:drawing>
</file>

<file path=ppt/diagrams/drawing17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User Space, Kernel Space &amp; Systems Programming</a:t>
          </a:r>
        </a:p>
      </dsp:txBody>
      <dsp:txXfrm>
        <a:off x="36296" y="36296"/>
        <a:ext cx="8643708" cy="670943"/>
      </dsp:txXfrm>
    </dsp:sp>
  </dsp:spTree>
</dsp:drawing>
</file>

<file path=ppt/diagrams/drawing17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User Space, Kernel Space &amp; Systems Programming</a:t>
          </a:r>
        </a:p>
      </dsp:txBody>
      <dsp:txXfrm>
        <a:off x="36296" y="36296"/>
        <a:ext cx="8643708" cy="670943"/>
      </dsp:txXfrm>
    </dsp:sp>
  </dsp:spTree>
</dsp:drawing>
</file>

<file path=ppt/diagrams/drawing18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User Space, Kernel Space &amp; Systems Programming</a:t>
          </a:r>
        </a:p>
      </dsp:txBody>
      <dsp:txXfrm>
        <a:off x="36296" y="36296"/>
        <a:ext cx="8643708" cy="670943"/>
      </dsp:txXfrm>
    </dsp:sp>
  </dsp:spTree>
</dsp:drawing>
</file>

<file path=ppt/diagrams/drawing18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User Space, Kernel Space &amp; Systems Programming</a:t>
          </a:r>
        </a:p>
      </dsp:txBody>
      <dsp:txXfrm>
        <a:off x="36296" y="36296"/>
        <a:ext cx="8643708" cy="670943"/>
      </dsp:txXfrm>
    </dsp:sp>
  </dsp:spTree>
</dsp:drawing>
</file>

<file path=ppt/diagrams/drawing18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User Space, Kernel Space &amp; Systems Programming</a:t>
          </a:r>
        </a:p>
      </dsp:txBody>
      <dsp:txXfrm>
        <a:off x="36296" y="36296"/>
        <a:ext cx="8643708" cy="670943"/>
      </dsp:txXfrm>
    </dsp:sp>
  </dsp:spTree>
</dsp:drawing>
</file>

<file path=ppt/diagrams/drawing18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User Space, Kernel Space &amp; Systems Programming</a:t>
          </a:r>
        </a:p>
      </dsp:txBody>
      <dsp:txXfrm>
        <a:off x="36296" y="36296"/>
        <a:ext cx="8643708" cy="670943"/>
      </dsp:txXfrm>
    </dsp:sp>
  </dsp:spTree>
</dsp:drawing>
</file>

<file path=ppt/diagrams/drawing18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Stream Programming</a:t>
          </a:r>
          <a:endParaRPr lang="en-US" sz="3100" kern="1200" dirty="0"/>
        </a:p>
      </dsp:txBody>
      <dsp:txXfrm>
        <a:off x="36296" y="36296"/>
        <a:ext cx="8643708" cy="670943"/>
      </dsp:txXfrm>
    </dsp:sp>
  </dsp:spTree>
</dsp:drawing>
</file>

<file path=ppt/diagrams/drawing18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Stream Programming</a:t>
          </a:r>
          <a:endParaRPr lang="en-US" sz="3100" kern="1200" dirty="0"/>
        </a:p>
      </dsp:txBody>
      <dsp:txXfrm>
        <a:off x="36296" y="36296"/>
        <a:ext cx="8643708" cy="670943"/>
      </dsp:txXfrm>
    </dsp:sp>
  </dsp:spTree>
</dsp:drawing>
</file>

<file path=ppt/diagrams/drawing18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Stream Programming</a:t>
          </a:r>
          <a:endParaRPr lang="en-US" sz="3100" kern="1200" dirty="0"/>
        </a:p>
      </dsp:txBody>
      <dsp:txXfrm>
        <a:off x="36296" y="36296"/>
        <a:ext cx="8643708" cy="670943"/>
      </dsp:txXfrm>
    </dsp:sp>
  </dsp:spTree>
</dsp:drawing>
</file>

<file path=ppt/diagrams/drawing18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Stream Programming</a:t>
          </a:r>
          <a:endParaRPr lang="en-US" sz="3100" kern="1200" dirty="0"/>
        </a:p>
      </dsp:txBody>
      <dsp:txXfrm>
        <a:off x="36296" y="36296"/>
        <a:ext cx="8643708" cy="670943"/>
      </dsp:txXfrm>
    </dsp:sp>
  </dsp:spTree>
</dsp:drawing>
</file>

<file path=ppt/diagrams/drawing18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Stream Programming</a:t>
          </a:r>
          <a:endParaRPr lang="en-US" sz="3100" kern="1200" dirty="0"/>
        </a:p>
      </dsp:txBody>
      <dsp:txXfrm>
        <a:off x="36296" y="36296"/>
        <a:ext cx="8643708" cy="670943"/>
      </dsp:txXfrm>
    </dsp:sp>
  </dsp:spTree>
</dsp:drawing>
</file>

<file path=ppt/diagrams/drawing18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Stream Programming</a:t>
          </a:r>
          <a:endParaRPr lang="en-US" sz="3100" kern="1200" dirty="0"/>
        </a:p>
      </dsp:txBody>
      <dsp:txXfrm>
        <a:off x="36296" y="36296"/>
        <a:ext cx="8643708" cy="670943"/>
      </dsp:txXfrm>
    </dsp:sp>
  </dsp:spTree>
</dsp:drawing>
</file>

<file path=ppt/diagrams/drawing19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Stream Programming</a:t>
          </a:r>
          <a:endParaRPr lang="en-US" sz="3100" kern="1200" dirty="0"/>
        </a:p>
      </dsp:txBody>
      <dsp:txXfrm>
        <a:off x="36296" y="36296"/>
        <a:ext cx="8643708" cy="670943"/>
      </dsp:txXfrm>
    </dsp:sp>
  </dsp:spTree>
</dsp:drawing>
</file>

<file path=ppt/diagrams/drawing19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Stream Programming</a:t>
          </a:r>
          <a:endParaRPr lang="en-US" sz="3100" kern="1200" dirty="0"/>
        </a:p>
      </dsp:txBody>
      <dsp:txXfrm>
        <a:off x="36296" y="36296"/>
        <a:ext cx="8643708" cy="670943"/>
      </dsp:txXfrm>
    </dsp:sp>
  </dsp:spTree>
</dsp:drawing>
</file>

<file path=ppt/diagrams/drawing19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Stream Programming</a:t>
          </a:r>
          <a:endParaRPr lang="en-US" sz="3100" kern="1200" dirty="0"/>
        </a:p>
      </dsp:txBody>
      <dsp:txXfrm>
        <a:off x="36296" y="36296"/>
        <a:ext cx="8643708" cy="670943"/>
      </dsp:txXfrm>
    </dsp:sp>
  </dsp:spTree>
</dsp:drawing>
</file>

<file path=ppt/diagrams/drawing19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Stream Programming</a:t>
          </a:r>
          <a:endParaRPr lang="en-US" sz="3100" kern="1200" dirty="0"/>
        </a:p>
      </dsp:txBody>
      <dsp:txXfrm>
        <a:off x="36296" y="36296"/>
        <a:ext cx="8643708" cy="670943"/>
      </dsp:txXfrm>
    </dsp:sp>
  </dsp:spTree>
</dsp:drawing>
</file>

<file path=ppt/diagrams/drawing19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Stream Programming</a:t>
          </a:r>
          <a:endParaRPr lang="en-US" sz="3100" kern="1200" dirty="0"/>
        </a:p>
      </dsp:txBody>
      <dsp:txXfrm>
        <a:off x="36296" y="36296"/>
        <a:ext cx="8643708" cy="670943"/>
      </dsp:txXfrm>
    </dsp:sp>
  </dsp:spTree>
</dsp:drawing>
</file>

<file path=ppt/diagrams/drawing19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Stream Programming</a:t>
          </a:r>
          <a:endParaRPr lang="en-US" sz="3100" kern="1200" dirty="0"/>
        </a:p>
      </dsp:txBody>
      <dsp:txXfrm>
        <a:off x="36296" y="36296"/>
        <a:ext cx="8643708" cy="670943"/>
      </dsp:txXfrm>
    </dsp:sp>
  </dsp:spTree>
</dsp:drawing>
</file>

<file path=ppt/diagrams/drawing19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Stream Programming</a:t>
          </a:r>
          <a:endParaRPr lang="en-US" sz="3100" kern="1200" dirty="0"/>
        </a:p>
      </dsp:txBody>
      <dsp:txXfrm>
        <a:off x="36296" y="36296"/>
        <a:ext cx="8643708" cy="670943"/>
      </dsp:txXfrm>
    </dsp:sp>
  </dsp:spTree>
</dsp:drawing>
</file>

<file path=ppt/diagrams/drawing19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Stream Programming</a:t>
          </a:r>
          <a:endParaRPr lang="en-US" sz="3100" kern="1200" dirty="0"/>
        </a:p>
      </dsp:txBody>
      <dsp:txXfrm>
        <a:off x="36296" y="36296"/>
        <a:ext cx="8643708" cy="670943"/>
      </dsp:txXfrm>
    </dsp:sp>
  </dsp:spTree>
</dsp:drawing>
</file>

<file path=ppt/diagrams/drawing19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Stream Programming</a:t>
          </a:r>
          <a:endParaRPr lang="en-US" sz="3100" kern="1200" dirty="0"/>
        </a:p>
      </dsp:txBody>
      <dsp:txXfrm>
        <a:off x="36296" y="36296"/>
        <a:ext cx="8643708" cy="670943"/>
      </dsp:txXfrm>
    </dsp:sp>
  </dsp:spTree>
</dsp:drawing>
</file>

<file path=ppt/diagrams/drawing19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Stream Programming</a:t>
          </a:r>
          <a:endParaRPr lang="en-US" sz="3100" kern="1200" dirty="0"/>
        </a:p>
      </dsp:txBody>
      <dsp:txXfrm>
        <a:off x="36296" y="36296"/>
        <a:ext cx="8643708" cy="670943"/>
      </dsp:txXfrm>
    </dsp:sp>
  </dsp:spTree>
</dsp:drawing>
</file>

<file path=ppt/diagrams/drawing20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Stream Programming</a:t>
          </a:r>
          <a:endParaRPr lang="en-US" sz="3100" kern="1200" dirty="0"/>
        </a:p>
      </dsp:txBody>
      <dsp:txXfrm>
        <a:off x="36296" y="36296"/>
        <a:ext cx="8643708" cy="670943"/>
      </dsp:txXfrm>
    </dsp:sp>
  </dsp:spTree>
</dsp:drawing>
</file>

<file path=ppt/diagrams/drawing20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Stream Programming</a:t>
          </a:r>
          <a:endParaRPr lang="en-US" sz="3100" kern="1200" dirty="0"/>
        </a:p>
      </dsp:txBody>
      <dsp:txXfrm>
        <a:off x="36296" y="36296"/>
        <a:ext cx="8643708" cy="670943"/>
      </dsp:txXfrm>
    </dsp:sp>
  </dsp:spTree>
</dsp:drawing>
</file>

<file path=ppt/diagrams/drawing20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Stream Programming</a:t>
          </a:r>
          <a:endParaRPr lang="en-US" sz="3100" kern="1200" dirty="0"/>
        </a:p>
      </dsp:txBody>
      <dsp:txXfrm>
        <a:off x="36296" y="36296"/>
        <a:ext cx="8643708" cy="670943"/>
      </dsp:txXfrm>
    </dsp:sp>
  </dsp:spTree>
</dsp:drawing>
</file>

<file path=ppt/diagrams/drawing20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Stream Programming</a:t>
          </a:r>
          <a:endParaRPr lang="en-US" sz="3100" kern="1200" dirty="0"/>
        </a:p>
      </dsp:txBody>
      <dsp:txXfrm>
        <a:off x="36296" y="36296"/>
        <a:ext cx="8643708" cy="670943"/>
      </dsp:txXfrm>
    </dsp:sp>
  </dsp:spTree>
</dsp:drawing>
</file>

<file path=ppt/diagrams/drawing20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Stream Programming</a:t>
          </a:r>
          <a:endParaRPr lang="en-US" sz="3100" kern="1200" dirty="0"/>
        </a:p>
      </dsp:txBody>
      <dsp:txXfrm>
        <a:off x="36296" y="36296"/>
        <a:ext cx="8643708" cy="670943"/>
      </dsp:txXfrm>
    </dsp:sp>
  </dsp:spTree>
</dsp:drawing>
</file>

<file path=ppt/diagrams/drawing20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Network Programming</a:t>
          </a:r>
          <a:endParaRPr lang="en-US" sz="3100" kern="1200" dirty="0"/>
        </a:p>
      </dsp:txBody>
      <dsp:txXfrm>
        <a:off x="36296" y="36296"/>
        <a:ext cx="8643708" cy="670943"/>
      </dsp:txXfrm>
    </dsp:sp>
  </dsp:spTree>
</dsp:drawing>
</file>

<file path=ppt/diagrams/drawing20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Network Programming</a:t>
          </a:r>
          <a:endParaRPr lang="en-US" sz="3100" kern="1200" dirty="0"/>
        </a:p>
      </dsp:txBody>
      <dsp:txXfrm>
        <a:off x="36296" y="36296"/>
        <a:ext cx="8643708" cy="670943"/>
      </dsp:txXfrm>
    </dsp:sp>
  </dsp:spTree>
</dsp:drawing>
</file>

<file path=ppt/diagrams/drawing20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Network Programming</a:t>
          </a:r>
          <a:endParaRPr lang="en-US" sz="3100" kern="1200" dirty="0"/>
        </a:p>
      </dsp:txBody>
      <dsp:txXfrm>
        <a:off x="36296" y="36296"/>
        <a:ext cx="8643708" cy="670943"/>
      </dsp:txXfrm>
    </dsp:sp>
  </dsp:spTree>
</dsp:drawing>
</file>

<file path=ppt/diagrams/drawing20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Network Programming</a:t>
          </a:r>
          <a:endParaRPr lang="en-US" sz="3100" kern="1200" dirty="0"/>
        </a:p>
      </dsp:txBody>
      <dsp:txXfrm>
        <a:off x="36296" y="36296"/>
        <a:ext cx="8643708" cy="670943"/>
      </dsp:txXfrm>
    </dsp:sp>
  </dsp:spTree>
</dsp:drawing>
</file>

<file path=ppt/diagrams/drawing20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Network Programming</a:t>
          </a:r>
          <a:endParaRPr lang="en-US" sz="3100" kern="1200" dirty="0"/>
        </a:p>
      </dsp:txBody>
      <dsp:txXfrm>
        <a:off x="36296" y="36296"/>
        <a:ext cx="8643708" cy="670943"/>
      </dsp:txXfrm>
    </dsp:sp>
  </dsp:spTree>
</dsp:drawing>
</file>

<file path=ppt/diagrams/drawing2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Network Programming</a:t>
          </a:r>
          <a:endParaRPr lang="en-US" sz="3100" kern="1200" dirty="0"/>
        </a:p>
      </dsp:txBody>
      <dsp:txXfrm>
        <a:off x="36296" y="36296"/>
        <a:ext cx="8643708" cy="670943"/>
      </dsp:txXfrm>
    </dsp:sp>
  </dsp:spTree>
</dsp:drawing>
</file>

<file path=ppt/diagrams/drawing2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Network Programming</a:t>
          </a:r>
          <a:endParaRPr lang="en-US" sz="3100" kern="1200" dirty="0"/>
        </a:p>
      </dsp:txBody>
      <dsp:txXfrm>
        <a:off x="36296" y="36296"/>
        <a:ext cx="8643708" cy="670943"/>
      </dsp:txXfrm>
    </dsp:sp>
  </dsp:spTree>
</dsp:drawing>
</file>

<file path=ppt/diagrams/drawing2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Network Programming</a:t>
          </a:r>
          <a:endParaRPr lang="en-US" sz="3100" kern="1200" dirty="0"/>
        </a:p>
      </dsp:txBody>
      <dsp:txXfrm>
        <a:off x="36296" y="36296"/>
        <a:ext cx="8643708" cy="670943"/>
      </dsp:txXfrm>
    </dsp:sp>
  </dsp:spTree>
</dsp:drawing>
</file>

<file path=ppt/diagrams/drawing2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Network Programming</a:t>
          </a:r>
          <a:endParaRPr lang="en-US" sz="3100" kern="1200" dirty="0"/>
        </a:p>
      </dsp:txBody>
      <dsp:txXfrm>
        <a:off x="36296" y="36296"/>
        <a:ext cx="8643708" cy="670943"/>
      </dsp:txXfrm>
    </dsp:sp>
  </dsp:spTree>
</dsp:drawing>
</file>

<file path=ppt/diagrams/drawing2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Network Programming</a:t>
          </a:r>
          <a:endParaRPr lang="en-US" sz="3100" kern="1200" dirty="0"/>
        </a:p>
      </dsp:txBody>
      <dsp:txXfrm>
        <a:off x="36296" y="36296"/>
        <a:ext cx="8643708" cy="670943"/>
      </dsp:txXfrm>
    </dsp:sp>
  </dsp:spTree>
</dsp:drawing>
</file>

<file path=ppt/diagrams/drawing2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Network Programming</a:t>
          </a:r>
          <a:endParaRPr lang="en-US" sz="3100" kern="1200" dirty="0"/>
        </a:p>
      </dsp:txBody>
      <dsp:txXfrm>
        <a:off x="36296" y="36296"/>
        <a:ext cx="8643708" cy="670943"/>
      </dsp:txXfrm>
    </dsp:sp>
  </dsp:spTree>
</dsp:drawing>
</file>

<file path=ppt/diagrams/drawing2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Network Programming</a:t>
          </a:r>
          <a:endParaRPr lang="en-US" sz="3100" kern="1200" dirty="0"/>
        </a:p>
      </dsp:txBody>
      <dsp:txXfrm>
        <a:off x="36296" y="36296"/>
        <a:ext cx="8643708" cy="670943"/>
      </dsp:txXfrm>
    </dsp:sp>
  </dsp:spTree>
</dsp:drawing>
</file>

<file path=ppt/diagrams/drawing2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Network Programming</a:t>
          </a:r>
          <a:endParaRPr lang="en-US" sz="3100" kern="1200" dirty="0"/>
        </a:p>
      </dsp:txBody>
      <dsp:txXfrm>
        <a:off x="36296" y="36296"/>
        <a:ext cx="8643708" cy="670943"/>
      </dsp:txXfrm>
    </dsp:sp>
  </dsp:spTree>
</dsp:drawing>
</file>

<file path=ppt/diagrams/drawing2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Network Programming</a:t>
          </a:r>
          <a:endParaRPr lang="en-US" sz="3100" kern="1200" dirty="0"/>
        </a:p>
      </dsp:txBody>
      <dsp:txXfrm>
        <a:off x="36296" y="36296"/>
        <a:ext cx="8643708" cy="670943"/>
      </dsp:txXfrm>
    </dsp:sp>
  </dsp:spTree>
</dsp:drawing>
</file>

<file path=ppt/diagrams/drawing2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Network Programming</a:t>
          </a:r>
          <a:endParaRPr lang="en-US" sz="3100" kern="1200" dirty="0"/>
        </a:p>
      </dsp:txBody>
      <dsp:txXfrm>
        <a:off x="36296" y="36296"/>
        <a:ext cx="8643708" cy="670943"/>
      </dsp:txXfrm>
    </dsp:sp>
  </dsp:spTree>
</dsp:drawing>
</file>

<file path=ppt/diagrams/drawing2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Network Programming</a:t>
          </a:r>
          <a:endParaRPr lang="en-US" sz="3100" kern="1200" dirty="0"/>
        </a:p>
      </dsp:txBody>
      <dsp:txXfrm>
        <a:off x="36296" y="36296"/>
        <a:ext cx="8643708" cy="670943"/>
      </dsp:txXfrm>
    </dsp:sp>
  </dsp:spTree>
</dsp:drawing>
</file>

<file path=ppt/diagrams/drawing2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Network Programming</a:t>
          </a:r>
          <a:endParaRPr lang="en-US" sz="3100" kern="1200" dirty="0"/>
        </a:p>
      </dsp:txBody>
      <dsp:txXfrm>
        <a:off x="36296" y="36296"/>
        <a:ext cx="8643708" cy="670943"/>
      </dsp:txXfrm>
    </dsp:sp>
  </dsp:spTree>
</dsp:drawing>
</file>

<file path=ppt/diagrams/drawing2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Network Programming</a:t>
          </a:r>
          <a:endParaRPr lang="en-US" sz="3100" kern="1200" dirty="0"/>
        </a:p>
      </dsp:txBody>
      <dsp:txXfrm>
        <a:off x="36296" y="36296"/>
        <a:ext cx="8643708" cy="670943"/>
      </dsp:txXfrm>
    </dsp:sp>
  </dsp:spTree>
</dsp:drawing>
</file>

<file path=ppt/diagrams/drawing2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Network Programming</a:t>
          </a:r>
          <a:endParaRPr lang="en-US" sz="3100" kern="1200" dirty="0"/>
        </a:p>
      </dsp:txBody>
      <dsp:txXfrm>
        <a:off x="36296" y="36296"/>
        <a:ext cx="8643708" cy="670943"/>
      </dsp:txXfrm>
    </dsp:sp>
  </dsp:spTree>
</dsp:drawing>
</file>

<file path=ppt/diagrams/drawing2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Network Programming</a:t>
          </a:r>
          <a:endParaRPr lang="en-US" sz="3100" kern="1200" dirty="0"/>
        </a:p>
      </dsp:txBody>
      <dsp:txXfrm>
        <a:off x="36296" y="36296"/>
        <a:ext cx="8643708" cy="670943"/>
      </dsp:txXfrm>
    </dsp:sp>
  </dsp:spTree>
</dsp:drawing>
</file>

<file path=ppt/diagrams/drawing2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Network Programming</a:t>
          </a:r>
          <a:endParaRPr lang="en-US" sz="3100" kern="1200" dirty="0"/>
        </a:p>
      </dsp:txBody>
      <dsp:txXfrm>
        <a:off x="36296" y="36296"/>
        <a:ext cx="8643708" cy="670943"/>
      </dsp:txXfrm>
    </dsp:sp>
  </dsp:spTree>
</dsp:drawing>
</file>

<file path=ppt/diagrams/drawing2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Network Programming</a:t>
          </a:r>
          <a:endParaRPr lang="en-US" sz="3100" kern="1200" dirty="0"/>
        </a:p>
      </dsp:txBody>
      <dsp:txXfrm>
        <a:off x="36296" y="36296"/>
        <a:ext cx="8643708" cy="670943"/>
      </dsp:txXfrm>
    </dsp:sp>
  </dsp:spTree>
</dsp:drawing>
</file>

<file path=ppt/diagrams/drawing2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Network Programming</a:t>
          </a:r>
          <a:endParaRPr lang="en-US" sz="3100" kern="1200" dirty="0"/>
        </a:p>
      </dsp:txBody>
      <dsp:txXfrm>
        <a:off x="36296" y="36296"/>
        <a:ext cx="8643708" cy="670943"/>
      </dsp:txXfrm>
    </dsp:sp>
  </dsp:spTree>
</dsp:drawing>
</file>

<file path=ppt/diagrams/drawing2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Network Programming</a:t>
          </a:r>
          <a:endParaRPr lang="en-US" sz="3100" kern="1200" dirty="0"/>
        </a:p>
      </dsp:txBody>
      <dsp:txXfrm>
        <a:off x="36296" y="36296"/>
        <a:ext cx="8643708" cy="670943"/>
      </dsp:txXfrm>
    </dsp:sp>
  </dsp:spTree>
</dsp:drawing>
</file>

<file path=ppt/diagrams/drawing2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Network Programming</a:t>
          </a:r>
          <a:endParaRPr lang="en-US" sz="3100" kern="1200" dirty="0"/>
        </a:p>
      </dsp:txBody>
      <dsp:txXfrm>
        <a:off x="36296" y="36296"/>
        <a:ext cx="8643708" cy="670943"/>
      </dsp:txXfrm>
    </dsp:sp>
  </dsp:spTree>
</dsp:drawing>
</file>

<file path=ppt/diagrams/drawing2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Network Programming</a:t>
          </a:r>
          <a:endParaRPr lang="en-US" sz="3100" kern="1200" dirty="0"/>
        </a:p>
      </dsp:txBody>
      <dsp:txXfrm>
        <a:off x="36296" y="36296"/>
        <a:ext cx="8643708" cy="670943"/>
      </dsp:txXfrm>
    </dsp:sp>
  </dsp:spTree>
</dsp:drawing>
</file>

<file path=ppt/diagrams/drawing2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Network Programming</a:t>
          </a:r>
          <a:endParaRPr lang="en-US" sz="3100" kern="1200" dirty="0"/>
        </a:p>
      </dsp:txBody>
      <dsp:txXfrm>
        <a:off x="36296" y="36296"/>
        <a:ext cx="8643708" cy="670943"/>
      </dsp:txXfrm>
    </dsp:sp>
  </dsp:spTree>
</dsp:drawing>
</file>

<file path=ppt/diagrams/drawing2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Network Programming</a:t>
          </a:r>
          <a:endParaRPr lang="en-US" sz="3100" kern="1200" dirty="0"/>
        </a:p>
      </dsp:txBody>
      <dsp:txXfrm>
        <a:off x="36296" y="36296"/>
        <a:ext cx="8643708" cy="670943"/>
      </dsp:txXfrm>
    </dsp:sp>
  </dsp:spTree>
</dsp:drawing>
</file>

<file path=ppt/diagrams/drawing2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Network Programming</a:t>
          </a:r>
          <a:endParaRPr lang="en-US" sz="3100" kern="1200" dirty="0"/>
        </a:p>
      </dsp:txBody>
      <dsp:txXfrm>
        <a:off x="36296" y="36296"/>
        <a:ext cx="8643708" cy="670943"/>
      </dsp:txXfrm>
    </dsp:sp>
  </dsp:spTree>
</dsp:drawing>
</file>

<file path=ppt/diagrams/drawing2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Network Programming</a:t>
          </a:r>
          <a:endParaRPr lang="en-US" sz="3100" kern="1200" dirty="0"/>
        </a:p>
      </dsp:txBody>
      <dsp:txXfrm>
        <a:off x="36296" y="36296"/>
        <a:ext cx="8643708" cy="670943"/>
      </dsp:txXfrm>
    </dsp:sp>
  </dsp:spTree>
</dsp:drawing>
</file>

<file path=ppt/diagrams/drawing2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Network Programming</a:t>
          </a:r>
          <a:endParaRPr lang="en-US" sz="3100" kern="1200" dirty="0"/>
        </a:p>
      </dsp:txBody>
      <dsp:txXfrm>
        <a:off x="36296" y="36296"/>
        <a:ext cx="8643708" cy="670943"/>
      </dsp:txXfrm>
    </dsp:sp>
  </dsp:spTree>
</dsp:drawing>
</file>

<file path=ppt/diagrams/drawing2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Network Programming</a:t>
          </a:r>
          <a:endParaRPr lang="en-US" sz="3100" kern="1200" dirty="0"/>
        </a:p>
      </dsp:txBody>
      <dsp:txXfrm>
        <a:off x="36296" y="36296"/>
        <a:ext cx="8643708" cy="670943"/>
      </dsp:txXfrm>
    </dsp:sp>
  </dsp:spTree>
</dsp:drawing>
</file>

<file path=ppt/diagrams/drawing2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Network Programming</a:t>
          </a:r>
          <a:endParaRPr lang="en-US" sz="3100" kern="1200" dirty="0"/>
        </a:p>
      </dsp:txBody>
      <dsp:txXfrm>
        <a:off x="36296" y="36296"/>
        <a:ext cx="8643708" cy="670943"/>
      </dsp:txXfrm>
    </dsp:sp>
  </dsp:spTree>
</dsp:drawing>
</file>

<file path=ppt/diagrams/drawing2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Network Programming</a:t>
          </a:r>
          <a:endParaRPr lang="en-US" sz="3100" kern="1200" dirty="0"/>
        </a:p>
      </dsp:txBody>
      <dsp:txXfrm>
        <a:off x="36296" y="36296"/>
        <a:ext cx="8643708" cy="670943"/>
      </dsp:txXfrm>
    </dsp:sp>
  </dsp:spTree>
</dsp:drawing>
</file>

<file path=ppt/diagrams/drawing2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Network Programming</a:t>
          </a:r>
          <a:endParaRPr lang="en-US" sz="3100" kern="1200" dirty="0"/>
        </a:p>
      </dsp:txBody>
      <dsp:txXfrm>
        <a:off x="36296" y="36296"/>
        <a:ext cx="8643708" cy="670943"/>
      </dsp:txXfrm>
    </dsp:sp>
  </dsp:spTree>
</dsp:drawing>
</file>

<file path=ppt/diagrams/drawing2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Network Programming</a:t>
          </a:r>
          <a:endParaRPr lang="en-US" sz="3100" kern="1200" dirty="0"/>
        </a:p>
      </dsp:txBody>
      <dsp:txXfrm>
        <a:off x="36296" y="36296"/>
        <a:ext cx="8643708" cy="670943"/>
      </dsp:txXfrm>
    </dsp:sp>
  </dsp:spTree>
</dsp:drawing>
</file>

<file path=ppt/diagrams/drawing2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57563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ADO.NET</a:t>
          </a:r>
        </a:p>
      </dsp:txBody>
      <dsp:txXfrm>
        <a:off x="28100" y="28100"/>
        <a:ext cx="9087800" cy="519439"/>
      </dsp:txXfrm>
    </dsp:sp>
  </dsp:spTree>
</dsp:drawing>
</file>

<file path=ppt/diagrams/drawing2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57563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ADO.NET</a:t>
          </a:r>
        </a:p>
      </dsp:txBody>
      <dsp:txXfrm>
        <a:off x="28100" y="28100"/>
        <a:ext cx="9087800" cy="519439"/>
      </dsp:txXfrm>
    </dsp:sp>
  </dsp:spTree>
</dsp:drawing>
</file>

<file path=ppt/diagrams/drawing2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57563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ADO.NET</a:t>
          </a:r>
        </a:p>
      </dsp:txBody>
      <dsp:txXfrm>
        <a:off x="28100" y="28100"/>
        <a:ext cx="9087800" cy="519439"/>
      </dsp:txXfrm>
    </dsp:sp>
  </dsp:spTree>
</dsp:drawing>
</file>

<file path=ppt/diagrams/drawing2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57563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ADO.NET</a:t>
          </a:r>
        </a:p>
      </dsp:txBody>
      <dsp:txXfrm>
        <a:off x="28100" y="28100"/>
        <a:ext cx="9087800" cy="519439"/>
      </dsp:txXfrm>
    </dsp:sp>
  </dsp:spTree>
</dsp:drawing>
</file>

<file path=ppt/diagrams/drawing2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57563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ADO.NET</a:t>
          </a:r>
        </a:p>
      </dsp:txBody>
      <dsp:txXfrm>
        <a:off x="28100" y="28100"/>
        <a:ext cx="9087800" cy="519439"/>
      </dsp:txXfrm>
    </dsp:sp>
  </dsp:spTree>
</dsp:drawing>
</file>

<file path=ppt/diagrams/drawing2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57563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ADO.NET</a:t>
          </a:r>
        </a:p>
      </dsp:txBody>
      <dsp:txXfrm>
        <a:off x="28100" y="28100"/>
        <a:ext cx="9087800" cy="519439"/>
      </dsp:txXfrm>
    </dsp:sp>
  </dsp:spTree>
</dsp:drawing>
</file>

<file path=ppt/diagrams/drawing24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57563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ADO.NET</a:t>
          </a:r>
        </a:p>
      </dsp:txBody>
      <dsp:txXfrm>
        <a:off x="28100" y="28100"/>
        <a:ext cx="9087800" cy="519439"/>
      </dsp:txXfrm>
    </dsp:sp>
  </dsp:spTree>
</dsp:drawing>
</file>

<file path=ppt/diagrams/drawing24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57563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ADO.NET</a:t>
          </a:r>
        </a:p>
      </dsp:txBody>
      <dsp:txXfrm>
        <a:off x="28100" y="28100"/>
        <a:ext cx="9087800" cy="519439"/>
      </dsp:txXfrm>
    </dsp:sp>
  </dsp:spTree>
</dsp:drawing>
</file>

<file path=ppt/diagrams/drawing24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57563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ADO.NET</a:t>
          </a:r>
        </a:p>
      </dsp:txBody>
      <dsp:txXfrm>
        <a:off x="28100" y="28100"/>
        <a:ext cx="9087800" cy="519439"/>
      </dsp:txXfrm>
    </dsp:sp>
  </dsp:spTree>
</dsp:drawing>
</file>

<file path=ppt/diagrams/drawing25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57563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ADO.NET</a:t>
          </a:r>
        </a:p>
      </dsp:txBody>
      <dsp:txXfrm>
        <a:off x="28100" y="28100"/>
        <a:ext cx="9087800" cy="519439"/>
      </dsp:txXfrm>
    </dsp:sp>
  </dsp:spTree>
</dsp:drawing>
</file>

<file path=ppt/diagrams/drawing25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57563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Dapper Micro ORM</a:t>
          </a:r>
        </a:p>
      </dsp:txBody>
      <dsp:txXfrm>
        <a:off x="28100" y="28100"/>
        <a:ext cx="9087800" cy="519439"/>
      </dsp:txXfrm>
    </dsp:sp>
  </dsp:spTree>
</dsp:drawing>
</file>

<file path=ppt/diagrams/drawing25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57563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Dapper Micro ORM</a:t>
          </a:r>
        </a:p>
      </dsp:txBody>
      <dsp:txXfrm>
        <a:off x="28100" y="28100"/>
        <a:ext cx="9087800" cy="519439"/>
      </dsp:txXfrm>
    </dsp:sp>
  </dsp:spTree>
</dsp:drawing>
</file>

<file path=ppt/diagrams/drawing25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57563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Dapper Micro ORM</a:t>
          </a:r>
        </a:p>
      </dsp:txBody>
      <dsp:txXfrm>
        <a:off x="28100" y="28100"/>
        <a:ext cx="9087800" cy="519439"/>
      </dsp:txXfrm>
    </dsp:sp>
  </dsp:spTree>
</dsp:drawing>
</file>

<file path=ppt/diagrams/drawing25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57563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Dapper Micro ORM</a:t>
          </a:r>
        </a:p>
      </dsp:txBody>
      <dsp:txXfrm>
        <a:off x="28100" y="28100"/>
        <a:ext cx="9087800" cy="519439"/>
      </dsp:txXfrm>
    </dsp:sp>
  </dsp:spTree>
</dsp:drawing>
</file>

<file path=ppt/diagrams/drawing25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57563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Dapper Micro ORM</a:t>
          </a:r>
        </a:p>
      </dsp:txBody>
      <dsp:txXfrm>
        <a:off x="28100" y="28100"/>
        <a:ext cx="9087800" cy="519439"/>
      </dsp:txXfrm>
    </dsp:sp>
  </dsp:spTree>
</dsp:drawing>
</file>

<file path=ppt/diagrams/drawing25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57563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Dapper Micro ORM</a:t>
          </a:r>
        </a:p>
      </dsp:txBody>
      <dsp:txXfrm>
        <a:off x="28100" y="28100"/>
        <a:ext cx="9087800" cy="519439"/>
      </dsp:txXfrm>
    </dsp:sp>
  </dsp:spTree>
</dsp:drawing>
</file>

<file path=ppt/diagrams/drawing25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57563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Dapper Micro ORM</a:t>
          </a:r>
        </a:p>
      </dsp:txBody>
      <dsp:txXfrm>
        <a:off x="28100" y="28100"/>
        <a:ext cx="9087800" cy="519439"/>
      </dsp:txXfrm>
    </dsp:sp>
  </dsp:spTree>
</dsp:drawing>
</file>

<file path=ppt/diagrams/drawing25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57563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Dapper Micro ORM</a:t>
          </a:r>
        </a:p>
      </dsp:txBody>
      <dsp:txXfrm>
        <a:off x="28100" y="28100"/>
        <a:ext cx="9087800" cy="519439"/>
      </dsp:txXfrm>
    </dsp:sp>
  </dsp:spTree>
</dsp:drawing>
</file>

<file path=ppt/diagrams/drawing25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JIT &amp; AoT Compilation</a:t>
          </a:r>
        </a:p>
      </dsp:txBody>
      <dsp:txXfrm>
        <a:off x="36296" y="36296"/>
        <a:ext cx="8643708" cy="670943"/>
      </dsp:txXfrm>
    </dsp:sp>
  </dsp:spTree>
</dsp:drawing>
</file>

<file path=ppt/diagrams/drawing26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JIT &amp; AoT Compilation</a:t>
          </a:r>
        </a:p>
      </dsp:txBody>
      <dsp:txXfrm>
        <a:off x="36296" y="36296"/>
        <a:ext cx="8643708" cy="670943"/>
      </dsp:txXfrm>
    </dsp:sp>
  </dsp:spTree>
</dsp:drawing>
</file>

<file path=ppt/diagrams/drawing26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Cold Start </a:t>
          </a:r>
          <a:r>
            <a:rPr lang="en-US" sz="3100" kern="1200" dirty="0" err="1"/>
            <a:t>Optimisation</a:t>
          </a:r>
          <a:r>
            <a:rPr lang="en-US" sz="3100" kern="1200" dirty="0"/>
            <a:t> Techniques</a:t>
          </a:r>
        </a:p>
      </dsp:txBody>
      <dsp:txXfrm>
        <a:off x="36296" y="36296"/>
        <a:ext cx="8643708" cy="670943"/>
      </dsp:txXfrm>
    </dsp:sp>
  </dsp:spTree>
</dsp:drawing>
</file>

<file path=ppt/diagrams/drawing26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Cold Start </a:t>
          </a:r>
          <a:r>
            <a:rPr lang="en-US" sz="3100" kern="1200" dirty="0" err="1"/>
            <a:t>Optimisation</a:t>
          </a:r>
          <a:r>
            <a:rPr lang="en-US" sz="3100" kern="1200" dirty="0"/>
            <a:t> Techniques</a:t>
          </a:r>
        </a:p>
      </dsp:txBody>
      <dsp:txXfrm>
        <a:off x="36296" y="36296"/>
        <a:ext cx="8643708" cy="670943"/>
      </dsp:txXfrm>
    </dsp:sp>
  </dsp:spTree>
</dsp:drawing>
</file>

<file path=ppt/diagrams/drawing26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Cold Start </a:t>
          </a:r>
          <a:r>
            <a:rPr lang="en-US" sz="3100" kern="1200" dirty="0" err="1"/>
            <a:t>Optimisation</a:t>
          </a:r>
          <a:r>
            <a:rPr lang="en-US" sz="3100" kern="1200" dirty="0"/>
            <a:t> Techniques</a:t>
          </a:r>
        </a:p>
      </dsp:txBody>
      <dsp:txXfrm>
        <a:off x="36296" y="36296"/>
        <a:ext cx="8643708" cy="670943"/>
      </dsp:txXfrm>
    </dsp:sp>
  </dsp:spTree>
</dsp:drawing>
</file>

<file path=ppt/diagrams/drawing26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solidFill>
                <a:schemeClr val="bg1"/>
              </a:solidFill>
              <a:latin typeface="Google Sans"/>
              <a:ea typeface="+mn-ea"/>
              <a:cs typeface="+mn-cs"/>
            </a:rPr>
            <a:t>Cost Optimization in HLTT Systems</a:t>
          </a:r>
          <a:endParaRPr lang="en-US" sz="3100" kern="1200" dirty="0">
            <a:solidFill>
              <a:schemeClr val="bg1"/>
            </a:solidFill>
          </a:endParaRPr>
        </a:p>
      </dsp:txBody>
      <dsp:txXfrm>
        <a:off x="36296" y="36296"/>
        <a:ext cx="8643708" cy="670943"/>
      </dsp:txXfrm>
    </dsp:sp>
  </dsp:spTree>
</dsp:drawing>
</file>

<file path=ppt/diagrams/drawing26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solidFill>
                <a:schemeClr val="bg1"/>
              </a:solidFill>
              <a:latin typeface="Google Sans"/>
              <a:ea typeface="+mn-ea"/>
              <a:cs typeface="+mn-cs"/>
            </a:rPr>
            <a:t>Cost Optimization in HLTT Systems</a:t>
          </a:r>
          <a:endParaRPr lang="en-US" sz="3100" kern="1200" dirty="0">
            <a:solidFill>
              <a:schemeClr val="bg1"/>
            </a:solidFill>
          </a:endParaRPr>
        </a:p>
      </dsp:txBody>
      <dsp:txXfrm>
        <a:off x="36296" y="36296"/>
        <a:ext cx="8643708" cy="670943"/>
      </dsp:txXfrm>
    </dsp:sp>
  </dsp:spTree>
</dsp:drawing>
</file>

<file path=ppt/diagrams/drawing26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solidFill>
                <a:schemeClr val="bg1"/>
              </a:solidFill>
              <a:latin typeface="Google Sans"/>
              <a:ea typeface="+mn-ea"/>
              <a:cs typeface="+mn-cs"/>
            </a:rPr>
            <a:t>Cost Optimization in HLTT Systems</a:t>
          </a:r>
          <a:endParaRPr lang="en-US" sz="3100" kern="1200" dirty="0">
            <a:solidFill>
              <a:schemeClr val="bg1"/>
            </a:solidFill>
          </a:endParaRPr>
        </a:p>
      </dsp:txBody>
      <dsp:txXfrm>
        <a:off x="36296" y="36296"/>
        <a:ext cx="8643708" cy="670943"/>
      </dsp:txXfrm>
    </dsp:sp>
  </dsp:spTree>
</dsp:drawing>
</file>

<file path=ppt/diagrams/drawing26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solidFill>
                <a:schemeClr val="bg1"/>
              </a:solidFill>
              <a:latin typeface="Google Sans"/>
              <a:ea typeface="+mn-ea"/>
              <a:cs typeface="+mn-cs"/>
            </a:rPr>
            <a:t>Cost Optimization in HLTT Systems</a:t>
          </a:r>
          <a:endParaRPr lang="en-US" sz="3100" kern="1200" dirty="0">
            <a:solidFill>
              <a:schemeClr val="bg1"/>
            </a:solidFill>
          </a:endParaRPr>
        </a:p>
      </dsp:txBody>
      <dsp:txXfrm>
        <a:off x="36296" y="36296"/>
        <a:ext cx="8643708" cy="670943"/>
      </dsp:txXfrm>
    </dsp:sp>
  </dsp:spTree>
</dsp:drawing>
</file>

<file path=ppt/diagrams/drawing26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solidFill>
                <a:schemeClr val="bg1"/>
              </a:solidFill>
              <a:latin typeface="Google Sans"/>
              <a:ea typeface="+mn-ea"/>
              <a:cs typeface="+mn-cs"/>
            </a:rPr>
            <a:t>Cost Optimization in HLTT Systems</a:t>
          </a:r>
          <a:endParaRPr lang="en-US" sz="3100" kern="1200" dirty="0">
            <a:solidFill>
              <a:schemeClr val="bg1"/>
            </a:solidFill>
          </a:endParaRPr>
        </a:p>
      </dsp:txBody>
      <dsp:txXfrm>
        <a:off x="36296" y="36296"/>
        <a:ext cx="8643708" cy="670943"/>
      </dsp:txXfrm>
    </dsp:sp>
  </dsp:spTree>
</dsp:drawing>
</file>

<file path=ppt/diagrams/drawing26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solidFill>
                <a:schemeClr val="bg1"/>
              </a:solidFill>
              <a:latin typeface="Google Sans"/>
              <a:ea typeface="+mn-ea"/>
              <a:cs typeface="+mn-cs"/>
            </a:rPr>
            <a:t>Cost Optimization in HLTT Systems</a:t>
          </a:r>
          <a:endParaRPr lang="en-US" sz="3100" kern="1200" dirty="0">
            <a:solidFill>
              <a:schemeClr val="bg1"/>
            </a:solidFill>
          </a:endParaRPr>
        </a:p>
      </dsp:txBody>
      <dsp:txXfrm>
        <a:off x="36296" y="36296"/>
        <a:ext cx="8643708" cy="670943"/>
      </dsp:txXfrm>
    </dsp:sp>
  </dsp:spTree>
</dsp:drawing>
</file>

<file path=ppt/diagrams/drawing27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Mechanical Sympathy</a:t>
          </a:r>
        </a:p>
      </dsp:txBody>
      <dsp:txXfrm>
        <a:off x="21162" y="21162"/>
        <a:ext cx="8873074" cy="391189"/>
      </dsp:txXfrm>
    </dsp:sp>
  </dsp:spTree>
</dsp:drawing>
</file>

<file path=ppt/diagrams/drawing27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Mechanical Sympathy</a:t>
          </a:r>
        </a:p>
      </dsp:txBody>
      <dsp:txXfrm>
        <a:off x="21162" y="21162"/>
        <a:ext cx="8873074" cy="391189"/>
      </dsp:txXfrm>
    </dsp:sp>
  </dsp:spTree>
</dsp:drawing>
</file>

<file path=ppt/diagrams/drawing27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Mechanical Sympathy</a:t>
          </a:r>
        </a:p>
      </dsp:txBody>
      <dsp:txXfrm>
        <a:off x="21162" y="21162"/>
        <a:ext cx="8873074" cy="391189"/>
      </dsp:txXfrm>
    </dsp:sp>
  </dsp:spTree>
</dsp:drawing>
</file>

<file path=ppt/diagrams/drawing27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Mechanical Sympathy</a:t>
          </a:r>
        </a:p>
      </dsp:txBody>
      <dsp:txXfrm>
        <a:off x="21162" y="21162"/>
        <a:ext cx="8873074" cy="391189"/>
      </dsp:txXfrm>
    </dsp:sp>
  </dsp:spTree>
</dsp:drawing>
</file>

<file path=ppt/diagrams/drawing27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Mechanical Sympathy</a:t>
          </a:r>
        </a:p>
      </dsp:txBody>
      <dsp:txXfrm>
        <a:off x="21162" y="21162"/>
        <a:ext cx="8873074" cy="391189"/>
      </dsp:txXfrm>
    </dsp:sp>
  </dsp:spTree>
</dsp:drawing>
</file>

<file path=ppt/diagrams/drawing27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Mechanical Sympathy</a:t>
          </a:r>
        </a:p>
      </dsp:txBody>
      <dsp:txXfrm>
        <a:off x="21162" y="21162"/>
        <a:ext cx="8873074" cy="391189"/>
      </dsp:txXfrm>
    </dsp:sp>
  </dsp:spTree>
</dsp:drawing>
</file>

<file path=ppt/diagrams/drawing27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Mechanical Sympathy</a:t>
          </a:r>
        </a:p>
      </dsp:txBody>
      <dsp:txXfrm>
        <a:off x="21162" y="21162"/>
        <a:ext cx="8873074" cy="391189"/>
      </dsp:txXfrm>
    </dsp:sp>
  </dsp:spTree>
</dsp:drawing>
</file>

<file path=ppt/diagrams/drawing27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Mechanical Sympathy</a:t>
          </a:r>
        </a:p>
      </dsp:txBody>
      <dsp:txXfrm>
        <a:off x="21162" y="21162"/>
        <a:ext cx="8873074" cy="391189"/>
      </dsp:txXfrm>
    </dsp:sp>
  </dsp:spTree>
</dsp:drawing>
</file>

<file path=ppt/diagrams/drawing27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Mechanical Sympathy</a:t>
          </a:r>
        </a:p>
      </dsp:txBody>
      <dsp:txXfrm>
        <a:off x="21162" y="21162"/>
        <a:ext cx="8873074" cy="391189"/>
      </dsp:txXfrm>
    </dsp:sp>
  </dsp:spTree>
</dsp:drawing>
</file>

<file path=ppt/diagrams/drawing27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Mechanical Sympathy</a:t>
          </a:r>
        </a:p>
      </dsp:txBody>
      <dsp:txXfrm>
        <a:off x="21162" y="21162"/>
        <a:ext cx="8873074" cy="391189"/>
      </dsp:txXfrm>
    </dsp:sp>
  </dsp:spTree>
</dsp:drawing>
</file>

<file path=ppt/diagrams/drawing28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Mechanical Sympathy</a:t>
          </a:r>
        </a:p>
      </dsp:txBody>
      <dsp:txXfrm>
        <a:off x="21162" y="21162"/>
        <a:ext cx="8873074" cy="391189"/>
      </dsp:txXfrm>
    </dsp:sp>
  </dsp:spTree>
</dsp:drawing>
</file>

<file path=ppt/diagrams/drawing28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Mechanical Sympathy</a:t>
          </a:r>
        </a:p>
      </dsp:txBody>
      <dsp:txXfrm>
        <a:off x="21162" y="21162"/>
        <a:ext cx="8873074" cy="391189"/>
      </dsp:txXfrm>
    </dsp:sp>
  </dsp:spTree>
</dsp:drawing>
</file>

<file path=ppt/diagrams/drawing28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Mechanical Sympathy</a:t>
          </a:r>
        </a:p>
      </dsp:txBody>
      <dsp:txXfrm>
        <a:off x="21162" y="21162"/>
        <a:ext cx="8873074" cy="391189"/>
      </dsp:txXfrm>
    </dsp:sp>
  </dsp:spTree>
</dsp:drawing>
</file>

<file path=ppt/diagrams/drawing28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Mechanical Sympathy</a:t>
          </a:r>
        </a:p>
      </dsp:txBody>
      <dsp:txXfrm>
        <a:off x="21162" y="21162"/>
        <a:ext cx="8873074" cy="391189"/>
      </dsp:txXfrm>
    </dsp:sp>
  </dsp:spTree>
</dsp:drawing>
</file>

<file path=ppt/diagrams/drawing28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Mechanical Sympathy</a:t>
          </a:r>
        </a:p>
      </dsp:txBody>
      <dsp:txXfrm>
        <a:off x="21162" y="21162"/>
        <a:ext cx="8873074" cy="391189"/>
      </dsp:txXfrm>
    </dsp:sp>
  </dsp:spTree>
</dsp:drawing>
</file>

<file path=ppt/diagrams/drawing28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Mechanical Sympathy</a:t>
          </a:r>
        </a:p>
      </dsp:txBody>
      <dsp:txXfrm>
        <a:off x="21162" y="21162"/>
        <a:ext cx="8873074" cy="391189"/>
      </dsp:txXfrm>
    </dsp:sp>
  </dsp:spTree>
</dsp:drawing>
</file>

<file path=ppt/diagrams/drawing28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Mechanical Sympathy</a:t>
          </a:r>
        </a:p>
      </dsp:txBody>
      <dsp:txXfrm>
        <a:off x="21162" y="21162"/>
        <a:ext cx="8873074" cy="391189"/>
      </dsp:txXfrm>
    </dsp:sp>
  </dsp:spTree>
</dsp:drawing>
</file>

<file path=ppt/diagrams/drawing28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solidFill>
                <a:schemeClr val="bg1"/>
              </a:solidFill>
              <a:latin typeface="Google Sans"/>
              <a:ea typeface="+mn-ea"/>
              <a:cs typeface="+mn-cs"/>
            </a:rPr>
            <a:t>Some Niche Low Level Tips for HTLL Systems</a:t>
          </a:r>
          <a:endParaRPr lang="en-US" sz="3100" kern="1200" dirty="0">
            <a:solidFill>
              <a:schemeClr val="bg1"/>
            </a:solidFill>
          </a:endParaRPr>
        </a:p>
      </dsp:txBody>
      <dsp:txXfrm>
        <a:off x="36296" y="36296"/>
        <a:ext cx="8643708" cy="670943"/>
      </dsp:txXfrm>
    </dsp:sp>
  </dsp:spTree>
</dsp:drawing>
</file>

<file path=ppt/diagrams/drawing28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solidFill>
                <a:schemeClr val="bg1"/>
              </a:solidFill>
              <a:latin typeface="Google Sans"/>
              <a:ea typeface="+mn-ea"/>
              <a:cs typeface="+mn-cs"/>
            </a:rPr>
            <a:t>Some Niche Low Level Tips for HTLL Systems</a:t>
          </a:r>
          <a:endParaRPr lang="en-US" sz="3100" kern="1200" dirty="0">
            <a:solidFill>
              <a:schemeClr val="bg1"/>
            </a:solidFill>
          </a:endParaRPr>
        </a:p>
      </dsp:txBody>
      <dsp:txXfrm>
        <a:off x="36296" y="36296"/>
        <a:ext cx="8643708" cy="670943"/>
      </dsp:txXfrm>
    </dsp:sp>
  </dsp:spTree>
</dsp:drawing>
</file>

<file path=ppt/diagrams/drawing28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solidFill>
                <a:schemeClr val="bg1"/>
              </a:solidFill>
              <a:latin typeface="Google Sans"/>
              <a:ea typeface="+mn-ea"/>
              <a:cs typeface="+mn-cs"/>
            </a:rPr>
            <a:t>Some Niche Low Level Tips for HTLL Systems</a:t>
          </a:r>
          <a:endParaRPr lang="en-US" sz="3100" kern="1200" dirty="0">
            <a:solidFill>
              <a:schemeClr val="bg1"/>
            </a:solidFill>
          </a:endParaRPr>
        </a:p>
      </dsp:txBody>
      <dsp:txXfrm>
        <a:off x="36296" y="36296"/>
        <a:ext cx="8643708" cy="670943"/>
      </dsp:txXfrm>
    </dsp:sp>
  </dsp:spTree>
</dsp:drawing>
</file>

<file path=ppt/diagrams/drawing29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solidFill>
                <a:schemeClr val="bg1"/>
              </a:solidFill>
              <a:latin typeface="Google Sans"/>
              <a:ea typeface="+mn-ea"/>
              <a:cs typeface="+mn-cs"/>
            </a:rPr>
            <a:t>Some Niche Low Level Tips for HTLL Systems</a:t>
          </a:r>
          <a:endParaRPr lang="en-US" sz="3100" kern="1200" dirty="0">
            <a:solidFill>
              <a:schemeClr val="bg1"/>
            </a:solidFill>
          </a:endParaRPr>
        </a:p>
      </dsp:txBody>
      <dsp:txXfrm>
        <a:off x="36296" y="36296"/>
        <a:ext cx="8643708" cy="670943"/>
      </dsp:txXfrm>
    </dsp:sp>
  </dsp:spTree>
</dsp:drawing>
</file>

<file path=ppt/diagrams/drawing29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solidFill>
                <a:schemeClr val="bg1"/>
              </a:solidFill>
              <a:latin typeface="Google Sans"/>
              <a:ea typeface="+mn-ea"/>
              <a:cs typeface="+mn-cs"/>
            </a:rPr>
            <a:t>Some Niche Low Level Tips for HTLL Systems</a:t>
          </a:r>
          <a:endParaRPr lang="en-US" sz="3100" kern="1200" dirty="0">
            <a:solidFill>
              <a:schemeClr val="bg1"/>
            </a:solidFill>
          </a:endParaRPr>
        </a:p>
      </dsp:txBody>
      <dsp:txXfrm>
        <a:off x="36296" y="36296"/>
        <a:ext cx="8643708" cy="670943"/>
      </dsp:txXfrm>
    </dsp:sp>
  </dsp:spTree>
</dsp:drawing>
</file>

<file path=ppt/diagrams/drawing29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solidFill>
                <a:schemeClr val="bg1"/>
              </a:solidFill>
              <a:latin typeface="Google Sans"/>
              <a:ea typeface="+mn-ea"/>
              <a:cs typeface="+mn-cs"/>
            </a:rPr>
            <a:t>Some Niche Low Level Tips for HTLL Systems</a:t>
          </a:r>
          <a:endParaRPr lang="en-US" sz="3100" kern="1200" dirty="0">
            <a:solidFill>
              <a:schemeClr val="bg1"/>
            </a:solidFill>
          </a:endParaRPr>
        </a:p>
      </dsp:txBody>
      <dsp:txXfrm>
        <a:off x="36296" y="36296"/>
        <a:ext cx="8643708" cy="670943"/>
      </dsp:txXfrm>
    </dsp:sp>
  </dsp:spTree>
</dsp:drawing>
</file>

<file path=ppt/diagrams/drawing29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solidFill>
                <a:schemeClr val="bg1"/>
              </a:solidFill>
              <a:latin typeface="Google Sans"/>
              <a:ea typeface="+mn-ea"/>
              <a:cs typeface="+mn-cs"/>
            </a:rPr>
            <a:t>Some Niche Low Level Tips for HTLL Systems</a:t>
          </a:r>
          <a:endParaRPr lang="en-US" sz="3100" kern="1200" dirty="0">
            <a:solidFill>
              <a:schemeClr val="bg1"/>
            </a:solidFill>
          </a:endParaRPr>
        </a:p>
      </dsp:txBody>
      <dsp:txXfrm>
        <a:off x="36296" y="36296"/>
        <a:ext cx="8643708" cy="670943"/>
      </dsp:txXfrm>
    </dsp:sp>
  </dsp:spTree>
</dsp:drawing>
</file>

<file path=ppt/diagrams/drawing29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solidFill>
                <a:schemeClr val="bg1"/>
              </a:solidFill>
              <a:latin typeface="Google Sans"/>
              <a:ea typeface="+mn-ea"/>
              <a:cs typeface="+mn-cs"/>
            </a:rPr>
            <a:t>Some Niche Low Level Tips for HTLL Systems</a:t>
          </a:r>
          <a:endParaRPr lang="en-US" sz="3100" kern="1200" dirty="0">
            <a:solidFill>
              <a:schemeClr val="bg1"/>
            </a:solidFill>
          </a:endParaRPr>
        </a:p>
      </dsp:txBody>
      <dsp:txXfrm>
        <a:off x="36296" y="36296"/>
        <a:ext cx="8643708" cy="670943"/>
      </dsp:txXfrm>
    </dsp:sp>
  </dsp:spTree>
</dsp:drawing>
</file>

<file path=ppt/diagrams/drawing29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solidFill>
                <a:schemeClr val="bg1"/>
              </a:solidFill>
              <a:latin typeface="Google Sans"/>
              <a:ea typeface="+mn-ea"/>
              <a:cs typeface="+mn-cs"/>
            </a:rPr>
            <a:t>Some Niche Low Level Tips for HTLL Systems</a:t>
          </a:r>
          <a:endParaRPr lang="en-US" sz="3100" kern="1200" dirty="0">
            <a:solidFill>
              <a:schemeClr val="bg1"/>
            </a:solidFill>
          </a:endParaRPr>
        </a:p>
      </dsp:txBody>
      <dsp:txXfrm>
        <a:off x="36296" y="36296"/>
        <a:ext cx="8643708" cy="670943"/>
      </dsp:txXfrm>
    </dsp:sp>
  </dsp:spTree>
</dsp:drawing>
</file>

<file path=ppt/diagrams/drawing29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solidFill>
                <a:schemeClr val="bg1"/>
              </a:solidFill>
              <a:latin typeface="Google Sans"/>
              <a:ea typeface="+mn-ea"/>
              <a:cs typeface="+mn-cs"/>
            </a:rPr>
            <a:t>Some Niche Low Level Tips for HTLL Systems</a:t>
          </a:r>
          <a:endParaRPr lang="en-US" sz="3100" kern="1200" dirty="0">
            <a:solidFill>
              <a:schemeClr val="bg1"/>
            </a:solidFill>
          </a:endParaRPr>
        </a:p>
      </dsp:txBody>
      <dsp:txXfrm>
        <a:off x="36296" y="36296"/>
        <a:ext cx="8643708" cy="670943"/>
      </dsp:txXfrm>
    </dsp:sp>
  </dsp:spTree>
</dsp:drawing>
</file>

<file path=ppt/diagrams/drawing29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solidFill>
                <a:schemeClr val="bg1"/>
              </a:solidFill>
              <a:latin typeface="Google Sans"/>
              <a:ea typeface="+mn-ea"/>
              <a:cs typeface="+mn-cs"/>
            </a:rPr>
            <a:t>HTLL Systems Performance in Depth</a:t>
          </a:r>
          <a:endParaRPr lang="en-US" sz="3100" kern="1200" dirty="0">
            <a:solidFill>
              <a:schemeClr val="bg1"/>
            </a:solidFill>
          </a:endParaRPr>
        </a:p>
      </dsp:txBody>
      <dsp:txXfrm>
        <a:off x="36296" y="36296"/>
        <a:ext cx="8643708" cy="670943"/>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9845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5180013" y="0"/>
            <a:ext cx="3962400" cy="298450"/>
          </a:xfrm>
          <a:prstGeom prst="rect">
            <a:avLst/>
          </a:prstGeom>
        </p:spPr>
        <p:txBody>
          <a:bodyPr vert="horz" lIns="91440" tIns="45720" rIns="91440" bIns="45720" rtlCol="0"/>
          <a:lstStyle>
            <a:lvl1pPr algn="r">
              <a:defRPr sz="1200"/>
            </a:lvl1pPr>
          </a:lstStyle>
          <a:p>
            <a:fld id="{9AE750B3-386C-4233-BFC3-7F4AC971F92C}" type="datetimeFigureOut">
              <a:rPr lang="en-US" smtClean="0"/>
              <a:t>2/24/2026</a:t>
            </a:fld>
            <a:endParaRPr lang="en-US" dirty="0"/>
          </a:p>
        </p:txBody>
      </p:sp>
      <p:sp>
        <p:nvSpPr>
          <p:cNvPr id="4" name="Slide Image Placeholder 3"/>
          <p:cNvSpPr>
            <a:spLocks noGrp="1" noRot="1" noChangeAspect="1"/>
          </p:cNvSpPr>
          <p:nvPr>
            <p:ph type="sldImg" idx="2"/>
          </p:nvPr>
        </p:nvSpPr>
        <p:spPr>
          <a:xfrm>
            <a:off x="3028950" y="742950"/>
            <a:ext cx="3086100" cy="20066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914400" y="2860675"/>
            <a:ext cx="7315200" cy="233997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5645150"/>
            <a:ext cx="3962400" cy="29845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5180013" y="5645150"/>
            <a:ext cx="3962400" cy="298450"/>
          </a:xfrm>
          <a:prstGeom prst="rect">
            <a:avLst/>
          </a:prstGeom>
        </p:spPr>
        <p:txBody>
          <a:bodyPr vert="horz" lIns="91440" tIns="45720" rIns="91440" bIns="45720" rtlCol="0" anchor="b"/>
          <a:lstStyle>
            <a:lvl1pPr algn="r">
              <a:defRPr sz="1200"/>
            </a:lvl1pPr>
          </a:lstStyle>
          <a:p>
            <a:fld id="{0C49AC16-2221-4935-809C-2A72A26F729C}" type="slidenum">
              <a:rPr lang="en-US" smtClean="0"/>
              <a:t>‹#›</a:t>
            </a:fld>
            <a:endParaRPr lang="en-US" dirty="0"/>
          </a:p>
        </p:txBody>
      </p:sp>
    </p:spTree>
    <p:extLst>
      <p:ext uri="{BB962C8B-B14F-4D97-AF65-F5344CB8AC3E}">
        <p14:creationId xmlns:p14="http://schemas.microsoft.com/office/powerpoint/2010/main" val="4081582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9144000" cy="5943600"/>
          </a:xfrm>
          <a:prstGeom prst="rect">
            <a:avLst/>
          </a:prstGeom>
          <a:blipFill>
            <a:blip r:embed="rId2" cstate="print"/>
            <a:stretch>
              <a:fillRect/>
            </a:stretch>
          </a:blipFill>
        </p:spPr>
        <p:txBody>
          <a:bodyPr wrap="square" lIns="0" tIns="0" rIns="0" bIns="0" rtlCol="0"/>
          <a:lstStyle/>
          <a:p>
            <a:endParaRPr dirty="0"/>
          </a:p>
        </p:txBody>
      </p:sp>
      <p:sp>
        <p:nvSpPr>
          <p:cNvPr id="17" name="bk object 17"/>
          <p:cNvSpPr/>
          <p:nvPr/>
        </p:nvSpPr>
        <p:spPr>
          <a:xfrm>
            <a:off x="3079584" y="2139810"/>
            <a:ext cx="3027045" cy="1153795"/>
          </a:xfrm>
          <a:custGeom>
            <a:avLst/>
            <a:gdLst/>
            <a:ahLst/>
            <a:cxnLst/>
            <a:rect l="l" t="t" r="r" b="b"/>
            <a:pathLst>
              <a:path w="3027045" h="1153795">
                <a:moveTo>
                  <a:pt x="0" y="1153236"/>
                </a:moveTo>
                <a:lnTo>
                  <a:pt x="3026829" y="1153236"/>
                </a:lnTo>
                <a:lnTo>
                  <a:pt x="3026829" y="0"/>
                </a:lnTo>
                <a:lnTo>
                  <a:pt x="0" y="0"/>
                </a:lnTo>
                <a:lnTo>
                  <a:pt x="0" y="1153236"/>
                </a:lnTo>
                <a:close/>
              </a:path>
            </a:pathLst>
          </a:custGeom>
          <a:solidFill>
            <a:srgbClr val="FFFFFF"/>
          </a:solidFill>
        </p:spPr>
        <p:txBody>
          <a:bodyPr wrap="square" lIns="0" tIns="0" rIns="0" bIns="0" rtlCol="0"/>
          <a:lstStyle/>
          <a:p>
            <a:endParaRPr dirty="0"/>
          </a:p>
        </p:txBody>
      </p:sp>
      <p:sp>
        <p:nvSpPr>
          <p:cNvPr id="18" name="bk object 18"/>
          <p:cNvSpPr/>
          <p:nvPr/>
        </p:nvSpPr>
        <p:spPr>
          <a:xfrm>
            <a:off x="3186950" y="2836551"/>
            <a:ext cx="779145" cy="0"/>
          </a:xfrm>
          <a:custGeom>
            <a:avLst/>
            <a:gdLst/>
            <a:ahLst/>
            <a:cxnLst/>
            <a:rect l="l" t="t" r="r" b="b"/>
            <a:pathLst>
              <a:path w="779145">
                <a:moveTo>
                  <a:pt x="0" y="0"/>
                </a:moveTo>
                <a:lnTo>
                  <a:pt x="778573" y="0"/>
                </a:lnTo>
              </a:path>
            </a:pathLst>
          </a:custGeom>
          <a:ln w="36258">
            <a:solidFill>
              <a:srgbClr val="D322F2"/>
            </a:solidFill>
          </a:ln>
        </p:spPr>
        <p:txBody>
          <a:bodyPr wrap="square" lIns="0" tIns="0" rIns="0" bIns="0" rtlCol="0"/>
          <a:lstStyle/>
          <a:p>
            <a:endParaRPr dirty="0"/>
          </a:p>
        </p:txBody>
      </p:sp>
      <p:sp>
        <p:nvSpPr>
          <p:cNvPr id="19" name="bk object 19"/>
          <p:cNvSpPr/>
          <p:nvPr/>
        </p:nvSpPr>
        <p:spPr>
          <a:xfrm>
            <a:off x="3186950" y="2781966"/>
            <a:ext cx="779145" cy="0"/>
          </a:xfrm>
          <a:custGeom>
            <a:avLst/>
            <a:gdLst/>
            <a:ahLst/>
            <a:cxnLst/>
            <a:rect l="l" t="t" r="r" b="b"/>
            <a:pathLst>
              <a:path w="779145">
                <a:moveTo>
                  <a:pt x="0" y="0"/>
                </a:moveTo>
                <a:lnTo>
                  <a:pt x="778573" y="0"/>
                </a:lnTo>
              </a:path>
            </a:pathLst>
          </a:custGeom>
          <a:ln w="36258">
            <a:solidFill>
              <a:srgbClr val="D322F2"/>
            </a:solidFill>
          </a:ln>
        </p:spPr>
        <p:txBody>
          <a:bodyPr wrap="square" lIns="0" tIns="0" rIns="0" bIns="0" rtlCol="0"/>
          <a:lstStyle/>
          <a:p>
            <a:endParaRPr dirty="0"/>
          </a:p>
        </p:txBody>
      </p:sp>
      <p:sp>
        <p:nvSpPr>
          <p:cNvPr id="2" name="Holder 2"/>
          <p:cNvSpPr>
            <a:spLocks noGrp="1"/>
          </p:cNvSpPr>
          <p:nvPr>
            <p:ph type="ctrTitle"/>
          </p:nvPr>
        </p:nvSpPr>
        <p:spPr>
          <a:xfrm>
            <a:off x="3174246" y="2190333"/>
            <a:ext cx="2415540" cy="354964"/>
          </a:xfrm>
          <a:prstGeom prst="rect">
            <a:avLst/>
          </a:prstGeom>
        </p:spPr>
        <p:txBody>
          <a:bodyPr wrap="square" lIns="0" tIns="0" rIns="0" bIns="0">
            <a:spAutoFit/>
          </a:bodyPr>
          <a:lstStyle>
            <a:lvl1pPr>
              <a:defRPr sz="2150" b="1" i="0">
                <a:solidFill>
                  <a:srgbClr val="231F20"/>
                </a:solidFill>
                <a:latin typeface="Arial"/>
                <a:cs typeface="Arial"/>
              </a:defRPr>
            </a:lvl1pPr>
          </a:lstStyle>
          <a:p>
            <a:endParaRPr/>
          </a:p>
        </p:txBody>
      </p:sp>
      <p:sp>
        <p:nvSpPr>
          <p:cNvPr id="3" name="Holder 3"/>
          <p:cNvSpPr>
            <a:spLocks noGrp="1"/>
          </p:cNvSpPr>
          <p:nvPr>
            <p:ph type="subTitle" idx="4"/>
          </p:nvPr>
        </p:nvSpPr>
        <p:spPr>
          <a:xfrm>
            <a:off x="1371600" y="3328416"/>
            <a:ext cx="6400800" cy="14859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2/24/2026</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Lucida Sans"/>
                <a:cs typeface="Lucida Sans"/>
              </a:defRPr>
            </a:lvl1pPr>
          </a:lstStyle>
          <a:p>
            <a:endParaRPr/>
          </a:p>
        </p:txBody>
      </p:sp>
      <p:sp>
        <p:nvSpPr>
          <p:cNvPr id="3" name="Holder 3"/>
          <p:cNvSpPr>
            <a:spLocks noGrp="1"/>
          </p:cNvSpPr>
          <p:nvPr>
            <p:ph type="body" idx="1"/>
          </p:nvPr>
        </p:nvSpPr>
        <p:spPr/>
        <p:txBody>
          <a:bodyPr lIns="0" tIns="0" rIns="0" bIns="0"/>
          <a:lstStyle>
            <a:lvl1pPr>
              <a:defRPr sz="1300" b="1" i="0">
                <a:solidFill>
                  <a:schemeClr val="tx1"/>
                </a:solidFill>
                <a:latin typeface="Lucida Sans"/>
                <a:cs typeface="Lucida San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2/24/2026</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Lucida Sans"/>
                <a:cs typeface="Lucida Sans"/>
              </a:defRPr>
            </a:lvl1pPr>
          </a:lstStyle>
          <a:p>
            <a:endParaRPr/>
          </a:p>
        </p:txBody>
      </p:sp>
      <p:sp>
        <p:nvSpPr>
          <p:cNvPr id="3" name="Holder 3"/>
          <p:cNvSpPr>
            <a:spLocks noGrp="1"/>
          </p:cNvSpPr>
          <p:nvPr>
            <p:ph sz="half" idx="2"/>
          </p:nvPr>
        </p:nvSpPr>
        <p:spPr>
          <a:xfrm>
            <a:off x="457200" y="1367028"/>
            <a:ext cx="3977640" cy="3922776"/>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367028"/>
            <a:ext cx="3977640" cy="3922776"/>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2/24/2026</a:t>
            </a:fld>
            <a:endParaRPr lang="en-US" dirty="0"/>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Lucida Sans"/>
                <a:cs typeface="Lucida San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2/24/2026</a:t>
            </a:fld>
            <a:endParaRPr lang="en-US" dirty="0"/>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2/24/2026</a:t>
            </a:fld>
            <a:endParaRPr lang="en-US" dirty="0"/>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75300" y="830562"/>
            <a:ext cx="2907665" cy="995044"/>
          </a:xfrm>
          <a:prstGeom prst="rect">
            <a:avLst/>
          </a:prstGeom>
        </p:spPr>
        <p:txBody>
          <a:bodyPr wrap="square" lIns="0" tIns="0" rIns="0" bIns="0">
            <a:spAutoFit/>
          </a:bodyPr>
          <a:lstStyle>
            <a:lvl1pPr>
              <a:defRPr sz="3200" b="1" i="0">
                <a:solidFill>
                  <a:schemeClr val="tx1"/>
                </a:solidFill>
                <a:latin typeface="Lucida Sans"/>
                <a:cs typeface="Lucida Sans"/>
              </a:defRPr>
            </a:lvl1pPr>
          </a:lstStyle>
          <a:p>
            <a:endParaRPr/>
          </a:p>
        </p:txBody>
      </p:sp>
      <p:sp>
        <p:nvSpPr>
          <p:cNvPr id="3" name="Holder 3"/>
          <p:cNvSpPr>
            <a:spLocks noGrp="1"/>
          </p:cNvSpPr>
          <p:nvPr>
            <p:ph type="body" idx="1"/>
          </p:nvPr>
        </p:nvSpPr>
        <p:spPr>
          <a:xfrm>
            <a:off x="1217940" y="1414945"/>
            <a:ext cx="6708119" cy="1580514"/>
          </a:xfrm>
          <a:prstGeom prst="rect">
            <a:avLst/>
          </a:prstGeom>
        </p:spPr>
        <p:txBody>
          <a:bodyPr wrap="square" lIns="0" tIns="0" rIns="0" bIns="0">
            <a:spAutoFit/>
          </a:bodyPr>
          <a:lstStyle>
            <a:lvl1pPr>
              <a:defRPr sz="1300" b="1" i="0">
                <a:solidFill>
                  <a:schemeClr val="tx1"/>
                </a:solidFill>
                <a:latin typeface="Lucida Sans"/>
                <a:cs typeface="Lucida Sans"/>
              </a:defRPr>
            </a:lvl1pPr>
          </a:lstStyle>
          <a:p>
            <a:endParaRPr/>
          </a:p>
        </p:txBody>
      </p:sp>
      <p:sp>
        <p:nvSpPr>
          <p:cNvPr id="4" name="Holder 4"/>
          <p:cNvSpPr>
            <a:spLocks noGrp="1"/>
          </p:cNvSpPr>
          <p:nvPr>
            <p:ph type="ftr" sz="quarter" idx="5"/>
          </p:nvPr>
        </p:nvSpPr>
        <p:spPr>
          <a:xfrm>
            <a:off x="3108960" y="5527548"/>
            <a:ext cx="2926080" cy="297180"/>
          </a:xfrm>
          <a:prstGeom prst="rect">
            <a:avLst/>
          </a:prstGeom>
        </p:spPr>
        <p:txBody>
          <a:bodyPr wrap="square" lIns="0" tIns="0" rIns="0" bIns="0">
            <a:spAutoFit/>
          </a:bodyPr>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a:xfrm>
            <a:off x="457200" y="5527548"/>
            <a:ext cx="2103120" cy="29718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2/24/2026</a:t>
            </a:fld>
            <a:endParaRPr lang="en-US" dirty="0"/>
          </a:p>
        </p:txBody>
      </p:sp>
      <p:sp>
        <p:nvSpPr>
          <p:cNvPr id="6" name="Holder 6"/>
          <p:cNvSpPr>
            <a:spLocks noGrp="1"/>
          </p:cNvSpPr>
          <p:nvPr>
            <p:ph type="sldNum" sz="quarter" idx="7"/>
          </p:nvPr>
        </p:nvSpPr>
        <p:spPr>
          <a:xfrm>
            <a:off x="6583680" y="5527548"/>
            <a:ext cx="2103120" cy="29718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2.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9.xml"/><Relationship Id="rId7" Type="http://schemas.openxmlformats.org/officeDocument/2006/relationships/image" Target="../media/image3.png"/><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20.xml"/><Relationship Id="rId7" Type="http://schemas.openxmlformats.org/officeDocument/2006/relationships/image" Target="../media/image4.png"/><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21.xml"/><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2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Layout" Target="../diagrams/layout22.xml"/><Relationship Id="rId7" Type="http://schemas.openxmlformats.org/officeDocument/2006/relationships/image" Target="../media/image5.png"/><Relationship Id="rId2" Type="http://schemas.openxmlformats.org/officeDocument/2006/relationships/diagramData" Target="../diagrams/data22.xml"/><Relationship Id="rId1" Type="http://schemas.openxmlformats.org/officeDocument/2006/relationships/slideLayout" Target="../slideLayouts/slideLayout2.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23.xml"/><Relationship Id="rId7" Type="http://schemas.openxmlformats.org/officeDocument/2006/relationships/image" Target="../media/image7.png"/><Relationship Id="rId2" Type="http://schemas.openxmlformats.org/officeDocument/2006/relationships/diagramData" Target="../diagrams/data23.xml"/><Relationship Id="rId1" Type="http://schemas.openxmlformats.org/officeDocument/2006/relationships/slideLayout" Target="../slideLayouts/slideLayout2.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24.xml"/><Relationship Id="rId2" Type="http://schemas.openxmlformats.org/officeDocument/2006/relationships/diagramData" Target="../diagrams/data24.xml"/><Relationship Id="rId1" Type="http://schemas.openxmlformats.org/officeDocument/2006/relationships/slideLayout" Target="../slideLayouts/slideLayout2.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25.xml"/><Relationship Id="rId2" Type="http://schemas.openxmlformats.org/officeDocument/2006/relationships/diagramData" Target="../diagrams/data25.xml"/><Relationship Id="rId1" Type="http://schemas.openxmlformats.org/officeDocument/2006/relationships/slideLayout" Target="../slideLayouts/slideLayout2.xml"/><Relationship Id="rId6" Type="http://schemas.microsoft.com/office/2007/relationships/diagramDrawing" Target="../diagrams/drawing25.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26.xml"/><Relationship Id="rId2" Type="http://schemas.openxmlformats.org/officeDocument/2006/relationships/diagramData" Target="../diagrams/data26.xml"/><Relationship Id="rId1" Type="http://schemas.openxmlformats.org/officeDocument/2006/relationships/slideLayout" Target="../slideLayouts/slideLayout2.xml"/><Relationship Id="rId6" Type="http://schemas.microsoft.com/office/2007/relationships/diagramDrawing" Target="../diagrams/drawing26.xml"/><Relationship Id="rId5" Type="http://schemas.openxmlformats.org/officeDocument/2006/relationships/diagramColors" Target="../diagrams/colors26.xml"/><Relationship Id="rId4" Type="http://schemas.openxmlformats.org/officeDocument/2006/relationships/diagramQuickStyle" Target="../diagrams/quickStyle26.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27.xml"/><Relationship Id="rId2" Type="http://schemas.openxmlformats.org/officeDocument/2006/relationships/diagramData" Target="../diagrams/data27.xml"/><Relationship Id="rId1" Type="http://schemas.openxmlformats.org/officeDocument/2006/relationships/slideLayout" Target="../slideLayouts/slideLayout2.xml"/><Relationship Id="rId6" Type="http://schemas.microsoft.com/office/2007/relationships/diagramDrawing" Target="../diagrams/drawing27.xml"/><Relationship Id="rId5" Type="http://schemas.openxmlformats.org/officeDocument/2006/relationships/diagramColors" Target="../diagrams/colors27.xml"/><Relationship Id="rId4" Type="http://schemas.openxmlformats.org/officeDocument/2006/relationships/diagramQuickStyle" Target="../diagrams/quickStyle27.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28.xml"/><Relationship Id="rId2" Type="http://schemas.openxmlformats.org/officeDocument/2006/relationships/diagramData" Target="../diagrams/data28.xml"/><Relationship Id="rId1" Type="http://schemas.openxmlformats.org/officeDocument/2006/relationships/slideLayout" Target="../slideLayouts/slideLayout2.xml"/><Relationship Id="rId6" Type="http://schemas.microsoft.com/office/2007/relationships/diagramDrawing" Target="../diagrams/drawing28.xml"/><Relationship Id="rId5" Type="http://schemas.openxmlformats.org/officeDocument/2006/relationships/diagramColors" Target="../diagrams/colors28.xml"/><Relationship Id="rId4" Type="http://schemas.openxmlformats.org/officeDocument/2006/relationships/diagramQuickStyle" Target="../diagrams/quickStyle28.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29.xml"/><Relationship Id="rId2" Type="http://schemas.openxmlformats.org/officeDocument/2006/relationships/diagramData" Target="../diagrams/data29.xml"/><Relationship Id="rId1" Type="http://schemas.openxmlformats.org/officeDocument/2006/relationships/slideLayout" Target="../slideLayouts/slideLayout2.xml"/><Relationship Id="rId6" Type="http://schemas.microsoft.com/office/2007/relationships/diagramDrawing" Target="../diagrams/drawing29.xml"/><Relationship Id="rId5" Type="http://schemas.openxmlformats.org/officeDocument/2006/relationships/diagramColors" Target="../diagrams/colors29.xml"/><Relationship Id="rId4" Type="http://schemas.openxmlformats.org/officeDocument/2006/relationships/diagramQuickStyle" Target="../diagrams/quickStyle29.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30.xml"/><Relationship Id="rId2" Type="http://schemas.openxmlformats.org/officeDocument/2006/relationships/diagramData" Target="../diagrams/data30.xml"/><Relationship Id="rId1" Type="http://schemas.openxmlformats.org/officeDocument/2006/relationships/slideLayout" Target="../slideLayouts/slideLayout2.xml"/><Relationship Id="rId6" Type="http://schemas.microsoft.com/office/2007/relationships/diagramDrawing" Target="../diagrams/drawing30.xml"/><Relationship Id="rId5" Type="http://schemas.openxmlformats.org/officeDocument/2006/relationships/diagramColors" Target="../diagrams/colors30.xml"/><Relationship Id="rId4" Type="http://schemas.openxmlformats.org/officeDocument/2006/relationships/diagramQuickStyle" Target="../diagrams/quickStyle30.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31.xml"/><Relationship Id="rId2" Type="http://schemas.openxmlformats.org/officeDocument/2006/relationships/diagramData" Target="../diagrams/data31.xml"/><Relationship Id="rId1" Type="http://schemas.openxmlformats.org/officeDocument/2006/relationships/slideLayout" Target="../slideLayouts/slideLayout2.xml"/><Relationship Id="rId6" Type="http://schemas.microsoft.com/office/2007/relationships/diagramDrawing" Target="../diagrams/drawing31.xml"/><Relationship Id="rId5" Type="http://schemas.openxmlformats.org/officeDocument/2006/relationships/diagramColors" Target="../diagrams/colors31.xml"/><Relationship Id="rId4" Type="http://schemas.openxmlformats.org/officeDocument/2006/relationships/diagramQuickStyle" Target="../diagrams/quickStyle31.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32.xml"/><Relationship Id="rId2" Type="http://schemas.openxmlformats.org/officeDocument/2006/relationships/diagramData" Target="../diagrams/data32.xml"/><Relationship Id="rId1" Type="http://schemas.openxmlformats.org/officeDocument/2006/relationships/slideLayout" Target="../slideLayouts/slideLayout2.xml"/><Relationship Id="rId6" Type="http://schemas.microsoft.com/office/2007/relationships/diagramDrawing" Target="../diagrams/drawing32.xml"/><Relationship Id="rId5" Type="http://schemas.openxmlformats.org/officeDocument/2006/relationships/diagramColors" Target="../diagrams/colors32.xml"/><Relationship Id="rId4" Type="http://schemas.openxmlformats.org/officeDocument/2006/relationships/diagramQuickStyle" Target="../diagrams/quickStyle3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33.xml"/><Relationship Id="rId2" Type="http://schemas.openxmlformats.org/officeDocument/2006/relationships/diagramData" Target="../diagrams/data33.xml"/><Relationship Id="rId1" Type="http://schemas.openxmlformats.org/officeDocument/2006/relationships/slideLayout" Target="../slideLayouts/slideLayout2.xml"/><Relationship Id="rId6" Type="http://schemas.microsoft.com/office/2007/relationships/diagramDrawing" Target="../diagrams/drawing33.xml"/><Relationship Id="rId5" Type="http://schemas.openxmlformats.org/officeDocument/2006/relationships/diagramColors" Target="../diagrams/colors33.xml"/><Relationship Id="rId4" Type="http://schemas.openxmlformats.org/officeDocument/2006/relationships/diagramQuickStyle" Target="../diagrams/quickStyle33.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34.xml"/><Relationship Id="rId2" Type="http://schemas.openxmlformats.org/officeDocument/2006/relationships/diagramData" Target="../diagrams/data34.xml"/><Relationship Id="rId1" Type="http://schemas.openxmlformats.org/officeDocument/2006/relationships/slideLayout" Target="../slideLayouts/slideLayout2.xml"/><Relationship Id="rId6" Type="http://schemas.microsoft.com/office/2007/relationships/diagramDrawing" Target="../diagrams/drawing34.xml"/><Relationship Id="rId5" Type="http://schemas.openxmlformats.org/officeDocument/2006/relationships/diagramColors" Target="../diagrams/colors34.xml"/><Relationship Id="rId4" Type="http://schemas.openxmlformats.org/officeDocument/2006/relationships/diagramQuickStyle" Target="../diagrams/quickStyle34.xml"/></Relationships>
</file>

<file path=ppt/slides/_rels/slide3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diagramLayout" Target="../diagrams/layout35.xml"/><Relationship Id="rId7" Type="http://schemas.openxmlformats.org/officeDocument/2006/relationships/image" Target="../media/image8.png"/><Relationship Id="rId2" Type="http://schemas.openxmlformats.org/officeDocument/2006/relationships/diagramData" Target="../diagrams/data35.xml"/><Relationship Id="rId1" Type="http://schemas.openxmlformats.org/officeDocument/2006/relationships/slideLayout" Target="../slideLayouts/slideLayout2.xml"/><Relationship Id="rId6" Type="http://schemas.microsoft.com/office/2007/relationships/diagramDrawing" Target="../diagrams/drawing35.xml"/><Relationship Id="rId5" Type="http://schemas.openxmlformats.org/officeDocument/2006/relationships/diagramColors" Target="../diagrams/colors35.xml"/><Relationship Id="rId4" Type="http://schemas.openxmlformats.org/officeDocument/2006/relationships/diagramQuickStyle" Target="../diagrams/quickStyle35.xml"/></Relationships>
</file>

<file path=ppt/slides/_rels/slide3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diagramLayout" Target="../diagrams/layout36.xml"/><Relationship Id="rId7" Type="http://schemas.openxmlformats.org/officeDocument/2006/relationships/image" Target="../media/image10.png"/><Relationship Id="rId2" Type="http://schemas.openxmlformats.org/officeDocument/2006/relationships/diagramData" Target="../diagrams/data36.xml"/><Relationship Id="rId1" Type="http://schemas.openxmlformats.org/officeDocument/2006/relationships/slideLayout" Target="../slideLayouts/slideLayout2.xml"/><Relationship Id="rId6" Type="http://schemas.microsoft.com/office/2007/relationships/diagramDrawing" Target="../diagrams/drawing36.xml"/><Relationship Id="rId5" Type="http://schemas.openxmlformats.org/officeDocument/2006/relationships/diagramColors" Target="../diagrams/colors36.xml"/><Relationship Id="rId4" Type="http://schemas.openxmlformats.org/officeDocument/2006/relationships/diagramQuickStyle" Target="../diagrams/quickStyle36.xml"/></Relationships>
</file>

<file path=ppt/slides/_rels/slide3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diagramLayout" Target="../diagrams/layout37.xml"/><Relationship Id="rId7" Type="http://schemas.openxmlformats.org/officeDocument/2006/relationships/image" Target="../media/image12.png"/><Relationship Id="rId2" Type="http://schemas.openxmlformats.org/officeDocument/2006/relationships/diagramData" Target="../diagrams/data37.xml"/><Relationship Id="rId1" Type="http://schemas.openxmlformats.org/officeDocument/2006/relationships/slideLayout" Target="../slideLayouts/slideLayout2.xml"/><Relationship Id="rId6" Type="http://schemas.microsoft.com/office/2007/relationships/diagramDrawing" Target="../diagrams/drawing37.xml"/><Relationship Id="rId5" Type="http://schemas.openxmlformats.org/officeDocument/2006/relationships/diagramColors" Target="../diagrams/colors37.xml"/><Relationship Id="rId4" Type="http://schemas.openxmlformats.org/officeDocument/2006/relationships/diagramQuickStyle" Target="../diagrams/quickStyle37.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38.xml"/><Relationship Id="rId2" Type="http://schemas.openxmlformats.org/officeDocument/2006/relationships/diagramData" Target="../diagrams/data38.xml"/><Relationship Id="rId1" Type="http://schemas.openxmlformats.org/officeDocument/2006/relationships/slideLayout" Target="../slideLayouts/slideLayout2.xml"/><Relationship Id="rId6" Type="http://schemas.microsoft.com/office/2007/relationships/diagramDrawing" Target="../diagrams/drawing38.xml"/><Relationship Id="rId5" Type="http://schemas.openxmlformats.org/officeDocument/2006/relationships/diagramColors" Target="../diagrams/colors38.xml"/><Relationship Id="rId4" Type="http://schemas.openxmlformats.org/officeDocument/2006/relationships/diagramQuickStyle" Target="../diagrams/quickStyle38.xml"/></Relationships>
</file>

<file path=ppt/slides/_rels/slide3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diagramLayout" Target="../diagrams/layout39.xml"/><Relationship Id="rId7" Type="http://schemas.openxmlformats.org/officeDocument/2006/relationships/image" Target="../media/image14.png"/><Relationship Id="rId2" Type="http://schemas.openxmlformats.org/officeDocument/2006/relationships/diagramData" Target="../diagrams/data39.xml"/><Relationship Id="rId1" Type="http://schemas.openxmlformats.org/officeDocument/2006/relationships/slideLayout" Target="../slideLayouts/slideLayout2.xml"/><Relationship Id="rId6" Type="http://schemas.microsoft.com/office/2007/relationships/diagramDrawing" Target="../diagrams/drawing39.xml"/><Relationship Id="rId5" Type="http://schemas.openxmlformats.org/officeDocument/2006/relationships/diagramColors" Target="../diagrams/colors39.xml"/><Relationship Id="rId4" Type="http://schemas.openxmlformats.org/officeDocument/2006/relationships/diagramQuickStyle" Target="../diagrams/quickStyle39.xml"/><Relationship Id="rId9" Type="http://schemas.openxmlformats.org/officeDocument/2006/relationships/image" Target="../media/image16.png"/></Relationships>
</file>

<file path=ppt/slides/_rels/slide40.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diagramLayout" Target="../diagrams/layout40.xml"/><Relationship Id="rId7" Type="http://schemas.openxmlformats.org/officeDocument/2006/relationships/image" Target="../media/image14.png"/><Relationship Id="rId2" Type="http://schemas.openxmlformats.org/officeDocument/2006/relationships/diagramData" Target="../diagrams/data40.xml"/><Relationship Id="rId1" Type="http://schemas.openxmlformats.org/officeDocument/2006/relationships/slideLayout" Target="../slideLayouts/slideLayout2.xml"/><Relationship Id="rId6" Type="http://schemas.microsoft.com/office/2007/relationships/diagramDrawing" Target="../diagrams/drawing40.xml"/><Relationship Id="rId5" Type="http://schemas.openxmlformats.org/officeDocument/2006/relationships/diagramColors" Target="../diagrams/colors40.xml"/><Relationship Id="rId10" Type="http://schemas.openxmlformats.org/officeDocument/2006/relationships/hyperlink" Target="https://learn.microsoft.com/en-us/dotnet/communitytoolkit/high-performance/introduction" TargetMode="External"/><Relationship Id="rId4" Type="http://schemas.openxmlformats.org/officeDocument/2006/relationships/diagramQuickStyle" Target="../diagrams/quickStyle40.xml"/><Relationship Id="rId9" Type="http://schemas.openxmlformats.org/officeDocument/2006/relationships/hyperlink" Target="https://learn.microsoft.com/en-us/dotnet/standard/memory-and-spans/memory-t-usage-guidelines" TargetMode="Externa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41.xml"/><Relationship Id="rId2" Type="http://schemas.openxmlformats.org/officeDocument/2006/relationships/diagramData" Target="../diagrams/data41.xml"/><Relationship Id="rId1" Type="http://schemas.openxmlformats.org/officeDocument/2006/relationships/slideLayout" Target="../slideLayouts/slideLayout2.xml"/><Relationship Id="rId6" Type="http://schemas.microsoft.com/office/2007/relationships/diagramDrawing" Target="../diagrams/drawing41.xml"/><Relationship Id="rId5" Type="http://schemas.openxmlformats.org/officeDocument/2006/relationships/diagramColors" Target="../diagrams/colors41.xml"/><Relationship Id="rId4" Type="http://schemas.openxmlformats.org/officeDocument/2006/relationships/diagramQuickStyle" Target="../diagrams/quickStyle41.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42.xml"/><Relationship Id="rId7" Type="http://schemas.openxmlformats.org/officeDocument/2006/relationships/image" Target="../media/image18.png"/><Relationship Id="rId2" Type="http://schemas.openxmlformats.org/officeDocument/2006/relationships/diagramData" Target="../diagrams/data42.xml"/><Relationship Id="rId1" Type="http://schemas.openxmlformats.org/officeDocument/2006/relationships/slideLayout" Target="../slideLayouts/slideLayout2.xml"/><Relationship Id="rId6" Type="http://schemas.microsoft.com/office/2007/relationships/diagramDrawing" Target="../diagrams/drawing42.xml"/><Relationship Id="rId5" Type="http://schemas.openxmlformats.org/officeDocument/2006/relationships/diagramColors" Target="../diagrams/colors42.xml"/><Relationship Id="rId4" Type="http://schemas.openxmlformats.org/officeDocument/2006/relationships/diagramQuickStyle" Target="../diagrams/quickStyle42.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43.xml"/><Relationship Id="rId2" Type="http://schemas.openxmlformats.org/officeDocument/2006/relationships/diagramData" Target="../diagrams/data43.xml"/><Relationship Id="rId1" Type="http://schemas.openxmlformats.org/officeDocument/2006/relationships/slideLayout" Target="../slideLayouts/slideLayout2.xml"/><Relationship Id="rId6" Type="http://schemas.microsoft.com/office/2007/relationships/diagramDrawing" Target="../diagrams/drawing43.xml"/><Relationship Id="rId5" Type="http://schemas.openxmlformats.org/officeDocument/2006/relationships/diagramColors" Target="../diagrams/colors43.xml"/><Relationship Id="rId4" Type="http://schemas.openxmlformats.org/officeDocument/2006/relationships/diagramQuickStyle" Target="../diagrams/quickStyle43.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44.xml"/><Relationship Id="rId2" Type="http://schemas.openxmlformats.org/officeDocument/2006/relationships/diagramData" Target="../diagrams/data44.xml"/><Relationship Id="rId1" Type="http://schemas.openxmlformats.org/officeDocument/2006/relationships/slideLayout" Target="../slideLayouts/slideLayout2.xml"/><Relationship Id="rId6" Type="http://schemas.microsoft.com/office/2007/relationships/diagramDrawing" Target="../diagrams/drawing44.xml"/><Relationship Id="rId5" Type="http://schemas.openxmlformats.org/officeDocument/2006/relationships/diagramColors" Target="../diagrams/colors44.xml"/><Relationship Id="rId4" Type="http://schemas.openxmlformats.org/officeDocument/2006/relationships/diagramQuickStyle" Target="../diagrams/quickStyle44.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45.xml"/><Relationship Id="rId7" Type="http://schemas.openxmlformats.org/officeDocument/2006/relationships/image" Target="../media/image19.png"/><Relationship Id="rId2" Type="http://schemas.openxmlformats.org/officeDocument/2006/relationships/diagramData" Target="../diagrams/data45.xml"/><Relationship Id="rId1" Type="http://schemas.openxmlformats.org/officeDocument/2006/relationships/slideLayout" Target="../slideLayouts/slideLayout2.xml"/><Relationship Id="rId6" Type="http://schemas.microsoft.com/office/2007/relationships/diagramDrawing" Target="../diagrams/drawing45.xml"/><Relationship Id="rId5" Type="http://schemas.openxmlformats.org/officeDocument/2006/relationships/diagramColors" Target="../diagrams/colors45.xml"/><Relationship Id="rId4" Type="http://schemas.openxmlformats.org/officeDocument/2006/relationships/diagramQuickStyle" Target="../diagrams/quickStyle45.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46.xml"/><Relationship Id="rId2" Type="http://schemas.openxmlformats.org/officeDocument/2006/relationships/diagramData" Target="../diagrams/data46.xml"/><Relationship Id="rId1" Type="http://schemas.openxmlformats.org/officeDocument/2006/relationships/slideLayout" Target="../slideLayouts/slideLayout2.xml"/><Relationship Id="rId6" Type="http://schemas.microsoft.com/office/2007/relationships/diagramDrawing" Target="../diagrams/drawing46.xml"/><Relationship Id="rId5" Type="http://schemas.openxmlformats.org/officeDocument/2006/relationships/diagramColors" Target="../diagrams/colors46.xml"/><Relationship Id="rId4" Type="http://schemas.openxmlformats.org/officeDocument/2006/relationships/diagramQuickStyle" Target="../diagrams/quickStyle46.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47.xml"/><Relationship Id="rId2" Type="http://schemas.openxmlformats.org/officeDocument/2006/relationships/diagramData" Target="../diagrams/data47.xml"/><Relationship Id="rId1" Type="http://schemas.openxmlformats.org/officeDocument/2006/relationships/slideLayout" Target="../slideLayouts/slideLayout2.xml"/><Relationship Id="rId6" Type="http://schemas.microsoft.com/office/2007/relationships/diagramDrawing" Target="../diagrams/drawing47.xml"/><Relationship Id="rId5" Type="http://schemas.openxmlformats.org/officeDocument/2006/relationships/diagramColors" Target="../diagrams/colors47.xml"/><Relationship Id="rId4" Type="http://schemas.openxmlformats.org/officeDocument/2006/relationships/diagramQuickStyle" Target="../diagrams/quickStyle47.xml"/></Relationships>
</file>

<file path=ppt/slides/_rels/slide48.xml.rels><?xml version="1.0" encoding="UTF-8" standalone="yes"?>
<Relationships xmlns="http://schemas.openxmlformats.org/package/2006/relationships"><Relationship Id="rId3" Type="http://schemas.openxmlformats.org/officeDocument/2006/relationships/diagramLayout" Target="../diagrams/layout48.xml"/><Relationship Id="rId2" Type="http://schemas.openxmlformats.org/officeDocument/2006/relationships/diagramData" Target="../diagrams/data48.xml"/><Relationship Id="rId1" Type="http://schemas.openxmlformats.org/officeDocument/2006/relationships/slideLayout" Target="../slideLayouts/slideLayout2.xml"/><Relationship Id="rId6" Type="http://schemas.microsoft.com/office/2007/relationships/diagramDrawing" Target="../diagrams/drawing48.xml"/><Relationship Id="rId5" Type="http://schemas.openxmlformats.org/officeDocument/2006/relationships/diagramColors" Target="../diagrams/colors48.xml"/><Relationship Id="rId4" Type="http://schemas.openxmlformats.org/officeDocument/2006/relationships/diagramQuickStyle" Target="../diagrams/quickStyle48.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49.xml"/><Relationship Id="rId2" Type="http://schemas.openxmlformats.org/officeDocument/2006/relationships/diagramData" Target="../diagrams/data49.xml"/><Relationship Id="rId1" Type="http://schemas.openxmlformats.org/officeDocument/2006/relationships/slideLayout" Target="../slideLayouts/slideLayout2.xml"/><Relationship Id="rId6" Type="http://schemas.microsoft.com/office/2007/relationships/diagramDrawing" Target="../diagrams/drawing49.xml"/><Relationship Id="rId5" Type="http://schemas.openxmlformats.org/officeDocument/2006/relationships/diagramColors" Target="../diagrams/colors49.xml"/><Relationship Id="rId4" Type="http://schemas.openxmlformats.org/officeDocument/2006/relationships/diagramQuickStyle" Target="../diagrams/quickStyle49.xml"/></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50.xml"/><Relationship Id="rId2" Type="http://schemas.openxmlformats.org/officeDocument/2006/relationships/diagramData" Target="../diagrams/data50.xml"/><Relationship Id="rId1" Type="http://schemas.openxmlformats.org/officeDocument/2006/relationships/slideLayout" Target="../slideLayouts/slideLayout2.xml"/><Relationship Id="rId6" Type="http://schemas.microsoft.com/office/2007/relationships/diagramDrawing" Target="../diagrams/drawing50.xml"/><Relationship Id="rId5" Type="http://schemas.openxmlformats.org/officeDocument/2006/relationships/diagramColors" Target="../diagrams/colors50.xml"/><Relationship Id="rId4" Type="http://schemas.openxmlformats.org/officeDocument/2006/relationships/diagramQuickStyle" Target="../diagrams/quickStyle50.xml"/></Relationships>
</file>

<file path=ppt/slides/_rels/slide51.xml.rels><?xml version="1.0" encoding="UTF-8" standalone="yes"?>
<Relationships xmlns="http://schemas.openxmlformats.org/package/2006/relationships"><Relationship Id="rId3" Type="http://schemas.openxmlformats.org/officeDocument/2006/relationships/diagramLayout" Target="../diagrams/layout51.xml"/><Relationship Id="rId2" Type="http://schemas.openxmlformats.org/officeDocument/2006/relationships/diagramData" Target="../diagrams/data51.xml"/><Relationship Id="rId1" Type="http://schemas.openxmlformats.org/officeDocument/2006/relationships/slideLayout" Target="../slideLayouts/slideLayout2.xml"/><Relationship Id="rId6" Type="http://schemas.microsoft.com/office/2007/relationships/diagramDrawing" Target="../diagrams/drawing51.xml"/><Relationship Id="rId5" Type="http://schemas.openxmlformats.org/officeDocument/2006/relationships/diagramColors" Target="../diagrams/colors51.xml"/><Relationship Id="rId4" Type="http://schemas.openxmlformats.org/officeDocument/2006/relationships/diagramQuickStyle" Target="../diagrams/quickStyle51.xml"/></Relationships>
</file>

<file path=ppt/slides/_rels/slide52.xml.rels><?xml version="1.0" encoding="UTF-8" standalone="yes"?>
<Relationships xmlns="http://schemas.openxmlformats.org/package/2006/relationships"><Relationship Id="rId3" Type="http://schemas.openxmlformats.org/officeDocument/2006/relationships/diagramLayout" Target="../diagrams/layout52.xml"/><Relationship Id="rId2" Type="http://schemas.openxmlformats.org/officeDocument/2006/relationships/diagramData" Target="../diagrams/data52.xml"/><Relationship Id="rId1" Type="http://schemas.openxmlformats.org/officeDocument/2006/relationships/slideLayout" Target="../slideLayouts/slideLayout2.xml"/><Relationship Id="rId6" Type="http://schemas.microsoft.com/office/2007/relationships/diagramDrawing" Target="../diagrams/drawing52.xml"/><Relationship Id="rId5" Type="http://schemas.openxmlformats.org/officeDocument/2006/relationships/diagramColors" Target="../diagrams/colors52.xml"/><Relationship Id="rId4" Type="http://schemas.openxmlformats.org/officeDocument/2006/relationships/diagramQuickStyle" Target="../diagrams/quickStyle52.xml"/></Relationships>
</file>

<file path=ppt/slides/_rels/slide53.xml.rels><?xml version="1.0" encoding="UTF-8" standalone="yes"?>
<Relationships xmlns="http://schemas.openxmlformats.org/package/2006/relationships"><Relationship Id="rId3" Type="http://schemas.openxmlformats.org/officeDocument/2006/relationships/diagramLayout" Target="../diagrams/layout53.xml"/><Relationship Id="rId2" Type="http://schemas.openxmlformats.org/officeDocument/2006/relationships/diagramData" Target="../diagrams/data53.xml"/><Relationship Id="rId1" Type="http://schemas.openxmlformats.org/officeDocument/2006/relationships/slideLayout" Target="../slideLayouts/slideLayout2.xml"/><Relationship Id="rId6" Type="http://schemas.microsoft.com/office/2007/relationships/diagramDrawing" Target="../diagrams/drawing53.xml"/><Relationship Id="rId5" Type="http://schemas.openxmlformats.org/officeDocument/2006/relationships/diagramColors" Target="../diagrams/colors53.xml"/><Relationship Id="rId4" Type="http://schemas.openxmlformats.org/officeDocument/2006/relationships/diagramQuickStyle" Target="../diagrams/quickStyle53.xml"/></Relationships>
</file>

<file path=ppt/slides/_rels/slide54.xml.rels><?xml version="1.0" encoding="UTF-8" standalone="yes"?>
<Relationships xmlns="http://schemas.openxmlformats.org/package/2006/relationships"><Relationship Id="rId3" Type="http://schemas.openxmlformats.org/officeDocument/2006/relationships/diagramLayout" Target="../diagrams/layout54.xml"/><Relationship Id="rId2" Type="http://schemas.openxmlformats.org/officeDocument/2006/relationships/diagramData" Target="../diagrams/data54.xml"/><Relationship Id="rId1" Type="http://schemas.openxmlformats.org/officeDocument/2006/relationships/slideLayout" Target="../slideLayouts/slideLayout2.xml"/><Relationship Id="rId6" Type="http://schemas.microsoft.com/office/2007/relationships/diagramDrawing" Target="../diagrams/drawing54.xml"/><Relationship Id="rId5" Type="http://schemas.openxmlformats.org/officeDocument/2006/relationships/diagramColors" Target="../diagrams/colors54.xml"/><Relationship Id="rId4" Type="http://schemas.openxmlformats.org/officeDocument/2006/relationships/diagramQuickStyle" Target="../diagrams/quickStyle54.xml"/></Relationships>
</file>

<file path=ppt/slides/_rels/slide55.xml.rels><?xml version="1.0" encoding="UTF-8" standalone="yes"?>
<Relationships xmlns="http://schemas.openxmlformats.org/package/2006/relationships"><Relationship Id="rId3" Type="http://schemas.openxmlformats.org/officeDocument/2006/relationships/diagramLayout" Target="../diagrams/layout55.xml"/><Relationship Id="rId2" Type="http://schemas.openxmlformats.org/officeDocument/2006/relationships/diagramData" Target="../diagrams/data55.xml"/><Relationship Id="rId1" Type="http://schemas.openxmlformats.org/officeDocument/2006/relationships/slideLayout" Target="../slideLayouts/slideLayout2.xml"/><Relationship Id="rId6" Type="http://schemas.microsoft.com/office/2007/relationships/diagramDrawing" Target="../diagrams/drawing55.xml"/><Relationship Id="rId5" Type="http://schemas.openxmlformats.org/officeDocument/2006/relationships/diagramColors" Target="../diagrams/colors55.xml"/><Relationship Id="rId4" Type="http://schemas.openxmlformats.org/officeDocument/2006/relationships/diagramQuickStyle" Target="../diagrams/quickStyle55.xml"/></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56.xml"/><Relationship Id="rId2" Type="http://schemas.openxmlformats.org/officeDocument/2006/relationships/diagramData" Target="../diagrams/data56.xml"/><Relationship Id="rId1" Type="http://schemas.openxmlformats.org/officeDocument/2006/relationships/slideLayout" Target="../slideLayouts/slideLayout2.xml"/><Relationship Id="rId6" Type="http://schemas.microsoft.com/office/2007/relationships/diagramDrawing" Target="../diagrams/drawing56.xml"/><Relationship Id="rId5" Type="http://schemas.openxmlformats.org/officeDocument/2006/relationships/diagramColors" Target="../diagrams/colors56.xml"/><Relationship Id="rId4" Type="http://schemas.openxmlformats.org/officeDocument/2006/relationships/diagramQuickStyle" Target="../diagrams/quickStyle56.xml"/></Relationships>
</file>

<file path=ppt/slides/_rels/slide57.xml.rels><?xml version="1.0" encoding="UTF-8" standalone="yes"?>
<Relationships xmlns="http://schemas.openxmlformats.org/package/2006/relationships"><Relationship Id="rId3" Type="http://schemas.openxmlformats.org/officeDocument/2006/relationships/diagramLayout" Target="../diagrams/layout57.xml"/><Relationship Id="rId2" Type="http://schemas.openxmlformats.org/officeDocument/2006/relationships/diagramData" Target="../diagrams/data57.xml"/><Relationship Id="rId1" Type="http://schemas.openxmlformats.org/officeDocument/2006/relationships/slideLayout" Target="../slideLayouts/slideLayout2.xml"/><Relationship Id="rId6" Type="http://schemas.microsoft.com/office/2007/relationships/diagramDrawing" Target="../diagrams/drawing57.xml"/><Relationship Id="rId5" Type="http://schemas.openxmlformats.org/officeDocument/2006/relationships/diagramColors" Target="../diagrams/colors57.xml"/><Relationship Id="rId4" Type="http://schemas.openxmlformats.org/officeDocument/2006/relationships/diagramQuickStyle" Target="../diagrams/quickStyle57.xml"/></Relationships>
</file>

<file path=ppt/slides/_rels/slide58.xml.rels><?xml version="1.0" encoding="UTF-8" standalone="yes"?>
<Relationships xmlns="http://schemas.openxmlformats.org/package/2006/relationships"><Relationship Id="rId3" Type="http://schemas.openxmlformats.org/officeDocument/2006/relationships/diagramLayout" Target="../diagrams/layout58.xml"/><Relationship Id="rId2" Type="http://schemas.openxmlformats.org/officeDocument/2006/relationships/diagramData" Target="../diagrams/data58.xml"/><Relationship Id="rId1" Type="http://schemas.openxmlformats.org/officeDocument/2006/relationships/slideLayout" Target="../slideLayouts/slideLayout2.xml"/><Relationship Id="rId6" Type="http://schemas.microsoft.com/office/2007/relationships/diagramDrawing" Target="../diagrams/drawing58.xml"/><Relationship Id="rId5" Type="http://schemas.openxmlformats.org/officeDocument/2006/relationships/diagramColors" Target="../diagrams/colors58.xml"/><Relationship Id="rId4" Type="http://schemas.openxmlformats.org/officeDocument/2006/relationships/diagramQuickStyle" Target="../diagrams/quickStyle58.xml"/></Relationships>
</file>

<file path=ppt/slides/_rels/slide59.xml.rels><?xml version="1.0" encoding="UTF-8" standalone="yes"?>
<Relationships xmlns="http://schemas.openxmlformats.org/package/2006/relationships"><Relationship Id="rId3" Type="http://schemas.openxmlformats.org/officeDocument/2006/relationships/diagramLayout" Target="../diagrams/layout59.xml"/><Relationship Id="rId2" Type="http://schemas.openxmlformats.org/officeDocument/2006/relationships/diagramData" Target="../diagrams/data59.xml"/><Relationship Id="rId1" Type="http://schemas.openxmlformats.org/officeDocument/2006/relationships/slideLayout" Target="../slideLayouts/slideLayout2.xml"/><Relationship Id="rId6" Type="http://schemas.microsoft.com/office/2007/relationships/diagramDrawing" Target="../diagrams/drawing59.xml"/><Relationship Id="rId5" Type="http://schemas.openxmlformats.org/officeDocument/2006/relationships/diagramColors" Target="../diagrams/colors59.xml"/><Relationship Id="rId4" Type="http://schemas.openxmlformats.org/officeDocument/2006/relationships/diagramQuickStyle" Target="../diagrams/quickStyle59.xml"/></Relationships>
</file>

<file path=ppt/slides/_rels/slide60.xml.rels><?xml version="1.0" encoding="UTF-8" standalone="yes"?>
<Relationships xmlns="http://schemas.openxmlformats.org/package/2006/relationships"><Relationship Id="rId3" Type="http://schemas.openxmlformats.org/officeDocument/2006/relationships/diagramLayout" Target="../diagrams/layout60.xml"/><Relationship Id="rId2" Type="http://schemas.openxmlformats.org/officeDocument/2006/relationships/diagramData" Target="../diagrams/data60.xml"/><Relationship Id="rId1" Type="http://schemas.openxmlformats.org/officeDocument/2006/relationships/slideLayout" Target="../slideLayouts/slideLayout2.xml"/><Relationship Id="rId6" Type="http://schemas.microsoft.com/office/2007/relationships/diagramDrawing" Target="../diagrams/drawing60.xml"/><Relationship Id="rId5" Type="http://schemas.openxmlformats.org/officeDocument/2006/relationships/diagramColors" Target="../diagrams/colors60.xml"/><Relationship Id="rId4" Type="http://schemas.openxmlformats.org/officeDocument/2006/relationships/diagramQuickStyle" Target="../diagrams/quickStyle60.xml"/></Relationships>
</file>

<file path=ppt/slides/_rels/slide61.xml.rels><?xml version="1.0" encoding="UTF-8" standalone="yes"?>
<Relationships xmlns="http://schemas.openxmlformats.org/package/2006/relationships"><Relationship Id="rId3" Type="http://schemas.openxmlformats.org/officeDocument/2006/relationships/diagramLayout" Target="../diagrams/layout61.xml"/><Relationship Id="rId7" Type="http://schemas.openxmlformats.org/officeDocument/2006/relationships/image" Target="../media/image20.png"/><Relationship Id="rId2" Type="http://schemas.openxmlformats.org/officeDocument/2006/relationships/diagramData" Target="../diagrams/data61.xml"/><Relationship Id="rId1" Type="http://schemas.openxmlformats.org/officeDocument/2006/relationships/slideLayout" Target="../slideLayouts/slideLayout2.xml"/><Relationship Id="rId6" Type="http://schemas.microsoft.com/office/2007/relationships/diagramDrawing" Target="../diagrams/drawing61.xml"/><Relationship Id="rId5" Type="http://schemas.openxmlformats.org/officeDocument/2006/relationships/diagramColors" Target="../diagrams/colors61.xml"/><Relationship Id="rId4" Type="http://schemas.openxmlformats.org/officeDocument/2006/relationships/diagramQuickStyle" Target="../diagrams/quickStyle61.xml"/></Relationships>
</file>

<file path=ppt/slides/_rels/slide62.xml.rels><?xml version="1.0" encoding="UTF-8" standalone="yes"?>
<Relationships xmlns="http://schemas.openxmlformats.org/package/2006/relationships"><Relationship Id="rId3" Type="http://schemas.openxmlformats.org/officeDocument/2006/relationships/diagramLayout" Target="../diagrams/layout62.xml"/><Relationship Id="rId7" Type="http://schemas.openxmlformats.org/officeDocument/2006/relationships/image" Target="../media/image21.png"/><Relationship Id="rId2" Type="http://schemas.openxmlformats.org/officeDocument/2006/relationships/diagramData" Target="../diagrams/data62.xml"/><Relationship Id="rId1" Type="http://schemas.openxmlformats.org/officeDocument/2006/relationships/slideLayout" Target="../slideLayouts/slideLayout2.xml"/><Relationship Id="rId6" Type="http://schemas.microsoft.com/office/2007/relationships/diagramDrawing" Target="../diagrams/drawing62.xml"/><Relationship Id="rId5" Type="http://schemas.openxmlformats.org/officeDocument/2006/relationships/diagramColors" Target="../diagrams/colors62.xml"/><Relationship Id="rId4" Type="http://schemas.openxmlformats.org/officeDocument/2006/relationships/diagramQuickStyle" Target="../diagrams/quickStyle62.xml"/></Relationships>
</file>

<file path=ppt/slides/_rels/slide63.xml.rels><?xml version="1.0" encoding="UTF-8" standalone="yes"?>
<Relationships xmlns="http://schemas.openxmlformats.org/package/2006/relationships"><Relationship Id="rId3" Type="http://schemas.openxmlformats.org/officeDocument/2006/relationships/diagramLayout" Target="../diagrams/layout63.xml"/><Relationship Id="rId7" Type="http://schemas.openxmlformats.org/officeDocument/2006/relationships/image" Target="../media/image22.png"/><Relationship Id="rId2" Type="http://schemas.openxmlformats.org/officeDocument/2006/relationships/diagramData" Target="../diagrams/data63.xml"/><Relationship Id="rId1" Type="http://schemas.openxmlformats.org/officeDocument/2006/relationships/slideLayout" Target="../slideLayouts/slideLayout2.xml"/><Relationship Id="rId6" Type="http://schemas.microsoft.com/office/2007/relationships/diagramDrawing" Target="../diagrams/drawing63.xml"/><Relationship Id="rId5" Type="http://schemas.openxmlformats.org/officeDocument/2006/relationships/diagramColors" Target="../diagrams/colors63.xml"/><Relationship Id="rId4" Type="http://schemas.openxmlformats.org/officeDocument/2006/relationships/diagramQuickStyle" Target="../diagrams/quickStyle63.xml"/></Relationships>
</file>

<file path=ppt/slides/_rels/slide64.xml.rels><?xml version="1.0" encoding="UTF-8" standalone="yes"?>
<Relationships xmlns="http://schemas.openxmlformats.org/package/2006/relationships"><Relationship Id="rId3" Type="http://schemas.openxmlformats.org/officeDocument/2006/relationships/diagramLayout" Target="../diagrams/layout64.xml"/><Relationship Id="rId2" Type="http://schemas.openxmlformats.org/officeDocument/2006/relationships/diagramData" Target="../diagrams/data64.xml"/><Relationship Id="rId1" Type="http://schemas.openxmlformats.org/officeDocument/2006/relationships/slideLayout" Target="../slideLayouts/slideLayout2.xml"/><Relationship Id="rId6" Type="http://schemas.microsoft.com/office/2007/relationships/diagramDrawing" Target="../diagrams/drawing64.xml"/><Relationship Id="rId5" Type="http://schemas.openxmlformats.org/officeDocument/2006/relationships/diagramColors" Target="../diagrams/colors64.xml"/><Relationship Id="rId4" Type="http://schemas.openxmlformats.org/officeDocument/2006/relationships/diagramQuickStyle" Target="../diagrams/quickStyle64.xml"/></Relationships>
</file>

<file path=ppt/slides/_rels/slide65.xml.rels><?xml version="1.0" encoding="UTF-8" standalone="yes"?>
<Relationships xmlns="http://schemas.openxmlformats.org/package/2006/relationships"><Relationship Id="rId3" Type="http://schemas.openxmlformats.org/officeDocument/2006/relationships/diagramLayout" Target="../diagrams/layout65.xml"/><Relationship Id="rId2" Type="http://schemas.openxmlformats.org/officeDocument/2006/relationships/diagramData" Target="../diagrams/data65.xml"/><Relationship Id="rId1" Type="http://schemas.openxmlformats.org/officeDocument/2006/relationships/slideLayout" Target="../slideLayouts/slideLayout2.xml"/><Relationship Id="rId6" Type="http://schemas.microsoft.com/office/2007/relationships/diagramDrawing" Target="../diagrams/drawing65.xml"/><Relationship Id="rId5" Type="http://schemas.openxmlformats.org/officeDocument/2006/relationships/diagramColors" Target="../diagrams/colors65.xml"/><Relationship Id="rId4" Type="http://schemas.openxmlformats.org/officeDocument/2006/relationships/diagramQuickStyle" Target="../diagrams/quickStyle65.xml"/></Relationships>
</file>

<file path=ppt/slides/_rels/slide66.xml.rels><?xml version="1.0" encoding="UTF-8" standalone="yes"?>
<Relationships xmlns="http://schemas.openxmlformats.org/package/2006/relationships"><Relationship Id="rId3" Type="http://schemas.openxmlformats.org/officeDocument/2006/relationships/diagramLayout" Target="../diagrams/layout66.xml"/><Relationship Id="rId2" Type="http://schemas.openxmlformats.org/officeDocument/2006/relationships/diagramData" Target="../diagrams/data66.xml"/><Relationship Id="rId1" Type="http://schemas.openxmlformats.org/officeDocument/2006/relationships/slideLayout" Target="../slideLayouts/slideLayout2.xml"/><Relationship Id="rId6" Type="http://schemas.microsoft.com/office/2007/relationships/diagramDrawing" Target="../diagrams/drawing66.xml"/><Relationship Id="rId5" Type="http://schemas.openxmlformats.org/officeDocument/2006/relationships/diagramColors" Target="../diagrams/colors66.xml"/><Relationship Id="rId4" Type="http://schemas.openxmlformats.org/officeDocument/2006/relationships/diagramQuickStyle" Target="../diagrams/quickStyle66.xml"/></Relationships>
</file>

<file path=ppt/slides/_rels/slide67.xml.rels><?xml version="1.0" encoding="UTF-8" standalone="yes"?>
<Relationships xmlns="http://schemas.openxmlformats.org/package/2006/relationships"><Relationship Id="rId3" Type="http://schemas.openxmlformats.org/officeDocument/2006/relationships/diagramLayout" Target="../diagrams/layout67.xml"/><Relationship Id="rId2" Type="http://schemas.openxmlformats.org/officeDocument/2006/relationships/diagramData" Target="../diagrams/data67.xml"/><Relationship Id="rId1" Type="http://schemas.openxmlformats.org/officeDocument/2006/relationships/slideLayout" Target="../slideLayouts/slideLayout2.xml"/><Relationship Id="rId6" Type="http://schemas.microsoft.com/office/2007/relationships/diagramDrawing" Target="../diagrams/drawing67.xml"/><Relationship Id="rId5" Type="http://schemas.openxmlformats.org/officeDocument/2006/relationships/diagramColors" Target="../diagrams/colors67.xml"/><Relationship Id="rId4" Type="http://schemas.openxmlformats.org/officeDocument/2006/relationships/diagramQuickStyle" Target="../diagrams/quickStyle67.xml"/></Relationships>
</file>

<file path=ppt/slides/_rels/slide68.xml.rels><?xml version="1.0" encoding="UTF-8" standalone="yes"?>
<Relationships xmlns="http://schemas.openxmlformats.org/package/2006/relationships"><Relationship Id="rId3" Type="http://schemas.openxmlformats.org/officeDocument/2006/relationships/diagramLayout" Target="../diagrams/layout68.xml"/><Relationship Id="rId2" Type="http://schemas.openxmlformats.org/officeDocument/2006/relationships/diagramData" Target="../diagrams/data68.xml"/><Relationship Id="rId1" Type="http://schemas.openxmlformats.org/officeDocument/2006/relationships/slideLayout" Target="../slideLayouts/slideLayout2.xml"/><Relationship Id="rId6" Type="http://schemas.microsoft.com/office/2007/relationships/diagramDrawing" Target="../diagrams/drawing68.xml"/><Relationship Id="rId5" Type="http://schemas.openxmlformats.org/officeDocument/2006/relationships/diagramColors" Target="../diagrams/colors68.xml"/><Relationship Id="rId4" Type="http://schemas.openxmlformats.org/officeDocument/2006/relationships/diagramQuickStyle" Target="../diagrams/quickStyle68.xml"/></Relationships>
</file>

<file path=ppt/slides/_rels/slide69.xml.rels><?xml version="1.0" encoding="UTF-8" standalone="yes"?>
<Relationships xmlns="http://schemas.openxmlformats.org/package/2006/relationships"><Relationship Id="rId3" Type="http://schemas.openxmlformats.org/officeDocument/2006/relationships/diagramLayout" Target="../diagrams/layout69.xml"/><Relationship Id="rId2" Type="http://schemas.openxmlformats.org/officeDocument/2006/relationships/diagramData" Target="../diagrams/data69.xml"/><Relationship Id="rId1" Type="http://schemas.openxmlformats.org/officeDocument/2006/relationships/slideLayout" Target="../slideLayouts/slideLayout2.xml"/><Relationship Id="rId6" Type="http://schemas.microsoft.com/office/2007/relationships/diagramDrawing" Target="../diagrams/drawing69.xml"/><Relationship Id="rId5" Type="http://schemas.openxmlformats.org/officeDocument/2006/relationships/diagramColors" Target="../diagrams/colors69.xml"/><Relationship Id="rId4" Type="http://schemas.openxmlformats.org/officeDocument/2006/relationships/diagramQuickStyle" Target="../diagrams/quickStyle69.xml"/></Relationships>
</file>

<file path=ppt/slides/_rels/slide70.xml.rels><?xml version="1.0" encoding="UTF-8" standalone="yes"?>
<Relationships xmlns="http://schemas.openxmlformats.org/package/2006/relationships"><Relationship Id="rId3" Type="http://schemas.openxmlformats.org/officeDocument/2006/relationships/diagramLayout" Target="../diagrams/layout70.xml"/><Relationship Id="rId2" Type="http://schemas.openxmlformats.org/officeDocument/2006/relationships/diagramData" Target="../diagrams/data70.xml"/><Relationship Id="rId1" Type="http://schemas.openxmlformats.org/officeDocument/2006/relationships/slideLayout" Target="../slideLayouts/slideLayout2.xml"/><Relationship Id="rId6" Type="http://schemas.microsoft.com/office/2007/relationships/diagramDrawing" Target="../diagrams/drawing70.xml"/><Relationship Id="rId5" Type="http://schemas.openxmlformats.org/officeDocument/2006/relationships/diagramColors" Target="../diagrams/colors70.xml"/><Relationship Id="rId4" Type="http://schemas.openxmlformats.org/officeDocument/2006/relationships/diagramQuickStyle" Target="../diagrams/quickStyle70.xml"/></Relationships>
</file>

<file path=ppt/slides/_rels/slide71.xml.rels><?xml version="1.0" encoding="UTF-8" standalone="yes"?>
<Relationships xmlns="http://schemas.openxmlformats.org/package/2006/relationships"><Relationship Id="rId3" Type="http://schemas.openxmlformats.org/officeDocument/2006/relationships/diagramLayout" Target="../diagrams/layout71.xml"/><Relationship Id="rId2" Type="http://schemas.openxmlformats.org/officeDocument/2006/relationships/diagramData" Target="../diagrams/data71.xml"/><Relationship Id="rId1" Type="http://schemas.openxmlformats.org/officeDocument/2006/relationships/slideLayout" Target="../slideLayouts/slideLayout2.xml"/><Relationship Id="rId6" Type="http://schemas.microsoft.com/office/2007/relationships/diagramDrawing" Target="../diagrams/drawing71.xml"/><Relationship Id="rId5" Type="http://schemas.openxmlformats.org/officeDocument/2006/relationships/diagramColors" Target="../diagrams/colors71.xml"/><Relationship Id="rId4" Type="http://schemas.openxmlformats.org/officeDocument/2006/relationships/diagramQuickStyle" Target="../diagrams/quickStyle71.xml"/></Relationships>
</file>

<file path=ppt/slides/_rels/slide72.xml.rels><?xml version="1.0" encoding="UTF-8" standalone="yes"?>
<Relationships xmlns="http://schemas.openxmlformats.org/package/2006/relationships"><Relationship Id="rId3" Type="http://schemas.openxmlformats.org/officeDocument/2006/relationships/diagramLayout" Target="../diagrams/layout72.xml"/><Relationship Id="rId2" Type="http://schemas.openxmlformats.org/officeDocument/2006/relationships/diagramData" Target="../diagrams/data72.xml"/><Relationship Id="rId1" Type="http://schemas.openxmlformats.org/officeDocument/2006/relationships/slideLayout" Target="../slideLayouts/slideLayout2.xml"/><Relationship Id="rId6" Type="http://schemas.microsoft.com/office/2007/relationships/diagramDrawing" Target="../diagrams/drawing72.xml"/><Relationship Id="rId5" Type="http://schemas.openxmlformats.org/officeDocument/2006/relationships/diagramColors" Target="../diagrams/colors72.xml"/><Relationship Id="rId4" Type="http://schemas.openxmlformats.org/officeDocument/2006/relationships/diagramQuickStyle" Target="../diagrams/quickStyle72.xml"/></Relationships>
</file>

<file path=ppt/slides/_rels/slide73.xml.rels><?xml version="1.0" encoding="UTF-8" standalone="yes"?>
<Relationships xmlns="http://schemas.openxmlformats.org/package/2006/relationships"><Relationship Id="rId3" Type="http://schemas.openxmlformats.org/officeDocument/2006/relationships/diagramLayout" Target="../diagrams/layout73.xml"/><Relationship Id="rId2" Type="http://schemas.openxmlformats.org/officeDocument/2006/relationships/diagramData" Target="../diagrams/data73.xml"/><Relationship Id="rId1" Type="http://schemas.openxmlformats.org/officeDocument/2006/relationships/slideLayout" Target="../slideLayouts/slideLayout2.xml"/><Relationship Id="rId6" Type="http://schemas.microsoft.com/office/2007/relationships/diagramDrawing" Target="../diagrams/drawing73.xml"/><Relationship Id="rId5" Type="http://schemas.openxmlformats.org/officeDocument/2006/relationships/diagramColors" Target="../diagrams/colors73.xml"/><Relationship Id="rId4" Type="http://schemas.openxmlformats.org/officeDocument/2006/relationships/diagramQuickStyle" Target="../diagrams/quickStyle73.xml"/></Relationships>
</file>

<file path=ppt/slides/_rels/slide74.xml.rels><?xml version="1.0" encoding="UTF-8" standalone="yes"?>
<Relationships xmlns="http://schemas.openxmlformats.org/package/2006/relationships"><Relationship Id="rId3" Type="http://schemas.openxmlformats.org/officeDocument/2006/relationships/diagramLayout" Target="../diagrams/layout74.xml"/><Relationship Id="rId7" Type="http://schemas.openxmlformats.org/officeDocument/2006/relationships/image" Target="../media/image23.png"/><Relationship Id="rId2" Type="http://schemas.openxmlformats.org/officeDocument/2006/relationships/diagramData" Target="../diagrams/data74.xml"/><Relationship Id="rId1" Type="http://schemas.openxmlformats.org/officeDocument/2006/relationships/slideLayout" Target="../slideLayouts/slideLayout2.xml"/><Relationship Id="rId6" Type="http://schemas.microsoft.com/office/2007/relationships/diagramDrawing" Target="../diagrams/drawing74.xml"/><Relationship Id="rId5" Type="http://schemas.openxmlformats.org/officeDocument/2006/relationships/diagramColors" Target="../diagrams/colors74.xml"/><Relationship Id="rId4" Type="http://schemas.openxmlformats.org/officeDocument/2006/relationships/diagramQuickStyle" Target="../diagrams/quickStyle74.xml"/></Relationships>
</file>

<file path=ppt/slides/_rels/slide75.xml.rels><?xml version="1.0" encoding="UTF-8" standalone="yes"?>
<Relationships xmlns="http://schemas.openxmlformats.org/package/2006/relationships"><Relationship Id="rId3" Type="http://schemas.openxmlformats.org/officeDocument/2006/relationships/diagramLayout" Target="../diagrams/layout75.xml"/><Relationship Id="rId7" Type="http://schemas.openxmlformats.org/officeDocument/2006/relationships/image" Target="../media/image24.png"/><Relationship Id="rId2" Type="http://schemas.openxmlformats.org/officeDocument/2006/relationships/diagramData" Target="../diagrams/data75.xml"/><Relationship Id="rId1" Type="http://schemas.openxmlformats.org/officeDocument/2006/relationships/slideLayout" Target="../slideLayouts/slideLayout2.xml"/><Relationship Id="rId6" Type="http://schemas.microsoft.com/office/2007/relationships/diagramDrawing" Target="../diagrams/drawing75.xml"/><Relationship Id="rId5" Type="http://schemas.openxmlformats.org/officeDocument/2006/relationships/diagramColors" Target="../diagrams/colors75.xml"/><Relationship Id="rId4" Type="http://schemas.openxmlformats.org/officeDocument/2006/relationships/diagramQuickStyle" Target="../diagrams/quickStyle75.xml"/></Relationships>
</file>

<file path=ppt/slides/_rels/slide76.xml.rels><?xml version="1.0" encoding="UTF-8" standalone="yes"?>
<Relationships xmlns="http://schemas.openxmlformats.org/package/2006/relationships"><Relationship Id="rId3" Type="http://schemas.openxmlformats.org/officeDocument/2006/relationships/diagramLayout" Target="../diagrams/layout76.xml"/><Relationship Id="rId2" Type="http://schemas.openxmlformats.org/officeDocument/2006/relationships/diagramData" Target="../diagrams/data76.xml"/><Relationship Id="rId1" Type="http://schemas.openxmlformats.org/officeDocument/2006/relationships/slideLayout" Target="../slideLayouts/slideLayout2.xml"/><Relationship Id="rId6" Type="http://schemas.microsoft.com/office/2007/relationships/diagramDrawing" Target="../diagrams/drawing76.xml"/><Relationship Id="rId5" Type="http://schemas.openxmlformats.org/officeDocument/2006/relationships/diagramColors" Target="../diagrams/colors76.xml"/><Relationship Id="rId4" Type="http://schemas.openxmlformats.org/officeDocument/2006/relationships/diagramQuickStyle" Target="../diagrams/quickStyle76.xml"/></Relationships>
</file>

<file path=ppt/slides/_rels/slide77.xml.rels><?xml version="1.0" encoding="UTF-8" standalone="yes"?>
<Relationships xmlns="http://schemas.openxmlformats.org/package/2006/relationships"><Relationship Id="rId3" Type="http://schemas.openxmlformats.org/officeDocument/2006/relationships/diagramLayout" Target="../diagrams/layout77.xml"/><Relationship Id="rId2" Type="http://schemas.openxmlformats.org/officeDocument/2006/relationships/diagramData" Target="../diagrams/data77.xml"/><Relationship Id="rId1" Type="http://schemas.openxmlformats.org/officeDocument/2006/relationships/slideLayout" Target="../slideLayouts/slideLayout2.xml"/><Relationship Id="rId6" Type="http://schemas.microsoft.com/office/2007/relationships/diagramDrawing" Target="../diagrams/drawing77.xml"/><Relationship Id="rId5" Type="http://schemas.openxmlformats.org/officeDocument/2006/relationships/diagramColors" Target="../diagrams/colors77.xml"/><Relationship Id="rId4" Type="http://schemas.openxmlformats.org/officeDocument/2006/relationships/diagramQuickStyle" Target="../diagrams/quickStyle77.xml"/></Relationships>
</file>

<file path=ppt/slides/_rels/slide78.xml.rels><?xml version="1.0" encoding="UTF-8" standalone="yes"?>
<Relationships xmlns="http://schemas.openxmlformats.org/package/2006/relationships"><Relationship Id="rId3" Type="http://schemas.openxmlformats.org/officeDocument/2006/relationships/diagramLayout" Target="../diagrams/layout78.xml"/><Relationship Id="rId2" Type="http://schemas.openxmlformats.org/officeDocument/2006/relationships/diagramData" Target="../diagrams/data78.xml"/><Relationship Id="rId1" Type="http://schemas.openxmlformats.org/officeDocument/2006/relationships/slideLayout" Target="../slideLayouts/slideLayout2.xml"/><Relationship Id="rId6" Type="http://schemas.microsoft.com/office/2007/relationships/diagramDrawing" Target="../diagrams/drawing78.xml"/><Relationship Id="rId5" Type="http://schemas.openxmlformats.org/officeDocument/2006/relationships/diagramColors" Target="../diagrams/colors78.xml"/><Relationship Id="rId4" Type="http://schemas.openxmlformats.org/officeDocument/2006/relationships/diagramQuickStyle" Target="../diagrams/quickStyle78.xml"/></Relationships>
</file>

<file path=ppt/slides/_rels/slide79.xml.rels><?xml version="1.0" encoding="UTF-8" standalone="yes"?>
<Relationships xmlns="http://schemas.openxmlformats.org/package/2006/relationships"><Relationship Id="rId3" Type="http://schemas.openxmlformats.org/officeDocument/2006/relationships/diagramLayout" Target="../diagrams/layout79.xml"/><Relationship Id="rId2" Type="http://schemas.openxmlformats.org/officeDocument/2006/relationships/diagramData" Target="../diagrams/data79.xml"/><Relationship Id="rId1" Type="http://schemas.openxmlformats.org/officeDocument/2006/relationships/slideLayout" Target="../slideLayouts/slideLayout2.xml"/><Relationship Id="rId6" Type="http://schemas.microsoft.com/office/2007/relationships/diagramDrawing" Target="../diagrams/drawing79.xml"/><Relationship Id="rId5" Type="http://schemas.openxmlformats.org/officeDocument/2006/relationships/diagramColors" Target="../diagrams/colors79.xml"/><Relationship Id="rId4" Type="http://schemas.openxmlformats.org/officeDocument/2006/relationships/diagramQuickStyle" Target="../diagrams/quickStyle79.xml"/></Relationships>
</file>

<file path=ppt/slides/_rels/slide80.xml.rels><?xml version="1.0" encoding="UTF-8" standalone="yes"?>
<Relationships xmlns="http://schemas.openxmlformats.org/package/2006/relationships"><Relationship Id="rId3" Type="http://schemas.openxmlformats.org/officeDocument/2006/relationships/diagramLayout" Target="../diagrams/layout80.xml"/><Relationship Id="rId2" Type="http://schemas.openxmlformats.org/officeDocument/2006/relationships/diagramData" Target="../diagrams/data80.xml"/><Relationship Id="rId1" Type="http://schemas.openxmlformats.org/officeDocument/2006/relationships/slideLayout" Target="../slideLayouts/slideLayout2.xml"/><Relationship Id="rId6" Type="http://schemas.microsoft.com/office/2007/relationships/diagramDrawing" Target="../diagrams/drawing80.xml"/><Relationship Id="rId5" Type="http://schemas.openxmlformats.org/officeDocument/2006/relationships/diagramColors" Target="../diagrams/colors80.xml"/><Relationship Id="rId4" Type="http://schemas.openxmlformats.org/officeDocument/2006/relationships/diagramQuickStyle" Target="../diagrams/quickStyle80.xml"/></Relationships>
</file>

<file path=ppt/slides/_rels/slide81.xml.rels><?xml version="1.0" encoding="UTF-8" standalone="yes"?>
<Relationships xmlns="http://schemas.openxmlformats.org/package/2006/relationships"><Relationship Id="rId3" Type="http://schemas.openxmlformats.org/officeDocument/2006/relationships/diagramLayout" Target="../diagrams/layout81.xml"/><Relationship Id="rId2" Type="http://schemas.openxmlformats.org/officeDocument/2006/relationships/diagramData" Target="../diagrams/data81.xml"/><Relationship Id="rId1" Type="http://schemas.openxmlformats.org/officeDocument/2006/relationships/slideLayout" Target="../slideLayouts/slideLayout2.xml"/><Relationship Id="rId6" Type="http://schemas.microsoft.com/office/2007/relationships/diagramDrawing" Target="../diagrams/drawing81.xml"/><Relationship Id="rId5" Type="http://schemas.openxmlformats.org/officeDocument/2006/relationships/diagramColors" Target="../diagrams/colors81.xml"/><Relationship Id="rId4" Type="http://schemas.openxmlformats.org/officeDocument/2006/relationships/diagramQuickStyle" Target="../diagrams/quickStyle81.xml"/></Relationships>
</file>

<file path=ppt/slides/_rels/slide82.xml.rels><?xml version="1.0" encoding="UTF-8" standalone="yes"?>
<Relationships xmlns="http://schemas.openxmlformats.org/package/2006/relationships"><Relationship Id="rId3" Type="http://schemas.openxmlformats.org/officeDocument/2006/relationships/diagramLayout" Target="../diagrams/layout82.xml"/><Relationship Id="rId2" Type="http://schemas.openxmlformats.org/officeDocument/2006/relationships/diagramData" Target="../diagrams/data82.xml"/><Relationship Id="rId1" Type="http://schemas.openxmlformats.org/officeDocument/2006/relationships/slideLayout" Target="../slideLayouts/slideLayout2.xml"/><Relationship Id="rId6" Type="http://schemas.microsoft.com/office/2007/relationships/diagramDrawing" Target="../diagrams/drawing82.xml"/><Relationship Id="rId5" Type="http://schemas.openxmlformats.org/officeDocument/2006/relationships/diagramColors" Target="../diagrams/colors82.xml"/><Relationship Id="rId4" Type="http://schemas.openxmlformats.org/officeDocument/2006/relationships/diagramQuickStyle" Target="../diagrams/quickStyle82.xml"/></Relationships>
</file>

<file path=ppt/slides/_rels/slide83.xml.rels><?xml version="1.0" encoding="UTF-8" standalone="yes"?>
<Relationships xmlns="http://schemas.openxmlformats.org/package/2006/relationships"><Relationship Id="rId3" Type="http://schemas.openxmlformats.org/officeDocument/2006/relationships/diagramLayout" Target="../diagrams/layout83.xml"/><Relationship Id="rId2" Type="http://schemas.openxmlformats.org/officeDocument/2006/relationships/diagramData" Target="../diagrams/data83.xml"/><Relationship Id="rId1" Type="http://schemas.openxmlformats.org/officeDocument/2006/relationships/slideLayout" Target="../slideLayouts/slideLayout2.xml"/><Relationship Id="rId6" Type="http://schemas.microsoft.com/office/2007/relationships/diagramDrawing" Target="../diagrams/drawing83.xml"/><Relationship Id="rId5" Type="http://schemas.openxmlformats.org/officeDocument/2006/relationships/diagramColors" Target="../diagrams/colors83.xml"/><Relationship Id="rId4" Type="http://schemas.openxmlformats.org/officeDocument/2006/relationships/diagramQuickStyle" Target="../diagrams/quickStyle83.xml"/></Relationships>
</file>

<file path=ppt/slides/_rels/slide84.xml.rels><?xml version="1.0" encoding="UTF-8" standalone="yes"?>
<Relationships xmlns="http://schemas.openxmlformats.org/package/2006/relationships"><Relationship Id="rId3" Type="http://schemas.openxmlformats.org/officeDocument/2006/relationships/diagramLayout" Target="../diagrams/layout84.xml"/><Relationship Id="rId2" Type="http://schemas.openxmlformats.org/officeDocument/2006/relationships/diagramData" Target="../diagrams/data84.xml"/><Relationship Id="rId1" Type="http://schemas.openxmlformats.org/officeDocument/2006/relationships/slideLayout" Target="../slideLayouts/slideLayout2.xml"/><Relationship Id="rId6" Type="http://schemas.microsoft.com/office/2007/relationships/diagramDrawing" Target="../diagrams/drawing84.xml"/><Relationship Id="rId5" Type="http://schemas.openxmlformats.org/officeDocument/2006/relationships/diagramColors" Target="../diagrams/colors84.xml"/><Relationship Id="rId4" Type="http://schemas.openxmlformats.org/officeDocument/2006/relationships/diagramQuickStyle" Target="../diagrams/quickStyle84.xml"/></Relationships>
</file>

<file path=ppt/slides/_rels/slide85.xml.rels><?xml version="1.0" encoding="UTF-8" standalone="yes"?>
<Relationships xmlns="http://schemas.openxmlformats.org/package/2006/relationships"><Relationship Id="rId8" Type="http://schemas.openxmlformats.org/officeDocument/2006/relationships/hyperlink" Target="https://learn.microsoft.com/en-us/dotnet/standard/garbage-collection/performance" TargetMode="External"/><Relationship Id="rId13" Type="http://schemas.openxmlformats.org/officeDocument/2006/relationships/hyperlink" Target="https://www.codeproject.com/Articles/664282/Understanding-weak-references-in-NET" TargetMode="External"/><Relationship Id="rId18" Type="http://schemas.openxmlformats.org/officeDocument/2006/relationships/hyperlink" Target="https://medium.com/write-a-catalyst/net-memory-management-and-optimization-techniques-for-large-scale-applications-8c370ebcd5c9" TargetMode="External"/><Relationship Id="rId26" Type="http://schemas.openxmlformats.org/officeDocument/2006/relationships/hyperlink" Target="https://learn.microsoft.com/en-us/visualstudio/profiling/dotnet-alloc-tool?view=visualstudio" TargetMode="External"/><Relationship Id="rId3" Type="http://schemas.openxmlformats.org/officeDocument/2006/relationships/diagramLayout" Target="../diagrams/layout85.xml"/><Relationship Id="rId21" Type="http://schemas.openxmlformats.org/officeDocument/2006/relationships/hyperlink" Target="https://learn.microsoft.com/en-us/archive/msdn-magazine/2000/november/garbage-collection-automatic-memory-management-in-the-microsoft-net-framework" TargetMode="External"/><Relationship Id="rId7" Type="http://schemas.openxmlformats.org/officeDocument/2006/relationships/hyperlink" Target="https://github.com/sandipray63in/DDD-Based-Enterprise-Application-Framework/blob/master/Infrastructure/DisposableClass.cs" TargetMode="External"/><Relationship Id="rId12" Type="http://schemas.openxmlformats.org/officeDocument/2006/relationships/hyperlink" Target="https://michaelscodingspot.com/find-fix-and-avoid-memory-leaks-in-c-net-8-best-practices/" TargetMode="External"/><Relationship Id="rId17" Type="http://schemas.openxmlformats.org/officeDocument/2006/relationships/hyperlink" Target="https://stackoverflow.com/questions/3680281/usages-of-object-resurrection" TargetMode="External"/><Relationship Id="rId25" Type="http://schemas.openxmlformats.org/officeDocument/2006/relationships/hyperlink" Target="https://learn.microsoft.com/en-us/shows/dotnetconf-2020/analyzing-memory-dumps-of-net-applications" TargetMode="External"/><Relationship Id="rId2" Type="http://schemas.openxmlformats.org/officeDocument/2006/relationships/diagramData" Target="../diagrams/data85.xml"/><Relationship Id="rId16" Type="http://schemas.openxmlformats.org/officeDocument/2006/relationships/hyperlink" Target="https://medium.com/@josiahmahachi/in-memory-caching-in-net-6aa5d827b341" TargetMode="External"/><Relationship Id="rId20" Type="http://schemas.openxmlformats.org/officeDocument/2006/relationships/hyperlink" Target="https://github.com/PacktPublishing/Effective-.NET-Memory-Management" TargetMode="External"/><Relationship Id="rId29" Type="http://schemas.openxmlformats.org/officeDocument/2006/relationships/hyperlink" Target="https://github.com/microsoft/perfview" TargetMode="External"/><Relationship Id="rId1" Type="http://schemas.openxmlformats.org/officeDocument/2006/relationships/slideLayout" Target="../slideLayouts/slideLayout2.xml"/><Relationship Id="rId6" Type="http://schemas.microsoft.com/office/2007/relationships/diagramDrawing" Target="../diagrams/drawing85.xml"/><Relationship Id="rId11" Type="http://schemas.openxmlformats.org/officeDocument/2006/relationships/hyperlink" Target="https://stackoverflow.com/questions/2257563/what-are-the-generations-in-garbage-collection" TargetMode="External"/><Relationship Id="rId24" Type="http://schemas.openxmlformats.org/officeDocument/2006/relationships/hyperlink" Target="https://leanpub.com/netgcfaq" TargetMode="External"/><Relationship Id="rId5" Type="http://schemas.openxmlformats.org/officeDocument/2006/relationships/diagramColors" Target="../diagrams/colors85.xml"/><Relationship Id="rId15" Type="http://schemas.openxmlformats.org/officeDocument/2006/relationships/hyperlink" Target="https://paulstovell.com/weakevents/" TargetMode="External"/><Relationship Id="rId23" Type="http://schemas.openxmlformats.org/officeDocument/2006/relationships/hyperlink" Target="https://www.youtube.com/watch?v=6Ixv-XmK8YY&amp;t=279s" TargetMode="External"/><Relationship Id="rId28" Type="http://schemas.openxmlformats.org/officeDocument/2006/relationships/hyperlink" Target="https://en.wikipedia.org/wiki/CLR_Profiler" TargetMode="External"/><Relationship Id="rId10" Type="http://schemas.openxmlformats.org/officeDocument/2006/relationships/hyperlink" Target="https://stackify.com/c-garbage-collection/" TargetMode="External"/><Relationship Id="rId19" Type="http://schemas.openxmlformats.org/officeDocument/2006/relationships/hyperlink" Target="https://michaelscodingspot.com/avoid-gc-pressure/" TargetMode="External"/><Relationship Id="rId4" Type="http://schemas.openxmlformats.org/officeDocument/2006/relationships/diagramQuickStyle" Target="../diagrams/quickStyle85.xml"/><Relationship Id="rId9" Type="http://schemas.openxmlformats.org/officeDocument/2006/relationships/hyperlink" Target="https://blog.bytebytego.com/p/ep125-how-does-garbage-collection?open=false#%C2%A7how-does-garbage-collection-work" TargetMode="External"/><Relationship Id="rId14" Type="http://schemas.openxmlformats.org/officeDocument/2006/relationships/hyperlink" Target="https://stackoverflow.com/questions/18465630/understanding-conditionalweaktable" TargetMode="External"/><Relationship Id="rId22" Type="http://schemas.openxmlformats.org/officeDocument/2006/relationships/hyperlink" Target="https://blog.gceasy.io/how-the-mark-sweep-compact-algorithm-works/" TargetMode="External"/><Relationship Id="rId27" Type="http://schemas.openxmlformats.org/officeDocument/2006/relationships/hyperlink" Target="https://medium.com/turbo-net/mastering-net-performance-how-to-analyze-and-optimize-memory-heap-allocation-a7daa5cb56d8" TargetMode="External"/></Relationships>
</file>

<file path=ppt/slides/_rels/slide86.xml.rels><?xml version="1.0" encoding="UTF-8" standalone="yes"?>
<Relationships xmlns="http://schemas.openxmlformats.org/package/2006/relationships"><Relationship Id="rId3" Type="http://schemas.openxmlformats.org/officeDocument/2006/relationships/diagramLayout" Target="../diagrams/layout86.xml"/><Relationship Id="rId2" Type="http://schemas.openxmlformats.org/officeDocument/2006/relationships/diagramData" Target="../diagrams/data86.xml"/><Relationship Id="rId1" Type="http://schemas.openxmlformats.org/officeDocument/2006/relationships/slideLayout" Target="../slideLayouts/slideLayout2.xml"/><Relationship Id="rId6" Type="http://schemas.microsoft.com/office/2007/relationships/diagramDrawing" Target="../diagrams/drawing86.xml"/><Relationship Id="rId5" Type="http://schemas.openxmlformats.org/officeDocument/2006/relationships/diagramColors" Target="../diagrams/colors86.xml"/><Relationship Id="rId4" Type="http://schemas.openxmlformats.org/officeDocument/2006/relationships/diagramQuickStyle" Target="../diagrams/quickStyle86.xml"/></Relationships>
</file>

<file path=ppt/slides/_rels/slide87.xml.rels><?xml version="1.0" encoding="UTF-8" standalone="yes"?>
<Relationships xmlns="http://schemas.openxmlformats.org/package/2006/relationships"><Relationship Id="rId3" Type="http://schemas.openxmlformats.org/officeDocument/2006/relationships/diagramLayout" Target="../diagrams/layout87.xml"/><Relationship Id="rId2" Type="http://schemas.openxmlformats.org/officeDocument/2006/relationships/diagramData" Target="../diagrams/data87.xml"/><Relationship Id="rId1" Type="http://schemas.openxmlformats.org/officeDocument/2006/relationships/slideLayout" Target="../slideLayouts/slideLayout2.xml"/><Relationship Id="rId6" Type="http://schemas.microsoft.com/office/2007/relationships/diagramDrawing" Target="../diagrams/drawing87.xml"/><Relationship Id="rId5" Type="http://schemas.openxmlformats.org/officeDocument/2006/relationships/diagramColors" Target="../diagrams/colors87.xml"/><Relationship Id="rId4" Type="http://schemas.openxmlformats.org/officeDocument/2006/relationships/diagramQuickStyle" Target="../diagrams/quickStyle87.xml"/></Relationships>
</file>

<file path=ppt/slides/_rels/slide88.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diagramLayout" Target="../diagrams/layout88.xml"/><Relationship Id="rId7" Type="http://schemas.openxmlformats.org/officeDocument/2006/relationships/image" Target="../media/image25.png"/><Relationship Id="rId2" Type="http://schemas.openxmlformats.org/officeDocument/2006/relationships/diagramData" Target="../diagrams/data88.xml"/><Relationship Id="rId1" Type="http://schemas.openxmlformats.org/officeDocument/2006/relationships/slideLayout" Target="../slideLayouts/slideLayout2.xml"/><Relationship Id="rId6" Type="http://schemas.microsoft.com/office/2007/relationships/diagramDrawing" Target="../diagrams/drawing88.xml"/><Relationship Id="rId5" Type="http://schemas.openxmlformats.org/officeDocument/2006/relationships/diagramColors" Target="../diagrams/colors88.xml"/><Relationship Id="rId4" Type="http://schemas.openxmlformats.org/officeDocument/2006/relationships/diagramQuickStyle" Target="../diagrams/quickStyle88.xml"/><Relationship Id="rId9" Type="http://schemas.openxmlformats.org/officeDocument/2006/relationships/image" Target="../media/image27.png"/></Relationships>
</file>

<file path=ppt/slides/_rels/slide89.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diagramLayout" Target="../diagrams/layout89.xml"/><Relationship Id="rId7" Type="http://schemas.openxmlformats.org/officeDocument/2006/relationships/image" Target="../media/image25.png"/><Relationship Id="rId2" Type="http://schemas.openxmlformats.org/officeDocument/2006/relationships/diagramData" Target="../diagrams/data89.xml"/><Relationship Id="rId1" Type="http://schemas.openxmlformats.org/officeDocument/2006/relationships/slideLayout" Target="../slideLayouts/slideLayout2.xml"/><Relationship Id="rId6" Type="http://schemas.microsoft.com/office/2007/relationships/diagramDrawing" Target="../diagrams/drawing89.xml"/><Relationship Id="rId5" Type="http://schemas.openxmlformats.org/officeDocument/2006/relationships/diagramColors" Target="../diagrams/colors89.xml"/><Relationship Id="rId4" Type="http://schemas.openxmlformats.org/officeDocument/2006/relationships/diagramQuickStyle" Target="../diagrams/quickStyle89.xml"/><Relationship Id="rId9" Type="http://schemas.openxmlformats.org/officeDocument/2006/relationships/image" Target="../media/image29.png"/></Relationships>
</file>

<file path=ppt/slides/_rels/slide90.xml.rels><?xml version="1.0" encoding="UTF-8" standalone="yes"?>
<Relationships xmlns="http://schemas.openxmlformats.org/package/2006/relationships"><Relationship Id="rId3" Type="http://schemas.openxmlformats.org/officeDocument/2006/relationships/diagramLayout" Target="../diagrams/layout90.xml"/><Relationship Id="rId2" Type="http://schemas.openxmlformats.org/officeDocument/2006/relationships/diagramData" Target="../diagrams/data90.xml"/><Relationship Id="rId1" Type="http://schemas.openxmlformats.org/officeDocument/2006/relationships/slideLayout" Target="../slideLayouts/slideLayout2.xml"/><Relationship Id="rId6" Type="http://schemas.microsoft.com/office/2007/relationships/diagramDrawing" Target="../diagrams/drawing90.xml"/><Relationship Id="rId5" Type="http://schemas.openxmlformats.org/officeDocument/2006/relationships/diagramColors" Target="../diagrams/colors90.xml"/><Relationship Id="rId4" Type="http://schemas.openxmlformats.org/officeDocument/2006/relationships/diagramQuickStyle" Target="../diagrams/quickStyle90.xml"/></Relationships>
</file>

<file path=ppt/slides/_rels/slide91.xml.rels><?xml version="1.0" encoding="UTF-8" standalone="yes"?>
<Relationships xmlns="http://schemas.openxmlformats.org/package/2006/relationships"><Relationship Id="rId3" Type="http://schemas.openxmlformats.org/officeDocument/2006/relationships/diagramLayout" Target="../diagrams/layout91.xml"/><Relationship Id="rId2" Type="http://schemas.openxmlformats.org/officeDocument/2006/relationships/diagramData" Target="../diagrams/data91.xml"/><Relationship Id="rId1" Type="http://schemas.openxmlformats.org/officeDocument/2006/relationships/slideLayout" Target="../slideLayouts/slideLayout2.xml"/><Relationship Id="rId6" Type="http://schemas.microsoft.com/office/2007/relationships/diagramDrawing" Target="../diagrams/drawing91.xml"/><Relationship Id="rId5" Type="http://schemas.openxmlformats.org/officeDocument/2006/relationships/diagramColors" Target="../diagrams/colors91.xml"/><Relationship Id="rId4" Type="http://schemas.openxmlformats.org/officeDocument/2006/relationships/diagramQuickStyle" Target="../diagrams/quickStyle91.xml"/></Relationships>
</file>

<file path=ppt/slides/_rels/slide92.xml.rels><?xml version="1.0" encoding="UTF-8" standalone="yes"?>
<Relationships xmlns="http://schemas.openxmlformats.org/package/2006/relationships"><Relationship Id="rId3" Type="http://schemas.openxmlformats.org/officeDocument/2006/relationships/diagramLayout" Target="../diagrams/layout92.xml"/><Relationship Id="rId2" Type="http://schemas.openxmlformats.org/officeDocument/2006/relationships/diagramData" Target="../diagrams/data92.xml"/><Relationship Id="rId1" Type="http://schemas.openxmlformats.org/officeDocument/2006/relationships/slideLayout" Target="../slideLayouts/slideLayout2.xml"/><Relationship Id="rId6" Type="http://schemas.microsoft.com/office/2007/relationships/diagramDrawing" Target="../diagrams/drawing92.xml"/><Relationship Id="rId5" Type="http://schemas.openxmlformats.org/officeDocument/2006/relationships/diagramColors" Target="../diagrams/colors92.xml"/><Relationship Id="rId4" Type="http://schemas.openxmlformats.org/officeDocument/2006/relationships/diagramQuickStyle" Target="../diagrams/quickStyle92.xml"/></Relationships>
</file>

<file path=ppt/slides/_rels/slide93.xml.rels><?xml version="1.0" encoding="UTF-8" standalone="yes"?>
<Relationships xmlns="http://schemas.openxmlformats.org/package/2006/relationships"><Relationship Id="rId3" Type="http://schemas.openxmlformats.org/officeDocument/2006/relationships/diagramLayout" Target="../diagrams/layout93.xml"/><Relationship Id="rId2" Type="http://schemas.openxmlformats.org/officeDocument/2006/relationships/diagramData" Target="../diagrams/data93.xml"/><Relationship Id="rId1" Type="http://schemas.openxmlformats.org/officeDocument/2006/relationships/slideLayout" Target="../slideLayouts/slideLayout2.xml"/><Relationship Id="rId6" Type="http://schemas.microsoft.com/office/2007/relationships/diagramDrawing" Target="../diagrams/drawing93.xml"/><Relationship Id="rId5" Type="http://schemas.openxmlformats.org/officeDocument/2006/relationships/diagramColors" Target="../diagrams/colors93.xml"/><Relationship Id="rId4" Type="http://schemas.openxmlformats.org/officeDocument/2006/relationships/diagramQuickStyle" Target="../diagrams/quickStyle93.xml"/></Relationships>
</file>

<file path=ppt/slides/_rels/slide94.xml.rels><?xml version="1.0" encoding="UTF-8" standalone="yes"?>
<Relationships xmlns="http://schemas.openxmlformats.org/package/2006/relationships"><Relationship Id="rId3" Type="http://schemas.openxmlformats.org/officeDocument/2006/relationships/diagramLayout" Target="../diagrams/layout94.xml"/><Relationship Id="rId2" Type="http://schemas.openxmlformats.org/officeDocument/2006/relationships/diagramData" Target="../diagrams/data94.xml"/><Relationship Id="rId1" Type="http://schemas.openxmlformats.org/officeDocument/2006/relationships/slideLayout" Target="../slideLayouts/slideLayout2.xml"/><Relationship Id="rId6" Type="http://schemas.microsoft.com/office/2007/relationships/diagramDrawing" Target="../diagrams/drawing94.xml"/><Relationship Id="rId5" Type="http://schemas.openxmlformats.org/officeDocument/2006/relationships/diagramColors" Target="../diagrams/colors94.xml"/><Relationship Id="rId4" Type="http://schemas.openxmlformats.org/officeDocument/2006/relationships/diagramQuickStyle" Target="../diagrams/quickStyle94.xml"/></Relationships>
</file>

<file path=ppt/slides/_rels/slide95.xml.rels><?xml version="1.0" encoding="UTF-8" standalone="yes"?>
<Relationships xmlns="http://schemas.openxmlformats.org/package/2006/relationships"><Relationship Id="rId3" Type="http://schemas.openxmlformats.org/officeDocument/2006/relationships/diagramLayout" Target="../diagrams/layout95.xml"/><Relationship Id="rId2" Type="http://schemas.openxmlformats.org/officeDocument/2006/relationships/diagramData" Target="../diagrams/data95.xml"/><Relationship Id="rId1" Type="http://schemas.openxmlformats.org/officeDocument/2006/relationships/slideLayout" Target="../slideLayouts/slideLayout2.xml"/><Relationship Id="rId6" Type="http://schemas.microsoft.com/office/2007/relationships/diagramDrawing" Target="../diagrams/drawing95.xml"/><Relationship Id="rId5" Type="http://schemas.openxmlformats.org/officeDocument/2006/relationships/diagramColors" Target="../diagrams/colors95.xml"/><Relationship Id="rId4" Type="http://schemas.openxmlformats.org/officeDocument/2006/relationships/diagramQuickStyle" Target="../diagrams/quickStyle95.xml"/></Relationships>
</file>

<file path=ppt/slides/_rels/slide96.xml.rels><?xml version="1.0" encoding="UTF-8" standalone="yes"?>
<Relationships xmlns="http://schemas.openxmlformats.org/package/2006/relationships"><Relationship Id="rId3" Type="http://schemas.openxmlformats.org/officeDocument/2006/relationships/diagramLayout" Target="../diagrams/layout96.xml"/><Relationship Id="rId2" Type="http://schemas.openxmlformats.org/officeDocument/2006/relationships/diagramData" Target="../diagrams/data96.xml"/><Relationship Id="rId1" Type="http://schemas.openxmlformats.org/officeDocument/2006/relationships/slideLayout" Target="../slideLayouts/slideLayout2.xml"/><Relationship Id="rId6" Type="http://schemas.microsoft.com/office/2007/relationships/diagramDrawing" Target="../diagrams/drawing96.xml"/><Relationship Id="rId5" Type="http://schemas.openxmlformats.org/officeDocument/2006/relationships/diagramColors" Target="../diagrams/colors96.xml"/><Relationship Id="rId4" Type="http://schemas.openxmlformats.org/officeDocument/2006/relationships/diagramQuickStyle" Target="../diagrams/quickStyle96.xml"/></Relationships>
</file>

<file path=ppt/slides/_rels/slide97.xml.rels><?xml version="1.0" encoding="UTF-8" standalone="yes"?>
<Relationships xmlns="http://schemas.openxmlformats.org/package/2006/relationships"><Relationship Id="rId8" Type="http://schemas.openxmlformats.org/officeDocument/2006/relationships/hyperlink" Target="https://pages.cs.wisc.edu/~markhill/papers/primer2020_2nd_edition.pdf" TargetMode="External"/><Relationship Id="rId13" Type="http://schemas.openxmlformats.org/officeDocument/2006/relationships/hyperlink" Target="https://www.intel.com/content/dam/develop/external/us/en/documents/3-5-memmgt-optimizing-applications-for-numa-184398.pdf" TargetMode="External"/><Relationship Id="rId18" Type="http://schemas.openxmlformats.org/officeDocument/2006/relationships/hyperlink" Target="https://www.amazon.in/Computer-Architecture-Quantitative-Approach-Kaufmann/dp/0128119055" TargetMode="External"/><Relationship Id="rId3" Type="http://schemas.openxmlformats.org/officeDocument/2006/relationships/diagramLayout" Target="../diagrams/layout97.xml"/><Relationship Id="rId7" Type="http://schemas.openxmlformats.org/officeDocument/2006/relationships/hyperlink" Target="https://people.freebsd.org/~lstewart/articles/cpumemory.pdf" TargetMode="External"/><Relationship Id="rId12" Type="http://schemas.openxmlformats.org/officeDocument/2006/relationships/hyperlink" Target="https://www.amazon.in/Cache-Memory-Hierarchy-Design-Architecture-ebook/dp/B008N6XV2W/ref=tmm_kin_swatch_0" TargetMode="External"/><Relationship Id="rId17" Type="http://schemas.openxmlformats.org/officeDocument/2006/relationships/hyperlink" Target="https://csapp.cs.cmu.edu/" TargetMode="External"/><Relationship Id="rId2" Type="http://schemas.openxmlformats.org/officeDocument/2006/relationships/diagramData" Target="../diagrams/data97.xml"/><Relationship Id="rId16" Type="http://schemas.openxmlformats.org/officeDocument/2006/relationships/hyperlink" Target="https://intel.github.io/intel-extension-for-pytorch/cpu/1.13.0+cpu/tutorials/performance_tuning/tuning_guide.html" TargetMode="External"/><Relationship Id="rId1" Type="http://schemas.openxmlformats.org/officeDocument/2006/relationships/slideLayout" Target="../slideLayouts/slideLayout2.xml"/><Relationship Id="rId6" Type="http://schemas.microsoft.com/office/2007/relationships/diagramDrawing" Target="../diagrams/drawing97.xml"/><Relationship Id="rId11" Type="http://schemas.openxmlformats.org/officeDocument/2006/relationships/hyperlink" Target="https://en.wikipedia.org/wiki/False_sharing" TargetMode="External"/><Relationship Id="rId5" Type="http://schemas.openxmlformats.org/officeDocument/2006/relationships/diagramColors" Target="../diagrams/colors97.xml"/><Relationship Id="rId15" Type="http://schemas.openxmlformats.org/officeDocument/2006/relationships/hyperlink" Target="https://docs.redhat.com/en/documentation/red_hat_enterprise_linux/7/html/virtualization_tuning_and_optimization_guide/chap-virtualization_tuning_optimization_guide-numa" TargetMode="External"/><Relationship Id="rId10" Type="http://schemas.openxmlformats.org/officeDocument/2006/relationships/hyperlink" Target="https://www.geeksforgeeks.org/operating-systems/cache-coherence/" TargetMode="External"/><Relationship Id="rId19" Type="http://schemas.openxmlformats.org/officeDocument/2006/relationships/hyperlink" Target="https://www.packtpub.com/en-dk/product/modern-computer-architecture-and-organization-second-edition-9781803234519" TargetMode="External"/><Relationship Id="rId4" Type="http://schemas.openxmlformats.org/officeDocument/2006/relationships/diagramQuickStyle" Target="../diagrams/quickStyle97.xml"/><Relationship Id="rId9" Type="http://schemas.openxmlformats.org/officeDocument/2006/relationships/hyperlink" Target="https://en.wikipedia.org/wiki/Cache_coherence" TargetMode="External"/><Relationship Id="rId14" Type="http://schemas.openxmlformats.org/officeDocument/2006/relationships/hyperlink" Target="https://linuxgd.medium.com/exploring-numa-optimization-with-real-world-scenarios-d75a37e2c10d" TargetMode="External"/></Relationships>
</file>

<file path=ppt/slides/_rels/slide98.xml.rels><?xml version="1.0" encoding="UTF-8" standalone="yes"?>
<Relationships xmlns="http://schemas.openxmlformats.org/package/2006/relationships"><Relationship Id="rId3" Type="http://schemas.openxmlformats.org/officeDocument/2006/relationships/diagramLayout" Target="../diagrams/layout98.xml"/><Relationship Id="rId2" Type="http://schemas.openxmlformats.org/officeDocument/2006/relationships/diagramData" Target="../diagrams/data98.xml"/><Relationship Id="rId1" Type="http://schemas.openxmlformats.org/officeDocument/2006/relationships/slideLayout" Target="../slideLayouts/slideLayout2.xml"/><Relationship Id="rId6" Type="http://schemas.microsoft.com/office/2007/relationships/diagramDrawing" Target="../diagrams/drawing98.xml"/><Relationship Id="rId5" Type="http://schemas.openxmlformats.org/officeDocument/2006/relationships/diagramColors" Target="../diagrams/colors98.xml"/><Relationship Id="rId4" Type="http://schemas.openxmlformats.org/officeDocument/2006/relationships/diagramQuickStyle" Target="../diagrams/quickStyle98.xml"/></Relationships>
</file>

<file path=ppt/slides/_rels/slide99.xml.rels><?xml version="1.0" encoding="UTF-8" standalone="yes"?>
<Relationships xmlns="http://schemas.openxmlformats.org/package/2006/relationships"><Relationship Id="rId8" Type="http://schemas.openxmlformats.org/officeDocument/2006/relationships/hyperlink" Target="https://en.wikipedia.org/wiki/Write_amplification" TargetMode="External"/><Relationship Id="rId3" Type="http://schemas.openxmlformats.org/officeDocument/2006/relationships/diagramLayout" Target="../diagrams/layout99.xml"/><Relationship Id="rId7" Type="http://schemas.openxmlformats.org/officeDocument/2006/relationships/hyperlink" Target="https://www.designgurus.io/answers/detail/what-is-read-amplification" TargetMode="External"/><Relationship Id="rId2" Type="http://schemas.openxmlformats.org/officeDocument/2006/relationships/diagramData" Target="../diagrams/data99.xml"/><Relationship Id="rId1" Type="http://schemas.openxmlformats.org/officeDocument/2006/relationships/slideLayout" Target="../slideLayouts/slideLayout2.xml"/><Relationship Id="rId6" Type="http://schemas.microsoft.com/office/2007/relationships/diagramDrawing" Target="../diagrams/drawing99.xml"/><Relationship Id="rId5" Type="http://schemas.openxmlformats.org/officeDocument/2006/relationships/diagramColors" Target="../diagrams/colors99.xml"/><Relationship Id="rId10" Type="http://schemas.openxmlformats.org/officeDocument/2006/relationships/hyperlink" Target="https://www.gandhijay.com/posts/write-amplification-versus-read-perspiration/" TargetMode="External"/><Relationship Id="rId4" Type="http://schemas.openxmlformats.org/officeDocument/2006/relationships/diagramQuickStyle" Target="../diagrams/quickStyle99.xml"/><Relationship Id="rId9" Type="http://schemas.openxmlformats.org/officeDocument/2006/relationships/hyperlink" Target="https://gifted-dl.medium.com/deep-dive-on-read-write-and-space-amplification-in-ssds-and-lsm-storage-engines-and-what-makes-4a1e15fc6f0e" TargetMode="External"/></Relationships>
</file>

<file path=ppt/slides/_rels/slide100.xml.rels><?xml version="1.0" encoding="UTF-8" standalone="yes"?>
<Relationships xmlns="http://schemas.openxmlformats.org/package/2006/relationships"><Relationship Id="rId3" Type="http://schemas.openxmlformats.org/officeDocument/2006/relationships/diagramLayout" Target="../diagrams/layout100.xml"/><Relationship Id="rId2" Type="http://schemas.openxmlformats.org/officeDocument/2006/relationships/diagramData" Target="../diagrams/data100.xml"/><Relationship Id="rId1" Type="http://schemas.openxmlformats.org/officeDocument/2006/relationships/slideLayout" Target="../slideLayouts/slideLayout2.xml"/><Relationship Id="rId6" Type="http://schemas.microsoft.com/office/2007/relationships/diagramDrawing" Target="../diagrams/drawing100.xml"/><Relationship Id="rId5" Type="http://schemas.openxmlformats.org/officeDocument/2006/relationships/diagramColors" Target="../diagrams/colors100.xml"/><Relationship Id="rId4" Type="http://schemas.openxmlformats.org/officeDocument/2006/relationships/diagramQuickStyle" Target="../diagrams/quickStyle100.xml"/></Relationships>
</file>

<file path=ppt/slides/_rels/slide101.xml.rels><?xml version="1.0" encoding="UTF-8" standalone="yes"?>
<Relationships xmlns="http://schemas.openxmlformats.org/package/2006/relationships"><Relationship Id="rId3" Type="http://schemas.openxmlformats.org/officeDocument/2006/relationships/diagramLayout" Target="../diagrams/layout101.xml"/><Relationship Id="rId2" Type="http://schemas.openxmlformats.org/officeDocument/2006/relationships/diagramData" Target="../diagrams/data101.xml"/><Relationship Id="rId1" Type="http://schemas.openxmlformats.org/officeDocument/2006/relationships/slideLayout" Target="../slideLayouts/slideLayout2.xml"/><Relationship Id="rId6" Type="http://schemas.microsoft.com/office/2007/relationships/diagramDrawing" Target="../diagrams/drawing101.xml"/><Relationship Id="rId5" Type="http://schemas.openxmlformats.org/officeDocument/2006/relationships/diagramColors" Target="../diagrams/colors101.xml"/><Relationship Id="rId4" Type="http://schemas.openxmlformats.org/officeDocument/2006/relationships/diagramQuickStyle" Target="../diagrams/quickStyle101.xml"/></Relationships>
</file>

<file path=ppt/slides/_rels/slide102.xml.rels><?xml version="1.0" encoding="UTF-8" standalone="yes"?>
<Relationships xmlns="http://schemas.openxmlformats.org/package/2006/relationships"><Relationship Id="rId3" Type="http://schemas.openxmlformats.org/officeDocument/2006/relationships/diagramLayout" Target="../diagrams/layout102.xml"/><Relationship Id="rId2" Type="http://schemas.openxmlformats.org/officeDocument/2006/relationships/diagramData" Target="../diagrams/data102.xml"/><Relationship Id="rId1" Type="http://schemas.openxmlformats.org/officeDocument/2006/relationships/slideLayout" Target="../slideLayouts/slideLayout2.xml"/><Relationship Id="rId6" Type="http://schemas.microsoft.com/office/2007/relationships/diagramDrawing" Target="../diagrams/drawing102.xml"/><Relationship Id="rId5" Type="http://schemas.openxmlformats.org/officeDocument/2006/relationships/diagramColors" Target="../diagrams/colors102.xml"/><Relationship Id="rId4" Type="http://schemas.openxmlformats.org/officeDocument/2006/relationships/diagramQuickStyle" Target="../diagrams/quickStyle102.xml"/></Relationships>
</file>

<file path=ppt/slides/_rels/slide103.xml.rels><?xml version="1.0" encoding="UTF-8" standalone="yes"?>
<Relationships xmlns="http://schemas.openxmlformats.org/package/2006/relationships"><Relationship Id="rId3" Type="http://schemas.openxmlformats.org/officeDocument/2006/relationships/diagramLayout" Target="../diagrams/layout103.xml"/><Relationship Id="rId2" Type="http://schemas.openxmlformats.org/officeDocument/2006/relationships/diagramData" Target="../diagrams/data103.xml"/><Relationship Id="rId1" Type="http://schemas.openxmlformats.org/officeDocument/2006/relationships/slideLayout" Target="../slideLayouts/slideLayout2.xml"/><Relationship Id="rId6" Type="http://schemas.microsoft.com/office/2007/relationships/diagramDrawing" Target="../diagrams/drawing103.xml"/><Relationship Id="rId5" Type="http://schemas.openxmlformats.org/officeDocument/2006/relationships/diagramColors" Target="../diagrams/colors103.xml"/><Relationship Id="rId4" Type="http://schemas.openxmlformats.org/officeDocument/2006/relationships/diagramQuickStyle" Target="../diagrams/quickStyle103.xml"/></Relationships>
</file>

<file path=ppt/slides/_rels/slide104.xml.rels><?xml version="1.0" encoding="UTF-8" standalone="yes"?>
<Relationships xmlns="http://schemas.openxmlformats.org/package/2006/relationships"><Relationship Id="rId3" Type="http://schemas.openxmlformats.org/officeDocument/2006/relationships/diagramLayout" Target="../diagrams/layout104.xml"/><Relationship Id="rId2" Type="http://schemas.openxmlformats.org/officeDocument/2006/relationships/diagramData" Target="../diagrams/data104.xml"/><Relationship Id="rId1" Type="http://schemas.openxmlformats.org/officeDocument/2006/relationships/slideLayout" Target="../slideLayouts/slideLayout2.xml"/><Relationship Id="rId6" Type="http://schemas.microsoft.com/office/2007/relationships/diagramDrawing" Target="../diagrams/drawing104.xml"/><Relationship Id="rId5" Type="http://schemas.openxmlformats.org/officeDocument/2006/relationships/diagramColors" Target="../diagrams/colors104.xml"/><Relationship Id="rId4" Type="http://schemas.openxmlformats.org/officeDocument/2006/relationships/diagramQuickStyle" Target="../diagrams/quickStyle104.xml"/></Relationships>
</file>

<file path=ppt/slides/_rels/slide105.xml.rels><?xml version="1.0" encoding="UTF-8" standalone="yes"?>
<Relationships xmlns="http://schemas.openxmlformats.org/package/2006/relationships"><Relationship Id="rId3" Type="http://schemas.openxmlformats.org/officeDocument/2006/relationships/diagramLayout" Target="../diagrams/layout105.xml"/><Relationship Id="rId2" Type="http://schemas.openxmlformats.org/officeDocument/2006/relationships/diagramData" Target="../diagrams/data105.xml"/><Relationship Id="rId1" Type="http://schemas.openxmlformats.org/officeDocument/2006/relationships/slideLayout" Target="../slideLayouts/slideLayout2.xml"/><Relationship Id="rId6" Type="http://schemas.microsoft.com/office/2007/relationships/diagramDrawing" Target="../diagrams/drawing105.xml"/><Relationship Id="rId5" Type="http://schemas.openxmlformats.org/officeDocument/2006/relationships/diagramColors" Target="../diagrams/colors105.xml"/><Relationship Id="rId4" Type="http://schemas.openxmlformats.org/officeDocument/2006/relationships/diagramQuickStyle" Target="../diagrams/quickStyle105.xml"/></Relationships>
</file>

<file path=ppt/slides/_rels/slide106.xml.rels><?xml version="1.0" encoding="UTF-8" standalone="yes"?>
<Relationships xmlns="http://schemas.openxmlformats.org/package/2006/relationships"><Relationship Id="rId3" Type="http://schemas.openxmlformats.org/officeDocument/2006/relationships/diagramLayout" Target="../diagrams/layout106.xml"/><Relationship Id="rId2" Type="http://schemas.openxmlformats.org/officeDocument/2006/relationships/diagramData" Target="../diagrams/data106.xml"/><Relationship Id="rId1" Type="http://schemas.openxmlformats.org/officeDocument/2006/relationships/slideLayout" Target="../slideLayouts/slideLayout2.xml"/><Relationship Id="rId6" Type="http://schemas.microsoft.com/office/2007/relationships/diagramDrawing" Target="../diagrams/drawing106.xml"/><Relationship Id="rId5" Type="http://schemas.openxmlformats.org/officeDocument/2006/relationships/diagramColors" Target="../diagrams/colors106.xml"/><Relationship Id="rId4" Type="http://schemas.openxmlformats.org/officeDocument/2006/relationships/diagramQuickStyle" Target="../diagrams/quickStyle106.xml"/></Relationships>
</file>

<file path=ppt/slides/_rels/slide107.xml.rels><?xml version="1.0" encoding="UTF-8" standalone="yes"?>
<Relationships xmlns="http://schemas.openxmlformats.org/package/2006/relationships"><Relationship Id="rId3" Type="http://schemas.openxmlformats.org/officeDocument/2006/relationships/diagramLayout" Target="../diagrams/layout107.xml"/><Relationship Id="rId2" Type="http://schemas.openxmlformats.org/officeDocument/2006/relationships/diagramData" Target="../diagrams/data107.xml"/><Relationship Id="rId1" Type="http://schemas.openxmlformats.org/officeDocument/2006/relationships/slideLayout" Target="../slideLayouts/slideLayout2.xml"/><Relationship Id="rId6" Type="http://schemas.microsoft.com/office/2007/relationships/diagramDrawing" Target="../diagrams/drawing107.xml"/><Relationship Id="rId5" Type="http://schemas.openxmlformats.org/officeDocument/2006/relationships/diagramColors" Target="../diagrams/colors107.xml"/><Relationship Id="rId4" Type="http://schemas.openxmlformats.org/officeDocument/2006/relationships/diagramQuickStyle" Target="../diagrams/quickStyle107.xml"/></Relationships>
</file>

<file path=ppt/slides/_rels/slide108.xml.rels><?xml version="1.0" encoding="UTF-8" standalone="yes"?>
<Relationships xmlns="http://schemas.openxmlformats.org/package/2006/relationships"><Relationship Id="rId3" Type="http://schemas.openxmlformats.org/officeDocument/2006/relationships/diagramLayout" Target="../diagrams/layout108.xml"/><Relationship Id="rId2" Type="http://schemas.openxmlformats.org/officeDocument/2006/relationships/diagramData" Target="../diagrams/data108.xml"/><Relationship Id="rId1" Type="http://schemas.openxmlformats.org/officeDocument/2006/relationships/slideLayout" Target="../slideLayouts/slideLayout2.xml"/><Relationship Id="rId6" Type="http://schemas.microsoft.com/office/2007/relationships/diagramDrawing" Target="../diagrams/drawing108.xml"/><Relationship Id="rId5" Type="http://schemas.openxmlformats.org/officeDocument/2006/relationships/diagramColors" Target="../diagrams/colors108.xml"/><Relationship Id="rId4" Type="http://schemas.openxmlformats.org/officeDocument/2006/relationships/diagramQuickStyle" Target="../diagrams/quickStyle108.xml"/></Relationships>
</file>

<file path=ppt/slides/_rels/slide109.xml.rels><?xml version="1.0" encoding="UTF-8" standalone="yes"?>
<Relationships xmlns="http://schemas.openxmlformats.org/package/2006/relationships"><Relationship Id="rId3" Type="http://schemas.openxmlformats.org/officeDocument/2006/relationships/diagramLayout" Target="../diagrams/layout109.xml"/><Relationship Id="rId2" Type="http://schemas.openxmlformats.org/officeDocument/2006/relationships/diagramData" Target="../diagrams/data109.xml"/><Relationship Id="rId1" Type="http://schemas.openxmlformats.org/officeDocument/2006/relationships/slideLayout" Target="../slideLayouts/slideLayout2.xml"/><Relationship Id="rId6" Type="http://schemas.microsoft.com/office/2007/relationships/diagramDrawing" Target="../diagrams/drawing109.xml"/><Relationship Id="rId5" Type="http://schemas.openxmlformats.org/officeDocument/2006/relationships/diagramColors" Target="../diagrams/colors109.xml"/><Relationship Id="rId4" Type="http://schemas.openxmlformats.org/officeDocument/2006/relationships/diagramQuickStyle" Target="../diagrams/quickStyle109.xml"/></Relationships>
</file>

<file path=ppt/slides/_rels/slide110.xml.rels><?xml version="1.0" encoding="UTF-8" standalone="yes"?>
<Relationships xmlns="http://schemas.openxmlformats.org/package/2006/relationships"><Relationship Id="rId3" Type="http://schemas.openxmlformats.org/officeDocument/2006/relationships/diagramLayout" Target="../diagrams/layout110.xml"/><Relationship Id="rId2" Type="http://schemas.openxmlformats.org/officeDocument/2006/relationships/diagramData" Target="../diagrams/data110.xml"/><Relationship Id="rId1" Type="http://schemas.openxmlformats.org/officeDocument/2006/relationships/slideLayout" Target="../slideLayouts/slideLayout2.xml"/><Relationship Id="rId6" Type="http://schemas.microsoft.com/office/2007/relationships/diagramDrawing" Target="../diagrams/drawing110.xml"/><Relationship Id="rId5" Type="http://schemas.openxmlformats.org/officeDocument/2006/relationships/diagramColors" Target="../diagrams/colors110.xml"/><Relationship Id="rId4" Type="http://schemas.openxmlformats.org/officeDocument/2006/relationships/diagramQuickStyle" Target="../diagrams/quickStyle110.xml"/></Relationships>
</file>

<file path=ppt/slides/_rels/slide111.xml.rels><?xml version="1.0" encoding="UTF-8" standalone="yes"?>
<Relationships xmlns="http://schemas.openxmlformats.org/package/2006/relationships"><Relationship Id="rId3" Type="http://schemas.openxmlformats.org/officeDocument/2006/relationships/diagramLayout" Target="../diagrams/layout111.xml"/><Relationship Id="rId2" Type="http://schemas.openxmlformats.org/officeDocument/2006/relationships/diagramData" Target="../diagrams/data111.xml"/><Relationship Id="rId1" Type="http://schemas.openxmlformats.org/officeDocument/2006/relationships/slideLayout" Target="../slideLayouts/slideLayout2.xml"/><Relationship Id="rId6" Type="http://schemas.microsoft.com/office/2007/relationships/diagramDrawing" Target="../diagrams/drawing111.xml"/><Relationship Id="rId5" Type="http://schemas.openxmlformats.org/officeDocument/2006/relationships/diagramColors" Target="../diagrams/colors111.xml"/><Relationship Id="rId4" Type="http://schemas.openxmlformats.org/officeDocument/2006/relationships/diagramQuickStyle" Target="../diagrams/quickStyle111.xml"/></Relationships>
</file>

<file path=ppt/slides/_rels/slide112.xml.rels><?xml version="1.0" encoding="UTF-8" standalone="yes"?>
<Relationships xmlns="http://schemas.openxmlformats.org/package/2006/relationships"><Relationship Id="rId3" Type="http://schemas.openxmlformats.org/officeDocument/2006/relationships/diagramLayout" Target="../diagrams/layout112.xml"/><Relationship Id="rId2" Type="http://schemas.openxmlformats.org/officeDocument/2006/relationships/diagramData" Target="../diagrams/data112.xml"/><Relationship Id="rId1" Type="http://schemas.openxmlformats.org/officeDocument/2006/relationships/slideLayout" Target="../slideLayouts/slideLayout2.xml"/><Relationship Id="rId6" Type="http://schemas.microsoft.com/office/2007/relationships/diagramDrawing" Target="../diagrams/drawing112.xml"/><Relationship Id="rId5" Type="http://schemas.openxmlformats.org/officeDocument/2006/relationships/diagramColors" Target="../diagrams/colors112.xml"/><Relationship Id="rId4" Type="http://schemas.openxmlformats.org/officeDocument/2006/relationships/diagramQuickStyle" Target="../diagrams/quickStyle112.xml"/></Relationships>
</file>

<file path=ppt/slides/_rels/slide113.xml.rels><?xml version="1.0" encoding="UTF-8" standalone="yes"?>
<Relationships xmlns="http://schemas.openxmlformats.org/package/2006/relationships"><Relationship Id="rId3" Type="http://schemas.openxmlformats.org/officeDocument/2006/relationships/diagramLayout" Target="../diagrams/layout113.xml"/><Relationship Id="rId2" Type="http://schemas.openxmlformats.org/officeDocument/2006/relationships/diagramData" Target="../diagrams/data113.xml"/><Relationship Id="rId1" Type="http://schemas.openxmlformats.org/officeDocument/2006/relationships/slideLayout" Target="../slideLayouts/slideLayout2.xml"/><Relationship Id="rId6" Type="http://schemas.microsoft.com/office/2007/relationships/diagramDrawing" Target="../diagrams/drawing113.xml"/><Relationship Id="rId5" Type="http://schemas.openxmlformats.org/officeDocument/2006/relationships/diagramColors" Target="../diagrams/colors113.xml"/><Relationship Id="rId4" Type="http://schemas.openxmlformats.org/officeDocument/2006/relationships/diagramQuickStyle" Target="../diagrams/quickStyle113.xml"/></Relationships>
</file>

<file path=ppt/slides/_rels/slide114.xml.rels><?xml version="1.0" encoding="UTF-8" standalone="yes"?>
<Relationships xmlns="http://schemas.openxmlformats.org/package/2006/relationships"><Relationship Id="rId8" Type="http://schemas.openxmlformats.org/officeDocument/2006/relationships/hyperlink" Target="https://blog.klipse.tech/dop/2022/06/22/principles-of-dop.html" TargetMode="External"/><Relationship Id="rId3" Type="http://schemas.openxmlformats.org/officeDocument/2006/relationships/diagramLayout" Target="../diagrams/layout114.xml"/><Relationship Id="rId7" Type="http://schemas.openxmlformats.org/officeDocument/2006/relationships/hyperlink" Target="https://www.orientsoftware.com/blog/dod-programming/" TargetMode="External"/><Relationship Id="rId2" Type="http://schemas.openxmlformats.org/officeDocument/2006/relationships/diagramData" Target="../diagrams/data114.xml"/><Relationship Id="rId1" Type="http://schemas.openxmlformats.org/officeDocument/2006/relationships/slideLayout" Target="../slideLayouts/slideLayout2.xml"/><Relationship Id="rId6" Type="http://schemas.microsoft.com/office/2007/relationships/diagramDrawing" Target="../diagrams/drawing114.xml"/><Relationship Id="rId11" Type="http://schemas.openxmlformats.org/officeDocument/2006/relationships/hyperlink" Target="https://github.com/dbartolini/data-oriented-design" TargetMode="External"/><Relationship Id="rId5" Type="http://schemas.openxmlformats.org/officeDocument/2006/relationships/diagramColors" Target="../diagrams/colors114.xml"/><Relationship Id="rId10" Type="http://schemas.openxmlformats.org/officeDocument/2006/relationships/hyperlink" Target="https://giannisakritidis.com/blog/Data-Driven-Code-Design/" TargetMode="External"/><Relationship Id="rId4" Type="http://schemas.openxmlformats.org/officeDocument/2006/relationships/diagramQuickStyle" Target="../diagrams/quickStyle114.xml"/><Relationship Id="rId9" Type="http://schemas.openxmlformats.org/officeDocument/2006/relationships/hyperlink" Target="https://learn.unity.com/course/dots-best-practices/tutorial/part-1-understand-data-oriented-design?version=2022.3" TargetMode="External"/></Relationships>
</file>

<file path=ppt/slides/_rels/slide115.xml.rels><?xml version="1.0" encoding="UTF-8" standalone="yes"?>
<Relationships xmlns="http://schemas.openxmlformats.org/package/2006/relationships"><Relationship Id="rId3" Type="http://schemas.openxmlformats.org/officeDocument/2006/relationships/diagramLayout" Target="../diagrams/layout115.xml"/><Relationship Id="rId7" Type="http://schemas.openxmlformats.org/officeDocument/2006/relationships/image" Target="../media/image30.png"/><Relationship Id="rId2" Type="http://schemas.openxmlformats.org/officeDocument/2006/relationships/diagramData" Target="../diagrams/data115.xml"/><Relationship Id="rId1" Type="http://schemas.openxmlformats.org/officeDocument/2006/relationships/slideLayout" Target="../slideLayouts/slideLayout2.xml"/><Relationship Id="rId6" Type="http://schemas.microsoft.com/office/2007/relationships/diagramDrawing" Target="../diagrams/drawing115.xml"/><Relationship Id="rId5" Type="http://schemas.openxmlformats.org/officeDocument/2006/relationships/diagramColors" Target="../diagrams/colors115.xml"/><Relationship Id="rId4" Type="http://schemas.openxmlformats.org/officeDocument/2006/relationships/diagramQuickStyle" Target="../diagrams/quickStyle115.xml"/></Relationships>
</file>

<file path=ppt/slides/_rels/slide116.xml.rels><?xml version="1.0" encoding="UTF-8" standalone="yes"?>
<Relationships xmlns="http://schemas.openxmlformats.org/package/2006/relationships"><Relationship Id="rId3" Type="http://schemas.openxmlformats.org/officeDocument/2006/relationships/diagramLayout" Target="../diagrams/layout116.xml"/><Relationship Id="rId7" Type="http://schemas.openxmlformats.org/officeDocument/2006/relationships/image" Target="../media/image31.png"/><Relationship Id="rId2" Type="http://schemas.openxmlformats.org/officeDocument/2006/relationships/diagramData" Target="../diagrams/data116.xml"/><Relationship Id="rId1" Type="http://schemas.openxmlformats.org/officeDocument/2006/relationships/slideLayout" Target="../slideLayouts/slideLayout2.xml"/><Relationship Id="rId6" Type="http://schemas.microsoft.com/office/2007/relationships/diagramDrawing" Target="../diagrams/drawing116.xml"/><Relationship Id="rId5" Type="http://schemas.openxmlformats.org/officeDocument/2006/relationships/diagramColors" Target="../diagrams/colors116.xml"/><Relationship Id="rId4" Type="http://schemas.openxmlformats.org/officeDocument/2006/relationships/diagramQuickStyle" Target="../diagrams/quickStyle116.xml"/></Relationships>
</file>

<file path=ppt/slides/_rels/slide117.xml.rels><?xml version="1.0" encoding="UTF-8" standalone="yes"?>
<Relationships xmlns="http://schemas.openxmlformats.org/package/2006/relationships"><Relationship Id="rId3" Type="http://schemas.openxmlformats.org/officeDocument/2006/relationships/diagramLayout" Target="../diagrams/layout117.xml"/><Relationship Id="rId7" Type="http://schemas.openxmlformats.org/officeDocument/2006/relationships/image" Target="../media/image32.png"/><Relationship Id="rId2" Type="http://schemas.openxmlformats.org/officeDocument/2006/relationships/diagramData" Target="../diagrams/data117.xml"/><Relationship Id="rId1" Type="http://schemas.openxmlformats.org/officeDocument/2006/relationships/slideLayout" Target="../slideLayouts/slideLayout2.xml"/><Relationship Id="rId6" Type="http://schemas.microsoft.com/office/2007/relationships/diagramDrawing" Target="../diagrams/drawing117.xml"/><Relationship Id="rId5" Type="http://schemas.openxmlformats.org/officeDocument/2006/relationships/diagramColors" Target="../diagrams/colors117.xml"/><Relationship Id="rId4" Type="http://schemas.openxmlformats.org/officeDocument/2006/relationships/diagramQuickStyle" Target="../diagrams/quickStyle117.xml"/></Relationships>
</file>

<file path=ppt/slides/_rels/slide118.xml.rels><?xml version="1.0" encoding="UTF-8" standalone="yes"?>
<Relationships xmlns="http://schemas.openxmlformats.org/package/2006/relationships"><Relationship Id="rId8" Type="http://schemas.openxmlformats.org/officeDocument/2006/relationships/hyperlink" Target="https://lukewickstead.wordpress.com/2014/02/07/processes-threads-appdomains-object-contexts/" TargetMode="External"/><Relationship Id="rId3" Type="http://schemas.openxmlformats.org/officeDocument/2006/relationships/diagramLayout" Target="../diagrams/layout118.xml"/><Relationship Id="rId7" Type="http://schemas.openxmlformats.org/officeDocument/2006/relationships/image" Target="../media/image33.jpeg"/><Relationship Id="rId2" Type="http://schemas.openxmlformats.org/officeDocument/2006/relationships/diagramData" Target="../diagrams/data118.xml"/><Relationship Id="rId1" Type="http://schemas.openxmlformats.org/officeDocument/2006/relationships/slideLayout" Target="../slideLayouts/slideLayout2.xml"/><Relationship Id="rId6" Type="http://schemas.microsoft.com/office/2007/relationships/diagramDrawing" Target="../diagrams/drawing118.xml"/><Relationship Id="rId5" Type="http://schemas.openxmlformats.org/officeDocument/2006/relationships/diagramColors" Target="../diagrams/colors118.xml"/><Relationship Id="rId4" Type="http://schemas.openxmlformats.org/officeDocument/2006/relationships/diagramQuickStyle" Target="../diagrams/quickStyle118.xml"/></Relationships>
</file>

<file path=ppt/slides/_rels/slide119.xml.rels><?xml version="1.0" encoding="UTF-8" standalone="yes"?>
<Relationships xmlns="http://schemas.openxmlformats.org/package/2006/relationships"><Relationship Id="rId8" Type="http://schemas.openxmlformats.org/officeDocument/2006/relationships/hyperlink" Target="https://dotnettutorials.net/lesson/how-to-retrieve-data-from-a-thread-function/#google_vignette" TargetMode="External"/><Relationship Id="rId3" Type="http://schemas.openxmlformats.org/officeDocument/2006/relationships/diagramLayout" Target="../diagrams/layout119.xml"/><Relationship Id="rId7" Type="http://schemas.openxmlformats.org/officeDocument/2006/relationships/hyperlink" Target="https://dotnettutorials.net/lesson/how-to-pass-data-to-the-thread-function-in-a-type-safe-manner/" TargetMode="External"/><Relationship Id="rId2" Type="http://schemas.openxmlformats.org/officeDocument/2006/relationships/diagramData" Target="../diagrams/data119.xml"/><Relationship Id="rId1" Type="http://schemas.openxmlformats.org/officeDocument/2006/relationships/slideLayout" Target="../slideLayouts/slideLayout2.xml"/><Relationship Id="rId6" Type="http://schemas.microsoft.com/office/2007/relationships/diagramDrawing" Target="../diagrams/drawing119.xml"/><Relationship Id="rId11" Type="http://schemas.openxmlformats.org/officeDocument/2006/relationships/hyperlink" Target="https://learn.microsoft.com/en-us/dotnet/api/system.threading.tasks.task?view=net-8.0" TargetMode="External"/><Relationship Id="rId5" Type="http://schemas.openxmlformats.org/officeDocument/2006/relationships/diagramColors" Target="../diagrams/colors119.xml"/><Relationship Id="rId10" Type="http://schemas.openxmlformats.org/officeDocument/2006/relationships/hyperlink" Target="https://stackoverflow.com/questions/4130194/what-is-the-difference-between-task-and-thread" TargetMode="External"/><Relationship Id="rId4" Type="http://schemas.openxmlformats.org/officeDocument/2006/relationships/diagramQuickStyle" Target="../diagrams/quickStyle119.xml"/><Relationship Id="rId9" Type="http://schemas.openxmlformats.org/officeDocument/2006/relationships/hyperlink" Target="https://learn.microsoft.com/en-us/windows/win32/procthread/thread-pools" TargetMode="External"/></Relationships>
</file>

<file path=ppt/slides/_rels/slide120.xml.rels><?xml version="1.0" encoding="UTF-8" standalone="yes"?>
<Relationships xmlns="http://schemas.openxmlformats.org/package/2006/relationships"><Relationship Id="rId3" Type="http://schemas.openxmlformats.org/officeDocument/2006/relationships/diagramLayout" Target="../diagrams/layout120.xml"/><Relationship Id="rId7" Type="http://schemas.openxmlformats.org/officeDocument/2006/relationships/image" Target="../media/image34.png"/><Relationship Id="rId2" Type="http://schemas.openxmlformats.org/officeDocument/2006/relationships/diagramData" Target="../diagrams/data120.xml"/><Relationship Id="rId1" Type="http://schemas.openxmlformats.org/officeDocument/2006/relationships/slideLayout" Target="../slideLayouts/slideLayout2.xml"/><Relationship Id="rId6" Type="http://schemas.microsoft.com/office/2007/relationships/diagramDrawing" Target="../diagrams/drawing120.xml"/><Relationship Id="rId5" Type="http://schemas.openxmlformats.org/officeDocument/2006/relationships/diagramColors" Target="../diagrams/colors120.xml"/><Relationship Id="rId4" Type="http://schemas.openxmlformats.org/officeDocument/2006/relationships/diagramQuickStyle" Target="../diagrams/quickStyle120.xml"/></Relationships>
</file>

<file path=ppt/slides/_rels/slide121.xml.rels><?xml version="1.0" encoding="UTF-8" standalone="yes"?>
<Relationships xmlns="http://schemas.openxmlformats.org/package/2006/relationships"><Relationship Id="rId3" Type="http://schemas.openxmlformats.org/officeDocument/2006/relationships/diagramLayout" Target="../diagrams/layout121.xml"/><Relationship Id="rId2" Type="http://schemas.openxmlformats.org/officeDocument/2006/relationships/diagramData" Target="../diagrams/data121.xml"/><Relationship Id="rId1" Type="http://schemas.openxmlformats.org/officeDocument/2006/relationships/slideLayout" Target="../slideLayouts/slideLayout2.xml"/><Relationship Id="rId6" Type="http://schemas.microsoft.com/office/2007/relationships/diagramDrawing" Target="../diagrams/drawing121.xml"/><Relationship Id="rId5" Type="http://schemas.openxmlformats.org/officeDocument/2006/relationships/diagramColors" Target="../diagrams/colors121.xml"/><Relationship Id="rId4" Type="http://schemas.openxmlformats.org/officeDocument/2006/relationships/diagramQuickStyle" Target="../diagrams/quickStyle121.xml"/></Relationships>
</file>

<file path=ppt/slides/_rels/slide122.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diagramLayout" Target="../diagrams/layout122.xml"/><Relationship Id="rId7" Type="http://schemas.openxmlformats.org/officeDocument/2006/relationships/hyperlink" Target="https://www.wallarm.com/what/what-is-a-race-condition" TargetMode="External"/><Relationship Id="rId2" Type="http://schemas.openxmlformats.org/officeDocument/2006/relationships/diagramData" Target="../diagrams/data122.xml"/><Relationship Id="rId1" Type="http://schemas.openxmlformats.org/officeDocument/2006/relationships/slideLayout" Target="../slideLayouts/slideLayout2.xml"/><Relationship Id="rId6" Type="http://schemas.microsoft.com/office/2007/relationships/diagramDrawing" Target="../diagrams/drawing122.xml"/><Relationship Id="rId5" Type="http://schemas.openxmlformats.org/officeDocument/2006/relationships/diagramColors" Target="../diagrams/colors122.xml"/><Relationship Id="rId4" Type="http://schemas.openxmlformats.org/officeDocument/2006/relationships/diagramQuickStyle" Target="../diagrams/quickStyle122.xml"/><Relationship Id="rId9" Type="http://schemas.openxmlformats.org/officeDocument/2006/relationships/hyperlink" Target="https://blog.bytebytego.com/p/ep112-what-is-a-deadlock" TargetMode="External"/></Relationships>
</file>

<file path=ppt/slides/_rels/slide123.xml.rels><?xml version="1.0" encoding="UTF-8" standalone="yes"?>
<Relationships xmlns="http://schemas.openxmlformats.org/package/2006/relationships"><Relationship Id="rId3" Type="http://schemas.openxmlformats.org/officeDocument/2006/relationships/diagramLayout" Target="../diagrams/layout123.xml"/><Relationship Id="rId2" Type="http://schemas.openxmlformats.org/officeDocument/2006/relationships/diagramData" Target="../diagrams/data123.xml"/><Relationship Id="rId1" Type="http://schemas.openxmlformats.org/officeDocument/2006/relationships/slideLayout" Target="../slideLayouts/slideLayout2.xml"/><Relationship Id="rId6" Type="http://schemas.microsoft.com/office/2007/relationships/diagramDrawing" Target="../diagrams/drawing123.xml"/><Relationship Id="rId5" Type="http://schemas.openxmlformats.org/officeDocument/2006/relationships/diagramColors" Target="../diagrams/colors123.xml"/><Relationship Id="rId4" Type="http://schemas.openxmlformats.org/officeDocument/2006/relationships/diagramQuickStyle" Target="../diagrams/quickStyle123.xml"/></Relationships>
</file>

<file path=ppt/slides/_rels/slide124.xml.rels><?xml version="1.0" encoding="UTF-8" standalone="yes"?>
<Relationships xmlns="http://schemas.openxmlformats.org/package/2006/relationships"><Relationship Id="rId3" Type="http://schemas.openxmlformats.org/officeDocument/2006/relationships/diagramLayout" Target="../diagrams/layout124.xml"/><Relationship Id="rId2" Type="http://schemas.openxmlformats.org/officeDocument/2006/relationships/diagramData" Target="../diagrams/data124.xml"/><Relationship Id="rId1" Type="http://schemas.openxmlformats.org/officeDocument/2006/relationships/slideLayout" Target="../slideLayouts/slideLayout2.xml"/><Relationship Id="rId6" Type="http://schemas.microsoft.com/office/2007/relationships/diagramDrawing" Target="../diagrams/drawing124.xml"/><Relationship Id="rId5" Type="http://schemas.openxmlformats.org/officeDocument/2006/relationships/diagramColors" Target="../diagrams/colors124.xml"/><Relationship Id="rId4" Type="http://schemas.openxmlformats.org/officeDocument/2006/relationships/diagramQuickStyle" Target="../diagrams/quickStyle124.xml"/></Relationships>
</file>

<file path=ppt/slides/_rels/slide125.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diagramLayout" Target="../diagrams/layout125.xml"/><Relationship Id="rId7" Type="http://schemas.openxmlformats.org/officeDocument/2006/relationships/image" Target="../media/image36.png"/><Relationship Id="rId2" Type="http://schemas.openxmlformats.org/officeDocument/2006/relationships/diagramData" Target="../diagrams/data125.xml"/><Relationship Id="rId1" Type="http://schemas.openxmlformats.org/officeDocument/2006/relationships/slideLayout" Target="../slideLayouts/slideLayout2.xml"/><Relationship Id="rId6" Type="http://schemas.microsoft.com/office/2007/relationships/diagramDrawing" Target="../diagrams/drawing125.xml"/><Relationship Id="rId5" Type="http://schemas.openxmlformats.org/officeDocument/2006/relationships/diagramColors" Target="../diagrams/colors125.xml"/><Relationship Id="rId4" Type="http://schemas.openxmlformats.org/officeDocument/2006/relationships/diagramQuickStyle" Target="../diagrams/quickStyle125.xml"/></Relationships>
</file>

<file path=ppt/slides/_rels/slide126.xml.rels><?xml version="1.0" encoding="UTF-8" standalone="yes"?>
<Relationships xmlns="http://schemas.openxmlformats.org/package/2006/relationships"><Relationship Id="rId3" Type="http://schemas.openxmlformats.org/officeDocument/2006/relationships/diagramLayout" Target="../diagrams/layout126.xml"/><Relationship Id="rId7" Type="http://schemas.openxmlformats.org/officeDocument/2006/relationships/hyperlink" Target="https://medium.com/@kamaleshs48/lock-vs-monitor-in-c-a16560c49a23" TargetMode="External"/><Relationship Id="rId2" Type="http://schemas.openxmlformats.org/officeDocument/2006/relationships/diagramData" Target="../diagrams/data126.xml"/><Relationship Id="rId1" Type="http://schemas.openxmlformats.org/officeDocument/2006/relationships/slideLayout" Target="../slideLayouts/slideLayout2.xml"/><Relationship Id="rId6" Type="http://schemas.microsoft.com/office/2007/relationships/diagramDrawing" Target="../diagrams/drawing126.xml"/><Relationship Id="rId5" Type="http://schemas.openxmlformats.org/officeDocument/2006/relationships/diagramColors" Target="../diagrams/colors126.xml"/><Relationship Id="rId4" Type="http://schemas.openxmlformats.org/officeDocument/2006/relationships/diagramQuickStyle" Target="../diagrams/quickStyle126.xml"/></Relationships>
</file>

<file path=ppt/slides/_rels/slide127.xml.rels><?xml version="1.0" encoding="UTF-8" standalone="yes"?>
<Relationships xmlns="http://schemas.openxmlformats.org/package/2006/relationships"><Relationship Id="rId3" Type="http://schemas.openxmlformats.org/officeDocument/2006/relationships/diagramLayout" Target="../diagrams/layout127.xml"/><Relationship Id="rId2" Type="http://schemas.openxmlformats.org/officeDocument/2006/relationships/diagramData" Target="../diagrams/data127.xml"/><Relationship Id="rId1" Type="http://schemas.openxmlformats.org/officeDocument/2006/relationships/slideLayout" Target="../slideLayouts/slideLayout2.xml"/><Relationship Id="rId6" Type="http://schemas.microsoft.com/office/2007/relationships/diagramDrawing" Target="../diagrams/drawing127.xml"/><Relationship Id="rId5" Type="http://schemas.openxmlformats.org/officeDocument/2006/relationships/diagramColors" Target="../diagrams/colors127.xml"/><Relationship Id="rId4" Type="http://schemas.openxmlformats.org/officeDocument/2006/relationships/diagramQuickStyle" Target="../diagrams/quickStyle127.xml"/></Relationships>
</file>

<file path=ppt/slides/_rels/slide128.xml.rels><?xml version="1.0" encoding="UTF-8" standalone="yes"?>
<Relationships xmlns="http://schemas.openxmlformats.org/package/2006/relationships"><Relationship Id="rId3" Type="http://schemas.openxmlformats.org/officeDocument/2006/relationships/diagramLayout" Target="../diagrams/layout128.xml"/><Relationship Id="rId2" Type="http://schemas.openxmlformats.org/officeDocument/2006/relationships/diagramData" Target="../diagrams/data128.xml"/><Relationship Id="rId1" Type="http://schemas.openxmlformats.org/officeDocument/2006/relationships/slideLayout" Target="../slideLayouts/slideLayout2.xml"/><Relationship Id="rId6" Type="http://schemas.microsoft.com/office/2007/relationships/diagramDrawing" Target="../diagrams/drawing128.xml"/><Relationship Id="rId5" Type="http://schemas.openxmlformats.org/officeDocument/2006/relationships/diagramColors" Target="../diagrams/colors128.xml"/><Relationship Id="rId4" Type="http://schemas.openxmlformats.org/officeDocument/2006/relationships/diagramQuickStyle" Target="../diagrams/quickStyle128.xml"/></Relationships>
</file>

<file path=ppt/slides/_rels/slide129.xml.rels><?xml version="1.0" encoding="UTF-8" standalone="yes"?>
<Relationships xmlns="http://schemas.openxmlformats.org/package/2006/relationships"><Relationship Id="rId8" Type="http://schemas.openxmlformats.org/officeDocument/2006/relationships/hyperlink" Target="https://stackoverflow.com/questions/1795143/synchronization-between-two-processes-in-c" TargetMode="External"/><Relationship Id="rId3" Type="http://schemas.openxmlformats.org/officeDocument/2006/relationships/diagramLayout" Target="../diagrams/layout129.xml"/><Relationship Id="rId7" Type="http://schemas.openxmlformats.org/officeDocument/2006/relationships/image" Target="../media/image38.png"/><Relationship Id="rId2" Type="http://schemas.openxmlformats.org/officeDocument/2006/relationships/diagramData" Target="../diagrams/data129.xml"/><Relationship Id="rId1" Type="http://schemas.openxmlformats.org/officeDocument/2006/relationships/slideLayout" Target="../slideLayouts/slideLayout2.xml"/><Relationship Id="rId6" Type="http://schemas.microsoft.com/office/2007/relationships/diagramDrawing" Target="../diagrams/drawing129.xml"/><Relationship Id="rId5" Type="http://schemas.openxmlformats.org/officeDocument/2006/relationships/diagramColors" Target="../diagrams/colors129.xml"/><Relationship Id="rId4" Type="http://schemas.openxmlformats.org/officeDocument/2006/relationships/diagramQuickStyle" Target="../diagrams/quickStyle129.xml"/><Relationship Id="rId9" Type="http://schemas.openxmlformats.org/officeDocument/2006/relationships/hyperlink" Target="https://iq.direct/blog/54-using-c-mutexes-for-inter-interprocess-synchronization.html" TargetMode="External"/></Relationships>
</file>

<file path=ppt/slides/_rels/slide130.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diagramLayout" Target="../diagrams/layout130.xml"/><Relationship Id="rId7" Type="http://schemas.openxmlformats.org/officeDocument/2006/relationships/image" Target="../media/image39.png"/><Relationship Id="rId2" Type="http://schemas.openxmlformats.org/officeDocument/2006/relationships/diagramData" Target="../diagrams/data130.xml"/><Relationship Id="rId1" Type="http://schemas.openxmlformats.org/officeDocument/2006/relationships/slideLayout" Target="../slideLayouts/slideLayout2.xml"/><Relationship Id="rId6" Type="http://schemas.microsoft.com/office/2007/relationships/diagramDrawing" Target="../diagrams/drawing130.xml"/><Relationship Id="rId5" Type="http://schemas.openxmlformats.org/officeDocument/2006/relationships/diagramColors" Target="../diagrams/colors130.xml"/><Relationship Id="rId4" Type="http://schemas.openxmlformats.org/officeDocument/2006/relationships/diagramQuickStyle" Target="../diagrams/quickStyle130.xml"/></Relationships>
</file>

<file path=ppt/slides/_rels/slide131.xml.rels><?xml version="1.0" encoding="UTF-8" standalone="yes"?>
<Relationships xmlns="http://schemas.openxmlformats.org/package/2006/relationships"><Relationship Id="rId3" Type="http://schemas.openxmlformats.org/officeDocument/2006/relationships/diagramLayout" Target="../diagrams/layout131.xml"/><Relationship Id="rId2" Type="http://schemas.openxmlformats.org/officeDocument/2006/relationships/diagramData" Target="../diagrams/data131.xml"/><Relationship Id="rId1" Type="http://schemas.openxmlformats.org/officeDocument/2006/relationships/slideLayout" Target="../slideLayouts/slideLayout2.xml"/><Relationship Id="rId6" Type="http://schemas.microsoft.com/office/2007/relationships/diagramDrawing" Target="../diagrams/drawing131.xml"/><Relationship Id="rId5" Type="http://schemas.openxmlformats.org/officeDocument/2006/relationships/diagramColors" Target="../diagrams/colors131.xml"/><Relationship Id="rId4" Type="http://schemas.openxmlformats.org/officeDocument/2006/relationships/diagramQuickStyle" Target="../diagrams/quickStyle131.xml"/></Relationships>
</file>

<file path=ppt/slides/_rels/slide132.xml.rels><?xml version="1.0" encoding="UTF-8" standalone="yes"?>
<Relationships xmlns="http://schemas.openxmlformats.org/package/2006/relationships"><Relationship Id="rId3" Type="http://schemas.openxmlformats.org/officeDocument/2006/relationships/diagramLayout" Target="../diagrams/layout132.xml"/><Relationship Id="rId2" Type="http://schemas.openxmlformats.org/officeDocument/2006/relationships/diagramData" Target="../diagrams/data132.xml"/><Relationship Id="rId1" Type="http://schemas.openxmlformats.org/officeDocument/2006/relationships/slideLayout" Target="../slideLayouts/slideLayout2.xml"/><Relationship Id="rId6" Type="http://schemas.microsoft.com/office/2007/relationships/diagramDrawing" Target="../diagrams/drawing132.xml"/><Relationship Id="rId5" Type="http://schemas.openxmlformats.org/officeDocument/2006/relationships/diagramColors" Target="../diagrams/colors132.xml"/><Relationship Id="rId4" Type="http://schemas.openxmlformats.org/officeDocument/2006/relationships/diagramQuickStyle" Target="../diagrams/quickStyle132.xml"/></Relationships>
</file>

<file path=ppt/slides/_rels/slide133.xml.rels><?xml version="1.0" encoding="UTF-8" standalone="yes"?>
<Relationships xmlns="http://schemas.openxmlformats.org/package/2006/relationships"><Relationship Id="rId3" Type="http://schemas.openxmlformats.org/officeDocument/2006/relationships/diagramLayout" Target="../diagrams/layout133.xml"/><Relationship Id="rId7" Type="http://schemas.openxmlformats.org/officeDocument/2006/relationships/image" Target="../media/image41.png"/><Relationship Id="rId2" Type="http://schemas.openxmlformats.org/officeDocument/2006/relationships/diagramData" Target="../diagrams/data133.xml"/><Relationship Id="rId1" Type="http://schemas.openxmlformats.org/officeDocument/2006/relationships/slideLayout" Target="../slideLayouts/slideLayout2.xml"/><Relationship Id="rId6" Type="http://schemas.microsoft.com/office/2007/relationships/diagramDrawing" Target="../diagrams/drawing133.xml"/><Relationship Id="rId5" Type="http://schemas.openxmlformats.org/officeDocument/2006/relationships/diagramColors" Target="../diagrams/colors133.xml"/><Relationship Id="rId4" Type="http://schemas.openxmlformats.org/officeDocument/2006/relationships/diagramQuickStyle" Target="../diagrams/quickStyle133.xml"/></Relationships>
</file>

<file path=ppt/slides/_rels/slide134.xml.rels><?xml version="1.0" encoding="UTF-8" standalone="yes"?>
<Relationships xmlns="http://schemas.openxmlformats.org/package/2006/relationships"><Relationship Id="rId3" Type="http://schemas.openxmlformats.org/officeDocument/2006/relationships/diagramLayout" Target="../diagrams/layout134.xml"/><Relationship Id="rId7" Type="http://schemas.openxmlformats.org/officeDocument/2006/relationships/image" Target="../media/image42.png"/><Relationship Id="rId2" Type="http://schemas.openxmlformats.org/officeDocument/2006/relationships/diagramData" Target="../diagrams/data134.xml"/><Relationship Id="rId1" Type="http://schemas.openxmlformats.org/officeDocument/2006/relationships/slideLayout" Target="../slideLayouts/slideLayout2.xml"/><Relationship Id="rId6" Type="http://schemas.microsoft.com/office/2007/relationships/diagramDrawing" Target="../diagrams/drawing134.xml"/><Relationship Id="rId5" Type="http://schemas.openxmlformats.org/officeDocument/2006/relationships/diagramColors" Target="../diagrams/colors134.xml"/><Relationship Id="rId4" Type="http://schemas.openxmlformats.org/officeDocument/2006/relationships/diagramQuickStyle" Target="../diagrams/quickStyle134.xml"/></Relationships>
</file>

<file path=ppt/slides/_rels/slide135.xml.rels><?xml version="1.0" encoding="UTF-8" standalone="yes"?>
<Relationships xmlns="http://schemas.openxmlformats.org/package/2006/relationships"><Relationship Id="rId3" Type="http://schemas.openxmlformats.org/officeDocument/2006/relationships/diagramLayout" Target="../diagrams/layout135.xml"/><Relationship Id="rId7" Type="http://schemas.openxmlformats.org/officeDocument/2006/relationships/image" Target="../media/image43.png"/><Relationship Id="rId2" Type="http://schemas.openxmlformats.org/officeDocument/2006/relationships/diagramData" Target="../diagrams/data135.xml"/><Relationship Id="rId1" Type="http://schemas.openxmlformats.org/officeDocument/2006/relationships/slideLayout" Target="../slideLayouts/slideLayout2.xml"/><Relationship Id="rId6" Type="http://schemas.microsoft.com/office/2007/relationships/diagramDrawing" Target="../diagrams/drawing135.xml"/><Relationship Id="rId5" Type="http://schemas.openxmlformats.org/officeDocument/2006/relationships/diagramColors" Target="../diagrams/colors135.xml"/><Relationship Id="rId4" Type="http://schemas.openxmlformats.org/officeDocument/2006/relationships/diagramQuickStyle" Target="../diagrams/quickStyle135.xml"/></Relationships>
</file>

<file path=ppt/slides/_rels/slide136.xml.rels><?xml version="1.0" encoding="UTF-8" standalone="yes"?>
<Relationships xmlns="http://schemas.openxmlformats.org/package/2006/relationships"><Relationship Id="rId3" Type="http://schemas.openxmlformats.org/officeDocument/2006/relationships/diagramLayout" Target="../diagrams/layout136.xml"/><Relationship Id="rId2" Type="http://schemas.openxmlformats.org/officeDocument/2006/relationships/diagramData" Target="../diagrams/data136.xml"/><Relationship Id="rId1" Type="http://schemas.openxmlformats.org/officeDocument/2006/relationships/slideLayout" Target="../slideLayouts/slideLayout2.xml"/><Relationship Id="rId6" Type="http://schemas.microsoft.com/office/2007/relationships/diagramDrawing" Target="../diagrams/drawing136.xml"/><Relationship Id="rId5" Type="http://schemas.openxmlformats.org/officeDocument/2006/relationships/diagramColors" Target="../diagrams/colors136.xml"/><Relationship Id="rId4" Type="http://schemas.openxmlformats.org/officeDocument/2006/relationships/diagramQuickStyle" Target="../diagrams/quickStyle136.xml"/></Relationships>
</file>

<file path=ppt/slides/_rels/slide137.xml.rels><?xml version="1.0" encoding="UTF-8" standalone="yes"?>
<Relationships xmlns="http://schemas.openxmlformats.org/package/2006/relationships"><Relationship Id="rId3" Type="http://schemas.openxmlformats.org/officeDocument/2006/relationships/diagramLayout" Target="../diagrams/layout137.xml"/><Relationship Id="rId7" Type="http://schemas.openxmlformats.org/officeDocument/2006/relationships/image" Target="../media/image44.png"/><Relationship Id="rId2" Type="http://schemas.openxmlformats.org/officeDocument/2006/relationships/diagramData" Target="../diagrams/data137.xml"/><Relationship Id="rId1" Type="http://schemas.openxmlformats.org/officeDocument/2006/relationships/slideLayout" Target="../slideLayouts/slideLayout2.xml"/><Relationship Id="rId6" Type="http://schemas.microsoft.com/office/2007/relationships/diagramDrawing" Target="../diagrams/drawing137.xml"/><Relationship Id="rId5" Type="http://schemas.openxmlformats.org/officeDocument/2006/relationships/diagramColors" Target="../diagrams/colors137.xml"/><Relationship Id="rId4" Type="http://schemas.openxmlformats.org/officeDocument/2006/relationships/diagramQuickStyle" Target="../diagrams/quickStyle137.xml"/></Relationships>
</file>

<file path=ppt/slides/_rels/slide138.xml.rels><?xml version="1.0" encoding="UTF-8" standalone="yes"?>
<Relationships xmlns="http://schemas.openxmlformats.org/package/2006/relationships"><Relationship Id="rId3" Type="http://schemas.openxmlformats.org/officeDocument/2006/relationships/diagramLayout" Target="../diagrams/layout138.xml"/><Relationship Id="rId7" Type="http://schemas.openxmlformats.org/officeDocument/2006/relationships/image" Target="../media/image45.png"/><Relationship Id="rId2" Type="http://schemas.openxmlformats.org/officeDocument/2006/relationships/diagramData" Target="../diagrams/data138.xml"/><Relationship Id="rId1" Type="http://schemas.openxmlformats.org/officeDocument/2006/relationships/slideLayout" Target="../slideLayouts/slideLayout2.xml"/><Relationship Id="rId6" Type="http://schemas.microsoft.com/office/2007/relationships/diagramDrawing" Target="../diagrams/drawing138.xml"/><Relationship Id="rId5" Type="http://schemas.openxmlformats.org/officeDocument/2006/relationships/diagramColors" Target="../diagrams/colors138.xml"/><Relationship Id="rId4" Type="http://schemas.openxmlformats.org/officeDocument/2006/relationships/diagramQuickStyle" Target="../diagrams/quickStyle138.xml"/></Relationships>
</file>

<file path=ppt/slides/_rels/slide139.xml.rels><?xml version="1.0" encoding="UTF-8" standalone="yes"?>
<Relationships xmlns="http://schemas.openxmlformats.org/package/2006/relationships"><Relationship Id="rId3" Type="http://schemas.openxmlformats.org/officeDocument/2006/relationships/diagramLayout" Target="../diagrams/layout139.xml"/><Relationship Id="rId7" Type="http://schemas.openxmlformats.org/officeDocument/2006/relationships/image" Target="../media/image46.png"/><Relationship Id="rId2" Type="http://schemas.openxmlformats.org/officeDocument/2006/relationships/diagramData" Target="../diagrams/data139.xml"/><Relationship Id="rId1" Type="http://schemas.openxmlformats.org/officeDocument/2006/relationships/slideLayout" Target="../slideLayouts/slideLayout2.xml"/><Relationship Id="rId6" Type="http://schemas.microsoft.com/office/2007/relationships/diagramDrawing" Target="../diagrams/drawing139.xml"/><Relationship Id="rId5" Type="http://schemas.openxmlformats.org/officeDocument/2006/relationships/diagramColors" Target="../diagrams/colors139.xml"/><Relationship Id="rId4" Type="http://schemas.openxmlformats.org/officeDocument/2006/relationships/diagramQuickStyle" Target="../diagrams/quickStyle139.xml"/></Relationships>
</file>

<file path=ppt/slides/_rels/slide140.xml.rels><?xml version="1.0" encoding="UTF-8" standalone="yes"?>
<Relationships xmlns="http://schemas.openxmlformats.org/package/2006/relationships"><Relationship Id="rId3" Type="http://schemas.openxmlformats.org/officeDocument/2006/relationships/diagramLayout" Target="../diagrams/layout140.xml"/><Relationship Id="rId7" Type="http://schemas.openxmlformats.org/officeDocument/2006/relationships/image" Target="../media/image47.png"/><Relationship Id="rId2" Type="http://schemas.openxmlformats.org/officeDocument/2006/relationships/diagramData" Target="../diagrams/data140.xml"/><Relationship Id="rId1" Type="http://schemas.openxmlformats.org/officeDocument/2006/relationships/slideLayout" Target="../slideLayouts/slideLayout2.xml"/><Relationship Id="rId6" Type="http://schemas.microsoft.com/office/2007/relationships/diagramDrawing" Target="../diagrams/drawing140.xml"/><Relationship Id="rId5" Type="http://schemas.openxmlformats.org/officeDocument/2006/relationships/diagramColors" Target="../diagrams/colors140.xml"/><Relationship Id="rId4" Type="http://schemas.openxmlformats.org/officeDocument/2006/relationships/diagramQuickStyle" Target="../diagrams/quickStyle140.xml"/></Relationships>
</file>

<file path=ppt/slides/_rels/slide141.xml.rels><?xml version="1.0" encoding="UTF-8" standalone="yes"?>
<Relationships xmlns="http://schemas.openxmlformats.org/package/2006/relationships"><Relationship Id="rId3" Type="http://schemas.openxmlformats.org/officeDocument/2006/relationships/diagramLayout" Target="../diagrams/layout141.xml"/><Relationship Id="rId7" Type="http://schemas.openxmlformats.org/officeDocument/2006/relationships/image" Target="../media/image48.png"/><Relationship Id="rId2" Type="http://schemas.openxmlformats.org/officeDocument/2006/relationships/diagramData" Target="../diagrams/data141.xml"/><Relationship Id="rId1" Type="http://schemas.openxmlformats.org/officeDocument/2006/relationships/slideLayout" Target="../slideLayouts/slideLayout2.xml"/><Relationship Id="rId6" Type="http://schemas.microsoft.com/office/2007/relationships/diagramDrawing" Target="../diagrams/drawing141.xml"/><Relationship Id="rId5" Type="http://schemas.openxmlformats.org/officeDocument/2006/relationships/diagramColors" Target="../diagrams/colors141.xml"/><Relationship Id="rId4" Type="http://schemas.openxmlformats.org/officeDocument/2006/relationships/diagramQuickStyle" Target="../diagrams/quickStyle141.xml"/></Relationships>
</file>

<file path=ppt/slides/_rels/slide142.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diagramLayout" Target="../diagrams/layout142.xml"/><Relationship Id="rId7" Type="http://schemas.openxmlformats.org/officeDocument/2006/relationships/image" Target="../media/image49.png"/><Relationship Id="rId2" Type="http://schemas.openxmlformats.org/officeDocument/2006/relationships/diagramData" Target="../diagrams/data142.xml"/><Relationship Id="rId1" Type="http://schemas.openxmlformats.org/officeDocument/2006/relationships/slideLayout" Target="../slideLayouts/slideLayout2.xml"/><Relationship Id="rId6" Type="http://schemas.microsoft.com/office/2007/relationships/diagramDrawing" Target="../diagrams/drawing142.xml"/><Relationship Id="rId5" Type="http://schemas.openxmlformats.org/officeDocument/2006/relationships/diagramColors" Target="../diagrams/colors142.xml"/><Relationship Id="rId4" Type="http://schemas.openxmlformats.org/officeDocument/2006/relationships/diagramQuickStyle" Target="../diagrams/quickStyle142.xml"/></Relationships>
</file>

<file path=ppt/slides/_rels/slide143.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diagramLayout" Target="../diagrams/layout143.xml"/><Relationship Id="rId7" Type="http://schemas.openxmlformats.org/officeDocument/2006/relationships/image" Target="../media/image49.png"/><Relationship Id="rId2" Type="http://schemas.openxmlformats.org/officeDocument/2006/relationships/diagramData" Target="../diagrams/data143.xml"/><Relationship Id="rId1" Type="http://schemas.openxmlformats.org/officeDocument/2006/relationships/slideLayout" Target="../slideLayouts/slideLayout2.xml"/><Relationship Id="rId6" Type="http://schemas.microsoft.com/office/2007/relationships/diagramDrawing" Target="../diagrams/drawing143.xml"/><Relationship Id="rId5" Type="http://schemas.openxmlformats.org/officeDocument/2006/relationships/diagramColors" Target="../diagrams/colors143.xml"/><Relationship Id="rId4" Type="http://schemas.openxmlformats.org/officeDocument/2006/relationships/diagramQuickStyle" Target="../diagrams/quickStyle143.xml"/></Relationships>
</file>

<file path=ppt/slides/_rels/slide144.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diagramLayout" Target="../diagrams/layout144.xml"/><Relationship Id="rId7" Type="http://schemas.openxmlformats.org/officeDocument/2006/relationships/image" Target="../media/image52.png"/><Relationship Id="rId2" Type="http://schemas.openxmlformats.org/officeDocument/2006/relationships/diagramData" Target="../diagrams/data144.xml"/><Relationship Id="rId1" Type="http://schemas.openxmlformats.org/officeDocument/2006/relationships/slideLayout" Target="../slideLayouts/slideLayout2.xml"/><Relationship Id="rId6" Type="http://schemas.microsoft.com/office/2007/relationships/diagramDrawing" Target="../diagrams/drawing144.xml"/><Relationship Id="rId5" Type="http://schemas.openxmlformats.org/officeDocument/2006/relationships/diagramColors" Target="../diagrams/colors144.xml"/><Relationship Id="rId4" Type="http://schemas.openxmlformats.org/officeDocument/2006/relationships/diagramQuickStyle" Target="../diagrams/quickStyle144.xml"/></Relationships>
</file>

<file path=ppt/slides/_rels/slide145.xml.rels><?xml version="1.0" encoding="UTF-8" standalone="yes"?>
<Relationships xmlns="http://schemas.openxmlformats.org/package/2006/relationships"><Relationship Id="rId3" Type="http://schemas.openxmlformats.org/officeDocument/2006/relationships/diagramLayout" Target="../diagrams/layout145.xml"/><Relationship Id="rId2" Type="http://schemas.openxmlformats.org/officeDocument/2006/relationships/diagramData" Target="../diagrams/data145.xml"/><Relationship Id="rId1" Type="http://schemas.openxmlformats.org/officeDocument/2006/relationships/slideLayout" Target="../slideLayouts/slideLayout2.xml"/><Relationship Id="rId6" Type="http://schemas.microsoft.com/office/2007/relationships/diagramDrawing" Target="../diagrams/drawing145.xml"/><Relationship Id="rId5" Type="http://schemas.openxmlformats.org/officeDocument/2006/relationships/diagramColors" Target="../diagrams/colors145.xml"/><Relationship Id="rId4" Type="http://schemas.openxmlformats.org/officeDocument/2006/relationships/diagramQuickStyle" Target="../diagrams/quickStyle145.xml"/></Relationships>
</file>

<file path=ppt/slides/_rels/slide146.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diagramLayout" Target="../diagrams/layout146.xml"/><Relationship Id="rId7" Type="http://schemas.openxmlformats.org/officeDocument/2006/relationships/image" Target="../media/image54.png"/><Relationship Id="rId2" Type="http://schemas.openxmlformats.org/officeDocument/2006/relationships/diagramData" Target="../diagrams/data146.xml"/><Relationship Id="rId1" Type="http://schemas.openxmlformats.org/officeDocument/2006/relationships/slideLayout" Target="../slideLayouts/slideLayout2.xml"/><Relationship Id="rId6" Type="http://schemas.microsoft.com/office/2007/relationships/diagramDrawing" Target="../diagrams/drawing146.xml"/><Relationship Id="rId5" Type="http://schemas.openxmlformats.org/officeDocument/2006/relationships/diagramColors" Target="../diagrams/colors146.xml"/><Relationship Id="rId4" Type="http://schemas.openxmlformats.org/officeDocument/2006/relationships/diagramQuickStyle" Target="../diagrams/quickStyle146.xml"/></Relationships>
</file>

<file path=ppt/slides/_rels/slide147.xml.rels><?xml version="1.0" encoding="UTF-8" standalone="yes"?>
<Relationships xmlns="http://schemas.openxmlformats.org/package/2006/relationships"><Relationship Id="rId8" Type="http://schemas.openxmlformats.org/officeDocument/2006/relationships/hyperlink" Target="https://medium.com/@erhan355/blockingcollection-vs-channels-in-c-whats-the-difference-8b742fc332f4" TargetMode="External"/><Relationship Id="rId13" Type="http://schemas.openxmlformats.org/officeDocument/2006/relationships/hyperlink" Target="https://medium.com/turbo-net/channels-in-dotnet-building-high-performance-producer-consumer-pipelines-d96a2bc6198c" TargetMode="External"/><Relationship Id="rId3" Type="http://schemas.openxmlformats.org/officeDocument/2006/relationships/diagramLayout" Target="../diagrams/layout147.xml"/><Relationship Id="rId7" Type="http://schemas.openxmlformats.org/officeDocument/2006/relationships/hyperlink" Target="https://www.c-sharpcorner.com/article/backpressure-pattern-design-principle/" TargetMode="External"/><Relationship Id="rId12" Type="http://schemas.openxmlformats.org/officeDocument/2006/relationships/hyperlink" Target="https://dev.to/stevsharp/tutorial-building-a-net-9-console-app-with-hangfire-and-channels-1g02" TargetMode="External"/><Relationship Id="rId2" Type="http://schemas.openxmlformats.org/officeDocument/2006/relationships/diagramData" Target="../diagrams/data147.xml"/><Relationship Id="rId1" Type="http://schemas.openxmlformats.org/officeDocument/2006/relationships/slideLayout" Target="../slideLayouts/slideLayout2.xml"/><Relationship Id="rId6" Type="http://schemas.microsoft.com/office/2007/relationships/diagramDrawing" Target="../diagrams/drawing147.xml"/><Relationship Id="rId11" Type="http://schemas.openxmlformats.org/officeDocument/2006/relationships/hyperlink" Target="https://github.com/jeremybytes/csharp-channels-presentation" TargetMode="External"/><Relationship Id="rId5" Type="http://schemas.openxmlformats.org/officeDocument/2006/relationships/diagramColors" Target="../diagrams/colors147.xml"/><Relationship Id="rId10" Type="http://schemas.openxmlformats.org/officeDocument/2006/relationships/hyperlink" Target="https://learn.microsoft.com/en-us/dotnet/core/extensions/channels" TargetMode="External"/><Relationship Id="rId4" Type="http://schemas.openxmlformats.org/officeDocument/2006/relationships/diagramQuickStyle" Target="../diagrams/quickStyle147.xml"/><Relationship Id="rId9" Type="http://schemas.openxmlformats.org/officeDocument/2006/relationships/hyperlink" Target="https://learn.microsoft.com/en-us/dotnet/standard/collections/thread-safe/blockingcollection-overview" TargetMode="External"/></Relationships>
</file>

<file path=ppt/slides/_rels/slide148.xml.rels><?xml version="1.0" encoding="UTF-8" standalone="yes"?>
<Relationships xmlns="http://schemas.openxmlformats.org/package/2006/relationships"><Relationship Id="rId3" Type="http://schemas.openxmlformats.org/officeDocument/2006/relationships/diagramLayout" Target="../diagrams/layout148.xml"/><Relationship Id="rId7" Type="http://schemas.openxmlformats.org/officeDocument/2006/relationships/image" Target="../media/image56.png"/><Relationship Id="rId2" Type="http://schemas.openxmlformats.org/officeDocument/2006/relationships/diagramData" Target="../diagrams/data148.xml"/><Relationship Id="rId1" Type="http://schemas.openxmlformats.org/officeDocument/2006/relationships/slideLayout" Target="../slideLayouts/slideLayout2.xml"/><Relationship Id="rId6" Type="http://schemas.microsoft.com/office/2007/relationships/diagramDrawing" Target="../diagrams/drawing148.xml"/><Relationship Id="rId5" Type="http://schemas.openxmlformats.org/officeDocument/2006/relationships/diagramColors" Target="../diagrams/colors148.xml"/><Relationship Id="rId4" Type="http://schemas.openxmlformats.org/officeDocument/2006/relationships/diagramQuickStyle" Target="../diagrams/quickStyle148.xml"/></Relationships>
</file>

<file path=ppt/slides/_rels/slide149.xml.rels><?xml version="1.0" encoding="UTF-8" standalone="yes"?>
<Relationships xmlns="http://schemas.openxmlformats.org/package/2006/relationships"><Relationship Id="rId8" Type="http://schemas.openxmlformats.org/officeDocument/2006/relationships/hyperlink" Target="https://www.c-sharpcorner.com/article/thread-safe-counters-and-flags-using-interlocked-in-net/" TargetMode="External"/><Relationship Id="rId3" Type="http://schemas.openxmlformats.org/officeDocument/2006/relationships/diagramLayout" Target="../diagrams/layout149.xml"/><Relationship Id="rId7" Type="http://schemas.openxmlformats.org/officeDocument/2006/relationships/hyperlink" Target="https://stackoverflow.com/questions/52196678/what-are-atomic-operations-for-newbies" TargetMode="External"/><Relationship Id="rId2" Type="http://schemas.openxmlformats.org/officeDocument/2006/relationships/diagramData" Target="../diagrams/data149.xml"/><Relationship Id="rId1" Type="http://schemas.openxmlformats.org/officeDocument/2006/relationships/slideLayout" Target="../slideLayouts/slideLayout2.xml"/><Relationship Id="rId6" Type="http://schemas.microsoft.com/office/2007/relationships/diagramDrawing" Target="../diagrams/drawing149.xml"/><Relationship Id="rId5" Type="http://schemas.openxmlformats.org/officeDocument/2006/relationships/diagramColors" Target="../diagrams/colors149.xml"/><Relationship Id="rId4" Type="http://schemas.openxmlformats.org/officeDocument/2006/relationships/diagramQuickStyle" Target="../diagrams/quickStyle149.xml"/><Relationship Id="rId9" Type="http://schemas.openxmlformats.org/officeDocument/2006/relationships/hyperlink" Target="https://en.wikipedia.org/wiki/Compare-and-swap" TargetMode="External"/></Relationships>
</file>

<file path=ppt/slides/_rels/slide150.xml.rels><?xml version="1.0" encoding="UTF-8" standalone="yes"?>
<Relationships xmlns="http://schemas.openxmlformats.org/package/2006/relationships"><Relationship Id="rId3" Type="http://schemas.openxmlformats.org/officeDocument/2006/relationships/diagramLayout" Target="../diagrams/layout150.xml"/><Relationship Id="rId7" Type="http://schemas.openxmlformats.org/officeDocument/2006/relationships/image" Target="../media/image57.png"/><Relationship Id="rId2" Type="http://schemas.openxmlformats.org/officeDocument/2006/relationships/diagramData" Target="../diagrams/data150.xml"/><Relationship Id="rId1" Type="http://schemas.openxmlformats.org/officeDocument/2006/relationships/slideLayout" Target="../slideLayouts/slideLayout2.xml"/><Relationship Id="rId6" Type="http://schemas.microsoft.com/office/2007/relationships/diagramDrawing" Target="../diagrams/drawing150.xml"/><Relationship Id="rId5" Type="http://schemas.openxmlformats.org/officeDocument/2006/relationships/diagramColors" Target="../diagrams/colors150.xml"/><Relationship Id="rId4" Type="http://schemas.openxmlformats.org/officeDocument/2006/relationships/diagramQuickStyle" Target="../diagrams/quickStyle150.xml"/></Relationships>
</file>

<file path=ppt/slides/_rels/slide151.xml.rels><?xml version="1.0" encoding="UTF-8" standalone="yes"?>
<Relationships xmlns="http://schemas.openxmlformats.org/package/2006/relationships"><Relationship Id="rId3" Type="http://schemas.openxmlformats.org/officeDocument/2006/relationships/diagramLayout" Target="../diagrams/layout151.xml"/><Relationship Id="rId2" Type="http://schemas.openxmlformats.org/officeDocument/2006/relationships/diagramData" Target="../diagrams/data151.xml"/><Relationship Id="rId1" Type="http://schemas.openxmlformats.org/officeDocument/2006/relationships/slideLayout" Target="../slideLayouts/slideLayout2.xml"/><Relationship Id="rId6" Type="http://schemas.microsoft.com/office/2007/relationships/diagramDrawing" Target="../diagrams/drawing151.xml"/><Relationship Id="rId5" Type="http://schemas.openxmlformats.org/officeDocument/2006/relationships/diagramColors" Target="../diagrams/colors151.xml"/><Relationship Id="rId4" Type="http://schemas.openxmlformats.org/officeDocument/2006/relationships/diagramQuickStyle" Target="../diagrams/quickStyle151.xml"/></Relationships>
</file>

<file path=ppt/slides/_rels/slide152.xml.rels><?xml version="1.0" encoding="UTF-8" standalone="yes"?>
<Relationships xmlns="http://schemas.openxmlformats.org/package/2006/relationships"><Relationship Id="rId8" Type="http://schemas.openxmlformats.org/officeDocument/2006/relationships/hyperlink" Target="https://blog.cdemi.io/async-waiting-inside-c-sharp-locks/" TargetMode="External"/><Relationship Id="rId3" Type="http://schemas.openxmlformats.org/officeDocument/2006/relationships/diagramLayout" Target="../diagrams/layout152.xml"/><Relationship Id="rId7" Type="http://schemas.openxmlformats.org/officeDocument/2006/relationships/hyperlink" Target="https://learn.microsoft.com/en-us/dotnet/api/system.threading.semaphoreslim" TargetMode="External"/><Relationship Id="rId2" Type="http://schemas.openxmlformats.org/officeDocument/2006/relationships/diagramData" Target="../diagrams/data152.xml"/><Relationship Id="rId1" Type="http://schemas.openxmlformats.org/officeDocument/2006/relationships/slideLayout" Target="../slideLayouts/slideLayout2.xml"/><Relationship Id="rId6" Type="http://schemas.microsoft.com/office/2007/relationships/diagramDrawing" Target="../diagrams/drawing152.xml"/><Relationship Id="rId11" Type="http://schemas.openxmlformats.org/officeDocument/2006/relationships/hyperlink" Target="https://stackoverflow.com/questions/44123180/lock-splitting-vs-lock-striping" TargetMode="External"/><Relationship Id="rId5" Type="http://schemas.openxmlformats.org/officeDocument/2006/relationships/diagramColors" Target="../diagrams/colors152.xml"/><Relationship Id="rId10" Type="http://schemas.openxmlformats.org/officeDocument/2006/relationships/hyperlink" Target="https://www.infoworld.com/article/2336878/how-to-use-cancellation-tokens-in-aspnet-core-7.html" TargetMode="External"/><Relationship Id="rId4" Type="http://schemas.openxmlformats.org/officeDocument/2006/relationships/diagramQuickStyle" Target="../diagrams/quickStyle152.xml"/><Relationship Id="rId9" Type="http://schemas.openxmlformats.org/officeDocument/2006/relationships/hyperlink" Target="https://www.albahari.com/threading/part3.aspx#_Safe_Cancellation" TargetMode="External"/></Relationships>
</file>

<file path=ppt/slides/_rels/slide153.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diagramLayout" Target="../diagrams/layout153.xml"/><Relationship Id="rId7" Type="http://schemas.openxmlformats.org/officeDocument/2006/relationships/image" Target="../media/image58.png"/><Relationship Id="rId2" Type="http://schemas.openxmlformats.org/officeDocument/2006/relationships/diagramData" Target="../diagrams/data153.xml"/><Relationship Id="rId1" Type="http://schemas.openxmlformats.org/officeDocument/2006/relationships/slideLayout" Target="../slideLayouts/slideLayout2.xml"/><Relationship Id="rId6" Type="http://schemas.microsoft.com/office/2007/relationships/diagramDrawing" Target="../diagrams/drawing153.xml"/><Relationship Id="rId5" Type="http://schemas.openxmlformats.org/officeDocument/2006/relationships/diagramColors" Target="../diagrams/colors153.xml"/><Relationship Id="rId4" Type="http://schemas.openxmlformats.org/officeDocument/2006/relationships/diagramQuickStyle" Target="../diagrams/quickStyle153.xml"/></Relationships>
</file>

<file path=ppt/slides/_rels/slide154.xml.rels><?xml version="1.0" encoding="UTF-8" standalone="yes"?>
<Relationships xmlns="http://schemas.openxmlformats.org/package/2006/relationships"><Relationship Id="rId3" Type="http://schemas.openxmlformats.org/officeDocument/2006/relationships/diagramLayout" Target="../diagrams/layout154.xml"/><Relationship Id="rId2" Type="http://schemas.openxmlformats.org/officeDocument/2006/relationships/diagramData" Target="../diagrams/data154.xml"/><Relationship Id="rId1" Type="http://schemas.openxmlformats.org/officeDocument/2006/relationships/slideLayout" Target="../slideLayouts/slideLayout2.xml"/><Relationship Id="rId6" Type="http://schemas.microsoft.com/office/2007/relationships/diagramDrawing" Target="../diagrams/drawing154.xml"/><Relationship Id="rId5" Type="http://schemas.openxmlformats.org/officeDocument/2006/relationships/diagramColors" Target="../diagrams/colors154.xml"/><Relationship Id="rId4" Type="http://schemas.openxmlformats.org/officeDocument/2006/relationships/diagramQuickStyle" Target="../diagrams/quickStyle154.xml"/></Relationships>
</file>

<file path=ppt/slides/_rels/slide155.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diagramLayout" Target="../diagrams/layout155.xml"/><Relationship Id="rId7" Type="http://schemas.openxmlformats.org/officeDocument/2006/relationships/image" Target="../media/image60.png"/><Relationship Id="rId2" Type="http://schemas.openxmlformats.org/officeDocument/2006/relationships/diagramData" Target="../diagrams/data155.xml"/><Relationship Id="rId1" Type="http://schemas.openxmlformats.org/officeDocument/2006/relationships/slideLayout" Target="../slideLayouts/slideLayout2.xml"/><Relationship Id="rId6" Type="http://schemas.microsoft.com/office/2007/relationships/diagramDrawing" Target="../diagrams/drawing155.xml"/><Relationship Id="rId5" Type="http://schemas.openxmlformats.org/officeDocument/2006/relationships/diagramColors" Target="../diagrams/colors155.xml"/><Relationship Id="rId4" Type="http://schemas.openxmlformats.org/officeDocument/2006/relationships/diagramQuickStyle" Target="../diagrams/quickStyle155.xml"/><Relationship Id="rId9" Type="http://schemas.openxmlformats.org/officeDocument/2006/relationships/image" Target="../media/image62.png"/></Relationships>
</file>

<file path=ppt/slides/_rels/slide156.xml.rels><?xml version="1.0" encoding="UTF-8" standalone="yes"?>
<Relationships xmlns="http://schemas.openxmlformats.org/package/2006/relationships"><Relationship Id="rId8" Type="http://schemas.openxmlformats.org/officeDocument/2006/relationships/hyperlink" Target="https://www.amazon.in/Art-Multiprocessor-Programming-Maurice-Herlihy/dp/0124159508" TargetMode="External"/><Relationship Id="rId3" Type="http://schemas.openxmlformats.org/officeDocument/2006/relationships/diagramLayout" Target="../diagrams/layout156.xml"/><Relationship Id="rId7" Type="http://schemas.openxmlformats.org/officeDocument/2006/relationships/hyperlink" Target="https://cs.brown.edu/~mph/Herlihy91/p124-herlihy.pdf" TargetMode="External"/><Relationship Id="rId2" Type="http://schemas.openxmlformats.org/officeDocument/2006/relationships/diagramData" Target="../diagrams/data156.xml"/><Relationship Id="rId1" Type="http://schemas.openxmlformats.org/officeDocument/2006/relationships/slideLayout" Target="../slideLayouts/slideLayout2.xml"/><Relationship Id="rId6" Type="http://schemas.microsoft.com/office/2007/relationships/diagramDrawing" Target="../diagrams/drawing156.xml"/><Relationship Id="rId5" Type="http://schemas.openxmlformats.org/officeDocument/2006/relationships/diagramColors" Target="../diagrams/colors156.xml"/><Relationship Id="rId4" Type="http://schemas.openxmlformats.org/officeDocument/2006/relationships/diagramQuickStyle" Target="../diagrams/quickStyle156.xml"/></Relationships>
</file>

<file path=ppt/slides/_rels/slide157.xml.rels><?xml version="1.0" encoding="UTF-8" standalone="yes"?>
<Relationships xmlns="http://schemas.openxmlformats.org/package/2006/relationships"><Relationship Id="rId3" Type="http://schemas.openxmlformats.org/officeDocument/2006/relationships/diagramLayout" Target="../diagrams/layout157.xml"/><Relationship Id="rId2" Type="http://schemas.openxmlformats.org/officeDocument/2006/relationships/diagramData" Target="../diagrams/data157.xml"/><Relationship Id="rId1" Type="http://schemas.openxmlformats.org/officeDocument/2006/relationships/slideLayout" Target="../slideLayouts/slideLayout2.xml"/><Relationship Id="rId6" Type="http://schemas.microsoft.com/office/2007/relationships/diagramDrawing" Target="../diagrams/drawing157.xml"/><Relationship Id="rId5" Type="http://schemas.openxmlformats.org/officeDocument/2006/relationships/diagramColors" Target="../diagrams/colors157.xml"/><Relationship Id="rId4" Type="http://schemas.openxmlformats.org/officeDocument/2006/relationships/diagramQuickStyle" Target="../diagrams/quickStyle157.xml"/></Relationships>
</file>

<file path=ppt/slides/_rels/slide158.xml.rels><?xml version="1.0" encoding="UTF-8" standalone="yes"?>
<Relationships xmlns="http://schemas.openxmlformats.org/package/2006/relationships"><Relationship Id="rId3" Type="http://schemas.openxmlformats.org/officeDocument/2006/relationships/diagramLayout" Target="../diagrams/layout158.xml"/><Relationship Id="rId2" Type="http://schemas.openxmlformats.org/officeDocument/2006/relationships/diagramData" Target="../diagrams/data158.xml"/><Relationship Id="rId1" Type="http://schemas.openxmlformats.org/officeDocument/2006/relationships/slideLayout" Target="../slideLayouts/slideLayout2.xml"/><Relationship Id="rId6" Type="http://schemas.microsoft.com/office/2007/relationships/diagramDrawing" Target="../diagrams/drawing158.xml"/><Relationship Id="rId5" Type="http://schemas.openxmlformats.org/officeDocument/2006/relationships/diagramColors" Target="../diagrams/colors158.xml"/><Relationship Id="rId4" Type="http://schemas.openxmlformats.org/officeDocument/2006/relationships/diagramQuickStyle" Target="../diagrams/quickStyle158.xml"/></Relationships>
</file>

<file path=ppt/slides/_rels/slide159.xml.rels><?xml version="1.0" encoding="UTF-8" standalone="yes"?>
<Relationships xmlns="http://schemas.openxmlformats.org/package/2006/relationships"><Relationship Id="rId3" Type="http://schemas.openxmlformats.org/officeDocument/2006/relationships/diagramLayout" Target="../diagrams/layout159.xml"/><Relationship Id="rId2" Type="http://schemas.openxmlformats.org/officeDocument/2006/relationships/diagramData" Target="../diagrams/data159.xml"/><Relationship Id="rId1" Type="http://schemas.openxmlformats.org/officeDocument/2006/relationships/slideLayout" Target="../slideLayouts/slideLayout2.xml"/><Relationship Id="rId6" Type="http://schemas.microsoft.com/office/2007/relationships/diagramDrawing" Target="../diagrams/drawing159.xml"/><Relationship Id="rId5" Type="http://schemas.openxmlformats.org/officeDocument/2006/relationships/diagramColors" Target="../diagrams/colors159.xml"/><Relationship Id="rId4" Type="http://schemas.openxmlformats.org/officeDocument/2006/relationships/diagramQuickStyle" Target="../diagrams/quickStyle159.xml"/></Relationships>
</file>

<file path=ppt/slides/_rels/slide160.xml.rels><?xml version="1.0" encoding="UTF-8" standalone="yes"?>
<Relationships xmlns="http://schemas.openxmlformats.org/package/2006/relationships"><Relationship Id="rId8" Type="http://schemas.openxmlformats.org/officeDocument/2006/relationships/hyperlink" Target="https://stackoverflow.com/questions/37787954/check-the-number-of-threads-available-in-threadpool-at-any-time" TargetMode="External"/><Relationship Id="rId13" Type="http://schemas.openxmlformats.org/officeDocument/2006/relationships/hyperlink" Target="https://github.com/2DGD-F0TH/2DGD_F0TH/blob/master/chapters/001_Introduction/001_Introduction.md" TargetMode="External"/><Relationship Id="rId18" Type="http://schemas.openxmlformats.org/officeDocument/2006/relationships/hyperlink" Target="https://learn.microsoft.com/en-us/visualstudio/profiling/common-patterns-for-poorly-behaved-multithreaded-applications?view=vs-2022&amp;viewFallbackFrom=vs-202" TargetMode="External"/><Relationship Id="rId3" Type="http://schemas.openxmlformats.org/officeDocument/2006/relationships/diagramLayout" Target="../diagrams/layout160.xml"/><Relationship Id="rId21" Type="http://schemas.openxmlformats.org/officeDocument/2006/relationships/hyperlink" Target="https://github.com/sundaygeek/design-patterns-for-embedded-system-in-c" TargetMode="External"/><Relationship Id="rId7" Type="http://schemas.openxmlformats.org/officeDocument/2006/relationships/hyperlink" Target="https://github.com/PacktPublishing/MultithreadingwithCSharpCookbookSecondEdition_Code" TargetMode="External"/><Relationship Id="rId12" Type="http://schemas.openxmlformats.org/officeDocument/2006/relationships/hyperlink" Target="https://learn.microsoft.com/en-us/aspnet/core/fundamentals/servers/?view=aspnetcore-10.0&amp;tabs=windows" TargetMode="External"/><Relationship Id="rId17" Type="http://schemas.openxmlformats.org/officeDocument/2006/relationships/hyperlink" Target="https://web.stanford.edu/class/archive/cs/cs110/cs110.1202/static/lectures/12-multithreading-patterns-data-structures.pdf" TargetMode="External"/><Relationship Id="rId2" Type="http://schemas.openxmlformats.org/officeDocument/2006/relationships/diagramData" Target="../diagrams/data160.xml"/><Relationship Id="rId16" Type="http://schemas.openxmlformats.org/officeDocument/2006/relationships/hyperlink" Target="https://dev.to/lucasnscr/multithreading-and-patterns-4nmk" TargetMode="External"/><Relationship Id="rId20" Type="http://schemas.openxmlformats.org/officeDocument/2006/relationships/hyperlink" Target="https://www.amazon.in/gp/product/B0BWSHK2M5/ref=ox_sc_act_title_?smid=A3SI5I1JWQ14PC&amp;psc=1" TargetMode="External"/><Relationship Id="rId1" Type="http://schemas.openxmlformats.org/officeDocument/2006/relationships/slideLayout" Target="../slideLayouts/slideLayout2.xml"/><Relationship Id="rId6" Type="http://schemas.microsoft.com/office/2007/relationships/diagramDrawing" Target="../diagrams/drawing160.xml"/><Relationship Id="rId11" Type="http://schemas.openxmlformats.org/officeDocument/2006/relationships/hyperlink" Target="https://www.syncfusion.com/succinctly-free-ebooks/webservers" TargetMode="External"/><Relationship Id="rId5" Type="http://schemas.openxmlformats.org/officeDocument/2006/relationships/diagramColors" Target="../diagrams/colors160.xml"/><Relationship Id="rId15" Type="http://schemas.openxmlformats.org/officeDocument/2006/relationships/hyperlink" Target="https://tamerlan.dev/multithreading-principles-and-patterns/" TargetMode="External"/><Relationship Id="rId23" Type="http://schemas.openxmlformats.org/officeDocument/2006/relationships/hyperlink" Target="https://stackoverflow.com/questions/4153118/list-of-concurrency-models" TargetMode="External"/><Relationship Id="rId10" Type="http://schemas.openxmlformats.org/officeDocument/2006/relationships/hyperlink" Target="https://github.com/Wintellect/PowerThreading" TargetMode="External"/><Relationship Id="rId19" Type="http://schemas.openxmlformats.org/officeDocument/2006/relationships/hyperlink" Target="https://www.udemy.com/course/multithreading-design-patterns/" TargetMode="External"/><Relationship Id="rId4" Type="http://schemas.openxmlformats.org/officeDocument/2006/relationships/diagramQuickStyle" Target="../diagrams/quickStyle160.xml"/><Relationship Id="rId9" Type="http://schemas.openxmlformats.org/officeDocument/2006/relationships/hyperlink" Target="https://github.com/MikeMKH/concurrency-in-csharp-cookbook" TargetMode="External"/><Relationship Id="rId14" Type="http://schemas.openxmlformats.org/officeDocument/2006/relationships/hyperlink" Target="https://github.com/rikace/fConcBook" TargetMode="External"/><Relationship Id="rId22" Type="http://schemas.openxmlformats.org/officeDocument/2006/relationships/hyperlink" Target="https://pragprog.com/titles/pb7con/seven-concurrency-models-in-seven-weeks/" TargetMode="External"/></Relationships>
</file>

<file path=ppt/slides/_rels/slide161.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diagramLayout" Target="../diagrams/layout161.xml"/><Relationship Id="rId7" Type="http://schemas.openxmlformats.org/officeDocument/2006/relationships/image" Target="../media/image63.png"/><Relationship Id="rId2" Type="http://schemas.openxmlformats.org/officeDocument/2006/relationships/diagramData" Target="../diagrams/data161.xml"/><Relationship Id="rId1" Type="http://schemas.openxmlformats.org/officeDocument/2006/relationships/slideLayout" Target="../slideLayouts/slideLayout2.xml"/><Relationship Id="rId6" Type="http://schemas.microsoft.com/office/2007/relationships/diagramDrawing" Target="../diagrams/drawing161.xml"/><Relationship Id="rId5" Type="http://schemas.openxmlformats.org/officeDocument/2006/relationships/diagramColors" Target="../diagrams/colors161.xml"/><Relationship Id="rId4" Type="http://schemas.openxmlformats.org/officeDocument/2006/relationships/diagramQuickStyle" Target="../diagrams/quickStyle161.xml"/></Relationships>
</file>

<file path=ppt/slides/_rels/slide162.xml.rels><?xml version="1.0" encoding="UTF-8" standalone="yes"?>
<Relationships xmlns="http://schemas.openxmlformats.org/package/2006/relationships"><Relationship Id="rId8" Type="http://schemas.openxmlformats.org/officeDocument/2006/relationships/hyperlink" Target="https://www.albahari.com/threading/part5.aspx#_SpinLock_and_SpinWait" TargetMode="External"/><Relationship Id="rId3" Type="http://schemas.openxmlformats.org/officeDocument/2006/relationships/diagramLayout" Target="../diagrams/layout162.xml"/><Relationship Id="rId7" Type="http://schemas.openxmlformats.org/officeDocument/2006/relationships/hyperlink" Target="https://stackoverflow.com/questions/2510593/how-can-i-set-processor-affinity-to-a-thread-or-a-task-in-net" TargetMode="External"/><Relationship Id="rId2" Type="http://schemas.openxmlformats.org/officeDocument/2006/relationships/diagramData" Target="../diagrams/data162.xml"/><Relationship Id="rId1" Type="http://schemas.openxmlformats.org/officeDocument/2006/relationships/slideLayout" Target="../slideLayouts/slideLayout2.xml"/><Relationship Id="rId6" Type="http://schemas.microsoft.com/office/2007/relationships/diagramDrawing" Target="../diagrams/drawing162.xml"/><Relationship Id="rId5" Type="http://schemas.openxmlformats.org/officeDocument/2006/relationships/diagramColors" Target="../diagrams/colors162.xml"/><Relationship Id="rId10" Type="http://schemas.openxmlformats.org/officeDocument/2006/relationships/hyperlink" Target="https://www.albahari.com/threading/part5.aspx#_PLINQ" TargetMode="External"/><Relationship Id="rId4" Type="http://schemas.openxmlformats.org/officeDocument/2006/relationships/diagramQuickStyle" Target="../diagrams/quickStyle162.xml"/><Relationship Id="rId9" Type="http://schemas.openxmlformats.org/officeDocument/2006/relationships/hyperlink" Target="https://www.albahari.com/threading/part5.aspx#_The_Parallel_Class" TargetMode="External"/></Relationships>
</file>

<file path=ppt/slides/_rels/slide163.xml.rels><?xml version="1.0" encoding="UTF-8" standalone="yes"?>
<Relationships xmlns="http://schemas.openxmlformats.org/package/2006/relationships"><Relationship Id="rId8" Type="http://schemas.openxmlformats.org/officeDocument/2006/relationships/hyperlink" Target="https://stackoverflow.com/questions/52581135/when-immutable-collections-are-preferable-than-concurrent" TargetMode="External"/><Relationship Id="rId13" Type="http://schemas.openxmlformats.org/officeDocument/2006/relationships/hyperlink" Target="https://stackoverflow.com/questions/17804004/how-to-set-maximum-concurrent-threads-using-task" TargetMode="External"/><Relationship Id="rId18" Type="http://schemas.openxmlformats.org/officeDocument/2006/relationships/hyperlink" Target="https://learn.microsoft.com/en-us/dotnet/standard/parallel-programming/for-further-reading-parallel-programming" TargetMode="External"/><Relationship Id="rId3" Type="http://schemas.openxmlformats.org/officeDocument/2006/relationships/diagramLayout" Target="../diagrams/layout163.xml"/><Relationship Id="rId21" Type="http://schemas.openxmlformats.org/officeDocument/2006/relationships/hyperlink" Target="https://www.udemy.com/course/rtos-building-from-ground-up-on-arm-processors/?couponCode=NVDIN35" TargetMode="External"/><Relationship Id="rId7" Type="http://schemas.openxmlformats.org/officeDocument/2006/relationships/hyperlink" Target="https://www.albahari.com/threading/part5.aspx#_Concurrent_Collections" TargetMode="External"/><Relationship Id="rId12" Type="http://schemas.openxmlformats.org/officeDocument/2006/relationships/hyperlink" Target="https://stackoverflow.com/questions/16420470/can-you-force-parallel-invoke-to-use-multiple-threads" TargetMode="External"/><Relationship Id="rId17" Type="http://schemas.openxmlformats.org/officeDocument/2006/relationships/hyperlink" Target="https://github.com/ChadBurggraf/parallel-extensions-extras" TargetMode="External"/><Relationship Id="rId2" Type="http://schemas.openxmlformats.org/officeDocument/2006/relationships/diagramData" Target="../diagrams/data163.xml"/><Relationship Id="rId16" Type="http://schemas.openxmlformats.org/officeDocument/2006/relationships/hyperlink" Target="https://devblogs.microsoft.com/pfxteam/a-tour-of-parallelextensionsextras/" TargetMode="External"/><Relationship Id="rId20" Type="http://schemas.openxmlformats.org/officeDocument/2006/relationships/hyperlink" Target="https://www.oreilly.com/library/view/patterns-for-parallel/0321228111/" TargetMode="External"/><Relationship Id="rId1" Type="http://schemas.openxmlformats.org/officeDocument/2006/relationships/slideLayout" Target="../slideLayouts/slideLayout2.xml"/><Relationship Id="rId6" Type="http://schemas.microsoft.com/office/2007/relationships/diagramDrawing" Target="../diagrams/drawing163.xml"/><Relationship Id="rId11" Type="http://schemas.openxmlformats.org/officeDocument/2006/relationships/hyperlink" Target="https://stackoverflow.com/questions/32343/how-do-i-spawn-threads-on-different-cpu-cores" TargetMode="External"/><Relationship Id="rId5" Type="http://schemas.openxmlformats.org/officeDocument/2006/relationships/diagramColors" Target="../diagrams/colors163.xml"/><Relationship Id="rId15" Type="http://schemas.openxmlformats.org/officeDocument/2006/relationships/hyperlink" Target="https://stackoverflow.com/questions/26734893/limited-concurrency-taskscheduler-that-can-interleave-tasks-to-be-explicitly-ord" TargetMode="External"/><Relationship Id="rId23" Type="http://schemas.openxmlformats.org/officeDocument/2006/relationships/hyperlink" Target="https://www.udemy.com/course/mastering-rtos-hands-on-with-freertos-arduino-and-stm32fx/?couponCode=NVDIN35" TargetMode="External"/><Relationship Id="rId10" Type="http://schemas.openxmlformats.org/officeDocument/2006/relationships/hyperlink" Target="https://github.com/PacktPublishing/Parallel-Programming-and-Concurrency-with-C-sharp-10-and-.NET-6" TargetMode="External"/><Relationship Id="rId19" Type="http://schemas.openxmlformats.org/officeDocument/2006/relationships/hyperlink" Target="https://github.com/rikace/parallel-patterns" TargetMode="External"/><Relationship Id="rId4" Type="http://schemas.openxmlformats.org/officeDocument/2006/relationships/diagramQuickStyle" Target="../diagrams/quickStyle163.xml"/><Relationship Id="rId9" Type="http://schemas.openxmlformats.org/officeDocument/2006/relationships/hyperlink" Target="https://github.com/PacktPublishing/Hands-On-Parallel-Programming-with-C-8-and-.NET-Core-3" TargetMode="External"/><Relationship Id="rId14" Type="http://schemas.openxmlformats.org/officeDocument/2006/relationships/hyperlink" Target="https://devblogs.microsoft.com/premier-developer/limiting-concurrency-for-faster-and-more-responsive-apps/" TargetMode="External"/><Relationship Id="rId22" Type="http://schemas.openxmlformats.org/officeDocument/2006/relationships/hyperlink" Target="https://www.udemy.com/course/build-your-own-realtime-os-rtos-from-ground-uptm-on-arm-2/?couponCode=BFCPSALE24" TargetMode="External"/></Relationships>
</file>

<file path=ppt/slides/_rels/slide164.xml.rels><?xml version="1.0" encoding="UTF-8" standalone="yes"?>
<Relationships xmlns="http://schemas.openxmlformats.org/package/2006/relationships"><Relationship Id="rId3" Type="http://schemas.openxmlformats.org/officeDocument/2006/relationships/diagramLayout" Target="../diagrams/layout164.xml"/><Relationship Id="rId2" Type="http://schemas.openxmlformats.org/officeDocument/2006/relationships/diagramData" Target="../diagrams/data164.xml"/><Relationship Id="rId1" Type="http://schemas.openxmlformats.org/officeDocument/2006/relationships/slideLayout" Target="../slideLayouts/slideLayout2.xml"/><Relationship Id="rId6" Type="http://schemas.microsoft.com/office/2007/relationships/diagramDrawing" Target="../diagrams/drawing164.xml"/><Relationship Id="rId5" Type="http://schemas.openxmlformats.org/officeDocument/2006/relationships/diagramColors" Target="../diagrams/colors164.xml"/><Relationship Id="rId4" Type="http://schemas.openxmlformats.org/officeDocument/2006/relationships/diagramQuickStyle" Target="../diagrams/quickStyle164.xml"/></Relationships>
</file>

<file path=ppt/slides/_rels/slide165.xml.rels><?xml version="1.0" encoding="UTF-8" standalone="yes"?>
<Relationships xmlns="http://schemas.openxmlformats.org/package/2006/relationships"><Relationship Id="rId3" Type="http://schemas.openxmlformats.org/officeDocument/2006/relationships/diagramLayout" Target="../diagrams/layout165.xml"/><Relationship Id="rId2" Type="http://schemas.openxmlformats.org/officeDocument/2006/relationships/diagramData" Target="../diagrams/data165.xml"/><Relationship Id="rId1" Type="http://schemas.openxmlformats.org/officeDocument/2006/relationships/slideLayout" Target="../slideLayouts/slideLayout2.xml"/><Relationship Id="rId6" Type="http://schemas.microsoft.com/office/2007/relationships/diagramDrawing" Target="../diagrams/drawing165.xml"/><Relationship Id="rId5" Type="http://schemas.openxmlformats.org/officeDocument/2006/relationships/diagramColors" Target="../diagrams/colors165.xml"/><Relationship Id="rId4" Type="http://schemas.openxmlformats.org/officeDocument/2006/relationships/diagramQuickStyle" Target="../diagrams/quickStyle165.xml"/></Relationships>
</file>

<file path=ppt/slides/_rels/slide166.xml.rels><?xml version="1.0" encoding="UTF-8" standalone="yes"?>
<Relationships xmlns="http://schemas.openxmlformats.org/package/2006/relationships"><Relationship Id="rId3" Type="http://schemas.openxmlformats.org/officeDocument/2006/relationships/diagramLayout" Target="../diagrams/layout166.xml"/><Relationship Id="rId2" Type="http://schemas.openxmlformats.org/officeDocument/2006/relationships/diagramData" Target="../diagrams/data166.xml"/><Relationship Id="rId1" Type="http://schemas.openxmlformats.org/officeDocument/2006/relationships/slideLayout" Target="../slideLayouts/slideLayout2.xml"/><Relationship Id="rId6" Type="http://schemas.microsoft.com/office/2007/relationships/diagramDrawing" Target="../diagrams/drawing166.xml"/><Relationship Id="rId5" Type="http://schemas.openxmlformats.org/officeDocument/2006/relationships/diagramColors" Target="../diagrams/colors166.xml"/><Relationship Id="rId4" Type="http://schemas.openxmlformats.org/officeDocument/2006/relationships/diagramQuickStyle" Target="../diagrams/quickStyle166.xml"/></Relationships>
</file>

<file path=ppt/slides/_rels/slide167.xml.rels><?xml version="1.0" encoding="UTF-8" standalone="yes"?>
<Relationships xmlns="http://schemas.openxmlformats.org/package/2006/relationships"><Relationship Id="rId3" Type="http://schemas.openxmlformats.org/officeDocument/2006/relationships/diagramLayout" Target="../diagrams/layout167.xml"/><Relationship Id="rId2" Type="http://schemas.openxmlformats.org/officeDocument/2006/relationships/diagramData" Target="../diagrams/data167.xml"/><Relationship Id="rId1" Type="http://schemas.openxmlformats.org/officeDocument/2006/relationships/slideLayout" Target="../slideLayouts/slideLayout2.xml"/><Relationship Id="rId6" Type="http://schemas.microsoft.com/office/2007/relationships/diagramDrawing" Target="../diagrams/drawing167.xml"/><Relationship Id="rId5" Type="http://schemas.openxmlformats.org/officeDocument/2006/relationships/diagramColors" Target="../diagrams/colors167.xml"/><Relationship Id="rId4" Type="http://schemas.openxmlformats.org/officeDocument/2006/relationships/diagramQuickStyle" Target="../diagrams/quickStyle167.xml"/></Relationships>
</file>

<file path=ppt/slides/_rels/slide168.xml.rels><?xml version="1.0" encoding="UTF-8" standalone="yes"?>
<Relationships xmlns="http://schemas.openxmlformats.org/package/2006/relationships"><Relationship Id="rId3" Type="http://schemas.openxmlformats.org/officeDocument/2006/relationships/diagramLayout" Target="../diagrams/layout168.xml"/><Relationship Id="rId2" Type="http://schemas.openxmlformats.org/officeDocument/2006/relationships/diagramData" Target="../diagrams/data168.xml"/><Relationship Id="rId1" Type="http://schemas.openxmlformats.org/officeDocument/2006/relationships/slideLayout" Target="../slideLayouts/slideLayout2.xml"/><Relationship Id="rId6" Type="http://schemas.microsoft.com/office/2007/relationships/diagramDrawing" Target="../diagrams/drawing168.xml"/><Relationship Id="rId5" Type="http://schemas.openxmlformats.org/officeDocument/2006/relationships/diagramColors" Target="../diagrams/colors168.xml"/><Relationship Id="rId4" Type="http://schemas.openxmlformats.org/officeDocument/2006/relationships/diagramQuickStyle" Target="../diagrams/quickStyle168.xml"/></Relationships>
</file>

<file path=ppt/slides/_rels/slide169.xml.rels><?xml version="1.0" encoding="UTF-8" standalone="yes"?>
<Relationships xmlns="http://schemas.openxmlformats.org/package/2006/relationships"><Relationship Id="rId3" Type="http://schemas.openxmlformats.org/officeDocument/2006/relationships/diagramLayout" Target="../diagrams/layout169.xml"/><Relationship Id="rId2" Type="http://schemas.openxmlformats.org/officeDocument/2006/relationships/diagramData" Target="../diagrams/data169.xml"/><Relationship Id="rId1" Type="http://schemas.openxmlformats.org/officeDocument/2006/relationships/slideLayout" Target="../slideLayouts/slideLayout2.xml"/><Relationship Id="rId6" Type="http://schemas.microsoft.com/office/2007/relationships/diagramDrawing" Target="../diagrams/drawing169.xml"/><Relationship Id="rId5" Type="http://schemas.openxmlformats.org/officeDocument/2006/relationships/diagramColors" Target="../diagrams/colors169.xml"/><Relationship Id="rId4" Type="http://schemas.openxmlformats.org/officeDocument/2006/relationships/diagramQuickStyle" Target="../diagrams/quickStyle169.xml"/></Relationships>
</file>

<file path=ppt/slides/_rels/slide170.xml.rels><?xml version="1.0" encoding="UTF-8" standalone="yes"?>
<Relationships xmlns="http://schemas.openxmlformats.org/package/2006/relationships"><Relationship Id="rId3" Type="http://schemas.openxmlformats.org/officeDocument/2006/relationships/diagramLayout" Target="../diagrams/layout170.xml"/><Relationship Id="rId2" Type="http://schemas.openxmlformats.org/officeDocument/2006/relationships/diagramData" Target="../diagrams/data170.xml"/><Relationship Id="rId1" Type="http://schemas.openxmlformats.org/officeDocument/2006/relationships/slideLayout" Target="../slideLayouts/slideLayout2.xml"/><Relationship Id="rId6" Type="http://schemas.microsoft.com/office/2007/relationships/diagramDrawing" Target="../diagrams/drawing170.xml"/><Relationship Id="rId5" Type="http://schemas.openxmlformats.org/officeDocument/2006/relationships/diagramColors" Target="../diagrams/colors170.xml"/><Relationship Id="rId4" Type="http://schemas.openxmlformats.org/officeDocument/2006/relationships/diagramQuickStyle" Target="../diagrams/quickStyle170.xml"/></Relationships>
</file>

<file path=ppt/slides/_rels/slide171.xml.rels><?xml version="1.0" encoding="UTF-8" standalone="yes"?>
<Relationships xmlns="http://schemas.openxmlformats.org/package/2006/relationships"><Relationship Id="rId3" Type="http://schemas.openxmlformats.org/officeDocument/2006/relationships/diagramLayout" Target="../diagrams/layout171.xml"/><Relationship Id="rId2" Type="http://schemas.openxmlformats.org/officeDocument/2006/relationships/diagramData" Target="../diagrams/data171.xml"/><Relationship Id="rId1" Type="http://schemas.openxmlformats.org/officeDocument/2006/relationships/slideLayout" Target="../slideLayouts/slideLayout2.xml"/><Relationship Id="rId6" Type="http://schemas.microsoft.com/office/2007/relationships/diagramDrawing" Target="../diagrams/drawing171.xml"/><Relationship Id="rId5" Type="http://schemas.openxmlformats.org/officeDocument/2006/relationships/diagramColors" Target="../diagrams/colors171.xml"/><Relationship Id="rId4" Type="http://schemas.openxmlformats.org/officeDocument/2006/relationships/diagramQuickStyle" Target="../diagrams/quickStyle171.xml"/></Relationships>
</file>

<file path=ppt/slides/_rels/slide172.xml.rels><?xml version="1.0" encoding="UTF-8" standalone="yes"?>
<Relationships xmlns="http://schemas.openxmlformats.org/package/2006/relationships"><Relationship Id="rId3" Type="http://schemas.openxmlformats.org/officeDocument/2006/relationships/diagramLayout" Target="../diagrams/layout172.xml"/><Relationship Id="rId7" Type="http://schemas.openxmlformats.org/officeDocument/2006/relationships/image" Target="../media/image65.png"/><Relationship Id="rId2" Type="http://schemas.openxmlformats.org/officeDocument/2006/relationships/diagramData" Target="../diagrams/data172.xml"/><Relationship Id="rId1" Type="http://schemas.openxmlformats.org/officeDocument/2006/relationships/slideLayout" Target="../slideLayouts/slideLayout2.xml"/><Relationship Id="rId6" Type="http://schemas.microsoft.com/office/2007/relationships/diagramDrawing" Target="../diagrams/drawing172.xml"/><Relationship Id="rId5" Type="http://schemas.openxmlformats.org/officeDocument/2006/relationships/diagramColors" Target="../diagrams/colors172.xml"/><Relationship Id="rId4" Type="http://schemas.openxmlformats.org/officeDocument/2006/relationships/diagramQuickStyle" Target="../diagrams/quickStyle172.xml"/></Relationships>
</file>

<file path=ppt/slides/_rels/slide173.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diagramLayout" Target="../diagrams/layout173.xml"/><Relationship Id="rId7" Type="http://schemas.openxmlformats.org/officeDocument/2006/relationships/image" Target="../media/image66.png"/><Relationship Id="rId2" Type="http://schemas.openxmlformats.org/officeDocument/2006/relationships/diagramData" Target="../diagrams/data173.xml"/><Relationship Id="rId1" Type="http://schemas.openxmlformats.org/officeDocument/2006/relationships/slideLayout" Target="../slideLayouts/slideLayout2.xml"/><Relationship Id="rId6" Type="http://schemas.microsoft.com/office/2007/relationships/diagramDrawing" Target="../diagrams/drawing173.xml"/><Relationship Id="rId5" Type="http://schemas.openxmlformats.org/officeDocument/2006/relationships/diagramColors" Target="../diagrams/colors173.xml"/><Relationship Id="rId4" Type="http://schemas.openxmlformats.org/officeDocument/2006/relationships/diagramQuickStyle" Target="../diagrams/quickStyle173.xml"/></Relationships>
</file>

<file path=ppt/slides/_rels/slide174.xml.rels><?xml version="1.0" encoding="UTF-8" standalone="yes"?>
<Relationships xmlns="http://schemas.openxmlformats.org/package/2006/relationships"><Relationship Id="rId3" Type="http://schemas.openxmlformats.org/officeDocument/2006/relationships/diagramLayout" Target="../diagrams/layout174.xml"/><Relationship Id="rId7" Type="http://schemas.openxmlformats.org/officeDocument/2006/relationships/image" Target="../media/image68.png"/><Relationship Id="rId2" Type="http://schemas.openxmlformats.org/officeDocument/2006/relationships/diagramData" Target="../diagrams/data174.xml"/><Relationship Id="rId1" Type="http://schemas.openxmlformats.org/officeDocument/2006/relationships/slideLayout" Target="../slideLayouts/slideLayout2.xml"/><Relationship Id="rId6" Type="http://schemas.microsoft.com/office/2007/relationships/diagramDrawing" Target="../diagrams/drawing174.xml"/><Relationship Id="rId5" Type="http://schemas.openxmlformats.org/officeDocument/2006/relationships/diagramColors" Target="../diagrams/colors174.xml"/><Relationship Id="rId4" Type="http://schemas.openxmlformats.org/officeDocument/2006/relationships/diagramQuickStyle" Target="../diagrams/quickStyle174.xml"/></Relationships>
</file>

<file path=ppt/slides/_rels/slide175.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diagramLayout" Target="../diagrams/layout175.xml"/><Relationship Id="rId7" Type="http://schemas.openxmlformats.org/officeDocument/2006/relationships/image" Target="../media/image69.png"/><Relationship Id="rId2" Type="http://schemas.openxmlformats.org/officeDocument/2006/relationships/diagramData" Target="../diagrams/data175.xml"/><Relationship Id="rId1" Type="http://schemas.openxmlformats.org/officeDocument/2006/relationships/slideLayout" Target="../slideLayouts/slideLayout2.xml"/><Relationship Id="rId6" Type="http://schemas.microsoft.com/office/2007/relationships/diagramDrawing" Target="../diagrams/drawing175.xml"/><Relationship Id="rId11" Type="http://schemas.openxmlformats.org/officeDocument/2006/relationships/hyperlink" Target="https://en.wikipedia.org/wiki/Comparison_of_operating_system_kernels" TargetMode="External"/><Relationship Id="rId5" Type="http://schemas.openxmlformats.org/officeDocument/2006/relationships/diagramColors" Target="../diagrams/colors175.xml"/><Relationship Id="rId10" Type="http://schemas.openxmlformats.org/officeDocument/2006/relationships/hyperlink" Target="https://herovired.com/learning-hub/blogs/operating-system-architecture" TargetMode="External"/><Relationship Id="rId4" Type="http://schemas.openxmlformats.org/officeDocument/2006/relationships/diagramQuickStyle" Target="../diagrams/quickStyle175.xml"/><Relationship Id="rId9" Type="http://schemas.openxmlformats.org/officeDocument/2006/relationships/hyperlink" Target="https://www.geeksforgeeks.org/operating-systems/kernel-in-operating-system/" TargetMode="External"/></Relationships>
</file>

<file path=ppt/slides/_rels/slide176.xml.rels><?xml version="1.0" encoding="UTF-8" standalone="yes"?>
<Relationships xmlns="http://schemas.openxmlformats.org/package/2006/relationships"><Relationship Id="rId3" Type="http://schemas.openxmlformats.org/officeDocument/2006/relationships/diagramLayout" Target="../diagrams/layout176.xml"/><Relationship Id="rId7" Type="http://schemas.openxmlformats.org/officeDocument/2006/relationships/image" Target="../media/image71.png"/><Relationship Id="rId2" Type="http://schemas.openxmlformats.org/officeDocument/2006/relationships/diagramData" Target="../diagrams/data176.xml"/><Relationship Id="rId1" Type="http://schemas.openxmlformats.org/officeDocument/2006/relationships/slideLayout" Target="../slideLayouts/slideLayout2.xml"/><Relationship Id="rId6" Type="http://schemas.microsoft.com/office/2007/relationships/diagramDrawing" Target="../diagrams/drawing176.xml"/><Relationship Id="rId5" Type="http://schemas.openxmlformats.org/officeDocument/2006/relationships/diagramColors" Target="../diagrams/colors176.xml"/><Relationship Id="rId4" Type="http://schemas.openxmlformats.org/officeDocument/2006/relationships/diagramQuickStyle" Target="../diagrams/quickStyle176.xml"/></Relationships>
</file>

<file path=ppt/slides/_rels/slide177.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diagramLayout" Target="../diagrams/layout177.xml"/><Relationship Id="rId7" Type="http://schemas.openxmlformats.org/officeDocument/2006/relationships/image" Target="../media/image72.png"/><Relationship Id="rId2" Type="http://schemas.openxmlformats.org/officeDocument/2006/relationships/diagramData" Target="../diagrams/data177.xml"/><Relationship Id="rId1" Type="http://schemas.openxmlformats.org/officeDocument/2006/relationships/slideLayout" Target="../slideLayouts/slideLayout2.xml"/><Relationship Id="rId6" Type="http://schemas.microsoft.com/office/2007/relationships/diagramDrawing" Target="../diagrams/drawing177.xml"/><Relationship Id="rId5" Type="http://schemas.openxmlformats.org/officeDocument/2006/relationships/diagramColors" Target="../diagrams/colors177.xml"/><Relationship Id="rId4" Type="http://schemas.openxmlformats.org/officeDocument/2006/relationships/diagramQuickStyle" Target="../diagrams/quickStyle177.xml"/><Relationship Id="rId9" Type="http://schemas.openxmlformats.org/officeDocument/2006/relationships/image" Target="../media/image74.png"/></Relationships>
</file>

<file path=ppt/slides/_rels/slide178.xml.rels><?xml version="1.0" encoding="UTF-8" standalone="yes"?>
<Relationships xmlns="http://schemas.openxmlformats.org/package/2006/relationships"><Relationship Id="rId3" Type="http://schemas.openxmlformats.org/officeDocument/2006/relationships/diagramLayout" Target="../diagrams/layout178.xml"/><Relationship Id="rId7" Type="http://schemas.openxmlformats.org/officeDocument/2006/relationships/image" Target="../media/image75.png"/><Relationship Id="rId2" Type="http://schemas.openxmlformats.org/officeDocument/2006/relationships/diagramData" Target="../diagrams/data178.xml"/><Relationship Id="rId1" Type="http://schemas.openxmlformats.org/officeDocument/2006/relationships/slideLayout" Target="../slideLayouts/slideLayout2.xml"/><Relationship Id="rId6" Type="http://schemas.microsoft.com/office/2007/relationships/diagramDrawing" Target="../diagrams/drawing178.xml"/><Relationship Id="rId5" Type="http://schemas.openxmlformats.org/officeDocument/2006/relationships/diagramColors" Target="../diagrams/colors178.xml"/><Relationship Id="rId4" Type="http://schemas.openxmlformats.org/officeDocument/2006/relationships/diagramQuickStyle" Target="../diagrams/quickStyle178.xml"/></Relationships>
</file>

<file path=ppt/slides/_rels/slide179.xml.rels><?xml version="1.0" encoding="UTF-8" standalone="yes"?>
<Relationships xmlns="http://schemas.openxmlformats.org/package/2006/relationships"><Relationship Id="rId3" Type="http://schemas.openxmlformats.org/officeDocument/2006/relationships/diagramLayout" Target="../diagrams/layout179.xml"/><Relationship Id="rId2" Type="http://schemas.openxmlformats.org/officeDocument/2006/relationships/diagramData" Target="../diagrams/data179.xml"/><Relationship Id="rId1" Type="http://schemas.openxmlformats.org/officeDocument/2006/relationships/slideLayout" Target="../slideLayouts/slideLayout2.xml"/><Relationship Id="rId6" Type="http://schemas.microsoft.com/office/2007/relationships/diagramDrawing" Target="../diagrams/drawing179.xml"/><Relationship Id="rId5" Type="http://schemas.openxmlformats.org/officeDocument/2006/relationships/diagramColors" Target="../diagrams/colors179.xml"/><Relationship Id="rId4" Type="http://schemas.openxmlformats.org/officeDocument/2006/relationships/diagramQuickStyle" Target="../diagrams/quickStyle179.xml"/></Relationships>
</file>

<file path=ppt/slides/_rels/slide180.xml.rels><?xml version="1.0" encoding="UTF-8" standalone="yes"?>
<Relationships xmlns="http://schemas.openxmlformats.org/package/2006/relationships"><Relationship Id="rId3" Type="http://schemas.openxmlformats.org/officeDocument/2006/relationships/diagramLayout" Target="../diagrams/layout180.xml"/><Relationship Id="rId7" Type="http://schemas.openxmlformats.org/officeDocument/2006/relationships/image" Target="../media/image76.png"/><Relationship Id="rId2" Type="http://schemas.openxmlformats.org/officeDocument/2006/relationships/diagramData" Target="../diagrams/data180.xml"/><Relationship Id="rId1" Type="http://schemas.openxmlformats.org/officeDocument/2006/relationships/slideLayout" Target="../slideLayouts/slideLayout2.xml"/><Relationship Id="rId6" Type="http://schemas.microsoft.com/office/2007/relationships/diagramDrawing" Target="../diagrams/drawing180.xml"/><Relationship Id="rId5" Type="http://schemas.openxmlformats.org/officeDocument/2006/relationships/diagramColors" Target="../diagrams/colors180.xml"/><Relationship Id="rId4" Type="http://schemas.openxmlformats.org/officeDocument/2006/relationships/diagramQuickStyle" Target="../diagrams/quickStyle180.xml"/></Relationships>
</file>

<file path=ppt/slides/_rels/slide181.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diagramLayout" Target="../diagrams/layout181.xml"/><Relationship Id="rId7" Type="http://schemas.openxmlformats.org/officeDocument/2006/relationships/image" Target="../media/image77.png"/><Relationship Id="rId2" Type="http://schemas.openxmlformats.org/officeDocument/2006/relationships/diagramData" Target="../diagrams/data181.xml"/><Relationship Id="rId1" Type="http://schemas.openxmlformats.org/officeDocument/2006/relationships/slideLayout" Target="../slideLayouts/slideLayout2.xml"/><Relationship Id="rId6" Type="http://schemas.microsoft.com/office/2007/relationships/diagramDrawing" Target="../diagrams/drawing181.xml"/><Relationship Id="rId5" Type="http://schemas.openxmlformats.org/officeDocument/2006/relationships/diagramColors" Target="../diagrams/colors181.xml"/><Relationship Id="rId4" Type="http://schemas.openxmlformats.org/officeDocument/2006/relationships/diagramQuickStyle" Target="../diagrams/quickStyle181.xml"/></Relationships>
</file>

<file path=ppt/slides/_rels/slide182.xml.rels><?xml version="1.0" encoding="UTF-8" standalone="yes"?>
<Relationships xmlns="http://schemas.openxmlformats.org/package/2006/relationships"><Relationship Id="rId8" Type="http://schemas.openxmlformats.org/officeDocument/2006/relationships/hyperlink" Target="https://books.goalkicker.com/CBook/" TargetMode="External"/><Relationship Id="rId13" Type="http://schemas.openxmlformats.org/officeDocument/2006/relationships/hyperlink" Target="https://awesomecpp.com/" TargetMode="External"/><Relationship Id="rId3" Type="http://schemas.openxmlformats.org/officeDocument/2006/relationships/diagramLayout" Target="../diagrams/layout182.xml"/><Relationship Id="rId7" Type="http://schemas.openxmlformats.org/officeDocument/2006/relationships/hyperlink" Target="https://gist.github.com/sandipray63in/8a0dad0c19e7beb80dec829d90834c48" TargetMode="External"/><Relationship Id="rId12" Type="http://schemas.openxmlformats.org/officeDocument/2006/relationships/hyperlink" Target="https://github.com/fffaraz/awesome-cpp" TargetMode="External"/><Relationship Id="rId2" Type="http://schemas.openxmlformats.org/officeDocument/2006/relationships/diagramData" Target="../diagrams/data182.xml"/><Relationship Id="rId1" Type="http://schemas.openxmlformats.org/officeDocument/2006/relationships/slideLayout" Target="../slideLayouts/slideLayout2.xml"/><Relationship Id="rId6" Type="http://schemas.microsoft.com/office/2007/relationships/diagramDrawing" Target="../diagrams/drawing182.xml"/><Relationship Id="rId11" Type="http://schemas.openxmlformats.org/officeDocument/2006/relationships/hyperlink" Target="https://github.com/oz123/awesome-c" TargetMode="External"/><Relationship Id="rId5" Type="http://schemas.openxmlformats.org/officeDocument/2006/relationships/diagramColors" Target="../diagrams/colors182.xml"/><Relationship Id="rId15" Type="http://schemas.openxmlformats.org/officeDocument/2006/relationships/hyperlink" Target="https://github.com/codecrafters-io/build-your-own-x" TargetMode="External"/><Relationship Id="rId10" Type="http://schemas.openxmlformats.org/officeDocument/2006/relationships/hyperlink" Target="https://stackoverflow.com/questions/562303/the-definitive-c-book-guide-and-list" TargetMode="External"/><Relationship Id="rId4" Type="http://schemas.openxmlformats.org/officeDocument/2006/relationships/diagramQuickStyle" Target="../diagrams/quickStyle182.xml"/><Relationship Id="rId9" Type="http://schemas.openxmlformats.org/officeDocument/2006/relationships/hyperlink" Target="https://books.goalkicker.com/CPlusPlusBook/" TargetMode="External"/><Relationship Id="rId14" Type="http://schemas.openxmlformats.org/officeDocument/2006/relationships/hyperlink" Target="https://github.com/rust-unofficial/awesome-rust" TargetMode="External"/></Relationships>
</file>

<file path=ppt/slides/_rels/slide183.xml.rels><?xml version="1.0" encoding="UTF-8" standalone="yes"?>
<Relationships xmlns="http://schemas.openxmlformats.org/package/2006/relationships"><Relationship Id="rId8" Type="http://schemas.openxmlformats.org/officeDocument/2006/relationships/hyperlink" Target="https://namastedev.com/blog/kernel-vs-user-space-2/" TargetMode="External"/><Relationship Id="rId13" Type="http://schemas.openxmlformats.org/officeDocument/2006/relationships/hyperlink" Target="https://littleosbook.github.io/" TargetMode="External"/><Relationship Id="rId18" Type="http://schemas.openxmlformats.org/officeDocument/2006/relationships/hyperlink" Target="https://www.amazon.in/MINIX-BOOK-OPERATING-SYSTEMS/dp/8131705145" TargetMode="External"/><Relationship Id="rId26" Type="http://schemas.openxmlformats.org/officeDocument/2006/relationships/hyperlink" Target="https://openlibrary.org/books/OL7407444M/System_Software" TargetMode="External"/><Relationship Id="rId3" Type="http://schemas.openxmlformats.org/officeDocument/2006/relationships/diagramLayout" Target="../diagrams/layout183.xml"/><Relationship Id="rId21" Type="http://schemas.openxmlformats.org/officeDocument/2006/relationships/hyperlink" Target="https://www.oreilly.com/library/view/linux-system-programming/9781449341527/" TargetMode="External"/><Relationship Id="rId7" Type="http://schemas.openxmlformats.org/officeDocument/2006/relationships/hyperlink" Target="https://en.wikipedia.org/wiki/User_space_and_kernel_space" TargetMode="External"/><Relationship Id="rId12" Type="http://schemas.openxmlformats.org/officeDocument/2006/relationships/hyperlink" Target="https://pages.cs.wisc.edu/~remzi/OSTEP/" TargetMode="External"/><Relationship Id="rId17" Type="http://schemas.openxmlformats.org/officeDocument/2006/relationships/hyperlink" Target="https://leanpub.com/OS-DEV" TargetMode="External"/><Relationship Id="rId25" Type="http://schemas.openxmlformats.org/officeDocument/2006/relationships/hyperlink" Target="https://gist.github.com/sandipray63in/e1c16a798e3493c36e1f3775f4892f60" TargetMode="External"/><Relationship Id="rId2" Type="http://schemas.openxmlformats.org/officeDocument/2006/relationships/diagramData" Target="../diagrams/data183.xml"/><Relationship Id="rId16" Type="http://schemas.openxmlformats.org/officeDocument/2006/relationships/hyperlink" Target="https://www.amazon.in/Practical-Operating-Systems-Hands-Approach-ebook/dp/B0CMFTS275" TargetMode="External"/><Relationship Id="rId20" Type="http://schemas.openxmlformats.org/officeDocument/2006/relationships/hyperlink" Target="https://gist.github.com/sandipray63in/3bbce748881c1a860b527e4b0017056a" TargetMode="External"/><Relationship Id="rId1" Type="http://schemas.openxmlformats.org/officeDocument/2006/relationships/slideLayout" Target="../slideLayouts/slideLayout2.xml"/><Relationship Id="rId6" Type="http://schemas.microsoft.com/office/2007/relationships/diagramDrawing" Target="../diagrams/drawing183.xml"/><Relationship Id="rId11" Type="http://schemas.openxmlformats.org/officeDocument/2006/relationships/hyperlink" Target="https://github.com/PacktPublishing/Systems-Programming-with-C-Sharp-and-.NET" TargetMode="External"/><Relationship Id="rId24" Type="http://schemas.openxmlformats.org/officeDocument/2006/relationships/hyperlink" Target="https://nostarch.com/howlinuxworks3" TargetMode="External"/><Relationship Id="rId5" Type="http://schemas.openxmlformats.org/officeDocument/2006/relationships/diagramColors" Target="../diagrams/colors183.xml"/><Relationship Id="rId15" Type="http://schemas.openxmlformats.org/officeDocument/2006/relationships/hyperlink" Target="https://www.bottomupcs.com/" TargetMode="External"/><Relationship Id="rId23" Type="http://schemas.openxmlformats.org/officeDocument/2006/relationships/hyperlink" Target="https://www.linuxfromscratch.org/" TargetMode="External"/><Relationship Id="rId28" Type="http://schemas.openxmlformats.org/officeDocument/2006/relationships/hyperlink" Target="https://en.wikipedia.org/wiki/Hacker%27s_Delight" TargetMode="External"/><Relationship Id="rId10" Type="http://schemas.openxmlformats.org/officeDocument/2006/relationships/hyperlink" Target="https://www.baeldung.com/cs/os-rings" TargetMode="External"/><Relationship Id="rId19" Type="http://schemas.openxmlformats.org/officeDocument/2006/relationships/hyperlink" Target="https://www.amazon.in/Operating-Systems-Chapter-Computer-security/dp/936159513X" TargetMode="External"/><Relationship Id="rId4" Type="http://schemas.openxmlformats.org/officeDocument/2006/relationships/diagramQuickStyle" Target="../diagrams/quickStyle183.xml"/><Relationship Id="rId9" Type="http://schemas.openxmlformats.org/officeDocument/2006/relationships/hyperlink" Target="https://www.form3.tech/blog/engineering/linux-fundamentals-user-kernel-space" TargetMode="External"/><Relationship Id="rId14" Type="http://schemas.openxmlformats.org/officeDocument/2006/relationships/hyperlink" Target="https://www.cl.cam.ac.uk/projects/raspberrypi/tutorials/os/" TargetMode="External"/><Relationship Id="rId22" Type="http://schemas.openxmlformats.org/officeDocument/2006/relationships/hyperlink" Target="https://www.oreilly.com/library/view/understanding-the-linux/0596005652/" TargetMode="External"/><Relationship Id="rId27" Type="http://schemas.openxmlformats.org/officeDocument/2006/relationships/hyperlink" Target="https://www.amazon.in/Systems-Programming-Donovan/dp/0074604821/ref=tmm_pap_swatch_0" TargetMode="External"/></Relationships>
</file>

<file path=ppt/slides/_rels/slide184.xml.rels><?xml version="1.0" encoding="UTF-8" standalone="yes"?>
<Relationships xmlns="http://schemas.openxmlformats.org/package/2006/relationships"><Relationship Id="rId3" Type="http://schemas.openxmlformats.org/officeDocument/2006/relationships/diagramLayout" Target="../diagrams/layout184.xml"/><Relationship Id="rId2" Type="http://schemas.openxmlformats.org/officeDocument/2006/relationships/diagramData" Target="../diagrams/data184.xml"/><Relationship Id="rId1" Type="http://schemas.openxmlformats.org/officeDocument/2006/relationships/slideLayout" Target="../slideLayouts/slideLayout2.xml"/><Relationship Id="rId6" Type="http://schemas.microsoft.com/office/2007/relationships/diagramDrawing" Target="../diagrams/drawing184.xml"/><Relationship Id="rId5" Type="http://schemas.openxmlformats.org/officeDocument/2006/relationships/diagramColors" Target="../diagrams/colors184.xml"/><Relationship Id="rId4" Type="http://schemas.openxmlformats.org/officeDocument/2006/relationships/diagramQuickStyle" Target="../diagrams/quickStyle184.xml"/></Relationships>
</file>

<file path=ppt/slides/_rels/slide185.xml.rels><?xml version="1.0" encoding="UTF-8" standalone="yes"?>
<Relationships xmlns="http://schemas.openxmlformats.org/package/2006/relationships"><Relationship Id="rId3" Type="http://schemas.openxmlformats.org/officeDocument/2006/relationships/diagramLayout" Target="../diagrams/layout185.xml"/><Relationship Id="rId7" Type="http://schemas.openxmlformats.org/officeDocument/2006/relationships/image" Target="../media/image79.png"/><Relationship Id="rId2" Type="http://schemas.openxmlformats.org/officeDocument/2006/relationships/diagramData" Target="../diagrams/data185.xml"/><Relationship Id="rId1" Type="http://schemas.openxmlformats.org/officeDocument/2006/relationships/slideLayout" Target="../slideLayouts/slideLayout2.xml"/><Relationship Id="rId6" Type="http://schemas.microsoft.com/office/2007/relationships/diagramDrawing" Target="../diagrams/drawing185.xml"/><Relationship Id="rId5" Type="http://schemas.openxmlformats.org/officeDocument/2006/relationships/diagramColors" Target="../diagrams/colors185.xml"/><Relationship Id="rId4" Type="http://schemas.openxmlformats.org/officeDocument/2006/relationships/diagramQuickStyle" Target="../diagrams/quickStyle185.xml"/></Relationships>
</file>

<file path=ppt/slides/_rels/slide186.xml.rels><?xml version="1.0" encoding="UTF-8" standalone="yes"?>
<Relationships xmlns="http://schemas.openxmlformats.org/package/2006/relationships"><Relationship Id="rId3" Type="http://schemas.openxmlformats.org/officeDocument/2006/relationships/diagramLayout" Target="../diagrams/layout186.xml"/><Relationship Id="rId2" Type="http://schemas.openxmlformats.org/officeDocument/2006/relationships/diagramData" Target="../diagrams/data186.xml"/><Relationship Id="rId1" Type="http://schemas.openxmlformats.org/officeDocument/2006/relationships/slideLayout" Target="../slideLayouts/slideLayout2.xml"/><Relationship Id="rId6" Type="http://schemas.microsoft.com/office/2007/relationships/diagramDrawing" Target="../diagrams/drawing186.xml"/><Relationship Id="rId5" Type="http://schemas.openxmlformats.org/officeDocument/2006/relationships/diagramColors" Target="../diagrams/colors186.xml"/><Relationship Id="rId4" Type="http://schemas.openxmlformats.org/officeDocument/2006/relationships/diagramQuickStyle" Target="../diagrams/quickStyle186.xml"/></Relationships>
</file>

<file path=ppt/slides/_rels/slide187.xml.rels><?xml version="1.0" encoding="UTF-8" standalone="yes"?>
<Relationships xmlns="http://schemas.openxmlformats.org/package/2006/relationships"><Relationship Id="rId8" Type="http://schemas.openxmlformats.org/officeDocument/2006/relationships/hyperlink" Target="https://stackoverflow.com/questions/7238929/stream-seek0-seekorigin-begin-or-position-0" TargetMode="External"/><Relationship Id="rId3" Type="http://schemas.openxmlformats.org/officeDocument/2006/relationships/diagramLayout" Target="../diagrams/layout187.xml"/><Relationship Id="rId7" Type="http://schemas.openxmlformats.org/officeDocument/2006/relationships/image" Target="../media/image80.PNG"/><Relationship Id="rId2" Type="http://schemas.openxmlformats.org/officeDocument/2006/relationships/diagramData" Target="../diagrams/data187.xml"/><Relationship Id="rId1" Type="http://schemas.openxmlformats.org/officeDocument/2006/relationships/slideLayout" Target="../slideLayouts/slideLayout2.xml"/><Relationship Id="rId6" Type="http://schemas.microsoft.com/office/2007/relationships/diagramDrawing" Target="../diagrams/drawing187.xml"/><Relationship Id="rId5" Type="http://schemas.openxmlformats.org/officeDocument/2006/relationships/diagramColors" Target="../diagrams/colors187.xml"/><Relationship Id="rId4" Type="http://schemas.openxmlformats.org/officeDocument/2006/relationships/diagramQuickStyle" Target="../diagrams/quickStyle187.xml"/><Relationship Id="rId9" Type="http://schemas.openxmlformats.org/officeDocument/2006/relationships/hyperlink" Target="https://learn.microsoft.com/en-us/dotnet/api/system.io.streamreader.peek?view=net-8.0" TargetMode="External"/></Relationships>
</file>

<file path=ppt/slides/_rels/slide188.xml.rels><?xml version="1.0" encoding="UTF-8" standalone="yes"?>
<Relationships xmlns="http://schemas.openxmlformats.org/package/2006/relationships"><Relationship Id="rId8" Type="http://schemas.openxmlformats.org/officeDocument/2006/relationships/hyperlink" Target="https://www.codeproject.com/Articles/1087779/Anonymous-Pipes-Made-Easy" TargetMode="External"/><Relationship Id="rId3" Type="http://schemas.openxmlformats.org/officeDocument/2006/relationships/diagramLayout" Target="../diagrams/layout188.xml"/><Relationship Id="rId7" Type="http://schemas.openxmlformats.org/officeDocument/2006/relationships/image" Target="../media/image81.PNG"/><Relationship Id="rId2" Type="http://schemas.openxmlformats.org/officeDocument/2006/relationships/diagramData" Target="../diagrams/data188.xml"/><Relationship Id="rId1" Type="http://schemas.openxmlformats.org/officeDocument/2006/relationships/slideLayout" Target="../slideLayouts/slideLayout2.xml"/><Relationship Id="rId6" Type="http://schemas.microsoft.com/office/2007/relationships/diagramDrawing" Target="../diagrams/drawing188.xml"/><Relationship Id="rId5" Type="http://schemas.openxmlformats.org/officeDocument/2006/relationships/diagramColors" Target="../diagrams/colors188.xml"/><Relationship Id="rId4" Type="http://schemas.openxmlformats.org/officeDocument/2006/relationships/diagramQuickStyle" Target="../diagrams/quickStyle188.xml"/></Relationships>
</file>

<file path=ppt/slides/_rels/slide189.xml.rels><?xml version="1.0" encoding="UTF-8" standalone="yes"?>
<Relationships xmlns="http://schemas.openxmlformats.org/package/2006/relationships"><Relationship Id="rId3" Type="http://schemas.openxmlformats.org/officeDocument/2006/relationships/diagramLayout" Target="../diagrams/layout189.xml"/><Relationship Id="rId7" Type="http://schemas.openxmlformats.org/officeDocument/2006/relationships/image" Target="../media/image82.PNG"/><Relationship Id="rId2" Type="http://schemas.openxmlformats.org/officeDocument/2006/relationships/diagramData" Target="../diagrams/data189.xml"/><Relationship Id="rId1" Type="http://schemas.openxmlformats.org/officeDocument/2006/relationships/slideLayout" Target="../slideLayouts/slideLayout2.xml"/><Relationship Id="rId6" Type="http://schemas.microsoft.com/office/2007/relationships/diagramDrawing" Target="../diagrams/drawing189.xml"/><Relationship Id="rId5" Type="http://schemas.openxmlformats.org/officeDocument/2006/relationships/diagramColors" Target="../diagrams/colors189.xml"/><Relationship Id="rId4" Type="http://schemas.openxmlformats.org/officeDocument/2006/relationships/diagramQuickStyle" Target="../diagrams/quickStyle189.xml"/></Relationships>
</file>

<file path=ppt/slides/_rels/slide190.xml.rels><?xml version="1.0" encoding="UTF-8" standalone="yes"?>
<Relationships xmlns="http://schemas.openxmlformats.org/package/2006/relationships"><Relationship Id="rId8" Type="http://schemas.openxmlformats.org/officeDocument/2006/relationships/hyperlink" Target="https://stackoverflow.com/questions/2161895/reading-large-text-files-with-streams-in-c-sharp" TargetMode="External"/><Relationship Id="rId3" Type="http://schemas.openxmlformats.org/officeDocument/2006/relationships/diagramLayout" Target="../diagrams/layout190.xml"/><Relationship Id="rId7" Type="http://schemas.openxmlformats.org/officeDocument/2006/relationships/image" Target="../media/image83.PNG"/><Relationship Id="rId2" Type="http://schemas.openxmlformats.org/officeDocument/2006/relationships/diagramData" Target="../diagrams/data190.xml"/><Relationship Id="rId1" Type="http://schemas.openxmlformats.org/officeDocument/2006/relationships/slideLayout" Target="../slideLayouts/slideLayout2.xml"/><Relationship Id="rId6" Type="http://schemas.microsoft.com/office/2007/relationships/diagramDrawing" Target="../diagrams/drawing190.xml"/><Relationship Id="rId5" Type="http://schemas.openxmlformats.org/officeDocument/2006/relationships/diagramColors" Target="../diagrams/colors190.xml"/><Relationship Id="rId10" Type="http://schemas.openxmlformats.org/officeDocument/2006/relationships/hyperlink" Target="https://learn.microsoft.com/en-us/dotnet/api/system.environment.specialfolder?view=net-8.0" TargetMode="External"/><Relationship Id="rId4" Type="http://schemas.openxmlformats.org/officeDocument/2006/relationships/diagramQuickStyle" Target="../diagrams/quickStyle190.xml"/><Relationship Id="rId9" Type="http://schemas.openxmlformats.org/officeDocument/2006/relationships/hyperlink" Target="https://learn.microsoft.com/en-us/dotnet/api/system.io?view=net-8.0" TargetMode="External"/></Relationships>
</file>

<file path=ppt/slides/_rels/slide191.xml.rels><?xml version="1.0" encoding="UTF-8" standalone="yes"?>
<Relationships xmlns="http://schemas.openxmlformats.org/package/2006/relationships"><Relationship Id="rId3" Type="http://schemas.openxmlformats.org/officeDocument/2006/relationships/diagramLayout" Target="../diagrams/layout191.xml"/><Relationship Id="rId2" Type="http://schemas.openxmlformats.org/officeDocument/2006/relationships/diagramData" Target="../diagrams/data191.xml"/><Relationship Id="rId1" Type="http://schemas.openxmlformats.org/officeDocument/2006/relationships/slideLayout" Target="../slideLayouts/slideLayout2.xml"/><Relationship Id="rId6" Type="http://schemas.microsoft.com/office/2007/relationships/diagramDrawing" Target="../diagrams/drawing191.xml"/><Relationship Id="rId5" Type="http://schemas.openxmlformats.org/officeDocument/2006/relationships/diagramColors" Target="../diagrams/colors191.xml"/><Relationship Id="rId4" Type="http://schemas.openxmlformats.org/officeDocument/2006/relationships/diagramQuickStyle" Target="../diagrams/quickStyle191.xml"/></Relationships>
</file>

<file path=ppt/slides/_rels/slide192.xml.rels><?xml version="1.0" encoding="UTF-8" standalone="yes"?>
<Relationships xmlns="http://schemas.openxmlformats.org/package/2006/relationships"><Relationship Id="rId8" Type="http://schemas.openxmlformats.org/officeDocument/2006/relationships/hyperlink" Target="https://learn.microsoft.com/en-us/dotnet/standard/io/memory-mapped-files" TargetMode="External"/><Relationship Id="rId3" Type="http://schemas.openxmlformats.org/officeDocument/2006/relationships/diagramLayout" Target="../diagrams/layout192.xml"/><Relationship Id="rId7" Type="http://schemas.openxmlformats.org/officeDocument/2006/relationships/hyperlink" Target="https://aarambhdevhub.medium.com/zero-copy-io-building-lightning-fast-applications-across-languages-dc0fb47dd436" TargetMode="External"/><Relationship Id="rId2" Type="http://schemas.openxmlformats.org/officeDocument/2006/relationships/diagramData" Target="../diagrams/data192.xml"/><Relationship Id="rId1" Type="http://schemas.openxmlformats.org/officeDocument/2006/relationships/slideLayout" Target="../slideLayouts/slideLayout2.xml"/><Relationship Id="rId6" Type="http://schemas.microsoft.com/office/2007/relationships/diagramDrawing" Target="../diagrams/drawing192.xml"/><Relationship Id="rId5" Type="http://schemas.openxmlformats.org/officeDocument/2006/relationships/diagramColors" Target="../diagrams/colors192.xml"/><Relationship Id="rId4" Type="http://schemas.openxmlformats.org/officeDocument/2006/relationships/diagramQuickStyle" Target="../diagrams/quickStyle192.xml"/></Relationships>
</file>

<file path=ppt/slides/_rels/slide193.xml.rels><?xml version="1.0" encoding="UTF-8" standalone="yes"?>
<Relationships xmlns="http://schemas.openxmlformats.org/package/2006/relationships"><Relationship Id="rId3" Type="http://schemas.openxmlformats.org/officeDocument/2006/relationships/diagramLayout" Target="../diagrams/layout193.xml"/><Relationship Id="rId2" Type="http://schemas.openxmlformats.org/officeDocument/2006/relationships/diagramData" Target="../diagrams/data193.xml"/><Relationship Id="rId1" Type="http://schemas.openxmlformats.org/officeDocument/2006/relationships/slideLayout" Target="../slideLayouts/slideLayout2.xml"/><Relationship Id="rId6" Type="http://schemas.microsoft.com/office/2007/relationships/diagramDrawing" Target="../diagrams/drawing193.xml"/><Relationship Id="rId5" Type="http://schemas.openxmlformats.org/officeDocument/2006/relationships/diagramColors" Target="../diagrams/colors193.xml"/><Relationship Id="rId4" Type="http://schemas.openxmlformats.org/officeDocument/2006/relationships/diagramQuickStyle" Target="../diagrams/quickStyle193.xml"/></Relationships>
</file>

<file path=ppt/slides/_rels/slide194.xml.rels><?xml version="1.0" encoding="UTF-8" standalone="yes"?>
<Relationships xmlns="http://schemas.openxmlformats.org/package/2006/relationships"><Relationship Id="rId3" Type="http://schemas.openxmlformats.org/officeDocument/2006/relationships/diagramLayout" Target="../diagrams/layout194.xml"/><Relationship Id="rId2" Type="http://schemas.openxmlformats.org/officeDocument/2006/relationships/diagramData" Target="../diagrams/data194.xml"/><Relationship Id="rId1" Type="http://schemas.openxmlformats.org/officeDocument/2006/relationships/slideLayout" Target="../slideLayouts/slideLayout2.xml"/><Relationship Id="rId6" Type="http://schemas.microsoft.com/office/2007/relationships/diagramDrawing" Target="../diagrams/drawing194.xml"/><Relationship Id="rId5" Type="http://schemas.openxmlformats.org/officeDocument/2006/relationships/diagramColors" Target="../diagrams/colors194.xml"/><Relationship Id="rId4" Type="http://schemas.openxmlformats.org/officeDocument/2006/relationships/diagramQuickStyle" Target="../diagrams/quickStyle194.xml"/></Relationships>
</file>

<file path=ppt/slides/_rels/slide195.xml.rels><?xml version="1.0" encoding="UTF-8" standalone="yes"?>
<Relationships xmlns="http://schemas.openxmlformats.org/package/2006/relationships"><Relationship Id="rId3" Type="http://schemas.openxmlformats.org/officeDocument/2006/relationships/diagramLayout" Target="../diagrams/layout195.xml"/><Relationship Id="rId2" Type="http://schemas.openxmlformats.org/officeDocument/2006/relationships/diagramData" Target="../diagrams/data195.xml"/><Relationship Id="rId1" Type="http://schemas.openxmlformats.org/officeDocument/2006/relationships/slideLayout" Target="../slideLayouts/slideLayout2.xml"/><Relationship Id="rId6" Type="http://schemas.microsoft.com/office/2007/relationships/diagramDrawing" Target="../diagrams/drawing195.xml"/><Relationship Id="rId5" Type="http://schemas.openxmlformats.org/officeDocument/2006/relationships/diagramColors" Target="../diagrams/colors195.xml"/><Relationship Id="rId4" Type="http://schemas.openxmlformats.org/officeDocument/2006/relationships/diagramQuickStyle" Target="../diagrams/quickStyle195.xml"/></Relationships>
</file>

<file path=ppt/slides/_rels/slide196.xml.rels><?xml version="1.0" encoding="UTF-8" standalone="yes"?>
<Relationships xmlns="http://schemas.openxmlformats.org/package/2006/relationships"><Relationship Id="rId3" Type="http://schemas.openxmlformats.org/officeDocument/2006/relationships/diagramLayout" Target="../diagrams/layout196.xml"/><Relationship Id="rId2" Type="http://schemas.openxmlformats.org/officeDocument/2006/relationships/diagramData" Target="../diagrams/data196.xml"/><Relationship Id="rId1" Type="http://schemas.openxmlformats.org/officeDocument/2006/relationships/slideLayout" Target="../slideLayouts/slideLayout2.xml"/><Relationship Id="rId6" Type="http://schemas.microsoft.com/office/2007/relationships/diagramDrawing" Target="../diagrams/drawing196.xml"/><Relationship Id="rId5" Type="http://schemas.openxmlformats.org/officeDocument/2006/relationships/diagramColors" Target="../diagrams/colors196.xml"/><Relationship Id="rId4" Type="http://schemas.openxmlformats.org/officeDocument/2006/relationships/diagramQuickStyle" Target="../diagrams/quickStyle196.xml"/></Relationships>
</file>

<file path=ppt/slides/_rels/slide197.xml.rels><?xml version="1.0" encoding="UTF-8" standalone="yes"?>
<Relationships xmlns="http://schemas.openxmlformats.org/package/2006/relationships"><Relationship Id="rId3" Type="http://schemas.openxmlformats.org/officeDocument/2006/relationships/diagramLayout" Target="../diagrams/layout197.xml"/><Relationship Id="rId2" Type="http://schemas.openxmlformats.org/officeDocument/2006/relationships/diagramData" Target="../diagrams/data197.xml"/><Relationship Id="rId1" Type="http://schemas.openxmlformats.org/officeDocument/2006/relationships/slideLayout" Target="../slideLayouts/slideLayout2.xml"/><Relationship Id="rId6" Type="http://schemas.microsoft.com/office/2007/relationships/diagramDrawing" Target="../diagrams/drawing197.xml"/><Relationship Id="rId5" Type="http://schemas.openxmlformats.org/officeDocument/2006/relationships/diagramColors" Target="../diagrams/colors197.xml"/><Relationship Id="rId4" Type="http://schemas.openxmlformats.org/officeDocument/2006/relationships/diagramQuickStyle" Target="../diagrams/quickStyle197.xml"/></Relationships>
</file>

<file path=ppt/slides/_rels/slide198.xml.rels><?xml version="1.0" encoding="UTF-8" standalone="yes"?>
<Relationships xmlns="http://schemas.openxmlformats.org/package/2006/relationships"><Relationship Id="rId3" Type="http://schemas.openxmlformats.org/officeDocument/2006/relationships/diagramLayout" Target="../diagrams/layout198.xml"/><Relationship Id="rId2" Type="http://schemas.openxmlformats.org/officeDocument/2006/relationships/diagramData" Target="../diagrams/data198.xml"/><Relationship Id="rId1" Type="http://schemas.openxmlformats.org/officeDocument/2006/relationships/slideLayout" Target="../slideLayouts/slideLayout2.xml"/><Relationship Id="rId6" Type="http://schemas.microsoft.com/office/2007/relationships/diagramDrawing" Target="../diagrams/drawing198.xml"/><Relationship Id="rId5" Type="http://schemas.openxmlformats.org/officeDocument/2006/relationships/diagramColors" Target="../diagrams/colors198.xml"/><Relationship Id="rId4" Type="http://schemas.openxmlformats.org/officeDocument/2006/relationships/diagramQuickStyle" Target="../diagrams/quickStyle198.xml"/></Relationships>
</file>

<file path=ppt/slides/_rels/slide199.xml.rels><?xml version="1.0" encoding="UTF-8" standalone="yes"?>
<Relationships xmlns="http://schemas.openxmlformats.org/package/2006/relationships"><Relationship Id="rId3" Type="http://schemas.openxmlformats.org/officeDocument/2006/relationships/diagramLayout" Target="../diagrams/layout199.xml"/><Relationship Id="rId2" Type="http://schemas.openxmlformats.org/officeDocument/2006/relationships/diagramData" Target="../diagrams/data199.xml"/><Relationship Id="rId1" Type="http://schemas.openxmlformats.org/officeDocument/2006/relationships/slideLayout" Target="../slideLayouts/slideLayout2.xml"/><Relationship Id="rId6" Type="http://schemas.microsoft.com/office/2007/relationships/diagramDrawing" Target="../diagrams/drawing199.xml"/><Relationship Id="rId5" Type="http://schemas.openxmlformats.org/officeDocument/2006/relationships/diagramColors" Target="../diagrams/colors199.xml"/><Relationship Id="rId4" Type="http://schemas.openxmlformats.org/officeDocument/2006/relationships/diagramQuickStyle" Target="../diagrams/quickStyle199.xml"/></Relationships>
</file>

<file path=ppt/slides/_rels/slide200.xml.rels><?xml version="1.0" encoding="UTF-8" standalone="yes"?>
<Relationships xmlns="http://schemas.openxmlformats.org/package/2006/relationships"><Relationship Id="rId3" Type="http://schemas.openxmlformats.org/officeDocument/2006/relationships/diagramLayout" Target="../diagrams/layout200.xml"/><Relationship Id="rId2" Type="http://schemas.openxmlformats.org/officeDocument/2006/relationships/diagramData" Target="../diagrams/data200.xml"/><Relationship Id="rId1" Type="http://schemas.openxmlformats.org/officeDocument/2006/relationships/slideLayout" Target="../slideLayouts/slideLayout2.xml"/><Relationship Id="rId6" Type="http://schemas.microsoft.com/office/2007/relationships/diagramDrawing" Target="../diagrams/drawing200.xml"/><Relationship Id="rId5" Type="http://schemas.openxmlformats.org/officeDocument/2006/relationships/diagramColors" Target="../diagrams/colors200.xml"/><Relationship Id="rId4" Type="http://schemas.openxmlformats.org/officeDocument/2006/relationships/diagramQuickStyle" Target="../diagrams/quickStyle200.xml"/></Relationships>
</file>

<file path=ppt/slides/_rels/slide201.xml.rels><?xml version="1.0" encoding="UTF-8" standalone="yes"?>
<Relationships xmlns="http://schemas.openxmlformats.org/package/2006/relationships"><Relationship Id="rId3" Type="http://schemas.openxmlformats.org/officeDocument/2006/relationships/diagramLayout" Target="../diagrams/layout201.xml"/><Relationship Id="rId2" Type="http://schemas.openxmlformats.org/officeDocument/2006/relationships/diagramData" Target="../diagrams/data201.xml"/><Relationship Id="rId1" Type="http://schemas.openxmlformats.org/officeDocument/2006/relationships/slideLayout" Target="../slideLayouts/slideLayout2.xml"/><Relationship Id="rId6" Type="http://schemas.microsoft.com/office/2007/relationships/diagramDrawing" Target="../diagrams/drawing201.xml"/><Relationship Id="rId5" Type="http://schemas.openxmlformats.org/officeDocument/2006/relationships/diagramColors" Target="../diagrams/colors201.xml"/><Relationship Id="rId4" Type="http://schemas.openxmlformats.org/officeDocument/2006/relationships/diagramQuickStyle" Target="../diagrams/quickStyle201.xml"/></Relationships>
</file>

<file path=ppt/slides/_rels/slide202.xml.rels><?xml version="1.0" encoding="UTF-8" standalone="yes"?>
<Relationships xmlns="http://schemas.openxmlformats.org/package/2006/relationships"><Relationship Id="rId3" Type="http://schemas.openxmlformats.org/officeDocument/2006/relationships/diagramLayout" Target="../diagrams/layout202.xml"/><Relationship Id="rId2" Type="http://schemas.openxmlformats.org/officeDocument/2006/relationships/diagramData" Target="../diagrams/data202.xml"/><Relationship Id="rId1" Type="http://schemas.openxmlformats.org/officeDocument/2006/relationships/slideLayout" Target="../slideLayouts/slideLayout2.xml"/><Relationship Id="rId6" Type="http://schemas.microsoft.com/office/2007/relationships/diagramDrawing" Target="../diagrams/drawing202.xml"/><Relationship Id="rId5" Type="http://schemas.openxmlformats.org/officeDocument/2006/relationships/diagramColors" Target="../diagrams/colors202.xml"/><Relationship Id="rId4" Type="http://schemas.openxmlformats.org/officeDocument/2006/relationships/diagramQuickStyle" Target="../diagrams/quickStyle202.xml"/></Relationships>
</file>

<file path=ppt/slides/_rels/slide203.xml.rels><?xml version="1.0" encoding="UTF-8" standalone="yes"?>
<Relationships xmlns="http://schemas.openxmlformats.org/package/2006/relationships"><Relationship Id="rId3" Type="http://schemas.openxmlformats.org/officeDocument/2006/relationships/diagramLayout" Target="../diagrams/layout203.xml"/><Relationship Id="rId2" Type="http://schemas.openxmlformats.org/officeDocument/2006/relationships/diagramData" Target="../diagrams/data203.xml"/><Relationship Id="rId1" Type="http://schemas.openxmlformats.org/officeDocument/2006/relationships/slideLayout" Target="../slideLayouts/slideLayout2.xml"/><Relationship Id="rId6" Type="http://schemas.microsoft.com/office/2007/relationships/diagramDrawing" Target="../diagrams/drawing203.xml"/><Relationship Id="rId5" Type="http://schemas.openxmlformats.org/officeDocument/2006/relationships/diagramColors" Target="../diagrams/colors203.xml"/><Relationship Id="rId4" Type="http://schemas.openxmlformats.org/officeDocument/2006/relationships/diagramQuickStyle" Target="../diagrams/quickStyle203.xml"/></Relationships>
</file>

<file path=ppt/slides/_rels/slide204.xml.rels><?xml version="1.0" encoding="UTF-8" standalone="yes"?>
<Relationships xmlns="http://schemas.openxmlformats.org/package/2006/relationships"><Relationship Id="rId8" Type="http://schemas.openxmlformats.org/officeDocument/2006/relationships/hyperlink" Target="https://www.syncfusion.com/faq/aspnet/files/what-is-a-memorystream-and-how-to-use-memorystream-in-asp-net" TargetMode="External"/><Relationship Id="rId3" Type="http://schemas.openxmlformats.org/officeDocument/2006/relationships/diagramLayout" Target="../diagrams/layout204.xml"/><Relationship Id="rId7" Type="http://schemas.openxmlformats.org/officeDocument/2006/relationships/hyperlink" Target="https://blog.devgenius.io/working-with-files-and-streams-in-net-updated-for-net-8-77bf84afa7aa" TargetMode="External"/><Relationship Id="rId12" Type="http://schemas.openxmlformats.org/officeDocument/2006/relationships/hyperlink" Target="https://learn.microsoft.com/en-us/dotnet/api/system.io.streamwriter?view=net-10.0" TargetMode="External"/><Relationship Id="rId2" Type="http://schemas.openxmlformats.org/officeDocument/2006/relationships/diagramData" Target="../diagrams/data204.xml"/><Relationship Id="rId1" Type="http://schemas.openxmlformats.org/officeDocument/2006/relationships/slideLayout" Target="../slideLayouts/slideLayout2.xml"/><Relationship Id="rId6" Type="http://schemas.microsoft.com/office/2007/relationships/diagramDrawing" Target="../diagrams/drawing204.xml"/><Relationship Id="rId11" Type="http://schemas.openxmlformats.org/officeDocument/2006/relationships/hyperlink" Target="https://learn.microsoft.com/en-us/dotnet/api/system.io.streamreader?view=net-10.0" TargetMode="External"/><Relationship Id="rId5" Type="http://schemas.openxmlformats.org/officeDocument/2006/relationships/diagramColors" Target="../diagrams/colors204.xml"/><Relationship Id="rId10" Type="http://schemas.openxmlformats.org/officeDocument/2006/relationships/hyperlink" Target="https://learn.microsoft.com/en-us/dotnet/standard/io/" TargetMode="External"/><Relationship Id="rId4" Type="http://schemas.openxmlformats.org/officeDocument/2006/relationships/diagramQuickStyle" Target="../diagrams/quickStyle204.xml"/><Relationship Id="rId9" Type="http://schemas.openxmlformats.org/officeDocument/2006/relationships/hyperlink" Target="https://learn.microsoft.com/en-us/dotnet/api/system.io.stream?view=net-10.0" TargetMode="External"/></Relationships>
</file>

<file path=ppt/slides/_rels/slide205.xml.rels><?xml version="1.0" encoding="UTF-8" standalone="yes"?>
<Relationships xmlns="http://schemas.openxmlformats.org/package/2006/relationships"><Relationship Id="rId3" Type="http://schemas.openxmlformats.org/officeDocument/2006/relationships/diagramLayout" Target="../diagrams/layout205.xml"/><Relationship Id="rId7" Type="http://schemas.openxmlformats.org/officeDocument/2006/relationships/image" Target="../media/image84.gif"/><Relationship Id="rId2" Type="http://schemas.openxmlformats.org/officeDocument/2006/relationships/diagramData" Target="../diagrams/data205.xml"/><Relationship Id="rId1" Type="http://schemas.openxmlformats.org/officeDocument/2006/relationships/slideLayout" Target="../slideLayouts/slideLayout2.xml"/><Relationship Id="rId6" Type="http://schemas.microsoft.com/office/2007/relationships/diagramDrawing" Target="../diagrams/drawing205.xml"/><Relationship Id="rId5" Type="http://schemas.openxmlformats.org/officeDocument/2006/relationships/diagramColors" Target="../diagrams/colors205.xml"/><Relationship Id="rId4" Type="http://schemas.openxmlformats.org/officeDocument/2006/relationships/diagramQuickStyle" Target="../diagrams/quickStyle205.xml"/></Relationships>
</file>

<file path=ppt/slides/_rels/slide206.xml.rels><?xml version="1.0" encoding="UTF-8" standalone="yes"?>
<Relationships xmlns="http://schemas.openxmlformats.org/package/2006/relationships"><Relationship Id="rId3" Type="http://schemas.openxmlformats.org/officeDocument/2006/relationships/diagramLayout" Target="../diagrams/layout206.xml"/><Relationship Id="rId2" Type="http://schemas.openxmlformats.org/officeDocument/2006/relationships/diagramData" Target="../diagrams/data206.xml"/><Relationship Id="rId1" Type="http://schemas.openxmlformats.org/officeDocument/2006/relationships/slideLayout" Target="../slideLayouts/slideLayout2.xml"/><Relationship Id="rId6" Type="http://schemas.microsoft.com/office/2007/relationships/diagramDrawing" Target="../diagrams/drawing206.xml"/><Relationship Id="rId5" Type="http://schemas.openxmlformats.org/officeDocument/2006/relationships/diagramColors" Target="../diagrams/colors206.xml"/><Relationship Id="rId4" Type="http://schemas.openxmlformats.org/officeDocument/2006/relationships/diagramQuickStyle" Target="../diagrams/quickStyle206.xml"/></Relationships>
</file>

<file path=ppt/slides/_rels/slide207.xml.rels><?xml version="1.0" encoding="UTF-8" standalone="yes"?>
<Relationships xmlns="http://schemas.openxmlformats.org/package/2006/relationships"><Relationship Id="rId3" Type="http://schemas.openxmlformats.org/officeDocument/2006/relationships/diagramLayout" Target="../diagrams/layout207.xml"/><Relationship Id="rId2" Type="http://schemas.openxmlformats.org/officeDocument/2006/relationships/diagramData" Target="../diagrams/data207.xml"/><Relationship Id="rId1" Type="http://schemas.openxmlformats.org/officeDocument/2006/relationships/slideLayout" Target="../slideLayouts/slideLayout2.xml"/><Relationship Id="rId6" Type="http://schemas.microsoft.com/office/2007/relationships/diagramDrawing" Target="../diagrams/drawing207.xml"/><Relationship Id="rId5" Type="http://schemas.openxmlformats.org/officeDocument/2006/relationships/diagramColors" Target="../diagrams/colors207.xml"/><Relationship Id="rId4" Type="http://schemas.openxmlformats.org/officeDocument/2006/relationships/diagramQuickStyle" Target="../diagrams/quickStyle207.xml"/></Relationships>
</file>

<file path=ppt/slides/_rels/slide208.xml.rels><?xml version="1.0" encoding="UTF-8" standalone="yes"?>
<Relationships xmlns="http://schemas.openxmlformats.org/package/2006/relationships"><Relationship Id="rId3" Type="http://schemas.openxmlformats.org/officeDocument/2006/relationships/diagramLayout" Target="../diagrams/layout208.xml"/><Relationship Id="rId2" Type="http://schemas.openxmlformats.org/officeDocument/2006/relationships/diagramData" Target="../diagrams/data208.xml"/><Relationship Id="rId1" Type="http://schemas.openxmlformats.org/officeDocument/2006/relationships/slideLayout" Target="../slideLayouts/slideLayout2.xml"/><Relationship Id="rId6" Type="http://schemas.microsoft.com/office/2007/relationships/diagramDrawing" Target="../diagrams/drawing208.xml"/><Relationship Id="rId5" Type="http://schemas.openxmlformats.org/officeDocument/2006/relationships/diagramColors" Target="../diagrams/colors208.xml"/><Relationship Id="rId4" Type="http://schemas.openxmlformats.org/officeDocument/2006/relationships/diagramQuickStyle" Target="../diagrams/quickStyle208.xml"/></Relationships>
</file>

<file path=ppt/slides/_rels/slide209.xml.rels><?xml version="1.0" encoding="UTF-8" standalone="yes"?>
<Relationships xmlns="http://schemas.openxmlformats.org/package/2006/relationships"><Relationship Id="rId3" Type="http://schemas.openxmlformats.org/officeDocument/2006/relationships/diagramLayout" Target="../diagrams/layout209.xml"/><Relationship Id="rId2" Type="http://schemas.openxmlformats.org/officeDocument/2006/relationships/diagramData" Target="../diagrams/data209.xml"/><Relationship Id="rId1" Type="http://schemas.openxmlformats.org/officeDocument/2006/relationships/slideLayout" Target="../slideLayouts/slideLayout2.xml"/><Relationship Id="rId6" Type="http://schemas.microsoft.com/office/2007/relationships/diagramDrawing" Target="../diagrams/drawing209.xml"/><Relationship Id="rId5" Type="http://schemas.openxmlformats.org/officeDocument/2006/relationships/diagramColors" Target="../diagrams/colors209.xml"/><Relationship Id="rId4" Type="http://schemas.openxmlformats.org/officeDocument/2006/relationships/diagramQuickStyle" Target="../diagrams/quickStyle209.xml"/></Relationships>
</file>

<file path=ppt/slides/_rels/slide210.xml.rels><?xml version="1.0" encoding="UTF-8" standalone="yes"?>
<Relationships xmlns="http://schemas.openxmlformats.org/package/2006/relationships"><Relationship Id="rId3" Type="http://schemas.openxmlformats.org/officeDocument/2006/relationships/diagramLayout" Target="../diagrams/layout210.xml"/><Relationship Id="rId2" Type="http://schemas.openxmlformats.org/officeDocument/2006/relationships/diagramData" Target="../diagrams/data210.xml"/><Relationship Id="rId1" Type="http://schemas.openxmlformats.org/officeDocument/2006/relationships/slideLayout" Target="../slideLayouts/slideLayout2.xml"/><Relationship Id="rId6" Type="http://schemas.microsoft.com/office/2007/relationships/diagramDrawing" Target="../diagrams/drawing210.xml"/><Relationship Id="rId5" Type="http://schemas.openxmlformats.org/officeDocument/2006/relationships/diagramColors" Target="../diagrams/colors210.xml"/><Relationship Id="rId4" Type="http://schemas.openxmlformats.org/officeDocument/2006/relationships/diagramQuickStyle" Target="../diagrams/quickStyle210.xml"/></Relationships>
</file>

<file path=ppt/slides/_rels/slide211.xml.rels><?xml version="1.0" encoding="UTF-8" standalone="yes"?>
<Relationships xmlns="http://schemas.openxmlformats.org/package/2006/relationships"><Relationship Id="rId3" Type="http://schemas.openxmlformats.org/officeDocument/2006/relationships/diagramLayout" Target="../diagrams/layout211.xml"/><Relationship Id="rId2" Type="http://schemas.openxmlformats.org/officeDocument/2006/relationships/diagramData" Target="../diagrams/data211.xml"/><Relationship Id="rId1" Type="http://schemas.openxmlformats.org/officeDocument/2006/relationships/slideLayout" Target="../slideLayouts/slideLayout2.xml"/><Relationship Id="rId6" Type="http://schemas.microsoft.com/office/2007/relationships/diagramDrawing" Target="../diagrams/drawing211.xml"/><Relationship Id="rId5" Type="http://schemas.openxmlformats.org/officeDocument/2006/relationships/diagramColors" Target="../diagrams/colors211.xml"/><Relationship Id="rId4" Type="http://schemas.openxmlformats.org/officeDocument/2006/relationships/diagramQuickStyle" Target="../diagrams/quickStyle211.xml"/></Relationships>
</file>

<file path=ppt/slides/_rels/slide212.xml.rels><?xml version="1.0" encoding="UTF-8" standalone="yes"?>
<Relationships xmlns="http://schemas.openxmlformats.org/package/2006/relationships"><Relationship Id="rId3" Type="http://schemas.openxmlformats.org/officeDocument/2006/relationships/diagramLayout" Target="../diagrams/layout212.xml"/><Relationship Id="rId2" Type="http://schemas.openxmlformats.org/officeDocument/2006/relationships/diagramData" Target="../diagrams/data212.xml"/><Relationship Id="rId1" Type="http://schemas.openxmlformats.org/officeDocument/2006/relationships/slideLayout" Target="../slideLayouts/slideLayout2.xml"/><Relationship Id="rId6" Type="http://schemas.microsoft.com/office/2007/relationships/diagramDrawing" Target="../diagrams/drawing212.xml"/><Relationship Id="rId5" Type="http://schemas.openxmlformats.org/officeDocument/2006/relationships/diagramColors" Target="../diagrams/colors212.xml"/><Relationship Id="rId4" Type="http://schemas.openxmlformats.org/officeDocument/2006/relationships/diagramQuickStyle" Target="../diagrams/quickStyle212.xml"/></Relationships>
</file>

<file path=ppt/slides/_rels/slide213.xml.rels><?xml version="1.0" encoding="UTF-8" standalone="yes"?>
<Relationships xmlns="http://schemas.openxmlformats.org/package/2006/relationships"><Relationship Id="rId3" Type="http://schemas.openxmlformats.org/officeDocument/2006/relationships/diagramLayout" Target="../diagrams/layout213.xml"/><Relationship Id="rId2" Type="http://schemas.openxmlformats.org/officeDocument/2006/relationships/diagramData" Target="../diagrams/data213.xml"/><Relationship Id="rId1" Type="http://schemas.openxmlformats.org/officeDocument/2006/relationships/slideLayout" Target="../slideLayouts/slideLayout2.xml"/><Relationship Id="rId6" Type="http://schemas.microsoft.com/office/2007/relationships/diagramDrawing" Target="../diagrams/drawing213.xml"/><Relationship Id="rId5" Type="http://schemas.openxmlformats.org/officeDocument/2006/relationships/diagramColors" Target="../diagrams/colors213.xml"/><Relationship Id="rId4" Type="http://schemas.openxmlformats.org/officeDocument/2006/relationships/diagramQuickStyle" Target="../diagrams/quickStyle213.xml"/></Relationships>
</file>

<file path=ppt/slides/_rels/slide214.xml.rels><?xml version="1.0" encoding="UTF-8" standalone="yes"?>
<Relationships xmlns="http://schemas.openxmlformats.org/package/2006/relationships"><Relationship Id="rId3" Type="http://schemas.openxmlformats.org/officeDocument/2006/relationships/diagramLayout" Target="../diagrams/layout214.xml"/><Relationship Id="rId2" Type="http://schemas.openxmlformats.org/officeDocument/2006/relationships/diagramData" Target="../diagrams/data214.xml"/><Relationship Id="rId1" Type="http://schemas.openxmlformats.org/officeDocument/2006/relationships/slideLayout" Target="../slideLayouts/slideLayout2.xml"/><Relationship Id="rId6" Type="http://schemas.microsoft.com/office/2007/relationships/diagramDrawing" Target="../diagrams/drawing214.xml"/><Relationship Id="rId5" Type="http://schemas.openxmlformats.org/officeDocument/2006/relationships/diagramColors" Target="../diagrams/colors214.xml"/><Relationship Id="rId4" Type="http://schemas.openxmlformats.org/officeDocument/2006/relationships/diagramQuickStyle" Target="../diagrams/quickStyle214.xml"/></Relationships>
</file>

<file path=ppt/slides/_rels/slide215.xml.rels><?xml version="1.0" encoding="UTF-8" standalone="yes"?>
<Relationships xmlns="http://schemas.openxmlformats.org/package/2006/relationships"><Relationship Id="rId3" Type="http://schemas.openxmlformats.org/officeDocument/2006/relationships/diagramLayout" Target="../diagrams/layout215.xml"/><Relationship Id="rId2" Type="http://schemas.openxmlformats.org/officeDocument/2006/relationships/diagramData" Target="../diagrams/data215.xml"/><Relationship Id="rId1" Type="http://schemas.openxmlformats.org/officeDocument/2006/relationships/slideLayout" Target="../slideLayouts/slideLayout2.xml"/><Relationship Id="rId6" Type="http://schemas.microsoft.com/office/2007/relationships/diagramDrawing" Target="../diagrams/drawing215.xml"/><Relationship Id="rId5" Type="http://schemas.openxmlformats.org/officeDocument/2006/relationships/diagramColors" Target="../diagrams/colors215.xml"/><Relationship Id="rId4" Type="http://schemas.openxmlformats.org/officeDocument/2006/relationships/diagramQuickStyle" Target="../diagrams/quickStyle215.xml"/></Relationships>
</file>

<file path=ppt/slides/_rels/slide216.xml.rels><?xml version="1.0" encoding="UTF-8" standalone="yes"?>
<Relationships xmlns="http://schemas.openxmlformats.org/package/2006/relationships"><Relationship Id="rId3" Type="http://schemas.openxmlformats.org/officeDocument/2006/relationships/diagramLayout" Target="../diagrams/layout216.xml"/><Relationship Id="rId2" Type="http://schemas.openxmlformats.org/officeDocument/2006/relationships/diagramData" Target="../diagrams/data216.xml"/><Relationship Id="rId1" Type="http://schemas.openxmlformats.org/officeDocument/2006/relationships/slideLayout" Target="../slideLayouts/slideLayout2.xml"/><Relationship Id="rId6" Type="http://schemas.microsoft.com/office/2007/relationships/diagramDrawing" Target="../diagrams/drawing216.xml"/><Relationship Id="rId5" Type="http://schemas.openxmlformats.org/officeDocument/2006/relationships/diagramColors" Target="../diagrams/colors216.xml"/><Relationship Id="rId4" Type="http://schemas.openxmlformats.org/officeDocument/2006/relationships/diagramQuickStyle" Target="../diagrams/quickStyle216.xml"/></Relationships>
</file>

<file path=ppt/slides/_rels/slide217.xml.rels><?xml version="1.0" encoding="UTF-8" standalone="yes"?>
<Relationships xmlns="http://schemas.openxmlformats.org/package/2006/relationships"><Relationship Id="rId3" Type="http://schemas.openxmlformats.org/officeDocument/2006/relationships/diagramLayout" Target="../diagrams/layout217.xml"/><Relationship Id="rId2" Type="http://schemas.openxmlformats.org/officeDocument/2006/relationships/diagramData" Target="../diagrams/data217.xml"/><Relationship Id="rId1" Type="http://schemas.openxmlformats.org/officeDocument/2006/relationships/slideLayout" Target="../slideLayouts/slideLayout2.xml"/><Relationship Id="rId6" Type="http://schemas.microsoft.com/office/2007/relationships/diagramDrawing" Target="../diagrams/drawing217.xml"/><Relationship Id="rId5" Type="http://schemas.openxmlformats.org/officeDocument/2006/relationships/diagramColors" Target="../diagrams/colors217.xml"/><Relationship Id="rId4" Type="http://schemas.openxmlformats.org/officeDocument/2006/relationships/diagramQuickStyle" Target="../diagrams/quickStyle217.xml"/></Relationships>
</file>

<file path=ppt/slides/_rels/slide218.xml.rels><?xml version="1.0" encoding="UTF-8" standalone="yes"?>
<Relationships xmlns="http://schemas.openxmlformats.org/package/2006/relationships"><Relationship Id="rId3" Type="http://schemas.openxmlformats.org/officeDocument/2006/relationships/diagramLayout" Target="../diagrams/layout218.xml"/><Relationship Id="rId7" Type="http://schemas.openxmlformats.org/officeDocument/2006/relationships/image" Target="../media/image85.png"/><Relationship Id="rId2" Type="http://schemas.openxmlformats.org/officeDocument/2006/relationships/diagramData" Target="../diagrams/data218.xml"/><Relationship Id="rId1" Type="http://schemas.openxmlformats.org/officeDocument/2006/relationships/slideLayout" Target="../slideLayouts/slideLayout2.xml"/><Relationship Id="rId6" Type="http://schemas.microsoft.com/office/2007/relationships/diagramDrawing" Target="../diagrams/drawing218.xml"/><Relationship Id="rId5" Type="http://schemas.openxmlformats.org/officeDocument/2006/relationships/diagramColors" Target="../diagrams/colors218.xml"/><Relationship Id="rId4" Type="http://schemas.openxmlformats.org/officeDocument/2006/relationships/diagramQuickStyle" Target="../diagrams/quickStyle218.xml"/></Relationships>
</file>

<file path=ppt/slides/_rels/slide219.xml.rels><?xml version="1.0" encoding="UTF-8" standalone="yes"?>
<Relationships xmlns="http://schemas.openxmlformats.org/package/2006/relationships"><Relationship Id="rId3" Type="http://schemas.openxmlformats.org/officeDocument/2006/relationships/diagramLayout" Target="../diagrams/layout219.xml"/><Relationship Id="rId7" Type="http://schemas.openxmlformats.org/officeDocument/2006/relationships/image" Target="../media/image86.png"/><Relationship Id="rId2" Type="http://schemas.openxmlformats.org/officeDocument/2006/relationships/diagramData" Target="../diagrams/data219.xml"/><Relationship Id="rId1" Type="http://schemas.openxmlformats.org/officeDocument/2006/relationships/slideLayout" Target="../slideLayouts/slideLayout2.xml"/><Relationship Id="rId6" Type="http://schemas.microsoft.com/office/2007/relationships/diagramDrawing" Target="../diagrams/drawing219.xml"/><Relationship Id="rId5" Type="http://schemas.openxmlformats.org/officeDocument/2006/relationships/diagramColors" Target="../diagrams/colors219.xml"/><Relationship Id="rId4" Type="http://schemas.openxmlformats.org/officeDocument/2006/relationships/diagramQuickStyle" Target="../diagrams/quickStyle219.xml"/></Relationships>
</file>

<file path=ppt/slides/_rels/slide220.xml.rels><?xml version="1.0" encoding="UTF-8" standalone="yes"?>
<Relationships xmlns="http://schemas.openxmlformats.org/package/2006/relationships"><Relationship Id="rId3" Type="http://schemas.openxmlformats.org/officeDocument/2006/relationships/diagramLayout" Target="../diagrams/layout220.xml"/><Relationship Id="rId2" Type="http://schemas.openxmlformats.org/officeDocument/2006/relationships/diagramData" Target="../diagrams/data220.xml"/><Relationship Id="rId1" Type="http://schemas.openxmlformats.org/officeDocument/2006/relationships/slideLayout" Target="../slideLayouts/slideLayout2.xml"/><Relationship Id="rId6" Type="http://schemas.microsoft.com/office/2007/relationships/diagramDrawing" Target="../diagrams/drawing220.xml"/><Relationship Id="rId5" Type="http://schemas.openxmlformats.org/officeDocument/2006/relationships/diagramColors" Target="../diagrams/colors220.xml"/><Relationship Id="rId4" Type="http://schemas.openxmlformats.org/officeDocument/2006/relationships/diagramQuickStyle" Target="../diagrams/quickStyle220.xml"/></Relationships>
</file>

<file path=ppt/slides/_rels/slide221.xml.rels><?xml version="1.0" encoding="UTF-8" standalone="yes"?>
<Relationships xmlns="http://schemas.openxmlformats.org/package/2006/relationships"><Relationship Id="rId3" Type="http://schemas.openxmlformats.org/officeDocument/2006/relationships/diagramLayout" Target="../diagrams/layout221.xml"/><Relationship Id="rId2" Type="http://schemas.openxmlformats.org/officeDocument/2006/relationships/diagramData" Target="../diagrams/data221.xml"/><Relationship Id="rId1" Type="http://schemas.openxmlformats.org/officeDocument/2006/relationships/slideLayout" Target="../slideLayouts/slideLayout2.xml"/><Relationship Id="rId6" Type="http://schemas.microsoft.com/office/2007/relationships/diagramDrawing" Target="../diagrams/drawing221.xml"/><Relationship Id="rId5" Type="http://schemas.openxmlformats.org/officeDocument/2006/relationships/diagramColors" Target="../diagrams/colors221.xml"/><Relationship Id="rId4" Type="http://schemas.openxmlformats.org/officeDocument/2006/relationships/diagramQuickStyle" Target="../diagrams/quickStyle221.xml"/></Relationships>
</file>

<file path=ppt/slides/_rels/slide222.xml.rels><?xml version="1.0" encoding="UTF-8" standalone="yes"?>
<Relationships xmlns="http://schemas.openxmlformats.org/package/2006/relationships"><Relationship Id="rId3" Type="http://schemas.openxmlformats.org/officeDocument/2006/relationships/diagramLayout" Target="../diagrams/layout222.xml"/><Relationship Id="rId2" Type="http://schemas.openxmlformats.org/officeDocument/2006/relationships/diagramData" Target="../diagrams/data222.xml"/><Relationship Id="rId1" Type="http://schemas.openxmlformats.org/officeDocument/2006/relationships/slideLayout" Target="../slideLayouts/slideLayout2.xml"/><Relationship Id="rId6" Type="http://schemas.microsoft.com/office/2007/relationships/diagramDrawing" Target="../diagrams/drawing222.xml"/><Relationship Id="rId5" Type="http://schemas.openxmlformats.org/officeDocument/2006/relationships/diagramColors" Target="../diagrams/colors222.xml"/><Relationship Id="rId4" Type="http://schemas.openxmlformats.org/officeDocument/2006/relationships/diagramQuickStyle" Target="../diagrams/quickStyle222.xml"/></Relationships>
</file>

<file path=ppt/slides/_rels/slide223.xml.rels><?xml version="1.0" encoding="UTF-8" standalone="yes"?>
<Relationships xmlns="http://schemas.openxmlformats.org/package/2006/relationships"><Relationship Id="rId3" Type="http://schemas.openxmlformats.org/officeDocument/2006/relationships/diagramLayout" Target="../diagrams/layout223.xml"/><Relationship Id="rId2" Type="http://schemas.openxmlformats.org/officeDocument/2006/relationships/diagramData" Target="../diagrams/data223.xml"/><Relationship Id="rId1" Type="http://schemas.openxmlformats.org/officeDocument/2006/relationships/slideLayout" Target="../slideLayouts/slideLayout2.xml"/><Relationship Id="rId6" Type="http://schemas.microsoft.com/office/2007/relationships/diagramDrawing" Target="../diagrams/drawing223.xml"/><Relationship Id="rId5" Type="http://schemas.openxmlformats.org/officeDocument/2006/relationships/diagramColors" Target="../diagrams/colors223.xml"/><Relationship Id="rId4" Type="http://schemas.openxmlformats.org/officeDocument/2006/relationships/diagramQuickStyle" Target="../diagrams/quickStyle223.xml"/></Relationships>
</file>

<file path=ppt/slides/_rels/slide224.xml.rels><?xml version="1.0" encoding="UTF-8" standalone="yes"?>
<Relationships xmlns="http://schemas.openxmlformats.org/package/2006/relationships"><Relationship Id="rId3" Type="http://schemas.openxmlformats.org/officeDocument/2006/relationships/diagramLayout" Target="../diagrams/layout224.xml"/><Relationship Id="rId2" Type="http://schemas.openxmlformats.org/officeDocument/2006/relationships/diagramData" Target="../diagrams/data224.xml"/><Relationship Id="rId1" Type="http://schemas.openxmlformats.org/officeDocument/2006/relationships/slideLayout" Target="../slideLayouts/slideLayout2.xml"/><Relationship Id="rId6" Type="http://schemas.microsoft.com/office/2007/relationships/diagramDrawing" Target="../diagrams/drawing224.xml"/><Relationship Id="rId5" Type="http://schemas.openxmlformats.org/officeDocument/2006/relationships/diagramColors" Target="../diagrams/colors224.xml"/><Relationship Id="rId4" Type="http://schemas.openxmlformats.org/officeDocument/2006/relationships/diagramQuickStyle" Target="../diagrams/quickStyle224.xml"/></Relationships>
</file>

<file path=ppt/slides/_rels/slide225.xml.rels><?xml version="1.0" encoding="UTF-8" standalone="yes"?>
<Relationships xmlns="http://schemas.openxmlformats.org/package/2006/relationships"><Relationship Id="rId3" Type="http://schemas.openxmlformats.org/officeDocument/2006/relationships/diagramLayout" Target="../diagrams/layout225.xml"/><Relationship Id="rId2" Type="http://schemas.openxmlformats.org/officeDocument/2006/relationships/diagramData" Target="../diagrams/data225.xml"/><Relationship Id="rId1" Type="http://schemas.openxmlformats.org/officeDocument/2006/relationships/slideLayout" Target="../slideLayouts/slideLayout2.xml"/><Relationship Id="rId6" Type="http://schemas.microsoft.com/office/2007/relationships/diagramDrawing" Target="../diagrams/drawing225.xml"/><Relationship Id="rId5" Type="http://schemas.openxmlformats.org/officeDocument/2006/relationships/diagramColors" Target="../diagrams/colors225.xml"/><Relationship Id="rId4" Type="http://schemas.openxmlformats.org/officeDocument/2006/relationships/diagramQuickStyle" Target="../diagrams/quickStyle225.xml"/></Relationships>
</file>

<file path=ppt/slides/_rels/slide226.xml.rels><?xml version="1.0" encoding="UTF-8" standalone="yes"?>
<Relationships xmlns="http://schemas.openxmlformats.org/package/2006/relationships"><Relationship Id="rId3" Type="http://schemas.openxmlformats.org/officeDocument/2006/relationships/diagramLayout" Target="../diagrams/layout226.xml"/><Relationship Id="rId2" Type="http://schemas.openxmlformats.org/officeDocument/2006/relationships/diagramData" Target="../diagrams/data226.xml"/><Relationship Id="rId1" Type="http://schemas.openxmlformats.org/officeDocument/2006/relationships/slideLayout" Target="../slideLayouts/slideLayout2.xml"/><Relationship Id="rId6" Type="http://schemas.microsoft.com/office/2007/relationships/diagramDrawing" Target="../diagrams/drawing226.xml"/><Relationship Id="rId5" Type="http://schemas.openxmlformats.org/officeDocument/2006/relationships/diagramColors" Target="../diagrams/colors226.xml"/><Relationship Id="rId4" Type="http://schemas.openxmlformats.org/officeDocument/2006/relationships/diagramQuickStyle" Target="../diagrams/quickStyle226.xml"/></Relationships>
</file>

<file path=ppt/slides/_rels/slide227.xml.rels><?xml version="1.0" encoding="UTF-8" standalone="yes"?>
<Relationships xmlns="http://schemas.openxmlformats.org/package/2006/relationships"><Relationship Id="rId3" Type="http://schemas.openxmlformats.org/officeDocument/2006/relationships/diagramLayout" Target="../diagrams/layout227.xml"/><Relationship Id="rId2" Type="http://schemas.openxmlformats.org/officeDocument/2006/relationships/diagramData" Target="../diagrams/data227.xml"/><Relationship Id="rId1" Type="http://schemas.openxmlformats.org/officeDocument/2006/relationships/slideLayout" Target="../slideLayouts/slideLayout2.xml"/><Relationship Id="rId6" Type="http://schemas.microsoft.com/office/2007/relationships/diagramDrawing" Target="../diagrams/drawing227.xml"/><Relationship Id="rId5" Type="http://schemas.openxmlformats.org/officeDocument/2006/relationships/diagramColors" Target="../diagrams/colors227.xml"/><Relationship Id="rId4" Type="http://schemas.openxmlformats.org/officeDocument/2006/relationships/diagramQuickStyle" Target="../diagrams/quickStyle227.xml"/></Relationships>
</file>

<file path=ppt/slides/_rels/slide228.xml.rels><?xml version="1.0" encoding="UTF-8" standalone="yes"?>
<Relationships xmlns="http://schemas.openxmlformats.org/package/2006/relationships"><Relationship Id="rId3" Type="http://schemas.openxmlformats.org/officeDocument/2006/relationships/diagramLayout" Target="../diagrams/layout228.xml"/><Relationship Id="rId2" Type="http://schemas.openxmlformats.org/officeDocument/2006/relationships/diagramData" Target="../diagrams/data228.xml"/><Relationship Id="rId1" Type="http://schemas.openxmlformats.org/officeDocument/2006/relationships/slideLayout" Target="../slideLayouts/slideLayout2.xml"/><Relationship Id="rId6" Type="http://schemas.microsoft.com/office/2007/relationships/diagramDrawing" Target="../diagrams/drawing228.xml"/><Relationship Id="rId5" Type="http://schemas.openxmlformats.org/officeDocument/2006/relationships/diagramColors" Target="../diagrams/colors228.xml"/><Relationship Id="rId4" Type="http://schemas.openxmlformats.org/officeDocument/2006/relationships/diagramQuickStyle" Target="../diagrams/quickStyle228.xml"/></Relationships>
</file>

<file path=ppt/slides/_rels/slide229.xml.rels><?xml version="1.0" encoding="UTF-8" standalone="yes"?>
<Relationships xmlns="http://schemas.openxmlformats.org/package/2006/relationships"><Relationship Id="rId3" Type="http://schemas.openxmlformats.org/officeDocument/2006/relationships/diagramLayout" Target="../diagrams/layout229.xml"/><Relationship Id="rId2" Type="http://schemas.openxmlformats.org/officeDocument/2006/relationships/diagramData" Target="../diagrams/data229.xml"/><Relationship Id="rId1" Type="http://schemas.openxmlformats.org/officeDocument/2006/relationships/slideLayout" Target="../slideLayouts/slideLayout2.xml"/><Relationship Id="rId6" Type="http://schemas.microsoft.com/office/2007/relationships/diagramDrawing" Target="../diagrams/drawing229.xml"/><Relationship Id="rId5" Type="http://schemas.openxmlformats.org/officeDocument/2006/relationships/diagramColors" Target="../diagrams/colors229.xml"/><Relationship Id="rId4" Type="http://schemas.openxmlformats.org/officeDocument/2006/relationships/diagramQuickStyle" Target="../diagrams/quickStyle229.xml"/></Relationships>
</file>

<file path=ppt/slides/_rels/slide230.xml.rels><?xml version="1.0" encoding="UTF-8" standalone="yes"?>
<Relationships xmlns="http://schemas.openxmlformats.org/package/2006/relationships"><Relationship Id="rId3" Type="http://schemas.openxmlformats.org/officeDocument/2006/relationships/diagramLayout" Target="../diagrams/layout230.xml"/><Relationship Id="rId2" Type="http://schemas.openxmlformats.org/officeDocument/2006/relationships/diagramData" Target="../diagrams/data230.xml"/><Relationship Id="rId1" Type="http://schemas.openxmlformats.org/officeDocument/2006/relationships/slideLayout" Target="../slideLayouts/slideLayout2.xml"/><Relationship Id="rId6" Type="http://schemas.microsoft.com/office/2007/relationships/diagramDrawing" Target="../diagrams/drawing230.xml"/><Relationship Id="rId5" Type="http://schemas.openxmlformats.org/officeDocument/2006/relationships/diagramColors" Target="../diagrams/colors230.xml"/><Relationship Id="rId4" Type="http://schemas.openxmlformats.org/officeDocument/2006/relationships/diagramQuickStyle" Target="../diagrams/quickStyle230.xml"/></Relationships>
</file>

<file path=ppt/slides/_rels/slide231.xml.rels><?xml version="1.0" encoding="UTF-8" standalone="yes"?>
<Relationships xmlns="http://schemas.openxmlformats.org/package/2006/relationships"><Relationship Id="rId3" Type="http://schemas.openxmlformats.org/officeDocument/2006/relationships/diagramLayout" Target="../diagrams/layout231.xml"/><Relationship Id="rId2" Type="http://schemas.openxmlformats.org/officeDocument/2006/relationships/diagramData" Target="../diagrams/data231.xml"/><Relationship Id="rId1" Type="http://schemas.openxmlformats.org/officeDocument/2006/relationships/slideLayout" Target="../slideLayouts/slideLayout2.xml"/><Relationship Id="rId6" Type="http://schemas.microsoft.com/office/2007/relationships/diagramDrawing" Target="../diagrams/drawing231.xml"/><Relationship Id="rId5" Type="http://schemas.openxmlformats.org/officeDocument/2006/relationships/diagramColors" Target="../diagrams/colors231.xml"/><Relationship Id="rId4" Type="http://schemas.openxmlformats.org/officeDocument/2006/relationships/diagramQuickStyle" Target="../diagrams/quickStyle231.xml"/></Relationships>
</file>

<file path=ppt/slides/_rels/slide232.xml.rels><?xml version="1.0" encoding="UTF-8" standalone="yes"?>
<Relationships xmlns="http://schemas.openxmlformats.org/package/2006/relationships"><Relationship Id="rId3" Type="http://schemas.openxmlformats.org/officeDocument/2006/relationships/diagramLayout" Target="../diagrams/layout232.xml"/><Relationship Id="rId2" Type="http://schemas.openxmlformats.org/officeDocument/2006/relationships/diagramData" Target="../diagrams/data232.xml"/><Relationship Id="rId1" Type="http://schemas.openxmlformats.org/officeDocument/2006/relationships/slideLayout" Target="../slideLayouts/slideLayout2.xml"/><Relationship Id="rId6" Type="http://schemas.microsoft.com/office/2007/relationships/diagramDrawing" Target="../diagrams/drawing232.xml"/><Relationship Id="rId5" Type="http://schemas.openxmlformats.org/officeDocument/2006/relationships/diagramColors" Target="../diagrams/colors232.xml"/><Relationship Id="rId4" Type="http://schemas.openxmlformats.org/officeDocument/2006/relationships/diagramQuickStyle" Target="../diagrams/quickStyle232.xml"/></Relationships>
</file>

<file path=ppt/slides/_rels/slide233.xml.rels><?xml version="1.0" encoding="UTF-8" standalone="yes"?>
<Relationships xmlns="http://schemas.openxmlformats.org/package/2006/relationships"><Relationship Id="rId3" Type="http://schemas.openxmlformats.org/officeDocument/2006/relationships/diagramLayout" Target="../diagrams/layout233.xml"/><Relationship Id="rId2" Type="http://schemas.openxmlformats.org/officeDocument/2006/relationships/diagramData" Target="../diagrams/data233.xml"/><Relationship Id="rId1" Type="http://schemas.openxmlformats.org/officeDocument/2006/relationships/slideLayout" Target="../slideLayouts/slideLayout2.xml"/><Relationship Id="rId6" Type="http://schemas.microsoft.com/office/2007/relationships/diagramDrawing" Target="../diagrams/drawing233.xml"/><Relationship Id="rId5" Type="http://schemas.openxmlformats.org/officeDocument/2006/relationships/diagramColors" Target="../diagrams/colors233.xml"/><Relationship Id="rId4" Type="http://schemas.openxmlformats.org/officeDocument/2006/relationships/diagramQuickStyle" Target="../diagrams/quickStyle233.xml"/></Relationships>
</file>

<file path=ppt/slides/_rels/slide234.xml.rels><?xml version="1.0" encoding="UTF-8" standalone="yes"?>
<Relationships xmlns="http://schemas.openxmlformats.org/package/2006/relationships"><Relationship Id="rId3" Type="http://schemas.openxmlformats.org/officeDocument/2006/relationships/diagramLayout" Target="../diagrams/layout234.xml"/><Relationship Id="rId2" Type="http://schemas.openxmlformats.org/officeDocument/2006/relationships/diagramData" Target="../diagrams/data234.xml"/><Relationship Id="rId1" Type="http://schemas.openxmlformats.org/officeDocument/2006/relationships/slideLayout" Target="../slideLayouts/slideLayout2.xml"/><Relationship Id="rId6" Type="http://schemas.microsoft.com/office/2007/relationships/diagramDrawing" Target="../diagrams/drawing234.xml"/><Relationship Id="rId5" Type="http://schemas.openxmlformats.org/officeDocument/2006/relationships/diagramColors" Target="../diagrams/colors234.xml"/><Relationship Id="rId4" Type="http://schemas.openxmlformats.org/officeDocument/2006/relationships/diagramQuickStyle" Target="../diagrams/quickStyle234.xml"/></Relationships>
</file>

<file path=ppt/slides/_rels/slide235.xml.rels><?xml version="1.0" encoding="UTF-8" standalone="yes"?>
<Relationships xmlns="http://schemas.openxmlformats.org/package/2006/relationships"><Relationship Id="rId3" Type="http://schemas.openxmlformats.org/officeDocument/2006/relationships/diagramLayout" Target="../diagrams/layout235.xml"/><Relationship Id="rId2" Type="http://schemas.openxmlformats.org/officeDocument/2006/relationships/diagramData" Target="../diagrams/data235.xml"/><Relationship Id="rId1" Type="http://schemas.openxmlformats.org/officeDocument/2006/relationships/slideLayout" Target="../slideLayouts/slideLayout2.xml"/><Relationship Id="rId6" Type="http://schemas.microsoft.com/office/2007/relationships/diagramDrawing" Target="../diagrams/drawing235.xml"/><Relationship Id="rId5" Type="http://schemas.openxmlformats.org/officeDocument/2006/relationships/diagramColors" Target="../diagrams/colors235.xml"/><Relationship Id="rId4" Type="http://schemas.openxmlformats.org/officeDocument/2006/relationships/diagramQuickStyle" Target="../diagrams/quickStyle235.xml"/></Relationships>
</file>

<file path=ppt/slides/_rels/slide236.xml.rels><?xml version="1.0" encoding="UTF-8" standalone="yes"?>
<Relationships xmlns="http://schemas.openxmlformats.org/package/2006/relationships"><Relationship Id="rId3" Type="http://schemas.openxmlformats.org/officeDocument/2006/relationships/diagramLayout" Target="../diagrams/layout236.xml"/><Relationship Id="rId2" Type="http://schemas.openxmlformats.org/officeDocument/2006/relationships/diagramData" Target="../diagrams/data236.xml"/><Relationship Id="rId1" Type="http://schemas.openxmlformats.org/officeDocument/2006/relationships/slideLayout" Target="../slideLayouts/slideLayout2.xml"/><Relationship Id="rId6" Type="http://schemas.microsoft.com/office/2007/relationships/diagramDrawing" Target="../diagrams/drawing236.xml"/><Relationship Id="rId5" Type="http://schemas.openxmlformats.org/officeDocument/2006/relationships/diagramColors" Target="../diagrams/colors236.xml"/><Relationship Id="rId4" Type="http://schemas.openxmlformats.org/officeDocument/2006/relationships/diagramQuickStyle" Target="../diagrams/quickStyle236.xml"/></Relationships>
</file>

<file path=ppt/slides/_rels/slide237.xml.rels><?xml version="1.0" encoding="UTF-8" standalone="yes"?>
<Relationships xmlns="http://schemas.openxmlformats.org/package/2006/relationships"><Relationship Id="rId3" Type="http://schemas.openxmlformats.org/officeDocument/2006/relationships/diagramLayout" Target="../diagrams/layout237.xml"/><Relationship Id="rId2" Type="http://schemas.openxmlformats.org/officeDocument/2006/relationships/diagramData" Target="../diagrams/data237.xml"/><Relationship Id="rId1" Type="http://schemas.openxmlformats.org/officeDocument/2006/relationships/slideLayout" Target="../slideLayouts/slideLayout2.xml"/><Relationship Id="rId6" Type="http://schemas.microsoft.com/office/2007/relationships/diagramDrawing" Target="../diagrams/drawing237.xml"/><Relationship Id="rId5" Type="http://schemas.openxmlformats.org/officeDocument/2006/relationships/diagramColors" Target="../diagrams/colors237.xml"/><Relationship Id="rId4" Type="http://schemas.openxmlformats.org/officeDocument/2006/relationships/diagramQuickStyle" Target="../diagrams/quickStyle237.xml"/></Relationships>
</file>

<file path=ppt/slides/_rels/slide238.xml.rels><?xml version="1.0" encoding="UTF-8" standalone="yes"?>
<Relationships xmlns="http://schemas.openxmlformats.org/package/2006/relationships"><Relationship Id="rId3" Type="http://schemas.openxmlformats.org/officeDocument/2006/relationships/diagramLayout" Target="../diagrams/layout238.xml"/><Relationship Id="rId2" Type="http://schemas.openxmlformats.org/officeDocument/2006/relationships/diagramData" Target="../diagrams/data238.xml"/><Relationship Id="rId1" Type="http://schemas.openxmlformats.org/officeDocument/2006/relationships/slideLayout" Target="../slideLayouts/slideLayout2.xml"/><Relationship Id="rId6" Type="http://schemas.microsoft.com/office/2007/relationships/diagramDrawing" Target="../diagrams/drawing238.xml"/><Relationship Id="rId5" Type="http://schemas.openxmlformats.org/officeDocument/2006/relationships/diagramColors" Target="../diagrams/colors238.xml"/><Relationship Id="rId4" Type="http://schemas.openxmlformats.org/officeDocument/2006/relationships/diagramQuickStyle" Target="../diagrams/quickStyle238.xml"/></Relationships>
</file>

<file path=ppt/slides/_rels/slide239.xml.rels><?xml version="1.0" encoding="UTF-8" standalone="yes"?>
<Relationships xmlns="http://schemas.openxmlformats.org/package/2006/relationships"><Relationship Id="rId3" Type="http://schemas.openxmlformats.org/officeDocument/2006/relationships/diagramLayout" Target="../diagrams/layout239.xml"/><Relationship Id="rId2" Type="http://schemas.openxmlformats.org/officeDocument/2006/relationships/diagramData" Target="../diagrams/data239.xml"/><Relationship Id="rId1" Type="http://schemas.openxmlformats.org/officeDocument/2006/relationships/slideLayout" Target="../slideLayouts/slideLayout2.xml"/><Relationship Id="rId6" Type="http://schemas.microsoft.com/office/2007/relationships/diagramDrawing" Target="../diagrams/drawing239.xml"/><Relationship Id="rId5" Type="http://schemas.openxmlformats.org/officeDocument/2006/relationships/diagramColors" Target="../diagrams/colors239.xml"/><Relationship Id="rId4" Type="http://schemas.openxmlformats.org/officeDocument/2006/relationships/diagramQuickStyle" Target="../diagrams/quickStyle239.xml"/></Relationships>
</file>

<file path=ppt/slides/_rels/slide240.xml.rels><?xml version="1.0" encoding="UTF-8" standalone="yes"?>
<Relationships xmlns="http://schemas.openxmlformats.org/package/2006/relationships"><Relationship Id="rId8" Type="http://schemas.openxmlformats.org/officeDocument/2006/relationships/hyperlink" Target="https://en.wikipedia.org/wiki/Reliable_User_Datagram_Protocol" TargetMode="External"/><Relationship Id="rId13" Type="http://schemas.openxmlformats.org/officeDocument/2006/relationships/hyperlink" Target="https://learn.microsoft.com/en-us/dotnet/fundamentals/networking/overview" TargetMode="External"/><Relationship Id="rId18" Type="http://schemas.openxmlformats.org/officeDocument/2006/relationships/hyperlink" Target="https://stackoverflow.com/questions/4263116/wireshark-vs-firebug-vs-fiddler-pros-and-cons" TargetMode="External"/><Relationship Id="rId3" Type="http://schemas.openxmlformats.org/officeDocument/2006/relationships/diagramLayout" Target="../diagrams/layout240.xml"/><Relationship Id="rId7" Type="http://schemas.openxmlformats.org/officeDocument/2006/relationships/hyperlink" Target="https://www.linkedin.com/posts/curiouslearner_softwaredevelopment-network-technology-activity-7186228909519077376-PMns/" TargetMode="External"/><Relationship Id="rId12" Type="http://schemas.openxmlformats.org/officeDocument/2006/relationships/hyperlink" Target="https://github.com/PacktPublishing/Hands-On-Network-Programming-with-CSharp-and-.NET-Core" TargetMode="External"/><Relationship Id="rId17" Type="http://schemas.openxmlformats.org/officeDocument/2006/relationships/hyperlink" Target="https://www.simplilearn.com/tutorials/cyber-security-tutorial/what-is-checksum" TargetMode="External"/><Relationship Id="rId2" Type="http://schemas.openxmlformats.org/officeDocument/2006/relationships/diagramData" Target="../diagrams/data240.xml"/><Relationship Id="rId16" Type="http://schemas.openxmlformats.org/officeDocument/2006/relationships/hyperlink" Target="https://hpbn.co/" TargetMode="External"/><Relationship Id="rId1" Type="http://schemas.openxmlformats.org/officeDocument/2006/relationships/slideLayout" Target="../slideLayouts/slideLayout2.xml"/><Relationship Id="rId6" Type="http://schemas.microsoft.com/office/2007/relationships/diagramDrawing" Target="../diagrams/drawing240.xml"/><Relationship Id="rId11" Type="http://schemas.openxmlformats.org/officeDocument/2006/relationships/hyperlink" Target="https://github.com/VasanthVanan/computer-networking-top-down-approach-notes" TargetMode="External"/><Relationship Id="rId5" Type="http://schemas.openxmlformats.org/officeDocument/2006/relationships/diagramColors" Target="../diagrams/colors240.xml"/><Relationship Id="rId15" Type="http://schemas.openxmlformats.org/officeDocument/2006/relationships/hyperlink" Target="https://systemsapproach.org/books-html/" TargetMode="External"/><Relationship Id="rId10" Type="http://schemas.openxmlformats.org/officeDocument/2006/relationships/hyperlink" Target="https://www.oreilly.com/library/view/head-first-networking/9780596804398/" TargetMode="External"/><Relationship Id="rId4" Type="http://schemas.openxmlformats.org/officeDocument/2006/relationships/diagramQuickStyle" Target="../diagrams/quickStyle240.xml"/><Relationship Id="rId9" Type="http://schemas.openxmlformats.org/officeDocument/2006/relationships/hyperlink" Target="https://stackoverflow.com/questions/107668/what-do-you-use-when-you-need-reliable-udp" TargetMode="External"/><Relationship Id="rId14" Type="http://schemas.openxmlformats.org/officeDocument/2006/relationships/hyperlink" Target="https://www.amazon.in/Web-Protocols-Practice-Networking-Measurement/dp/0201710889" TargetMode="External"/></Relationships>
</file>

<file path=ppt/slides/_rels/slide241.xml.rels><?xml version="1.0" encoding="UTF-8" standalone="yes"?>
<Relationships xmlns="http://schemas.openxmlformats.org/package/2006/relationships"><Relationship Id="rId3" Type="http://schemas.openxmlformats.org/officeDocument/2006/relationships/diagramLayout" Target="../diagrams/layout241.xml"/><Relationship Id="rId2" Type="http://schemas.openxmlformats.org/officeDocument/2006/relationships/diagramData" Target="../diagrams/data241.xml"/><Relationship Id="rId1" Type="http://schemas.openxmlformats.org/officeDocument/2006/relationships/slideLayout" Target="../slideLayouts/slideLayout2.xml"/><Relationship Id="rId6" Type="http://schemas.microsoft.com/office/2007/relationships/diagramDrawing" Target="../diagrams/drawing241.xml"/><Relationship Id="rId5" Type="http://schemas.openxmlformats.org/officeDocument/2006/relationships/diagramColors" Target="../diagrams/colors241.xml"/><Relationship Id="rId4" Type="http://schemas.openxmlformats.org/officeDocument/2006/relationships/diagramQuickStyle" Target="../diagrams/quickStyle241.xml"/></Relationships>
</file>

<file path=ppt/slides/_rels/slide242.xml.rels><?xml version="1.0" encoding="UTF-8" standalone="yes"?>
<Relationships xmlns="http://schemas.openxmlformats.org/package/2006/relationships"><Relationship Id="rId3" Type="http://schemas.openxmlformats.org/officeDocument/2006/relationships/diagramLayout" Target="../diagrams/layout242.xml"/><Relationship Id="rId2" Type="http://schemas.openxmlformats.org/officeDocument/2006/relationships/diagramData" Target="../diagrams/data242.xml"/><Relationship Id="rId1" Type="http://schemas.openxmlformats.org/officeDocument/2006/relationships/slideLayout" Target="../slideLayouts/slideLayout2.xml"/><Relationship Id="rId6" Type="http://schemas.microsoft.com/office/2007/relationships/diagramDrawing" Target="../diagrams/drawing242.xml"/><Relationship Id="rId5" Type="http://schemas.openxmlformats.org/officeDocument/2006/relationships/diagramColors" Target="../diagrams/colors242.xml"/><Relationship Id="rId4" Type="http://schemas.openxmlformats.org/officeDocument/2006/relationships/diagramQuickStyle" Target="../diagrams/quickStyle242.xml"/></Relationships>
</file>

<file path=ppt/slides/_rels/slide243.xml.rels><?xml version="1.0" encoding="UTF-8" standalone="yes"?>
<Relationships xmlns="http://schemas.openxmlformats.org/package/2006/relationships"><Relationship Id="rId3" Type="http://schemas.openxmlformats.org/officeDocument/2006/relationships/diagramLayout" Target="../diagrams/layout243.xml"/><Relationship Id="rId2" Type="http://schemas.openxmlformats.org/officeDocument/2006/relationships/diagramData" Target="../diagrams/data243.xml"/><Relationship Id="rId1" Type="http://schemas.openxmlformats.org/officeDocument/2006/relationships/slideLayout" Target="../slideLayouts/slideLayout2.xml"/><Relationship Id="rId6" Type="http://schemas.microsoft.com/office/2007/relationships/diagramDrawing" Target="../diagrams/drawing243.xml"/><Relationship Id="rId5" Type="http://schemas.openxmlformats.org/officeDocument/2006/relationships/diagramColors" Target="../diagrams/colors243.xml"/><Relationship Id="rId4" Type="http://schemas.openxmlformats.org/officeDocument/2006/relationships/diagramQuickStyle" Target="../diagrams/quickStyle243.xml"/></Relationships>
</file>

<file path=ppt/slides/_rels/slide244.xml.rels><?xml version="1.0" encoding="UTF-8" standalone="yes"?>
<Relationships xmlns="http://schemas.openxmlformats.org/package/2006/relationships"><Relationship Id="rId3" Type="http://schemas.openxmlformats.org/officeDocument/2006/relationships/diagramLayout" Target="../diagrams/layout244.xml"/><Relationship Id="rId2" Type="http://schemas.openxmlformats.org/officeDocument/2006/relationships/diagramData" Target="../diagrams/data244.xml"/><Relationship Id="rId1" Type="http://schemas.openxmlformats.org/officeDocument/2006/relationships/slideLayout" Target="../slideLayouts/slideLayout2.xml"/><Relationship Id="rId6" Type="http://schemas.microsoft.com/office/2007/relationships/diagramDrawing" Target="../diagrams/drawing244.xml"/><Relationship Id="rId5" Type="http://schemas.openxmlformats.org/officeDocument/2006/relationships/diagramColors" Target="../diagrams/colors244.xml"/><Relationship Id="rId4" Type="http://schemas.openxmlformats.org/officeDocument/2006/relationships/diagramQuickStyle" Target="../diagrams/quickStyle244.xml"/></Relationships>
</file>

<file path=ppt/slides/_rels/slide245.xml.rels><?xml version="1.0" encoding="UTF-8" standalone="yes"?>
<Relationships xmlns="http://schemas.openxmlformats.org/package/2006/relationships"><Relationship Id="rId3" Type="http://schemas.openxmlformats.org/officeDocument/2006/relationships/diagramLayout" Target="../diagrams/layout245.xml"/><Relationship Id="rId2" Type="http://schemas.openxmlformats.org/officeDocument/2006/relationships/diagramData" Target="../diagrams/data245.xml"/><Relationship Id="rId1" Type="http://schemas.openxmlformats.org/officeDocument/2006/relationships/slideLayout" Target="../slideLayouts/slideLayout2.xml"/><Relationship Id="rId6" Type="http://schemas.microsoft.com/office/2007/relationships/diagramDrawing" Target="../diagrams/drawing245.xml"/><Relationship Id="rId5" Type="http://schemas.openxmlformats.org/officeDocument/2006/relationships/diagramColors" Target="../diagrams/colors245.xml"/><Relationship Id="rId4" Type="http://schemas.openxmlformats.org/officeDocument/2006/relationships/diagramQuickStyle" Target="../diagrams/quickStyle245.xml"/></Relationships>
</file>

<file path=ppt/slides/_rels/slide246.xml.rels><?xml version="1.0" encoding="UTF-8" standalone="yes"?>
<Relationships xmlns="http://schemas.openxmlformats.org/package/2006/relationships"><Relationship Id="rId3" Type="http://schemas.openxmlformats.org/officeDocument/2006/relationships/diagramLayout" Target="../diagrams/layout246.xml"/><Relationship Id="rId2" Type="http://schemas.openxmlformats.org/officeDocument/2006/relationships/diagramData" Target="../diagrams/data246.xml"/><Relationship Id="rId1" Type="http://schemas.openxmlformats.org/officeDocument/2006/relationships/slideLayout" Target="../slideLayouts/slideLayout2.xml"/><Relationship Id="rId6" Type="http://schemas.microsoft.com/office/2007/relationships/diagramDrawing" Target="../diagrams/drawing246.xml"/><Relationship Id="rId5" Type="http://schemas.openxmlformats.org/officeDocument/2006/relationships/diagramColors" Target="../diagrams/colors246.xml"/><Relationship Id="rId4" Type="http://schemas.openxmlformats.org/officeDocument/2006/relationships/diagramQuickStyle" Target="../diagrams/quickStyle246.xml"/></Relationships>
</file>

<file path=ppt/slides/_rels/slide247.xml.rels><?xml version="1.0" encoding="UTF-8" standalone="yes"?>
<Relationships xmlns="http://schemas.openxmlformats.org/package/2006/relationships"><Relationship Id="rId3" Type="http://schemas.openxmlformats.org/officeDocument/2006/relationships/diagramLayout" Target="../diagrams/layout247.xml"/><Relationship Id="rId2" Type="http://schemas.openxmlformats.org/officeDocument/2006/relationships/diagramData" Target="../diagrams/data247.xml"/><Relationship Id="rId1" Type="http://schemas.openxmlformats.org/officeDocument/2006/relationships/slideLayout" Target="../slideLayouts/slideLayout2.xml"/><Relationship Id="rId6" Type="http://schemas.microsoft.com/office/2007/relationships/diagramDrawing" Target="../diagrams/drawing247.xml"/><Relationship Id="rId5" Type="http://schemas.openxmlformats.org/officeDocument/2006/relationships/diagramColors" Target="../diagrams/colors247.xml"/><Relationship Id="rId4" Type="http://schemas.openxmlformats.org/officeDocument/2006/relationships/diagramQuickStyle" Target="../diagrams/quickStyle247.xml"/></Relationships>
</file>

<file path=ppt/slides/_rels/slide248.xml.rels><?xml version="1.0" encoding="UTF-8" standalone="yes"?>
<Relationships xmlns="http://schemas.openxmlformats.org/package/2006/relationships"><Relationship Id="rId3" Type="http://schemas.openxmlformats.org/officeDocument/2006/relationships/diagramLayout" Target="../diagrams/layout248.xml"/><Relationship Id="rId2" Type="http://schemas.openxmlformats.org/officeDocument/2006/relationships/diagramData" Target="../diagrams/data248.xml"/><Relationship Id="rId1" Type="http://schemas.openxmlformats.org/officeDocument/2006/relationships/slideLayout" Target="../slideLayouts/slideLayout2.xml"/><Relationship Id="rId6" Type="http://schemas.microsoft.com/office/2007/relationships/diagramDrawing" Target="../diagrams/drawing248.xml"/><Relationship Id="rId5" Type="http://schemas.openxmlformats.org/officeDocument/2006/relationships/diagramColors" Target="../diagrams/colors248.xml"/><Relationship Id="rId4" Type="http://schemas.openxmlformats.org/officeDocument/2006/relationships/diagramQuickStyle" Target="../diagrams/quickStyle248.xml"/></Relationships>
</file>

<file path=ppt/slides/_rels/slide249.xml.rels><?xml version="1.0" encoding="UTF-8" standalone="yes"?>
<Relationships xmlns="http://schemas.openxmlformats.org/package/2006/relationships"><Relationship Id="rId3" Type="http://schemas.openxmlformats.org/officeDocument/2006/relationships/diagramLayout" Target="../diagrams/layout249.xml"/><Relationship Id="rId2" Type="http://schemas.openxmlformats.org/officeDocument/2006/relationships/diagramData" Target="../diagrams/data249.xml"/><Relationship Id="rId1" Type="http://schemas.openxmlformats.org/officeDocument/2006/relationships/slideLayout" Target="../slideLayouts/slideLayout2.xml"/><Relationship Id="rId6" Type="http://schemas.microsoft.com/office/2007/relationships/diagramDrawing" Target="../diagrams/drawing249.xml"/><Relationship Id="rId5" Type="http://schemas.openxmlformats.org/officeDocument/2006/relationships/diagramColors" Target="../diagrams/colors249.xml"/><Relationship Id="rId4" Type="http://schemas.openxmlformats.org/officeDocument/2006/relationships/diagramQuickStyle" Target="../diagrams/quickStyle249.xml"/></Relationships>
</file>

<file path=ppt/slides/_rels/slide250.xml.rels><?xml version="1.0" encoding="UTF-8" standalone="yes"?>
<Relationships xmlns="http://schemas.openxmlformats.org/package/2006/relationships"><Relationship Id="rId8" Type="http://schemas.openxmlformats.org/officeDocument/2006/relationships/hyperlink" Target="https://www.tutorialspoint.com/asp.net/asp.net_ado_net.htm" TargetMode="External"/><Relationship Id="rId3" Type="http://schemas.openxmlformats.org/officeDocument/2006/relationships/diagramLayout" Target="../diagrams/layout250.xml"/><Relationship Id="rId7" Type="http://schemas.openxmlformats.org/officeDocument/2006/relationships/hyperlink" Target="https://www.completecsharptutorial.com/legacy/ado-net/" TargetMode="External"/><Relationship Id="rId12" Type="http://schemas.openxmlformats.org/officeDocument/2006/relationships/hyperlink" Target="https://www.oreilly.com/library/view/programming-microsoft-r-ado-net/0735621411/" TargetMode="External"/><Relationship Id="rId2" Type="http://schemas.openxmlformats.org/officeDocument/2006/relationships/diagramData" Target="../diagrams/data250.xml"/><Relationship Id="rId1" Type="http://schemas.openxmlformats.org/officeDocument/2006/relationships/slideLayout" Target="../slideLayouts/slideLayout2.xml"/><Relationship Id="rId6" Type="http://schemas.microsoft.com/office/2007/relationships/diagramDrawing" Target="../diagrams/drawing250.xml"/><Relationship Id="rId11" Type="http://schemas.openxmlformats.org/officeDocument/2006/relationships/hyperlink" Target="https://www.oreilly.com/library/view/ado-net-3-5-cookbook/9780596101404/" TargetMode="External"/><Relationship Id="rId5" Type="http://schemas.openxmlformats.org/officeDocument/2006/relationships/diagramColors" Target="../diagrams/colors250.xml"/><Relationship Id="rId10" Type="http://schemas.openxmlformats.org/officeDocument/2006/relationships/hyperlink" Target="https://learn.microsoft.com/en-us/dotnet/framework/data/adonet/sql/" TargetMode="External"/><Relationship Id="rId4" Type="http://schemas.openxmlformats.org/officeDocument/2006/relationships/diagramQuickStyle" Target="../diagrams/quickStyle250.xml"/><Relationship Id="rId9" Type="http://schemas.openxmlformats.org/officeDocument/2006/relationships/hyperlink" Target="https://www.syncfusion.com/succinctly-free-ebooks/sql-server-for-c-sharp-developers-succinctly" TargetMode="External"/></Relationships>
</file>

<file path=ppt/slides/_rels/slide251.xml.rels><?xml version="1.0" encoding="UTF-8" standalone="yes"?>
<Relationships xmlns="http://schemas.openxmlformats.org/package/2006/relationships"><Relationship Id="rId3" Type="http://schemas.openxmlformats.org/officeDocument/2006/relationships/diagramLayout" Target="../diagrams/layout251.xml"/><Relationship Id="rId2" Type="http://schemas.openxmlformats.org/officeDocument/2006/relationships/diagramData" Target="../diagrams/data251.xml"/><Relationship Id="rId1" Type="http://schemas.openxmlformats.org/officeDocument/2006/relationships/slideLayout" Target="../slideLayouts/slideLayout2.xml"/><Relationship Id="rId6" Type="http://schemas.microsoft.com/office/2007/relationships/diagramDrawing" Target="../diagrams/drawing251.xml"/><Relationship Id="rId5" Type="http://schemas.openxmlformats.org/officeDocument/2006/relationships/diagramColors" Target="../diagrams/colors251.xml"/><Relationship Id="rId4" Type="http://schemas.openxmlformats.org/officeDocument/2006/relationships/diagramQuickStyle" Target="../diagrams/quickStyle251.xml"/></Relationships>
</file>

<file path=ppt/slides/_rels/slide252.xml.rels><?xml version="1.0" encoding="UTF-8" standalone="yes"?>
<Relationships xmlns="http://schemas.openxmlformats.org/package/2006/relationships"><Relationship Id="rId3" Type="http://schemas.openxmlformats.org/officeDocument/2006/relationships/diagramLayout" Target="../diagrams/layout252.xml"/><Relationship Id="rId2" Type="http://schemas.openxmlformats.org/officeDocument/2006/relationships/diagramData" Target="../diagrams/data252.xml"/><Relationship Id="rId1" Type="http://schemas.openxmlformats.org/officeDocument/2006/relationships/slideLayout" Target="../slideLayouts/slideLayout2.xml"/><Relationship Id="rId6" Type="http://schemas.microsoft.com/office/2007/relationships/diagramDrawing" Target="../diagrams/drawing252.xml"/><Relationship Id="rId5" Type="http://schemas.openxmlformats.org/officeDocument/2006/relationships/diagramColors" Target="../diagrams/colors252.xml"/><Relationship Id="rId4" Type="http://schemas.openxmlformats.org/officeDocument/2006/relationships/diagramQuickStyle" Target="../diagrams/quickStyle252.xml"/></Relationships>
</file>

<file path=ppt/slides/_rels/slide253.xml.rels><?xml version="1.0" encoding="UTF-8" standalone="yes"?>
<Relationships xmlns="http://schemas.openxmlformats.org/package/2006/relationships"><Relationship Id="rId3" Type="http://schemas.openxmlformats.org/officeDocument/2006/relationships/diagramLayout" Target="../diagrams/layout253.xml"/><Relationship Id="rId2" Type="http://schemas.openxmlformats.org/officeDocument/2006/relationships/diagramData" Target="../diagrams/data253.xml"/><Relationship Id="rId1" Type="http://schemas.openxmlformats.org/officeDocument/2006/relationships/slideLayout" Target="../slideLayouts/slideLayout2.xml"/><Relationship Id="rId6" Type="http://schemas.microsoft.com/office/2007/relationships/diagramDrawing" Target="../diagrams/drawing253.xml"/><Relationship Id="rId5" Type="http://schemas.openxmlformats.org/officeDocument/2006/relationships/diagramColors" Target="../diagrams/colors253.xml"/><Relationship Id="rId4" Type="http://schemas.openxmlformats.org/officeDocument/2006/relationships/diagramQuickStyle" Target="../diagrams/quickStyle253.xml"/></Relationships>
</file>

<file path=ppt/slides/_rels/slide254.xml.rels><?xml version="1.0" encoding="UTF-8" standalone="yes"?>
<Relationships xmlns="http://schemas.openxmlformats.org/package/2006/relationships"><Relationship Id="rId3" Type="http://schemas.openxmlformats.org/officeDocument/2006/relationships/diagramLayout" Target="../diagrams/layout254.xml"/><Relationship Id="rId2" Type="http://schemas.openxmlformats.org/officeDocument/2006/relationships/diagramData" Target="../diagrams/data254.xml"/><Relationship Id="rId1" Type="http://schemas.openxmlformats.org/officeDocument/2006/relationships/slideLayout" Target="../slideLayouts/slideLayout2.xml"/><Relationship Id="rId6" Type="http://schemas.microsoft.com/office/2007/relationships/diagramDrawing" Target="../diagrams/drawing254.xml"/><Relationship Id="rId5" Type="http://schemas.openxmlformats.org/officeDocument/2006/relationships/diagramColors" Target="../diagrams/colors254.xml"/><Relationship Id="rId4" Type="http://schemas.openxmlformats.org/officeDocument/2006/relationships/diagramQuickStyle" Target="../diagrams/quickStyle254.xml"/></Relationships>
</file>

<file path=ppt/slides/_rels/slide255.xml.rels><?xml version="1.0" encoding="UTF-8" standalone="yes"?>
<Relationships xmlns="http://schemas.openxmlformats.org/package/2006/relationships"><Relationship Id="rId3" Type="http://schemas.openxmlformats.org/officeDocument/2006/relationships/diagramLayout" Target="../diagrams/layout255.xml"/><Relationship Id="rId2" Type="http://schemas.openxmlformats.org/officeDocument/2006/relationships/diagramData" Target="../diagrams/data255.xml"/><Relationship Id="rId1" Type="http://schemas.openxmlformats.org/officeDocument/2006/relationships/slideLayout" Target="../slideLayouts/slideLayout2.xml"/><Relationship Id="rId6" Type="http://schemas.microsoft.com/office/2007/relationships/diagramDrawing" Target="../diagrams/drawing255.xml"/><Relationship Id="rId5" Type="http://schemas.openxmlformats.org/officeDocument/2006/relationships/diagramColors" Target="../diagrams/colors255.xml"/><Relationship Id="rId4" Type="http://schemas.openxmlformats.org/officeDocument/2006/relationships/diagramQuickStyle" Target="../diagrams/quickStyle255.xml"/></Relationships>
</file>

<file path=ppt/slides/_rels/slide256.xml.rels><?xml version="1.0" encoding="UTF-8" standalone="yes"?>
<Relationships xmlns="http://schemas.openxmlformats.org/package/2006/relationships"><Relationship Id="rId3" Type="http://schemas.openxmlformats.org/officeDocument/2006/relationships/diagramLayout" Target="../diagrams/layout256.xml"/><Relationship Id="rId2" Type="http://schemas.openxmlformats.org/officeDocument/2006/relationships/diagramData" Target="../diagrams/data256.xml"/><Relationship Id="rId1" Type="http://schemas.openxmlformats.org/officeDocument/2006/relationships/slideLayout" Target="../slideLayouts/slideLayout2.xml"/><Relationship Id="rId6" Type="http://schemas.microsoft.com/office/2007/relationships/diagramDrawing" Target="../diagrams/drawing256.xml"/><Relationship Id="rId5" Type="http://schemas.openxmlformats.org/officeDocument/2006/relationships/diagramColors" Target="../diagrams/colors256.xml"/><Relationship Id="rId4" Type="http://schemas.openxmlformats.org/officeDocument/2006/relationships/diagramQuickStyle" Target="../diagrams/quickStyle256.xml"/></Relationships>
</file>

<file path=ppt/slides/_rels/slide257.xml.rels><?xml version="1.0" encoding="UTF-8" standalone="yes"?>
<Relationships xmlns="http://schemas.openxmlformats.org/package/2006/relationships"><Relationship Id="rId3" Type="http://schemas.openxmlformats.org/officeDocument/2006/relationships/diagramLayout" Target="../diagrams/layout257.xml"/><Relationship Id="rId2" Type="http://schemas.openxmlformats.org/officeDocument/2006/relationships/diagramData" Target="../diagrams/data257.xml"/><Relationship Id="rId1" Type="http://schemas.openxmlformats.org/officeDocument/2006/relationships/slideLayout" Target="../slideLayouts/slideLayout2.xml"/><Relationship Id="rId6" Type="http://schemas.microsoft.com/office/2007/relationships/diagramDrawing" Target="../diagrams/drawing257.xml"/><Relationship Id="rId5" Type="http://schemas.openxmlformats.org/officeDocument/2006/relationships/diagramColors" Target="../diagrams/colors257.xml"/><Relationship Id="rId4" Type="http://schemas.openxmlformats.org/officeDocument/2006/relationships/diagramQuickStyle" Target="../diagrams/quickStyle257.xml"/></Relationships>
</file>

<file path=ppt/slides/_rels/slide258.xml.rels><?xml version="1.0" encoding="UTF-8" standalone="yes"?>
<Relationships xmlns="http://schemas.openxmlformats.org/package/2006/relationships"><Relationship Id="rId8" Type="http://schemas.openxmlformats.org/officeDocument/2006/relationships/hyperlink" Target="https://www.learndapper.com/" TargetMode="External"/><Relationship Id="rId13" Type="http://schemas.openxmlformats.org/officeDocument/2006/relationships/hyperlink" Target="https://dapper-plus.net/" TargetMode="External"/><Relationship Id="rId3" Type="http://schemas.openxmlformats.org/officeDocument/2006/relationships/diagramLayout" Target="../diagrams/layout258.xml"/><Relationship Id="rId7" Type="http://schemas.openxmlformats.org/officeDocument/2006/relationships/hyperlink" Target="https://dappertutorial.net/" TargetMode="External"/><Relationship Id="rId12" Type="http://schemas.openxmlformats.org/officeDocument/2006/relationships/hyperlink" Target="https://github.com/yorek/dapper-samples" TargetMode="External"/><Relationship Id="rId2" Type="http://schemas.openxmlformats.org/officeDocument/2006/relationships/diagramData" Target="../diagrams/data258.xml"/><Relationship Id="rId1" Type="http://schemas.openxmlformats.org/officeDocument/2006/relationships/slideLayout" Target="../slideLayouts/slideLayout2.xml"/><Relationship Id="rId6" Type="http://schemas.microsoft.com/office/2007/relationships/diagramDrawing" Target="../diagrams/drawing258.xml"/><Relationship Id="rId11" Type="http://schemas.openxmlformats.org/officeDocument/2006/relationships/hyperlink" Target="https://www.amazon.in/Dapper-High-Performance-Developers-Lightweight-Interaction-ebook/dp/B0F1CQF3PW" TargetMode="External"/><Relationship Id="rId5" Type="http://schemas.openxmlformats.org/officeDocument/2006/relationships/diagramColors" Target="../diagrams/colors258.xml"/><Relationship Id="rId15" Type="http://schemas.openxmlformats.org/officeDocument/2006/relationships/hyperlink" Target="https://github.com/zzzprojects/awesome-dapper" TargetMode="External"/><Relationship Id="rId10" Type="http://schemas.openxmlformats.org/officeDocument/2006/relationships/hyperlink" Target="https://www.red-gate.com/simple-talk/development/dotnet-development/a-practical-guide-to-dapper/" TargetMode="External"/><Relationship Id="rId4" Type="http://schemas.openxmlformats.org/officeDocument/2006/relationships/diagramQuickStyle" Target="../diagrams/quickStyle258.xml"/><Relationship Id="rId9" Type="http://schemas.openxmlformats.org/officeDocument/2006/relationships/hyperlink" Target="https://www.jetbrains.com/guide/dotnet/tutorials/basics/dapper/" TargetMode="External"/><Relationship Id="rId14" Type="http://schemas.openxmlformats.org/officeDocument/2006/relationships/hyperlink" Target="https://github.com/DapperLib/Dapper/blob/main/Dapper.SqlBuilder/Readme.md" TargetMode="External"/></Relationships>
</file>

<file path=ppt/slides/_rels/slide259.xml.rels><?xml version="1.0" encoding="UTF-8" standalone="yes"?>
<Relationships xmlns="http://schemas.openxmlformats.org/package/2006/relationships"><Relationship Id="rId3" Type="http://schemas.openxmlformats.org/officeDocument/2006/relationships/diagramLayout" Target="../diagrams/layout259.xml"/><Relationship Id="rId7" Type="http://schemas.openxmlformats.org/officeDocument/2006/relationships/image" Target="../media/image87.png"/><Relationship Id="rId2" Type="http://schemas.openxmlformats.org/officeDocument/2006/relationships/diagramData" Target="../diagrams/data259.xml"/><Relationship Id="rId1" Type="http://schemas.openxmlformats.org/officeDocument/2006/relationships/slideLayout" Target="../slideLayouts/slideLayout2.xml"/><Relationship Id="rId6" Type="http://schemas.microsoft.com/office/2007/relationships/diagramDrawing" Target="../diagrams/drawing259.xml"/><Relationship Id="rId5" Type="http://schemas.openxmlformats.org/officeDocument/2006/relationships/diagramColors" Target="../diagrams/colors259.xml"/><Relationship Id="rId4" Type="http://schemas.openxmlformats.org/officeDocument/2006/relationships/diagramQuickStyle" Target="../diagrams/quickStyle259.xml"/></Relationships>
</file>

<file path=ppt/slides/_rels/slide260.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diagramLayout" Target="../diagrams/layout260.xml"/><Relationship Id="rId7" Type="http://schemas.openxmlformats.org/officeDocument/2006/relationships/image" Target="../media/image88.png"/><Relationship Id="rId2" Type="http://schemas.openxmlformats.org/officeDocument/2006/relationships/diagramData" Target="../diagrams/data260.xml"/><Relationship Id="rId1" Type="http://schemas.openxmlformats.org/officeDocument/2006/relationships/slideLayout" Target="../slideLayouts/slideLayout2.xml"/><Relationship Id="rId6" Type="http://schemas.microsoft.com/office/2007/relationships/diagramDrawing" Target="../diagrams/drawing260.xml"/><Relationship Id="rId5" Type="http://schemas.openxmlformats.org/officeDocument/2006/relationships/diagramColors" Target="../diagrams/colors260.xml"/><Relationship Id="rId4" Type="http://schemas.openxmlformats.org/officeDocument/2006/relationships/diagramQuickStyle" Target="../diagrams/quickStyle260.xml"/></Relationships>
</file>

<file path=ppt/slides/_rels/slide261.xml.rels><?xml version="1.0" encoding="UTF-8" standalone="yes"?>
<Relationships xmlns="http://schemas.openxmlformats.org/package/2006/relationships"><Relationship Id="rId3" Type="http://schemas.openxmlformats.org/officeDocument/2006/relationships/diagramLayout" Target="../diagrams/layout261.xml"/><Relationship Id="rId7" Type="http://schemas.openxmlformats.org/officeDocument/2006/relationships/image" Target="../media/image90.png"/><Relationship Id="rId2" Type="http://schemas.openxmlformats.org/officeDocument/2006/relationships/diagramData" Target="../diagrams/data261.xml"/><Relationship Id="rId1" Type="http://schemas.openxmlformats.org/officeDocument/2006/relationships/slideLayout" Target="../slideLayouts/slideLayout2.xml"/><Relationship Id="rId6" Type="http://schemas.microsoft.com/office/2007/relationships/diagramDrawing" Target="../diagrams/drawing261.xml"/><Relationship Id="rId5" Type="http://schemas.openxmlformats.org/officeDocument/2006/relationships/diagramColors" Target="../diagrams/colors261.xml"/><Relationship Id="rId4" Type="http://schemas.openxmlformats.org/officeDocument/2006/relationships/diagramQuickStyle" Target="../diagrams/quickStyle261.xml"/></Relationships>
</file>

<file path=ppt/slides/_rels/slide262.xml.rels><?xml version="1.0" encoding="UTF-8" standalone="yes"?>
<Relationships xmlns="http://schemas.openxmlformats.org/package/2006/relationships"><Relationship Id="rId3" Type="http://schemas.openxmlformats.org/officeDocument/2006/relationships/diagramLayout" Target="../diagrams/layout262.xml"/><Relationship Id="rId7" Type="http://schemas.openxmlformats.org/officeDocument/2006/relationships/image" Target="../media/image91.png"/><Relationship Id="rId2" Type="http://schemas.openxmlformats.org/officeDocument/2006/relationships/diagramData" Target="../diagrams/data262.xml"/><Relationship Id="rId1" Type="http://schemas.openxmlformats.org/officeDocument/2006/relationships/slideLayout" Target="../slideLayouts/slideLayout2.xml"/><Relationship Id="rId6" Type="http://schemas.microsoft.com/office/2007/relationships/diagramDrawing" Target="../diagrams/drawing262.xml"/><Relationship Id="rId5" Type="http://schemas.openxmlformats.org/officeDocument/2006/relationships/diagramColors" Target="../diagrams/colors262.xml"/><Relationship Id="rId4" Type="http://schemas.openxmlformats.org/officeDocument/2006/relationships/diagramQuickStyle" Target="../diagrams/quickStyle262.xml"/></Relationships>
</file>

<file path=ppt/slides/_rels/slide263.xml.rels><?xml version="1.0" encoding="UTF-8" standalone="yes"?>
<Relationships xmlns="http://schemas.openxmlformats.org/package/2006/relationships"><Relationship Id="rId3" Type="http://schemas.openxmlformats.org/officeDocument/2006/relationships/diagramLayout" Target="../diagrams/layout263.xml"/><Relationship Id="rId7" Type="http://schemas.openxmlformats.org/officeDocument/2006/relationships/image" Target="../media/image92.png"/><Relationship Id="rId2" Type="http://schemas.openxmlformats.org/officeDocument/2006/relationships/diagramData" Target="../diagrams/data263.xml"/><Relationship Id="rId1" Type="http://schemas.openxmlformats.org/officeDocument/2006/relationships/slideLayout" Target="../slideLayouts/slideLayout2.xml"/><Relationship Id="rId6" Type="http://schemas.microsoft.com/office/2007/relationships/diagramDrawing" Target="../diagrams/drawing263.xml"/><Relationship Id="rId5" Type="http://schemas.openxmlformats.org/officeDocument/2006/relationships/diagramColors" Target="../diagrams/colors263.xml"/><Relationship Id="rId4" Type="http://schemas.openxmlformats.org/officeDocument/2006/relationships/diagramQuickStyle" Target="../diagrams/quickStyle263.xml"/></Relationships>
</file>

<file path=ppt/slides/_rels/slide264.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diagramLayout" Target="../diagrams/layout264.xml"/><Relationship Id="rId7" Type="http://schemas.openxmlformats.org/officeDocument/2006/relationships/image" Target="../media/image93.png"/><Relationship Id="rId2" Type="http://schemas.openxmlformats.org/officeDocument/2006/relationships/diagramData" Target="../diagrams/data264.xml"/><Relationship Id="rId1" Type="http://schemas.openxmlformats.org/officeDocument/2006/relationships/slideLayout" Target="../slideLayouts/slideLayout2.xml"/><Relationship Id="rId6" Type="http://schemas.microsoft.com/office/2007/relationships/diagramDrawing" Target="../diagrams/drawing264.xml"/><Relationship Id="rId5" Type="http://schemas.openxmlformats.org/officeDocument/2006/relationships/diagramColors" Target="../diagrams/colors264.xml"/><Relationship Id="rId4" Type="http://schemas.openxmlformats.org/officeDocument/2006/relationships/diagramQuickStyle" Target="../diagrams/quickStyle264.xml"/></Relationships>
</file>

<file path=ppt/slides/_rels/slide265.xml.rels><?xml version="1.0" encoding="UTF-8" standalone="yes"?>
<Relationships xmlns="http://schemas.openxmlformats.org/package/2006/relationships"><Relationship Id="rId3" Type="http://schemas.openxmlformats.org/officeDocument/2006/relationships/diagramLayout" Target="../diagrams/layout265.xml"/><Relationship Id="rId7" Type="http://schemas.openxmlformats.org/officeDocument/2006/relationships/image" Target="../media/image95.png"/><Relationship Id="rId2" Type="http://schemas.openxmlformats.org/officeDocument/2006/relationships/diagramData" Target="../diagrams/data265.xml"/><Relationship Id="rId1" Type="http://schemas.openxmlformats.org/officeDocument/2006/relationships/slideLayout" Target="../slideLayouts/slideLayout2.xml"/><Relationship Id="rId6" Type="http://schemas.microsoft.com/office/2007/relationships/diagramDrawing" Target="../diagrams/drawing265.xml"/><Relationship Id="rId5" Type="http://schemas.openxmlformats.org/officeDocument/2006/relationships/diagramColors" Target="../diagrams/colors265.xml"/><Relationship Id="rId4" Type="http://schemas.openxmlformats.org/officeDocument/2006/relationships/diagramQuickStyle" Target="../diagrams/quickStyle265.xml"/></Relationships>
</file>

<file path=ppt/slides/_rels/slide266.xml.rels><?xml version="1.0" encoding="UTF-8" standalone="yes"?>
<Relationships xmlns="http://schemas.openxmlformats.org/package/2006/relationships"><Relationship Id="rId3" Type="http://schemas.openxmlformats.org/officeDocument/2006/relationships/diagramLayout" Target="../diagrams/layout266.xml"/><Relationship Id="rId7" Type="http://schemas.openxmlformats.org/officeDocument/2006/relationships/image" Target="../media/image96.png"/><Relationship Id="rId2" Type="http://schemas.openxmlformats.org/officeDocument/2006/relationships/diagramData" Target="../diagrams/data266.xml"/><Relationship Id="rId1" Type="http://schemas.openxmlformats.org/officeDocument/2006/relationships/slideLayout" Target="../slideLayouts/slideLayout2.xml"/><Relationship Id="rId6" Type="http://schemas.microsoft.com/office/2007/relationships/diagramDrawing" Target="../diagrams/drawing266.xml"/><Relationship Id="rId5" Type="http://schemas.openxmlformats.org/officeDocument/2006/relationships/diagramColors" Target="../diagrams/colors266.xml"/><Relationship Id="rId4" Type="http://schemas.openxmlformats.org/officeDocument/2006/relationships/diagramQuickStyle" Target="../diagrams/quickStyle266.xml"/></Relationships>
</file>

<file path=ppt/slides/_rels/slide267.xml.rels><?xml version="1.0" encoding="UTF-8" standalone="yes"?>
<Relationships xmlns="http://schemas.openxmlformats.org/package/2006/relationships"><Relationship Id="rId3" Type="http://schemas.openxmlformats.org/officeDocument/2006/relationships/diagramLayout" Target="../diagrams/layout267.xml"/><Relationship Id="rId7" Type="http://schemas.openxmlformats.org/officeDocument/2006/relationships/image" Target="../media/image97.png"/><Relationship Id="rId2" Type="http://schemas.openxmlformats.org/officeDocument/2006/relationships/diagramData" Target="../diagrams/data267.xml"/><Relationship Id="rId1" Type="http://schemas.openxmlformats.org/officeDocument/2006/relationships/slideLayout" Target="../slideLayouts/slideLayout2.xml"/><Relationship Id="rId6" Type="http://schemas.microsoft.com/office/2007/relationships/diagramDrawing" Target="../diagrams/drawing267.xml"/><Relationship Id="rId5" Type="http://schemas.openxmlformats.org/officeDocument/2006/relationships/diagramColors" Target="../diagrams/colors267.xml"/><Relationship Id="rId4" Type="http://schemas.openxmlformats.org/officeDocument/2006/relationships/diagramQuickStyle" Target="../diagrams/quickStyle267.xml"/></Relationships>
</file>

<file path=ppt/slides/_rels/slide268.xml.rels><?xml version="1.0" encoding="UTF-8" standalone="yes"?>
<Relationships xmlns="http://schemas.openxmlformats.org/package/2006/relationships"><Relationship Id="rId3" Type="http://schemas.openxmlformats.org/officeDocument/2006/relationships/diagramLayout" Target="../diagrams/layout268.xml"/><Relationship Id="rId7" Type="http://schemas.openxmlformats.org/officeDocument/2006/relationships/image" Target="../media/image98.png"/><Relationship Id="rId2" Type="http://schemas.openxmlformats.org/officeDocument/2006/relationships/diagramData" Target="../diagrams/data268.xml"/><Relationship Id="rId1" Type="http://schemas.openxmlformats.org/officeDocument/2006/relationships/slideLayout" Target="../slideLayouts/slideLayout2.xml"/><Relationship Id="rId6" Type="http://schemas.microsoft.com/office/2007/relationships/diagramDrawing" Target="../diagrams/drawing268.xml"/><Relationship Id="rId5" Type="http://schemas.openxmlformats.org/officeDocument/2006/relationships/diagramColors" Target="../diagrams/colors268.xml"/><Relationship Id="rId4" Type="http://schemas.openxmlformats.org/officeDocument/2006/relationships/diagramQuickStyle" Target="../diagrams/quickStyle268.xml"/></Relationships>
</file>

<file path=ppt/slides/_rels/slide269.xml.rels><?xml version="1.0" encoding="UTF-8" standalone="yes"?>
<Relationships xmlns="http://schemas.openxmlformats.org/package/2006/relationships"><Relationship Id="rId3" Type="http://schemas.openxmlformats.org/officeDocument/2006/relationships/diagramLayout" Target="../diagrams/layout269.xml"/><Relationship Id="rId2" Type="http://schemas.openxmlformats.org/officeDocument/2006/relationships/diagramData" Target="../diagrams/data269.xml"/><Relationship Id="rId1" Type="http://schemas.openxmlformats.org/officeDocument/2006/relationships/slideLayout" Target="../slideLayouts/slideLayout2.xml"/><Relationship Id="rId6" Type="http://schemas.microsoft.com/office/2007/relationships/diagramDrawing" Target="../diagrams/drawing269.xml"/><Relationship Id="rId5" Type="http://schemas.openxmlformats.org/officeDocument/2006/relationships/diagramColors" Target="../diagrams/colors269.xml"/><Relationship Id="rId4" Type="http://schemas.openxmlformats.org/officeDocument/2006/relationships/diagramQuickStyle" Target="../diagrams/quickStyle269.xml"/></Relationships>
</file>

<file path=ppt/slides/_rels/slide270.xml.rels><?xml version="1.0" encoding="UTF-8" standalone="yes"?>
<Relationships xmlns="http://schemas.openxmlformats.org/package/2006/relationships"><Relationship Id="rId3" Type="http://schemas.openxmlformats.org/officeDocument/2006/relationships/diagramLayout" Target="../diagrams/layout270.xml"/><Relationship Id="rId2" Type="http://schemas.openxmlformats.org/officeDocument/2006/relationships/diagramData" Target="../diagrams/data270.xml"/><Relationship Id="rId1" Type="http://schemas.openxmlformats.org/officeDocument/2006/relationships/slideLayout" Target="../slideLayouts/slideLayout2.xml"/><Relationship Id="rId6" Type="http://schemas.microsoft.com/office/2007/relationships/diagramDrawing" Target="../diagrams/drawing270.xml"/><Relationship Id="rId5" Type="http://schemas.openxmlformats.org/officeDocument/2006/relationships/diagramColors" Target="../diagrams/colors270.xml"/><Relationship Id="rId4" Type="http://schemas.openxmlformats.org/officeDocument/2006/relationships/diagramQuickStyle" Target="../diagrams/quickStyle270.xml"/></Relationships>
</file>

<file path=ppt/slides/_rels/slide271.xml.rels><?xml version="1.0" encoding="UTF-8" standalone="yes"?>
<Relationships xmlns="http://schemas.openxmlformats.org/package/2006/relationships"><Relationship Id="rId3" Type="http://schemas.openxmlformats.org/officeDocument/2006/relationships/diagramLayout" Target="../diagrams/layout271.xml"/><Relationship Id="rId2" Type="http://schemas.openxmlformats.org/officeDocument/2006/relationships/diagramData" Target="../diagrams/data271.xml"/><Relationship Id="rId1" Type="http://schemas.openxmlformats.org/officeDocument/2006/relationships/slideLayout" Target="../slideLayouts/slideLayout2.xml"/><Relationship Id="rId6" Type="http://schemas.microsoft.com/office/2007/relationships/diagramDrawing" Target="../diagrams/drawing271.xml"/><Relationship Id="rId5" Type="http://schemas.openxmlformats.org/officeDocument/2006/relationships/diagramColors" Target="../diagrams/colors271.xml"/><Relationship Id="rId4" Type="http://schemas.openxmlformats.org/officeDocument/2006/relationships/diagramQuickStyle" Target="../diagrams/quickStyle271.xml"/></Relationships>
</file>

<file path=ppt/slides/_rels/slide272.xml.rels><?xml version="1.0" encoding="UTF-8" standalone="yes"?>
<Relationships xmlns="http://schemas.openxmlformats.org/package/2006/relationships"><Relationship Id="rId3" Type="http://schemas.openxmlformats.org/officeDocument/2006/relationships/diagramLayout" Target="../diagrams/layout272.xml"/><Relationship Id="rId2" Type="http://schemas.openxmlformats.org/officeDocument/2006/relationships/diagramData" Target="../diagrams/data272.xml"/><Relationship Id="rId1" Type="http://schemas.openxmlformats.org/officeDocument/2006/relationships/slideLayout" Target="../slideLayouts/slideLayout2.xml"/><Relationship Id="rId6" Type="http://schemas.microsoft.com/office/2007/relationships/diagramDrawing" Target="../diagrams/drawing272.xml"/><Relationship Id="rId5" Type="http://schemas.openxmlformats.org/officeDocument/2006/relationships/diagramColors" Target="../diagrams/colors272.xml"/><Relationship Id="rId4" Type="http://schemas.openxmlformats.org/officeDocument/2006/relationships/diagramQuickStyle" Target="../diagrams/quickStyle272.xml"/></Relationships>
</file>

<file path=ppt/slides/_rels/slide273.xml.rels><?xml version="1.0" encoding="UTF-8" standalone="yes"?>
<Relationships xmlns="http://schemas.openxmlformats.org/package/2006/relationships"><Relationship Id="rId3" Type="http://schemas.openxmlformats.org/officeDocument/2006/relationships/diagramLayout" Target="../diagrams/layout273.xml"/><Relationship Id="rId2" Type="http://schemas.openxmlformats.org/officeDocument/2006/relationships/diagramData" Target="../diagrams/data273.xml"/><Relationship Id="rId1" Type="http://schemas.openxmlformats.org/officeDocument/2006/relationships/slideLayout" Target="../slideLayouts/slideLayout2.xml"/><Relationship Id="rId6" Type="http://schemas.microsoft.com/office/2007/relationships/diagramDrawing" Target="../diagrams/drawing273.xml"/><Relationship Id="rId5" Type="http://schemas.openxmlformats.org/officeDocument/2006/relationships/diagramColors" Target="../diagrams/colors273.xml"/><Relationship Id="rId4" Type="http://schemas.openxmlformats.org/officeDocument/2006/relationships/diagramQuickStyle" Target="../diagrams/quickStyle273.xml"/></Relationships>
</file>

<file path=ppt/slides/_rels/slide274.xml.rels><?xml version="1.0" encoding="UTF-8" standalone="yes"?>
<Relationships xmlns="http://schemas.openxmlformats.org/package/2006/relationships"><Relationship Id="rId3" Type="http://schemas.openxmlformats.org/officeDocument/2006/relationships/diagramLayout" Target="../diagrams/layout274.xml"/><Relationship Id="rId2" Type="http://schemas.openxmlformats.org/officeDocument/2006/relationships/diagramData" Target="../diagrams/data274.xml"/><Relationship Id="rId1" Type="http://schemas.openxmlformats.org/officeDocument/2006/relationships/slideLayout" Target="../slideLayouts/slideLayout2.xml"/><Relationship Id="rId6" Type="http://schemas.microsoft.com/office/2007/relationships/diagramDrawing" Target="../diagrams/drawing274.xml"/><Relationship Id="rId5" Type="http://schemas.openxmlformats.org/officeDocument/2006/relationships/diagramColors" Target="../diagrams/colors274.xml"/><Relationship Id="rId4" Type="http://schemas.openxmlformats.org/officeDocument/2006/relationships/diagramQuickStyle" Target="../diagrams/quickStyle274.xml"/></Relationships>
</file>

<file path=ppt/slides/_rels/slide275.xml.rels><?xml version="1.0" encoding="UTF-8" standalone="yes"?>
<Relationships xmlns="http://schemas.openxmlformats.org/package/2006/relationships"><Relationship Id="rId3" Type="http://schemas.openxmlformats.org/officeDocument/2006/relationships/diagramLayout" Target="../diagrams/layout275.xml"/><Relationship Id="rId2" Type="http://schemas.openxmlformats.org/officeDocument/2006/relationships/diagramData" Target="../diagrams/data275.xml"/><Relationship Id="rId1" Type="http://schemas.openxmlformats.org/officeDocument/2006/relationships/slideLayout" Target="../slideLayouts/slideLayout2.xml"/><Relationship Id="rId6" Type="http://schemas.microsoft.com/office/2007/relationships/diagramDrawing" Target="../diagrams/drawing275.xml"/><Relationship Id="rId5" Type="http://schemas.openxmlformats.org/officeDocument/2006/relationships/diagramColors" Target="../diagrams/colors275.xml"/><Relationship Id="rId4" Type="http://schemas.openxmlformats.org/officeDocument/2006/relationships/diagramQuickStyle" Target="../diagrams/quickStyle275.xml"/></Relationships>
</file>

<file path=ppt/slides/_rels/slide276.xml.rels><?xml version="1.0" encoding="UTF-8" standalone="yes"?>
<Relationships xmlns="http://schemas.openxmlformats.org/package/2006/relationships"><Relationship Id="rId3" Type="http://schemas.openxmlformats.org/officeDocument/2006/relationships/diagramLayout" Target="../diagrams/layout276.xml"/><Relationship Id="rId2" Type="http://schemas.openxmlformats.org/officeDocument/2006/relationships/diagramData" Target="../diagrams/data276.xml"/><Relationship Id="rId1" Type="http://schemas.openxmlformats.org/officeDocument/2006/relationships/slideLayout" Target="../slideLayouts/slideLayout2.xml"/><Relationship Id="rId6" Type="http://schemas.microsoft.com/office/2007/relationships/diagramDrawing" Target="../diagrams/drawing276.xml"/><Relationship Id="rId5" Type="http://schemas.openxmlformats.org/officeDocument/2006/relationships/diagramColors" Target="../diagrams/colors276.xml"/><Relationship Id="rId4" Type="http://schemas.openxmlformats.org/officeDocument/2006/relationships/diagramQuickStyle" Target="../diagrams/quickStyle276.xml"/></Relationships>
</file>

<file path=ppt/slides/_rels/slide277.xml.rels><?xml version="1.0" encoding="UTF-8" standalone="yes"?>
<Relationships xmlns="http://schemas.openxmlformats.org/package/2006/relationships"><Relationship Id="rId3" Type="http://schemas.openxmlformats.org/officeDocument/2006/relationships/diagramLayout" Target="../diagrams/layout277.xml"/><Relationship Id="rId2" Type="http://schemas.openxmlformats.org/officeDocument/2006/relationships/diagramData" Target="../diagrams/data277.xml"/><Relationship Id="rId1" Type="http://schemas.openxmlformats.org/officeDocument/2006/relationships/slideLayout" Target="../slideLayouts/slideLayout2.xml"/><Relationship Id="rId6" Type="http://schemas.microsoft.com/office/2007/relationships/diagramDrawing" Target="../diagrams/drawing277.xml"/><Relationship Id="rId5" Type="http://schemas.openxmlformats.org/officeDocument/2006/relationships/diagramColors" Target="../diagrams/colors277.xml"/><Relationship Id="rId4" Type="http://schemas.openxmlformats.org/officeDocument/2006/relationships/diagramQuickStyle" Target="../diagrams/quickStyle277.xml"/></Relationships>
</file>

<file path=ppt/slides/_rels/slide278.xml.rels><?xml version="1.0" encoding="UTF-8" standalone="yes"?>
<Relationships xmlns="http://schemas.openxmlformats.org/package/2006/relationships"><Relationship Id="rId3" Type="http://schemas.openxmlformats.org/officeDocument/2006/relationships/diagramLayout" Target="../diagrams/layout278.xml"/><Relationship Id="rId2" Type="http://schemas.openxmlformats.org/officeDocument/2006/relationships/diagramData" Target="../diagrams/data278.xml"/><Relationship Id="rId1" Type="http://schemas.openxmlformats.org/officeDocument/2006/relationships/slideLayout" Target="../slideLayouts/slideLayout2.xml"/><Relationship Id="rId6" Type="http://schemas.microsoft.com/office/2007/relationships/diagramDrawing" Target="../diagrams/drawing278.xml"/><Relationship Id="rId5" Type="http://schemas.openxmlformats.org/officeDocument/2006/relationships/diagramColors" Target="../diagrams/colors278.xml"/><Relationship Id="rId4" Type="http://schemas.openxmlformats.org/officeDocument/2006/relationships/diagramQuickStyle" Target="../diagrams/quickStyle278.xml"/></Relationships>
</file>

<file path=ppt/slides/_rels/slide279.xml.rels><?xml version="1.0" encoding="UTF-8" standalone="yes"?>
<Relationships xmlns="http://schemas.openxmlformats.org/package/2006/relationships"><Relationship Id="rId3" Type="http://schemas.openxmlformats.org/officeDocument/2006/relationships/diagramLayout" Target="../diagrams/layout279.xml"/><Relationship Id="rId2" Type="http://schemas.openxmlformats.org/officeDocument/2006/relationships/diagramData" Target="../diagrams/data279.xml"/><Relationship Id="rId1" Type="http://schemas.openxmlformats.org/officeDocument/2006/relationships/slideLayout" Target="../slideLayouts/slideLayout2.xml"/><Relationship Id="rId6" Type="http://schemas.microsoft.com/office/2007/relationships/diagramDrawing" Target="../diagrams/drawing279.xml"/><Relationship Id="rId5" Type="http://schemas.openxmlformats.org/officeDocument/2006/relationships/diagramColors" Target="../diagrams/colors279.xml"/><Relationship Id="rId4" Type="http://schemas.openxmlformats.org/officeDocument/2006/relationships/diagramQuickStyle" Target="../diagrams/quickStyle279.xml"/></Relationships>
</file>

<file path=ppt/slides/_rels/slide280.xml.rels><?xml version="1.0" encoding="UTF-8" standalone="yes"?>
<Relationships xmlns="http://schemas.openxmlformats.org/package/2006/relationships"><Relationship Id="rId3" Type="http://schemas.openxmlformats.org/officeDocument/2006/relationships/diagramLayout" Target="../diagrams/layout280.xml"/><Relationship Id="rId2" Type="http://schemas.openxmlformats.org/officeDocument/2006/relationships/diagramData" Target="../diagrams/data280.xml"/><Relationship Id="rId1" Type="http://schemas.openxmlformats.org/officeDocument/2006/relationships/slideLayout" Target="../slideLayouts/slideLayout2.xml"/><Relationship Id="rId6" Type="http://schemas.microsoft.com/office/2007/relationships/diagramDrawing" Target="../diagrams/drawing280.xml"/><Relationship Id="rId5" Type="http://schemas.openxmlformats.org/officeDocument/2006/relationships/diagramColors" Target="../diagrams/colors280.xml"/><Relationship Id="rId4" Type="http://schemas.openxmlformats.org/officeDocument/2006/relationships/diagramQuickStyle" Target="../diagrams/quickStyle280.xml"/></Relationships>
</file>

<file path=ppt/slides/_rels/slide281.xml.rels><?xml version="1.0" encoding="UTF-8" standalone="yes"?>
<Relationships xmlns="http://schemas.openxmlformats.org/package/2006/relationships"><Relationship Id="rId3" Type="http://schemas.openxmlformats.org/officeDocument/2006/relationships/diagramLayout" Target="../diagrams/layout281.xml"/><Relationship Id="rId2" Type="http://schemas.openxmlformats.org/officeDocument/2006/relationships/diagramData" Target="../diagrams/data281.xml"/><Relationship Id="rId1" Type="http://schemas.openxmlformats.org/officeDocument/2006/relationships/slideLayout" Target="../slideLayouts/slideLayout2.xml"/><Relationship Id="rId6" Type="http://schemas.microsoft.com/office/2007/relationships/diagramDrawing" Target="../diagrams/drawing281.xml"/><Relationship Id="rId5" Type="http://schemas.openxmlformats.org/officeDocument/2006/relationships/diagramColors" Target="../diagrams/colors281.xml"/><Relationship Id="rId4" Type="http://schemas.openxmlformats.org/officeDocument/2006/relationships/diagramQuickStyle" Target="../diagrams/quickStyle281.xml"/></Relationships>
</file>

<file path=ppt/slides/_rels/slide282.xml.rels><?xml version="1.0" encoding="UTF-8" standalone="yes"?>
<Relationships xmlns="http://schemas.openxmlformats.org/package/2006/relationships"><Relationship Id="rId3" Type="http://schemas.openxmlformats.org/officeDocument/2006/relationships/diagramLayout" Target="../diagrams/layout282.xml"/><Relationship Id="rId2" Type="http://schemas.openxmlformats.org/officeDocument/2006/relationships/diagramData" Target="../diagrams/data282.xml"/><Relationship Id="rId1" Type="http://schemas.openxmlformats.org/officeDocument/2006/relationships/slideLayout" Target="../slideLayouts/slideLayout2.xml"/><Relationship Id="rId6" Type="http://schemas.microsoft.com/office/2007/relationships/diagramDrawing" Target="../diagrams/drawing282.xml"/><Relationship Id="rId5" Type="http://schemas.openxmlformats.org/officeDocument/2006/relationships/diagramColors" Target="../diagrams/colors282.xml"/><Relationship Id="rId4" Type="http://schemas.openxmlformats.org/officeDocument/2006/relationships/diagramQuickStyle" Target="../diagrams/quickStyle282.xml"/></Relationships>
</file>

<file path=ppt/slides/_rels/slide283.xml.rels><?xml version="1.0" encoding="UTF-8" standalone="yes"?>
<Relationships xmlns="http://schemas.openxmlformats.org/package/2006/relationships"><Relationship Id="rId3" Type="http://schemas.openxmlformats.org/officeDocument/2006/relationships/diagramLayout" Target="../diagrams/layout283.xml"/><Relationship Id="rId2" Type="http://schemas.openxmlformats.org/officeDocument/2006/relationships/diagramData" Target="../diagrams/data283.xml"/><Relationship Id="rId1" Type="http://schemas.openxmlformats.org/officeDocument/2006/relationships/slideLayout" Target="../slideLayouts/slideLayout2.xml"/><Relationship Id="rId6" Type="http://schemas.microsoft.com/office/2007/relationships/diagramDrawing" Target="../diagrams/drawing283.xml"/><Relationship Id="rId5" Type="http://schemas.openxmlformats.org/officeDocument/2006/relationships/diagramColors" Target="../diagrams/colors283.xml"/><Relationship Id="rId4" Type="http://schemas.openxmlformats.org/officeDocument/2006/relationships/diagramQuickStyle" Target="../diagrams/quickStyle283.xml"/></Relationships>
</file>

<file path=ppt/slides/_rels/slide284.xml.rels><?xml version="1.0" encoding="UTF-8" standalone="yes"?>
<Relationships xmlns="http://schemas.openxmlformats.org/package/2006/relationships"><Relationship Id="rId3" Type="http://schemas.openxmlformats.org/officeDocument/2006/relationships/diagramLayout" Target="../diagrams/layout284.xml"/><Relationship Id="rId2" Type="http://schemas.openxmlformats.org/officeDocument/2006/relationships/diagramData" Target="../diagrams/data284.xml"/><Relationship Id="rId1" Type="http://schemas.openxmlformats.org/officeDocument/2006/relationships/slideLayout" Target="../slideLayouts/slideLayout2.xml"/><Relationship Id="rId6" Type="http://schemas.microsoft.com/office/2007/relationships/diagramDrawing" Target="../diagrams/drawing284.xml"/><Relationship Id="rId5" Type="http://schemas.openxmlformats.org/officeDocument/2006/relationships/diagramColors" Target="../diagrams/colors284.xml"/><Relationship Id="rId4" Type="http://schemas.openxmlformats.org/officeDocument/2006/relationships/diagramQuickStyle" Target="../diagrams/quickStyle284.xml"/></Relationships>
</file>

<file path=ppt/slides/_rels/slide285.xml.rels><?xml version="1.0" encoding="UTF-8" standalone="yes"?>
<Relationships xmlns="http://schemas.openxmlformats.org/package/2006/relationships"><Relationship Id="rId3" Type="http://schemas.openxmlformats.org/officeDocument/2006/relationships/diagramLayout" Target="../diagrams/layout285.xml"/><Relationship Id="rId2" Type="http://schemas.openxmlformats.org/officeDocument/2006/relationships/diagramData" Target="../diagrams/data285.xml"/><Relationship Id="rId1" Type="http://schemas.openxmlformats.org/officeDocument/2006/relationships/slideLayout" Target="../slideLayouts/slideLayout2.xml"/><Relationship Id="rId6" Type="http://schemas.microsoft.com/office/2007/relationships/diagramDrawing" Target="../diagrams/drawing285.xml"/><Relationship Id="rId5" Type="http://schemas.openxmlformats.org/officeDocument/2006/relationships/diagramColors" Target="../diagrams/colors285.xml"/><Relationship Id="rId4" Type="http://schemas.openxmlformats.org/officeDocument/2006/relationships/diagramQuickStyle" Target="../diagrams/quickStyle285.xml"/></Relationships>
</file>

<file path=ppt/slides/_rels/slide286.xml.rels><?xml version="1.0" encoding="UTF-8" standalone="yes"?>
<Relationships xmlns="http://schemas.openxmlformats.org/package/2006/relationships"><Relationship Id="rId8" Type="http://schemas.openxmlformats.org/officeDocument/2006/relationships/hyperlink" Target="https://gist.github.com/sandipray63in/e910afff28f37b4f6dc0d55027c1ad04" TargetMode="External"/><Relationship Id="rId3" Type="http://schemas.openxmlformats.org/officeDocument/2006/relationships/diagramLayout" Target="../diagrams/layout286.xml"/><Relationship Id="rId7" Type="http://schemas.openxmlformats.org/officeDocument/2006/relationships/hyperlink" Target="https://gist.github.com/sandipray63in/19e4a48e6a30de846e740ebfa906ef23" TargetMode="External"/><Relationship Id="rId2" Type="http://schemas.openxmlformats.org/officeDocument/2006/relationships/diagramData" Target="../diagrams/data286.xml"/><Relationship Id="rId1" Type="http://schemas.openxmlformats.org/officeDocument/2006/relationships/slideLayout" Target="../slideLayouts/slideLayout2.xml"/><Relationship Id="rId6" Type="http://schemas.microsoft.com/office/2007/relationships/diagramDrawing" Target="../diagrams/drawing286.xml"/><Relationship Id="rId5" Type="http://schemas.openxmlformats.org/officeDocument/2006/relationships/diagramColors" Target="../diagrams/colors286.xml"/><Relationship Id="rId4" Type="http://schemas.openxmlformats.org/officeDocument/2006/relationships/diagramQuickStyle" Target="../diagrams/quickStyle286.xml"/><Relationship Id="rId9" Type="http://schemas.openxmlformats.org/officeDocument/2006/relationships/hyperlink" Target="https://github.com/bugzmanov/mechanical_sympathy" TargetMode="External"/></Relationships>
</file>

<file path=ppt/slides/_rels/slide287.xml.rels><?xml version="1.0" encoding="UTF-8" standalone="yes"?>
<Relationships xmlns="http://schemas.openxmlformats.org/package/2006/relationships"><Relationship Id="rId3" Type="http://schemas.openxmlformats.org/officeDocument/2006/relationships/diagramLayout" Target="../diagrams/layout287.xml"/><Relationship Id="rId2" Type="http://schemas.openxmlformats.org/officeDocument/2006/relationships/diagramData" Target="../diagrams/data287.xml"/><Relationship Id="rId1" Type="http://schemas.openxmlformats.org/officeDocument/2006/relationships/slideLayout" Target="../slideLayouts/slideLayout2.xml"/><Relationship Id="rId6" Type="http://schemas.microsoft.com/office/2007/relationships/diagramDrawing" Target="../diagrams/drawing287.xml"/><Relationship Id="rId5" Type="http://schemas.openxmlformats.org/officeDocument/2006/relationships/diagramColors" Target="../diagrams/colors287.xml"/><Relationship Id="rId4" Type="http://schemas.openxmlformats.org/officeDocument/2006/relationships/diagramQuickStyle" Target="../diagrams/quickStyle287.xml"/></Relationships>
</file>

<file path=ppt/slides/_rels/slide288.xml.rels><?xml version="1.0" encoding="UTF-8" standalone="yes"?>
<Relationships xmlns="http://schemas.openxmlformats.org/package/2006/relationships"><Relationship Id="rId3" Type="http://schemas.openxmlformats.org/officeDocument/2006/relationships/diagramLayout" Target="../diagrams/layout288.xml"/><Relationship Id="rId2" Type="http://schemas.openxmlformats.org/officeDocument/2006/relationships/diagramData" Target="../diagrams/data288.xml"/><Relationship Id="rId1" Type="http://schemas.openxmlformats.org/officeDocument/2006/relationships/slideLayout" Target="../slideLayouts/slideLayout2.xml"/><Relationship Id="rId6" Type="http://schemas.microsoft.com/office/2007/relationships/diagramDrawing" Target="../diagrams/drawing288.xml"/><Relationship Id="rId5" Type="http://schemas.openxmlformats.org/officeDocument/2006/relationships/diagramColors" Target="../diagrams/colors288.xml"/><Relationship Id="rId4" Type="http://schemas.openxmlformats.org/officeDocument/2006/relationships/diagramQuickStyle" Target="../diagrams/quickStyle288.xml"/></Relationships>
</file>

<file path=ppt/slides/_rels/slide289.xml.rels><?xml version="1.0" encoding="UTF-8" standalone="yes"?>
<Relationships xmlns="http://schemas.openxmlformats.org/package/2006/relationships"><Relationship Id="rId3" Type="http://schemas.openxmlformats.org/officeDocument/2006/relationships/diagramLayout" Target="../diagrams/layout289.xml"/><Relationship Id="rId2" Type="http://schemas.openxmlformats.org/officeDocument/2006/relationships/diagramData" Target="../diagrams/data289.xml"/><Relationship Id="rId1" Type="http://schemas.openxmlformats.org/officeDocument/2006/relationships/slideLayout" Target="../slideLayouts/slideLayout2.xml"/><Relationship Id="rId6" Type="http://schemas.microsoft.com/office/2007/relationships/diagramDrawing" Target="../diagrams/drawing289.xml"/><Relationship Id="rId5" Type="http://schemas.openxmlformats.org/officeDocument/2006/relationships/diagramColors" Target="../diagrams/colors289.xml"/><Relationship Id="rId4" Type="http://schemas.openxmlformats.org/officeDocument/2006/relationships/diagramQuickStyle" Target="../diagrams/quickStyle289.xml"/></Relationships>
</file>

<file path=ppt/slides/_rels/slide290.xml.rels><?xml version="1.0" encoding="UTF-8" standalone="yes"?>
<Relationships xmlns="http://schemas.openxmlformats.org/package/2006/relationships"><Relationship Id="rId3" Type="http://schemas.openxmlformats.org/officeDocument/2006/relationships/diagramLayout" Target="../diagrams/layout290.xml"/><Relationship Id="rId2" Type="http://schemas.openxmlformats.org/officeDocument/2006/relationships/diagramData" Target="../diagrams/data290.xml"/><Relationship Id="rId1" Type="http://schemas.openxmlformats.org/officeDocument/2006/relationships/slideLayout" Target="../slideLayouts/slideLayout2.xml"/><Relationship Id="rId6" Type="http://schemas.microsoft.com/office/2007/relationships/diagramDrawing" Target="../diagrams/drawing290.xml"/><Relationship Id="rId5" Type="http://schemas.openxmlformats.org/officeDocument/2006/relationships/diagramColors" Target="../diagrams/colors290.xml"/><Relationship Id="rId4" Type="http://schemas.openxmlformats.org/officeDocument/2006/relationships/diagramQuickStyle" Target="../diagrams/quickStyle290.xml"/></Relationships>
</file>

<file path=ppt/slides/_rels/slide291.xml.rels><?xml version="1.0" encoding="UTF-8" standalone="yes"?>
<Relationships xmlns="http://schemas.openxmlformats.org/package/2006/relationships"><Relationship Id="rId3" Type="http://schemas.openxmlformats.org/officeDocument/2006/relationships/diagramLayout" Target="../diagrams/layout291.xml"/><Relationship Id="rId2" Type="http://schemas.openxmlformats.org/officeDocument/2006/relationships/diagramData" Target="../diagrams/data291.xml"/><Relationship Id="rId1" Type="http://schemas.openxmlformats.org/officeDocument/2006/relationships/slideLayout" Target="../slideLayouts/slideLayout2.xml"/><Relationship Id="rId6" Type="http://schemas.microsoft.com/office/2007/relationships/diagramDrawing" Target="../diagrams/drawing291.xml"/><Relationship Id="rId5" Type="http://schemas.openxmlformats.org/officeDocument/2006/relationships/diagramColors" Target="../diagrams/colors291.xml"/><Relationship Id="rId4" Type="http://schemas.openxmlformats.org/officeDocument/2006/relationships/diagramQuickStyle" Target="../diagrams/quickStyle291.xml"/></Relationships>
</file>

<file path=ppt/slides/_rels/slide292.xml.rels><?xml version="1.0" encoding="UTF-8" standalone="yes"?>
<Relationships xmlns="http://schemas.openxmlformats.org/package/2006/relationships"><Relationship Id="rId3" Type="http://schemas.openxmlformats.org/officeDocument/2006/relationships/diagramLayout" Target="../diagrams/layout292.xml"/><Relationship Id="rId2" Type="http://schemas.openxmlformats.org/officeDocument/2006/relationships/diagramData" Target="../diagrams/data292.xml"/><Relationship Id="rId1" Type="http://schemas.openxmlformats.org/officeDocument/2006/relationships/slideLayout" Target="../slideLayouts/slideLayout2.xml"/><Relationship Id="rId6" Type="http://schemas.microsoft.com/office/2007/relationships/diagramDrawing" Target="../diagrams/drawing292.xml"/><Relationship Id="rId5" Type="http://schemas.openxmlformats.org/officeDocument/2006/relationships/diagramColors" Target="../diagrams/colors292.xml"/><Relationship Id="rId4" Type="http://schemas.openxmlformats.org/officeDocument/2006/relationships/diagramQuickStyle" Target="../diagrams/quickStyle292.xml"/></Relationships>
</file>

<file path=ppt/slides/_rels/slide293.xml.rels><?xml version="1.0" encoding="UTF-8" standalone="yes"?>
<Relationships xmlns="http://schemas.openxmlformats.org/package/2006/relationships"><Relationship Id="rId3" Type="http://schemas.openxmlformats.org/officeDocument/2006/relationships/diagramLayout" Target="../diagrams/layout293.xml"/><Relationship Id="rId2" Type="http://schemas.openxmlformats.org/officeDocument/2006/relationships/diagramData" Target="../diagrams/data293.xml"/><Relationship Id="rId1" Type="http://schemas.openxmlformats.org/officeDocument/2006/relationships/slideLayout" Target="../slideLayouts/slideLayout2.xml"/><Relationship Id="rId6" Type="http://schemas.microsoft.com/office/2007/relationships/diagramDrawing" Target="../diagrams/drawing293.xml"/><Relationship Id="rId5" Type="http://schemas.openxmlformats.org/officeDocument/2006/relationships/diagramColors" Target="../diagrams/colors293.xml"/><Relationship Id="rId4" Type="http://schemas.openxmlformats.org/officeDocument/2006/relationships/diagramQuickStyle" Target="../diagrams/quickStyle293.xml"/></Relationships>
</file>

<file path=ppt/slides/_rels/slide294.xml.rels><?xml version="1.0" encoding="UTF-8" standalone="yes"?>
<Relationships xmlns="http://schemas.openxmlformats.org/package/2006/relationships"><Relationship Id="rId3" Type="http://schemas.openxmlformats.org/officeDocument/2006/relationships/diagramLayout" Target="../diagrams/layout294.xml"/><Relationship Id="rId2" Type="http://schemas.openxmlformats.org/officeDocument/2006/relationships/diagramData" Target="../diagrams/data294.xml"/><Relationship Id="rId1" Type="http://schemas.openxmlformats.org/officeDocument/2006/relationships/slideLayout" Target="../slideLayouts/slideLayout2.xml"/><Relationship Id="rId6" Type="http://schemas.microsoft.com/office/2007/relationships/diagramDrawing" Target="../diagrams/drawing294.xml"/><Relationship Id="rId5" Type="http://schemas.openxmlformats.org/officeDocument/2006/relationships/diagramColors" Target="../diagrams/colors294.xml"/><Relationship Id="rId4" Type="http://schemas.openxmlformats.org/officeDocument/2006/relationships/diagramQuickStyle" Target="../diagrams/quickStyle294.xml"/></Relationships>
</file>

<file path=ppt/slides/_rels/slide295.xml.rels><?xml version="1.0" encoding="UTF-8" standalone="yes"?>
<Relationships xmlns="http://schemas.openxmlformats.org/package/2006/relationships"><Relationship Id="rId3" Type="http://schemas.openxmlformats.org/officeDocument/2006/relationships/diagramLayout" Target="../diagrams/layout295.xml"/><Relationship Id="rId2" Type="http://schemas.openxmlformats.org/officeDocument/2006/relationships/diagramData" Target="../diagrams/data295.xml"/><Relationship Id="rId1" Type="http://schemas.openxmlformats.org/officeDocument/2006/relationships/slideLayout" Target="../slideLayouts/slideLayout2.xml"/><Relationship Id="rId6" Type="http://schemas.microsoft.com/office/2007/relationships/diagramDrawing" Target="../diagrams/drawing295.xml"/><Relationship Id="rId5" Type="http://schemas.openxmlformats.org/officeDocument/2006/relationships/diagramColors" Target="../diagrams/colors295.xml"/><Relationship Id="rId4" Type="http://schemas.openxmlformats.org/officeDocument/2006/relationships/diagramQuickStyle" Target="../diagrams/quickStyle295.xml"/></Relationships>
</file>

<file path=ppt/slides/_rels/slide296.xml.rels><?xml version="1.0" encoding="UTF-8" standalone="yes"?>
<Relationships xmlns="http://schemas.openxmlformats.org/package/2006/relationships"><Relationship Id="rId3" Type="http://schemas.openxmlformats.org/officeDocument/2006/relationships/diagramLayout" Target="../diagrams/layout296.xml"/><Relationship Id="rId2" Type="http://schemas.openxmlformats.org/officeDocument/2006/relationships/diagramData" Target="../diagrams/data296.xml"/><Relationship Id="rId1" Type="http://schemas.openxmlformats.org/officeDocument/2006/relationships/slideLayout" Target="../slideLayouts/slideLayout2.xml"/><Relationship Id="rId6" Type="http://schemas.microsoft.com/office/2007/relationships/diagramDrawing" Target="../diagrams/drawing296.xml"/><Relationship Id="rId5" Type="http://schemas.openxmlformats.org/officeDocument/2006/relationships/diagramColors" Target="../diagrams/colors296.xml"/><Relationship Id="rId4" Type="http://schemas.openxmlformats.org/officeDocument/2006/relationships/diagramQuickStyle" Target="../diagrams/quickStyle296.xml"/></Relationships>
</file>

<file path=ppt/slides/_rels/slide297.xml.rels><?xml version="1.0" encoding="UTF-8" standalone="yes"?>
<Relationships xmlns="http://schemas.openxmlformats.org/package/2006/relationships"><Relationship Id="rId8" Type="http://schemas.openxmlformats.org/officeDocument/2006/relationships/hyperlink" Target="https://www.amazon.in/Speed-Practical-Low-Latency-Tuning-Optimization-ebook/dp/B0G15746Q4" TargetMode="External"/><Relationship Id="rId13" Type="http://schemas.openxmlformats.org/officeDocument/2006/relationships/hyperlink" Target="https://mirrors.edge.kernel.org/pub/linux/kernel/people/paulmck/perfbook/perfbook.html" TargetMode="External"/><Relationship Id="rId18" Type="http://schemas.openxmlformats.org/officeDocument/2006/relationships/hyperlink" Target="https://github.com/penberg/awesome-low-latency" TargetMode="External"/><Relationship Id="rId3" Type="http://schemas.openxmlformats.org/officeDocument/2006/relationships/diagramLayout" Target="../diagrams/layout297.xml"/><Relationship Id="rId21" Type="http://schemas.openxmlformats.org/officeDocument/2006/relationships/hyperlink" Target="https://devblogs.microsoft.com/dotnet/author/davifowl/" TargetMode="External"/><Relationship Id="rId7" Type="http://schemas.openxmlformats.org/officeDocument/2006/relationships/hyperlink" Target="https://github.com/PacktPublishing/High-Performance-Programming-in-C-Sharp-and-.NET" TargetMode="External"/><Relationship Id="rId12" Type="http://schemas.openxmlformats.org/officeDocument/2006/relationships/hyperlink" Target="https://hackernoon.com/the-high-frequency-trading-developers-guide-six-key-components-for-low-latency-and-scalability?utm_source=chatgpt.com" TargetMode="External"/><Relationship Id="rId17" Type="http://schemas.openxmlformats.org/officeDocument/2006/relationships/hyperlink" Target="https://s3-eu-west-1.amazonaws.com/aitusoftware-doc-public/downloads/PerformanceTuningHandbookShare.pdf" TargetMode="External"/><Relationship Id="rId2" Type="http://schemas.openxmlformats.org/officeDocument/2006/relationships/diagramData" Target="../diagrams/data297.xml"/><Relationship Id="rId16" Type="http://schemas.openxmlformats.org/officeDocument/2006/relationships/hyperlink" Target="https://github.com/adamsitnik/awesome-dot-net-performance?tab=readme-ov-file#books" TargetMode="External"/><Relationship Id="rId20" Type="http://schemas.openxmlformats.org/officeDocument/2006/relationships/hyperlink" Target="https://devblogs.microsoft.com/dotnet/author/toub/" TargetMode="External"/><Relationship Id="rId1" Type="http://schemas.openxmlformats.org/officeDocument/2006/relationships/slideLayout" Target="../slideLayouts/slideLayout2.xml"/><Relationship Id="rId6" Type="http://schemas.microsoft.com/office/2007/relationships/diagramDrawing" Target="../diagrams/drawing297.xml"/><Relationship Id="rId11" Type="http://schemas.openxmlformats.org/officeDocument/2006/relationships/hyperlink" Target="https://www.cse.wustl.edu/~jain/books/perfbook.htm" TargetMode="External"/><Relationship Id="rId5" Type="http://schemas.openxmlformats.org/officeDocument/2006/relationships/diagramColors" Target="../diagrams/colors297.xml"/><Relationship Id="rId15" Type="http://schemas.openxmlformats.org/officeDocument/2006/relationships/hyperlink" Target="https://medium.com/@vikpoca/6-rules-for-ultra-low-latency-data-access-at-massive-scale-in-c-204b0244e77d" TargetMode="External"/><Relationship Id="rId10" Type="http://schemas.openxmlformats.org/officeDocument/2006/relationships/hyperlink" Target="https://www.brendangregg.com/systems-performance-2nd-edition-book.html" TargetMode="External"/><Relationship Id="rId19" Type="http://schemas.openxmlformats.org/officeDocument/2006/relationships/hyperlink" Target="https://www.linkedin.com/pulse/free-masterclass-low-latency-programming-high-ligfe/" TargetMode="External"/><Relationship Id="rId4" Type="http://schemas.openxmlformats.org/officeDocument/2006/relationships/diagramQuickStyle" Target="../diagrams/quickStyle297.xml"/><Relationship Id="rId9" Type="http://schemas.openxmlformats.org/officeDocument/2006/relationships/hyperlink" Target="https://www.udemy.com/course/high-performance-coding-with-net-core-and-csharp/?srsltid=AfmBOorkps8SV68Nau8eJLWRW7nZepFB2U4cbKr6f7jzu1dk9q8wko4-" TargetMode="External"/><Relationship Id="rId14" Type="http://schemas.openxmlformats.org/officeDocument/2006/relationships/hyperlink" Target="https://medium.com/c-sharp-programming/optimising-net-for-high-frequency-trading-microseconds-matter-2f975a5dc8ff" TargetMode="Externa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24F16-9B49-6432-A279-912E90E31F8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FFD7C91-8B9D-6F9F-9852-910E5BD31525}"/>
              </a:ext>
            </a:extLst>
          </p:cNvPr>
          <p:cNvSpPr/>
          <p:nvPr/>
        </p:nvSpPr>
        <p:spPr>
          <a:xfrm>
            <a:off x="1600199" y="146213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AA6E6A6-DA70-9D31-273B-1EFA38617338}"/>
              </a:ext>
            </a:extLst>
          </p:cNvPr>
          <p:cNvSpPr/>
          <p:nvPr/>
        </p:nvSpPr>
        <p:spPr>
          <a:xfrm>
            <a:off x="1600200" y="12999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0F5503E-1597-FC59-9686-9876727EB6E4}"/>
              </a:ext>
            </a:extLst>
          </p:cNvPr>
          <p:cNvGraphicFramePr/>
          <p:nvPr>
            <p:extLst>
              <p:ext uri="{D42A27DB-BD31-4B8C-83A1-F6EECF244321}">
                <p14:modId xmlns:p14="http://schemas.microsoft.com/office/powerpoint/2010/main" val="2473504789"/>
              </p:ext>
            </p:extLst>
          </p:nvPr>
        </p:nvGraphicFramePr>
        <p:xfrm>
          <a:off x="0" y="51695"/>
          <a:ext cx="8716300" cy="12930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ED343C5C-E70F-354F-60AE-73BC4C83FF9A}"/>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2BF23CD4-D745-9087-C9C9-2F8BB719AD60}"/>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B994DDE7-486B-5010-9F72-5CA582E14093}"/>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06D2887A-939F-E865-867D-DD6AFCAFC868}"/>
              </a:ext>
            </a:extLst>
          </p:cNvPr>
          <p:cNvSpPr txBox="1">
            <a:spLocks/>
          </p:cNvSpPr>
          <p:nvPr/>
        </p:nvSpPr>
        <p:spPr>
          <a:xfrm>
            <a:off x="247805" y="1986541"/>
            <a:ext cx="8624937" cy="169277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A Note Before Starting Anything</a:t>
            </a:r>
          </a:p>
          <a:p>
            <a:r>
              <a:rPr lang="en-US" sz="1500" dirty="0">
                <a:solidFill>
                  <a:schemeClr val="accent6"/>
                </a:solidFill>
                <a:latin typeface="Google Sans"/>
                <a:ea typeface="+mn-ea"/>
                <a:cs typeface="+mn-cs"/>
              </a:rPr>
              <a:t>The concepts, techniques </a:t>
            </a:r>
            <a:r>
              <a:rPr lang="en-US" sz="1500" dirty="0" err="1">
                <a:solidFill>
                  <a:schemeClr val="accent6"/>
                </a:solidFill>
                <a:latin typeface="Google Sans"/>
                <a:ea typeface="+mn-ea"/>
                <a:cs typeface="+mn-cs"/>
              </a:rPr>
              <a:t>etc</a:t>
            </a:r>
            <a:r>
              <a:rPr lang="en-US" sz="1500" dirty="0">
                <a:solidFill>
                  <a:schemeClr val="accent6"/>
                </a:solidFill>
                <a:latin typeface="Google Sans"/>
                <a:ea typeface="+mn-ea"/>
                <a:cs typeface="+mn-cs"/>
              </a:rPr>
              <a:t> mentioned in this deck can be applicable or related  to concepts, techniques </a:t>
            </a:r>
            <a:r>
              <a:rPr lang="en-US" sz="1500" dirty="0" err="1">
                <a:solidFill>
                  <a:schemeClr val="accent6"/>
                </a:solidFill>
                <a:latin typeface="Google Sans"/>
                <a:ea typeface="+mn-ea"/>
                <a:cs typeface="+mn-cs"/>
              </a:rPr>
              <a:t>etc</a:t>
            </a:r>
            <a:r>
              <a:rPr lang="en-US" sz="1500" dirty="0">
                <a:solidFill>
                  <a:schemeClr val="accent6"/>
                </a:solidFill>
                <a:latin typeface="Google Sans"/>
                <a:ea typeface="+mn-ea"/>
                <a:cs typeface="+mn-cs"/>
              </a:rPr>
              <a:t> mentioned in other decks but whatever mentioned in this deck are more critical from HTLL(High Throughput and Low Latency) Systems perspective and so keeping them in this </a:t>
            </a:r>
            <a:r>
              <a:rPr lang="en-US" sz="1500" dirty="0" err="1">
                <a:solidFill>
                  <a:schemeClr val="accent6"/>
                </a:solidFill>
                <a:latin typeface="Google Sans"/>
                <a:ea typeface="+mn-ea"/>
                <a:cs typeface="+mn-cs"/>
              </a:rPr>
              <a:t>deck.Also</a:t>
            </a:r>
            <a:r>
              <a:rPr lang="en-US" sz="1500" dirty="0">
                <a:solidFill>
                  <a:schemeClr val="accent6"/>
                </a:solidFill>
                <a:latin typeface="Google Sans"/>
                <a:ea typeface="+mn-ea"/>
                <a:cs typeface="+mn-cs"/>
              </a:rPr>
              <a:t>, if someone has not worked in the concepts </a:t>
            </a:r>
            <a:r>
              <a:rPr lang="en-US" sz="1500" dirty="0" err="1">
                <a:solidFill>
                  <a:schemeClr val="accent6"/>
                </a:solidFill>
                <a:latin typeface="Google Sans"/>
                <a:ea typeface="+mn-ea"/>
                <a:cs typeface="+mn-cs"/>
              </a:rPr>
              <a:t>etc</a:t>
            </a:r>
            <a:r>
              <a:rPr lang="en-US" sz="1500" dirty="0">
                <a:solidFill>
                  <a:schemeClr val="accent6"/>
                </a:solidFill>
                <a:latin typeface="Google Sans"/>
                <a:ea typeface="+mn-ea"/>
                <a:cs typeface="+mn-cs"/>
              </a:rPr>
              <a:t> mentioned in upcoming slides in this deck, it might seem that HTLL Systems are the most complex systems but that’s not the case. Every system and project has it’s own challenges and complexities and so don’t have a prejudice about complexity and challenges of various types of systems.</a:t>
            </a:r>
          </a:p>
        </p:txBody>
      </p:sp>
    </p:spTree>
    <p:extLst>
      <p:ext uri="{BB962C8B-B14F-4D97-AF65-F5344CB8AC3E}">
        <p14:creationId xmlns:p14="http://schemas.microsoft.com/office/powerpoint/2010/main" val="2118821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3BEE3-4B00-8F24-B46D-B6BD6A6A332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765C07E-5136-03FE-97CF-A4D9C6F18A07}"/>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0E022F2-BD07-5D8D-CF8E-4DE9915F3F31}"/>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65AFBD8-9EB2-0564-E75C-56AC2FC80FEB}"/>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E9B07D4B-B1A8-E1EF-51CA-AE186B5B2377}"/>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32BF3B84-DC2D-AD8C-2A9A-7C66EB438992}"/>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2BBACB7-685E-5414-BF0C-5007F386E344}"/>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919F2CAD-A6AC-D00D-B0FA-07E2968BC5D3}"/>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17" name="TextBox 16">
            <a:extLst>
              <a:ext uri="{FF2B5EF4-FFF2-40B4-BE49-F238E27FC236}">
                <a16:creationId xmlns:a16="http://schemas.microsoft.com/office/drawing/2014/main" id="{AB448500-2F72-9823-F21B-C8622BB8AF70}"/>
              </a:ext>
            </a:extLst>
          </p:cNvPr>
          <p:cNvSpPr txBox="1"/>
          <p:nvPr/>
        </p:nvSpPr>
        <p:spPr>
          <a:xfrm>
            <a:off x="137649" y="1047381"/>
            <a:ext cx="8900237" cy="1554272"/>
          </a:xfrm>
          <a:prstGeom prst="rect">
            <a:avLst/>
          </a:prstGeom>
          <a:noFill/>
        </p:spPr>
        <p:txBody>
          <a:bodyPr wrap="square">
            <a:spAutoFit/>
          </a:bodyPr>
          <a:lstStyle/>
          <a:p>
            <a:r>
              <a:rPr lang="en-US" sz="2000" b="1" dirty="0">
                <a:solidFill>
                  <a:schemeClr val="accent2"/>
                </a:solidFill>
                <a:latin typeface="Google Sans"/>
              </a:rPr>
              <a:t>Overview</a:t>
            </a:r>
          </a:p>
          <a:p>
            <a:r>
              <a:rPr lang="en-US" sz="1500" b="1" dirty="0">
                <a:solidFill>
                  <a:schemeClr val="accent6"/>
                </a:solidFill>
                <a:latin typeface="Google Sans"/>
              </a:rPr>
              <a:t>System performance is defined by the balance between throughput (volume) and latency (speed). </a:t>
            </a:r>
            <a:r>
              <a:rPr lang="en-US" sz="1500" b="1" dirty="0">
                <a:solidFill>
                  <a:schemeClr val="accent2"/>
                </a:solidFill>
                <a:latin typeface="Google Sans"/>
              </a:rPr>
              <a:t>High-Throughput, Low-Latency (HTLL)</a:t>
            </a:r>
            <a:r>
              <a:rPr lang="en-US" sz="1500" b="1" dirty="0">
                <a:solidFill>
                  <a:schemeClr val="accent6"/>
                </a:solidFill>
                <a:latin typeface="Google Sans"/>
              </a:rPr>
              <a:t> is the gold standard for real-time systems (e.g., trading), often achieved in .NET via in-memory computing and asynchronous non-blocking patterns. </a:t>
            </a:r>
            <a:r>
              <a:rPr lang="en-US" sz="1500" b="1" dirty="0">
                <a:solidFill>
                  <a:schemeClr val="accent2"/>
                </a:solidFill>
                <a:latin typeface="Google Sans"/>
              </a:rPr>
              <a:t>High-Throughput, High-Latency (HTHL) </a:t>
            </a:r>
            <a:r>
              <a:rPr lang="en-US" sz="1500" b="1" dirty="0">
                <a:solidFill>
                  <a:schemeClr val="accent6"/>
                </a:solidFill>
                <a:latin typeface="Google Sans"/>
              </a:rPr>
              <a:t>suits batch processing, utilizing massive parallelism. </a:t>
            </a:r>
            <a:r>
              <a:rPr lang="en-US" sz="1500" b="1" dirty="0">
                <a:solidFill>
                  <a:schemeClr val="accent2"/>
                </a:solidFill>
                <a:latin typeface="Google Sans"/>
              </a:rPr>
              <a:t>Low-Throughput, Low-Latency (LTLL)</a:t>
            </a:r>
            <a:r>
              <a:rPr lang="en-US" sz="1500" b="1" dirty="0">
                <a:solidFill>
                  <a:schemeClr val="accent6"/>
                </a:solidFill>
                <a:latin typeface="Google Sans"/>
              </a:rPr>
              <a:t> fits specialized, sporadic requests. </a:t>
            </a:r>
          </a:p>
        </p:txBody>
      </p:sp>
      <p:pic>
        <p:nvPicPr>
          <p:cNvPr id="19" name="Picture 18">
            <a:extLst>
              <a:ext uri="{FF2B5EF4-FFF2-40B4-BE49-F238E27FC236}">
                <a16:creationId xmlns:a16="http://schemas.microsoft.com/office/drawing/2014/main" id="{11ECF14D-6EC0-8EBC-A93A-072B69B0B38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2400" y="2540096"/>
            <a:ext cx="9021100" cy="3327303"/>
          </a:xfrm>
          <a:prstGeom prst="rect">
            <a:avLst/>
          </a:prstGeom>
        </p:spPr>
      </p:pic>
    </p:spTree>
    <p:extLst>
      <p:ext uri="{BB962C8B-B14F-4D97-AF65-F5344CB8AC3E}">
        <p14:creationId xmlns:p14="http://schemas.microsoft.com/office/powerpoint/2010/main" val="6017768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50BFA-DC6A-15CA-D6AF-C2434F93D07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05497FC-432C-83A6-8E44-D7E444DA6C5A}"/>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FA4208F-A082-8C40-162D-8C7D51CC06A6}"/>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DA5ED75-7B01-B0FB-8DFE-9BC2F40C2447}"/>
              </a:ext>
            </a:extLst>
          </p:cNvPr>
          <p:cNvGraphicFramePr/>
          <p:nvPr>
            <p:extLst>
              <p:ext uri="{D42A27DB-BD31-4B8C-83A1-F6EECF244321}">
                <p14:modId xmlns:p14="http://schemas.microsoft.com/office/powerpoint/2010/main" val="742245792"/>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344DBE82-F865-8627-91A7-E1BD8C3171E3}"/>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D2147A36-6EF1-4040-B9AB-F2351D736F95}"/>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6CA99DC4-6673-9569-6D00-B0F199551D74}"/>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02B28B99-F0C5-0FD3-3C55-9D1891513DF9}"/>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913C9ED8-C07F-3591-FCCC-B83AF10E83A1}"/>
              </a:ext>
            </a:extLst>
          </p:cNvPr>
          <p:cNvSpPr txBox="1">
            <a:spLocks/>
          </p:cNvSpPr>
          <p:nvPr/>
        </p:nvSpPr>
        <p:spPr>
          <a:xfrm>
            <a:off x="275299" y="1073356"/>
            <a:ext cx="8624937" cy="515525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HTLL, HTHL, LTLL &amp; LTHL Techniques, Patterns, Gotchas </a:t>
            </a:r>
            <a:r>
              <a:rPr lang="en-US" sz="2000" dirty="0" err="1">
                <a:solidFill>
                  <a:schemeClr val="accent2"/>
                </a:solidFill>
                <a:latin typeface="Google Sans"/>
                <a:ea typeface="+mn-ea"/>
                <a:cs typeface="+mn-cs"/>
              </a:rPr>
              <a:t>etc</a:t>
            </a:r>
            <a:r>
              <a:rPr lang="en-US" sz="2000" dirty="0">
                <a:solidFill>
                  <a:schemeClr val="accent2"/>
                </a:solidFill>
                <a:latin typeface="Google Sans"/>
                <a:ea typeface="+mn-ea"/>
                <a:cs typeface="+mn-cs"/>
              </a:rPr>
              <a:t> </a:t>
            </a:r>
          </a:p>
          <a:p>
            <a:pPr marL="342900" indent="-342900">
              <a:buAutoNum type="arabicPeriod"/>
            </a:pPr>
            <a:r>
              <a:rPr lang="en-US" sz="1500" dirty="0">
                <a:solidFill>
                  <a:schemeClr val="accent2"/>
                </a:solidFill>
                <a:latin typeface="Google Sans"/>
                <a:ea typeface="+mn-ea"/>
                <a:cs typeface="+mn-cs"/>
              </a:rPr>
              <a:t>High Throughput, Low Latency (HTLL) </a:t>
            </a:r>
          </a:p>
          <a:p>
            <a:r>
              <a:rPr lang="en-US" sz="1500" dirty="0">
                <a:solidFill>
                  <a:schemeClr val="accent2"/>
                </a:solidFill>
                <a:latin typeface="Google Sans"/>
                <a:ea typeface="+mn-ea"/>
                <a:cs typeface="+mn-cs"/>
              </a:rPr>
              <a:t>Definitions &amp; Goals: </a:t>
            </a:r>
            <a:r>
              <a:rPr lang="en-US" sz="1500" dirty="0">
                <a:solidFill>
                  <a:schemeClr val="accent6"/>
                </a:solidFill>
                <a:latin typeface="Google Sans"/>
                <a:ea typeface="+mn-ea"/>
                <a:cs typeface="+mn-cs"/>
              </a:rPr>
              <a:t>Handle massive request rates (10K–1M+ </a:t>
            </a:r>
            <a:r>
              <a:rPr lang="en-US" sz="1500" dirty="0" err="1">
                <a:solidFill>
                  <a:schemeClr val="accent6"/>
                </a:solidFill>
                <a:latin typeface="Google Sans"/>
                <a:ea typeface="+mn-ea"/>
                <a:cs typeface="+mn-cs"/>
              </a:rPr>
              <a:t>rps</a:t>
            </a:r>
            <a:r>
              <a:rPr lang="en-US" sz="1500" dirty="0">
                <a:solidFill>
                  <a:schemeClr val="accent6"/>
                </a:solidFill>
                <a:latin typeface="Google Sans"/>
                <a:ea typeface="+mn-ea"/>
                <a:cs typeface="+mn-cs"/>
              </a:rPr>
              <a:t>), deliver responses in </a:t>
            </a:r>
            <a:r>
              <a:rPr lang="en-US" sz="1500" dirty="0" err="1">
                <a:solidFill>
                  <a:schemeClr val="accent6"/>
                </a:solidFill>
                <a:latin typeface="Google Sans"/>
                <a:ea typeface="+mn-ea"/>
                <a:cs typeface="+mn-cs"/>
              </a:rPr>
              <a:t>ms</a:t>
            </a:r>
            <a:r>
              <a:rPr lang="en-US" sz="1500" dirty="0">
                <a:solidFill>
                  <a:schemeClr val="accent6"/>
                </a:solidFill>
                <a:latin typeface="Google Sans"/>
                <a:ea typeface="+mn-ea"/>
                <a:cs typeface="+mn-cs"/>
              </a:rPr>
              <a:t> to tens of </a:t>
            </a:r>
            <a:r>
              <a:rPr lang="en-US" sz="1500" dirty="0" err="1">
                <a:solidFill>
                  <a:schemeClr val="accent6"/>
                </a:solidFill>
                <a:latin typeface="Google Sans"/>
                <a:ea typeface="+mn-ea"/>
                <a:cs typeface="+mn-cs"/>
              </a:rPr>
              <a:t>ms</a:t>
            </a:r>
            <a:r>
              <a:rPr lang="en-US" sz="1500" dirty="0">
                <a:solidFill>
                  <a:schemeClr val="accent6"/>
                </a:solidFill>
                <a:latin typeface="Google Sans"/>
                <a:ea typeface="+mn-ea"/>
                <a:cs typeface="+mn-cs"/>
              </a:rPr>
              <a:t>, very little queuing, predictable tail-latency (P95/P99 tight) etc.</a:t>
            </a:r>
          </a:p>
          <a:p>
            <a:r>
              <a:rPr lang="en-US" sz="1500" dirty="0">
                <a:solidFill>
                  <a:schemeClr val="accent2"/>
                </a:solidFill>
                <a:latin typeface="Google Sans"/>
                <a:ea typeface="+mn-ea"/>
                <a:cs typeface="+mn-cs"/>
              </a:rPr>
              <a:t>Typical Use Cases:</a:t>
            </a:r>
            <a:r>
              <a:rPr lang="en-US" sz="1500" dirty="0">
                <a:solidFill>
                  <a:schemeClr val="accent6"/>
                </a:solidFill>
                <a:latin typeface="Google Sans"/>
                <a:ea typeface="+mn-ea"/>
                <a:cs typeface="+mn-cs"/>
              </a:rPr>
              <a:t> Real-time bidding /ad exchange, High-frequency trading, Game servers, Online critical services (e.g., session auth), Telemetry ingestion with near-real-time processing, Communication Services like VOIP etc. </a:t>
            </a:r>
          </a:p>
          <a:p>
            <a:r>
              <a:rPr lang="en-US" sz="1500" dirty="0">
                <a:solidFill>
                  <a:schemeClr val="accent2"/>
                </a:solidFill>
                <a:latin typeface="Google Sans"/>
                <a:ea typeface="+mn-ea"/>
                <a:cs typeface="+mn-cs"/>
              </a:rPr>
              <a:t>Concepts: </a:t>
            </a:r>
            <a:r>
              <a:rPr lang="en-US" sz="1500" dirty="0">
                <a:solidFill>
                  <a:schemeClr val="accent6"/>
                </a:solidFill>
                <a:latin typeface="Google Sans"/>
                <a:ea typeface="+mn-ea"/>
                <a:cs typeface="+mn-cs"/>
              </a:rPr>
              <a:t>Minimize garbage collection (GC), zero-copy networking, asynchronous pipelines etc.</a:t>
            </a:r>
          </a:p>
          <a:p>
            <a:r>
              <a:rPr lang="en-US" sz="1500" dirty="0">
                <a:solidFill>
                  <a:schemeClr val="accent2"/>
                </a:solidFill>
                <a:latin typeface="Google Sans"/>
                <a:ea typeface="+mn-ea"/>
                <a:cs typeface="+mn-cs"/>
              </a:rPr>
              <a:t>Core Techniques &amp; Patterns</a:t>
            </a:r>
          </a:p>
          <a:p>
            <a:r>
              <a:rPr lang="en-US" sz="1500" dirty="0">
                <a:solidFill>
                  <a:schemeClr val="accent2"/>
                </a:solidFill>
                <a:latin typeface="Google Sans"/>
                <a:ea typeface="+mn-ea"/>
                <a:cs typeface="+mn-cs"/>
              </a:rPr>
              <a:t>1. Event-Driven &amp; Non-Blocking IO</a:t>
            </a:r>
          </a:p>
          <a:p>
            <a:r>
              <a:rPr lang="en-US" sz="1500" dirty="0">
                <a:solidFill>
                  <a:schemeClr val="accent6"/>
                </a:solidFill>
                <a:latin typeface="Google Sans"/>
                <a:ea typeface="+mn-ea"/>
                <a:cs typeface="+mn-cs"/>
              </a:rPr>
              <a:t>Reactor / </a:t>
            </a:r>
            <a:r>
              <a:rPr lang="en-US" sz="1500" dirty="0" err="1">
                <a:solidFill>
                  <a:schemeClr val="accent6"/>
                </a:solidFill>
                <a:latin typeface="Google Sans"/>
                <a:ea typeface="+mn-ea"/>
                <a:cs typeface="+mn-cs"/>
              </a:rPr>
              <a:t>proactor</a:t>
            </a:r>
            <a:r>
              <a:rPr lang="en-US" sz="1500" dirty="0">
                <a:solidFill>
                  <a:schemeClr val="accent6"/>
                </a:solidFill>
                <a:latin typeface="Google Sans"/>
                <a:ea typeface="+mn-ea"/>
                <a:cs typeface="+mn-cs"/>
              </a:rPr>
              <a:t> model (Netty, </a:t>
            </a:r>
            <a:r>
              <a:rPr lang="en-US" sz="1500" dirty="0" err="1">
                <a:solidFill>
                  <a:schemeClr val="accent6"/>
                </a:solidFill>
                <a:latin typeface="Google Sans"/>
                <a:ea typeface="+mn-ea"/>
                <a:cs typeface="+mn-cs"/>
              </a:rPr>
              <a:t>libuv</a:t>
            </a:r>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Avoid 1:1 blocking threads</a:t>
            </a:r>
          </a:p>
          <a:p>
            <a:r>
              <a:rPr lang="en-US" sz="1500" dirty="0">
                <a:solidFill>
                  <a:schemeClr val="accent6"/>
                </a:solidFill>
                <a:latin typeface="Google Sans"/>
                <a:ea typeface="+mn-ea"/>
                <a:cs typeface="+mn-cs"/>
              </a:rPr>
              <a:t>Backpressure at network stack</a:t>
            </a:r>
          </a:p>
          <a:p>
            <a:r>
              <a:rPr lang="en-US" sz="1500" dirty="0">
                <a:solidFill>
                  <a:schemeClr val="accent2"/>
                </a:solidFill>
                <a:latin typeface="Google Sans"/>
                <a:ea typeface="+mn-ea"/>
                <a:cs typeface="+mn-cs"/>
              </a:rPr>
              <a:t>2. Lock-Free / Wait-Free Algorithms</a:t>
            </a:r>
          </a:p>
          <a:p>
            <a:r>
              <a:rPr lang="en-US" sz="1500" dirty="0">
                <a:solidFill>
                  <a:schemeClr val="accent6"/>
                </a:solidFill>
                <a:latin typeface="Google Sans"/>
                <a:ea typeface="+mn-ea"/>
                <a:cs typeface="+mn-cs"/>
              </a:rPr>
              <a:t>Ring buffers (e.g., Disruptor pattern)</a:t>
            </a:r>
          </a:p>
          <a:p>
            <a:r>
              <a:rPr lang="en-US" sz="1500" dirty="0">
                <a:solidFill>
                  <a:schemeClr val="accent6"/>
                </a:solidFill>
                <a:latin typeface="Google Sans"/>
                <a:ea typeface="+mn-ea"/>
                <a:cs typeface="+mn-cs"/>
              </a:rPr>
              <a:t>Atomic primitives</a:t>
            </a:r>
          </a:p>
          <a:p>
            <a:r>
              <a:rPr lang="en-US" sz="1500" dirty="0">
                <a:solidFill>
                  <a:schemeClr val="accent6"/>
                </a:solidFill>
                <a:latin typeface="Google Sans"/>
                <a:ea typeface="+mn-ea"/>
                <a:cs typeface="+mn-cs"/>
              </a:rPr>
              <a:t>Sharded data structures → avoid global locks</a:t>
            </a:r>
          </a:p>
          <a:p>
            <a:r>
              <a:rPr lang="en-US" sz="1500" dirty="0">
                <a:solidFill>
                  <a:schemeClr val="accent2"/>
                </a:solidFill>
                <a:latin typeface="Google Sans"/>
                <a:ea typeface="+mn-ea"/>
                <a:cs typeface="+mn-cs"/>
              </a:rPr>
              <a:t>3. Batching Without Queuing</a:t>
            </a:r>
          </a:p>
          <a:p>
            <a:r>
              <a:rPr lang="en-US" sz="1500" dirty="0">
                <a:solidFill>
                  <a:schemeClr val="accent6"/>
                </a:solidFill>
                <a:latin typeface="Google Sans"/>
                <a:ea typeface="+mn-ea"/>
                <a:cs typeface="+mn-cs"/>
              </a:rPr>
              <a:t>Batch just enough to amortize cost (e.g., 10–100 </a:t>
            </a:r>
            <a:r>
              <a:rPr lang="en-US" sz="1500" dirty="0" err="1">
                <a:solidFill>
                  <a:schemeClr val="accent6"/>
                </a:solidFill>
                <a:latin typeface="Google Sans"/>
                <a:ea typeface="+mn-ea"/>
                <a:cs typeface="+mn-cs"/>
              </a:rPr>
              <a:t>msgs</a:t>
            </a:r>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Flush on timeout + size thresholds</a:t>
            </a:r>
          </a:p>
          <a:p>
            <a:r>
              <a:rPr lang="en-US" sz="1500" dirty="0">
                <a:solidFill>
                  <a:schemeClr val="accent6"/>
                </a:solidFill>
                <a:latin typeface="Google Sans"/>
                <a:ea typeface="+mn-ea"/>
                <a:cs typeface="+mn-cs"/>
              </a:rPr>
              <a:t>Avoid large internal buffers</a:t>
            </a:r>
          </a:p>
          <a:p>
            <a:endParaRPr lang="en-US" sz="1500" dirty="0">
              <a:solidFill>
                <a:schemeClr val="accent6"/>
              </a:solidFill>
              <a:latin typeface="Google Sans"/>
              <a:ea typeface="+mn-ea"/>
              <a:cs typeface="+mn-cs"/>
            </a:endParaRPr>
          </a:p>
        </p:txBody>
      </p:sp>
    </p:spTree>
    <p:extLst>
      <p:ext uri="{BB962C8B-B14F-4D97-AF65-F5344CB8AC3E}">
        <p14:creationId xmlns:p14="http://schemas.microsoft.com/office/powerpoint/2010/main" val="12909913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DC69D-79D4-2210-DB34-A8D0281702D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03384F9-FADF-B37D-4B3A-4ABE2D0A0A86}"/>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36B3E88-5636-DDA2-A061-6CF60B413D04}"/>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520F1CD-F2A0-AFEA-E532-DDCE1EDC3995}"/>
              </a:ext>
            </a:extLst>
          </p:cNvPr>
          <p:cNvGraphicFramePr/>
          <p:nvPr>
            <p:extLst>
              <p:ext uri="{D42A27DB-BD31-4B8C-83A1-F6EECF244321}">
                <p14:modId xmlns:p14="http://schemas.microsoft.com/office/powerpoint/2010/main" val="2390973974"/>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3D506307-F095-2DCC-50CA-366F6643A823}"/>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488E6970-4622-D0EE-5022-8D86B656152B}"/>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9FFBED0-4496-BD3A-842C-BCD1AAD57643}"/>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3F27FF7C-1D01-C4BC-882A-9696F0E6B067}"/>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B39A255A-E6A5-D79B-8AE1-D38EC535AA1E}"/>
              </a:ext>
            </a:extLst>
          </p:cNvPr>
          <p:cNvSpPr txBox="1">
            <a:spLocks/>
          </p:cNvSpPr>
          <p:nvPr/>
        </p:nvSpPr>
        <p:spPr>
          <a:xfrm>
            <a:off x="275299" y="1073356"/>
            <a:ext cx="8624937" cy="538609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HTLL, HTHL, LTLL &amp; LTHL Techniques, Patterns, Gotchas </a:t>
            </a:r>
            <a:r>
              <a:rPr lang="en-US" sz="2000" dirty="0" err="1">
                <a:solidFill>
                  <a:schemeClr val="accent2"/>
                </a:solidFill>
                <a:latin typeface="Google Sans"/>
              </a:rPr>
              <a:t>etc</a:t>
            </a:r>
            <a:r>
              <a:rPr lang="en-US" sz="2000" dirty="0">
                <a:solidFill>
                  <a:schemeClr val="accent2"/>
                </a:solidFill>
                <a:latin typeface="Google Sans"/>
              </a:rPr>
              <a:t> </a:t>
            </a:r>
          </a:p>
          <a:p>
            <a:r>
              <a:rPr lang="en-US" sz="1500" dirty="0">
                <a:solidFill>
                  <a:schemeClr val="accent2"/>
                </a:solidFill>
                <a:latin typeface="Google Sans"/>
                <a:ea typeface="+mn-ea"/>
                <a:cs typeface="+mn-cs"/>
              </a:rPr>
              <a:t>1. High Throughput, Low Latency (HTLL) </a:t>
            </a:r>
          </a:p>
          <a:p>
            <a:r>
              <a:rPr lang="en-US" sz="1500" dirty="0">
                <a:solidFill>
                  <a:schemeClr val="accent2"/>
                </a:solidFill>
                <a:latin typeface="Google Sans"/>
                <a:ea typeface="+mn-ea"/>
                <a:cs typeface="+mn-cs"/>
              </a:rPr>
              <a:t>Core Techniques &amp; Patterns</a:t>
            </a:r>
          </a:p>
          <a:p>
            <a:r>
              <a:rPr lang="en-US" sz="1500" dirty="0">
                <a:solidFill>
                  <a:schemeClr val="accent2"/>
                </a:solidFill>
                <a:latin typeface="Google Sans"/>
              </a:rPr>
              <a:t>4. In-Memory Processing</a:t>
            </a:r>
          </a:p>
          <a:p>
            <a:r>
              <a:rPr lang="en-US" sz="1500" dirty="0">
                <a:solidFill>
                  <a:schemeClr val="accent6"/>
                </a:solidFill>
                <a:latin typeface="Google Sans"/>
              </a:rPr>
              <a:t>Keep working set in RAM</a:t>
            </a:r>
          </a:p>
          <a:p>
            <a:r>
              <a:rPr lang="en-US" sz="1500" dirty="0">
                <a:solidFill>
                  <a:schemeClr val="accent6"/>
                </a:solidFill>
                <a:latin typeface="Google Sans"/>
              </a:rPr>
              <a:t>Data structures optimized for cache locality</a:t>
            </a:r>
          </a:p>
          <a:p>
            <a:r>
              <a:rPr lang="en-US" sz="1500" dirty="0">
                <a:solidFill>
                  <a:schemeClr val="accent2"/>
                </a:solidFill>
                <a:latin typeface="Google Sans"/>
                <a:ea typeface="+mn-ea"/>
                <a:cs typeface="+mn-cs"/>
              </a:rPr>
              <a:t>5. Avoid GC Stops</a:t>
            </a:r>
          </a:p>
          <a:p>
            <a:r>
              <a:rPr lang="en-US" sz="1500" dirty="0">
                <a:solidFill>
                  <a:schemeClr val="accent6"/>
                </a:solidFill>
                <a:latin typeface="Google Sans"/>
                <a:ea typeface="+mn-ea"/>
                <a:cs typeface="+mn-cs"/>
              </a:rPr>
              <a:t>Off-heap data structures</a:t>
            </a:r>
          </a:p>
          <a:p>
            <a:r>
              <a:rPr lang="en-US" sz="1500" dirty="0">
                <a:solidFill>
                  <a:schemeClr val="accent6"/>
                </a:solidFill>
                <a:latin typeface="Google Sans"/>
                <a:ea typeface="+mn-ea"/>
                <a:cs typeface="+mn-cs"/>
              </a:rPr>
              <a:t>GC-tuned runtimes (e.g., ZGC, Shenandoah)</a:t>
            </a:r>
          </a:p>
          <a:p>
            <a:r>
              <a:rPr lang="en-US" sz="1500" dirty="0">
                <a:solidFill>
                  <a:schemeClr val="accent6"/>
                </a:solidFill>
                <a:latin typeface="Google Sans"/>
                <a:ea typeface="+mn-ea"/>
                <a:cs typeface="+mn-cs"/>
              </a:rPr>
              <a:t>Languages with real-time GC or manual memory</a:t>
            </a:r>
          </a:p>
          <a:p>
            <a:r>
              <a:rPr lang="en-US" sz="1500" dirty="0">
                <a:solidFill>
                  <a:schemeClr val="accent2"/>
                </a:solidFill>
                <a:latin typeface="Google Sans"/>
                <a:ea typeface="+mn-ea"/>
                <a:cs typeface="+mn-cs"/>
              </a:rPr>
              <a:t>6. Kernel Bypass</a:t>
            </a:r>
          </a:p>
          <a:p>
            <a:r>
              <a:rPr lang="en-US" sz="1500" dirty="0">
                <a:solidFill>
                  <a:schemeClr val="accent6"/>
                </a:solidFill>
                <a:latin typeface="Google Sans"/>
                <a:ea typeface="+mn-ea"/>
                <a:cs typeface="+mn-cs"/>
              </a:rPr>
              <a:t>DPDK, </a:t>
            </a:r>
            <a:r>
              <a:rPr lang="en-US" sz="1500" dirty="0" err="1">
                <a:solidFill>
                  <a:schemeClr val="accent6"/>
                </a:solidFill>
                <a:latin typeface="Google Sans"/>
                <a:ea typeface="+mn-ea"/>
                <a:cs typeface="+mn-cs"/>
              </a:rPr>
              <a:t>eBPF</a:t>
            </a:r>
            <a:r>
              <a:rPr lang="en-US" sz="1500" dirty="0">
                <a:solidFill>
                  <a:schemeClr val="accent6"/>
                </a:solidFill>
                <a:latin typeface="Google Sans"/>
                <a:ea typeface="+mn-ea"/>
                <a:cs typeface="+mn-cs"/>
              </a:rPr>
              <a:t>, RDMA for network</a:t>
            </a:r>
          </a:p>
          <a:p>
            <a:r>
              <a:rPr lang="en-US" sz="1500" dirty="0">
                <a:solidFill>
                  <a:schemeClr val="accent6"/>
                </a:solidFill>
                <a:latin typeface="Google Sans"/>
                <a:ea typeface="+mn-ea"/>
                <a:cs typeface="+mn-cs"/>
              </a:rPr>
              <a:t>Zero-copy I/O</a:t>
            </a:r>
          </a:p>
          <a:p>
            <a:r>
              <a:rPr lang="en-US" sz="1500" dirty="0">
                <a:solidFill>
                  <a:schemeClr val="accent2"/>
                </a:solidFill>
                <a:latin typeface="Google Sans"/>
                <a:ea typeface="+mn-ea"/>
                <a:cs typeface="+mn-cs"/>
              </a:rPr>
              <a:t>7. Load Shedding</a:t>
            </a:r>
          </a:p>
          <a:p>
            <a:r>
              <a:rPr lang="en-US" sz="1500" dirty="0">
                <a:solidFill>
                  <a:schemeClr val="accent6"/>
                </a:solidFill>
                <a:latin typeface="Google Sans"/>
                <a:ea typeface="+mn-ea"/>
                <a:cs typeface="+mn-cs"/>
              </a:rPr>
              <a:t>Reject or degrade gracefully under overload</a:t>
            </a:r>
          </a:p>
          <a:p>
            <a:r>
              <a:rPr lang="en-US" sz="1500" dirty="0">
                <a:solidFill>
                  <a:schemeClr val="accent6"/>
                </a:solidFill>
                <a:latin typeface="Google Sans"/>
                <a:ea typeface="+mn-ea"/>
                <a:cs typeface="+mn-cs"/>
              </a:rPr>
              <a:t>Early discard rather than queuing</a:t>
            </a:r>
          </a:p>
          <a:p>
            <a:r>
              <a:rPr lang="en-US" sz="1500" dirty="0">
                <a:solidFill>
                  <a:schemeClr val="accent2"/>
                </a:solidFill>
                <a:latin typeface="Google Sans"/>
              </a:rPr>
              <a:t>Tradeoffs</a:t>
            </a:r>
          </a:p>
          <a:p>
            <a:r>
              <a:rPr lang="en-US" sz="1500" dirty="0">
                <a:solidFill>
                  <a:schemeClr val="accent2"/>
                </a:solidFill>
                <a:latin typeface="Google Sans"/>
              </a:rPr>
              <a:t>Design	                     Effect on Latency	Effect on Throughput</a:t>
            </a:r>
          </a:p>
          <a:p>
            <a:r>
              <a:rPr lang="en-US" sz="1500" dirty="0">
                <a:solidFill>
                  <a:schemeClr val="accent6"/>
                </a:solidFill>
                <a:latin typeface="Google Sans"/>
              </a:rPr>
              <a:t>Bigger batches	Higher latency	Higher efficiency</a:t>
            </a:r>
          </a:p>
          <a:p>
            <a:r>
              <a:rPr lang="en-US" sz="1500" dirty="0">
                <a:solidFill>
                  <a:schemeClr val="accent6"/>
                </a:solidFill>
                <a:latin typeface="Google Sans"/>
              </a:rPr>
              <a:t>Lock-free structures	Low latency	High throughput</a:t>
            </a:r>
          </a:p>
          <a:p>
            <a:r>
              <a:rPr lang="en-US" sz="1500" dirty="0">
                <a:solidFill>
                  <a:schemeClr val="accent6"/>
                </a:solidFill>
                <a:latin typeface="Google Sans"/>
              </a:rPr>
              <a:t>Kernel bypass	Very low latency	High throughput</a:t>
            </a:r>
          </a:p>
          <a:p>
            <a:endParaRPr lang="en-US" sz="1500" dirty="0">
              <a:solidFill>
                <a:schemeClr val="accent6"/>
              </a:solidFill>
              <a:latin typeface="Google Sans"/>
              <a:ea typeface="+mn-ea"/>
              <a:cs typeface="+mn-cs"/>
            </a:endParaRPr>
          </a:p>
          <a:p>
            <a:endParaRPr lang="en-US" sz="1500" dirty="0">
              <a:solidFill>
                <a:schemeClr val="accent6"/>
              </a:solidFill>
              <a:latin typeface="Google Sans"/>
              <a:ea typeface="+mn-ea"/>
              <a:cs typeface="+mn-cs"/>
            </a:endParaRPr>
          </a:p>
        </p:txBody>
      </p:sp>
    </p:spTree>
    <p:extLst>
      <p:ext uri="{BB962C8B-B14F-4D97-AF65-F5344CB8AC3E}">
        <p14:creationId xmlns:p14="http://schemas.microsoft.com/office/powerpoint/2010/main" val="1536739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8EC8A-6980-948B-9832-E738545ED9B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EAC80F5-073B-4DB6-5B2B-F659D49EC3BD}"/>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A1A6CEF-8827-17E1-FF4E-928064BD2432}"/>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A5906F4-F75C-2664-0951-951B39776185}"/>
              </a:ext>
            </a:extLst>
          </p:cNvPr>
          <p:cNvGraphicFramePr/>
          <p:nvPr>
            <p:extLst>
              <p:ext uri="{D42A27DB-BD31-4B8C-83A1-F6EECF244321}">
                <p14:modId xmlns:p14="http://schemas.microsoft.com/office/powerpoint/2010/main" val="1358879662"/>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03255BED-C517-F6C9-FEAD-0B1B2446EFF4}"/>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4AE46776-132D-FBCE-211A-8068DEE45ECF}"/>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108E2695-9AF5-9E16-0414-899C94EAE00B}"/>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338C3AD7-AC66-4E0E-952D-E56E15DEDF29}"/>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9C2AC640-F66A-5D8D-2066-A837F2257A8B}"/>
              </a:ext>
            </a:extLst>
          </p:cNvPr>
          <p:cNvSpPr txBox="1">
            <a:spLocks/>
          </p:cNvSpPr>
          <p:nvPr/>
        </p:nvSpPr>
        <p:spPr>
          <a:xfrm>
            <a:off x="275299" y="1073356"/>
            <a:ext cx="8624937" cy="42319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HTLL, HTHL, LTLL &amp; LTHL Techniques, Patterns, Gotchas </a:t>
            </a:r>
            <a:r>
              <a:rPr lang="en-US" sz="2000" dirty="0" err="1">
                <a:solidFill>
                  <a:schemeClr val="accent2"/>
                </a:solidFill>
                <a:latin typeface="Google Sans"/>
              </a:rPr>
              <a:t>etc</a:t>
            </a:r>
            <a:r>
              <a:rPr lang="en-US" sz="2000" dirty="0">
                <a:solidFill>
                  <a:schemeClr val="accent2"/>
                </a:solidFill>
                <a:latin typeface="Google Sans"/>
              </a:rPr>
              <a:t> </a:t>
            </a:r>
          </a:p>
          <a:p>
            <a:r>
              <a:rPr lang="en-US" sz="1500" dirty="0">
                <a:solidFill>
                  <a:schemeClr val="accent2"/>
                </a:solidFill>
                <a:latin typeface="Google Sans"/>
                <a:ea typeface="+mn-ea"/>
                <a:cs typeface="+mn-cs"/>
              </a:rPr>
              <a:t>1. High Throughput, Low Latency (HTLL) </a:t>
            </a:r>
          </a:p>
          <a:p>
            <a:r>
              <a:rPr lang="en-US" sz="1500" dirty="0">
                <a:solidFill>
                  <a:schemeClr val="accent2"/>
                </a:solidFill>
                <a:latin typeface="Google Sans"/>
                <a:ea typeface="+mn-ea"/>
                <a:cs typeface="+mn-cs"/>
              </a:rPr>
              <a:t>Common Gotchas</a:t>
            </a:r>
          </a:p>
          <a:p>
            <a:r>
              <a:rPr lang="en-US" sz="1500" dirty="0">
                <a:solidFill>
                  <a:schemeClr val="accent6"/>
                </a:solidFill>
                <a:latin typeface="Google Sans"/>
                <a:ea typeface="+mn-ea"/>
                <a:cs typeface="+mn-cs"/>
              </a:rPr>
              <a:t>GC pauses dominating tail latencies</a:t>
            </a:r>
          </a:p>
          <a:p>
            <a:r>
              <a:rPr lang="en-US" sz="1500" dirty="0">
                <a:solidFill>
                  <a:schemeClr val="accent6"/>
                </a:solidFill>
                <a:latin typeface="Google Sans"/>
                <a:ea typeface="+mn-ea"/>
                <a:cs typeface="+mn-cs"/>
              </a:rPr>
              <a:t>Synchronized metrics causing contention</a:t>
            </a:r>
          </a:p>
          <a:p>
            <a:r>
              <a:rPr lang="en-US" sz="1500" dirty="0">
                <a:solidFill>
                  <a:schemeClr val="accent6"/>
                </a:solidFill>
                <a:latin typeface="Google Sans"/>
                <a:ea typeface="+mn-ea"/>
                <a:cs typeface="+mn-cs"/>
              </a:rPr>
              <a:t>Misconfigured TCP timeouts (e.g., Nagle, delayed ACKs)</a:t>
            </a:r>
          </a:p>
          <a:p>
            <a:r>
              <a:rPr lang="en-US" sz="1500" dirty="0">
                <a:solidFill>
                  <a:schemeClr val="accent6"/>
                </a:solidFill>
                <a:latin typeface="Google Sans"/>
                <a:ea typeface="+mn-ea"/>
                <a:cs typeface="+mn-cs"/>
              </a:rPr>
              <a:t>Over-batching → latency spikes</a:t>
            </a:r>
          </a:p>
          <a:p>
            <a:r>
              <a:rPr lang="en-US" sz="1500" dirty="0">
                <a:solidFill>
                  <a:schemeClr val="accent2"/>
                </a:solidFill>
                <a:latin typeface="Google Sans"/>
                <a:ea typeface="+mn-ea"/>
                <a:cs typeface="+mn-cs"/>
              </a:rPr>
              <a:t>Monitoring &amp; Scaling</a:t>
            </a:r>
          </a:p>
          <a:p>
            <a:r>
              <a:rPr lang="en-US" sz="1500" dirty="0">
                <a:solidFill>
                  <a:schemeClr val="accent6"/>
                </a:solidFill>
                <a:latin typeface="Google Sans"/>
                <a:ea typeface="+mn-ea"/>
                <a:cs typeface="+mn-cs"/>
              </a:rPr>
              <a:t>P99/P999 latency focus (not just average)</a:t>
            </a:r>
          </a:p>
          <a:p>
            <a:r>
              <a:rPr lang="en-US" sz="1500" dirty="0">
                <a:solidFill>
                  <a:schemeClr val="accent6"/>
                </a:solidFill>
                <a:latin typeface="Google Sans"/>
                <a:ea typeface="+mn-ea"/>
                <a:cs typeface="+mn-cs"/>
              </a:rPr>
              <a:t>Backpressure metrics</a:t>
            </a:r>
          </a:p>
          <a:p>
            <a:r>
              <a:rPr lang="en-US" sz="1500" dirty="0">
                <a:solidFill>
                  <a:schemeClr val="accent6"/>
                </a:solidFill>
                <a:latin typeface="Google Sans"/>
                <a:ea typeface="+mn-ea"/>
                <a:cs typeface="+mn-cs"/>
              </a:rPr>
              <a:t>Queue lengths (should be shallow)</a:t>
            </a:r>
          </a:p>
          <a:p>
            <a:r>
              <a:rPr lang="en-US" sz="1500" dirty="0">
                <a:solidFill>
                  <a:schemeClr val="accent6"/>
                </a:solidFill>
                <a:latin typeface="Google Sans"/>
                <a:ea typeface="+mn-ea"/>
                <a:cs typeface="+mn-cs"/>
              </a:rPr>
              <a:t>Hot shards</a:t>
            </a:r>
          </a:p>
          <a:p>
            <a:r>
              <a:rPr lang="en-US" sz="1500" dirty="0">
                <a:solidFill>
                  <a:schemeClr val="accent2"/>
                </a:solidFill>
                <a:latin typeface="Google Sans"/>
              </a:rPr>
              <a:t>Example Technologies</a:t>
            </a:r>
          </a:p>
          <a:p>
            <a:r>
              <a:rPr lang="en-US" sz="1500" dirty="0">
                <a:solidFill>
                  <a:schemeClr val="accent6"/>
                </a:solidFill>
                <a:latin typeface="Google Sans"/>
              </a:rPr>
              <a:t>Languages: C/C++, Rust, Erlang, optimized Java</a:t>
            </a:r>
          </a:p>
          <a:p>
            <a:r>
              <a:rPr lang="en-US" sz="1500" dirty="0">
                <a:solidFill>
                  <a:schemeClr val="accent6"/>
                </a:solidFill>
                <a:latin typeface="Google Sans"/>
              </a:rPr>
              <a:t>Frameworks: Netty, DPDK, </a:t>
            </a:r>
            <a:r>
              <a:rPr lang="en-US" sz="1500" dirty="0" err="1">
                <a:solidFill>
                  <a:schemeClr val="accent6"/>
                </a:solidFill>
                <a:latin typeface="Google Sans"/>
              </a:rPr>
              <a:t>akka</a:t>
            </a:r>
            <a:r>
              <a:rPr lang="en-US" sz="1500" dirty="0">
                <a:solidFill>
                  <a:schemeClr val="accent6"/>
                </a:solidFill>
                <a:latin typeface="Google Sans"/>
              </a:rPr>
              <a:t>-typed</a:t>
            </a:r>
          </a:p>
          <a:p>
            <a:r>
              <a:rPr lang="en-US" sz="1500" dirty="0">
                <a:solidFill>
                  <a:schemeClr val="accent6"/>
                </a:solidFill>
                <a:latin typeface="Google Sans"/>
              </a:rPr>
              <a:t>Stores: Redis in-mem, Aerospike</a:t>
            </a:r>
          </a:p>
          <a:p>
            <a:endParaRPr lang="en-US" sz="1500" dirty="0">
              <a:solidFill>
                <a:schemeClr val="accent6"/>
              </a:solidFill>
              <a:latin typeface="Google Sans"/>
              <a:ea typeface="+mn-ea"/>
              <a:cs typeface="+mn-cs"/>
            </a:endParaRPr>
          </a:p>
          <a:p>
            <a:endParaRPr lang="en-US" sz="1500" dirty="0">
              <a:solidFill>
                <a:schemeClr val="accent6"/>
              </a:solidFill>
              <a:latin typeface="Google Sans"/>
              <a:ea typeface="+mn-ea"/>
              <a:cs typeface="+mn-cs"/>
            </a:endParaRPr>
          </a:p>
        </p:txBody>
      </p:sp>
    </p:spTree>
    <p:extLst>
      <p:ext uri="{BB962C8B-B14F-4D97-AF65-F5344CB8AC3E}">
        <p14:creationId xmlns:p14="http://schemas.microsoft.com/office/powerpoint/2010/main" val="18286808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13A6C-A23A-6A75-675B-CCC0C53DFCE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D03DADE-EE88-FCFD-B1FB-5BA82333D967}"/>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05CFA77-6199-38E7-D6CF-904FA6C318A6}"/>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0CD4314-5BC9-A3F6-D80B-A5131E585594}"/>
              </a:ext>
            </a:extLst>
          </p:cNvPr>
          <p:cNvGraphicFramePr/>
          <p:nvPr>
            <p:extLst>
              <p:ext uri="{D42A27DB-BD31-4B8C-83A1-F6EECF244321}">
                <p14:modId xmlns:p14="http://schemas.microsoft.com/office/powerpoint/2010/main" val="624722435"/>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C06F00AC-DE5B-D49B-DBAB-AFEAD72C7F2C}"/>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E07DA35D-9D41-1186-E19F-99290A5BF152}"/>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CD15018E-1D31-FF5D-EB82-46FA036E459D}"/>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201D7705-AB36-59A5-DA5E-14F16A6D6A85}"/>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24FE551B-DC00-8445-6ABE-CA877A9C80E3}"/>
              </a:ext>
            </a:extLst>
          </p:cNvPr>
          <p:cNvSpPr txBox="1">
            <a:spLocks/>
          </p:cNvSpPr>
          <p:nvPr/>
        </p:nvSpPr>
        <p:spPr>
          <a:xfrm>
            <a:off x="275299" y="1073356"/>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HTLL, HTHL, LTLL &amp; LTHL Techniques, Patterns, Gotchas </a:t>
            </a:r>
            <a:r>
              <a:rPr lang="en-US" sz="2000" dirty="0" err="1">
                <a:solidFill>
                  <a:schemeClr val="accent2"/>
                </a:solidFill>
                <a:latin typeface="Google Sans"/>
              </a:rPr>
              <a:t>etc</a:t>
            </a:r>
            <a:r>
              <a:rPr lang="en-US" sz="2000" dirty="0">
                <a:solidFill>
                  <a:schemeClr val="accent2"/>
                </a:solidFill>
                <a:latin typeface="Google Sans"/>
              </a:rPr>
              <a:t> </a:t>
            </a:r>
          </a:p>
          <a:p>
            <a:r>
              <a:rPr lang="en-US" sz="1500" dirty="0">
                <a:solidFill>
                  <a:schemeClr val="accent2"/>
                </a:solidFill>
                <a:latin typeface="Google Sans"/>
                <a:ea typeface="+mn-ea"/>
                <a:cs typeface="+mn-cs"/>
              </a:rPr>
              <a:t>2. High Throughput, High Latency (HTHL) </a:t>
            </a:r>
          </a:p>
          <a:p>
            <a:r>
              <a:rPr lang="en-US" sz="1500" dirty="0">
                <a:solidFill>
                  <a:schemeClr val="accent2"/>
                </a:solidFill>
                <a:latin typeface="Google Sans"/>
              </a:rPr>
              <a:t>Definition &amp; Goals: </a:t>
            </a:r>
            <a:r>
              <a:rPr lang="en-US" sz="1500" dirty="0">
                <a:solidFill>
                  <a:schemeClr val="accent6"/>
                </a:solidFill>
                <a:latin typeface="Google Sans"/>
              </a:rPr>
              <a:t>Massive volume, but individual request can take seconds to minutes, Often asynchronous batch systems, Latency isn’t user-critical etc.</a:t>
            </a:r>
          </a:p>
          <a:p>
            <a:r>
              <a:rPr lang="en-US" sz="1500" dirty="0">
                <a:solidFill>
                  <a:schemeClr val="accent2"/>
                </a:solidFill>
                <a:latin typeface="Google Sans"/>
              </a:rPr>
              <a:t>Typical Use Cases:</a:t>
            </a:r>
            <a:r>
              <a:rPr lang="en-US" sz="1500" dirty="0">
                <a:solidFill>
                  <a:schemeClr val="accent6"/>
                </a:solidFill>
                <a:latin typeface="Google Sans"/>
              </a:rPr>
              <a:t> ETL / Data lake ingestion, Log analytics (e.g., ELK), Bulk video transcoding, Data science pipelines, Large file transfers / backups etc.</a:t>
            </a:r>
            <a:endParaRPr lang="en-US" sz="1500" dirty="0">
              <a:solidFill>
                <a:schemeClr val="accent2"/>
              </a:solidFill>
              <a:latin typeface="Google Sans"/>
              <a:ea typeface="+mn-ea"/>
              <a:cs typeface="+mn-cs"/>
            </a:endParaRPr>
          </a:p>
          <a:p>
            <a:r>
              <a:rPr lang="en-US" sz="1500" dirty="0">
                <a:solidFill>
                  <a:schemeClr val="accent2"/>
                </a:solidFill>
                <a:latin typeface="Google Sans"/>
                <a:ea typeface="+mn-ea"/>
                <a:cs typeface="+mn-cs"/>
              </a:rPr>
              <a:t>Concepts: </a:t>
            </a:r>
            <a:r>
              <a:rPr lang="en-US" sz="1500" dirty="0">
                <a:solidFill>
                  <a:schemeClr val="accent6"/>
                </a:solidFill>
                <a:latin typeface="Google Sans"/>
                <a:ea typeface="+mn-ea"/>
                <a:cs typeface="+mn-cs"/>
              </a:rPr>
              <a:t>Parallelism, batch processing, queue-based load leveling etc.</a:t>
            </a:r>
          </a:p>
          <a:p>
            <a:r>
              <a:rPr lang="en-US" sz="1500" dirty="0">
                <a:solidFill>
                  <a:schemeClr val="accent2"/>
                </a:solidFill>
                <a:latin typeface="Google Sans"/>
                <a:ea typeface="+mn-ea"/>
                <a:cs typeface="+mn-cs"/>
              </a:rPr>
              <a:t>Core Techniques &amp; Patterns</a:t>
            </a:r>
          </a:p>
          <a:p>
            <a:r>
              <a:rPr lang="en-US" sz="1500" dirty="0">
                <a:solidFill>
                  <a:schemeClr val="accent2"/>
                </a:solidFill>
                <a:latin typeface="Google Sans"/>
                <a:ea typeface="+mn-ea"/>
                <a:cs typeface="+mn-cs"/>
              </a:rPr>
              <a:t>1. Asynchronous Processing</a:t>
            </a:r>
          </a:p>
          <a:p>
            <a:r>
              <a:rPr lang="en-US" sz="1500" dirty="0">
                <a:solidFill>
                  <a:schemeClr val="accent6"/>
                </a:solidFill>
                <a:latin typeface="Google Sans"/>
                <a:ea typeface="+mn-ea"/>
                <a:cs typeface="+mn-cs"/>
              </a:rPr>
              <a:t>Decouple producers and consumers</a:t>
            </a:r>
          </a:p>
          <a:p>
            <a:r>
              <a:rPr lang="en-US" sz="1500" dirty="0">
                <a:solidFill>
                  <a:schemeClr val="accent6"/>
                </a:solidFill>
                <a:latin typeface="Google Sans"/>
                <a:ea typeface="+mn-ea"/>
                <a:cs typeface="+mn-cs"/>
              </a:rPr>
              <a:t>Message queues (Kafka, Pulsar)</a:t>
            </a:r>
          </a:p>
          <a:p>
            <a:r>
              <a:rPr lang="en-US" sz="1500" dirty="0">
                <a:solidFill>
                  <a:schemeClr val="accent6"/>
                </a:solidFill>
                <a:latin typeface="Google Sans"/>
                <a:ea typeface="+mn-ea"/>
                <a:cs typeface="+mn-cs"/>
              </a:rPr>
              <a:t>Store results for later retrieval</a:t>
            </a:r>
          </a:p>
          <a:p>
            <a:r>
              <a:rPr lang="en-US" sz="1500" dirty="0">
                <a:solidFill>
                  <a:schemeClr val="accent2"/>
                </a:solidFill>
                <a:latin typeface="Google Sans"/>
                <a:ea typeface="+mn-ea"/>
                <a:cs typeface="+mn-cs"/>
              </a:rPr>
              <a:t>2. Sharding &amp; Partitioning</a:t>
            </a:r>
          </a:p>
          <a:p>
            <a:r>
              <a:rPr lang="en-US" sz="1500" dirty="0">
                <a:solidFill>
                  <a:schemeClr val="accent6"/>
                </a:solidFill>
                <a:latin typeface="Google Sans"/>
                <a:ea typeface="+mn-ea"/>
                <a:cs typeface="+mn-cs"/>
              </a:rPr>
              <a:t>Horizontal distribution to scale</a:t>
            </a:r>
          </a:p>
          <a:p>
            <a:r>
              <a:rPr lang="en-US" sz="1500" dirty="0">
                <a:solidFill>
                  <a:schemeClr val="accent6"/>
                </a:solidFill>
                <a:latin typeface="Google Sans"/>
                <a:ea typeface="+mn-ea"/>
                <a:cs typeface="+mn-cs"/>
              </a:rPr>
              <a:t>Avoid per-partition hotspots</a:t>
            </a:r>
          </a:p>
          <a:p>
            <a:r>
              <a:rPr lang="en-US" sz="1500" dirty="0">
                <a:solidFill>
                  <a:schemeClr val="accent2"/>
                </a:solidFill>
                <a:latin typeface="Google Sans"/>
                <a:ea typeface="+mn-ea"/>
                <a:cs typeface="+mn-cs"/>
              </a:rPr>
              <a:t>3. Bulk &amp; Micro-Batch</a:t>
            </a:r>
          </a:p>
          <a:p>
            <a:r>
              <a:rPr lang="en-US" sz="1500" dirty="0">
                <a:solidFill>
                  <a:schemeClr val="accent6"/>
                </a:solidFill>
                <a:latin typeface="Google Sans"/>
                <a:ea typeface="+mn-ea"/>
                <a:cs typeface="+mn-cs"/>
              </a:rPr>
              <a:t>Kafka consumer groups</a:t>
            </a:r>
          </a:p>
          <a:p>
            <a:r>
              <a:rPr lang="en-US" sz="1500" dirty="0">
                <a:solidFill>
                  <a:schemeClr val="accent6"/>
                </a:solidFill>
                <a:latin typeface="Google Sans"/>
                <a:ea typeface="+mn-ea"/>
                <a:cs typeface="+mn-cs"/>
              </a:rPr>
              <a:t>Batching to minimize overhead</a:t>
            </a:r>
          </a:p>
          <a:p>
            <a:r>
              <a:rPr lang="en-US" sz="1500" dirty="0">
                <a:solidFill>
                  <a:schemeClr val="accent2"/>
                </a:solidFill>
                <a:latin typeface="Google Sans"/>
                <a:ea typeface="+mn-ea"/>
                <a:cs typeface="+mn-cs"/>
              </a:rPr>
              <a:t>4. Distributed Compute</a:t>
            </a:r>
          </a:p>
          <a:p>
            <a:r>
              <a:rPr lang="en-US" sz="1500" dirty="0">
                <a:solidFill>
                  <a:schemeClr val="accent6"/>
                </a:solidFill>
                <a:latin typeface="Google Sans"/>
                <a:ea typeface="+mn-ea"/>
                <a:cs typeface="+mn-cs"/>
              </a:rPr>
              <a:t>MapReduce, Spark, Flink</a:t>
            </a:r>
          </a:p>
          <a:p>
            <a:r>
              <a:rPr lang="en-US" sz="1500" dirty="0">
                <a:solidFill>
                  <a:schemeClr val="accent6"/>
                </a:solidFill>
                <a:latin typeface="Google Sans"/>
                <a:ea typeface="+mn-ea"/>
                <a:cs typeface="+mn-cs"/>
              </a:rPr>
              <a:t>Task trackers with dynamic slots</a:t>
            </a:r>
          </a:p>
        </p:txBody>
      </p:sp>
    </p:spTree>
    <p:extLst>
      <p:ext uri="{BB962C8B-B14F-4D97-AF65-F5344CB8AC3E}">
        <p14:creationId xmlns:p14="http://schemas.microsoft.com/office/powerpoint/2010/main" val="41934389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0E53F-FDDF-6633-F0CF-9CE8B76C6F0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65C9101-9212-A480-791D-82CE2D4E5DE0}"/>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276F916-0C00-F723-20F4-2BE92B46C490}"/>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B4E4160-A37A-4764-7B09-D79C71D2F8C6}"/>
              </a:ext>
            </a:extLst>
          </p:cNvPr>
          <p:cNvGraphicFramePr/>
          <p:nvPr>
            <p:extLst>
              <p:ext uri="{D42A27DB-BD31-4B8C-83A1-F6EECF244321}">
                <p14:modId xmlns:p14="http://schemas.microsoft.com/office/powerpoint/2010/main" val="511553696"/>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D16A99BE-ECBF-1924-B2EA-B733E927A245}"/>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2AB71F53-8749-D7BA-4B5F-C9C9C4337146}"/>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61282EA4-9CFD-26FB-B336-456FE945184A}"/>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9EA8FE59-7D23-9631-8AB5-47D1E90237BF}"/>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00A39707-C843-3407-A8F6-3D8DD9F75604}"/>
              </a:ext>
            </a:extLst>
          </p:cNvPr>
          <p:cNvSpPr txBox="1">
            <a:spLocks/>
          </p:cNvSpPr>
          <p:nvPr/>
        </p:nvSpPr>
        <p:spPr>
          <a:xfrm>
            <a:off x="275299" y="1073356"/>
            <a:ext cx="8624937" cy="46935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HTLL, HTHL, LTLL &amp; LTHL Techniques, Patterns, Gotchas </a:t>
            </a:r>
            <a:r>
              <a:rPr lang="en-US" sz="2000" dirty="0" err="1">
                <a:solidFill>
                  <a:schemeClr val="accent2"/>
                </a:solidFill>
                <a:latin typeface="Google Sans"/>
              </a:rPr>
              <a:t>etc</a:t>
            </a:r>
            <a:r>
              <a:rPr lang="en-US" sz="2000" dirty="0">
                <a:solidFill>
                  <a:schemeClr val="accent2"/>
                </a:solidFill>
                <a:latin typeface="Google Sans"/>
              </a:rPr>
              <a:t> </a:t>
            </a:r>
          </a:p>
          <a:p>
            <a:r>
              <a:rPr lang="en-US" sz="1500" dirty="0">
                <a:solidFill>
                  <a:schemeClr val="accent2"/>
                </a:solidFill>
                <a:latin typeface="Google Sans"/>
                <a:ea typeface="+mn-ea"/>
                <a:cs typeface="+mn-cs"/>
              </a:rPr>
              <a:t>2. High Throughput, High Latency (HTHL) </a:t>
            </a:r>
          </a:p>
          <a:p>
            <a:r>
              <a:rPr lang="en-US" sz="1500" dirty="0">
                <a:solidFill>
                  <a:schemeClr val="accent2"/>
                </a:solidFill>
                <a:latin typeface="Google Sans"/>
                <a:ea typeface="+mn-ea"/>
                <a:cs typeface="+mn-cs"/>
              </a:rPr>
              <a:t>Core Techniques &amp; Patterns</a:t>
            </a:r>
          </a:p>
          <a:p>
            <a:r>
              <a:rPr lang="en-US" sz="1500" dirty="0">
                <a:solidFill>
                  <a:schemeClr val="accent2"/>
                </a:solidFill>
                <a:latin typeface="Google Sans"/>
                <a:ea typeface="+mn-ea"/>
                <a:cs typeface="+mn-cs"/>
              </a:rPr>
              <a:t>5. Data Locality</a:t>
            </a:r>
          </a:p>
          <a:p>
            <a:r>
              <a:rPr lang="en-US" sz="1500" dirty="0">
                <a:solidFill>
                  <a:schemeClr val="accent6"/>
                </a:solidFill>
                <a:latin typeface="Google Sans"/>
                <a:ea typeface="+mn-ea"/>
                <a:cs typeface="+mn-cs"/>
              </a:rPr>
              <a:t>Move compute to data</a:t>
            </a:r>
          </a:p>
          <a:p>
            <a:r>
              <a:rPr lang="en-US" sz="1500" dirty="0">
                <a:solidFill>
                  <a:schemeClr val="accent6"/>
                </a:solidFill>
                <a:latin typeface="Google Sans"/>
                <a:ea typeface="+mn-ea"/>
                <a:cs typeface="+mn-cs"/>
              </a:rPr>
              <a:t>HDFS, distributed file systems</a:t>
            </a:r>
          </a:p>
          <a:p>
            <a:r>
              <a:rPr lang="en-US" sz="1500" dirty="0">
                <a:solidFill>
                  <a:schemeClr val="accent2"/>
                </a:solidFill>
                <a:latin typeface="Google Sans"/>
                <a:ea typeface="+mn-ea"/>
                <a:cs typeface="+mn-cs"/>
              </a:rPr>
              <a:t>Tradeoffs</a:t>
            </a:r>
          </a:p>
          <a:p>
            <a:r>
              <a:rPr lang="en-US" sz="1500" dirty="0">
                <a:solidFill>
                  <a:schemeClr val="accent2"/>
                </a:solidFill>
                <a:latin typeface="Google Sans"/>
                <a:ea typeface="+mn-ea"/>
                <a:cs typeface="+mn-cs"/>
              </a:rPr>
              <a:t>Design	                      Throughput	Latency</a:t>
            </a:r>
          </a:p>
          <a:p>
            <a:r>
              <a:rPr lang="en-US" sz="1500" dirty="0">
                <a:solidFill>
                  <a:schemeClr val="accent6"/>
                </a:solidFill>
                <a:latin typeface="Google Sans"/>
                <a:ea typeface="+mn-ea"/>
                <a:cs typeface="+mn-cs"/>
              </a:rPr>
              <a:t>Larger batch size	↑ throughput	↑ latency</a:t>
            </a:r>
          </a:p>
          <a:p>
            <a:r>
              <a:rPr lang="en-US" sz="1500" dirty="0">
                <a:solidFill>
                  <a:schemeClr val="accent6"/>
                </a:solidFill>
                <a:latin typeface="Google Sans"/>
                <a:ea typeface="+mn-ea"/>
                <a:cs typeface="+mn-cs"/>
              </a:rPr>
              <a:t>Loose ordering	↑ throughput	Not suitable for ordered workflows</a:t>
            </a:r>
          </a:p>
          <a:p>
            <a:r>
              <a:rPr lang="en-US" sz="1500" dirty="0">
                <a:solidFill>
                  <a:schemeClr val="accent6"/>
                </a:solidFill>
                <a:latin typeface="Google Sans"/>
                <a:ea typeface="+mn-ea"/>
                <a:cs typeface="+mn-cs"/>
              </a:rPr>
              <a:t>Parallel partitions	↑ throughput	Variable lag per partition</a:t>
            </a:r>
          </a:p>
          <a:p>
            <a:r>
              <a:rPr lang="en-US" sz="1500" dirty="0">
                <a:solidFill>
                  <a:schemeClr val="accent2"/>
                </a:solidFill>
                <a:latin typeface="Google Sans"/>
                <a:ea typeface="+mn-ea"/>
                <a:cs typeface="+mn-cs"/>
              </a:rPr>
              <a:t>Common Gotchas</a:t>
            </a:r>
          </a:p>
          <a:p>
            <a:r>
              <a:rPr lang="en-US" sz="1500" dirty="0">
                <a:solidFill>
                  <a:schemeClr val="accent6"/>
                </a:solidFill>
                <a:latin typeface="Google Sans"/>
                <a:ea typeface="+mn-ea"/>
                <a:cs typeface="+mn-cs"/>
              </a:rPr>
              <a:t>Long GC pauses with huge buffers</a:t>
            </a:r>
          </a:p>
          <a:p>
            <a:r>
              <a:rPr lang="en-US" sz="1500" dirty="0">
                <a:solidFill>
                  <a:schemeClr val="accent6"/>
                </a:solidFill>
                <a:latin typeface="Google Sans"/>
                <a:ea typeface="+mn-ea"/>
                <a:cs typeface="+mn-cs"/>
              </a:rPr>
              <a:t>Rebalancing storms in distributed queues</a:t>
            </a:r>
          </a:p>
          <a:p>
            <a:r>
              <a:rPr lang="en-US" sz="1500" dirty="0">
                <a:solidFill>
                  <a:schemeClr val="accent6"/>
                </a:solidFill>
                <a:latin typeface="Google Sans"/>
                <a:ea typeface="+mn-ea"/>
                <a:cs typeface="+mn-cs"/>
              </a:rPr>
              <a:t>State management across distributed workers</a:t>
            </a:r>
          </a:p>
          <a:p>
            <a:r>
              <a:rPr lang="en-US" sz="1500" dirty="0">
                <a:solidFill>
                  <a:schemeClr val="accent6"/>
                </a:solidFill>
                <a:latin typeface="Google Sans"/>
                <a:ea typeface="+mn-ea"/>
                <a:cs typeface="+mn-cs"/>
              </a:rPr>
              <a:t>Backpressure to producers</a:t>
            </a:r>
          </a:p>
          <a:p>
            <a:r>
              <a:rPr lang="en-US" sz="1500" dirty="0">
                <a:solidFill>
                  <a:schemeClr val="accent2"/>
                </a:solidFill>
                <a:latin typeface="Google Sans"/>
                <a:ea typeface="+mn-ea"/>
                <a:cs typeface="+mn-cs"/>
              </a:rPr>
              <a:t>Monitoring &amp; Scaling</a:t>
            </a:r>
          </a:p>
          <a:p>
            <a:r>
              <a:rPr lang="en-US" sz="1500" dirty="0">
                <a:solidFill>
                  <a:schemeClr val="accent6"/>
                </a:solidFill>
                <a:latin typeface="Google Sans"/>
                <a:ea typeface="+mn-ea"/>
                <a:cs typeface="+mn-cs"/>
              </a:rPr>
              <a:t>Lag metrics (consumer offsets vs end)</a:t>
            </a:r>
          </a:p>
          <a:p>
            <a:r>
              <a:rPr lang="en-US" sz="1500" dirty="0">
                <a:solidFill>
                  <a:schemeClr val="accent6"/>
                </a:solidFill>
                <a:latin typeface="Google Sans"/>
                <a:ea typeface="+mn-ea"/>
                <a:cs typeface="+mn-cs"/>
              </a:rPr>
              <a:t>Task failures &amp; retries</a:t>
            </a:r>
          </a:p>
          <a:p>
            <a:r>
              <a:rPr lang="en-US" sz="1500" dirty="0">
                <a:solidFill>
                  <a:schemeClr val="accent6"/>
                </a:solidFill>
                <a:latin typeface="Google Sans"/>
                <a:ea typeface="+mn-ea"/>
                <a:cs typeface="+mn-cs"/>
              </a:rPr>
              <a:t>Data skew on partitions</a:t>
            </a:r>
          </a:p>
        </p:txBody>
      </p:sp>
    </p:spTree>
    <p:extLst>
      <p:ext uri="{BB962C8B-B14F-4D97-AF65-F5344CB8AC3E}">
        <p14:creationId xmlns:p14="http://schemas.microsoft.com/office/powerpoint/2010/main" val="18877804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BBE67-52C2-8461-2129-B73250B409A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51466C7-048C-5221-0D5C-8C5C8D787444}"/>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E813474-00AF-9733-1BB7-31BBF233F901}"/>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952A75D-AB6E-8C43-4B5C-F767DF6D05B5}"/>
              </a:ext>
            </a:extLst>
          </p:cNvPr>
          <p:cNvGraphicFramePr/>
          <p:nvPr>
            <p:extLst>
              <p:ext uri="{D42A27DB-BD31-4B8C-83A1-F6EECF244321}">
                <p14:modId xmlns:p14="http://schemas.microsoft.com/office/powerpoint/2010/main" val="1176752540"/>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61B46025-AEE7-7903-E6C8-27DF7FC20A5B}"/>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A942F688-BCB1-EBB4-D5A5-9A14D82FBA1A}"/>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05F23790-FB41-BB30-59D3-5BB7F845E933}"/>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EB4F8720-A42D-0310-3DAB-7AD5645DE4EA}"/>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861880C6-DF36-AAEC-8803-A10B43C4E086}"/>
              </a:ext>
            </a:extLst>
          </p:cNvPr>
          <p:cNvSpPr txBox="1">
            <a:spLocks/>
          </p:cNvSpPr>
          <p:nvPr/>
        </p:nvSpPr>
        <p:spPr>
          <a:xfrm>
            <a:off x="320981" y="1098685"/>
            <a:ext cx="8624937" cy="46935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HTLL, HTHL, LTLL &amp; LTHL Techniques, Patterns, Gotchas </a:t>
            </a:r>
            <a:r>
              <a:rPr lang="en-US" sz="2000" dirty="0" err="1">
                <a:solidFill>
                  <a:schemeClr val="accent2"/>
                </a:solidFill>
                <a:latin typeface="Google Sans"/>
              </a:rPr>
              <a:t>etc</a:t>
            </a:r>
            <a:r>
              <a:rPr lang="en-US" sz="2000" dirty="0">
                <a:solidFill>
                  <a:schemeClr val="accent2"/>
                </a:solidFill>
                <a:latin typeface="Google Sans"/>
              </a:rPr>
              <a:t> </a:t>
            </a:r>
          </a:p>
          <a:p>
            <a:r>
              <a:rPr lang="en-US" sz="1500" dirty="0">
                <a:solidFill>
                  <a:schemeClr val="accent2"/>
                </a:solidFill>
                <a:latin typeface="Google Sans"/>
                <a:ea typeface="+mn-ea"/>
                <a:cs typeface="+mn-cs"/>
              </a:rPr>
              <a:t>2. High Throughput, High Latency (HTHL) </a:t>
            </a:r>
          </a:p>
          <a:p>
            <a:r>
              <a:rPr lang="en-US" sz="1500" dirty="0">
                <a:solidFill>
                  <a:schemeClr val="accent2"/>
                </a:solidFill>
                <a:latin typeface="Google Sans"/>
                <a:ea typeface="+mn-ea"/>
                <a:cs typeface="+mn-cs"/>
              </a:rPr>
              <a:t>Example Technologies</a:t>
            </a:r>
          </a:p>
          <a:p>
            <a:r>
              <a:rPr lang="en-US" sz="1500" dirty="0">
                <a:solidFill>
                  <a:schemeClr val="accent6"/>
                </a:solidFill>
                <a:latin typeface="Google Sans"/>
                <a:ea typeface="+mn-ea"/>
                <a:cs typeface="+mn-cs"/>
              </a:rPr>
              <a:t>Kafka, Pulsar, Kinesis</a:t>
            </a:r>
          </a:p>
          <a:p>
            <a:r>
              <a:rPr lang="en-US" sz="1500" dirty="0">
                <a:solidFill>
                  <a:schemeClr val="accent6"/>
                </a:solidFill>
                <a:latin typeface="Google Sans"/>
                <a:ea typeface="+mn-ea"/>
                <a:cs typeface="+mn-cs"/>
              </a:rPr>
              <a:t>Spark, Hadoop, Flink</a:t>
            </a:r>
          </a:p>
          <a:p>
            <a:r>
              <a:rPr lang="en-US" sz="1500" dirty="0">
                <a:solidFill>
                  <a:schemeClr val="accent6"/>
                </a:solidFill>
                <a:latin typeface="Google Sans"/>
                <a:ea typeface="+mn-ea"/>
                <a:cs typeface="+mn-cs"/>
              </a:rPr>
              <a:t>S3/HDFS, Iceberg</a:t>
            </a:r>
          </a:p>
          <a:p>
            <a:endParaRPr lang="en-US" sz="1500" dirty="0">
              <a:solidFill>
                <a:schemeClr val="accent6"/>
              </a:solidFill>
              <a:latin typeface="Google Sans"/>
              <a:ea typeface="+mn-ea"/>
              <a:cs typeface="+mn-cs"/>
            </a:endParaRPr>
          </a:p>
          <a:p>
            <a:r>
              <a:rPr lang="en-US" sz="1500" dirty="0">
                <a:solidFill>
                  <a:schemeClr val="accent2"/>
                </a:solidFill>
                <a:latin typeface="Google Sans"/>
                <a:ea typeface="+mn-ea"/>
                <a:cs typeface="+mn-cs"/>
              </a:rPr>
              <a:t>3. Low Throughput, Low Latency (LTLL) </a:t>
            </a:r>
          </a:p>
          <a:p>
            <a:r>
              <a:rPr lang="en-US" sz="1500" dirty="0">
                <a:solidFill>
                  <a:schemeClr val="accent2"/>
                </a:solidFill>
                <a:latin typeface="Google Sans"/>
                <a:ea typeface="+mn-ea"/>
                <a:cs typeface="+mn-cs"/>
              </a:rPr>
              <a:t>Definition &amp; Goals: </a:t>
            </a:r>
            <a:r>
              <a:rPr lang="en-US" sz="1500" dirty="0">
                <a:solidFill>
                  <a:schemeClr val="accent6"/>
                </a:solidFill>
                <a:latin typeface="Google Sans"/>
                <a:ea typeface="+mn-ea"/>
                <a:cs typeface="+mn-cs"/>
              </a:rPr>
              <a:t>Few requests, but each can take long, Often compute-intensive or awaiting external slow systems etc.</a:t>
            </a:r>
          </a:p>
          <a:p>
            <a:r>
              <a:rPr lang="en-US" sz="1500" dirty="0">
                <a:solidFill>
                  <a:schemeClr val="accent2"/>
                </a:solidFill>
                <a:latin typeface="Google Sans"/>
                <a:ea typeface="+mn-ea"/>
                <a:cs typeface="+mn-cs"/>
              </a:rPr>
              <a:t>Typical Use Cases: </a:t>
            </a:r>
            <a:r>
              <a:rPr lang="en-US" sz="1500" dirty="0">
                <a:solidFill>
                  <a:schemeClr val="accent6"/>
                </a:solidFill>
                <a:latin typeface="Google Sans"/>
                <a:ea typeface="+mn-ea"/>
                <a:cs typeface="+mn-cs"/>
              </a:rPr>
              <a:t>Scientific simulations, Batch billing, invoicing runs, Long external API calls, Human-in-the-loop processes etc.</a:t>
            </a:r>
          </a:p>
          <a:p>
            <a:r>
              <a:rPr lang="en-US" sz="1500" dirty="0">
                <a:solidFill>
                  <a:schemeClr val="accent2"/>
                </a:solidFill>
                <a:latin typeface="Google Sans"/>
              </a:rPr>
              <a:t>Concepts: </a:t>
            </a:r>
            <a:r>
              <a:rPr lang="en-US" sz="1500" dirty="0">
                <a:solidFill>
                  <a:schemeClr val="accent6"/>
                </a:solidFill>
                <a:latin typeface="Google Sans"/>
              </a:rPr>
              <a:t>In-memory speed, minimized connection overhead.</a:t>
            </a:r>
          </a:p>
          <a:p>
            <a:r>
              <a:rPr lang="en-US" sz="1500" dirty="0">
                <a:solidFill>
                  <a:schemeClr val="accent2"/>
                </a:solidFill>
                <a:latin typeface="Google Sans"/>
                <a:ea typeface="+mn-ea"/>
                <a:cs typeface="+mn-cs"/>
              </a:rPr>
              <a:t>Core Techniques &amp; Patterns</a:t>
            </a:r>
          </a:p>
          <a:p>
            <a:r>
              <a:rPr lang="en-US" sz="1500" dirty="0">
                <a:solidFill>
                  <a:schemeClr val="accent2"/>
                </a:solidFill>
                <a:latin typeface="Google Sans"/>
                <a:ea typeface="+mn-ea"/>
                <a:cs typeface="+mn-cs"/>
              </a:rPr>
              <a:t>1. Task Queues</a:t>
            </a:r>
          </a:p>
          <a:p>
            <a:r>
              <a:rPr lang="en-US" sz="1500" dirty="0">
                <a:solidFill>
                  <a:schemeClr val="accent6"/>
                </a:solidFill>
                <a:latin typeface="Google Sans"/>
                <a:ea typeface="+mn-ea"/>
                <a:cs typeface="+mn-cs"/>
              </a:rPr>
              <a:t>Celery, </a:t>
            </a:r>
            <a:r>
              <a:rPr lang="en-US" sz="1500" dirty="0" err="1">
                <a:solidFill>
                  <a:schemeClr val="accent6"/>
                </a:solidFill>
                <a:latin typeface="Google Sans"/>
                <a:ea typeface="+mn-ea"/>
                <a:cs typeface="+mn-cs"/>
              </a:rPr>
              <a:t>Hangfire</a:t>
            </a:r>
            <a:r>
              <a:rPr lang="en-US" sz="1500" dirty="0">
                <a:solidFill>
                  <a:schemeClr val="accent6"/>
                </a:solidFill>
                <a:latin typeface="Google Sans"/>
                <a:ea typeface="+mn-ea"/>
                <a:cs typeface="+mn-cs"/>
              </a:rPr>
              <a:t>, RQ</a:t>
            </a:r>
          </a:p>
          <a:p>
            <a:r>
              <a:rPr lang="en-US" sz="1500" dirty="0">
                <a:solidFill>
                  <a:schemeClr val="accent6"/>
                </a:solidFill>
                <a:latin typeface="Google Sans"/>
                <a:ea typeface="+mn-ea"/>
                <a:cs typeface="+mn-cs"/>
              </a:rPr>
              <a:t>Job state persistence, retries</a:t>
            </a:r>
          </a:p>
          <a:p>
            <a:r>
              <a:rPr lang="en-US" sz="1500" dirty="0">
                <a:solidFill>
                  <a:schemeClr val="accent2"/>
                </a:solidFill>
                <a:latin typeface="Google Sans"/>
                <a:ea typeface="+mn-ea"/>
                <a:cs typeface="+mn-cs"/>
              </a:rPr>
              <a:t>2. Workflow Orchestration</a:t>
            </a:r>
          </a:p>
          <a:p>
            <a:r>
              <a:rPr lang="en-US" sz="1500" dirty="0">
                <a:solidFill>
                  <a:schemeClr val="accent6"/>
                </a:solidFill>
                <a:latin typeface="Google Sans"/>
                <a:ea typeface="+mn-ea"/>
                <a:cs typeface="+mn-cs"/>
              </a:rPr>
              <a:t>Airflow, Temporal, Cadence</a:t>
            </a:r>
          </a:p>
          <a:p>
            <a:r>
              <a:rPr lang="en-US" sz="1500" dirty="0">
                <a:solidFill>
                  <a:schemeClr val="accent6"/>
                </a:solidFill>
                <a:latin typeface="Google Sans"/>
                <a:ea typeface="+mn-ea"/>
                <a:cs typeface="+mn-cs"/>
              </a:rPr>
              <a:t>DAGs, retries, compensation logic</a:t>
            </a:r>
          </a:p>
        </p:txBody>
      </p:sp>
    </p:spTree>
    <p:extLst>
      <p:ext uri="{BB962C8B-B14F-4D97-AF65-F5344CB8AC3E}">
        <p14:creationId xmlns:p14="http://schemas.microsoft.com/office/powerpoint/2010/main" val="35759915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E9A9C-5A54-ADFA-B265-10B705B60AC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A9AE9B6-8CF3-B826-381D-C5551D0838B7}"/>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0C71669-12BA-4AC9-1567-9C49BFAB5C0E}"/>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7A3F0-CA6E-0A7E-36E1-7289C0D1AC1A}"/>
              </a:ext>
            </a:extLst>
          </p:cNvPr>
          <p:cNvGraphicFramePr/>
          <p:nvPr>
            <p:extLst>
              <p:ext uri="{D42A27DB-BD31-4B8C-83A1-F6EECF244321}">
                <p14:modId xmlns:p14="http://schemas.microsoft.com/office/powerpoint/2010/main" val="1187446980"/>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149A4203-0BD4-A58A-0BA5-0CA2ED57C5F4}"/>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62CFC53C-C24F-7E1A-AC23-7359515C3E51}"/>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0C5A1FB8-6F23-1968-F6F8-98780010F868}"/>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8584F898-F1CE-1229-6E34-F40683B869CC}"/>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C59B7351-4B30-CFF0-85E5-060D45BB2047}"/>
              </a:ext>
            </a:extLst>
          </p:cNvPr>
          <p:cNvSpPr txBox="1">
            <a:spLocks/>
          </p:cNvSpPr>
          <p:nvPr/>
        </p:nvSpPr>
        <p:spPr>
          <a:xfrm>
            <a:off x="320981" y="1098685"/>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HTLL, HTHL, LTLL &amp; LTHL Techniques, Patterns, Gotchas </a:t>
            </a:r>
            <a:r>
              <a:rPr lang="en-US" sz="2000" dirty="0" err="1">
                <a:solidFill>
                  <a:schemeClr val="accent2"/>
                </a:solidFill>
                <a:latin typeface="Google Sans"/>
              </a:rPr>
              <a:t>etc</a:t>
            </a:r>
            <a:r>
              <a:rPr lang="en-US" sz="2000" dirty="0">
                <a:solidFill>
                  <a:schemeClr val="accent2"/>
                </a:solidFill>
                <a:latin typeface="Google Sans"/>
              </a:rPr>
              <a:t> </a:t>
            </a:r>
          </a:p>
          <a:p>
            <a:r>
              <a:rPr lang="en-US" sz="1500" dirty="0">
                <a:solidFill>
                  <a:schemeClr val="accent2"/>
                </a:solidFill>
                <a:latin typeface="Google Sans"/>
                <a:ea typeface="+mn-ea"/>
                <a:cs typeface="+mn-cs"/>
              </a:rPr>
              <a:t>3. Low Throughput, Low Latency (LTLL) </a:t>
            </a:r>
          </a:p>
          <a:p>
            <a:r>
              <a:rPr lang="en-US" sz="1500" dirty="0">
                <a:solidFill>
                  <a:schemeClr val="accent2"/>
                </a:solidFill>
                <a:latin typeface="Google Sans"/>
                <a:ea typeface="+mn-ea"/>
                <a:cs typeface="+mn-cs"/>
              </a:rPr>
              <a:t>Core Techniques &amp; Patterns</a:t>
            </a:r>
          </a:p>
          <a:p>
            <a:r>
              <a:rPr lang="en-US" sz="1500" dirty="0">
                <a:solidFill>
                  <a:schemeClr val="accent2"/>
                </a:solidFill>
                <a:latin typeface="Google Sans"/>
                <a:ea typeface="+mn-ea"/>
                <a:cs typeface="+mn-cs"/>
              </a:rPr>
              <a:t>3. Checkpointing &amp; Persistence</a:t>
            </a:r>
          </a:p>
          <a:p>
            <a:r>
              <a:rPr lang="en-US" sz="1500" dirty="0">
                <a:solidFill>
                  <a:schemeClr val="accent6"/>
                </a:solidFill>
                <a:latin typeface="Google Sans"/>
                <a:ea typeface="+mn-ea"/>
                <a:cs typeface="+mn-cs"/>
              </a:rPr>
              <a:t>Persist intermediate state</a:t>
            </a:r>
          </a:p>
          <a:p>
            <a:r>
              <a:rPr lang="en-US" sz="1500" dirty="0">
                <a:solidFill>
                  <a:schemeClr val="accent6"/>
                </a:solidFill>
                <a:latin typeface="Google Sans"/>
                <a:ea typeface="+mn-ea"/>
                <a:cs typeface="+mn-cs"/>
              </a:rPr>
              <a:t>Resume long jobs after failures</a:t>
            </a:r>
          </a:p>
          <a:p>
            <a:r>
              <a:rPr lang="en-US" sz="1500" dirty="0">
                <a:solidFill>
                  <a:schemeClr val="accent2"/>
                </a:solidFill>
                <a:latin typeface="Google Sans"/>
                <a:ea typeface="+mn-ea"/>
                <a:cs typeface="+mn-cs"/>
              </a:rPr>
              <a:t>4. Circuit Breakers / Timeouts</a:t>
            </a:r>
          </a:p>
          <a:p>
            <a:r>
              <a:rPr lang="en-US" sz="1500" dirty="0">
                <a:solidFill>
                  <a:schemeClr val="accent6"/>
                </a:solidFill>
                <a:latin typeface="Google Sans"/>
                <a:ea typeface="+mn-ea"/>
                <a:cs typeface="+mn-cs"/>
              </a:rPr>
              <a:t>Prevent cascading waits</a:t>
            </a:r>
          </a:p>
          <a:p>
            <a:r>
              <a:rPr lang="en-US" sz="1500" dirty="0">
                <a:solidFill>
                  <a:schemeClr val="accent6"/>
                </a:solidFill>
                <a:latin typeface="Google Sans"/>
                <a:ea typeface="+mn-ea"/>
                <a:cs typeface="+mn-cs"/>
              </a:rPr>
              <a:t>Fail early with controlled fallback</a:t>
            </a:r>
          </a:p>
          <a:p>
            <a:r>
              <a:rPr lang="en-US" sz="1500" dirty="0">
                <a:solidFill>
                  <a:schemeClr val="accent2"/>
                </a:solidFill>
                <a:latin typeface="Google Sans"/>
                <a:ea typeface="+mn-ea"/>
                <a:cs typeface="+mn-cs"/>
              </a:rPr>
              <a:t>Tradeoffs</a:t>
            </a:r>
          </a:p>
          <a:p>
            <a:r>
              <a:rPr lang="en-US" sz="1500" dirty="0">
                <a:solidFill>
                  <a:schemeClr val="accent2"/>
                </a:solidFill>
                <a:latin typeface="Google Sans"/>
                <a:ea typeface="+mn-ea"/>
                <a:cs typeface="+mn-cs"/>
              </a:rPr>
              <a:t>Approach	                     Complexity	        Benefit</a:t>
            </a:r>
          </a:p>
          <a:p>
            <a:r>
              <a:rPr lang="en-US" sz="1500" dirty="0">
                <a:solidFill>
                  <a:schemeClr val="accent6"/>
                </a:solidFill>
                <a:latin typeface="Google Sans"/>
                <a:ea typeface="+mn-ea"/>
                <a:cs typeface="+mn-cs"/>
              </a:rPr>
              <a:t>Workflow engine	High	        Robust long jobs</a:t>
            </a:r>
          </a:p>
          <a:p>
            <a:r>
              <a:rPr lang="en-US" sz="1500" dirty="0">
                <a:solidFill>
                  <a:schemeClr val="accent6"/>
                </a:solidFill>
                <a:latin typeface="Google Sans"/>
                <a:ea typeface="+mn-ea"/>
                <a:cs typeface="+mn-cs"/>
              </a:rPr>
              <a:t>Simple </a:t>
            </a:r>
            <a:r>
              <a:rPr lang="en-US" sz="1500" dirty="0" err="1">
                <a:solidFill>
                  <a:schemeClr val="accent6"/>
                </a:solidFill>
                <a:latin typeface="Google Sans"/>
                <a:ea typeface="+mn-ea"/>
                <a:cs typeface="+mn-cs"/>
              </a:rPr>
              <a:t>cron</a:t>
            </a:r>
            <a:r>
              <a:rPr lang="en-US" sz="1500" dirty="0">
                <a:solidFill>
                  <a:schemeClr val="accent6"/>
                </a:solidFill>
                <a:latin typeface="Google Sans"/>
                <a:ea typeface="+mn-ea"/>
                <a:cs typeface="+mn-cs"/>
              </a:rPr>
              <a:t>	Low	        Hard to manage failures</a:t>
            </a:r>
          </a:p>
          <a:p>
            <a:r>
              <a:rPr lang="en-US" sz="1500" dirty="0">
                <a:solidFill>
                  <a:schemeClr val="accent2"/>
                </a:solidFill>
                <a:latin typeface="Google Sans"/>
                <a:ea typeface="+mn-ea"/>
                <a:cs typeface="+mn-cs"/>
              </a:rPr>
              <a:t>Common Gotchas</a:t>
            </a:r>
          </a:p>
          <a:p>
            <a:r>
              <a:rPr lang="en-US" sz="1500" dirty="0">
                <a:solidFill>
                  <a:schemeClr val="accent6"/>
                </a:solidFill>
                <a:latin typeface="Google Sans"/>
                <a:ea typeface="+mn-ea"/>
                <a:cs typeface="+mn-cs"/>
              </a:rPr>
              <a:t>Orphaned jobs after crash</a:t>
            </a:r>
          </a:p>
          <a:p>
            <a:r>
              <a:rPr lang="en-US" sz="1500" dirty="0">
                <a:solidFill>
                  <a:schemeClr val="accent6"/>
                </a:solidFill>
                <a:latin typeface="Google Sans"/>
                <a:ea typeface="+mn-ea"/>
                <a:cs typeface="+mn-cs"/>
              </a:rPr>
              <a:t>State consistency across restarts</a:t>
            </a:r>
          </a:p>
          <a:p>
            <a:r>
              <a:rPr lang="en-US" sz="1500" dirty="0">
                <a:solidFill>
                  <a:schemeClr val="accent6"/>
                </a:solidFill>
                <a:latin typeface="Google Sans"/>
                <a:ea typeface="+mn-ea"/>
                <a:cs typeface="+mn-cs"/>
              </a:rPr>
              <a:t>Time drift in scheduler systems</a:t>
            </a:r>
          </a:p>
          <a:p>
            <a:r>
              <a:rPr lang="en-US" sz="1500" dirty="0">
                <a:solidFill>
                  <a:schemeClr val="accent2"/>
                </a:solidFill>
                <a:latin typeface="Google Sans"/>
                <a:ea typeface="+mn-ea"/>
                <a:cs typeface="+mn-cs"/>
              </a:rPr>
              <a:t>Monitoring &amp; Scaling</a:t>
            </a:r>
          </a:p>
          <a:p>
            <a:r>
              <a:rPr lang="en-US" sz="1500" dirty="0">
                <a:solidFill>
                  <a:schemeClr val="accent6"/>
                </a:solidFill>
                <a:latin typeface="Google Sans"/>
                <a:ea typeface="+mn-ea"/>
                <a:cs typeface="+mn-cs"/>
              </a:rPr>
              <a:t>Job age histograms</a:t>
            </a:r>
          </a:p>
          <a:p>
            <a:r>
              <a:rPr lang="en-US" sz="1500" dirty="0">
                <a:solidFill>
                  <a:schemeClr val="accent6"/>
                </a:solidFill>
                <a:latin typeface="Google Sans"/>
                <a:ea typeface="+mn-ea"/>
                <a:cs typeface="+mn-cs"/>
              </a:rPr>
              <a:t>Retry counts/failure patterns</a:t>
            </a:r>
          </a:p>
          <a:p>
            <a:r>
              <a:rPr lang="en-US" sz="1500" dirty="0">
                <a:solidFill>
                  <a:schemeClr val="accent6"/>
                </a:solidFill>
                <a:latin typeface="Google Sans"/>
                <a:ea typeface="+mn-ea"/>
                <a:cs typeface="+mn-cs"/>
              </a:rPr>
              <a:t>Resource utilization (CPU/GPU)</a:t>
            </a:r>
          </a:p>
        </p:txBody>
      </p:sp>
    </p:spTree>
    <p:extLst>
      <p:ext uri="{BB962C8B-B14F-4D97-AF65-F5344CB8AC3E}">
        <p14:creationId xmlns:p14="http://schemas.microsoft.com/office/powerpoint/2010/main" val="1001227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55B81-8EF7-04D4-8CB6-AF1A349BA66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B2A52A7-E368-34D4-582E-3C2A60E18AF8}"/>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462733C-6176-8752-6740-413A4AA0806A}"/>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BBE3160-815E-7FD9-CEB9-4867A4A8D17B}"/>
              </a:ext>
            </a:extLst>
          </p:cNvPr>
          <p:cNvGraphicFramePr/>
          <p:nvPr>
            <p:extLst>
              <p:ext uri="{D42A27DB-BD31-4B8C-83A1-F6EECF244321}">
                <p14:modId xmlns:p14="http://schemas.microsoft.com/office/powerpoint/2010/main" val="1266668556"/>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12D9D5B1-B5D3-68B9-BFCE-6ABDB415AD35}"/>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3553C5E0-6A57-2BFF-5DDF-AAB1A4257612}"/>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61C5149E-FB34-13B9-80B8-1558D429E8BC}"/>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889D66AD-CC1C-843A-53A8-CBE80B84E20F}"/>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545C162E-14DA-5342-F828-0464EA1155BD}"/>
              </a:ext>
            </a:extLst>
          </p:cNvPr>
          <p:cNvSpPr txBox="1">
            <a:spLocks/>
          </p:cNvSpPr>
          <p:nvPr/>
        </p:nvSpPr>
        <p:spPr>
          <a:xfrm>
            <a:off x="320981" y="1098685"/>
            <a:ext cx="8624937" cy="46935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HTLL, HTHL, LTLL &amp; LTHL Techniques, Patterns, Gotchas </a:t>
            </a:r>
            <a:r>
              <a:rPr lang="en-US" sz="2000" dirty="0" err="1">
                <a:solidFill>
                  <a:schemeClr val="accent2"/>
                </a:solidFill>
                <a:latin typeface="Google Sans"/>
              </a:rPr>
              <a:t>etc</a:t>
            </a:r>
            <a:r>
              <a:rPr lang="en-US" sz="2000" dirty="0">
                <a:solidFill>
                  <a:schemeClr val="accent2"/>
                </a:solidFill>
                <a:latin typeface="Google Sans"/>
              </a:rPr>
              <a:t> </a:t>
            </a:r>
          </a:p>
          <a:p>
            <a:r>
              <a:rPr lang="en-US" sz="1500" dirty="0">
                <a:solidFill>
                  <a:schemeClr val="accent2"/>
                </a:solidFill>
                <a:latin typeface="Google Sans"/>
                <a:ea typeface="+mn-ea"/>
                <a:cs typeface="+mn-cs"/>
              </a:rPr>
              <a:t>3. Low Throughput, Low Latency (LTLL) </a:t>
            </a:r>
          </a:p>
          <a:p>
            <a:r>
              <a:rPr lang="en-US" sz="1500" dirty="0">
                <a:solidFill>
                  <a:schemeClr val="accent2"/>
                </a:solidFill>
                <a:latin typeface="Google Sans"/>
                <a:ea typeface="+mn-ea"/>
                <a:cs typeface="+mn-cs"/>
              </a:rPr>
              <a:t>Example Technologies</a:t>
            </a:r>
          </a:p>
          <a:p>
            <a:r>
              <a:rPr lang="en-US" sz="1500" dirty="0">
                <a:solidFill>
                  <a:schemeClr val="accent6"/>
                </a:solidFill>
                <a:latin typeface="Google Sans"/>
                <a:ea typeface="+mn-ea"/>
                <a:cs typeface="+mn-cs"/>
              </a:rPr>
              <a:t>Temporal, Airflow, AWS Step Functions</a:t>
            </a:r>
          </a:p>
          <a:p>
            <a:r>
              <a:rPr lang="en-US" sz="1500" dirty="0">
                <a:solidFill>
                  <a:schemeClr val="accent6"/>
                </a:solidFill>
                <a:latin typeface="Google Sans"/>
                <a:ea typeface="+mn-ea"/>
                <a:cs typeface="+mn-cs"/>
              </a:rPr>
              <a:t>Worker pools + durable queues</a:t>
            </a:r>
          </a:p>
          <a:p>
            <a:r>
              <a:rPr lang="en-US" sz="1500" dirty="0">
                <a:solidFill>
                  <a:schemeClr val="accent6"/>
                </a:solidFill>
                <a:latin typeface="Google Sans"/>
                <a:ea typeface="+mn-ea"/>
                <a:cs typeface="+mn-cs"/>
              </a:rPr>
              <a:t>Databases for job state</a:t>
            </a:r>
          </a:p>
          <a:p>
            <a:endParaRPr lang="en-US" sz="1500" dirty="0">
              <a:solidFill>
                <a:schemeClr val="accent6"/>
              </a:solidFill>
              <a:latin typeface="Google Sans"/>
              <a:ea typeface="+mn-ea"/>
              <a:cs typeface="+mn-cs"/>
            </a:endParaRPr>
          </a:p>
          <a:p>
            <a:r>
              <a:rPr lang="en-US" sz="1500" dirty="0">
                <a:solidFill>
                  <a:schemeClr val="accent2"/>
                </a:solidFill>
                <a:latin typeface="Google Sans"/>
              </a:rPr>
              <a:t>4. Low Throughput, High Latency (LTHL) </a:t>
            </a:r>
          </a:p>
          <a:p>
            <a:r>
              <a:rPr lang="en-US" sz="1500" dirty="0">
                <a:solidFill>
                  <a:schemeClr val="accent2"/>
                </a:solidFill>
                <a:latin typeface="Google Sans"/>
              </a:rPr>
              <a:t>Definition &amp; Goals:</a:t>
            </a:r>
            <a:r>
              <a:rPr lang="en-US" sz="1500" dirty="0">
                <a:solidFill>
                  <a:schemeClr val="accent6"/>
                </a:solidFill>
                <a:latin typeface="Google Sans"/>
              </a:rPr>
              <a:t> Few requests, fast responses, Often interactive or control systems etc. </a:t>
            </a:r>
          </a:p>
          <a:p>
            <a:r>
              <a:rPr lang="en-US" sz="1500" dirty="0">
                <a:solidFill>
                  <a:schemeClr val="accent2"/>
                </a:solidFill>
                <a:latin typeface="Google Sans"/>
              </a:rPr>
              <a:t>Concepts: </a:t>
            </a:r>
            <a:r>
              <a:rPr lang="en-US" sz="1500" dirty="0">
                <a:solidFill>
                  <a:schemeClr val="accent6"/>
                </a:solidFill>
                <a:latin typeface="Google Sans"/>
              </a:rPr>
              <a:t>Asynchronous background processing, idempotency.</a:t>
            </a:r>
          </a:p>
          <a:p>
            <a:r>
              <a:rPr lang="en-US" sz="1500" dirty="0">
                <a:solidFill>
                  <a:schemeClr val="accent2"/>
                </a:solidFill>
                <a:latin typeface="Google Sans"/>
              </a:rPr>
              <a:t>Typical Use Cases: </a:t>
            </a:r>
            <a:r>
              <a:rPr lang="en-US" sz="1500" dirty="0">
                <a:solidFill>
                  <a:schemeClr val="accent6"/>
                </a:solidFill>
                <a:latin typeface="Google Sans"/>
              </a:rPr>
              <a:t>Admin APIs, Command/control </a:t>
            </a:r>
            <a:r>
              <a:rPr lang="en-US" sz="1500" dirty="0" err="1">
                <a:solidFill>
                  <a:schemeClr val="accent6"/>
                </a:solidFill>
                <a:latin typeface="Google Sans"/>
              </a:rPr>
              <a:t>Uis</a:t>
            </a:r>
            <a:r>
              <a:rPr lang="en-US" sz="1500" dirty="0">
                <a:solidFill>
                  <a:schemeClr val="accent6"/>
                </a:solidFill>
                <a:latin typeface="Google Sans"/>
              </a:rPr>
              <a:t>, Simple microservices, Local sensors, </a:t>
            </a:r>
          </a:p>
          <a:p>
            <a:r>
              <a:rPr lang="en-US" sz="1500" dirty="0">
                <a:solidFill>
                  <a:schemeClr val="accent2"/>
                </a:solidFill>
                <a:latin typeface="Google Sans"/>
              </a:rPr>
              <a:t>Core Techniques &amp; Patterns</a:t>
            </a:r>
          </a:p>
          <a:p>
            <a:r>
              <a:rPr lang="en-US" sz="1500" dirty="0">
                <a:solidFill>
                  <a:schemeClr val="accent2"/>
                </a:solidFill>
                <a:latin typeface="Google Sans"/>
              </a:rPr>
              <a:t>1. Simple Synchronous Handling</a:t>
            </a:r>
          </a:p>
          <a:p>
            <a:r>
              <a:rPr lang="en-US" sz="1500" dirty="0">
                <a:solidFill>
                  <a:schemeClr val="accent6"/>
                </a:solidFill>
                <a:latin typeface="Google Sans"/>
              </a:rPr>
              <a:t>Lightweight app servers</a:t>
            </a:r>
          </a:p>
          <a:p>
            <a:r>
              <a:rPr lang="en-US" sz="1500" dirty="0">
                <a:solidFill>
                  <a:schemeClr val="accent6"/>
                </a:solidFill>
                <a:latin typeface="Google Sans"/>
              </a:rPr>
              <a:t>Minimal thread pools</a:t>
            </a:r>
          </a:p>
          <a:p>
            <a:r>
              <a:rPr lang="en-US" sz="1500" dirty="0">
                <a:solidFill>
                  <a:schemeClr val="accent2"/>
                </a:solidFill>
                <a:latin typeface="Google Sans"/>
              </a:rPr>
              <a:t>2. In-Process Caches</a:t>
            </a:r>
          </a:p>
          <a:p>
            <a:r>
              <a:rPr lang="en-US" sz="1500" dirty="0">
                <a:solidFill>
                  <a:schemeClr val="accent6"/>
                </a:solidFill>
                <a:latin typeface="Google Sans"/>
              </a:rPr>
              <a:t>LRU caches</a:t>
            </a:r>
          </a:p>
          <a:p>
            <a:r>
              <a:rPr lang="en-US" sz="1500" dirty="0">
                <a:solidFill>
                  <a:schemeClr val="accent6"/>
                </a:solidFill>
                <a:latin typeface="Google Sans"/>
              </a:rPr>
              <a:t>Avoid remote calls</a:t>
            </a:r>
          </a:p>
          <a:p>
            <a:r>
              <a:rPr lang="en-US" sz="1500" dirty="0">
                <a:solidFill>
                  <a:schemeClr val="accent2"/>
                </a:solidFill>
                <a:latin typeface="Google Sans"/>
              </a:rPr>
              <a:t>3. Optimized Routing</a:t>
            </a:r>
          </a:p>
          <a:p>
            <a:r>
              <a:rPr lang="en-US" sz="1500" dirty="0">
                <a:solidFill>
                  <a:schemeClr val="accent6"/>
                </a:solidFill>
                <a:latin typeface="Google Sans"/>
              </a:rPr>
              <a:t>Direct calls, not queues</a:t>
            </a:r>
          </a:p>
        </p:txBody>
      </p:sp>
    </p:spTree>
    <p:extLst>
      <p:ext uri="{BB962C8B-B14F-4D97-AF65-F5344CB8AC3E}">
        <p14:creationId xmlns:p14="http://schemas.microsoft.com/office/powerpoint/2010/main" val="17724456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8AE04-6EF2-F049-8956-34CD64D5569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A224057-A475-5F5B-2140-4A2E7C145BA2}"/>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B36FCE5-5890-542C-E2C3-D4CEA375BB08}"/>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A41962F-C50A-0603-2F39-B5FFA9B5A854}"/>
              </a:ext>
            </a:extLst>
          </p:cNvPr>
          <p:cNvGraphicFramePr/>
          <p:nvPr>
            <p:extLst>
              <p:ext uri="{D42A27DB-BD31-4B8C-83A1-F6EECF244321}">
                <p14:modId xmlns:p14="http://schemas.microsoft.com/office/powerpoint/2010/main" val="3753472823"/>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1C5D7465-17FC-2035-405C-CD2F1C964B2A}"/>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CB50F2F6-9236-104A-4FB2-40333FAE115D}"/>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68D3AB9D-DD52-EC29-4BE4-E920463C93FF}"/>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7A86443B-CC4F-1B57-77E0-1ED9495DF746}"/>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B3573BD1-C691-0453-8352-9785F05EC3CB}"/>
              </a:ext>
            </a:extLst>
          </p:cNvPr>
          <p:cNvSpPr txBox="1">
            <a:spLocks/>
          </p:cNvSpPr>
          <p:nvPr/>
        </p:nvSpPr>
        <p:spPr>
          <a:xfrm>
            <a:off x="320981" y="1098685"/>
            <a:ext cx="8624937" cy="46935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HTLL, HTHL, LTLL &amp; LTHL Techniques, Patterns, Gotchas </a:t>
            </a:r>
            <a:r>
              <a:rPr lang="en-US" sz="2000" dirty="0" err="1">
                <a:solidFill>
                  <a:schemeClr val="accent2"/>
                </a:solidFill>
                <a:latin typeface="Google Sans"/>
              </a:rPr>
              <a:t>etc</a:t>
            </a:r>
            <a:r>
              <a:rPr lang="en-US" sz="2000" dirty="0">
                <a:solidFill>
                  <a:schemeClr val="accent2"/>
                </a:solidFill>
                <a:latin typeface="Google Sans"/>
              </a:rPr>
              <a:t> </a:t>
            </a:r>
          </a:p>
          <a:p>
            <a:r>
              <a:rPr lang="en-US" sz="1500" dirty="0">
                <a:solidFill>
                  <a:schemeClr val="accent2"/>
                </a:solidFill>
                <a:latin typeface="Google Sans"/>
              </a:rPr>
              <a:t>4. Low Throughput, High Latency (LTHL) </a:t>
            </a:r>
          </a:p>
          <a:p>
            <a:r>
              <a:rPr lang="en-US" sz="1500" dirty="0">
                <a:solidFill>
                  <a:schemeClr val="accent2"/>
                </a:solidFill>
                <a:latin typeface="Google Sans"/>
              </a:rPr>
              <a:t>Core Techniques &amp; Patterns</a:t>
            </a:r>
          </a:p>
          <a:p>
            <a:r>
              <a:rPr lang="en-US" sz="1500" dirty="0">
                <a:solidFill>
                  <a:schemeClr val="accent2"/>
                </a:solidFill>
                <a:latin typeface="Google Sans"/>
              </a:rPr>
              <a:t>4. Fine-Tuned I/O</a:t>
            </a:r>
          </a:p>
          <a:p>
            <a:r>
              <a:rPr lang="en-US" sz="1500" dirty="0">
                <a:solidFill>
                  <a:schemeClr val="accent6"/>
                </a:solidFill>
                <a:latin typeface="Google Sans"/>
              </a:rPr>
              <a:t>Keep network stack simple</a:t>
            </a:r>
          </a:p>
          <a:p>
            <a:r>
              <a:rPr lang="en-US" sz="1500" dirty="0">
                <a:solidFill>
                  <a:schemeClr val="accent6"/>
                </a:solidFill>
                <a:latin typeface="Google Sans"/>
              </a:rPr>
              <a:t>Avoid unnecessary middle proxies</a:t>
            </a:r>
          </a:p>
          <a:p>
            <a:r>
              <a:rPr lang="en-US" sz="1500" dirty="0">
                <a:solidFill>
                  <a:schemeClr val="accent2"/>
                </a:solidFill>
                <a:latin typeface="Google Sans"/>
              </a:rPr>
              <a:t>Tradeoffs</a:t>
            </a:r>
          </a:p>
          <a:p>
            <a:r>
              <a:rPr lang="en-US" sz="1500" dirty="0">
                <a:solidFill>
                  <a:schemeClr val="accent2"/>
                </a:solidFill>
                <a:latin typeface="Google Sans"/>
              </a:rPr>
              <a:t>Optimization	Impact</a:t>
            </a:r>
          </a:p>
          <a:p>
            <a:r>
              <a:rPr lang="en-US" sz="1500" dirty="0">
                <a:solidFill>
                  <a:schemeClr val="accent6"/>
                </a:solidFill>
                <a:latin typeface="Google Sans"/>
              </a:rPr>
              <a:t>Minimal threads	Very low latency</a:t>
            </a:r>
          </a:p>
          <a:p>
            <a:r>
              <a:rPr lang="en-US" sz="1500" dirty="0">
                <a:solidFill>
                  <a:schemeClr val="accent6"/>
                </a:solidFill>
                <a:latin typeface="Google Sans"/>
              </a:rPr>
              <a:t>Local in-proc state	Low latency</a:t>
            </a:r>
          </a:p>
          <a:p>
            <a:r>
              <a:rPr lang="en-US" sz="1500" dirty="0">
                <a:solidFill>
                  <a:schemeClr val="accent2"/>
                </a:solidFill>
                <a:latin typeface="Google Sans"/>
              </a:rPr>
              <a:t>Common Gotchas</a:t>
            </a:r>
          </a:p>
          <a:p>
            <a:r>
              <a:rPr lang="en-US" sz="1500" dirty="0">
                <a:solidFill>
                  <a:schemeClr val="accent6"/>
                </a:solidFill>
                <a:latin typeface="Google Sans"/>
              </a:rPr>
              <a:t>Over-engineering for low load</a:t>
            </a:r>
          </a:p>
          <a:p>
            <a:r>
              <a:rPr lang="en-US" sz="1500" dirty="0">
                <a:solidFill>
                  <a:schemeClr val="accent6"/>
                </a:solidFill>
                <a:latin typeface="Google Sans"/>
              </a:rPr>
              <a:t>Hidden blocking calls (DB over network)</a:t>
            </a:r>
          </a:p>
          <a:p>
            <a:r>
              <a:rPr lang="en-US" sz="1500" dirty="0">
                <a:solidFill>
                  <a:schemeClr val="accent6"/>
                </a:solidFill>
                <a:latin typeface="Google Sans"/>
              </a:rPr>
              <a:t>Ignoring timeouts</a:t>
            </a:r>
          </a:p>
          <a:p>
            <a:r>
              <a:rPr lang="en-US" sz="1500" dirty="0">
                <a:solidFill>
                  <a:schemeClr val="accent2"/>
                </a:solidFill>
                <a:latin typeface="Google Sans"/>
              </a:rPr>
              <a:t>Monitoring &amp; Scaling</a:t>
            </a:r>
          </a:p>
          <a:p>
            <a:r>
              <a:rPr lang="en-US" sz="1500" dirty="0">
                <a:solidFill>
                  <a:schemeClr val="accent6"/>
                </a:solidFill>
                <a:latin typeface="Google Sans"/>
              </a:rPr>
              <a:t>Simple request latencies</a:t>
            </a:r>
          </a:p>
          <a:p>
            <a:r>
              <a:rPr lang="en-US" sz="1500" dirty="0">
                <a:solidFill>
                  <a:schemeClr val="accent6"/>
                </a:solidFill>
                <a:latin typeface="Google Sans"/>
              </a:rPr>
              <a:t>Log rare errors</a:t>
            </a:r>
          </a:p>
          <a:p>
            <a:r>
              <a:rPr lang="en-US" sz="1500" dirty="0">
                <a:solidFill>
                  <a:schemeClr val="accent6"/>
                </a:solidFill>
                <a:latin typeface="Google Sans"/>
              </a:rPr>
              <a:t>Deployment health</a:t>
            </a:r>
          </a:p>
          <a:p>
            <a:r>
              <a:rPr lang="en-US" sz="1500" dirty="0">
                <a:solidFill>
                  <a:schemeClr val="accent6"/>
                </a:solidFill>
                <a:latin typeface="Google Sans"/>
              </a:rPr>
              <a:t>Cross-Cutting Themes</a:t>
            </a:r>
          </a:p>
          <a:p>
            <a:endParaRPr lang="en-US" sz="1500" dirty="0">
              <a:solidFill>
                <a:schemeClr val="accent6"/>
              </a:solidFill>
              <a:latin typeface="Google Sans"/>
            </a:endParaRPr>
          </a:p>
        </p:txBody>
      </p:sp>
    </p:spTree>
    <p:extLst>
      <p:ext uri="{BB962C8B-B14F-4D97-AF65-F5344CB8AC3E}">
        <p14:creationId xmlns:p14="http://schemas.microsoft.com/office/powerpoint/2010/main" val="35175111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8300E-44C0-9736-3ADA-1938D7F6CED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781A05D-B875-10DE-E81D-DE8952C1BF57}"/>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0FA55BB-B900-DE2F-57C0-914E62EEA76B}"/>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3E5D00E-E699-D8A8-8DDE-6502F91A23C8}"/>
              </a:ext>
            </a:extLst>
          </p:cNvPr>
          <p:cNvGraphicFramePr/>
          <p:nvPr>
            <p:extLst>
              <p:ext uri="{D42A27DB-BD31-4B8C-83A1-F6EECF244321}">
                <p14:modId xmlns:p14="http://schemas.microsoft.com/office/powerpoint/2010/main" val="1860597749"/>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3D9FD7F6-F0A3-442F-12CE-E255A6AA7F50}"/>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5D4C0775-F004-9EAD-A506-F17FE23BD178}"/>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5044E54A-2BA2-B6CD-515D-1C5993AF5DE4}"/>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F7A142AC-6A80-7C68-6E9D-296668598294}"/>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F3BA4E62-16AE-0EE0-BE69-90EBE8D56E9B}"/>
              </a:ext>
            </a:extLst>
          </p:cNvPr>
          <p:cNvSpPr txBox="1">
            <a:spLocks/>
          </p:cNvSpPr>
          <p:nvPr/>
        </p:nvSpPr>
        <p:spPr>
          <a:xfrm>
            <a:off x="320981" y="1098685"/>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HTLL, HTHL, LTLL &amp; LTHL Techniques, Patterns, Gotchas </a:t>
            </a:r>
            <a:r>
              <a:rPr lang="en-US" sz="2000" dirty="0" err="1">
                <a:solidFill>
                  <a:schemeClr val="accent2"/>
                </a:solidFill>
                <a:latin typeface="Google Sans"/>
              </a:rPr>
              <a:t>etc</a:t>
            </a:r>
            <a:r>
              <a:rPr lang="en-US" sz="2000" dirty="0">
                <a:solidFill>
                  <a:schemeClr val="accent2"/>
                </a:solidFill>
                <a:latin typeface="Google Sans"/>
              </a:rPr>
              <a:t> </a:t>
            </a:r>
          </a:p>
          <a:p>
            <a:r>
              <a:rPr lang="en-US" sz="1500" dirty="0">
                <a:solidFill>
                  <a:schemeClr val="accent2"/>
                </a:solidFill>
                <a:latin typeface="Google Sans"/>
              </a:rPr>
              <a:t>Latency vs Throughput Tradeoffs</a:t>
            </a:r>
          </a:p>
          <a:p>
            <a:r>
              <a:rPr lang="en-US" sz="1500" dirty="0">
                <a:solidFill>
                  <a:schemeClr val="accent2"/>
                </a:solidFill>
                <a:latin typeface="Google Sans"/>
              </a:rPr>
              <a:t>⚖️ Batching</a:t>
            </a:r>
          </a:p>
          <a:p>
            <a:r>
              <a:rPr lang="en-US" sz="1500" dirty="0">
                <a:solidFill>
                  <a:schemeClr val="accent2"/>
                </a:solidFill>
                <a:latin typeface="Google Sans"/>
              </a:rPr>
              <a:t>Batch Size	                       Throughput	     Latency</a:t>
            </a:r>
          </a:p>
          <a:p>
            <a:r>
              <a:rPr lang="en-US" sz="1500" dirty="0">
                <a:solidFill>
                  <a:schemeClr val="accent6"/>
                </a:solidFill>
                <a:latin typeface="Google Sans"/>
              </a:rPr>
              <a:t>Small/none	↓ throughput	    ↓ latency</a:t>
            </a:r>
          </a:p>
          <a:p>
            <a:r>
              <a:rPr lang="en-US" sz="1500" dirty="0">
                <a:solidFill>
                  <a:schemeClr val="accent6"/>
                </a:solidFill>
                <a:latin typeface="Google Sans"/>
              </a:rPr>
              <a:t>Medium	                      ↑ throughput	     moderate latency</a:t>
            </a:r>
          </a:p>
          <a:p>
            <a:r>
              <a:rPr lang="en-US" sz="1500" dirty="0">
                <a:solidFill>
                  <a:schemeClr val="accent6"/>
                </a:solidFill>
                <a:latin typeface="Google Sans"/>
              </a:rPr>
              <a:t>Large	                       highest throughput	     high latency</a:t>
            </a:r>
          </a:p>
          <a:p>
            <a:r>
              <a:rPr lang="en-US" sz="1500" dirty="0">
                <a:solidFill>
                  <a:schemeClr val="accent2"/>
                </a:solidFill>
                <a:latin typeface="Google Sans"/>
              </a:rPr>
              <a:t>⚖️ Concurrency</a:t>
            </a:r>
          </a:p>
          <a:p>
            <a:r>
              <a:rPr lang="en-US" sz="1500" dirty="0">
                <a:solidFill>
                  <a:schemeClr val="accent6"/>
                </a:solidFill>
                <a:latin typeface="Google Sans"/>
              </a:rPr>
              <a:t>More threads/tasks → ↑ throughput but risk contention → ↑ latency</a:t>
            </a:r>
          </a:p>
          <a:p>
            <a:r>
              <a:rPr lang="en-US" sz="1500" dirty="0">
                <a:solidFill>
                  <a:schemeClr val="accent6"/>
                </a:solidFill>
                <a:latin typeface="Google Sans"/>
              </a:rPr>
              <a:t>Evented IO → more tasks with low latency</a:t>
            </a:r>
          </a:p>
          <a:p>
            <a:r>
              <a:rPr lang="en-US" sz="1500" dirty="0">
                <a:solidFill>
                  <a:schemeClr val="accent2"/>
                </a:solidFill>
                <a:latin typeface="Google Sans"/>
              </a:rPr>
              <a:t>⚖️ Durability</a:t>
            </a:r>
          </a:p>
          <a:p>
            <a:r>
              <a:rPr lang="en-US" sz="1500" dirty="0">
                <a:solidFill>
                  <a:schemeClr val="accent6"/>
                </a:solidFill>
                <a:latin typeface="Google Sans"/>
              </a:rPr>
              <a:t>Synchronous writes (</a:t>
            </a:r>
            <a:r>
              <a:rPr lang="en-US" sz="1500" dirty="0" err="1">
                <a:solidFill>
                  <a:schemeClr val="accent6"/>
                </a:solidFill>
                <a:latin typeface="Google Sans"/>
              </a:rPr>
              <a:t>fsync</a:t>
            </a:r>
            <a:r>
              <a:rPr lang="en-US" sz="1500" dirty="0">
                <a:solidFill>
                  <a:schemeClr val="accent6"/>
                </a:solidFill>
                <a:latin typeface="Google Sans"/>
              </a:rPr>
              <a:t>) → safer but slower</a:t>
            </a:r>
          </a:p>
          <a:p>
            <a:r>
              <a:rPr lang="en-US" sz="1500" dirty="0">
                <a:solidFill>
                  <a:schemeClr val="accent6"/>
                </a:solidFill>
                <a:latin typeface="Google Sans"/>
              </a:rPr>
              <a:t>Async/Buffered → faster, risk partial durability</a:t>
            </a:r>
          </a:p>
          <a:p>
            <a:endParaRPr lang="en-US" sz="1500" dirty="0">
              <a:solidFill>
                <a:schemeClr val="accent6"/>
              </a:solidFill>
              <a:latin typeface="Google Sans"/>
            </a:endParaRPr>
          </a:p>
          <a:p>
            <a:r>
              <a:rPr lang="en-US" sz="1500" dirty="0">
                <a:solidFill>
                  <a:schemeClr val="accent2"/>
                </a:solidFill>
                <a:latin typeface="Google Sans"/>
              </a:rPr>
              <a:t>Pattern Catalogue</a:t>
            </a:r>
          </a:p>
          <a:p>
            <a:r>
              <a:rPr lang="en-US" sz="1500" dirty="0">
                <a:solidFill>
                  <a:schemeClr val="accent2"/>
                </a:solidFill>
                <a:latin typeface="Google Sans"/>
              </a:rPr>
              <a:t>Pattern	                                           Best Regime	Problem Solved</a:t>
            </a:r>
          </a:p>
          <a:p>
            <a:r>
              <a:rPr lang="en-US" sz="1500" dirty="0">
                <a:solidFill>
                  <a:schemeClr val="accent6"/>
                </a:solidFill>
                <a:latin typeface="Google Sans"/>
              </a:rPr>
              <a:t>Event Loop / Non-Blocking IO	 HT-LL, LT-LL	Efficient handling of many events</a:t>
            </a:r>
          </a:p>
          <a:p>
            <a:r>
              <a:rPr lang="en-US" sz="1500" dirty="0">
                <a:solidFill>
                  <a:schemeClr val="accent6"/>
                </a:solidFill>
                <a:latin typeface="Google Sans"/>
              </a:rPr>
              <a:t>Partitioned Queues	                      HT-HL	                      Scale with demand</a:t>
            </a:r>
          </a:p>
          <a:p>
            <a:r>
              <a:rPr lang="en-US" sz="1500" dirty="0">
                <a:solidFill>
                  <a:schemeClr val="accent6"/>
                </a:solidFill>
                <a:latin typeface="Google Sans"/>
              </a:rPr>
              <a:t>Circuit Breaker	                      LT-HL, HT-LL	Avoid cascading failures</a:t>
            </a:r>
          </a:p>
          <a:p>
            <a:r>
              <a:rPr lang="en-US" sz="1500" dirty="0">
                <a:solidFill>
                  <a:schemeClr val="accent6"/>
                </a:solidFill>
                <a:latin typeface="Google Sans"/>
              </a:rPr>
              <a:t>Bulk-head Isolation	                      HT-LL	                     Contain component slowdowns</a:t>
            </a:r>
          </a:p>
          <a:p>
            <a:r>
              <a:rPr lang="en-US" sz="1500" dirty="0">
                <a:solidFill>
                  <a:schemeClr val="accent6"/>
                </a:solidFill>
                <a:latin typeface="Google Sans"/>
              </a:rPr>
              <a:t>Backpressure	                      HT-LL, HT-HL	Prevent overload</a:t>
            </a:r>
          </a:p>
        </p:txBody>
      </p:sp>
    </p:spTree>
    <p:extLst>
      <p:ext uri="{BB962C8B-B14F-4D97-AF65-F5344CB8AC3E}">
        <p14:creationId xmlns:p14="http://schemas.microsoft.com/office/powerpoint/2010/main" val="12348853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3C7B8-B79C-40CB-F938-9BC5073834F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CAE3D43-0BAC-08D6-7AFC-D0F8B514EA05}"/>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64B53FA-7F4E-3FD2-3EFD-A2E8F1CDF1CD}"/>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A7FEA20-6855-2A4A-1522-166329C10A87}"/>
              </a:ext>
            </a:extLst>
          </p:cNvPr>
          <p:cNvGraphicFramePr/>
          <p:nvPr>
            <p:extLst>
              <p:ext uri="{D42A27DB-BD31-4B8C-83A1-F6EECF244321}">
                <p14:modId xmlns:p14="http://schemas.microsoft.com/office/powerpoint/2010/main" val="2511429169"/>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091E972-375F-C4E2-D69B-022A4D2CCF16}"/>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DE84C675-3C3C-7F66-44FB-1D6F79190792}"/>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A0DD2754-9289-3EEE-79B2-24C298D26003}"/>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D62D2AC1-85BB-A48D-3DD3-71260028B2B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8CCD30AB-E56C-EEEB-E8CB-2B9706D05F8E}"/>
              </a:ext>
            </a:extLst>
          </p:cNvPr>
          <p:cNvSpPr txBox="1">
            <a:spLocks/>
          </p:cNvSpPr>
          <p:nvPr/>
        </p:nvSpPr>
        <p:spPr>
          <a:xfrm>
            <a:off x="320981" y="1098685"/>
            <a:ext cx="8624937" cy="446276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HTLL, HTHL, LTLL &amp; LTHL Techniques, Patterns, Gotchas </a:t>
            </a:r>
            <a:r>
              <a:rPr lang="en-US" sz="2000" dirty="0" err="1">
                <a:solidFill>
                  <a:schemeClr val="accent2"/>
                </a:solidFill>
                <a:latin typeface="Google Sans"/>
              </a:rPr>
              <a:t>etc</a:t>
            </a:r>
            <a:r>
              <a:rPr lang="en-US" sz="2000" dirty="0">
                <a:solidFill>
                  <a:schemeClr val="accent2"/>
                </a:solidFill>
                <a:latin typeface="Google Sans"/>
              </a:rPr>
              <a:t> </a:t>
            </a:r>
          </a:p>
          <a:p>
            <a:r>
              <a:rPr lang="en-US" sz="1500" dirty="0">
                <a:solidFill>
                  <a:schemeClr val="accent2"/>
                </a:solidFill>
                <a:latin typeface="Google Sans"/>
              </a:rPr>
              <a:t>Pattern Catalogue</a:t>
            </a:r>
          </a:p>
          <a:p>
            <a:r>
              <a:rPr lang="en-US" sz="1500" dirty="0">
                <a:solidFill>
                  <a:schemeClr val="accent2"/>
                </a:solidFill>
                <a:latin typeface="Google Sans"/>
              </a:rPr>
              <a:t>Pattern	                                           Best Regime	Problem Solved</a:t>
            </a:r>
          </a:p>
          <a:p>
            <a:r>
              <a:rPr lang="en-US" sz="1500" dirty="0">
                <a:solidFill>
                  <a:schemeClr val="accent6"/>
                </a:solidFill>
                <a:latin typeface="Google Sans"/>
              </a:rPr>
              <a:t>Caching	                                           LT-LL, HT-LL	Reduce remote calls</a:t>
            </a:r>
          </a:p>
          <a:p>
            <a:r>
              <a:rPr lang="en-US" sz="1500" dirty="0">
                <a:solidFill>
                  <a:schemeClr val="accent6"/>
                </a:solidFill>
                <a:latin typeface="Google Sans"/>
              </a:rPr>
              <a:t>Consistent Hashing	                      HT-LL, HT-HL	Even load distribution</a:t>
            </a:r>
          </a:p>
          <a:p>
            <a:r>
              <a:rPr lang="en-US" sz="1500" dirty="0">
                <a:solidFill>
                  <a:schemeClr val="accent6"/>
                </a:solidFill>
                <a:latin typeface="Google Sans"/>
              </a:rPr>
              <a:t>Workflow Engines	                      LT-HL	                      Manage complex, long jobs</a:t>
            </a:r>
          </a:p>
          <a:p>
            <a:r>
              <a:rPr lang="en-US" sz="1500" dirty="0">
                <a:solidFill>
                  <a:schemeClr val="accent2"/>
                </a:solidFill>
                <a:latin typeface="Google Sans"/>
              </a:rPr>
              <a:t>Monitoring &amp; SLOs</a:t>
            </a:r>
          </a:p>
          <a:p>
            <a:r>
              <a:rPr lang="en-US" sz="1500" dirty="0">
                <a:solidFill>
                  <a:schemeClr val="accent2"/>
                </a:solidFill>
                <a:latin typeface="Google Sans"/>
              </a:rPr>
              <a:t>Latency Metrics</a:t>
            </a:r>
          </a:p>
          <a:p>
            <a:r>
              <a:rPr lang="en-US" sz="1500" dirty="0">
                <a:solidFill>
                  <a:schemeClr val="accent2"/>
                </a:solidFill>
                <a:latin typeface="Google Sans"/>
              </a:rPr>
              <a:t>Percentiles: </a:t>
            </a:r>
            <a:r>
              <a:rPr lang="en-US" sz="1500" dirty="0">
                <a:solidFill>
                  <a:schemeClr val="accent6"/>
                </a:solidFill>
                <a:latin typeface="Google Sans"/>
              </a:rPr>
              <a:t>P50, P95, P99, P99.9</a:t>
            </a:r>
          </a:p>
          <a:p>
            <a:r>
              <a:rPr lang="en-US" sz="1500" dirty="0">
                <a:solidFill>
                  <a:schemeClr val="accent2"/>
                </a:solidFill>
                <a:latin typeface="Google Sans"/>
              </a:rPr>
              <a:t>Jitter: </a:t>
            </a:r>
            <a:r>
              <a:rPr lang="en-US" sz="1500" dirty="0">
                <a:solidFill>
                  <a:schemeClr val="accent6"/>
                </a:solidFill>
                <a:latin typeface="Google Sans"/>
              </a:rPr>
              <a:t>variability over time</a:t>
            </a:r>
          </a:p>
          <a:p>
            <a:r>
              <a:rPr lang="en-US" sz="1500" dirty="0">
                <a:solidFill>
                  <a:schemeClr val="accent2"/>
                </a:solidFill>
                <a:latin typeface="Google Sans"/>
              </a:rPr>
              <a:t>Tail latency: </a:t>
            </a:r>
            <a:r>
              <a:rPr lang="en-US" sz="1500" dirty="0">
                <a:solidFill>
                  <a:schemeClr val="accent6"/>
                </a:solidFill>
                <a:latin typeface="Google Sans"/>
              </a:rPr>
              <a:t>critical for HT-LL</a:t>
            </a:r>
          </a:p>
          <a:p>
            <a:r>
              <a:rPr lang="en-US" sz="1500" dirty="0">
                <a:solidFill>
                  <a:schemeClr val="accent2"/>
                </a:solidFill>
                <a:latin typeface="Google Sans"/>
              </a:rPr>
              <a:t>Throughput Metrics</a:t>
            </a:r>
          </a:p>
          <a:p>
            <a:r>
              <a:rPr lang="en-US" sz="1500" dirty="0">
                <a:solidFill>
                  <a:schemeClr val="accent6"/>
                </a:solidFill>
                <a:latin typeface="Google Sans"/>
              </a:rPr>
              <a:t>Requests/sec</a:t>
            </a:r>
          </a:p>
          <a:p>
            <a:r>
              <a:rPr lang="en-US" sz="1500" dirty="0">
                <a:solidFill>
                  <a:schemeClr val="accent6"/>
                </a:solidFill>
                <a:latin typeface="Google Sans"/>
              </a:rPr>
              <a:t>Megabytes/sec</a:t>
            </a:r>
          </a:p>
          <a:p>
            <a:r>
              <a:rPr lang="en-US" sz="1500" dirty="0">
                <a:solidFill>
                  <a:schemeClr val="accent6"/>
                </a:solidFill>
                <a:latin typeface="Google Sans"/>
              </a:rPr>
              <a:t>Task completion rate</a:t>
            </a:r>
          </a:p>
          <a:p>
            <a:r>
              <a:rPr lang="en-US" sz="1500" dirty="0">
                <a:solidFill>
                  <a:schemeClr val="accent2"/>
                </a:solidFill>
                <a:latin typeface="Google Sans"/>
              </a:rPr>
              <a:t>Health Signals</a:t>
            </a:r>
          </a:p>
          <a:p>
            <a:r>
              <a:rPr lang="en-US" sz="1500" dirty="0">
                <a:solidFill>
                  <a:schemeClr val="accent6"/>
                </a:solidFill>
                <a:latin typeface="Google Sans"/>
              </a:rPr>
              <a:t>Queue lengths</a:t>
            </a:r>
          </a:p>
          <a:p>
            <a:r>
              <a:rPr lang="en-US" sz="1500" dirty="0">
                <a:solidFill>
                  <a:schemeClr val="accent6"/>
                </a:solidFill>
                <a:latin typeface="Google Sans"/>
              </a:rPr>
              <a:t>Backpressure triggers</a:t>
            </a:r>
          </a:p>
          <a:p>
            <a:r>
              <a:rPr lang="en-US" sz="1500" dirty="0">
                <a:solidFill>
                  <a:schemeClr val="accent6"/>
                </a:solidFill>
                <a:latin typeface="Google Sans"/>
              </a:rPr>
              <a:t>System saturation thresholds</a:t>
            </a:r>
          </a:p>
        </p:txBody>
      </p:sp>
    </p:spTree>
    <p:extLst>
      <p:ext uri="{BB962C8B-B14F-4D97-AF65-F5344CB8AC3E}">
        <p14:creationId xmlns:p14="http://schemas.microsoft.com/office/powerpoint/2010/main" val="37727021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FD518-5D1E-98D6-14F1-8A4B51C6C31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2E7164A-BA9E-8C06-F329-B76807E706E2}"/>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E97E7CB-CEA7-C5E1-43B5-80452B48315F}"/>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24A0D28-9CF9-88B9-AA3E-6B2FB37303D0}"/>
              </a:ext>
            </a:extLst>
          </p:cNvPr>
          <p:cNvGraphicFramePr/>
          <p:nvPr>
            <p:extLst>
              <p:ext uri="{D42A27DB-BD31-4B8C-83A1-F6EECF244321}">
                <p14:modId xmlns:p14="http://schemas.microsoft.com/office/powerpoint/2010/main" val="380935508"/>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064D4504-81B0-54C4-DF09-54CD05B1C8CD}"/>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70722359-B005-3344-6358-E326ADF2324C}"/>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C91A1303-C301-3206-B8E7-010EB68FCDBC}"/>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0A29A12C-7CCC-ED44-F2D5-5F4D6B7CB4C9}"/>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098F2AA6-60EE-72BF-94B1-CB6DDEAF15DC}"/>
              </a:ext>
            </a:extLst>
          </p:cNvPr>
          <p:cNvSpPr txBox="1">
            <a:spLocks/>
          </p:cNvSpPr>
          <p:nvPr/>
        </p:nvSpPr>
        <p:spPr>
          <a:xfrm>
            <a:off x="320981" y="1098685"/>
            <a:ext cx="8624937" cy="46935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HTLL, HTHL, LTLL &amp; LTHL Techniques, Patterns, Gotchas </a:t>
            </a:r>
            <a:r>
              <a:rPr lang="en-US" sz="2000" dirty="0" err="1">
                <a:solidFill>
                  <a:schemeClr val="accent2"/>
                </a:solidFill>
                <a:latin typeface="Google Sans"/>
              </a:rPr>
              <a:t>etc</a:t>
            </a:r>
            <a:r>
              <a:rPr lang="en-US" sz="2000" dirty="0">
                <a:solidFill>
                  <a:schemeClr val="accent2"/>
                </a:solidFill>
                <a:latin typeface="Google Sans"/>
              </a:rPr>
              <a:t> </a:t>
            </a:r>
          </a:p>
          <a:p>
            <a:r>
              <a:rPr lang="en-US" sz="1500" dirty="0">
                <a:solidFill>
                  <a:schemeClr val="accent2"/>
                </a:solidFill>
                <a:latin typeface="Google Sans"/>
              </a:rPr>
              <a:t>Technology Mapping</a:t>
            </a:r>
          </a:p>
          <a:p>
            <a:r>
              <a:rPr lang="en-US" sz="1500" dirty="0">
                <a:solidFill>
                  <a:schemeClr val="accent2"/>
                </a:solidFill>
                <a:latin typeface="Google Sans"/>
              </a:rPr>
              <a:t>Regime	Transport/Queue	                      Compute Model	Storage</a:t>
            </a:r>
          </a:p>
          <a:p>
            <a:r>
              <a:rPr lang="en-US" sz="1500" dirty="0">
                <a:solidFill>
                  <a:schemeClr val="accent6"/>
                </a:solidFill>
                <a:latin typeface="Google Sans"/>
              </a:rPr>
              <a:t>HT-LL	Aeron/DPDK, Kafka (small </a:t>
            </a:r>
            <a:r>
              <a:rPr lang="en-US" sz="1500" dirty="0" err="1">
                <a:solidFill>
                  <a:schemeClr val="accent6"/>
                </a:solidFill>
                <a:latin typeface="Google Sans"/>
              </a:rPr>
              <a:t>msgs</a:t>
            </a:r>
            <a:r>
              <a:rPr lang="en-US" sz="1500" dirty="0">
                <a:solidFill>
                  <a:schemeClr val="accent6"/>
                </a:solidFill>
                <a:latin typeface="Google Sans"/>
              </a:rPr>
              <a:t>)	 Event loop, async	In-mem (Redis, Aerospike)</a:t>
            </a:r>
          </a:p>
          <a:p>
            <a:r>
              <a:rPr lang="en-US" sz="1500" dirty="0">
                <a:solidFill>
                  <a:schemeClr val="accent6"/>
                </a:solidFill>
                <a:latin typeface="Google Sans"/>
              </a:rPr>
              <a:t>HT-HL	Kafka/Pulsar	                      Spark/Flink	Distributed FS (S3/HDFS)</a:t>
            </a:r>
          </a:p>
          <a:p>
            <a:r>
              <a:rPr lang="en-US" sz="1500" dirty="0">
                <a:solidFill>
                  <a:schemeClr val="accent6"/>
                </a:solidFill>
                <a:latin typeface="Google Sans"/>
              </a:rPr>
              <a:t>LT-HL	RabbitMQ/SQS	                      Temporal/Airflow	Durable DB</a:t>
            </a:r>
          </a:p>
          <a:p>
            <a:r>
              <a:rPr lang="en-US" sz="1500" dirty="0">
                <a:solidFill>
                  <a:schemeClr val="accent6"/>
                </a:solidFill>
                <a:latin typeface="Google Sans"/>
              </a:rPr>
              <a:t>LT-LL	HTTP/</a:t>
            </a:r>
            <a:r>
              <a:rPr lang="en-US" sz="1500" dirty="0" err="1">
                <a:solidFill>
                  <a:schemeClr val="accent6"/>
                </a:solidFill>
                <a:latin typeface="Google Sans"/>
              </a:rPr>
              <a:t>gRPC</a:t>
            </a:r>
            <a:r>
              <a:rPr lang="en-US" sz="1500" dirty="0">
                <a:solidFill>
                  <a:schemeClr val="accent6"/>
                </a:solidFill>
                <a:latin typeface="Google Sans"/>
              </a:rPr>
              <a:t>                                             Simple sync	 Local cache/DB</a:t>
            </a:r>
          </a:p>
          <a:p>
            <a:r>
              <a:rPr lang="en-US" sz="1500" dirty="0">
                <a:solidFill>
                  <a:schemeClr val="accent2"/>
                </a:solidFill>
                <a:latin typeface="Google Sans"/>
              </a:rPr>
              <a:t>Pitfalls &amp; Gotchas (Summary)</a:t>
            </a:r>
          </a:p>
          <a:p>
            <a:r>
              <a:rPr lang="en-US" sz="1500" dirty="0">
                <a:solidFill>
                  <a:schemeClr val="accent2"/>
                </a:solidFill>
                <a:latin typeface="Google Sans"/>
              </a:rPr>
              <a:t>HT-LL</a:t>
            </a:r>
          </a:p>
          <a:p>
            <a:r>
              <a:rPr lang="en-US" sz="1500" dirty="0">
                <a:solidFill>
                  <a:schemeClr val="accent6"/>
                </a:solidFill>
                <a:latin typeface="Google Sans"/>
              </a:rPr>
              <a:t>Hidden blocking calls</a:t>
            </a:r>
          </a:p>
          <a:p>
            <a:r>
              <a:rPr lang="en-US" sz="1500" dirty="0">
                <a:solidFill>
                  <a:schemeClr val="accent6"/>
                </a:solidFill>
                <a:latin typeface="Google Sans"/>
              </a:rPr>
              <a:t>Unbounded queues</a:t>
            </a:r>
          </a:p>
          <a:p>
            <a:r>
              <a:rPr lang="en-US" sz="1500" dirty="0">
                <a:solidFill>
                  <a:schemeClr val="accent6"/>
                </a:solidFill>
                <a:latin typeface="Google Sans"/>
              </a:rPr>
              <a:t>GC pauses dominate tail</a:t>
            </a:r>
          </a:p>
          <a:p>
            <a:r>
              <a:rPr lang="en-US" sz="1500" dirty="0">
                <a:solidFill>
                  <a:schemeClr val="accent2"/>
                </a:solidFill>
                <a:latin typeface="Google Sans"/>
              </a:rPr>
              <a:t>HT-HL</a:t>
            </a:r>
          </a:p>
          <a:p>
            <a:r>
              <a:rPr lang="en-US" sz="1500" dirty="0">
                <a:solidFill>
                  <a:schemeClr val="accent6"/>
                </a:solidFill>
                <a:latin typeface="Google Sans"/>
              </a:rPr>
              <a:t>Data skew kills throughput</a:t>
            </a:r>
          </a:p>
          <a:p>
            <a:r>
              <a:rPr lang="en-US" sz="1500" dirty="0">
                <a:solidFill>
                  <a:schemeClr val="accent6"/>
                </a:solidFill>
                <a:latin typeface="Google Sans"/>
              </a:rPr>
              <a:t>Rebalance storms</a:t>
            </a:r>
          </a:p>
          <a:p>
            <a:r>
              <a:rPr lang="en-US" sz="1500" dirty="0">
                <a:solidFill>
                  <a:schemeClr val="accent6"/>
                </a:solidFill>
                <a:latin typeface="Google Sans"/>
              </a:rPr>
              <a:t>Fault domain correlated failures</a:t>
            </a:r>
          </a:p>
          <a:p>
            <a:r>
              <a:rPr lang="en-US" sz="1500" dirty="0">
                <a:solidFill>
                  <a:schemeClr val="accent2"/>
                </a:solidFill>
                <a:latin typeface="Google Sans"/>
              </a:rPr>
              <a:t>LT-HL</a:t>
            </a:r>
          </a:p>
          <a:p>
            <a:r>
              <a:rPr lang="en-US" sz="1500" dirty="0">
                <a:solidFill>
                  <a:schemeClr val="accent6"/>
                </a:solidFill>
                <a:latin typeface="Google Sans"/>
              </a:rPr>
              <a:t>Job state loss</a:t>
            </a:r>
          </a:p>
          <a:p>
            <a:r>
              <a:rPr lang="en-US" sz="1500" dirty="0">
                <a:solidFill>
                  <a:schemeClr val="accent6"/>
                </a:solidFill>
                <a:latin typeface="Google Sans"/>
              </a:rPr>
              <a:t>Scheduler drift</a:t>
            </a:r>
          </a:p>
          <a:p>
            <a:r>
              <a:rPr lang="en-US" sz="1500" dirty="0">
                <a:solidFill>
                  <a:schemeClr val="accent6"/>
                </a:solidFill>
                <a:latin typeface="Google Sans"/>
              </a:rPr>
              <a:t>Quiet failures unnoticed</a:t>
            </a:r>
          </a:p>
        </p:txBody>
      </p:sp>
    </p:spTree>
    <p:extLst>
      <p:ext uri="{BB962C8B-B14F-4D97-AF65-F5344CB8AC3E}">
        <p14:creationId xmlns:p14="http://schemas.microsoft.com/office/powerpoint/2010/main" val="18468770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99E6A-EE2A-DC0B-9E02-90E3C3EF724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FA38459-187D-F8E3-5447-BB64A83909B6}"/>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756F17C-1F83-39E9-A76A-531E83360DAA}"/>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7FBC9D9-3A49-E5E8-88D7-66C5E96C2E82}"/>
              </a:ext>
            </a:extLst>
          </p:cNvPr>
          <p:cNvGraphicFramePr/>
          <p:nvPr>
            <p:extLst>
              <p:ext uri="{D42A27DB-BD31-4B8C-83A1-F6EECF244321}">
                <p14:modId xmlns:p14="http://schemas.microsoft.com/office/powerpoint/2010/main" val="3802137066"/>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4DF64FC8-886F-9C40-C168-10A25C8178C3}"/>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388E766C-CAD9-4FC6-AA29-1DC3577348BE}"/>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0620AA50-9728-E716-3D77-82F8CD068DE0}"/>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95D31E85-6968-C7E5-C7EC-EAB39C0DEE47}"/>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AE0A0E02-E44D-208D-CB2D-D430C33A61AA}"/>
              </a:ext>
            </a:extLst>
          </p:cNvPr>
          <p:cNvSpPr txBox="1">
            <a:spLocks/>
          </p:cNvSpPr>
          <p:nvPr/>
        </p:nvSpPr>
        <p:spPr>
          <a:xfrm>
            <a:off x="320981" y="1098685"/>
            <a:ext cx="8624937" cy="261610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HTLL, HTHL, LTLL &amp; LTHL Techniques, Patterns, Gotchas </a:t>
            </a:r>
            <a:r>
              <a:rPr lang="en-US" sz="2000" dirty="0" err="1">
                <a:solidFill>
                  <a:schemeClr val="accent2"/>
                </a:solidFill>
                <a:latin typeface="Google Sans"/>
              </a:rPr>
              <a:t>etc</a:t>
            </a:r>
            <a:r>
              <a:rPr lang="en-US" sz="2000" dirty="0">
                <a:solidFill>
                  <a:schemeClr val="accent2"/>
                </a:solidFill>
                <a:latin typeface="Google Sans"/>
              </a:rPr>
              <a:t> </a:t>
            </a:r>
          </a:p>
          <a:p>
            <a:r>
              <a:rPr lang="en-US" sz="1500" dirty="0">
                <a:solidFill>
                  <a:schemeClr val="accent2"/>
                </a:solidFill>
                <a:latin typeface="Google Sans"/>
              </a:rPr>
              <a:t>LT-LL</a:t>
            </a:r>
          </a:p>
          <a:p>
            <a:r>
              <a:rPr lang="en-US" sz="1500" dirty="0">
                <a:solidFill>
                  <a:schemeClr val="accent6"/>
                </a:solidFill>
                <a:latin typeface="Google Sans"/>
              </a:rPr>
              <a:t>Over-engineering</a:t>
            </a:r>
          </a:p>
          <a:p>
            <a:r>
              <a:rPr lang="en-US" sz="1500" dirty="0">
                <a:solidFill>
                  <a:schemeClr val="accent6"/>
                </a:solidFill>
                <a:latin typeface="Google Sans"/>
              </a:rPr>
              <a:t>Ignoring dependency costs</a:t>
            </a:r>
          </a:p>
          <a:p>
            <a:endParaRPr lang="en-US" sz="1500" dirty="0">
              <a:solidFill>
                <a:schemeClr val="accent6"/>
              </a:solidFill>
              <a:latin typeface="Google Sans"/>
            </a:endParaRPr>
          </a:p>
          <a:p>
            <a:r>
              <a:rPr lang="en-US" sz="1500" dirty="0">
                <a:solidFill>
                  <a:schemeClr val="accent2"/>
                </a:solidFill>
                <a:latin typeface="Google Sans"/>
              </a:rPr>
              <a:t>Decision Guidance</a:t>
            </a:r>
          </a:p>
          <a:p>
            <a:r>
              <a:rPr lang="en-US" sz="1500" dirty="0">
                <a:solidFill>
                  <a:schemeClr val="accent2"/>
                </a:solidFill>
                <a:latin typeface="Google Sans"/>
              </a:rPr>
              <a:t>📌 Need sub-10ms at 100K </a:t>
            </a:r>
            <a:r>
              <a:rPr lang="en-US" sz="1500" dirty="0" err="1">
                <a:solidFill>
                  <a:schemeClr val="accent2"/>
                </a:solidFill>
                <a:latin typeface="Google Sans"/>
              </a:rPr>
              <a:t>rps</a:t>
            </a:r>
            <a:r>
              <a:rPr lang="en-US" sz="1500" dirty="0">
                <a:solidFill>
                  <a:schemeClr val="accent2"/>
                </a:solidFill>
                <a:latin typeface="Google Sans"/>
              </a:rPr>
              <a:t>? →</a:t>
            </a:r>
            <a:r>
              <a:rPr lang="en-US" sz="1500" dirty="0">
                <a:solidFill>
                  <a:schemeClr val="accent6"/>
                </a:solidFill>
                <a:latin typeface="Google Sans"/>
              </a:rPr>
              <a:t> HT-LL: evented IO, lock-free, in-memory, backpressure</a:t>
            </a:r>
          </a:p>
          <a:p>
            <a:r>
              <a:rPr lang="en-US" sz="1500" dirty="0">
                <a:solidFill>
                  <a:schemeClr val="accent2"/>
                </a:solidFill>
                <a:latin typeface="Google Sans"/>
              </a:rPr>
              <a:t>📌 Massive data processing where minutes are acceptable? →</a:t>
            </a:r>
            <a:r>
              <a:rPr lang="en-US" sz="1500" dirty="0">
                <a:solidFill>
                  <a:schemeClr val="accent6"/>
                </a:solidFill>
                <a:latin typeface="Google Sans"/>
              </a:rPr>
              <a:t> HT-HL: batching, distributed compute</a:t>
            </a:r>
          </a:p>
          <a:p>
            <a:r>
              <a:rPr lang="en-US" sz="1500" dirty="0">
                <a:solidFill>
                  <a:schemeClr val="accent2"/>
                </a:solidFill>
                <a:latin typeface="Google Sans"/>
              </a:rPr>
              <a:t>📌 Critical long jobs? →</a:t>
            </a:r>
            <a:r>
              <a:rPr lang="en-US" sz="1500" dirty="0">
                <a:solidFill>
                  <a:schemeClr val="accent6"/>
                </a:solidFill>
                <a:latin typeface="Google Sans"/>
              </a:rPr>
              <a:t> LT-HL: durable task queues, workflow engine</a:t>
            </a:r>
          </a:p>
          <a:p>
            <a:r>
              <a:rPr lang="en-US" sz="1500" dirty="0">
                <a:solidFill>
                  <a:schemeClr val="accent2"/>
                </a:solidFill>
                <a:latin typeface="Google Sans"/>
              </a:rPr>
              <a:t>📌 Low volume interactive APIs? →</a:t>
            </a:r>
            <a:r>
              <a:rPr lang="en-US" sz="1500" dirty="0">
                <a:solidFill>
                  <a:schemeClr val="accent6"/>
                </a:solidFill>
                <a:latin typeface="Google Sans"/>
              </a:rPr>
              <a:t> LT-LL: simple, fast sync, local caches</a:t>
            </a:r>
          </a:p>
          <a:p>
            <a:endParaRPr lang="en-US" sz="1500" dirty="0">
              <a:solidFill>
                <a:schemeClr val="accent6"/>
              </a:solidFill>
              <a:latin typeface="Google Sans"/>
              <a:ea typeface="+mn-ea"/>
              <a:cs typeface="+mn-cs"/>
            </a:endParaRPr>
          </a:p>
        </p:txBody>
      </p:sp>
    </p:spTree>
    <p:extLst>
      <p:ext uri="{BB962C8B-B14F-4D97-AF65-F5344CB8AC3E}">
        <p14:creationId xmlns:p14="http://schemas.microsoft.com/office/powerpoint/2010/main" val="2316849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9A188-C9EE-8F25-6D19-71637FF7DB3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B41238F-309D-1CBE-A721-5CFB5262C831}"/>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02CEC55-F50F-EF00-6266-AD144A3A2ABE}"/>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2D750E4-2DA9-9B81-F4EA-2A9FA05F7ED4}"/>
              </a:ext>
            </a:extLst>
          </p:cNvPr>
          <p:cNvGraphicFramePr/>
          <p:nvPr>
            <p:extLst>
              <p:ext uri="{D42A27DB-BD31-4B8C-83A1-F6EECF244321}">
                <p14:modId xmlns:p14="http://schemas.microsoft.com/office/powerpoint/2010/main" val="1740753156"/>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9A055C4A-8FFC-1193-1FE0-32E53C6BEDDC}"/>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643AE91F-F73F-7BD4-9570-24CD94B099ED}"/>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932314D-045B-B640-23F5-BF91DA402F72}"/>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0D7E632F-1A32-9301-B0E5-D32E7ABFD62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9" name="object 2">
            <a:extLst>
              <a:ext uri="{FF2B5EF4-FFF2-40B4-BE49-F238E27FC236}">
                <a16:creationId xmlns:a16="http://schemas.microsoft.com/office/drawing/2014/main" id="{10C60FD5-6104-8092-B467-A3C6FAF9D075}"/>
              </a:ext>
            </a:extLst>
          </p:cNvPr>
          <p:cNvSpPr txBox="1">
            <a:spLocks/>
          </p:cNvSpPr>
          <p:nvPr/>
        </p:nvSpPr>
        <p:spPr>
          <a:xfrm>
            <a:off x="320981" y="1098685"/>
            <a:ext cx="8624937" cy="48474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6"/>
                </a:solidFill>
                <a:latin typeface="Google Sans"/>
              </a:rPr>
              <a:t>Building ultra-low latency, high-throughput APIs in .NET requires a multi-faceted approach, combining optimized code, efficient infrastructure use, and system design best practices. </a:t>
            </a:r>
          </a:p>
          <a:p>
            <a:r>
              <a:rPr lang="en-US" sz="1500" dirty="0">
                <a:solidFill>
                  <a:schemeClr val="accent2"/>
                </a:solidFill>
                <a:latin typeface="Google Sans"/>
              </a:rPr>
              <a:t>I. Code-Level Optimizations</a:t>
            </a:r>
          </a:p>
          <a:p>
            <a:r>
              <a:rPr lang="en-US" sz="1500" dirty="0">
                <a:solidFill>
                  <a:schemeClr val="accent2"/>
                </a:solidFill>
                <a:latin typeface="Google Sans"/>
              </a:rPr>
              <a:t>Asynchronous Programming (Async/Await): </a:t>
            </a:r>
            <a:r>
              <a:rPr lang="en-US" sz="1500" dirty="0">
                <a:solidFill>
                  <a:schemeClr val="accent6"/>
                </a:solidFill>
                <a:latin typeface="Google Sans"/>
              </a:rPr>
              <a:t>Use async and await for all I/O-bound operations (database calls, external API calls, file I/O) to prevent blocking the main thread pool threads. This allows the server to handle thousands of concurrent requests with a small pool of threads, drastically improving throughput.</a:t>
            </a:r>
          </a:p>
          <a:p>
            <a:r>
              <a:rPr lang="en-US" sz="1500" dirty="0">
                <a:solidFill>
                  <a:schemeClr val="accent2"/>
                </a:solidFill>
                <a:latin typeface="Google Sans"/>
              </a:rPr>
              <a:t>Minimize Object Allocations and GC Pressure:</a:t>
            </a:r>
            <a:r>
              <a:rPr lang="en-US" sz="1500" dirty="0">
                <a:solidFill>
                  <a:schemeClr val="accent6"/>
                </a:solidFill>
                <a:latin typeface="Google Sans"/>
              </a:rPr>
              <a:t> The .NET Garbage Collector (GC) pauses can introduce latency, especially with large objects (&gt;= 85,000 bytes).Minimize allocations in "hot code paths" (frequently called code).Consider using Span&lt;T&gt;, Memory&lt;T&gt;, </a:t>
            </a:r>
            <a:r>
              <a:rPr lang="en-US" sz="1500" dirty="0" err="1">
                <a:solidFill>
                  <a:schemeClr val="accent6"/>
                </a:solidFill>
                <a:latin typeface="Google Sans"/>
              </a:rPr>
              <a:t>ArrayPool</a:t>
            </a:r>
            <a:r>
              <a:rPr lang="en-US" sz="1500" dirty="0">
                <a:solidFill>
                  <a:schemeClr val="accent6"/>
                </a:solidFill>
                <a:latin typeface="Google Sans"/>
              </a:rPr>
              <a:t>&lt;T&gt;, </a:t>
            </a:r>
            <a:r>
              <a:rPr lang="en-US" sz="1500" dirty="0" err="1">
                <a:solidFill>
                  <a:schemeClr val="accent6"/>
                </a:solidFill>
                <a:latin typeface="Google Sans"/>
              </a:rPr>
              <a:t>MemoryPool</a:t>
            </a:r>
            <a:r>
              <a:rPr lang="en-US" sz="1500" dirty="0">
                <a:solidFill>
                  <a:schemeClr val="accent6"/>
                </a:solidFill>
                <a:latin typeface="Google Sans"/>
              </a:rPr>
              <a:t>&lt;T&gt; for efficient memory management and buffer pooling. Use structs without managed references where possible for performance-critical sections (e.g., data processing).</a:t>
            </a:r>
          </a:p>
          <a:p>
            <a:r>
              <a:rPr lang="en-US" sz="1500" dirty="0">
                <a:solidFill>
                  <a:schemeClr val="accent2"/>
                </a:solidFill>
                <a:latin typeface="Google Sans"/>
              </a:rPr>
              <a:t>Efficient Data Serialization:</a:t>
            </a:r>
            <a:r>
              <a:rPr lang="en-US" sz="1500" dirty="0">
                <a:solidFill>
                  <a:schemeClr val="accent6"/>
                </a:solidFill>
                <a:latin typeface="Google Sans"/>
              </a:rPr>
              <a:t> Use the built-in </a:t>
            </a:r>
            <a:r>
              <a:rPr lang="en-US" sz="1500" dirty="0" err="1">
                <a:solidFill>
                  <a:schemeClr val="accent6"/>
                </a:solidFill>
                <a:latin typeface="Google Sans"/>
              </a:rPr>
              <a:t>System.Text.Json</a:t>
            </a:r>
            <a:r>
              <a:rPr lang="en-US" sz="1500" dirty="0">
                <a:solidFill>
                  <a:schemeClr val="accent6"/>
                </a:solidFill>
                <a:latin typeface="Google Sans"/>
              </a:rPr>
              <a:t> over third-party libraries like </a:t>
            </a:r>
            <a:r>
              <a:rPr lang="en-US" sz="1500" dirty="0" err="1">
                <a:solidFill>
                  <a:schemeClr val="accent6"/>
                </a:solidFill>
                <a:latin typeface="Google Sans"/>
              </a:rPr>
              <a:t>Newtonsoft.Json</a:t>
            </a:r>
            <a:r>
              <a:rPr lang="en-US" sz="1500" dirty="0">
                <a:solidFill>
                  <a:schemeClr val="accent6"/>
                </a:solidFill>
                <a:latin typeface="Google Sans"/>
              </a:rPr>
              <a:t>, as it's optimized for performance with UTF-8 and supports asynchronous reading/writing. Configure it for performance (e.g., </a:t>
            </a:r>
            <a:r>
              <a:rPr lang="en-US" sz="1500" dirty="0" err="1">
                <a:solidFill>
                  <a:schemeClr val="accent6"/>
                </a:solidFill>
                <a:latin typeface="Google Sans"/>
              </a:rPr>
              <a:t>JsonSerializerOptions</a:t>
            </a:r>
            <a:r>
              <a:rPr lang="en-US" sz="1500" dirty="0">
                <a:solidFill>
                  <a:schemeClr val="accent6"/>
                </a:solidFill>
                <a:latin typeface="Google Sans"/>
              </a:rPr>
              <a:t> with </a:t>
            </a:r>
            <a:r>
              <a:rPr lang="en-US" sz="1500" dirty="0" err="1">
                <a:solidFill>
                  <a:schemeClr val="accent6"/>
                </a:solidFill>
                <a:latin typeface="Google Sans"/>
              </a:rPr>
              <a:t>PropertyNameCaseInsensitive</a:t>
            </a:r>
            <a:r>
              <a:rPr lang="en-US" sz="1500" dirty="0">
                <a:solidFill>
                  <a:schemeClr val="accent6"/>
                </a:solidFill>
                <a:latin typeface="Google Sans"/>
              </a:rPr>
              <a:t> = false). Consider Protocol Buffers (</a:t>
            </a:r>
            <a:r>
              <a:rPr lang="en-US" sz="1500" dirty="0" err="1">
                <a:solidFill>
                  <a:schemeClr val="accent6"/>
                </a:solidFill>
                <a:latin typeface="Google Sans"/>
              </a:rPr>
              <a:t>Protobuf</a:t>
            </a:r>
            <a:r>
              <a:rPr lang="en-US" sz="1500" dirty="0">
                <a:solidFill>
                  <a:schemeClr val="accent6"/>
                </a:solidFill>
                <a:latin typeface="Google Sans"/>
              </a:rPr>
              <a:t>) for even smaller payloads.</a:t>
            </a:r>
          </a:p>
          <a:p>
            <a:r>
              <a:rPr lang="en-US" sz="1500" dirty="0">
                <a:solidFill>
                  <a:schemeClr val="accent2"/>
                </a:solidFill>
                <a:latin typeface="Google Sans"/>
              </a:rPr>
              <a:t>Minimize Exceptions: </a:t>
            </a:r>
            <a:r>
              <a:rPr lang="en-US" sz="1500" dirty="0">
                <a:solidFill>
                  <a:schemeClr val="accent6"/>
                </a:solidFill>
                <a:latin typeface="Google Sans"/>
              </a:rPr>
              <a:t>Avoid using exceptions for normal program flow, as throwing and catching exceptions is slow. Use a Result object pattern or conditional checks instead.</a:t>
            </a:r>
          </a:p>
          <a:p>
            <a:r>
              <a:rPr lang="en-US" sz="1500" dirty="0">
                <a:solidFill>
                  <a:schemeClr val="accent2"/>
                </a:solidFill>
                <a:latin typeface="Google Sans"/>
              </a:rPr>
              <a:t>Use lock-free pipelines: </a:t>
            </a:r>
            <a:r>
              <a:rPr lang="en-US" sz="1500" dirty="0">
                <a:solidFill>
                  <a:schemeClr val="accent6"/>
                </a:solidFill>
                <a:latin typeface="Google Sans"/>
              </a:rPr>
              <a:t>use </a:t>
            </a:r>
            <a:r>
              <a:rPr lang="en-US" sz="1500" dirty="0" err="1">
                <a:solidFill>
                  <a:schemeClr val="accent6"/>
                </a:solidFill>
                <a:latin typeface="Google Sans"/>
              </a:rPr>
              <a:t>System.Threading.Channels</a:t>
            </a:r>
            <a:endParaRPr lang="en-US" sz="1500" dirty="0">
              <a:solidFill>
                <a:schemeClr val="accent6"/>
              </a:solidFill>
              <a:latin typeface="Google Sans"/>
            </a:endParaRPr>
          </a:p>
          <a:p>
            <a:r>
              <a:rPr lang="en-US" sz="1500" dirty="0">
                <a:solidFill>
                  <a:schemeClr val="accent2"/>
                </a:solidFill>
                <a:latin typeface="Google Sans"/>
              </a:rPr>
              <a:t>Use Minimal APIs: </a:t>
            </a:r>
            <a:r>
              <a:rPr lang="en-US" sz="1500" dirty="0">
                <a:solidFill>
                  <a:schemeClr val="accent6"/>
                </a:solidFill>
                <a:latin typeface="Google Sans"/>
              </a:rPr>
              <a:t>Consider using Minimal APIs in ASP.NET Core, as they remove some of the default middleware overhead of traditional MVC controllers, potentially processing more requests per second with less memory. </a:t>
            </a:r>
          </a:p>
        </p:txBody>
      </p:sp>
    </p:spTree>
    <p:extLst>
      <p:ext uri="{BB962C8B-B14F-4D97-AF65-F5344CB8AC3E}">
        <p14:creationId xmlns:p14="http://schemas.microsoft.com/office/powerpoint/2010/main" val="28400918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CBCD5-6526-8481-1142-6FA46CF1C0E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87067E1-5AED-A500-14AE-D3CFD60DFEFF}"/>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FB2C0D3-7D38-ABC3-BA47-E6F22CBBC1C4}"/>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B1CB705-C26D-6679-D407-ED23B0BA5102}"/>
              </a:ext>
            </a:extLst>
          </p:cNvPr>
          <p:cNvGraphicFramePr/>
          <p:nvPr>
            <p:extLst>
              <p:ext uri="{D42A27DB-BD31-4B8C-83A1-F6EECF244321}">
                <p14:modId xmlns:p14="http://schemas.microsoft.com/office/powerpoint/2010/main" val="3971598463"/>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50F26AAE-A49D-90AD-11D4-1A9B0AD3FD02}"/>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CB0E4903-4823-D058-171E-3801A3F9D2B5}"/>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FDA02B94-C73A-78BC-659B-83FF131E1D0F}"/>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FC6819D2-FAF1-407A-D8C9-F6730F467916}"/>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9" name="object 2">
            <a:extLst>
              <a:ext uri="{FF2B5EF4-FFF2-40B4-BE49-F238E27FC236}">
                <a16:creationId xmlns:a16="http://schemas.microsoft.com/office/drawing/2014/main" id="{FBAAA6EA-925B-FEF5-0E09-CEA136B48BB0}"/>
              </a:ext>
            </a:extLst>
          </p:cNvPr>
          <p:cNvSpPr txBox="1">
            <a:spLocks/>
          </p:cNvSpPr>
          <p:nvPr/>
        </p:nvSpPr>
        <p:spPr>
          <a:xfrm>
            <a:off x="320981" y="1098685"/>
            <a:ext cx="8624937" cy="553997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rPr>
              <a:t>I. Code-Level Optimizations</a:t>
            </a:r>
          </a:p>
          <a:p>
            <a:r>
              <a:rPr lang="en-US" sz="1500" dirty="0">
                <a:solidFill>
                  <a:schemeClr val="accent2"/>
                </a:solidFill>
                <a:latin typeface="Google Sans"/>
              </a:rPr>
              <a:t>Minimize Middleware: </a:t>
            </a:r>
            <a:r>
              <a:rPr lang="en-US" sz="1500" dirty="0">
                <a:solidFill>
                  <a:schemeClr val="accent6"/>
                </a:solidFill>
                <a:latin typeface="Google Sans"/>
              </a:rPr>
              <a:t>Only include necessary middleware in your ASP.NET Core pipeline.</a:t>
            </a:r>
          </a:p>
          <a:p>
            <a:r>
              <a:rPr lang="en-US" sz="1500" dirty="0">
                <a:solidFill>
                  <a:schemeClr val="accent2"/>
                </a:solidFill>
                <a:latin typeface="Google Sans"/>
              </a:rPr>
              <a:t>Use the Latest .NET Version: </a:t>
            </a:r>
            <a:r>
              <a:rPr lang="en-US" sz="1500" dirty="0">
                <a:solidFill>
                  <a:schemeClr val="accent6"/>
                </a:solidFill>
                <a:latin typeface="Google Sans"/>
              </a:rPr>
              <a:t>Each release of .NET Core/later versions includes significant performance improvements in the runtime and libraries.</a:t>
            </a:r>
          </a:p>
          <a:p>
            <a:r>
              <a:rPr lang="en-US" sz="1500" dirty="0">
                <a:solidFill>
                  <a:schemeClr val="accent2"/>
                </a:solidFill>
                <a:latin typeface="Google Sans"/>
              </a:rPr>
              <a:t>Native AOT (Ahead-Of-Time Compilation):</a:t>
            </a:r>
            <a:r>
              <a:rPr lang="en-US" sz="1500" dirty="0">
                <a:solidFill>
                  <a:schemeClr val="accent6"/>
                </a:solidFill>
                <a:latin typeface="Google Sans"/>
              </a:rPr>
              <a:t> Compile to native code for significant startup time reduction and smaller footprints, using &lt;</a:t>
            </a:r>
            <a:r>
              <a:rPr lang="en-US" sz="1500" dirty="0" err="1">
                <a:solidFill>
                  <a:schemeClr val="accent6"/>
                </a:solidFill>
                <a:latin typeface="Google Sans"/>
              </a:rPr>
              <a:t>PublishAot</a:t>
            </a:r>
            <a:r>
              <a:rPr lang="en-US" sz="1500" dirty="0">
                <a:solidFill>
                  <a:schemeClr val="accent6"/>
                </a:solidFill>
                <a:latin typeface="Google Sans"/>
              </a:rPr>
              <a:t>&gt;true&lt;/</a:t>
            </a:r>
            <a:r>
              <a:rPr lang="en-US" sz="1500" dirty="0" err="1">
                <a:solidFill>
                  <a:schemeClr val="accent6"/>
                </a:solidFill>
                <a:latin typeface="Google Sans"/>
              </a:rPr>
              <a:t>PublishAot</a:t>
            </a:r>
            <a:r>
              <a:rPr lang="en-US" sz="1500" dirty="0">
                <a:solidFill>
                  <a:schemeClr val="accent6"/>
                </a:solidFill>
                <a:latin typeface="Google Sans"/>
              </a:rPr>
              <a:t>&gt; in your .</a:t>
            </a:r>
            <a:r>
              <a:rPr lang="en-US" sz="1500" dirty="0" err="1">
                <a:solidFill>
                  <a:schemeClr val="accent6"/>
                </a:solidFill>
                <a:latin typeface="Google Sans"/>
              </a:rPr>
              <a:t>csproj</a:t>
            </a:r>
            <a:r>
              <a:rPr lang="en-US" sz="1500" dirty="0">
                <a:solidFill>
                  <a:schemeClr val="accent6"/>
                </a:solidFill>
                <a:latin typeface="Google Sans"/>
              </a:rPr>
              <a:t>.</a:t>
            </a:r>
          </a:p>
          <a:p>
            <a:endParaRPr lang="en-US" sz="1500" dirty="0">
              <a:solidFill>
                <a:schemeClr val="accent2"/>
              </a:solidFill>
              <a:latin typeface="Google Sans"/>
            </a:endParaRPr>
          </a:p>
          <a:p>
            <a:r>
              <a:rPr lang="en-US" sz="1500" dirty="0">
                <a:solidFill>
                  <a:schemeClr val="accent2"/>
                </a:solidFill>
                <a:latin typeface="Google Sans"/>
              </a:rPr>
              <a:t>II. Data Access Optimization</a:t>
            </a:r>
          </a:p>
          <a:p>
            <a:r>
              <a:rPr lang="en-US" sz="1500" dirty="0">
                <a:solidFill>
                  <a:schemeClr val="accent2"/>
                </a:solidFill>
                <a:latin typeface="Google Sans"/>
              </a:rPr>
              <a:t>Aggressive Caching:</a:t>
            </a:r>
            <a:r>
              <a:rPr lang="en-US" sz="1500" dirty="0">
                <a:solidFill>
                  <a:schemeClr val="accent6"/>
                </a:solidFill>
                <a:latin typeface="Google Sans"/>
              </a:rPr>
              <a:t> Store frequently accessed data in a fast, in cache (</a:t>
            </a:r>
            <a:r>
              <a:rPr lang="en-US" sz="1500" dirty="0" err="1">
                <a:solidFill>
                  <a:schemeClr val="accent6"/>
                </a:solidFill>
                <a:latin typeface="Google Sans"/>
              </a:rPr>
              <a:t>MemoryCache</a:t>
            </a:r>
            <a:r>
              <a:rPr lang="en-US" sz="1500" dirty="0">
                <a:solidFill>
                  <a:schemeClr val="accent6"/>
                </a:solidFill>
                <a:latin typeface="Google Sans"/>
              </a:rPr>
              <a:t> or distributed cache like Redis) to avoid repeated database round trips.</a:t>
            </a:r>
          </a:p>
          <a:p>
            <a:r>
              <a:rPr lang="en-US" sz="1500" dirty="0">
                <a:solidFill>
                  <a:schemeClr val="accent2"/>
                </a:solidFill>
                <a:latin typeface="Google Sans"/>
              </a:rPr>
              <a:t>Optimize Database Queries:</a:t>
            </a:r>
          </a:p>
          <a:p>
            <a:r>
              <a:rPr lang="en-US" sz="1500" dirty="0">
                <a:solidFill>
                  <a:schemeClr val="accent6"/>
                </a:solidFill>
                <a:latin typeface="Google Sans"/>
              </a:rPr>
              <a:t>Use asynchronous data access methods (e.g., </a:t>
            </a:r>
            <a:r>
              <a:rPr lang="en-US" sz="1500" dirty="0" err="1">
                <a:solidFill>
                  <a:schemeClr val="accent6"/>
                </a:solidFill>
                <a:latin typeface="Google Sans"/>
              </a:rPr>
              <a:t>ToListAsync</a:t>
            </a:r>
            <a:r>
              <a:rPr lang="en-US" sz="1500" dirty="0">
                <a:solidFill>
                  <a:schemeClr val="accent6"/>
                </a:solidFill>
                <a:latin typeface="Google Sans"/>
              </a:rPr>
              <a:t>()).</a:t>
            </a:r>
          </a:p>
          <a:p>
            <a:r>
              <a:rPr lang="en-US" sz="1500" dirty="0">
                <a:solidFill>
                  <a:schemeClr val="accent6"/>
                </a:solidFill>
                <a:latin typeface="Google Sans"/>
              </a:rPr>
              <a:t>Use </a:t>
            </a:r>
            <a:r>
              <a:rPr lang="en-US" sz="1500" dirty="0" err="1">
                <a:solidFill>
                  <a:schemeClr val="accent6"/>
                </a:solidFill>
                <a:latin typeface="Google Sans"/>
              </a:rPr>
              <a:t>AsNoTracking</a:t>
            </a:r>
            <a:r>
              <a:rPr lang="en-US" sz="1500" dirty="0">
                <a:solidFill>
                  <a:schemeClr val="accent6"/>
                </a:solidFill>
                <a:latin typeface="Google Sans"/>
              </a:rPr>
              <a:t>() for read-only queries in Entity Framework Core to avoid the overhead of tracking entities for changes.</a:t>
            </a:r>
          </a:p>
          <a:p>
            <a:r>
              <a:rPr lang="en-US" sz="1500" dirty="0">
                <a:solidFill>
                  <a:schemeClr val="accent6"/>
                </a:solidFill>
                <a:latin typeface="Google Sans"/>
              </a:rPr>
              <a:t>Retrieve only the necessary data using projections (LINQ's .Select()) and pagination for large datasets.</a:t>
            </a:r>
          </a:p>
          <a:p>
            <a:r>
              <a:rPr lang="en-US" sz="1500" dirty="0">
                <a:solidFill>
                  <a:schemeClr val="accent6"/>
                </a:solidFill>
                <a:latin typeface="Google Sans"/>
              </a:rPr>
              <a:t>Ensure proper indexing on frequently queried columns to speed up lookups.</a:t>
            </a:r>
          </a:p>
          <a:p>
            <a:r>
              <a:rPr lang="en-US" sz="1500" dirty="0">
                <a:solidFill>
                  <a:schemeClr val="accent2"/>
                </a:solidFill>
                <a:latin typeface="Google Sans"/>
              </a:rPr>
              <a:t>Connection Pooling:</a:t>
            </a:r>
            <a:r>
              <a:rPr lang="en-US" sz="1500" dirty="0">
                <a:solidFill>
                  <a:schemeClr val="accent6"/>
                </a:solidFill>
                <a:latin typeface="Google Sans"/>
              </a:rPr>
              <a:t> Leverage built-in database connection pooling to minimize the expensive overhead of establishing new connections for every request.</a:t>
            </a:r>
          </a:p>
          <a:p>
            <a:r>
              <a:rPr lang="en-US" sz="1500" dirty="0">
                <a:solidFill>
                  <a:schemeClr val="accent2"/>
                </a:solidFill>
                <a:latin typeface="Google Sans"/>
              </a:rPr>
              <a:t>Offload Heavy Tasks: </a:t>
            </a:r>
            <a:r>
              <a:rPr lang="en-US" sz="1500" dirty="0">
                <a:solidFill>
                  <a:schemeClr val="accent6"/>
                </a:solidFill>
                <a:latin typeface="Google Sans"/>
              </a:rPr>
              <a:t>For long-running or non-critical tasks (e.g., email sending, report generation), offload them to background services using message queues like RabbitMQ or Azure Service Bus. </a:t>
            </a:r>
          </a:p>
          <a:p>
            <a:endParaRPr lang="en-US" sz="1500" dirty="0">
              <a:solidFill>
                <a:schemeClr val="accent6"/>
              </a:solidFill>
              <a:latin typeface="Google Sans"/>
            </a:endParaRPr>
          </a:p>
          <a:p>
            <a:endParaRPr lang="en-US" sz="1500" dirty="0">
              <a:solidFill>
                <a:schemeClr val="accent6"/>
              </a:solidFill>
              <a:latin typeface="Google Sans"/>
            </a:endParaRPr>
          </a:p>
          <a:p>
            <a:endParaRPr lang="en-US" sz="1500" dirty="0">
              <a:solidFill>
                <a:schemeClr val="accent6"/>
              </a:solidFill>
              <a:latin typeface="Google Sans"/>
            </a:endParaRPr>
          </a:p>
          <a:p>
            <a:endParaRPr lang="en-US" sz="1500" dirty="0">
              <a:solidFill>
                <a:schemeClr val="accent6"/>
              </a:solidFill>
              <a:latin typeface="Google Sans"/>
            </a:endParaRPr>
          </a:p>
        </p:txBody>
      </p:sp>
    </p:spTree>
    <p:extLst>
      <p:ext uri="{BB962C8B-B14F-4D97-AF65-F5344CB8AC3E}">
        <p14:creationId xmlns:p14="http://schemas.microsoft.com/office/powerpoint/2010/main" val="33045249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7F25A-05D9-FE24-D83F-C364DB79800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172A7DB-8B01-FCBD-C9C7-F1EDD524592A}"/>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49DD75E-D205-068E-69D1-28135DF55CA7}"/>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943E938-DE5D-7BBE-72CB-BA9A11E64F6A}"/>
              </a:ext>
            </a:extLst>
          </p:cNvPr>
          <p:cNvGraphicFramePr/>
          <p:nvPr>
            <p:extLst>
              <p:ext uri="{D42A27DB-BD31-4B8C-83A1-F6EECF244321}">
                <p14:modId xmlns:p14="http://schemas.microsoft.com/office/powerpoint/2010/main" val="2576621188"/>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07EB371B-4F92-77FF-B9E2-11ABE17B9782}"/>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3DFC740E-1165-1956-C64B-CAD381BD4191}"/>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38AC6C02-A67F-8DEB-C981-A7E020AE6CD1}"/>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7125FC0D-BDAB-3786-304E-D6555D49FFCA}"/>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9" name="object 2">
            <a:extLst>
              <a:ext uri="{FF2B5EF4-FFF2-40B4-BE49-F238E27FC236}">
                <a16:creationId xmlns:a16="http://schemas.microsoft.com/office/drawing/2014/main" id="{9C7AA669-DE74-4A5D-3114-6D1EFD8DC83F}"/>
              </a:ext>
            </a:extLst>
          </p:cNvPr>
          <p:cNvSpPr txBox="1">
            <a:spLocks/>
          </p:cNvSpPr>
          <p:nvPr/>
        </p:nvSpPr>
        <p:spPr>
          <a:xfrm>
            <a:off x="320981" y="1098685"/>
            <a:ext cx="8624937" cy="346248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rPr>
              <a:t>III. Infrastructure and System Design</a:t>
            </a:r>
          </a:p>
          <a:p>
            <a:r>
              <a:rPr lang="en-US" sz="1500" dirty="0">
                <a:solidFill>
                  <a:schemeClr val="accent2"/>
                </a:solidFill>
                <a:latin typeface="Google Sans"/>
              </a:rPr>
              <a:t>Minimize Round Trips:</a:t>
            </a:r>
            <a:r>
              <a:rPr lang="en-US" sz="1500" dirty="0">
                <a:solidFill>
                  <a:schemeClr val="accent6"/>
                </a:solidFill>
                <a:latin typeface="Google Sans"/>
              </a:rPr>
              <a:t> Combine related requests (e.g., batching, </a:t>
            </a:r>
            <a:r>
              <a:rPr lang="en-US" sz="1500" dirty="0" err="1">
                <a:solidFill>
                  <a:schemeClr val="accent6"/>
                </a:solidFill>
                <a:latin typeface="Google Sans"/>
              </a:rPr>
              <a:t>GraphQL</a:t>
            </a:r>
            <a:r>
              <a:rPr lang="en-US" sz="1500" dirty="0">
                <a:solidFill>
                  <a:schemeClr val="accent6"/>
                </a:solidFill>
                <a:latin typeface="Google Sans"/>
              </a:rPr>
              <a:t>). </a:t>
            </a:r>
          </a:p>
          <a:p>
            <a:r>
              <a:rPr lang="en-US" sz="1500" dirty="0">
                <a:solidFill>
                  <a:schemeClr val="accent2"/>
                </a:solidFill>
                <a:latin typeface="Google Sans"/>
              </a:rPr>
              <a:t>Optimize Kestrel and Protocols:</a:t>
            </a:r>
          </a:p>
          <a:p>
            <a:r>
              <a:rPr lang="en-US" sz="1500" dirty="0">
                <a:solidFill>
                  <a:schemeClr val="accent6"/>
                </a:solidFill>
                <a:latin typeface="Google Sans"/>
              </a:rPr>
              <a:t>Use the high-performance Kestrel web server, the default in ASP.NET Core.</a:t>
            </a:r>
          </a:p>
          <a:p>
            <a:r>
              <a:rPr lang="en-US" sz="1500" dirty="0">
                <a:solidFill>
                  <a:schemeClr val="accent6"/>
                </a:solidFill>
                <a:latin typeface="Google Sans"/>
              </a:rPr>
              <a:t>Enable HTTP/2 and HTTP/3 protocols for features like multiplexing, which reduces connection overhead.</a:t>
            </a:r>
          </a:p>
          <a:p>
            <a:r>
              <a:rPr lang="en-US" sz="1500" dirty="0">
                <a:solidFill>
                  <a:schemeClr val="accent2"/>
                </a:solidFill>
                <a:latin typeface="Google Sans"/>
              </a:rPr>
              <a:t>Load Balancing and Horizontal Scaling:</a:t>
            </a:r>
            <a:r>
              <a:rPr lang="en-US" sz="1500" dirty="0">
                <a:solidFill>
                  <a:schemeClr val="accent6"/>
                </a:solidFill>
                <a:latin typeface="Google Sans"/>
              </a:rPr>
              <a:t> Distribute incoming traffic across multiple API instances using a load balancer (e.g., NGINX, AWS ALB) to ensure consistent latency under high load.</a:t>
            </a:r>
          </a:p>
          <a:p>
            <a:r>
              <a:rPr lang="en-US" sz="1500" dirty="0">
                <a:solidFill>
                  <a:schemeClr val="accent2"/>
                </a:solidFill>
                <a:latin typeface="Google Sans"/>
              </a:rPr>
              <a:t>Response Compression: </a:t>
            </a:r>
            <a:r>
              <a:rPr lang="en-US" sz="1500" dirty="0">
                <a:solidFill>
                  <a:schemeClr val="accent6"/>
                </a:solidFill>
                <a:latin typeface="Google Sans"/>
              </a:rPr>
              <a:t>Enable compression (</a:t>
            </a:r>
            <a:r>
              <a:rPr lang="en-US" sz="1500" dirty="0" err="1">
                <a:solidFill>
                  <a:schemeClr val="accent6"/>
                </a:solidFill>
                <a:latin typeface="Google Sans"/>
              </a:rPr>
              <a:t>Gzip</a:t>
            </a:r>
            <a:r>
              <a:rPr lang="en-US" sz="1500" dirty="0">
                <a:solidFill>
                  <a:schemeClr val="accent6"/>
                </a:solidFill>
                <a:latin typeface="Google Sans"/>
              </a:rPr>
              <a:t> or </a:t>
            </a:r>
            <a:r>
              <a:rPr lang="en-US" sz="1500" dirty="0" err="1">
                <a:solidFill>
                  <a:schemeClr val="accent6"/>
                </a:solidFill>
                <a:latin typeface="Google Sans"/>
              </a:rPr>
              <a:t>Brotli</a:t>
            </a:r>
            <a:r>
              <a:rPr lang="en-US" sz="1500" dirty="0">
                <a:solidFill>
                  <a:schemeClr val="accent6"/>
                </a:solidFill>
                <a:latin typeface="Google Sans"/>
              </a:rPr>
              <a:t>) to reduce payload size, leading to faster data transfer times.</a:t>
            </a:r>
          </a:p>
          <a:p>
            <a:r>
              <a:rPr lang="en-US" sz="1500" dirty="0">
                <a:solidFill>
                  <a:schemeClr val="accent2"/>
                </a:solidFill>
                <a:latin typeface="Google Sans"/>
              </a:rPr>
              <a:t>Reduce Dependencies: </a:t>
            </a:r>
            <a:r>
              <a:rPr lang="en-US" sz="1500" dirty="0">
                <a:solidFill>
                  <a:schemeClr val="accent6"/>
                </a:solidFill>
                <a:latin typeface="Google Sans"/>
              </a:rPr>
              <a:t>Fewer external calls mean lower latency.</a:t>
            </a:r>
          </a:p>
          <a:p>
            <a:r>
              <a:rPr lang="en-US" sz="1500" dirty="0">
                <a:solidFill>
                  <a:schemeClr val="accent2"/>
                </a:solidFill>
                <a:latin typeface="Google Sans"/>
              </a:rPr>
              <a:t>Content Delivery Networks (CDNs):</a:t>
            </a:r>
            <a:r>
              <a:rPr lang="en-US" sz="1500" dirty="0">
                <a:solidFill>
                  <a:schemeClr val="accent6"/>
                </a:solidFill>
                <a:latin typeface="Google Sans"/>
              </a:rPr>
              <a:t> Use a CDN to serve static assets from locations geographically closer to users, reducing network latency.</a:t>
            </a:r>
          </a:p>
          <a:p>
            <a:r>
              <a:rPr lang="en-US" sz="1500" dirty="0">
                <a:solidFill>
                  <a:schemeClr val="accent2"/>
                </a:solidFill>
                <a:latin typeface="Google Sans"/>
              </a:rPr>
              <a:t>Monitoring and Profiling:</a:t>
            </a:r>
            <a:r>
              <a:rPr lang="en-US" sz="1500" dirty="0">
                <a:solidFill>
                  <a:schemeClr val="accent6"/>
                </a:solidFill>
                <a:latin typeface="Google Sans"/>
              </a:rPr>
              <a:t> Continuously monitor performance using Application Performance Management (APM) tools (e.g., Application Insights, Datadog) and profile bottlenecks with tools like </a:t>
            </a:r>
            <a:r>
              <a:rPr lang="en-US" sz="1500" dirty="0" err="1">
                <a:solidFill>
                  <a:schemeClr val="accent6"/>
                </a:solidFill>
                <a:latin typeface="Google Sans"/>
              </a:rPr>
              <a:t>BenchmarkDotNet</a:t>
            </a:r>
            <a:r>
              <a:rPr lang="en-US" sz="1500" dirty="0">
                <a:solidFill>
                  <a:schemeClr val="accent6"/>
                </a:solidFill>
                <a:latin typeface="Google Sans"/>
              </a:rPr>
              <a:t> or </a:t>
            </a:r>
            <a:r>
              <a:rPr lang="en-US" sz="1500" dirty="0" err="1">
                <a:solidFill>
                  <a:schemeClr val="accent6"/>
                </a:solidFill>
                <a:latin typeface="Google Sans"/>
              </a:rPr>
              <a:t>dotTrace</a:t>
            </a:r>
            <a:r>
              <a:rPr lang="en-US" sz="1500" dirty="0">
                <a:solidFill>
                  <a:schemeClr val="accent6"/>
                </a:solidFill>
                <a:latin typeface="Google Sans"/>
              </a:rPr>
              <a:t>. This data-driven approach is essential for identifying and addressing specific latency issues. </a:t>
            </a:r>
          </a:p>
        </p:txBody>
      </p:sp>
    </p:spTree>
    <p:extLst>
      <p:ext uri="{BB962C8B-B14F-4D97-AF65-F5344CB8AC3E}">
        <p14:creationId xmlns:p14="http://schemas.microsoft.com/office/powerpoint/2010/main" val="14452362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5BAC0-0F1D-222D-352F-8883298BBC4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C7742BE-6260-015A-FB4C-5FAB290273C9}"/>
              </a:ext>
            </a:extLst>
          </p:cNvPr>
          <p:cNvSpPr/>
          <p:nvPr/>
        </p:nvSpPr>
        <p:spPr>
          <a:xfrm>
            <a:off x="1600199" y="9144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6930B31-927F-0B44-F004-AC6023E6FE79}"/>
              </a:ext>
            </a:extLst>
          </p:cNvPr>
          <p:cNvSpPr/>
          <p:nvPr/>
        </p:nvSpPr>
        <p:spPr>
          <a:xfrm>
            <a:off x="1600200" y="76327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29C0AB4-A94F-B9DA-B6C4-0847AFC8D378}"/>
              </a:ext>
            </a:extLst>
          </p:cNvPr>
          <p:cNvGraphicFramePr/>
          <p:nvPr>
            <p:extLst>
              <p:ext uri="{D42A27DB-BD31-4B8C-83A1-F6EECF244321}">
                <p14:modId xmlns:p14="http://schemas.microsoft.com/office/powerpoint/2010/main" val="2107023927"/>
              </p:ext>
            </p:extLst>
          </p:nvPr>
        </p:nvGraphicFramePr>
        <p:xfrm>
          <a:off x="-295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Picture 7" descr="A screenshot of a computer&#10;&#10;AI-generated content may be incorrect.">
            <a:extLst>
              <a:ext uri="{FF2B5EF4-FFF2-40B4-BE49-F238E27FC236}">
                <a16:creationId xmlns:a16="http://schemas.microsoft.com/office/drawing/2014/main" id="{7E4BE7D0-DA5A-1654-544B-6E067B52522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200" y="1335841"/>
            <a:ext cx="8915400" cy="4531559"/>
          </a:xfrm>
          <a:prstGeom prst="rect">
            <a:avLst/>
          </a:prstGeom>
        </p:spPr>
      </p:pic>
      <p:sp>
        <p:nvSpPr>
          <p:cNvPr id="2" name="object 2">
            <a:extLst>
              <a:ext uri="{FF2B5EF4-FFF2-40B4-BE49-F238E27FC236}">
                <a16:creationId xmlns:a16="http://schemas.microsoft.com/office/drawing/2014/main" id="{C38E03BE-9683-8512-5DCE-42F01AF58437}"/>
              </a:ext>
            </a:extLst>
          </p:cNvPr>
          <p:cNvSpPr txBox="1">
            <a:spLocks/>
          </p:cNvSpPr>
          <p:nvPr/>
        </p:nvSpPr>
        <p:spPr>
          <a:xfrm>
            <a:off x="0" y="1028064"/>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2"/>
                </a:solidFill>
              </a:rPr>
              <a:t>Value  &amp; Reference Types</a:t>
            </a:r>
          </a:p>
        </p:txBody>
      </p:sp>
    </p:spTree>
    <p:extLst>
      <p:ext uri="{BB962C8B-B14F-4D97-AF65-F5344CB8AC3E}">
        <p14:creationId xmlns:p14="http://schemas.microsoft.com/office/powerpoint/2010/main" val="3584200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5238B-1A66-0456-0283-E3A14AF76BC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52840B2-0214-E463-0928-7FFDB96F06BD}"/>
              </a:ext>
            </a:extLst>
          </p:cNvPr>
          <p:cNvSpPr/>
          <p:nvPr/>
        </p:nvSpPr>
        <p:spPr>
          <a:xfrm>
            <a:off x="1619433" y="924424"/>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5A75166-6A70-74A6-EB6E-71CA99839530}"/>
              </a:ext>
            </a:extLst>
          </p:cNvPr>
          <p:cNvSpPr/>
          <p:nvPr/>
        </p:nvSpPr>
        <p:spPr>
          <a:xfrm>
            <a:off x="1600199" y="754305"/>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69852CA-E000-6FF6-D07D-1F69038DF605}"/>
              </a:ext>
            </a:extLst>
          </p:cNvPr>
          <p:cNvGraphicFramePr/>
          <p:nvPr>
            <p:extLst>
              <p:ext uri="{D42A27DB-BD31-4B8C-83A1-F6EECF244321}">
                <p14:modId xmlns:p14="http://schemas.microsoft.com/office/powerpoint/2010/main" val="306038651"/>
              </p:ext>
            </p:extLst>
          </p:nvPr>
        </p:nvGraphicFramePr>
        <p:xfrm>
          <a:off x="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6" descr="A screenshot of a computer&#10;&#10;AI-generated content may be incorrect.">
            <a:extLst>
              <a:ext uri="{FF2B5EF4-FFF2-40B4-BE49-F238E27FC236}">
                <a16:creationId xmlns:a16="http://schemas.microsoft.com/office/drawing/2014/main" id="{234686B1-3D20-F408-4737-281DB1BEB23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200" y="1388285"/>
            <a:ext cx="8915400" cy="4479115"/>
          </a:xfrm>
          <a:prstGeom prst="rect">
            <a:avLst/>
          </a:prstGeom>
        </p:spPr>
      </p:pic>
      <p:sp>
        <p:nvSpPr>
          <p:cNvPr id="2" name="object 2">
            <a:extLst>
              <a:ext uri="{FF2B5EF4-FFF2-40B4-BE49-F238E27FC236}">
                <a16:creationId xmlns:a16="http://schemas.microsoft.com/office/drawing/2014/main" id="{F2342322-F230-4866-5C3A-A628ED682AEA}"/>
              </a:ext>
            </a:extLst>
          </p:cNvPr>
          <p:cNvSpPr txBox="1">
            <a:spLocks/>
          </p:cNvSpPr>
          <p:nvPr/>
        </p:nvSpPr>
        <p:spPr>
          <a:xfrm>
            <a:off x="-19235" y="1059298"/>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2"/>
                </a:solidFill>
              </a:rPr>
              <a:t>Value  &amp; Reference Types</a:t>
            </a:r>
          </a:p>
        </p:txBody>
      </p:sp>
    </p:spTree>
    <p:extLst>
      <p:ext uri="{BB962C8B-B14F-4D97-AF65-F5344CB8AC3E}">
        <p14:creationId xmlns:p14="http://schemas.microsoft.com/office/powerpoint/2010/main" val="10658804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04DE3-349C-BE2F-E8E8-0D45B9EF24C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2F27644-13B5-C7B9-28AD-4E377FCE26E7}"/>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C6680A0-7D1F-A999-554C-ADB39AB8820D}"/>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53C8498-E650-A728-7B7E-373FA84DFC7E}"/>
              </a:ext>
            </a:extLst>
          </p:cNvPr>
          <p:cNvGraphicFramePr/>
          <p:nvPr>
            <p:extLst>
              <p:ext uri="{D42A27DB-BD31-4B8C-83A1-F6EECF244321}">
                <p14:modId xmlns:p14="http://schemas.microsoft.com/office/powerpoint/2010/main" val="1003001341"/>
              </p:ext>
            </p:extLst>
          </p:nvPr>
        </p:nvGraphicFramePr>
        <p:xfrm>
          <a:off x="762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8944C89B-59EC-DD4D-A9F9-A9819B321E94}"/>
              </a:ext>
            </a:extLst>
          </p:cNvPr>
          <p:cNvSpPr txBox="1">
            <a:spLocks/>
          </p:cNvSpPr>
          <p:nvPr/>
        </p:nvSpPr>
        <p:spPr>
          <a:xfrm>
            <a:off x="275300" y="1165622"/>
            <a:ext cx="8624937" cy="46782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Value  &amp; Reference Types</a:t>
            </a:r>
          </a:p>
          <a:p>
            <a:pPr marL="12700" marR="5080"/>
            <a:r>
              <a:rPr lang="en-US" sz="2000" kern="0" spc="-220" dirty="0">
                <a:solidFill>
                  <a:schemeClr val="accent2"/>
                </a:solidFill>
              </a:rPr>
              <a:t>⭐ Quick Summary</a:t>
            </a:r>
          </a:p>
          <a:p>
            <a:pPr marL="12700" marR="5080"/>
            <a:r>
              <a:rPr lang="en-US" sz="2000" kern="0" spc="-220" dirty="0">
                <a:solidFill>
                  <a:schemeClr val="accent2"/>
                </a:solidFill>
              </a:rPr>
              <a:t>Value Types</a:t>
            </a:r>
          </a:p>
          <a:p>
            <a:pPr marL="12700" marR="5080"/>
            <a:r>
              <a:rPr lang="en-US" sz="2000" kern="0" spc="-220" dirty="0">
                <a:solidFill>
                  <a:schemeClr val="accent6"/>
                </a:solidFill>
              </a:rPr>
              <a:t>Hold data directly</a:t>
            </a:r>
          </a:p>
          <a:p>
            <a:pPr marL="12700" marR="5080"/>
            <a:r>
              <a:rPr lang="en-US" sz="2000" kern="0" spc="-220" dirty="0">
                <a:solidFill>
                  <a:schemeClr val="accent6"/>
                </a:solidFill>
              </a:rPr>
              <a:t>Copied by value</a:t>
            </a:r>
          </a:p>
          <a:p>
            <a:pPr marL="12700" marR="5080"/>
            <a:r>
              <a:rPr lang="en-US" sz="2000" kern="0" spc="-220" dirty="0">
                <a:solidFill>
                  <a:schemeClr val="accent6"/>
                </a:solidFill>
              </a:rPr>
              <a:t>Fast</a:t>
            </a:r>
          </a:p>
          <a:p>
            <a:pPr marL="12700" marR="5080"/>
            <a:r>
              <a:rPr lang="en-US" sz="2000" kern="0" spc="-220" dirty="0">
                <a:solidFill>
                  <a:schemeClr val="accent6"/>
                </a:solidFill>
              </a:rPr>
              <a:t>No inheritance</a:t>
            </a:r>
          </a:p>
          <a:p>
            <a:pPr marL="12700" marR="5080"/>
            <a:r>
              <a:rPr lang="en-US" sz="2000" kern="0" spc="-220" dirty="0">
                <a:solidFill>
                  <a:schemeClr val="accent6"/>
                </a:solidFill>
              </a:rPr>
              <a:t>Stored in stack</a:t>
            </a:r>
          </a:p>
          <a:p>
            <a:pPr marL="12700" marR="5080"/>
            <a:r>
              <a:rPr lang="en-US" sz="2000" kern="0" spc="-220" dirty="0">
                <a:solidFill>
                  <a:schemeClr val="accent2"/>
                </a:solidFill>
              </a:rPr>
              <a:t>Reference Types</a:t>
            </a:r>
          </a:p>
          <a:p>
            <a:pPr marL="12700" marR="5080"/>
            <a:r>
              <a:rPr lang="en-US" sz="2000" kern="0" spc="-220" dirty="0">
                <a:solidFill>
                  <a:schemeClr val="accent6"/>
                </a:solidFill>
              </a:rPr>
              <a:t>Hold address of data</a:t>
            </a:r>
          </a:p>
          <a:p>
            <a:pPr marL="12700" marR="5080"/>
            <a:r>
              <a:rPr lang="en-US" sz="2000" kern="0" spc="-220" dirty="0">
                <a:solidFill>
                  <a:schemeClr val="accent6"/>
                </a:solidFill>
              </a:rPr>
              <a:t>Copied by reference</a:t>
            </a:r>
          </a:p>
          <a:p>
            <a:pPr marL="12700" marR="5080"/>
            <a:r>
              <a:rPr lang="en-US" sz="2000" kern="0" spc="-220" dirty="0">
                <a:solidFill>
                  <a:schemeClr val="accent6"/>
                </a:solidFill>
              </a:rPr>
              <a:t>Garbage collected</a:t>
            </a:r>
          </a:p>
          <a:p>
            <a:pPr marL="12700" marR="5080"/>
            <a:r>
              <a:rPr lang="en-US" sz="2000" kern="0" spc="-220" dirty="0">
                <a:solidFill>
                  <a:schemeClr val="accent6"/>
                </a:solidFill>
              </a:rPr>
              <a:t>Support inheritance</a:t>
            </a:r>
          </a:p>
          <a:p>
            <a:pPr marL="12700" marR="5080"/>
            <a:r>
              <a:rPr lang="en-US" sz="2000" kern="0" spc="-220" dirty="0">
                <a:solidFill>
                  <a:schemeClr val="accent6"/>
                </a:solidFill>
              </a:rPr>
              <a:t>Stored in heap.     </a:t>
            </a:r>
          </a:p>
          <a:p>
            <a:pPr marL="12700" marR="5080"/>
            <a:endParaRPr lang="en-US" sz="2000" kern="0" spc="-220" dirty="0">
              <a:solidFill>
                <a:schemeClr val="accent2"/>
              </a:solidFill>
            </a:endParaRPr>
          </a:p>
        </p:txBody>
      </p:sp>
    </p:spTree>
    <p:extLst>
      <p:ext uri="{BB962C8B-B14F-4D97-AF65-F5344CB8AC3E}">
        <p14:creationId xmlns:p14="http://schemas.microsoft.com/office/powerpoint/2010/main" val="22863462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2B81D-141F-858F-96C7-517650F7695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8EBC498-48F0-F3A9-764D-B0C1FFEF597F}"/>
              </a:ext>
            </a:extLst>
          </p:cNvPr>
          <p:cNvSpPr/>
          <p:nvPr/>
        </p:nvSpPr>
        <p:spPr>
          <a:xfrm>
            <a:off x="1619433" y="924424"/>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1042F59-2CDE-25C2-E99F-6F53EADBEA02}"/>
              </a:ext>
            </a:extLst>
          </p:cNvPr>
          <p:cNvSpPr/>
          <p:nvPr/>
        </p:nvSpPr>
        <p:spPr>
          <a:xfrm>
            <a:off x="1600199" y="754305"/>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A34592D-F98E-4F54-9A82-A0BF9BC1F42E}"/>
              </a:ext>
            </a:extLst>
          </p:cNvPr>
          <p:cNvGraphicFramePr/>
          <p:nvPr>
            <p:extLst>
              <p:ext uri="{D42A27DB-BD31-4B8C-83A1-F6EECF244321}">
                <p14:modId xmlns:p14="http://schemas.microsoft.com/office/powerpoint/2010/main" val="535990847"/>
              </p:ext>
            </p:extLst>
          </p:nvPr>
        </p:nvGraphicFramePr>
        <p:xfrm>
          <a:off x="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3CDFD29F-87D0-D68C-1F98-91DE3C8A6EA3}"/>
              </a:ext>
            </a:extLst>
          </p:cNvPr>
          <p:cNvSpPr txBox="1">
            <a:spLocks/>
          </p:cNvSpPr>
          <p:nvPr/>
        </p:nvSpPr>
        <p:spPr>
          <a:xfrm>
            <a:off x="-19235" y="1059298"/>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2"/>
                </a:solidFill>
              </a:rPr>
              <a:t>Struct &amp; Class</a:t>
            </a:r>
          </a:p>
        </p:txBody>
      </p:sp>
      <p:pic>
        <p:nvPicPr>
          <p:cNvPr id="8" name="Picture 7">
            <a:extLst>
              <a:ext uri="{FF2B5EF4-FFF2-40B4-BE49-F238E27FC236}">
                <a16:creationId xmlns:a16="http://schemas.microsoft.com/office/drawing/2014/main" id="{B26646FF-EFC7-85D7-D6A8-55616A92FC8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1388285"/>
            <a:ext cx="8915400" cy="3259915"/>
          </a:xfrm>
          <a:prstGeom prst="rect">
            <a:avLst/>
          </a:prstGeom>
        </p:spPr>
      </p:pic>
      <p:pic>
        <p:nvPicPr>
          <p:cNvPr id="10" name="Picture 9">
            <a:extLst>
              <a:ext uri="{FF2B5EF4-FFF2-40B4-BE49-F238E27FC236}">
                <a16:creationId xmlns:a16="http://schemas.microsoft.com/office/drawing/2014/main" id="{5CC918C4-F6AB-567F-EC6A-941B0304763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6200" y="4724400"/>
            <a:ext cx="8839200" cy="1219200"/>
          </a:xfrm>
          <a:prstGeom prst="rect">
            <a:avLst/>
          </a:prstGeom>
        </p:spPr>
      </p:pic>
    </p:spTree>
    <p:extLst>
      <p:ext uri="{BB962C8B-B14F-4D97-AF65-F5344CB8AC3E}">
        <p14:creationId xmlns:p14="http://schemas.microsoft.com/office/powerpoint/2010/main" val="13302759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8CA92-BB5D-4420-D90C-8572C4160A3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16FC9EB-0919-6300-CBE2-411D0840C2FE}"/>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67446D7-6615-93BF-0B23-9B20D5DD1BB4}"/>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0936753-998B-8717-1184-431CF4DEE5B4}"/>
              </a:ext>
            </a:extLst>
          </p:cNvPr>
          <p:cNvGraphicFramePr/>
          <p:nvPr>
            <p:extLst>
              <p:ext uri="{D42A27DB-BD31-4B8C-83A1-F6EECF244321}">
                <p14:modId xmlns:p14="http://schemas.microsoft.com/office/powerpoint/2010/main" val="137417456"/>
              </p:ext>
            </p:extLst>
          </p:nvPr>
        </p:nvGraphicFramePr>
        <p:xfrm>
          <a:off x="762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22CF157-2341-C153-9D43-9DE622EBFEC0}"/>
              </a:ext>
            </a:extLst>
          </p:cNvPr>
          <p:cNvSpPr txBox="1">
            <a:spLocks/>
          </p:cNvSpPr>
          <p:nvPr/>
        </p:nvSpPr>
        <p:spPr>
          <a:xfrm>
            <a:off x="169134" y="1143000"/>
            <a:ext cx="8624937" cy="289310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Struct &amp; Class</a:t>
            </a:r>
          </a:p>
          <a:p>
            <a:pPr marL="12700" marR="5080"/>
            <a:r>
              <a:rPr lang="en-US" sz="1400" kern="0" spc="-220" dirty="0">
                <a:solidFill>
                  <a:schemeClr val="accent2"/>
                </a:solidFill>
              </a:rPr>
              <a:t>Key Differences Breakdown</a:t>
            </a:r>
          </a:p>
          <a:p>
            <a:pPr marL="12700" marR="5080"/>
            <a:r>
              <a:rPr lang="en-US" sz="1500" kern="0" spc="-220" dirty="0">
                <a:solidFill>
                  <a:schemeClr val="accent2"/>
                </a:solidFill>
              </a:rPr>
              <a:t>Memory Management: </a:t>
            </a:r>
            <a:r>
              <a:rPr lang="en-US" sz="1500" kern="0" spc="-220" dirty="0">
                <a:solidFill>
                  <a:schemeClr val="accent6"/>
                </a:solidFill>
              </a:rPr>
              <a:t>Structs are stored on the stack and immediately freed when they go out of scope, avoiding GC overhead. Classes are allocated on the heap, requiring garbage collection.</a:t>
            </a:r>
          </a:p>
          <a:p>
            <a:pPr marL="12700" marR="5080"/>
            <a:r>
              <a:rPr lang="en-US" sz="1500" kern="0" spc="-220" dirty="0">
                <a:solidFill>
                  <a:schemeClr val="accent2"/>
                </a:solidFill>
              </a:rPr>
              <a:t>Assignment/Passing: </a:t>
            </a:r>
            <a:r>
              <a:rPr lang="en-US" sz="1500" kern="0" spc="-220" dirty="0">
                <a:solidFill>
                  <a:schemeClr val="accent6"/>
                </a:solidFill>
              </a:rPr>
              <a:t>When a struct is passed to a method, a full copy is made, which is fast for small structures but inefficient for large ones. When a class is passed, only the reference (pointer) is copied.</a:t>
            </a:r>
          </a:p>
          <a:p>
            <a:pPr marL="12700" marR="5080"/>
            <a:r>
              <a:rPr lang="en-US" sz="1500" kern="0" spc="-220" dirty="0">
                <a:solidFill>
                  <a:schemeClr val="accent2"/>
                </a:solidFill>
              </a:rPr>
              <a:t>Inheritance: </a:t>
            </a:r>
            <a:r>
              <a:rPr lang="en-US" sz="1500" kern="0" spc="-220" dirty="0">
                <a:solidFill>
                  <a:schemeClr val="accent6"/>
                </a:solidFill>
              </a:rPr>
              <a:t>Structs cannot inherit from other structs or classes, nor can they be used as a base class. Classes are fully supported by Object-Oriented Programming principles, allowing inheritance.</a:t>
            </a:r>
          </a:p>
          <a:p>
            <a:pPr marL="12700" marR="5080"/>
            <a:r>
              <a:rPr lang="en-US" sz="1500" kern="0" spc="-220" dirty="0">
                <a:solidFill>
                  <a:schemeClr val="accent2"/>
                </a:solidFill>
              </a:rPr>
              <a:t>Nullability: </a:t>
            </a:r>
            <a:r>
              <a:rPr lang="en-US" sz="1500" kern="0" spc="-220" dirty="0">
                <a:solidFill>
                  <a:schemeClr val="accent6"/>
                </a:solidFill>
              </a:rPr>
              <a:t>Structs cannot be null unless explicitly defined as Nullable&lt;T&gt;.</a:t>
            </a:r>
          </a:p>
          <a:p>
            <a:pPr marL="12700" marR="5080"/>
            <a:r>
              <a:rPr lang="en-US" sz="1500" kern="0" spc="-220" dirty="0">
                <a:solidFill>
                  <a:schemeClr val="accent2"/>
                </a:solidFill>
              </a:rPr>
              <a:t>Best Practices: </a:t>
            </a:r>
            <a:r>
              <a:rPr lang="en-US" sz="1500" kern="0" spc="-220" dirty="0">
                <a:solidFill>
                  <a:schemeClr val="accent6"/>
                </a:solidFill>
              </a:rPr>
              <a:t>Use structs for simple data structures like points, colors, or pairs of values that are lightweight. Use classes for complex, entity-based objects in a domain model. For HTLL systems wherever possible use structs rather than classes.</a:t>
            </a:r>
          </a:p>
        </p:txBody>
      </p:sp>
      <p:pic>
        <p:nvPicPr>
          <p:cNvPr id="7" name="Picture 6">
            <a:extLst>
              <a:ext uri="{FF2B5EF4-FFF2-40B4-BE49-F238E27FC236}">
                <a16:creationId xmlns:a16="http://schemas.microsoft.com/office/drawing/2014/main" id="{70893558-B40D-7EDE-3ECB-F7A02C44984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2400" y="4036100"/>
            <a:ext cx="8991600" cy="1907500"/>
          </a:xfrm>
          <a:prstGeom prst="rect">
            <a:avLst/>
          </a:prstGeom>
        </p:spPr>
      </p:pic>
    </p:spTree>
    <p:extLst>
      <p:ext uri="{BB962C8B-B14F-4D97-AF65-F5344CB8AC3E}">
        <p14:creationId xmlns:p14="http://schemas.microsoft.com/office/powerpoint/2010/main" val="7087488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05162-AEAF-1F14-9185-5AB02C55094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DD8C59B-9C3F-68DB-2B02-70C2A63BFF71}"/>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8852A81-6E29-C65D-8D40-9BE774FCF888}"/>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0062C73-2DFD-4CFD-A5C5-757F78F1606D}"/>
              </a:ext>
            </a:extLst>
          </p:cNvPr>
          <p:cNvGraphicFramePr/>
          <p:nvPr>
            <p:extLst>
              <p:ext uri="{D42A27DB-BD31-4B8C-83A1-F6EECF244321}">
                <p14:modId xmlns:p14="http://schemas.microsoft.com/office/powerpoint/2010/main" val="2065537027"/>
              </p:ext>
            </p:extLst>
          </p:nvPr>
        </p:nvGraphicFramePr>
        <p:xfrm>
          <a:off x="762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9065797-0880-93C2-A011-D81AD244D830}"/>
              </a:ext>
            </a:extLst>
          </p:cNvPr>
          <p:cNvSpPr txBox="1">
            <a:spLocks/>
          </p:cNvSpPr>
          <p:nvPr/>
        </p:nvSpPr>
        <p:spPr>
          <a:xfrm>
            <a:off x="275300" y="1165622"/>
            <a:ext cx="8624937" cy="475514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2"/>
                </a:solidFill>
              </a:rPr>
              <a:t>Multidimensional &amp; Jagged Array</a:t>
            </a:r>
          </a:p>
          <a:p>
            <a:pPr marL="12700" marR="5080"/>
            <a:r>
              <a:rPr lang="en-US" sz="1500" kern="0" spc="-220" dirty="0">
                <a:solidFill>
                  <a:schemeClr val="accent2"/>
                </a:solidFill>
              </a:rPr>
              <a:t>1️⃣ Multidimensional Array (Rectangular Array)</a:t>
            </a:r>
          </a:p>
          <a:p>
            <a:pPr marL="12700" marR="5080"/>
            <a:r>
              <a:rPr lang="en-US" sz="1500" kern="0" spc="-220" dirty="0">
                <a:solidFill>
                  <a:schemeClr val="accent2"/>
                </a:solidFill>
              </a:rPr>
              <a:t>✅ Best suited when</a:t>
            </a:r>
          </a:p>
          <a:p>
            <a:pPr marL="12700" marR="5080"/>
            <a:r>
              <a:rPr lang="en-US" sz="1500" kern="0" spc="-220" dirty="0">
                <a:solidFill>
                  <a:schemeClr val="accent6"/>
                </a:solidFill>
              </a:rPr>
              <a:t>Data is strictly rectangular</a:t>
            </a:r>
          </a:p>
          <a:p>
            <a:pPr marL="12700" marR="5080"/>
            <a:r>
              <a:rPr lang="en-US" sz="1500" kern="0" spc="-220" dirty="0">
                <a:solidFill>
                  <a:schemeClr val="accent6"/>
                </a:solidFill>
              </a:rPr>
              <a:t>Every row has exactly the same number of columns</a:t>
            </a:r>
          </a:p>
          <a:p>
            <a:pPr marL="12700" marR="5080"/>
            <a:r>
              <a:rPr lang="en-US" sz="1500" kern="0" spc="-220" dirty="0">
                <a:solidFill>
                  <a:schemeClr val="accent6"/>
                </a:solidFill>
              </a:rPr>
              <a:t>Memory layout should be contiguous</a:t>
            </a:r>
          </a:p>
          <a:p>
            <a:pPr marL="12700" marR="5080"/>
            <a:r>
              <a:rPr lang="en-US" sz="1500" kern="0" spc="-220" dirty="0">
                <a:solidFill>
                  <a:schemeClr val="accent6"/>
                </a:solidFill>
              </a:rPr>
              <a:t>Indexing logic is fixed and predictable</a:t>
            </a:r>
          </a:p>
          <a:p>
            <a:pPr marL="12700" marR="5080"/>
            <a:r>
              <a:rPr lang="en-US" sz="1500" kern="0" spc="-220" dirty="0">
                <a:solidFill>
                  <a:schemeClr val="accent2"/>
                </a:solidFill>
              </a:rPr>
              <a:t>❌ Avoid when</a:t>
            </a:r>
          </a:p>
          <a:p>
            <a:pPr marL="12700" marR="5080"/>
            <a:r>
              <a:rPr lang="en-US" sz="1500" kern="0" spc="-220" dirty="0">
                <a:solidFill>
                  <a:schemeClr val="accent6"/>
                </a:solidFill>
              </a:rPr>
              <a:t>Row sizes vary</a:t>
            </a:r>
          </a:p>
          <a:p>
            <a:pPr marL="12700" marR="5080"/>
            <a:r>
              <a:rPr lang="en-US" sz="1500" kern="0" spc="-220" dirty="0">
                <a:solidFill>
                  <a:schemeClr val="accent6"/>
                </a:solidFill>
              </a:rPr>
              <a:t>Frequent resizing is needed</a:t>
            </a:r>
          </a:p>
          <a:p>
            <a:pPr marL="12700" marR="5080"/>
            <a:r>
              <a:rPr lang="en-US" sz="1500" kern="0" spc="-220" dirty="0">
                <a:solidFill>
                  <a:schemeClr val="accent2"/>
                </a:solidFill>
              </a:rPr>
              <a:t>📌 Example 1: Image Pixel Matrix </a:t>
            </a:r>
          </a:p>
          <a:p>
            <a:pPr marL="12700" marR="5080"/>
            <a:r>
              <a:rPr lang="en-US" sz="1500" kern="0" spc="-220" dirty="0">
                <a:solidFill>
                  <a:schemeClr val="accent6"/>
                </a:solidFill>
              </a:rPr>
              <a:t>Used in CNN preprocessing, medical imaging, satellite imagery, etc.</a:t>
            </a:r>
          </a:p>
          <a:p>
            <a:pPr marL="12700" marR="5080"/>
            <a:r>
              <a:rPr lang="en-US" sz="1500" kern="0" spc="-220" dirty="0">
                <a:solidFill>
                  <a:schemeClr val="accent6"/>
                </a:solidFill>
              </a:rPr>
              <a:t>public sealed class </a:t>
            </a:r>
            <a:r>
              <a:rPr lang="en-US" sz="1500" kern="0" spc="-220" dirty="0" err="1">
                <a:solidFill>
                  <a:schemeClr val="accent6"/>
                </a:solidFill>
              </a:rPr>
              <a:t>GrayscaleImage</a:t>
            </a:r>
            <a:endParaRPr lang="en-US" sz="1500" kern="0" spc="-220" dirty="0">
              <a:solidFill>
                <a:schemeClr val="accent6"/>
              </a:solidFill>
            </a:endParaRPr>
          </a:p>
          <a:p>
            <a:pPr marL="12700" marR="5080"/>
            <a:r>
              <a:rPr lang="en-US" sz="1500" kern="0" spc="-220" dirty="0">
                <a:solidFill>
                  <a:schemeClr val="accent6"/>
                </a:solidFill>
              </a:rPr>
              <a:t>{</a:t>
            </a:r>
          </a:p>
          <a:p>
            <a:pPr marL="12700" marR="5080"/>
            <a:r>
              <a:rPr lang="en-US" sz="1500" kern="0" spc="-220" dirty="0">
                <a:solidFill>
                  <a:schemeClr val="accent6"/>
                </a:solidFill>
              </a:rPr>
              <a:t>    private </a:t>
            </a:r>
            <a:r>
              <a:rPr lang="en-US" sz="1500" kern="0" spc="-220" dirty="0" err="1">
                <a:solidFill>
                  <a:schemeClr val="accent6"/>
                </a:solidFill>
              </a:rPr>
              <a:t>readonly</a:t>
            </a:r>
            <a:r>
              <a:rPr lang="en-US" sz="1500" kern="0" spc="-220" dirty="0">
                <a:solidFill>
                  <a:schemeClr val="accent6"/>
                </a:solidFill>
              </a:rPr>
              <a:t> byte[,] _pixels;</a:t>
            </a:r>
          </a:p>
          <a:p>
            <a:pPr marL="12700" marR="5080"/>
            <a:r>
              <a:rPr lang="en-US" sz="1500" kern="0" spc="-220" dirty="0">
                <a:solidFill>
                  <a:schemeClr val="accent6"/>
                </a:solidFill>
              </a:rPr>
              <a:t>    public int Width { get; }</a:t>
            </a:r>
          </a:p>
          <a:p>
            <a:pPr marL="12700" marR="5080"/>
            <a:r>
              <a:rPr lang="en-US" sz="1500" kern="0" spc="-220" dirty="0">
                <a:solidFill>
                  <a:schemeClr val="accent6"/>
                </a:solidFill>
              </a:rPr>
              <a:t>    public int Height { get; }</a:t>
            </a:r>
          </a:p>
          <a:p>
            <a:pPr marL="12700" marR="5080"/>
            <a:r>
              <a:rPr lang="en-US" sz="1500" kern="0" spc="-220" dirty="0">
                <a:solidFill>
                  <a:schemeClr val="accent6"/>
                </a:solidFill>
              </a:rPr>
              <a:t>    public </a:t>
            </a:r>
            <a:r>
              <a:rPr lang="en-US" sz="1500" kern="0" spc="-220" dirty="0" err="1">
                <a:solidFill>
                  <a:schemeClr val="accent6"/>
                </a:solidFill>
              </a:rPr>
              <a:t>GrayscaleImage</a:t>
            </a:r>
            <a:r>
              <a:rPr lang="en-US" sz="1500" kern="0" spc="-220" dirty="0">
                <a:solidFill>
                  <a:schemeClr val="accent6"/>
                </a:solidFill>
              </a:rPr>
              <a:t>(int width, int height)</a:t>
            </a:r>
          </a:p>
          <a:p>
            <a:pPr marL="12700" marR="5080"/>
            <a:r>
              <a:rPr lang="en-US" sz="1500" kern="0" spc="-220" dirty="0">
                <a:solidFill>
                  <a:schemeClr val="accent6"/>
                </a:solidFill>
              </a:rPr>
              <a:t>    {</a:t>
            </a:r>
          </a:p>
          <a:p>
            <a:pPr marL="12700" marR="5080"/>
            <a:r>
              <a:rPr lang="en-US" sz="1500" kern="0" spc="-220" dirty="0">
                <a:solidFill>
                  <a:schemeClr val="accent6"/>
                </a:solidFill>
              </a:rPr>
              <a:t>        if (width &lt;= 0 || height &lt;= 0)</a:t>
            </a:r>
          </a:p>
        </p:txBody>
      </p:sp>
    </p:spTree>
    <p:extLst>
      <p:ext uri="{BB962C8B-B14F-4D97-AF65-F5344CB8AC3E}">
        <p14:creationId xmlns:p14="http://schemas.microsoft.com/office/powerpoint/2010/main" val="27620796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E0DC7-7502-C8C4-F701-FBB455FBCF4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00AADCD-BB38-6908-F440-A3B112C32139}"/>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DD36672-3797-B2AB-B725-4DFEA35147A8}"/>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7409C86-C00C-A084-3EFD-0B044F2117E4}"/>
              </a:ext>
            </a:extLst>
          </p:cNvPr>
          <p:cNvGraphicFramePr/>
          <p:nvPr>
            <p:extLst>
              <p:ext uri="{D42A27DB-BD31-4B8C-83A1-F6EECF244321}">
                <p14:modId xmlns:p14="http://schemas.microsoft.com/office/powerpoint/2010/main" val="2267236787"/>
              </p:ext>
            </p:extLst>
          </p:nvPr>
        </p:nvGraphicFramePr>
        <p:xfrm>
          <a:off x="762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26C80394-D2E1-1EC0-C86A-0953DDA1F4D7}"/>
              </a:ext>
            </a:extLst>
          </p:cNvPr>
          <p:cNvSpPr txBox="1">
            <a:spLocks/>
          </p:cNvSpPr>
          <p:nvPr/>
        </p:nvSpPr>
        <p:spPr>
          <a:xfrm>
            <a:off x="275300" y="1165622"/>
            <a:ext cx="8624937" cy="475514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2"/>
                </a:solidFill>
              </a:rPr>
              <a:t>Multidimensional &amp; Jagged Array</a:t>
            </a:r>
          </a:p>
          <a:p>
            <a:pPr marL="12700" marR="5080"/>
            <a:r>
              <a:rPr lang="en-US" sz="1500" kern="0" spc="-220" dirty="0">
                <a:solidFill>
                  <a:schemeClr val="accent2"/>
                </a:solidFill>
              </a:rPr>
              <a:t>1️⃣ Multidimensional Array (Rectangular Array)</a:t>
            </a:r>
          </a:p>
          <a:p>
            <a:pPr marL="12700" marR="5080"/>
            <a:r>
              <a:rPr lang="en-US" sz="1500" kern="0" spc="-220" dirty="0">
                <a:solidFill>
                  <a:schemeClr val="accent2"/>
                </a:solidFill>
              </a:rPr>
              <a:t>📌 Example 1: Image Pixel Matrix</a:t>
            </a:r>
          </a:p>
          <a:p>
            <a:pPr marL="12700" marR="5080"/>
            <a:r>
              <a:rPr lang="en-US" sz="1500" kern="0" spc="-220" dirty="0">
                <a:solidFill>
                  <a:schemeClr val="accent6"/>
                </a:solidFill>
              </a:rPr>
              <a:t>public sealed class </a:t>
            </a:r>
            <a:r>
              <a:rPr lang="en-US" sz="1500" kern="0" spc="-220" dirty="0" err="1">
                <a:solidFill>
                  <a:schemeClr val="accent6"/>
                </a:solidFill>
              </a:rPr>
              <a:t>GrayscaleImage</a:t>
            </a:r>
            <a:endParaRPr lang="en-US" sz="1500" kern="0" spc="-220" dirty="0">
              <a:solidFill>
                <a:schemeClr val="accent6"/>
              </a:solidFill>
            </a:endParaRPr>
          </a:p>
          <a:p>
            <a:pPr marL="12700" marR="5080"/>
            <a:r>
              <a:rPr lang="en-US" sz="1500" kern="0" spc="-220" dirty="0">
                <a:solidFill>
                  <a:schemeClr val="accent6"/>
                </a:solidFill>
              </a:rPr>
              <a:t>{</a:t>
            </a:r>
          </a:p>
          <a:p>
            <a:pPr marL="12700" marR="5080"/>
            <a:r>
              <a:rPr lang="en-US" sz="1500" kern="0" spc="-220" dirty="0">
                <a:solidFill>
                  <a:schemeClr val="accent6"/>
                </a:solidFill>
              </a:rPr>
              <a:t>        // earlier code in earlier slide</a:t>
            </a:r>
          </a:p>
          <a:p>
            <a:pPr marL="12700" marR="5080"/>
            <a:r>
              <a:rPr lang="en-US" sz="1500" kern="0" spc="-220" dirty="0">
                <a:solidFill>
                  <a:schemeClr val="accent6"/>
                </a:solidFill>
              </a:rPr>
              <a:t>        throw new </a:t>
            </a:r>
            <a:r>
              <a:rPr lang="en-US" sz="1500" kern="0" spc="-220" dirty="0" err="1">
                <a:solidFill>
                  <a:schemeClr val="accent6"/>
                </a:solidFill>
              </a:rPr>
              <a:t>ArgumentException</a:t>
            </a:r>
            <a:r>
              <a:rPr lang="en-US" sz="1500" kern="0" spc="-220" dirty="0">
                <a:solidFill>
                  <a:schemeClr val="accent6"/>
                </a:solidFill>
              </a:rPr>
              <a:t>("Invalid image dimensions.");</a:t>
            </a:r>
          </a:p>
          <a:p>
            <a:pPr marL="12700" marR="5080"/>
            <a:r>
              <a:rPr lang="en-US" sz="1500" kern="0" spc="-220" dirty="0">
                <a:solidFill>
                  <a:schemeClr val="accent6"/>
                </a:solidFill>
              </a:rPr>
              <a:t>        Width = width;</a:t>
            </a:r>
          </a:p>
          <a:p>
            <a:pPr marL="12700" marR="5080"/>
            <a:r>
              <a:rPr lang="en-US" sz="1500" kern="0" spc="-220" dirty="0">
                <a:solidFill>
                  <a:schemeClr val="accent6"/>
                </a:solidFill>
              </a:rPr>
              <a:t>        Height = height;</a:t>
            </a:r>
          </a:p>
          <a:p>
            <a:pPr marL="12700" marR="5080"/>
            <a:r>
              <a:rPr lang="en-US" sz="1500" kern="0" spc="-220" dirty="0">
                <a:solidFill>
                  <a:schemeClr val="accent6"/>
                </a:solidFill>
              </a:rPr>
              <a:t>        _pixels = new byte[height, width]; // row-major</a:t>
            </a:r>
          </a:p>
          <a:p>
            <a:pPr marL="12700" marR="5080"/>
            <a:r>
              <a:rPr lang="en-US" sz="1500" kern="0" spc="-220" dirty="0">
                <a:solidFill>
                  <a:schemeClr val="accent6"/>
                </a:solidFill>
              </a:rPr>
              <a:t>    }</a:t>
            </a:r>
          </a:p>
          <a:p>
            <a:pPr marL="12700" marR="5080"/>
            <a:r>
              <a:rPr lang="en-US" sz="1500" kern="0" spc="-220" dirty="0">
                <a:solidFill>
                  <a:schemeClr val="accent6"/>
                </a:solidFill>
              </a:rPr>
              <a:t>    public byte </a:t>
            </a:r>
            <a:r>
              <a:rPr lang="en-US" sz="1500" kern="0" spc="-220" dirty="0" err="1">
                <a:solidFill>
                  <a:schemeClr val="accent6"/>
                </a:solidFill>
              </a:rPr>
              <a:t>GetPixel</a:t>
            </a:r>
            <a:r>
              <a:rPr lang="en-US" sz="1500" kern="0" spc="-220" dirty="0">
                <a:solidFill>
                  <a:schemeClr val="accent6"/>
                </a:solidFill>
              </a:rPr>
              <a:t>(int row, int col)</a:t>
            </a:r>
          </a:p>
          <a:p>
            <a:pPr marL="12700" marR="5080"/>
            <a:r>
              <a:rPr lang="en-US" sz="1500" kern="0" spc="-220" dirty="0">
                <a:solidFill>
                  <a:schemeClr val="accent6"/>
                </a:solidFill>
              </a:rPr>
              <a:t>    {</a:t>
            </a:r>
          </a:p>
          <a:p>
            <a:pPr marL="12700" marR="5080"/>
            <a:r>
              <a:rPr lang="en-US" sz="1500" kern="0" spc="-220" dirty="0">
                <a:solidFill>
                  <a:schemeClr val="accent6"/>
                </a:solidFill>
              </a:rPr>
              <a:t>        </a:t>
            </a:r>
            <a:r>
              <a:rPr lang="en-US" sz="1500" kern="0" spc="-220" dirty="0" err="1">
                <a:solidFill>
                  <a:schemeClr val="accent6"/>
                </a:solidFill>
              </a:rPr>
              <a:t>ValidateIndices</a:t>
            </a:r>
            <a:r>
              <a:rPr lang="en-US" sz="1500" kern="0" spc="-220" dirty="0">
                <a:solidFill>
                  <a:schemeClr val="accent6"/>
                </a:solidFill>
              </a:rPr>
              <a:t>(row, col);</a:t>
            </a:r>
          </a:p>
          <a:p>
            <a:pPr marL="12700" marR="5080"/>
            <a:r>
              <a:rPr lang="en-US" sz="1500" kern="0" spc="-220" dirty="0">
                <a:solidFill>
                  <a:schemeClr val="accent6"/>
                </a:solidFill>
              </a:rPr>
              <a:t>        return _pixels[row, col];</a:t>
            </a:r>
          </a:p>
          <a:p>
            <a:pPr marL="12700" marR="5080"/>
            <a:r>
              <a:rPr lang="en-US" sz="1500" kern="0" spc="-220" dirty="0">
                <a:solidFill>
                  <a:schemeClr val="accent6"/>
                </a:solidFill>
              </a:rPr>
              <a:t>    }</a:t>
            </a:r>
          </a:p>
          <a:p>
            <a:pPr marL="12700" marR="5080"/>
            <a:r>
              <a:rPr lang="en-US" sz="1500" kern="0" spc="-220" dirty="0">
                <a:solidFill>
                  <a:schemeClr val="accent6"/>
                </a:solidFill>
              </a:rPr>
              <a:t>    public void </a:t>
            </a:r>
            <a:r>
              <a:rPr lang="en-US" sz="1500" kern="0" spc="-220" dirty="0" err="1">
                <a:solidFill>
                  <a:schemeClr val="accent6"/>
                </a:solidFill>
              </a:rPr>
              <a:t>SetPixel</a:t>
            </a:r>
            <a:r>
              <a:rPr lang="en-US" sz="1500" kern="0" spc="-220" dirty="0">
                <a:solidFill>
                  <a:schemeClr val="accent6"/>
                </a:solidFill>
              </a:rPr>
              <a:t>(int row, int col, byte value)</a:t>
            </a:r>
          </a:p>
          <a:p>
            <a:pPr marL="12700" marR="5080"/>
            <a:r>
              <a:rPr lang="en-US" sz="1500" kern="0" spc="-220" dirty="0">
                <a:solidFill>
                  <a:schemeClr val="accent6"/>
                </a:solidFill>
              </a:rPr>
              <a:t>    {</a:t>
            </a:r>
          </a:p>
          <a:p>
            <a:pPr marL="12700" marR="5080"/>
            <a:r>
              <a:rPr lang="en-US" sz="1500" kern="0" spc="-220" dirty="0">
                <a:solidFill>
                  <a:schemeClr val="accent6"/>
                </a:solidFill>
              </a:rPr>
              <a:t>        </a:t>
            </a:r>
            <a:r>
              <a:rPr lang="en-US" sz="1500" kern="0" spc="-220" dirty="0" err="1">
                <a:solidFill>
                  <a:schemeClr val="accent6"/>
                </a:solidFill>
              </a:rPr>
              <a:t>ValidateIndices</a:t>
            </a:r>
            <a:r>
              <a:rPr lang="en-US" sz="1500" kern="0" spc="-220" dirty="0">
                <a:solidFill>
                  <a:schemeClr val="accent6"/>
                </a:solidFill>
              </a:rPr>
              <a:t>(row, col);</a:t>
            </a:r>
          </a:p>
          <a:p>
            <a:pPr marL="12700" marR="5080"/>
            <a:r>
              <a:rPr lang="en-US" sz="1500" kern="0" spc="-220" dirty="0">
                <a:solidFill>
                  <a:schemeClr val="accent6"/>
                </a:solidFill>
              </a:rPr>
              <a:t>        _pixels[row, col] = value;    }</a:t>
            </a:r>
          </a:p>
        </p:txBody>
      </p:sp>
    </p:spTree>
    <p:extLst>
      <p:ext uri="{BB962C8B-B14F-4D97-AF65-F5344CB8AC3E}">
        <p14:creationId xmlns:p14="http://schemas.microsoft.com/office/powerpoint/2010/main" val="16242984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EC355-C41C-567F-BAB6-5E1A30D4DA7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B201578-0BCE-A6A1-7955-5516DC141489}"/>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A52695A-748A-1FEB-7C54-AA9D8054AC74}"/>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FFD127C-193F-1609-6E3B-E87E43ECC7B0}"/>
              </a:ext>
            </a:extLst>
          </p:cNvPr>
          <p:cNvGraphicFramePr/>
          <p:nvPr>
            <p:extLst>
              <p:ext uri="{D42A27DB-BD31-4B8C-83A1-F6EECF244321}">
                <p14:modId xmlns:p14="http://schemas.microsoft.com/office/powerpoint/2010/main" val="1345686166"/>
              </p:ext>
            </p:extLst>
          </p:nvPr>
        </p:nvGraphicFramePr>
        <p:xfrm>
          <a:off x="762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B115DF1C-78ED-B428-B083-634A6EC80107}"/>
              </a:ext>
            </a:extLst>
          </p:cNvPr>
          <p:cNvSpPr txBox="1">
            <a:spLocks/>
          </p:cNvSpPr>
          <p:nvPr/>
        </p:nvSpPr>
        <p:spPr>
          <a:xfrm>
            <a:off x="275300" y="1165622"/>
            <a:ext cx="8624937" cy="450892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2"/>
                </a:solidFill>
              </a:rPr>
              <a:t>Multidimensional &amp; Jagged Array</a:t>
            </a:r>
          </a:p>
          <a:p>
            <a:pPr marL="12700" marR="5080"/>
            <a:r>
              <a:rPr lang="en-US" sz="1500" kern="0" spc="-220" dirty="0">
                <a:solidFill>
                  <a:schemeClr val="accent2"/>
                </a:solidFill>
              </a:rPr>
              <a:t>1️⃣ Multidimensional Array (Rectangular Array)</a:t>
            </a:r>
          </a:p>
          <a:p>
            <a:pPr marL="12700" marR="5080"/>
            <a:r>
              <a:rPr lang="en-US" sz="1500" kern="0" spc="-220" dirty="0">
                <a:solidFill>
                  <a:schemeClr val="accent2"/>
                </a:solidFill>
              </a:rPr>
              <a:t>📌 Example 1: Image Pixel Matrix</a:t>
            </a:r>
          </a:p>
          <a:p>
            <a:pPr marL="12700" marR="5080"/>
            <a:r>
              <a:rPr lang="en-US" sz="1500" kern="0" spc="-220" dirty="0">
                <a:solidFill>
                  <a:schemeClr val="accent6"/>
                </a:solidFill>
              </a:rPr>
              <a:t>public sealed class </a:t>
            </a:r>
            <a:r>
              <a:rPr lang="en-US" sz="1500" kern="0" spc="-220" dirty="0" err="1">
                <a:solidFill>
                  <a:schemeClr val="accent6"/>
                </a:solidFill>
              </a:rPr>
              <a:t>GrayscaleImage</a:t>
            </a:r>
            <a:endParaRPr lang="en-US" sz="1500" kern="0" spc="-220" dirty="0">
              <a:solidFill>
                <a:schemeClr val="accent6"/>
              </a:solidFill>
            </a:endParaRPr>
          </a:p>
          <a:p>
            <a:pPr marL="12700" marR="5080"/>
            <a:r>
              <a:rPr lang="en-US" sz="1500" kern="0" spc="-220" dirty="0">
                <a:solidFill>
                  <a:schemeClr val="accent6"/>
                </a:solidFill>
              </a:rPr>
              <a:t>{</a:t>
            </a:r>
          </a:p>
          <a:p>
            <a:pPr marL="12700" marR="5080"/>
            <a:r>
              <a:rPr lang="en-US" sz="1500" kern="0" spc="-220" dirty="0">
                <a:solidFill>
                  <a:schemeClr val="accent6"/>
                </a:solidFill>
              </a:rPr>
              <a:t>     // earlier code in earlier slide</a:t>
            </a:r>
          </a:p>
          <a:p>
            <a:pPr marL="12700" marR="5080"/>
            <a:r>
              <a:rPr lang="en-US" sz="1500" kern="0" spc="-220" dirty="0">
                <a:solidFill>
                  <a:schemeClr val="accent6"/>
                </a:solidFill>
              </a:rPr>
              <a:t>    public double </a:t>
            </a:r>
            <a:r>
              <a:rPr lang="en-US" sz="1500" kern="0" spc="-220" dirty="0" err="1">
                <a:solidFill>
                  <a:schemeClr val="accent6"/>
                </a:solidFill>
              </a:rPr>
              <a:t>ComputeAverageIntensity</a:t>
            </a:r>
            <a:r>
              <a:rPr lang="en-US" sz="1500" kern="0" spc="-220" dirty="0">
                <a:solidFill>
                  <a:schemeClr val="accent6"/>
                </a:solidFill>
              </a:rPr>
              <a:t>()</a:t>
            </a:r>
          </a:p>
          <a:p>
            <a:pPr marL="12700" marR="5080"/>
            <a:r>
              <a:rPr lang="en-US" sz="1500" kern="0" spc="-220" dirty="0">
                <a:solidFill>
                  <a:schemeClr val="accent6"/>
                </a:solidFill>
              </a:rPr>
              <a:t>    {</a:t>
            </a:r>
          </a:p>
          <a:p>
            <a:pPr marL="12700" marR="5080"/>
            <a:r>
              <a:rPr lang="en-US" sz="1500" kern="0" spc="-220" dirty="0">
                <a:solidFill>
                  <a:schemeClr val="accent6"/>
                </a:solidFill>
              </a:rPr>
              <a:t>        long sum = 0;</a:t>
            </a:r>
          </a:p>
          <a:p>
            <a:pPr marL="12700" marR="5080"/>
            <a:r>
              <a:rPr lang="en-US" sz="1500" kern="0" spc="-220" dirty="0">
                <a:solidFill>
                  <a:schemeClr val="accent6"/>
                </a:solidFill>
              </a:rPr>
              <a:t>        for (int </a:t>
            </a:r>
            <a:r>
              <a:rPr lang="en-US" sz="1500" kern="0" spc="-220" dirty="0" err="1">
                <a:solidFill>
                  <a:schemeClr val="accent6"/>
                </a:solidFill>
              </a:rPr>
              <a:t>i</a:t>
            </a:r>
            <a:r>
              <a:rPr lang="en-US" sz="1500" kern="0" spc="-220" dirty="0">
                <a:solidFill>
                  <a:schemeClr val="accent6"/>
                </a:solidFill>
              </a:rPr>
              <a:t> = 0; </a:t>
            </a:r>
            <a:r>
              <a:rPr lang="en-US" sz="1500" kern="0" spc="-220" dirty="0" err="1">
                <a:solidFill>
                  <a:schemeClr val="accent6"/>
                </a:solidFill>
              </a:rPr>
              <a:t>i</a:t>
            </a:r>
            <a:r>
              <a:rPr lang="en-US" sz="1500" kern="0" spc="-220" dirty="0">
                <a:solidFill>
                  <a:schemeClr val="accent6"/>
                </a:solidFill>
              </a:rPr>
              <a:t> &lt; Height; </a:t>
            </a:r>
            <a:r>
              <a:rPr lang="en-US" sz="1500" kern="0" spc="-220" dirty="0" err="1">
                <a:solidFill>
                  <a:schemeClr val="accent6"/>
                </a:solidFill>
              </a:rPr>
              <a:t>i</a:t>
            </a:r>
            <a:r>
              <a:rPr lang="en-US" sz="1500" kern="0" spc="-220" dirty="0">
                <a:solidFill>
                  <a:schemeClr val="accent6"/>
                </a:solidFill>
              </a:rPr>
              <a:t>++)</a:t>
            </a:r>
          </a:p>
          <a:p>
            <a:pPr marL="12700" marR="5080"/>
            <a:r>
              <a:rPr lang="en-US" sz="1500" kern="0" spc="-220" dirty="0">
                <a:solidFill>
                  <a:schemeClr val="accent6"/>
                </a:solidFill>
              </a:rPr>
              <a:t>        {</a:t>
            </a:r>
          </a:p>
          <a:p>
            <a:pPr marL="12700" marR="5080"/>
            <a:r>
              <a:rPr lang="en-US" sz="1500" kern="0" spc="-220" dirty="0">
                <a:solidFill>
                  <a:schemeClr val="accent6"/>
                </a:solidFill>
              </a:rPr>
              <a:t>            for (int j = 0; j &lt; Width; </a:t>
            </a:r>
            <a:r>
              <a:rPr lang="en-US" sz="1500" kern="0" spc="-220" dirty="0" err="1">
                <a:solidFill>
                  <a:schemeClr val="accent6"/>
                </a:solidFill>
              </a:rPr>
              <a:t>j++</a:t>
            </a:r>
            <a:r>
              <a:rPr lang="en-US" sz="1500" kern="0" spc="-220" dirty="0">
                <a:solidFill>
                  <a:schemeClr val="accent6"/>
                </a:solidFill>
              </a:rPr>
              <a:t>)</a:t>
            </a:r>
          </a:p>
          <a:p>
            <a:pPr marL="12700" marR="5080"/>
            <a:r>
              <a:rPr lang="en-US" sz="1500" kern="0" spc="-220" dirty="0">
                <a:solidFill>
                  <a:schemeClr val="accent6"/>
                </a:solidFill>
              </a:rPr>
              <a:t>            {</a:t>
            </a:r>
          </a:p>
          <a:p>
            <a:pPr marL="12700" marR="5080"/>
            <a:r>
              <a:rPr lang="en-US" sz="1500" kern="0" spc="-220" dirty="0">
                <a:solidFill>
                  <a:schemeClr val="accent6"/>
                </a:solidFill>
              </a:rPr>
              <a:t>                sum += _pixels[</a:t>
            </a:r>
            <a:r>
              <a:rPr lang="en-US" sz="1500" kern="0" spc="-220" dirty="0" err="1">
                <a:solidFill>
                  <a:schemeClr val="accent6"/>
                </a:solidFill>
              </a:rPr>
              <a:t>i</a:t>
            </a:r>
            <a:r>
              <a:rPr lang="en-US" sz="1500" kern="0" spc="-220" dirty="0">
                <a:solidFill>
                  <a:schemeClr val="accent6"/>
                </a:solidFill>
              </a:rPr>
              <a:t>, j];</a:t>
            </a:r>
          </a:p>
          <a:p>
            <a:pPr marL="12700" marR="5080"/>
            <a:r>
              <a:rPr lang="en-US" sz="1500" kern="0" spc="-220" dirty="0">
                <a:solidFill>
                  <a:schemeClr val="accent6"/>
                </a:solidFill>
              </a:rPr>
              <a:t>            }</a:t>
            </a:r>
          </a:p>
          <a:p>
            <a:pPr marL="12700" marR="5080"/>
            <a:r>
              <a:rPr lang="en-US" sz="1500" kern="0" spc="-220" dirty="0">
                <a:solidFill>
                  <a:schemeClr val="accent6"/>
                </a:solidFill>
              </a:rPr>
              <a:t>        }</a:t>
            </a:r>
          </a:p>
          <a:p>
            <a:pPr marL="12700" marR="5080"/>
            <a:r>
              <a:rPr lang="en-US" sz="1500" kern="0" spc="-220" dirty="0">
                <a:solidFill>
                  <a:schemeClr val="accent6"/>
                </a:solidFill>
              </a:rPr>
              <a:t>        return sum / (double)(Width * Height);</a:t>
            </a:r>
          </a:p>
          <a:p>
            <a:pPr marL="12700" marR="5080"/>
            <a:r>
              <a:rPr lang="en-US" sz="1500" kern="0" spc="-220" dirty="0">
                <a:solidFill>
                  <a:schemeClr val="accent6"/>
                </a:solidFill>
              </a:rPr>
              <a:t>    }</a:t>
            </a:r>
          </a:p>
          <a:p>
            <a:pPr marL="12700" marR="5080"/>
            <a:endParaRPr lang="en-US" sz="1400" kern="0" spc="-220" dirty="0">
              <a:solidFill>
                <a:schemeClr val="accent6"/>
              </a:solidFill>
            </a:endParaRPr>
          </a:p>
        </p:txBody>
      </p:sp>
    </p:spTree>
    <p:extLst>
      <p:ext uri="{BB962C8B-B14F-4D97-AF65-F5344CB8AC3E}">
        <p14:creationId xmlns:p14="http://schemas.microsoft.com/office/powerpoint/2010/main" val="35644390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9305-780E-98C5-5412-A549C9E5FAF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D785D19-6473-A236-92D4-04FBB522746C}"/>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0F4A5BB-BEB0-A3C4-FDEA-0F1A34E8E5A0}"/>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EE94B7F-2978-1F3E-FE96-BCC357211020}"/>
              </a:ext>
            </a:extLst>
          </p:cNvPr>
          <p:cNvGraphicFramePr/>
          <p:nvPr>
            <p:extLst>
              <p:ext uri="{D42A27DB-BD31-4B8C-83A1-F6EECF244321}">
                <p14:modId xmlns:p14="http://schemas.microsoft.com/office/powerpoint/2010/main" val="4236602028"/>
              </p:ext>
            </p:extLst>
          </p:nvPr>
        </p:nvGraphicFramePr>
        <p:xfrm>
          <a:off x="762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8F8974DF-1A30-0E05-4882-B3C4A5A8F5B0}"/>
              </a:ext>
            </a:extLst>
          </p:cNvPr>
          <p:cNvSpPr txBox="1">
            <a:spLocks/>
          </p:cNvSpPr>
          <p:nvPr/>
        </p:nvSpPr>
        <p:spPr>
          <a:xfrm>
            <a:off x="275300" y="1165622"/>
            <a:ext cx="8624937" cy="490903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2"/>
                </a:solidFill>
              </a:rPr>
              <a:t>Multidimensional &amp; Jagged Array</a:t>
            </a:r>
          </a:p>
          <a:p>
            <a:pPr marL="12700" marR="5080"/>
            <a:r>
              <a:rPr lang="en-US" sz="1500" kern="0" spc="-220" dirty="0">
                <a:solidFill>
                  <a:schemeClr val="accent2"/>
                </a:solidFill>
              </a:rPr>
              <a:t>1️⃣ Multidimensional Array (Rectangular Array)</a:t>
            </a:r>
          </a:p>
          <a:p>
            <a:pPr marL="12700" marR="5080"/>
            <a:r>
              <a:rPr lang="en-US" sz="1500" kern="0" spc="-220" dirty="0">
                <a:solidFill>
                  <a:schemeClr val="accent2"/>
                </a:solidFill>
              </a:rPr>
              <a:t>📌 Example 1: Image Pixel Matrix (Computer Vision / ML Preprocessing)</a:t>
            </a:r>
          </a:p>
          <a:p>
            <a:pPr marL="12700" marR="5080"/>
            <a:r>
              <a:rPr lang="en-US" sz="1500" kern="0" spc="-220" dirty="0">
                <a:solidFill>
                  <a:schemeClr val="accent6"/>
                </a:solidFill>
              </a:rPr>
              <a:t>public sealed class </a:t>
            </a:r>
            <a:r>
              <a:rPr lang="en-US" sz="1500" kern="0" spc="-220" dirty="0" err="1">
                <a:solidFill>
                  <a:schemeClr val="accent6"/>
                </a:solidFill>
              </a:rPr>
              <a:t>GrayscaleImage</a:t>
            </a:r>
            <a:endParaRPr lang="en-US" sz="1500" kern="0" spc="-220" dirty="0">
              <a:solidFill>
                <a:schemeClr val="accent6"/>
              </a:solidFill>
            </a:endParaRPr>
          </a:p>
          <a:p>
            <a:pPr marL="12700" marR="5080"/>
            <a:r>
              <a:rPr lang="en-US" sz="1500" kern="0" spc="-220" dirty="0">
                <a:solidFill>
                  <a:schemeClr val="accent6"/>
                </a:solidFill>
              </a:rPr>
              <a:t>{</a:t>
            </a:r>
          </a:p>
          <a:p>
            <a:pPr marL="12700" marR="5080"/>
            <a:r>
              <a:rPr lang="en-US" sz="1500" kern="0" spc="-220" dirty="0">
                <a:solidFill>
                  <a:schemeClr val="accent6"/>
                </a:solidFill>
              </a:rPr>
              <a:t>     // earlier code in earlier slides</a:t>
            </a:r>
          </a:p>
          <a:p>
            <a:pPr marL="12700" marR="5080"/>
            <a:r>
              <a:rPr lang="en-US" sz="1500" kern="0" spc="-220" dirty="0">
                <a:solidFill>
                  <a:schemeClr val="accent6"/>
                </a:solidFill>
              </a:rPr>
              <a:t>private void </a:t>
            </a:r>
            <a:r>
              <a:rPr lang="en-US" sz="1500" kern="0" spc="-220" dirty="0" err="1">
                <a:solidFill>
                  <a:schemeClr val="accent6"/>
                </a:solidFill>
              </a:rPr>
              <a:t>ValidateIndices</a:t>
            </a:r>
            <a:r>
              <a:rPr lang="en-US" sz="1500" kern="0" spc="-220" dirty="0">
                <a:solidFill>
                  <a:schemeClr val="accent6"/>
                </a:solidFill>
              </a:rPr>
              <a:t>(int row, int col)</a:t>
            </a:r>
          </a:p>
          <a:p>
            <a:pPr marL="12700" marR="5080"/>
            <a:r>
              <a:rPr lang="en-US" sz="1500" kern="0" spc="-220" dirty="0">
                <a:solidFill>
                  <a:schemeClr val="accent6"/>
                </a:solidFill>
              </a:rPr>
              <a:t>    {</a:t>
            </a:r>
          </a:p>
          <a:p>
            <a:pPr marL="12700" marR="5080"/>
            <a:r>
              <a:rPr lang="en-US" sz="1500" kern="0" spc="-220" dirty="0">
                <a:solidFill>
                  <a:schemeClr val="accent6"/>
                </a:solidFill>
              </a:rPr>
              <a:t>        if (row &lt; 0 || row &gt;= Height || col &lt; 0 || col &gt;= Width)</a:t>
            </a:r>
          </a:p>
          <a:p>
            <a:pPr marL="12700" marR="5080"/>
            <a:r>
              <a:rPr lang="en-US" sz="1500" kern="0" spc="-220" dirty="0">
                <a:solidFill>
                  <a:schemeClr val="accent6"/>
                </a:solidFill>
              </a:rPr>
              <a:t>            throw new </a:t>
            </a:r>
            <a:r>
              <a:rPr lang="en-US" sz="1500" kern="0" spc="-220" dirty="0" err="1">
                <a:solidFill>
                  <a:schemeClr val="accent6"/>
                </a:solidFill>
              </a:rPr>
              <a:t>IndexOutOfRangeException</a:t>
            </a:r>
            <a:r>
              <a:rPr lang="en-US" sz="1500" kern="0" spc="-220" dirty="0">
                <a:solidFill>
                  <a:schemeClr val="accent6"/>
                </a:solidFill>
              </a:rPr>
              <a:t>();</a:t>
            </a:r>
          </a:p>
          <a:p>
            <a:pPr marL="12700" marR="5080"/>
            <a:r>
              <a:rPr lang="en-US" sz="1500" kern="0" spc="-220" dirty="0">
                <a:solidFill>
                  <a:schemeClr val="accent6"/>
                </a:solidFill>
              </a:rPr>
              <a:t>    }</a:t>
            </a:r>
          </a:p>
          <a:p>
            <a:pPr marL="12700" marR="5080"/>
            <a:r>
              <a:rPr lang="en-US" sz="1500" kern="0" spc="-220" dirty="0">
                <a:solidFill>
                  <a:schemeClr val="accent6"/>
                </a:solidFill>
              </a:rPr>
              <a:t>}</a:t>
            </a:r>
          </a:p>
          <a:p>
            <a:pPr marL="12700" marR="5080"/>
            <a:r>
              <a:rPr lang="en-US" sz="1500" kern="0" spc="-220" dirty="0">
                <a:solidFill>
                  <a:schemeClr val="accent2"/>
                </a:solidFill>
              </a:rPr>
              <a:t>✔ Why multidimensional here?</a:t>
            </a:r>
          </a:p>
          <a:p>
            <a:pPr marL="12700" marR="5080"/>
            <a:r>
              <a:rPr lang="en-US" sz="1500" kern="0" spc="-220" dirty="0">
                <a:solidFill>
                  <a:schemeClr val="accent6"/>
                </a:solidFill>
              </a:rPr>
              <a:t>Image is always rectangular</a:t>
            </a:r>
          </a:p>
          <a:p>
            <a:pPr marL="12700" marR="5080"/>
            <a:r>
              <a:rPr lang="en-US" sz="1500" kern="0" spc="-220" dirty="0">
                <a:solidFill>
                  <a:schemeClr val="accent6"/>
                </a:solidFill>
              </a:rPr>
              <a:t>Memory locality → faster CNN preprocessing</a:t>
            </a:r>
          </a:p>
          <a:p>
            <a:pPr marL="12700" marR="5080"/>
            <a:r>
              <a:rPr lang="en-US" sz="1500" kern="0" spc="-220" dirty="0">
                <a:solidFill>
                  <a:schemeClr val="accent6"/>
                </a:solidFill>
              </a:rPr>
              <a:t>Cleaner indexing: [row, col]</a:t>
            </a:r>
          </a:p>
          <a:p>
            <a:pPr marL="12700" marR="5080"/>
            <a:endParaRPr lang="en-US" sz="1400" kern="0" spc="-220" dirty="0">
              <a:solidFill>
                <a:schemeClr val="accent6"/>
              </a:solidFill>
            </a:endParaRPr>
          </a:p>
          <a:p>
            <a:pPr marL="12700" marR="5080"/>
            <a:endParaRPr lang="en-US" sz="1400" kern="0" spc="-220" dirty="0">
              <a:solidFill>
                <a:schemeClr val="accent6"/>
              </a:solidFill>
            </a:endParaRPr>
          </a:p>
          <a:p>
            <a:pPr marL="12700" marR="5080"/>
            <a:endParaRPr lang="en-US" sz="1400" kern="0" spc="-220" dirty="0">
              <a:solidFill>
                <a:schemeClr val="accent6"/>
              </a:solidFill>
            </a:endParaRPr>
          </a:p>
          <a:p>
            <a:pPr marL="12700" marR="5080"/>
            <a:endParaRPr lang="en-US" sz="1400" kern="0" spc="-220" dirty="0">
              <a:solidFill>
                <a:schemeClr val="accent6"/>
              </a:solidFill>
            </a:endParaRPr>
          </a:p>
          <a:p>
            <a:pPr marL="12700" marR="5080"/>
            <a:endParaRPr lang="en-US" sz="1400" kern="0" spc="-220" dirty="0">
              <a:solidFill>
                <a:schemeClr val="accent6"/>
              </a:solidFill>
            </a:endParaRPr>
          </a:p>
        </p:txBody>
      </p:sp>
    </p:spTree>
    <p:extLst>
      <p:ext uri="{BB962C8B-B14F-4D97-AF65-F5344CB8AC3E}">
        <p14:creationId xmlns:p14="http://schemas.microsoft.com/office/powerpoint/2010/main" val="5333356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1373E-9677-00C2-C6BA-711BD18740F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86233FA-89B2-A7A9-8624-773785656499}"/>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3A813C7-A985-9AC9-20F6-6F6045D4D772}"/>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F69CF15-05F0-CD3F-869F-D89DACC565A2}"/>
              </a:ext>
            </a:extLst>
          </p:cNvPr>
          <p:cNvGraphicFramePr/>
          <p:nvPr>
            <p:extLst>
              <p:ext uri="{D42A27DB-BD31-4B8C-83A1-F6EECF244321}">
                <p14:modId xmlns:p14="http://schemas.microsoft.com/office/powerpoint/2010/main" val="3430133035"/>
              </p:ext>
            </p:extLst>
          </p:nvPr>
        </p:nvGraphicFramePr>
        <p:xfrm>
          <a:off x="762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EE5C888-1145-D656-5875-AAE0CA32FF59}"/>
              </a:ext>
            </a:extLst>
          </p:cNvPr>
          <p:cNvSpPr txBox="1">
            <a:spLocks/>
          </p:cNvSpPr>
          <p:nvPr/>
        </p:nvSpPr>
        <p:spPr>
          <a:xfrm>
            <a:off x="275300" y="1165622"/>
            <a:ext cx="8624937" cy="449353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2"/>
                </a:solidFill>
              </a:rPr>
              <a:t>Multidimensional &amp; Jagged Array</a:t>
            </a:r>
          </a:p>
          <a:p>
            <a:pPr marL="12700" marR="5080"/>
            <a:r>
              <a:rPr lang="en-US" sz="1500" kern="0" spc="-220" dirty="0">
                <a:solidFill>
                  <a:schemeClr val="accent2"/>
                </a:solidFill>
              </a:rPr>
              <a:t>1️⃣ Multidimensional Array (Rectangular Array)</a:t>
            </a:r>
          </a:p>
          <a:p>
            <a:pPr marL="12700" marR="5080"/>
            <a:r>
              <a:rPr lang="en-US" sz="1500" kern="0" spc="-220" dirty="0">
                <a:solidFill>
                  <a:schemeClr val="accent2"/>
                </a:solidFill>
              </a:rPr>
              <a:t>📌 Example 2: Seat Allocation System (Airline / Theater)</a:t>
            </a:r>
          </a:p>
          <a:p>
            <a:pPr marL="12700" marR="5080"/>
            <a:r>
              <a:rPr lang="en-US" sz="1500" kern="0" spc="-220" dirty="0">
                <a:solidFill>
                  <a:schemeClr val="accent6"/>
                </a:solidFill>
              </a:rPr>
              <a:t>public class </a:t>
            </a:r>
            <a:r>
              <a:rPr lang="en-US" sz="1500" kern="0" spc="-220" dirty="0" err="1">
                <a:solidFill>
                  <a:schemeClr val="accent6"/>
                </a:solidFill>
              </a:rPr>
              <a:t>SeatingLayout</a:t>
            </a:r>
            <a:endParaRPr lang="en-US" sz="1500" kern="0" spc="-220" dirty="0">
              <a:solidFill>
                <a:schemeClr val="accent6"/>
              </a:solidFill>
            </a:endParaRPr>
          </a:p>
          <a:p>
            <a:pPr marL="12700" marR="5080"/>
            <a:r>
              <a:rPr lang="en-US" sz="1500" kern="0" spc="-220" dirty="0">
                <a:solidFill>
                  <a:schemeClr val="accent6"/>
                </a:solidFill>
              </a:rPr>
              <a:t>{</a:t>
            </a:r>
          </a:p>
          <a:p>
            <a:pPr marL="12700" marR="5080"/>
            <a:r>
              <a:rPr lang="en-US" sz="1500" kern="0" spc="-220" dirty="0">
                <a:solidFill>
                  <a:schemeClr val="accent6"/>
                </a:solidFill>
              </a:rPr>
              <a:t>    private </a:t>
            </a:r>
            <a:r>
              <a:rPr lang="en-US" sz="1500" kern="0" spc="-220" dirty="0" err="1">
                <a:solidFill>
                  <a:schemeClr val="accent6"/>
                </a:solidFill>
              </a:rPr>
              <a:t>readonly</a:t>
            </a:r>
            <a:r>
              <a:rPr lang="en-US" sz="1500" kern="0" spc="-220" dirty="0">
                <a:solidFill>
                  <a:schemeClr val="accent6"/>
                </a:solidFill>
              </a:rPr>
              <a:t> bool[,] _seats;</a:t>
            </a:r>
          </a:p>
          <a:p>
            <a:pPr marL="12700" marR="5080"/>
            <a:r>
              <a:rPr lang="en-US" sz="1500" kern="0" spc="-220" dirty="0">
                <a:solidFill>
                  <a:schemeClr val="accent6"/>
                </a:solidFill>
              </a:rPr>
              <a:t>    public </a:t>
            </a:r>
            <a:r>
              <a:rPr lang="en-US" sz="1500" kern="0" spc="-220" dirty="0" err="1">
                <a:solidFill>
                  <a:schemeClr val="accent6"/>
                </a:solidFill>
              </a:rPr>
              <a:t>SeatingLayout</a:t>
            </a:r>
            <a:r>
              <a:rPr lang="en-US" sz="1500" kern="0" spc="-220" dirty="0">
                <a:solidFill>
                  <a:schemeClr val="accent6"/>
                </a:solidFill>
              </a:rPr>
              <a:t>(int rows, int </a:t>
            </a:r>
            <a:r>
              <a:rPr lang="en-US" sz="1500" kern="0" spc="-220" dirty="0" err="1">
                <a:solidFill>
                  <a:schemeClr val="accent6"/>
                </a:solidFill>
              </a:rPr>
              <a:t>seatsPerRow</a:t>
            </a:r>
            <a:r>
              <a:rPr lang="en-US" sz="1500" kern="0" spc="-220" dirty="0">
                <a:solidFill>
                  <a:schemeClr val="accent6"/>
                </a:solidFill>
              </a:rPr>
              <a:t>)</a:t>
            </a:r>
          </a:p>
          <a:p>
            <a:pPr marL="12700" marR="5080"/>
            <a:r>
              <a:rPr lang="en-US" sz="1500" kern="0" spc="-220" dirty="0">
                <a:solidFill>
                  <a:schemeClr val="accent6"/>
                </a:solidFill>
              </a:rPr>
              <a:t>    {</a:t>
            </a:r>
          </a:p>
          <a:p>
            <a:pPr marL="12700" marR="5080"/>
            <a:r>
              <a:rPr lang="en-US" sz="1500" kern="0" spc="-220" dirty="0">
                <a:solidFill>
                  <a:schemeClr val="accent6"/>
                </a:solidFill>
              </a:rPr>
              <a:t>        _seats = new bool[rows, </a:t>
            </a:r>
            <a:r>
              <a:rPr lang="en-US" sz="1500" kern="0" spc="-220" dirty="0" err="1">
                <a:solidFill>
                  <a:schemeClr val="accent6"/>
                </a:solidFill>
              </a:rPr>
              <a:t>seatsPerRow</a:t>
            </a:r>
            <a:r>
              <a:rPr lang="en-US" sz="1500" kern="0" spc="-220" dirty="0">
                <a:solidFill>
                  <a:schemeClr val="accent6"/>
                </a:solidFill>
              </a:rPr>
              <a:t>];</a:t>
            </a:r>
          </a:p>
          <a:p>
            <a:pPr marL="12700" marR="5080"/>
            <a:r>
              <a:rPr lang="en-US" sz="1500" kern="0" spc="-220" dirty="0">
                <a:solidFill>
                  <a:schemeClr val="accent6"/>
                </a:solidFill>
              </a:rPr>
              <a:t>    }</a:t>
            </a:r>
          </a:p>
          <a:p>
            <a:pPr marL="12700" marR="5080"/>
            <a:r>
              <a:rPr lang="en-US" sz="1500" kern="0" spc="-220" dirty="0">
                <a:solidFill>
                  <a:schemeClr val="accent6"/>
                </a:solidFill>
              </a:rPr>
              <a:t>    public bool </a:t>
            </a:r>
            <a:r>
              <a:rPr lang="en-US" sz="1500" kern="0" spc="-220" dirty="0" err="1">
                <a:solidFill>
                  <a:schemeClr val="accent6"/>
                </a:solidFill>
              </a:rPr>
              <a:t>BookSeat</a:t>
            </a:r>
            <a:r>
              <a:rPr lang="en-US" sz="1500" kern="0" spc="-220" dirty="0">
                <a:solidFill>
                  <a:schemeClr val="accent6"/>
                </a:solidFill>
              </a:rPr>
              <a:t>(int row, int seat)</a:t>
            </a:r>
          </a:p>
          <a:p>
            <a:pPr marL="12700" marR="5080"/>
            <a:r>
              <a:rPr lang="en-US" sz="1500" kern="0" spc="-220" dirty="0">
                <a:solidFill>
                  <a:schemeClr val="accent6"/>
                </a:solidFill>
              </a:rPr>
              <a:t>    {</a:t>
            </a:r>
          </a:p>
          <a:p>
            <a:pPr marL="12700" marR="5080"/>
            <a:r>
              <a:rPr lang="en-US" sz="1500" kern="0" spc="-220" dirty="0">
                <a:solidFill>
                  <a:schemeClr val="accent6"/>
                </a:solidFill>
              </a:rPr>
              <a:t>        if (_seats[row, seat])</a:t>
            </a:r>
          </a:p>
          <a:p>
            <a:pPr marL="12700" marR="5080"/>
            <a:r>
              <a:rPr lang="en-US" sz="1500" kern="0" spc="-220" dirty="0">
                <a:solidFill>
                  <a:schemeClr val="accent6"/>
                </a:solidFill>
              </a:rPr>
              <a:t>            return false;</a:t>
            </a:r>
          </a:p>
          <a:p>
            <a:pPr marL="12700" marR="5080"/>
            <a:r>
              <a:rPr lang="en-US" sz="1500" kern="0" spc="-220" dirty="0">
                <a:solidFill>
                  <a:schemeClr val="accent6"/>
                </a:solidFill>
              </a:rPr>
              <a:t>        _seats[row, seat] = true;</a:t>
            </a:r>
          </a:p>
          <a:p>
            <a:pPr marL="12700" marR="5080"/>
            <a:r>
              <a:rPr lang="en-US" sz="1500" kern="0" spc="-220" dirty="0">
                <a:solidFill>
                  <a:schemeClr val="accent6"/>
                </a:solidFill>
              </a:rPr>
              <a:t>        return true;</a:t>
            </a:r>
          </a:p>
          <a:p>
            <a:pPr marL="12700" marR="5080"/>
            <a:r>
              <a:rPr lang="en-US" sz="1500" kern="0" spc="-220" dirty="0">
                <a:solidFill>
                  <a:schemeClr val="accent6"/>
                </a:solidFill>
              </a:rPr>
              <a:t>    }</a:t>
            </a:r>
          </a:p>
          <a:p>
            <a:pPr marL="12700" marR="5080"/>
            <a:endParaRPr lang="en-US" sz="1400" kern="0" spc="-220" dirty="0">
              <a:solidFill>
                <a:schemeClr val="accent6"/>
              </a:solidFill>
            </a:endParaRPr>
          </a:p>
          <a:p>
            <a:pPr marL="12700" marR="5080"/>
            <a:endParaRPr lang="en-US" sz="1400" kern="0" spc="-220" dirty="0">
              <a:solidFill>
                <a:schemeClr val="accent6"/>
              </a:solidFill>
            </a:endParaRPr>
          </a:p>
        </p:txBody>
      </p:sp>
    </p:spTree>
    <p:extLst>
      <p:ext uri="{BB962C8B-B14F-4D97-AF65-F5344CB8AC3E}">
        <p14:creationId xmlns:p14="http://schemas.microsoft.com/office/powerpoint/2010/main" val="13238497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67A12-8110-A8BC-987D-DA9E2EC83DB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C0AE404-EC58-9A91-197A-446B8473429D}"/>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7B4DA30-CEF1-DB3F-B289-14C205C14995}"/>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1A3A7F2-775D-1CD4-1DFF-8F7B02BB5F54}"/>
              </a:ext>
            </a:extLst>
          </p:cNvPr>
          <p:cNvGraphicFramePr/>
          <p:nvPr>
            <p:extLst>
              <p:ext uri="{D42A27DB-BD31-4B8C-83A1-F6EECF244321}">
                <p14:modId xmlns:p14="http://schemas.microsoft.com/office/powerpoint/2010/main" val="621278047"/>
              </p:ext>
            </p:extLst>
          </p:nvPr>
        </p:nvGraphicFramePr>
        <p:xfrm>
          <a:off x="762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E0DEE7B-DD42-B34F-A39E-1A7C8FA57ABD}"/>
              </a:ext>
            </a:extLst>
          </p:cNvPr>
          <p:cNvSpPr txBox="1">
            <a:spLocks/>
          </p:cNvSpPr>
          <p:nvPr/>
        </p:nvSpPr>
        <p:spPr>
          <a:xfrm>
            <a:off x="275300" y="1165622"/>
            <a:ext cx="8624937" cy="475514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2"/>
                </a:solidFill>
              </a:rPr>
              <a:t>Multidimensional &amp; Jagged Array</a:t>
            </a:r>
          </a:p>
          <a:p>
            <a:pPr marL="12700" marR="5080"/>
            <a:r>
              <a:rPr lang="en-US" sz="1500" kern="0" spc="-220" dirty="0">
                <a:solidFill>
                  <a:schemeClr val="accent2"/>
                </a:solidFill>
              </a:rPr>
              <a:t>1️⃣ Multidimensional Array (Rectangular Array)</a:t>
            </a:r>
          </a:p>
          <a:p>
            <a:pPr marL="12700" marR="5080"/>
            <a:r>
              <a:rPr lang="en-US" sz="1500" kern="0" spc="-220" dirty="0">
                <a:solidFill>
                  <a:schemeClr val="accent2"/>
                </a:solidFill>
              </a:rPr>
              <a:t>📌 Example 2: Seat Allocation System (Airline / Theater)</a:t>
            </a:r>
          </a:p>
          <a:p>
            <a:pPr marL="12700" marR="5080"/>
            <a:r>
              <a:rPr lang="en-US" sz="1500" kern="0" spc="-220" dirty="0">
                <a:solidFill>
                  <a:schemeClr val="accent6"/>
                </a:solidFill>
              </a:rPr>
              <a:t>public class </a:t>
            </a:r>
            <a:r>
              <a:rPr lang="en-US" sz="1500" kern="0" spc="-220" dirty="0" err="1">
                <a:solidFill>
                  <a:schemeClr val="accent6"/>
                </a:solidFill>
              </a:rPr>
              <a:t>SeatingLayout</a:t>
            </a:r>
            <a:endParaRPr lang="en-US" sz="1500" kern="0" spc="-220" dirty="0">
              <a:solidFill>
                <a:schemeClr val="accent6"/>
              </a:solidFill>
            </a:endParaRPr>
          </a:p>
          <a:p>
            <a:pPr marL="12700" marR="5080"/>
            <a:r>
              <a:rPr lang="en-US" sz="1500" kern="0" spc="-220" dirty="0">
                <a:solidFill>
                  <a:schemeClr val="accent6"/>
                </a:solidFill>
              </a:rPr>
              <a:t>{</a:t>
            </a:r>
          </a:p>
          <a:p>
            <a:pPr marL="12700" marR="5080"/>
            <a:r>
              <a:rPr lang="en-US" sz="1500" kern="0" spc="-220" dirty="0">
                <a:solidFill>
                  <a:schemeClr val="accent6"/>
                </a:solidFill>
              </a:rPr>
              <a:t>    // earlier code in earlier slide</a:t>
            </a:r>
          </a:p>
          <a:p>
            <a:pPr marL="12700" marR="5080"/>
            <a:r>
              <a:rPr lang="en-US" sz="1500" kern="0" spc="-220" dirty="0">
                <a:solidFill>
                  <a:schemeClr val="accent6"/>
                </a:solidFill>
              </a:rPr>
              <a:t>   public int </a:t>
            </a:r>
            <a:r>
              <a:rPr lang="en-US" sz="1500" kern="0" spc="-220" dirty="0" err="1">
                <a:solidFill>
                  <a:schemeClr val="accent6"/>
                </a:solidFill>
              </a:rPr>
              <a:t>CountAvailableSeats</a:t>
            </a:r>
            <a:r>
              <a:rPr lang="en-US" sz="1500" kern="0" spc="-220" dirty="0">
                <a:solidFill>
                  <a:schemeClr val="accent6"/>
                </a:solidFill>
              </a:rPr>
              <a:t>()</a:t>
            </a:r>
          </a:p>
          <a:p>
            <a:pPr marL="12700" marR="5080"/>
            <a:r>
              <a:rPr lang="en-US" sz="1500" kern="0" spc="-220" dirty="0">
                <a:solidFill>
                  <a:schemeClr val="accent6"/>
                </a:solidFill>
              </a:rPr>
              <a:t>    {</a:t>
            </a:r>
          </a:p>
          <a:p>
            <a:pPr marL="12700" marR="5080"/>
            <a:r>
              <a:rPr lang="en-US" sz="1500" kern="0" spc="-220" dirty="0">
                <a:solidFill>
                  <a:schemeClr val="accent6"/>
                </a:solidFill>
              </a:rPr>
              <a:t>        int count = 0;</a:t>
            </a:r>
          </a:p>
          <a:p>
            <a:pPr marL="12700" marR="5080"/>
            <a:r>
              <a:rPr lang="en-US" sz="1500" kern="0" spc="-220" dirty="0">
                <a:solidFill>
                  <a:schemeClr val="accent6"/>
                </a:solidFill>
              </a:rPr>
              <a:t>        foreach (bool seat in _seats)</a:t>
            </a:r>
          </a:p>
          <a:p>
            <a:pPr marL="12700" marR="5080"/>
            <a:r>
              <a:rPr lang="en-US" sz="1500" kern="0" spc="-220" dirty="0">
                <a:solidFill>
                  <a:schemeClr val="accent6"/>
                </a:solidFill>
              </a:rPr>
              <a:t>        {</a:t>
            </a:r>
          </a:p>
          <a:p>
            <a:pPr marL="12700" marR="5080"/>
            <a:r>
              <a:rPr lang="en-US" sz="1500" kern="0" spc="-220" dirty="0">
                <a:solidFill>
                  <a:schemeClr val="accent6"/>
                </a:solidFill>
              </a:rPr>
              <a:t>            if (!seat) count++;</a:t>
            </a:r>
          </a:p>
          <a:p>
            <a:pPr marL="12700" marR="5080"/>
            <a:r>
              <a:rPr lang="en-US" sz="1500" kern="0" spc="-220" dirty="0">
                <a:solidFill>
                  <a:schemeClr val="accent6"/>
                </a:solidFill>
              </a:rPr>
              <a:t>        }</a:t>
            </a:r>
          </a:p>
          <a:p>
            <a:pPr marL="12700" marR="5080"/>
            <a:r>
              <a:rPr lang="en-US" sz="1500" kern="0" spc="-220" dirty="0">
                <a:solidFill>
                  <a:schemeClr val="accent6"/>
                </a:solidFill>
              </a:rPr>
              <a:t>        return count;</a:t>
            </a:r>
          </a:p>
          <a:p>
            <a:pPr marL="12700" marR="5080"/>
            <a:r>
              <a:rPr lang="en-US" sz="1500" kern="0" spc="-220" dirty="0">
                <a:solidFill>
                  <a:schemeClr val="accent6"/>
                </a:solidFill>
              </a:rPr>
              <a:t>    }</a:t>
            </a:r>
          </a:p>
          <a:p>
            <a:pPr marL="12700" marR="5080"/>
            <a:r>
              <a:rPr lang="en-US" sz="1500" kern="0" spc="-220" dirty="0">
                <a:solidFill>
                  <a:schemeClr val="accent6"/>
                </a:solidFill>
              </a:rPr>
              <a:t>}</a:t>
            </a:r>
          </a:p>
          <a:p>
            <a:pPr marL="12700" marR="5080"/>
            <a:r>
              <a:rPr lang="en-US" sz="1500" kern="0" spc="-220" dirty="0">
                <a:solidFill>
                  <a:schemeClr val="accent2"/>
                </a:solidFill>
              </a:rPr>
              <a:t>2️⃣ Jagged Array (Array of Arrays)</a:t>
            </a:r>
          </a:p>
          <a:p>
            <a:pPr marL="12700" marR="5080"/>
            <a:r>
              <a:rPr lang="en-US" sz="1500" kern="0" spc="-220" dirty="0">
                <a:solidFill>
                  <a:schemeClr val="accent2"/>
                </a:solidFill>
              </a:rPr>
              <a:t>✅ Best suited when</a:t>
            </a:r>
          </a:p>
          <a:p>
            <a:pPr marL="12700" marR="5080"/>
            <a:r>
              <a:rPr lang="en-US" sz="1500" kern="0" spc="-220" dirty="0">
                <a:solidFill>
                  <a:schemeClr val="accent6"/>
                </a:solidFill>
              </a:rPr>
              <a:t>Rows have different lengths</a:t>
            </a:r>
          </a:p>
          <a:p>
            <a:pPr marL="12700" marR="5080"/>
            <a:r>
              <a:rPr lang="en-US" sz="1500" kern="0" spc="-220" dirty="0">
                <a:solidFill>
                  <a:schemeClr val="accent6"/>
                </a:solidFill>
              </a:rPr>
              <a:t>Data is hierarchical</a:t>
            </a:r>
          </a:p>
        </p:txBody>
      </p:sp>
    </p:spTree>
    <p:extLst>
      <p:ext uri="{BB962C8B-B14F-4D97-AF65-F5344CB8AC3E}">
        <p14:creationId xmlns:p14="http://schemas.microsoft.com/office/powerpoint/2010/main" val="38930504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71F70-64D2-9C26-7D6D-2995E0D262D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0C43520-1E42-CB34-9489-C2C544CA9E86}"/>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9CFA0C2-42FF-5276-29C3-F75AA9BBF94E}"/>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540C787-381F-7635-3B49-EFE4AB985FFB}"/>
              </a:ext>
            </a:extLst>
          </p:cNvPr>
          <p:cNvGraphicFramePr/>
          <p:nvPr>
            <p:extLst>
              <p:ext uri="{D42A27DB-BD31-4B8C-83A1-F6EECF244321}">
                <p14:modId xmlns:p14="http://schemas.microsoft.com/office/powerpoint/2010/main" val="907973319"/>
              </p:ext>
            </p:extLst>
          </p:nvPr>
        </p:nvGraphicFramePr>
        <p:xfrm>
          <a:off x="762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36DE9C2E-3202-74E6-45D0-23B9E00BB65A}"/>
              </a:ext>
            </a:extLst>
          </p:cNvPr>
          <p:cNvSpPr txBox="1">
            <a:spLocks/>
          </p:cNvSpPr>
          <p:nvPr/>
        </p:nvSpPr>
        <p:spPr>
          <a:xfrm>
            <a:off x="275300" y="1165622"/>
            <a:ext cx="8624937" cy="452431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2"/>
                </a:solidFill>
              </a:rPr>
              <a:t>Multidimensional &amp; Jagged Array</a:t>
            </a:r>
          </a:p>
          <a:p>
            <a:pPr marL="12700" marR="5080"/>
            <a:r>
              <a:rPr lang="en-US" sz="1500" kern="0" spc="-220" dirty="0">
                <a:solidFill>
                  <a:schemeClr val="accent2"/>
                </a:solidFill>
              </a:rPr>
              <a:t>2️⃣ Jagged Array (Array of Arrays)</a:t>
            </a:r>
          </a:p>
          <a:p>
            <a:pPr marL="12700" marR="5080"/>
            <a:r>
              <a:rPr lang="en-US" sz="1500" kern="0" spc="-220" dirty="0">
                <a:solidFill>
                  <a:schemeClr val="accent2"/>
                </a:solidFill>
              </a:rPr>
              <a:t>✅ Best suited when</a:t>
            </a:r>
          </a:p>
          <a:p>
            <a:pPr marL="12700" marR="5080"/>
            <a:r>
              <a:rPr lang="en-US" sz="1500" kern="0" spc="-220" dirty="0">
                <a:solidFill>
                  <a:schemeClr val="accent6"/>
                </a:solidFill>
              </a:rPr>
              <a:t>Performance matters (jagged arrays are faster in .NET than multidimensional arrays)</a:t>
            </a:r>
          </a:p>
          <a:p>
            <a:pPr marL="12700" marR="5080"/>
            <a:r>
              <a:rPr lang="en-US" sz="1500" kern="0" spc="-220" dirty="0">
                <a:solidFill>
                  <a:schemeClr val="accent6"/>
                </a:solidFill>
              </a:rPr>
              <a:t>You need flexible memory allocation</a:t>
            </a:r>
          </a:p>
          <a:p>
            <a:pPr marL="12700" marR="5080"/>
            <a:r>
              <a:rPr lang="en-US" sz="1500" kern="0" spc="-220" dirty="0">
                <a:solidFill>
                  <a:schemeClr val="accent2"/>
                </a:solidFill>
              </a:rPr>
              <a:t>❌ Avoid when</a:t>
            </a:r>
          </a:p>
          <a:p>
            <a:pPr marL="12700" marR="5080"/>
            <a:r>
              <a:rPr lang="en-US" sz="1500" kern="0" spc="-220" dirty="0">
                <a:solidFill>
                  <a:schemeClr val="accent6"/>
                </a:solidFill>
              </a:rPr>
              <a:t>Data is strictly rectangular</a:t>
            </a:r>
          </a:p>
          <a:p>
            <a:pPr marL="12700" marR="5080"/>
            <a:r>
              <a:rPr lang="en-US" sz="1500" kern="0" spc="-220" dirty="0">
                <a:solidFill>
                  <a:schemeClr val="accent6"/>
                </a:solidFill>
              </a:rPr>
              <a:t>Simple mathematical matrix operations</a:t>
            </a:r>
          </a:p>
          <a:p>
            <a:pPr marL="12700" marR="5080"/>
            <a:r>
              <a:rPr lang="en-US" sz="1500" kern="0" spc="-220" dirty="0">
                <a:solidFill>
                  <a:schemeClr val="accent2"/>
                </a:solidFill>
              </a:rPr>
              <a:t>📌 Example 1: Student Marks (Real-World Academic System)</a:t>
            </a:r>
          </a:p>
          <a:p>
            <a:pPr marL="12700" marR="5080"/>
            <a:r>
              <a:rPr lang="en-US" sz="1500" kern="0" spc="-220" dirty="0">
                <a:solidFill>
                  <a:schemeClr val="accent6"/>
                </a:solidFill>
              </a:rPr>
              <a:t>Each student has different number of subjects.</a:t>
            </a:r>
          </a:p>
          <a:p>
            <a:pPr marL="12700" marR="5080"/>
            <a:r>
              <a:rPr lang="en-US" sz="1500" kern="0" spc="-220" dirty="0">
                <a:solidFill>
                  <a:schemeClr val="accent6"/>
                </a:solidFill>
              </a:rPr>
              <a:t>public class </a:t>
            </a:r>
            <a:r>
              <a:rPr lang="en-US" sz="1500" kern="0" spc="-220" dirty="0" err="1">
                <a:solidFill>
                  <a:schemeClr val="accent6"/>
                </a:solidFill>
              </a:rPr>
              <a:t>StudentMarks</a:t>
            </a:r>
            <a:endParaRPr lang="en-US" sz="1500" kern="0" spc="-220" dirty="0">
              <a:solidFill>
                <a:schemeClr val="accent6"/>
              </a:solidFill>
            </a:endParaRPr>
          </a:p>
          <a:p>
            <a:pPr marL="12700" marR="5080"/>
            <a:r>
              <a:rPr lang="en-US" sz="1500" kern="0" spc="-220" dirty="0">
                <a:solidFill>
                  <a:schemeClr val="accent6"/>
                </a:solidFill>
              </a:rPr>
              <a:t>{</a:t>
            </a:r>
          </a:p>
          <a:p>
            <a:pPr marL="12700" marR="5080"/>
            <a:r>
              <a:rPr lang="en-US" sz="1500" kern="0" spc="-220" dirty="0">
                <a:solidFill>
                  <a:schemeClr val="accent6"/>
                </a:solidFill>
              </a:rPr>
              <a:t>    private </a:t>
            </a:r>
            <a:r>
              <a:rPr lang="en-US" sz="1500" kern="0" spc="-220" dirty="0" err="1">
                <a:solidFill>
                  <a:schemeClr val="accent6"/>
                </a:solidFill>
              </a:rPr>
              <a:t>readonly</a:t>
            </a:r>
            <a:r>
              <a:rPr lang="en-US" sz="1500" kern="0" spc="-220" dirty="0">
                <a:solidFill>
                  <a:schemeClr val="accent6"/>
                </a:solidFill>
              </a:rPr>
              <a:t> int[][] _marks;</a:t>
            </a:r>
          </a:p>
          <a:p>
            <a:pPr marL="12700" marR="5080"/>
            <a:r>
              <a:rPr lang="en-US" sz="1500" kern="0" spc="-220" dirty="0">
                <a:solidFill>
                  <a:schemeClr val="accent6"/>
                </a:solidFill>
              </a:rPr>
              <a:t>    public </a:t>
            </a:r>
            <a:r>
              <a:rPr lang="en-US" sz="1500" kern="0" spc="-220" dirty="0" err="1">
                <a:solidFill>
                  <a:schemeClr val="accent6"/>
                </a:solidFill>
              </a:rPr>
              <a:t>StudentMarks</a:t>
            </a:r>
            <a:r>
              <a:rPr lang="en-US" sz="1500" kern="0" spc="-220" dirty="0">
                <a:solidFill>
                  <a:schemeClr val="accent6"/>
                </a:solidFill>
              </a:rPr>
              <a:t>(int </a:t>
            </a:r>
            <a:r>
              <a:rPr lang="en-US" sz="1500" kern="0" spc="-220" dirty="0" err="1">
                <a:solidFill>
                  <a:schemeClr val="accent6"/>
                </a:solidFill>
              </a:rPr>
              <a:t>studentCount</a:t>
            </a:r>
            <a:r>
              <a:rPr lang="en-US" sz="1500" kern="0" spc="-220" dirty="0">
                <a:solidFill>
                  <a:schemeClr val="accent6"/>
                </a:solidFill>
              </a:rPr>
              <a:t>)</a:t>
            </a:r>
          </a:p>
          <a:p>
            <a:pPr marL="12700" marR="5080"/>
            <a:r>
              <a:rPr lang="en-US" sz="1500" kern="0" spc="-220" dirty="0">
                <a:solidFill>
                  <a:schemeClr val="accent6"/>
                </a:solidFill>
              </a:rPr>
              <a:t>    {</a:t>
            </a:r>
          </a:p>
          <a:p>
            <a:pPr marL="12700" marR="5080"/>
            <a:r>
              <a:rPr lang="en-US" sz="1500" kern="0" spc="-220" dirty="0">
                <a:solidFill>
                  <a:schemeClr val="accent6"/>
                </a:solidFill>
              </a:rPr>
              <a:t>        if (</a:t>
            </a:r>
            <a:r>
              <a:rPr lang="en-US" sz="1500" kern="0" spc="-220" dirty="0" err="1">
                <a:solidFill>
                  <a:schemeClr val="accent6"/>
                </a:solidFill>
              </a:rPr>
              <a:t>studentCount</a:t>
            </a:r>
            <a:r>
              <a:rPr lang="en-US" sz="1500" kern="0" spc="-220" dirty="0">
                <a:solidFill>
                  <a:schemeClr val="accent6"/>
                </a:solidFill>
              </a:rPr>
              <a:t> &lt;= 0)</a:t>
            </a:r>
          </a:p>
          <a:p>
            <a:pPr marL="12700" marR="5080"/>
            <a:r>
              <a:rPr lang="en-US" sz="1500" kern="0" spc="-220" dirty="0">
                <a:solidFill>
                  <a:schemeClr val="accent6"/>
                </a:solidFill>
              </a:rPr>
              <a:t>            throw new </a:t>
            </a:r>
            <a:r>
              <a:rPr lang="en-US" sz="1500" kern="0" spc="-220" dirty="0" err="1">
                <a:solidFill>
                  <a:schemeClr val="accent6"/>
                </a:solidFill>
              </a:rPr>
              <a:t>ArgumentException</a:t>
            </a:r>
            <a:r>
              <a:rPr lang="en-US" sz="1500" kern="0" spc="-220" dirty="0">
                <a:solidFill>
                  <a:schemeClr val="accent6"/>
                </a:solidFill>
              </a:rPr>
              <a:t>("Invalid student count.");</a:t>
            </a:r>
          </a:p>
          <a:p>
            <a:pPr marL="12700" marR="5080"/>
            <a:r>
              <a:rPr lang="en-US" sz="1500" kern="0" spc="-220" dirty="0">
                <a:solidFill>
                  <a:schemeClr val="accent6"/>
                </a:solidFill>
              </a:rPr>
              <a:t>        _marks = new int[</a:t>
            </a:r>
            <a:r>
              <a:rPr lang="en-US" sz="1500" kern="0" spc="-220" dirty="0" err="1">
                <a:solidFill>
                  <a:schemeClr val="accent6"/>
                </a:solidFill>
              </a:rPr>
              <a:t>studentCount</a:t>
            </a:r>
            <a:r>
              <a:rPr lang="en-US" sz="1500" kern="0" spc="-220" dirty="0">
                <a:solidFill>
                  <a:schemeClr val="accent6"/>
                </a:solidFill>
              </a:rPr>
              <a:t>][];</a:t>
            </a:r>
          </a:p>
          <a:p>
            <a:pPr marL="12700" marR="5080"/>
            <a:r>
              <a:rPr lang="en-US" sz="1500" kern="0" spc="-220" dirty="0">
                <a:solidFill>
                  <a:schemeClr val="accent6"/>
                </a:solidFill>
              </a:rPr>
              <a:t>    }</a:t>
            </a:r>
          </a:p>
        </p:txBody>
      </p:sp>
    </p:spTree>
    <p:extLst>
      <p:ext uri="{BB962C8B-B14F-4D97-AF65-F5344CB8AC3E}">
        <p14:creationId xmlns:p14="http://schemas.microsoft.com/office/powerpoint/2010/main" val="36802810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5BA5F-56CF-1419-645F-DCD0029FBE3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D62D7DB-07A2-BA55-9CD1-FBF740563D1F}"/>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723BD40-4BF3-00F5-FB42-7F4B849A60CD}"/>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B6B6B31-E98E-198C-D554-91FFABE9D793}"/>
              </a:ext>
            </a:extLst>
          </p:cNvPr>
          <p:cNvGraphicFramePr/>
          <p:nvPr>
            <p:extLst>
              <p:ext uri="{D42A27DB-BD31-4B8C-83A1-F6EECF244321}">
                <p14:modId xmlns:p14="http://schemas.microsoft.com/office/powerpoint/2010/main" val="3849597183"/>
              </p:ext>
            </p:extLst>
          </p:nvPr>
        </p:nvGraphicFramePr>
        <p:xfrm>
          <a:off x="762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4C3EBE2-5459-C380-EC3F-92558281428C}"/>
              </a:ext>
            </a:extLst>
          </p:cNvPr>
          <p:cNvSpPr txBox="1">
            <a:spLocks/>
          </p:cNvSpPr>
          <p:nvPr/>
        </p:nvSpPr>
        <p:spPr>
          <a:xfrm>
            <a:off x="275300" y="1165622"/>
            <a:ext cx="8624937" cy="475514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2"/>
                </a:solidFill>
              </a:rPr>
              <a:t>Multidimensional &amp; Jagged Array</a:t>
            </a:r>
          </a:p>
          <a:p>
            <a:pPr marL="12700" marR="5080"/>
            <a:r>
              <a:rPr lang="en-US" sz="1500" kern="0" spc="-220" dirty="0">
                <a:solidFill>
                  <a:schemeClr val="accent2"/>
                </a:solidFill>
              </a:rPr>
              <a:t>2️⃣ Jagged Array (Array of Arrays)</a:t>
            </a:r>
          </a:p>
          <a:p>
            <a:pPr marL="12700" marR="5080"/>
            <a:r>
              <a:rPr lang="en-US" sz="1500" kern="0" spc="-220" dirty="0">
                <a:solidFill>
                  <a:schemeClr val="accent2"/>
                </a:solidFill>
              </a:rPr>
              <a:t>📌 Example 1: Student Marks (Real-World Academic System)</a:t>
            </a:r>
          </a:p>
          <a:p>
            <a:pPr marL="12700" marR="5080"/>
            <a:r>
              <a:rPr lang="en-US" sz="1500" kern="0" spc="-220" dirty="0">
                <a:solidFill>
                  <a:schemeClr val="accent6"/>
                </a:solidFill>
              </a:rPr>
              <a:t>public class </a:t>
            </a:r>
            <a:r>
              <a:rPr lang="en-US" sz="1500" kern="0" spc="-220" dirty="0" err="1">
                <a:solidFill>
                  <a:schemeClr val="accent6"/>
                </a:solidFill>
              </a:rPr>
              <a:t>StudentMarks</a:t>
            </a:r>
            <a:endParaRPr lang="en-US" sz="1500" kern="0" spc="-220" dirty="0">
              <a:solidFill>
                <a:schemeClr val="accent6"/>
              </a:solidFill>
            </a:endParaRPr>
          </a:p>
          <a:p>
            <a:pPr marL="12700" marR="5080"/>
            <a:r>
              <a:rPr lang="en-US" sz="1500" kern="0" spc="-220" dirty="0">
                <a:solidFill>
                  <a:schemeClr val="accent6"/>
                </a:solidFill>
              </a:rPr>
              <a:t>{</a:t>
            </a:r>
          </a:p>
          <a:p>
            <a:pPr marL="12700" marR="5080"/>
            <a:r>
              <a:rPr lang="en-US" sz="1500" kern="0" spc="-220" dirty="0">
                <a:solidFill>
                  <a:schemeClr val="accent6"/>
                </a:solidFill>
              </a:rPr>
              <a:t> // earlier code in earlier slide</a:t>
            </a:r>
          </a:p>
          <a:p>
            <a:pPr marL="12700" marR="5080"/>
            <a:r>
              <a:rPr lang="en-US" sz="1500" kern="0" spc="-220" dirty="0">
                <a:solidFill>
                  <a:schemeClr val="accent6"/>
                </a:solidFill>
              </a:rPr>
              <a:t> public void </a:t>
            </a:r>
            <a:r>
              <a:rPr lang="en-US" sz="1500" kern="0" spc="-220" dirty="0" err="1">
                <a:solidFill>
                  <a:schemeClr val="accent6"/>
                </a:solidFill>
              </a:rPr>
              <a:t>AddMarks</a:t>
            </a:r>
            <a:r>
              <a:rPr lang="en-US" sz="1500" kern="0" spc="-220" dirty="0">
                <a:solidFill>
                  <a:schemeClr val="accent6"/>
                </a:solidFill>
              </a:rPr>
              <a:t>(int </a:t>
            </a:r>
            <a:r>
              <a:rPr lang="en-US" sz="1500" kern="0" spc="-220" dirty="0" err="1">
                <a:solidFill>
                  <a:schemeClr val="accent6"/>
                </a:solidFill>
              </a:rPr>
              <a:t>studentIndex</a:t>
            </a:r>
            <a:r>
              <a:rPr lang="en-US" sz="1500" kern="0" spc="-220" dirty="0">
                <a:solidFill>
                  <a:schemeClr val="accent6"/>
                </a:solidFill>
              </a:rPr>
              <a:t>, int[] marks)</a:t>
            </a:r>
          </a:p>
          <a:p>
            <a:pPr marL="12700" marR="5080"/>
            <a:r>
              <a:rPr lang="en-US" sz="1500" kern="0" spc="-220" dirty="0">
                <a:solidFill>
                  <a:schemeClr val="accent6"/>
                </a:solidFill>
              </a:rPr>
              <a:t>    {</a:t>
            </a:r>
          </a:p>
          <a:p>
            <a:pPr marL="12700" marR="5080"/>
            <a:r>
              <a:rPr lang="en-US" sz="1500" kern="0" spc="-220" dirty="0">
                <a:solidFill>
                  <a:schemeClr val="accent6"/>
                </a:solidFill>
              </a:rPr>
              <a:t>        if (marks == null || </a:t>
            </a:r>
            <a:r>
              <a:rPr lang="en-US" sz="1500" kern="0" spc="-220" dirty="0" err="1">
                <a:solidFill>
                  <a:schemeClr val="accent6"/>
                </a:solidFill>
              </a:rPr>
              <a:t>marks.Length</a:t>
            </a:r>
            <a:r>
              <a:rPr lang="en-US" sz="1500" kern="0" spc="-220" dirty="0">
                <a:solidFill>
                  <a:schemeClr val="accent6"/>
                </a:solidFill>
              </a:rPr>
              <a:t> == 0)</a:t>
            </a:r>
          </a:p>
          <a:p>
            <a:pPr marL="12700" marR="5080"/>
            <a:r>
              <a:rPr lang="en-US" sz="1500" kern="0" spc="-220" dirty="0">
                <a:solidFill>
                  <a:schemeClr val="accent6"/>
                </a:solidFill>
              </a:rPr>
              <a:t>            throw new </a:t>
            </a:r>
            <a:r>
              <a:rPr lang="en-US" sz="1500" kern="0" spc="-220" dirty="0" err="1">
                <a:solidFill>
                  <a:schemeClr val="accent6"/>
                </a:solidFill>
              </a:rPr>
              <a:t>ArgumentException</a:t>
            </a:r>
            <a:r>
              <a:rPr lang="en-US" sz="1500" kern="0" spc="-220" dirty="0">
                <a:solidFill>
                  <a:schemeClr val="accent6"/>
                </a:solidFill>
              </a:rPr>
              <a:t>("Marks cannot be empty.");</a:t>
            </a:r>
          </a:p>
          <a:p>
            <a:pPr marL="12700" marR="5080"/>
            <a:r>
              <a:rPr lang="en-US" sz="1500" kern="0" spc="-220" dirty="0">
                <a:solidFill>
                  <a:schemeClr val="accent6"/>
                </a:solidFill>
              </a:rPr>
              <a:t>        _marks[</a:t>
            </a:r>
            <a:r>
              <a:rPr lang="en-US" sz="1500" kern="0" spc="-220" dirty="0" err="1">
                <a:solidFill>
                  <a:schemeClr val="accent6"/>
                </a:solidFill>
              </a:rPr>
              <a:t>studentIndex</a:t>
            </a:r>
            <a:r>
              <a:rPr lang="en-US" sz="1500" kern="0" spc="-220" dirty="0">
                <a:solidFill>
                  <a:schemeClr val="accent6"/>
                </a:solidFill>
              </a:rPr>
              <a:t>] = marks;</a:t>
            </a:r>
          </a:p>
          <a:p>
            <a:pPr marL="12700" marR="5080"/>
            <a:r>
              <a:rPr lang="en-US" sz="1500" kern="0" spc="-220" dirty="0">
                <a:solidFill>
                  <a:schemeClr val="accent6"/>
                </a:solidFill>
              </a:rPr>
              <a:t>    }</a:t>
            </a:r>
          </a:p>
          <a:p>
            <a:pPr marL="12700" marR="5080"/>
            <a:r>
              <a:rPr lang="en-US" sz="1500" kern="0" spc="-220" dirty="0">
                <a:solidFill>
                  <a:schemeClr val="accent6"/>
                </a:solidFill>
              </a:rPr>
              <a:t>public class </a:t>
            </a:r>
            <a:r>
              <a:rPr lang="en-US" sz="1500" kern="0" spc="-220" dirty="0" err="1">
                <a:solidFill>
                  <a:schemeClr val="accent6"/>
                </a:solidFill>
              </a:rPr>
              <a:t>StudentMarks</a:t>
            </a:r>
            <a:endParaRPr lang="en-US" sz="1500" kern="0" spc="-220" dirty="0">
              <a:solidFill>
                <a:schemeClr val="accent6"/>
              </a:solidFill>
            </a:endParaRPr>
          </a:p>
          <a:p>
            <a:pPr marL="12700" marR="5080"/>
            <a:r>
              <a:rPr lang="en-US" sz="1500" kern="0" spc="-220" dirty="0">
                <a:solidFill>
                  <a:schemeClr val="accent6"/>
                </a:solidFill>
              </a:rPr>
              <a:t>{</a:t>
            </a:r>
          </a:p>
          <a:p>
            <a:pPr marL="12700" marR="5080"/>
            <a:r>
              <a:rPr lang="en-US" sz="1500" kern="0" spc="-220" dirty="0">
                <a:solidFill>
                  <a:schemeClr val="accent6"/>
                </a:solidFill>
              </a:rPr>
              <a:t>   // Earlier code in earlier slide</a:t>
            </a:r>
          </a:p>
          <a:p>
            <a:pPr marL="12700" marR="5080"/>
            <a:r>
              <a:rPr lang="en-US" sz="1500" kern="0" spc="-220" dirty="0">
                <a:solidFill>
                  <a:schemeClr val="accent6"/>
                </a:solidFill>
              </a:rPr>
              <a:t>   public double </a:t>
            </a:r>
            <a:r>
              <a:rPr lang="en-US" sz="1500" kern="0" spc="-220" dirty="0" err="1">
                <a:solidFill>
                  <a:schemeClr val="accent6"/>
                </a:solidFill>
              </a:rPr>
              <a:t>GetAverage</a:t>
            </a:r>
            <a:r>
              <a:rPr lang="en-US" sz="1500" kern="0" spc="-220" dirty="0">
                <a:solidFill>
                  <a:schemeClr val="accent6"/>
                </a:solidFill>
              </a:rPr>
              <a:t>(int </a:t>
            </a:r>
            <a:r>
              <a:rPr lang="en-US" sz="1500" kern="0" spc="-220" dirty="0" err="1">
                <a:solidFill>
                  <a:schemeClr val="accent6"/>
                </a:solidFill>
              </a:rPr>
              <a:t>studentIndex</a:t>
            </a:r>
            <a:r>
              <a:rPr lang="en-US" sz="1500" kern="0" spc="-220" dirty="0">
                <a:solidFill>
                  <a:schemeClr val="accent6"/>
                </a:solidFill>
              </a:rPr>
              <a:t>)</a:t>
            </a:r>
          </a:p>
          <a:p>
            <a:pPr marL="12700" marR="5080"/>
            <a:r>
              <a:rPr lang="en-US" sz="1500" kern="0" spc="-220" dirty="0">
                <a:solidFill>
                  <a:schemeClr val="accent6"/>
                </a:solidFill>
              </a:rPr>
              <a:t>    {</a:t>
            </a:r>
          </a:p>
          <a:p>
            <a:pPr marL="12700" marR="5080"/>
            <a:r>
              <a:rPr lang="en-US" sz="1500" kern="0" spc="-220" dirty="0">
                <a:solidFill>
                  <a:schemeClr val="accent6"/>
                </a:solidFill>
              </a:rPr>
              <a:t>        int[] marks = _marks[</a:t>
            </a:r>
            <a:r>
              <a:rPr lang="en-US" sz="1500" kern="0" spc="-220" dirty="0" err="1">
                <a:solidFill>
                  <a:schemeClr val="accent6"/>
                </a:solidFill>
              </a:rPr>
              <a:t>studentIndex</a:t>
            </a:r>
            <a:r>
              <a:rPr lang="en-US" sz="1500" kern="0" spc="-220" dirty="0">
                <a:solidFill>
                  <a:schemeClr val="accent6"/>
                </a:solidFill>
              </a:rPr>
              <a:t>]</a:t>
            </a:r>
          </a:p>
          <a:p>
            <a:pPr marL="12700" marR="5080"/>
            <a:r>
              <a:rPr lang="en-US" sz="1500" kern="0" spc="-220" dirty="0">
                <a:solidFill>
                  <a:schemeClr val="accent6"/>
                </a:solidFill>
              </a:rPr>
              <a:t>            ?? throw new </a:t>
            </a:r>
            <a:r>
              <a:rPr lang="en-US" sz="1500" kern="0" spc="-220" dirty="0" err="1">
                <a:solidFill>
                  <a:schemeClr val="accent6"/>
                </a:solidFill>
              </a:rPr>
              <a:t>InvalidOperationException</a:t>
            </a:r>
            <a:r>
              <a:rPr lang="en-US" sz="1500" kern="0" spc="-220" dirty="0">
                <a:solidFill>
                  <a:schemeClr val="accent6"/>
                </a:solidFill>
              </a:rPr>
              <a:t>("Marks not assigned.");</a:t>
            </a:r>
          </a:p>
          <a:p>
            <a:pPr marL="12700" marR="5080"/>
            <a:r>
              <a:rPr lang="en-US" sz="1500" kern="0" spc="-220" dirty="0">
                <a:solidFill>
                  <a:schemeClr val="accent6"/>
                </a:solidFill>
              </a:rPr>
              <a:t>        return </a:t>
            </a:r>
            <a:r>
              <a:rPr lang="en-US" sz="1500" kern="0" spc="-220" dirty="0" err="1">
                <a:solidFill>
                  <a:schemeClr val="accent6"/>
                </a:solidFill>
              </a:rPr>
              <a:t>marks.Average</a:t>
            </a:r>
            <a:r>
              <a:rPr lang="en-US" sz="1500" kern="0" spc="-220" dirty="0">
                <a:solidFill>
                  <a:schemeClr val="accent6"/>
                </a:solidFill>
              </a:rPr>
              <a:t>();    }}</a:t>
            </a:r>
          </a:p>
        </p:txBody>
      </p:sp>
    </p:spTree>
    <p:extLst>
      <p:ext uri="{BB962C8B-B14F-4D97-AF65-F5344CB8AC3E}">
        <p14:creationId xmlns:p14="http://schemas.microsoft.com/office/powerpoint/2010/main" val="35762795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128B1-3FF3-5EEA-C64F-161F70858C7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7EF23EB-CBA7-7765-717B-B20B43747330}"/>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BD36C20-7DCF-3DD1-47D6-83A8AB270146}"/>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872CFC5-F733-2C86-98AC-9F5311526670}"/>
              </a:ext>
            </a:extLst>
          </p:cNvPr>
          <p:cNvGraphicFramePr/>
          <p:nvPr>
            <p:extLst>
              <p:ext uri="{D42A27DB-BD31-4B8C-83A1-F6EECF244321}">
                <p14:modId xmlns:p14="http://schemas.microsoft.com/office/powerpoint/2010/main" val="4199514110"/>
              </p:ext>
            </p:extLst>
          </p:nvPr>
        </p:nvGraphicFramePr>
        <p:xfrm>
          <a:off x="762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19BFC0B-B2DC-A79E-117B-6FF83EA88413}"/>
              </a:ext>
            </a:extLst>
          </p:cNvPr>
          <p:cNvSpPr txBox="1">
            <a:spLocks/>
          </p:cNvSpPr>
          <p:nvPr/>
        </p:nvSpPr>
        <p:spPr>
          <a:xfrm>
            <a:off x="275300" y="1165622"/>
            <a:ext cx="8624937" cy="518603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2"/>
                </a:solidFill>
              </a:rPr>
              <a:t>Multidimensional &amp; Jagged Array</a:t>
            </a:r>
          </a:p>
          <a:p>
            <a:pPr marL="12700" marR="5080"/>
            <a:r>
              <a:rPr lang="en-US" sz="1500" kern="0" spc="-220" dirty="0">
                <a:solidFill>
                  <a:schemeClr val="accent2"/>
                </a:solidFill>
              </a:rPr>
              <a:t>✔ Why jagged here?</a:t>
            </a:r>
          </a:p>
          <a:p>
            <a:pPr marL="12700" marR="5080"/>
            <a:r>
              <a:rPr lang="en-US" sz="1500" kern="0" spc="-220" dirty="0">
                <a:solidFill>
                  <a:schemeClr val="accent6"/>
                </a:solidFill>
              </a:rPr>
              <a:t>Students may take different numbers of subjects</a:t>
            </a:r>
          </a:p>
          <a:p>
            <a:pPr marL="12700" marR="5080"/>
            <a:r>
              <a:rPr lang="en-US" sz="1500" kern="0" spc="-220" dirty="0">
                <a:solidFill>
                  <a:schemeClr val="accent6"/>
                </a:solidFill>
              </a:rPr>
              <a:t>Memory efficient</a:t>
            </a:r>
          </a:p>
          <a:p>
            <a:pPr marL="12700" marR="5080"/>
            <a:r>
              <a:rPr lang="en-US" sz="1500" kern="0" spc="-220" dirty="0">
                <a:solidFill>
                  <a:schemeClr val="accent6"/>
                </a:solidFill>
              </a:rPr>
              <a:t>Faster iteration than [,]</a:t>
            </a:r>
          </a:p>
          <a:p>
            <a:pPr marL="12700" marR="5080"/>
            <a:r>
              <a:rPr lang="en-US" sz="1500" kern="0" spc="-220" dirty="0">
                <a:solidFill>
                  <a:schemeClr val="accent2"/>
                </a:solidFill>
              </a:rPr>
              <a:t>📌 Example 2: Monthly Sales by Region (Business Analytics)</a:t>
            </a:r>
          </a:p>
          <a:p>
            <a:pPr marL="12700" marR="5080"/>
            <a:r>
              <a:rPr lang="en-US" sz="1500" kern="0" spc="-220" dirty="0">
                <a:solidFill>
                  <a:schemeClr val="accent6"/>
                </a:solidFill>
              </a:rPr>
              <a:t>Different regions → different number of stores.</a:t>
            </a:r>
          </a:p>
          <a:p>
            <a:pPr marL="12700" marR="5080"/>
            <a:r>
              <a:rPr lang="en-US" sz="1500" kern="0" spc="-220" dirty="0">
                <a:solidFill>
                  <a:schemeClr val="accent6"/>
                </a:solidFill>
              </a:rPr>
              <a:t>public sealed class </a:t>
            </a:r>
            <a:r>
              <a:rPr lang="en-US" sz="1500" kern="0" spc="-220" dirty="0" err="1">
                <a:solidFill>
                  <a:schemeClr val="accent6"/>
                </a:solidFill>
              </a:rPr>
              <a:t>SalesData</a:t>
            </a:r>
            <a:endParaRPr lang="en-US" sz="1500" kern="0" spc="-220" dirty="0">
              <a:solidFill>
                <a:schemeClr val="accent6"/>
              </a:solidFill>
            </a:endParaRPr>
          </a:p>
          <a:p>
            <a:pPr marL="12700" marR="5080"/>
            <a:r>
              <a:rPr lang="en-US" sz="1500" kern="0" spc="-220" dirty="0">
                <a:solidFill>
                  <a:schemeClr val="accent6"/>
                </a:solidFill>
              </a:rPr>
              <a:t>{</a:t>
            </a:r>
          </a:p>
          <a:p>
            <a:pPr marL="12700" marR="5080"/>
            <a:r>
              <a:rPr lang="en-US" sz="1500" kern="0" spc="-220" dirty="0">
                <a:solidFill>
                  <a:schemeClr val="accent6"/>
                </a:solidFill>
              </a:rPr>
              <a:t>    private </a:t>
            </a:r>
            <a:r>
              <a:rPr lang="en-US" sz="1500" kern="0" spc="-220" dirty="0" err="1">
                <a:solidFill>
                  <a:schemeClr val="accent6"/>
                </a:solidFill>
              </a:rPr>
              <a:t>readonly</a:t>
            </a:r>
            <a:r>
              <a:rPr lang="en-US" sz="1500" kern="0" spc="-220" dirty="0">
                <a:solidFill>
                  <a:schemeClr val="accent6"/>
                </a:solidFill>
              </a:rPr>
              <a:t> decimal[][] _</a:t>
            </a:r>
            <a:r>
              <a:rPr lang="en-US" sz="1500" kern="0" spc="-220" dirty="0" err="1">
                <a:solidFill>
                  <a:schemeClr val="accent6"/>
                </a:solidFill>
              </a:rPr>
              <a:t>monthlySales</a:t>
            </a:r>
            <a:r>
              <a:rPr lang="en-US" sz="1500" kern="0" spc="-220" dirty="0">
                <a:solidFill>
                  <a:schemeClr val="accent6"/>
                </a:solidFill>
              </a:rPr>
              <a:t>;</a:t>
            </a:r>
          </a:p>
          <a:p>
            <a:pPr marL="12700" marR="5080"/>
            <a:r>
              <a:rPr lang="en-US" sz="1500" kern="0" spc="-220" dirty="0">
                <a:solidFill>
                  <a:schemeClr val="accent6"/>
                </a:solidFill>
              </a:rPr>
              <a:t>    public </a:t>
            </a:r>
            <a:r>
              <a:rPr lang="en-US" sz="1500" kern="0" spc="-220" dirty="0" err="1">
                <a:solidFill>
                  <a:schemeClr val="accent6"/>
                </a:solidFill>
              </a:rPr>
              <a:t>SalesData</a:t>
            </a:r>
            <a:r>
              <a:rPr lang="en-US" sz="1500" kern="0" spc="-220" dirty="0">
                <a:solidFill>
                  <a:schemeClr val="accent6"/>
                </a:solidFill>
              </a:rPr>
              <a:t>(int </a:t>
            </a:r>
            <a:r>
              <a:rPr lang="en-US" sz="1500" kern="0" spc="-220" dirty="0" err="1">
                <a:solidFill>
                  <a:schemeClr val="accent6"/>
                </a:solidFill>
              </a:rPr>
              <a:t>regionCount</a:t>
            </a:r>
            <a:r>
              <a:rPr lang="en-US" sz="1500" kern="0" spc="-220" dirty="0">
                <a:solidFill>
                  <a:schemeClr val="accent6"/>
                </a:solidFill>
              </a:rPr>
              <a:t>)</a:t>
            </a:r>
          </a:p>
          <a:p>
            <a:pPr marL="12700" marR="5080"/>
            <a:r>
              <a:rPr lang="en-US" sz="1500" kern="0" spc="-220" dirty="0">
                <a:solidFill>
                  <a:schemeClr val="accent6"/>
                </a:solidFill>
              </a:rPr>
              <a:t>    {</a:t>
            </a:r>
          </a:p>
          <a:p>
            <a:pPr marL="12700" marR="5080"/>
            <a:r>
              <a:rPr lang="en-US" sz="1500" kern="0" spc="-220" dirty="0">
                <a:solidFill>
                  <a:schemeClr val="accent6"/>
                </a:solidFill>
              </a:rPr>
              <a:t>        _</a:t>
            </a:r>
            <a:r>
              <a:rPr lang="en-US" sz="1500" kern="0" spc="-220" dirty="0" err="1">
                <a:solidFill>
                  <a:schemeClr val="accent6"/>
                </a:solidFill>
              </a:rPr>
              <a:t>monthlySales</a:t>
            </a:r>
            <a:r>
              <a:rPr lang="en-US" sz="1500" kern="0" spc="-220" dirty="0">
                <a:solidFill>
                  <a:schemeClr val="accent6"/>
                </a:solidFill>
              </a:rPr>
              <a:t> = new decimal[</a:t>
            </a:r>
            <a:r>
              <a:rPr lang="en-US" sz="1500" kern="0" spc="-220" dirty="0" err="1">
                <a:solidFill>
                  <a:schemeClr val="accent6"/>
                </a:solidFill>
              </a:rPr>
              <a:t>regionCount</a:t>
            </a:r>
            <a:r>
              <a:rPr lang="en-US" sz="1500" kern="0" spc="-220" dirty="0">
                <a:solidFill>
                  <a:schemeClr val="accent6"/>
                </a:solidFill>
              </a:rPr>
              <a:t>][];</a:t>
            </a:r>
          </a:p>
          <a:p>
            <a:pPr marL="12700" marR="5080"/>
            <a:r>
              <a:rPr lang="en-US" sz="1500" kern="0" spc="-220" dirty="0">
                <a:solidFill>
                  <a:schemeClr val="accent6"/>
                </a:solidFill>
              </a:rPr>
              <a:t>    }</a:t>
            </a:r>
          </a:p>
          <a:p>
            <a:pPr marL="12700" marR="5080"/>
            <a:r>
              <a:rPr lang="en-US" sz="1500" kern="0" spc="-220" dirty="0">
                <a:solidFill>
                  <a:schemeClr val="accent6"/>
                </a:solidFill>
              </a:rPr>
              <a:t>    public void </a:t>
            </a:r>
            <a:r>
              <a:rPr lang="en-US" sz="1500" kern="0" spc="-220" dirty="0" err="1">
                <a:solidFill>
                  <a:schemeClr val="accent6"/>
                </a:solidFill>
              </a:rPr>
              <a:t>SetRegionSales</a:t>
            </a:r>
            <a:r>
              <a:rPr lang="en-US" sz="1500" kern="0" spc="-220" dirty="0">
                <a:solidFill>
                  <a:schemeClr val="accent6"/>
                </a:solidFill>
              </a:rPr>
              <a:t>(int </a:t>
            </a:r>
            <a:r>
              <a:rPr lang="en-US" sz="1500" kern="0" spc="-220" dirty="0" err="1">
                <a:solidFill>
                  <a:schemeClr val="accent6"/>
                </a:solidFill>
              </a:rPr>
              <a:t>regionIndex</a:t>
            </a:r>
            <a:r>
              <a:rPr lang="en-US" sz="1500" kern="0" spc="-220" dirty="0">
                <a:solidFill>
                  <a:schemeClr val="accent6"/>
                </a:solidFill>
              </a:rPr>
              <a:t>, decimal[] sales)</a:t>
            </a:r>
          </a:p>
          <a:p>
            <a:pPr marL="12700" marR="5080"/>
            <a:r>
              <a:rPr lang="en-US" sz="1500" kern="0" spc="-220" dirty="0">
                <a:solidFill>
                  <a:schemeClr val="accent6"/>
                </a:solidFill>
              </a:rPr>
              <a:t>    {</a:t>
            </a:r>
          </a:p>
          <a:p>
            <a:pPr marL="12700" marR="5080"/>
            <a:r>
              <a:rPr lang="en-US" sz="1500" kern="0" spc="-220" dirty="0">
                <a:solidFill>
                  <a:schemeClr val="accent6"/>
                </a:solidFill>
              </a:rPr>
              <a:t>        if (sales == null)</a:t>
            </a:r>
          </a:p>
          <a:p>
            <a:pPr marL="12700" marR="5080"/>
            <a:r>
              <a:rPr lang="en-US" sz="1500" kern="0" spc="-220" dirty="0">
                <a:solidFill>
                  <a:schemeClr val="accent6"/>
                </a:solidFill>
              </a:rPr>
              <a:t>            throw new </a:t>
            </a:r>
            <a:r>
              <a:rPr lang="en-US" sz="1500" kern="0" spc="-220" dirty="0" err="1">
                <a:solidFill>
                  <a:schemeClr val="accent6"/>
                </a:solidFill>
              </a:rPr>
              <a:t>ArgumentNullException</a:t>
            </a:r>
            <a:r>
              <a:rPr lang="en-US" sz="1500" kern="0" spc="-220" dirty="0">
                <a:solidFill>
                  <a:schemeClr val="accent6"/>
                </a:solidFill>
              </a:rPr>
              <a:t>(</a:t>
            </a:r>
            <a:r>
              <a:rPr lang="en-US" sz="1500" kern="0" spc="-220" dirty="0" err="1">
                <a:solidFill>
                  <a:schemeClr val="accent6"/>
                </a:solidFill>
              </a:rPr>
              <a:t>nameof</a:t>
            </a:r>
            <a:r>
              <a:rPr lang="en-US" sz="1500" kern="0" spc="-220" dirty="0">
                <a:solidFill>
                  <a:schemeClr val="accent6"/>
                </a:solidFill>
              </a:rPr>
              <a:t>(sales));</a:t>
            </a:r>
          </a:p>
          <a:p>
            <a:pPr marL="12700" marR="5080"/>
            <a:r>
              <a:rPr lang="en-US" sz="1500" kern="0" spc="-220" dirty="0">
                <a:solidFill>
                  <a:schemeClr val="accent6"/>
                </a:solidFill>
              </a:rPr>
              <a:t>        _</a:t>
            </a:r>
            <a:r>
              <a:rPr lang="en-US" sz="1500" kern="0" spc="-220" dirty="0" err="1">
                <a:solidFill>
                  <a:schemeClr val="accent6"/>
                </a:solidFill>
              </a:rPr>
              <a:t>monthlySales</a:t>
            </a:r>
            <a:r>
              <a:rPr lang="en-US" sz="1500" kern="0" spc="-220" dirty="0">
                <a:solidFill>
                  <a:schemeClr val="accent6"/>
                </a:solidFill>
              </a:rPr>
              <a:t>[</a:t>
            </a:r>
            <a:r>
              <a:rPr lang="en-US" sz="1500" kern="0" spc="-220" dirty="0" err="1">
                <a:solidFill>
                  <a:schemeClr val="accent6"/>
                </a:solidFill>
              </a:rPr>
              <a:t>regionIndex</a:t>
            </a:r>
            <a:r>
              <a:rPr lang="en-US" sz="1500" kern="0" spc="-220" dirty="0">
                <a:solidFill>
                  <a:schemeClr val="accent6"/>
                </a:solidFill>
              </a:rPr>
              <a:t>] = sales;</a:t>
            </a:r>
          </a:p>
          <a:p>
            <a:pPr marL="12700" marR="5080"/>
            <a:r>
              <a:rPr lang="en-US" sz="1500" kern="0" spc="-220" dirty="0">
                <a:solidFill>
                  <a:schemeClr val="accent6"/>
                </a:solidFill>
              </a:rPr>
              <a:t>    }</a:t>
            </a:r>
          </a:p>
          <a:p>
            <a:pPr marL="12700" marR="5080"/>
            <a:endParaRPr lang="en-US" sz="1400" kern="0" spc="-220" dirty="0">
              <a:solidFill>
                <a:schemeClr val="accent6"/>
              </a:solidFill>
            </a:endParaRPr>
          </a:p>
          <a:p>
            <a:pPr marL="12700" marR="5080"/>
            <a:endParaRPr lang="en-US" sz="1400" kern="0" spc="-220" dirty="0">
              <a:solidFill>
                <a:schemeClr val="accent6"/>
              </a:solidFill>
            </a:endParaRPr>
          </a:p>
        </p:txBody>
      </p:sp>
    </p:spTree>
    <p:extLst>
      <p:ext uri="{BB962C8B-B14F-4D97-AF65-F5344CB8AC3E}">
        <p14:creationId xmlns:p14="http://schemas.microsoft.com/office/powerpoint/2010/main" val="40245887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D484C-AE97-3C8C-59A4-8DC6C6CF327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14033A1-93AD-7D25-878A-95435FB0CA35}"/>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D1940A3-4C4B-3070-61D4-536559129EEE}"/>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8427EC7-9A74-3B81-9583-A0E1D557FDBC}"/>
              </a:ext>
            </a:extLst>
          </p:cNvPr>
          <p:cNvGraphicFramePr/>
          <p:nvPr>
            <p:extLst>
              <p:ext uri="{D42A27DB-BD31-4B8C-83A1-F6EECF244321}">
                <p14:modId xmlns:p14="http://schemas.microsoft.com/office/powerpoint/2010/main" val="3314725299"/>
              </p:ext>
            </p:extLst>
          </p:nvPr>
        </p:nvGraphicFramePr>
        <p:xfrm>
          <a:off x="762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8592846-0CE9-1CFF-3BB1-149891FF43D7}"/>
              </a:ext>
            </a:extLst>
          </p:cNvPr>
          <p:cNvSpPr txBox="1">
            <a:spLocks/>
          </p:cNvSpPr>
          <p:nvPr/>
        </p:nvSpPr>
        <p:spPr>
          <a:xfrm>
            <a:off x="275300" y="1165622"/>
            <a:ext cx="8624937" cy="495520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2"/>
                </a:solidFill>
              </a:rPr>
              <a:t>Multidimensional &amp; Jagged Array</a:t>
            </a:r>
          </a:p>
          <a:p>
            <a:pPr marL="12700" marR="5080"/>
            <a:r>
              <a:rPr lang="en-US" sz="1500" kern="0" spc="-220" dirty="0">
                <a:solidFill>
                  <a:schemeClr val="accent2"/>
                </a:solidFill>
              </a:rPr>
              <a:t>📌 Example 2: Monthly Sales by Region (Business Analytics)</a:t>
            </a:r>
          </a:p>
          <a:p>
            <a:pPr marL="12700" marR="5080"/>
            <a:r>
              <a:rPr lang="en-US" sz="1500" kern="0" spc="-220" dirty="0">
                <a:solidFill>
                  <a:schemeClr val="accent6"/>
                </a:solidFill>
              </a:rPr>
              <a:t>public sealed class </a:t>
            </a:r>
            <a:r>
              <a:rPr lang="en-US" sz="1500" kern="0" spc="-220" dirty="0" err="1">
                <a:solidFill>
                  <a:schemeClr val="accent6"/>
                </a:solidFill>
              </a:rPr>
              <a:t>SalesData</a:t>
            </a:r>
            <a:endParaRPr lang="en-US" sz="1500" kern="0" spc="-220" dirty="0">
              <a:solidFill>
                <a:schemeClr val="accent6"/>
              </a:solidFill>
            </a:endParaRPr>
          </a:p>
          <a:p>
            <a:pPr marL="12700" marR="5080"/>
            <a:r>
              <a:rPr lang="en-US" sz="1500" kern="0" spc="-220" dirty="0">
                <a:solidFill>
                  <a:schemeClr val="accent6"/>
                </a:solidFill>
              </a:rPr>
              <a:t>{</a:t>
            </a:r>
          </a:p>
          <a:p>
            <a:pPr marL="12700" marR="5080"/>
            <a:r>
              <a:rPr lang="en-US" sz="1500" kern="0" spc="-220" dirty="0">
                <a:solidFill>
                  <a:schemeClr val="accent6"/>
                </a:solidFill>
              </a:rPr>
              <a:t>   // earlier code in earlier slide</a:t>
            </a:r>
          </a:p>
          <a:p>
            <a:pPr marL="12700" marR="5080"/>
            <a:r>
              <a:rPr lang="en-US" sz="1500" kern="0" spc="-220" dirty="0">
                <a:solidFill>
                  <a:schemeClr val="accent6"/>
                </a:solidFill>
              </a:rPr>
              <a:t>    public decimal </a:t>
            </a:r>
            <a:r>
              <a:rPr lang="en-US" sz="1500" kern="0" spc="-220" dirty="0" err="1">
                <a:solidFill>
                  <a:schemeClr val="accent6"/>
                </a:solidFill>
              </a:rPr>
              <a:t>GetTotalSales</a:t>
            </a:r>
            <a:r>
              <a:rPr lang="en-US" sz="1500" kern="0" spc="-220" dirty="0">
                <a:solidFill>
                  <a:schemeClr val="accent6"/>
                </a:solidFill>
              </a:rPr>
              <a:t>()</a:t>
            </a:r>
          </a:p>
          <a:p>
            <a:pPr marL="12700" marR="5080"/>
            <a:r>
              <a:rPr lang="en-US" sz="1500" kern="0" spc="-220" dirty="0">
                <a:solidFill>
                  <a:schemeClr val="accent6"/>
                </a:solidFill>
              </a:rPr>
              <a:t>    {</a:t>
            </a:r>
          </a:p>
          <a:p>
            <a:pPr marL="12700" marR="5080"/>
            <a:r>
              <a:rPr lang="en-US" sz="1500" kern="0" spc="-220" dirty="0">
                <a:solidFill>
                  <a:schemeClr val="accent6"/>
                </a:solidFill>
              </a:rPr>
              <a:t>        decimal total = 0;</a:t>
            </a:r>
          </a:p>
          <a:p>
            <a:pPr marL="12700" marR="5080"/>
            <a:r>
              <a:rPr lang="en-US" sz="1500" kern="0" spc="-220" dirty="0">
                <a:solidFill>
                  <a:schemeClr val="accent6"/>
                </a:solidFill>
              </a:rPr>
              <a:t>        foreach (var region in _</a:t>
            </a:r>
            <a:r>
              <a:rPr lang="en-US" sz="1500" kern="0" spc="-220" dirty="0" err="1">
                <a:solidFill>
                  <a:schemeClr val="accent6"/>
                </a:solidFill>
              </a:rPr>
              <a:t>monthlySales</a:t>
            </a:r>
            <a:r>
              <a:rPr lang="en-US" sz="1500" kern="0" spc="-220" dirty="0">
                <a:solidFill>
                  <a:schemeClr val="accent6"/>
                </a:solidFill>
              </a:rPr>
              <a:t>)</a:t>
            </a:r>
          </a:p>
          <a:p>
            <a:pPr marL="12700" marR="5080"/>
            <a:r>
              <a:rPr lang="en-US" sz="1500" kern="0" spc="-220" dirty="0">
                <a:solidFill>
                  <a:schemeClr val="accent6"/>
                </a:solidFill>
              </a:rPr>
              <a:t>        {</a:t>
            </a:r>
          </a:p>
          <a:p>
            <a:pPr marL="12700" marR="5080"/>
            <a:r>
              <a:rPr lang="en-US" sz="1500" kern="0" spc="-220" dirty="0">
                <a:solidFill>
                  <a:schemeClr val="accent6"/>
                </a:solidFill>
              </a:rPr>
              <a:t>     if (region == null) continue;</a:t>
            </a:r>
          </a:p>
          <a:p>
            <a:pPr marL="12700" marR="5080"/>
            <a:r>
              <a:rPr lang="en-US" sz="1500" kern="0" spc="-220" dirty="0">
                <a:solidFill>
                  <a:schemeClr val="accent6"/>
                </a:solidFill>
              </a:rPr>
              <a:t>            foreach (var sale in region)</a:t>
            </a:r>
          </a:p>
          <a:p>
            <a:pPr marL="12700" marR="5080"/>
            <a:r>
              <a:rPr lang="en-US" sz="1500" kern="0" spc="-220" dirty="0">
                <a:solidFill>
                  <a:schemeClr val="accent6"/>
                </a:solidFill>
              </a:rPr>
              <a:t>            {</a:t>
            </a:r>
          </a:p>
          <a:p>
            <a:pPr marL="12700" marR="5080"/>
            <a:r>
              <a:rPr lang="en-US" sz="1500" kern="0" spc="-220" dirty="0">
                <a:solidFill>
                  <a:schemeClr val="accent6"/>
                </a:solidFill>
              </a:rPr>
              <a:t>                total += sale;</a:t>
            </a:r>
          </a:p>
          <a:p>
            <a:pPr marL="12700" marR="5080"/>
            <a:r>
              <a:rPr lang="en-US" sz="1500" kern="0" spc="-220" dirty="0">
                <a:solidFill>
                  <a:schemeClr val="accent6"/>
                </a:solidFill>
              </a:rPr>
              <a:t>            }</a:t>
            </a:r>
          </a:p>
          <a:p>
            <a:pPr marL="12700" marR="5080"/>
            <a:r>
              <a:rPr lang="en-US" sz="1500" kern="0" spc="-220" dirty="0">
                <a:solidFill>
                  <a:schemeClr val="accent6"/>
                </a:solidFill>
              </a:rPr>
              <a:t>        }</a:t>
            </a:r>
          </a:p>
          <a:p>
            <a:pPr marL="12700" marR="5080"/>
            <a:r>
              <a:rPr lang="en-US" sz="1500" kern="0" spc="-220" dirty="0">
                <a:solidFill>
                  <a:schemeClr val="accent6"/>
                </a:solidFill>
              </a:rPr>
              <a:t>        return total;</a:t>
            </a:r>
          </a:p>
          <a:p>
            <a:pPr marL="12700" marR="5080"/>
            <a:r>
              <a:rPr lang="en-US" sz="1500" kern="0" spc="-220" dirty="0">
                <a:solidFill>
                  <a:schemeClr val="accent6"/>
                </a:solidFill>
              </a:rPr>
              <a:t>    }</a:t>
            </a:r>
          </a:p>
          <a:p>
            <a:pPr marL="12700" marR="5080"/>
            <a:r>
              <a:rPr lang="en-US" sz="1500" kern="0" spc="-220" dirty="0">
                <a:solidFill>
                  <a:schemeClr val="accent6"/>
                </a:solidFill>
              </a:rPr>
              <a:t>}</a:t>
            </a:r>
          </a:p>
          <a:p>
            <a:pPr marL="12700" marR="5080"/>
            <a:endParaRPr lang="en-US" sz="1400" kern="0" spc="-220" dirty="0">
              <a:solidFill>
                <a:schemeClr val="accent6"/>
              </a:solidFill>
            </a:endParaRPr>
          </a:p>
          <a:p>
            <a:pPr marL="12700" marR="5080"/>
            <a:endParaRPr lang="en-US" sz="1400" kern="0" spc="-220" dirty="0">
              <a:solidFill>
                <a:schemeClr val="accent6"/>
              </a:solidFill>
            </a:endParaRPr>
          </a:p>
        </p:txBody>
      </p:sp>
    </p:spTree>
    <p:extLst>
      <p:ext uri="{BB962C8B-B14F-4D97-AF65-F5344CB8AC3E}">
        <p14:creationId xmlns:p14="http://schemas.microsoft.com/office/powerpoint/2010/main" val="2983274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E2768-010E-A889-51B4-FFF5F675189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DFBDEA5-0111-EEE9-68E5-FCD098519DDE}"/>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DBB03EB-BA9F-4940-B1D7-D32328274169}"/>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38D5820-6444-2A07-6E60-0B1E63919754}"/>
              </a:ext>
            </a:extLst>
          </p:cNvPr>
          <p:cNvGraphicFramePr/>
          <p:nvPr>
            <p:extLst>
              <p:ext uri="{D42A27DB-BD31-4B8C-83A1-F6EECF244321}">
                <p14:modId xmlns:p14="http://schemas.microsoft.com/office/powerpoint/2010/main" val="2153120851"/>
              </p:ext>
            </p:extLst>
          </p:nvPr>
        </p:nvGraphicFramePr>
        <p:xfrm>
          <a:off x="762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20FC3E16-1293-239E-00ED-3DA5B555C161}"/>
              </a:ext>
            </a:extLst>
          </p:cNvPr>
          <p:cNvSpPr txBox="1">
            <a:spLocks/>
          </p:cNvSpPr>
          <p:nvPr/>
        </p:nvSpPr>
        <p:spPr>
          <a:xfrm>
            <a:off x="275300" y="1165622"/>
            <a:ext cx="8624937" cy="373948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Multidimensional &amp; Jagged Array</a:t>
            </a:r>
          </a:p>
          <a:p>
            <a:pPr marL="12700" marR="5080"/>
            <a:r>
              <a:rPr lang="en-US" sz="1400" kern="0" spc="-220" dirty="0">
                <a:solidFill>
                  <a:schemeClr val="accent2"/>
                </a:solidFill>
              </a:rPr>
              <a:t>3️⃣ </a:t>
            </a:r>
            <a:r>
              <a:rPr lang="en-US" sz="1500" kern="0" spc="-220" dirty="0">
                <a:solidFill>
                  <a:schemeClr val="accent2"/>
                </a:solidFill>
              </a:rPr>
              <a:t>Comparison (Very Important)</a:t>
            </a:r>
          </a:p>
          <a:p>
            <a:pPr marL="12700" marR="5080"/>
            <a:r>
              <a:rPr lang="en-US" sz="1500" kern="0" spc="-220" dirty="0">
                <a:solidFill>
                  <a:schemeClr val="accent2"/>
                </a:solidFill>
              </a:rPr>
              <a:t>Feature	                            Multidimensional [,]	Jagged [][]</a:t>
            </a:r>
          </a:p>
          <a:p>
            <a:pPr marL="12700" marR="5080"/>
            <a:r>
              <a:rPr lang="en-US" sz="1500" kern="0" spc="-220" dirty="0">
                <a:solidFill>
                  <a:schemeClr val="accent6"/>
                </a:solidFill>
              </a:rPr>
              <a:t>Memory layout	Contiguous	                            Fragmented</a:t>
            </a:r>
          </a:p>
          <a:p>
            <a:pPr marL="12700" marR="5080"/>
            <a:r>
              <a:rPr lang="en-US" sz="1500" kern="0" spc="-220" dirty="0">
                <a:solidFill>
                  <a:schemeClr val="accent6"/>
                </a:solidFill>
              </a:rPr>
              <a:t>Access speed	Slower	                            Faster</a:t>
            </a:r>
          </a:p>
          <a:p>
            <a:pPr marL="12700" marR="5080"/>
            <a:r>
              <a:rPr lang="en-US" sz="1500" kern="0" spc="-220" dirty="0">
                <a:solidFill>
                  <a:schemeClr val="accent6"/>
                </a:solidFill>
              </a:rPr>
              <a:t>Flexibility	                            Fixed	                            High</a:t>
            </a:r>
          </a:p>
          <a:p>
            <a:pPr marL="12700" marR="5080"/>
            <a:r>
              <a:rPr lang="en-US" sz="1500" kern="0" spc="-220" dirty="0">
                <a:solidFill>
                  <a:schemeClr val="accent6"/>
                </a:solidFill>
              </a:rPr>
              <a:t>.NET optimization	Poor	                            Excellent</a:t>
            </a:r>
          </a:p>
          <a:p>
            <a:pPr marL="12700" marR="5080"/>
            <a:r>
              <a:rPr lang="en-US" sz="1500" kern="0" spc="-220" dirty="0">
                <a:solidFill>
                  <a:schemeClr val="accent6"/>
                </a:solidFill>
              </a:rPr>
              <a:t>Real-world usage	Images, matrices	Business data, logs</a:t>
            </a:r>
          </a:p>
          <a:p>
            <a:pPr marL="12700" marR="5080"/>
            <a:r>
              <a:rPr lang="en-US" sz="1500" kern="0" spc="-220" dirty="0">
                <a:solidFill>
                  <a:schemeClr val="accent2"/>
                </a:solidFill>
              </a:rPr>
              <a:t>📌 Microsoft Recommendation:</a:t>
            </a:r>
          </a:p>
          <a:p>
            <a:pPr marL="12700" marR="5080"/>
            <a:r>
              <a:rPr lang="en-US" sz="1500" kern="0" spc="-220" dirty="0">
                <a:solidFill>
                  <a:schemeClr val="accent6"/>
                </a:solidFill>
              </a:rPr>
              <a:t>Prefer jagged arrays over multidimensional arrays in performance-critical code.</a:t>
            </a:r>
          </a:p>
          <a:p>
            <a:pPr marL="12700" marR="5080"/>
            <a:endParaRPr lang="en-US" sz="1500" kern="0" spc="-220" dirty="0">
              <a:solidFill>
                <a:schemeClr val="accent6"/>
              </a:solidFill>
            </a:endParaRPr>
          </a:p>
          <a:p>
            <a:pPr marL="12700" marR="5080"/>
            <a:r>
              <a:rPr lang="en-US" sz="1500" kern="0" spc="-220" dirty="0">
                <a:solidFill>
                  <a:schemeClr val="accent2"/>
                </a:solidFill>
              </a:rPr>
              <a:t>4️⃣ Summary (One-liner)</a:t>
            </a:r>
          </a:p>
          <a:p>
            <a:pPr marL="12700" marR="5080"/>
            <a:r>
              <a:rPr lang="en-US" sz="1500" kern="0" spc="-220" dirty="0">
                <a:solidFill>
                  <a:schemeClr val="accent6"/>
                </a:solidFill>
              </a:rPr>
              <a:t>Use multidimensional arrays for true mathematical matrices or images,</a:t>
            </a:r>
          </a:p>
          <a:p>
            <a:pPr marL="12700" marR="5080"/>
            <a:r>
              <a:rPr lang="en-US" sz="1500" kern="0" spc="-220" dirty="0">
                <a:solidFill>
                  <a:schemeClr val="accent6"/>
                </a:solidFill>
              </a:rPr>
              <a:t>Use jagged arrays for real-world irregular data and performance-critical systems.</a:t>
            </a:r>
          </a:p>
          <a:p>
            <a:pPr marL="12700" marR="5080"/>
            <a:endParaRPr lang="en-US" sz="2400" kern="0" spc="-220" dirty="0">
              <a:solidFill>
                <a:schemeClr val="accent2"/>
              </a:solidFill>
            </a:endParaRPr>
          </a:p>
        </p:txBody>
      </p:sp>
    </p:spTree>
    <p:extLst>
      <p:ext uri="{BB962C8B-B14F-4D97-AF65-F5344CB8AC3E}">
        <p14:creationId xmlns:p14="http://schemas.microsoft.com/office/powerpoint/2010/main" val="19665983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A0823-6FA7-6259-E881-BF159C73084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BAE89DF-F095-CBA6-EFA8-D31495F59D16}"/>
              </a:ext>
            </a:extLst>
          </p:cNvPr>
          <p:cNvSpPr/>
          <p:nvPr/>
        </p:nvSpPr>
        <p:spPr>
          <a:xfrm>
            <a:off x="1593915" y="94507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11AC321-4AF7-402F-9B72-4A377BEF90D9}"/>
              </a:ext>
            </a:extLst>
          </p:cNvPr>
          <p:cNvSpPr/>
          <p:nvPr/>
        </p:nvSpPr>
        <p:spPr>
          <a:xfrm>
            <a:off x="1600200" y="77005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5AFF5A5-96A5-C590-299D-1CF95D17F982}"/>
              </a:ext>
            </a:extLst>
          </p:cNvPr>
          <p:cNvGraphicFramePr/>
          <p:nvPr>
            <p:extLst>
              <p:ext uri="{D42A27DB-BD31-4B8C-83A1-F6EECF244321}">
                <p14:modId xmlns:p14="http://schemas.microsoft.com/office/powerpoint/2010/main" val="2517055172"/>
              </p:ext>
            </p:extLst>
          </p:nvPr>
        </p:nvGraphicFramePr>
        <p:xfrm>
          <a:off x="762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26970DC8-4426-8D09-C14E-6041E0B23DF0}"/>
              </a:ext>
            </a:extLst>
          </p:cNvPr>
          <p:cNvSpPr txBox="1">
            <a:spLocks/>
          </p:cNvSpPr>
          <p:nvPr/>
        </p:nvSpPr>
        <p:spPr>
          <a:xfrm>
            <a:off x="202128" y="1103604"/>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2"/>
                </a:solidFill>
              </a:rPr>
              <a:t>Multidimensional &amp; Jagged Array(Detailed  Comparison Summary)</a:t>
            </a:r>
          </a:p>
        </p:txBody>
      </p:sp>
      <p:pic>
        <p:nvPicPr>
          <p:cNvPr id="7" name="Picture 6">
            <a:extLst>
              <a:ext uri="{FF2B5EF4-FFF2-40B4-BE49-F238E27FC236}">
                <a16:creationId xmlns:a16="http://schemas.microsoft.com/office/drawing/2014/main" id="{7AA99A14-9A2C-40D2-33EE-A705EBA9632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1881" y="1453178"/>
            <a:ext cx="8624937" cy="3037244"/>
          </a:xfrm>
          <a:prstGeom prst="rect">
            <a:avLst/>
          </a:prstGeom>
        </p:spPr>
      </p:pic>
      <p:pic>
        <p:nvPicPr>
          <p:cNvPr id="9" name="Picture 8">
            <a:extLst>
              <a:ext uri="{FF2B5EF4-FFF2-40B4-BE49-F238E27FC236}">
                <a16:creationId xmlns:a16="http://schemas.microsoft.com/office/drawing/2014/main" id="{5ABF5310-B8A8-7CBC-E843-C9D01AB0439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38378" y="4524314"/>
            <a:ext cx="8306109" cy="1343086"/>
          </a:xfrm>
          <a:prstGeom prst="rect">
            <a:avLst/>
          </a:prstGeom>
        </p:spPr>
      </p:pic>
    </p:spTree>
    <p:extLst>
      <p:ext uri="{BB962C8B-B14F-4D97-AF65-F5344CB8AC3E}">
        <p14:creationId xmlns:p14="http://schemas.microsoft.com/office/powerpoint/2010/main" val="9968134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A2565-E688-80C8-54EB-468AF6ACF8C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DC047D8-851A-4825-3FEC-783D791FD843}"/>
              </a:ext>
            </a:extLst>
          </p:cNvPr>
          <p:cNvSpPr/>
          <p:nvPr/>
        </p:nvSpPr>
        <p:spPr>
          <a:xfrm>
            <a:off x="1600200" y="89754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0FA0BE8-1AF7-BEEF-6F0D-1D143EFB4E68}"/>
              </a:ext>
            </a:extLst>
          </p:cNvPr>
          <p:cNvSpPr/>
          <p:nvPr/>
        </p:nvSpPr>
        <p:spPr>
          <a:xfrm>
            <a:off x="1600200" y="752664"/>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B751D74-A806-87FF-93AE-3419053AA354}"/>
              </a:ext>
            </a:extLst>
          </p:cNvPr>
          <p:cNvGraphicFramePr/>
          <p:nvPr>
            <p:extLst>
              <p:ext uri="{D42A27DB-BD31-4B8C-83A1-F6EECF244321}">
                <p14:modId xmlns:p14="http://schemas.microsoft.com/office/powerpoint/2010/main" val="817145382"/>
              </p:ext>
            </p:extLst>
          </p:nvPr>
        </p:nvGraphicFramePr>
        <p:xfrm>
          <a:off x="762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64A9DB33-1C2B-2FF6-B5F1-D12A8BF5D27E}"/>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6AD56CEF-5B83-7B3B-46D0-8997DAE123FE}"/>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1F6B9496-5BE5-7AEA-9238-964CABE22123}"/>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pic>
        <p:nvPicPr>
          <p:cNvPr id="9" name="Picture 8">
            <a:extLst>
              <a:ext uri="{FF2B5EF4-FFF2-40B4-BE49-F238E27FC236}">
                <a16:creationId xmlns:a16="http://schemas.microsoft.com/office/drawing/2014/main" id="{1A4C5E70-27D8-6E47-1618-CCB9546B783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36230" y="1555492"/>
            <a:ext cx="8532470" cy="2067764"/>
          </a:xfrm>
          <a:prstGeom prst="rect">
            <a:avLst/>
          </a:prstGeom>
        </p:spPr>
      </p:pic>
      <p:pic>
        <p:nvPicPr>
          <p:cNvPr id="12" name="Picture 11">
            <a:extLst>
              <a:ext uri="{FF2B5EF4-FFF2-40B4-BE49-F238E27FC236}">
                <a16:creationId xmlns:a16="http://schemas.microsoft.com/office/drawing/2014/main" id="{2B5F65EB-92A3-CB5A-F29E-DF56F79F9E6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36230" y="3606934"/>
            <a:ext cx="8305800" cy="2260466"/>
          </a:xfrm>
          <a:prstGeom prst="rect">
            <a:avLst/>
          </a:prstGeom>
        </p:spPr>
      </p:pic>
      <p:sp>
        <p:nvSpPr>
          <p:cNvPr id="7" name="object 2">
            <a:extLst>
              <a:ext uri="{FF2B5EF4-FFF2-40B4-BE49-F238E27FC236}">
                <a16:creationId xmlns:a16="http://schemas.microsoft.com/office/drawing/2014/main" id="{B1EDC3AD-FFF9-5DE0-8DB7-8D3717D9852E}"/>
              </a:ext>
            </a:extLst>
          </p:cNvPr>
          <p:cNvSpPr txBox="1">
            <a:spLocks/>
          </p:cNvSpPr>
          <p:nvPr/>
        </p:nvSpPr>
        <p:spPr>
          <a:xfrm>
            <a:off x="381000" y="1059298"/>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2"/>
                </a:solidFill>
              </a:rPr>
              <a:t>ref, in &amp; out</a:t>
            </a:r>
          </a:p>
        </p:txBody>
      </p:sp>
    </p:spTree>
    <p:extLst>
      <p:ext uri="{BB962C8B-B14F-4D97-AF65-F5344CB8AC3E}">
        <p14:creationId xmlns:p14="http://schemas.microsoft.com/office/powerpoint/2010/main" val="8552506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3774B-AFFC-1B2E-B461-2AC9DFF6370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6A4551D-0B4B-E957-76F1-6215C8B68AD6}"/>
              </a:ext>
            </a:extLst>
          </p:cNvPr>
          <p:cNvSpPr/>
          <p:nvPr/>
        </p:nvSpPr>
        <p:spPr>
          <a:xfrm>
            <a:off x="1600200" y="89754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79271D1-3D38-CFE0-EE78-FB254EE1C218}"/>
              </a:ext>
            </a:extLst>
          </p:cNvPr>
          <p:cNvSpPr/>
          <p:nvPr/>
        </p:nvSpPr>
        <p:spPr>
          <a:xfrm>
            <a:off x="1600200" y="752664"/>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F0A7C46-2897-33EB-7A4E-F5D24E269E1C}"/>
              </a:ext>
            </a:extLst>
          </p:cNvPr>
          <p:cNvGraphicFramePr/>
          <p:nvPr>
            <p:extLst>
              <p:ext uri="{D42A27DB-BD31-4B8C-83A1-F6EECF244321}">
                <p14:modId xmlns:p14="http://schemas.microsoft.com/office/powerpoint/2010/main" val="3888387074"/>
              </p:ext>
            </p:extLst>
          </p:nvPr>
        </p:nvGraphicFramePr>
        <p:xfrm>
          <a:off x="762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24DBDE3A-5351-2FB4-E9A2-A5EFE457E26E}"/>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BBC420DE-5592-C504-AE0E-2C8A291954BD}"/>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F3FA21AD-FEC1-5215-C4D4-599997BCFEEB}"/>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107155CC-7476-8ACE-7778-080ED60D32DB}"/>
              </a:ext>
            </a:extLst>
          </p:cNvPr>
          <p:cNvSpPr txBox="1">
            <a:spLocks/>
          </p:cNvSpPr>
          <p:nvPr/>
        </p:nvSpPr>
        <p:spPr>
          <a:xfrm>
            <a:off x="328150" y="1000921"/>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2"/>
                </a:solidFill>
              </a:rPr>
              <a:t>Stack Memory &amp; Heap Memory</a:t>
            </a:r>
          </a:p>
        </p:txBody>
      </p:sp>
      <p:pic>
        <p:nvPicPr>
          <p:cNvPr id="11" name="Picture 10">
            <a:extLst>
              <a:ext uri="{FF2B5EF4-FFF2-40B4-BE49-F238E27FC236}">
                <a16:creationId xmlns:a16="http://schemas.microsoft.com/office/drawing/2014/main" id="{89A15167-4C99-2470-D45D-47259F8D6E0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1824" y="1310846"/>
            <a:ext cx="8836337" cy="2651555"/>
          </a:xfrm>
          <a:prstGeom prst="rect">
            <a:avLst/>
          </a:prstGeom>
        </p:spPr>
      </p:pic>
      <p:pic>
        <p:nvPicPr>
          <p:cNvPr id="14" name="Picture 13">
            <a:extLst>
              <a:ext uri="{FF2B5EF4-FFF2-40B4-BE49-F238E27FC236}">
                <a16:creationId xmlns:a16="http://schemas.microsoft.com/office/drawing/2014/main" id="{5D1D2E5F-61C3-F852-B585-C1A59440F13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67563" y="4015455"/>
            <a:ext cx="8671637" cy="1928145"/>
          </a:xfrm>
          <a:prstGeom prst="rect">
            <a:avLst/>
          </a:prstGeom>
        </p:spPr>
      </p:pic>
    </p:spTree>
    <p:extLst>
      <p:ext uri="{BB962C8B-B14F-4D97-AF65-F5344CB8AC3E}">
        <p14:creationId xmlns:p14="http://schemas.microsoft.com/office/powerpoint/2010/main" val="27903447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BAD8F-ABCF-2F3D-0BE2-39AF8233329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52D0367-587A-4017-BA1A-2E54971BB489}"/>
              </a:ext>
            </a:extLst>
          </p:cNvPr>
          <p:cNvSpPr/>
          <p:nvPr/>
        </p:nvSpPr>
        <p:spPr>
          <a:xfrm>
            <a:off x="1600200" y="89754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EF1E78B-DAF9-8586-D900-4C6A2F82DB81}"/>
              </a:ext>
            </a:extLst>
          </p:cNvPr>
          <p:cNvSpPr/>
          <p:nvPr/>
        </p:nvSpPr>
        <p:spPr>
          <a:xfrm>
            <a:off x="1600200" y="752664"/>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2C6E169-60CF-A11D-6F3D-204A7348A990}"/>
              </a:ext>
            </a:extLst>
          </p:cNvPr>
          <p:cNvGraphicFramePr/>
          <p:nvPr>
            <p:extLst>
              <p:ext uri="{D42A27DB-BD31-4B8C-83A1-F6EECF244321}">
                <p14:modId xmlns:p14="http://schemas.microsoft.com/office/powerpoint/2010/main" val="3614003324"/>
              </p:ext>
            </p:extLst>
          </p:nvPr>
        </p:nvGraphicFramePr>
        <p:xfrm>
          <a:off x="762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57BF4930-DE54-B150-FF5B-2E7426B5C28D}"/>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041BF381-E816-F661-266C-2C02C033F9F4}"/>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FB28FB3A-078C-326B-374E-700C1B9FF7F3}"/>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E3C5C419-CD02-239B-A618-15CEA45FEAB5}"/>
              </a:ext>
            </a:extLst>
          </p:cNvPr>
          <p:cNvSpPr txBox="1">
            <a:spLocks/>
          </p:cNvSpPr>
          <p:nvPr/>
        </p:nvSpPr>
        <p:spPr>
          <a:xfrm>
            <a:off x="328150" y="1000921"/>
            <a:ext cx="8624937" cy="400109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2"/>
                </a:solidFill>
              </a:rPr>
              <a:t>Stack Memory &amp; Heap Memory</a:t>
            </a:r>
          </a:p>
          <a:p>
            <a:pPr marL="12700" marR="5080"/>
            <a:r>
              <a:rPr lang="en-US" sz="2000" kern="0" spc="-220" dirty="0">
                <a:solidFill>
                  <a:schemeClr val="accent2"/>
                </a:solidFill>
              </a:rPr>
              <a:t>Key Concepts</a:t>
            </a:r>
          </a:p>
          <a:p>
            <a:pPr marL="12700" marR="5080"/>
            <a:r>
              <a:rPr lang="en-US" sz="2000" dirty="0">
                <a:solidFill>
                  <a:schemeClr val="accent2"/>
                </a:solidFill>
                <a:latin typeface="Google Sans"/>
                <a:ea typeface="+mn-ea"/>
                <a:cs typeface="+mn-cs"/>
              </a:rPr>
              <a:t>Value Types</a:t>
            </a:r>
            <a:r>
              <a:rPr lang="en-US" sz="2000" dirty="0">
                <a:solidFill>
                  <a:schemeClr val="accent6"/>
                </a:solidFill>
                <a:latin typeface="Google Sans"/>
                <a:ea typeface="+mn-ea"/>
                <a:cs typeface="+mn-cs"/>
              </a:rPr>
              <a:t> in C# (like int, char, bool, struct) generally store their value directly on the stack, providing fast access.</a:t>
            </a:r>
          </a:p>
          <a:p>
            <a:pPr marL="12700" marR="5080"/>
            <a:r>
              <a:rPr lang="en-US" sz="2000" dirty="0">
                <a:solidFill>
                  <a:schemeClr val="accent2"/>
                </a:solidFill>
                <a:latin typeface="Google Sans"/>
                <a:ea typeface="+mn-ea"/>
                <a:cs typeface="+mn-cs"/>
              </a:rPr>
              <a:t>Reference Types</a:t>
            </a:r>
            <a:r>
              <a:rPr lang="en-US" sz="2000" dirty="0">
                <a:solidFill>
                  <a:schemeClr val="accent6"/>
                </a:solidFill>
                <a:latin typeface="Google Sans"/>
                <a:ea typeface="+mn-ea"/>
                <a:cs typeface="+mn-cs"/>
              </a:rPr>
              <a:t> (like class, object, string, array) are always allocated on the heap. A reference (pointer) to the heap object is stored on the stack, allowing the object to be accessed.</a:t>
            </a:r>
          </a:p>
          <a:p>
            <a:pPr marL="12700" marR="5080"/>
            <a:r>
              <a:rPr lang="en-US" sz="2000" dirty="0">
                <a:solidFill>
                  <a:schemeClr val="accent2"/>
                </a:solidFill>
                <a:latin typeface="Google Sans"/>
                <a:ea typeface="+mn-ea"/>
                <a:cs typeface="+mn-cs"/>
              </a:rPr>
              <a:t>The Garbage Collector (GC)</a:t>
            </a:r>
            <a:r>
              <a:rPr lang="en-US" sz="2000" dirty="0">
                <a:solidFill>
                  <a:schemeClr val="accent6"/>
                </a:solidFill>
                <a:latin typeface="Google Sans"/>
                <a:ea typeface="+mn-ea"/>
                <a:cs typeface="+mn-cs"/>
              </a:rPr>
              <a:t> is the .NET runtime component responsible for automatically reclaiming memory from unused objects on the heap, preventing memory leaks (in most cases).</a:t>
            </a:r>
          </a:p>
          <a:p>
            <a:pPr marL="12700" marR="5080"/>
            <a:r>
              <a:rPr lang="en-US" sz="2000" dirty="0">
                <a:solidFill>
                  <a:schemeClr val="accent2"/>
                </a:solidFill>
                <a:latin typeface="Google Sans"/>
                <a:ea typeface="+mn-ea"/>
                <a:cs typeface="+mn-cs"/>
              </a:rPr>
              <a:t>Memory allocated with the </a:t>
            </a:r>
            <a:r>
              <a:rPr lang="en-US" sz="2000" dirty="0" err="1">
                <a:solidFill>
                  <a:schemeClr val="accent2"/>
                </a:solidFill>
                <a:latin typeface="Google Sans"/>
                <a:ea typeface="+mn-ea"/>
                <a:cs typeface="+mn-cs"/>
              </a:rPr>
              <a:t>stackalloc</a:t>
            </a:r>
            <a:r>
              <a:rPr lang="en-US" sz="2000" dirty="0">
                <a:solidFill>
                  <a:schemeClr val="accent2"/>
                </a:solidFill>
                <a:latin typeface="Google Sans"/>
                <a:ea typeface="+mn-ea"/>
                <a:cs typeface="+mn-cs"/>
              </a:rPr>
              <a:t> expression</a:t>
            </a:r>
            <a:r>
              <a:rPr lang="en-US" sz="2000" dirty="0">
                <a:solidFill>
                  <a:schemeClr val="accent6"/>
                </a:solidFill>
                <a:latin typeface="Google Sans"/>
                <a:ea typeface="+mn-ea"/>
                <a:cs typeface="+mn-cs"/>
              </a:rPr>
              <a:t> is placed on the stack, and it is automatically discarded when the method returns, offering a way to improve performance for short-lived buffers. </a:t>
            </a:r>
          </a:p>
        </p:txBody>
      </p:sp>
    </p:spTree>
    <p:extLst>
      <p:ext uri="{BB962C8B-B14F-4D97-AF65-F5344CB8AC3E}">
        <p14:creationId xmlns:p14="http://schemas.microsoft.com/office/powerpoint/2010/main" val="41665299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0306E-EB99-F805-4D49-1AF4739D4B7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EC136E1-FA30-B7C4-FB6D-BF78D1D1420D}"/>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F36CA5E-85A0-69AE-8906-E12584FC203A}"/>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0486F0E-B400-AA90-93D1-A70D0FF39D21}"/>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D029ECD5-F0CE-D1A8-4F05-21D1B922B8C2}"/>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AE3A4DCA-9243-E969-6627-717DC241DB85}"/>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C6E5398-4003-D837-C3FC-2705AF651B5A}"/>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2FC81A2D-FE0F-2701-CCB8-A466E813337F}"/>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9" name="object 2">
            <a:extLst>
              <a:ext uri="{FF2B5EF4-FFF2-40B4-BE49-F238E27FC236}">
                <a16:creationId xmlns:a16="http://schemas.microsoft.com/office/drawing/2014/main" id="{E8FB78D3-C3C3-B7F3-DDDE-34462EDD7F78}"/>
              </a:ext>
            </a:extLst>
          </p:cNvPr>
          <p:cNvSpPr txBox="1">
            <a:spLocks/>
          </p:cNvSpPr>
          <p:nvPr/>
        </p:nvSpPr>
        <p:spPr>
          <a:xfrm>
            <a:off x="320981" y="1098685"/>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Span&lt;T&gt;, Memory&lt;T&gt;, </a:t>
            </a:r>
            <a:r>
              <a:rPr lang="en-US" sz="2000" dirty="0" err="1">
                <a:solidFill>
                  <a:schemeClr val="accent2"/>
                </a:solidFill>
                <a:latin typeface="Google Sans"/>
              </a:rPr>
              <a:t>ArrayPool</a:t>
            </a:r>
            <a:r>
              <a:rPr lang="en-US" sz="2000" dirty="0">
                <a:solidFill>
                  <a:schemeClr val="accent2"/>
                </a:solidFill>
                <a:latin typeface="Google Sans"/>
              </a:rPr>
              <a:t>&lt;T&gt; &amp; </a:t>
            </a:r>
            <a:r>
              <a:rPr lang="en-US" sz="2000" dirty="0" err="1">
                <a:solidFill>
                  <a:schemeClr val="accent2"/>
                </a:solidFill>
                <a:latin typeface="Google Sans"/>
              </a:rPr>
              <a:t>MemoryPool</a:t>
            </a:r>
            <a:r>
              <a:rPr lang="en-US" sz="2000" dirty="0">
                <a:solidFill>
                  <a:schemeClr val="accent2"/>
                </a:solidFill>
                <a:latin typeface="Google Sans"/>
              </a:rPr>
              <a:t>&lt;T&gt;</a:t>
            </a:r>
          </a:p>
        </p:txBody>
      </p:sp>
      <p:pic>
        <p:nvPicPr>
          <p:cNvPr id="11" name="Picture 10">
            <a:extLst>
              <a:ext uri="{FF2B5EF4-FFF2-40B4-BE49-F238E27FC236}">
                <a16:creationId xmlns:a16="http://schemas.microsoft.com/office/drawing/2014/main" id="{64E4608A-4825-CF48-AD02-3E4B1BC9A65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48852" y="1393366"/>
            <a:ext cx="8795148" cy="382428"/>
          </a:xfrm>
          <a:prstGeom prst="rect">
            <a:avLst/>
          </a:prstGeom>
        </p:spPr>
      </p:pic>
      <p:pic>
        <p:nvPicPr>
          <p:cNvPr id="13" name="Picture 12">
            <a:extLst>
              <a:ext uri="{FF2B5EF4-FFF2-40B4-BE49-F238E27FC236}">
                <a16:creationId xmlns:a16="http://schemas.microsoft.com/office/drawing/2014/main" id="{99B55247-94B6-EFCF-043E-27AA195E6C1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04800" y="1752537"/>
            <a:ext cx="8836552" cy="1752663"/>
          </a:xfrm>
          <a:prstGeom prst="rect">
            <a:avLst/>
          </a:prstGeom>
        </p:spPr>
      </p:pic>
      <p:pic>
        <p:nvPicPr>
          <p:cNvPr id="15" name="Picture 14">
            <a:extLst>
              <a:ext uri="{FF2B5EF4-FFF2-40B4-BE49-F238E27FC236}">
                <a16:creationId xmlns:a16="http://schemas.microsoft.com/office/drawing/2014/main" id="{6F8D777E-B46E-F54F-B5DA-1597455D5D8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04800" y="3505200"/>
            <a:ext cx="8839200" cy="2438400"/>
          </a:xfrm>
          <a:prstGeom prst="rect">
            <a:avLst/>
          </a:prstGeom>
        </p:spPr>
      </p:pic>
    </p:spTree>
    <p:extLst>
      <p:ext uri="{BB962C8B-B14F-4D97-AF65-F5344CB8AC3E}">
        <p14:creationId xmlns:p14="http://schemas.microsoft.com/office/powerpoint/2010/main" val="26000302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118E3-4A43-FF01-17D6-95235C8ED88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C7C9766-1509-61B5-F2A7-36185752158D}"/>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4431833-E49D-1F73-F79C-3B0FEA0E0FB5}"/>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954B3E5-6316-6922-70B2-5A58F1746FB1}"/>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B0D8063F-C473-5E04-2500-6C91AFA00F3B}"/>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6DA06C05-B5A8-20D8-A98C-9E38E8751188}"/>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F7F7761D-01F9-8FB3-2C91-E2C7EB1D4251}"/>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9F161450-1E14-37D6-7DF8-648511D63D97}"/>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9" name="object 2">
            <a:extLst>
              <a:ext uri="{FF2B5EF4-FFF2-40B4-BE49-F238E27FC236}">
                <a16:creationId xmlns:a16="http://schemas.microsoft.com/office/drawing/2014/main" id="{CFFC33F0-568B-ADCA-96F3-052E71A326C9}"/>
              </a:ext>
            </a:extLst>
          </p:cNvPr>
          <p:cNvSpPr txBox="1">
            <a:spLocks/>
          </p:cNvSpPr>
          <p:nvPr/>
        </p:nvSpPr>
        <p:spPr>
          <a:xfrm>
            <a:off x="320981" y="1098685"/>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Span&lt;T&gt;, Memory&lt;T&gt;, </a:t>
            </a:r>
            <a:r>
              <a:rPr lang="en-US" sz="2000" dirty="0" err="1">
                <a:solidFill>
                  <a:schemeClr val="accent2"/>
                </a:solidFill>
                <a:latin typeface="Google Sans"/>
              </a:rPr>
              <a:t>ArrayPool</a:t>
            </a:r>
            <a:r>
              <a:rPr lang="en-US" sz="2000" dirty="0">
                <a:solidFill>
                  <a:schemeClr val="accent2"/>
                </a:solidFill>
                <a:latin typeface="Google Sans"/>
              </a:rPr>
              <a:t>&lt;T&gt; &amp; </a:t>
            </a:r>
            <a:r>
              <a:rPr lang="en-US" sz="2000" dirty="0" err="1">
                <a:solidFill>
                  <a:schemeClr val="accent2"/>
                </a:solidFill>
                <a:latin typeface="Google Sans"/>
              </a:rPr>
              <a:t>MemoryPool</a:t>
            </a:r>
            <a:r>
              <a:rPr lang="en-US" sz="2000" dirty="0">
                <a:solidFill>
                  <a:schemeClr val="accent2"/>
                </a:solidFill>
                <a:latin typeface="Google Sans"/>
              </a:rPr>
              <a:t>&lt;T&gt;</a:t>
            </a:r>
          </a:p>
        </p:txBody>
      </p:sp>
      <p:pic>
        <p:nvPicPr>
          <p:cNvPr id="11" name="Picture 10">
            <a:extLst>
              <a:ext uri="{FF2B5EF4-FFF2-40B4-BE49-F238E27FC236}">
                <a16:creationId xmlns:a16="http://schemas.microsoft.com/office/drawing/2014/main" id="{5F058C79-135D-8B76-ED69-9E49FD48677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48852" y="1393366"/>
            <a:ext cx="8795148" cy="382428"/>
          </a:xfrm>
          <a:prstGeom prst="rect">
            <a:avLst/>
          </a:prstGeom>
        </p:spPr>
      </p:pic>
      <p:pic>
        <p:nvPicPr>
          <p:cNvPr id="12" name="Picture 11">
            <a:extLst>
              <a:ext uri="{FF2B5EF4-FFF2-40B4-BE49-F238E27FC236}">
                <a16:creationId xmlns:a16="http://schemas.microsoft.com/office/drawing/2014/main" id="{C6521064-E817-4DE9-E357-569E7623508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08527" y="1755937"/>
            <a:ext cx="8624936" cy="558829"/>
          </a:xfrm>
          <a:prstGeom prst="rect">
            <a:avLst/>
          </a:prstGeom>
        </p:spPr>
      </p:pic>
      <p:sp>
        <p:nvSpPr>
          <p:cNvPr id="14" name="object 2">
            <a:extLst>
              <a:ext uri="{FF2B5EF4-FFF2-40B4-BE49-F238E27FC236}">
                <a16:creationId xmlns:a16="http://schemas.microsoft.com/office/drawing/2014/main" id="{FC6CE27D-DA03-6AE7-8433-C94637F9EE16}"/>
              </a:ext>
            </a:extLst>
          </p:cNvPr>
          <p:cNvSpPr txBox="1">
            <a:spLocks/>
          </p:cNvSpPr>
          <p:nvPr/>
        </p:nvSpPr>
        <p:spPr>
          <a:xfrm>
            <a:off x="304800" y="2493764"/>
            <a:ext cx="8624937" cy="346248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Key Contextual Differences</a:t>
            </a:r>
          </a:p>
          <a:p>
            <a:r>
              <a:rPr lang="en-US" sz="2000" dirty="0">
                <a:solidFill>
                  <a:schemeClr val="accent2"/>
                </a:solidFill>
                <a:latin typeface="Google Sans"/>
                <a:ea typeface="+mn-ea"/>
                <a:cs typeface="+mn-cs"/>
              </a:rPr>
              <a:t>View vs. Pool: </a:t>
            </a:r>
            <a:r>
              <a:rPr lang="en-US" sz="2000" dirty="0">
                <a:solidFill>
                  <a:schemeClr val="accent6"/>
                </a:solidFill>
                <a:latin typeface="Google Sans"/>
                <a:ea typeface="+mn-ea"/>
                <a:cs typeface="+mn-cs"/>
              </a:rPr>
              <a:t>Span&lt;T&gt; and Memory&lt;T&gt; are views—they don't "own" the data, they just point to it. </a:t>
            </a:r>
            <a:r>
              <a:rPr lang="en-US" sz="2000" dirty="0" err="1">
                <a:solidFill>
                  <a:schemeClr val="accent6"/>
                </a:solidFill>
                <a:latin typeface="Google Sans"/>
                <a:ea typeface="+mn-ea"/>
                <a:cs typeface="+mn-cs"/>
              </a:rPr>
              <a:t>ArrayPool</a:t>
            </a:r>
            <a:r>
              <a:rPr lang="en-US" sz="2000" dirty="0">
                <a:solidFill>
                  <a:schemeClr val="accent6"/>
                </a:solidFill>
                <a:latin typeface="Google Sans"/>
                <a:ea typeface="+mn-ea"/>
                <a:cs typeface="+mn-cs"/>
              </a:rPr>
              <a:t>&lt;T&gt; and </a:t>
            </a:r>
            <a:r>
              <a:rPr lang="en-US" sz="2000" dirty="0" err="1">
                <a:solidFill>
                  <a:schemeClr val="accent6"/>
                </a:solidFill>
                <a:latin typeface="Google Sans"/>
                <a:ea typeface="+mn-ea"/>
                <a:cs typeface="+mn-cs"/>
              </a:rPr>
              <a:t>MemoryPool</a:t>
            </a:r>
            <a:r>
              <a:rPr lang="en-US" sz="2000" dirty="0">
                <a:solidFill>
                  <a:schemeClr val="accent6"/>
                </a:solidFill>
                <a:latin typeface="Google Sans"/>
                <a:ea typeface="+mn-ea"/>
                <a:cs typeface="+mn-cs"/>
              </a:rPr>
              <a:t>&lt;T&gt; are factories that provide the actual memory to those views.</a:t>
            </a:r>
          </a:p>
          <a:p>
            <a:r>
              <a:rPr lang="en-US" sz="2000" dirty="0">
                <a:solidFill>
                  <a:schemeClr val="accent2"/>
                </a:solidFill>
                <a:latin typeface="Google Sans"/>
                <a:ea typeface="+mn-ea"/>
                <a:cs typeface="+mn-cs"/>
              </a:rPr>
              <a:t>The "Ref Struct" Constraint:</a:t>
            </a:r>
            <a:r>
              <a:rPr lang="en-US" sz="2000" dirty="0">
                <a:solidFill>
                  <a:schemeClr val="accent6"/>
                </a:solidFill>
                <a:latin typeface="Google Sans"/>
                <a:ea typeface="+mn-ea"/>
                <a:cs typeface="+mn-cs"/>
              </a:rPr>
              <a:t> Because Span&lt;T&gt; is a ref struct, it is physically tied to the current execution stack. This makes it impossible to use in async methods where the state machine might "pause" and move to a different thread/stack.</a:t>
            </a:r>
          </a:p>
          <a:p>
            <a:endParaRPr lang="en-US" sz="2000" dirty="0">
              <a:solidFill>
                <a:schemeClr val="accent6"/>
              </a:solidFill>
              <a:latin typeface="Google Sans"/>
              <a:ea typeface="+mn-ea"/>
              <a:cs typeface="+mn-cs"/>
            </a:endParaRPr>
          </a:p>
          <a:p>
            <a:r>
              <a:rPr lang="en-US" sz="2000" dirty="0">
                <a:solidFill>
                  <a:schemeClr val="accent2"/>
                </a:solidFill>
                <a:latin typeface="Google Sans"/>
                <a:ea typeface="+mn-ea"/>
                <a:cs typeface="+mn-cs"/>
              </a:rPr>
              <a:t>For Further Exploration</a:t>
            </a:r>
          </a:p>
          <a:p>
            <a:r>
              <a:rPr lang="en-US" sz="1500" dirty="0">
                <a:hlinkClick r:id="rId9"/>
              </a:rPr>
              <a:t>Memory&lt;T&gt; and Span&lt;T&gt; usage guidelines - .NET | Microsoft Learn</a:t>
            </a:r>
            <a:endParaRPr lang="en-US" sz="1500" dirty="0"/>
          </a:p>
          <a:p>
            <a:r>
              <a:rPr lang="en-US" sz="1500" dirty="0">
                <a:hlinkClick r:id="rId10"/>
              </a:rPr>
              <a:t>Introduction to the High Performance package - Community Toolkits for .NET | Microsoft Learn</a:t>
            </a:r>
            <a:endParaRPr lang="en-US" sz="1500" dirty="0">
              <a:solidFill>
                <a:schemeClr val="accent2"/>
              </a:solidFill>
              <a:latin typeface="Google Sans"/>
              <a:ea typeface="+mn-ea"/>
              <a:cs typeface="+mn-cs"/>
            </a:endParaRPr>
          </a:p>
        </p:txBody>
      </p:sp>
    </p:spTree>
    <p:extLst>
      <p:ext uri="{BB962C8B-B14F-4D97-AF65-F5344CB8AC3E}">
        <p14:creationId xmlns:p14="http://schemas.microsoft.com/office/powerpoint/2010/main" val="23891195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646F8-2A07-3AF2-7092-BCDB61BCDA4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76D9B11-EA3E-4599-3E93-7E8AE876631A}"/>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2EE27E1-FB8D-85E6-9716-F67BD5CE965F}"/>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613B31D-9F56-F7AA-14DC-7A0E8630E354}"/>
              </a:ext>
            </a:extLst>
          </p:cNvPr>
          <p:cNvGraphicFramePr/>
          <p:nvPr>
            <p:extLst>
              <p:ext uri="{D42A27DB-BD31-4B8C-83A1-F6EECF244321}">
                <p14:modId xmlns:p14="http://schemas.microsoft.com/office/powerpoint/2010/main" val="1922201647"/>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0864D654-57B0-1ACB-280A-DF48ECBCA4B6}"/>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BCF869C8-BA67-38E2-15F5-0476A50ABC02}"/>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A37AA309-B006-6CA9-F8FA-3E4ABAC54104}"/>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2AB2E02C-CA69-3E35-CD64-292259A1362F}"/>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9" name="object 2">
            <a:extLst>
              <a:ext uri="{FF2B5EF4-FFF2-40B4-BE49-F238E27FC236}">
                <a16:creationId xmlns:a16="http://schemas.microsoft.com/office/drawing/2014/main" id="{63CE012C-CE52-3A3D-69E5-FC41090F2541}"/>
              </a:ext>
            </a:extLst>
          </p:cNvPr>
          <p:cNvSpPr txBox="1">
            <a:spLocks/>
          </p:cNvSpPr>
          <p:nvPr/>
        </p:nvSpPr>
        <p:spPr>
          <a:xfrm>
            <a:off x="320981" y="1098685"/>
            <a:ext cx="8624937" cy="464742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700" dirty="0">
                <a:solidFill>
                  <a:schemeClr val="accent2"/>
                </a:solidFill>
                <a:latin typeface="Google Sans"/>
              </a:rPr>
              <a:t>Hot Path</a:t>
            </a:r>
          </a:p>
          <a:p>
            <a:r>
              <a:rPr lang="en-US" sz="1500" dirty="0">
                <a:solidFill>
                  <a:schemeClr val="accent6"/>
                </a:solidFill>
                <a:latin typeface="Google Sans"/>
              </a:rPr>
              <a:t>In performance engineering, the “hot path” is the small slice of code that runs most frequently and dominates runtime/latency.</a:t>
            </a:r>
          </a:p>
          <a:p>
            <a:r>
              <a:rPr lang="en-US" sz="1500" dirty="0">
                <a:solidFill>
                  <a:schemeClr val="accent2"/>
                </a:solidFill>
                <a:latin typeface="Google Sans"/>
              </a:rPr>
              <a:t>Think of it as: </a:t>
            </a:r>
            <a:r>
              <a:rPr lang="en-US" sz="1500" dirty="0">
                <a:solidFill>
                  <a:schemeClr val="accent6"/>
                </a:solidFill>
                <a:latin typeface="Google Sans"/>
              </a:rPr>
              <a:t>where the CPU actually spends its life 🔥</a:t>
            </a:r>
          </a:p>
          <a:p>
            <a:r>
              <a:rPr lang="en-US" sz="1500" dirty="0">
                <a:solidFill>
                  <a:schemeClr val="accent2"/>
                </a:solidFill>
                <a:latin typeface="Google Sans"/>
              </a:rPr>
              <a:t>What “hot” really means</a:t>
            </a:r>
          </a:p>
          <a:p>
            <a:r>
              <a:rPr lang="en-US" sz="1500" dirty="0">
                <a:solidFill>
                  <a:schemeClr val="accent2"/>
                </a:solidFill>
                <a:latin typeface="Google Sans"/>
              </a:rPr>
              <a:t>A path is hot when it is:</a:t>
            </a:r>
          </a:p>
          <a:p>
            <a:r>
              <a:rPr lang="en-US" sz="1500" dirty="0">
                <a:solidFill>
                  <a:schemeClr val="accent6"/>
                </a:solidFill>
                <a:latin typeface="Google Sans"/>
              </a:rPr>
              <a:t>Executed very often (loops, message handlers, request pipelines)</a:t>
            </a:r>
          </a:p>
          <a:p>
            <a:r>
              <a:rPr lang="en-US" sz="1500" dirty="0">
                <a:solidFill>
                  <a:schemeClr val="accent6"/>
                </a:solidFill>
                <a:latin typeface="Google Sans"/>
              </a:rPr>
              <a:t>Responsible for most CPU cycles or latency</a:t>
            </a:r>
          </a:p>
          <a:p>
            <a:r>
              <a:rPr lang="en-US" sz="1500" dirty="0">
                <a:solidFill>
                  <a:schemeClr val="accent6"/>
                </a:solidFill>
                <a:latin typeface="Google Sans"/>
              </a:rPr>
              <a:t>On the critical latency path (especially in HFT, real-time systems, low-latency services)</a:t>
            </a:r>
          </a:p>
          <a:p>
            <a:r>
              <a:rPr lang="en-US" sz="1500" dirty="0">
                <a:solidFill>
                  <a:schemeClr val="accent6"/>
                </a:solidFill>
                <a:latin typeface="Google Sans"/>
              </a:rPr>
              <a:t>80–90% of execution time usually lives in 10–20% of the code.</a:t>
            </a:r>
          </a:p>
          <a:p>
            <a:r>
              <a:rPr lang="en-US" sz="1500" dirty="0">
                <a:solidFill>
                  <a:schemeClr val="accent2"/>
                </a:solidFill>
                <a:latin typeface="Google Sans"/>
              </a:rPr>
              <a:t>Examples</a:t>
            </a:r>
          </a:p>
          <a:p>
            <a:r>
              <a:rPr lang="en-US" sz="1500" dirty="0">
                <a:solidFill>
                  <a:schemeClr val="accent6"/>
                </a:solidFill>
                <a:latin typeface="Google Sans"/>
              </a:rPr>
              <a:t>.NET / Backend</a:t>
            </a:r>
          </a:p>
          <a:p>
            <a:r>
              <a:rPr lang="en-US" sz="1500" dirty="0">
                <a:solidFill>
                  <a:schemeClr val="accent6"/>
                </a:solidFill>
                <a:latin typeface="Google Sans"/>
              </a:rPr>
              <a:t>Order matching loop in an exchange</a:t>
            </a:r>
          </a:p>
          <a:p>
            <a:r>
              <a:rPr lang="en-US" sz="1500" dirty="0">
                <a:solidFill>
                  <a:schemeClr val="accent6"/>
                </a:solidFill>
                <a:latin typeface="Google Sans"/>
              </a:rPr>
              <a:t>Kafka / Service Bus message processing handler</a:t>
            </a:r>
          </a:p>
          <a:p>
            <a:r>
              <a:rPr lang="en-US" sz="1500" dirty="0">
                <a:solidFill>
                  <a:schemeClr val="accent6"/>
                </a:solidFill>
                <a:latin typeface="Google Sans"/>
              </a:rPr>
              <a:t>Serialization / deserialization in request pipeline</a:t>
            </a:r>
          </a:p>
          <a:p>
            <a:r>
              <a:rPr lang="en-US" sz="1500" dirty="0">
                <a:solidFill>
                  <a:schemeClr val="accent6"/>
                </a:solidFill>
                <a:latin typeface="Google Sans"/>
              </a:rPr>
              <a:t>Allocation-heavy LINQ in a tight loop</a:t>
            </a:r>
          </a:p>
          <a:p>
            <a:r>
              <a:rPr lang="en-US" sz="1500" dirty="0">
                <a:solidFill>
                  <a:schemeClr val="accent6"/>
                </a:solidFill>
                <a:latin typeface="Google Sans"/>
              </a:rPr>
              <a:t>Systems / Infra</a:t>
            </a:r>
          </a:p>
          <a:p>
            <a:r>
              <a:rPr lang="en-US" sz="1500" dirty="0">
                <a:solidFill>
                  <a:schemeClr val="accent6"/>
                </a:solidFill>
                <a:latin typeface="Google Sans"/>
              </a:rPr>
              <a:t>Packet parsing in network stack</a:t>
            </a:r>
          </a:p>
          <a:p>
            <a:r>
              <a:rPr lang="en-US" sz="1500" dirty="0">
                <a:solidFill>
                  <a:schemeClr val="accent6"/>
                </a:solidFill>
                <a:latin typeface="Google Sans"/>
              </a:rPr>
              <a:t>Lock acquisition in a high-contention section</a:t>
            </a:r>
          </a:p>
          <a:p>
            <a:r>
              <a:rPr lang="en-US" sz="1500" dirty="0">
                <a:solidFill>
                  <a:schemeClr val="accent6"/>
                </a:solidFill>
                <a:latin typeface="Google Sans"/>
              </a:rPr>
              <a:t>Polling loop / event dispatch loop</a:t>
            </a:r>
          </a:p>
        </p:txBody>
      </p:sp>
    </p:spTree>
    <p:extLst>
      <p:ext uri="{BB962C8B-B14F-4D97-AF65-F5344CB8AC3E}">
        <p14:creationId xmlns:p14="http://schemas.microsoft.com/office/powerpoint/2010/main" val="31586372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AA37D-E21B-8CF5-3A51-55A48E7B0A5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0BCBF18-8678-13E7-AE40-852ADDCBE9ED}"/>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20BDD3C-CFF1-C1EA-385D-5EE7C3AD838F}"/>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B7C0E2F-3226-FC83-1008-00EFE0410F24}"/>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F3AE7FEA-F3DC-821F-89C3-45EBC83E0CD7}"/>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54E4D670-5D08-86ED-2DF9-BD2E66A46E60}"/>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C8A620E6-259B-EEFF-9EE0-3D34F3900841}"/>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D8005F09-7FAB-42B8-29FF-6297F7A8A839}"/>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9" name="object 2">
            <a:extLst>
              <a:ext uri="{FF2B5EF4-FFF2-40B4-BE49-F238E27FC236}">
                <a16:creationId xmlns:a16="http://schemas.microsoft.com/office/drawing/2014/main" id="{A5BFB837-6A63-04D2-4FD3-E5C893EE4D15}"/>
              </a:ext>
            </a:extLst>
          </p:cNvPr>
          <p:cNvSpPr txBox="1">
            <a:spLocks/>
          </p:cNvSpPr>
          <p:nvPr/>
        </p:nvSpPr>
        <p:spPr>
          <a:xfrm>
            <a:off x="320981" y="1098685"/>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CPU Bound vs IO Bound</a:t>
            </a:r>
          </a:p>
        </p:txBody>
      </p:sp>
      <p:pic>
        <p:nvPicPr>
          <p:cNvPr id="11" name="Picture 10">
            <a:extLst>
              <a:ext uri="{FF2B5EF4-FFF2-40B4-BE49-F238E27FC236}">
                <a16:creationId xmlns:a16="http://schemas.microsoft.com/office/drawing/2014/main" id="{4CE5E33F-2505-AB3E-4F78-56D6603C15A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4800" y="1468016"/>
            <a:ext cx="8609697" cy="4399383"/>
          </a:xfrm>
          <a:prstGeom prst="rect">
            <a:avLst/>
          </a:prstGeom>
        </p:spPr>
      </p:pic>
    </p:spTree>
    <p:extLst>
      <p:ext uri="{BB962C8B-B14F-4D97-AF65-F5344CB8AC3E}">
        <p14:creationId xmlns:p14="http://schemas.microsoft.com/office/powerpoint/2010/main" val="21547233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91099-13B2-DB9F-9764-08382185FFE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D78991B-DE33-E15A-B6D3-CC399FC310B8}"/>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9C2FF1A-52DE-57A7-A986-6226AEA92942}"/>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22133EF-C540-BB86-104F-988D11557739}"/>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61276507-2D83-FDCC-7B65-A54C49E61EA5}"/>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DB167AB0-3359-6BB5-19C4-3D7342DDAE71}"/>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CCCAF0FD-4F1E-9807-96F5-EC512CBF02D7}"/>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90D5AC47-CA4F-B9EE-4771-F07A56FA1275}"/>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9" name="object 2">
            <a:extLst>
              <a:ext uri="{FF2B5EF4-FFF2-40B4-BE49-F238E27FC236}">
                <a16:creationId xmlns:a16="http://schemas.microsoft.com/office/drawing/2014/main" id="{4A67CF79-B09F-3A34-B664-6255B920AD30}"/>
              </a:ext>
            </a:extLst>
          </p:cNvPr>
          <p:cNvSpPr txBox="1">
            <a:spLocks/>
          </p:cNvSpPr>
          <p:nvPr/>
        </p:nvSpPr>
        <p:spPr>
          <a:xfrm>
            <a:off x="320981" y="1098685"/>
            <a:ext cx="8624937" cy="495520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CPU Bound vs IO Bound</a:t>
            </a:r>
          </a:p>
          <a:p>
            <a:r>
              <a:rPr lang="en-US" sz="1700" dirty="0">
                <a:solidFill>
                  <a:schemeClr val="accent2"/>
                </a:solidFill>
                <a:latin typeface="Google Sans"/>
              </a:rPr>
              <a:t>Techniques to Handle and Optimize</a:t>
            </a:r>
          </a:p>
          <a:p>
            <a:r>
              <a:rPr lang="en-US" sz="1500" dirty="0">
                <a:solidFill>
                  <a:schemeClr val="accent6"/>
                </a:solidFill>
                <a:latin typeface="Google Sans"/>
              </a:rPr>
              <a:t>The goal for both is to maximize utilization, but they require opposite strategies: parallelism for CPU-bound, concurrency for I/O-bound. </a:t>
            </a:r>
          </a:p>
          <a:p>
            <a:r>
              <a:rPr lang="en-US" sz="1500" dirty="0">
                <a:solidFill>
                  <a:schemeClr val="accent2"/>
                </a:solidFill>
                <a:latin typeface="Google Sans"/>
              </a:rPr>
              <a:t>A. Handling CPU-Bound Tasks</a:t>
            </a:r>
          </a:p>
          <a:p>
            <a:r>
              <a:rPr lang="en-US" sz="1500" dirty="0">
                <a:solidFill>
                  <a:schemeClr val="accent6"/>
                </a:solidFill>
                <a:latin typeface="Google Sans"/>
              </a:rPr>
              <a:t>The strategy is to divide the work and use more compute power. </a:t>
            </a:r>
          </a:p>
          <a:p>
            <a:r>
              <a:rPr lang="en-US" sz="1500" dirty="0">
                <a:solidFill>
                  <a:schemeClr val="accent2"/>
                </a:solidFill>
                <a:latin typeface="Google Sans"/>
              </a:rPr>
              <a:t>Multiprocessing: </a:t>
            </a:r>
            <a:r>
              <a:rPr lang="en-US" sz="1500" dirty="0">
                <a:solidFill>
                  <a:schemeClr val="accent6"/>
                </a:solidFill>
                <a:latin typeface="Google Sans"/>
              </a:rPr>
              <a:t>Launch multiple processes, each running on a separate CPU core (ideal for Python/Node.js to bypass the Global Interpreter Lock (GIL) or single-thread constraint).</a:t>
            </a:r>
          </a:p>
          <a:p>
            <a:r>
              <a:rPr lang="en-US" sz="1500" dirty="0">
                <a:solidFill>
                  <a:schemeClr val="accent2"/>
                </a:solidFill>
                <a:latin typeface="Google Sans"/>
              </a:rPr>
              <a:t>Parallel Algorithms/Multithreading:</a:t>
            </a:r>
            <a:r>
              <a:rPr lang="en-US" sz="1500" dirty="0">
                <a:solidFill>
                  <a:schemeClr val="accent6"/>
                </a:solidFill>
                <a:latin typeface="Google Sans"/>
              </a:rPr>
              <a:t> Structure code to divide a task into smaller, independent chunks that run in parallel.</a:t>
            </a:r>
          </a:p>
          <a:p>
            <a:r>
              <a:rPr lang="en-US" sz="1500" dirty="0">
                <a:solidFill>
                  <a:schemeClr val="accent2"/>
                </a:solidFill>
                <a:latin typeface="Google Sans"/>
              </a:rPr>
              <a:t>GPU/Specialized Hardware Acceleration: </a:t>
            </a:r>
            <a:r>
              <a:rPr lang="en-US" sz="1500" dirty="0">
                <a:solidFill>
                  <a:schemeClr val="accent6"/>
                </a:solidFill>
                <a:latin typeface="Google Sans"/>
              </a:rPr>
              <a:t>Offload heavy computations (like matrix multiplication) to GPUs or FPGAs.</a:t>
            </a:r>
          </a:p>
          <a:p>
            <a:r>
              <a:rPr lang="en-US" sz="1500" dirty="0">
                <a:solidFill>
                  <a:schemeClr val="accent2"/>
                </a:solidFill>
                <a:latin typeface="Google Sans"/>
              </a:rPr>
              <a:t>Algorithm Optimization: </a:t>
            </a:r>
            <a:r>
              <a:rPr lang="en-US" sz="1500" dirty="0">
                <a:solidFill>
                  <a:schemeClr val="accent6"/>
                </a:solidFill>
                <a:latin typeface="Google Sans"/>
              </a:rPr>
              <a:t>Refactor algorithms to reduce computational complexity (e.g., using </a:t>
            </a:r>
          </a:p>
          <a:p>
            <a:r>
              <a:rPr lang="en-US" sz="1500" dirty="0">
                <a:solidFill>
                  <a:schemeClr val="accent6"/>
                </a:solidFill>
                <a:latin typeface="Google Sans"/>
              </a:rPr>
              <a:t> instead of ).</a:t>
            </a:r>
          </a:p>
          <a:p>
            <a:r>
              <a:rPr lang="en-US" sz="1500" dirty="0">
                <a:solidFill>
                  <a:schemeClr val="accent2"/>
                </a:solidFill>
                <a:latin typeface="Google Sans"/>
              </a:rPr>
              <a:t>Worker Pools/Clusters:</a:t>
            </a:r>
            <a:r>
              <a:rPr lang="en-US" sz="1500" dirty="0">
                <a:solidFill>
                  <a:schemeClr val="accent6"/>
                </a:solidFill>
                <a:latin typeface="Google Sans"/>
              </a:rPr>
              <a:t> In Node.js, use </a:t>
            </a:r>
            <a:r>
              <a:rPr lang="en-US" sz="1500" dirty="0" err="1">
                <a:solidFill>
                  <a:schemeClr val="accent6"/>
                </a:solidFill>
                <a:latin typeface="Google Sans"/>
              </a:rPr>
              <a:t>worker_threads</a:t>
            </a:r>
            <a:r>
              <a:rPr lang="en-US" sz="1500" dirty="0">
                <a:solidFill>
                  <a:schemeClr val="accent6"/>
                </a:solidFill>
                <a:latin typeface="Google Sans"/>
              </a:rPr>
              <a:t> or cluster module to distribute tasks across cores. </a:t>
            </a:r>
          </a:p>
          <a:p>
            <a:endParaRPr lang="en-US" sz="1500" dirty="0">
              <a:solidFill>
                <a:schemeClr val="accent6"/>
              </a:solidFill>
              <a:latin typeface="Google Sans"/>
            </a:endParaRPr>
          </a:p>
          <a:p>
            <a:r>
              <a:rPr lang="en-US" sz="1500" dirty="0">
                <a:solidFill>
                  <a:schemeClr val="accent2"/>
                </a:solidFill>
                <a:latin typeface="Google Sans"/>
              </a:rPr>
              <a:t>B. Handling I/O-Bound Tasks</a:t>
            </a:r>
          </a:p>
          <a:p>
            <a:r>
              <a:rPr lang="en-US" sz="1500" dirty="0">
                <a:solidFill>
                  <a:schemeClr val="accent6"/>
                </a:solidFill>
                <a:latin typeface="Google Sans"/>
              </a:rPr>
              <a:t>The strategy is to keep the CPU busy with other tasks while waiting for I/O to complete. </a:t>
            </a:r>
          </a:p>
          <a:p>
            <a:r>
              <a:rPr lang="en-US" sz="1500" dirty="0">
                <a:solidFill>
                  <a:schemeClr val="accent2"/>
                </a:solidFill>
                <a:latin typeface="Google Sans"/>
              </a:rPr>
              <a:t>Asynchronous I/O (Async/Await): </a:t>
            </a:r>
            <a:r>
              <a:rPr lang="en-US" sz="1500" dirty="0">
                <a:solidFill>
                  <a:schemeClr val="accent6"/>
                </a:solidFill>
                <a:latin typeface="Google Sans"/>
              </a:rPr>
              <a:t>Initiate I/O tasks (like network requests) and allow the program to continue executing other code while waiting.</a:t>
            </a:r>
          </a:p>
          <a:p>
            <a:endParaRPr lang="en-US" sz="1500" dirty="0">
              <a:solidFill>
                <a:schemeClr val="accent6"/>
              </a:solidFill>
              <a:latin typeface="Google Sans"/>
            </a:endParaRPr>
          </a:p>
        </p:txBody>
      </p:sp>
    </p:spTree>
    <p:extLst>
      <p:ext uri="{BB962C8B-B14F-4D97-AF65-F5344CB8AC3E}">
        <p14:creationId xmlns:p14="http://schemas.microsoft.com/office/powerpoint/2010/main" val="5386277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AC5AA-0D5D-1B1C-0648-1A56EF53847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A82BA77-ED98-352A-0CFE-8CB21BDFB06B}"/>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325AF47-31CA-278F-5B8B-8E04F995194E}"/>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C0711A4-F31B-07D3-DB4A-A77ED3402F3A}"/>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FA4F3091-06C2-FCC2-0881-61819BB77FDE}"/>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A775257E-5328-7BC7-166F-EE1B26E9B7BC}"/>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F414F07D-9652-F567-6A27-BA7B6B533707}"/>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C034917A-85C6-A85F-D019-A9B78FBE6A2A}"/>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9" name="object 2">
            <a:extLst>
              <a:ext uri="{FF2B5EF4-FFF2-40B4-BE49-F238E27FC236}">
                <a16:creationId xmlns:a16="http://schemas.microsoft.com/office/drawing/2014/main" id="{04BE54B7-5B70-F87C-75AF-1FEFAF9FAB4B}"/>
              </a:ext>
            </a:extLst>
          </p:cNvPr>
          <p:cNvSpPr txBox="1">
            <a:spLocks/>
          </p:cNvSpPr>
          <p:nvPr/>
        </p:nvSpPr>
        <p:spPr>
          <a:xfrm>
            <a:off x="320981" y="1098685"/>
            <a:ext cx="8624937" cy="380104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CPU Bound vs IO Bound</a:t>
            </a:r>
          </a:p>
          <a:p>
            <a:r>
              <a:rPr lang="en-US" sz="1500" dirty="0">
                <a:solidFill>
                  <a:schemeClr val="accent2"/>
                </a:solidFill>
                <a:latin typeface="Google Sans"/>
              </a:rPr>
              <a:t>B. Handling I/O-Bound Tasks</a:t>
            </a:r>
          </a:p>
          <a:p>
            <a:r>
              <a:rPr lang="en-US" sz="1500" dirty="0">
                <a:solidFill>
                  <a:schemeClr val="accent2"/>
                </a:solidFill>
                <a:latin typeface="Google Sans"/>
              </a:rPr>
              <a:t>Multithreading: </a:t>
            </a:r>
            <a:r>
              <a:rPr lang="en-US" sz="1500" dirty="0">
                <a:solidFill>
                  <a:schemeClr val="accent6"/>
                </a:solidFill>
                <a:latin typeface="Google Sans"/>
              </a:rPr>
              <a:t>Use many threads; when one thread blocks waiting for I/O, the operating system context-switches to another active thread.</a:t>
            </a:r>
          </a:p>
          <a:p>
            <a:r>
              <a:rPr lang="en-US" sz="1500" dirty="0">
                <a:solidFill>
                  <a:schemeClr val="accent2"/>
                </a:solidFill>
                <a:latin typeface="Google Sans"/>
              </a:rPr>
              <a:t>Caching:</a:t>
            </a:r>
            <a:r>
              <a:rPr lang="en-US" sz="1500" dirty="0">
                <a:solidFill>
                  <a:schemeClr val="accent6"/>
                </a:solidFill>
                <a:latin typeface="Google Sans"/>
              </a:rPr>
              <a:t> Store frequently accessed data in memory (RAM) or fast key-value stores (e.g., Redis) to avoid repeated disk or network I/O.</a:t>
            </a:r>
          </a:p>
          <a:p>
            <a:r>
              <a:rPr lang="en-US" sz="1500" dirty="0">
                <a:solidFill>
                  <a:schemeClr val="accent2"/>
                </a:solidFill>
                <a:latin typeface="Google Sans"/>
              </a:rPr>
              <a:t>Batching/Buffering: </a:t>
            </a:r>
            <a:r>
              <a:rPr lang="en-US" sz="1500" dirty="0">
                <a:solidFill>
                  <a:schemeClr val="accent6"/>
                </a:solidFill>
                <a:latin typeface="Google Sans"/>
              </a:rPr>
              <a:t>Read/write data in large chunks rather than many small requests to reduce I/O overhead.</a:t>
            </a:r>
          </a:p>
          <a:p>
            <a:r>
              <a:rPr lang="en-US" sz="1500" dirty="0">
                <a:solidFill>
                  <a:schemeClr val="accent2"/>
                </a:solidFill>
                <a:latin typeface="Google Sans"/>
              </a:rPr>
              <a:t>Non-Blocking Event Loops:</a:t>
            </a:r>
            <a:r>
              <a:rPr lang="en-US" sz="1500" dirty="0">
                <a:solidFill>
                  <a:schemeClr val="accent6"/>
                </a:solidFill>
                <a:latin typeface="Google Sans"/>
              </a:rPr>
              <a:t> Use frameworks like Node.js or </a:t>
            </a:r>
            <a:r>
              <a:rPr lang="en-US" sz="1500" dirty="0" err="1">
                <a:solidFill>
                  <a:schemeClr val="accent6"/>
                </a:solidFill>
                <a:latin typeface="Google Sans"/>
              </a:rPr>
              <a:t>Vert.x</a:t>
            </a:r>
            <a:r>
              <a:rPr lang="en-US" sz="1500" dirty="0">
                <a:solidFill>
                  <a:schemeClr val="accent6"/>
                </a:solidFill>
                <a:latin typeface="Google Sans"/>
              </a:rPr>
              <a:t> that handle thousands of connections on a single thread.</a:t>
            </a:r>
          </a:p>
          <a:p>
            <a:endParaRPr lang="en-US" sz="1500" dirty="0">
              <a:solidFill>
                <a:schemeClr val="accent6"/>
              </a:solidFill>
              <a:latin typeface="Google Sans"/>
            </a:endParaRPr>
          </a:p>
          <a:p>
            <a:r>
              <a:rPr lang="en-US" sz="1700" dirty="0">
                <a:solidFill>
                  <a:schemeClr val="accent2"/>
                </a:solidFill>
                <a:latin typeface="Google Sans"/>
              </a:rPr>
              <a:t>Real-World Scenarios and Mixed Workloads</a:t>
            </a:r>
          </a:p>
          <a:p>
            <a:r>
              <a:rPr lang="en-US" sz="1500" dirty="0">
                <a:solidFill>
                  <a:schemeClr val="accent6"/>
                </a:solidFill>
                <a:latin typeface="Google Sans"/>
              </a:rPr>
              <a:t>Rarely is a system 100% one or the other. </a:t>
            </a:r>
          </a:p>
          <a:p>
            <a:r>
              <a:rPr lang="en-US" sz="1500" dirty="0">
                <a:solidFill>
                  <a:schemeClr val="accent2"/>
                </a:solidFill>
                <a:latin typeface="Google Sans"/>
              </a:rPr>
              <a:t>Web Server: </a:t>
            </a:r>
            <a:r>
              <a:rPr lang="en-US" sz="1500" dirty="0">
                <a:solidFill>
                  <a:schemeClr val="accent6"/>
                </a:solidFill>
                <a:latin typeface="Google Sans"/>
              </a:rPr>
              <a:t>Receives a request (I/O), parses JSON (CPU), queries database (I/O), serializes data (CPU).</a:t>
            </a:r>
          </a:p>
          <a:p>
            <a:r>
              <a:rPr lang="en-US" sz="1500" dirty="0">
                <a:solidFill>
                  <a:schemeClr val="accent2"/>
                </a:solidFill>
                <a:latin typeface="Google Sans"/>
              </a:rPr>
              <a:t>Handling Mixed:</a:t>
            </a:r>
            <a:r>
              <a:rPr lang="en-US" sz="1500" dirty="0">
                <a:solidFill>
                  <a:schemeClr val="accent6"/>
                </a:solidFill>
                <a:latin typeface="Google Sans"/>
              </a:rPr>
              <a:t> Use asynchronous I/O for database/network calls, but immediately hand off heavy computation (e.g., image resizing) to a worker thread/process pool to avoid blocking the main server loop. </a:t>
            </a:r>
          </a:p>
        </p:txBody>
      </p:sp>
    </p:spTree>
    <p:extLst>
      <p:ext uri="{BB962C8B-B14F-4D97-AF65-F5344CB8AC3E}">
        <p14:creationId xmlns:p14="http://schemas.microsoft.com/office/powerpoint/2010/main" val="29362155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ACB2D-AB44-9330-ADB5-9C544ED8B72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561C194-D25D-C52F-92C7-AB2FE938F6BB}"/>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457D9ED-3B5D-BF67-7149-F5848267A12B}"/>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C438727-3C6C-1B1A-1940-54109D163501}"/>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1E44624A-A746-29DF-68D6-94CB9E44A7D3}"/>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A639A672-2035-E7BE-238B-24AC1060B6E5}"/>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0CBAFAEC-ADC8-D134-7C1F-6BB3EC4AB613}"/>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DDB58D1E-674B-2740-7D67-0F1191C3A194}"/>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9" name="object 2">
            <a:extLst>
              <a:ext uri="{FF2B5EF4-FFF2-40B4-BE49-F238E27FC236}">
                <a16:creationId xmlns:a16="http://schemas.microsoft.com/office/drawing/2014/main" id="{EAB3B905-114C-A6BF-391B-A40DAE270F58}"/>
              </a:ext>
            </a:extLst>
          </p:cNvPr>
          <p:cNvSpPr txBox="1">
            <a:spLocks/>
          </p:cNvSpPr>
          <p:nvPr/>
        </p:nvSpPr>
        <p:spPr>
          <a:xfrm>
            <a:off x="320981" y="1098685"/>
            <a:ext cx="8624937" cy="56938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CPU Bound vs IO Bound</a:t>
            </a:r>
          </a:p>
          <a:p>
            <a:r>
              <a:rPr lang="en-US" sz="1700" dirty="0">
                <a:solidFill>
                  <a:schemeClr val="accent2"/>
                </a:solidFill>
                <a:latin typeface="Google Sans"/>
              </a:rPr>
              <a:t>Optimization Strategies</a:t>
            </a:r>
            <a:endParaRPr lang="en-US" sz="1700" dirty="0">
              <a:solidFill>
                <a:schemeClr val="accent6"/>
              </a:solidFill>
              <a:latin typeface="Google Sans"/>
            </a:endParaRPr>
          </a:p>
        </p:txBody>
      </p:sp>
      <p:pic>
        <p:nvPicPr>
          <p:cNvPr id="11" name="Picture 10">
            <a:extLst>
              <a:ext uri="{FF2B5EF4-FFF2-40B4-BE49-F238E27FC236}">
                <a16:creationId xmlns:a16="http://schemas.microsoft.com/office/drawing/2014/main" id="{525A6223-0A3A-7386-E3E6-F6ADF0A40B2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81903" y="1713864"/>
            <a:ext cx="8624936" cy="4229736"/>
          </a:xfrm>
          <a:prstGeom prst="rect">
            <a:avLst/>
          </a:prstGeom>
        </p:spPr>
      </p:pic>
    </p:spTree>
    <p:extLst>
      <p:ext uri="{BB962C8B-B14F-4D97-AF65-F5344CB8AC3E}">
        <p14:creationId xmlns:p14="http://schemas.microsoft.com/office/powerpoint/2010/main" val="1784003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BAC1F-7BC4-2A0A-8F76-309CA99531C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281F2F5-2F03-DFEF-5E00-3998C164AE20}"/>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1C8E43E-8934-0784-A31A-25EC2A6E683A}"/>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93417DD-5984-E6EC-0EDA-D5B8A8E2BD6E}"/>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434E1AE4-6499-E2C5-05CE-86307F4BF909}"/>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CC0031B2-9A8D-5722-3D61-ABA8D7222276}"/>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242B8B6C-9604-8B0A-98CE-AFEFDC094D02}"/>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A9B47282-7DE3-3C49-744B-9E72E0F85E79}"/>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49F50DC4-7302-4035-0F75-3C376A6AFAA6}"/>
              </a:ext>
            </a:extLst>
          </p:cNvPr>
          <p:cNvSpPr txBox="1">
            <a:spLocks/>
          </p:cNvSpPr>
          <p:nvPr/>
        </p:nvSpPr>
        <p:spPr>
          <a:xfrm>
            <a:off x="366663" y="1143000"/>
            <a:ext cx="8624937" cy="48474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kern="0" spc="-220" dirty="0">
                <a:solidFill>
                  <a:schemeClr val="accent2"/>
                </a:solidFill>
              </a:rPr>
              <a:t>1. Core Mental Model (First Principles)</a:t>
            </a:r>
          </a:p>
          <a:p>
            <a:r>
              <a:rPr lang="en-US" sz="1500" kern="0" spc="-220" dirty="0">
                <a:solidFill>
                  <a:schemeClr val="accent2"/>
                </a:solidFill>
              </a:rPr>
              <a:t>What GC really solves</a:t>
            </a:r>
          </a:p>
          <a:p>
            <a:r>
              <a:rPr lang="en-US" sz="1500" kern="0" spc="-220" dirty="0">
                <a:solidFill>
                  <a:schemeClr val="accent6"/>
                </a:solidFill>
              </a:rPr>
              <a:t>GC solves memory safety + lifetime management, not performance.</a:t>
            </a:r>
          </a:p>
          <a:p>
            <a:r>
              <a:rPr lang="en-US" sz="1500" kern="0" spc="-220" dirty="0">
                <a:solidFill>
                  <a:schemeClr val="accent2"/>
                </a:solidFill>
              </a:rPr>
              <a:t>In .NET:</a:t>
            </a:r>
          </a:p>
          <a:p>
            <a:r>
              <a:rPr lang="en-US" sz="1500" kern="0" spc="-220" dirty="0">
                <a:solidFill>
                  <a:schemeClr val="accent6"/>
                </a:solidFill>
              </a:rPr>
              <a:t>You allocate </a:t>
            </a:r>
            <a:r>
              <a:rPr lang="en-US" sz="1500" kern="0" spc="-220" dirty="0" err="1">
                <a:solidFill>
                  <a:schemeClr val="accent6"/>
                </a:solidFill>
              </a:rPr>
              <a:t>freely.The</a:t>
            </a:r>
            <a:r>
              <a:rPr lang="en-US" sz="1500" kern="0" spc="-220" dirty="0">
                <a:solidFill>
                  <a:schemeClr val="accent6"/>
                </a:solidFill>
              </a:rPr>
              <a:t> runtime decides when memory is </a:t>
            </a:r>
            <a:r>
              <a:rPr lang="en-US" sz="1500" kern="0" spc="-220" dirty="0" err="1">
                <a:solidFill>
                  <a:schemeClr val="accent6"/>
                </a:solidFill>
              </a:rPr>
              <a:t>reclaimed.You</a:t>
            </a:r>
            <a:r>
              <a:rPr lang="en-US" sz="1500" kern="0" spc="-220" dirty="0">
                <a:solidFill>
                  <a:schemeClr val="accent6"/>
                </a:solidFill>
              </a:rPr>
              <a:t> trade deterministic destruction for safety + </a:t>
            </a:r>
            <a:r>
              <a:rPr lang="en-US" sz="1500" kern="0" spc="-220" dirty="0" err="1">
                <a:solidFill>
                  <a:schemeClr val="accent6"/>
                </a:solidFill>
              </a:rPr>
              <a:t>productivity.GC</a:t>
            </a:r>
            <a:r>
              <a:rPr lang="en-US" sz="1500" kern="0" spc="-220" dirty="0">
                <a:solidFill>
                  <a:schemeClr val="accent6"/>
                </a:solidFill>
              </a:rPr>
              <a:t> answers “Is this object still reachable?”, not “Is it still needed?”</a:t>
            </a:r>
          </a:p>
          <a:p>
            <a:endParaRPr lang="en-US" sz="1500" kern="0" spc="-220" dirty="0">
              <a:solidFill>
                <a:schemeClr val="accent6"/>
              </a:solidFill>
            </a:endParaRPr>
          </a:p>
          <a:p>
            <a:r>
              <a:rPr lang="en-US" sz="1500" kern="0" spc="-220" dirty="0">
                <a:solidFill>
                  <a:schemeClr val="accent2"/>
                </a:solidFill>
              </a:rPr>
              <a:t>2. Reachability &amp; Object Lifetime</a:t>
            </a:r>
          </a:p>
          <a:p>
            <a:r>
              <a:rPr lang="en-US" sz="1500" kern="0" spc="-220" dirty="0">
                <a:solidFill>
                  <a:schemeClr val="accent6"/>
                </a:solidFill>
              </a:rPr>
              <a:t>Roots (Where GC starts)</a:t>
            </a:r>
          </a:p>
          <a:p>
            <a:r>
              <a:rPr lang="en-US" sz="1500" kern="0" spc="-220" dirty="0">
                <a:solidFill>
                  <a:schemeClr val="accent6"/>
                </a:solidFill>
              </a:rPr>
              <a:t>An object is alive if it is reachable from GC roots:</a:t>
            </a:r>
          </a:p>
          <a:p>
            <a:r>
              <a:rPr lang="en-US" sz="1500" kern="0" spc="-220" dirty="0">
                <a:solidFill>
                  <a:schemeClr val="accent2"/>
                </a:solidFill>
              </a:rPr>
              <a:t>GC Roots</a:t>
            </a:r>
          </a:p>
          <a:p>
            <a:r>
              <a:rPr lang="en-US" sz="1500" kern="0" spc="-220" dirty="0">
                <a:solidFill>
                  <a:schemeClr val="accent6"/>
                </a:solidFill>
              </a:rPr>
              <a:t>Local variables on stacks (method frames)</a:t>
            </a:r>
          </a:p>
          <a:p>
            <a:r>
              <a:rPr lang="en-US" sz="1500" kern="0" spc="-220" dirty="0">
                <a:solidFill>
                  <a:schemeClr val="accent6"/>
                </a:solidFill>
              </a:rPr>
              <a:t>Static fields</a:t>
            </a:r>
          </a:p>
          <a:p>
            <a:r>
              <a:rPr lang="en-US" sz="1500" kern="0" spc="-220" dirty="0">
                <a:solidFill>
                  <a:schemeClr val="accent6"/>
                </a:solidFill>
              </a:rPr>
              <a:t>CPU registers</a:t>
            </a:r>
          </a:p>
          <a:p>
            <a:r>
              <a:rPr lang="en-US" sz="1500" kern="0" spc="-220" dirty="0">
                <a:solidFill>
                  <a:schemeClr val="accent6"/>
                </a:solidFill>
              </a:rPr>
              <a:t>Thread-local storage</a:t>
            </a:r>
          </a:p>
          <a:p>
            <a:r>
              <a:rPr lang="en-US" sz="1500" kern="0" spc="-220" dirty="0">
                <a:solidFill>
                  <a:schemeClr val="accent6"/>
                </a:solidFill>
              </a:rPr>
              <a:t>Finalization queue</a:t>
            </a:r>
          </a:p>
          <a:p>
            <a:r>
              <a:rPr lang="en-US" sz="1500" kern="0" spc="-220" dirty="0">
                <a:solidFill>
                  <a:schemeClr val="accent6"/>
                </a:solidFill>
              </a:rPr>
              <a:t>Handles (</a:t>
            </a:r>
            <a:r>
              <a:rPr lang="en-US" sz="1500" kern="0" spc="-220" dirty="0" err="1">
                <a:solidFill>
                  <a:schemeClr val="accent6"/>
                </a:solidFill>
              </a:rPr>
              <a:t>GCHandle</a:t>
            </a:r>
            <a:r>
              <a:rPr lang="en-US" sz="1500" kern="0" spc="-220" dirty="0">
                <a:solidFill>
                  <a:schemeClr val="accent6"/>
                </a:solidFill>
              </a:rPr>
              <a:t>, P/Invoke)</a:t>
            </a:r>
          </a:p>
          <a:p>
            <a:r>
              <a:rPr lang="en-US" sz="1500" kern="0" spc="-220" dirty="0">
                <a:solidFill>
                  <a:schemeClr val="accent6"/>
                </a:solidFill>
              </a:rPr>
              <a:t>If no root → object is eligible for collection</a:t>
            </a:r>
          </a:p>
          <a:p>
            <a:r>
              <a:rPr lang="en-US" sz="1500" kern="0" spc="-220" dirty="0">
                <a:solidFill>
                  <a:schemeClr val="accent2"/>
                </a:solidFill>
              </a:rPr>
              <a:t>💡 Insight</a:t>
            </a:r>
          </a:p>
          <a:p>
            <a:r>
              <a:rPr lang="en-US" sz="1500" kern="0" spc="-220" dirty="0">
                <a:solidFill>
                  <a:schemeClr val="accent2"/>
                </a:solidFill>
              </a:rPr>
              <a:t>Lifetime ≠ scope</a:t>
            </a:r>
          </a:p>
          <a:p>
            <a:r>
              <a:rPr lang="en-US" sz="1500" kern="0" spc="-220" dirty="0">
                <a:solidFill>
                  <a:schemeClr val="accent6"/>
                </a:solidFill>
              </a:rPr>
              <a:t>An object can outlive its creating method if referenced elsewhere.</a:t>
            </a:r>
          </a:p>
        </p:txBody>
      </p:sp>
    </p:spTree>
    <p:extLst>
      <p:ext uri="{BB962C8B-B14F-4D97-AF65-F5344CB8AC3E}">
        <p14:creationId xmlns:p14="http://schemas.microsoft.com/office/powerpoint/2010/main" val="32755227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3FB6E-1697-5F0A-79DC-8AD7C9D0E94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189A0C9-D36D-2162-F053-D2EA6AFEC0C3}"/>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FFAE5CB-03FC-6AFC-7268-5E386A7939D9}"/>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4418345-D479-BA49-D464-96067BE36EF9}"/>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2939D9F4-30F8-A445-8647-CDE49113D729}"/>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A00654BF-8150-B24F-5937-F6487A9C4B59}"/>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E3BD450A-FA3A-6295-198E-575867D03F9F}"/>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217AB4D6-25B6-1C94-AC8C-39EAA881911D}"/>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8123A851-E7BA-BBA6-8ED9-6EC99C3E5762}"/>
              </a:ext>
            </a:extLst>
          </p:cNvPr>
          <p:cNvSpPr txBox="1">
            <a:spLocks/>
          </p:cNvSpPr>
          <p:nvPr/>
        </p:nvSpPr>
        <p:spPr>
          <a:xfrm>
            <a:off x="366663" y="1143000"/>
            <a:ext cx="8624937" cy="415498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kern="0" spc="-220" dirty="0">
                <a:solidFill>
                  <a:schemeClr val="accent2"/>
                </a:solidFill>
              </a:rPr>
              <a:t>3. Generational GC (The Big Optimization)</a:t>
            </a:r>
          </a:p>
          <a:p>
            <a:r>
              <a:rPr lang="en-US" sz="1500" kern="0" spc="-220" dirty="0">
                <a:solidFill>
                  <a:schemeClr val="accent2"/>
                </a:solidFill>
              </a:rPr>
              <a:t>The Hypothesis:  </a:t>
            </a:r>
            <a:r>
              <a:rPr lang="en-US" sz="1500" kern="0" spc="-220" dirty="0">
                <a:solidFill>
                  <a:schemeClr val="accent6"/>
                </a:solidFill>
              </a:rPr>
              <a:t>Most objects die young</a:t>
            </a:r>
          </a:p>
          <a:p>
            <a:r>
              <a:rPr lang="en-US" sz="1500" kern="0" spc="-220" dirty="0">
                <a:solidFill>
                  <a:schemeClr val="accent6"/>
                </a:solidFill>
              </a:rPr>
              <a:t>The .NET GC divides the managed heap into logical generations and physical regions.                </a:t>
            </a:r>
          </a:p>
          <a:p>
            <a:r>
              <a:rPr lang="en-US" sz="1500" kern="0" spc="-220" dirty="0">
                <a:solidFill>
                  <a:schemeClr val="accent2"/>
                </a:solidFill>
              </a:rPr>
              <a:t>A. Logical generations </a:t>
            </a:r>
            <a:r>
              <a:rPr lang="en-US" sz="1500" kern="0" spc="-220" dirty="0">
                <a:solidFill>
                  <a:schemeClr val="accent6"/>
                </a:solidFill>
              </a:rPr>
              <a:t>           </a:t>
            </a:r>
          </a:p>
          <a:p>
            <a:r>
              <a:rPr lang="en-US" sz="1500" kern="0" spc="-220" dirty="0">
                <a:solidFill>
                  <a:schemeClr val="accent6"/>
                </a:solidFill>
              </a:rPr>
              <a:t>Gen 0          </a:t>
            </a:r>
          </a:p>
          <a:p>
            <a:r>
              <a:rPr lang="en-US" sz="1500" kern="0" spc="-220" dirty="0">
                <a:solidFill>
                  <a:schemeClr val="accent6"/>
                </a:solidFill>
              </a:rPr>
              <a:t>Gen 1          </a:t>
            </a:r>
          </a:p>
          <a:p>
            <a:r>
              <a:rPr lang="en-US" sz="1500" kern="0" spc="-220" dirty="0">
                <a:solidFill>
                  <a:schemeClr val="accent6"/>
                </a:solidFill>
              </a:rPr>
              <a:t>Gen 2        </a:t>
            </a:r>
          </a:p>
          <a:p>
            <a:r>
              <a:rPr lang="en-US" sz="1500" kern="0" spc="-220" dirty="0">
                <a:solidFill>
                  <a:schemeClr val="accent2"/>
                </a:solidFill>
              </a:rPr>
              <a:t>Physical regions      </a:t>
            </a:r>
            <a:r>
              <a:rPr lang="en-US" sz="1500" kern="0" spc="-220" dirty="0">
                <a:solidFill>
                  <a:schemeClr val="accent6"/>
                </a:solidFill>
              </a:rPr>
              <a:t>   </a:t>
            </a:r>
          </a:p>
          <a:p>
            <a:r>
              <a:rPr lang="en-US" sz="1500" kern="0" spc="-220" dirty="0">
                <a:solidFill>
                  <a:schemeClr val="accent6"/>
                </a:solidFill>
              </a:rPr>
              <a:t>SOH (Small Object Heap) – objects &lt; ~85 KB            </a:t>
            </a:r>
          </a:p>
          <a:p>
            <a:r>
              <a:rPr lang="en-US" sz="1500" kern="0" spc="-220" dirty="0">
                <a:solidFill>
                  <a:schemeClr val="accent6"/>
                </a:solidFill>
              </a:rPr>
              <a:t>LOH (Large Object Heap) – objects ≥ ~85 KB           </a:t>
            </a:r>
          </a:p>
          <a:p>
            <a:r>
              <a:rPr lang="en-US" sz="1500" kern="0" spc="-220" dirty="0">
                <a:solidFill>
                  <a:schemeClr val="accent6"/>
                </a:solidFill>
              </a:rPr>
              <a:t>POH (Pinned Object Heap) – pinned objects (newer runtimes)            </a:t>
            </a:r>
          </a:p>
          <a:p>
            <a:r>
              <a:rPr lang="en-US" sz="1500" kern="0" spc="-220" dirty="0">
                <a:solidFill>
                  <a:schemeClr val="accent6"/>
                </a:solidFill>
              </a:rPr>
              <a:t> </a:t>
            </a:r>
          </a:p>
          <a:p>
            <a:r>
              <a:rPr lang="en-US" sz="1500" kern="0" spc="-220" dirty="0">
                <a:solidFill>
                  <a:schemeClr val="accent2"/>
                </a:solidFill>
              </a:rPr>
              <a:t>B. Mapping: Generations → Heap Regions → Algorithms </a:t>
            </a:r>
            <a:r>
              <a:rPr lang="en-US" sz="1500" kern="0" spc="-220" dirty="0">
                <a:solidFill>
                  <a:srgbClr val="FF0000"/>
                </a:solidFill>
              </a:rPr>
              <a:t>                 </a:t>
            </a:r>
          </a:p>
          <a:p>
            <a:r>
              <a:rPr lang="en-US" sz="1500" kern="0" spc="-220" dirty="0">
                <a:solidFill>
                  <a:schemeClr val="accent6"/>
                </a:solidFill>
              </a:rPr>
              <a:t>Small Object Heap (SOH)                </a:t>
            </a:r>
          </a:p>
          <a:p>
            <a:r>
              <a:rPr lang="en-US" sz="1500" kern="0" spc="-220" dirty="0">
                <a:solidFill>
                  <a:schemeClr val="accent2"/>
                </a:solidFill>
              </a:rPr>
              <a:t>Generation	  Typical Lifetime                GC Type	Algorithm Used    </a:t>
            </a:r>
            <a:r>
              <a:rPr lang="en-US" sz="1500" kern="0" spc="-220" dirty="0">
                <a:solidFill>
                  <a:schemeClr val="accent6"/>
                </a:solidFill>
              </a:rPr>
              <a:t>              </a:t>
            </a:r>
          </a:p>
          <a:p>
            <a:r>
              <a:rPr lang="en-US" sz="1500" kern="0" spc="-220" dirty="0">
                <a:solidFill>
                  <a:schemeClr val="accent6"/>
                </a:solidFill>
              </a:rPr>
              <a:t>Gen 0	   Very short-lived               Minor GC	Mark → Compact             </a:t>
            </a:r>
          </a:p>
          <a:p>
            <a:r>
              <a:rPr lang="en-US" sz="1500" kern="0" spc="-220" dirty="0">
                <a:solidFill>
                  <a:schemeClr val="accent6"/>
                </a:solidFill>
              </a:rPr>
              <a:t>Gen 1	   Short-to-medium            Minor GC	Mark → Compact              </a:t>
            </a:r>
          </a:p>
          <a:p>
            <a:r>
              <a:rPr lang="en-US" sz="1500" kern="0" spc="-220" dirty="0">
                <a:solidFill>
                  <a:schemeClr val="accent6"/>
                </a:solidFill>
              </a:rPr>
              <a:t>Gen 2	   Long-lived	                        Full GC	Mark → Sweep → Compact       </a:t>
            </a:r>
          </a:p>
        </p:txBody>
      </p:sp>
    </p:spTree>
    <p:extLst>
      <p:ext uri="{BB962C8B-B14F-4D97-AF65-F5344CB8AC3E}">
        <p14:creationId xmlns:p14="http://schemas.microsoft.com/office/powerpoint/2010/main" val="6852153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A18FB-B3A2-13DF-E155-EA2E993A87D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9F41E57-DF94-B674-D04E-516D6CC30DF3}"/>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78CC7E8-3B97-49C0-08DA-7787DBFF0218}"/>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4968E82-A780-2AA7-15B9-7446493D39FD}"/>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191BB3BD-8E7A-F8E1-1429-99B2D531D263}"/>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F45B8AC2-4F09-C7D1-0A89-B530D9323988}"/>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D188DDB7-DBD7-2B33-43FA-F93D3960DFAF}"/>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26E4D1DE-7EA2-EFFF-484E-1A602D2AE2D9}"/>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2502BE76-4064-B6DC-CA24-1593525C3570}"/>
              </a:ext>
            </a:extLst>
          </p:cNvPr>
          <p:cNvSpPr txBox="1">
            <a:spLocks/>
          </p:cNvSpPr>
          <p:nvPr/>
        </p:nvSpPr>
        <p:spPr>
          <a:xfrm>
            <a:off x="366663" y="1143000"/>
            <a:ext cx="8624937" cy="438581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kern="0" spc="-220" dirty="0">
                <a:solidFill>
                  <a:schemeClr val="accent2"/>
                </a:solidFill>
              </a:rPr>
              <a:t>4 . Why These Algorithms Are Chosen            </a:t>
            </a:r>
          </a:p>
          <a:p>
            <a:r>
              <a:rPr lang="en-US" sz="1500" kern="0" spc="-220" dirty="0">
                <a:solidFill>
                  <a:schemeClr val="accent2"/>
                </a:solidFill>
              </a:rPr>
              <a:t>Why SOH uses Mark–Compact         </a:t>
            </a:r>
          </a:p>
          <a:p>
            <a:r>
              <a:rPr lang="en-US" sz="1500" kern="0" spc="-220" dirty="0">
                <a:solidFill>
                  <a:schemeClr val="accent6"/>
                </a:solidFill>
              </a:rPr>
              <a:t>Small objects are numerous          </a:t>
            </a:r>
          </a:p>
          <a:p>
            <a:r>
              <a:rPr lang="en-US" sz="1500" kern="0" spc="-220" dirty="0">
                <a:solidFill>
                  <a:schemeClr val="accent6"/>
                </a:solidFill>
              </a:rPr>
              <a:t>Fragmentation would be disastrous         </a:t>
            </a:r>
          </a:p>
          <a:p>
            <a:r>
              <a:rPr lang="en-US" sz="1500" kern="0" spc="-220" dirty="0">
                <a:solidFill>
                  <a:schemeClr val="accent6"/>
                </a:solidFill>
              </a:rPr>
              <a:t>Moving objects is cheap relative to size</a:t>
            </a:r>
          </a:p>
          <a:p>
            <a:r>
              <a:rPr lang="en-US" sz="1500" kern="0" spc="-220" dirty="0">
                <a:solidFill>
                  <a:schemeClr val="accent6"/>
                </a:solidFill>
              </a:rPr>
              <a:t>Enables fast linear allocation           </a:t>
            </a:r>
          </a:p>
          <a:p>
            <a:r>
              <a:rPr lang="en-US" sz="1500" kern="0" spc="-220" dirty="0">
                <a:solidFill>
                  <a:schemeClr val="accent2"/>
                </a:solidFill>
              </a:rPr>
              <a:t>SOH allocation:    </a:t>
            </a:r>
            <a:r>
              <a:rPr lang="en-US" sz="1500" kern="0" spc="-220" dirty="0">
                <a:solidFill>
                  <a:schemeClr val="accent6"/>
                </a:solidFill>
              </a:rPr>
              <a:t>      </a:t>
            </a:r>
          </a:p>
          <a:p>
            <a:r>
              <a:rPr lang="en-US" sz="1500" kern="0" spc="-220" dirty="0">
                <a:solidFill>
                  <a:schemeClr val="accent6"/>
                </a:solidFill>
              </a:rPr>
              <a:t>[Free][Free][Free] → allocate → bump pointer                </a:t>
            </a:r>
          </a:p>
          <a:p>
            <a:endParaRPr lang="en-US" sz="1500" kern="0" spc="-220" dirty="0">
              <a:solidFill>
                <a:schemeClr val="accent6"/>
              </a:solidFill>
            </a:endParaRPr>
          </a:p>
          <a:p>
            <a:r>
              <a:rPr lang="en-US" sz="1500" kern="0" spc="-220" dirty="0">
                <a:solidFill>
                  <a:schemeClr val="accent2"/>
                </a:solidFill>
              </a:rPr>
              <a:t>Why LOH uses Mark–Sweep    </a:t>
            </a:r>
            <a:r>
              <a:rPr lang="en-US" sz="1500" kern="0" spc="-220" dirty="0">
                <a:solidFill>
                  <a:schemeClr val="accent6"/>
                </a:solidFill>
              </a:rPr>
              <a:t>     </a:t>
            </a:r>
          </a:p>
          <a:p>
            <a:r>
              <a:rPr lang="en-US" sz="1500" kern="0" spc="-220" dirty="0">
                <a:solidFill>
                  <a:schemeClr val="accent6"/>
                </a:solidFill>
              </a:rPr>
              <a:t>Objects are large          </a:t>
            </a:r>
          </a:p>
          <a:p>
            <a:r>
              <a:rPr lang="en-US" sz="1500" kern="0" spc="-220" dirty="0">
                <a:solidFill>
                  <a:schemeClr val="accent6"/>
                </a:solidFill>
              </a:rPr>
              <a:t>Moving them is expensive (CPU + memory bandwidth)            </a:t>
            </a:r>
          </a:p>
          <a:p>
            <a:r>
              <a:rPr lang="en-US" sz="1500" kern="0" spc="-220" dirty="0">
                <a:solidFill>
                  <a:schemeClr val="accent6"/>
                </a:solidFill>
              </a:rPr>
              <a:t>Pinning large objects is common (buffers, arrays)           </a:t>
            </a:r>
          </a:p>
          <a:p>
            <a:r>
              <a:rPr lang="en-US" sz="1500" kern="0" spc="-220" dirty="0">
                <a:solidFill>
                  <a:schemeClr val="accent6"/>
                </a:solidFill>
              </a:rPr>
              <a:t>Fragmentation is tolerated to avoid movement cost             </a:t>
            </a:r>
          </a:p>
          <a:p>
            <a:r>
              <a:rPr lang="en-US" sz="1500" kern="0" spc="-220" dirty="0">
                <a:solidFill>
                  <a:schemeClr val="accent2"/>
                </a:solidFill>
              </a:rPr>
              <a:t>LOH allocation: </a:t>
            </a:r>
            <a:r>
              <a:rPr lang="en-US" sz="1500" kern="0" spc="-220" dirty="0">
                <a:solidFill>
                  <a:schemeClr val="accent6"/>
                </a:solidFill>
              </a:rPr>
              <a:t>           </a:t>
            </a:r>
          </a:p>
          <a:p>
            <a:r>
              <a:rPr lang="en-US" sz="1500" kern="0" spc="-220" dirty="0">
                <a:solidFill>
                  <a:schemeClr val="accent6"/>
                </a:solidFill>
              </a:rPr>
              <a:t>[Obj][Free][Obj][Free][Obj]        </a:t>
            </a:r>
          </a:p>
          <a:p>
            <a:r>
              <a:rPr lang="en-US" sz="1500" kern="0" spc="-220" dirty="0">
                <a:solidFill>
                  <a:schemeClr val="accent6"/>
                </a:solidFill>
              </a:rPr>
              <a:t>     </a:t>
            </a:r>
          </a:p>
          <a:p>
            <a:endParaRPr lang="en-US" sz="1500" kern="0" spc="-220" dirty="0">
              <a:solidFill>
                <a:schemeClr val="accent6"/>
              </a:solidFill>
            </a:endParaRPr>
          </a:p>
          <a:p>
            <a:endParaRPr lang="en-US" sz="1500" kern="0" spc="-220" dirty="0">
              <a:solidFill>
                <a:schemeClr val="accent6"/>
              </a:solidFill>
            </a:endParaRPr>
          </a:p>
        </p:txBody>
      </p:sp>
    </p:spTree>
    <p:extLst>
      <p:ext uri="{BB962C8B-B14F-4D97-AF65-F5344CB8AC3E}">
        <p14:creationId xmlns:p14="http://schemas.microsoft.com/office/powerpoint/2010/main" val="13961378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9C604-97AB-EA83-BD30-95E55B3249C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1B5728F-3239-DE8A-C8FC-B4A1E7159248}"/>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99A9913-582A-B7D3-1537-8A8C49368DFC}"/>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6270384-C52F-4091-15F5-C7FE665EDB43}"/>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C937C988-7264-ED9B-3D29-C5552759F506}"/>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69776F83-BA1D-366C-6712-12BAF8E8261C}"/>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55148461-EFCA-83D2-80E9-46B1C8614EDB}"/>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C16B3FDE-A73B-7967-BFCF-2284FA021C1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3BFA22CD-061B-73B9-9059-93A48E1A9D3D}"/>
              </a:ext>
            </a:extLst>
          </p:cNvPr>
          <p:cNvSpPr txBox="1">
            <a:spLocks/>
          </p:cNvSpPr>
          <p:nvPr/>
        </p:nvSpPr>
        <p:spPr>
          <a:xfrm>
            <a:off x="366663" y="1143000"/>
            <a:ext cx="8624937" cy="53091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kern="0" spc="-220" dirty="0">
                <a:solidFill>
                  <a:schemeClr val="accent2"/>
                </a:solidFill>
              </a:rPr>
              <a:t>5. Visual Mapping Summary          </a:t>
            </a:r>
          </a:p>
          <a:p>
            <a:r>
              <a:rPr lang="en-US" sz="1500" kern="0" spc="-220" dirty="0">
                <a:solidFill>
                  <a:schemeClr val="accent6"/>
                </a:solidFill>
              </a:rPr>
              <a:t>├── SOH           </a:t>
            </a:r>
          </a:p>
          <a:p>
            <a:r>
              <a:rPr lang="en-US" sz="1500" kern="0" spc="-220" dirty="0">
                <a:solidFill>
                  <a:schemeClr val="accent6"/>
                </a:solidFill>
              </a:rPr>
              <a:t>│   ├── Gen 0 → Mark + Compact         </a:t>
            </a:r>
          </a:p>
          <a:p>
            <a:r>
              <a:rPr lang="en-US" sz="1500" kern="0" spc="-220" dirty="0">
                <a:solidFill>
                  <a:schemeClr val="accent6"/>
                </a:solidFill>
              </a:rPr>
              <a:t>│   ├── Gen 1 → Mark + Compact         </a:t>
            </a:r>
          </a:p>
          <a:p>
            <a:r>
              <a:rPr lang="en-US" sz="1500" kern="0" spc="-220" dirty="0">
                <a:solidFill>
                  <a:schemeClr val="accent6"/>
                </a:solidFill>
              </a:rPr>
              <a:t>│   └── Gen 2 → Mark + Sweep + Compact             </a:t>
            </a:r>
          </a:p>
          <a:p>
            <a:r>
              <a:rPr lang="en-US" sz="1500" kern="0" spc="-220" dirty="0">
                <a:solidFill>
                  <a:schemeClr val="accent6"/>
                </a:solidFill>
              </a:rPr>
              <a:t>├── LOH           </a:t>
            </a:r>
          </a:p>
          <a:p>
            <a:r>
              <a:rPr lang="en-US" sz="1500" kern="0" spc="-220" dirty="0">
                <a:solidFill>
                  <a:schemeClr val="accent6"/>
                </a:solidFill>
              </a:rPr>
              <a:t>│   └── Gen 2 → Mark + Sweep (Compact optional)               </a:t>
            </a:r>
          </a:p>
          <a:p>
            <a:r>
              <a:rPr lang="en-US" sz="1500" kern="0" spc="-220" dirty="0">
                <a:solidFill>
                  <a:schemeClr val="accent6"/>
                </a:solidFill>
              </a:rPr>
              <a:t>└── POH          </a:t>
            </a:r>
          </a:p>
          <a:p>
            <a:r>
              <a:rPr lang="en-US" sz="1500" kern="0" spc="-220" dirty="0">
                <a:solidFill>
                  <a:schemeClr val="accent6"/>
                </a:solidFill>
              </a:rPr>
              <a:t>    └── Gen 2 → Mark + Sweep (No compaction)           </a:t>
            </a:r>
          </a:p>
          <a:p>
            <a:r>
              <a:rPr lang="en-US" sz="1500" kern="0" spc="-220" dirty="0">
                <a:solidFill>
                  <a:schemeClr val="accent6"/>
                </a:solidFill>
              </a:rPr>
              <a:t> </a:t>
            </a:r>
          </a:p>
          <a:p>
            <a:r>
              <a:rPr lang="en-US" sz="1500" kern="0" spc="-220" dirty="0">
                <a:solidFill>
                  <a:schemeClr val="accent2"/>
                </a:solidFill>
              </a:rPr>
              <a:t>6. GC Collection Scope               </a:t>
            </a:r>
          </a:p>
          <a:p>
            <a:r>
              <a:rPr lang="en-US" sz="1500" kern="0" spc="-220" dirty="0">
                <a:solidFill>
                  <a:schemeClr val="accent2"/>
                </a:solidFill>
              </a:rPr>
              <a:t>GC Trigger	Collected Areas           </a:t>
            </a:r>
            <a:r>
              <a:rPr lang="en-US" sz="1500" kern="0" spc="-220" dirty="0">
                <a:solidFill>
                  <a:schemeClr val="accent6"/>
                </a:solidFill>
              </a:rPr>
              <a:t>  </a:t>
            </a:r>
          </a:p>
          <a:p>
            <a:r>
              <a:rPr lang="en-US" sz="1500" kern="0" spc="-220" dirty="0">
                <a:solidFill>
                  <a:schemeClr val="accent6"/>
                </a:solidFill>
              </a:rPr>
              <a:t>Gen 0 GC	Gen 0 only               </a:t>
            </a:r>
          </a:p>
          <a:p>
            <a:r>
              <a:rPr lang="en-US" sz="1500" kern="0" spc="-220" dirty="0">
                <a:solidFill>
                  <a:schemeClr val="accent6"/>
                </a:solidFill>
              </a:rPr>
              <a:t>Gen 1 GC	Gen 0 + Gen 1           </a:t>
            </a:r>
          </a:p>
          <a:p>
            <a:r>
              <a:rPr lang="en-US" sz="1500" kern="0" spc="-220" dirty="0">
                <a:solidFill>
                  <a:schemeClr val="accent6"/>
                </a:solidFill>
              </a:rPr>
              <a:t>Gen 2 GC	Gen 0 + Gen 1 + Gen 2 + LOH + POH    </a:t>
            </a:r>
          </a:p>
          <a:p>
            <a:endParaRPr lang="en-US" sz="1500" kern="0" spc="-220" dirty="0">
              <a:solidFill>
                <a:schemeClr val="accent6"/>
              </a:solidFill>
            </a:endParaRPr>
          </a:p>
          <a:p>
            <a:r>
              <a:rPr lang="en-US" sz="1500" kern="0" spc="-220" dirty="0">
                <a:solidFill>
                  <a:schemeClr val="accent2"/>
                </a:solidFill>
              </a:rPr>
              <a:t>7. One-Liners             </a:t>
            </a:r>
          </a:p>
          <a:p>
            <a:r>
              <a:rPr lang="en-US" sz="1500" kern="0" spc="-220" dirty="0">
                <a:solidFill>
                  <a:schemeClr val="accent6"/>
                </a:solidFill>
              </a:rPr>
              <a:t>“All LOH objects belong to Gen 2 logically.”             </a:t>
            </a:r>
          </a:p>
          <a:p>
            <a:r>
              <a:rPr lang="en-US" sz="1500" kern="0" spc="-220" dirty="0">
                <a:solidFill>
                  <a:schemeClr val="accent6"/>
                </a:solidFill>
              </a:rPr>
              <a:t>“SOH is compacted; LOH is swept.”          </a:t>
            </a:r>
          </a:p>
          <a:p>
            <a:r>
              <a:rPr lang="en-US" sz="1500" kern="0" spc="-220" dirty="0">
                <a:solidFill>
                  <a:schemeClr val="accent6"/>
                </a:solidFill>
              </a:rPr>
              <a:t>“Mark–compact favors allocation speed; mark–sweep favors movement avoidance.”           </a:t>
            </a:r>
          </a:p>
          <a:p>
            <a:r>
              <a:rPr lang="en-US" sz="1500" kern="0" spc="-220" dirty="0">
                <a:solidFill>
                  <a:schemeClr val="accent6"/>
                </a:solidFill>
              </a:rPr>
              <a:t>“LOH compaction is explicit, not automatic.”              </a:t>
            </a:r>
          </a:p>
          <a:p>
            <a:r>
              <a:rPr lang="en-US" sz="1500" kern="0" spc="-220" dirty="0">
                <a:solidFill>
                  <a:schemeClr val="accent6"/>
                </a:solidFill>
              </a:rPr>
              <a:t>     </a:t>
            </a:r>
          </a:p>
          <a:p>
            <a:r>
              <a:rPr lang="en-US" sz="1500" kern="0" spc="-220" dirty="0">
                <a:solidFill>
                  <a:schemeClr val="accent6"/>
                </a:solidFill>
              </a:rPr>
              <a:t>    </a:t>
            </a:r>
          </a:p>
        </p:txBody>
      </p:sp>
    </p:spTree>
    <p:extLst>
      <p:ext uri="{BB962C8B-B14F-4D97-AF65-F5344CB8AC3E}">
        <p14:creationId xmlns:p14="http://schemas.microsoft.com/office/powerpoint/2010/main" val="15438343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B5705-339F-DCB8-D465-438D48E3F20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D53ACD4-DFBA-34F4-CA4D-B1352DB913CB}"/>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58D7CBD-FAB4-658C-C342-F61792B1478C}"/>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B628E9B-9041-CAEF-BE94-250B6C8D388B}"/>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DBD6D976-5AE8-0AC7-4485-82EEA7B02902}"/>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0B18DE47-84D3-9AB5-5191-FD3A3FFE8D57}"/>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1471425F-8419-01DA-291D-C4EC1C096C0E}"/>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ECBC39A1-17A9-FA6F-29B8-EC044A6E81C1}"/>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88C3B0B7-E092-196C-D6A5-844E6113D5BE}"/>
              </a:ext>
            </a:extLst>
          </p:cNvPr>
          <p:cNvSpPr txBox="1">
            <a:spLocks/>
          </p:cNvSpPr>
          <p:nvPr/>
        </p:nvSpPr>
        <p:spPr>
          <a:xfrm>
            <a:off x="366663" y="1143000"/>
            <a:ext cx="8624937" cy="438581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kern="0" spc="-220" dirty="0">
                <a:solidFill>
                  <a:schemeClr val="accent2"/>
                </a:solidFill>
              </a:rPr>
              <a:t>8. Practical Implications (Very Important)                 </a:t>
            </a:r>
          </a:p>
          <a:p>
            <a:r>
              <a:rPr lang="en-US" sz="1500" kern="0" spc="-220" dirty="0">
                <a:solidFill>
                  <a:schemeClr val="accent2"/>
                </a:solidFill>
              </a:rPr>
              <a:t>Performance Gotchas  </a:t>
            </a:r>
            <a:r>
              <a:rPr lang="en-US" sz="1500" kern="0" spc="-220" dirty="0">
                <a:solidFill>
                  <a:schemeClr val="accent6"/>
                </a:solidFill>
              </a:rPr>
              <a:t>            </a:t>
            </a:r>
          </a:p>
          <a:p>
            <a:r>
              <a:rPr lang="en-US" sz="1500" kern="0" spc="-220" dirty="0">
                <a:solidFill>
                  <a:schemeClr val="accent6"/>
                </a:solidFill>
              </a:rPr>
              <a:t>Frequent large allocations → LOH fragmentation            </a:t>
            </a:r>
          </a:p>
          <a:p>
            <a:r>
              <a:rPr lang="en-US" sz="1500" kern="0" spc="-220" dirty="0">
                <a:solidFill>
                  <a:schemeClr val="accent6"/>
                </a:solidFill>
              </a:rPr>
              <a:t>Long-lived large arrays → Gen 2 pressure               </a:t>
            </a:r>
          </a:p>
          <a:p>
            <a:r>
              <a:rPr lang="en-US" sz="1500" kern="0" spc="-220" dirty="0">
                <a:solidFill>
                  <a:schemeClr val="accent6"/>
                </a:solidFill>
              </a:rPr>
              <a:t>Pinning → worsens fragmentation             </a:t>
            </a:r>
          </a:p>
          <a:p>
            <a:r>
              <a:rPr lang="en-US" sz="1500" kern="0" spc="-220" dirty="0">
                <a:solidFill>
                  <a:schemeClr val="accent2"/>
                </a:solidFill>
              </a:rPr>
              <a:t>Best Practices   </a:t>
            </a:r>
            <a:r>
              <a:rPr lang="en-US" sz="1500" kern="0" spc="-220" dirty="0">
                <a:solidFill>
                  <a:schemeClr val="accent6"/>
                </a:solidFill>
              </a:rPr>
              <a:t>         </a:t>
            </a:r>
          </a:p>
          <a:p>
            <a:r>
              <a:rPr lang="en-US" sz="1500" kern="0" spc="-220" dirty="0">
                <a:solidFill>
                  <a:schemeClr val="accent6"/>
                </a:solidFill>
              </a:rPr>
              <a:t>Reuse large buffers (</a:t>
            </a:r>
            <a:r>
              <a:rPr lang="en-US" sz="1500" kern="0" spc="-220" dirty="0" err="1">
                <a:solidFill>
                  <a:schemeClr val="accent6"/>
                </a:solidFill>
              </a:rPr>
              <a:t>ArrayPool</a:t>
            </a:r>
            <a:r>
              <a:rPr lang="en-US" sz="1500" kern="0" spc="-220" dirty="0">
                <a:solidFill>
                  <a:schemeClr val="accent6"/>
                </a:solidFill>
              </a:rPr>
              <a:t>)           </a:t>
            </a:r>
          </a:p>
          <a:p>
            <a:r>
              <a:rPr lang="en-US" sz="1500" kern="0" spc="-220" dirty="0">
                <a:solidFill>
                  <a:schemeClr val="accent6"/>
                </a:solidFill>
              </a:rPr>
              <a:t>Avoid frequent large allocations            </a:t>
            </a:r>
          </a:p>
          <a:p>
            <a:r>
              <a:rPr lang="en-US" sz="1500" kern="0" spc="-220" dirty="0">
                <a:solidFill>
                  <a:schemeClr val="accent6"/>
                </a:solidFill>
              </a:rPr>
              <a:t>Trigger LOH compaction only when necessary </a:t>
            </a:r>
          </a:p>
          <a:p>
            <a:endParaRPr lang="en-US" sz="1500" kern="0" spc="-220" dirty="0">
              <a:solidFill>
                <a:schemeClr val="accent6"/>
              </a:solidFill>
            </a:endParaRPr>
          </a:p>
          <a:p>
            <a:r>
              <a:rPr lang="en-US" sz="1500" kern="0" spc="-220" dirty="0">
                <a:solidFill>
                  <a:schemeClr val="accent2"/>
                </a:solidFill>
              </a:rPr>
              <a:t>9. Allocation Mechanics (Why new Is Cheap)</a:t>
            </a:r>
          </a:p>
          <a:p>
            <a:r>
              <a:rPr lang="en-US" sz="1500" kern="0" spc="-220" dirty="0">
                <a:solidFill>
                  <a:schemeClr val="accent6"/>
                </a:solidFill>
              </a:rPr>
              <a:t>Bump Pointer Allocation</a:t>
            </a:r>
          </a:p>
          <a:p>
            <a:r>
              <a:rPr lang="en-US" sz="1500" kern="0" spc="-220" dirty="0">
                <a:solidFill>
                  <a:schemeClr val="accent6"/>
                </a:solidFill>
              </a:rPr>
              <a:t>Allocation = pointer increment</a:t>
            </a:r>
          </a:p>
          <a:p>
            <a:r>
              <a:rPr lang="en-US" sz="1500" kern="0" spc="-220" dirty="0">
                <a:solidFill>
                  <a:schemeClr val="accent6"/>
                </a:solidFill>
              </a:rPr>
              <a:t>No free-list lookup</a:t>
            </a:r>
          </a:p>
          <a:p>
            <a:r>
              <a:rPr lang="en-US" sz="1500" kern="0" spc="-220" dirty="0">
                <a:solidFill>
                  <a:schemeClr val="accent6"/>
                </a:solidFill>
              </a:rPr>
              <a:t>Almost as fast as stack allocation</a:t>
            </a:r>
          </a:p>
          <a:p>
            <a:r>
              <a:rPr lang="en-US" sz="1500" kern="0" spc="-220" dirty="0">
                <a:solidFill>
                  <a:schemeClr val="accent6"/>
                </a:solidFill>
              </a:rPr>
              <a:t>var obj = new </a:t>
            </a:r>
            <a:r>
              <a:rPr lang="en-US" sz="1500" kern="0" spc="-220" dirty="0" err="1">
                <a:solidFill>
                  <a:schemeClr val="accent6"/>
                </a:solidFill>
              </a:rPr>
              <a:t>MyClass</a:t>
            </a:r>
            <a:r>
              <a:rPr lang="en-US" sz="1500" kern="0" spc="-220" dirty="0">
                <a:solidFill>
                  <a:schemeClr val="accent6"/>
                </a:solidFill>
              </a:rPr>
              <a:t>(); // extremely cheap</a:t>
            </a:r>
          </a:p>
          <a:p>
            <a:r>
              <a:rPr lang="en-US" sz="1500" kern="0" spc="-220" dirty="0">
                <a:solidFill>
                  <a:schemeClr val="accent2"/>
                </a:solidFill>
              </a:rPr>
              <a:t>💡 GC is optimized for allocation, not retention</a:t>
            </a:r>
          </a:p>
          <a:p>
            <a:endParaRPr lang="en-US" sz="1500" kern="0" spc="-220" dirty="0">
              <a:solidFill>
                <a:schemeClr val="accent6"/>
              </a:solidFill>
            </a:endParaRPr>
          </a:p>
          <a:p>
            <a:endParaRPr lang="en-US" sz="1500" kern="0" spc="-220" dirty="0">
              <a:solidFill>
                <a:schemeClr val="accent6"/>
              </a:solidFill>
            </a:endParaRPr>
          </a:p>
        </p:txBody>
      </p:sp>
    </p:spTree>
    <p:extLst>
      <p:ext uri="{BB962C8B-B14F-4D97-AF65-F5344CB8AC3E}">
        <p14:creationId xmlns:p14="http://schemas.microsoft.com/office/powerpoint/2010/main" val="29823751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80F4E-D36A-0DD4-32D1-D8F9312DDA5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67EADDE-2B5A-531F-D032-744A6A38D6F6}"/>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7545121-9CF5-8960-9B78-9E8CFAEFC4D1}"/>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7F93994-20F4-CE00-BC4E-66C85060454E}"/>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431B0BF6-500D-A600-2D50-AE3918787153}"/>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33787DCE-7053-31B9-7342-6ED41B2946FD}"/>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EB23817E-446B-54D5-5496-8D73298A198B}"/>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A8CC6860-9960-5693-7D2F-0446ACF856DF}"/>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95927A5E-A00E-5225-2BDA-4956FFDE3204}"/>
              </a:ext>
            </a:extLst>
          </p:cNvPr>
          <p:cNvSpPr txBox="1">
            <a:spLocks/>
          </p:cNvSpPr>
          <p:nvPr/>
        </p:nvSpPr>
        <p:spPr>
          <a:xfrm>
            <a:off x="366663" y="1143000"/>
            <a:ext cx="8624937" cy="53091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kern="0" spc="-220" dirty="0">
                <a:solidFill>
                  <a:schemeClr val="accent2"/>
                </a:solidFill>
              </a:rPr>
              <a:t>10. Small Object Heap (SOH) vs Large Object Heap (LOH)</a:t>
            </a:r>
          </a:p>
          <a:p>
            <a:r>
              <a:rPr lang="en-US" sz="1500" kern="0" spc="-220" dirty="0">
                <a:solidFill>
                  <a:schemeClr val="accent2"/>
                </a:solidFill>
              </a:rPr>
              <a:t>Threshold</a:t>
            </a:r>
          </a:p>
          <a:p>
            <a:r>
              <a:rPr lang="en-US" sz="1500" kern="0" spc="-220" dirty="0">
                <a:solidFill>
                  <a:schemeClr val="accent6"/>
                </a:solidFill>
              </a:rPr>
              <a:t>&lt; 85 KB → SOH</a:t>
            </a:r>
          </a:p>
          <a:p>
            <a:r>
              <a:rPr lang="en-US" sz="1500" kern="0" spc="-220" dirty="0">
                <a:solidFill>
                  <a:schemeClr val="accent6"/>
                </a:solidFill>
              </a:rPr>
              <a:t>≥ 85 KB → LOH</a:t>
            </a:r>
          </a:p>
          <a:p>
            <a:r>
              <a:rPr lang="en-US" sz="1500" kern="0" spc="-220" dirty="0">
                <a:solidFill>
                  <a:schemeClr val="accent2"/>
                </a:solidFill>
              </a:rPr>
              <a:t>Differences</a:t>
            </a:r>
          </a:p>
          <a:p>
            <a:r>
              <a:rPr lang="en-US" sz="1500" kern="0" spc="-220" dirty="0">
                <a:solidFill>
                  <a:schemeClr val="accent2"/>
                </a:solidFill>
              </a:rPr>
              <a:t>Aspect	            SOH	    LOH</a:t>
            </a:r>
          </a:p>
          <a:p>
            <a:r>
              <a:rPr lang="en-US" sz="1500" kern="0" spc="-220" dirty="0">
                <a:solidFill>
                  <a:schemeClr val="accent6"/>
                </a:solidFill>
              </a:rPr>
              <a:t>Compaction	            Yes	    No (by default)</a:t>
            </a:r>
          </a:p>
          <a:p>
            <a:r>
              <a:rPr lang="en-US" sz="1500" kern="0" spc="-220" dirty="0">
                <a:solidFill>
                  <a:schemeClr val="accent6"/>
                </a:solidFill>
              </a:rPr>
              <a:t>Allocation	            Fast	     Slower</a:t>
            </a:r>
          </a:p>
          <a:p>
            <a:r>
              <a:rPr lang="en-US" sz="1500" kern="0" spc="-220" dirty="0">
                <a:solidFill>
                  <a:schemeClr val="accent6"/>
                </a:solidFill>
              </a:rPr>
              <a:t>Fragmentation       Low	      High</a:t>
            </a:r>
          </a:p>
          <a:p>
            <a:r>
              <a:rPr lang="en-US" sz="1500" kern="0" spc="-220" dirty="0">
                <a:solidFill>
                  <a:schemeClr val="accent2"/>
                </a:solidFill>
              </a:rPr>
              <a:t>💡 Classic Gotcha</a:t>
            </a:r>
          </a:p>
          <a:p>
            <a:r>
              <a:rPr lang="en-US" sz="1500" kern="0" spc="-220" dirty="0">
                <a:solidFill>
                  <a:schemeClr val="accent6"/>
                </a:solidFill>
              </a:rPr>
              <a:t>byte[] buffer = new byte[100_000]; // LOH allocation</a:t>
            </a:r>
          </a:p>
          <a:p>
            <a:r>
              <a:rPr lang="en-US" sz="1500" kern="0" spc="-220" dirty="0">
                <a:solidFill>
                  <a:schemeClr val="accent6"/>
                </a:solidFill>
              </a:rPr>
              <a:t>LOH Compaction</a:t>
            </a:r>
          </a:p>
          <a:p>
            <a:r>
              <a:rPr lang="en-US" sz="1500" kern="0" spc="-220" dirty="0">
                <a:solidFill>
                  <a:schemeClr val="accent6"/>
                </a:solidFill>
              </a:rPr>
              <a:t>Available since .NET 4.5+</a:t>
            </a:r>
          </a:p>
          <a:p>
            <a:r>
              <a:rPr lang="en-US" sz="1500" kern="0" spc="-220" dirty="0">
                <a:solidFill>
                  <a:schemeClr val="accent6"/>
                </a:solidFill>
              </a:rPr>
              <a:t>Opt-in:</a:t>
            </a:r>
          </a:p>
          <a:p>
            <a:r>
              <a:rPr lang="en-US" sz="1500" kern="0" spc="-220" dirty="0" err="1">
                <a:solidFill>
                  <a:schemeClr val="accent6"/>
                </a:solidFill>
              </a:rPr>
              <a:t>GCSettings.LargeObjectHeapCompactionMode</a:t>
            </a:r>
            <a:r>
              <a:rPr lang="en-US" sz="1500" kern="0" spc="-220" dirty="0">
                <a:solidFill>
                  <a:schemeClr val="accent6"/>
                </a:solidFill>
              </a:rPr>
              <a:t> =</a:t>
            </a:r>
          </a:p>
          <a:p>
            <a:r>
              <a:rPr lang="en-US" sz="1500" kern="0" spc="-220" dirty="0">
                <a:solidFill>
                  <a:schemeClr val="accent6"/>
                </a:solidFill>
              </a:rPr>
              <a:t>    </a:t>
            </a:r>
            <a:r>
              <a:rPr lang="en-US" sz="1500" kern="0" spc="-220" dirty="0" err="1">
                <a:solidFill>
                  <a:schemeClr val="accent6"/>
                </a:solidFill>
              </a:rPr>
              <a:t>GCLargeObjectHeapCompactionMode.CompactOnce</a:t>
            </a:r>
            <a:r>
              <a:rPr lang="en-US" sz="1500" kern="0" spc="-220" dirty="0">
                <a:solidFill>
                  <a:schemeClr val="accent6"/>
                </a:solidFill>
              </a:rPr>
              <a:t>;</a:t>
            </a:r>
          </a:p>
          <a:p>
            <a:r>
              <a:rPr lang="en-US" sz="1500" kern="0" spc="-220" dirty="0">
                <a:solidFill>
                  <a:schemeClr val="accent2"/>
                </a:solidFill>
              </a:rPr>
              <a:t>11. Workstation GC vs Server GC</a:t>
            </a:r>
          </a:p>
          <a:p>
            <a:r>
              <a:rPr lang="en-US" sz="1500" kern="0" spc="-220" dirty="0">
                <a:solidFill>
                  <a:schemeClr val="accent2"/>
                </a:solidFill>
              </a:rPr>
              <a:t>Workstation GC</a:t>
            </a:r>
          </a:p>
          <a:p>
            <a:r>
              <a:rPr lang="en-US" sz="1500" kern="0" spc="-220" dirty="0">
                <a:solidFill>
                  <a:schemeClr val="accent6"/>
                </a:solidFill>
              </a:rPr>
              <a:t>Optimized for UI responsiveness</a:t>
            </a:r>
          </a:p>
          <a:p>
            <a:r>
              <a:rPr lang="en-US" sz="1500" kern="0" spc="-220" dirty="0">
                <a:solidFill>
                  <a:schemeClr val="accent6"/>
                </a:solidFill>
              </a:rPr>
              <a:t>Single heap</a:t>
            </a:r>
          </a:p>
          <a:p>
            <a:r>
              <a:rPr lang="en-US" sz="1500" kern="0" spc="-220" dirty="0">
                <a:solidFill>
                  <a:schemeClr val="accent6"/>
                </a:solidFill>
              </a:rPr>
              <a:t>Used by desktop apps</a:t>
            </a:r>
          </a:p>
          <a:p>
            <a:endParaRPr lang="en-US" sz="1500" kern="0" spc="-220" dirty="0">
              <a:solidFill>
                <a:schemeClr val="accent6"/>
              </a:solidFill>
            </a:endParaRPr>
          </a:p>
          <a:p>
            <a:endParaRPr lang="en-US" sz="1500" kern="0" spc="-220" dirty="0">
              <a:solidFill>
                <a:schemeClr val="accent6"/>
              </a:solidFill>
            </a:endParaRPr>
          </a:p>
        </p:txBody>
      </p:sp>
    </p:spTree>
    <p:extLst>
      <p:ext uri="{BB962C8B-B14F-4D97-AF65-F5344CB8AC3E}">
        <p14:creationId xmlns:p14="http://schemas.microsoft.com/office/powerpoint/2010/main" val="25900341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A43B5-E3EB-4F92-7510-78A8A1500ED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4CC7B5B-FEC3-B0B8-6F54-86ADE5D9ECB3}"/>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66E08F0-01A5-F9E8-A68C-9007C4A701BD}"/>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502745D-E145-CFEE-A5B1-CB14ADA16026}"/>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0158FC86-43E5-A8AF-D6A0-E0F21E6FAB65}"/>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B4640DFC-60CF-F157-21BD-44A955B64E4B}"/>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56CFCFD2-ADA2-2048-20C3-728504052E36}"/>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B8573170-5B5C-1C43-C107-034A51937EF9}"/>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8BDD5775-DA5B-DD7C-A154-55A49C2029EE}"/>
              </a:ext>
            </a:extLst>
          </p:cNvPr>
          <p:cNvSpPr txBox="1">
            <a:spLocks/>
          </p:cNvSpPr>
          <p:nvPr/>
        </p:nvSpPr>
        <p:spPr>
          <a:xfrm>
            <a:off x="366663" y="1143000"/>
            <a:ext cx="8624937" cy="48474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kern="0" spc="-220" dirty="0">
                <a:solidFill>
                  <a:schemeClr val="accent2"/>
                </a:solidFill>
              </a:rPr>
              <a:t>11.  Workstation GC vs Server GC</a:t>
            </a:r>
          </a:p>
          <a:p>
            <a:r>
              <a:rPr lang="en-US" sz="1500" kern="0" spc="-220" dirty="0">
                <a:solidFill>
                  <a:schemeClr val="accent2"/>
                </a:solidFill>
              </a:rPr>
              <a:t>Server GC</a:t>
            </a:r>
          </a:p>
          <a:p>
            <a:r>
              <a:rPr lang="en-US" sz="1500" kern="0" spc="-220" dirty="0">
                <a:solidFill>
                  <a:schemeClr val="accent6"/>
                </a:solidFill>
              </a:rPr>
              <a:t>Optimized for throughput</a:t>
            </a:r>
          </a:p>
          <a:p>
            <a:r>
              <a:rPr lang="en-US" sz="1500" kern="0" spc="-220" dirty="0">
                <a:solidFill>
                  <a:schemeClr val="accent6"/>
                </a:solidFill>
              </a:rPr>
              <a:t>One heap per core</a:t>
            </a:r>
          </a:p>
          <a:p>
            <a:r>
              <a:rPr lang="en-US" sz="1500" kern="0" spc="-220" dirty="0">
                <a:solidFill>
                  <a:schemeClr val="accent6"/>
                </a:solidFill>
              </a:rPr>
              <a:t>Used by ASP.NET, microservices</a:t>
            </a:r>
          </a:p>
          <a:p>
            <a:r>
              <a:rPr lang="en-US" sz="1500" kern="0" spc="-220" dirty="0">
                <a:solidFill>
                  <a:schemeClr val="accent6"/>
                </a:solidFill>
              </a:rPr>
              <a:t>{</a:t>
            </a:r>
          </a:p>
          <a:p>
            <a:r>
              <a:rPr lang="en-US" sz="1500" kern="0" spc="-220" dirty="0">
                <a:solidFill>
                  <a:schemeClr val="accent6"/>
                </a:solidFill>
              </a:rPr>
              <a:t>  "</a:t>
            </a:r>
            <a:r>
              <a:rPr lang="en-US" sz="1500" kern="0" spc="-220" dirty="0" err="1">
                <a:solidFill>
                  <a:schemeClr val="accent6"/>
                </a:solidFill>
              </a:rPr>
              <a:t>runtimeOptions</a:t>
            </a:r>
            <a:r>
              <a:rPr lang="en-US" sz="1500" kern="0" spc="-220" dirty="0">
                <a:solidFill>
                  <a:schemeClr val="accent6"/>
                </a:solidFill>
              </a:rPr>
              <a:t>": {</a:t>
            </a:r>
          </a:p>
          <a:p>
            <a:r>
              <a:rPr lang="en-US" sz="1500" kern="0" spc="-220" dirty="0">
                <a:solidFill>
                  <a:schemeClr val="accent6"/>
                </a:solidFill>
              </a:rPr>
              <a:t>    "</a:t>
            </a:r>
            <a:r>
              <a:rPr lang="en-US" sz="1500" kern="0" spc="-220" dirty="0" err="1">
                <a:solidFill>
                  <a:schemeClr val="accent6"/>
                </a:solidFill>
              </a:rPr>
              <a:t>gcServer</a:t>
            </a:r>
            <a:r>
              <a:rPr lang="en-US" sz="1500" kern="0" spc="-220" dirty="0">
                <a:solidFill>
                  <a:schemeClr val="accent6"/>
                </a:solidFill>
              </a:rPr>
              <a:t>": true</a:t>
            </a:r>
          </a:p>
          <a:p>
            <a:r>
              <a:rPr lang="en-US" sz="1500" kern="0" spc="-220" dirty="0">
                <a:solidFill>
                  <a:schemeClr val="accent6"/>
                </a:solidFill>
              </a:rPr>
              <a:t>  }</a:t>
            </a:r>
          </a:p>
          <a:p>
            <a:r>
              <a:rPr lang="en-US" sz="1500" kern="0" spc="-220" dirty="0">
                <a:solidFill>
                  <a:schemeClr val="accent6"/>
                </a:solidFill>
              </a:rPr>
              <a:t>}</a:t>
            </a:r>
          </a:p>
          <a:p>
            <a:r>
              <a:rPr lang="en-US" sz="1500" kern="0" spc="-220" dirty="0">
                <a:solidFill>
                  <a:schemeClr val="accent2"/>
                </a:solidFill>
              </a:rPr>
              <a:t>💡Insight</a:t>
            </a:r>
          </a:p>
          <a:p>
            <a:r>
              <a:rPr lang="en-US" sz="1500" kern="0" spc="-220" dirty="0">
                <a:solidFill>
                  <a:schemeClr val="accent6"/>
                </a:solidFill>
              </a:rPr>
              <a:t>Server GC scales linearly with cores but uses more memory.</a:t>
            </a:r>
          </a:p>
          <a:p>
            <a:endParaRPr lang="en-US" sz="1500" kern="0" spc="-220" dirty="0">
              <a:solidFill>
                <a:schemeClr val="accent6"/>
              </a:solidFill>
            </a:endParaRPr>
          </a:p>
          <a:p>
            <a:r>
              <a:rPr lang="en-US" sz="1500" kern="0" spc="-220" dirty="0">
                <a:solidFill>
                  <a:schemeClr val="accent2"/>
                </a:solidFill>
              </a:rPr>
              <a:t>12. Background GC</a:t>
            </a:r>
          </a:p>
          <a:p>
            <a:r>
              <a:rPr lang="en-US" sz="1500" kern="0" spc="-220" dirty="0">
                <a:solidFill>
                  <a:schemeClr val="accent2"/>
                </a:solidFill>
              </a:rPr>
              <a:t>Problem</a:t>
            </a:r>
          </a:p>
          <a:p>
            <a:r>
              <a:rPr lang="en-US" sz="1500" kern="0" spc="-220" dirty="0">
                <a:solidFill>
                  <a:schemeClr val="accent6"/>
                </a:solidFill>
              </a:rPr>
              <a:t>Gen 2 collections cause long pauses</a:t>
            </a:r>
          </a:p>
          <a:p>
            <a:r>
              <a:rPr lang="en-US" sz="1500" kern="0" spc="-220" dirty="0">
                <a:solidFill>
                  <a:schemeClr val="accent2"/>
                </a:solidFill>
              </a:rPr>
              <a:t>Solution</a:t>
            </a:r>
          </a:p>
          <a:p>
            <a:r>
              <a:rPr lang="en-US" sz="1500" kern="0" spc="-220" dirty="0">
                <a:solidFill>
                  <a:schemeClr val="accent6"/>
                </a:solidFill>
              </a:rPr>
              <a:t>Background GC</a:t>
            </a:r>
          </a:p>
          <a:p>
            <a:r>
              <a:rPr lang="en-US" sz="1500" kern="0" spc="-220" dirty="0">
                <a:solidFill>
                  <a:schemeClr val="accent6"/>
                </a:solidFill>
              </a:rPr>
              <a:t>Gen 2 runs concurrently</a:t>
            </a:r>
          </a:p>
          <a:p>
            <a:r>
              <a:rPr lang="en-US" sz="1500" kern="0" spc="-220" dirty="0">
                <a:solidFill>
                  <a:schemeClr val="accent6"/>
                </a:solidFill>
              </a:rPr>
              <a:t>Gen 0/1 collections continue</a:t>
            </a:r>
          </a:p>
          <a:p>
            <a:r>
              <a:rPr lang="en-US" sz="1500" kern="0" spc="-220" dirty="0">
                <a:solidFill>
                  <a:schemeClr val="accent6"/>
                </a:solidFill>
              </a:rPr>
              <a:t>💡 Enabled by default in Server GC</a:t>
            </a:r>
          </a:p>
        </p:txBody>
      </p:sp>
    </p:spTree>
    <p:extLst>
      <p:ext uri="{BB962C8B-B14F-4D97-AF65-F5344CB8AC3E}">
        <p14:creationId xmlns:p14="http://schemas.microsoft.com/office/powerpoint/2010/main" val="213835362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C2CCF-60DE-4278-9B6A-EFDBDA6F2AF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34F5F22-C669-3F46-F761-8E9E89ED3D64}"/>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1EFE9AE-3CD3-CAA2-B80A-BDF806C6B4C9}"/>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F960894-9D56-BF27-C0AA-53C594A71A96}"/>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932273B0-1C14-24E7-FAA9-A68AAC245A61}"/>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B956D26C-9142-F048-4F4A-8221E6A38CAC}"/>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5B8F69C5-A51B-7147-9A82-9634B3BCFB8C}"/>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0B8F0D44-0BA0-E80A-4474-737347300864}"/>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0FB3691E-F4F3-F3F8-F09C-1CAFEC0924C8}"/>
              </a:ext>
            </a:extLst>
          </p:cNvPr>
          <p:cNvSpPr txBox="1">
            <a:spLocks/>
          </p:cNvSpPr>
          <p:nvPr/>
        </p:nvSpPr>
        <p:spPr>
          <a:xfrm>
            <a:off x="366663" y="1143000"/>
            <a:ext cx="8624937" cy="461664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kern="0" spc="-220" dirty="0">
                <a:solidFill>
                  <a:schemeClr val="accent2"/>
                </a:solidFill>
              </a:rPr>
              <a:t>13 . Finalization (The Most Misunderstood Part)</a:t>
            </a:r>
          </a:p>
          <a:p>
            <a:r>
              <a:rPr lang="en-US" sz="1500" kern="0" spc="-220" dirty="0">
                <a:solidFill>
                  <a:schemeClr val="accent2"/>
                </a:solidFill>
              </a:rPr>
              <a:t>What is a Finalizer?</a:t>
            </a:r>
          </a:p>
          <a:p>
            <a:r>
              <a:rPr lang="en-US" sz="1500" kern="0" spc="-220" dirty="0">
                <a:solidFill>
                  <a:schemeClr val="accent6"/>
                </a:solidFill>
              </a:rPr>
              <a:t>~</a:t>
            </a:r>
            <a:r>
              <a:rPr lang="en-US" sz="1500" kern="0" spc="-220" dirty="0" err="1">
                <a:solidFill>
                  <a:schemeClr val="accent6"/>
                </a:solidFill>
              </a:rPr>
              <a:t>MyClass</a:t>
            </a:r>
            <a:r>
              <a:rPr lang="en-US" sz="1500" kern="0" spc="-220" dirty="0">
                <a:solidFill>
                  <a:schemeClr val="accent6"/>
                </a:solidFill>
              </a:rPr>
              <a:t>()</a:t>
            </a:r>
          </a:p>
          <a:p>
            <a:r>
              <a:rPr lang="en-US" sz="1500" kern="0" spc="-220" dirty="0">
                <a:solidFill>
                  <a:schemeClr val="accent6"/>
                </a:solidFill>
              </a:rPr>
              <a:t>{</a:t>
            </a:r>
          </a:p>
          <a:p>
            <a:r>
              <a:rPr lang="en-US" sz="1500" kern="0" spc="-220" dirty="0">
                <a:solidFill>
                  <a:schemeClr val="accent6"/>
                </a:solidFill>
              </a:rPr>
              <a:t>   // cleanup</a:t>
            </a:r>
          </a:p>
          <a:p>
            <a:r>
              <a:rPr lang="en-US" sz="1500" kern="0" spc="-220" dirty="0">
                <a:solidFill>
                  <a:schemeClr val="accent6"/>
                </a:solidFill>
              </a:rPr>
              <a:t>}</a:t>
            </a:r>
          </a:p>
          <a:p>
            <a:r>
              <a:rPr lang="en-US" sz="1500" kern="0" spc="-220" dirty="0">
                <a:solidFill>
                  <a:schemeClr val="accent2"/>
                </a:solidFill>
              </a:rPr>
              <a:t>What really happens</a:t>
            </a:r>
          </a:p>
          <a:p>
            <a:r>
              <a:rPr lang="en-US" sz="1500" kern="0" spc="-220" dirty="0">
                <a:solidFill>
                  <a:schemeClr val="accent6"/>
                </a:solidFill>
              </a:rPr>
              <a:t>Object becomes unreachable</a:t>
            </a:r>
          </a:p>
          <a:p>
            <a:r>
              <a:rPr lang="en-US" sz="1500" kern="0" spc="-220" dirty="0">
                <a:solidFill>
                  <a:schemeClr val="accent6"/>
                </a:solidFill>
              </a:rPr>
              <a:t>Moved to finalization queue</a:t>
            </a:r>
          </a:p>
          <a:p>
            <a:r>
              <a:rPr lang="en-US" sz="1500" kern="0" spc="-220" dirty="0">
                <a:solidFill>
                  <a:schemeClr val="accent6"/>
                </a:solidFill>
              </a:rPr>
              <a:t>Finalizer thread runs later</a:t>
            </a:r>
          </a:p>
          <a:p>
            <a:r>
              <a:rPr lang="en-US" sz="1500" kern="0" spc="-220" dirty="0">
                <a:solidFill>
                  <a:schemeClr val="accent6"/>
                </a:solidFill>
              </a:rPr>
              <a:t>Object becomes collectible next GC</a:t>
            </a:r>
          </a:p>
          <a:p>
            <a:r>
              <a:rPr lang="en-US" sz="1500" kern="0" spc="-220" dirty="0">
                <a:solidFill>
                  <a:schemeClr val="accent2"/>
                </a:solidFill>
              </a:rPr>
              <a:t>💥 Gotchas</a:t>
            </a:r>
          </a:p>
          <a:p>
            <a:r>
              <a:rPr lang="en-US" sz="1500" kern="0" spc="-220" dirty="0">
                <a:solidFill>
                  <a:schemeClr val="accent6"/>
                </a:solidFill>
              </a:rPr>
              <a:t>Finalizers delay reclamation</a:t>
            </a:r>
          </a:p>
          <a:p>
            <a:r>
              <a:rPr lang="en-US" sz="1500" kern="0" spc="-220" dirty="0">
                <a:solidFill>
                  <a:schemeClr val="accent6"/>
                </a:solidFill>
              </a:rPr>
              <a:t>Finalizable objects survive at least 2 GCs</a:t>
            </a:r>
          </a:p>
          <a:p>
            <a:r>
              <a:rPr lang="en-US" sz="1500" kern="0" spc="-220" dirty="0">
                <a:solidFill>
                  <a:schemeClr val="accent6"/>
                </a:solidFill>
              </a:rPr>
              <a:t>Finalizer thread is single-threaded</a:t>
            </a:r>
          </a:p>
          <a:p>
            <a:endParaRPr lang="en-US" sz="1500" kern="0" spc="-220" dirty="0">
              <a:solidFill>
                <a:schemeClr val="accent6"/>
              </a:solidFill>
            </a:endParaRPr>
          </a:p>
          <a:p>
            <a:r>
              <a:rPr lang="en-US" sz="1500" kern="0" spc="-220" dirty="0">
                <a:solidFill>
                  <a:schemeClr val="accent2"/>
                </a:solidFill>
              </a:rPr>
              <a:t>14.. </a:t>
            </a:r>
            <a:r>
              <a:rPr lang="en-US" sz="1500" kern="0" spc="-220" dirty="0" err="1">
                <a:solidFill>
                  <a:schemeClr val="accent2"/>
                </a:solidFill>
              </a:rPr>
              <a:t>IDisposable</a:t>
            </a:r>
            <a:r>
              <a:rPr lang="en-US" sz="1500" kern="0" spc="-220" dirty="0">
                <a:solidFill>
                  <a:schemeClr val="accent2"/>
                </a:solidFill>
              </a:rPr>
              <a:t> &amp; Deterministic Cleanup</a:t>
            </a:r>
          </a:p>
          <a:p>
            <a:r>
              <a:rPr lang="en-US" sz="1500" kern="0" spc="-220" dirty="0">
                <a:solidFill>
                  <a:schemeClr val="accent2"/>
                </a:solidFill>
              </a:rPr>
              <a:t>Correct Pattern</a:t>
            </a:r>
          </a:p>
          <a:p>
            <a:r>
              <a:rPr lang="en-US" sz="1500" kern="0" spc="-220" dirty="0">
                <a:solidFill>
                  <a:schemeClr val="accent6"/>
                </a:solidFill>
              </a:rPr>
              <a:t>Using( var stream = new </a:t>
            </a:r>
            <a:r>
              <a:rPr lang="en-US" sz="1500" kern="0" spc="-220" dirty="0" err="1">
                <a:solidFill>
                  <a:schemeClr val="accent6"/>
                </a:solidFill>
              </a:rPr>
              <a:t>FileStream</a:t>
            </a:r>
            <a:r>
              <a:rPr lang="en-US" sz="1500" kern="0" spc="-220" dirty="0">
                <a:solidFill>
                  <a:schemeClr val="accent6"/>
                </a:solidFill>
              </a:rPr>
              <a:t>(...))</a:t>
            </a:r>
          </a:p>
          <a:p>
            <a:endParaRPr lang="en-US" sz="1500" kern="0" spc="-220" dirty="0">
              <a:solidFill>
                <a:schemeClr val="accent6"/>
              </a:solidFill>
            </a:endParaRPr>
          </a:p>
        </p:txBody>
      </p:sp>
    </p:spTree>
    <p:extLst>
      <p:ext uri="{BB962C8B-B14F-4D97-AF65-F5344CB8AC3E}">
        <p14:creationId xmlns:p14="http://schemas.microsoft.com/office/powerpoint/2010/main" val="12176215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DC71B-6F8B-96AA-17E9-EC2076C4807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59B6284-5523-AD65-EA73-F337AF3841A1}"/>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5F997E0-EC39-676D-3326-2C9002A056E3}"/>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162E3A8-6322-E832-1333-40107F1D8FCD}"/>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5DA8BFDA-A214-9784-5785-BE9A6DC0F5C0}"/>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C385C1A3-A0A3-9CA1-6118-2BDF4C483C5A}"/>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755733A8-BE13-5B6D-682A-3B4B434E34E4}"/>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0F8C457D-88CF-7515-03D1-AFB3CB8EDB08}"/>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33433A4F-C00E-B30F-CC39-68F56FA0592A}"/>
              </a:ext>
            </a:extLst>
          </p:cNvPr>
          <p:cNvSpPr txBox="1">
            <a:spLocks/>
          </p:cNvSpPr>
          <p:nvPr/>
        </p:nvSpPr>
        <p:spPr>
          <a:xfrm>
            <a:off x="366663" y="1143000"/>
            <a:ext cx="8624937" cy="438581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kern="0" spc="-220" dirty="0">
                <a:solidFill>
                  <a:schemeClr val="accent2"/>
                </a:solidFill>
              </a:rPr>
              <a:t>14. </a:t>
            </a:r>
            <a:r>
              <a:rPr lang="en-US" sz="1500" kern="0" spc="-220" dirty="0" err="1">
                <a:solidFill>
                  <a:schemeClr val="accent2"/>
                </a:solidFill>
              </a:rPr>
              <a:t>IDisposable</a:t>
            </a:r>
            <a:r>
              <a:rPr lang="en-US" sz="1500" kern="0" spc="-220" dirty="0">
                <a:solidFill>
                  <a:schemeClr val="accent2"/>
                </a:solidFill>
              </a:rPr>
              <a:t> &amp; Deterministic Cleanup</a:t>
            </a:r>
          </a:p>
          <a:p>
            <a:r>
              <a:rPr lang="en-US" sz="1500" kern="0" spc="-220" dirty="0">
                <a:solidFill>
                  <a:schemeClr val="accent2"/>
                </a:solidFill>
              </a:rPr>
              <a:t>Why Dispose exists</a:t>
            </a:r>
          </a:p>
          <a:p>
            <a:r>
              <a:rPr lang="en-US" sz="1500" kern="0" spc="-220" dirty="0">
                <a:solidFill>
                  <a:schemeClr val="accent6"/>
                </a:solidFill>
              </a:rPr>
              <a:t>GC handles memory</a:t>
            </a:r>
          </a:p>
          <a:p>
            <a:r>
              <a:rPr lang="en-US" sz="1500" kern="0" spc="-220" dirty="0">
                <a:solidFill>
                  <a:schemeClr val="accent6"/>
                </a:solidFill>
              </a:rPr>
              <a:t>Dispose handles resources</a:t>
            </a:r>
          </a:p>
          <a:p>
            <a:r>
              <a:rPr lang="en-US" sz="1500" kern="0" spc="-220" dirty="0">
                <a:solidFill>
                  <a:schemeClr val="accent6"/>
                </a:solidFill>
              </a:rPr>
              <a:t>File handles</a:t>
            </a:r>
          </a:p>
          <a:p>
            <a:r>
              <a:rPr lang="en-US" sz="1500" kern="0" spc="-220" dirty="0">
                <a:solidFill>
                  <a:schemeClr val="accent6"/>
                </a:solidFill>
              </a:rPr>
              <a:t>Sockets</a:t>
            </a:r>
          </a:p>
          <a:p>
            <a:r>
              <a:rPr lang="en-US" sz="1500" kern="0" spc="-220" dirty="0">
                <a:solidFill>
                  <a:schemeClr val="accent6"/>
                </a:solidFill>
              </a:rPr>
              <a:t>DB connections</a:t>
            </a:r>
          </a:p>
          <a:p>
            <a:r>
              <a:rPr lang="en-US" sz="1500" kern="0" spc="-220" dirty="0">
                <a:solidFill>
                  <a:schemeClr val="accent6"/>
                </a:solidFill>
              </a:rPr>
              <a:t>Full Dispose Pattern (Advanced)</a:t>
            </a:r>
          </a:p>
          <a:p>
            <a:r>
              <a:rPr lang="en-US" sz="1500" kern="0" spc="-220" dirty="0">
                <a:solidFill>
                  <a:schemeClr val="accent6"/>
                </a:solidFill>
              </a:rPr>
              <a:t>protected virtual void Dispose(bool disposing)</a:t>
            </a:r>
          </a:p>
          <a:p>
            <a:r>
              <a:rPr lang="en-US" sz="1500" kern="0" spc="-220" dirty="0">
                <a:solidFill>
                  <a:schemeClr val="accent6"/>
                </a:solidFill>
              </a:rPr>
              <a:t>{</a:t>
            </a:r>
          </a:p>
          <a:p>
            <a:r>
              <a:rPr lang="en-US" sz="1500" kern="0" spc="-220" dirty="0">
                <a:solidFill>
                  <a:schemeClr val="accent6"/>
                </a:solidFill>
              </a:rPr>
              <a:t>    if (disposing)</a:t>
            </a:r>
          </a:p>
          <a:p>
            <a:r>
              <a:rPr lang="en-US" sz="1500" kern="0" spc="-220" dirty="0">
                <a:solidFill>
                  <a:schemeClr val="accent6"/>
                </a:solidFill>
              </a:rPr>
              <a:t>    {</a:t>
            </a:r>
          </a:p>
          <a:p>
            <a:r>
              <a:rPr lang="en-US" sz="1500" kern="0" spc="-220" dirty="0">
                <a:solidFill>
                  <a:schemeClr val="accent6"/>
                </a:solidFill>
              </a:rPr>
              <a:t>        // managed cleanup</a:t>
            </a:r>
          </a:p>
          <a:p>
            <a:r>
              <a:rPr lang="en-US" sz="1500" kern="0" spc="-220" dirty="0">
                <a:solidFill>
                  <a:schemeClr val="accent6"/>
                </a:solidFill>
              </a:rPr>
              <a:t>    }</a:t>
            </a:r>
          </a:p>
          <a:p>
            <a:r>
              <a:rPr lang="en-US" sz="1500" kern="0" spc="-220" dirty="0">
                <a:solidFill>
                  <a:schemeClr val="accent6"/>
                </a:solidFill>
              </a:rPr>
              <a:t>    // unmanaged cleanup</a:t>
            </a:r>
          </a:p>
          <a:p>
            <a:r>
              <a:rPr lang="en-US" sz="1500" kern="0" spc="-220" dirty="0">
                <a:solidFill>
                  <a:schemeClr val="accent6"/>
                </a:solidFill>
              </a:rPr>
              <a:t>}</a:t>
            </a:r>
          </a:p>
          <a:p>
            <a:r>
              <a:rPr lang="en-US" sz="1500" kern="0" spc="-220" dirty="0">
                <a:solidFill>
                  <a:schemeClr val="accent2"/>
                </a:solidFill>
              </a:rPr>
              <a:t>💡 Rule</a:t>
            </a:r>
          </a:p>
          <a:p>
            <a:r>
              <a:rPr lang="en-US" sz="1500" kern="0" spc="-220" dirty="0">
                <a:solidFill>
                  <a:schemeClr val="accent6"/>
                </a:solidFill>
              </a:rPr>
              <a:t>GC ≠ resource management</a:t>
            </a:r>
          </a:p>
          <a:p>
            <a:endParaRPr lang="en-US" sz="1500" kern="0" spc="-220" dirty="0">
              <a:solidFill>
                <a:schemeClr val="accent6"/>
              </a:solidFill>
            </a:endParaRPr>
          </a:p>
        </p:txBody>
      </p:sp>
    </p:spTree>
    <p:extLst>
      <p:ext uri="{BB962C8B-B14F-4D97-AF65-F5344CB8AC3E}">
        <p14:creationId xmlns:p14="http://schemas.microsoft.com/office/powerpoint/2010/main" val="36209502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772AE-9DDE-83C9-9FE0-79EE619B192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37C7AAA-98D4-3904-B9B8-1AD2DC8A4E7C}"/>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1B6C96E-F259-0792-560C-FA0DC1161908}"/>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F40CFF4-A439-3339-A0C4-94E8B2B0383D}"/>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1B75A9C6-57CA-C117-F050-3DF93946C8DD}"/>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399BAC17-27DF-ED4F-1E47-6112BE81EA75}"/>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4751B550-4B44-010E-E39D-7F76490E5348}"/>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28B363DF-54CB-43CE-0873-40DE8D0E46D3}"/>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2B7FB771-6C30-E73B-5509-21B4016E6C43}"/>
              </a:ext>
            </a:extLst>
          </p:cNvPr>
          <p:cNvSpPr txBox="1">
            <a:spLocks/>
          </p:cNvSpPr>
          <p:nvPr/>
        </p:nvSpPr>
        <p:spPr>
          <a:xfrm>
            <a:off x="366663" y="1143000"/>
            <a:ext cx="8624937" cy="415498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kern="0" spc="-220" dirty="0">
                <a:solidFill>
                  <a:schemeClr val="accent2"/>
                </a:solidFill>
              </a:rPr>
              <a:t>15. Suppressing Finalization</a:t>
            </a:r>
          </a:p>
          <a:p>
            <a:r>
              <a:rPr lang="en-US" sz="1500" kern="0" spc="-220" dirty="0" err="1">
                <a:solidFill>
                  <a:schemeClr val="accent6"/>
                </a:solidFill>
              </a:rPr>
              <a:t>GC.SuppressFinalize</a:t>
            </a:r>
            <a:r>
              <a:rPr lang="en-US" sz="1500" kern="0" spc="-220" dirty="0">
                <a:solidFill>
                  <a:schemeClr val="accent6"/>
                </a:solidFill>
              </a:rPr>
              <a:t>(this);</a:t>
            </a:r>
          </a:p>
          <a:p>
            <a:r>
              <a:rPr lang="en-US" sz="1500" kern="0" spc="-220" dirty="0">
                <a:solidFill>
                  <a:schemeClr val="accent2"/>
                </a:solidFill>
              </a:rPr>
              <a:t>Use when:</a:t>
            </a:r>
          </a:p>
          <a:p>
            <a:r>
              <a:rPr lang="en-US" sz="1500" kern="0" spc="-220" dirty="0">
                <a:solidFill>
                  <a:schemeClr val="accent6"/>
                </a:solidFill>
              </a:rPr>
              <a:t>You cleaned up manually</a:t>
            </a:r>
          </a:p>
          <a:p>
            <a:r>
              <a:rPr lang="en-US" sz="1500" kern="0" spc="-220" dirty="0">
                <a:solidFill>
                  <a:schemeClr val="accent6"/>
                </a:solidFill>
              </a:rPr>
              <a:t>Finalizer is unnecessary now</a:t>
            </a:r>
          </a:p>
          <a:p>
            <a:endParaRPr lang="en-US" sz="1500" kern="0" spc="-220" dirty="0">
              <a:solidFill>
                <a:schemeClr val="accent6"/>
              </a:solidFill>
            </a:endParaRPr>
          </a:p>
          <a:p>
            <a:r>
              <a:rPr lang="en-US" sz="1500" kern="0" spc="-220" dirty="0">
                <a:solidFill>
                  <a:schemeClr val="accent2"/>
                </a:solidFill>
              </a:rPr>
              <a:t>16. GC Handles (Advanced Interop)</a:t>
            </a:r>
          </a:p>
          <a:p>
            <a:r>
              <a:rPr lang="en-US" sz="1500" kern="0" spc="-220" dirty="0">
                <a:solidFill>
                  <a:schemeClr val="accent2"/>
                </a:solidFill>
              </a:rPr>
              <a:t>Handle Type	Purpose</a:t>
            </a:r>
          </a:p>
          <a:p>
            <a:r>
              <a:rPr lang="en-US" sz="1500" kern="0" spc="-220" dirty="0">
                <a:solidFill>
                  <a:schemeClr val="accent6"/>
                </a:solidFill>
              </a:rPr>
              <a:t>Normal	                             Prevent collection</a:t>
            </a:r>
          </a:p>
          <a:p>
            <a:r>
              <a:rPr lang="en-US" sz="1500" kern="0" spc="-220" dirty="0">
                <a:solidFill>
                  <a:schemeClr val="accent6"/>
                </a:solidFill>
              </a:rPr>
              <a:t>Pinned	                             Prevent movement</a:t>
            </a:r>
          </a:p>
          <a:p>
            <a:r>
              <a:rPr lang="en-US" sz="1500" kern="0" spc="-220" dirty="0">
                <a:solidFill>
                  <a:schemeClr val="accent6"/>
                </a:solidFill>
              </a:rPr>
              <a:t>Weak	                             Weak reference</a:t>
            </a:r>
          </a:p>
          <a:p>
            <a:r>
              <a:rPr lang="en-US" sz="1500" kern="0" spc="-220" dirty="0">
                <a:solidFill>
                  <a:schemeClr val="accent6"/>
                </a:solidFill>
              </a:rPr>
              <a:t>💥 Pinned handles cause fragmentation</a:t>
            </a:r>
          </a:p>
          <a:p>
            <a:endParaRPr lang="en-US" sz="1500" kern="0" spc="-220" dirty="0">
              <a:solidFill>
                <a:schemeClr val="accent6"/>
              </a:solidFill>
            </a:endParaRPr>
          </a:p>
          <a:p>
            <a:r>
              <a:rPr lang="en-US" sz="1500" kern="0" spc="-220" dirty="0">
                <a:solidFill>
                  <a:schemeClr val="accent2"/>
                </a:solidFill>
              </a:rPr>
              <a:t>17.  Pinned Objects &amp; Fragmentation</a:t>
            </a:r>
          </a:p>
          <a:p>
            <a:r>
              <a:rPr lang="en-US" sz="1500" kern="0" spc="-220" dirty="0">
                <a:solidFill>
                  <a:schemeClr val="accent2"/>
                </a:solidFill>
              </a:rPr>
              <a:t>Why pinning is bad</a:t>
            </a:r>
          </a:p>
          <a:p>
            <a:r>
              <a:rPr lang="en-US" sz="1500" kern="0" spc="-220" dirty="0">
                <a:solidFill>
                  <a:schemeClr val="accent6"/>
                </a:solidFill>
              </a:rPr>
              <a:t>Prevents compaction</a:t>
            </a:r>
          </a:p>
          <a:p>
            <a:r>
              <a:rPr lang="en-US" sz="1500" kern="0" spc="-220" dirty="0">
                <a:solidFill>
                  <a:schemeClr val="accent6"/>
                </a:solidFill>
              </a:rPr>
              <a:t>Creates holes in memory</a:t>
            </a:r>
          </a:p>
          <a:p>
            <a:r>
              <a:rPr lang="en-US" sz="1500" kern="0" spc="-220" dirty="0">
                <a:solidFill>
                  <a:schemeClr val="accent6"/>
                </a:solidFill>
              </a:rPr>
              <a:t>Hurts Gen 2</a:t>
            </a:r>
          </a:p>
        </p:txBody>
      </p:sp>
    </p:spTree>
    <p:extLst>
      <p:ext uri="{BB962C8B-B14F-4D97-AF65-F5344CB8AC3E}">
        <p14:creationId xmlns:p14="http://schemas.microsoft.com/office/powerpoint/2010/main" val="377437205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74A3E-A381-59CD-E899-CF56F84BDE5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E9C7D6B-EA37-1347-70A7-438FC41F9152}"/>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56BA959-1DF3-DF64-C68A-927F79EE0102}"/>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16ADF6D-4743-1D64-3B9F-2AC3768C8440}"/>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D50084D0-4A26-6903-B477-65D40738AAB6}"/>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75A816E0-E54C-2483-6248-BD5D16B20DAE}"/>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08038E83-4A90-D913-18C8-00894ADC3099}"/>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D98CAFD4-DA6A-5D1A-2DDD-6162C5F523E9}"/>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32666CC0-D7CE-A841-AC7E-ABB799D261AD}"/>
              </a:ext>
            </a:extLst>
          </p:cNvPr>
          <p:cNvSpPr txBox="1">
            <a:spLocks/>
          </p:cNvSpPr>
          <p:nvPr/>
        </p:nvSpPr>
        <p:spPr>
          <a:xfrm>
            <a:off x="366663" y="1143000"/>
            <a:ext cx="8624937" cy="461664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kern="0" spc="-220" dirty="0">
                <a:solidFill>
                  <a:schemeClr val="accent2"/>
                </a:solidFill>
              </a:rPr>
              <a:t>17. Pinned Objects &amp; Fragmentation</a:t>
            </a:r>
          </a:p>
          <a:p>
            <a:r>
              <a:rPr lang="en-US" sz="1500" kern="0" spc="-220" dirty="0">
                <a:solidFill>
                  <a:schemeClr val="accent2"/>
                </a:solidFill>
              </a:rPr>
              <a:t>Common Causes</a:t>
            </a:r>
          </a:p>
          <a:p>
            <a:r>
              <a:rPr lang="en-US" sz="1500" kern="0" spc="-220" dirty="0">
                <a:solidFill>
                  <a:schemeClr val="accent6"/>
                </a:solidFill>
              </a:rPr>
              <a:t>fixed</a:t>
            </a:r>
          </a:p>
          <a:p>
            <a:r>
              <a:rPr lang="en-US" sz="1500" kern="0" spc="-220" dirty="0">
                <a:solidFill>
                  <a:schemeClr val="accent6"/>
                </a:solidFill>
              </a:rPr>
              <a:t>P/Invoke</a:t>
            </a:r>
          </a:p>
          <a:p>
            <a:r>
              <a:rPr lang="en-US" sz="1500" kern="0" spc="-220" dirty="0">
                <a:solidFill>
                  <a:schemeClr val="accent6"/>
                </a:solidFill>
              </a:rPr>
              <a:t>Large pinned buffers</a:t>
            </a:r>
          </a:p>
          <a:p>
            <a:r>
              <a:rPr lang="en-US" sz="1500" kern="0" spc="-220" dirty="0">
                <a:solidFill>
                  <a:schemeClr val="accent2"/>
                </a:solidFill>
              </a:rPr>
              <a:t>Solution</a:t>
            </a:r>
          </a:p>
          <a:p>
            <a:r>
              <a:rPr lang="en-US" sz="1500" kern="0" spc="-220" dirty="0">
                <a:solidFill>
                  <a:schemeClr val="accent6"/>
                </a:solidFill>
              </a:rPr>
              <a:t>Pin short-lived</a:t>
            </a:r>
          </a:p>
          <a:p>
            <a:r>
              <a:rPr lang="en-US" sz="1500" kern="0" spc="-220" dirty="0">
                <a:solidFill>
                  <a:schemeClr val="accent6"/>
                </a:solidFill>
              </a:rPr>
              <a:t>Use </a:t>
            </a:r>
            <a:r>
              <a:rPr lang="en-US" sz="1500" kern="0" spc="-220" dirty="0" err="1">
                <a:solidFill>
                  <a:schemeClr val="accent6"/>
                </a:solidFill>
              </a:rPr>
              <a:t>ArrayPool</a:t>
            </a:r>
            <a:r>
              <a:rPr lang="en-US" sz="1500" kern="0" spc="-220" dirty="0">
                <a:solidFill>
                  <a:schemeClr val="accent6"/>
                </a:solidFill>
              </a:rPr>
              <a:t>&lt;T&gt;</a:t>
            </a:r>
          </a:p>
          <a:p>
            <a:r>
              <a:rPr lang="en-US" sz="1500" kern="0" spc="-220" dirty="0">
                <a:solidFill>
                  <a:schemeClr val="accent6"/>
                </a:solidFill>
              </a:rPr>
              <a:t>Use Span&lt;T&gt;</a:t>
            </a:r>
          </a:p>
          <a:p>
            <a:endParaRPr lang="en-US" sz="1500" kern="0" spc="-220" dirty="0">
              <a:solidFill>
                <a:schemeClr val="accent6"/>
              </a:solidFill>
            </a:endParaRPr>
          </a:p>
          <a:p>
            <a:r>
              <a:rPr lang="en-US" sz="1500" kern="0" spc="-220" dirty="0">
                <a:solidFill>
                  <a:schemeClr val="accent2"/>
                </a:solidFill>
              </a:rPr>
              <a:t>19.  Allocation Pressure Patterns</a:t>
            </a:r>
          </a:p>
          <a:p>
            <a:r>
              <a:rPr lang="en-US" sz="1500" kern="0" spc="-220" dirty="0">
                <a:solidFill>
                  <a:schemeClr val="accent2"/>
                </a:solidFill>
              </a:rPr>
              <a:t>Bad Patterns</a:t>
            </a:r>
          </a:p>
          <a:p>
            <a:r>
              <a:rPr lang="en-US" sz="1500" kern="0" spc="-220" dirty="0">
                <a:solidFill>
                  <a:schemeClr val="accent6"/>
                </a:solidFill>
              </a:rPr>
              <a:t>Creating objects in tight loops</a:t>
            </a:r>
          </a:p>
          <a:p>
            <a:r>
              <a:rPr lang="en-US" sz="1500" kern="0" spc="-220" dirty="0">
                <a:solidFill>
                  <a:schemeClr val="accent6"/>
                </a:solidFill>
              </a:rPr>
              <a:t>Boxing (int → object)</a:t>
            </a:r>
          </a:p>
          <a:p>
            <a:r>
              <a:rPr lang="en-US" sz="1500" kern="0" spc="-220" dirty="0">
                <a:solidFill>
                  <a:schemeClr val="accent6"/>
                </a:solidFill>
              </a:rPr>
              <a:t>LINQ in hot paths</a:t>
            </a:r>
          </a:p>
          <a:p>
            <a:r>
              <a:rPr lang="en-US" sz="1500" kern="0" spc="-220" dirty="0">
                <a:solidFill>
                  <a:schemeClr val="accent6"/>
                </a:solidFill>
              </a:rPr>
              <a:t>Large temporary buffers</a:t>
            </a:r>
          </a:p>
          <a:p>
            <a:r>
              <a:rPr lang="en-US" sz="1500" kern="0" spc="-220" dirty="0">
                <a:solidFill>
                  <a:schemeClr val="accent2"/>
                </a:solidFill>
              </a:rPr>
              <a:t>Good Patterns</a:t>
            </a:r>
          </a:p>
          <a:p>
            <a:r>
              <a:rPr lang="en-US" sz="1500" kern="0" spc="-220" dirty="0">
                <a:solidFill>
                  <a:schemeClr val="accent6"/>
                </a:solidFill>
              </a:rPr>
              <a:t>Object pooling</a:t>
            </a:r>
          </a:p>
          <a:p>
            <a:r>
              <a:rPr lang="en-US" sz="1500" kern="0" spc="-220" dirty="0">
                <a:solidFill>
                  <a:schemeClr val="accent6"/>
                </a:solidFill>
              </a:rPr>
              <a:t>Structs (when appropriate)</a:t>
            </a:r>
          </a:p>
          <a:p>
            <a:r>
              <a:rPr lang="en-US" sz="1500" kern="0" spc="-220" dirty="0">
                <a:solidFill>
                  <a:schemeClr val="accent6"/>
                </a:solidFill>
              </a:rPr>
              <a:t>Reuse buffers</a:t>
            </a:r>
          </a:p>
        </p:txBody>
      </p:sp>
    </p:spTree>
    <p:extLst>
      <p:ext uri="{BB962C8B-B14F-4D97-AF65-F5344CB8AC3E}">
        <p14:creationId xmlns:p14="http://schemas.microsoft.com/office/powerpoint/2010/main" val="41005048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50BD4-CE2D-4293-2935-E8E1A52D947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FFCB02F-1115-A7F5-CE3D-8F3D7AC135DA}"/>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6BA331D-F9EF-4431-4A8A-627EDDEFEEC1}"/>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07A7742-AF90-DCC6-71D4-1F4A549B5E40}"/>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BE2F7697-70AD-DC89-1DE6-E8927A3478D3}"/>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D10B1866-FB91-520C-B26B-ED4533DCB4B1}"/>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42AAEF56-6B9D-B968-999D-E6189F548B38}"/>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1C252938-749D-6186-3FBA-9BC36467DF61}"/>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4E4429F6-46A9-9D45-6E95-E1B68BD902FA}"/>
              </a:ext>
            </a:extLst>
          </p:cNvPr>
          <p:cNvSpPr txBox="1">
            <a:spLocks/>
          </p:cNvSpPr>
          <p:nvPr/>
        </p:nvSpPr>
        <p:spPr>
          <a:xfrm>
            <a:off x="366663" y="1143000"/>
            <a:ext cx="8624937" cy="461664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kern="0" spc="-220" dirty="0">
                <a:solidFill>
                  <a:schemeClr val="accent2"/>
                </a:solidFill>
              </a:rPr>
              <a:t>19.. Structs vs Classes (GC Impact)</a:t>
            </a:r>
          </a:p>
          <a:p>
            <a:r>
              <a:rPr lang="en-US" sz="1500" kern="0" spc="-220" dirty="0">
                <a:solidFill>
                  <a:schemeClr val="accent2"/>
                </a:solidFill>
              </a:rPr>
              <a:t>Aspect	Struct	    Class</a:t>
            </a:r>
          </a:p>
          <a:p>
            <a:r>
              <a:rPr lang="en-US" sz="1500" kern="0" spc="-220" dirty="0">
                <a:solidFill>
                  <a:schemeClr val="accent6"/>
                </a:solidFill>
              </a:rPr>
              <a:t>Allocation	Stack/inline	    Heap</a:t>
            </a:r>
          </a:p>
          <a:p>
            <a:r>
              <a:rPr lang="en-US" sz="1500" kern="0" spc="-220" dirty="0">
                <a:solidFill>
                  <a:schemeClr val="accent6"/>
                </a:solidFill>
              </a:rPr>
              <a:t>GC	None	    Yes</a:t>
            </a:r>
          </a:p>
          <a:p>
            <a:r>
              <a:rPr lang="en-US" sz="1500" kern="0" spc="-220" dirty="0">
                <a:solidFill>
                  <a:schemeClr val="accent6"/>
                </a:solidFill>
              </a:rPr>
              <a:t>Copy cost	Higher	     Reference</a:t>
            </a:r>
          </a:p>
          <a:p>
            <a:r>
              <a:rPr lang="en-US" sz="1500" kern="0" spc="-220" dirty="0">
                <a:solidFill>
                  <a:schemeClr val="accent2"/>
                </a:solidFill>
              </a:rPr>
              <a:t>💡 Gotcha</a:t>
            </a:r>
          </a:p>
          <a:p>
            <a:r>
              <a:rPr lang="en-US" sz="1500" kern="0" spc="-220" dirty="0">
                <a:solidFill>
                  <a:schemeClr val="accent6"/>
                </a:solidFill>
              </a:rPr>
              <a:t>Large structs can be worse than classes</a:t>
            </a:r>
          </a:p>
          <a:p>
            <a:endParaRPr lang="en-US" sz="1500" kern="0" spc="-220" dirty="0">
              <a:solidFill>
                <a:schemeClr val="accent6"/>
              </a:solidFill>
            </a:endParaRPr>
          </a:p>
          <a:p>
            <a:r>
              <a:rPr lang="en-US" sz="1500" kern="0" spc="-220" dirty="0">
                <a:solidFill>
                  <a:schemeClr val="accent2"/>
                </a:solidFill>
              </a:rPr>
              <a:t>20. Escape Analysis (Limited)</a:t>
            </a:r>
          </a:p>
          <a:p>
            <a:r>
              <a:rPr lang="en-US" sz="1500" kern="0" spc="-220" dirty="0">
                <a:solidFill>
                  <a:schemeClr val="accent6"/>
                </a:solidFill>
              </a:rPr>
              <a:t>JIT can stack-allocate some objects</a:t>
            </a:r>
          </a:p>
          <a:p>
            <a:r>
              <a:rPr lang="en-US" sz="1500" kern="0" spc="-220" dirty="0">
                <a:solidFill>
                  <a:schemeClr val="accent6"/>
                </a:solidFill>
              </a:rPr>
              <a:t>Very conservative</a:t>
            </a:r>
          </a:p>
          <a:p>
            <a:r>
              <a:rPr lang="en-US" sz="1500" kern="0" spc="-220" dirty="0">
                <a:solidFill>
                  <a:schemeClr val="accent6"/>
                </a:solidFill>
              </a:rPr>
              <a:t>Do not rely on it</a:t>
            </a:r>
          </a:p>
          <a:p>
            <a:endParaRPr lang="en-US" sz="1500" kern="0" spc="-220" dirty="0">
              <a:solidFill>
                <a:schemeClr val="accent6"/>
              </a:solidFill>
            </a:endParaRPr>
          </a:p>
          <a:p>
            <a:r>
              <a:rPr lang="en-US" sz="1500" kern="0" spc="-220" dirty="0">
                <a:solidFill>
                  <a:schemeClr val="accent2"/>
                </a:solidFill>
              </a:rPr>
              <a:t>21. GC Pauses &amp; Latency</a:t>
            </a:r>
          </a:p>
          <a:p>
            <a:r>
              <a:rPr lang="en-US" sz="1500" kern="0" spc="-220" dirty="0">
                <a:solidFill>
                  <a:schemeClr val="accent2"/>
                </a:solidFill>
              </a:rPr>
              <a:t>What causes pauses</a:t>
            </a:r>
          </a:p>
          <a:p>
            <a:r>
              <a:rPr lang="en-US" sz="1500" kern="0" spc="-220" dirty="0">
                <a:solidFill>
                  <a:schemeClr val="accent6"/>
                </a:solidFill>
              </a:rPr>
              <a:t>Gen 2 collections</a:t>
            </a:r>
          </a:p>
          <a:p>
            <a:r>
              <a:rPr lang="en-US" sz="1500" kern="0" spc="-220" dirty="0">
                <a:solidFill>
                  <a:schemeClr val="accent6"/>
                </a:solidFill>
              </a:rPr>
              <a:t>LOH fragmentation</a:t>
            </a:r>
          </a:p>
          <a:p>
            <a:r>
              <a:rPr lang="en-US" sz="1500" kern="0" spc="-220" dirty="0">
                <a:solidFill>
                  <a:schemeClr val="accent6"/>
                </a:solidFill>
              </a:rPr>
              <a:t>Finalizers</a:t>
            </a:r>
          </a:p>
          <a:p>
            <a:r>
              <a:rPr lang="en-US" sz="1500" kern="0" spc="-220" dirty="0">
                <a:solidFill>
                  <a:schemeClr val="accent6"/>
                </a:solidFill>
              </a:rPr>
              <a:t>Excessive allocation</a:t>
            </a:r>
          </a:p>
          <a:p>
            <a:endParaRPr lang="en-US" sz="1500" kern="0" spc="-220" dirty="0">
              <a:solidFill>
                <a:schemeClr val="accent6"/>
              </a:solidFill>
            </a:endParaRPr>
          </a:p>
        </p:txBody>
      </p:sp>
    </p:spTree>
    <p:extLst>
      <p:ext uri="{BB962C8B-B14F-4D97-AF65-F5344CB8AC3E}">
        <p14:creationId xmlns:p14="http://schemas.microsoft.com/office/powerpoint/2010/main" val="10398800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E1EA8-28E1-B58E-13A1-14AC8FE822F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D69E6C6-F00A-A83E-27D0-E5AA5CE9D4DC}"/>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959B437-5447-7062-EC84-E769854AA3FD}"/>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CE641C1-59D3-0815-8040-DF6251C0F5F0}"/>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68E2CCAE-5123-A459-7E6B-A2AD8AB91D5A}"/>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AD3084BE-00BE-60F7-0ADF-B2B54C0DD9FF}"/>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F491FCC7-1FE4-96EE-AA0C-1E957711A037}"/>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ED1779BF-8E4E-99F2-652A-6C7B01902099}"/>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D415B19D-D831-6446-AB58-C02C97697B68}"/>
              </a:ext>
            </a:extLst>
          </p:cNvPr>
          <p:cNvSpPr txBox="1">
            <a:spLocks/>
          </p:cNvSpPr>
          <p:nvPr/>
        </p:nvSpPr>
        <p:spPr>
          <a:xfrm>
            <a:off x="366663" y="1143000"/>
            <a:ext cx="8624937" cy="438581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kern="0" spc="-220" dirty="0">
                <a:solidFill>
                  <a:schemeClr val="accent2"/>
                </a:solidFill>
              </a:rPr>
              <a:t>21. GC Pauses &amp; Latency</a:t>
            </a:r>
          </a:p>
          <a:p>
            <a:r>
              <a:rPr lang="en-US" sz="1500" kern="0" spc="-220" dirty="0">
                <a:solidFill>
                  <a:schemeClr val="accent2"/>
                </a:solidFill>
              </a:rPr>
              <a:t>Measuring</a:t>
            </a:r>
          </a:p>
          <a:p>
            <a:r>
              <a:rPr lang="en-US" sz="1500" kern="0" spc="-220" dirty="0" err="1">
                <a:solidFill>
                  <a:schemeClr val="accent6"/>
                </a:solidFill>
              </a:rPr>
              <a:t>PerfView</a:t>
            </a:r>
            <a:endParaRPr lang="en-US" sz="1500" kern="0" spc="-220" dirty="0">
              <a:solidFill>
                <a:schemeClr val="accent6"/>
              </a:solidFill>
            </a:endParaRPr>
          </a:p>
          <a:p>
            <a:r>
              <a:rPr lang="en-US" sz="1500" kern="0" spc="-220" dirty="0">
                <a:solidFill>
                  <a:schemeClr val="accent6"/>
                </a:solidFill>
              </a:rPr>
              <a:t>dotnet-counters</a:t>
            </a:r>
          </a:p>
          <a:p>
            <a:r>
              <a:rPr lang="en-US" sz="1500" kern="0" spc="-220" dirty="0" err="1">
                <a:solidFill>
                  <a:schemeClr val="accent6"/>
                </a:solidFill>
              </a:rPr>
              <a:t>EventPipe</a:t>
            </a:r>
            <a:endParaRPr lang="en-US" sz="1500" kern="0" spc="-220" dirty="0">
              <a:solidFill>
                <a:schemeClr val="accent6"/>
              </a:solidFill>
            </a:endParaRPr>
          </a:p>
          <a:p>
            <a:endParaRPr lang="en-US" sz="1500" kern="0" spc="-220" dirty="0">
              <a:solidFill>
                <a:schemeClr val="accent6"/>
              </a:solidFill>
            </a:endParaRPr>
          </a:p>
          <a:p>
            <a:r>
              <a:rPr lang="en-US" sz="1500" kern="0" spc="-220" dirty="0">
                <a:solidFill>
                  <a:schemeClr val="accent2"/>
                </a:solidFill>
              </a:rPr>
              <a:t>22. Explicit GC Calls (Almost Always Wrong)</a:t>
            </a:r>
          </a:p>
          <a:p>
            <a:r>
              <a:rPr lang="en-US" sz="1500" kern="0" spc="-220" dirty="0" err="1">
                <a:solidFill>
                  <a:schemeClr val="accent6"/>
                </a:solidFill>
              </a:rPr>
              <a:t>GC.Collect</a:t>
            </a:r>
            <a:r>
              <a:rPr lang="en-US" sz="1500" kern="0" spc="-220" dirty="0">
                <a:solidFill>
                  <a:schemeClr val="accent6"/>
                </a:solidFill>
              </a:rPr>
              <a:t>(); // 🚫</a:t>
            </a:r>
          </a:p>
          <a:p>
            <a:r>
              <a:rPr lang="en-US" sz="1500" kern="0" spc="-220" dirty="0">
                <a:solidFill>
                  <a:schemeClr val="accent2"/>
                </a:solidFill>
              </a:rPr>
              <a:t>Only valid when:</a:t>
            </a:r>
          </a:p>
          <a:p>
            <a:r>
              <a:rPr lang="en-US" sz="1500" kern="0" spc="-220" dirty="0">
                <a:solidFill>
                  <a:schemeClr val="accent6"/>
                </a:solidFill>
              </a:rPr>
              <a:t>App shutdown</a:t>
            </a:r>
          </a:p>
          <a:p>
            <a:r>
              <a:rPr lang="en-US" sz="1500" kern="0" spc="-220" dirty="0">
                <a:solidFill>
                  <a:schemeClr val="accent6"/>
                </a:solidFill>
              </a:rPr>
              <a:t>Controlled benchmarking</a:t>
            </a:r>
          </a:p>
          <a:p>
            <a:r>
              <a:rPr lang="en-US" sz="1500" kern="0" spc="-220" dirty="0">
                <a:solidFill>
                  <a:schemeClr val="accent6"/>
                </a:solidFill>
              </a:rPr>
              <a:t>After massive one-time allocation</a:t>
            </a:r>
          </a:p>
          <a:p>
            <a:endParaRPr lang="en-US" sz="1500" kern="0" spc="-220" dirty="0">
              <a:solidFill>
                <a:schemeClr val="accent6"/>
              </a:solidFill>
            </a:endParaRPr>
          </a:p>
          <a:p>
            <a:r>
              <a:rPr lang="en-US" sz="1500" kern="0" spc="-220" dirty="0">
                <a:solidFill>
                  <a:schemeClr val="accent2"/>
                </a:solidFill>
              </a:rPr>
              <a:t>23 . GC Tuning Knobs (Advanced)</a:t>
            </a:r>
          </a:p>
          <a:p>
            <a:r>
              <a:rPr lang="en-US" sz="1500" kern="0" spc="-220" dirty="0">
                <a:solidFill>
                  <a:schemeClr val="accent2"/>
                </a:solidFill>
              </a:rPr>
              <a:t>Setting	                            Effect</a:t>
            </a:r>
          </a:p>
          <a:p>
            <a:r>
              <a:rPr lang="en-US" sz="1500" kern="0" spc="-220" dirty="0" err="1">
                <a:solidFill>
                  <a:schemeClr val="accent6"/>
                </a:solidFill>
              </a:rPr>
              <a:t>GCHeapHardLimit</a:t>
            </a:r>
            <a:r>
              <a:rPr lang="en-US" sz="1500" kern="0" spc="-220" dirty="0">
                <a:solidFill>
                  <a:schemeClr val="accent6"/>
                </a:solidFill>
              </a:rPr>
              <a:t>	Memory cap</a:t>
            </a:r>
          </a:p>
          <a:p>
            <a:r>
              <a:rPr lang="en-US" sz="1500" kern="0" spc="-220" dirty="0" err="1">
                <a:solidFill>
                  <a:schemeClr val="accent6"/>
                </a:solidFill>
              </a:rPr>
              <a:t>GCLatencyMode</a:t>
            </a:r>
            <a:r>
              <a:rPr lang="en-US" sz="1500" kern="0" spc="-220" dirty="0">
                <a:solidFill>
                  <a:schemeClr val="accent6"/>
                </a:solidFill>
              </a:rPr>
              <a:t>	Pause vs throughput</a:t>
            </a:r>
          </a:p>
          <a:p>
            <a:r>
              <a:rPr lang="en-US" sz="1500" kern="0" spc="-220" dirty="0" err="1">
                <a:solidFill>
                  <a:schemeClr val="accent6"/>
                </a:solidFill>
              </a:rPr>
              <a:t>SustainedLowLatency</a:t>
            </a:r>
            <a:r>
              <a:rPr lang="en-US" sz="1500" kern="0" spc="-220" dirty="0">
                <a:solidFill>
                  <a:schemeClr val="accent6"/>
                </a:solidFill>
              </a:rPr>
              <a:t>	Real-time-</a:t>
            </a:r>
            <a:r>
              <a:rPr lang="en-US" sz="1500" kern="0" spc="-220" dirty="0" err="1">
                <a:solidFill>
                  <a:schemeClr val="accent6"/>
                </a:solidFill>
              </a:rPr>
              <a:t>ish</a:t>
            </a:r>
            <a:r>
              <a:rPr lang="en-US" sz="1500" kern="0" spc="-220" dirty="0">
                <a:solidFill>
                  <a:schemeClr val="accent6"/>
                </a:solidFill>
              </a:rPr>
              <a:t> workloads</a:t>
            </a:r>
          </a:p>
          <a:p>
            <a:endParaRPr lang="en-US" sz="1500" kern="0" spc="-220" dirty="0">
              <a:solidFill>
                <a:schemeClr val="accent6"/>
              </a:solidFill>
            </a:endParaRPr>
          </a:p>
        </p:txBody>
      </p:sp>
    </p:spTree>
    <p:extLst>
      <p:ext uri="{BB962C8B-B14F-4D97-AF65-F5344CB8AC3E}">
        <p14:creationId xmlns:p14="http://schemas.microsoft.com/office/powerpoint/2010/main" val="322731190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B0DEF-13E5-72A1-6C11-9FD803C4588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F970F1F-BC61-1F64-849B-7EADF9582FAE}"/>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4FAED29-8CD5-15BE-AB45-A01C2D6B959B}"/>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795AA62-0502-6E85-2D77-6E2236E96F56}"/>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E93FB0C8-B850-2B80-636D-4C7490733B16}"/>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A3C501CC-5728-F446-899E-E09690560DE9}"/>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AF217EAE-49AA-23DD-C697-C68A4A5E872E}"/>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738CB80A-EEC3-B6D9-B28B-9577FF6DCFB4}"/>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F8E0341B-ACE0-44E0-E2E6-AA6E5270141A}"/>
              </a:ext>
            </a:extLst>
          </p:cNvPr>
          <p:cNvSpPr txBox="1">
            <a:spLocks/>
          </p:cNvSpPr>
          <p:nvPr/>
        </p:nvSpPr>
        <p:spPr>
          <a:xfrm>
            <a:off x="366663" y="1143000"/>
            <a:ext cx="8624937" cy="461664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kern="0" spc="-220" dirty="0">
                <a:solidFill>
                  <a:schemeClr val="accent2"/>
                </a:solidFill>
              </a:rPr>
              <a:t>24. GC &amp; Async/Await</a:t>
            </a:r>
          </a:p>
          <a:p>
            <a:r>
              <a:rPr lang="en-US" sz="1500" kern="0" spc="-220" dirty="0">
                <a:solidFill>
                  <a:schemeClr val="accent6"/>
                </a:solidFill>
              </a:rPr>
              <a:t>State machines allocate objects</a:t>
            </a:r>
          </a:p>
          <a:p>
            <a:r>
              <a:rPr lang="en-US" sz="1500" kern="0" spc="-220" dirty="0">
                <a:solidFill>
                  <a:schemeClr val="accent6"/>
                </a:solidFill>
              </a:rPr>
              <a:t>Captured variables extend lifetime</a:t>
            </a:r>
          </a:p>
          <a:p>
            <a:r>
              <a:rPr lang="en-US" sz="1500" kern="0" spc="-220" dirty="0">
                <a:solidFill>
                  <a:schemeClr val="accent6"/>
                </a:solidFill>
              </a:rPr>
              <a:t>async void can leak</a:t>
            </a:r>
          </a:p>
          <a:p>
            <a:r>
              <a:rPr lang="en-US" sz="1500" kern="0" spc="-220" dirty="0">
                <a:solidFill>
                  <a:schemeClr val="accent2"/>
                </a:solidFill>
              </a:rPr>
              <a:t>25. GC in ASP.NET / Microservices</a:t>
            </a:r>
          </a:p>
          <a:p>
            <a:r>
              <a:rPr lang="en-US" sz="1500" kern="0" spc="-220" dirty="0">
                <a:solidFill>
                  <a:schemeClr val="accent2"/>
                </a:solidFill>
              </a:rPr>
              <a:t>Common Issues</a:t>
            </a:r>
          </a:p>
          <a:p>
            <a:r>
              <a:rPr lang="en-US" sz="1500" kern="0" spc="-220" dirty="0">
                <a:solidFill>
                  <a:schemeClr val="accent6"/>
                </a:solidFill>
              </a:rPr>
              <a:t>Singleton holding scoped services</a:t>
            </a:r>
          </a:p>
          <a:p>
            <a:r>
              <a:rPr lang="en-US" sz="1500" kern="0" spc="-220" dirty="0" err="1">
                <a:solidFill>
                  <a:schemeClr val="accent6"/>
                </a:solidFill>
              </a:rPr>
              <a:t>HttpClient</a:t>
            </a:r>
            <a:r>
              <a:rPr lang="en-US" sz="1500" kern="0" spc="-220" dirty="0">
                <a:solidFill>
                  <a:schemeClr val="accent6"/>
                </a:solidFill>
              </a:rPr>
              <a:t> misuse</a:t>
            </a:r>
          </a:p>
          <a:p>
            <a:r>
              <a:rPr lang="en-US" sz="1500" kern="0" spc="-220" dirty="0">
                <a:solidFill>
                  <a:schemeClr val="accent6"/>
                </a:solidFill>
              </a:rPr>
              <a:t>Large JSON allocations</a:t>
            </a:r>
          </a:p>
          <a:p>
            <a:r>
              <a:rPr lang="en-US" sz="1500" kern="0" spc="-220" dirty="0">
                <a:solidFill>
                  <a:schemeClr val="accent2"/>
                </a:solidFill>
              </a:rPr>
              <a:t>Best Practices</a:t>
            </a:r>
          </a:p>
          <a:p>
            <a:r>
              <a:rPr lang="en-US" sz="1500" kern="0" spc="-220" dirty="0">
                <a:solidFill>
                  <a:schemeClr val="accent6"/>
                </a:solidFill>
              </a:rPr>
              <a:t>Reuse </a:t>
            </a:r>
            <a:r>
              <a:rPr lang="en-US" sz="1500" kern="0" spc="-220" dirty="0" err="1">
                <a:solidFill>
                  <a:schemeClr val="accent6"/>
                </a:solidFill>
              </a:rPr>
              <a:t>HttpClient</a:t>
            </a:r>
            <a:endParaRPr lang="en-US" sz="1500" kern="0" spc="-220" dirty="0">
              <a:solidFill>
                <a:schemeClr val="accent6"/>
              </a:solidFill>
            </a:endParaRPr>
          </a:p>
          <a:p>
            <a:r>
              <a:rPr lang="en-US" sz="1500" kern="0" spc="-220" dirty="0">
                <a:solidFill>
                  <a:schemeClr val="accent6"/>
                </a:solidFill>
              </a:rPr>
              <a:t>Pool buffers</a:t>
            </a:r>
          </a:p>
          <a:p>
            <a:r>
              <a:rPr lang="en-US" sz="1500" kern="0" spc="-220" dirty="0">
                <a:solidFill>
                  <a:schemeClr val="accent6"/>
                </a:solidFill>
              </a:rPr>
              <a:t>Avoid per-request large allocations</a:t>
            </a:r>
          </a:p>
          <a:p>
            <a:r>
              <a:rPr lang="en-US" sz="1500" kern="0" spc="-220" dirty="0">
                <a:solidFill>
                  <a:schemeClr val="accent2"/>
                </a:solidFill>
              </a:rPr>
              <a:t>26.  “Insights”</a:t>
            </a:r>
          </a:p>
          <a:p>
            <a:r>
              <a:rPr lang="en-US" sz="1500" kern="0" spc="-220" dirty="0">
                <a:solidFill>
                  <a:schemeClr val="accent6"/>
                </a:solidFill>
              </a:rPr>
              <a:t>GC is optimized for allocation</a:t>
            </a:r>
          </a:p>
          <a:p>
            <a:r>
              <a:rPr lang="en-US" sz="1500" kern="0" spc="-220" dirty="0">
                <a:solidFill>
                  <a:schemeClr val="accent6"/>
                </a:solidFill>
              </a:rPr>
              <a:t>Promotion is expensive</a:t>
            </a:r>
          </a:p>
          <a:p>
            <a:r>
              <a:rPr lang="en-US" sz="1500" kern="0" spc="-220" dirty="0">
                <a:solidFill>
                  <a:schemeClr val="accent6"/>
                </a:solidFill>
              </a:rPr>
              <a:t>Finalizers are poison unless needed</a:t>
            </a:r>
          </a:p>
          <a:p>
            <a:r>
              <a:rPr lang="en-US" sz="1500" kern="0" spc="-220" dirty="0">
                <a:solidFill>
                  <a:schemeClr val="accent6"/>
                </a:solidFill>
              </a:rPr>
              <a:t>LOH fragmentation kills performance</a:t>
            </a:r>
          </a:p>
          <a:p>
            <a:r>
              <a:rPr lang="en-US" sz="1500" kern="0" spc="-220" dirty="0">
                <a:solidFill>
                  <a:schemeClr val="accent6"/>
                </a:solidFill>
              </a:rPr>
              <a:t>GC does not manage unmanaged resources</a:t>
            </a:r>
          </a:p>
          <a:p>
            <a:r>
              <a:rPr lang="en-US" sz="1500" kern="0" spc="-220" dirty="0">
                <a:solidFill>
                  <a:schemeClr val="accent6"/>
                </a:solidFill>
              </a:rPr>
              <a:t>Most “memory leaks” are reference leaks</a:t>
            </a:r>
          </a:p>
        </p:txBody>
      </p:sp>
    </p:spTree>
    <p:extLst>
      <p:ext uri="{BB962C8B-B14F-4D97-AF65-F5344CB8AC3E}">
        <p14:creationId xmlns:p14="http://schemas.microsoft.com/office/powerpoint/2010/main" val="235835933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51F90-DCDC-5C9C-42AD-CDA0AB73871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BF2905C-94BB-1081-AB71-EB8E04F7B24C}"/>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2D43883-FECC-D208-97EE-43538A14A4FB}"/>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D8D21D9-E530-9638-F88F-E40780750CAE}"/>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FA090D80-50FD-D2E1-1350-AA8CD32B7524}"/>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F9E1583B-B6D2-D4EA-17BF-5D4D9358FBC1}"/>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DB8B0204-64F3-96BA-1706-FF809E637F37}"/>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80C8D8D7-D0ED-2BC0-4D86-6E5A8D209BF5}"/>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4F8E9A65-E36E-5E4B-5B11-E7B817037FAC}"/>
              </a:ext>
            </a:extLst>
          </p:cNvPr>
          <p:cNvSpPr txBox="1">
            <a:spLocks/>
          </p:cNvSpPr>
          <p:nvPr/>
        </p:nvSpPr>
        <p:spPr>
          <a:xfrm>
            <a:off x="366663" y="1143000"/>
            <a:ext cx="8624937" cy="138499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kern="0" spc="-220" dirty="0">
                <a:solidFill>
                  <a:schemeClr val="accent2"/>
                </a:solidFill>
              </a:rPr>
              <a:t>27. Mental Checklist </a:t>
            </a:r>
          </a:p>
          <a:p>
            <a:r>
              <a:rPr lang="en-US" sz="1500" kern="0" spc="-220" dirty="0">
                <a:solidFill>
                  <a:schemeClr val="accent6"/>
                </a:solidFill>
              </a:rPr>
              <a:t>✔ Are objects short-lived?</a:t>
            </a:r>
          </a:p>
          <a:p>
            <a:r>
              <a:rPr lang="en-US" sz="1500" kern="0" spc="-220" dirty="0">
                <a:solidFill>
                  <a:schemeClr val="accent6"/>
                </a:solidFill>
              </a:rPr>
              <a:t>✔ Are large objects reused?</a:t>
            </a:r>
          </a:p>
          <a:p>
            <a:r>
              <a:rPr lang="en-US" sz="1500" kern="0" spc="-220" dirty="0">
                <a:solidFill>
                  <a:schemeClr val="accent6"/>
                </a:solidFill>
              </a:rPr>
              <a:t>✔ Are finalizers avoided?</a:t>
            </a:r>
          </a:p>
          <a:p>
            <a:r>
              <a:rPr lang="en-US" sz="1500" kern="0" spc="-220" dirty="0">
                <a:solidFill>
                  <a:schemeClr val="accent6"/>
                </a:solidFill>
              </a:rPr>
              <a:t>✔ Is LOH fragmentation controlled?</a:t>
            </a:r>
          </a:p>
          <a:p>
            <a:r>
              <a:rPr lang="en-US" sz="1500" kern="0" spc="-220" dirty="0">
                <a:solidFill>
                  <a:schemeClr val="accent6"/>
                </a:solidFill>
              </a:rPr>
              <a:t>✔ Is Server GC enabled where needed?</a:t>
            </a:r>
          </a:p>
        </p:txBody>
      </p:sp>
    </p:spTree>
    <p:extLst>
      <p:ext uri="{BB962C8B-B14F-4D97-AF65-F5344CB8AC3E}">
        <p14:creationId xmlns:p14="http://schemas.microsoft.com/office/powerpoint/2010/main" val="356268240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827987905"/>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6898E87B-9145-4C6B-218D-31B0C5C228E8}"/>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11" name="object 2">
            <a:extLst>
              <a:ext uri="{FF2B5EF4-FFF2-40B4-BE49-F238E27FC236}">
                <a16:creationId xmlns:a16="http://schemas.microsoft.com/office/drawing/2014/main" id="{52E72D8C-9C5D-644B-D4EE-0FC27B7CB1AE}"/>
              </a:ext>
            </a:extLst>
          </p:cNvPr>
          <p:cNvSpPr txBox="1">
            <a:spLocks/>
          </p:cNvSpPr>
          <p:nvPr/>
        </p:nvSpPr>
        <p:spPr>
          <a:xfrm>
            <a:off x="243763" y="1098685"/>
            <a:ext cx="8624937"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Common Reasons for Memory Leaks in .NET Managed Code </a:t>
            </a:r>
          </a:p>
          <a:p>
            <a:pPr algn="l"/>
            <a:endParaRPr lang="en-US" sz="2000" kern="0" spc="-220" dirty="0">
              <a:solidFill>
                <a:schemeClr val="accent6"/>
              </a:solidFill>
            </a:endParaRPr>
          </a:p>
        </p:txBody>
      </p:sp>
      <p:pic>
        <p:nvPicPr>
          <p:cNvPr id="18" name="Picture 17">
            <a:extLst>
              <a:ext uri="{FF2B5EF4-FFF2-40B4-BE49-F238E27FC236}">
                <a16:creationId xmlns:a16="http://schemas.microsoft.com/office/drawing/2014/main" id="{714A3FDF-88F3-8EB6-472E-FD3C9AE485A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3763" y="1434896"/>
            <a:ext cx="8704691" cy="4356304"/>
          </a:xfrm>
          <a:prstGeom prst="rect">
            <a:avLst/>
          </a:prstGeom>
        </p:spPr>
      </p:pic>
    </p:spTree>
    <p:extLst>
      <p:ext uri="{BB962C8B-B14F-4D97-AF65-F5344CB8AC3E}">
        <p14:creationId xmlns:p14="http://schemas.microsoft.com/office/powerpoint/2010/main" val="67205062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8E609-D3A5-16A2-F660-A515B192E1F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0B73C12-2E86-66D0-12F5-F70F24CB9933}"/>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4B4B7AD-853C-14D9-BD66-669881B0A9D3}"/>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E5DE786-6986-D3D7-F3CC-7393B6434821}"/>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97752AC3-FF5E-F551-3E97-DF61344F4D99}"/>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F3A52D62-8F1C-3E5C-2F69-14A5755B32B1}"/>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4E1EC66A-ED83-0AB9-3B97-69B4065C905A}"/>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A07D2098-03AC-68F7-7A35-90A8166F636F}"/>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11" name="object 2">
            <a:extLst>
              <a:ext uri="{FF2B5EF4-FFF2-40B4-BE49-F238E27FC236}">
                <a16:creationId xmlns:a16="http://schemas.microsoft.com/office/drawing/2014/main" id="{2F5CD172-F3D8-C692-9532-B3F81020D4EB}"/>
              </a:ext>
            </a:extLst>
          </p:cNvPr>
          <p:cNvSpPr txBox="1">
            <a:spLocks/>
          </p:cNvSpPr>
          <p:nvPr/>
        </p:nvSpPr>
        <p:spPr>
          <a:xfrm>
            <a:off x="243763" y="1098685"/>
            <a:ext cx="8624937"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Common Reasons for Memory Leaks in .NET Managed Code </a:t>
            </a:r>
          </a:p>
          <a:p>
            <a:pPr algn="l"/>
            <a:endParaRPr lang="en-US" sz="2000" kern="0" spc="-220" dirty="0">
              <a:solidFill>
                <a:schemeClr val="accent6"/>
              </a:solidFill>
            </a:endParaRPr>
          </a:p>
        </p:txBody>
      </p:sp>
      <p:pic>
        <p:nvPicPr>
          <p:cNvPr id="9" name="Picture 8">
            <a:extLst>
              <a:ext uri="{FF2B5EF4-FFF2-40B4-BE49-F238E27FC236}">
                <a16:creationId xmlns:a16="http://schemas.microsoft.com/office/drawing/2014/main" id="{2D228F6A-CE11-EC94-CC8D-24E8860C77A5}"/>
              </a:ext>
            </a:extLst>
          </p:cNvPr>
          <p:cNvPicPr>
            <a:picLocks noChangeAspect="1"/>
          </p:cNvPicPr>
          <p:nvPr/>
        </p:nvPicPr>
        <p:blipFill>
          <a:blip r:embed="rId7"/>
          <a:stretch>
            <a:fillRect/>
          </a:stretch>
        </p:blipFill>
        <p:spPr>
          <a:xfrm>
            <a:off x="304800" y="1479375"/>
            <a:ext cx="8563900" cy="4388025"/>
          </a:xfrm>
          <a:prstGeom prst="rect">
            <a:avLst/>
          </a:prstGeom>
        </p:spPr>
      </p:pic>
    </p:spTree>
    <p:extLst>
      <p:ext uri="{BB962C8B-B14F-4D97-AF65-F5344CB8AC3E}">
        <p14:creationId xmlns:p14="http://schemas.microsoft.com/office/powerpoint/2010/main" val="63970687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2B131-847E-9C7E-5C9A-29D18443BD5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E656FD6-270C-0345-5AB8-1F24AD4EAB68}"/>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7FE45B7-9FC8-E129-04ED-EEFB3A26C495}"/>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279FDB0-972E-FCFB-9118-C520FF8B8B7E}"/>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6A6254F7-3AC7-342B-51C4-9B88FF42AD29}"/>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3E1B2ED5-594A-EB73-2971-D45DCBDF9071}"/>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1AA29A20-6CED-1BFF-C9D5-4AC0342E4FD9}"/>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10ED79A7-6415-DCE8-D1F0-A3A2378468AA}"/>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11" name="object 2">
            <a:extLst>
              <a:ext uri="{FF2B5EF4-FFF2-40B4-BE49-F238E27FC236}">
                <a16:creationId xmlns:a16="http://schemas.microsoft.com/office/drawing/2014/main" id="{7C3D063B-FB04-072D-C80E-E9D87E260A52}"/>
              </a:ext>
            </a:extLst>
          </p:cNvPr>
          <p:cNvSpPr txBox="1">
            <a:spLocks/>
          </p:cNvSpPr>
          <p:nvPr/>
        </p:nvSpPr>
        <p:spPr>
          <a:xfrm>
            <a:off x="243763" y="1098685"/>
            <a:ext cx="8624937"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Common Reasons for Memory Leaks in .NET Managed Code </a:t>
            </a:r>
          </a:p>
          <a:p>
            <a:pPr algn="l"/>
            <a:endParaRPr lang="en-US" sz="2000" kern="0" spc="-220" dirty="0">
              <a:solidFill>
                <a:schemeClr val="accent6"/>
              </a:solidFill>
            </a:endParaRPr>
          </a:p>
        </p:txBody>
      </p:sp>
      <p:pic>
        <p:nvPicPr>
          <p:cNvPr id="14" name="Picture 13">
            <a:extLst>
              <a:ext uri="{FF2B5EF4-FFF2-40B4-BE49-F238E27FC236}">
                <a16:creationId xmlns:a16="http://schemas.microsoft.com/office/drawing/2014/main" id="{A79A02E5-F485-15D8-E85F-A27C65187697}"/>
              </a:ext>
            </a:extLst>
          </p:cNvPr>
          <p:cNvPicPr>
            <a:picLocks noChangeAspect="1"/>
          </p:cNvPicPr>
          <p:nvPr/>
        </p:nvPicPr>
        <p:blipFill>
          <a:blip r:embed="rId7"/>
          <a:stretch>
            <a:fillRect/>
          </a:stretch>
        </p:blipFill>
        <p:spPr>
          <a:xfrm>
            <a:off x="275300" y="1460422"/>
            <a:ext cx="8624937" cy="3022755"/>
          </a:xfrm>
          <a:prstGeom prst="rect">
            <a:avLst/>
          </a:prstGeom>
        </p:spPr>
      </p:pic>
    </p:spTree>
    <p:extLst>
      <p:ext uri="{BB962C8B-B14F-4D97-AF65-F5344CB8AC3E}">
        <p14:creationId xmlns:p14="http://schemas.microsoft.com/office/powerpoint/2010/main" val="184377136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9D0DE-A34F-4822-9A53-A0E3D07AC7D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5423BC1-C730-CD8F-BFEB-096D841DD4CB}"/>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F1B8C81-606B-1B10-6E19-8AAFA367BD4E}"/>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DF50D75-2B59-CA0C-3D48-E3FE04CF644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0E645F15-CCAF-7845-5AC0-E0B10B364B1B}"/>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A50D342F-88D6-747D-9BF6-DADD565B22C1}"/>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E3C70A26-5DE2-74C6-F9F7-98E9BB39585C}"/>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6EA33A38-31E0-25B9-B43C-1F9D6CA1C874}"/>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C9A513FB-BF75-6B1D-0206-B2B94D4B8A10}"/>
              </a:ext>
            </a:extLst>
          </p:cNvPr>
          <p:cNvSpPr txBox="1">
            <a:spLocks/>
          </p:cNvSpPr>
          <p:nvPr/>
        </p:nvSpPr>
        <p:spPr>
          <a:xfrm>
            <a:off x="366663" y="1143000"/>
            <a:ext cx="8624937" cy="477053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Weak References </a:t>
            </a:r>
          </a:p>
          <a:p>
            <a:pPr algn="l"/>
            <a:r>
              <a:rPr lang="en-US" sz="1500" kern="0" spc="-220" dirty="0">
                <a:solidFill>
                  <a:schemeClr val="accent2"/>
                </a:solidFill>
              </a:rPr>
              <a:t>1. Weak References — the core idea </a:t>
            </a:r>
          </a:p>
          <a:p>
            <a:r>
              <a:rPr lang="en-US" sz="1500" kern="0" spc="-220" dirty="0">
                <a:solidFill>
                  <a:schemeClr val="accent6"/>
                </a:solidFill>
              </a:rPr>
              <a:t>A weak reference allows the GC to collect an object even if it’s still referenced—as long as all remaining references are weak.</a:t>
            </a:r>
          </a:p>
          <a:p>
            <a:r>
              <a:rPr lang="en-US" sz="1500" kern="0" spc="-220" dirty="0">
                <a:solidFill>
                  <a:schemeClr val="accent2"/>
                </a:solidFill>
              </a:rPr>
              <a:t>In .NET:</a:t>
            </a:r>
          </a:p>
          <a:p>
            <a:r>
              <a:rPr lang="en-US" sz="1500" kern="0" spc="-220" dirty="0" err="1">
                <a:solidFill>
                  <a:schemeClr val="accent6"/>
                </a:solidFill>
              </a:rPr>
              <a:t>WeakReference</a:t>
            </a:r>
            <a:r>
              <a:rPr lang="en-US" sz="1500" kern="0" spc="-220" dirty="0">
                <a:solidFill>
                  <a:schemeClr val="accent6"/>
                </a:solidFill>
              </a:rPr>
              <a:t>&lt;T&gt; </a:t>
            </a:r>
            <a:r>
              <a:rPr lang="en-US" sz="1500" kern="0" spc="-220" dirty="0" err="1">
                <a:solidFill>
                  <a:schemeClr val="accent6"/>
                </a:solidFill>
              </a:rPr>
              <a:t>wr</a:t>
            </a:r>
            <a:r>
              <a:rPr lang="en-US" sz="1500" kern="0" spc="-220" dirty="0">
                <a:solidFill>
                  <a:schemeClr val="accent6"/>
                </a:solidFill>
              </a:rPr>
              <a:t> = new(obj);</a:t>
            </a:r>
          </a:p>
          <a:p>
            <a:r>
              <a:rPr lang="en-US" sz="1500" kern="0" spc="-220" dirty="0">
                <a:solidFill>
                  <a:schemeClr val="accent2"/>
                </a:solidFill>
              </a:rPr>
              <a:t>Key rule:</a:t>
            </a:r>
          </a:p>
          <a:p>
            <a:r>
              <a:rPr lang="en-US" sz="1500" kern="0" spc="-220" dirty="0">
                <a:solidFill>
                  <a:schemeClr val="accent6"/>
                </a:solidFill>
              </a:rPr>
              <a:t>Weak refs are for observation, not ownership</a:t>
            </a:r>
          </a:p>
          <a:p>
            <a:r>
              <a:rPr lang="en-US" sz="1500" kern="0" spc="-220" dirty="0">
                <a:solidFill>
                  <a:schemeClr val="accent2"/>
                </a:solidFill>
              </a:rPr>
              <a:t>2. Weak References and Events (⚠️ the biggest leak source)</a:t>
            </a:r>
          </a:p>
          <a:p>
            <a:r>
              <a:rPr lang="en-US" sz="1500" kern="0" spc="-220" dirty="0">
                <a:solidFill>
                  <a:schemeClr val="accent2"/>
                </a:solidFill>
              </a:rPr>
              <a:t>The problem: </a:t>
            </a:r>
            <a:r>
              <a:rPr lang="en-US" sz="1500" kern="0" spc="-220" dirty="0">
                <a:solidFill>
                  <a:schemeClr val="accent6"/>
                </a:solidFill>
              </a:rPr>
              <a:t>Event subscriptions cause hidden memory leaks</a:t>
            </a:r>
          </a:p>
          <a:p>
            <a:r>
              <a:rPr lang="en-US" sz="1500" kern="0" spc="-220" dirty="0" err="1">
                <a:solidFill>
                  <a:schemeClr val="accent6"/>
                </a:solidFill>
              </a:rPr>
              <a:t>publisher.SomeEvent</a:t>
            </a:r>
            <a:r>
              <a:rPr lang="en-US" sz="1500" kern="0" spc="-220" dirty="0">
                <a:solidFill>
                  <a:schemeClr val="accent6"/>
                </a:solidFill>
              </a:rPr>
              <a:t> += </a:t>
            </a:r>
            <a:r>
              <a:rPr lang="en-US" sz="1500" kern="0" spc="-220" dirty="0" err="1">
                <a:solidFill>
                  <a:schemeClr val="accent6"/>
                </a:solidFill>
              </a:rPr>
              <a:t>subscriber.Handle</a:t>
            </a:r>
            <a:r>
              <a:rPr lang="en-US" sz="1500" kern="0" spc="-220" dirty="0">
                <a:solidFill>
                  <a:schemeClr val="accent6"/>
                </a:solidFill>
              </a:rPr>
              <a:t>;</a:t>
            </a:r>
          </a:p>
          <a:p>
            <a:r>
              <a:rPr lang="en-US" sz="1500" kern="0" spc="-220" dirty="0">
                <a:solidFill>
                  <a:schemeClr val="accent2"/>
                </a:solidFill>
              </a:rPr>
              <a:t>Why this leaks</a:t>
            </a:r>
          </a:p>
          <a:p>
            <a:r>
              <a:rPr lang="en-US" sz="1500" kern="0" spc="-220" dirty="0">
                <a:solidFill>
                  <a:schemeClr val="accent6"/>
                </a:solidFill>
              </a:rPr>
              <a:t>publisher holds a strong reference to subscriber</a:t>
            </a:r>
          </a:p>
          <a:p>
            <a:r>
              <a:rPr lang="en-US" sz="1500" kern="0" spc="-220" dirty="0">
                <a:solidFill>
                  <a:schemeClr val="accent6"/>
                </a:solidFill>
              </a:rPr>
              <a:t>If publisher lives long (static, global, singleton)</a:t>
            </a:r>
          </a:p>
          <a:p>
            <a:r>
              <a:rPr lang="en-US" sz="1500" kern="0" spc="-220" dirty="0">
                <a:solidFill>
                  <a:schemeClr val="accent6"/>
                </a:solidFill>
              </a:rPr>
              <a:t>subscriber can never be </a:t>
            </a:r>
            <a:r>
              <a:rPr lang="en-US" sz="1500" kern="0" spc="-220" dirty="0" err="1">
                <a:solidFill>
                  <a:schemeClr val="accent6"/>
                </a:solidFill>
              </a:rPr>
              <a:t>GC’ed</a:t>
            </a:r>
            <a:endParaRPr lang="en-US" sz="1500" kern="0" spc="-220" dirty="0">
              <a:solidFill>
                <a:schemeClr val="accent6"/>
              </a:solidFill>
            </a:endParaRPr>
          </a:p>
          <a:p>
            <a:r>
              <a:rPr lang="en-US" sz="1600" kern="0" spc="-220" dirty="0">
                <a:solidFill>
                  <a:schemeClr val="accent2"/>
                </a:solidFill>
              </a:rPr>
              <a:t>The problem: </a:t>
            </a:r>
            <a:r>
              <a:rPr lang="en-US" sz="1600" kern="0" spc="-220" dirty="0">
                <a:solidFill>
                  <a:schemeClr val="accent6"/>
                </a:solidFill>
              </a:rPr>
              <a:t>Event subscriptions cause hidden memory leaks</a:t>
            </a:r>
          </a:p>
          <a:p>
            <a:r>
              <a:rPr lang="en-US" sz="1600" kern="0" spc="-220" dirty="0" err="1">
                <a:solidFill>
                  <a:schemeClr val="accent6"/>
                </a:solidFill>
              </a:rPr>
              <a:t>publisher.SomeEvent</a:t>
            </a:r>
            <a:r>
              <a:rPr lang="en-US" sz="1600" kern="0" spc="-220" dirty="0">
                <a:solidFill>
                  <a:schemeClr val="accent6"/>
                </a:solidFill>
              </a:rPr>
              <a:t> += </a:t>
            </a:r>
            <a:r>
              <a:rPr lang="en-US" sz="1600" kern="0" spc="-220" dirty="0" err="1">
                <a:solidFill>
                  <a:schemeClr val="accent6"/>
                </a:solidFill>
              </a:rPr>
              <a:t>subscriber.Handle</a:t>
            </a:r>
            <a:r>
              <a:rPr lang="en-US" sz="1600" kern="0" spc="-220" dirty="0">
                <a:solidFill>
                  <a:schemeClr val="accent6"/>
                </a:solidFill>
              </a:rPr>
              <a:t>;</a:t>
            </a:r>
          </a:p>
          <a:p>
            <a:r>
              <a:rPr lang="en-US" sz="1600" kern="0" spc="-220" dirty="0">
                <a:solidFill>
                  <a:schemeClr val="accent2"/>
                </a:solidFill>
              </a:rPr>
              <a:t>Why this leaks</a:t>
            </a:r>
          </a:p>
          <a:p>
            <a:r>
              <a:rPr lang="en-US" sz="1600" kern="0" spc="-220" dirty="0">
                <a:solidFill>
                  <a:schemeClr val="accent6"/>
                </a:solidFill>
              </a:rPr>
              <a:t>publisher holds a strong reference to subscriber, If publisher lives long (static, global, singleton), subscriber can never be </a:t>
            </a:r>
            <a:r>
              <a:rPr lang="en-US" sz="1600" kern="0" spc="-220" dirty="0" err="1">
                <a:solidFill>
                  <a:schemeClr val="accent6"/>
                </a:solidFill>
              </a:rPr>
              <a:t>GC’ed.This</a:t>
            </a:r>
            <a:r>
              <a:rPr lang="en-US" sz="1600" kern="0" spc="-220" dirty="0">
                <a:solidFill>
                  <a:schemeClr val="accent6"/>
                </a:solidFill>
              </a:rPr>
              <a:t> is the classic .NET memory leak.</a:t>
            </a:r>
            <a:endParaRPr lang="en-US" sz="1500" kern="0" spc="-220" dirty="0">
              <a:solidFill>
                <a:schemeClr val="accent6"/>
              </a:solidFill>
            </a:endParaRPr>
          </a:p>
        </p:txBody>
      </p:sp>
    </p:spTree>
    <p:extLst>
      <p:ext uri="{BB962C8B-B14F-4D97-AF65-F5344CB8AC3E}">
        <p14:creationId xmlns:p14="http://schemas.microsoft.com/office/powerpoint/2010/main" val="270952723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37738-E92F-B2BB-DB9F-A4250DB134E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F6BD1AA-81DF-243F-1D83-B905C772EBBB}"/>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40DA446-BC0C-C1CF-6587-C4A82935605E}"/>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56D0870-937A-5EA0-955A-19736F501743}"/>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755AAD87-6F57-8096-7C47-74BE3123DB0C}"/>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7F9F1254-45B3-8F6A-3E4E-FEB05381D46C}"/>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0EC1853F-A43C-73C2-78DB-98AA53C28FEF}"/>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F69DBA1C-F525-79ED-2833-96FD4E2F7CFB}"/>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8199C0DD-8A3C-8722-0B14-43D60BB0FEC2}"/>
              </a:ext>
            </a:extLst>
          </p:cNvPr>
          <p:cNvSpPr txBox="1">
            <a:spLocks/>
          </p:cNvSpPr>
          <p:nvPr/>
        </p:nvSpPr>
        <p:spPr>
          <a:xfrm>
            <a:off x="366663" y="1143000"/>
            <a:ext cx="8624937" cy="544764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Weak References </a:t>
            </a:r>
          </a:p>
          <a:p>
            <a:r>
              <a:rPr lang="en-US" sz="1500" kern="0" spc="-220" dirty="0">
                <a:solidFill>
                  <a:schemeClr val="accent2"/>
                </a:solidFill>
              </a:rPr>
              <a:t>2. Weak References and Events (⚠️ the biggest leak source)</a:t>
            </a:r>
          </a:p>
          <a:p>
            <a:r>
              <a:rPr lang="en-US" sz="1500" kern="0" spc="-220" dirty="0">
                <a:solidFill>
                  <a:schemeClr val="accent2"/>
                </a:solidFill>
              </a:rPr>
              <a:t>❌ Bad pattern (strong event reference)</a:t>
            </a:r>
          </a:p>
          <a:p>
            <a:r>
              <a:rPr lang="en-US" sz="1500" kern="0" spc="-220" dirty="0">
                <a:solidFill>
                  <a:schemeClr val="accent6"/>
                </a:solidFill>
              </a:rPr>
              <a:t>public class Publisher</a:t>
            </a:r>
          </a:p>
          <a:p>
            <a:r>
              <a:rPr lang="en-US" sz="1500" kern="0" spc="-220" dirty="0">
                <a:solidFill>
                  <a:schemeClr val="accent6"/>
                </a:solidFill>
              </a:rPr>
              <a:t>{</a:t>
            </a:r>
          </a:p>
          <a:p>
            <a:r>
              <a:rPr lang="en-US" sz="1500" kern="0" spc="-220" dirty="0">
                <a:solidFill>
                  <a:schemeClr val="accent6"/>
                </a:solidFill>
              </a:rPr>
              <a:t>    public event </a:t>
            </a:r>
            <a:r>
              <a:rPr lang="en-US" sz="1500" kern="0" spc="-220" dirty="0" err="1">
                <a:solidFill>
                  <a:schemeClr val="accent6"/>
                </a:solidFill>
              </a:rPr>
              <a:t>EventHandler</a:t>
            </a:r>
            <a:r>
              <a:rPr lang="en-US" sz="1500" kern="0" spc="-220" dirty="0">
                <a:solidFill>
                  <a:schemeClr val="accent6"/>
                </a:solidFill>
              </a:rPr>
              <a:t> </a:t>
            </a:r>
            <a:r>
              <a:rPr lang="en-US" sz="1500" kern="0" spc="-220" dirty="0" err="1">
                <a:solidFill>
                  <a:schemeClr val="accent6"/>
                </a:solidFill>
              </a:rPr>
              <a:t>SomethingHappened</a:t>
            </a:r>
            <a:r>
              <a:rPr lang="en-US" sz="1500" kern="0" spc="-220" dirty="0">
                <a:solidFill>
                  <a:schemeClr val="accent6"/>
                </a:solidFill>
              </a:rPr>
              <a:t>;</a:t>
            </a:r>
          </a:p>
          <a:p>
            <a:r>
              <a:rPr lang="en-US" sz="1500" kern="0" spc="-220" dirty="0">
                <a:solidFill>
                  <a:schemeClr val="accent6"/>
                </a:solidFill>
              </a:rPr>
              <a:t>}</a:t>
            </a:r>
          </a:p>
          <a:p>
            <a:r>
              <a:rPr lang="en-US" sz="1500" kern="0" spc="-220" dirty="0">
                <a:solidFill>
                  <a:schemeClr val="accent6"/>
                </a:solidFill>
              </a:rPr>
              <a:t>If Publisher is long-lived → subscribers leak.</a:t>
            </a:r>
          </a:p>
          <a:p>
            <a:r>
              <a:rPr lang="en-US" sz="1600" kern="0" spc="-220" dirty="0">
                <a:solidFill>
                  <a:schemeClr val="accent2"/>
                </a:solidFill>
              </a:rPr>
              <a:t>✅ Weak Event Pattern</a:t>
            </a:r>
          </a:p>
          <a:p>
            <a:r>
              <a:rPr lang="en-US" sz="1600" kern="0" spc="-220" dirty="0">
                <a:solidFill>
                  <a:schemeClr val="accent2"/>
                </a:solidFill>
              </a:rPr>
              <a:t>Option 1: </a:t>
            </a:r>
            <a:r>
              <a:rPr lang="en-US" sz="1600" kern="0" spc="-220" dirty="0" err="1">
                <a:solidFill>
                  <a:schemeClr val="accent2"/>
                </a:solidFill>
              </a:rPr>
              <a:t>WeakReference</a:t>
            </a:r>
            <a:r>
              <a:rPr lang="en-US" sz="1600" kern="0" spc="-220" dirty="0">
                <a:solidFill>
                  <a:schemeClr val="accent2"/>
                </a:solidFill>
              </a:rPr>
              <a:t> manually</a:t>
            </a:r>
          </a:p>
          <a:p>
            <a:r>
              <a:rPr lang="en-US" sz="1600" kern="0" spc="-220" dirty="0">
                <a:solidFill>
                  <a:schemeClr val="accent6"/>
                </a:solidFill>
              </a:rPr>
              <a:t>class </a:t>
            </a:r>
            <a:r>
              <a:rPr lang="en-US" sz="1600" kern="0" spc="-220" dirty="0" err="1">
                <a:solidFill>
                  <a:schemeClr val="accent6"/>
                </a:solidFill>
              </a:rPr>
              <a:t>WeakEventHandler</a:t>
            </a:r>
            <a:endParaRPr lang="en-US" sz="1600" kern="0" spc="-220" dirty="0">
              <a:solidFill>
                <a:schemeClr val="accent6"/>
              </a:solidFill>
            </a:endParaRPr>
          </a:p>
          <a:p>
            <a:r>
              <a:rPr lang="en-US" sz="1600" kern="0" spc="-220" dirty="0">
                <a:solidFill>
                  <a:schemeClr val="accent6"/>
                </a:solidFill>
              </a:rPr>
              <a:t>{</a:t>
            </a:r>
          </a:p>
          <a:p>
            <a:r>
              <a:rPr lang="en-US" sz="1600" kern="0" spc="-220" dirty="0">
                <a:solidFill>
                  <a:schemeClr val="accent6"/>
                </a:solidFill>
              </a:rPr>
              <a:t>    private </a:t>
            </a:r>
            <a:r>
              <a:rPr lang="en-US" sz="1600" kern="0" spc="-220" dirty="0" err="1">
                <a:solidFill>
                  <a:schemeClr val="accent6"/>
                </a:solidFill>
              </a:rPr>
              <a:t>readonly</a:t>
            </a:r>
            <a:r>
              <a:rPr lang="en-US" sz="1600" kern="0" spc="-220" dirty="0">
                <a:solidFill>
                  <a:schemeClr val="accent6"/>
                </a:solidFill>
              </a:rPr>
              <a:t> </a:t>
            </a:r>
            <a:r>
              <a:rPr lang="en-US" sz="1600" kern="0" spc="-220" dirty="0" err="1">
                <a:solidFill>
                  <a:schemeClr val="accent6"/>
                </a:solidFill>
              </a:rPr>
              <a:t>WeakReference</a:t>
            </a:r>
            <a:r>
              <a:rPr lang="en-US" sz="1600" kern="0" spc="-220" dirty="0">
                <a:solidFill>
                  <a:schemeClr val="accent6"/>
                </a:solidFill>
              </a:rPr>
              <a:t>&lt;</a:t>
            </a:r>
            <a:r>
              <a:rPr lang="en-US" sz="1600" kern="0" spc="-220" dirty="0" err="1">
                <a:solidFill>
                  <a:schemeClr val="accent6"/>
                </a:solidFill>
              </a:rPr>
              <a:t>EventHandler</a:t>
            </a:r>
            <a:r>
              <a:rPr lang="en-US" sz="1600" kern="0" spc="-220" dirty="0">
                <a:solidFill>
                  <a:schemeClr val="accent6"/>
                </a:solidFill>
              </a:rPr>
              <a:t>&gt; _handler;</a:t>
            </a:r>
          </a:p>
          <a:p>
            <a:r>
              <a:rPr lang="en-US" sz="1600" kern="0" spc="-220" dirty="0">
                <a:solidFill>
                  <a:schemeClr val="accent6"/>
                </a:solidFill>
              </a:rPr>
              <a:t>    public </a:t>
            </a:r>
            <a:r>
              <a:rPr lang="en-US" sz="1600" kern="0" spc="-220" dirty="0" err="1">
                <a:solidFill>
                  <a:schemeClr val="accent6"/>
                </a:solidFill>
              </a:rPr>
              <a:t>WeakEventHandler</a:t>
            </a:r>
            <a:r>
              <a:rPr lang="en-US" sz="1600" kern="0" spc="-220" dirty="0">
                <a:solidFill>
                  <a:schemeClr val="accent6"/>
                </a:solidFill>
              </a:rPr>
              <a:t>(</a:t>
            </a:r>
            <a:r>
              <a:rPr lang="en-US" sz="1600" kern="0" spc="-220" dirty="0" err="1">
                <a:solidFill>
                  <a:schemeClr val="accent6"/>
                </a:solidFill>
              </a:rPr>
              <a:t>EventHandler</a:t>
            </a:r>
            <a:r>
              <a:rPr lang="en-US" sz="1600" kern="0" spc="-220" dirty="0">
                <a:solidFill>
                  <a:schemeClr val="accent6"/>
                </a:solidFill>
              </a:rPr>
              <a:t> handler)</a:t>
            </a:r>
          </a:p>
          <a:p>
            <a:r>
              <a:rPr lang="en-US" sz="1600" kern="0" spc="-220" dirty="0">
                <a:solidFill>
                  <a:schemeClr val="accent6"/>
                </a:solidFill>
              </a:rPr>
              <a:t>    {</a:t>
            </a:r>
          </a:p>
          <a:p>
            <a:r>
              <a:rPr lang="en-US" sz="1600" kern="0" spc="-220" dirty="0">
                <a:solidFill>
                  <a:schemeClr val="accent6"/>
                </a:solidFill>
              </a:rPr>
              <a:t>        _handler = new </a:t>
            </a:r>
            <a:r>
              <a:rPr lang="en-US" sz="1600" kern="0" spc="-220" dirty="0" err="1">
                <a:solidFill>
                  <a:schemeClr val="accent6"/>
                </a:solidFill>
              </a:rPr>
              <a:t>WeakReference</a:t>
            </a:r>
            <a:r>
              <a:rPr lang="en-US" sz="1600" kern="0" spc="-220" dirty="0">
                <a:solidFill>
                  <a:schemeClr val="accent6"/>
                </a:solidFill>
              </a:rPr>
              <a:t>&lt;</a:t>
            </a:r>
            <a:r>
              <a:rPr lang="en-US" sz="1600" kern="0" spc="-220" dirty="0" err="1">
                <a:solidFill>
                  <a:schemeClr val="accent6"/>
                </a:solidFill>
              </a:rPr>
              <a:t>EventHandler</a:t>
            </a:r>
            <a:r>
              <a:rPr lang="en-US" sz="1600" kern="0" spc="-220" dirty="0">
                <a:solidFill>
                  <a:schemeClr val="accent6"/>
                </a:solidFill>
              </a:rPr>
              <a:t>&gt;(handler);</a:t>
            </a:r>
          </a:p>
          <a:p>
            <a:r>
              <a:rPr lang="en-US" sz="1600" kern="0" spc="-220" dirty="0">
                <a:solidFill>
                  <a:schemeClr val="accent6"/>
                </a:solidFill>
              </a:rPr>
              <a:t>    }</a:t>
            </a:r>
          </a:p>
          <a:p>
            <a:r>
              <a:rPr lang="en-US" sz="1600" kern="0" spc="-220" dirty="0">
                <a:solidFill>
                  <a:schemeClr val="accent6"/>
                </a:solidFill>
              </a:rPr>
              <a:t>public void Invoke(object sender, </a:t>
            </a:r>
            <a:r>
              <a:rPr lang="en-US" sz="1600" kern="0" spc="-220" dirty="0" err="1">
                <a:solidFill>
                  <a:schemeClr val="accent6"/>
                </a:solidFill>
              </a:rPr>
              <a:t>EventArgs</a:t>
            </a:r>
            <a:r>
              <a:rPr lang="en-US" sz="1600" kern="0" spc="-220" dirty="0">
                <a:solidFill>
                  <a:schemeClr val="accent6"/>
                </a:solidFill>
              </a:rPr>
              <a:t> e)</a:t>
            </a:r>
          </a:p>
          <a:p>
            <a:r>
              <a:rPr lang="en-US" sz="1600" kern="0" spc="-220" dirty="0">
                <a:solidFill>
                  <a:schemeClr val="accent6"/>
                </a:solidFill>
              </a:rPr>
              <a:t>    {        if (_</a:t>
            </a:r>
            <a:r>
              <a:rPr lang="en-US" sz="1600" kern="0" spc="-220" dirty="0" err="1">
                <a:solidFill>
                  <a:schemeClr val="accent6"/>
                </a:solidFill>
              </a:rPr>
              <a:t>handler.TryGetTarget</a:t>
            </a:r>
            <a:r>
              <a:rPr lang="en-US" sz="1600" kern="0" spc="-220" dirty="0">
                <a:solidFill>
                  <a:schemeClr val="accent6"/>
                </a:solidFill>
              </a:rPr>
              <a:t>(out var h))</a:t>
            </a:r>
          </a:p>
          <a:p>
            <a:r>
              <a:rPr lang="en-US" sz="1600" kern="0" spc="-220" dirty="0">
                <a:solidFill>
                  <a:schemeClr val="accent6"/>
                </a:solidFill>
              </a:rPr>
              <a:t>            h(sender, e); }}</a:t>
            </a:r>
          </a:p>
          <a:p>
            <a:endParaRPr lang="en-US" sz="1600" kern="0" spc="-220" dirty="0">
              <a:solidFill>
                <a:schemeClr val="accent6"/>
              </a:solidFill>
            </a:endParaRPr>
          </a:p>
          <a:p>
            <a:endParaRPr lang="en-US" sz="1600" kern="0" spc="-220" dirty="0">
              <a:solidFill>
                <a:schemeClr val="accent6"/>
              </a:solidFill>
            </a:endParaRPr>
          </a:p>
        </p:txBody>
      </p:sp>
    </p:spTree>
    <p:extLst>
      <p:ext uri="{BB962C8B-B14F-4D97-AF65-F5344CB8AC3E}">
        <p14:creationId xmlns:p14="http://schemas.microsoft.com/office/powerpoint/2010/main" val="222159515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B35A1-491A-3E6B-B01B-B0157647C07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F557CA8-399D-2FF5-FA5C-712916B8D677}"/>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C958DE1-C524-D0EC-E076-C8D0EDA51823}"/>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B57C004-5B54-EA01-B320-4FBD3479280D}"/>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59349720-4272-BDB1-B361-9EC80F95B504}"/>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B81B6B2F-EFC6-C6BB-8D22-279FC64ED330}"/>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096ECFF0-B98E-722D-5FB9-B0FA9305A38B}"/>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C52DA4B5-A683-7504-7291-DE7AE659B481}"/>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9C18867F-0484-013C-2DA0-238CF61FEF0A}"/>
              </a:ext>
            </a:extLst>
          </p:cNvPr>
          <p:cNvSpPr txBox="1">
            <a:spLocks/>
          </p:cNvSpPr>
          <p:nvPr/>
        </p:nvSpPr>
        <p:spPr>
          <a:xfrm>
            <a:off x="366663" y="1143000"/>
            <a:ext cx="8624937" cy="452431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Weak References</a:t>
            </a:r>
          </a:p>
          <a:p>
            <a:pPr algn="l"/>
            <a:r>
              <a:rPr lang="en-US" sz="1500" kern="0" spc="-220" dirty="0">
                <a:solidFill>
                  <a:schemeClr val="accent2"/>
                </a:solidFill>
              </a:rPr>
              <a:t>2. Weak References and Events (⚠️ the biggest leak source)</a:t>
            </a:r>
          </a:p>
          <a:p>
            <a:r>
              <a:rPr lang="en-US" sz="1600" kern="0" spc="-220" dirty="0">
                <a:solidFill>
                  <a:schemeClr val="accent2"/>
                </a:solidFill>
              </a:rPr>
              <a:t>✅ Weak Event Pattern</a:t>
            </a:r>
          </a:p>
          <a:p>
            <a:r>
              <a:rPr lang="en-US" sz="1600" kern="0" spc="-220" dirty="0">
                <a:solidFill>
                  <a:schemeClr val="accent2"/>
                </a:solidFill>
              </a:rPr>
              <a:t>Option 1: </a:t>
            </a:r>
            <a:r>
              <a:rPr lang="en-US" sz="1600" kern="0" spc="-220" dirty="0" err="1">
                <a:solidFill>
                  <a:schemeClr val="accent2"/>
                </a:solidFill>
              </a:rPr>
              <a:t>WeakReference</a:t>
            </a:r>
            <a:r>
              <a:rPr lang="en-US" sz="1600" kern="0" spc="-220" dirty="0">
                <a:solidFill>
                  <a:schemeClr val="accent2"/>
                </a:solidFill>
              </a:rPr>
              <a:t> manually</a:t>
            </a:r>
          </a:p>
          <a:p>
            <a:r>
              <a:rPr lang="en-US" sz="1600" kern="0" spc="-220" dirty="0">
                <a:solidFill>
                  <a:schemeClr val="accent6"/>
                </a:solidFill>
              </a:rPr>
              <a:t>Used internally by event manager.</a:t>
            </a:r>
          </a:p>
          <a:p>
            <a:r>
              <a:rPr lang="en-US" sz="1600" kern="0" spc="-220" dirty="0">
                <a:solidFill>
                  <a:schemeClr val="accent2"/>
                </a:solidFill>
              </a:rPr>
              <a:t>Option 2: </a:t>
            </a:r>
            <a:r>
              <a:rPr lang="en-US" sz="1600" kern="0" spc="-220" dirty="0" err="1">
                <a:solidFill>
                  <a:schemeClr val="accent2"/>
                </a:solidFill>
              </a:rPr>
              <a:t>WeakEventManager</a:t>
            </a:r>
            <a:r>
              <a:rPr lang="en-US" sz="1600" kern="0" spc="-220" dirty="0">
                <a:solidFill>
                  <a:schemeClr val="accent2"/>
                </a:solidFill>
              </a:rPr>
              <a:t> (WPF)</a:t>
            </a:r>
          </a:p>
          <a:p>
            <a:r>
              <a:rPr lang="en-US" sz="1600" kern="0" spc="-220" dirty="0" err="1">
                <a:solidFill>
                  <a:schemeClr val="accent6"/>
                </a:solidFill>
              </a:rPr>
              <a:t>WeakEventManager</a:t>
            </a:r>
            <a:r>
              <a:rPr lang="en-US" sz="1600" kern="0" spc="-220" dirty="0">
                <a:solidFill>
                  <a:schemeClr val="accent6"/>
                </a:solidFill>
              </a:rPr>
              <a:t>&lt;Publisher, </a:t>
            </a:r>
            <a:r>
              <a:rPr lang="en-US" sz="1600" kern="0" spc="-220" dirty="0" err="1">
                <a:solidFill>
                  <a:schemeClr val="accent6"/>
                </a:solidFill>
              </a:rPr>
              <a:t>EventArgs</a:t>
            </a:r>
            <a:r>
              <a:rPr lang="en-US" sz="1600" kern="0" spc="-220" dirty="0">
                <a:solidFill>
                  <a:schemeClr val="accent6"/>
                </a:solidFill>
              </a:rPr>
              <a:t>&gt;</a:t>
            </a:r>
          </a:p>
          <a:p>
            <a:r>
              <a:rPr lang="en-US" sz="1600" kern="0" spc="-220" dirty="0">
                <a:solidFill>
                  <a:schemeClr val="accent6"/>
                </a:solidFill>
              </a:rPr>
              <a:t>    .</a:t>
            </a:r>
            <a:r>
              <a:rPr lang="en-US" sz="1600" kern="0" spc="-220" dirty="0" err="1">
                <a:solidFill>
                  <a:schemeClr val="accent6"/>
                </a:solidFill>
              </a:rPr>
              <a:t>AddHandler</a:t>
            </a:r>
            <a:r>
              <a:rPr lang="en-US" sz="1600" kern="0" spc="-220" dirty="0">
                <a:solidFill>
                  <a:schemeClr val="accent6"/>
                </a:solidFill>
              </a:rPr>
              <a:t>(publisher, </a:t>
            </a:r>
            <a:r>
              <a:rPr lang="en-US" sz="1600" kern="0" spc="-220" dirty="0" err="1">
                <a:solidFill>
                  <a:schemeClr val="accent6"/>
                </a:solidFill>
              </a:rPr>
              <a:t>nameof</a:t>
            </a:r>
            <a:r>
              <a:rPr lang="en-US" sz="1600" kern="0" spc="-220" dirty="0">
                <a:solidFill>
                  <a:schemeClr val="accent6"/>
                </a:solidFill>
              </a:rPr>
              <a:t>(</a:t>
            </a:r>
            <a:r>
              <a:rPr lang="en-US" sz="1600" kern="0" spc="-220" dirty="0" err="1">
                <a:solidFill>
                  <a:schemeClr val="accent6"/>
                </a:solidFill>
              </a:rPr>
              <a:t>publisher.SomeEvent</a:t>
            </a:r>
            <a:r>
              <a:rPr lang="en-US" sz="1600" kern="0" spc="-220" dirty="0">
                <a:solidFill>
                  <a:schemeClr val="accent6"/>
                </a:solidFill>
              </a:rPr>
              <a:t>), </a:t>
            </a:r>
            <a:r>
              <a:rPr lang="en-US" sz="1600" kern="0" spc="-220" dirty="0" err="1">
                <a:solidFill>
                  <a:schemeClr val="accent6"/>
                </a:solidFill>
              </a:rPr>
              <a:t>subscriber.Handle</a:t>
            </a:r>
            <a:r>
              <a:rPr lang="en-US" sz="1600" kern="0" spc="-220" dirty="0">
                <a:solidFill>
                  <a:schemeClr val="accent6"/>
                </a:solidFill>
              </a:rPr>
              <a:t>);</a:t>
            </a:r>
          </a:p>
          <a:p>
            <a:r>
              <a:rPr lang="en-US" sz="1600" kern="0" spc="-220" dirty="0">
                <a:solidFill>
                  <a:schemeClr val="accent2"/>
                </a:solidFill>
              </a:rPr>
              <a:t>✔ Preferred in UI frameworks</a:t>
            </a:r>
          </a:p>
          <a:p>
            <a:r>
              <a:rPr lang="en-US" sz="1600" kern="0" spc="-220" dirty="0">
                <a:solidFill>
                  <a:schemeClr val="accent2"/>
                </a:solidFill>
              </a:rPr>
              <a:t>❌ Not available everywhere</a:t>
            </a:r>
          </a:p>
          <a:p>
            <a:r>
              <a:rPr lang="en-US" sz="1600" kern="0" spc="-220" dirty="0">
                <a:solidFill>
                  <a:schemeClr val="accent2"/>
                </a:solidFill>
              </a:rPr>
              <a:t>When to use weak events</a:t>
            </a:r>
          </a:p>
          <a:p>
            <a:r>
              <a:rPr lang="en-US" sz="1600" kern="0" spc="-220" dirty="0">
                <a:solidFill>
                  <a:schemeClr val="accent2"/>
                </a:solidFill>
              </a:rPr>
              <a:t>Scenario	                         Use weak events?</a:t>
            </a:r>
          </a:p>
          <a:p>
            <a:r>
              <a:rPr lang="en-US" sz="1600" kern="0" spc="-220" dirty="0">
                <a:solidFill>
                  <a:schemeClr val="accent6"/>
                </a:solidFill>
              </a:rPr>
              <a:t>UI components	✅ YES</a:t>
            </a:r>
          </a:p>
          <a:p>
            <a:r>
              <a:rPr lang="en-US" sz="1600" kern="0" spc="-220" dirty="0">
                <a:solidFill>
                  <a:schemeClr val="accent6"/>
                </a:solidFill>
              </a:rPr>
              <a:t>Plugins / extensibility	✅ YES</a:t>
            </a:r>
          </a:p>
          <a:p>
            <a:r>
              <a:rPr lang="en-US" sz="1600" kern="0" spc="-220" dirty="0">
                <a:solidFill>
                  <a:schemeClr val="accent6"/>
                </a:solidFill>
              </a:rPr>
              <a:t>Domain models	⚠️ Maybe</a:t>
            </a:r>
          </a:p>
          <a:p>
            <a:r>
              <a:rPr lang="en-US" sz="1600" kern="0" spc="-220" dirty="0">
                <a:solidFill>
                  <a:schemeClr val="accent6"/>
                </a:solidFill>
              </a:rPr>
              <a:t>Short-lived publishers	❌ NO</a:t>
            </a:r>
          </a:p>
          <a:p>
            <a:endParaRPr lang="en-US" sz="1500" kern="0" spc="-220" dirty="0">
              <a:solidFill>
                <a:schemeClr val="accent6"/>
              </a:solidFill>
            </a:endParaRPr>
          </a:p>
          <a:p>
            <a:endParaRPr lang="en-US" sz="2000" kern="0" spc="-220" dirty="0">
              <a:solidFill>
                <a:schemeClr val="accent6"/>
              </a:solidFill>
            </a:endParaRPr>
          </a:p>
        </p:txBody>
      </p:sp>
    </p:spTree>
    <p:extLst>
      <p:ext uri="{BB962C8B-B14F-4D97-AF65-F5344CB8AC3E}">
        <p14:creationId xmlns:p14="http://schemas.microsoft.com/office/powerpoint/2010/main" val="31139508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0ACB4-E96C-522E-EAC5-6BCB192D524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9611BA6-051C-8906-78EC-71FADC4F5BCF}"/>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FDF322E-6777-3C4B-C1E7-956A555752B8}"/>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EC64037-956B-2474-9162-4FA97F5A04F0}"/>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1078F79D-AB2F-BD37-E36B-31289135FCF6}"/>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35EED058-67E9-9A8B-F90E-39D4B74E7A20}"/>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3017F938-C3BF-8F00-16AD-317A64F3A610}"/>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A5B3330F-EF5E-0C21-B0EA-475774BDE47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624C85A3-C37E-3E8D-601C-49CEDE0AB8A2}"/>
              </a:ext>
            </a:extLst>
          </p:cNvPr>
          <p:cNvSpPr txBox="1">
            <a:spLocks/>
          </p:cNvSpPr>
          <p:nvPr/>
        </p:nvSpPr>
        <p:spPr>
          <a:xfrm>
            <a:off x="366663" y="1143000"/>
            <a:ext cx="8624937" cy="446276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Weak References</a:t>
            </a:r>
          </a:p>
          <a:p>
            <a:pPr algn="l"/>
            <a:r>
              <a:rPr lang="en-US" sz="1500" kern="0" spc="-220" dirty="0">
                <a:solidFill>
                  <a:schemeClr val="accent2"/>
                </a:solidFill>
              </a:rPr>
              <a:t>3. Weak References and Static Objects</a:t>
            </a:r>
          </a:p>
          <a:p>
            <a:r>
              <a:rPr lang="en-US" sz="1500" kern="0" spc="-220" dirty="0">
                <a:solidFill>
                  <a:schemeClr val="accent2"/>
                </a:solidFill>
              </a:rPr>
              <a:t>The problem: </a:t>
            </a:r>
            <a:r>
              <a:rPr lang="en-US" sz="1500" kern="0" spc="-220" dirty="0">
                <a:solidFill>
                  <a:schemeClr val="accent6"/>
                </a:solidFill>
              </a:rPr>
              <a:t>static fields live forever</a:t>
            </a:r>
          </a:p>
          <a:p>
            <a:r>
              <a:rPr lang="en-US" sz="1500" kern="0" spc="-220" dirty="0">
                <a:solidFill>
                  <a:schemeClr val="accent6"/>
                </a:solidFill>
              </a:rPr>
              <a:t>static Cache _cache = new Cache();</a:t>
            </a:r>
          </a:p>
          <a:p>
            <a:r>
              <a:rPr lang="en-US" sz="1500" kern="0" spc="-220" dirty="0">
                <a:solidFill>
                  <a:schemeClr val="accent6"/>
                </a:solidFill>
              </a:rPr>
              <a:t>Anything referenced by _cache cannot be collected.</a:t>
            </a:r>
          </a:p>
          <a:p>
            <a:r>
              <a:rPr lang="en-US" sz="1500" kern="0" spc="-220" dirty="0">
                <a:solidFill>
                  <a:schemeClr val="accent2"/>
                </a:solidFill>
              </a:rPr>
              <a:t>❌ Bad static cache</a:t>
            </a:r>
          </a:p>
          <a:p>
            <a:r>
              <a:rPr lang="en-US" sz="1500" kern="0" spc="-220" dirty="0">
                <a:solidFill>
                  <a:schemeClr val="accent6"/>
                </a:solidFill>
              </a:rPr>
              <a:t>static Dictionary&lt;string, </a:t>
            </a:r>
            <a:r>
              <a:rPr lang="en-US" sz="1500" kern="0" spc="-220" dirty="0" err="1">
                <a:solidFill>
                  <a:schemeClr val="accent6"/>
                </a:solidFill>
              </a:rPr>
              <a:t>LargeObject</a:t>
            </a:r>
            <a:r>
              <a:rPr lang="en-US" sz="1500" kern="0" spc="-220" dirty="0">
                <a:solidFill>
                  <a:schemeClr val="accent6"/>
                </a:solidFill>
              </a:rPr>
              <a:t>&gt; _cache = new();</a:t>
            </a:r>
          </a:p>
          <a:p>
            <a:r>
              <a:rPr lang="en-US" sz="1500" kern="0" spc="-220" dirty="0">
                <a:solidFill>
                  <a:schemeClr val="accent6"/>
                </a:solidFill>
              </a:rPr>
              <a:t>This grows forever.</a:t>
            </a:r>
          </a:p>
          <a:p>
            <a:r>
              <a:rPr lang="en-US" sz="1500" kern="0" spc="-220" dirty="0">
                <a:solidFill>
                  <a:schemeClr val="accent2"/>
                </a:solidFill>
              </a:rPr>
              <a:t>✅ </a:t>
            </a:r>
            <a:r>
              <a:rPr lang="en-US" sz="1500" kern="0" spc="-220" dirty="0" err="1">
                <a:solidFill>
                  <a:schemeClr val="accent2"/>
                </a:solidFill>
              </a:rPr>
              <a:t>WeakReference</a:t>
            </a:r>
            <a:r>
              <a:rPr lang="en-US" sz="1500" kern="0" spc="-220" dirty="0">
                <a:solidFill>
                  <a:schemeClr val="accent2"/>
                </a:solidFill>
              </a:rPr>
              <a:t>-based cache</a:t>
            </a:r>
          </a:p>
          <a:p>
            <a:r>
              <a:rPr lang="en-US" sz="1500" kern="0" spc="-220" dirty="0">
                <a:solidFill>
                  <a:schemeClr val="accent6"/>
                </a:solidFill>
              </a:rPr>
              <a:t>static Dictionary&lt;string, </a:t>
            </a:r>
            <a:r>
              <a:rPr lang="en-US" sz="1500" kern="0" spc="-220" dirty="0" err="1">
                <a:solidFill>
                  <a:schemeClr val="accent6"/>
                </a:solidFill>
              </a:rPr>
              <a:t>WeakReference</a:t>
            </a:r>
            <a:r>
              <a:rPr lang="en-US" sz="1500" kern="0" spc="-220" dirty="0">
                <a:solidFill>
                  <a:schemeClr val="accent6"/>
                </a:solidFill>
              </a:rPr>
              <a:t>&lt;</a:t>
            </a:r>
            <a:r>
              <a:rPr lang="en-US" sz="1500" kern="0" spc="-220" dirty="0" err="1">
                <a:solidFill>
                  <a:schemeClr val="accent6"/>
                </a:solidFill>
              </a:rPr>
              <a:t>LargeObject</a:t>
            </a:r>
            <a:r>
              <a:rPr lang="en-US" sz="1500" kern="0" spc="-220" dirty="0">
                <a:solidFill>
                  <a:schemeClr val="accent6"/>
                </a:solidFill>
              </a:rPr>
              <a:t>&gt;&gt; _cache = new();</a:t>
            </a:r>
          </a:p>
          <a:p>
            <a:r>
              <a:rPr lang="en-US" sz="1500" kern="0" spc="-220" dirty="0">
                <a:solidFill>
                  <a:schemeClr val="accent6"/>
                </a:solidFill>
              </a:rPr>
              <a:t>Usage:</a:t>
            </a:r>
          </a:p>
          <a:p>
            <a:r>
              <a:rPr lang="en-US" sz="1500" kern="0" spc="-220" dirty="0">
                <a:solidFill>
                  <a:schemeClr val="accent6"/>
                </a:solidFill>
              </a:rPr>
              <a:t>if (_</a:t>
            </a:r>
            <a:r>
              <a:rPr lang="en-US" sz="1500" kern="0" spc="-220" dirty="0" err="1">
                <a:solidFill>
                  <a:schemeClr val="accent6"/>
                </a:solidFill>
              </a:rPr>
              <a:t>cache.TryGetValue</a:t>
            </a:r>
            <a:r>
              <a:rPr lang="en-US" sz="1500" kern="0" spc="-220" dirty="0">
                <a:solidFill>
                  <a:schemeClr val="accent6"/>
                </a:solidFill>
              </a:rPr>
              <a:t>(key, out var </a:t>
            </a:r>
            <a:r>
              <a:rPr lang="en-US" sz="1500" kern="0" spc="-220" dirty="0" err="1">
                <a:solidFill>
                  <a:schemeClr val="accent6"/>
                </a:solidFill>
              </a:rPr>
              <a:t>wr</a:t>
            </a:r>
            <a:r>
              <a:rPr lang="en-US" sz="1500" kern="0" spc="-220" dirty="0">
                <a:solidFill>
                  <a:schemeClr val="accent6"/>
                </a:solidFill>
              </a:rPr>
              <a:t>) &amp;&amp;</a:t>
            </a:r>
          </a:p>
          <a:p>
            <a:r>
              <a:rPr lang="en-US" sz="1500" kern="0" spc="-220" dirty="0">
                <a:solidFill>
                  <a:schemeClr val="accent6"/>
                </a:solidFill>
              </a:rPr>
              <a:t>    </a:t>
            </a:r>
            <a:r>
              <a:rPr lang="en-US" sz="1500" kern="0" spc="-220" dirty="0" err="1">
                <a:solidFill>
                  <a:schemeClr val="accent6"/>
                </a:solidFill>
              </a:rPr>
              <a:t>wr.TryGetTarget</a:t>
            </a:r>
            <a:r>
              <a:rPr lang="en-US" sz="1500" kern="0" spc="-220" dirty="0">
                <a:solidFill>
                  <a:schemeClr val="accent6"/>
                </a:solidFill>
              </a:rPr>
              <a:t>(out var obj))</a:t>
            </a:r>
          </a:p>
          <a:p>
            <a:r>
              <a:rPr lang="en-US" sz="1500" kern="0" spc="-220" dirty="0">
                <a:solidFill>
                  <a:schemeClr val="accent6"/>
                </a:solidFill>
              </a:rPr>
              <a:t>{</a:t>
            </a:r>
          </a:p>
          <a:p>
            <a:r>
              <a:rPr lang="en-US" sz="1500" kern="0" spc="-220" dirty="0">
                <a:solidFill>
                  <a:schemeClr val="accent6"/>
                </a:solidFill>
              </a:rPr>
              <a:t>    return obj;</a:t>
            </a:r>
          </a:p>
          <a:p>
            <a:r>
              <a:rPr lang="en-US" sz="1500" kern="0" spc="-220" dirty="0">
                <a:solidFill>
                  <a:schemeClr val="accent6"/>
                </a:solidFill>
              </a:rPr>
              <a:t>}</a:t>
            </a:r>
          </a:p>
          <a:p>
            <a:r>
              <a:rPr lang="en-US" sz="1500" kern="0" spc="-220" dirty="0">
                <a:solidFill>
                  <a:schemeClr val="accent6"/>
                </a:solidFill>
              </a:rPr>
              <a:t>✔ Object is GC-able</a:t>
            </a:r>
          </a:p>
          <a:p>
            <a:r>
              <a:rPr lang="en-US" sz="1500" kern="0" spc="-220" dirty="0">
                <a:solidFill>
                  <a:schemeClr val="accent6"/>
                </a:solidFill>
              </a:rPr>
              <a:t>✔ Cache becomes self-cleaning</a:t>
            </a:r>
          </a:p>
          <a:p>
            <a:endParaRPr lang="en-US" sz="1500" kern="0" spc="-220" dirty="0">
              <a:solidFill>
                <a:schemeClr val="accent6"/>
              </a:solidFill>
            </a:endParaRPr>
          </a:p>
        </p:txBody>
      </p:sp>
    </p:spTree>
    <p:extLst>
      <p:ext uri="{BB962C8B-B14F-4D97-AF65-F5344CB8AC3E}">
        <p14:creationId xmlns:p14="http://schemas.microsoft.com/office/powerpoint/2010/main" val="119129220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63A8D-6B45-3D72-3582-99FEA4CDB4A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70F808A-838A-9C13-B7B6-A93D49C59C44}"/>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A1C7CC3-AFDA-0CA1-3065-177BAFD246B3}"/>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DA5065F-2109-B606-8F1C-CDCEEE13B76B}"/>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1C9D5884-58BA-9F74-26E5-DC256AC0088E}"/>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D4E2ACD3-8710-6F4F-0A66-282A56389984}"/>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F2D5E7A8-4101-AEC8-4AEA-620E1C8F59CA}"/>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B3C3F74A-30A9-83F9-46B0-FC2BC52D1900}"/>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5F3875D7-744A-6679-11F8-35B32B8F4F5A}"/>
              </a:ext>
            </a:extLst>
          </p:cNvPr>
          <p:cNvSpPr txBox="1">
            <a:spLocks/>
          </p:cNvSpPr>
          <p:nvPr/>
        </p:nvSpPr>
        <p:spPr>
          <a:xfrm>
            <a:off x="366663" y="1143000"/>
            <a:ext cx="8624937" cy="446276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Weak References </a:t>
            </a:r>
          </a:p>
          <a:p>
            <a:pPr algn="l"/>
            <a:r>
              <a:rPr lang="en-US" sz="1500" kern="0" spc="-220" dirty="0">
                <a:solidFill>
                  <a:schemeClr val="accent2"/>
                </a:solidFill>
              </a:rPr>
              <a:t>3. Weak References and Static Objects</a:t>
            </a:r>
          </a:p>
          <a:p>
            <a:r>
              <a:rPr lang="en-US" sz="1500" kern="0" spc="-220" dirty="0">
                <a:solidFill>
                  <a:schemeClr val="accent2"/>
                </a:solidFill>
              </a:rPr>
              <a:t>⚠️ Prefer </a:t>
            </a:r>
            <a:r>
              <a:rPr lang="en-US" sz="1500" kern="0" spc="-220" dirty="0" err="1">
                <a:solidFill>
                  <a:schemeClr val="accent2"/>
                </a:solidFill>
              </a:rPr>
              <a:t>ConditionalWeakTable</a:t>
            </a:r>
            <a:endParaRPr lang="en-US" sz="1500" kern="0" spc="-220" dirty="0">
              <a:solidFill>
                <a:schemeClr val="accent2"/>
              </a:solidFill>
            </a:endParaRPr>
          </a:p>
          <a:p>
            <a:r>
              <a:rPr lang="en-US" sz="1500" kern="0" spc="-220" dirty="0" err="1">
                <a:solidFill>
                  <a:schemeClr val="accent6"/>
                </a:solidFill>
              </a:rPr>
              <a:t>ConditionalWeakTable</a:t>
            </a:r>
            <a:r>
              <a:rPr lang="en-US" sz="1500" kern="0" spc="-220" dirty="0">
                <a:solidFill>
                  <a:schemeClr val="accent6"/>
                </a:solidFill>
              </a:rPr>
              <a:t>&lt;Key, Value&gt; table;</a:t>
            </a:r>
          </a:p>
          <a:p>
            <a:r>
              <a:rPr lang="en-US" sz="1500" kern="0" spc="-220" dirty="0">
                <a:solidFill>
                  <a:schemeClr val="accent2"/>
                </a:solidFill>
              </a:rPr>
              <a:t>Key advantages:</a:t>
            </a:r>
          </a:p>
          <a:p>
            <a:r>
              <a:rPr lang="en-US" sz="1500" kern="0" spc="-220" dirty="0">
                <a:solidFill>
                  <a:schemeClr val="accent6"/>
                </a:solidFill>
              </a:rPr>
              <a:t>Automatic cleanup</a:t>
            </a:r>
          </a:p>
          <a:p>
            <a:r>
              <a:rPr lang="en-US" sz="1500" kern="0" spc="-220" dirty="0">
                <a:solidFill>
                  <a:schemeClr val="accent6"/>
                </a:solidFill>
              </a:rPr>
              <a:t>Thread-safe</a:t>
            </a:r>
          </a:p>
          <a:p>
            <a:r>
              <a:rPr lang="en-US" sz="1500" kern="0" spc="-220" dirty="0">
                <a:solidFill>
                  <a:schemeClr val="accent6"/>
                </a:solidFill>
              </a:rPr>
              <a:t>Zero resurrection risk</a:t>
            </a:r>
          </a:p>
          <a:p>
            <a:r>
              <a:rPr lang="en-US" sz="1500" kern="0" spc="-220" dirty="0">
                <a:solidFill>
                  <a:schemeClr val="accent2"/>
                </a:solidFill>
              </a:rPr>
              <a:t>Used internally by:</a:t>
            </a:r>
          </a:p>
          <a:p>
            <a:r>
              <a:rPr lang="en-US" sz="1500" kern="0" spc="-220" dirty="0">
                <a:solidFill>
                  <a:schemeClr val="accent6"/>
                </a:solidFill>
              </a:rPr>
              <a:t>ASP.NET</a:t>
            </a:r>
          </a:p>
          <a:p>
            <a:r>
              <a:rPr lang="en-US" sz="1500" kern="0" spc="-220" dirty="0">
                <a:solidFill>
                  <a:schemeClr val="accent6"/>
                </a:solidFill>
              </a:rPr>
              <a:t>WPF</a:t>
            </a:r>
          </a:p>
          <a:p>
            <a:r>
              <a:rPr lang="en-US" sz="1500" kern="0" spc="-220" dirty="0">
                <a:solidFill>
                  <a:schemeClr val="accent6"/>
                </a:solidFill>
              </a:rPr>
              <a:t>Runtime services</a:t>
            </a:r>
          </a:p>
          <a:p>
            <a:r>
              <a:rPr lang="en-US" sz="1500" kern="0" spc="-220" dirty="0">
                <a:solidFill>
                  <a:schemeClr val="accent2"/>
                </a:solidFill>
              </a:rPr>
              <a:t>When weak statics make sense</a:t>
            </a:r>
          </a:p>
          <a:p>
            <a:r>
              <a:rPr lang="en-US" sz="1500" kern="0" spc="-220" dirty="0">
                <a:solidFill>
                  <a:schemeClr val="accent2"/>
                </a:solidFill>
              </a:rPr>
              <a:t>Use case	                           Weak reference?</a:t>
            </a:r>
          </a:p>
          <a:p>
            <a:r>
              <a:rPr lang="en-US" sz="1500" kern="0" spc="-220" dirty="0">
                <a:solidFill>
                  <a:schemeClr val="accent6"/>
                </a:solidFill>
              </a:rPr>
              <a:t>Metadata caching	✅</a:t>
            </a:r>
          </a:p>
          <a:p>
            <a:r>
              <a:rPr lang="en-US" sz="1500" kern="0" spc="-220" dirty="0">
                <a:solidFill>
                  <a:schemeClr val="accent6"/>
                </a:solidFill>
              </a:rPr>
              <a:t>Object annotations	✅</a:t>
            </a:r>
          </a:p>
          <a:p>
            <a:r>
              <a:rPr lang="en-US" sz="1500" kern="0" spc="-220" dirty="0">
                <a:solidFill>
                  <a:schemeClr val="accent6"/>
                </a:solidFill>
              </a:rPr>
              <a:t>Configuration	❌</a:t>
            </a:r>
          </a:p>
          <a:p>
            <a:r>
              <a:rPr lang="en-US" sz="1500" kern="0" spc="-220" dirty="0">
                <a:solidFill>
                  <a:schemeClr val="accent6"/>
                </a:solidFill>
              </a:rPr>
              <a:t>Critical state	                            ❌</a:t>
            </a:r>
          </a:p>
          <a:p>
            <a:endParaRPr lang="en-US" sz="1500" kern="0" spc="-220" dirty="0">
              <a:solidFill>
                <a:schemeClr val="accent6"/>
              </a:solidFill>
            </a:endParaRPr>
          </a:p>
        </p:txBody>
      </p:sp>
    </p:spTree>
    <p:extLst>
      <p:ext uri="{BB962C8B-B14F-4D97-AF65-F5344CB8AC3E}">
        <p14:creationId xmlns:p14="http://schemas.microsoft.com/office/powerpoint/2010/main" val="38425206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3C8C4-22C6-D6AE-5157-C0C81C80E16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280949D-2D57-13F2-1E7D-1774443575EA}"/>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38BC7E1-080E-1311-797F-1A51E857A563}"/>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D9AC075-C084-70F6-6179-BF5E812E2773}"/>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CA60B4F4-7C91-5E97-BBFA-7C286EF8E21E}"/>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3B36719B-9ACE-74C9-7FB7-D12872051FE4}"/>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FA83487F-C926-6100-6A0C-BC2C5621ADCC}"/>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8966048F-303F-D7EB-50A4-3D583B842605}"/>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B68C1A26-4995-41DE-F004-8ED3F572287F}"/>
              </a:ext>
            </a:extLst>
          </p:cNvPr>
          <p:cNvSpPr txBox="1">
            <a:spLocks/>
          </p:cNvSpPr>
          <p:nvPr/>
        </p:nvSpPr>
        <p:spPr>
          <a:xfrm>
            <a:off x="366663" y="1143000"/>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Weak References </a:t>
            </a:r>
          </a:p>
          <a:p>
            <a:pPr algn="l"/>
            <a:r>
              <a:rPr lang="en-US" sz="1500" kern="0" spc="-220" dirty="0">
                <a:solidFill>
                  <a:schemeClr val="accent2"/>
                </a:solidFill>
              </a:rPr>
              <a:t>4. Weak References and Captured Variables (Closures)</a:t>
            </a:r>
          </a:p>
          <a:p>
            <a:r>
              <a:rPr lang="en-US" sz="1500" kern="0" spc="-220" dirty="0">
                <a:solidFill>
                  <a:schemeClr val="accent6"/>
                </a:solidFill>
              </a:rPr>
              <a:t>The problem: closures extend object lifetime</a:t>
            </a:r>
          </a:p>
          <a:p>
            <a:r>
              <a:rPr lang="en-US" sz="1500" kern="0" spc="-220" dirty="0">
                <a:solidFill>
                  <a:schemeClr val="accent6"/>
                </a:solidFill>
              </a:rPr>
              <a:t>void Register()</a:t>
            </a:r>
          </a:p>
          <a:p>
            <a:r>
              <a:rPr lang="en-US" sz="1500" kern="0" spc="-220" dirty="0">
                <a:solidFill>
                  <a:schemeClr val="accent6"/>
                </a:solidFill>
              </a:rPr>
              <a:t>{</a:t>
            </a:r>
          </a:p>
          <a:p>
            <a:r>
              <a:rPr lang="en-US" sz="1500" kern="0" spc="-220" dirty="0">
                <a:solidFill>
                  <a:schemeClr val="accent6"/>
                </a:solidFill>
              </a:rPr>
              <a:t>    var </a:t>
            </a:r>
            <a:r>
              <a:rPr lang="en-US" sz="1500" kern="0" spc="-220" dirty="0" err="1">
                <a:solidFill>
                  <a:schemeClr val="accent6"/>
                </a:solidFill>
              </a:rPr>
              <a:t>bigObject</a:t>
            </a:r>
            <a:r>
              <a:rPr lang="en-US" sz="1500" kern="0" spc="-220" dirty="0">
                <a:solidFill>
                  <a:schemeClr val="accent6"/>
                </a:solidFill>
              </a:rPr>
              <a:t> = new </a:t>
            </a:r>
            <a:r>
              <a:rPr lang="en-US" sz="1500" kern="0" spc="-220" dirty="0" err="1">
                <a:solidFill>
                  <a:schemeClr val="accent6"/>
                </a:solidFill>
              </a:rPr>
              <a:t>BigObject</a:t>
            </a:r>
            <a:r>
              <a:rPr lang="en-US" sz="1500" kern="0" spc="-220" dirty="0">
                <a:solidFill>
                  <a:schemeClr val="accent6"/>
                </a:solidFill>
              </a:rPr>
              <a:t>();</a:t>
            </a:r>
          </a:p>
          <a:p>
            <a:endParaRPr lang="en-US" sz="1500" kern="0" spc="-220" dirty="0">
              <a:solidFill>
                <a:schemeClr val="accent6"/>
              </a:solidFill>
            </a:endParaRPr>
          </a:p>
          <a:p>
            <a:r>
              <a:rPr lang="en-US" sz="1500" kern="0" spc="-220" dirty="0">
                <a:solidFill>
                  <a:schemeClr val="accent6"/>
                </a:solidFill>
              </a:rPr>
              <a:t>    </a:t>
            </a:r>
            <a:r>
              <a:rPr lang="en-US" sz="1500" kern="0" spc="-220" dirty="0" err="1">
                <a:solidFill>
                  <a:schemeClr val="accent6"/>
                </a:solidFill>
              </a:rPr>
              <a:t>timer.Elapsed</a:t>
            </a:r>
            <a:r>
              <a:rPr lang="en-US" sz="1500" kern="0" spc="-220" dirty="0">
                <a:solidFill>
                  <a:schemeClr val="accent6"/>
                </a:solidFill>
              </a:rPr>
              <a:t> += (s, e) =&gt;</a:t>
            </a:r>
          </a:p>
          <a:p>
            <a:r>
              <a:rPr lang="en-US" sz="1500" kern="0" spc="-220" dirty="0">
                <a:solidFill>
                  <a:schemeClr val="accent6"/>
                </a:solidFill>
              </a:rPr>
              <a:t>    {</a:t>
            </a:r>
          </a:p>
          <a:p>
            <a:r>
              <a:rPr lang="en-US" sz="1500" kern="0" spc="-220" dirty="0">
                <a:solidFill>
                  <a:schemeClr val="accent6"/>
                </a:solidFill>
              </a:rPr>
              <a:t>        </a:t>
            </a:r>
            <a:r>
              <a:rPr lang="en-US" sz="1500" kern="0" spc="-220" dirty="0" err="1">
                <a:solidFill>
                  <a:schemeClr val="accent6"/>
                </a:solidFill>
              </a:rPr>
              <a:t>bigObject.DoWork</a:t>
            </a:r>
            <a:r>
              <a:rPr lang="en-US" sz="1500" kern="0" spc="-220" dirty="0">
                <a:solidFill>
                  <a:schemeClr val="accent6"/>
                </a:solidFill>
              </a:rPr>
              <a:t>();</a:t>
            </a:r>
          </a:p>
          <a:p>
            <a:r>
              <a:rPr lang="en-US" sz="1500" kern="0" spc="-220" dirty="0">
                <a:solidFill>
                  <a:schemeClr val="accent6"/>
                </a:solidFill>
              </a:rPr>
              <a:t>    };</a:t>
            </a:r>
          </a:p>
          <a:p>
            <a:r>
              <a:rPr lang="en-US" sz="1500" kern="0" spc="-220" dirty="0">
                <a:solidFill>
                  <a:schemeClr val="accent6"/>
                </a:solidFill>
              </a:rPr>
              <a:t>}</a:t>
            </a:r>
          </a:p>
          <a:p>
            <a:r>
              <a:rPr lang="en-US" sz="1500" kern="0" spc="-220" dirty="0">
                <a:solidFill>
                  <a:schemeClr val="accent2"/>
                </a:solidFill>
              </a:rPr>
              <a:t>Why this leaks</a:t>
            </a:r>
          </a:p>
          <a:p>
            <a:r>
              <a:rPr lang="en-US" sz="1500" kern="0" spc="-220" dirty="0">
                <a:solidFill>
                  <a:schemeClr val="accent6"/>
                </a:solidFill>
              </a:rPr>
              <a:t>Lambda captures </a:t>
            </a:r>
            <a:r>
              <a:rPr lang="en-US" sz="1500" kern="0" spc="-220" dirty="0" err="1">
                <a:solidFill>
                  <a:schemeClr val="accent6"/>
                </a:solidFill>
              </a:rPr>
              <a:t>bigObject</a:t>
            </a:r>
            <a:endParaRPr lang="en-US" sz="1500" kern="0" spc="-220" dirty="0">
              <a:solidFill>
                <a:schemeClr val="accent6"/>
              </a:solidFill>
            </a:endParaRPr>
          </a:p>
          <a:p>
            <a:r>
              <a:rPr lang="en-US" sz="1500" kern="0" spc="-220" dirty="0">
                <a:solidFill>
                  <a:schemeClr val="accent6"/>
                </a:solidFill>
              </a:rPr>
              <a:t>Delegate is stored somewhere long-lived</a:t>
            </a:r>
          </a:p>
          <a:p>
            <a:r>
              <a:rPr lang="en-US" sz="1500" kern="0" spc="-220" dirty="0" err="1">
                <a:solidFill>
                  <a:schemeClr val="accent6"/>
                </a:solidFill>
              </a:rPr>
              <a:t>bigObject</a:t>
            </a:r>
            <a:r>
              <a:rPr lang="en-US" sz="1500" kern="0" spc="-220" dirty="0">
                <a:solidFill>
                  <a:schemeClr val="accent6"/>
                </a:solidFill>
              </a:rPr>
              <a:t> can never be </a:t>
            </a:r>
            <a:r>
              <a:rPr lang="en-US" sz="1500" kern="0" spc="-220" dirty="0" err="1">
                <a:solidFill>
                  <a:schemeClr val="accent6"/>
                </a:solidFill>
              </a:rPr>
              <a:t>GC’ed</a:t>
            </a:r>
            <a:endParaRPr lang="en-US" sz="1500" kern="0" spc="-220" dirty="0">
              <a:solidFill>
                <a:schemeClr val="accent6"/>
              </a:solidFill>
            </a:endParaRPr>
          </a:p>
          <a:p>
            <a:r>
              <a:rPr lang="en-US" sz="1500" kern="0" spc="-220" dirty="0">
                <a:solidFill>
                  <a:schemeClr val="accent2"/>
                </a:solidFill>
              </a:rPr>
              <a:t>❌ Hidden closure leak pattern</a:t>
            </a:r>
          </a:p>
          <a:p>
            <a:r>
              <a:rPr lang="en-US" sz="1500" kern="0" spc="-220" dirty="0" err="1">
                <a:solidFill>
                  <a:schemeClr val="accent6"/>
                </a:solidFill>
              </a:rPr>
              <a:t>Task.Run</a:t>
            </a:r>
            <a:r>
              <a:rPr lang="en-US" sz="1500" kern="0" spc="-220" dirty="0">
                <a:solidFill>
                  <a:schemeClr val="accent6"/>
                </a:solidFill>
              </a:rPr>
              <a:t>(() =&gt;</a:t>
            </a:r>
          </a:p>
          <a:p>
            <a:r>
              <a:rPr lang="en-US" sz="1500" kern="0" spc="-220" dirty="0">
                <a:solidFill>
                  <a:schemeClr val="accent6"/>
                </a:solidFill>
              </a:rPr>
              <a:t>{</a:t>
            </a:r>
          </a:p>
          <a:p>
            <a:r>
              <a:rPr lang="en-US" sz="1500" kern="0" spc="-220" dirty="0">
                <a:solidFill>
                  <a:schemeClr val="accent6"/>
                </a:solidFill>
              </a:rPr>
              <a:t>    _</a:t>
            </a:r>
            <a:r>
              <a:rPr lang="en-US" sz="1500" kern="0" spc="-220" dirty="0" err="1">
                <a:solidFill>
                  <a:schemeClr val="accent6"/>
                </a:solidFill>
              </a:rPr>
              <a:t>service.Process</a:t>
            </a:r>
            <a:r>
              <a:rPr lang="en-US" sz="1500" kern="0" spc="-220" dirty="0">
                <a:solidFill>
                  <a:schemeClr val="accent6"/>
                </a:solidFill>
              </a:rPr>
              <a:t>(_</a:t>
            </a:r>
            <a:r>
              <a:rPr lang="en-US" sz="1500" kern="0" spc="-220" dirty="0" err="1">
                <a:solidFill>
                  <a:schemeClr val="accent6"/>
                </a:solidFill>
              </a:rPr>
              <a:t>hugeData</a:t>
            </a:r>
            <a:r>
              <a:rPr lang="en-US" sz="1500" kern="0" spc="-220" dirty="0">
                <a:solidFill>
                  <a:schemeClr val="accent6"/>
                </a:solidFill>
              </a:rPr>
              <a:t>);</a:t>
            </a:r>
          </a:p>
          <a:p>
            <a:r>
              <a:rPr lang="en-US" sz="1500" kern="0" spc="-220" dirty="0">
                <a:solidFill>
                  <a:schemeClr val="accent6"/>
                </a:solidFill>
              </a:rPr>
              <a:t>});</a:t>
            </a:r>
          </a:p>
        </p:txBody>
      </p:sp>
    </p:spTree>
    <p:extLst>
      <p:ext uri="{BB962C8B-B14F-4D97-AF65-F5344CB8AC3E}">
        <p14:creationId xmlns:p14="http://schemas.microsoft.com/office/powerpoint/2010/main" val="422065870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82D57-1CC3-A4B9-4462-45B6F0F9414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B55D2E8-8FCA-3BCF-05A1-E02193AA75CB}"/>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5F28A06-1ECF-0955-F722-B16F08FB0310}"/>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262572B-A293-D7C5-5C8C-C8BBDD3BBB7A}"/>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C9DA1A2D-F074-F4D1-BC0A-31CFE53E8AE0}"/>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A6B5B905-98AB-2238-E83D-EE251BA43947}"/>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2C9546FF-2EA5-6565-12EC-C0C32BDDFD6D}"/>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E80B5425-DE1B-65ED-E20A-EC97992A9858}"/>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966B5FFC-383C-B821-E7CF-D7ECD21734FB}"/>
              </a:ext>
            </a:extLst>
          </p:cNvPr>
          <p:cNvSpPr txBox="1">
            <a:spLocks/>
          </p:cNvSpPr>
          <p:nvPr/>
        </p:nvSpPr>
        <p:spPr>
          <a:xfrm>
            <a:off x="366663" y="1143000"/>
            <a:ext cx="8624937" cy="446276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Weak References</a:t>
            </a:r>
          </a:p>
          <a:p>
            <a:pPr algn="l"/>
            <a:r>
              <a:rPr lang="en-US" sz="1500" kern="0" spc="-220" dirty="0">
                <a:solidFill>
                  <a:schemeClr val="accent2"/>
                </a:solidFill>
              </a:rPr>
              <a:t>4. Weak References and Captured Variables (Closures)</a:t>
            </a:r>
          </a:p>
          <a:p>
            <a:r>
              <a:rPr lang="en-US" sz="1500" kern="0" spc="-220" dirty="0">
                <a:solidFill>
                  <a:schemeClr val="accent6"/>
                </a:solidFill>
              </a:rPr>
              <a:t>Even after task completes, references may persist in:</a:t>
            </a:r>
          </a:p>
          <a:p>
            <a:r>
              <a:rPr lang="en-US" sz="1500" kern="0" spc="-220" dirty="0">
                <a:solidFill>
                  <a:schemeClr val="accent6"/>
                </a:solidFill>
              </a:rPr>
              <a:t>Queues</a:t>
            </a:r>
          </a:p>
          <a:p>
            <a:r>
              <a:rPr lang="en-US" sz="1500" kern="0" spc="-220" dirty="0">
                <a:solidFill>
                  <a:schemeClr val="accent6"/>
                </a:solidFill>
              </a:rPr>
              <a:t>Schedulers</a:t>
            </a:r>
          </a:p>
          <a:p>
            <a:r>
              <a:rPr lang="en-US" sz="1500" kern="0" spc="-220" dirty="0">
                <a:solidFill>
                  <a:schemeClr val="accent6"/>
                </a:solidFill>
              </a:rPr>
              <a:t>Thread pools</a:t>
            </a:r>
          </a:p>
          <a:p>
            <a:r>
              <a:rPr lang="en-US" sz="1500" kern="0" spc="-220" dirty="0">
                <a:solidFill>
                  <a:schemeClr val="accent2"/>
                </a:solidFill>
              </a:rPr>
              <a:t>✅ Weak reference inside closure</a:t>
            </a:r>
          </a:p>
          <a:p>
            <a:r>
              <a:rPr lang="en-US" sz="1500" kern="0" spc="-220" dirty="0">
                <a:solidFill>
                  <a:schemeClr val="accent6"/>
                </a:solidFill>
              </a:rPr>
              <a:t>var weak = new </a:t>
            </a:r>
            <a:r>
              <a:rPr lang="en-US" sz="1500" kern="0" spc="-220" dirty="0" err="1">
                <a:solidFill>
                  <a:schemeClr val="accent6"/>
                </a:solidFill>
              </a:rPr>
              <a:t>WeakReference</a:t>
            </a:r>
            <a:r>
              <a:rPr lang="en-US" sz="1500" kern="0" spc="-220" dirty="0">
                <a:solidFill>
                  <a:schemeClr val="accent6"/>
                </a:solidFill>
              </a:rPr>
              <a:t>&lt;</a:t>
            </a:r>
            <a:r>
              <a:rPr lang="en-US" sz="1500" kern="0" spc="-220" dirty="0" err="1">
                <a:solidFill>
                  <a:schemeClr val="accent6"/>
                </a:solidFill>
              </a:rPr>
              <a:t>BigObject</a:t>
            </a:r>
            <a:r>
              <a:rPr lang="en-US" sz="1500" kern="0" spc="-220" dirty="0">
                <a:solidFill>
                  <a:schemeClr val="accent6"/>
                </a:solidFill>
              </a:rPr>
              <a:t>&gt;(</a:t>
            </a:r>
            <a:r>
              <a:rPr lang="en-US" sz="1500" kern="0" spc="-220" dirty="0" err="1">
                <a:solidFill>
                  <a:schemeClr val="accent6"/>
                </a:solidFill>
              </a:rPr>
              <a:t>bigObject</a:t>
            </a:r>
            <a:r>
              <a:rPr lang="en-US" sz="1500" kern="0" spc="-220" dirty="0">
                <a:solidFill>
                  <a:schemeClr val="accent6"/>
                </a:solidFill>
              </a:rPr>
              <a:t>);</a:t>
            </a:r>
          </a:p>
          <a:p>
            <a:r>
              <a:rPr lang="en-US" sz="1500" kern="0" spc="-220" dirty="0" err="1">
                <a:solidFill>
                  <a:schemeClr val="accent6"/>
                </a:solidFill>
              </a:rPr>
              <a:t>timer.Elapsed</a:t>
            </a:r>
            <a:r>
              <a:rPr lang="en-US" sz="1500" kern="0" spc="-220" dirty="0">
                <a:solidFill>
                  <a:schemeClr val="accent6"/>
                </a:solidFill>
              </a:rPr>
              <a:t> += (s, e) =&gt;</a:t>
            </a:r>
          </a:p>
          <a:p>
            <a:r>
              <a:rPr lang="en-US" sz="1500" kern="0" spc="-220" dirty="0">
                <a:solidFill>
                  <a:schemeClr val="accent6"/>
                </a:solidFill>
              </a:rPr>
              <a:t>{</a:t>
            </a:r>
          </a:p>
          <a:p>
            <a:r>
              <a:rPr lang="en-US" sz="1500" kern="0" spc="-220" dirty="0">
                <a:solidFill>
                  <a:schemeClr val="accent6"/>
                </a:solidFill>
              </a:rPr>
              <a:t>    if (</a:t>
            </a:r>
            <a:r>
              <a:rPr lang="en-US" sz="1500" kern="0" spc="-220" dirty="0" err="1">
                <a:solidFill>
                  <a:schemeClr val="accent6"/>
                </a:solidFill>
              </a:rPr>
              <a:t>weak.TryGetTarget</a:t>
            </a:r>
            <a:r>
              <a:rPr lang="en-US" sz="1500" kern="0" spc="-220" dirty="0">
                <a:solidFill>
                  <a:schemeClr val="accent6"/>
                </a:solidFill>
              </a:rPr>
              <a:t>(out var obj))</a:t>
            </a:r>
          </a:p>
          <a:p>
            <a:r>
              <a:rPr lang="en-US" sz="1500" kern="0" spc="-220" dirty="0">
                <a:solidFill>
                  <a:schemeClr val="accent6"/>
                </a:solidFill>
              </a:rPr>
              <a:t>        </a:t>
            </a:r>
            <a:r>
              <a:rPr lang="en-US" sz="1500" kern="0" spc="-220" dirty="0" err="1">
                <a:solidFill>
                  <a:schemeClr val="accent6"/>
                </a:solidFill>
              </a:rPr>
              <a:t>obj.DoWork</a:t>
            </a:r>
            <a:r>
              <a:rPr lang="en-US" sz="1500" kern="0" spc="-220" dirty="0">
                <a:solidFill>
                  <a:schemeClr val="accent6"/>
                </a:solidFill>
              </a:rPr>
              <a:t>();</a:t>
            </a:r>
          </a:p>
          <a:p>
            <a:r>
              <a:rPr lang="en-US" sz="1500" kern="0" spc="-220" dirty="0">
                <a:solidFill>
                  <a:schemeClr val="accent6"/>
                </a:solidFill>
              </a:rPr>
              <a:t>};</a:t>
            </a:r>
          </a:p>
          <a:p>
            <a:r>
              <a:rPr lang="en-US" sz="1500" kern="0" spc="-220" dirty="0">
                <a:solidFill>
                  <a:schemeClr val="accent6"/>
                </a:solidFill>
              </a:rPr>
              <a:t>✔ Closure survives</a:t>
            </a:r>
          </a:p>
          <a:p>
            <a:r>
              <a:rPr lang="en-US" sz="1500" kern="0" spc="-220" dirty="0">
                <a:solidFill>
                  <a:schemeClr val="accent6"/>
                </a:solidFill>
              </a:rPr>
              <a:t>✔ Object doesn’t</a:t>
            </a:r>
          </a:p>
          <a:p>
            <a:endParaRPr lang="en-US" sz="1500" kern="0" spc="-220" dirty="0">
              <a:solidFill>
                <a:schemeClr val="accent6"/>
              </a:solidFill>
            </a:endParaRPr>
          </a:p>
          <a:p>
            <a:r>
              <a:rPr lang="en-US" sz="1500" kern="0" spc="-220" dirty="0">
                <a:solidFill>
                  <a:schemeClr val="accent2"/>
                </a:solidFill>
              </a:rPr>
              <a:t>Closure rule of thumb</a:t>
            </a:r>
          </a:p>
          <a:p>
            <a:r>
              <a:rPr lang="en-US" sz="1500" kern="0" spc="-220" dirty="0">
                <a:solidFill>
                  <a:schemeClr val="accent6"/>
                </a:solidFill>
              </a:rPr>
              <a:t>Closures keep everything alive — unless weakened</a:t>
            </a:r>
          </a:p>
          <a:p>
            <a:endParaRPr lang="en-US" sz="1500" kern="0" spc="-220" dirty="0">
              <a:solidFill>
                <a:schemeClr val="accent6"/>
              </a:solidFill>
            </a:endParaRPr>
          </a:p>
        </p:txBody>
      </p:sp>
    </p:spTree>
    <p:extLst>
      <p:ext uri="{BB962C8B-B14F-4D97-AF65-F5344CB8AC3E}">
        <p14:creationId xmlns:p14="http://schemas.microsoft.com/office/powerpoint/2010/main" val="6130884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E99C5-1620-8C55-C7CC-D3B98536979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97E0BD4-EFE5-05B3-E045-09BC636CDAD5}"/>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3C06768-8716-1683-5EBD-F2C33F375FA6}"/>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1C93FE3-BD6C-5713-5A9A-B18BFC3C195F}"/>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B853B1E9-0CB1-A9D2-20E9-ACC605743A7D}"/>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66FBEC70-63F3-894C-8ADE-2685399EFC2D}"/>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A92AED55-FEA9-AF5C-6E97-CFCF3F55B998}"/>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68B71FC7-6487-77A1-1BC1-7B2AF13A605B}"/>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608BA4D7-AC49-9F7E-F2A1-E56C9B7BBD1F}"/>
              </a:ext>
            </a:extLst>
          </p:cNvPr>
          <p:cNvSpPr txBox="1">
            <a:spLocks/>
          </p:cNvSpPr>
          <p:nvPr/>
        </p:nvSpPr>
        <p:spPr>
          <a:xfrm>
            <a:off x="366663" y="1143000"/>
            <a:ext cx="8624937" cy="46935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Weak References </a:t>
            </a:r>
          </a:p>
          <a:p>
            <a:pPr algn="l"/>
            <a:r>
              <a:rPr lang="en-US" sz="1500" kern="0" spc="-220" dirty="0">
                <a:solidFill>
                  <a:schemeClr val="accent2"/>
                </a:solidFill>
              </a:rPr>
              <a:t>5. Weak References and Threads / Tasks</a:t>
            </a:r>
          </a:p>
          <a:p>
            <a:r>
              <a:rPr lang="en-US" sz="1500" kern="0" spc="-220" dirty="0">
                <a:solidFill>
                  <a:schemeClr val="accent2"/>
                </a:solidFill>
              </a:rPr>
              <a:t>The problem: </a:t>
            </a:r>
            <a:r>
              <a:rPr lang="en-US" sz="1500" kern="0" spc="-220" dirty="0">
                <a:solidFill>
                  <a:schemeClr val="accent6"/>
                </a:solidFill>
              </a:rPr>
              <a:t>threads strongly root objects</a:t>
            </a:r>
          </a:p>
          <a:p>
            <a:r>
              <a:rPr lang="en-US" sz="1500" kern="0" spc="-220" dirty="0">
                <a:solidFill>
                  <a:schemeClr val="accent6"/>
                </a:solidFill>
              </a:rPr>
              <a:t>new Thread(() =&gt; </a:t>
            </a:r>
            <a:r>
              <a:rPr lang="en-US" sz="1500" kern="0" spc="-220" dirty="0" err="1">
                <a:solidFill>
                  <a:schemeClr val="accent6"/>
                </a:solidFill>
              </a:rPr>
              <a:t>worker.Run</a:t>
            </a:r>
            <a:r>
              <a:rPr lang="en-US" sz="1500" kern="0" spc="-220" dirty="0">
                <a:solidFill>
                  <a:schemeClr val="accent6"/>
                </a:solidFill>
              </a:rPr>
              <a:t>()).Start();</a:t>
            </a:r>
          </a:p>
          <a:p>
            <a:r>
              <a:rPr lang="en-US" sz="1500" kern="0" spc="-220" dirty="0">
                <a:solidFill>
                  <a:schemeClr val="accent6"/>
                </a:solidFill>
              </a:rPr>
              <a:t>Thread keeps delegate alive</a:t>
            </a:r>
          </a:p>
          <a:p>
            <a:r>
              <a:rPr lang="en-US" sz="1500" kern="0" spc="-220" dirty="0">
                <a:solidFill>
                  <a:schemeClr val="accent6"/>
                </a:solidFill>
              </a:rPr>
              <a:t>Delegate keeps captured objects alive</a:t>
            </a:r>
          </a:p>
          <a:p>
            <a:r>
              <a:rPr lang="en-US" sz="1500" kern="0" spc="-220" dirty="0">
                <a:solidFill>
                  <a:schemeClr val="accent6"/>
                </a:solidFill>
              </a:rPr>
              <a:t>Objects survive until thread exits</a:t>
            </a:r>
          </a:p>
          <a:p>
            <a:r>
              <a:rPr lang="en-US" sz="1500" kern="0" spc="-220" dirty="0">
                <a:solidFill>
                  <a:schemeClr val="accent2"/>
                </a:solidFill>
              </a:rPr>
              <a:t>❌ Long-running thread leak</a:t>
            </a:r>
          </a:p>
          <a:p>
            <a:r>
              <a:rPr lang="en-US" sz="1500" kern="0" spc="-220" dirty="0">
                <a:solidFill>
                  <a:schemeClr val="accent6"/>
                </a:solidFill>
              </a:rPr>
              <a:t>class Worker</a:t>
            </a:r>
          </a:p>
          <a:p>
            <a:r>
              <a:rPr lang="en-US" sz="1500" kern="0" spc="-220" dirty="0">
                <a:solidFill>
                  <a:schemeClr val="accent6"/>
                </a:solidFill>
              </a:rPr>
              <a:t>{</a:t>
            </a:r>
          </a:p>
          <a:p>
            <a:r>
              <a:rPr lang="en-US" sz="1500" kern="0" spc="-220" dirty="0">
                <a:solidFill>
                  <a:schemeClr val="accent6"/>
                </a:solidFill>
              </a:rPr>
              <a:t>    public void Start()</a:t>
            </a:r>
          </a:p>
          <a:p>
            <a:r>
              <a:rPr lang="en-US" sz="1500" kern="0" spc="-220" dirty="0">
                <a:solidFill>
                  <a:schemeClr val="accent6"/>
                </a:solidFill>
              </a:rPr>
              <a:t>    {</a:t>
            </a:r>
          </a:p>
          <a:p>
            <a:r>
              <a:rPr lang="en-US" sz="1500" kern="0" spc="-220" dirty="0">
                <a:solidFill>
                  <a:schemeClr val="accent6"/>
                </a:solidFill>
              </a:rPr>
              <a:t>        new Thread(() =&gt;</a:t>
            </a:r>
          </a:p>
          <a:p>
            <a:r>
              <a:rPr lang="en-US" sz="1500" kern="0" spc="-220" dirty="0">
                <a:solidFill>
                  <a:schemeClr val="accent6"/>
                </a:solidFill>
              </a:rPr>
              <a:t>        {</a:t>
            </a:r>
          </a:p>
          <a:p>
            <a:r>
              <a:rPr lang="en-US" sz="1500" kern="0" spc="-220" dirty="0">
                <a:solidFill>
                  <a:schemeClr val="accent6"/>
                </a:solidFill>
              </a:rPr>
              <a:t>            while (true)</a:t>
            </a:r>
          </a:p>
          <a:p>
            <a:r>
              <a:rPr lang="en-US" sz="1500" kern="0" spc="-220" dirty="0">
                <a:solidFill>
                  <a:schemeClr val="accent6"/>
                </a:solidFill>
              </a:rPr>
              <a:t>                </a:t>
            </a:r>
            <a:r>
              <a:rPr lang="en-US" sz="1500" kern="0" spc="-220" dirty="0" err="1">
                <a:solidFill>
                  <a:schemeClr val="accent6"/>
                </a:solidFill>
              </a:rPr>
              <a:t>DoWork</a:t>
            </a:r>
            <a:r>
              <a:rPr lang="en-US" sz="1500" kern="0" spc="-220" dirty="0">
                <a:solidFill>
                  <a:schemeClr val="accent6"/>
                </a:solidFill>
              </a:rPr>
              <a:t>();</a:t>
            </a:r>
          </a:p>
          <a:p>
            <a:r>
              <a:rPr lang="en-US" sz="1500" kern="0" spc="-220" dirty="0">
                <a:solidFill>
                  <a:schemeClr val="accent6"/>
                </a:solidFill>
              </a:rPr>
              <a:t>        }).Start();</a:t>
            </a:r>
          </a:p>
          <a:p>
            <a:r>
              <a:rPr lang="en-US" sz="1500" kern="0" spc="-220" dirty="0">
                <a:solidFill>
                  <a:schemeClr val="accent6"/>
                </a:solidFill>
              </a:rPr>
              <a:t>    }</a:t>
            </a:r>
          </a:p>
          <a:p>
            <a:r>
              <a:rPr lang="en-US" sz="1500" kern="0" spc="-220" dirty="0">
                <a:solidFill>
                  <a:schemeClr val="accent6"/>
                </a:solidFill>
              </a:rPr>
              <a:t>}</a:t>
            </a:r>
          </a:p>
          <a:p>
            <a:r>
              <a:rPr lang="en-US" sz="1500" kern="0" spc="-220" dirty="0">
                <a:solidFill>
                  <a:schemeClr val="accent6"/>
                </a:solidFill>
              </a:rPr>
              <a:t>Worker can never be collected.</a:t>
            </a:r>
          </a:p>
        </p:txBody>
      </p:sp>
    </p:spTree>
    <p:extLst>
      <p:ext uri="{BB962C8B-B14F-4D97-AF65-F5344CB8AC3E}">
        <p14:creationId xmlns:p14="http://schemas.microsoft.com/office/powerpoint/2010/main" val="11236950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2B39B-BFBD-48C0-3BE7-ECF650C50D2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C47C29C-72F0-8D6F-C0DB-2A91E653D128}"/>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7F24566-0652-4A5D-F203-E8A75C9EF82A}"/>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2CA72CB-C21E-4D00-1850-9F98D11D58A6}"/>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39681A0E-E6A6-2285-2C2B-D3C46E8C5ABF}"/>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AB54C067-689A-3954-5FFA-2A8B57E52325}"/>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11166777-FB5B-7399-A9FA-DDF96626C0EB}"/>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942CDB23-40FE-7D83-E2D7-5206E7DF3C49}"/>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C8221946-AC6B-DE0D-6D4F-2F56C5F32AA4}"/>
              </a:ext>
            </a:extLst>
          </p:cNvPr>
          <p:cNvSpPr txBox="1">
            <a:spLocks/>
          </p:cNvSpPr>
          <p:nvPr/>
        </p:nvSpPr>
        <p:spPr>
          <a:xfrm>
            <a:off x="366663" y="1143000"/>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Weak References</a:t>
            </a:r>
          </a:p>
          <a:p>
            <a:pPr algn="l"/>
            <a:r>
              <a:rPr lang="en-US" sz="1500" kern="0" spc="-220" dirty="0">
                <a:solidFill>
                  <a:schemeClr val="accent2"/>
                </a:solidFill>
              </a:rPr>
              <a:t>5. Weak References and Threads / Tasks</a:t>
            </a:r>
          </a:p>
          <a:p>
            <a:r>
              <a:rPr lang="en-US" sz="1500" kern="0" spc="-220" dirty="0">
                <a:solidFill>
                  <a:schemeClr val="accent2"/>
                </a:solidFill>
              </a:rPr>
              <a:t>✅ Weak reference for background workers</a:t>
            </a:r>
          </a:p>
          <a:p>
            <a:r>
              <a:rPr lang="en-US" sz="1500" kern="0" spc="-220" dirty="0">
                <a:solidFill>
                  <a:schemeClr val="accent6"/>
                </a:solidFill>
              </a:rPr>
              <a:t>var </a:t>
            </a:r>
            <a:r>
              <a:rPr lang="en-US" sz="1500" kern="0" spc="-220" dirty="0" err="1">
                <a:solidFill>
                  <a:schemeClr val="accent6"/>
                </a:solidFill>
              </a:rPr>
              <a:t>weakWorker</a:t>
            </a:r>
            <a:r>
              <a:rPr lang="en-US" sz="1500" kern="0" spc="-220" dirty="0">
                <a:solidFill>
                  <a:schemeClr val="accent6"/>
                </a:solidFill>
              </a:rPr>
              <a:t> = new </a:t>
            </a:r>
            <a:r>
              <a:rPr lang="en-US" sz="1500" kern="0" spc="-220" dirty="0" err="1">
                <a:solidFill>
                  <a:schemeClr val="accent6"/>
                </a:solidFill>
              </a:rPr>
              <a:t>WeakReference</a:t>
            </a:r>
            <a:r>
              <a:rPr lang="en-US" sz="1500" kern="0" spc="-220" dirty="0">
                <a:solidFill>
                  <a:schemeClr val="accent6"/>
                </a:solidFill>
              </a:rPr>
              <a:t>&lt;Worker&gt;(this);</a:t>
            </a:r>
          </a:p>
          <a:p>
            <a:endParaRPr lang="en-US" sz="1500" kern="0" spc="-220" dirty="0">
              <a:solidFill>
                <a:schemeClr val="accent6"/>
              </a:solidFill>
            </a:endParaRPr>
          </a:p>
          <a:p>
            <a:r>
              <a:rPr lang="en-US" sz="1500" kern="0" spc="-220" dirty="0">
                <a:solidFill>
                  <a:schemeClr val="accent6"/>
                </a:solidFill>
              </a:rPr>
              <a:t>new Thread(() =&gt;</a:t>
            </a:r>
          </a:p>
          <a:p>
            <a:r>
              <a:rPr lang="en-US" sz="1500" kern="0" spc="-220" dirty="0">
                <a:solidFill>
                  <a:schemeClr val="accent6"/>
                </a:solidFill>
              </a:rPr>
              <a:t>{</a:t>
            </a:r>
          </a:p>
          <a:p>
            <a:r>
              <a:rPr lang="en-US" sz="1500" kern="0" spc="-220" dirty="0">
                <a:solidFill>
                  <a:schemeClr val="accent6"/>
                </a:solidFill>
              </a:rPr>
              <a:t>    while (</a:t>
            </a:r>
            <a:r>
              <a:rPr lang="en-US" sz="1500" kern="0" spc="-220" dirty="0" err="1">
                <a:solidFill>
                  <a:schemeClr val="accent6"/>
                </a:solidFill>
              </a:rPr>
              <a:t>weakWorker.TryGetTarget</a:t>
            </a:r>
            <a:r>
              <a:rPr lang="en-US" sz="1500" kern="0" spc="-220" dirty="0">
                <a:solidFill>
                  <a:schemeClr val="accent6"/>
                </a:solidFill>
              </a:rPr>
              <a:t>(out var w))</a:t>
            </a:r>
          </a:p>
          <a:p>
            <a:r>
              <a:rPr lang="en-US" sz="1500" kern="0" spc="-220" dirty="0">
                <a:solidFill>
                  <a:schemeClr val="accent6"/>
                </a:solidFill>
              </a:rPr>
              <a:t>    {</a:t>
            </a:r>
          </a:p>
          <a:p>
            <a:r>
              <a:rPr lang="en-US" sz="1500" kern="0" spc="-220" dirty="0">
                <a:solidFill>
                  <a:schemeClr val="accent6"/>
                </a:solidFill>
              </a:rPr>
              <a:t>        </a:t>
            </a:r>
            <a:r>
              <a:rPr lang="en-US" sz="1500" kern="0" spc="-220" dirty="0" err="1">
                <a:solidFill>
                  <a:schemeClr val="accent6"/>
                </a:solidFill>
              </a:rPr>
              <a:t>w.DoWork</a:t>
            </a:r>
            <a:r>
              <a:rPr lang="en-US" sz="1500" kern="0" spc="-220" dirty="0">
                <a:solidFill>
                  <a:schemeClr val="accent6"/>
                </a:solidFill>
              </a:rPr>
              <a:t>();</a:t>
            </a:r>
          </a:p>
          <a:p>
            <a:r>
              <a:rPr lang="en-US" sz="1500" kern="0" spc="-220" dirty="0">
                <a:solidFill>
                  <a:schemeClr val="accent6"/>
                </a:solidFill>
              </a:rPr>
              <a:t>        </a:t>
            </a:r>
            <a:r>
              <a:rPr lang="en-US" sz="1500" kern="0" spc="-220" dirty="0" err="1">
                <a:solidFill>
                  <a:schemeClr val="accent6"/>
                </a:solidFill>
              </a:rPr>
              <a:t>Thread.Sleep</a:t>
            </a:r>
            <a:r>
              <a:rPr lang="en-US" sz="1500" kern="0" spc="-220" dirty="0">
                <a:solidFill>
                  <a:schemeClr val="accent6"/>
                </a:solidFill>
              </a:rPr>
              <a:t>(1000);</a:t>
            </a:r>
          </a:p>
          <a:p>
            <a:r>
              <a:rPr lang="en-US" sz="1500" kern="0" spc="-220" dirty="0">
                <a:solidFill>
                  <a:schemeClr val="accent6"/>
                </a:solidFill>
              </a:rPr>
              <a:t>    }</a:t>
            </a:r>
          </a:p>
          <a:p>
            <a:r>
              <a:rPr lang="en-US" sz="1500" kern="0" spc="-220" dirty="0">
                <a:solidFill>
                  <a:schemeClr val="accent6"/>
                </a:solidFill>
              </a:rPr>
              <a:t>}).Start();</a:t>
            </a:r>
          </a:p>
          <a:p>
            <a:r>
              <a:rPr lang="en-US" sz="1500" kern="0" spc="-220" dirty="0">
                <a:solidFill>
                  <a:schemeClr val="accent6"/>
                </a:solidFill>
              </a:rPr>
              <a:t>✔ Thread exits naturally</a:t>
            </a:r>
          </a:p>
          <a:p>
            <a:r>
              <a:rPr lang="en-US" sz="1500" kern="0" spc="-220" dirty="0">
                <a:solidFill>
                  <a:schemeClr val="accent6"/>
                </a:solidFill>
              </a:rPr>
              <a:t>✔ Worker </a:t>
            </a:r>
            <a:r>
              <a:rPr lang="en-US" sz="1500" kern="0" spc="-220" dirty="0" err="1">
                <a:solidFill>
                  <a:schemeClr val="accent6"/>
                </a:solidFill>
              </a:rPr>
              <a:t>GC’ed</a:t>
            </a:r>
            <a:r>
              <a:rPr lang="en-US" sz="1500" kern="0" spc="-220" dirty="0">
                <a:solidFill>
                  <a:schemeClr val="accent6"/>
                </a:solidFill>
              </a:rPr>
              <a:t> safely</a:t>
            </a:r>
          </a:p>
          <a:p>
            <a:r>
              <a:rPr lang="en-US" sz="1500" kern="0" spc="-220" dirty="0">
                <a:solidFill>
                  <a:schemeClr val="accent2"/>
                </a:solidFill>
              </a:rPr>
              <a:t>Tasks &amp; async:</a:t>
            </a:r>
            <a:r>
              <a:rPr lang="en-US" sz="1500" kern="0" spc="-220" dirty="0">
                <a:solidFill>
                  <a:schemeClr val="accent6"/>
                </a:solidFill>
              </a:rPr>
              <a:t> same risk</a:t>
            </a:r>
          </a:p>
          <a:p>
            <a:r>
              <a:rPr lang="en-US" sz="1500" kern="0" spc="-220" dirty="0" err="1">
                <a:solidFill>
                  <a:schemeClr val="accent6"/>
                </a:solidFill>
              </a:rPr>
              <a:t>Task.Delay</a:t>
            </a:r>
            <a:r>
              <a:rPr lang="en-US" sz="1500" kern="0" spc="-220" dirty="0">
                <a:solidFill>
                  <a:schemeClr val="accent6"/>
                </a:solidFill>
              </a:rPr>
              <a:t>(</a:t>
            </a:r>
            <a:r>
              <a:rPr lang="en-US" sz="1500" kern="0" spc="-220" dirty="0" err="1">
                <a:solidFill>
                  <a:schemeClr val="accent6"/>
                </a:solidFill>
              </a:rPr>
              <a:t>Timeout.Infinite</a:t>
            </a:r>
            <a:r>
              <a:rPr lang="en-US" sz="1500" kern="0" spc="-220" dirty="0">
                <a:solidFill>
                  <a:schemeClr val="accent6"/>
                </a:solidFill>
              </a:rPr>
              <a:t>).</a:t>
            </a:r>
            <a:r>
              <a:rPr lang="en-US" sz="1500" kern="0" spc="-220" dirty="0" err="1">
                <a:solidFill>
                  <a:schemeClr val="accent6"/>
                </a:solidFill>
              </a:rPr>
              <a:t>ContinueWith</a:t>
            </a:r>
            <a:r>
              <a:rPr lang="en-US" sz="1500" kern="0" spc="-220" dirty="0">
                <a:solidFill>
                  <a:schemeClr val="accent6"/>
                </a:solidFill>
              </a:rPr>
              <a:t>(_ =&gt;</a:t>
            </a:r>
          </a:p>
          <a:p>
            <a:r>
              <a:rPr lang="en-US" sz="1500" kern="0" spc="-220" dirty="0">
                <a:solidFill>
                  <a:schemeClr val="accent6"/>
                </a:solidFill>
              </a:rPr>
              <a:t>{</a:t>
            </a:r>
          </a:p>
          <a:p>
            <a:r>
              <a:rPr lang="en-US" sz="1500" kern="0" spc="-220" dirty="0">
                <a:solidFill>
                  <a:schemeClr val="accent6"/>
                </a:solidFill>
              </a:rPr>
              <a:t>    </a:t>
            </a:r>
            <a:r>
              <a:rPr lang="en-US" sz="1500" kern="0" spc="-220" dirty="0" err="1">
                <a:solidFill>
                  <a:schemeClr val="accent6"/>
                </a:solidFill>
              </a:rPr>
              <a:t>service.Run</a:t>
            </a:r>
            <a:r>
              <a:rPr lang="en-US" sz="1500" kern="0" spc="-220" dirty="0">
                <a:solidFill>
                  <a:schemeClr val="accent6"/>
                </a:solidFill>
              </a:rPr>
              <a:t>();</a:t>
            </a:r>
          </a:p>
          <a:p>
            <a:r>
              <a:rPr lang="en-US" sz="1500" kern="0" spc="-220" dirty="0">
                <a:solidFill>
                  <a:schemeClr val="accent6"/>
                </a:solidFill>
              </a:rPr>
              <a:t>});</a:t>
            </a:r>
          </a:p>
          <a:p>
            <a:r>
              <a:rPr lang="en-US" sz="1500" kern="0" spc="-220" dirty="0">
                <a:solidFill>
                  <a:schemeClr val="accent6"/>
                </a:solidFill>
              </a:rPr>
              <a:t>Use cancellation tokens or weak refs.</a:t>
            </a:r>
          </a:p>
        </p:txBody>
      </p:sp>
    </p:spTree>
    <p:extLst>
      <p:ext uri="{BB962C8B-B14F-4D97-AF65-F5344CB8AC3E}">
        <p14:creationId xmlns:p14="http://schemas.microsoft.com/office/powerpoint/2010/main" val="339816026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44E73-A48F-3F40-FF35-28311CDD37D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179A03E-A121-CAF8-CA7D-D78B5F11ABB2}"/>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02884FA-865C-14FC-EE82-1BB920A586C9}"/>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388F2FC-3533-460D-E263-68526E3AAA07}"/>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95B60DAE-68B8-35B2-245D-45ADCFB38D4A}"/>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80360CEB-A205-482F-E7B7-AF6624CFF7AB}"/>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DA89B0E2-5670-9D0E-B1A6-CA997098C270}"/>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E4F1766E-F3DD-921E-7775-E621C1B63709}"/>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8BA68FA6-FEBA-B88A-362C-A6F77E30B136}"/>
              </a:ext>
            </a:extLst>
          </p:cNvPr>
          <p:cNvSpPr txBox="1">
            <a:spLocks/>
          </p:cNvSpPr>
          <p:nvPr/>
        </p:nvSpPr>
        <p:spPr>
          <a:xfrm>
            <a:off x="366663" y="1143000"/>
            <a:ext cx="8624937" cy="377026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Weak References </a:t>
            </a:r>
          </a:p>
          <a:p>
            <a:pPr algn="l"/>
            <a:r>
              <a:rPr lang="en-US" sz="1500" kern="0" spc="-220" dirty="0">
                <a:solidFill>
                  <a:schemeClr val="accent2"/>
                </a:solidFill>
              </a:rPr>
              <a:t>6. When NOT to use </a:t>
            </a:r>
            <a:r>
              <a:rPr lang="en-US" sz="1500" kern="0" spc="-220" dirty="0" err="1">
                <a:solidFill>
                  <a:schemeClr val="accent2"/>
                </a:solidFill>
              </a:rPr>
              <a:t>WeakReference</a:t>
            </a:r>
            <a:r>
              <a:rPr lang="en-US" sz="1500" kern="0" spc="-220" dirty="0">
                <a:solidFill>
                  <a:schemeClr val="accent2"/>
                </a:solidFill>
              </a:rPr>
              <a:t> ❌</a:t>
            </a:r>
          </a:p>
          <a:p>
            <a:r>
              <a:rPr lang="en-US" sz="1500" kern="0" spc="-220" dirty="0">
                <a:solidFill>
                  <a:schemeClr val="accent2"/>
                </a:solidFill>
              </a:rPr>
              <a:t>Scenario	                            Why</a:t>
            </a:r>
          </a:p>
          <a:p>
            <a:r>
              <a:rPr lang="en-US" sz="1500" kern="0" spc="-220" dirty="0">
                <a:solidFill>
                  <a:schemeClr val="accent6"/>
                </a:solidFill>
              </a:rPr>
              <a:t>Business invariants	Object may disappear</a:t>
            </a:r>
          </a:p>
          <a:p>
            <a:r>
              <a:rPr lang="en-US" sz="1500" kern="0" spc="-220" dirty="0">
                <a:solidFill>
                  <a:schemeClr val="accent6"/>
                </a:solidFill>
              </a:rPr>
              <a:t>Transactions	Non-deterministic</a:t>
            </a:r>
          </a:p>
          <a:p>
            <a:r>
              <a:rPr lang="en-US" sz="1500" kern="0" spc="-220" dirty="0">
                <a:solidFill>
                  <a:schemeClr val="accent6"/>
                </a:solidFill>
              </a:rPr>
              <a:t>Security context	Unsafe</a:t>
            </a:r>
          </a:p>
          <a:p>
            <a:r>
              <a:rPr lang="en-US" sz="1500" kern="0" spc="-220" dirty="0">
                <a:solidFill>
                  <a:schemeClr val="accent6"/>
                </a:solidFill>
              </a:rPr>
              <a:t>Core state	                            Fragile</a:t>
            </a:r>
          </a:p>
          <a:p>
            <a:r>
              <a:rPr lang="en-US" sz="1500" kern="0" spc="-220" dirty="0">
                <a:solidFill>
                  <a:schemeClr val="accent6"/>
                </a:solidFill>
              </a:rPr>
              <a:t>Weak references trade determinism for memory safety</a:t>
            </a:r>
          </a:p>
          <a:p>
            <a:endParaRPr lang="en-US" sz="1500" kern="0" spc="-220" dirty="0">
              <a:solidFill>
                <a:schemeClr val="accent6"/>
              </a:solidFill>
            </a:endParaRPr>
          </a:p>
          <a:p>
            <a:r>
              <a:rPr lang="en-US" sz="1500" kern="0" spc="-220" dirty="0">
                <a:solidFill>
                  <a:schemeClr val="accent2"/>
                </a:solidFill>
              </a:rPr>
              <a:t>7. </a:t>
            </a:r>
            <a:r>
              <a:rPr lang="en-US" sz="1500" kern="0" spc="-220" dirty="0" err="1">
                <a:solidFill>
                  <a:schemeClr val="accent2"/>
                </a:solidFill>
              </a:rPr>
              <a:t>WeakReference</a:t>
            </a:r>
            <a:r>
              <a:rPr lang="en-US" sz="1500" kern="0" spc="-220" dirty="0">
                <a:solidFill>
                  <a:schemeClr val="accent2"/>
                </a:solidFill>
              </a:rPr>
              <a:t> vs Alternatives</a:t>
            </a:r>
          </a:p>
          <a:p>
            <a:r>
              <a:rPr lang="en-US" sz="1500" kern="0" spc="-220" dirty="0">
                <a:solidFill>
                  <a:schemeClr val="accent2"/>
                </a:solidFill>
              </a:rPr>
              <a:t>Tool	                             Better for</a:t>
            </a:r>
          </a:p>
          <a:p>
            <a:r>
              <a:rPr lang="en-US" sz="1500" kern="0" spc="-220" dirty="0" err="1">
                <a:solidFill>
                  <a:schemeClr val="accent6"/>
                </a:solidFill>
              </a:rPr>
              <a:t>WeakReference</a:t>
            </a:r>
            <a:r>
              <a:rPr lang="en-US" sz="1500" kern="0" spc="-220" dirty="0">
                <a:solidFill>
                  <a:schemeClr val="accent6"/>
                </a:solidFill>
              </a:rPr>
              <a:t>&lt;T&gt;	Observers, plugins</a:t>
            </a:r>
          </a:p>
          <a:p>
            <a:r>
              <a:rPr lang="en-US" sz="1500" kern="0" spc="-220" dirty="0" err="1">
                <a:solidFill>
                  <a:schemeClr val="accent6"/>
                </a:solidFill>
              </a:rPr>
              <a:t>ConditionalWeakTable</a:t>
            </a:r>
            <a:r>
              <a:rPr lang="en-US" sz="1500" kern="0" spc="-220" dirty="0">
                <a:solidFill>
                  <a:schemeClr val="accent6"/>
                </a:solidFill>
              </a:rPr>
              <a:t>	Metadata</a:t>
            </a:r>
          </a:p>
          <a:p>
            <a:r>
              <a:rPr lang="en-US" sz="1500" kern="0" spc="-220" dirty="0" err="1">
                <a:solidFill>
                  <a:schemeClr val="accent6"/>
                </a:solidFill>
              </a:rPr>
              <a:t>IDisposable</a:t>
            </a:r>
            <a:r>
              <a:rPr lang="en-US" sz="1500" kern="0" spc="-220" dirty="0">
                <a:solidFill>
                  <a:schemeClr val="accent6"/>
                </a:solidFill>
              </a:rPr>
              <a:t>	                            Event cleanup</a:t>
            </a:r>
          </a:p>
          <a:p>
            <a:r>
              <a:rPr lang="en-US" sz="1500" kern="0" spc="-220" dirty="0" err="1">
                <a:solidFill>
                  <a:schemeClr val="accent6"/>
                </a:solidFill>
              </a:rPr>
              <a:t>CancellationToken</a:t>
            </a:r>
            <a:r>
              <a:rPr lang="en-US" sz="1500" kern="0" spc="-220" dirty="0">
                <a:solidFill>
                  <a:schemeClr val="accent6"/>
                </a:solidFill>
              </a:rPr>
              <a:t>	Async/thread lifetime</a:t>
            </a:r>
          </a:p>
          <a:p>
            <a:r>
              <a:rPr lang="en-US" sz="1500" kern="0" spc="-220" dirty="0">
                <a:solidFill>
                  <a:schemeClr val="accent6"/>
                </a:solidFill>
              </a:rPr>
              <a:t>Scoped DI	                            Ownership clarity</a:t>
            </a:r>
          </a:p>
        </p:txBody>
      </p:sp>
    </p:spTree>
    <p:extLst>
      <p:ext uri="{BB962C8B-B14F-4D97-AF65-F5344CB8AC3E}">
        <p14:creationId xmlns:p14="http://schemas.microsoft.com/office/powerpoint/2010/main" val="88320314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9CABE-8AA1-69F9-9CB5-F0D74A2CFB4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C4FCC6E-0868-B997-0C4C-0C612EDE28C2}"/>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37FBB3C-B3F2-B3DC-4869-E4E3EB1D3995}"/>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E30AB6E-78E5-59D8-A58A-4FBBDEB956DE}"/>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7CC31E9E-64DF-D513-F168-852AF6733A25}"/>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E94E6CE1-EADE-BAA7-3B7D-90E5A678209B}"/>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B59F34EF-16E0-5EE9-008F-5D692DE6759C}"/>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8400D82A-E969-3D96-4713-C942814C4B14}"/>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E58B70BC-819C-B75C-0F40-162D5CCE3AA3}"/>
              </a:ext>
            </a:extLst>
          </p:cNvPr>
          <p:cNvSpPr txBox="1">
            <a:spLocks/>
          </p:cNvSpPr>
          <p:nvPr/>
        </p:nvSpPr>
        <p:spPr>
          <a:xfrm>
            <a:off x="366663" y="1143000"/>
            <a:ext cx="8624937"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GC Algos</a:t>
            </a:r>
          </a:p>
          <a:p>
            <a:pPr algn="l"/>
            <a:endParaRPr lang="en-US" sz="2000" kern="0" spc="-220" dirty="0">
              <a:solidFill>
                <a:schemeClr val="accent2"/>
              </a:solidFill>
            </a:endParaRPr>
          </a:p>
        </p:txBody>
      </p:sp>
      <p:pic>
        <p:nvPicPr>
          <p:cNvPr id="11" name="Picture 10">
            <a:extLst>
              <a:ext uri="{FF2B5EF4-FFF2-40B4-BE49-F238E27FC236}">
                <a16:creationId xmlns:a16="http://schemas.microsoft.com/office/drawing/2014/main" id="{9F5CFD73-737C-780F-3800-9C530C46029F}"/>
              </a:ext>
            </a:extLst>
          </p:cNvPr>
          <p:cNvPicPr>
            <a:picLocks noChangeAspect="1"/>
          </p:cNvPicPr>
          <p:nvPr/>
        </p:nvPicPr>
        <p:blipFill>
          <a:blip r:embed="rId7"/>
          <a:stretch>
            <a:fillRect/>
          </a:stretch>
        </p:blipFill>
        <p:spPr>
          <a:xfrm>
            <a:off x="290464" y="1561464"/>
            <a:ext cx="8624936" cy="4229736"/>
          </a:xfrm>
          <a:prstGeom prst="rect">
            <a:avLst/>
          </a:prstGeom>
        </p:spPr>
      </p:pic>
    </p:spTree>
    <p:extLst>
      <p:ext uri="{BB962C8B-B14F-4D97-AF65-F5344CB8AC3E}">
        <p14:creationId xmlns:p14="http://schemas.microsoft.com/office/powerpoint/2010/main" val="361738980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553D2-980B-DCD3-D7F2-39445EE28EB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3F2E133-057A-A3EB-F2A5-1C244C34636B}"/>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87493AB-4695-8625-DE22-981AC4572BDF}"/>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D092EC2-3DA9-46A7-7BA6-AC61C93B96D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00A14D46-47B1-AC5A-A4A1-6DBBBE23F522}"/>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6EB6B1F8-52B5-78A4-6A65-50CB78E0DFAE}"/>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C23AD775-139C-D905-35E4-980441AEB307}"/>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C0D9D2AE-D49C-87C1-25B9-15078BB18707}"/>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C350E17D-975B-99E9-E576-CEE2CB48F33B}"/>
              </a:ext>
            </a:extLst>
          </p:cNvPr>
          <p:cNvSpPr txBox="1">
            <a:spLocks/>
          </p:cNvSpPr>
          <p:nvPr/>
        </p:nvSpPr>
        <p:spPr>
          <a:xfrm>
            <a:off x="366663" y="1143000"/>
            <a:ext cx="8624937"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GC Algos</a:t>
            </a:r>
          </a:p>
          <a:p>
            <a:pPr algn="l"/>
            <a:endParaRPr lang="en-US" sz="2000" kern="0" spc="-220" dirty="0">
              <a:solidFill>
                <a:schemeClr val="accent2"/>
              </a:solidFill>
            </a:endParaRPr>
          </a:p>
        </p:txBody>
      </p:sp>
      <p:pic>
        <p:nvPicPr>
          <p:cNvPr id="12" name="Picture 11">
            <a:extLst>
              <a:ext uri="{FF2B5EF4-FFF2-40B4-BE49-F238E27FC236}">
                <a16:creationId xmlns:a16="http://schemas.microsoft.com/office/drawing/2014/main" id="{84D5AAAA-B2E4-0B9F-41E3-20DBD9DBA16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81903" y="1520750"/>
            <a:ext cx="8486797" cy="4346650"/>
          </a:xfrm>
          <a:prstGeom prst="rect">
            <a:avLst/>
          </a:prstGeom>
        </p:spPr>
      </p:pic>
    </p:spTree>
    <p:extLst>
      <p:ext uri="{BB962C8B-B14F-4D97-AF65-F5344CB8AC3E}">
        <p14:creationId xmlns:p14="http://schemas.microsoft.com/office/powerpoint/2010/main" val="353012932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1D67C-0448-861C-CA64-F59C93726FB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07BF05A-2282-AB3C-1E68-D43CCE50D91E}"/>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C470E0C-6BFA-49F2-49C3-11D6EEB05BF6}"/>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181A0E7-F2E8-466A-0112-CF1C14A83C33}"/>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00DA21CB-15C4-F50D-7CF2-E7E45B08A76C}"/>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B08DFABC-035C-284B-F74B-9598BDF85E4E}"/>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326E053B-F81B-F6BF-6835-22A757A7CFBB}"/>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1B5175D6-217E-044F-81CE-CF467FD54306}"/>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59D614DD-CA51-AEAF-2432-33E29CDC0877}"/>
              </a:ext>
            </a:extLst>
          </p:cNvPr>
          <p:cNvSpPr txBox="1">
            <a:spLocks/>
          </p:cNvSpPr>
          <p:nvPr/>
        </p:nvSpPr>
        <p:spPr>
          <a:xfrm>
            <a:off x="366663" y="1143000"/>
            <a:ext cx="8624937" cy="42319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GC Allocation and Pauses </a:t>
            </a:r>
            <a:r>
              <a:rPr lang="en-US" sz="2000" kern="0" spc="-220" dirty="0" err="1">
                <a:solidFill>
                  <a:schemeClr val="accent2"/>
                </a:solidFill>
              </a:rPr>
              <a:t>Minimisation</a:t>
            </a:r>
            <a:endParaRPr lang="en-US" sz="2000" kern="0" spc="-220" dirty="0">
              <a:solidFill>
                <a:schemeClr val="accent2"/>
              </a:solidFill>
            </a:endParaRPr>
          </a:p>
          <a:p>
            <a:r>
              <a:rPr lang="en-US" sz="1500" kern="0" spc="-220" dirty="0">
                <a:solidFill>
                  <a:schemeClr val="accent2"/>
                </a:solidFill>
              </a:rPr>
              <a:t>Mental model first (important).    </a:t>
            </a:r>
            <a:r>
              <a:rPr lang="en-US" sz="1500" kern="0" spc="-220" dirty="0">
                <a:solidFill>
                  <a:schemeClr val="accent6"/>
                </a:solidFill>
              </a:rPr>
              <a:t>  </a:t>
            </a:r>
          </a:p>
          <a:p>
            <a:r>
              <a:rPr lang="en-US" sz="1500" kern="0" spc="-220" dirty="0">
                <a:solidFill>
                  <a:schemeClr val="accent6"/>
                </a:solidFill>
              </a:rPr>
              <a:t>You don’t “optimize GC”.          </a:t>
            </a:r>
          </a:p>
          <a:p>
            <a:r>
              <a:rPr lang="en-US" sz="1500" kern="0" spc="-220" dirty="0">
                <a:solidFill>
                  <a:schemeClr val="accent6"/>
                </a:solidFill>
              </a:rPr>
              <a:t>You optimize object lifetime &amp; allocation rate.      </a:t>
            </a:r>
          </a:p>
          <a:p>
            <a:r>
              <a:rPr lang="en-US" sz="1500" kern="0" spc="-220" dirty="0">
                <a:solidFill>
                  <a:schemeClr val="accent2"/>
                </a:solidFill>
              </a:rPr>
              <a:t>GC pain comes from:       </a:t>
            </a:r>
          </a:p>
          <a:p>
            <a:r>
              <a:rPr lang="en-US" sz="1500" kern="0" spc="-220" dirty="0">
                <a:solidFill>
                  <a:schemeClr val="accent6"/>
                </a:solidFill>
              </a:rPr>
              <a:t>Too many allocations.         </a:t>
            </a:r>
          </a:p>
          <a:p>
            <a:r>
              <a:rPr lang="en-US" sz="1500" kern="0" spc="-220" dirty="0">
                <a:solidFill>
                  <a:schemeClr val="accent6"/>
                </a:solidFill>
              </a:rPr>
              <a:t>Long-lived objects.        </a:t>
            </a:r>
          </a:p>
          <a:p>
            <a:r>
              <a:rPr lang="en-US" sz="1500" kern="0" spc="-220" dirty="0">
                <a:solidFill>
                  <a:schemeClr val="accent6"/>
                </a:solidFill>
              </a:rPr>
              <a:t>Large objects (LOH).       </a:t>
            </a:r>
          </a:p>
          <a:p>
            <a:r>
              <a:rPr lang="en-US" sz="1500" kern="0" spc="-220" dirty="0">
                <a:solidFill>
                  <a:schemeClr val="accent6"/>
                </a:solidFill>
              </a:rPr>
              <a:t>High allocation rate under load.        </a:t>
            </a:r>
          </a:p>
          <a:p>
            <a:r>
              <a:rPr lang="en-US" sz="1500" kern="0" spc="-220" dirty="0">
                <a:solidFill>
                  <a:schemeClr val="accent2"/>
                </a:solidFill>
              </a:rPr>
              <a:t>1️⃣ Reduce allocations (highest ROI).      </a:t>
            </a:r>
          </a:p>
          <a:p>
            <a:r>
              <a:rPr lang="en-US" sz="1500" kern="0" spc="-220" dirty="0">
                <a:solidFill>
                  <a:schemeClr val="accent2"/>
                </a:solidFill>
              </a:rPr>
              <a:t>🔹 Avoid per-request / per-message allocations.       </a:t>
            </a:r>
          </a:p>
          <a:p>
            <a:r>
              <a:rPr lang="en-US" sz="1500" kern="0" spc="-220" dirty="0">
                <a:solidFill>
                  <a:schemeClr val="accent6"/>
                </a:solidFill>
              </a:rPr>
              <a:t>Common culprits:         </a:t>
            </a:r>
          </a:p>
          <a:p>
            <a:r>
              <a:rPr lang="en-US" sz="1500" kern="0" spc="-220" dirty="0">
                <a:solidFill>
                  <a:schemeClr val="accent6"/>
                </a:solidFill>
              </a:rPr>
              <a:t>new objects in hot paths.        </a:t>
            </a:r>
          </a:p>
          <a:p>
            <a:r>
              <a:rPr lang="en-US" sz="1500" kern="0" spc="-220" dirty="0">
                <a:solidFill>
                  <a:schemeClr val="accent6"/>
                </a:solidFill>
              </a:rPr>
              <a:t>LINQ.       </a:t>
            </a:r>
          </a:p>
          <a:p>
            <a:r>
              <a:rPr lang="en-US" sz="1500" kern="0" spc="-220" dirty="0">
                <a:solidFill>
                  <a:schemeClr val="accent6"/>
                </a:solidFill>
              </a:rPr>
              <a:t>string concatenation.      </a:t>
            </a:r>
          </a:p>
          <a:p>
            <a:r>
              <a:rPr lang="en-US" sz="1500" kern="0" spc="-220" dirty="0">
                <a:solidFill>
                  <a:schemeClr val="accent6"/>
                </a:solidFill>
              </a:rPr>
              <a:t>closures / lambdas capturing variables.         </a:t>
            </a:r>
          </a:p>
          <a:p>
            <a:r>
              <a:rPr lang="en-US" sz="1500" kern="0" spc="-220" dirty="0">
                <a:solidFill>
                  <a:schemeClr val="accent2"/>
                </a:solidFill>
              </a:rPr>
              <a:t>❌ Bad:      </a:t>
            </a:r>
          </a:p>
          <a:p>
            <a:r>
              <a:rPr lang="en-US" sz="1500" kern="0" spc="-220" dirty="0" err="1">
                <a:solidFill>
                  <a:schemeClr val="accent6"/>
                </a:solidFill>
              </a:rPr>
              <a:t>messages.Select</a:t>
            </a:r>
            <a:r>
              <a:rPr lang="en-US" sz="1500" kern="0" spc="-220" dirty="0">
                <a:solidFill>
                  <a:schemeClr val="accent6"/>
                </a:solidFill>
              </a:rPr>
              <a:t>(m =&gt; Process(m)).</a:t>
            </a:r>
            <a:r>
              <a:rPr lang="en-US" sz="1500" kern="0" spc="-220" dirty="0" err="1">
                <a:solidFill>
                  <a:schemeClr val="accent6"/>
                </a:solidFill>
              </a:rPr>
              <a:t>ToList</a:t>
            </a:r>
            <a:r>
              <a:rPr lang="en-US" sz="1500" kern="0" spc="-220" dirty="0">
                <a:solidFill>
                  <a:schemeClr val="accent6"/>
                </a:solidFill>
              </a:rPr>
              <a:t>();      </a:t>
            </a:r>
          </a:p>
        </p:txBody>
      </p:sp>
    </p:spTree>
    <p:extLst>
      <p:ext uri="{BB962C8B-B14F-4D97-AF65-F5344CB8AC3E}">
        <p14:creationId xmlns:p14="http://schemas.microsoft.com/office/powerpoint/2010/main" val="341106222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EA443-F63B-D5F4-FF9C-6B379383F74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5186D44-6A82-2EF7-5CC3-451B92364F8A}"/>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2643F45-9700-1AAC-82D7-9D20601B739B}"/>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DE8E264-9940-F0B4-ED2C-2D7162F0406E}"/>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53FE5690-1634-E253-4B77-70BC0E2145AE}"/>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C0BA5921-56FC-520D-E9B2-B748624AEC7E}"/>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A028D376-7458-2E10-B9A1-207E234C2216}"/>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BB8954EB-28B0-50A6-9994-7B8E01831DDF}"/>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5BCF90FC-FF62-8B7F-E556-E7251E01728E}"/>
              </a:ext>
            </a:extLst>
          </p:cNvPr>
          <p:cNvSpPr txBox="1">
            <a:spLocks/>
          </p:cNvSpPr>
          <p:nvPr/>
        </p:nvSpPr>
        <p:spPr>
          <a:xfrm>
            <a:off x="366663" y="1143000"/>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GC Allocation and Pauses </a:t>
            </a:r>
            <a:r>
              <a:rPr lang="en-US" sz="2000" kern="0" spc="-220" dirty="0" err="1">
                <a:solidFill>
                  <a:schemeClr val="accent2"/>
                </a:solidFill>
              </a:rPr>
              <a:t>Minimisation</a:t>
            </a:r>
            <a:endParaRPr lang="en-US" sz="2000" kern="0" spc="-220" dirty="0">
              <a:solidFill>
                <a:schemeClr val="accent2"/>
              </a:solidFill>
            </a:endParaRPr>
          </a:p>
          <a:p>
            <a:r>
              <a:rPr lang="en-US" sz="1500" kern="0" spc="-220" dirty="0">
                <a:solidFill>
                  <a:schemeClr val="accent2"/>
                </a:solidFill>
              </a:rPr>
              <a:t>✅ Better:      </a:t>
            </a:r>
          </a:p>
          <a:p>
            <a:r>
              <a:rPr lang="en-US" sz="1500" kern="0" spc="-220" dirty="0">
                <a:solidFill>
                  <a:schemeClr val="accent6"/>
                </a:solidFill>
              </a:rPr>
              <a:t>foreach (var m in messages).     </a:t>
            </a:r>
          </a:p>
          <a:p>
            <a:r>
              <a:rPr lang="en-US" sz="1500" kern="0" spc="-220" dirty="0">
                <a:solidFill>
                  <a:schemeClr val="accent6"/>
                </a:solidFill>
              </a:rPr>
              <a:t>{.      </a:t>
            </a:r>
          </a:p>
          <a:p>
            <a:r>
              <a:rPr lang="en-US" sz="1500" kern="0" spc="-220" dirty="0">
                <a:solidFill>
                  <a:schemeClr val="accent6"/>
                </a:solidFill>
              </a:rPr>
              <a:t>    Process(m);      </a:t>
            </a:r>
          </a:p>
          <a:p>
            <a:r>
              <a:rPr lang="en-US" sz="1500" kern="0" spc="-220" dirty="0">
                <a:solidFill>
                  <a:schemeClr val="accent6"/>
                </a:solidFill>
              </a:rPr>
              <a:t>}.     </a:t>
            </a:r>
          </a:p>
          <a:p>
            <a:r>
              <a:rPr lang="en-US" sz="1500" kern="0" spc="-220" dirty="0">
                <a:solidFill>
                  <a:schemeClr val="accent2"/>
                </a:solidFill>
              </a:rPr>
              <a:t>🔹 Use struct carefully.         </a:t>
            </a:r>
          </a:p>
          <a:p>
            <a:r>
              <a:rPr lang="en-US" sz="1500" kern="0" spc="-220" dirty="0">
                <a:solidFill>
                  <a:schemeClr val="accent2"/>
                </a:solidFill>
              </a:rPr>
              <a:t>Good for:       </a:t>
            </a:r>
          </a:p>
          <a:p>
            <a:r>
              <a:rPr lang="en-US" sz="1500" kern="0" spc="-220" dirty="0">
                <a:solidFill>
                  <a:schemeClr val="accent6"/>
                </a:solidFill>
              </a:rPr>
              <a:t>Small, immutable, short-lived data.       </a:t>
            </a:r>
          </a:p>
          <a:p>
            <a:r>
              <a:rPr lang="en-US" sz="1500" kern="0" spc="-220" dirty="0">
                <a:solidFill>
                  <a:schemeClr val="accent6"/>
                </a:solidFill>
              </a:rPr>
              <a:t>No boxing.         </a:t>
            </a:r>
          </a:p>
          <a:p>
            <a:r>
              <a:rPr lang="en-US" sz="1500" kern="0" spc="-220" dirty="0">
                <a:solidFill>
                  <a:schemeClr val="accent6"/>
                </a:solidFill>
              </a:rPr>
              <a:t>Passed by ref.         </a:t>
            </a:r>
          </a:p>
          <a:p>
            <a:r>
              <a:rPr lang="en-US" sz="1500" kern="0" spc="-220" dirty="0">
                <a:solidFill>
                  <a:schemeClr val="accent2"/>
                </a:solidFill>
              </a:rPr>
              <a:t>❌ Bad struct:        </a:t>
            </a:r>
            <a:r>
              <a:rPr lang="en-US" sz="1500" kern="0" spc="-220" dirty="0">
                <a:solidFill>
                  <a:schemeClr val="accent6"/>
                </a:solidFill>
              </a:rPr>
              <a:t>    </a:t>
            </a:r>
          </a:p>
          <a:p>
            <a:r>
              <a:rPr lang="en-US" sz="1500" kern="0" spc="-220" dirty="0">
                <a:solidFill>
                  <a:schemeClr val="accent6"/>
                </a:solidFill>
              </a:rPr>
              <a:t>Large (&gt;16–32 bytes).             </a:t>
            </a:r>
          </a:p>
          <a:p>
            <a:r>
              <a:rPr lang="en-US" sz="1500" kern="0" spc="-220" dirty="0">
                <a:solidFill>
                  <a:schemeClr val="accent6"/>
                </a:solidFill>
              </a:rPr>
              <a:t>Mutable.          </a:t>
            </a:r>
          </a:p>
          <a:p>
            <a:r>
              <a:rPr lang="en-US" sz="1500" kern="0" spc="-220" dirty="0">
                <a:solidFill>
                  <a:schemeClr val="accent6"/>
                </a:solidFill>
              </a:rPr>
              <a:t>Stored in collections.         </a:t>
            </a:r>
          </a:p>
          <a:p>
            <a:r>
              <a:rPr lang="en-US" sz="1500" kern="0" spc="-220" dirty="0">
                <a:solidFill>
                  <a:schemeClr val="accent2"/>
                </a:solidFill>
              </a:rPr>
              <a:t>🔹 Prefer stack allocation.      </a:t>
            </a:r>
          </a:p>
          <a:p>
            <a:r>
              <a:rPr lang="en-US" sz="1500" kern="0" spc="-220" dirty="0">
                <a:solidFill>
                  <a:schemeClr val="accent6"/>
                </a:solidFill>
              </a:rPr>
              <a:t>Span&lt;byte&gt; buffer = </a:t>
            </a:r>
            <a:r>
              <a:rPr lang="en-US" sz="1500" kern="0" spc="-220" dirty="0" err="1">
                <a:solidFill>
                  <a:schemeClr val="accent6"/>
                </a:solidFill>
              </a:rPr>
              <a:t>stackalloc</a:t>
            </a:r>
            <a:r>
              <a:rPr lang="en-US" sz="1500" kern="0" spc="-220" dirty="0">
                <a:solidFill>
                  <a:schemeClr val="accent6"/>
                </a:solidFill>
              </a:rPr>
              <a:t> byte[256];  </a:t>
            </a:r>
          </a:p>
          <a:p>
            <a:r>
              <a:rPr lang="en-US" sz="1500" kern="0" spc="-220" dirty="0">
                <a:solidFill>
                  <a:schemeClr val="accent2"/>
                </a:solidFill>
              </a:rPr>
              <a:t>Use for:     </a:t>
            </a:r>
            <a:r>
              <a:rPr lang="en-US" sz="1500" kern="0" spc="-220" dirty="0">
                <a:solidFill>
                  <a:schemeClr val="accent6"/>
                </a:solidFill>
              </a:rPr>
              <a:t>   </a:t>
            </a:r>
          </a:p>
          <a:p>
            <a:r>
              <a:rPr lang="en-US" sz="1500" kern="0" spc="-220" dirty="0">
                <a:solidFill>
                  <a:schemeClr val="accent6"/>
                </a:solidFill>
              </a:rPr>
              <a:t>Parsing.      </a:t>
            </a:r>
          </a:p>
          <a:p>
            <a:r>
              <a:rPr lang="en-US" sz="1500" kern="0" spc="-220" dirty="0">
                <a:solidFill>
                  <a:schemeClr val="accent6"/>
                </a:solidFill>
              </a:rPr>
              <a:t>Serialization.        </a:t>
            </a:r>
          </a:p>
          <a:p>
            <a:r>
              <a:rPr lang="en-US" sz="1500" kern="0" spc="-220" dirty="0">
                <a:solidFill>
                  <a:schemeClr val="accent6"/>
                </a:solidFill>
              </a:rPr>
              <a:t>Temporary buffers.       </a:t>
            </a:r>
          </a:p>
        </p:txBody>
      </p:sp>
    </p:spTree>
    <p:extLst>
      <p:ext uri="{BB962C8B-B14F-4D97-AF65-F5344CB8AC3E}">
        <p14:creationId xmlns:p14="http://schemas.microsoft.com/office/powerpoint/2010/main" val="239506422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C7E30-43E2-019C-6900-5D66F38FC8F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AA4EA02-79AC-EEE6-625A-56AE7FA36528}"/>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542F340-CD07-ACD3-B4C0-4B537EA546CA}"/>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BAB8203-F057-0903-3BC9-FB01E453F179}"/>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F50173B0-48E9-F8B0-85F5-45337D5A7279}"/>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66EABD71-9A7B-9E18-BC05-81020FE00C2B}"/>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F0EC5034-2A6D-6F0B-31AD-BD3469DD3B70}"/>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5B7B4702-29FA-22CF-7E15-88158C61632A}"/>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10298D4B-8542-0C3C-782B-DEF0322C2677}"/>
              </a:ext>
            </a:extLst>
          </p:cNvPr>
          <p:cNvSpPr txBox="1">
            <a:spLocks/>
          </p:cNvSpPr>
          <p:nvPr/>
        </p:nvSpPr>
        <p:spPr>
          <a:xfrm>
            <a:off x="366663" y="1143000"/>
            <a:ext cx="8624937" cy="46935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GC Allocation and Pauses </a:t>
            </a:r>
            <a:r>
              <a:rPr lang="en-US" sz="2000" kern="0" spc="-220" dirty="0" err="1">
                <a:solidFill>
                  <a:schemeClr val="accent2"/>
                </a:solidFill>
              </a:rPr>
              <a:t>Minimisation</a:t>
            </a:r>
            <a:endParaRPr lang="en-US" sz="2000" kern="0" spc="-220" dirty="0">
              <a:solidFill>
                <a:schemeClr val="accent2"/>
              </a:solidFill>
            </a:endParaRPr>
          </a:p>
          <a:p>
            <a:r>
              <a:rPr lang="en-US" sz="1500" kern="0" spc="-220" dirty="0">
                <a:solidFill>
                  <a:schemeClr val="accent2"/>
                </a:solidFill>
              </a:rPr>
              <a:t>2️⃣ Object pooling (huge in servers).     </a:t>
            </a:r>
          </a:p>
          <a:p>
            <a:r>
              <a:rPr lang="en-US" sz="1500" kern="0" spc="-220" dirty="0">
                <a:solidFill>
                  <a:schemeClr val="accent6"/>
                </a:solidFill>
              </a:rPr>
              <a:t>🔹 Pool expensive or frequent objects.     </a:t>
            </a:r>
          </a:p>
          <a:p>
            <a:r>
              <a:rPr lang="en-US" sz="1500" kern="0" spc="-220" dirty="0">
                <a:solidFill>
                  <a:schemeClr val="accent2"/>
                </a:solidFill>
              </a:rPr>
              <a:t>Examples:      </a:t>
            </a:r>
          </a:p>
          <a:p>
            <a:r>
              <a:rPr lang="en-US" sz="1500" kern="0" spc="-220" dirty="0">
                <a:solidFill>
                  <a:schemeClr val="accent6"/>
                </a:solidFill>
              </a:rPr>
              <a:t>Buffers.     </a:t>
            </a:r>
          </a:p>
          <a:p>
            <a:r>
              <a:rPr lang="en-US" sz="1500" kern="0" spc="-220" dirty="0">
                <a:solidFill>
                  <a:schemeClr val="accent6"/>
                </a:solidFill>
              </a:rPr>
              <a:t>Message envelopes.       </a:t>
            </a:r>
          </a:p>
          <a:p>
            <a:r>
              <a:rPr lang="en-US" sz="1500" kern="0" spc="-220" dirty="0">
                <a:solidFill>
                  <a:schemeClr val="accent6"/>
                </a:solidFill>
              </a:rPr>
              <a:t>DTOs.      </a:t>
            </a:r>
          </a:p>
          <a:p>
            <a:r>
              <a:rPr lang="en-US" sz="1500" kern="0" spc="-220" dirty="0">
                <a:solidFill>
                  <a:schemeClr val="accent6"/>
                </a:solidFill>
              </a:rPr>
              <a:t>Serialization objects.       </a:t>
            </a:r>
          </a:p>
          <a:p>
            <a:r>
              <a:rPr lang="en-US" sz="1500" kern="0" spc="-220" dirty="0">
                <a:solidFill>
                  <a:schemeClr val="accent2"/>
                </a:solidFill>
              </a:rPr>
              <a:t>Use:       </a:t>
            </a:r>
          </a:p>
          <a:p>
            <a:r>
              <a:rPr lang="en-US" sz="1500" kern="0" spc="-220" dirty="0" err="1">
                <a:solidFill>
                  <a:schemeClr val="accent6"/>
                </a:solidFill>
              </a:rPr>
              <a:t>ArrayPool</a:t>
            </a:r>
            <a:r>
              <a:rPr lang="en-US" sz="1500" kern="0" spc="-220" dirty="0">
                <a:solidFill>
                  <a:schemeClr val="accent6"/>
                </a:solidFill>
              </a:rPr>
              <a:t>&lt;T&gt;.      </a:t>
            </a:r>
          </a:p>
          <a:p>
            <a:r>
              <a:rPr lang="en-US" sz="1500" kern="0" spc="-220" dirty="0" err="1">
                <a:solidFill>
                  <a:schemeClr val="accent6"/>
                </a:solidFill>
              </a:rPr>
              <a:t>ObjectPool</a:t>
            </a:r>
            <a:r>
              <a:rPr lang="en-US" sz="1500" kern="0" spc="-220" dirty="0">
                <a:solidFill>
                  <a:schemeClr val="accent6"/>
                </a:solidFill>
              </a:rPr>
              <a:t>&lt;T&gt;     (</a:t>
            </a:r>
            <a:r>
              <a:rPr lang="en-US" sz="1500" kern="0" spc="-220" dirty="0" err="1">
                <a:solidFill>
                  <a:schemeClr val="accent6"/>
                </a:solidFill>
              </a:rPr>
              <a:t>Microsoft.Extensions.ObjectPool</a:t>
            </a:r>
            <a:r>
              <a:rPr lang="en-US" sz="1500" kern="0" spc="-220" dirty="0">
                <a:solidFill>
                  <a:schemeClr val="accent6"/>
                </a:solidFill>
              </a:rPr>
              <a:t>)</a:t>
            </a:r>
          </a:p>
          <a:p>
            <a:r>
              <a:rPr lang="en-US" sz="1500" kern="0" spc="-220" dirty="0">
                <a:solidFill>
                  <a:schemeClr val="accent6"/>
                </a:solidFill>
              </a:rPr>
              <a:t>var buffer =     </a:t>
            </a:r>
            <a:r>
              <a:rPr lang="en-US" sz="1500" kern="0" spc="-220" dirty="0" err="1">
                <a:solidFill>
                  <a:schemeClr val="accent6"/>
                </a:solidFill>
              </a:rPr>
              <a:t>ArrayPool</a:t>
            </a:r>
            <a:r>
              <a:rPr lang="en-US" sz="1500" kern="0" spc="-220" dirty="0">
                <a:solidFill>
                  <a:schemeClr val="accent6"/>
                </a:solidFill>
              </a:rPr>
              <a:t>&lt;byte&gt;.</a:t>
            </a:r>
            <a:r>
              <a:rPr lang="en-US" sz="1500" kern="0" spc="-220" dirty="0" err="1">
                <a:solidFill>
                  <a:schemeClr val="accent6"/>
                </a:solidFill>
              </a:rPr>
              <a:t>Shared.Rent</a:t>
            </a:r>
            <a:r>
              <a:rPr lang="en-US" sz="1500" kern="0" spc="-220" dirty="0">
                <a:solidFill>
                  <a:schemeClr val="accent6"/>
                </a:solidFill>
              </a:rPr>
              <a:t>(4096);       </a:t>
            </a:r>
          </a:p>
          <a:p>
            <a:r>
              <a:rPr lang="en-US" sz="1500" kern="0" spc="-220" dirty="0">
                <a:solidFill>
                  <a:schemeClr val="accent6"/>
                </a:solidFill>
              </a:rPr>
              <a:t>try</a:t>
            </a:r>
          </a:p>
          <a:p>
            <a:r>
              <a:rPr lang="en-US" sz="1500" kern="0" spc="-220" dirty="0">
                <a:solidFill>
                  <a:schemeClr val="accent6"/>
                </a:solidFill>
              </a:rPr>
              <a:t>{</a:t>
            </a:r>
          </a:p>
          <a:p>
            <a:r>
              <a:rPr lang="en-US" sz="1500" kern="0" spc="-220" dirty="0">
                <a:solidFill>
                  <a:schemeClr val="accent6"/>
                </a:solidFill>
              </a:rPr>
              <a:t>    // use buffer</a:t>
            </a:r>
          </a:p>
          <a:p>
            <a:r>
              <a:rPr lang="en-US" sz="1500" kern="0" spc="-220" dirty="0">
                <a:solidFill>
                  <a:schemeClr val="accent6"/>
                </a:solidFill>
              </a:rPr>
              <a:t>}</a:t>
            </a:r>
          </a:p>
          <a:p>
            <a:r>
              <a:rPr lang="en-US" sz="1500" kern="0" spc="-220" dirty="0">
                <a:solidFill>
                  <a:schemeClr val="accent6"/>
                </a:solidFill>
              </a:rPr>
              <a:t>finally</a:t>
            </a:r>
          </a:p>
          <a:p>
            <a:r>
              <a:rPr lang="en-US" sz="1500" kern="0" spc="-220" dirty="0">
                <a:solidFill>
                  <a:schemeClr val="accent6"/>
                </a:solidFill>
              </a:rPr>
              <a:t>{</a:t>
            </a:r>
          </a:p>
          <a:p>
            <a:r>
              <a:rPr lang="en-US" sz="1500" kern="0" spc="-220" dirty="0">
                <a:solidFill>
                  <a:schemeClr val="accent6"/>
                </a:solidFill>
              </a:rPr>
              <a:t>    </a:t>
            </a:r>
            <a:r>
              <a:rPr lang="en-US" sz="1500" kern="0" spc="-220" dirty="0" err="1">
                <a:solidFill>
                  <a:schemeClr val="accent6"/>
                </a:solidFill>
              </a:rPr>
              <a:t>ArrayPool</a:t>
            </a:r>
            <a:r>
              <a:rPr lang="en-US" sz="1500" kern="0" spc="-220" dirty="0">
                <a:solidFill>
                  <a:schemeClr val="accent6"/>
                </a:solidFill>
              </a:rPr>
              <a:t>&lt;byte&gt;.</a:t>
            </a:r>
            <a:r>
              <a:rPr lang="en-US" sz="1500" kern="0" spc="-220" dirty="0" err="1">
                <a:solidFill>
                  <a:schemeClr val="accent6"/>
                </a:solidFill>
              </a:rPr>
              <a:t>Shared.Return</a:t>
            </a:r>
            <a:r>
              <a:rPr lang="en-US" sz="1500" kern="0" spc="-220" dirty="0">
                <a:solidFill>
                  <a:schemeClr val="accent6"/>
                </a:solidFill>
              </a:rPr>
              <a:t>(buffer);</a:t>
            </a:r>
          </a:p>
          <a:p>
            <a:r>
              <a:rPr lang="en-US" sz="1500" kern="0" spc="-220" dirty="0">
                <a:solidFill>
                  <a:schemeClr val="accent6"/>
                </a:solidFill>
              </a:rPr>
              <a:t>}</a:t>
            </a:r>
          </a:p>
        </p:txBody>
      </p:sp>
    </p:spTree>
    <p:extLst>
      <p:ext uri="{BB962C8B-B14F-4D97-AF65-F5344CB8AC3E}">
        <p14:creationId xmlns:p14="http://schemas.microsoft.com/office/powerpoint/2010/main" val="129300864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85773-2BEE-5FAD-875A-8FE84270F00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91AF98C-38E8-8C92-DAEB-6EA1F90F125D}"/>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4AC33C5-8ACD-D076-A364-7F5F1F9D2DE5}"/>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2ADD056-8E13-E5BB-5B48-E94A2966A874}"/>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5034C3F-0682-3205-411E-8243758AAAC7}"/>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68512886-863F-D0C6-E65C-B2AD3F0E5A2F}"/>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FDA67F80-1721-8554-7B49-D3D552C2B470}"/>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C6C54F3C-E47F-9E3B-F53B-153C05E2148F}"/>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FA529EC4-47AF-7BEA-D762-5FFE072431F3}"/>
              </a:ext>
            </a:extLst>
          </p:cNvPr>
          <p:cNvSpPr txBox="1">
            <a:spLocks/>
          </p:cNvSpPr>
          <p:nvPr/>
        </p:nvSpPr>
        <p:spPr>
          <a:xfrm>
            <a:off x="366663" y="1143000"/>
            <a:ext cx="8624937" cy="46935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GC Allocation and Pauses </a:t>
            </a:r>
            <a:r>
              <a:rPr lang="en-US" sz="2000" kern="0" spc="-220" dirty="0" err="1">
                <a:solidFill>
                  <a:schemeClr val="accent2"/>
                </a:solidFill>
              </a:rPr>
              <a:t>Minimisation</a:t>
            </a:r>
            <a:endParaRPr lang="en-US" sz="2000" kern="0" spc="-220" dirty="0">
              <a:solidFill>
                <a:schemeClr val="accent2"/>
              </a:solidFill>
            </a:endParaRPr>
          </a:p>
          <a:p>
            <a:r>
              <a:rPr lang="en-US" sz="1500" kern="0" spc="-220" dirty="0">
                <a:solidFill>
                  <a:schemeClr val="accent2"/>
                </a:solidFill>
              </a:rPr>
              <a:t>2️⃣ Object pooling (huge in servers).     </a:t>
            </a:r>
          </a:p>
          <a:p>
            <a:r>
              <a:rPr lang="en-US" sz="1500" kern="0" spc="-220" dirty="0">
                <a:solidFill>
                  <a:schemeClr val="accent2"/>
                </a:solidFill>
              </a:rPr>
              <a:t>⚠️ Rules:         </a:t>
            </a:r>
          </a:p>
          <a:p>
            <a:r>
              <a:rPr lang="en-US" sz="1500" kern="0" spc="-220" dirty="0">
                <a:solidFill>
                  <a:schemeClr val="accent6"/>
                </a:solidFill>
              </a:rPr>
              <a:t>Always clear sensitive data.          </a:t>
            </a:r>
          </a:p>
          <a:p>
            <a:r>
              <a:rPr lang="en-US" sz="1500" kern="0" spc="-220" dirty="0">
                <a:solidFill>
                  <a:schemeClr val="accent6"/>
                </a:solidFill>
              </a:rPr>
              <a:t>Never retain pooled objects.          </a:t>
            </a:r>
          </a:p>
          <a:p>
            <a:r>
              <a:rPr lang="en-US" sz="1500" kern="0" spc="-220" dirty="0">
                <a:solidFill>
                  <a:schemeClr val="accent2"/>
                </a:solidFill>
              </a:rPr>
              <a:t>3️⃣ Control large objects (LOH = GC killer).    </a:t>
            </a:r>
          </a:p>
          <a:p>
            <a:r>
              <a:rPr lang="en-US" sz="1500" kern="0" spc="-220" dirty="0">
                <a:solidFill>
                  <a:schemeClr val="accent6"/>
                </a:solidFill>
              </a:rPr>
              <a:t>🔹 Avoid allocations &gt; 85 KB.      </a:t>
            </a:r>
          </a:p>
          <a:p>
            <a:r>
              <a:rPr lang="en-US" sz="1500" kern="0" spc="-220" dirty="0">
                <a:solidFill>
                  <a:schemeClr val="accent6"/>
                </a:solidFill>
              </a:rPr>
              <a:t>Anything ≥ ~85 KB goes to Large Object Heap.        </a:t>
            </a:r>
          </a:p>
          <a:p>
            <a:r>
              <a:rPr lang="en-US" sz="1500" kern="0" spc="-220" dirty="0">
                <a:solidFill>
                  <a:schemeClr val="accent2"/>
                </a:solidFill>
              </a:rPr>
              <a:t>Bad: </a:t>
            </a:r>
            <a:r>
              <a:rPr lang="en-US" sz="1500" kern="0" spc="-220" dirty="0">
                <a:solidFill>
                  <a:schemeClr val="accent6"/>
                </a:solidFill>
              </a:rPr>
              <a:t>       </a:t>
            </a:r>
          </a:p>
          <a:p>
            <a:r>
              <a:rPr lang="en-US" sz="1500" kern="0" spc="-220" dirty="0">
                <a:solidFill>
                  <a:schemeClr val="accent6"/>
                </a:solidFill>
              </a:rPr>
              <a:t>new byte[100_000].         </a:t>
            </a:r>
          </a:p>
          <a:p>
            <a:r>
              <a:rPr lang="en-US" sz="1500" kern="0" spc="-220" dirty="0">
                <a:solidFill>
                  <a:schemeClr val="accent6"/>
                </a:solidFill>
              </a:rPr>
              <a:t>Large strings.     </a:t>
            </a:r>
          </a:p>
          <a:p>
            <a:r>
              <a:rPr lang="en-US" sz="1500" kern="0" spc="-220" dirty="0">
                <a:solidFill>
                  <a:schemeClr val="accent6"/>
                </a:solidFill>
              </a:rPr>
              <a:t>Huge arrays per request.       </a:t>
            </a:r>
          </a:p>
          <a:p>
            <a:r>
              <a:rPr lang="en-US" sz="1500" kern="0" spc="-220" dirty="0">
                <a:solidFill>
                  <a:schemeClr val="accent2"/>
                </a:solidFill>
              </a:rPr>
              <a:t>Fixes:      </a:t>
            </a:r>
          </a:p>
          <a:p>
            <a:r>
              <a:rPr lang="en-US" sz="1500" kern="0" spc="-220" dirty="0">
                <a:solidFill>
                  <a:schemeClr val="accent6"/>
                </a:solidFill>
              </a:rPr>
              <a:t>Chunk data.      </a:t>
            </a:r>
          </a:p>
          <a:p>
            <a:r>
              <a:rPr lang="en-US" sz="1500" kern="0" spc="-220" dirty="0">
                <a:solidFill>
                  <a:schemeClr val="accent6"/>
                </a:solidFill>
              </a:rPr>
              <a:t>Reuse via pooling.      </a:t>
            </a:r>
          </a:p>
          <a:p>
            <a:r>
              <a:rPr lang="en-US" sz="1500" kern="0" spc="-220" dirty="0">
                <a:solidFill>
                  <a:schemeClr val="accent6"/>
                </a:solidFill>
              </a:rPr>
              <a:t>Stream instead of buffering.       </a:t>
            </a:r>
          </a:p>
          <a:p>
            <a:r>
              <a:rPr lang="en-US" sz="1500" kern="0" spc="-220" dirty="0">
                <a:solidFill>
                  <a:schemeClr val="accent2"/>
                </a:solidFill>
              </a:rPr>
              <a:t>4️⃣ Minimize string allocations.      </a:t>
            </a:r>
          </a:p>
          <a:p>
            <a:r>
              <a:rPr lang="en-US" sz="1500" kern="0" spc="-220" dirty="0">
                <a:solidFill>
                  <a:schemeClr val="accent6"/>
                </a:solidFill>
              </a:rPr>
              <a:t>🔹 Avoid string concatenation.        </a:t>
            </a:r>
          </a:p>
          <a:p>
            <a:r>
              <a:rPr lang="en-US" sz="1500" kern="0" spc="-220" dirty="0">
                <a:solidFill>
                  <a:schemeClr val="accent6"/>
                </a:solidFill>
              </a:rPr>
              <a:t>❌.       </a:t>
            </a:r>
          </a:p>
          <a:p>
            <a:r>
              <a:rPr lang="en-US" sz="1500" kern="0" spc="-220" dirty="0">
                <a:solidFill>
                  <a:schemeClr val="accent6"/>
                </a:solidFill>
              </a:rPr>
              <a:t>var s = a + ":" + b + ":" + c;     </a:t>
            </a:r>
          </a:p>
        </p:txBody>
      </p:sp>
    </p:spTree>
    <p:extLst>
      <p:ext uri="{BB962C8B-B14F-4D97-AF65-F5344CB8AC3E}">
        <p14:creationId xmlns:p14="http://schemas.microsoft.com/office/powerpoint/2010/main" val="150476700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D2B07-3CA8-5237-A722-B5FE5A3D43E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671E05A-3650-4EB5-2A90-1F7313365735}"/>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17F7B4C-FF65-3334-E9C4-6A82B4EF8D4A}"/>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61C147F-5731-446A-9BD1-FD46F7557649}"/>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2CB9C13C-394E-7A5B-8D3B-4DF4C40D497E}"/>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6F6BCEC6-F6EE-E574-0650-5663583D7E26}"/>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D20AA9A6-1630-48F1-36AA-1E3A6427DEA6}"/>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CAAC3D69-BE8D-A50D-82F9-0A672E951E42}"/>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78AC3605-BC86-9A10-DE97-8E74616215C1}"/>
              </a:ext>
            </a:extLst>
          </p:cNvPr>
          <p:cNvSpPr txBox="1">
            <a:spLocks/>
          </p:cNvSpPr>
          <p:nvPr/>
        </p:nvSpPr>
        <p:spPr>
          <a:xfrm>
            <a:off x="366663" y="1143000"/>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GC Allocation and Pauses </a:t>
            </a:r>
            <a:r>
              <a:rPr lang="en-US" sz="2000" kern="0" spc="-220" dirty="0" err="1">
                <a:solidFill>
                  <a:schemeClr val="accent2"/>
                </a:solidFill>
              </a:rPr>
              <a:t>Minimisation</a:t>
            </a:r>
            <a:endParaRPr lang="en-US" sz="2000" kern="0" spc="-220" dirty="0">
              <a:solidFill>
                <a:schemeClr val="accent2"/>
              </a:solidFill>
            </a:endParaRPr>
          </a:p>
          <a:p>
            <a:r>
              <a:rPr lang="en-US" sz="1500" kern="0" spc="-220" dirty="0">
                <a:solidFill>
                  <a:schemeClr val="accent2"/>
                </a:solidFill>
              </a:rPr>
              <a:t>4️⃣ Minimize string allocations.      </a:t>
            </a:r>
          </a:p>
          <a:p>
            <a:r>
              <a:rPr lang="en-US" sz="1500" kern="0" spc="-220" dirty="0">
                <a:solidFill>
                  <a:schemeClr val="accent6"/>
                </a:solidFill>
              </a:rPr>
              <a:t>✅</a:t>
            </a:r>
          </a:p>
          <a:p>
            <a:r>
              <a:rPr lang="en-US" sz="1500" kern="0" spc="-220" dirty="0">
                <a:solidFill>
                  <a:schemeClr val="accent6"/>
                </a:solidFill>
              </a:rPr>
              <a:t>var sb = new StringBuilder();         </a:t>
            </a:r>
          </a:p>
          <a:p>
            <a:r>
              <a:rPr lang="en-US" sz="1500" kern="0" spc="-220" dirty="0" err="1">
                <a:solidFill>
                  <a:schemeClr val="accent6"/>
                </a:solidFill>
              </a:rPr>
              <a:t>sb.Append</a:t>
            </a:r>
            <a:r>
              <a:rPr lang="en-US" sz="1500" kern="0" spc="-220" dirty="0">
                <a:solidFill>
                  <a:schemeClr val="accent6"/>
                </a:solidFill>
              </a:rPr>
              <a:t>(a).Append(':').Append(b).Append(':').Append(c);         </a:t>
            </a:r>
          </a:p>
          <a:p>
            <a:r>
              <a:rPr lang="en-US" sz="1500" kern="0" spc="-220" dirty="0">
                <a:solidFill>
                  <a:schemeClr val="accent2"/>
                </a:solidFill>
              </a:rPr>
              <a:t>Or even better:        </a:t>
            </a:r>
          </a:p>
          <a:p>
            <a:r>
              <a:rPr lang="en-US" sz="1500" kern="0" spc="-220" dirty="0">
                <a:solidFill>
                  <a:schemeClr val="accent6"/>
                </a:solidFill>
              </a:rPr>
              <a:t>Span&lt;char&gt; buffer = </a:t>
            </a:r>
            <a:r>
              <a:rPr lang="en-US" sz="1500" kern="0" spc="-220" dirty="0" err="1">
                <a:solidFill>
                  <a:schemeClr val="accent6"/>
                </a:solidFill>
              </a:rPr>
              <a:t>stackalloc</a:t>
            </a:r>
            <a:r>
              <a:rPr lang="en-US" sz="1500" kern="0" spc="-220" dirty="0">
                <a:solidFill>
                  <a:schemeClr val="accent6"/>
                </a:solidFill>
              </a:rPr>
              <a:t> char[64];            </a:t>
            </a:r>
          </a:p>
          <a:p>
            <a:r>
              <a:rPr lang="en-US" sz="1500" kern="0" spc="-220" dirty="0">
                <a:solidFill>
                  <a:schemeClr val="accent6"/>
                </a:solidFill>
              </a:rPr>
              <a:t>🔹 Use </a:t>
            </a:r>
            <a:r>
              <a:rPr lang="en-US" sz="1500" kern="0" spc="-220" dirty="0" err="1">
                <a:solidFill>
                  <a:schemeClr val="accent6"/>
                </a:solidFill>
              </a:rPr>
              <a:t>ReadOnlySpan</a:t>
            </a:r>
            <a:r>
              <a:rPr lang="en-US" sz="1500" kern="0" spc="-220" dirty="0">
                <a:solidFill>
                  <a:schemeClr val="accent6"/>
                </a:solidFill>
              </a:rPr>
              <a:t>&lt;char&gt; / Span&lt;char&gt;.      </a:t>
            </a:r>
          </a:p>
          <a:p>
            <a:r>
              <a:rPr lang="en-US" sz="1500" kern="0" spc="-220" dirty="0">
                <a:solidFill>
                  <a:schemeClr val="accent6"/>
                </a:solidFill>
              </a:rPr>
              <a:t>Parsing without allocations:             </a:t>
            </a:r>
          </a:p>
          <a:p>
            <a:r>
              <a:rPr lang="en-US" sz="1500" kern="0" spc="-220" dirty="0" err="1">
                <a:solidFill>
                  <a:schemeClr val="accent6"/>
                </a:solidFill>
              </a:rPr>
              <a:t>ReadOnlySpan</a:t>
            </a:r>
            <a:r>
              <a:rPr lang="en-US" sz="1500" kern="0" spc="-220" dirty="0">
                <a:solidFill>
                  <a:schemeClr val="accent6"/>
                </a:solidFill>
              </a:rPr>
              <a:t>&lt;char&gt; span = </a:t>
            </a:r>
            <a:r>
              <a:rPr lang="en-US" sz="1500" kern="0" spc="-220" dirty="0" err="1">
                <a:solidFill>
                  <a:schemeClr val="accent6"/>
                </a:solidFill>
              </a:rPr>
              <a:t>input.AsSpan</a:t>
            </a:r>
            <a:r>
              <a:rPr lang="en-US" sz="1500" kern="0" spc="-220" dirty="0">
                <a:solidFill>
                  <a:schemeClr val="accent6"/>
                </a:solidFill>
              </a:rPr>
              <a:t>();         </a:t>
            </a:r>
          </a:p>
          <a:p>
            <a:r>
              <a:rPr lang="en-US" sz="1500" kern="0" spc="-220" dirty="0">
                <a:solidFill>
                  <a:schemeClr val="accent2"/>
                </a:solidFill>
              </a:rPr>
              <a:t>Used heavily in:        </a:t>
            </a:r>
          </a:p>
          <a:p>
            <a:r>
              <a:rPr lang="en-US" sz="1500" kern="0" spc="-220" dirty="0">
                <a:solidFill>
                  <a:schemeClr val="accent6"/>
                </a:solidFill>
              </a:rPr>
              <a:t>JSON.       </a:t>
            </a:r>
          </a:p>
          <a:p>
            <a:r>
              <a:rPr lang="en-US" sz="1500" kern="0" spc="-220" dirty="0">
                <a:solidFill>
                  <a:schemeClr val="accent6"/>
                </a:solidFill>
              </a:rPr>
              <a:t>Protocol parsing.       </a:t>
            </a:r>
          </a:p>
          <a:p>
            <a:r>
              <a:rPr lang="en-US" sz="1500" kern="0" spc="-220" dirty="0">
                <a:solidFill>
                  <a:schemeClr val="accent6"/>
                </a:solidFill>
              </a:rPr>
              <a:t>Headers.       </a:t>
            </a:r>
          </a:p>
          <a:p>
            <a:r>
              <a:rPr lang="en-US" sz="1500" kern="0" spc="-220" dirty="0">
                <a:solidFill>
                  <a:schemeClr val="accent6"/>
                </a:solidFill>
              </a:rPr>
              <a:t>Routing logic.         </a:t>
            </a:r>
          </a:p>
          <a:p>
            <a:r>
              <a:rPr lang="en-US" sz="1500" kern="0" spc="-220" dirty="0">
                <a:solidFill>
                  <a:schemeClr val="accent2"/>
                </a:solidFill>
              </a:rPr>
              <a:t>5️⃣ Kill hidden allocations (very common)</a:t>
            </a:r>
          </a:p>
          <a:p>
            <a:r>
              <a:rPr lang="en-US" sz="1500" kern="0" spc="-220" dirty="0">
                <a:solidFill>
                  <a:schemeClr val="accent6"/>
                </a:solidFill>
              </a:rPr>
              <a:t>🔹 Watch for these silent allocators</a:t>
            </a:r>
          </a:p>
          <a:p>
            <a:r>
              <a:rPr lang="en-US" sz="1500" kern="0" spc="-220" dirty="0">
                <a:solidFill>
                  <a:schemeClr val="accent2"/>
                </a:solidFill>
              </a:rPr>
              <a:t>Feature	Hidden Allocation</a:t>
            </a:r>
          </a:p>
          <a:p>
            <a:r>
              <a:rPr lang="en-US" sz="1500" kern="0" spc="-220" dirty="0">
                <a:solidFill>
                  <a:schemeClr val="accent6"/>
                </a:solidFill>
              </a:rPr>
              <a:t>LINQ	Iterators, closures</a:t>
            </a:r>
          </a:p>
          <a:p>
            <a:r>
              <a:rPr lang="en-US" sz="1500" kern="0" spc="-220" dirty="0">
                <a:solidFill>
                  <a:schemeClr val="accent6"/>
                </a:solidFill>
              </a:rPr>
              <a:t>async/await	State machines</a:t>
            </a:r>
          </a:p>
          <a:p>
            <a:r>
              <a:rPr lang="en-US" sz="1500" kern="0" spc="-220" dirty="0">
                <a:solidFill>
                  <a:schemeClr val="accent6"/>
                </a:solidFill>
              </a:rPr>
              <a:t>Exceptions	Stack trace allocation</a:t>
            </a:r>
          </a:p>
        </p:txBody>
      </p:sp>
    </p:spTree>
    <p:extLst>
      <p:ext uri="{BB962C8B-B14F-4D97-AF65-F5344CB8AC3E}">
        <p14:creationId xmlns:p14="http://schemas.microsoft.com/office/powerpoint/2010/main" val="169783161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BD051-BC95-4F97-48E2-04AC7306543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ECD1380-87F2-3D10-B29F-D3826105285F}"/>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9F7BF69-A0A7-3B4F-57FA-29FA12D8581B}"/>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AC85700-F479-F984-0224-107375654DAC}"/>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36D7DE2F-655F-312E-3A0E-377D135D2AFD}"/>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E9B66B19-1494-EEFF-417C-B2C4BDB68DD1}"/>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3AB91035-EB3D-12D4-496C-2447EFC791E5}"/>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B68C9127-EEFC-808D-6A89-82244A049116}"/>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F927EBF5-D502-8024-905B-A9E6A3E83626}"/>
              </a:ext>
            </a:extLst>
          </p:cNvPr>
          <p:cNvSpPr txBox="1">
            <a:spLocks/>
          </p:cNvSpPr>
          <p:nvPr/>
        </p:nvSpPr>
        <p:spPr>
          <a:xfrm>
            <a:off x="366663" y="1143000"/>
            <a:ext cx="8624937" cy="46935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GC Allocation and Pauses </a:t>
            </a:r>
            <a:r>
              <a:rPr lang="en-US" sz="2000" kern="0" spc="-220" dirty="0" err="1">
                <a:solidFill>
                  <a:schemeClr val="accent2"/>
                </a:solidFill>
              </a:rPr>
              <a:t>Minimisation</a:t>
            </a:r>
            <a:endParaRPr lang="en-US" sz="2000" kern="0" spc="-220" dirty="0">
              <a:solidFill>
                <a:schemeClr val="accent2"/>
              </a:solidFill>
            </a:endParaRPr>
          </a:p>
          <a:p>
            <a:r>
              <a:rPr lang="en-US" sz="1500" kern="0" spc="-220" dirty="0">
                <a:solidFill>
                  <a:schemeClr val="accent2"/>
                </a:solidFill>
              </a:rPr>
              <a:t>5️⃣ Kill hidden allocations (very common)</a:t>
            </a:r>
          </a:p>
          <a:p>
            <a:r>
              <a:rPr lang="en-US" sz="1500" kern="0" spc="-220" dirty="0">
                <a:solidFill>
                  <a:schemeClr val="accent2"/>
                </a:solidFill>
              </a:rPr>
              <a:t>Feature	Hidden Allocation</a:t>
            </a:r>
          </a:p>
          <a:p>
            <a:r>
              <a:rPr lang="en-US" sz="1500" kern="0" spc="-220" dirty="0">
                <a:solidFill>
                  <a:schemeClr val="accent6"/>
                </a:solidFill>
              </a:rPr>
              <a:t>Boxing	object, interfaces</a:t>
            </a:r>
          </a:p>
          <a:p>
            <a:r>
              <a:rPr lang="en-US" sz="1500" kern="0" spc="-220" dirty="0">
                <a:solidFill>
                  <a:schemeClr val="accent6"/>
                </a:solidFill>
              </a:rPr>
              <a:t>Logging	Interpolated strings</a:t>
            </a:r>
          </a:p>
          <a:p>
            <a:r>
              <a:rPr lang="en-US" sz="1500" kern="0" spc="-220" dirty="0">
                <a:solidFill>
                  <a:schemeClr val="accent6"/>
                </a:solidFill>
              </a:rPr>
              <a:t>🔹 Logging best practice</a:t>
            </a:r>
          </a:p>
          <a:p>
            <a:r>
              <a:rPr lang="en-US" sz="1500" kern="0" spc="-220" dirty="0">
                <a:solidFill>
                  <a:schemeClr val="accent6"/>
                </a:solidFill>
              </a:rPr>
              <a:t>❌</a:t>
            </a:r>
          </a:p>
          <a:p>
            <a:r>
              <a:rPr lang="en-US" sz="1500" kern="0" spc="-220" dirty="0">
                <a:solidFill>
                  <a:schemeClr val="accent6"/>
                </a:solidFill>
              </a:rPr>
              <a:t>_</a:t>
            </a:r>
            <a:r>
              <a:rPr lang="en-US" sz="1500" kern="0" spc="-220" dirty="0" err="1">
                <a:solidFill>
                  <a:schemeClr val="accent6"/>
                </a:solidFill>
              </a:rPr>
              <a:t>logger.LogInformation</a:t>
            </a:r>
            <a:r>
              <a:rPr lang="en-US" sz="1500" kern="0" spc="-220" dirty="0">
                <a:solidFill>
                  <a:schemeClr val="accent6"/>
                </a:solidFill>
              </a:rPr>
              <a:t>($"User {id} failed at {step}");</a:t>
            </a:r>
          </a:p>
          <a:p>
            <a:r>
              <a:rPr lang="en-US" sz="1500" kern="0" spc="-220" dirty="0">
                <a:solidFill>
                  <a:schemeClr val="accent6"/>
                </a:solidFill>
              </a:rPr>
              <a:t>✅</a:t>
            </a:r>
          </a:p>
          <a:p>
            <a:r>
              <a:rPr lang="en-US" sz="1500" kern="0" spc="-220" dirty="0">
                <a:solidFill>
                  <a:schemeClr val="accent6"/>
                </a:solidFill>
              </a:rPr>
              <a:t>_</a:t>
            </a:r>
            <a:r>
              <a:rPr lang="en-US" sz="1500" kern="0" spc="-220" dirty="0" err="1">
                <a:solidFill>
                  <a:schemeClr val="accent6"/>
                </a:solidFill>
              </a:rPr>
              <a:t>logger.LogInformation</a:t>
            </a:r>
            <a:r>
              <a:rPr lang="en-US" sz="1500" kern="0" spc="-220" dirty="0">
                <a:solidFill>
                  <a:schemeClr val="accent6"/>
                </a:solidFill>
              </a:rPr>
              <a:t>("User {</a:t>
            </a:r>
            <a:r>
              <a:rPr lang="en-US" sz="1500" kern="0" spc="-220" dirty="0" err="1">
                <a:solidFill>
                  <a:schemeClr val="accent6"/>
                </a:solidFill>
              </a:rPr>
              <a:t>UserId</a:t>
            </a:r>
            <a:r>
              <a:rPr lang="en-US" sz="1500" kern="0" spc="-220" dirty="0">
                <a:solidFill>
                  <a:schemeClr val="accent6"/>
                </a:solidFill>
              </a:rPr>
              <a:t>} failed at {Step}", id, step);</a:t>
            </a:r>
          </a:p>
          <a:p>
            <a:r>
              <a:rPr lang="en-US" sz="1500" kern="0" spc="-220" dirty="0">
                <a:solidFill>
                  <a:schemeClr val="accent6"/>
                </a:solidFill>
              </a:rPr>
              <a:t>Structured logging avoids string allocations.</a:t>
            </a:r>
          </a:p>
          <a:p>
            <a:r>
              <a:rPr lang="en-US" sz="1500" kern="0" spc="-220" dirty="0">
                <a:solidFill>
                  <a:schemeClr val="accent2"/>
                </a:solidFill>
              </a:rPr>
              <a:t>6️⃣ Tune async &amp; concurrency</a:t>
            </a:r>
          </a:p>
          <a:p>
            <a:r>
              <a:rPr lang="en-US" sz="1500" kern="0" spc="-220" dirty="0">
                <a:solidFill>
                  <a:schemeClr val="accent6"/>
                </a:solidFill>
              </a:rPr>
              <a:t>🔹 Avoid async in ultra-hot paths</a:t>
            </a:r>
          </a:p>
          <a:p>
            <a:r>
              <a:rPr lang="en-US" sz="1500" kern="0" spc="-220" dirty="0">
                <a:solidFill>
                  <a:schemeClr val="accent2"/>
                </a:solidFill>
              </a:rPr>
              <a:t>Async allocates:</a:t>
            </a:r>
          </a:p>
          <a:p>
            <a:r>
              <a:rPr lang="en-US" sz="1500" kern="0" spc="-220" dirty="0">
                <a:solidFill>
                  <a:schemeClr val="accent6"/>
                </a:solidFill>
              </a:rPr>
              <a:t>State machine</a:t>
            </a:r>
          </a:p>
          <a:p>
            <a:r>
              <a:rPr lang="en-US" sz="1500" kern="0" spc="-220" dirty="0">
                <a:solidFill>
                  <a:schemeClr val="accent6"/>
                </a:solidFill>
              </a:rPr>
              <a:t>Continuations</a:t>
            </a:r>
          </a:p>
          <a:p>
            <a:r>
              <a:rPr lang="en-US" sz="1500" kern="0" spc="-220" dirty="0">
                <a:solidFill>
                  <a:schemeClr val="accent2"/>
                </a:solidFill>
              </a:rPr>
              <a:t>Prefer:</a:t>
            </a:r>
          </a:p>
          <a:p>
            <a:r>
              <a:rPr lang="en-US" sz="1500" kern="0" spc="-220" dirty="0">
                <a:solidFill>
                  <a:schemeClr val="accent6"/>
                </a:solidFill>
              </a:rPr>
              <a:t>Sync + batching</a:t>
            </a:r>
          </a:p>
          <a:p>
            <a:r>
              <a:rPr lang="en-US" sz="1500" kern="0" spc="-220" dirty="0">
                <a:solidFill>
                  <a:schemeClr val="accent6"/>
                </a:solidFill>
              </a:rPr>
              <a:t>Channels</a:t>
            </a:r>
          </a:p>
          <a:p>
            <a:r>
              <a:rPr lang="en-US" sz="1500" kern="0" spc="-220" dirty="0">
                <a:solidFill>
                  <a:schemeClr val="accent6"/>
                </a:solidFill>
              </a:rPr>
              <a:t>Dedicated worker loops</a:t>
            </a:r>
          </a:p>
        </p:txBody>
      </p:sp>
    </p:spTree>
    <p:extLst>
      <p:ext uri="{BB962C8B-B14F-4D97-AF65-F5344CB8AC3E}">
        <p14:creationId xmlns:p14="http://schemas.microsoft.com/office/powerpoint/2010/main" val="250290336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1E154-7256-B246-A2D3-31E30256C2C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4720E22-0BE5-E691-1E84-08FD2405FD7B}"/>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B22123B-8601-285B-A1F9-5F50B808CFBB}"/>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603F689-290F-4D77-627A-3728D0CD152D}"/>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C08CF5C7-5956-443A-3C10-B00552927DA4}"/>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55FADF7B-98DA-AC45-2550-E921AFC7EF5B}"/>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17240D0F-2191-098B-2097-B9FE672F639D}"/>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037C238B-5629-CDFE-1F30-40E7C5CA6D68}"/>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673C6EC2-8D18-840E-A11A-F97E206E355E}"/>
              </a:ext>
            </a:extLst>
          </p:cNvPr>
          <p:cNvSpPr txBox="1">
            <a:spLocks/>
          </p:cNvSpPr>
          <p:nvPr/>
        </p:nvSpPr>
        <p:spPr>
          <a:xfrm>
            <a:off x="366663" y="1143000"/>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GC Allocation and Pauses </a:t>
            </a:r>
            <a:r>
              <a:rPr lang="en-US" sz="2000" kern="0" spc="-220" dirty="0" err="1">
                <a:solidFill>
                  <a:schemeClr val="accent2"/>
                </a:solidFill>
              </a:rPr>
              <a:t>Minimisation</a:t>
            </a:r>
            <a:endParaRPr lang="en-US" sz="2000" kern="0" spc="-220" dirty="0">
              <a:solidFill>
                <a:schemeClr val="accent2"/>
              </a:solidFill>
            </a:endParaRPr>
          </a:p>
          <a:p>
            <a:r>
              <a:rPr lang="en-US" sz="1500" kern="0" spc="-220" dirty="0">
                <a:solidFill>
                  <a:schemeClr val="accent2"/>
                </a:solidFill>
              </a:rPr>
              <a:t>6️⃣ Tune async &amp; concurrency</a:t>
            </a:r>
          </a:p>
          <a:p>
            <a:r>
              <a:rPr lang="en-US" sz="1500" kern="0" spc="-220" dirty="0">
                <a:solidFill>
                  <a:schemeClr val="accent2"/>
                </a:solidFill>
              </a:rPr>
              <a:t>Example (good pattern):</a:t>
            </a:r>
          </a:p>
          <a:p>
            <a:r>
              <a:rPr lang="en-US" sz="1500" kern="0" spc="-220" dirty="0">
                <a:solidFill>
                  <a:schemeClr val="accent6"/>
                </a:solidFill>
              </a:rPr>
              <a:t>while (await </a:t>
            </a:r>
            <a:r>
              <a:rPr lang="en-US" sz="1500" kern="0" spc="-220" dirty="0" err="1">
                <a:solidFill>
                  <a:schemeClr val="accent6"/>
                </a:solidFill>
              </a:rPr>
              <a:t>channel.Reader.WaitToReadAsync</a:t>
            </a:r>
            <a:r>
              <a:rPr lang="en-US" sz="1500" kern="0" spc="-220" dirty="0">
                <a:solidFill>
                  <a:schemeClr val="accent6"/>
                </a:solidFill>
              </a:rPr>
              <a:t>())</a:t>
            </a:r>
          </a:p>
          <a:p>
            <a:r>
              <a:rPr lang="en-US" sz="1500" kern="0" spc="-220" dirty="0">
                <a:solidFill>
                  <a:schemeClr val="accent6"/>
                </a:solidFill>
              </a:rPr>
              <a:t>{</a:t>
            </a:r>
          </a:p>
          <a:p>
            <a:r>
              <a:rPr lang="en-US" sz="1500" kern="0" spc="-220" dirty="0">
                <a:solidFill>
                  <a:schemeClr val="accent6"/>
                </a:solidFill>
              </a:rPr>
              <a:t>    while (</a:t>
            </a:r>
            <a:r>
              <a:rPr lang="en-US" sz="1500" kern="0" spc="-220" dirty="0" err="1">
                <a:solidFill>
                  <a:schemeClr val="accent6"/>
                </a:solidFill>
              </a:rPr>
              <a:t>channel.Reader.TryRead</a:t>
            </a:r>
            <a:r>
              <a:rPr lang="en-US" sz="1500" kern="0" spc="-220" dirty="0">
                <a:solidFill>
                  <a:schemeClr val="accent6"/>
                </a:solidFill>
              </a:rPr>
              <a:t>(out var item))</a:t>
            </a:r>
          </a:p>
          <a:p>
            <a:r>
              <a:rPr lang="en-US" sz="1500" kern="0" spc="-220" dirty="0">
                <a:solidFill>
                  <a:schemeClr val="accent6"/>
                </a:solidFill>
              </a:rPr>
              <a:t>    {</a:t>
            </a:r>
          </a:p>
          <a:p>
            <a:r>
              <a:rPr lang="en-US" sz="1500" kern="0" spc="-220" dirty="0">
                <a:solidFill>
                  <a:schemeClr val="accent6"/>
                </a:solidFill>
              </a:rPr>
              <a:t>        Process(item);</a:t>
            </a:r>
          </a:p>
          <a:p>
            <a:r>
              <a:rPr lang="en-US" sz="1500" kern="0" spc="-220" dirty="0">
                <a:solidFill>
                  <a:schemeClr val="accent6"/>
                </a:solidFill>
              </a:rPr>
              <a:t>    }</a:t>
            </a:r>
          </a:p>
          <a:p>
            <a:r>
              <a:rPr lang="en-US" sz="1500" kern="0" spc="-220" dirty="0">
                <a:solidFill>
                  <a:schemeClr val="accent6"/>
                </a:solidFill>
              </a:rPr>
              <a:t>}</a:t>
            </a:r>
          </a:p>
          <a:p>
            <a:r>
              <a:rPr lang="en-US" sz="1500" kern="0" spc="-220" dirty="0">
                <a:solidFill>
                  <a:schemeClr val="accent6"/>
                </a:solidFill>
              </a:rPr>
              <a:t>This is GC-friendly and cache-friendly.</a:t>
            </a:r>
          </a:p>
          <a:p>
            <a:r>
              <a:rPr lang="en-US" sz="1500" kern="0" spc="-220" dirty="0">
                <a:solidFill>
                  <a:schemeClr val="accent2"/>
                </a:solidFill>
              </a:rPr>
              <a:t>7️⃣ Reduce Gen2 pressure (pause killer)</a:t>
            </a:r>
          </a:p>
          <a:p>
            <a:r>
              <a:rPr lang="en-US" sz="1500" kern="0" spc="-220" dirty="0">
                <a:solidFill>
                  <a:schemeClr val="accent6"/>
                </a:solidFill>
              </a:rPr>
              <a:t>Gen2 collections cause long pauses.</a:t>
            </a:r>
          </a:p>
          <a:p>
            <a:r>
              <a:rPr lang="en-US" sz="1500" kern="0" spc="-220" dirty="0">
                <a:solidFill>
                  <a:schemeClr val="accent2"/>
                </a:solidFill>
              </a:rPr>
              <a:t>Avoid:</a:t>
            </a:r>
          </a:p>
          <a:p>
            <a:r>
              <a:rPr lang="en-US" sz="1500" kern="0" spc="-220" dirty="0">
                <a:solidFill>
                  <a:schemeClr val="accent6"/>
                </a:solidFill>
              </a:rPr>
              <a:t>Static caches growing forever</a:t>
            </a:r>
          </a:p>
          <a:p>
            <a:r>
              <a:rPr lang="en-US" sz="1500" kern="0" spc="-220" dirty="0">
                <a:solidFill>
                  <a:schemeClr val="accent6"/>
                </a:solidFill>
              </a:rPr>
              <a:t>Event handlers never unsubscribed</a:t>
            </a:r>
          </a:p>
          <a:p>
            <a:r>
              <a:rPr lang="en-US" sz="1500" kern="0" spc="-220" dirty="0">
                <a:solidFill>
                  <a:schemeClr val="accent6"/>
                </a:solidFill>
              </a:rPr>
              <a:t>Singleton holding per-request objects</a:t>
            </a:r>
          </a:p>
          <a:p>
            <a:r>
              <a:rPr lang="en-US" sz="1500" kern="0" spc="-220" dirty="0">
                <a:solidFill>
                  <a:schemeClr val="accent2"/>
                </a:solidFill>
              </a:rPr>
              <a:t>Rules:</a:t>
            </a:r>
          </a:p>
          <a:p>
            <a:r>
              <a:rPr lang="en-US" sz="1500" kern="0" spc="-220" dirty="0">
                <a:solidFill>
                  <a:schemeClr val="accent6"/>
                </a:solidFill>
              </a:rPr>
              <a:t>Clear references aggressively</a:t>
            </a:r>
          </a:p>
          <a:p>
            <a:r>
              <a:rPr lang="en-US" sz="1500" kern="0" spc="-220" dirty="0">
                <a:solidFill>
                  <a:schemeClr val="accent6"/>
                </a:solidFill>
              </a:rPr>
              <a:t>Prefer weak references for caches</a:t>
            </a:r>
          </a:p>
          <a:p>
            <a:r>
              <a:rPr lang="en-US" sz="1500" kern="0" spc="-220" dirty="0">
                <a:solidFill>
                  <a:schemeClr val="accent6"/>
                </a:solidFill>
              </a:rPr>
              <a:t>Bounded caches (LRU)</a:t>
            </a:r>
          </a:p>
        </p:txBody>
      </p:sp>
    </p:spTree>
    <p:extLst>
      <p:ext uri="{BB962C8B-B14F-4D97-AF65-F5344CB8AC3E}">
        <p14:creationId xmlns:p14="http://schemas.microsoft.com/office/powerpoint/2010/main" val="116856371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03206-3E02-97B7-7770-492CBB337D5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35DBE2B-3CE8-B362-7793-7E7B538A0EFB}"/>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2F903A2-A6C1-0D5B-BEDD-7906C042C353}"/>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EA34A98-39A3-FC30-FA0D-6AD1000C8BB8}"/>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00DC3F7F-4E97-C8E4-137C-E1721B250165}"/>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5A0A0515-AD45-1C96-543B-EB9E43759104}"/>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65BC1536-225A-4118-B3CF-EF7D2B4DCBB3}"/>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F75BAB02-E6E4-5F1E-3C9A-2F6837337120}"/>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55A84AA5-8497-97A8-A8B2-1E3026DA6BA6}"/>
              </a:ext>
            </a:extLst>
          </p:cNvPr>
          <p:cNvSpPr txBox="1">
            <a:spLocks/>
          </p:cNvSpPr>
          <p:nvPr/>
        </p:nvSpPr>
        <p:spPr>
          <a:xfrm>
            <a:off x="366663" y="1143000"/>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GC Allocation and Pauses </a:t>
            </a:r>
            <a:r>
              <a:rPr lang="en-US" sz="2000" kern="0" spc="-220" dirty="0" err="1">
                <a:solidFill>
                  <a:schemeClr val="accent2"/>
                </a:solidFill>
              </a:rPr>
              <a:t>Minimisation</a:t>
            </a:r>
            <a:endParaRPr lang="en-US" sz="2000" kern="0" spc="-220" dirty="0">
              <a:solidFill>
                <a:schemeClr val="accent2"/>
              </a:solidFill>
            </a:endParaRPr>
          </a:p>
          <a:p>
            <a:r>
              <a:rPr lang="en-US" sz="1500" kern="0" spc="-220" dirty="0">
                <a:solidFill>
                  <a:schemeClr val="accent6"/>
                </a:solidFill>
              </a:rPr>
              <a:t>8️⃣ GC configuration (last step, not first)</a:t>
            </a:r>
          </a:p>
          <a:p>
            <a:r>
              <a:rPr lang="en-US" sz="1500" kern="0" spc="-220" dirty="0">
                <a:solidFill>
                  <a:schemeClr val="accent6"/>
                </a:solidFill>
              </a:rPr>
              <a:t>🔹 Server GC</a:t>
            </a:r>
          </a:p>
          <a:p>
            <a:r>
              <a:rPr lang="en-US" sz="1500" kern="0" spc="-220" dirty="0">
                <a:solidFill>
                  <a:schemeClr val="accent2"/>
                </a:solidFill>
              </a:rPr>
              <a:t>For services:</a:t>
            </a:r>
          </a:p>
          <a:p>
            <a:r>
              <a:rPr lang="en-US" sz="1500" kern="0" spc="-220" dirty="0">
                <a:solidFill>
                  <a:schemeClr val="accent6"/>
                </a:solidFill>
              </a:rPr>
              <a:t>&lt;</a:t>
            </a:r>
            <a:r>
              <a:rPr lang="en-US" sz="1500" kern="0" spc="-220" dirty="0" err="1">
                <a:solidFill>
                  <a:schemeClr val="accent6"/>
                </a:solidFill>
              </a:rPr>
              <a:t>ServerGarbageCollection</a:t>
            </a:r>
            <a:r>
              <a:rPr lang="en-US" sz="1500" kern="0" spc="-220" dirty="0">
                <a:solidFill>
                  <a:schemeClr val="accent6"/>
                </a:solidFill>
              </a:rPr>
              <a:t>&gt;true&lt;/</a:t>
            </a:r>
            <a:r>
              <a:rPr lang="en-US" sz="1500" kern="0" spc="-220" dirty="0" err="1">
                <a:solidFill>
                  <a:schemeClr val="accent6"/>
                </a:solidFill>
              </a:rPr>
              <a:t>ServerGarbageCollection</a:t>
            </a:r>
            <a:r>
              <a:rPr lang="en-US" sz="1500" kern="0" spc="-220" dirty="0">
                <a:solidFill>
                  <a:schemeClr val="accent6"/>
                </a:solidFill>
              </a:rPr>
              <a:t>&gt;</a:t>
            </a:r>
          </a:p>
          <a:p>
            <a:r>
              <a:rPr lang="en-US" sz="1500" kern="0" spc="-220" dirty="0">
                <a:solidFill>
                  <a:schemeClr val="accent6"/>
                </a:solidFill>
              </a:rPr>
              <a:t>🔹 GC Heap Hard Limit (containers!)</a:t>
            </a:r>
          </a:p>
          <a:p>
            <a:r>
              <a:rPr lang="en-US" sz="1500" kern="0" spc="-220" dirty="0">
                <a:solidFill>
                  <a:schemeClr val="accent6"/>
                </a:solidFill>
              </a:rPr>
              <a:t>Critical in AKS / Kubernetes:</a:t>
            </a:r>
          </a:p>
          <a:p>
            <a:r>
              <a:rPr lang="en-US" sz="1500" kern="0" spc="-220" dirty="0" err="1">
                <a:solidFill>
                  <a:schemeClr val="accent6"/>
                </a:solidFill>
              </a:rPr>
              <a:t>DOTNET_GCHeapHardLimit</a:t>
            </a:r>
            <a:r>
              <a:rPr lang="en-US" sz="1500" kern="0" spc="-220" dirty="0">
                <a:solidFill>
                  <a:schemeClr val="accent6"/>
                </a:solidFill>
              </a:rPr>
              <a:t>=1500m</a:t>
            </a:r>
          </a:p>
          <a:p>
            <a:r>
              <a:rPr lang="en-US" sz="1500" kern="0" spc="-220" dirty="0">
                <a:solidFill>
                  <a:schemeClr val="accent6"/>
                </a:solidFill>
              </a:rPr>
              <a:t>Prevents GC death spiral under memory pressure.</a:t>
            </a:r>
          </a:p>
          <a:p>
            <a:r>
              <a:rPr lang="en-US" sz="1500" kern="0" spc="-220" dirty="0">
                <a:solidFill>
                  <a:schemeClr val="accent2"/>
                </a:solidFill>
              </a:rPr>
              <a:t>9️⃣ Measure before &amp; after (non-negotiable)</a:t>
            </a:r>
          </a:p>
          <a:p>
            <a:r>
              <a:rPr lang="en-US" sz="1500" kern="0" spc="-220" dirty="0">
                <a:solidFill>
                  <a:schemeClr val="accent6"/>
                </a:solidFill>
              </a:rPr>
              <a:t>🔹 Tools</a:t>
            </a:r>
          </a:p>
          <a:p>
            <a:r>
              <a:rPr lang="en-US" sz="1500" kern="0" spc="-220" dirty="0">
                <a:solidFill>
                  <a:schemeClr val="accent6"/>
                </a:solidFill>
              </a:rPr>
              <a:t>dotnet-counters</a:t>
            </a:r>
          </a:p>
          <a:p>
            <a:r>
              <a:rPr lang="en-US" sz="1500" kern="0" spc="-220" dirty="0">
                <a:solidFill>
                  <a:schemeClr val="accent6"/>
                </a:solidFill>
              </a:rPr>
              <a:t>dotnet-trace</a:t>
            </a:r>
          </a:p>
          <a:p>
            <a:r>
              <a:rPr lang="en-US" sz="1500" kern="0" spc="-220" dirty="0" err="1">
                <a:solidFill>
                  <a:schemeClr val="accent6"/>
                </a:solidFill>
              </a:rPr>
              <a:t>PerfView</a:t>
            </a:r>
            <a:endParaRPr lang="en-US" sz="1500" kern="0" spc="-220" dirty="0">
              <a:solidFill>
                <a:schemeClr val="accent6"/>
              </a:solidFill>
            </a:endParaRPr>
          </a:p>
          <a:p>
            <a:r>
              <a:rPr lang="en-US" sz="1500" kern="0" spc="-220" dirty="0" err="1">
                <a:solidFill>
                  <a:schemeClr val="accent6"/>
                </a:solidFill>
              </a:rPr>
              <a:t>BenchmarkDotNet</a:t>
            </a:r>
            <a:endParaRPr lang="en-US" sz="1500" kern="0" spc="-220" dirty="0">
              <a:solidFill>
                <a:schemeClr val="accent6"/>
              </a:solidFill>
            </a:endParaRPr>
          </a:p>
          <a:p>
            <a:r>
              <a:rPr lang="en-US" sz="1500" kern="0" spc="-220" dirty="0" err="1">
                <a:solidFill>
                  <a:schemeClr val="accent6"/>
                </a:solidFill>
              </a:rPr>
              <a:t>EventPipe</a:t>
            </a:r>
            <a:endParaRPr lang="en-US" sz="1500" kern="0" spc="-220" dirty="0">
              <a:solidFill>
                <a:schemeClr val="accent6"/>
              </a:solidFill>
            </a:endParaRPr>
          </a:p>
          <a:p>
            <a:r>
              <a:rPr lang="en-US" sz="1500" kern="0" spc="-220" dirty="0">
                <a:solidFill>
                  <a:schemeClr val="accent2"/>
                </a:solidFill>
              </a:rPr>
              <a:t>Key metrics:</a:t>
            </a:r>
          </a:p>
          <a:p>
            <a:r>
              <a:rPr lang="en-US" sz="1500" kern="0" spc="-220" dirty="0">
                <a:solidFill>
                  <a:schemeClr val="accent6"/>
                </a:solidFill>
              </a:rPr>
              <a:t>Allocation rate (MB/sec)</a:t>
            </a:r>
          </a:p>
          <a:p>
            <a:r>
              <a:rPr lang="en-US" sz="1500" kern="0" spc="-220" dirty="0">
                <a:solidFill>
                  <a:schemeClr val="accent6"/>
                </a:solidFill>
              </a:rPr>
              <a:t>Gen0/1/2 counts</a:t>
            </a:r>
          </a:p>
          <a:p>
            <a:r>
              <a:rPr lang="en-US" sz="1500" kern="0" spc="-220" dirty="0">
                <a:solidFill>
                  <a:schemeClr val="accent6"/>
                </a:solidFill>
              </a:rPr>
              <a:t>Pause duration</a:t>
            </a:r>
          </a:p>
          <a:p>
            <a:r>
              <a:rPr lang="en-US" sz="1500" kern="0" spc="-220" dirty="0">
                <a:solidFill>
                  <a:schemeClr val="accent6"/>
                </a:solidFill>
              </a:rPr>
              <a:t>LOH size</a:t>
            </a:r>
          </a:p>
        </p:txBody>
      </p:sp>
    </p:spTree>
    <p:extLst>
      <p:ext uri="{BB962C8B-B14F-4D97-AF65-F5344CB8AC3E}">
        <p14:creationId xmlns:p14="http://schemas.microsoft.com/office/powerpoint/2010/main" val="215293185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4873E-C137-D7D8-9A95-0675ED58991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EA80596-3FAE-40AC-179A-059F217A3FB2}"/>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F7943CE-09A6-8B73-8046-19CFED493E8B}"/>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802CFFA-CBAB-9DAF-9023-B40C8717A975}"/>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375F7DD1-AC05-DA78-DF66-96B713131F6E}"/>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D931E741-E501-97ED-7D1F-30CC5EDC48BD}"/>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9718580-D629-3B94-F15A-681D598FA512}"/>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F79636D9-636C-4E93-8116-5E854F5508D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D736FAE7-DFA2-951A-CD47-A4D731AE02D1}"/>
              </a:ext>
            </a:extLst>
          </p:cNvPr>
          <p:cNvSpPr txBox="1">
            <a:spLocks/>
          </p:cNvSpPr>
          <p:nvPr/>
        </p:nvSpPr>
        <p:spPr>
          <a:xfrm>
            <a:off x="366663" y="1143000"/>
            <a:ext cx="8624937" cy="400109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GC Allocation and Pauses </a:t>
            </a:r>
            <a:r>
              <a:rPr lang="en-US" sz="2000" kern="0" spc="-220" dirty="0" err="1">
                <a:solidFill>
                  <a:schemeClr val="accent2"/>
                </a:solidFill>
              </a:rPr>
              <a:t>Minimisation</a:t>
            </a:r>
            <a:endParaRPr lang="en-US" sz="2000" kern="0" spc="-220" dirty="0">
              <a:solidFill>
                <a:schemeClr val="accent2"/>
              </a:solidFill>
            </a:endParaRPr>
          </a:p>
          <a:p>
            <a:r>
              <a:rPr lang="en-US" sz="1500" kern="0" spc="-220" dirty="0">
                <a:solidFill>
                  <a:schemeClr val="accent2"/>
                </a:solidFill>
              </a:rPr>
              <a:t>10️⃣ Architectural patterns that help GC</a:t>
            </a:r>
          </a:p>
          <a:p>
            <a:r>
              <a:rPr lang="en-US" sz="1500" kern="0" spc="-220" dirty="0">
                <a:solidFill>
                  <a:schemeClr val="accent2"/>
                </a:solidFill>
              </a:rPr>
              <a:t>Pattern	                                             Why</a:t>
            </a:r>
          </a:p>
          <a:p>
            <a:r>
              <a:rPr lang="en-US" sz="1500" kern="0" spc="-220" dirty="0">
                <a:solidFill>
                  <a:schemeClr val="accent6"/>
                </a:solidFill>
              </a:rPr>
              <a:t>Event loop	                                             Predictable allocations</a:t>
            </a:r>
          </a:p>
          <a:p>
            <a:r>
              <a:rPr lang="en-US" sz="1500" kern="0" spc="-220" dirty="0">
                <a:solidFill>
                  <a:schemeClr val="accent6"/>
                </a:solidFill>
              </a:rPr>
              <a:t>Batching	                                             Fewer objects</a:t>
            </a:r>
          </a:p>
          <a:p>
            <a:r>
              <a:rPr lang="en-US" sz="1500" kern="0" spc="-220" dirty="0">
                <a:solidFill>
                  <a:schemeClr val="accent6"/>
                </a:solidFill>
              </a:rPr>
              <a:t>Channels	                                             Bounded memory</a:t>
            </a:r>
          </a:p>
          <a:p>
            <a:r>
              <a:rPr lang="en-US" sz="1500" kern="0" spc="-220" dirty="0">
                <a:solidFill>
                  <a:schemeClr val="accent6"/>
                </a:solidFill>
              </a:rPr>
              <a:t>Backpressure	                 Prevent allocation storms</a:t>
            </a:r>
          </a:p>
          <a:p>
            <a:r>
              <a:rPr lang="en-US" sz="1500" kern="0" spc="-220" dirty="0">
                <a:solidFill>
                  <a:schemeClr val="accent6"/>
                </a:solidFill>
              </a:rPr>
              <a:t>Streaming	                                             Avoid buffers</a:t>
            </a:r>
          </a:p>
          <a:p>
            <a:endParaRPr lang="en-US" sz="1500" kern="0" spc="-220" dirty="0">
              <a:solidFill>
                <a:schemeClr val="accent6"/>
              </a:solidFill>
            </a:endParaRPr>
          </a:p>
          <a:p>
            <a:r>
              <a:rPr lang="en-US" sz="1500" kern="0" spc="-220" dirty="0">
                <a:solidFill>
                  <a:schemeClr val="accent2"/>
                </a:solidFill>
              </a:rPr>
              <a:t>Quick GC checklist </a:t>
            </a:r>
          </a:p>
          <a:p>
            <a:r>
              <a:rPr lang="en-US" sz="1500" kern="0" spc="-220" dirty="0">
                <a:solidFill>
                  <a:schemeClr val="accent6"/>
                </a:solidFill>
              </a:rPr>
              <a:t> No LINQ in hot path</a:t>
            </a:r>
          </a:p>
          <a:p>
            <a:r>
              <a:rPr lang="en-US" sz="1500" kern="0" spc="-220" dirty="0">
                <a:solidFill>
                  <a:schemeClr val="accent6"/>
                </a:solidFill>
              </a:rPr>
              <a:t> No large allocations per request</a:t>
            </a:r>
          </a:p>
          <a:p>
            <a:r>
              <a:rPr lang="en-US" sz="1500" kern="0" spc="-220" dirty="0">
                <a:solidFill>
                  <a:schemeClr val="accent6"/>
                </a:solidFill>
              </a:rPr>
              <a:t> Pools for buffers &amp; DTOs</a:t>
            </a:r>
          </a:p>
          <a:p>
            <a:r>
              <a:rPr lang="en-US" sz="1500" kern="0" spc="-220" dirty="0">
                <a:solidFill>
                  <a:schemeClr val="accent6"/>
                </a:solidFill>
              </a:rPr>
              <a:t> Structured logging</a:t>
            </a:r>
          </a:p>
          <a:p>
            <a:r>
              <a:rPr lang="en-US" sz="1500" kern="0" spc="-220" dirty="0">
                <a:solidFill>
                  <a:schemeClr val="accent6"/>
                </a:solidFill>
              </a:rPr>
              <a:t> Bounded queues</a:t>
            </a:r>
          </a:p>
          <a:p>
            <a:r>
              <a:rPr lang="en-US" sz="1500" kern="0" spc="-220" dirty="0">
                <a:solidFill>
                  <a:schemeClr val="accent6"/>
                </a:solidFill>
              </a:rPr>
              <a:t> Measure allocation rate</a:t>
            </a:r>
          </a:p>
          <a:p>
            <a:r>
              <a:rPr lang="en-US" sz="1500" kern="0" spc="-220" dirty="0">
                <a:solidFill>
                  <a:schemeClr val="accent6"/>
                </a:solidFill>
              </a:rPr>
              <a:t> Container GC limits set</a:t>
            </a:r>
          </a:p>
        </p:txBody>
      </p:sp>
    </p:spTree>
    <p:extLst>
      <p:ext uri="{BB962C8B-B14F-4D97-AF65-F5344CB8AC3E}">
        <p14:creationId xmlns:p14="http://schemas.microsoft.com/office/powerpoint/2010/main" val="365504394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95767-ADC3-665F-D68A-228C1C6E365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FAB83CA-409B-6ED3-7F66-BDA6CE046EF1}"/>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EB7E0CB-E0BC-9DBC-85A6-0D59330207E0}"/>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1FE914C-5850-E82C-5863-2CEDA74712B1}"/>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60BF10A5-F02D-415C-8FCF-97319F28310E}"/>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C1EB3458-934B-F2B9-CC08-1BA56B7D1D4E}"/>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2B00102D-9080-DEC8-B444-754C62875B1E}"/>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293E2A1E-16BA-DD0D-B578-8F31902A1E51}"/>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4933D001-B1B7-C003-66DC-91D8E3D8DADB}"/>
              </a:ext>
            </a:extLst>
          </p:cNvPr>
          <p:cNvSpPr txBox="1">
            <a:spLocks/>
          </p:cNvSpPr>
          <p:nvPr/>
        </p:nvSpPr>
        <p:spPr>
          <a:xfrm>
            <a:off x="366663" y="1143000"/>
            <a:ext cx="8624937" cy="59093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For Further Exploration </a:t>
            </a:r>
          </a:p>
          <a:p>
            <a:pPr algn="l"/>
            <a:r>
              <a:rPr lang="en-IN" sz="1300" dirty="0">
                <a:hlinkClick r:id="rId7"/>
              </a:rPr>
              <a:t>Disposable Class Example </a:t>
            </a:r>
            <a:endParaRPr lang="en-IN" sz="1300" dirty="0"/>
          </a:p>
          <a:p>
            <a:r>
              <a:rPr lang="en-US" sz="1300" dirty="0">
                <a:hlinkClick r:id="rId8"/>
              </a:rPr>
              <a:t>Garbage Collection and Performance - .NET | Microsoft Learn</a:t>
            </a:r>
            <a:endParaRPr lang="en-IN" sz="1300" dirty="0"/>
          </a:p>
          <a:p>
            <a:r>
              <a:rPr lang="en-US" sz="1300" dirty="0">
                <a:hlinkClick r:id="rId9"/>
              </a:rPr>
              <a:t>How does Garbage Collection work?</a:t>
            </a:r>
            <a:r>
              <a:rPr lang="en-US" sz="1300" dirty="0"/>
              <a:t> </a:t>
            </a:r>
            <a:r>
              <a:rPr lang="en-US" sz="1300" kern="0" spc="-220" dirty="0">
                <a:solidFill>
                  <a:schemeClr val="accent6"/>
                </a:solidFill>
              </a:rPr>
              <a:t> </a:t>
            </a:r>
          </a:p>
          <a:p>
            <a:r>
              <a:rPr lang="en-IN" sz="1300" dirty="0">
                <a:hlinkClick r:id="rId10"/>
              </a:rPr>
              <a:t>C# Garbage Collection Tutorial – </a:t>
            </a:r>
            <a:r>
              <a:rPr lang="en-IN" sz="1300" dirty="0" err="1">
                <a:hlinkClick r:id="rId10"/>
              </a:rPr>
              <a:t>Stackify</a:t>
            </a:r>
            <a:r>
              <a:rPr lang="en-US" sz="1300" kern="0" spc="-220" dirty="0">
                <a:solidFill>
                  <a:schemeClr val="accent6"/>
                </a:solidFill>
              </a:rPr>
              <a:t> </a:t>
            </a:r>
          </a:p>
          <a:p>
            <a:r>
              <a:rPr lang="en-US" sz="1300" dirty="0">
                <a:hlinkClick r:id="rId11"/>
              </a:rPr>
              <a:t>What are the Generations in Garbage Collection? - Stack Overflow</a:t>
            </a:r>
            <a:r>
              <a:rPr lang="en-US" sz="1300" dirty="0"/>
              <a:t> </a:t>
            </a:r>
            <a:endParaRPr lang="en-IN" sz="1300" dirty="0"/>
          </a:p>
          <a:p>
            <a:pPr algn="l"/>
            <a:r>
              <a:rPr lang="en-US" sz="1300" dirty="0">
                <a:hlinkClick r:id="rId12"/>
              </a:rPr>
              <a:t>Find, Fix, and Avoid Memory Leaks in C# .NET: 8 Best Practices</a:t>
            </a:r>
            <a:endParaRPr lang="en-US" sz="1300" dirty="0"/>
          </a:p>
          <a:p>
            <a:r>
              <a:rPr lang="en-IN" sz="1300" dirty="0">
                <a:hlinkClick r:id="rId13"/>
              </a:rPr>
              <a:t>Understanding weak references in .NET- </a:t>
            </a:r>
            <a:r>
              <a:rPr lang="en-IN" sz="1300" dirty="0" err="1">
                <a:hlinkClick r:id="rId13"/>
              </a:rPr>
              <a:t>CodeProject</a:t>
            </a:r>
            <a:endParaRPr lang="en-IN" sz="1300" dirty="0"/>
          </a:p>
          <a:p>
            <a:r>
              <a:rPr lang="en-US" sz="1300" dirty="0">
                <a:hlinkClick r:id="rId14"/>
              </a:rPr>
              <a:t>Understanding </a:t>
            </a:r>
            <a:r>
              <a:rPr lang="en-US" sz="1300" dirty="0" err="1">
                <a:hlinkClick r:id="rId14"/>
              </a:rPr>
              <a:t>ConditionalWeakTable</a:t>
            </a:r>
            <a:r>
              <a:rPr lang="en-US" sz="1300" dirty="0">
                <a:hlinkClick r:id="rId14"/>
              </a:rPr>
              <a:t> - Stack Overflow</a:t>
            </a:r>
            <a:endParaRPr lang="en-US" sz="1300" dirty="0"/>
          </a:p>
          <a:p>
            <a:r>
              <a:rPr lang="en-IN" sz="1300" dirty="0" err="1">
                <a:hlinkClick r:id="rId15"/>
              </a:rPr>
              <a:t>WeakReference</a:t>
            </a:r>
            <a:r>
              <a:rPr lang="en-IN" sz="1300" dirty="0">
                <a:hlinkClick r:id="rId15"/>
              </a:rPr>
              <a:t> Event Handlers</a:t>
            </a:r>
            <a:endParaRPr lang="en-IN" sz="1300" dirty="0"/>
          </a:p>
          <a:p>
            <a:r>
              <a:rPr lang="en-US" sz="1300" dirty="0">
                <a:hlinkClick r:id="rId16"/>
              </a:rPr>
              <a:t>In-memory caching in </a:t>
            </a:r>
            <a:r>
              <a:rPr lang="en-US" sz="1300" dirty="0" err="1">
                <a:hlinkClick r:id="rId16"/>
              </a:rPr>
              <a:t>.Net</a:t>
            </a:r>
            <a:r>
              <a:rPr lang="en-US" sz="1300" dirty="0">
                <a:hlinkClick r:id="rId16"/>
              </a:rPr>
              <a:t>. In-memory caching is a common technique</a:t>
            </a:r>
            <a:endParaRPr lang="en-US" sz="1300" dirty="0"/>
          </a:p>
          <a:p>
            <a:r>
              <a:rPr lang="en-US" sz="1300" dirty="0">
                <a:hlinkClick r:id="rId17"/>
              </a:rPr>
              <a:t>Usages of object resurrection - Stack Overflow</a:t>
            </a:r>
            <a:endParaRPr lang="en-US" sz="1300" dirty="0"/>
          </a:p>
          <a:p>
            <a:r>
              <a:rPr lang="en-IN" sz="1300" dirty="0">
                <a:hlinkClick r:id="rId18"/>
              </a:rPr>
              <a:t>.NET Memory Management and Optimization Techniques for Large-Scale Applications</a:t>
            </a:r>
            <a:endParaRPr lang="en-US" sz="1300" dirty="0"/>
          </a:p>
          <a:p>
            <a:r>
              <a:rPr lang="en-US" sz="1300" dirty="0">
                <a:hlinkClick r:id="rId19"/>
              </a:rPr>
              <a:t>8 Techniques to Avoid GC Pressure and Improve Performance in C# .NET</a:t>
            </a:r>
            <a:endParaRPr lang="en-US" sz="1300" dirty="0"/>
          </a:p>
          <a:p>
            <a:r>
              <a:rPr lang="en-US" sz="1300" dirty="0">
                <a:hlinkClick r:id="rId20"/>
              </a:rPr>
              <a:t>Effective-.NET-Memory-Management</a:t>
            </a:r>
            <a:endParaRPr lang="en-US" sz="1300" dirty="0"/>
          </a:p>
          <a:p>
            <a:r>
              <a:rPr lang="en-US" sz="1300" dirty="0">
                <a:hlinkClick r:id="rId21"/>
              </a:rPr>
              <a:t>Advanced Garbage Collection Concepts</a:t>
            </a:r>
            <a:endParaRPr lang="en-US" sz="1300" dirty="0"/>
          </a:p>
          <a:p>
            <a:r>
              <a:rPr lang="en-IN" sz="1300" dirty="0">
                <a:hlinkClick r:id="rId22"/>
              </a:rPr>
              <a:t>How the Mark-Sweep-Compact Algorithm Works</a:t>
            </a:r>
            <a:endParaRPr lang="en-US" sz="1300" dirty="0"/>
          </a:p>
          <a:p>
            <a:r>
              <a:rPr lang="en-US" sz="1300" dirty="0">
                <a:hlinkClick r:id="rId23"/>
              </a:rPr>
              <a:t>Why is .NET 9's Performance So Good? with Stephen Toub</a:t>
            </a:r>
            <a:endParaRPr lang="en-US" sz="1300" dirty="0"/>
          </a:p>
          <a:p>
            <a:r>
              <a:rPr lang="en-IN" sz="1300" dirty="0">
                <a:hlinkClick r:id="rId24"/>
              </a:rPr>
              <a:t>.NET GC FAQ</a:t>
            </a:r>
            <a:endParaRPr lang="en-IN" sz="1300" dirty="0"/>
          </a:p>
          <a:p>
            <a:r>
              <a:rPr lang="en-US" sz="1300" dirty="0">
                <a:hlinkClick r:id="rId25"/>
              </a:rPr>
              <a:t>Analyzing Memory Dumps of .NET Applications | Microsoft Learn</a:t>
            </a:r>
            <a:endParaRPr lang="en-US" sz="1300" dirty="0"/>
          </a:p>
          <a:p>
            <a:r>
              <a:rPr lang="en-US" sz="1300" dirty="0">
                <a:hlinkClick r:id="rId26"/>
              </a:rPr>
              <a:t>Analyze memory usage for .NET objects - Visual Studio (Windows) | Microsoft Learn</a:t>
            </a:r>
            <a:endParaRPr lang="en-US" sz="1300" dirty="0"/>
          </a:p>
          <a:p>
            <a:r>
              <a:rPr lang="en-IN" sz="1300" dirty="0">
                <a:hlinkClick r:id="rId27"/>
              </a:rPr>
              <a:t>Mastering .NET Performance: How to </a:t>
            </a:r>
            <a:r>
              <a:rPr lang="en-IN" sz="1300" dirty="0" err="1">
                <a:hlinkClick r:id="rId27"/>
              </a:rPr>
              <a:t>Analyze</a:t>
            </a:r>
            <a:r>
              <a:rPr lang="en-IN" sz="1300" dirty="0">
                <a:hlinkClick r:id="rId27"/>
              </a:rPr>
              <a:t> and Optimize Memory (Heap Allocation)</a:t>
            </a:r>
            <a:endParaRPr lang="en-US" sz="1300" dirty="0"/>
          </a:p>
          <a:p>
            <a:r>
              <a:rPr lang="en-IN" sz="1300" dirty="0">
                <a:hlinkClick r:id="rId28"/>
              </a:rPr>
              <a:t>CLR Profiler – Wikipedia</a:t>
            </a:r>
            <a:endParaRPr lang="en-IN" sz="1300" dirty="0"/>
          </a:p>
          <a:p>
            <a:r>
              <a:rPr lang="en-US" sz="1300" dirty="0" err="1">
                <a:hlinkClick r:id="rId29"/>
              </a:rPr>
              <a:t>PerfView</a:t>
            </a:r>
            <a:r>
              <a:rPr lang="en-US" sz="1300" dirty="0">
                <a:hlinkClick r:id="rId29"/>
              </a:rPr>
              <a:t> is a CPU and memory performance-analysis tool</a:t>
            </a:r>
            <a:endParaRPr lang="en-US" sz="1300" kern="0" spc="-220" dirty="0">
              <a:solidFill>
                <a:schemeClr val="accent6"/>
              </a:solidFill>
            </a:endParaRPr>
          </a:p>
          <a:p>
            <a:endParaRPr lang="en-US" sz="2000" kern="0" spc="-220" dirty="0">
              <a:solidFill>
                <a:schemeClr val="accent6"/>
              </a:solidFill>
            </a:endParaRPr>
          </a:p>
          <a:p>
            <a:endParaRPr lang="en-US" sz="1500" kern="0" spc="-220" dirty="0">
              <a:solidFill>
                <a:schemeClr val="accent6"/>
              </a:solidFill>
            </a:endParaRPr>
          </a:p>
          <a:p>
            <a:endParaRPr lang="en-US" sz="1500" kern="0" spc="-220" dirty="0">
              <a:solidFill>
                <a:schemeClr val="accent6"/>
              </a:solidFill>
            </a:endParaRPr>
          </a:p>
          <a:p>
            <a:pPr algn="l"/>
            <a:endParaRPr lang="en-US" sz="1500" kern="0" spc="-220" dirty="0">
              <a:solidFill>
                <a:schemeClr val="accent6"/>
              </a:solidFill>
            </a:endParaRPr>
          </a:p>
        </p:txBody>
      </p:sp>
    </p:spTree>
    <p:extLst>
      <p:ext uri="{BB962C8B-B14F-4D97-AF65-F5344CB8AC3E}">
        <p14:creationId xmlns:p14="http://schemas.microsoft.com/office/powerpoint/2010/main" val="180162353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93B8E-FE6C-73F3-8ACD-690DD7DF79C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40A8654-616D-7447-A013-60DC33E157CC}"/>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100AFD4-DC7A-ECD6-83CB-D91ABC88C243}"/>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DBBB760-2C86-3D70-DE74-21482845F341}"/>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87D89E15-BDC3-E454-36D7-E4C27C1AC756}"/>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3A6D7C9F-7051-E4BD-3CB5-688E96B8C51E}"/>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D745A4FB-D058-9750-AD5B-DCC1351E6F28}"/>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A35D593E-47C5-91D2-FE91-31B87B1B9579}"/>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784E18CC-6CAA-B7BD-E477-F857962FC229}"/>
              </a:ext>
            </a:extLst>
          </p:cNvPr>
          <p:cNvSpPr txBox="1">
            <a:spLocks/>
          </p:cNvSpPr>
          <p:nvPr/>
        </p:nvSpPr>
        <p:spPr>
          <a:xfrm>
            <a:off x="259531" y="1052608"/>
            <a:ext cx="8624937" cy="498598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600" dirty="0">
                <a:solidFill>
                  <a:schemeClr val="accent6"/>
                </a:solidFill>
                <a:latin typeface="Google Sans"/>
              </a:rPr>
              <a:t>A memory hierarchy organizes computer storage into levels, from tiny, super-fast CPU registers to massive, slow secondary storage (like SSDs/HDDs), balancing speed, cost, and capacity to give the illusion of large, fast memory, using principles like locality of reference to keep frequently used data closer to the processor. Levels generally include Registers, Cache (L1, L2, L3), Main Memory (RAM), and Secondary Storage (SSD, HDD), each with increasing capacity and access time as you move down.            </a:t>
            </a:r>
          </a:p>
          <a:p>
            <a:r>
              <a:rPr lang="en-US" sz="1800" dirty="0">
                <a:solidFill>
                  <a:schemeClr val="accent2"/>
                </a:solidFill>
                <a:latin typeface="Google Sans"/>
              </a:rPr>
              <a:t>Levels of the Memory Hierarchy    </a:t>
            </a:r>
            <a:r>
              <a:rPr lang="en-US" sz="2000" dirty="0">
                <a:solidFill>
                  <a:schemeClr val="accent2"/>
                </a:solidFill>
                <a:latin typeface="Google Sans"/>
              </a:rPr>
              <a:t>  </a:t>
            </a:r>
            <a:r>
              <a:rPr lang="en-US" sz="2000" dirty="0">
                <a:solidFill>
                  <a:schemeClr val="accent6"/>
                </a:solidFill>
                <a:latin typeface="Google Sans"/>
              </a:rPr>
              <a:t>      </a:t>
            </a:r>
          </a:p>
          <a:p>
            <a:r>
              <a:rPr lang="en-US" sz="1600" dirty="0">
                <a:solidFill>
                  <a:schemeClr val="accent2"/>
                </a:solidFill>
                <a:latin typeface="Google Sans"/>
              </a:rPr>
              <a:t>Registers: </a:t>
            </a:r>
            <a:r>
              <a:rPr lang="en-US" sz="1600" dirty="0">
                <a:solidFill>
                  <a:schemeClr val="accent6"/>
                </a:solidFill>
                <a:latin typeface="Google Sans"/>
              </a:rPr>
              <a:t>Fastest, smallest, on-chip CPU storage for immediate data.             </a:t>
            </a:r>
          </a:p>
          <a:p>
            <a:r>
              <a:rPr lang="en-US" sz="1600" dirty="0">
                <a:solidFill>
                  <a:schemeClr val="accent2"/>
                </a:solidFill>
                <a:latin typeface="Google Sans"/>
              </a:rPr>
              <a:t>Cache Memory (L1, L2, L3):</a:t>
            </a:r>
            <a:r>
              <a:rPr lang="en-US" sz="1600" dirty="0">
                <a:solidFill>
                  <a:schemeClr val="accent6"/>
                </a:solidFill>
                <a:latin typeface="Google Sans"/>
              </a:rPr>
              <a:t> Very fast, small buffers between CPU and RAM, stores frequently used data/instructions.            </a:t>
            </a:r>
          </a:p>
          <a:p>
            <a:r>
              <a:rPr lang="en-US" sz="1600" dirty="0">
                <a:solidFill>
                  <a:schemeClr val="accent2"/>
                </a:solidFill>
                <a:latin typeface="Google Sans"/>
              </a:rPr>
              <a:t>Main Memory (RAM):</a:t>
            </a:r>
            <a:r>
              <a:rPr lang="en-US" sz="1600" dirty="0">
                <a:solidFill>
                  <a:schemeClr val="accent6"/>
                </a:solidFill>
                <a:latin typeface="Google Sans"/>
              </a:rPr>
              <a:t> Larger, slower than cache, primary working memory for active programs.                </a:t>
            </a:r>
          </a:p>
          <a:p>
            <a:r>
              <a:rPr lang="en-US" sz="1600" dirty="0">
                <a:solidFill>
                  <a:schemeClr val="accent2"/>
                </a:solidFill>
                <a:latin typeface="Google Sans"/>
              </a:rPr>
              <a:t>Secondary Storage (SSD, HDD): </a:t>
            </a:r>
            <a:r>
              <a:rPr lang="en-US" sz="1600" dirty="0">
                <a:solidFill>
                  <a:schemeClr val="accent6"/>
                </a:solidFill>
                <a:latin typeface="Google Sans"/>
              </a:rPr>
              <a:t>Large, non-volatile, long-term storage, much slower than RAM.               </a:t>
            </a:r>
          </a:p>
          <a:p>
            <a:r>
              <a:rPr lang="en-US" sz="1600" dirty="0">
                <a:solidFill>
                  <a:schemeClr val="accent2"/>
                </a:solidFill>
                <a:latin typeface="Google Sans"/>
              </a:rPr>
              <a:t>Tertiary/Offline Storage (Tape Drives): </a:t>
            </a:r>
            <a:r>
              <a:rPr lang="en-US" sz="1600" dirty="0">
                <a:solidFill>
                  <a:schemeClr val="accent6"/>
                </a:solidFill>
                <a:latin typeface="Google Sans"/>
              </a:rPr>
              <a:t>Slowest, largest, used for backups and archiving.                  </a:t>
            </a:r>
          </a:p>
          <a:p>
            <a:r>
              <a:rPr lang="en-US" sz="1800" dirty="0">
                <a:solidFill>
                  <a:schemeClr val="accent2"/>
                </a:solidFill>
                <a:latin typeface="Google Sans"/>
              </a:rPr>
              <a:t>Key Characteristics &amp; Principles    </a:t>
            </a:r>
            <a:r>
              <a:rPr lang="en-US" sz="1600" dirty="0">
                <a:solidFill>
                  <a:schemeClr val="accent2"/>
                </a:solidFill>
                <a:latin typeface="Google Sans"/>
              </a:rPr>
              <a:t>            </a:t>
            </a:r>
          </a:p>
          <a:p>
            <a:r>
              <a:rPr lang="en-US" sz="1600" dirty="0">
                <a:solidFill>
                  <a:schemeClr val="accent2"/>
                </a:solidFill>
                <a:latin typeface="Google Sans"/>
              </a:rPr>
              <a:t>Speed &amp; Cost Trade-off: </a:t>
            </a:r>
            <a:r>
              <a:rPr lang="en-US" sz="1600" dirty="0">
                <a:solidFill>
                  <a:schemeClr val="accent6"/>
                </a:solidFill>
                <a:latin typeface="Google Sans"/>
              </a:rPr>
              <a:t>Faster memory is more expensive and smaller; slower memory is cheaper and larger.            </a:t>
            </a:r>
          </a:p>
          <a:p>
            <a:r>
              <a:rPr lang="en-US" sz="1600" dirty="0">
                <a:solidFill>
                  <a:schemeClr val="accent2"/>
                </a:solidFill>
                <a:latin typeface="Google Sans"/>
              </a:rPr>
              <a:t>Capacity:</a:t>
            </a:r>
            <a:r>
              <a:rPr lang="en-US" sz="1600" dirty="0">
                <a:solidFill>
                  <a:schemeClr val="accent6"/>
                </a:solidFill>
                <a:latin typeface="Google Sans"/>
              </a:rPr>
              <a:t> Increases as you move down the hierarchy (Registers &lt; Cache &lt; RAM &lt; Disk).             </a:t>
            </a:r>
          </a:p>
          <a:p>
            <a:r>
              <a:rPr lang="en-US" sz="1600" dirty="0">
                <a:solidFill>
                  <a:schemeClr val="accent2"/>
                </a:solidFill>
                <a:latin typeface="Google Sans"/>
              </a:rPr>
              <a:t>Locality of Reference:</a:t>
            </a:r>
            <a:r>
              <a:rPr lang="en-US" sz="1600" dirty="0">
                <a:solidFill>
                  <a:schemeClr val="accent6"/>
                </a:solidFill>
                <a:latin typeface="Google Sans"/>
              </a:rPr>
              <a:t> Programs tend to reuse data and instructions recently accessed, justifying the hierarchy's structure.       </a:t>
            </a:r>
          </a:p>
          <a:p>
            <a:r>
              <a:rPr lang="en-US" sz="1600" dirty="0">
                <a:solidFill>
                  <a:schemeClr val="accent2"/>
                </a:solidFill>
                <a:latin typeface="Google Sans"/>
              </a:rPr>
              <a:t>Performance Optimization:</a:t>
            </a:r>
            <a:r>
              <a:rPr lang="en-US" sz="1600" dirty="0">
                <a:solidFill>
                  <a:schemeClr val="accent6"/>
                </a:solidFill>
                <a:latin typeface="Google Sans"/>
              </a:rPr>
              <a:t> By keeping popular data in faster tiers, the overall system performance improves dramatically.                      </a:t>
            </a:r>
          </a:p>
        </p:txBody>
      </p:sp>
    </p:spTree>
    <p:extLst>
      <p:ext uri="{BB962C8B-B14F-4D97-AF65-F5344CB8AC3E}">
        <p14:creationId xmlns:p14="http://schemas.microsoft.com/office/powerpoint/2010/main" val="414749891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11596-2760-987A-1676-BBB5CB31748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DD58889-1F22-5EB5-F5EE-07AAF0AF0103}"/>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AFD4794-41F9-ED39-CB94-561ABD7EE657}"/>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44750D8-D1D2-CE62-67FC-7088E6B75EA1}"/>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66ABF24E-82EE-2F6A-66E4-76FD77BFF10C}"/>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178F3080-7959-9682-DFB3-9754C0D8F77C}"/>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7EBC140B-E814-646D-A67B-138B3DC45AA0}"/>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08613E9D-7B1E-7D6B-8FDC-B5FA0F89CA26}"/>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F73EBBAF-6988-04C5-1381-A538350C779F}"/>
              </a:ext>
            </a:extLst>
          </p:cNvPr>
          <p:cNvSpPr txBox="1">
            <a:spLocks/>
          </p:cNvSpPr>
          <p:nvPr/>
        </p:nvSpPr>
        <p:spPr>
          <a:xfrm>
            <a:off x="366663" y="1143000"/>
            <a:ext cx="8624937" cy="46782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600" dirty="0">
                <a:solidFill>
                  <a:schemeClr val="accent6"/>
                </a:solidFill>
                <a:latin typeface="Google Sans"/>
              </a:rPr>
              <a:t>C# constructs map to the memory hierarchy through CLR-managed structures like the stack (fast, local variable access) and heap (large object storage/Garbage Collected). CPU caches are utilized via contiguous memory structures like struct arrays and Span&lt;T&gt;, while </a:t>
            </a:r>
            <a:r>
              <a:rPr lang="en-US" sz="1600" dirty="0" err="1">
                <a:solidFill>
                  <a:schemeClr val="accent6"/>
                </a:solidFill>
                <a:latin typeface="Google Sans"/>
              </a:rPr>
              <a:t>MemoryMappedFile</a:t>
            </a:r>
            <a:r>
              <a:rPr lang="en-US" sz="1600" dirty="0">
                <a:solidFill>
                  <a:schemeClr val="accent6"/>
                </a:solidFill>
                <a:latin typeface="Google Sans"/>
              </a:rPr>
              <a:t> connects file storage directly to RAM.             </a:t>
            </a:r>
          </a:p>
          <a:p>
            <a:r>
              <a:rPr lang="en-US" sz="1800" dirty="0">
                <a:solidFill>
                  <a:schemeClr val="accent2"/>
                </a:solidFill>
                <a:latin typeface="Google Sans"/>
              </a:rPr>
              <a:t>Memory Hierarchy Mapping in C#   </a:t>
            </a:r>
            <a:r>
              <a:rPr lang="en-US" sz="1600" dirty="0">
                <a:solidFill>
                  <a:schemeClr val="accent2"/>
                </a:solidFill>
                <a:latin typeface="Google Sans"/>
              </a:rPr>
              <a:t> </a:t>
            </a:r>
            <a:r>
              <a:rPr lang="en-US" sz="1600" dirty="0">
                <a:solidFill>
                  <a:schemeClr val="accent6"/>
                </a:solidFill>
                <a:latin typeface="Google Sans"/>
              </a:rPr>
              <a:t>         </a:t>
            </a:r>
          </a:p>
          <a:p>
            <a:r>
              <a:rPr lang="en-US" sz="1600" dirty="0">
                <a:solidFill>
                  <a:schemeClr val="accent2"/>
                </a:solidFill>
                <a:latin typeface="Google Sans"/>
              </a:rPr>
              <a:t>Registers (Fastest):</a:t>
            </a:r>
            <a:r>
              <a:rPr lang="en-US" sz="1600" dirty="0">
                <a:solidFill>
                  <a:schemeClr val="accent6"/>
                </a:solidFill>
                <a:latin typeface="Google Sans"/>
              </a:rPr>
              <a:t> Used by the JIT compiler for local variables and intermediate calculations.              </a:t>
            </a:r>
          </a:p>
          <a:p>
            <a:r>
              <a:rPr lang="en-US" sz="1600" dirty="0">
                <a:solidFill>
                  <a:schemeClr val="accent2"/>
                </a:solidFill>
                <a:latin typeface="Google Sans"/>
              </a:rPr>
              <a:t>CPU Cache (L1/L2/L3):    </a:t>
            </a:r>
            <a:r>
              <a:rPr lang="en-US" sz="1600" dirty="0">
                <a:solidFill>
                  <a:schemeClr val="accent6"/>
                </a:solidFill>
                <a:latin typeface="Google Sans"/>
              </a:rPr>
              <a:t>          </a:t>
            </a:r>
          </a:p>
          <a:p>
            <a:r>
              <a:rPr lang="en-US" sz="1600" dirty="0">
                <a:solidFill>
                  <a:schemeClr val="accent2"/>
                </a:solidFill>
                <a:latin typeface="Google Sans"/>
              </a:rPr>
              <a:t>Arrays (T[]):</a:t>
            </a:r>
            <a:r>
              <a:rPr lang="en-US" sz="1600" dirty="0">
                <a:solidFill>
                  <a:schemeClr val="accent6"/>
                </a:solidFill>
                <a:latin typeface="Google Sans"/>
              </a:rPr>
              <a:t> Data stored contiguously in memory, enhancing cache locality.                    </a:t>
            </a:r>
          </a:p>
          <a:p>
            <a:r>
              <a:rPr lang="en-US" sz="1600" dirty="0">
                <a:solidFill>
                  <a:schemeClr val="accent2"/>
                </a:solidFill>
                <a:latin typeface="Google Sans"/>
              </a:rPr>
              <a:t>struct (Value Types): </a:t>
            </a:r>
            <a:r>
              <a:rPr lang="en-US" sz="1600" dirty="0">
                <a:solidFill>
                  <a:schemeClr val="accent6"/>
                </a:solidFill>
                <a:latin typeface="Google Sans"/>
              </a:rPr>
              <a:t>Stored inline, reducing pointer dereferencing and cache misses.                   </a:t>
            </a:r>
          </a:p>
          <a:p>
            <a:r>
              <a:rPr lang="en-US" sz="1600" dirty="0">
                <a:solidFill>
                  <a:schemeClr val="accent2"/>
                </a:solidFill>
                <a:latin typeface="Google Sans"/>
              </a:rPr>
              <a:t>Span&lt;T&gt; / Memory&lt;T&gt;: </a:t>
            </a:r>
            <a:r>
              <a:rPr lang="en-US" sz="1600" dirty="0">
                <a:solidFill>
                  <a:schemeClr val="accent6"/>
                </a:solidFill>
                <a:latin typeface="Google Sans"/>
              </a:rPr>
              <a:t>Provide safe, contiguous views over managed or unmanaged memory, optimizing cache usage.             </a:t>
            </a:r>
          </a:p>
          <a:p>
            <a:r>
              <a:rPr lang="en-US" sz="1600" dirty="0">
                <a:solidFill>
                  <a:schemeClr val="accent2"/>
                </a:solidFill>
                <a:latin typeface="Google Sans"/>
              </a:rPr>
              <a:t>RAM (Main Memory):    </a:t>
            </a:r>
            <a:r>
              <a:rPr lang="en-US" sz="1600" dirty="0">
                <a:solidFill>
                  <a:schemeClr val="accent6"/>
                </a:solidFill>
                <a:latin typeface="Google Sans"/>
              </a:rPr>
              <a:t>            </a:t>
            </a:r>
          </a:p>
          <a:p>
            <a:r>
              <a:rPr lang="en-US" sz="1600" dirty="0">
                <a:solidFill>
                  <a:schemeClr val="accent2"/>
                </a:solidFill>
                <a:latin typeface="Google Sans"/>
              </a:rPr>
              <a:t>Stack:</a:t>
            </a:r>
            <a:r>
              <a:rPr lang="en-US" sz="1600" dirty="0">
                <a:solidFill>
                  <a:schemeClr val="accent6"/>
                </a:solidFill>
                <a:latin typeface="Google Sans"/>
              </a:rPr>
              <a:t> Stores value types and method references; automatically managed.                 </a:t>
            </a:r>
          </a:p>
          <a:p>
            <a:r>
              <a:rPr lang="en-US" sz="1600" dirty="0">
                <a:solidFill>
                  <a:schemeClr val="accent2"/>
                </a:solidFill>
                <a:latin typeface="Google Sans"/>
              </a:rPr>
              <a:t>Heap:</a:t>
            </a:r>
            <a:r>
              <a:rPr lang="en-US" sz="1600" dirty="0">
                <a:solidFill>
                  <a:schemeClr val="accent6"/>
                </a:solidFill>
                <a:latin typeface="Google Sans"/>
              </a:rPr>
              <a:t> Stores reference types and large objects.              </a:t>
            </a:r>
          </a:p>
          <a:p>
            <a:r>
              <a:rPr lang="en-US" sz="1600" dirty="0">
                <a:solidFill>
                  <a:schemeClr val="accent2"/>
                </a:solidFill>
                <a:latin typeface="Google Sans"/>
              </a:rPr>
              <a:t>Large Object Heap (LOH): </a:t>
            </a:r>
            <a:r>
              <a:rPr lang="en-US" sz="1600" dirty="0">
                <a:solidFill>
                  <a:schemeClr val="accent6"/>
                </a:solidFill>
                <a:latin typeface="Google Sans"/>
              </a:rPr>
              <a:t>Dedicated area for objects &gt; 85,000 bytes, avoiding frequent compaction.              </a:t>
            </a:r>
          </a:p>
          <a:p>
            <a:r>
              <a:rPr lang="en-US" sz="1600" dirty="0">
                <a:solidFill>
                  <a:schemeClr val="accent2"/>
                </a:solidFill>
                <a:latin typeface="Google Sans"/>
              </a:rPr>
              <a:t>Disk (Storage):        </a:t>
            </a:r>
            <a:r>
              <a:rPr lang="en-US" sz="1600" dirty="0">
                <a:solidFill>
                  <a:schemeClr val="accent6"/>
                </a:solidFill>
                <a:latin typeface="Google Sans"/>
              </a:rPr>
              <a:t>     </a:t>
            </a:r>
          </a:p>
          <a:p>
            <a:r>
              <a:rPr lang="en-US" sz="1600" dirty="0" err="1">
                <a:solidFill>
                  <a:schemeClr val="accent2"/>
                </a:solidFill>
                <a:latin typeface="Google Sans"/>
              </a:rPr>
              <a:t>System.IO.MemoryMappedFiles</a:t>
            </a:r>
            <a:r>
              <a:rPr lang="en-US" sz="1600" dirty="0">
                <a:solidFill>
                  <a:schemeClr val="accent2"/>
                </a:solidFill>
                <a:latin typeface="Google Sans"/>
              </a:rPr>
              <a:t>: </a:t>
            </a:r>
            <a:r>
              <a:rPr lang="en-US" sz="1600" dirty="0">
                <a:solidFill>
                  <a:schemeClr val="accent6"/>
                </a:solidFill>
                <a:latin typeface="Google Sans"/>
              </a:rPr>
              <a:t>Directly maps file data to application virtual memory, allowing for fast I/O.               </a:t>
            </a:r>
          </a:p>
          <a:p>
            <a:r>
              <a:rPr lang="en-US" sz="1600" dirty="0">
                <a:solidFill>
                  <a:schemeClr val="accent2"/>
                </a:solidFill>
                <a:latin typeface="Google Sans"/>
              </a:rPr>
              <a:t>Virtual Memory:</a:t>
            </a:r>
            <a:r>
              <a:rPr lang="en-US" sz="1600" dirty="0">
                <a:solidFill>
                  <a:schemeClr val="accent6"/>
                </a:solidFill>
                <a:latin typeface="Google Sans"/>
              </a:rPr>
              <a:t> Managed by the OS; data not immediately in RAM is swapped to disk.  </a:t>
            </a:r>
          </a:p>
        </p:txBody>
      </p:sp>
    </p:spTree>
    <p:extLst>
      <p:ext uri="{BB962C8B-B14F-4D97-AF65-F5344CB8AC3E}">
        <p14:creationId xmlns:p14="http://schemas.microsoft.com/office/powerpoint/2010/main" val="183692025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291F7-7B74-BAF8-0A4D-38692BB94DA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F17D24E-067C-F729-3F43-B47201D328AF}"/>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3F0F977-FEA0-BFA0-BE51-8DC22CB67A24}"/>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9C2CE37-9989-133D-2459-2029E5773B23}"/>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4F260574-A2CA-4595-5435-9CE4A265B944}"/>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10D1D741-E575-FB37-DF07-064167F7FE36}"/>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69C28E2-317E-41CD-1B25-8EB5CED0835A}"/>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D7B75F0-F4C0-6118-05C8-1E7A8ADB970F}"/>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3E285D57-7CFC-0AB4-BE4B-3D93ACBCB4F4}"/>
              </a:ext>
            </a:extLst>
          </p:cNvPr>
          <p:cNvSpPr txBox="1">
            <a:spLocks/>
          </p:cNvSpPr>
          <p:nvPr/>
        </p:nvSpPr>
        <p:spPr>
          <a:xfrm>
            <a:off x="366663" y="1143000"/>
            <a:ext cx="8624937" cy="156966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800" dirty="0">
                <a:solidFill>
                  <a:schemeClr val="accent2"/>
                </a:solidFill>
                <a:latin typeface="Google Sans"/>
              </a:rPr>
              <a:t>Key Performance Constructs   </a:t>
            </a:r>
            <a:r>
              <a:rPr lang="en-US" sz="1600" dirty="0">
                <a:solidFill>
                  <a:schemeClr val="accent2"/>
                </a:solidFill>
                <a:latin typeface="Google Sans"/>
              </a:rPr>
              <a:t>              </a:t>
            </a:r>
          </a:p>
          <a:p>
            <a:r>
              <a:rPr lang="en-US" sz="1600" dirty="0" err="1">
                <a:solidFill>
                  <a:schemeClr val="accent2"/>
                </a:solidFill>
                <a:latin typeface="Google Sans"/>
              </a:rPr>
              <a:t>stackalloc</a:t>
            </a:r>
            <a:r>
              <a:rPr lang="en-US" sz="1600" dirty="0">
                <a:solidFill>
                  <a:schemeClr val="accent2"/>
                </a:solidFill>
                <a:latin typeface="Google Sans"/>
              </a:rPr>
              <a:t>: </a:t>
            </a:r>
            <a:r>
              <a:rPr lang="en-US" sz="1600" dirty="0">
                <a:solidFill>
                  <a:schemeClr val="accent6"/>
                </a:solidFill>
                <a:latin typeface="Google Sans"/>
              </a:rPr>
              <a:t>Allocates memory directly on the stack for high-performance, short-lived buffers.                  </a:t>
            </a:r>
          </a:p>
          <a:p>
            <a:r>
              <a:rPr lang="en-US" sz="1600" dirty="0" err="1">
                <a:solidFill>
                  <a:schemeClr val="accent2"/>
                </a:solidFill>
                <a:latin typeface="Google Sans"/>
              </a:rPr>
              <a:t>UnmanagedMemoryStream</a:t>
            </a:r>
            <a:r>
              <a:rPr lang="en-US" sz="1600" dirty="0">
                <a:solidFill>
                  <a:schemeClr val="accent2"/>
                </a:solidFill>
                <a:latin typeface="Google Sans"/>
              </a:rPr>
              <a:t>: </a:t>
            </a:r>
            <a:r>
              <a:rPr lang="en-US" sz="1600" dirty="0">
                <a:solidFill>
                  <a:schemeClr val="accent6"/>
                </a:solidFill>
                <a:latin typeface="Google Sans"/>
              </a:rPr>
              <a:t>Accesses unmanaged memory directly.                 </a:t>
            </a:r>
          </a:p>
          <a:p>
            <a:r>
              <a:rPr lang="en-US" sz="1600" dirty="0">
                <a:solidFill>
                  <a:schemeClr val="accent2"/>
                </a:solidFill>
                <a:latin typeface="Google Sans"/>
              </a:rPr>
              <a:t>struct vs class:</a:t>
            </a:r>
            <a:r>
              <a:rPr lang="en-US" sz="1600" dirty="0">
                <a:solidFill>
                  <a:schemeClr val="accent6"/>
                </a:solidFill>
                <a:latin typeface="Google Sans"/>
              </a:rPr>
              <a:t> Structs (value types) are stored on the stack or inline within heap objects, while classes are always heap-allocated, impacting garbage collection overhead. </a:t>
            </a:r>
          </a:p>
          <a:p>
            <a:r>
              <a:rPr lang="en-US" sz="2000" dirty="0">
                <a:solidFill>
                  <a:schemeClr val="accent2"/>
                </a:solidFill>
                <a:latin typeface="Google Sans"/>
              </a:rPr>
              <a:t>Some Other Important Memory Hierarchy related Concepts</a:t>
            </a:r>
          </a:p>
        </p:txBody>
      </p:sp>
      <p:pic>
        <p:nvPicPr>
          <p:cNvPr id="11" name="Picture 10">
            <a:extLst>
              <a:ext uri="{FF2B5EF4-FFF2-40B4-BE49-F238E27FC236}">
                <a16:creationId xmlns:a16="http://schemas.microsoft.com/office/drawing/2014/main" id="{CDC67F50-BA0C-9166-81F1-37545859D28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75300" y="2764997"/>
            <a:ext cx="8624937" cy="359203"/>
          </a:xfrm>
          <a:prstGeom prst="rect">
            <a:avLst/>
          </a:prstGeom>
        </p:spPr>
      </p:pic>
      <p:pic>
        <p:nvPicPr>
          <p:cNvPr id="13" name="Picture 12">
            <a:extLst>
              <a:ext uri="{FF2B5EF4-FFF2-40B4-BE49-F238E27FC236}">
                <a16:creationId xmlns:a16="http://schemas.microsoft.com/office/drawing/2014/main" id="{2F12FA59-0E8F-FA83-131D-7ED0D648BE3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81903" y="3092382"/>
            <a:ext cx="8518334" cy="1327218"/>
          </a:xfrm>
          <a:prstGeom prst="rect">
            <a:avLst/>
          </a:prstGeom>
        </p:spPr>
      </p:pic>
      <p:pic>
        <p:nvPicPr>
          <p:cNvPr id="15" name="Picture 14">
            <a:extLst>
              <a:ext uri="{FF2B5EF4-FFF2-40B4-BE49-F238E27FC236}">
                <a16:creationId xmlns:a16="http://schemas.microsoft.com/office/drawing/2014/main" id="{F9E06DB3-B155-F591-C258-4F163B9DBA7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81903" y="4491219"/>
            <a:ext cx="8518334" cy="1452381"/>
          </a:xfrm>
          <a:prstGeom prst="rect">
            <a:avLst/>
          </a:prstGeom>
        </p:spPr>
      </p:pic>
    </p:spTree>
    <p:extLst>
      <p:ext uri="{BB962C8B-B14F-4D97-AF65-F5344CB8AC3E}">
        <p14:creationId xmlns:p14="http://schemas.microsoft.com/office/powerpoint/2010/main" val="98546876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391AE-BBB5-F8A9-A7B9-D262C82DDD0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E02DE2A-4517-A272-C29F-2E417DA749FE}"/>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2C27F2E-5E74-B460-F056-34DDA42DD62D}"/>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1CFBC45-8729-5B66-9FB0-E10C61C7B8F9}"/>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9E12CAF1-8F00-41EE-F9E2-5151F505E9A8}"/>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93B113C5-2F55-F320-27D6-C433D15FAF66}"/>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AC76027A-E8B7-DE4F-609A-37C1A5CCDFFF}"/>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5255E1F5-2522-6CF3-5644-A40B507BFB8A}"/>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pic>
        <p:nvPicPr>
          <p:cNvPr id="11" name="Picture 10">
            <a:extLst>
              <a:ext uri="{FF2B5EF4-FFF2-40B4-BE49-F238E27FC236}">
                <a16:creationId xmlns:a16="http://schemas.microsoft.com/office/drawing/2014/main" id="{45971E44-CE46-E4D3-C28F-006AB87C26D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75300" y="1502732"/>
            <a:ext cx="8624937" cy="326068"/>
          </a:xfrm>
          <a:prstGeom prst="rect">
            <a:avLst/>
          </a:prstGeom>
        </p:spPr>
      </p:pic>
      <p:pic>
        <p:nvPicPr>
          <p:cNvPr id="12" name="Picture 11">
            <a:extLst>
              <a:ext uri="{FF2B5EF4-FFF2-40B4-BE49-F238E27FC236}">
                <a16:creationId xmlns:a16="http://schemas.microsoft.com/office/drawing/2014/main" id="{033467A1-5349-2AFB-188E-8311566D02B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81904" y="1863515"/>
            <a:ext cx="8609696" cy="1664878"/>
          </a:xfrm>
          <a:prstGeom prst="rect">
            <a:avLst/>
          </a:prstGeom>
        </p:spPr>
      </p:pic>
      <p:pic>
        <p:nvPicPr>
          <p:cNvPr id="16" name="Picture 15">
            <a:extLst>
              <a:ext uri="{FF2B5EF4-FFF2-40B4-BE49-F238E27FC236}">
                <a16:creationId xmlns:a16="http://schemas.microsoft.com/office/drawing/2014/main" id="{C810BC5B-6ABF-50AA-3D5A-3E3C1280C98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04800" y="3581400"/>
            <a:ext cx="8380194" cy="2362200"/>
          </a:xfrm>
          <a:prstGeom prst="rect">
            <a:avLst/>
          </a:prstGeom>
        </p:spPr>
      </p:pic>
      <p:sp>
        <p:nvSpPr>
          <p:cNvPr id="7" name="object 2">
            <a:extLst>
              <a:ext uri="{FF2B5EF4-FFF2-40B4-BE49-F238E27FC236}">
                <a16:creationId xmlns:a16="http://schemas.microsoft.com/office/drawing/2014/main" id="{15ADBDE8-7C36-FCA6-D26D-6C8A1839CD1F}"/>
              </a:ext>
            </a:extLst>
          </p:cNvPr>
          <p:cNvSpPr txBox="1">
            <a:spLocks/>
          </p:cNvSpPr>
          <p:nvPr/>
        </p:nvSpPr>
        <p:spPr>
          <a:xfrm>
            <a:off x="366663" y="1143000"/>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Some Other Important Memory Hierarchy related Concepts</a:t>
            </a:r>
          </a:p>
        </p:txBody>
      </p:sp>
    </p:spTree>
    <p:extLst>
      <p:ext uri="{BB962C8B-B14F-4D97-AF65-F5344CB8AC3E}">
        <p14:creationId xmlns:p14="http://schemas.microsoft.com/office/powerpoint/2010/main" val="38177994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D85B9-8E59-FA38-1A83-A4092314339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69027FB-1098-C15E-3D47-E2D4A667C0FC}"/>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7860E14-7882-F00F-A66A-104B9F09281E}"/>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CDCE2B9-92E8-EF76-5D86-A3FB66D5E84B}"/>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B2CB5F69-8C13-6FE4-7288-B3FE9CC20CB0}"/>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BA1792B7-13E5-50E4-CE3F-D19F6C97DC75}"/>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28494703-95EC-1773-FD86-7E83EB72A5DA}"/>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9A3AF07A-B726-A7AA-2A64-A16CC5C03796}"/>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975A0C35-380D-70FD-AE15-58CE208DCDC5}"/>
              </a:ext>
            </a:extLst>
          </p:cNvPr>
          <p:cNvSpPr txBox="1">
            <a:spLocks/>
          </p:cNvSpPr>
          <p:nvPr/>
        </p:nvSpPr>
        <p:spPr>
          <a:xfrm>
            <a:off x="366663" y="1143000"/>
            <a:ext cx="8624937" cy="418576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600" dirty="0">
                <a:solidFill>
                  <a:schemeClr val="accent2"/>
                </a:solidFill>
                <a:latin typeface="Google Sans"/>
              </a:rPr>
              <a:t>NUMA</a:t>
            </a:r>
          </a:p>
          <a:p>
            <a:r>
              <a:rPr lang="en-US" sz="1600" dirty="0">
                <a:solidFill>
                  <a:schemeClr val="accent2"/>
                </a:solidFill>
                <a:latin typeface="Google Sans"/>
              </a:rPr>
              <a:t>1. What is NUMA? </a:t>
            </a:r>
          </a:p>
          <a:p>
            <a:r>
              <a:rPr lang="en-US" sz="1600" dirty="0">
                <a:solidFill>
                  <a:schemeClr val="accent6"/>
                </a:solidFill>
                <a:latin typeface="Google Sans"/>
              </a:rPr>
              <a:t>NUMA = Non-Uniform Memory Access</a:t>
            </a:r>
          </a:p>
          <a:p>
            <a:r>
              <a:rPr lang="en-US" sz="1600" dirty="0">
                <a:solidFill>
                  <a:schemeClr val="accent6"/>
                </a:solidFill>
                <a:latin typeface="Google Sans"/>
              </a:rPr>
              <a:t>System has multiple CPU sockets (nodes)</a:t>
            </a:r>
          </a:p>
          <a:p>
            <a:r>
              <a:rPr lang="en-US" sz="1600" dirty="0">
                <a:solidFill>
                  <a:schemeClr val="accent6"/>
                </a:solidFill>
                <a:latin typeface="Google Sans"/>
              </a:rPr>
              <a:t>Each node has local memory</a:t>
            </a:r>
          </a:p>
          <a:p>
            <a:r>
              <a:rPr lang="en-US" sz="1600" dirty="0">
                <a:solidFill>
                  <a:schemeClr val="accent2"/>
                </a:solidFill>
                <a:latin typeface="Google Sans"/>
              </a:rPr>
              <a:t>Accessing:</a:t>
            </a:r>
          </a:p>
          <a:p>
            <a:r>
              <a:rPr lang="en-US" sz="1600" dirty="0">
                <a:solidFill>
                  <a:schemeClr val="accent6"/>
                </a:solidFill>
                <a:latin typeface="Google Sans"/>
              </a:rPr>
              <a:t>Local memory → fast</a:t>
            </a:r>
          </a:p>
          <a:p>
            <a:r>
              <a:rPr lang="en-US" sz="1600" dirty="0">
                <a:solidFill>
                  <a:schemeClr val="accent6"/>
                </a:solidFill>
                <a:latin typeface="Google Sans"/>
              </a:rPr>
              <a:t>Remote node memory → slower</a:t>
            </a:r>
          </a:p>
          <a:p>
            <a:r>
              <a:rPr lang="en-US" sz="1600" dirty="0">
                <a:solidFill>
                  <a:schemeClr val="accent6"/>
                </a:solidFill>
                <a:latin typeface="Google Sans"/>
              </a:rPr>
              <a:t>CPU Node 0  &lt;--&gt;  Memory 0   (fast)</a:t>
            </a:r>
          </a:p>
          <a:p>
            <a:r>
              <a:rPr lang="en-US" sz="1600" dirty="0">
                <a:solidFill>
                  <a:schemeClr val="accent6"/>
                </a:solidFill>
                <a:latin typeface="Google Sans"/>
              </a:rPr>
              <a:t>CPU Node 1  &lt;--&gt;  Memory 1   (fast)</a:t>
            </a:r>
          </a:p>
          <a:p>
            <a:r>
              <a:rPr lang="en-US" sz="1600" dirty="0">
                <a:solidFill>
                  <a:schemeClr val="accent6"/>
                </a:solidFill>
                <a:latin typeface="Google Sans"/>
              </a:rPr>
              <a:t>CPU Node 0  ---&gt;  Memory 1   (slow)</a:t>
            </a:r>
          </a:p>
          <a:p>
            <a:r>
              <a:rPr lang="en-US" sz="1600" dirty="0">
                <a:solidFill>
                  <a:schemeClr val="accent2"/>
                </a:solidFill>
                <a:latin typeface="Google Sans"/>
              </a:rPr>
              <a:t>NUMA matters for:</a:t>
            </a:r>
          </a:p>
          <a:p>
            <a:r>
              <a:rPr lang="en-US" sz="1600" dirty="0">
                <a:solidFill>
                  <a:schemeClr val="accent6"/>
                </a:solidFill>
                <a:latin typeface="Google Sans"/>
              </a:rPr>
              <a:t>High-core servers</a:t>
            </a:r>
          </a:p>
          <a:p>
            <a:r>
              <a:rPr lang="en-US" sz="1600" dirty="0">
                <a:solidFill>
                  <a:schemeClr val="accent6"/>
                </a:solidFill>
                <a:latin typeface="Google Sans"/>
              </a:rPr>
              <a:t>Large RAM machines</a:t>
            </a:r>
          </a:p>
          <a:p>
            <a:r>
              <a:rPr lang="en-US" sz="1600" dirty="0">
                <a:solidFill>
                  <a:schemeClr val="accent6"/>
                </a:solidFill>
                <a:latin typeface="Google Sans"/>
              </a:rPr>
              <a:t>Latency-sensitive workloads</a:t>
            </a:r>
          </a:p>
          <a:p>
            <a:endParaRPr lang="en-US" sz="1600" dirty="0">
              <a:solidFill>
                <a:schemeClr val="accent6"/>
              </a:solidFill>
              <a:latin typeface="Google Sans"/>
            </a:endParaRPr>
          </a:p>
          <a:p>
            <a:endParaRPr lang="en-US" sz="1600" dirty="0">
              <a:solidFill>
                <a:schemeClr val="accent6"/>
              </a:solidFill>
              <a:latin typeface="Google Sans"/>
            </a:endParaRPr>
          </a:p>
        </p:txBody>
      </p:sp>
    </p:spTree>
    <p:extLst>
      <p:ext uri="{BB962C8B-B14F-4D97-AF65-F5344CB8AC3E}">
        <p14:creationId xmlns:p14="http://schemas.microsoft.com/office/powerpoint/2010/main" val="272159994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03758-E625-750B-981D-4BAAC52CD16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D6B8CB9-2967-29D2-6747-8D50ED19B6FF}"/>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41FFFDE-3B9B-2200-CE20-C257D28828C5}"/>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2A53FE1-85A0-55FD-53D3-42F7DA22C9C4}"/>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01E5BD1F-5DC5-46BC-8CDF-14EC2A69FE9E}"/>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A21E0339-E963-657D-C5BC-8D5D8F3FF47F}"/>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00508D9B-0988-53A3-940A-C84ECA62CE0F}"/>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2A924BA3-8E60-5424-527C-EAD0F648F735}"/>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13754A0E-C105-53E7-9D1C-826610730D86}"/>
              </a:ext>
            </a:extLst>
          </p:cNvPr>
          <p:cNvSpPr txBox="1">
            <a:spLocks/>
          </p:cNvSpPr>
          <p:nvPr/>
        </p:nvSpPr>
        <p:spPr>
          <a:xfrm>
            <a:off x="366663" y="1143000"/>
            <a:ext cx="8624937" cy="46782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600" dirty="0">
                <a:solidFill>
                  <a:schemeClr val="accent2"/>
                </a:solidFill>
                <a:latin typeface="Google Sans"/>
              </a:rPr>
              <a:t>NUMA</a:t>
            </a:r>
          </a:p>
          <a:p>
            <a:r>
              <a:rPr lang="en-US" sz="1600" dirty="0">
                <a:solidFill>
                  <a:schemeClr val="accent2"/>
                </a:solidFill>
                <a:latin typeface="Google Sans"/>
              </a:rPr>
              <a:t>3. .NET Garbage Collector and NUMA</a:t>
            </a:r>
          </a:p>
          <a:p>
            <a:r>
              <a:rPr lang="en-US" sz="1600" dirty="0">
                <a:solidFill>
                  <a:schemeClr val="accent6"/>
                </a:solidFill>
                <a:latin typeface="Google Sans"/>
              </a:rPr>
              <a:t>or</a:t>
            </a:r>
          </a:p>
          <a:p>
            <a:r>
              <a:rPr lang="en-US" sz="1600" dirty="0">
                <a:solidFill>
                  <a:schemeClr val="accent6"/>
                </a:solidFill>
                <a:latin typeface="Google Sans"/>
              </a:rPr>
              <a:t>&lt;!-- </a:t>
            </a:r>
            <a:r>
              <a:rPr lang="en-US" sz="1600" dirty="0" err="1">
                <a:solidFill>
                  <a:schemeClr val="accent6"/>
                </a:solidFill>
                <a:latin typeface="Google Sans"/>
              </a:rPr>
              <a:t>app.config</a:t>
            </a:r>
            <a:r>
              <a:rPr lang="en-US" sz="1600" dirty="0">
                <a:solidFill>
                  <a:schemeClr val="accent6"/>
                </a:solidFill>
                <a:latin typeface="Google Sans"/>
              </a:rPr>
              <a:t> --&gt;</a:t>
            </a:r>
          </a:p>
          <a:p>
            <a:r>
              <a:rPr lang="en-US" sz="1600" dirty="0">
                <a:solidFill>
                  <a:schemeClr val="accent6"/>
                </a:solidFill>
                <a:latin typeface="Google Sans"/>
              </a:rPr>
              <a:t>&lt;configuration&gt;</a:t>
            </a:r>
          </a:p>
          <a:p>
            <a:r>
              <a:rPr lang="en-US" sz="1600" dirty="0">
                <a:solidFill>
                  <a:schemeClr val="accent6"/>
                </a:solidFill>
                <a:latin typeface="Google Sans"/>
              </a:rPr>
              <a:t>  &lt;runtime&gt;</a:t>
            </a:r>
          </a:p>
          <a:p>
            <a:r>
              <a:rPr lang="en-US" sz="1600" dirty="0">
                <a:solidFill>
                  <a:schemeClr val="accent6"/>
                </a:solidFill>
                <a:latin typeface="Google Sans"/>
              </a:rPr>
              <a:t>    &lt;</a:t>
            </a:r>
            <a:r>
              <a:rPr lang="en-US" sz="1600" dirty="0" err="1">
                <a:solidFill>
                  <a:schemeClr val="accent6"/>
                </a:solidFill>
                <a:latin typeface="Google Sans"/>
              </a:rPr>
              <a:t>gcServer</a:t>
            </a:r>
            <a:r>
              <a:rPr lang="en-US" sz="1600" dirty="0">
                <a:solidFill>
                  <a:schemeClr val="accent6"/>
                </a:solidFill>
                <a:latin typeface="Google Sans"/>
              </a:rPr>
              <a:t> enabled="true" /&gt;</a:t>
            </a:r>
          </a:p>
          <a:p>
            <a:r>
              <a:rPr lang="en-US" sz="1600" dirty="0">
                <a:solidFill>
                  <a:schemeClr val="accent6"/>
                </a:solidFill>
                <a:latin typeface="Google Sans"/>
              </a:rPr>
              <a:t>  &lt;/runtime&gt;</a:t>
            </a:r>
          </a:p>
          <a:p>
            <a:r>
              <a:rPr lang="en-US" sz="1600" dirty="0">
                <a:solidFill>
                  <a:schemeClr val="accent6"/>
                </a:solidFill>
                <a:latin typeface="Google Sans"/>
              </a:rPr>
              <a:t>&lt;/configuration&gt;</a:t>
            </a:r>
          </a:p>
          <a:p>
            <a:r>
              <a:rPr lang="en-US" sz="1600" dirty="0">
                <a:solidFill>
                  <a:schemeClr val="accent6"/>
                </a:solidFill>
                <a:latin typeface="Google Sans"/>
              </a:rPr>
              <a:t>✔ Strongly recommended for NUMA systems.</a:t>
            </a:r>
          </a:p>
          <a:p>
            <a:r>
              <a:rPr lang="en-US" sz="1600" dirty="0">
                <a:solidFill>
                  <a:schemeClr val="accent2"/>
                </a:solidFill>
                <a:latin typeface="Google Sans"/>
              </a:rPr>
              <a:t>4. Thread Scheduling &amp; NUMA in .NET</a:t>
            </a:r>
          </a:p>
          <a:p>
            <a:r>
              <a:rPr lang="en-US" sz="1600" dirty="0">
                <a:solidFill>
                  <a:schemeClr val="accent2"/>
                </a:solidFill>
                <a:latin typeface="Google Sans"/>
              </a:rPr>
              <a:t>Default behavior</a:t>
            </a:r>
          </a:p>
          <a:p>
            <a:r>
              <a:rPr lang="en-US" sz="1600" dirty="0">
                <a:solidFill>
                  <a:schemeClr val="accent6"/>
                </a:solidFill>
                <a:latin typeface="Google Sans"/>
              </a:rPr>
              <a:t>.NET threads are scheduled by the OS</a:t>
            </a:r>
          </a:p>
          <a:p>
            <a:r>
              <a:rPr lang="en-US" sz="1600" dirty="0">
                <a:solidFill>
                  <a:schemeClr val="accent2"/>
                </a:solidFill>
                <a:latin typeface="Google Sans"/>
              </a:rPr>
              <a:t>OS tries to keep:</a:t>
            </a:r>
          </a:p>
          <a:p>
            <a:r>
              <a:rPr lang="en-US" sz="1600" dirty="0">
                <a:solidFill>
                  <a:schemeClr val="accent6"/>
                </a:solidFill>
                <a:latin typeface="Google Sans"/>
              </a:rPr>
              <a:t>Thread</a:t>
            </a:r>
          </a:p>
          <a:p>
            <a:r>
              <a:rPr lang="en-US" sz="1600" dirty="0">
                <a:solidFill>
                  <a:schemeClr val="accent6"/>
                </a:solidFill>
                <a:latin typeface="Google Sans"/>
              </a:rPr>
              <a:t>Memory</a:t>
            </a:r>
          </a:p>
          <a:p>
            <a:r>
              <a:rPr lang="en-US" sz="1600" dirty="0">
                <a:solidFill>
                  <a:schemeClr val="accent6"/>
                </a:solidFill>
                <a:latin typeface="Google Sans"/>
              </a:rPr>
              <a:t>CPU core on the same NUMA node</a:t>
            </a:r>
          </a:p>
          <a:p>
            <a:r>
              <a:rPr lang="en-US" sz="1600" dirty="0" err="1">
                <a:solidFill>
                  <a:schemeClr val="accent6"/>
                </a:solidFill>
                <a:latin typeface="Google Sans"/>
              </a:rPr>
              <a:t>ThreadPool</a:t>
            </a:r>
            <a:r>
              <a:rPr lang="en-US" sz="1600" dirty="0">
                <a:solidFill>
                  <a:schemeClr val="accent6"/>
                </a:solidFill>
                <a:latin typeface="Google Sans"/>
              </a:rPr>
              <a:t> behavior</a:t>
            </a:r>
          </a:p>
          <a:p>
            <a:r>
              <a:rPr lang="en-US" sz="1600" dirty="0" err="1">
                <a:solidFill>
                  <a:schemeClr val="accent6"/>
                </a:solidFill>
                <a:latin typeface="Google Sans"/>
              </a:rPr>
              <a:t>ThreadPool</a:t>
            </a:r>
            <a:r>
              <a:rPr lang="en-US" sz="1600" dirty="0">
                <a:solidFill>
                  <a:schemeClr val="accent6"/>
                </a:solidFill>
                <a:latin typeface="Google Sans"/>
              </a:rPr>
              <a:t> threads migrate</a:t>
            </a:r>
          </a:p>
        </p:txBody>
      </p:sp>
    </p:spTree>
    <p:extLst>
      <p:ext uri="{BB962C8B-B14F-4D97-AF65-F5344CB8AC3E}">
        <p14:creationId xmlns:p14="http://schemas.microsoft.com/office/powerpoint/2010/main" val="409226711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9E467-B9E7-AB05-82EE-DDE21E4B2C5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8637893-FF11-B933-CC6F-0D2A418802DC}"/>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A09D430-4C75-4F21-4021-7E55E9681A85}"/>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D699A5C-AD35-8595-E116-8049B0114D49}"/>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96B2EEE1-F043-4D6E-FE41-BAF649828C34}"/>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FCF481FB-D9FE-03C3-3E8C-62BC533AB631}"/>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68B7BF6B-C42E-AA6A-241D-8A9F94AC11A5}"/>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62189265-AAE5-C092-7581-E2DB8600100C}"/>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527CDBE7-C7F2-7B18-F628-F3547CC4E2E8}"/>
              </a:ext>
            </a:extLst>
          </p:cNvPr>
          <p:cNvSpPr txBox="1">
            <a:spLocks/>
          </p:cNvSpPr>
          <p:nvPr/>
        </p:nvSpPr>
        <p:spPr>
          <a:xfrm>
            <a:off x="366663" y="1143000"/>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600" dirty="0">
                <a:solidFill>
                  <a:schemeClr val="accent2"/>
                </a:solidFill>
                <a:latin typeface="Google Sans"/>
              </a:rPr>
              <a:t>NUMA</a:t>
            </a:r>
          </a:p>
          <a:p>
            <a:r>
              <a:rPr lang="en-US" sz="1600" dirty="0">
                <a:solidFill>
                  <a:schemeClr val="accent2"/>
                </a:solidFill>
                <a:latin typeface="Google Sans"/>
              </a:rPr>
              <a:t>4. Thread Scheduling &amp; NUMA in .NET</a:t>
            </a:r>
          </a:p>
          <a:p>
            <a:r>
              <a:rPr lang="en-US" sz="1600" dirty="0">
                <a:solidFill>
                  <a:schemeClr val="accent2"/>
                </a:solidFill>
                <a:latin typeface="Google Sans"/>
              </a:rPr>
              <a:t>Can cause:</a:t>
            </a:r>
          </a:p>
          <a:p>
            <a:r>
              <a:rPr lang="en-US" sz="1600" dirty="0">
                <a:solidFill>
                  <a:schemeClr val="accent6"/>
                </a:solidFill>
                <a:latin typeface="Google Sans"/>
              </a:rPr>
              <a:t>Remote memory access</a:t>
            </a:r>
          </a:p>
          <a:p>
            <a:r>
              <a:rPr lang="en-US" sz="1600" dirty="0">
                <a:solidFill>
                  <a:schemeClr val="accent6"/>
                </a:solidFill>
                <a:latin typeface="Google Sans"/>
              </a:rPr>
              <a:t>Cache misses</a:t>
            </a:r>
          </a:p>
          <a:p>
            <a:r>
              <a:rPr lang="en-US" sz="1600" dirty="0">
                <a:solidFill>
                  <a:schemeClr val="accent2"/>
                </a:solidFill>
                <a:latin typeface="Google Sans"/>
              </a:rPr>
              <a:t>This is acceptable for:</a:t>
            </a:r>
          </a:p>
          <a:p>
            <a:r>
              <a:rPr lang="en-US" sz="1600" dirty="0">
                <a:solidFill>
                  <a:schemeClr val="accent6"/>
                </a:solidFill>
                <a:latin typeface="Google Sans"/>
              </a:rPr>
              <a:t>Web APIs</a:t>
            </a:r>
          </a:p>
          <a:p>
            <a:r>
              <a:rPr lang="en-US" sz="1600" dirty="0">
                <a:solidFill>
                  <a:schemeClr val="accent6"/>
                </a:solidFill>
                <a:latin typeface="Google Sans"/>
              </a:rPr>
              <a:t>Typical backend services</a:t>
            </a:r>
          </a:p>
          <a:p>
            <a:r>
              <a:rPr lang="en-US" sz="1600" dirty="0">
                <a:solidFill>
                  <a:schemeClr val="accent2"/>
                </a:solidFill>
                <a:latin typeface="Google Sans"/>
              </a:rPr>
              <a:t>But problematic for:</a:t>
            </a:r>
          </a:p>
          <a:p>
            <a:r>
              <a:rPr lang="en-US" sz="1600" dirty="0">
                <a:solidFill>
                  <a:schemeClr val="accent6"/>
                </a:solidFill>
                <a:latin typeface="Google Sans"/>
              </a:rPr>
              <a:t>Low-latency systems</a:t>
            </a:r>
          </a:p>
          <a:p>
            <a:r>
              <a:rPr lang="en-US" sz="1600" dirty="0">
                <a:solidFill>
                  <a:schemeClr val="accent6"/>
                </a:solidFill>
                <a:latin typeface="Google Sans"/>
              </a:rPr>
              <a:t>High-frequency trading</a:t>
            </a:r>
          </a:p>
          <a:p>
            <a:r>
              <a:rPr lang="en-US" sz="1600" dirty="0">
                <a:solidFill>
                  <a:schemeClr val="accent6"/>
                </a:solidFill>
                <a:latin typeface="Google Sans"/>
              </a:rPr>
              <a:t>Scientific computing</a:t>
            </a:r>
          </a:p>
          <a:p>
            <a:r>
              <a:rPr lang="en-US" sz="1600" dirty="0">
                <a:solidFill>
                  <a:schemeClr val="accent2"/>
                </a:solidFill>
                <a:latin typeface="Google Sans"/>
              </a:rPr>
              <a:t>5. Manual NUMA Control in .NET (Advanced)</a:t>
            </a:r>
          </a:p>
          <a:p>
            <a:r>
              <a:rPr lang="en-US" sz="1600" dirty="0">
                <a:solidFill>
                  <a:schemeClr val="accent2"/>
                </a:solidFill>
                <a:latin typeface="Google Sans"/>
              </a:rPr>
              <a:t>5.1 Pin threads to CPUs (Affinity)</a:t>
            </a:r>
          </a:p>
          <a:p>
            <a:r>
              <a:rPr lang="en-US" sz="1600" dirty="0">
                <a:solidFill>
                  <a:schemeClr val="accent6"/>
                </a:solidFill>
                <a:latin typeface="Google Sans"/>
              </a:rPr>
              <a:t>using </a:t>
            </a:r>
            <a:r>
              <a:rPr lang="en-US" sz="1600" dirty="0" err="1">
                <a:solidFill>
                  <a:schemeClr val="accent6"/>
                </a:solidFill>
                <a:latin typeface="Google Sans"/>
              </a:rPr>
              <a:t>System.Diagnostics</a:t>
            </a:r>
            <a:r>
              <a:rPr lang="en-US" sz="1600" dirty="0">
                <a:solidFill>
                  <a:schemeClr val="accent6"/>
                </a:solidFill>
                <a:latin typeface="Google Sans"/>
              </a:rPr>
              <a:t>;</a:t>
            </a:r>
          </a:p>
          <a:p>
            <a:r>
              <a:rPr lang="en-US" sz="1600" dirty="0" err="1">
                <a:solidFill>
                  <a:schemeClr val="accent6"/>
                </a:solidFill>
                <a:latin typeface="Google Sans"/>
              </a:rPr>
              <a:t>Process.GetCurrentProcess</a:t>
            </a:r>
            <a:r>
              <a:rPr lang="en-US" sz="1600" dirty="0">
                <a:solidFill>
                  <a:schemeClr val="accent6"/>
                </a:solidFill>
                <a:latin typeface="Google Sans"/>
              </a:rPr>
              <a:t>().</a:t>
            </a:r>
            <a:r>
              <a:rPr lang="en-US" sz="1600" dirty="0" err="1">
                <a:solidFill>
                  <a:schemeClr val="accent6"/>
                </a:solidFill>
                <a:latin typeface="Google Sans"/>
              </a:rPr>
              <a:t>ProcessorAffinity</a:t>
            </a:r>
            <a:r>
              <a:rPr lang="en-US" sz="1600" dirty="0">
                <a:solidFill>
                  <a:schemeClr val="accent6"/>
                </a:solidFill>
                <a:latin typeface="Google Sans"/>
              </a:rPr>
              <a:t> =</a:t>
            </a:r>
          </a:p>
          <a:p>
            <a:r>
              <a:rPr lang="en-US" sz="1600" dirty="0">
                <a:solidFill>
                  <a:schemeClr val="accent6"/>
                </a:solidFill>
                <a:latin typeface="Google Sans"/>
              </a:rPr>
              <a:t>    (</a:t>
            </a:r>
            <a:r>
              <a:rPr lang="en-US" sz="1600" dirty="0" err="1">
                <a:solidFill>
                  <a:schemeClr val="accent6"/>
                </a:solidFill>
                <a:latin typeface="Google Sans"/>
              </a:rPr>
              <a:t>IntPtr</a:t>
            </a:r>
            <a:r>
              <a:rPr lang="en-US" sz="1600" dirty="0">
                <a:solidFill>
                  <a:schemeClr val="accent6"/>
                </a:solidFill>
                <a:latin typeface="Google Sans"/>
              </a:rPr>
              <a:t>)(1 &lt;&lt; 4); // Pin to CPU core 4</a:t>
            </a:r>
          </a:p>
          <a:p>
            <a:r>
              <a:rPr lang="en-US" sz="1600" dirty="0">
                <a:solidFill>
                  <a:schemeClr val="accent6"/>
                </a:solidFill>
                <a:latin typeface="Google Sans"/>
              </a:rPr>
              <a:t>⚠ This is dangerous unless you know:</a:t>
            </a:r>
          </a:p>
          <a:p>
            <a:r>
              <a:rPr lang="en-US" sz="1600" dirty="0">
                <a:solidFill>
                  <a:schemeClr val="accent6"/>
                </a:solidFill>
                <a:latin typeface="Google Sans"/>
              </a:rPr>
              <a:t>Core layout</a:t>
            </a:r>
          </a:p>
          <a:p>
            <a:r>
              <a:rPr lang="en-US" sz="1600" dirty="0">
                <a:solidFill>
                  <a:schemeClr val="accent6"/>
                </a:solidFill>
                <a:latin typeface="Google Sans"/>
              </a:rPr>
              <a:t>NUMA topology</a:t>
            </a:r>
            <a:endParaRPr lang="en-US" sz="1600" dirty="0">
              <a:solidFill>
                <a:schemeClr val="accent2"/>
              </a:solidFill>
              <a:latin typeface="Google Sans"/>
            </a:endParaRPr>
          </a:p>
        </p:txBody>
      </p:sp>
    </p:spTree>
    <p:extLst>
      <p:ext uri="{BB962C8B-B14F-4D97-AF65-F5344CB8AC3E}">
        <p14:creationId xmlns:p14="http://schemas.microsoft.com/office/powerpoint/2010/main" val="17881330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26EA1-B4DF-38AD-4870-7B3D5DC7CD0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7F785D0-4ABA-8D73-83E7-8F86EA6B9EC8}"/>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2A9DC8E-E2F9-51D0-CFBF-F5CD72E722D9}"/>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CF74E16-EBA4-2113-002D-304B20BB01C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17610A12-E421-40BF-EB7B-B2B6D988724B}"/>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28EADA23-1A8B-FE3A-9C49-CE09D112E1EB}"/>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19C843D9-4102-762E-36D9-974924F3F0BA}"/>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57E3DF39-1CFD-B3B2-1B2C-D001B69E322B}"/>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4F93747A-25FE-E670-C92A-8B76B882AB1E}"/>
              </a:ext>
            </a:extLst>
          </p:cNvPr>
          <p:cNvSpPr txBox="1">
            <a:spLocks/>
          </p:cNvSpPr>
          <p:nvPr/>
        </p:nvSpPr>
        <p:spPr>
          <a:xfrm>
            <a:off x="366663" y="1143000"/>
            <a:ext cx="8624937" cy="443198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600" dirty="0">
                <a:solidFill>
                  <a:schemeClr val="accent2"/>
                </a:solidFill>
                <a:latin typeface="Google Sans"/>
              </a:rPr>
              <a:t>NUMA</a:t>
            </a:r>
          </a:p>
          <a:p>
            <a:r>
              <a:rPr lang="en-US" sz="1600" dirty="0">
                <a:solidFill>
                  <a:schemeClr val="accent2"/>
                </a:solidFill>
                <a:latin typeface="Google Sans"/>
              </a:rPr>
              <a:t>5. Manual NUMA Control in .NET (Advanced)</a:t>
            </a:r>
          </a:p>
          <a:p>
            <a:r>
              <a:rPr lang="en-US" sz="1600" dirty="0">
                <a:solidFill>
                  <a:schemeClr val="accent2"/>
                </a:solidFill>
                <a:latin typeface="Google Sans"/>
              </a:rPr>
              <a:t>5.2 NUMA APIs via P/Invoke (Windows)</a:t>
            </a:r>
          </a:p>
          <a:p>
            <a:r>
              <a:rPr lang="en-US" sz="1600" dirty="0">
                <a:solidFill>
                  <a:schemeClr val="accent6"/>
                </a:solidFill>
                <a:latin typeface="Google Sans"/>
              </a:rPr>
              <a:t>You can query NUMA nodes using Win32:</a:t>
            </a:r>
          </a:p>
          <a:p>
            <a:r>
              <a:rPr lang="en-US" sz="1600" dirty="0">
                <a:solidFill>
                  <a:schemeClr val="accent6"/>
                </a:solidFill>
                <a:latin typeface="Google Sans"/>
              </a:rPr>
              <a:t>[</a:t>
            </a:r>
            <a:r>
              <a:rPr lang="en-US" sz="1600" dirty="0" err="1">
                <a:solidFill>
                  <a:schemeClr val="accent6"/>
                </a:solidFill>
                <a:latin typeface="Google Sans"/>
              </a:rPr>
              <a:t>DllImport</a:t>
            </a:r>
            <a:r>
              <a:rPr lang="en-US" sz="1600" dirty="0">
                <a:solidFill>
                  <a:schemeClr val="accent6"/>
                </a:solidFill>
                <a:latin typeface="Google Sans"/>
              </a:rPr>
              <a:t>("kernel32.dll")]</a:t>
            </a:r>
          </a:p>
          <a:p>
            <a:r>
              <a:rPr lang="en-US" sz="1600" dirty="0">
                <a:solidFill>
                  <a:schemeClr val="accent6"/>
                </a:solidFill>
                <a:latin typeface="Google Sans"/>
              </a:rPr>
              <a:t>static extern bool </a:t>
            </a:r>
            <a:r>
              <a:rPr lang="en-US" sz="1600" dirty="0" err="1">
                <a:solidFill>
                  <a:schemeClr val="accent6"/>
                </a:solidFill>
                <a:latin typeface="Google Sans"/>
              </a:rPr>
              <a:t>GetNumaHighestNodeNumber</a:t>
            </a:r>
            <a:r>
              <a:rPr lang="en-US" sz="1600" dirty="0">
                <a:solidFill>
                  <a:schemeClr val="accent6"/>
                </a:solidFill>
                <a:latin typeface="Google Sans"/>
              </a:rPr>
              <a:t>(out </a:t>
            </a:r>
            <a:r>
              <a:rPr lang="en-US" sz="1600" dirty="0" err="1">
                <a:solidFill>
                  <a:schemeClr val="accent6"/>
                </a:solidFill>
                <a:latin typeface="Google Sans"/>
              </a:rPr>
              <a:t>uint</a:t>
            </a:r>
            <a:r>
              <a:rPr lang="en-US" sz="1600" dirty="0">
                <a:solidFill>
                  <a:schemeClr val="accent6"/>
                </a:solidFill>
                <a:latin typeface="Google Sans"/>
              </a:rPr>
              <a:t> </a:t>
            </a:r>
            <a:r>
              <a:rPr lang="en-US" sz="1600" dirty="0" err="1">
                <a:solidFill>
                  <a:schemeClr val="accent6"/>
                </a:solidFill>
                <a:latin typeface="Google Sans"/>
              </a:rPr>
              <a:t>nodeNumber</a:t>
            </a:r>
            <a:r>
              <a:rPr lang="en-US" sz="1600" dirty="0">
                <a:solidFill>
                  <a:schemeClr val="accent6"/>
                </a:solidFill>
                <a:latin typeface="Google Sans"/>
              </a:rPr>
              <a:t>);</a:t>
            </a:r>
          </a:p>
          <a:p>
            <a:r>
              <a:rPr lang="en-US" sz="1600" dirty="0">
                <a:solidFill>
                  <a:schemeClr val="accent2"/>
                </a:solidFill>
                <a:latin typeface="Google Sans"/>
              </a:rPr>
              <a:t>You can also:</a:t>
            </a:r>
          </a:p>
          <a:p>
            <a:r>
              <a:rPr lang="en-US" sz="1600" dirty="0">
                <a:solidFill>
                  <a:schemeClr val="accent6"/>
                </a:solidFill>
                <a:latin typeface="Google Sans"/>
              </a:rPr>
              <a:t>Allocate memory on specific NUMA nodes</a:t>
            </a:r>
          </a:p>
          <a:p>
            <a:r>
              <a:rPr lang="en-US" sz="1600" dirty="0">
                <a:solidFill>
                  <a:schemeClr val="accent6"/>
                </a:solidFill>
                <a:latin typeface="Google Sans"/>
              </a:rPr>
              <a:t>Bind threads to nodes</a:t>
            </a:r>
          </a:p>
          <a:p>
            <a:r>
              <a:rPr lang="en-US" sz="1600" dirty="0">
                <a:solidFill>
                  <a:schemeClr val="accent6"/>
                </a:solidFill>
                <a:latin typeface="Google Sans"/>
              </a:rPr>
              <a:t>But this is very advanced and rarely worth it.</a:t>
            </a:r>
          </a:p>
          <a:p>
            <a:r>
              <a:rPr lang="en-US" sz="1600" dirty="0">
                <a:solidFill>
                  <a:schemeClr val="accent2"/>
                </a:solidFill>
                <a:latin typeface="Google Sans"/>
              </a:rPr>
              <a:t>6. ASP.NET Core + NUMA Best Practices</a:t>
            </a:r>
          </a:p>
          <a:p>
            <a:r>
              <a:rPr lang="en-US" sz="1600" dirty="0">
                <a:solidFill>
                  <a:schemeClr val="accent6"/>
                </a:solidFill>
                <a:latin typeface="Google Sans"/>
              </a:rPr>
              <a:t>Recommended configuration</a:t>
            </a:r>
          </a:p>
          <a:p>
            <a:r>
              <a:rPr lang="en-US" sz="1600" dirty="0">
                <a:solidFill>
                  <a:schemeClr val="accent6"/>
                </a:solidFill>
                <a:latin typeface="Google Sans"/>
              </a:rPr>
              <a:t>Enable Server GC</a:t>
            </a:r>
          </a:p>
          <a:p>
            <a:r>
              <a:rPr lang="en-US" sz="1600" dirty="0">
                <a:solidFill>
                  <a:schemeClr val="accent6"/>
                </a:solidFill>
                <a:latin typeface="Google Sans"/>
              </a:rPr>
              <a:t>Use Kestrel + async/await</a:t>
            </a:r>
          </a:p>
          <a:p>
            <a:r>
              <a:rPr lang="en-US" sz="1600" dirty="0">
                <a:solidFill>
                  <a:schemeClr val="accent6"/>
                </a:solidFill>
                <a:latin typeface="Google Sans"/>
              </a:rPr>
              <a:t>Avoid excessive thread creation</a:t>
            </a:r>
          </a:p>
          <a:p>
            <a:r>
              <a:rPr lang="en-US" sz="1600" dirty="0">
                <a:solidFill>
                  <a:schemeClr val="accent6"/>
                </a:solidFill>
                <a:latin typeface="Google Sans"/>
              </a:rPr>
              <a:t>Use multiple processes instead of massive threading</a:t>
            </a:r>
          </a:p>
          <a:p>
            <a:endParaRPr lang="en-US" sz="1600" dirty="0">
              <a:solidFill>
                <a:schemeClr val="accent6"/>
              </a:solidFill>
              <a:latin typeface="Google Sans"/>
            </a:endParaRPr>
          </a:p>
          <a:p>
            <a:endParaRPr lang="en-US" sz="1600" dirty="0">
              <a:solidFill>
                <a:schemeClr val="accent6"/>
              </a:solidFill>
              <a:latin typeface="Google Sans"/>
            </a:endParaRPr>
          </a:p>
        </p:txBody>
      </p:sp>
    </p:spTree>
    <p:extLst>
      <p:ext uri="{BB962C8B-B14F-4D97-AF65-F5344CB8AC3E}">
        <p14:creationId xmlns:p14="http://schemas.microsoft.com/office/powerpoint/2010/main" val="6350114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FE33E-E683-BD9D-55CF-1A1DD069B66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6A48D3B-368C-DB6C-3B36-9DC2994C5DD7}"/>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31842C7-3504-F94D-5EF2-D9BBAB2C1636}"/>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624FF6B-350E-DFC9-A8E1-A25515D2ECEC}"/>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BA904F4-FE18-1003-088D-341AAE10E06E}"/>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7CEC9D19-3A63-6799-E3AF-B7CBF430A908}"/>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B8EC1C0-D5AB-6734-2403-36C6D2017E54}"/>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8EA0D9CA-6EB2-1B5E-3AC0-E1D8464D8D23}"/>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19203412-6CD6-86A2-390C-56D5B8337B6B}"/>
              </a:ext>
            </a:extLst>
          </p:cNvPr>
          <p:cNvSpPr txBox="1">
            <a:spLocks/>
          </p:cNvSpPr>
          <p:nvPr/>
        </p:nvSpPr>
        <p:spPr>
          <a:xfrm>
            <a:off x="366663" y="1143000"/>
            <a:ext cx="8624937" cy="46782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600" dirty="0">
                <a:solidFill>
                  <a:schemeClr val="accent2"/>
                </a:solidFill>
                <a:latin typeface="Google Sans"/>
              </a:rPr>
              <a:t>NUMA</a:t>
            </a:r>
          </a:p>
          <a:p>
            <a:r>
              <a:rPr lang="en-US" sz="1600" dirty="0">
                <a:solidFill>
                  <a:schemeClr val="accent2"/>
                </a:solidFill>
                <a:latin typeface="Google Sans"/>
              </a:rPr>
              <a:t>6. ASP.NET Core + NUMA Best Practices</a:t>
            </a:r>
          </a:p>
          <a:p>
            <a:r>
              <a:rPr lang="en-US" sz="1600" dirty="0">
                <a:solidFill>
                  <a:schemeClr val="accent2"/>
                </a:solidFill>
                <a:latin typeface="Google Sans"/>
              </a:rPr>
              <a:t>Example:</a:t>
            </a:r>
          </a:p>
          <a:p>
            <a:r>
              <a:rPr lang="en-US" sz="1600" dirty="0">
                <a:solidFill>
                  <a:schemeClr val="accent6"/>
                </a:solidFill>
                <a:latin typeface="Google Sans"/>
              </a:rPr>
              <a:t>dotnet MyApp.dll --</a:t>
            </a:r>
            <a:r>
              <a:rPr lang="en-US" sz="1600" dirty="0" err="1">
                <a:solidFill>
                  <a:schemeClr val="accent6"/>
                </a:solidFill>
                <a:latin typeface="Google Sans"/>
              </a:rPr>
              <a:t>urls</a:t>
            </a:r>
            <a:r>
              <a:rPr lang="en-US" sz="1600" dirty="0">
                <a:solidFill>
                  <a:schemeClr val="accent6"/>
                </a:solidFill>
                <a:latin typeface="Google Sans"/>
              </a:rPr>
              <a:t>=http://localhost:5000</a:t>
            </a:r>
          </a:p>
          <a:p>
            <a:r>
              <a:rPr lang="en-US" sz="1600" dirty="0">
                <a:solidFill>
                  <a:schemeClr val="accent6"/>
                </a:solidFill>
                <a:latin typeface="Google Sans"/>
              </a:rPr>
              <a:t>Run one process per NUMA node (advanced servers):</a:t>
            </a:r>
          </a:p>
          <a:p>
            <a:r>
              <a:rPr lang="en-US" sz="1600" dirty="0">
                <a:solidFill>
                  <a:schemeClr val="accent6"/>
                </a:solidFill>
                <a:latin typeface="Google Sans"/>
              </a:rPr>
              <a:t>NUMA Node 0 → App Instance 1</a:t>
            </a:r>
          </a:p>
          <a:p>
            <a:r>
              <a:rPr lang="en-US" sz="1600" dirty="0">
                <a:solidFill>
                  <a:schemeClr val="accent6"/>
                </a:solidFill>
                <a:latin typeface="Google Sans"/>
              </a:rPr>
              <a:t>NUMA Node 1 → App Instance 2</a:t>
            </a:r>
          </a:p>
          <a:p>
            <a:r>
              <a:rPr lang="en-US" sz="1600" dirty="0">
                <a:solidFill>
                  <a:schemeClr val="accent6"/>
                </a:solidFill>
                <a:latin typeface="Google Sans"/>
              </a:rPr>
              <a:t>Handled via:</a:t>
            </a:r>
          </a:p>
          <a:p>
            <a:r>
              <a:rPr lang="en-US" sz="1600" dirty="0">
                <a:solidFill>
                  <a:schemeClr val="accent6"/>
                </a:solidFill>
                <a:latin typeface="Google Sans"/>
              </a:rPr>
              <a:t>Windows Processor Groups</a:t>
            </a:r>
          </a:p>
          <a:p>
            <a:r>
              <a:rPr lang="en-US" sz="1600" dirty="0">
                <a:solidFill>
                  <a:schemeClr val="accent6"/>
                </a:solidFill>
                <a:latin typeface="Google Sans"/>
              </a:rPr>
              <a:t>Linux </a:t>
            </a:r>
            <a:r>
              <a:rPr lang="en-US" sz="1600" dirty="0" err="1">
                <a:solidFill>
                  <a:schemeClr val="accent6"/>
                </a:solidFill>
                <a:latin typeface="Google Sans"/>
              </a:rPr>
              <a:t>numactl</a:t>
            </a:r>
            <a:endParaRPr lang="en-US" sz="1600" dirty="0">
              <a:solidFill>
                <a:schemeClr val="accent6"/>
              </a:solidFill>
              <a:latin typeface="Google Sans"/>
            </a:endParaRPr>
          </a:p>
          <a:p>
            <a:r>
              <a:rPr lang="en-US" sz="1600" dirty="0">
                <a:solidFill>
                  <a:schemeClr val="accent2"/>
                </a:solidFill>
                <a:latin typeface="Google Sans"/>
              </a:rPr>
              <a:t>7. Linux + .NET + NUMA</a:t>
            </a:r>
          </a:p>
          <a:p>
            <a:r>
              <a:rPr lang="en-US" sz="1600" dirty="0">
                <a:solidFill>
                  <a:schemeClr val="accent6"/>
                </a:solidFill>
                <a:latin typeface="Google Sans"/>
              </a:rPr>
              <a:t>Run .NET app pinned to a NUMA node</a:t>
            </a:r>
          </a:p>
          <a:p>
            <a:r>
              <a:rPr lang="en-US" sz="1600" dirty="0" err="1">
                <a:solidFill>
                  <a:schemeClr val="accent6"/>
                </a:solidFill>
                <a:latin typeface="Google Sans"/>
              </a:rPr>
              <a:t>numactl</a:t>
            </a:r>
            <a:r>
              <a:rPr lang="en-US" sz="1600" dirty="0">
                <a:solidFill>
                  <a:schemeClr val="accent6"/>
                </a:solidFill>
                <a:latin typeface="Google Sans"/>
              </a:rPr>
              <a:t> --</a:t>
            </a:r>
            <a:r>
              <a:rPr lang="en-US" sz="1600" dirty="0" err="1">
                <a:solidFill>
                  <a:schemeClr val="accent6"/>
                </a:solidFill>
                <a:latin typeface="Google Sans"/>
              </a:rPr>
              <a:t>cpunodebind</a:t>
            </a:r>
            <a:r>
              <a:rPr lang="en-US" sz="1600" dirty="0">
                <a:solidFill>
                  <a:schemeClr val="accent6"/>
                </a:solidFill>
                <a:latin typeface="Google Sans"/>
              </a:rPr>
              <a:t>=0 --</a:t>
            </a:r>
            <a:r>
              <a:rPr lang="en-US" sz="1600" dirty="0" err="1">
                <a:solidFill>
                  <a:schemeClr val="accent6"/>
                </a:solidFill>
                <a:latin typeface="Google Sans"/>
              </a:rPr>
              <a:t>membind</a:t>
            </a:r>
            <a:r>
              <a:rPr lang="en-US" sz="1600" dirty="0">
                <a:solidFill>
                  <a:schemeClr val="accent6"/>
                </a:solidFill>
                <a:latin typeface="Google Sans"/>
              </a:rPr>
              <a:t>=0 dotnet MyApp.dll</a:t>
            </a:r>
          </a:p>
          <a:p>
            <a:r>
              <a:rPr lang="en-US" sz="1600" dirty="0">
                <a:solidFill>
                  <a:schemeClr val="accent2"/>
                </a:solidFill>
                <a:latin typeface="Google Sans"/>
              </a:rPr>
              <a:t>This ensures:</a:t>
            </a:r>
          </a:p>
          <a:p>
            <a:r>
              <a:rPr lang="en-US" sz="1600" dirty="0">
                <a:solidFill>
                  <a:schemeClr val="accent6"/>
                </a:solidFill>
                <a:latin typeface="Google Sans"/>
              </a:rPr>
              <a:t>Threads run on Node 0</a:t>
            </a:r>
          </a:p>
          <a:p>
            <a:r>
              <a:rPr lang="en-US" sz="1600" dirty="0">
                <a:solidFill>
                  <a:schemeClr val="accent6"/>
                </a:solidFill>
                <a:latin typeface="Google Sans"/>
              </a:rPr>
              <a:t>Memory allocated from Node 0</a:t>
            </a:r>
          </a:p>
          <a:p>
            <a:r>
              <a:rPr lang="en-US" sz="1600" dirty="0">
                <a:solidFill>
                  <a:schemeClr val="accent6"/>
                </a:solidFill>
                <a:latin typeface="Google Sans"/>
              </a:rPr>
              <a:t>✔ Very effective for performance-critical services.</a:t>
            </a:r>
          </a:p>
          <a:p>
            <a:endParaRPr lang="en-US" sz="1600" dirty="0">
              <a:solidFill>
                <a:schemeClr val="accent6"/>
              </a:solidFill>
              <a:latin typeface="Google Sans"/>
            </a:endParaRPr>
          </a:p>
          <a:p>
            <a:endParaRPr lang="en-US" sz="1600" dirty="0">
              <a:solidFill>
                <a:schemeClr val="accent6"/>
              </a:solidFill>
              <a:latin typeface="Google Sans"/>
            </a:endParaRPr>
          </a:p>
        </p:txBody>
      </p:sp>
    </p:spTree>
    <p:extLst>
      <p:ext uri="{BB962C8B-B14F-4D97-AF65-F5344CB8AC3E}">
        <p14:creationId xmlns:p14="http://schemas.microsoft.com/office/powerpoint/2010/main" val="319516483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97B2F-585D-03F3-5336-07AD232B93A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8A7D8E7-1E1F-289B-85BC-1978E7E55E7E}"/>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6D36A1B-F4AF-2F41-ABE1-E8479730C7E9}"/>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E308317-74F4-FC39-727D-913929BEFA99}"/>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DD4B1847-E594-4846-C229-4B877D7999CB}"/>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789682DD-9843-570B-6847-73B8DAA7C3A0}"/>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D970D183-6E65-61D0-06F5-1FCAED85D575}"/>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746B0C70-BC2F-6552-BEBF-948EE9D9489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DC6B988D-2F16-D041-6414-BDE39A76206D}"/>
              </a:ext>
            </a:extLst>
          </p:cNvPr>
          <p:cNvSpPr txBox="1">
            <a:spLocks/>
          </p:cNvSpPr>
          <p:nvPr/>
        </p:nvSpPr>
        <p:spPr>
          <a:xfrm>
            <a:off x="366663" y="1143000"/>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600" dirty="0">
                <a:solidFill>
                  <a:schemeClr val="accent2"/>
                </a:solidFill>
                <a:latin typeface="Google Sans"/>
              </a:rPr>
              <a:t>NUMA</a:t>
            </a:r>
          </a:p>
          <a:p>
            <a:r>
              <a:rPr lang="en-US" sz="1600" dirty="0">
                <a:solidFill>
                  <a:schemeClr val="accent2"/>
                </a:solidFill>
                <a:latin typeface="Google Sans"/>
              </a:rPr>
              <a:t>8. When should YOU care about NUMA in .NET?</a:t>
            </a:r>
          </a:p>
          <a:p>
            <a:r>
              <a:rPr lang="en-US" sz="1600" dirty="0">
                <a:solidFill>
                  <a:schemeClr val="accent6"/>
                </a:solidFill>
                <a:latin typeface="Google Sans"/>
              </a:rPr>
              <a:t>You should care if:</a:t>
            </a:r>
          </a:p>
          <a:p>
            <a:r>
              <a:rPr lang="en-US" sz="1600" dirty="0">
                <a:solidFill>
                  <a:schemeClr val="accent6"/>
                </a:solidFill>
                <a:latin typeface="Google Sans"/>
              </a:rPr>
              <a:t>Scenario	                                        NUMA Tuning</a:t>
            </a:r>
          </a:p>
          <a:p>
            <a:r>
              <a:rPr lang="en-US" sz="1600" dirty="0">
                <a:solidFill>
                  <a:schemeClr val="accent6"/>
                </a:solidFill>
                <a:latin typeface="Google Sans"/>
              </a:rPr>
              <a:t>Web API / MVC	                    ❌ Not needed</a:t>
            </a:r>
          </a:p>
          <a:p>
            <a:r>
              <a:rPr lang="en-US" sz="1600" dirty="0">
                <a:solidFill>
                  <a:schemeClr val="accent6"/>
                </a:solidFill>
                <a:latin typeface="Google Sans"/>
              </a:rPr>
              <a:t>Background services	                   ❌</a:t>
            </a:r>
          </a:p>
          <a:p>
            <a:r>
              <a:rPr lang="en-US" sz="1600" dirty="0">
                <a:solidFill>
                  <a:schemeClr val="accent6"/>
                </a:solidFill>
                <a:latin typeface="Google Sans"/>
              </a:rPr>
              <a:t>High-throughput batch jobs	⚠ Maybe</a:t>
            </a:r>
          </a:p>
          <a:p>
            <a:r>
              <a:rPr lang="en-US" sz="1600" dirty="0">
                <a:solidFill>
                  <a:schemeClr val="accent6"/>
                </a:solidFill>
                <a:latin typeface="Google Sans"/>
              </a:rPr>
              <a:t>In-memory caches (Redis-like)	✔</a:t>
            </a:r>
          </a:p>
          <a:p>
            <a:r>
              <a:rPr lang="en-US" sz="1600" dirty="0">
                <a:solidFill>
                  <a:schemeClr val="accent6"/>
                </a:solidFill>
                <a:latin typeface="Google Sans"/>
              </a:rPr>
              <a:t>ML / Scientific workloads	✔✔</a:t>
            </a:r>
          </a:p>
          <a:p>
            <a:r>
              <a:rPr lang="en-US" sz="1600" dirty="0">
                <a:solidFill>
                  <a:schemeClr val="accent6"/>
                </a:solidFill>
                <a:latin typeface="Google Sans"/>
              </a:rPr>
              <a:t>Ultra-low latency systems	✔✔✔</a:t>
            </a:r>
          </a:p>
          <a:p>
            <a:r>
              <a:rPr lang="en-US" sz="1600" dirty="0">
                <a:solidFill>
                  <a:schemeClr val="accent2"/>
                </a:solidFill>
                <a:latin typeface="Google Sans"/>
              </a:rPr>
              <a:t>9. Common Pitfalls</a:t>
            </a:r>
          </a:p>
          <a:p>
            <a:r>
              <a:rPr lang="en-US" sz="1600" dirty="0">
                <a:solidFill>
                  <a:schemeClr val="accent6"/>
                </a:solidFill>
                <a:latin typeface="Google Sans"/>
              </a:rPr>
              <a:t>❌ Using Workstation GC on servers</a:t>
            </a:r>
          </a:p>
          <a:p>
            <a:r>
              <a:rPr lang="en-US" sz="1600" dirty="0">
                <a:solidFill>
                  <a:schemeClr val="accent6"/>
                </a:solidFill>
                <a:latin typeface="Google Sans"/>
              </a:rPr>
              <a:t>❌ Excessive thread hopping</a:t>
            </a:r>
          </a:p>
          <a:p>
            <a:r>
              <a:rPr lang="en-US" sz="1600" dirty="0">
                <a:solidFill>
                  <a:schemeClr val="accent6"/>
                </a:solidFill>
                <a:latin typeface="Google Sans"/>
              </a:rPr>
              <a:t>❌ One huge process on multi-socket machines</a:t>
            </a:r>
          </a:p>
          <a:p>
            <a:r>
              <a:rPr lang="en-US" sz="1600" dirty="0">
                <a:solidFill>
                  <a:schemeClr val="accent6"/>
                </a:solidFill>
                <a:latin typeface="Google Sans"/>
              </a:rPr>
              <a:t>❌ Ignoring Linux NUMA settings</a:t>
            </a:r>
          </a:p>
          <a:p>
            <a:r>
              <a:rPr lang="en-US" sz="1600" dirty="0">
                <a:solidFill>
                  <a:schemeClr val="accent2"/>
                </a:solidFill>
                <a:latin typeface="Google Sans"/>
              </a:rPr>
              <a:t>10. Practical Recommendation (TL;DR)</a:t>
            </a:r>
          </a:p>
          <a:p>
            <a:r>
              <a:rPr lang="en-US" sz="1600" dirty="0">
                <a:solidFill>
                  <a:schemeClr val="accent2"/>
                </a:solidFill>
                <a:latin typeface="Google Sans"/>
              </a:rPr>
              <a:t>If you're unsure:</a:t>
            </a:r>
          </a:p>
          <a:p>
            <a:r>
              <a:rPr lang="en-US" sz="1600" dirty="0">
                <a:solidFill>
                  <a:schemeClr val="accent6"/>
                </a:solidFill>
                <a:latin typeface="Google Sans"/>
              </a:rPr>
              <a:t>✔ Enable Server GC</a:t>
            </a:r>
          </a:p>
          <a:p>
            <a:r>
              <a:rPr lang="en-US" sz="1600" dirty="0">
                <a:solidFill>
                  <a:schemeClr val="accent6"/>
                </a:solidFill>
                <a:latin typeface="Google Sans"/>
              </a:rPr>
              <a:t>✔ Let the OS handle NUMA</a:t>
            </a:r>
          </a:p>
          <a:p>
            <a:r>
              <a:rPr lang="en-US" sz="1600" dirty="0">
                <a:solidFill>
                  <a:schemeClr val="accent6"/>
                </a:solidFill>
                <a:latin typeface="Google Sans"/>
              </a:rPr>
              <a:t>✔ Scale using multiple processes, not threads</a:t>
            </a:r>
            <a:endParaRPr lang="en-US" sz="1600" dirty="0">
              <a:solidFill>
                <a:schemeClr val="accent2"/>
              </a:solidFill>
              <a:latin typeface="Google Sans"/>
            </a:endParaRPr>
          </a:p>
        </p:txBody>
      </p:sp>
    </p:spTree>
    <p:extLst>
      <p:ext uri="{BB962C8B-B14F-4D97-AF65-F5344CB8AC3E}">
        <p14:creationId xmlns:p14="http://schemas.microsoft.com/office/powerpoint/2010/main" val="382229773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D6B74-E55E-CBF1-F5AF-93C12AC2B9A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0A989CE-59E5-8B60-F8F7-2695ABD867F9}"/>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F11D9D2-CBB9-E6DD-97C5-510FE660D069}"/>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E9A4C54-3710-00E3-C8B6-B5AD276AF44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F5F1B090-9F53-4571-395F-8ACDC4C1429F}"/>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FB93935C-F985-D7A0-5180-22528D1128E2}"/>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053280FC-E638-0BAF-B5B5-F247633B7364}"/>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3776253C-05C1-8A3C-004B-A2198D666BF9}"/>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3865DC83-8C60-8250-BB32-923231404609}"/>
              </a:ext>
            </a:extLst>
          </p:cNvPr>
          <p:cNvSpPr txBox="1">
            <a:spLocks/>
          </p:cNvSpPr>
          <p:nvPr/>
        </p:nvSpPr>
        <p:spPr>
          <a:xfrm>
            <a:off x="366663" y="1143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600" dirty="0">
                <a:solidFill>
                  <a:schemeClr val="accent2"/>
                </a:solidFill>
                <a:latin typeface="Google Sans"/>
              </a:rPr>
              <a:t>NUMA</a:t>
            </a:r>
          </a:p>
          <a:p>
            <a:r>
              <a:rPr lang="en-US" sz="1600" dirty="0">
                <a:solidFill>
                  <a:schemeClr val="accent2"/>
                </a:solidFill>
                <a:latin typeface="Google Sans"/>
              </a:rPr>
              <a:t>10. Practical Recommendation (TL;DR)</a:t>
            </a:r>
          </a:p>
          <a:p>
            <a:r>
              <a:rPr lang="en-US" sz="1600" dirty="0">
                <a:solidFill>
                  <a:schemeClr val="accent2"/>
                </a:solidFill>
                <a:latin typeface="Google Sans"/>
              </a:rPr>
              <a:t>Only do manual NUMA tuning if:</a:t>
            </a:r>
          </a:p>
          <a:p>
            <a:r>
              <a:rPr lang="en-US" sz="1600" dirty="0">
                <a:solidFill>
                  <a:schemeClr val="accent6"/>
                </a:solidFill>
                <a:latin typeface="Google Sans"/>
              </a:rPr>
              <a:t>You measured performance issues</a:t>
            </a:r>
          </a:p>
          <a:p>
            <a:r>
              <a:rPr lang="en-US" sz="1600" dirty="0">
                <a:solidFill>
                  <a:schemeClr val="accent6"/>
                </a:solidFill>
                <a:latin typeface="Google Sans"/>
              </a:rPr>
              <a:t>You understand your hardware topology</a:t>
            </a:r>
          </a:p>
          <a:p>
            <a:endParaRPr lang="en-US" sz="1600" dirty="0">
              <a:solidFill>
                <a:schemeClr val="accent2"/>
              </a:solidFill>
              <a:latin typeface="Google Sans"/>
            </a:endParaRPr>
          </a:p>
        </p:txBody>
      </p:sp>
    </p:spTree>
    <p:extLst>
      <p:ext uri="{BB962C8B-B14F-4D97-AF65-F5344CB8AC3E}">
        <p14:creationId xmlns:p14="http://schemas.microsoft.com/office/powerpoint/2010/main" val="332006085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42247-67D1-4F7E-2AAF-86DF2FAFE36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985D4D2-07A4-D871-7DB5-A5D19BB364EB}"/>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5D3E5FD-B4B6-A584-380E-39DC74B54048}"/>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3E490D3-7991-86A3-9141-A01B09D731CD}"/>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11D95E6C-13C2-3513-AC5E-F6514DA5C0D7}"/>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9CC99C6D-2787-A286-4B35-E95E4EA4A2DB}"/>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CCBFEBCF-3C31-05DF-AF59-70C925DD1C15}"/>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E4EB1B02-6243-6C8B-D48E-05C3B05E5C8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304E564B-BE4A-E600-4973-F626099F1185}"/>
              </a:ext>
            </a:extLst>
          </p:cNvPr>
          <p:cNvSpPr txBox="1">
            <a:spLocks/>
          </p:cNvSpPr>
          <p:nvPr/>
        </p:nvSpPr>
        <p:spPr>
          <a:xfrm>
            <a:off x="366663" y="1143000"/>
            <a:ext cx="8624937" cy="461664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400" dirty="0">
                <a:solidFill>
                  <a:schemeClr val="accent2"/>
                </a:solidFill>
                <a:latin typeface="Google Sans"/>
              </a:rPr>
              <a:t>For Further Exploration</a:t>
            </a:r>
          </a:p>
          <a:p>
            <a:r>
              <a:rPr lang="en-US" sz="2000" dirty="0">
                <a:hlinkClick r:id="rId7"/>
              </a:rPr>
              <a:t>What Every Programmer Should Know About Memory</a:t>
            </a:r>
            <a:endParaRPr lang="en-US" sz="2000" dirty="0"/>
          </a:p>
          <a:p>
            <a:r>
              <a:rPr lang="en-US" sz="2000" dirty="0">
                <a:hlinkClick r:id="rId8"/>
              </a:rPr>
              <a:t>A Primer on Memory Consistency and Cache Coherence</a:t>
            </a:r>
            <a:endParaRPr lang="en-US" sz="2000" dirty="0"/>
          </a:p>
          <a:p>
            <a:r>
              <a:rPr lang="en-IN" sz="2000" dirty="0">
                <a:hlinkClick r:id="rId9"/>
              </a:rPr>
              <a:t>Cache coherence – Wikipedia</a:t>
            </a:r>
            <a:endParaRPr lang="en-IN" sz="2000" dirty="0"/>
          </a:p>
          <a:p>
            <a:r>
              <a:rPr lang="en-IN" sz="2000" dirty="0">
                <a:hlinkClick r:id="rId10"/>
              </a:rPr>
              <a:t>Cache Coherence - </a:t>
            </a:r>
            <a:r>
              <a:rPr lang="en-IN" sz="2000" dirty="0" err="1">
                <a:hlinkClick r:id="rId10"/>
              </a:rPr>
              <a:t>GeeksforGeeks</a:t>
            </a:r>
            <a:endParaRPr lang="en-IN" sz="2000" dirty="0"/>
          </a:p>
          <a:p>
            <a:r>
              <a:rPr lang="en-IN" sz="2000" dirty="0">
                <a:hlinkClick r:id="rId11"/>
              </a:rPr>
              <a:t>False sharing - Wikipedia</a:t>
            </a:r>
            <a:endParaRPr lang="en-US" sz="2000" dirty="0"/>
          </a:p>
          <a:p>
            <a:r>
              <a:rPr lang="en-IN" sz="2000" dirty="0">
                <a:hlinkClick r:id="rId12"/>
              </a:rPr>
              <a:t>Cache and Memory Hierarchy Design</a:t>
            </a:r>
            <a:endParaRPr lang="en-IN" sz="2000" dirty="0"/>
          </a:p>
          <a:p>
            <a:r>
              <a:rPr lang="en-IN" sz="2000" dirty="0">
                <a:hlinkClick r:id="rId13"/>
              </a:rPr>
              <a:t>Optimizing-Applications-for-NUMA</a:t>
            </a:r>
            <a:endParaRPr lang="en-IN" sz="2000" dirty="0"/>
          </a:p>
          <a:p>
            <a:r>
              <a:rPr lang="en-US" sz="2000" dirty="0">
                <a:hlinkClick r:id="rId14"/>
              </a:rPr>
              <a:t>Exploring NUMA Optimization with Real World Scenarios</a:t>
            </a:r>
            <a:endParaRPr lang="en-US" sz="2000" dirty="0"/>
          </a:p>
          <a:p>
            <a:r>
              <a:rPr lang="en-IN" sz="2000" dirty="0">
                <a:hlinkClick r:id="rId15"/>
              </a:rPr>
              <a:t>NUMA | Virtualization Tuning and Optimization Guide | Red Hat</a:t>
            </a:r>
            <a:endParaRPr lang="en-IN" sz="2000" dirty="0"/>
          </a:p>
          <a:p>
            <a:r>
              <a:rPr lang="en-IN" sz="2000" dirty="0">
                <a:hlinkClick r:id="rId16"/>
              </a:rPr>
              <a:t>CPU Performance Tuning Guide</a:t>
            </a:r>
            <a:endParaRPr lang="en-IN" sz="2000" dirty="0"/>
          </a:p>
          <a:p>
            <a:r>
              <a:rPr lang="en-US" sz="2000" dirty="0">
                <a:hlinkClick r:id="rId17"/>
              </a:rPr>
              <a:t>Computer Systems : A Programmer’s Perspective</a:t>
            </a:r>
            <a:endParaRPr lang="en-US" sz="2000" dirty="0"/>
          </a:p>
          <a:p>
            <a:r>
              <a:rPr lang="en-US" sz="2000" dirty="0">
                <a:hlinkClick r:id="rId18"/>
              </a:rPr>
              <a:t>Computer Architecture: A Quantitative Approach</a:t>
            </a:r>
            <a:endParaRPr lang="en-US" sz="2000" dirty="0"/>
          </a:p>
          <a:p>
            <a:r>
              <a:rPr lang="en-US" sz="2000" dirty="0">
                <a:hlinkClick r:id="rId19"/>
              </a:rPr>
              <a:t>Modern Computer Architecture and Organization</a:t>
            </a:r>
            <a:endParaRPr lang="en-US" sz="2000" dirty="0">
              <a:solidFill>
                <a:schemeClr val="accent6"/>
              </a:solidFill>
              <a:latin typeface="Google Sans"/>
            </a:endParaRPr>
          </a:p>
          <a:p>
            <a:pPr algn="l"/>
            <a:endParaRPr lang="en-US" sz="1600" kern="0" spc="-220" dirty="0">
              <a:solidFill>
                <a:schemeClr val="accent6"/>
              </a:solidFill>
            </a:endParaRPr>
          </a:p>
        </p:txBody>
      </p:sp>
    </p:spTree>
    <p:extLst>
      <p:ext uri="{BB962C8B-B14F-4D97-AF65-F5344CB8AC3E}">
        <p14:creationId xmlns:p14="http://schemas.microsoft.com/office/powerpoint/2010/main" val="268074082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6D40E-D1D3-BD1C-372C-02ABBAFF084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0555C3E-D49F-9C64-68A7-E345EA1D43C0}"/>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E43D0B8-832A-83B1-60AC-716293E21939}"/>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57DC593-0112-29AD-693C-B4D7273C32FB}"/>
              </a:ext>
            </a:extLst>
          </p:cNvPr>
          <p:cNvGraphicFramePr/>
          <p:nvPr>
            <p:extLst>
              <p:ext uri="{D42A27DB-BD31-4B8C-83A1-F6EECF244321}">
                <p14:modId xmlns:p14="http://schemas.microsoft.com/office/powerpoint/2010/main" val="3368970837"/>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482A3921-D0D7-8849-9E2D-D32AD70B733F}"/>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EBB855BE-7257-F5A5-1411-E6F24FCDDC51}"/>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DDE4606B-F3ED-8E58-C8B6-104A5F7D48AB}"/>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793B2A0F-6F41-ECFF-3F21-025634052DC8}"/>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14974864-CCBE-4CE1-9B5B-1AE0657300FC}"/>
              </a:ext>
            </a:extLst>
          </p:cNvPr>
          <p:cNvSpPr txBox="1">
            <a:spLocks/>
          </p:cNvSpPr>
          <p:nvPr/>
        </p:nvSpPr>
        <p:spPr>
          <a:xfrm>
            <a:off x="366663" y="1143000"/>
            <a:ext cx="8624937" cy="449353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600" dirty="0">
                <a:solidFill>
                  <a:schemeClr val="accent6"/>
                </a:solidFill>
                <a:latin typeface="Google Sans"/>
              </a:rPr>
              <a:t>Write amplification (WA) and read amplification (RA) are performance metrics, primarily in SSDs and databases, measuring excess operations compared to user-requested data. Write amplification is the ratio of physical data written to the flash to data written by the host, often caused by garbage collection, reducing drive lifespan. Read amplification is the ratio of data read from storage to requested data. </a:t>
            </a:r>
          </a:p>
          <a:p>
            <a:endParaRPr lang="en-US" sz="1600" dirty="0">
              <a:solidFill>
                <a:schemeClr val="accent6"/>
              </a:solidFill>
              <a:latin typeface="Google Sans"/>
            </a:endParaRPr>
          </a:p>
          <a:p>
            <a:r>
              <a:rPr lang="en-US" sz="1700" dirty="0">
                <a:solidFill>
                  <a:schemeClr val="accent2"/>
                </a:solidFill>
                <a:latin typeface="Google Sans"/>
              </a:rPr>
              <a:t>Key Details on Amplification:</a:t>
            </a:r>
          </a:p>
          <a:p>
            <a:r>
              <a:rPr lang="en-US" sz="1600" dirty="0">
                <a:solidFill>
                  <a:schemeClr val="accent2"/>
                </a:solidFill>
                <a:latin typeface="Google Sans"/>
              </a:rPr>
              <a:t>Write Amplification (WA): </a:t>
            </a:r>
            <a:r>
              <a:rPr lang="en-US" sz="1600" dirty="0">
                <a:solidFill>
                  <a:schemeClr val="accent6"/>
                </a:solidFill>
                <a:latin typeface="Google Sans"/>
              </a:rPr>
              <a:t>Occurs when 1MB of data sent by the application results in, for instance, 3MB being written to the flash, leading to a WA factor of 3. High WA accelerates SSD wear.</a:t>
            </a:r>
          </a:p>
          <a:p>
            <a:r>
              <a:rPr lang="en-US" sz="1600" dirty="0">
                <a:solidFill>
                  <a:schemeClr val="accent2"/>
                </a:solidFill>
                <a:latin typeface="Google Sans"/>
              </a:rPr>
              <a:t>Causes:</a:t>
            </a:r>
            <a:r>
              <a:rPr lang="en-US" sz="1600" dirty="0">
                <a:solidFill>
                  <a:schemeClr val="accent6"/>
                </a:solidFill>
                <a:latin typeface="Google Sans"/>
              </a:rPr>
              <a:t> Primarily driven by NAND flash's need to erase existing data blocks before writing new data, requiring garbage collection to move existing valid data to new locations. Other factors include storage engine design, compaction processes, and data organization.</a:t>
            </a:r>
          </a:p>
          <a:p>
            <a:r>
              <a:rPr lang="en-US" sz="1600" dirty="0">
                <a:solidFill>
                  <a:schemeClr val="accent2"/>
                </a:solidFill>
                <a:latin typeface="Google Sans"/>
              </a:rPr>
              <a:t>Read Amplification (RA):</a:t>
            </a:r>
            <a:r>
              <a:rPr lang="en-US" sz="1600" dirty="0">
                <a:solidFill>
                  <a:schemeClr val="accent6"/>
                </a:solidFill>
                <a:latin typeface="Google Sans"/>
              </a:rPr>
              <a:t> Refers to reading more data than required by the user, impacting latency and performance.</a:t>
            </a:r>
          </a:p>
          <a:p>
            <a:r>
              <a:rPr lang="en-US" sz="1600" dirty="0">
                <a:solidFill>
                  <a:schemeClr val="accent2"/>
                </a:solidFill>
                <a:latin typeface="Google Sans"/>
              </a:rPr>
              <a:t>Measurement: </a:t>
            </a:r>
            <a:r>
              <a:rPr lang="en-US" sz="1600" dirty="0">
                <a:solidFill>
                  <a:schemeClr val="accent6"/>
                </a:solidFill>
                <a:latin typeface="Google Sans"/>
              </a:rPr>
              <a:t>Calculated by dividing total flash writes by host writes; a ratio of 1 indicates no amplification.</a:t>
            </a:r>
          </a:p>
          <a:p>
            <a:r>
              <a:rPr lang="en-US" sz="1600" dirty="0">
                <a:solidFill>
                  <a:schemeClr val="accent2"/>
                </a:solidFill>
                <a:latin typeface="Google Sans"/>
              </a:rPr>
              <a:t>Impact:</a:t>
            </a:r>
            <a:r>
              <a:rPr lang="en-US" sz="1600" dirty="0">
                <a:solidFill>
                  <a:schemeClr val="accent6"/>
                </a:solidFill>
                <a:latin typeface="Google Sans"/>
              </a:rPr>
              <a:t> Both types of amplification consume bandwidth and reduce the endurance and speed of flash-based storage devices. </a:t>
            </a:r>
          </a:p>
        </p:txBody>
      </p:sp>
    </p:spTree>
    <p:extLst>
      <p:ext uri="{BB962C8B-B14F-4D97-AF65-F5344CB8AC3E}">
        <p14:creationId xmlns:p14="http://schemas.microsoft.com/office/powerpoint/2010/main" val="180680413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B6457-72C0-F893-4DCC-E2947EDE302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E0BD216-E6E5-744B-FC8A-EEA83FB55826}"/>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79FAE10-9278-1241-284F-AA2649C4936F}"/>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76FD14A-F4CD-804F-ABB5-BA2FD1C47D13}"/>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98309289-A3C5-208F-9D1D-9A820F642A2E}"/>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7B7A4DD3-03AB-0318-460D-0E70C61D0B35}"/>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7A0D6D2B-1766-3A73-6C5C-ABB45D17F18E}"/>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34420FC4-892C-5430-3478-8A7F0B51A480}"/>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3CA208E1-40F5-3578-7331-ED5E16283799}"/>
              </a:ext>
            </a:extLst>
          </p:cNvPr>
          <p:cNvSpPr txBox="1">
            <a:spLocks/>
          </p:cNvSpPr>
          <p:nvPr/>
        </p:nvSpPr>
        <p:spPr>
          <a:xfrm>
            <a:off x="366663" y="1143000"/>
            <a:ext cx="8624937" cy="33701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Mitigation:</a:t>
            </a:r>
          </a:p>
          <a:p>
            <a:r>
              <a:rPr lang="en-US" sz="1600" dirty="0">
                <a:solidFill>
                  <a:schemeClr val="accent2"/>
                </a:solidFill>
                <a:latin typeface="Google Sans"/>
              </a:rPr>
              <a:t>Garbage Collection: </a:t>
            </a:r>
            <a:r>
              <a:rPr lang="en-US" sz="1600" dirty="0">
                <a:solidFill>
                  <a:schemeClr val="accent6"/>
                </a:solidFill>
                <a:latin typeface="Google Sans"/>
              </a:rPr>
              <a:t>Choosing blocks with fewer valid pages as "victims" reduces the amount of data to be copied.</a:t>
            </a:r>
          </a:p>
          <a:p>
            <a:r>
              <a:rPr lang="en-US" sz="1600" dirty="0">
                <a:solidFill>
                  <a:schemeClr val="accent2"/>
                </a:solidFill>
                <a:latin typeface="Google Sans"/>
              </a:rPr>
              <a:t>Data Partitioning:</a:t>
            </a:r>
            <a:r>
              <a:rPr lang="en-US" sz="1600" dirty="0">
                <a:solidFill>
                  <a:schemeClr val="accent6"/>
                </a:solidFill>
                <a:latin typeface="Google Sans"/>
              </a:rPr>
              <a:t> Separating data based on update frequency (temperature) can lower write amplification.</a:t>
            </a:r>
          </a:p>
          <a:p>
            <a:r>
              <a:rPr lang="en-US" sz="1600" dirty="0">
                <a:solidFill>
                  <a:schemeClr val="accent2"/>
                </a:solidFill>
                <a:latin typeface="Google Sans"/>
              </a:rPr>
              <a:t>Controller Design:</a:t>
            </a:r>
            <a:r>
              <a:rPr lang="en-US" sz="1600" dirty="0">
                <a:solidFill>
                  <a:schemeClr val="accent6"/>
                </a:solidFill>
                <a:latin typeface="Google Sans"/>
              </a:rPr>
              <a:t> Improved controller algorithms and data compression can minimize amplification. </a:t>
            </a:r>
          </a:p>
          <a:p>
            <a:endParaRPr lang="en-US" sz="1600" dirty="0">
              <a:solidFill>
                <a:schemeClr val="accent6"/>
              </a:solidFill>
              <a:latin typeface="Google Sans"/>
            </a:endParaRPr>
          </a:p>
          <a:p>
            <a:r>
              <a:rPr lang="en-US" sz="2000" dirty="0">
                <a:solidFill>
                  <a:schemeClr val="accent2"/>
                </a:solidFill>
                <a:latin typeface="Google Sans"/>
              </a:rPr>
              <a:t>For Further Exploration – </a:t>
            </a:r>
          </a:p>
          <a:p>
            <a:r>
              <a:rPr lang="en-IN" sz="1500" dirty="0">
                <a:hlinkClick r:id="rId7"/>
              </a:rPr>
              <a:t>What is Read Amplification?</a:t>
            </a:r>
            <a:endParaRPr lang="en-US" sz="1500" dirty="0">
              <a:solidFill>
                <a:schemeClr val="accent2"/>
              </a:solidFill>
              <a:latin typeface="Google Sans"/>
            </a:endParaRPr>
          </a:p>
          <a:p>
            <a:r>
              <a:rPr lang="en-IN" sz="1500" dirty="0">
                <a:hlinkClick r:id="rId8"/>
              </a:rPr>
              <a:t>Write amplification - Wikipedia</a:t>
            </a:r>
            <a:endParaRPr lang="en-US" sz="1500" dirty="0">
              <a:solidFill>
                <a:schemeClr val="accent2"/>
              </a:solidFill>
              <a:latin typeface="Google Sans"/>
            </a:endParaRPr>
          </a:p>
          <a:p>
            <a:r>
              <a:rPr lang="en-US" sz="1500" dirty="0">
                <a:hlinkClick r:id="rId9"/>
              </a:rPr>
              <a:t>Deep Dive on Read, Write, and Space Amplification in SSDs and LSM Storage Engines and What Makes </a:t>
            </a:r>
            <a:r>
              <a:rPr lang="en-US" sz="1500" dirty="0" err="1">
                <a:hlinkClick r:id="rId9"/>
              </a:rPr>
              <a:t>VelarixDB</a:t>
            </a:r>
            <a:r>
              <a:rPr lang="en-US" sz="1500" dirty="0">
                <a:hlinkClick r:id="rId9"/>
              </a:rPr>
              <a:t> Distinct</a:t>
            </a:r>
            <a:endParaRPr lang="en-US" sz="1500" dirty="0"/>
          </a:p>
          <a:p>
            <a:r>
              <a:rPr lang="en-IN" sz="1500" dirty="0">
                <a:hlinkClick r:id="rId10"/>
              </a:rPr>
              <a:t>Notes on Write Amplification versus Read Perspiration | Jay Gandhi</a:t>
            </a:r>
            <a:endParaRPr lang="en-US" sz="1500" dirty="0">
              <a:solidFill>
                <a:schemeClr val="accent6"/>
              </a:solidFill>
              <a:latin typeface="Google Sans"/>
            </a:endParaRPr>
          </a:p>
        </p:txBody>
      </p:sp>
    </p:spTree>
    <p:extLst>
      <p:ext uri="{BB962C8B-B14F-4D97-AF65-F5344CB8AC3E}">
        <p14:creationId xmlns:p14="http://schemas.microsoft.com/office/powerpoint/2010/main" val="207714551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B85B8-C760-3819-52D0-E637A7DEC73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C2C3F23-88E4-FCF8-7536-2759993F470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5232042-A1B5-5203-EDA4-FB1CE4F433E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3587AB4-7CEC-F2AC-B9A6-F80BD5E03ADE}"/>
              </a:ext>
            </a:extLst>
          </p:cNvPr>
          <p:cNvGraphicFramePr/>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976182B-3F14-72C1-E45B-20EB5C3EE33D}"/>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ADA44D2F-A178-925C-A9D1-53196F0BD2E1}"/>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647E3C0A-918A-3E8A-2841-23E7761D0BE0}"/>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82ACC3FC-7837-6206-0D60-547EF92C4E83}"/>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A4FF3EFA-FFA8-415F-2737-3F6E418DB6BD}"/>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BB0EEC33-484A-1238-8FA5-0D1583DA839D}"/>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49DBD213-F8AF-18F6-1859-9376C1C9C6C6}"/>
              </a:ext>
            </a:extLst>
          </p:cNvPr>
          <p:cNvSpPr txBox="1">
            <a:spLocks/>
          </p:cNvSpPr>
          <p:nvPr/>
        </p:nvSpPr>
        <p:spPr>
          <a:xfrm>
            <a:off x="228600" y="685800"/>
            <a:ext cx="8624937" cy="526297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1. What is Data-Oriented Programming (DOP)?</a:t>
            </a:r>
          </a:p>
          <a:p>
            <a:pPr marL="12700" marR="5080"/>
            <a:r>
              <a:rPr lang="en-US" sz="1800" kern="0" spc="-220" dirty="0">
                <a:solidFill>
                  <a:schemeClr val="accent6"/>
                </a:solidFill>
              </a:rPr>
              <a:t>Most programming taught traditionally is Object-Oriented Programming (OOP):</a:t>
            </a:r>
          </a:p>
          <a:p>
            <a:pPr marL="12700" marR="5080"/>
            <a:endParaRPr lang="en-US" sz="2000" kern="0" spc="-80" dirty="0">
              <a:solidFill>
                <a:schemeClr val="accent6"/>
              </a:solidFill>
            </a:endParaRPr>
          </a:p>
          <a:p>
            <a:pPr marL="12700" marR="5080"/>
            <a:endParaRPr lang="en-US" sz="2000" kern="0" spc="-80" dirty="0">
              <a:solidFill>
                <a:schemeClr val="accent6"/>
              </a:solidFill>
            </a:endParaRPr>
          </a:p>
          <a:p>
            <a:pPr marL="12700" marR="5080"/>
            <a:endParaRPr lang="en-US" sz="2000" kern="0" spc="-80" dirty="0">
              <a:solidFill>
                <a:schemeClr val="accent6"/>
              </a:solidFill>
            </a:endParaRPr>
          </a:p>
          <a:p>
            <a:pPr marL="12700" marR="5080"/>
            <a:endParaRPr lang="en-US" sz="2000" kern="0" spc="-80" dirty="0">
              <a:solidFill>
                <a:schemeClr val="accent6"/>
              </a:solidFill>
            </a:endParaRPr>
          </a:p>
          <a:p>
            <a:pPr marL="12700" marR="5080"/>
            <a:endParaRPr lang="en-US" sz="2000" kern="0" spc="-80" dirty="0">
              <a:solidFill>
                <a:schemeClr val="accent6"/>
              </a:solidFill>
            </a:endParaRPr>
          </a:p>
          <a:p>
            <a:pPr marL="12700" marR="5080"/>
            <a:endParaRPr lang="en-US" sz="2000" kern="0" spc="-80" dirty="0">
              <a:solidFill>
                <a:schemeClr val="accent6"/>
              </a:solidFill>
            </a:endParaRPr>
          </a:p>
          <a:p>
            <a:pPr marL="12700" marR="5080"/>
            <a:endParaRPr lang="en-US" sz="2000" kern="0" spc="-80" dirty="0">
              <a:solidFill>
                <a:schemeClr val="accent6"/>
              </a:solidFill>
            </a:endParaRPr>
          </a:p>
          <a:p>
            <a:pPr marL="12700" marR="5080"/>
            <a:endParaRPr lang="en-US" sz="2000" kern="0" spc="-80" dirty="0">
              <a:solidFill>
                <a:schemeClr val="accent6"/>
              </a:solidFill>
            </a:endParaRPr>
          </a:p>
          <a:p>
            <a:pPr marL="12700" marR="5080"/>
            <a:r>
              <a:rPr lang="en-US" sz="1800" kern="0" spc="-220" dirty="0">
                <a:solidFill>
                  <a:schemeClr val="accent2"/>
                </a:solidFill>
              </a:rPr>
              <a:t>DOP’s core idea: </a:t>
            </a:r>
            <a:r>
              <a:rPr lang="en-US" sz="1800" kern="0" spc="-220" dirty="0">
                <a:solidFill>
                  <a:schemeClr val="accent6"/>
                </a:solidFill>
              </a:rPr>
              <a:t>Structure data so that the CPU can process it efficiently with minimal cache misses.</a:t>
            </a:r>
          </a:p>
          <a:p>
            <a:pPr marL="12700" marR="5080"/>
            <a:endParaRPr lang="en-US" sz="1800" kern="0" spc="-220" dirty="0">
              <a:solidFill>
                <a:schemeClr val="accent6"/>
              </a:solidFill>
            </a:endParaRPr>
          </a:p>
          <a:p>
            <a:pPr marL="12700" marR="5080"/>
            <a:r>
              <a:rPr lang="en-US" sz="1800" kern="0" spc="-220" dirty="0">
                <a:solidFill>
                  <a:schemeClr val="accent2"/>
                </a:solidFill>
              </a:rPr>
              <a:t>2. Why DOP Matters (Performance Example)</a:t>
            </a:r>
          </a:p>
          <a:p>
            <a:pPr marL="12700" marR="5080"/>
            <a:r>
              <a:rPr lang="en-US" sz="1800" kern="0" spc="-220" dirty="0">
                <a:solidFill>
                  <a:schemeClr val="accent6"/>
                </a:solidFill>
              </a:rPr>
              <a:t>CPU fetches memory in cache lines (usually ~64 bytes).</a:t>
            </a:r>
          </a:p>
          <a:p>
            <a:pPr marL="12700" marR="5080"/>
            <a:r>
              <a:rPr lang="en-US" sz="1800" kern="0" spc="-220" dirty="0">
                <a:solidFill>
                  <a:schemeClr val="accent6"/>
                </a:solidFill>
              </a:rPr>
              <a:t>If your data is scattered across heap (typical OOP objects), CPU keeps doing cache misses → slow.</a:t>
            </a:r>
          </a:p>
          <a:p>
            <a:pPr marL="12700" marR="5080"/>
            <a:r>
              <a:rPr lang="en-US" sz="1800" kern="0" spc="-220" dirty="0">
                <a:solidFill>
                  <a:schemeClr val="accent6"/>
                </a:solidFill>
              </a:rPr>
              <a:t>If your data is in arrays of structs, CPU loads many elements in one go → fast.</a:t>
            </a:r>
          </a:p>
        </p:txBody>
      </p:sp>
      <p:graphicFrame>
        <p:nvGraphicFramePr>
          <p:cNvPr id="18" name="Table 17">
            <a:extLst>
              <a:ext uri="{FF2B5EF4-FFF2-40B4-BE49-F238E27FC236}">
                <a16:creationId xmlns:a16="http://schemas.microsoft.com/office/drawing/2014/main" id="{1F56829E-C687-40E9-3E51-03260296A19D}"/>
              </a:ext>
            </a:extLst>
          </p:cNvPr>
          <p:cNvGraphicFramePr>
            <a:graphicFrameLocks noGrp="1"/>
          </p:cNvGraphicFramePr>
          <p:nvPr/>
        </p:nvGraphicFramePr>
        <p:xfrm>
          <a:off x="228599" y="1254760"/>
          <a:ext cx="8686800" cy="2402840"/>
        </p:xfrm>
        <a:graphic>
          <a:graphicData uri="http://schemas.openxmlformats.org/drawingml/2006/table">
            <a:tbl>
              <a:tblPr firstRow="1" bandRow="1">
                <a:tableStyleId>{5C22544A-7EE6-4342-B048-85BDC9FD1C3A}</a:tableStyleId>
              </a:tblPr>
              <a:tblGrid>
                <a:gridCol w="4343400">
                  <a:extLst>
                    <a:ext uri="{9D8B030D-6E8A-4147-A177-3AD203B41FA5}">
                      <a16:colId xmlns:a16="http://schemas.microsoft.com/office/drawing/2014/main" val="2229932811"/>
                    </a:ext>
                  </a:extLst>
                </a:gridCol>
                <a:gridCol w="4343400">
                  <a:extLst>
                    <a:ext uri="{9D8B030D-6E8A-4147-A177-3AD203B41FA5}">
                      <a16:colId xmlns:a16="http://schemas.microsoft.com/office/drawing/2014/main" val="3503887089"/>
                    </a:ext>
                  </a:extLst>
                </a:gridCol>
              </a:tblGrid>
              <a:tr h="440722">
                <a:tc>
                  <a:txBody>
                    <a:bodyPr/>
                    <a:lstStyle/>
                    <a:p>
                      <a:r>
                        <a:rPr lang="en-US" dirty="0"/>
                        <a:t>OOP Focus</a:t>
                      </a:r>
                      <a:endParaRPr lang="en-IN" dirty="0"/>
                    </a:p>
                  </a:txBody>
                  <a:tcPr/>
                </a:tc>
                <a:tc>
                  <a:txBody>
                    <a:bodyPr/>
                    <a:lstStyle/>
                    <a:p>
                      <a:r>
                        <a:rPr lang="en-US" dirty="0"/>
                        <a:t>DOP Focus</a:t>
                      </a:r>
                      <a:endParaRPr lang="en-IN" dirty="0"/>
                    </a:p>
                  </a:txBody>
                  <a:tcPr/>
                </a:tc>
                <a:extLst>
                  <a:ext uri="{0D108BD9-81ED-4DB2-BD59-A6C34878D82A}">
                    <a16:rowId xmlns:a16="http://schemas.microsoft.com/office/drawing/2014/main" val="3919833186"/>
                  </a:ext>
                </a:extLst>
              </a:tr>
              <a:tr h="760698">
                <a:tc>
                  <a:txBody>
                    <a:bodyPr/>
                    <a:lstStyle/>
                    <a:p>
                      <a:r>
                        <a:rPr lang="en-US" dirty="0"/>
                        <a:t>Organize code around objects and behavior</a:t>
                      </a:r>
                      <a:endParaRPr lang="en-IN" dirty="0"/>
                    </a:p>
                  </a:txBody>
                  <a:tcPr/>
                </a:tc>
                <a:tc>
                  <a:txBody>
                    <a:bodyPr/>
                    <a:lstStyle/>
                    <a:p>
                      <a:r>
                        <a:rPr lang="en-US" dirty="0"/>
                        <a:t>Organize memory layout around how data is accessed</a:t>
                      </a:r>
                      <a:endParaRPr lang="en-IN" dirty="0"/>
                    </a:p>
                  </a:txBody>
                  <a:tcPr/>
                </a:tc>
                <a:extLst>
                  <a:ext uri="{0D108BD9-81ED-4DB2-BD59-A6C34878D82A}">
                    <a16:rowId xmlns:a16="http://schemas.microsoft.com/office/drawing/2014/main" val="3694955032"/>
                  </a:ext>
                </a:extLst>
              </a:tr>
              <a:tr h="760698">
                <a:tc>
                  <a:txBody>
                    <a:bodyPr/>
                    <a:lstStyle/>
                    <a:p>
                      <a:r>
                        <a:rPr lang="en-US" dirty="0"/>
                        <a:t>Concerned with abstraction, inheritance, encapsulation</a:t>
                      </a:r>
                      <a:endParaRPr lang="en-IN" dirty="0"/>
                    </a:p>
                  </a:txBody>
                  <a:tcPr/>
                </a:tc>
                <a:tc>
                  <a:txBody>
                    <a:bodyPr/>
                    <a:lstStyle/>
                    <a:p>
                      <a:r>
                        <a:rPr lang="en-US" dirty="0"/>
                        <a:t>Concerned with CPU cache efficiency, batching, data pipelines</a:t>
                      </a:r>
                      <a:endParaRPr lang="en-IN" dirty="0"/>
                    </a:p>
                  </a:txBody>
                  <a:tcPr/>
                </a:tc>
                <a:extLst>
                  <a:ext uri="{0D108BD9-81ED-4DB2-BD59-A6C34878D82A}">
                    <a16:rowId xmlns:a16="http://schemas.microsoft.com/office/drawing/2014/main" val="1943906742"/>
                  </a:ext>
                </a:extLst>
              </a:tr>
              <a:tr h="440722">
                <a:tc>
                  <a:txBody>
                    <a:bodyPr/>
                    <a:lstStyle/>
                    <a:p>
                      <a:r>
                        <a:rPr lang="en-US" dirty="0"/>
                        <a:t>Data often scattered in heap</a:t>
                      </a:r>
                      <a:endParaRPr lang="en-IN" dirty="0"/>
                    </a:p>
                  </a:txBody>
                  <a:tcPr/>
                </a:tc>
                <a:tc>
                  <a:txBody>
                    <a:bodyPr/>
                    <a:lstStyle/>
                    <a:p>
                      <a:r>
                        <a:rPr lang="en-US" dirty="0"/>
                        <a:t>Data is stored contiguously, cache-friendly</a:t>
                      </a:r>
                      <a:endParaRPr lang="en-IN" dirty="0"/>
                    </a:p>
                  </a:txBody>
                  <a:tcPr/>
                </a:tc>
                <a:extLst>
                  <a:ext uri="{0D108BD9-81ED-4DB2-BD59-A6C34878D82A}">
                    <a16:rowId xmlns:a16="http://schemas.microsoft.com/office/drawing/2014/main" val="874138950"/>
                  </a:ext>
                </a:extLst>
              </a:tr>
            </a:tbl>
          </a:graphicData>
        </a:graphic>
      </p:graphicFrame>
    </p:spTree>
    <p:extLst>
      <p:ext uri="{BB962C8B-B14F-4D97-AF65-F5344CB8AC3E}">
        <p14:creationId xmlns:p14="http://schemas.microsoft.com/office/powerpoint/2010/main" val="6361378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86ADB-21D1-FFE2-0CFE-6729018658D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CEFD4EE-7B2C-6B25-0500-03197332A6D1}"/>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7F0CA7E-C6B2-2E95-D13D-18C63EA6F3AD}"/>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544C1BF-C048-FCF6-565B-F8FF68BF9014}"/>
              </a:ext>
            </a:extLst>
          </p:cNvPr>
          <p:cNvGraphicFramePr/>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42CA859-3CE3-4B26-B374-FE705D7D98C8}"/>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2DE95E35-DF4D-C404-CEDD-AB149E05339C}"/>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5FCAEA1F-29DE-2788-4AD2-9007D3DB5F92}"/>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6FFD25DA-F29D-8F90-69BE-87348EB21225}"/>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1054F518-844A-85F6-C286-FAFF5D2CFF1C}"/>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D6D7F32D-80ED-A009-FC3D-6949D233B8AC}"/>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DCD22B98-206D-DD23-2BC4-7CABD750B769}"/>
              </a:ext>
            </a:extLst>
          </p:cNvPr>
          <p:cNvSpPr txBox="1">
            <a:spLocks/>
          </p:cNvSpPr>
          <p:nvPr/>
        </p:nvSpPr>
        <p:spPr>
          <a:xfrm>
            <a:off x="228600" y="685800"/>
            <a:ext cx="8624937" cy="47089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220" dirty="0">
                <a:solidFill>
                  <a:schemeClr val="accent2"/>
                </a:solidFill>
              </a:rPr>
              <a:t>3. Traditional OOP vs DOP Example</a:t>
            </a:r>
          </a:p>
          <a:p>
            <a:pPr marL="12700" marR="5080"/>
            <a:r>
              <a:rPr lang="en-US" sz="1800" kern="0" spc="-220" dirty="0">
                <a:solidFill>
                  <a:schemeClr val="accent2"/>
                </a:solidFill>
              </a:rPr>
              <a:t>OOP Version</a:t>
            </a:r>
          </a:p>
          <a:p>
            <a:pPr marL="12700" marR="5080"/>
            <a:endParaRPr lang="en-US" sz="1800" kern="0" spc="-220" dirty="0">
              <a:solidFill>
                <a:schemeClr val="accent2"/>
              </a:solidFill>
            </a:endParaRPr>
          </a:p>
          <a:p>
            <a:pPr marL="12700" marR="5080"/>
            <a:r>
              <a:rPr lang="en-US" sz="1800" kern="0" spc="-220" dirty="0">
                <a:solidFill>
                  <a:schemeClr val="accent6"/>
                </a:solidFill>
              </a:rPr>
              <a:t>class Enemy</a:t>
            </a:r>
          </a:p>
          <a:p>
            <a:pPr marL="12700" marR="5080"/>
            <a:r>
              <a:rPr lang="en-US" sz="1800" kern="0" spc="-220" dirty="0">
                <a:solidFill>
                  <a:schemeClr val="accent6"/>
                </a:solidFill>
              </a:rPr>
              <a:t>{</a:t>
            </a:r>
          </a:p>
          <a:p>
            <a:pPr marL="12700" marR="5080"/>
            <a:r>
              <a:rPr lang="en-US" sz="1800" kern="0" spc="-220" dirty="0">
                <a:solidFill>
                  <a:schemeClr val="accent6"/>
                </a:solidFill>
              </a:rPr>
              <a:t>    public float X;</a:t>
            </a:r>
          </a:p>
          <a:p>
            <a:pPr marL="12700" marR="5080"/>
            <a:r>
              <a:rPr lang="en-US" sz="1800" kern="0" spc="-220" dirty="0">
                <a:solidFill>
                  <a:schemeClr val="accent6"/>
                </a:solidFill>
              </a:rPr>
              <a:t>    public float Y;</a:t>
            </a:r>
          </a:p>
          <a:p>
            <a:pPr marL="12700" marR="5080"/>
            <a:r>
              <a:rPr lang="en-US" sz="1800" kern="0" spc="-220" dirty="0">
                <a:solidFill>
                  <a:schemeClr val="accent6"/>
                </a:solidFill>
              </a:rPr>
              <a:t>    public float Speed;</a:t>
            </a:r>
          </a:p>
          <a:p>
            <a:pPr marL="12700" marR="5080"/>
            <a:r>
              <a:rPr lang="en-US" sz="1800" kern="0" spc="-220" dirty="0">
                <a:solidFill>
                  <a:schemeClr val="accent6"/>
                </a:solidFill>
              </a:rPr>
              <a:t>}</a:t>
            </a:r>
          </a:p>
          <a:p>
            <a:pPr marL="12700" marR="5080"/>
            <a:endParaRPr lang="en-US" sz="1800" kern="0" spc="-220" dirty="0">
              <a:solidFill>
                <a:schemeClr val="accent6"/>
              </a:solidFill>
            </a:endParaRPr>
          </a:p>
          <a:p>
            <a:pPr marL="12700" marR="5080"/>
            <a:r>
              <a:rPr lang="en-US" sz="1800" kern="0" spc="-220" dirty="0">
                <a:solidFill>
                  <a:schemeClr val="accent6"/>
                </a:solidFill>
              </a:rPr>
              <a:t>List&lt;Enemy&gt; enemies = new List&lt;Enemy&gt;();</a:t>
            </a:r>
          </a:p>
          <a:p>
            <a:pPr marL="12700" marR="5080"/>
            <a:r>
              <a:rPr lang="en-US" sz="1800" kern="0" spc="-220" dirty="0">
                <a:solidFill>
                  <a:schemeClr val="accent6"/>
                </a:solidFill>
              </a:rPr>
              <a:t>foreach (var enemy in enemies)</a:t>
            </a:r>
          </a:p>
          <a:p>
            <a:pPr marL="12700" marR="5080"/>
            <a:r>
              <a:rPr lang="en-US" sz="1800" kern="0" spc="-220" dirty="0">
                <a:solidFill>
                  <a:schemeClr val="accent6"/>
                </a:solidFill>
              </a:rPr>
              <a:t>{</a:t>
            </a:r>
          </a:p>
          <a:p>
            <a:pPr marL="12700" marR="5080"/>
            <a:r>
              <a:rPr lang="en-US" sz="1800" kern="0" spc="-220" dirty="0">
                <a:solidFill>
                  <a:schemeClr val="accent6"/>
                </a:solidFill>
              </a:rPr>
              <a:t>    </a:t>
            </a:r>
            <a:r>
              <a:rPr lang="en-US" sz="1800" kern="0" spc="-220" dirty="0" err="1">
                <a:solidFill>
                  <a:schemeClr val="accent6"/>
                </a:solidFill>
              </a:rPr>
              <a:t>enemy.X</a:t>
            </a:r>
            <a:r>
              <a:rPr lang="en-US" sz="1800" kern="0" spc="-220" dirty="0">
                <a:solidFill>
                  <a:schemeClr val="accent6"/>
                </a:solidFill>
              </a:rPr>
              <a:t> += </a:t>
            </a:r>
            <a:r>
              <a:rPr lang="en-US" sz="1800" kern="0" spc="-220" dirty="0" err="1">
                <a:solidFill>
                  <a:schemeClr val="accent6"/>
                </a:solidFill>
              </a:rPr>
              <a:t>enemy.Speed</a:t>
            </a:r>
            <a:r>
              <a:rPr lang="en-US" sz="1800" kern="0" spc="-220" dirty="0">
                <a:solidFill>
                  <a:schemeClr val="accent6"/>
                </a:solidFill>
              </a:rPr>
              <a:t>;</a:t>
            </a:r>
          </a:p>
          <a:p>
            <a:pPr marL="12700" marR="5080"/>
            <a:r>
              <a:rPr lang="en-US" sz="1800" kern="0" spc="-220" dirty="0">
                <a:solidFill>
                  <a:schemeClr val="accent6"/>
                </a:solidFill>
              </a:rPr>
              <a:t>}</a:t>
            </a:r>
          </a:p>
          <a:p>
            <a:pPr marL="12700" marR="5080"/>
            <a:endParaRPr lang="en-US" sz="1800" kern="0" spc="-220" dirty="0">
              <a:solidFill>
                <a:schemeClr val="accent6"/>
              </a:solidFill>
            </a:endParaRPr>
          </a:p>
          <a:p>
            <a:pPr marL="12700" marR="5080"/>
            <a:r>
              <a:rPr lang="en-US" sz="1800" kern="0" spc="-220" dirty="0">
                <a:solidFill>
                  <a:schemeClr val="accent2"/>
                </a:solidFill>
              </a:rPr>
              <a:t>Problem: </a:t>
            </a:r>
            <a:r>
              <a:rPr lang="en-US" sz="1800" kern="0" spc="-220" dirty="0">
                <a:solidFill>
                  <a:schemeClr val="accent6"/>
                </a:solidFill>
              </a:rPr>
              <a:t>Each Enemy is a separate heap object → scattered memory → CPU cache misses.</a:t>
            </a:r>
          </a:p>
        </p:txBody>
      </p:sp>
    </p:spTree>
    <p:extLst>
      <p:ext uri="{BB962C8B-B14F-4D97-AF65-F5344CB8AC3E}">
        <p14:creationId xmlns:p14="http://schemas.microsoft.com/office/powerpoint/2010/main" val="58767085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F8A74-55F5-16A7-62BB-B485540CD87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D463B7F-ABBE-0A3C-664C-A2E3DF11216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DC8EF2C-CB4E-6558-971E-70726519DCBC}"/>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7C1FC33-F925-8F37-BC8B-1AC7819C0ECE}"/>
              </a:ext>
            </a:extLst>
          </p:cNvPr>
          <p:cNvGraphicFramePr/>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B72A6086-939F-852C-5B05-1736117AAD3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CC88826E-4340-346B-8D8C-30BCD4BDD065}"/>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6311C45E-1B47-31E9-BA23-A9937AB2AF22}"/>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69647057-7579-0446-688C-0F1D6A695E8B}"/>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C6D8AEB4-91C0-A4E2-3FED-2A6EF413737E}"/>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7F4823FF-F7E3-D9F2-1413-8BE2191094BD}"/>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B6CEB44B-4947-A39E-64A4-1A3802FA2FEC}"/>
              </a:ext>
            </a:extLst>
          </p:cNvPr>
          <p:cNvSpPr txBox="1">
            <a:spLocks/>
          </p:cNvSpPr>
          <p:nvPr/>
        </p:nvSpPr>
        <p:spPr>
          <a:xfrm>
            <a:off x="228600" y="685800"/>
            <a:ext cx="8624937" cy="533222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50" kern="0" spc="-220" dirty="0">
                <a:solidFill>
                  <a:schemeClr val="accent2"/>
                </a:solidFill>
              </a:rPr>
              <a:t>Data Oriented Version</a:t>
            </a:r>
          </a:p>
          <a:p>
            <a:pPr marL="12700" marR="5080"/>
            <a:r>
              <a:rPr lang="en-US" sz="1650" kern="0" spc="-220" dirty="0">
                <a:solidFill>
                  <a:schemeClr val="accent6"/>
                </a:solidFill>
              </a:rPr>
              <a:t>Instead of list of objects → structure of arrays:</a:t>
            </a:r>
          </a:p>
          <a:p>
            <a:pPr marL="12700" marR="5080"/>
            <a:r>
              <a:rPr lang="en-US" sz="1650" kern="0" spc="-220" dirty="0">
                <a:solidFill>
                  <a:schemeClr val="accent6"/>
                </a:solidFill>
              </a:rPr>
              <a:t>float[] X = new float[100000];</a:t>
            </a:r>
          </a:p>
          <a:p>
            <a:pPr marL="12700" marR="5080"/>
            <a:r>
              <a:rPr lang="en-US" sz="1650" kern="0" spc="-220" dirty="0">
                <a:solidFill>
                  <a:schemeClr val="accent6"/>
                </a:solidFill>
              </a:rPr>
              <a:t>float[] Y = new float[100000];</a:t>
            </a:r>
          </a:p>
          <a:p>
            <a:pPr marL="12700" marR="5080"/>
            <a:r>
              <a:rPr lang="en-US" sz="1650" kern="0" spc="-220" dirty="0">
                <a:solidFill>
                  <a:schemeClr val="accent6"/>
                </a:solidFill>
              </a:rPr>
              <a:t>float[] Speed = new float[100000];</a:t>
            </a:r>
          </a:p>
          <a:p>
            <a:pPr marL="12700" marR="5080"/>
            <a:endParaRPr lang="en-US" sz="1650" kern="0" spc="-220" dirty="0">
              <a:solidFill>
                <a:schemeClr val="accent6"/>
              </a:solidFill>
            </a:endParaRPr>
          </a:p>
          <a:p>
            <a:pPr marL="12700" marR="5080"/>
            <a:r>
              <a:rPr lang="en-US" sz="1650" kern="0" spc="-220" dirty="0">
                <a:solidFill>
                  <a:schemeClr val="accent6"/>
                </a:solidFill>
              </a:rPr>
              <a:t>for (int </a:t>
            </a:r>
            <a:r>
              <a:rPr lang="en-US" sz="1650" kern="0" spc="-220" dirty="0" err="1">
                <a:solidFill>
                  <a:schemeClr val="accent6"/>
                </a:solidFill>
              </a:rPr>
              <a:t>i</a:t>
            </a:r>
            <a:r>
              <a:rPr lang="en-US" sz="1650" kern="0" spc="-220" dirty="0">
                <a:solidFill>
                  <a:schemeClr val="accent6"/>
                </a:solidFill>
              </a:rPr>
              <a:t> = 0; </a:t>
            </a:r>
            <a:r>
              <a:rPr lang="en-US" sz="1650" kern="0" spc="-220" dirty="0" err="1">
                <a:solidFill>
                  <a:schemeClr val="accent6"/>
                </a:solidFill>
              </a:rPr>
              <a:t>i</a:t>
            </a:r>
            <a:r>
              <a:rPr lang="en-US" sz="1650" kern="0" spc="-220" dirty="0">
                <a:solidFill>
                  <a:schemeClr val="accent6"/>
                </a:solidFill>
              </a:rPr>
              <a:t> &lt; </a:t>
            </a:r>
            <a:r>
              <a:rPr lang="en-US" sz="1650" kern="0" spc="-220" dirty="0" err="1">
                <a:solidFill>
                  <a:schemeClr val="accent6"/>
                </a:solidFill>
              </a:rPr>
              <a:t>X.Length</a:t>
            </a:r>
            <a:r>
              <a:rPr lang="en-US" sz="1650" kern="0" spc="-220" dirty="0">
                <a:solidFill>
                  <a:schemeClr val="accent6"/>
                </a:solidFill>
              </a:rPr>
              <a:t>; </a:t>
            </a:r>
            <a:r>
              <a:rPr lang="en-US" sz="1650" kern="0" spc="-220" dirty="0" err="1">
                <a:solidFill>
                  <a:schemeClr val="accent6"/>
                </a:solidFill>
              </a:rPr>
              <a:t>i</a:t>
            </a:r>
            <a:r>
              <a:rPr lang="en-US" sz="1650" kern="0" spc="-220" dirty="0">
                <a:solidFill>
                  <a:schemeClr val="accent6"/>
                </a:solidFill>
              </a:rPr>
              <a:t>++)</a:t>
            </a:r>
          </a:p>
          <a:p>
            <a:pPr marL="12700" marR="5080"/>
            <a:r>
              <a:rPr lang="en-US" sz="1650" kern="0" spc="-220" dirty="0">
                <a:solidFill>
                  <a:schemeClr val="accent6"/>
                </a:solidFill>
              </a:rPr>
              <a:t>{</a:t>
            </a:r>
          </a:p>
          <a:p>
            <a:pPr marL="12700" marR="5080"/>
            <a:r>
              <a:rPr lang="en-US" sz="1650" kern="0" spc="-220" dirty="0">
                <a:solidFill>
                  <a:schemeClr val="accent6"/>
                </a:solidFill>
              </a:rPr>
              <a:t>    X[</a:t>
            </a:r>
            <a:r>
              <a:rPr lang="en-US" sz="1650" kern="0" spc="-220" dirty="0" err="1">
                <a:solidFill>
                  <a:schemeClr val="accent6"/>
                </a:solidFill>
              </a:rPr>
              <a:t>i</a:t>
            </a:r>
            <a:r>
              <a:rPr lang="en-US" sz="1650" kern="0" spc="-220" dirty="0">
                <a:solidFill>
                  <a:schemeClr val="accent6"/>
                </a:solidFill>
              </a:rPr>
              <a:t>] += Speed[</a:t>
            </a:r>
            <a:r>
              <a:rPr lang="en-US" sz="1650" kern="0" spc="-220" dirty="0" err="1">
                <a:solidFill>
                  <a:schemeClr val="accent6"/>
                </a:solidFill>
              </a:rPr>
              <a:t>i</a:t>
            </a:r>
            <a:r>
              <a:rPr lang="en-US" sz="1650" kern="0" spc="-220" dirty="0">
                <a:solidFill>
                  <a:schemeClr val="accent6"/>
                </a:solidFill>
              </a:rPr>
              <a:t>]; // blazing fast - contiguous memory</a:t>
            </a:r>
          </a:p>
          <a:p>
            <a:pPr marL="12700" marR="5080"/>
            <a:r>
              <a:rPr lang="en-US" sz="1650" kern="0" spc="-220" dirty="0">
                <a:solidFill>
                  <a:schemeClr val="accent6"/>
                </a:solidFill>
              </a:rPr>
              <a:t>}</a:t>
            </a:r>
          </a:p>
          <a:p>
            <a:pPr marL="12700" marR="5080"/>
            <a:r>
              <a:rPr lang="en-US" sz="1650" kern="0" spc="-220" dirty="0">
                <a:solidFill>
                  <a:schemeClr val="accent2"/>
                </a:solidFill>
              </a:rPr>
              <a:t>Benefit: </a:t>
            </a:r>
            <a:r>
              <a:rPr lang="en-US" sz="1650" kern="0" spc="-220" dirty="0">
                <a:solidFill>
                  <a:schemeClr val="accent6"/>
                </a:solidFill>
              </a:rPr>
              <a:t>Access pattern is linear and cache-friendly.</a:t>
            </a:r>
          </a:p>
          <a:p>
            <a:pPr marL="12700" marR="5080"/>
            <a:endParaRPr lang="en-US" sz="1650" kern="0" spc="-220" dirty="0">
              <a:solidFill>
                <a:schemeClr val="accent6"/>
              </a:solidFill>
            </a:endParaRPr>
          </a:p>
          <a:p>
            <a:pPr marL="12700" marR="5080"/>
            <a:r>
              <a:rPr lang="en-US" sz="1650" kern="0" spc="-220" dirty="0">
                <a:solidFill>
                  <a:schemeClr val="accent2"/>
                </a:solidFill>
              </a:rPr>
              <a:t>4. Struct of Arrays (</a:t>
            </a:r>
            <a:r>
              <a:rPr lang="en-US" sz="1650" kern="0" spc="-220" dirty="0" err="1">
                <a:solidFill>
                  <a:schemeClr val="accent2"/>
                </a:solidFill>
              </a:rPr>
              <a:t>SoA</a:t>
            </a:r>
            <a:r>
              <a:rPr lang="en-US" sz="1650" kern="0" spc="-220" dirty="0">
                <a:solidFill>
                  <a:schemeClr val="accent2"/>
                </a:solidFill>
              </a:rPr>
              <a:t>) vs Array of Structs (</a:t>
            </a:r>
            <a:r>
              <a:rPr lang="en-US" sz="1650" kern="0" spc="-220" dirty="0" err="1">
                <a:solidFill>
                  <a:schemeClr val="accent2"/>
                </a:solidFill>
              </a:rPr>
              <a:t>AoS</a:t>
            </a:r>
            <a:r>
              <a:rPr lang="en-US" sz="1650" kern="0" spc="-220" dirty="0">
                <a:solidFill>
                  <a:schemeClr val="accent2"/>
                </a:solidFill>
              </a:rPr>
              <a:t>)</a:t>
            </a:r>
          </a:p>
          <a:p>
            <a:pPr marL="12700" marR="5080"/>
            <a:r>
              <a:rPr lang="en-US" sz="1650" kern="0" spc="-220" dirty="0">
                <a:solidFill>
                  <a:schemeClr val="accent2"/>
                </a:solidFill>
              </a:rPr>
              <a:t>Array of Structs (</a:t>
            </a:r>
            <a:r>
              <a:rPr lang="en-US" sz="1650" kern="0" spc="-220" dirty="0" err="1">
                <a:solidFill>
                  <a:schemeClr val="accent2"/>
                </a:solidFill>
              </a:rPr>
              <a:t>AoS</a:t>
            </a:r>
            <a:r>
              <a:rPr lang="en-US" sz="1650" kern="0" spc="-220" dirty="0">
                <a:solidFill>
                  <a:schemeClr val="accent2"/>
                </a:solidFill>
              </a:rPr>
              <a:t>) (Classic)</a:t>
            </a:r>
          </a:p>
          <a:p>
            <a:pPr marL="12700" marR="5080"/>
            <a:r>
              <a:rPr lang="en-US" sz="1650" kern="0" spc="-220" dirty="0">
                <a:solidFill>
                  <a:schemeClr val="accent6"/>
                </a:solidFill>
              </a:rPr>
              <a:t>struct Enemy { public float X, Y, Speed; }</a:t>
            </a:r>
          </a:p>
          <a:p>
            <a:pPr marL="12700" marR="5080"/>
            <a:r>
              <a:rPr lang="en-US" sz="1650" kern="0" spc="-220" dirty="0">
                <a:solidFill>
                  <a:schemeClr val="accent6"/>
                </a:solidFill>
              </a:rPr>
              <a:t>Enemy[] enemies;</a:t>
            </a:r>
          </a:p>
          <a:p>
            <a:pPr marL="12700" marR="5080"/>
            <a:r>
              <a:rPr lang="en-US" sz="1650" kern="0" spc="-220" dirty="0">
                <a:solidFill>
                  <a:schemeClr val="accent2"/>
                </a:solidFill>
              </a:rPr>
              <a:t>Struct of Arrays (</a:t>
            </a:r>
            <a:r>
              <a:rPr lang="en-US" sz="1650" kern="0" spc="-220" dirty="0" err="1">
                <a:solidFill>
                  <a:schemeClr val="accent2"/>
                </a:solidFill>
              </a:rPr>
              <a:t>SoA</a:t>
            </a:r>
            <a:r>
              <a:rPr lang="en-US" sz="1650" kern="0" spc="-220" dirty="0">
                <a:solidFill>
                  <a:schemeClr val="accent2"/>
                </a:solidFill>
              </a:rPr>
              <a:t>) (Data-Oriented)</a:t>
            </a:r>
          </a:p>
          <a:p>
            <a:pPr marL="12700" marR="5080"/>
            <a:r>
              <a:rPr lang="en-US" sz="1650" kern="0" spc="-220" dirty="0">
                <a:solidFill>
                  <a:schemeClr val="accent6"/>
                </a:solidFill>
              </a:rPr>
              <a:t>float[] X;</a:t>
            </a:r>
          </a:p>
          <a:p>
            <a:pPr marL="12700" marR="5080"/>
            <a:r>
              <a:rPr lang="en-US" sz="1650" kern="0" spc="-220" dirty="0">
                <a:solidFill>
                  <a:schemeClr val="accent6"/>
                </a:solidFill>
              </a:rPr>
              <a:t>float[] Y;</a:t>
            </a:r>
          </a:p>
          <a:p>
            <a:pPr marL="12700" marR="5080"/>
            <a:r>
              <a:rPr lang="en-US" sz="1650" kern="0" spc="-220" dirty="0">
                <a:solidFill>
                  <a:schemeClr val="accent6"/>
                </a:solidFill>
              </a:rPr>
              <a:t>float[] Speed;</a:t>
            </a:r>
          </a:p>
          <a:p>
            <a:pPr marL="12700" marR="5080"/>
            <a:r>
              <a:rPr lang="en-US" sz="1650" kern="0" spc="-220" dirty="0" err="1">
                <a:solidFill>
                  <a:schemeClr val="accent6"/>
                </a:solidFill>
              </a:rPr>
              <a:t>SoA</a:t>
            </a:r>
            <a:r>
              <a:rPr lang="en-US" sz="1650" kern="0" spc="-220" dirty="0">
                <a:solidFill>
                  <a:schemeClr val="accent6"/>
                </a:solidFill>
              </a:rPr>
              <a:t> is usually faster when processing individual fields across many items.</a:t>
            </a:r>
          </a:p>
        </p:txBody>
      </p:sp>
    </p:spTree>
    <p:extLst>
      <p:ext uri="{BB962C8B-B14F-4D97-AF65-F5344CB8AC3E}">
        <p14:creationId xmlns:p14="http://schemas.microsoft.com/office/powerpoint/2010/main" val="193022455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FAC6B-2081-35FA-E9F5-5AA5B6935A4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7B1812F-7453-693E-6CEC-C3D4E231B9B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5210A91-EF41-EA73-5D09-24B75FE035D8}"/>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08B657F-03FE-FF20-0312-6D079418D7B9}"/>
              </a:ext>
            </a:extLst>
          </p:cNvPr>
          <p:cNvGraphicFramePr/>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7FF84D8-7BDE-BCC9-7453-6123C5AF7E0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BAEFF33E-C5F9-514F-E9C2-BC79244C33DE}"/>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CF5352E6-6BAA-C67D-F2D3-EAC17380CF48}"/>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1614B82C-A906-F825-4680-8548799E6A6C}"/>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3FAAC72E-3C99-7782-4D5E-5127141A1BC0}"/>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4D7EE2C0-52A6-29A0-02CB-3E1532A52F05}"/>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8FEBDA8C-7D60-129C-4D06-9902700E9098}"/>
              </a:ext>
            </a:extLst>
          </p:cNvPr>
          <p:cNvSpPr txBox="1">
            <a:spLocks/>
          </p:cNvSpPr>
          <p:nvPr/>
        </p:nvSpPr>
        <p:spPr>
          <a:xfrm>
            <a:off x="228600" y="685800"/>
            <a:ext cx="8624937" cy="526297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220" dirty="0">
                <a:solidFill>
                  <a:schemeClr val="accent2"/>
                </a:solidFill>
              </a:rPr>
              <a:t>5. Real Use Case: Physics Simulation</a:t>
            </a:r>
          </a:p>
          <a:p>
            <a:pPr marL="12700" marR="5080"/>
            <a:r>
              <a:rPr lang="en-US" sz="1800" kern="0" spc="-220" dirty="0">
                <a:solidFill>
                  <a:schemeClr val="accent2"/>
                </a:solidFill>
              </a:rPr>
              <a:t>Not that Good Performance Wise(OOP):</a:t>
            </a:r>
          </a:p>
          <a:p>
            <a:pPr marL="12700" marR="5080"/>
            <a:r>
              <a:rPr lang="en-US" sz="1800" kern="0" spc="-220" dirty="0">
                <a:solidFill>
                  <a:schemeClr val="accent6"/>
                </a:solidFill>
              </a:rPr>
              <a:t>class Particle { public Vector3 pos, vel; }</a:t>
            </a:r>
          </a:p>
          <a:p>
            <a:pPr marL="12700" marR="5080"/>
            <a:endParaRPr lang="en-US" sz="1800" kern="0" spc="-220" dirty="0">
              <a:solidFill>
                <a:schemeClr val="accent6"/>
              </a:solidFill>
            </a:endParaRPr>
          </a:p>
          <a:p>
            <a:pPr marL="12700" marR="5080"/>
            <a:r>
              <a:rPr lang="en-US" sz="1800" kern="0" spc="-220" dirty="0">
                <a:solidFill>
                  <a:schemeClr val="accent6"/>
                </a:solidFill>
              </a:rPr>
              <a:t>foreach (var p in particles)</a:t>
            </a:r>
          </a:p>
          <a:p>
            <a:pPr marL="12700" marR="5080"/>
            <a:r>
              <a:rPr lang="en-US" sz="1800" kern="0" spc="-220" dirty="0">
                <a:solidFill>
                  <a:schemeClr val="accent6"/>
                </a:solidFill>
              </a:rPr>
              <a:t>    </a:t>
            </a:r>
            <a:r>
              <a:rPr lang="en-US" sz="1800" kern="0" spc="-220" dirty="0" err="1">
                <a:solidFill>
                  <a:schemeClr val="accent6"/>
                </a:solidFill>
              </a:rPr>
              <a:t>p.pos</a:t>
            </a:r>
            <a:r>
              <a:rPr lang="en-US" sz="1800" kern="0" spc="-220" dirty="0">
                <a:solidFill>
                  <a:schemeClr val="accent6"/>
                </a:solidFill>
              </a:rPr>
              <a:t> += </a:t>
            </a:r>
            <a:r>
              <a:rPr lang="en-US" sz="1800" kern="0" spc="-220" dirty="0" err="1">
                <a:solidFill>
                  <a:schemeClr val="accent6"/>
                </a:solidFill>
              </a:rPr>
              <a:t>p.vel</a:t>
            </a:r>
            <a:r>
              <a:rPr lang="en-US" sz="1800" kern="0" spc="-220" dirty="0">
                <a:solidFill>
                  <a:schemeClr val="accent6"/>
                </a:solidFill>
              </a:rPr>
              <a:t> * dt;</a:t>
            </a:r>
          </a:p>
          <a:p>
            <a:pPr marL="12700" marR="5080"/>
            <a:r>
              <a:rPr lang="en-US" sz="1800" kern="0" spc="-220" dirty="0">
                <a:solidFill>
                  <a:schemeClr val="accent2"/>
                </a:solidFill>
              </a:rPr>
              <a:t>Good (DOP):</a:t>
            </a:r>
          </a:p>
          <a:p>
            <a:pPr marL="12700" marR="5080"/>
            <a:r>
              <a:rPr lang="en-US" sz="1800" kern="0" spc="-220" dirty="0">
                <a:solidFill>
                  <a:schemeClr val="accent6"/>
                </a:solidFill>
              </a:rPr>
              <a:t>Vector3[] pos;</a:t>
            </a:r>
          </a:p>
          <a:p>
            <a:pPr marL="12700" marR="5080"/>
            <a:r>
              <a:rPr lang="en-US" sz="1800" kern="0" spc="-220" dirty="0">
                <a:solidFill>
                  <a:schemeClr val="accent6"/>
                </a:solidFill>
              </a:rPr>
              <a:t>Vector3[] vel;</a:t>
            </a:r>
          </a:p>
          <a:p>
            <a:pPr marL="12700" marR="5080"/>
            <a:endParaRPr lang="en-US" sz="1800" kern="0" spc="-220" dirty="0">
              <a:solidFill>
                <a:schemeClr val="accent6"/>
              </a:solidFill>
            </a:endParaRPr>
          </a:p>
          <a:p>
            <a:pPr marL="12700" marR="5080"/>
            <a:r>
              <a:rPr lang="en-US" sz="1800" kern="0" spc="-220" dirty="0">
                <a:solidFill>
                  <a:schemeClr val="accent6"/>
                </a:solidFill>
              </a:rPr>
              <a:t>for (int </a:t>
            </a:r>
            <a:r>
              <a:rPr lang="en-US" sz="1800" kern="0" spc="-220" dirty="0" err="1">
                <a:solidFill>
                  <a:schemeClr val="accent6"/>
                </a:solidFill>
              </a:rPr>
              <a:t>i</a:t>
            </a:r>
            <a:r>
              <a:rPr lang="en-US" sz="1800" kern="0" spc="-220" dirty="0">
                <a:solidFill>
                  <a:schemeClr val="accent6"/>
                </a:solidFill>
              </a:rPr>
              <a:t> = 0; </a:t>
            </a:r>
            <a:r>
              <a:rPr lang="en-US" sz="1800" kern="0" spc="-220" dirty="0" err="1">
                <a:solidFill>
                  <a:schemeClr val="accent6"/>
                </a:solidFill>
              </a:rPr>
              <a:t>i</a:t>
            </a:r>
            <a:r>
              <a:rPr lang="en-US" sz="1800" kern="0" spc="-220" dirty="0">
                <a:solidFill>
                  <a:schemeClr val="accent6"/>
                </a:solidFill>
              </a:rPr>
              <a:t> &lt; </a:t>
            </a:r>
            <a:r>
              <a:rPr lang="en-US" sz="1800" kern="0" spc="-220" dirty="0" err="1">
                <a:solidFill>
                  <a:schemeClr val="accent6"/>
                </a:solidFill>
              </a:rPr>
              <a:t>pos.Length</a:t>
            </a:r>
            <a:r>
              <a:rPr lang="en-US" sz="1800" kern="0" spc="-220" dirty="0">
                <a:solidFill>
                  <a:schemeClr val="accent6"/>
                </a:solidFill>
              </a:rPr>
              <a:t>; </a:t>
            </a:r>
            <a:r>
              <a:rPr lang="en-US" sz="1800" kern="0" spc="-220" dirty="0" err="1">
                <a:solidFill>
                  <a:schemeClr val="accent6"/>
                </a:solidFill>
              </a:rPr>
              <a:t>i</a:t>
            </a:r>
            <a:r>
              <a:rPr lang="en-US" sz="1800" kern="0" spc="-220" dirty="0">
                <a:solidFill>
                  <a:schemeClr val="accent6"/>
                </a:solidFill>
              </a:rPr>
              <a:t>++)</a:t>
            </a:r>
          </a:p>
          <a:p>
            <a:pPr marL="12700" marR="5080"/>
            <a:r>
              <a:rPr lang="en-US" sz="1800" kern="0" spc="-220" dirty="0">
                <a:solidFill>
                  <a:schemeClr val="accent6"/>
                </a:solidFill>
              </a:rPr>
              <a:t>    pos[</a:t>
            </a:r>
            <a:r>
              <a:rPr lang="en-US" sz="1800" kern="0" spc="-220" dirty="0" err="1">
                <a:solidFill>
                  <a:schemeClr val="accent6"/>
                </a:solidFill>
              </a:rPr>
              <a:t>i</a:t>
            </a:r>
            <a:r>
              <a:rPr lang="en-US" sz="1800" kern="0" spc="-220" dirty="0">
                <a:solidFill>
                  <a:schemeClr val="accent6"/>
                </a:solidFill>
              </a:rPr>
              <a:t>] += vel[</a:t>
            </a:r>
            <a:r>
              <a:rPr lang="en-US" sz="1800" kern="0" spc="-220" dirty="0" err="1">
                <a:solidFill>
                  <a:schemeClr val="accent6"/>
                </a:solidFill>
              </a:rPr>
              <a:t>i</a:t>
            </a:r>
            <a:r>
              <a:rPr lang="en-US" sz="1800" kern="0" spc="-220" dirty="0">
                <a:solidFill>
                  <a:schemeClr val="accent6"/>
                </a:solidFill>
              </a:rPr>
              <a:t>] * dt;</a:t>
            </a:r>
          </a:p>
          <a:p>
            <a:pPr marL="12700" marR="5080"/>
            <a:r>
              <a:rPr lang="en-US" sz="1800" kern="0" spc="-220" dirty="0">
                <a:solidFill>
                  <a:schemeClr val="accent2"/>
                </a:solidFill>
              </a:rPr>
              <a:t>6. Using DOP in C# (with Span&lt;T&gt;, ref struct, Memory&lt;T&gt;)</a:t>
            </a:r>
          </a:p>
          <a:p>
            <a:pPr marL="12700" marR="5080"/>
            <a:r>
              <a:rPr lang="en-US" sz="1800" kern="0" spc="-220" dirty="0">
                <a:solidFill>
                  <a:schemeClr val="accent6"/>
                </a:solidFill>
              </a:rPr>
              <a:t>Example using Span&lt;T&gt; for contiguous memory:</a:t>
            </a:r>
          </a:p>
          <a:p>
            <a:pPr marL="12700" marR="5080"/>
            <a:r>
              <a:rPr lang="en-US" sz="1800" kern="0" spc="-220" dirty="0">
                <a:solidFill>
                  <a:schemeClr val="accent6"/>
                </a:solidFill>
              </a:rPr>
              <a:t>Span&lt;float&gt; </a:t>
            </a:r>
            <a:r>
              <a:rPr lang="en-US" sz="1800" kern="0" spc="-220" dirty="0" err="1">
                <a:solidFill>
                  <a:schemeClr val="accent6"/>
                </a:solidFill>
              </a:rPr>
              <a:t>xs</a:t>
            </a:r>
            <a:r>
              <a:rPr lang="en-US" sz="1800" kern="0" spc="-220" dirty="0">
                <a:solidFill>
                  <a:schemeClr val="accent6"/>
                </a:solidFill>
              </a:rPr>
              <a:t> = </a:t>
            </a:r>
            <a:r>
              <a:rPr lang="en-US" sz="1800" kern="0" spc="-220" dirty="0" err="1">
                <a:solidFill>
                  <a:schemeClr val="accent6"/>
                </a:solidFill>
              </a:rPr>
              <a:t>stackalloc</a:t>
            </a:r>
            <a:r>
              <a:rPr lang="en-US" sz="1800" kern="0" spc="-220" dirty="0">
                <a:solidFill>
                  <a:schemeClr val="accent6"/>
                </a:solidFill>
              </a:rPr>
              <a:t> float[1000];</a:t>
            </a:r>
          </a:p>
          <a:p>
            <a:pPr marL="12700" marR="5080"/>
            <a:r>
              <a:rPr lang="en-US" sz="1800" kern="0" spc="-220" dirty="0">
                <a:solidFill>
                  <a:schemeClr val="accent6"/>
                </a:solidFill>
              </a:rPr>
              <a:t>Span&lt;float&gt; speeds = </a:t>
            </a:r>
            <a:r>
              <a:rPr lang="en-US" sz="1800" kern="0" spc="-220" dirty="0" err="1">
                <a:solidFill>
                  <a:schemeClr val="accent6"/>
                </a:solidFill>
              </a:rPr>
              <a:t>stackalloc</a:t>
            </a:r>
            <a:r>
              <a:rPr lang="en-US" sz="1800" kern="0" spc="-220" dirty="0">
                <a:solidFill>
                  <a:schemeClr val="accent6"/>
                </a:solidFill>
              </a:rPr>
              <a:t> float[1000];</a:t>
            </a:r>
          </a:p>
          <a:p>
            <a:pPr marL="12700" marR="5080"/>
            <a:endParaRPr lang="en-US" sz="1800" kern="0" spc="-220" dirty="0">
              <a:solidFill>
                <a:schemeClr val="accent6"/>
              </a:solidFill>
            </a:endParaRPr>
          </a:p>
          <a:p>
            <a:pPr marL="12700" marR="5080"/>
            <a:r>
              <a:rPr lang="en-US" sz="1800" kern="0" spc="-220" dirty="0">
                <a:solidFill>
                  <a:schemeClr val="accent6"/>
                </a:solidFill>
              </a:rPr>
              <a:t>for (int </a:t>
            </a:r>
            <a:r>
              <a:rPr lang="en-US" sz="1800" kern="0" spc="-220" dirty="0" err="1">
                <a:solidFill>
                  <a:schemeClr val="accent6"/>
                </a:solidFill>
              </a:rPr>
              <a:t>i</a:t>
            </a:r>
            <a:r>
              <a:rPr lang="en-US" sz="1800" kern="0" spc="-220" dirty="0">
                <a:solidFill>
                  <a:schemeClr val="accent6"/>
                </a:solidFill>
              </a:rPr>
              <a:t> = 0; </a:t>
            </a:r>
            <a:r>
              <a:rPr lang="en-US" sz="1800" kern="0" spc="-220" dirty="0" err="1">
                <a:solidFill>
                  <a:schemeClr val="accent6"/>
                </a:solidFill>
              </a:rPr>
              <a:t>i</a:t>
            </a:r>
            <a:r>
              <a:rPr lang="en-US" sz="1800" kern="0" spc="-220" dirty="0">
                <a:solidFill>
                  <a:schemeClr val="accent6"/>
                </a:solidFill>
              </a:rPr>
              <a:t> &lt; </a:t>
            </a:r>
            <a:r>
              <a:rPr lang="en-US" sz="1800" kern="0" spc="-220" dirty="0" err="1">
                <a:solidFill>
                  <a:schemeClr val="accent6"/>
                </a:solidFill>
              </a:rPr>
              <a:t>xs.Length</a:t>
            </a:r>
            <a:r>
              <a:rPr lang="en-US" sz="1800" kern="0" spc="-220" dirty="0">
                <a:solidFill>
                  <a:schemeClr val="accent6"/>
                </a:solidFill>
              </a:rPr>
              <a:t>; </a:t>
            </a:r>
            <a:r>
              <a:rPr lang="en-US" sz="1800" kern="0" spc="-220" dirty="0" err="1">
                <a:solidFill>
                  <a:schemeClr val="accent6"/>
                </a:solidFill>
              </a:rPr>
              <a:t>i</a:t>
            </a:r>
            <a:r>
              <a:rPr lang="en-US" sz="1800" kern="0" spc="-220" dirty="0">
                <a:solidFill>
                  <a:schemeClr val="accent6"/>
                </a:solidFill>
              </a:rPr>
              <a:t>++)</a:t>
            </a:r>
          </a:p>
          <a:p>
            <a:pPr marL="12700" marR="5080"/>
            <a:r>
              <a:rPr lang="en-US" sz="1800" kern="0" spc="-220" dirty="0">
                <a:solidFill>
                  <a:schemeClr val="accent6"/>
                </a:solidFill>
              </a:rPr>
              <a:t>    </a:t>
            </a:r>
            <a:r>
              <a:rPr lang="en-US" sz="1800" kern="0" spc="-220" dirty="0" err="1">
                <a:solidFill>
                  <a:schemeClr val="accent6"/>
                </a:solidFill>
              </a:rPr>
              <a:t>xs</a:t>
            </a:r>
            <a:r>
              <a:rPr lang="en-US" sz="1800" kern="0" spc="-220" dirty="0">
                <a:solidFill>
                  <a:schemeClr val="accent6"/>
                </a:solidFill>
              </a:rPr>
              <a:t>[</a:t>
            </a:r>
            <a:r>
              <a:rPr lang="en-US" sz="1800" kern="0" spc="-220" dirty="0" err="1">
                <a:solidFill>
                  <a:schemeClr val="accent6"/>
                </a:solidFill>
              </a:rPr>
              <a:t>i</a:t>
            </a:r>
            <a:r>
              <a:rPr lang="en-US" sz="1800" kern="0" spc="-220" dirty="0">
                <a:solidFill>
                  <a:schemeClr val="accent6"/>
                </a:solidFill>
              </a:rPr>
              <a:t>] += speeds[</a:t>
            </a:r>
            <a:r>
              <a:rPr lang="en-US" sz="1800" kern="0" spc="-220" dirty="0" err="1">
                <a:solidFill>
                  <a:schemeClr val="accent6"/>
                </a:solidFill>
              </a:rPr>
              <a:t>i</a:t>
            </a:r>
            <a:r>
              <a:rPr lang="en-US" sz="1800" kern="0" spc="-220" dirty="0">
                <a:solidFill>
                  <a:schemeClr val="accent6"/>
                </a:solidFill>
              </a:rPr>
              <a:t>];</a:t>
            </a:r>
          </a:p>
        </p:txBody>
      </p:sp>
    </p:spTree>
    <p:extLst>
      <p:ext uri="{BB962C8B-B14F-4D97-AF65-F5344CB8AC3E}">
        <p14:creationId xmlns:p14="http://schemas.microsoft.com/office/powerpoint/2010/main" val="48964544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38243-0AD7-09DE-A345-F43B9096189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088BFC1-B01E-F438-7CA3-CA849A3F4CF5}"/>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B93A605-CA7E-60AD-96DC-F8D91C69FF2B}"/>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A1D63B9-AF4E-5D5A-D581-B34C6C4A767D}"/>
              </a:ext>
            </a:extLst>
          </p:cNvPr>
          <p:cNvGraphicFramePr/>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E6C8AFB-FAE7-6DDE-C656-CBFEEE8A46F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0DADC094-61D9-3C5F-C76B-0E75141C12CF}"/>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C96DBD5C-03FD-AE4E-16C1-DF5783B8DB77}"/>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6E31D079-9F61-87A8-823F-FF9EF34E8A86}"/>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C6739108-107A-93C1-505D-211551A699C7}"/>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F9FB4050-1703-0FD2-A51E-5301C7843AAB}"/>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2693A8C2-E889-A865-ACCA-8D8A7A181C6C}"/>
              </a:ext>
            </a:extLst>
          </p:cNvPr>
          <p:cNvSpPr txBox="1">
            <a:spLocks/>
          </p:cNvSpPr>
          <p:nvPr/>
        </p:nvSpPr>
        <p:spPr>
          <a:xfrm>
            <a:off x="228600" y="685800"/>
            <a:ext cx="8624937" cy="415498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220" dirty="0">
                <a:solidFill>
                  <a:schemeClr val="accent2"/>
                </a:solidFill>
              </a:rPr>
              <a:t>7. Data-Oriented Design + Multithreading</a:t>
            </a:r>
          </a:p>
          <a:p>
            <a:pPr marL="12700" marR="5080"/>
            <a:r>
              <a:rPr lang="en-US" sz="1800" kern="0" spc="-220" dirty="0">
                <a:solidFill>
                  <a:schemeClr val="accent6"/>
                </a:solidFill>
              </a:rPr>
              <a:t>DOP simplifies parallelization, because each index is independent.</a:t>
            </a:r>
          </a:p>
          <a:p>
            <a:pPr marL="12700" marR="5080"/>
            <a:r>
              <a:rPr lang="en-US" sz="1800" kern="0" spc="-220" dirty="0" err="1">
                <a:solidFill>
                  <a:schemeClr val="accent6"/>
                </a:solidFill>
              </a:rPr>
              <a:t>Parallel.For</a:t>
            </a:r>
            <a:r>
              <a:rPr lang="en-US" sz="1800" kern="0" spc="-220" dirty="0">
                <a:solidFill>
                  <a:schemeClr val="accent6"/>
                </a:solidFill>
              </a:rPr>
              <a:t>(0, </a:t>
            </a:r>
            <a:r>
              <a:rPr lang="en-US" sz="1800" kern="0" spc="-220" dirty="0" err="1">
                <a:solidFill>
                  <a:schemeClr val="accent6"/>
                </a:solidFill>
              </a:rPr>
              <a:t>X.Length</a:t>
            </a:r>
            <a:r>
              <a:rPr lang="en-US" sz="1800" kern="0" spc="-220" dirty="0">
                <a:solidFill>
                  <a:schemeClr val="accent6"/>
                </a:solidFill>
              </a:rPr>
              <a:t>, </a:t>
            </a:r>
            <a:r>
              <a:rPr lang="en-US" sz="1800" kern="0" spc="-220" dirty="0" err="1">
                <a:solidFill>
                  <a:schemeClr val="accent6"/>
                </a:solidFill>
              </a:rPr>
              <a:t>i</a:t>
            </a:r>
            <a:r>
              <a:rPr lang="en-US" sz="1800" kern="0" spc="-220" dirty="0">
                <a:solidFill>
                  <a:schemeClr val="accent6"/>
                </a:solidFill>
              </a:rPr>
              <a:t> =&gt;</a:t>
            </a:r>
          </a:p>
          <a:p>
            <a:pPr marL="12700" marR="5080"/>
            <a:r>
              <a:rPr lang="en-US" sz="1800" kern="0" spc="-220" dirty="0">
                <a:solidFill>
                  <a:schemeClr val="accent6"/>
                </a:solidFill>
              </a:rPr>
              <a:t>{</a:t>
            </a:r>
          </a:p>
          <a:p>
            <a:pPr marL="12700" marR="5080"/>
            <a:r>
              <a:rPr lang="en-US" sz="1800" kern="0" spc="-220" dirty="0">
                <a:solidFill>
                  <a:schemeClr val="accent6"/>
                </a:solidFill>
              </a:rPr>
              <a:t>    X[</a:t>
            </a:r>
            <a:r>
              <a:rPr lang="en-US" sz="1800" kern="0" spc="-220" dirty="0" err="1">
                <a:solidFill>
                  <a:schemeClr val="accent6"/>
                </a:solidFill>
              </a:rPr>
              <a:t>i</a:t>
            </a:r>
            <a:r>
              <a:rPr lang="en-US" sz="1800" kern="0" spc="-220" dirty="0">
                <a:solidFill>
                  <a:schemeClr val="accent6"/>
                </a:solidFill>
              </a:rPr>
              <a:t>] += Speed[</a:t>
            </a:r>
            <a:r>
              <a:rPr lang="en-US" sz="1800" kern="0" spc="-220" dirty="0" err="1">
                <a:solidFill>
                  <a:schemeClr val="accent6"/>
                </a:solidFill>
              </a:rPr>
              <a:t>i</a:t>
            </a:r>
            <a:r>
              <a:rPr lang="en-US" sz="1800" kern="0" spc="-220" dirty="0">
                <a:solidFill>
                  <a:schemeClr val="accent6"/>
                </a:solidFill>
              </a:rPr>
              <a:t>];</a:t>
            </a:r>
          </a:p>
          <a:p>
            <a:pPr marL="12700" marR="5080"/>
            <a:r>
              <a:rPr lang="en-US" sz="1800" kern="0" spc="-220" dirty="0">
                <a:solidFill>
                  <a:schemeClr val="accent6"/>
                </a:solidFill>
              </a:rPr>
              <a:t>});</a:t>
            </a:r>
          </a:p>
          <a:p>
            <a:pPr marL="12700" marR="5080"/>
            <a:r>
              <a:rPr lang="en-US" sz="1800" kern="0" spc="-220" dirty="0">
                <a:solidFill>
                  <a:schemeClr val="accent6"/>
                </a:solidFill>
              </a:rPr>
              <a:t>No data races because no shared mutable objects — data is flat.</a:t>
            </a:r>
          </a:p>
          <a:p>
            <a:pPr marL="12700" marR="5080"/>
            <a:endParaRPr lang="en-US" sz="1800" kern="0" spc="-220" dirty="0">
              <a:solidFill>
                <a:schemeClr val="accent6"/>
              </a:solidFill>
            </a:endParaRPr>
          </a:p>
          <a:p>
            <a:pPr marL="12700" marR="5080"/>
            <a:r>
              <a:rPr lang="en-US" sz="1800" kern="0" spc="-220" dirty="0">
                <a:solidFill>
                  <a:schemeClr val="accent2"/>
                </a:solidFill>
              </a:rPr>
              <a:t>8. Unity DOTS (ECS + Burst + Job System) — The Gold Standard</a:t>
            </a:r>
          </a:p>
          <a:p>
            <a:pPr marL="12700" marR="5080"/>
            <a:r>
              <a:rPr lang="en-US" sz="1800" kern="0" spc="-220" dirty="0">
                <a:solidFill>
                  <a:schemeClr val="accent2"/>
                </a:solidFill>
              </a:rPr>
              <a:t>Unity’s DOTS framework is pure DOP-based:</a:t>
            </a:r>
          </a:p>
          <a:p>
            <a:pPr marL="12700" marR="5080"/>
            <a:r>
              <a:rPr lang="en-US" sz="1800" kern="0" spc="-220" dirty="0">
                <a:solidFill>
                  <a:schemeClr val="accent2"/>
                </a:solidFill>
              </a:rPr>
              <a:t>Component	                                         Description</a:t>
            </a:r>
          </a:p>
          <a:p>
            <a:pPr marL="12700" marR="5080"/>
            <a:r>
              <a:rPr lang="en-US" sz="1800" kern="0" spc="-220" dirty="0">
                <a:solidFill>
                  <a:schemeClr val="accent6"/>
                </a:solidFill>
              </a:rPr>
              <a:t>ECS (Entity Component System)	Data organized in contiguous memory chunks.</a:t>
            </a:r>
          </a:p>
          <a:p>
            <a:pPr marL="12700" marR="5080"/>
            <a:r>
              <a:rPr lang="en-US" sz="1800" kern="0" spc="-220" dirty="0">
                <a:solidFill>
                  <a:schemeClr val="accent6"/>
                </a:solidFill>
              </a:rPr>
              <a:t>Jobs System	                                         Automatic multi-core parallelization.</a:t>
            </a:r>
          </a:p>
          <a:p>
            <a:pPr marL="12700" marR="5080"/>
            <a:r>
              <a:rPr lang="en-US" sz="1800" kern="0" spc="-220" dirty="0">
                <a:solidFill>
                  <a:schemeClr val="accent6"/>
                </a:solidFill>
              </a:rPr>
              <a:t>Burst Compiler	                                         Auto SIMD optimizations (very fast).</a:t>
            </a:r>
          </a:p>
          <a:p>
            <a:pPr marL="12700" marR="5080"/>
            <a:endParaRPr lang="en-US" sz="1800" kern="0" spc="-220" dirty="0">
              <a:solidFill>
                <a:schemeClr val="accent6"/>
              </a:solidFill>
            </a:endParaRPr>
          </a:p>
        </p:txBody>
      </p:sp>
    </p:spTree>
    <p:extLst>
      <p:ext uri="{BB962C8B-B14F-4D97-AF65-F5344CB8AC3E}">
        <p14:creationId xmlns:p14="http://schemas.microsoft.com/office/powerpoint/2010/main" val="329549163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09C21-860A-9AF5-C599-17389EC7B75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6BED590-25E6-A3F9-0637-7485AD12E21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66E3428-5703-A756-5E28-6CC98703C0B5}"/>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11EE715-9373-A8AB-3B26-74016FAA2C67}"/>
              </a:ext>
            </a:extLst>
          </p:cNvPr>
          <p:cNvGraphicFramePr/>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44E2FE1-3983-6E7F-F7FB-759449D91BE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8D1217D5-3A10-E19B-7889-943F15BD220C}"/>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748A6839-4940-29FF-DE8C-4D2F34185724}"/>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891CAA50-3E0A-6B16-DAF4-DB1B24695E20}"/>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C4AF4022-6539-6068-A5CD-F48FB6EF62EB}"/>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D8D82162-40A9-FF8C-A678-F5EF334BF7C1}"/>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3F13C24C-EAF6-5463-814A-2E6A17C1E665}"/>
              </a:ext>
            </a:extLst>
          </p:cNvPr>
          <p:cNvSpPr txBox="1">
            <a:spLocks/>
          </p:cNvSpPr>
          <p:nvPr/>
        </p:nvSpPr>
        <p:spPr>
          <a:xfrm>
            <a:off x="228600" y="685800"/>
            <a:ext cx="8624937" cy="498598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220" dirty="0">
                <a:solidFill>
                  <a:schemeClr val="accent2"/>
                </a:solidFill>
              </a:rPr>
              <a:t>Example ECS Component:</a:t>
            </a:r>
          </a:p>
          <a:p>
            <a:pPr marL="12700" marR="5080"/>
            <a:r>
              <a:rPr lang="en-US" sz="1800" kern="0" spc="-220" dirty="0">
                <a:solidFill>
                  <a:schemeClr val="accent6"/>
                </a:solidFill>
              </a:rPr>
              <a:t>public struct </a:t>
            </a:r>
            <a:r>
              <a:rPr lang="en-US" sz="1800" kern="0" spc="-220" dirty="0" err="1">
                <a:solidFill>
                  <a:schemeClr val="accent6"/>
                </a:solidFill>
              </a:rPr>
              <a:t>MoveSpeed</a:t>
            </a:r>
            <a:r>
              <a:rPr lang="en-US" sz="1800" kern="0" spc="-220" dirty="0">
                <a:solidFill>
                  <a:schemeClr val="accent6"/>
                </a:solidFill>
              </a:rPr>
              <a:t> : </a:t>
            </a:r>
            <a:r>
              <a:rPr lang="en-US" sz="1800" kern="0" spc="-220" dirty="0" err="1">
                <a:solidFill>
                  <a:schemeClr val="accent6"/>
                </a:solidFill>
              </a:rPr>
              <a:t>IComponentData</a:t>
            </a:r>
            <a:endParaRPr lang="en-US" sz="1800" kern="0" spc="-220" dirty="0">
              <a:solidFill>
                <a:schemeClr val="accent6"/>
              </a:solidFill>
            </a:endParaRPr>
          </a:p>
          <a:p>
            <a:pPr marL="12700" marR="5080"/>
            <a:r>
              <a:rPr lang="en-US" sz="1800" kern="0" spc="-220" dirty="0">
                <a:solidFill>
                  <a:schemeClr val="accent6"/>
                </a:solidFill>
              </a:rPr>
              <a:t>{</a:t>
            </a:r>
          </a:p>
          <a:p>
            <a:pPr marL="12700" marR="5080"/>
            <a:r>
              <a:rPr lang="en-US" sz="1800" kern="0" spc="-220" dirty="0">
                <a:solidFill>
                  <a:schemeClr val="accent6"/>
                </a:solidFill>
              </a:rPr>
              <a:t>    public float Value;</a:t>
            </a:r>
          </a:p>
          <a:p>
            <a:pPr marL="12700" marR="5080"/>
            <a:r>
              <a:rPr lang="en-US" sz="1800" kern="0" spc="-220" dirty="0">
                <a:solidFill>
                  <a:schemeClr val="accent6"/>
                </a:solidFill>
              </a:rPr>
              <a:t>}</a:t>
            </a:r>
          </a:p>
          <a:p>
            <a:pPr marL="12700" marR="5080"/>
            <a:endParaRPr lang="en-US" sz="1800" kern="0" spc="-220" dirty="0">
              <a:solidFill>
                <a:schemeClr val="accent6"/>
              </a:solidFill>
            </a:endParaRPr>
          </a:p>
          <a:p>
            <a:pPr marL="12700" marR="5080"/>
            <a:r>
              <a:rPr lang="en-US" sz="1800" kern="0" spc="-220" dirty="0">
                <a:solidFill>
                  <a:schemeClr val="accent2"/>
                </a:solidFill>
              </a:rPr>
              <a:t>System:</a:t>
            </a:r>
          </a:p>
          <a:p>
            <a:pPr marL="12700" marR="5080"/>
            <a:r>
              <a:rPr lang="en-US" sz="1800" kern="0" spc="-220" dirty="0">
                <a:solidFill>
                  <a:schemeClr val="accent6"/>
                </a:solidFill>
              </a:rPr>
              <a:t>public partial struct </a:t>
            </a:r>
            <a:r>
              <a:rPr lang="en-US" sz="1800" kern="0" spc="-220" dirty="0" err="1">
                <a:solidFill>
                  <a:schemeClr val="accent6"/>
                </a:solidFill>
              </a:rPr>
              <a:t>MoveSystem</a:t>
            </a:r>
            <a:r>
              <a:rPr lang="en-US" sz="1800" kern="0" spc="-220" dirty="0">
                <a:solidFill>
                  <a:schemeClr val="accent6"/>
                </a:solidFill>
              </a:rPr>
              <a:t> : </a:t>
            </a:r>
            <a:r>
              <a:rPr lang="en-US" sz="1800" kern="0" spc="-220" dirty="0" err="1">
                <a:solidFill>
                  <a:schemeClr val="accent6"/>
                </a:solidFill>
              </a:rPr>
              <a:t>ISystem</a:t>
            </a:r>
            <a:endParaRPr lang="en-US" sz="1800" kern="0" spc="-220" dirty="0">
              <a:solidFill>
                <a:schemeClr val="accent6"/>
              </a:solidFill>
            </a:endParaRPr>
          </a:p>
          <a:p>
            <a:pPr marL="12700" marR="5080"/>
            <a:r>
              <a:rPr lang="en-US" sz="1800" kern="0" spc="-220" dirty="0">
                <a:solidFill>
                  <a:schemeClr val="accent6"/>
                </a:solidFill>
              </a:rPr>
              <a:t>{</a:t>
            </a:r>
          </a:p>
          <a:p>
            <a:pPr marL="12700" marR="5080"/>
            <a:r>
              <a:rPr lang="en-US" sz="1800" kern="0" spc="-220" dirty="0">
                <a:solidFill>
                  <a:schemeClr val="accent6"/>
                </a:solidFill>
              </a:rPr>
              <a:t>    public void </a:t>
            </a:r>
            <a:r>
              <a:rPr lang="en-US" sz="1800" kern="0" spc="-220" dirty="0" err="1">
                <a:solidFill>
                  <a:schemeClr val="accent6"/>
                </a:solidFill>
              </a:rPr>
              <a:t>OnUpdate</a:t>
            </a:r>
            <a:r>
              <a:rPr lang="en-US" sz="1800" kern="0" spc="-220" dirty="0">
                <a:solidFill>
                  <a:schemeClr val="accent6"/>
                </a:solidFill>
              </a:rPr>
              <a:t>(ref </a:t>
            </a:r>
            <a:r>
              <a:rPr lang="en-US" sz="1800" kern="0" spc="-220" dirty="0" err="1">
                <a:solidFill>
                  <a:schemeClr val="accent6"/>
                </a:solidFill>
              </a:rPr>
              <a:t>SystemState</a:t>
            </a:r>
            <a:r>
              <a:rPr lang="en-US" sz="1800" kern="0" spc="-220" dirty="0">
                <a:solidFill>
                  <a:schemeClr val="accent6"/>
                </a:solidFill>
              </a:rPr>
              <a:t> state)</a:t>
            </a:r>
          </a:p>
          <a:p>
            <a:pPr marL="12700" marR="5080"/>
            <a:r>
              <a:rPr lang="en-US" sz="1800" kern="0" spc="-220" dirty="0">
                <a:solidFill>
                  <a:schemeClr val="accent6"/>
                </a:solidFill>
              </a:rPr>
              <a:t>    {</a:t>
            </a:r>
          </a:p>
          <a:p>
            <a:pPr marL="12700" marR="5080"/>
            <a:r>
              <a:rPr lang="en-US" sz="1800" kern="0" spc="-220" dirty="0">
                <a:solidFill>
                  <a:schemeClr val="accent6"/>
                </a:solidFill>
              </a:rPr>
              <a:t>        foreach (var (speed, position) in </a:t>
            </a:r>
          </a:p>
          <a:p>
            <a:pPr marL="12700" marR="5080"/>
            <a:r>
              <a:rPr lang="en-US" sz="1800" kern="0" spc="-220" dirty="0">
                <a:solidFill>
                  <a:schemeClr val="accent6"/>
                </a:solidFill>
              </a:rPr>
              <a:t>                 </a:t>
            </a:r>
            <a:r>
              <a:rPr lang="en-US" sz="1800" kern="0" spc="-220" dirty="0" err="1">
                <a:solidFill>
                  <a:schemeClr val="accent6"/>
                </a:solidFill>
              </a:rPr>
              <a:t>SystemAPI.Query</a:t>
            </a:r>
            <a:r>
              <a:rPr lang="en-US" sz="1800" kern="0" spc="-220" dirty="0">
                <a:solidFill>
                  <a:schemeClr val="accent6"/>
                </a:solidFill>
              </a:rPr>
              <a:t>&lt;</a:t>
            </a:r>
            <a:r>
              <a:rPr lang="en-US" sz="1800" kern="0" spc="-220" dirty="0" err="1">
                <a:solidFill>
                  <a:schemeClr val="accent6"/>
                </a:solidFill>
              </a:rPr>
              <a:t>RefRO</a:t>
            </a:r>
            <a:r>
              <a:rPr lang="en-US" sz="1800" kern="0" spc="-220" dirty="0">
                <a:solidFill>
                  <a:schemeClr val="accent6"/>
                </a:solidFill>
              </a:rPr>
              <a:t>&lt;</a:t>
            </a:r>
            <a:r>
              <a:rPr lang="en-US" sz="1800" kern="0" spc="-220" dirty="0" err="1">
                <a:solidFill>
                  <a:schemeClr val="accent6"/>
                </a:solidFill>
              </a:rPr>
              <a:t>MoveSpeed</a:t>
            </a:r>
            <a:r>
              <a:rPr lang="en-US" sz="1800" kern="0" spc="-220" dirty="0">
                <a:solidFill>
                  <a:schemeClr val="accent6"/>
                </a:solidFill>
              </a:rPr>
              <a:t>&gt;, </a:t>
            </a:r>
            <a:r>
              <a:rPr lang="en-US" sz="1800" kern="0" spc="-220" dirty="0" err="1">
                <a:solidFill>
                  <a:schemeClr val="accent6"/>
                </a:solidFill>
              </a:rPr>
              <a:t>RefRW</a:t>
            </a:r>
            <a:r>
              <a:rPr lang="en-US" sz="1800" kern="0" spc="-220" dirty="0">
                <a:solidFill>
                  <a:schemeClr val="accent6"/>
                </a:solidFill>
              </a:rPr>
              <a:t>&lt;</a:t>
            </a:r>
            <a:r>
              <a:rPr lang="en-US" sz="1800" kern="0" spc="-220" dirty="0" err="1">
                <a:solidFill>
                  <a:schemeClr val="accent6"/>
                </a:solidFill>
              </a:rPr>
              <a:t>LocalTransform</a:t>
            </a:r>
            <a:r>
              <a:rPr lang="en-US" sz="1800" kern="0" spc="-220" dirty="0">
                <a:solidFill>
                  <a:schemeClr val="accent6"/>
                </a:solidFill>
              </a:rPr>
              <a:t>&gt;&gt;())</a:t>
            </a:r>
          </a:p>
          <a:p>
            <a:pPr marL="12700" marR="5080"/>
            <a:r>
              <a:rPr lang="en-US" sz="1800" kern="0" spc="-220" dirty="0">
                <a:solidFill>
                  <a:schemeClr val="accent6"/>
                </a:solidFill>
              </a:rPr>
              <a:t>        {</a:t>
            </a:r>
          </a:p>
          <a:p>
            <a:pPr marL="12700" marR="5080"/>
            <a:r>
              <a:rPr lang="en-US" sz="1800" kern="0" spc="-220" dirty="0">
                <a:solidFill>
                  <a:schemeClr val="accent6"/>
                </a:solidFill>
              </a:rPr>
              <a:t>            </a:t>
            </a:r>
            <a:r>
              <a:rPr lang="en-US" sz="1800" kern="0" spc="-220" dirty="0" err="1">
                <a:solidFill>
                  <a:schemeClr val="accent6"/>
                </a:solidFill>
              </a:rPr>
              <a:t>position.ValueRW.Position.x</a:t>
            </a:r>
            <a:r>
              <a:rPr lang="en-US" sz="1800" kern="0" spc="-220" dirty="0">
                <a:solidFill>
                  <a:schemeClr val="accent6"/>
                </a:solidFill>
              </a:rPr>
              <a:t> += </a:t>
            </a:r>
            <a:r>
              <a:rPr lang="en-US" sz="1800" kern="0" spc="-220" dirty="0" err="1">
                <a:solidFill>
                  <a:schemeClr val="accent6"/>
                </a:solidFill>
              </a:rPr>
              <a:t>speed.ValueRO.Value</a:t>
            </a:r>
            <a:r>
              <a:rPr lang="en-US" sz="1800" kern="0" spc="-220" dirty="0">
                <a:solidFill>
                  <a:schemeClr val="accent6"/>
                </a:solidFill>
              </a:rPr>
              <a:t>;</a:t>
            </a:r>
          </a:p>
          <a:p>
            <a:pPr marL="12700" marR="5080"/>
            <a:r>
              <a:rPr lang="en-US" sz="1800" kern="0" spc="-220" dirty="0">
                <a:solidFill>
                  <a:schemeClr val="accent6"/>
                </a:solidFill>
              </a:rPr>
              <a:t>        }</a:t>
            </a:r>
          </a:p>
          <a:p>
            <a:pPr marL="12700" marR="5080"/>
            <a:r>
              <a:rPr lang="en-US" sz="1800" kern="0" spc="-220" dirty="0">
                <a:solidFill>
                  <a:schemeClr val="accent6"/>
                </a:solidFill>
              </a:rPr>
              <a:t>    }</a:t>
            </a:r>
          </a:p>
          <a:p>
            <a:pPr marL="12700" marR="5080"/>
            <a:r>
              <a:rPr lang="en-US" sz="1800" kern="0" spc="-220" dirty="0">
                <a:solidFill>
                  <a:schemeClr val="accent6"/>
                </a:solidFill>
              </a:rPr>
              <a:t>}</a:t>
            </a:r>
          </a:p>
        </p:txBody>
      </p:sp>
    </p:spTree>
    <p:extLst>
      <p:ext uri="{BB962C8B-B14F-4D97-AF65-F5344CB8AC3E}">
        <p14:creationId xmlns:p14="http://schemas.microsoft.com/office/powerpoint/2010/main" val="289400053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BD080-1BA2-8493-631E-CF82371EC61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6546632-9919-002B-6CC0-FC0A65BBC42E}"/>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3CC0EF4-4E2C-39A1-8C2A-2CBFA8A6600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B7EDFE0-4AFC-FE84-835D-37EDF37B3AAE}"/>
              </a:ext>
            </a:extLst>
          </p:cNvPr>
          <p:cNvGraphicFramePr/>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CABACD1-E61B-B3FD-2DFD-EA07D0DE6DF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33756B95-C36F-E71F-CC5A-72CDD00D36FA}"/>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981B093-0C6F-D64C-F3C4-EB34A3F4FB0F}"/>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E3FAC229-2998-7A4C-D14B-79A6CAA4C80C}"/>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3B9E445B-9883-D917-44CB-FEB1CA48E6D5}"/>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A03ED122-4618-80D2-D056-5005A8F7ABC1}"/>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F286B4F1-7D48-965B-DEA1-931E502400C7}"/>
              </a:ext>
            </a:extLst>
          </p:cNvPr>
          <p:cNvSpPr txBox="1">
            <a:spLocks/>
          </p:cNvSpPr>
          <p:nvPr/>
        </p:nvSpPr>
        <p:spPr>
          <a:xfrm>
            <a:off x="228600" y="685800"/>
            <a:ext cx="8624937" cy="415498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220" dirty="0">
                <a:solidFill>
                  <a:schemeClr val="accent2"/>
                </a:solidFill>
              </a:rPr>
              <a:t>9. When Should You Use DOP ?</a:t>
            </a:r>
          </a:p>
          <a:p>
            <a:pPr marL="12700" marR="5080"/>
            <a:r>
              <a:rPr lang="en-US" sz="1800" kern="0" spc="-220" dirty="0">
                <a:solidFill>
                  <a:schemeClr val="accent6"/>
                </a:solidFill>
              </a:rPr>
              <a:t>✅ High-performance systems</a:t>
            </a:r>
          </a:p>
          <a:p>
            <a:pPr marL="12700" marR="5080"/>
            <a:r>
              <a:rPr lang="en-US" sz="1800" kern="0" spc="-220" dirty="0">
                <a:solidFill>
                  <a:schemeClr val="accent6"/>
                </a:solidFill>
              </a:rPr>
              <a:t>✅ Game engines</a:t>
            </a:r>
          </a:p>
          <a:p>
            <a:pPr marL="12700" marR="5080"/>
            <a:r>
              <a:rPr lang="en-US" sz="1800" kern="0" spc="-220" dirty="0">
                <a:solidFill>
                  <a:schemeClr val="accent6"/>
                </a:solidFill>
              </a:rPr>
              <a:t>✅ Simulation loops</a:t>
            </a:r>
          </a:p>
          <a:p>
            <a:pPr marL="12700" marR="5080"/>
            <a:r>
              <a:rPr lang="en-US" sz="1800" kern="0" spc="-220" dirty="0">
                <a:solidFill>
                  <a:schemeClr val="accent6"/>
                </a:solidFill>
              </a:rPr>
              <a:t>✅ Vectorized math workloads</a:t>
            </a:r>
          </a:p>
          <a:p>
            <a:pPr marL="12700" marR="5080"/>
            <a:r>
              <a:rPr lang="en-US" sz="1800" kern="0" spc="-220" dirty="0">
                <a:solidFill>
                  <a:schemeClr val="accent6"/>
                </a:solidFill>
              </a:rPr>
              <a:t>✅ Real-time analytics</a:t>
            </a:r>
          </a:p>
          <a:p>
            <a:pPr marL="12700" marR="5080"/>
            <a:r>
              <a:rPr lang="en-US" sz="1800" kern="0" spc="-220" dirty="0">
                <a:solidFill>
                  <a:schemeClr val="accent6"/>
                </a:solidFill>
              </a:rPr>
              <a:t>✅ Machine learning preprocessing</a:t>
            </a:r>
          </a:p>
          <a:p>
            <a:pPr marL="12700" marR="5080"/>
            <a:r>
              <a:rPr lang="en-US" sz="1800" kern="0" spc="-220" dirty="0">
                <a:solidFill>
                  <a:schemeClr val="accent6"/>
                </a:solidFill>
              </a:rPr>
              <a:t>❌ Regular business apps (DOP overkills things here)</a:t>
            </a:r>
          </a:p>
          <a:p>
            <a:pPr marL="12700" marR="5080"/>
            <a:r>
              <a:rPr lang="en-US" sz="1800" kern="0" spc="-220" dirty="0">
                <a:solidFill>
                  <a:schemeClr val="accent6"/>
                </a:solidFill>
              </a:rPr>
              <a:t>❌ Code where readability &gt; performance</a:t>
            </a:r>
          </a:p>
          <a:p>
            <a:pPr marL="12700" marR="5080"/>
            <a:endParaRPr lang="en-US" sz="1800" kern="0" spc="-220" dirty="0">
              <a:solidFill>
                <a:schemeClr val="accent6"/>
              </a:solidFill>
            </a:endParaRPr>
          </a:p>
          <a:p>
            <a:pPr marL="12700" marR="5080"/>
            <a:r>
              <a:rPr lang="en-US" sz="1800" kern="0" spc="-220" dirty="0">
                <a:solidFill>
                  <a:schemeClr val="accent2"/>
                </a:solidFill>
              </a:rPr>
              <a:t>10. Key Takeaways</a:t>
            </a:r>
          </a:p>
          <a:p>
            <a:pPr marL="12700" marR="5080"/>
            <a:r>
              <a:rPr lang="en-US" sz="1800" kern="0" spc="-220" dirty="0">
                <a:solidFill>
                  <a:schemeClr val="accent6"/>
                </a:solidFill>
              </a:rPr>
              <a:t>DOP is not a replacement for OOP — it’s a tool for performance-critical code.</a:t>
            </a:r>
          </a:p>
          <a:p>
            <a:pPr marL="12700" marR="5080"/>
            <a:r>
              <a:rPr lang="en-US" sz="1800" kern="0" spc="-220" dirty="0">
                <a:solidFill>
                  <a:schemeClr val="accent6"/>
                </a:solidFill>
              </a:rPr>
              <a:t>It focuses on memory layout, cache efficiency, batch processing.</a:t>
            </a:r>
          </a:p>
          <a:p>
            <a:pPr marL="12700" marR="5080"/>
            <a:r>
              <a:rPr lang="en-US" sz="1800" kern="0" spc="-220" dirty="0">
                <a:solidFill>
                  <a:schemeClr val="accent6"/>
                </a:solidFill>
              </a:rPr>
              <a:t>Use </a:t>
            </a:r>
            <a:r>
              <a:rPr lang="en-US" sz="1800" kern="0" spc="-220" dirty="0" err="1">
                <a:solidFill>
                  <a:schemeClr val="accent6"/>
                </a:solidFill>
              </a:rPr>
              <a:t>SoA</a:t>
            </a:r>
            <a:r>
              <a:rPr lang="en-US" sz="1800" kern="0" spc="-220" dirty="0">
                <a:solidFill>
                  <a:schemeClr val="accent6"/>
                </a:solidFill>
              </a:rPr>
              <a:t> layouts, value types, arrays, spans, and job parallelism.</a:t>
            </a:r>
          </a:p>
          <a:p>
            <a:pPr marL="12700" marR="5080"/>
            <a:endParaRPr lang="en-US" sz="1800" kern="0" spc="-220" dirty="0">
              <a:solidFill>
                <a:schemeClr val="accent6"/>
              </a:solidFill>
            </a:endParaRPr>
          </a:p>
        </p:txBody>
      </p:sp>
    </p:spTree>
    <p:extLst>
      <p:ext uri="{BB962C8B-B14F-4D97-AF65-F5344CB8AC3E}">
        <p14:creationId xmlns:p14="http://schemas.microsoft.com/office/powerpoint/2010/main" val="382733350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44D74-6DD7-8B60-FF81-05F2A3ACF55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8EB0B90-6821-4841-7022-846FF2321CB3}"/>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0443E97-D368-8AC3-E32B-115999D5415C}"/>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EDDAD8B-EDAB-4A11-21C2-6B6BEE36B699}"/>
              </a:ext>
            </a:extLst>
          </p:cNvPr>
          <p:cNvGraphicFramePr/>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81023BE-31F9-0CD1-FB5B-95EA0671B01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F2050BD3-BA68-B213-8E68-31419446FC89}"/>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161B4CB8-D293-C6C7-8CE4-CC0DA141EA4B}"/>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33A7BF76-853F-CCC6-4826-018C4A33E0C5}"/>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28866C8B-FF5F-138F-D4B6-5EE320D44712}"/>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8595C0B1-A3CE-BFFD-7CF1-E7A28F0D7820}"/>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45BF214D-3CEB-6048-3DDD-4353AE8036FF}"/>
              </a:ext>
            </a:extLst>
          </p:cNvPr>
          <p:cNvSpPr txBox="1">
            <a:spLocks/>
          </p:cNvSpPr>
          <p:nvPr/>
        </p:nvSpPr>
        <p:spPr>
          <a:xfrm>
            <a:off x="228600" y="685800"/>
            <a:ext cx="8624937" cy="443198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220" dirty="0">
                <a:solidFill>
                  <a:schemeClr val="accent2"/>
                </a:solidFill>
              </a:rPr>
              <a:t>How to think like the CPU in C#.</a:t>
            </a:r>
          </a:p>
          <a:p>
            <a:pPr marL="12700" marR="5080"/>
            <a:r>
              <a:rPr lang="en-US" sz="1800" kern="0" spc="-220" dirty="0">
                <a:solidFill>
                  <a:schemeClr val="accent2"/>
                </a:solidFill>
              </a:rPr>
              <a:t>1. CPU Architecture Rules Your Code</a:t>
            </a:r>
          </a:p>
          <a:p>
            <a:pPr marL="12700" marR="5080"/>
            <a:endParaRPr lang="en-US" sz="1800" kern="0" spc="-220" dirty="0">
              <a:solidFill>
                <a:schemeClr val="accent2"/>
              </a:solidFill>
            </a:endParaRPr>
          </a:p>
          <a:p>
            <a:pPr marL="12700" marR="5080"/>
            <a:r>
              <a:rPr lang="en-US" sz="1800" kern="0" spc="-220" dirty="0">
                <a:solidFill>
                  <a:schemeClr val="accent2"/>
                </a:solidFill>
              </a:rPr>
              <a:t>Key Hardware Facts</a:t>
            </a:r>
          </a:p>
          <a:p>
            <a:pPr marL="12700" marR="5080"/>
            <a:r>
              <a:rPr lang="en-US" sz="1800" kern="0" spc="-220" dirty="0">
                <a:solidFill>
                  <a:schemeClr val="accent2"/>
                </a:solidFill>
              </a:rPr>
              <a:t>Concept	                     Size	                                        Why It Matters</a:t>
            </a:r>
          </a:p>
          <a:p>
            <a:pPr marL="12700" marR="5080"/>
            <a:r>
              <a:rPr lang="en-US" sz="1800" kern="0" spc="-220" dirty="0">
                <a:solidFill>
                  <a:schemeClr val="accent6"/>
                </a:solidFill>
              </a:rPr>
              <a:t>Cache line                    ~64 bytes	                    Data is moved in chunks, not per-variable.</a:t>
            </a:r>
          </a:p>
          <a:p>
            <a:pPr marL="12700" marR="5080"/>
            <a:r>
              <a:rPr lang="en-US" sz="1800" kern="0" spc="-220" dirty="0">
                <a:solidFill>
                  <a:schemeClr val="accent6"/>
                </a:solidFill>
              </a:rPr>
              <a:t>Registers	                    128–512 bits (SIMD)	                    CPU can operate on multiple values at once.</a:t>
            </a:r>
          </a:p>
          <a:p>
            <a:pPr marL="12700" marR="5080"/>
            <a:r>
              <a:rPr lang="en-US" sz="1800" kern="0" spc="-220" dirty="0">
                <a:solidFill>
                  <a:schemeClr val="accent6"/>
                </a:solidFill>
              </a:rPr>
              <a:t>Memory latency	100x slower than L1 cache	Scattered objects destroy performance.</a:t>
            </a:r>
          </a:p>
          <a:p>
            <a:pPr marL="12700" marR="5080"/>
            <a:endParaRPr lang="en-US" sz="1800" kern="0" spc="-220" dirty="0">
              <a:solidFill>
                <a:schemeClr val="accent6"/>
              </a:solidFill>
            </a:endParaRPr>
          </a:p>
          <a:p>
            <a:pPr marL="12700" marR="5080"/>
            <a:endParaRPr lang="en-US" sz="1800" kern="0" spc="-220" dirty="0">
              <a:solidFill>
                <a:schemeClr val="accent6"/>
              </a:solidFill>
            </a:endParaRPr>
          </a:p>
          <a:p>
            <a:pPr marL="12700" marR="5080"/>
            <a:r>
              <a:rPr lang="en-US" sz="1800" kern="0" spc="-220" dirty="0">
                <a:solidFill>
                  <a:schemeClr val="accent2"/>
                </a:solidFill>
              </a:rPr>
              <a:t>What DOP optimizes:</a:t>
            </a:r>
          </a:p>
          <a:p>
            <a:pPr marL="12700" marR="5080"/>
            <a:r>
              <a:rPr lang="en-US" sz="1800" kern="0" spc="-220" dirty="0">
                <a:solidFill>
                  <a:schemeClr val="accent6"/>
                </a:solidFill>
              </a:rPr>
              <a:t>Spatial locality (nearby data is stored together)</a:t>
            </a:r>
          </a:p>
          <a:p>
            <a:pPr marL="12700" marR="5080"/>
            <a:r>
              <a:rPr lang="en-US" sz="1800" kern="0" spc="-220" dirty="0">
                <a:solidFill>
                  <a:schemeClr val="accent6"/>
                </a:solidFill>
              </a:rPr>
              <a:t>Linear iteration</a:t>
            </a:r>
          </a:p>
          <a:p>
            <a:pPr marL="12700" marR="5080"/>
            <a:r>
              <a:rPr lang="en-US" sz="1800" kern="0" spc="-220" dirty="0">
                <a:solidFill>
                  <a:schemeClr val="accent6"/>
                </a:solidFill>
              </a:rPr>
              <a:t>Branch-free loops</a:t>
            </a:r>
          </a:p>
          <a:p>
            <a:pPr marL="12700" marR="5080"/>
            <a:r>
              <a:rPr lang="en-US" sz="1800" kern="0" spc="-220" dirty="0">
                <a:solidFill>
                  <a:schemeClr val="accent6"/>
                </a:solidFill>
              </a:rPr>
              <a:t>SIMD vectorization</a:t>
            </a:r>
          </a:p>
          <a:p>
            <a:pPr marL="12700" marR="5080"/>
            <a:r>
              <a:rPr lang="en-US" sz="1800" kern="0" spc="-220" dirty="0">
                <a:solidFill>
                  <a:schemeClr val="accent6"/>
                </a:solidFill>
              </a:rPr>
              <a:t>No pointer-chasing</a:t>
            </a:r>
          </a:p>
        </p:txBody>
      </p:sp>
    </p:spTree>
    <p:extLst>
      <p:ext uri="{BB962C8B-B14F-4D97-AF65-F5344CB8AC3E}">
        <p14:creationId xmlns:p14="http://schemas.microsoft.com/office/powerpoint/2010/main" val="228621623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E7994-5A7B-AC3B-C311-D3491102884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F54C33E-B34E-E638-A8D2-9FE8F23140F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F58ACD9-79A6-A1D9-877E-74B4A5CB8F05}"/>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CA67497-D371-AAC9-5296-204978307AA1}"/>
              </a:ext>
            </a:extLst>
          </p:cNvPr>
          <p:cNvGraphicFramePr/>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D642C70C-4757-9EF6-0985-9970074E247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26812F29-4BC0-8927-7EBA-C66AFE9735AF}"/>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CEB1BECA-89D9-F588-1E99-90E922A5DC08}"/>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A1D05359-2A5F-4B9C-D659-2155D1D97C7D}"/>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BEEEF5AC-5597-D86E-51AC-14413B3AF1FF}"/>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3949C0F9-20DB-0C51-9640-907D2D086B30}"/>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3924C0E9-7519-EFCC-9A81-627450490AFB}"/>
              </a:ext>
            </a:extLst>
          </p:cNvPr>
          <p:cNvSpPr txBox="1">
            <a:spLocks/>
          </p:cNvSpPr>
          <p:nvPr/>
        </p:nvSpPr>
        <p:spPr>
          <a:xfrm>
            <a:off x="228600" y="685800"/>
            <a:ext cx="8624937" cy="498598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220" dirty="0">
                <a:solidFill>
                  <a:schemeClr val="accent2"/>
                </a:solidFill>
              </a:rPr>
              <a:t>2. </a:t>
            </a:r>
            <a:r>
              <a:rPr lang="en-US" sz="1800" kern="0" spc="-220" dirty="0" err="1">
                <a:solidFill>
                  <a:schemeClr val="accent2"/>
                </a:solidFill>
              </a:rPr>
              <a:t>AoS</a:t>
            </a:r>
            <a:r>
              <a:rPr lang="en-US" sz="1800" kern="0" spc="-220" dirty="0">
                <a:solidFill>
                  <a:schemeClr val="accent2"/>
                </a:solidFill>
              </a:rPr>
              <a:t> vs </a:t>
            </a:r>
            <a:r>
              <a:rPr lang="en-US" sz="1800" kern="0" spc="-220" dirty="0" err="1">
                <a:solidFill>
                  <a:schemeClr val="accent2"/>
                </a:solidFill>
              </a:rPr>
              <a:t>SoA</a:t>
            </a:r>
            <a:r>
              <a:rPr lang="en-US" sz="1800" kern="0" spc="-220" dirty="0">
                <a:solidFill>
                  <a:schemeClr val="accent2"/>
                </a:solidFill>
              </a:rPr>
              <a:t>: The Deep Impact</a:t>
            </a:r>
          </a:p>
          <a:p>
            <a:pPr marL="12700" marR="5080"/>
            <a:r>
              <a:rPr lang="en-US" sz="1800" kern="0" spc="-220" dirty="0">
                <a:solidFill>
                  <a:schemeClr val="accent2"/>
                </a:solidFill>
              </a:rPr>
              <a:t>Array of Structs (</a:t>
            </a:r>
            <a:r>
              <a:rPr lang="en-US" sz="1800" kern="0" spc="-220" dirty="0" err="1">
                <a:solidFill>
                  <a:schemeClr val="accent2"/>
                </a:solidFill>
              </a:rPr>
              <a:t>AoS</a:t>
            </a:r>
            <a:r>
              <a:rPr lang="en-US" sz="1800" kern="0" spc="-220" dirty="0">
                <a:solidFill>
                  <a:schemeClr val="accent2"/>
                </a:solidFill>
              </a:rPr>
              <a:t>)</a:t>
            </a:r>
          </a:p>
          <a:p>
            <a:pPr marL="12700" marR="5080"/>
            <a:r>
              <a:rPr lang="en-US" sz="1800" kern="0" spc="-220" dirty="0">
                <a:solidFill>
                  <a:schemeClr val="accent6"/>
                </a:solidFill>
              </a:rPr>
              <a:t>struct Enemy { public float X, Y, Speed; }</a:t>
            </a:r>
          </a:p>
          <a:p>
            <a:pPr marL="12700" marR="5080"/>
            <a:r>
              <a:rPr lang="en-US" sz="1800" kern="0" spc="-220" dirty="0">
                <a:solidFill>
                  <a:schemeClr val="accent6"/>
                </a:solidFill>
              </a:rPr>
              <a:t>Enemy[] enemies;</a:t>
            </a:r>
          </a:p>
          <a:p>
            <a:pPr marL="12700" marR="5080"/>
            <a:r>
              <a:rPr lang="en-US" sz="1800" kern="0" spc="-220" dirty="0">
                <a:solidFill>
                  <a:schemeClr val="accent2"/>
                </a:solidFill>
              </a:rPr>
              <a:t>Memory Layout (</a:t>
            </a:r>
            <a:r>
              <a:rPr lang="en-US" sz="1800" kern="0" spc="-220" dirty="0" err="1">
                <a:solidFill>
                  <a:schemeClr val="accent2"/>
                </a:solidFill>
              </a:rPr>
              <a:t>approx</a:t>
            </a:r>
            <a:r>
              <a:rPr lang="en-US" sz="1800" kern="0" spc="-220" dirty="0">
                <a:solidFill>
                  <a:schemeClr val="accent2"/>
                </a:solidFill>
              </a:rPr>
              <a:t>):</a:t>
            </a:r>
          </a:p>
          <a:p>
            <a:pPr marL="12700" marR="5080"/>
            <a:r>
              <a:rPr lang="en-US" sz="1800" kern="0" spc="-220" dirty="0">
                <a:solidFill>
                  <a:schemeClr val="accent6"/>
                </a:solidFill>
              </a:rPr>
              <a:t>[</a:t>
            </a:r>
            <a:r>
              <a:rPr lang="en-US" sz="1800" kern="0" spc="-220" dirty="0" err="1">
                <a:solidFill>
                  <a:schemeClr val="accent6"/>
                </a:solidFill>
              </a:rPr>
              <a:t>X,Y,Speed</a:t>
            </a:r>
            <a:r>
              <a:rPr lang="en-US" sz="1800" kern="0" spc="-220" dirty="0">
                <a:solidFill>
                  <a:schemeClr val="accent6"/>
                </a:solidFill>
              </a:rPr>
              <a:t>][</a:t>
            </a:r>
            <a:r>
              <a:rPr lang="en-US" sz="1800" kern="0" spc="-220" dirty="0" err="1">
                <a:solidFill>
                  <a:schemeClr val="accent6"/>
                </a:solidFill>
              </a:rPr>
              <a:t>X,Y,Speed</a:t>
            </a:r>
            <a:r>
              <a:rPr lang="en-US" sz="1800" kern="0" spc="-220" dirty="0">
                <a:solidFill>
                  <a:schemeClr val="accent6"/>
                </a:solidFill>
              </a:rPr>
              <a:t>][</a:t>
            </a:r>
            <a:r>
              <a:rPr lang="en-US" sz="1800" kern="0" spc="-220" dirty="0" err="1">
                <a:solidFill>
                  <a:schemeClr val="accent6"/>
                </a:solidFill>
              </a:rPr>
              <a:t>X,Y,Speed</a:t>
            </a:r>
            <a:r>
              <a:rPr lang="en-US" sz="1800" kern="0" spc="-220" dirty="0">
                <a:solidFill>
                  <a:schemeClr val="accent6"/>
                </a:solidFill>
              </a:rPr>
              <a:t>] ...</a:t>
            </a:r>
          </a:p>
          <a:p>
            <a:pPr marL="12700" marR="5080"/>
            <a:r>
              <a:rPr lang="en-US" sz="1800" kern="0" spc="-220" dirty="0">
                <a:solidFill>
                  <a:schemeClr val="accent6"/>
                </a:solidFill>
              </a:rPr>
              <a:t>If only Speed is used → CPU loads Wasteful cache.</a:t>
            </a:r>
          </a:p>
          <a:p>
            <a:pPr marL="12700" marR="5080"/>
            <a:r>
              <a:rPr lang="en-US" sz="1800" kern="0" spc="-220" dirty="0">
                <a:solidFill>
                  <a:schemeClr val="accent2"/>
                </a:solidFill>
              </a:rPr>
              <a:t>Struct of Arrays (</a:t>
            </a:r>
            <a:r>
              <a:rPr lang="en-US" sz="1800" kern="0" spc="-220" dirty="0" err="1">
                <a:solidFill>
                  <a:schemeClr val="accent2"/>
                </a:solidFill>
              </a:rPr>
              <a:t>SoA</a:t>
            </a:r>
            <a:r>
              <a:rPr lang="en-US" sz="1800" kern="0" spc="-220" dirty="0">
                <a:solidFill>
                  <a:schemeClr val="accent2"/>
                </a:solidFill>
              </a:rPr>
              <a:t>)</a:t>
            </a:r>
          </a:p>
          <a:p>
            <a:pPr marL="12700" marR="5080"/>
            <a:r>
              <a:rPr lang="en-US" sz="1800" kern="0" spc="-220" dirty="0">
                <a:solidFill>
                  <a:schemeClr val="accent6"/>
                </a:solidFill>
              </a:rPr>
              <a:t>float[] X;</a:t>
            </a:r>
          </a:p>
          <a:p>
            <a:pPr marL="12700" marR="5080"/>
            <a:r>
              <a:rPr lang="en-US" sz="1800" kern="0" spc="-220" dirty="0">
                <a:solidFill>
                  <a:schemeClr val="accent6"/>
                </a:solidFill>
              </a:rPr>
              <a:t>float[] Y;</a:t>
            </a:r>
          </a:p>
          <a:p>
            <a:pPr marL="12700" marR="5080"/>
            <a:r>
              <a:rPr lang="en-US" sz="1800" kern="0" spc="-220" dirty="0">
                <a:solidFill>
                  <a:schemeClr val="accent6"/>
                </a:solidFill>
              </a:rPr>
              <a:t>float[] Speed;</a:t>
            </a:r>
          </a:p>
          <a:p>
            <a:pPr marL="12700" marR="5080"/>
            <a:r>
              <a:rPr lang="en-US" sz="1800" kern="0" spc="-220" dirty="0">
                <a:solidFill>
                  <a:schemeClr val="accent2"/>
                </a:solidFill>
              </a:rPr>
              <a:t>Memory:</a:t>
            </a:r>
          </a:p>
          <a:p>
            <a:pPr marL="12700" marR="5080"/>
            <a:r>
              <a:rPr lang="en-US" sz="1800" kern="0" spc="-220" dirty="0">
                <a:solidFill>
                  <a:schemeClr val="accent6"/>
                </a:solidFill>
              </a:rPr>
              <a:t>[X </a:t>
            </a:r>
            <a:r>
              <a:rPr lang="en-US" sz="1800" kern="0" spc="-220" dirty="0" err="1">
                <a:solidFill>
                  <a:schemeClr val="accent6"/>
                </a:solidFill>
              </a:rPr>
              <a:t>X</a:t>
            </a:r>
            <a:r>
              <a:rPr lang="en-US" sz="1800" kern="0" spc="-220" dirty="0">
                <a:solidFill>
                  <a:schemeClr val="accent6"/>
                </a:solidFill>
              </a:rPr>
              <a:t> </a:t>
            </a:r>
            <a:r>
              <a:rPr lang="en-US" sz="1800" kern="0" spc="-220" dirty="0" err="1">
                <a:solidFill>
                  <a:schemeClr val="accent6"/>
                </a:solidFill>
              </a:rPr>
              <a:t>X</a:t>
            </a:r>
            <a:r>
              <a:rPr lang="en-US" sz="1800" kern="0" spc="-220" dirty="0">
                <a:solidFill>
                  <a:schemeClr val="accent6"/>
                </a:solidFill>
              </a:rPr>
              <a:t> </a:t>
            </a:r>
            <a:r>
              <a:rPr lang="en-US" sz="1800" kern="0" spc="-220" dirty="0" err="1">
                <a:solidFill>
                  <a:schemeClr val="accent6"/>
                </a:solidFill>
              </a:rPr>
              <a:t>X</a:t>
            </a:r>
            <a:r>
              <a:rPr lang="en-US" sz="1800" kern="0" spc="-220" dirty="0">
                <a:solidFill>
                  <a:schemeClr val="accent6"/>
                </a:solidFill>
              </a:rPr>
              <a:t> </a:t>
            </a:r>
            <a:r>
              <a:rPr lang="en-US" sz="1800" kern="0" spc="-220" dirty="0" err="1">
                <a:solidFill>
                  <a:schemeClr val="accent6"/>
                </a:solidFill>
              </a:rPr>
              <a:t>X</a:t>
            </a:r>
            <a:r>
              <a:rPr lang="en-US" sz="1800" kern="0" spc="-220" dirty="0">
                <a:solidFill>
                  <a:schemeClr val="accent6"/>
                </a:solidFill>
              </a:rPr>
              <a:t> </a:t>
            </a:r>
            <a:r>
              <a:rPr lang="en-US" sz="1800" kern="0" spc="-220" dirty="0" err="1">
                <a:solidFill>
                  <a:schemeClr val="accent6"/>
                </a:solidFill>
              </a:rPr>
              <a:t>X</a:t>
            </a:r>
            <a:r>
              <a:rPr lang="en-US" sz="1800" kern="0" spc="-220" dirty="0">
                <a:solidFill>
                  <a:schemeClr val="accent6"/>
                </a:solidFill>
              </a:rPr>
              <a:t> </a:t>
            </a:r>
            <a:r>
              <a:rPr lang="en-US" sz="1800" kern="0" spc="-220" dirty="0" err="1">
                <a:solidFill>
                  <a:schemeClr val="accent6"/>
                </a:solidFill>
              </a:rPr>
              <a:t>X</a:t>
            </a:r>
            <a:r>
              <a:rPr lang="en-US" sz="1800" kern="0" spc="-220" dirty="0">
                <a:solidFill>
                  <a:schemeClr val="accent6"/>
                </a:solidFill>
              </a:rPr>
              <a:t> ...]</a:t>
            </a:r>
          </a:p>
          <a:p>
            <a:pPr marL="12700" marR="5080"/>
            <a:r>
              <a:rPr lang="en-US" sz="1800" kern="0" spc="-220" dirty="0">
                <a:solidFill>
                  <a:schemeClr val="accent6"/>
                </a:solidFill>
              </a:rPr>
              <a:t>[Y </a:t>
            </a:r>
            <a:r>
              <a:rPr lang="en-US" sz="1800" kern="0" spc="-220" dirty="0" err="1">
                <a:solidFill>
                  <a:schemeClr val="accent6"/>
                </a:solidFill>
              </a:rPr>
              <a:t>Y</a:t>
            </a:r>
            <a:r>
              <a:rPr lang="en-US" sz="1800" kern="0" spc="-220" dirty="0">
                <a:solidFill>
                  <a:schemeClr val="accent6"/>
                </a:solidFill>
              </a:rPr>
              <a:t> </a:t>
            </a:r>
            <a:r>
              <a:rPr lang="en-US" sz="1800" kern="0" spc="-220" dirty="0" err="1">
                <a:solidFill>
                  <a:schemeClr val="accent6"/>
                </a:solidFill>
              </a:rPr>
              <a:t>Y</a:t>
            </a:r>
            <a:r>
              <a:rPr lang="en-US" sz="1800" kern="0" spc="-220" dirty="0">
                <a:solidFill>
                  <a:schemeClr val="accent6"/>
                </a:solidFill>
              </a:rPr>
              <a:t> </a:t>
            </a:r>
            <a:r>
              <a:rPr lang="en-US" sz="1800" kern="0" spc="-220" dirty="0" err="1">
                <a:solidFill>
                  <a:schemeClr val="accent6"/>
                </a:solidFill>
              </a:rPr>
              <a:t>Y</a:t>
            </a:r>
            <a:r>
              <a:rPr lang="en-US" sz="1800" kern="0" spc="-220" dirty="0">
                <a:solidFill>
                  <a:schemeClr val="accent6"/>
                </a:solidFill>
              </a:rPr>
              <a:t> </a:t>
            </a:r>
            <a:r>
              <a:rPr lang="en-US" sz="1800" kern="0" spc="-220" dirty="0" err="1">
                <a:solidFill>
                  <a:schemeClr val="accent6"/>
                </a:solidFill>
              </a:rPr>
              <a:t>Y</a:t>
            </a:r>
            <a:r>
              <a:rPr lang="en-US" sz="1800" kern="0" spc="-220" dirty="0">
                <a:solidFill>
                  <a:schemeClr val="accent6"/>
                </a:solidFill>
              </a:rPr>
              <a:t> </a:t>
            </a:r>
            <a:r>
              <a:rPr lang="en-US" sz="1800" kern="0" spc="-220" dirty="0" err="1">
                <a:solidFill>
                  <a:schemeClr val="accent6"/>
                </a:solidFill>
              </a:rPr>
              <a:t>Y</a:t>
            </a:r>
            <a:r>
              <a:rPr lang="en-US" sz="1800" kern="0" spc="-220" dirty="0">
                <a:solidFill>
                  <a:schemeClr val="accent6"/>
                </a:solidFill>
              </a:rPr>
              <a:t> </a:t>
            </a:r>
            <a:r>
              <a:rPr lang="en-US" sz="1800" kern="0" spc="-220" dirty="0" err="1">
                <a:solidFill>
                  <a:schemeClr val="accent6"/>
                </a:solidFill>
              </a:rPr>
              <a:t>Y</a:t>
            </a:r>
            <a:r>
              <a:rPr lang="en-US" sz="1800" kern="0" spc="-220" dirty="0">
                <a:solidFill>
                  <a:schemeClr val="accent6"/>
                </a:solidFill>
              </a:rPr>
              <a:t> ...]</a:t>
            </a:r>
          </a:p>
          <a:p>
            <a:pPr marL="12700" marR="5080"/>
            <a:r>
              <a:rPr lang="en-US" sz="1800" kern="0" spc="-220" dirty="0">
                <a:solidFill>
                  <a:schemeClr val="accent2"/>
                </a:solidFill>
              </a:rPr>
              <a:t>When processing position update:</a:t>
            </a:r>
          </a:p>
          <a:p>
            <a:pPr marL="12700" marR="5080"/>
            <a:r>
              <a:rPr lang="en-US" sz="1800" kern="0" spc="-220" dirty="0">
                <a:solidFill>
                  <a:schemeClr val="accent6"/>
                </a:solidFill>
              </a:rPr>
              <a:t>for (int </a:t>
            </a:r>
            <a:r>
              <a:rPr lang="en-US" sz="1800" kern="0" spc="-220" dirty="0" err="1">
                <a:solidFill>
                  <a:schemeClr val="accent6"/>
                </a:solidFill>
              </a:rPr>
              <a:t>i</a:t>
            </a:r>
            <a:r>
              <a:rPr lang="en-US" sz="1800" kern="0" spc="-220" dirty="0">
                <a:solidFill>
                  <a:schemeClr val="accent6"/>
                </a:solidFill>
              </a:rPr>
              <a:t> = 0; </a:t>
            </a:r>
            <a:r>
              <a:rPr lang="en-US" sz="1800" kern="0" spc="-220" dirty="0" err="1">
                <a:solidFill>
                  <a:schemeClr val="accent6"/>
                </a:solidFill>
              </a:rPr>
              <a:t>i</a:t>
            </a:r>
            <a:r>
              <a:rPr lang="en-US" sz="1800" kern="0" spc="-220" dirty="0">
                <a:solidFill>
                  <a:schemeClr val="accent6"/>
                </a:solidFill>
              </a:rPr>
              <a:t> &lt; </a:t>
            </a:r>
            <a:r>
              <a:rPr lang="en-US" sz="1800" kern="0" spc="-220" dirty="0" err="1">
                <a:solidFill>
                  <a:schemeClr val="accent6"/>
                </a:solidFill>
              </a:rPr>
              <a:t>X.Length</a:t>
            </a:r>
            <a:r>
              <a:rPr lang="en-US" sz="1800" kern="0" spc="-220" dirty="0">
                <a:solidFill>
                  <a:schemeClr val="accent6"/>
                </a:solidFill>
              </a:rPr>
              <a:t>; </a:t>
            </a:r>
            <a:r>
              <a:rPr lang="en-US" sz="1800" kern="0" spc="-220" dirty="0" err="1">
                <a:solidFill>
                  <a:schemeClr val="accent6"/>
                </a:solidFill>
              </a:rPr>
              <a:t>i</a:t>
            </a:r>
            <a:r>
              <a:rPr lang="en-US" sz="1800" kern="0" spc="-220" dirty="0">
                <a:solidFill>
                  <a:schemeClr val="accent6"/>
                </a:solidFill>
              </a:rPr>
              <a:t>++)</a:t>
            </a:r>
          </a:p>
          <a:p>
            <a:pPr marL="12700" marR="5080"/>
            <a:r>
              <a:rPr lang="en-US" sz="1800" kern="0" spc="-220" dirty="0">
                <a:solidFill>
                  <a:schemeClr val="accent6"/>
                </a:solidFill>
              </a:rPr>
              <a:t>    X[</a:t>
            </a:r>
            <a:r>
              <a:rPr lang="en-US" sz="1800" kern="0" spc="-220" dirty="0" err="1">
                <a:solidFill>
                  <a:schemeClr val="accent6"/>
                </a:solidFill>
              </a:rPr>
              <a:t>i</a:t>
            </a:r>
            <a:r>
              <a:rPr lang="en-US" sz="1800" kern="0" spc="-220" dirty="0">
                <a:solidFill>
                  <a:schemeClr val="accent6"/>
                </a:solidFill>
              </a:rPr>
              <a:t>] += Speed[</a:t>
            </a:r>
            <a:r>
              <a:rPr lang="en-US" sz="1800" kern="0" spc="-220" dirty="0" err="1">
                <a:solidFill>
                  <a:schemeClr val="accent6"/>
                </a:solidFill>
              </a:rPr>
              <a:t>i</a:t>
            </a:r>
            <a:r>
              <a:rPr lang="en-US" sz="1800" kern="0" spc="-220" dirty="0">
                <a:solidFill>
                  <a:schemeClr val="accent6"/>
                </a:solidFill>
              </a:rPr>
              <a:t>];</a:t>
            </a:r>
          </a:p>
          <a:p>
            <a:pPr marL="12700" marR="5080"/>
            <a:r>
              <a:rPr lang="en-US" sz="1800" kern="0" spc="-220" dirty="0">
                <a:solidFill>
                  <a:schemeClr val="accent6"/>
                </a:solidFill>
              </a:rPr>
              <a:t>Perfect sequential memory → sequential prefetch → full SIMD auto-vectorization.</a:t>
            </a:r>
          </a:p>
        </p:txBody>
      </p:sp>
    </p:spTree>
    <p:extLst>
      <p:ext uri="{BB962C8B-B14F-4D97-AF65-F5344CB8AC3E}">
        <p14:creationId xmlns:p14="http://schemas.microsoft.com/office/powerpoint/2010/main" val="419014374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9293A-99C3-5E7F-77CC-DC43D0CD4F6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26D5833-CF92-4DE0-BD24-83E3EB3ADC49}"/>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E487AE5-4F9D-CD8C-5999-C5AD1A28895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B6897CF-C21A-181B-F413-378E1B6D4F6A}"/>
              </a:ext>
            </a:extLst>
          </p:cNvPr>
          <p:cNvGraphicFramePr/>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3A9133CC-7677-9DF5-9B61-4C80349C737B}"/>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42E60A0C-C327-9589-A62D-C9A135B0726C}"/>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12C2B746-F713-9043-007D-2CEFE2DAE0FC}"/>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4A8A2D3D-ED4D-EC4A-5539-4F5891032C00}"/>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CDD67644-0559-0F96-B5C2-8E1E24F4196A}"/>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8074E31E-9D68-0787-C00C-0E4CC4453C0D}"/>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017DB41E-8D4D-3118-147C-DB07C3ECBD30}"/>
              </a:ext>
            </a:extLst>
          </p:cNvPr>
          <p:cNvSpPr txBox="1">
            <a:spLocks/>
          </p:cNvSpPr>
          <p:nvPr/>
        </p:nvSpPr>
        <p:spPr>
          <a:xfrm>
            <a:off x="228600" y="685800"/>
            <a:ext cx="8624937" cy="526297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220" dirty="0">
                <a:solidFill>
                  <a:schemeClr val="accent2"/>
                </a:solidFill>
              </a:rPr>
              <a:t>3. SIMD Superiority (C# </a:t>
            </a:r>
            <a:r>
              <a:rPr lang="en-US" sz="1800" kern="0" spc="-220" dirty="0" err="1">
                <a:solidFill>
                  <a:schemeClr val="accent2"/>
                </a:solidFill>
              </a:rPr>
              <a:t>System.Numerics</a:t>
            </a:r>
            <a:r>
              <a:rPr lang="en-US" sz="1800" kern="0" spc="-220" dirty="0">
                <a:solidFill>
                  <a:schemeClr val="accent2"/>
                </a:solidFill>
              </a:rPr>
              <a:t>)</a:t>
            </a:r>
          </a:p>
          <a:p>
            <a:pPr marL="12700" marR="5080"/>
            <a:r>
              <a:rPr lang="en-US" sz="1800" kern="0" spc="-220" dirty="0">
                <a:solidFill>
                  <a:schemeClr val="accent6"/>
                </a:solidFill>
              </a:rPr>
              <a:t>using </a:t>
            </a:r>
            <a:r>
              <a:rPr lang="en-US" sz="1800" kern="0" spc="-220" dirty="0" err="1">
                <a:solidFill>
                  <a:schemeClr val="accent6"/>
                </a:solidFill>
              </a:rPr>
              <a:t>System.Numerics</a:t>
            </a:r>
            <a:r>
              <a:rPr lang="en-US" sz="1800" kern="0" spc="-220" dirty="0">
                <a:solidFill>
                  <a:schemeClr val="accent6"/>
                </a:solidFill>
              </a:rPr>
              <a:t>;</a:t>
            </a:r>
          </a:p>
          <a:p>
            <a:pPr marL="12700" marR="5080"/>
            <a:r>
              <a:rPr lang="en-US" sz="1800" kern="0" spc="-220" dirty="0">
                <a:solidFill>
                  <a:schemeClr val="accent6"/>
                </a:solidFill>
              </a:rPr>
              <a:t>void Move(Vector&lt;float&gt; </a:t>
            </a:r>
            <a:r>
              <a:rPr lang="en-US" sz="1800" kern="0" spc="-220" dirty="0" err="1">
                <a:solidFill>
                  <a:schemeClr val="accent6"/>
                </a:solidFill>
              </a:rPr>
              <a:t>xs</a:t>
            </a:r>
            <a:r>
              <a:rPr lang="en-US" sz="1800" kern="0" spc="-220" dirty="0">
                <a:solidFill>
                  <a:schemeClr val="accent6"/>
                </a:solidFill>
              </a:rPr>
              <a:t>, Vector&lt;float&gt; speeds)</a:t>
            </a:r>
          </a:p>
          <a:p>
            <a:pPr marL="12700" marR="5080"/>
            <a:r>
              <a:rPr lang="en-US" sz="1800" kern="0" spc="-220" dirty="0">
                <a:solidFill>
                  <a:schemeClr val="accent6"/>
                </a:solidFill>
              </a:rPr>
              <a:t>{</a:t>
            </a:r>
          </a:p>
          <a:p>
            <a:pPr marL="12700" marR="5080"/>
            <a:r>
              <a:rPr lang="en-US" sz="1800" kern="0" spc="-220" dirty="0">
                <a:solidFill>
                  <a:schemeClr val="accent6"/>
                </a:solidFill>
              </a:rPr>
              <a:t>    </a:t>
            </a:r>
            <a:r>
              <a:rPr lang="en-US" sz="1800" kern="0" spc="-220" dirty="0" err="1">
                <a:solidFill>
                  <a:schemeClr val="accent6"/>
                </a:solidFill>
              </a:rPr>
              <a:t>xs</a:t>
            </a:r>
            <a:r>
              <a:rPr lang="en-US" sz="1800" kern="0" spc="-220" dirty="0">
                <a:solidFill>
                  <a:schemeClr val="accent6"/>
                </a:solidFill>
              </a:rPr>
              <a:t> += speeds; // CPU does 8–16 operations in 1 instruction</a:t>
            </a:r>
          </a:p>
          <a:p>
            <a:pPr marL="12700" marR="5080"/>
            <a:r>
              <a:rPr lang="en-US" sz="1800" kern="0" spc="-220" dirty="0">
                <a:solidFill>
                  <a:schemeClr val="accent6"/>
                </a:solidFill>
              </a:rPr>
              <a:t>}</a:t>
            </a:r>
          </a:p>
          <a:p>
            <a:pPr marL="12700" marR="5080"/>
            <a:r>
              <a:rPr lang="en-US" sz="1800" kern="0" spc="-220" dirty="0">
                <a:solidFill>
                  <a:schemeClr val="accent6"/>
                </a:solidFill>
              </a:rPr>
              <a:t>Compiled down to:</a:t>
            </a:r>
          </a:p>
          <a:p>
            <a:pPr marL="12700" marR="5080"/>
            <a:r>
              <a:rPr lang="en-US" sz="1800" kern="0" spc="-220" dirty="0" err="1">
                <a:solidFill>
                  <a:schemeClr val="accent6"/>
                </a:solidFill>
              </a:rPr>
              <a:t>addps</a:t>
            </a:r>
            <a:r>
              <a:rPr lang="en-US" sz="1800" kern="0" spc="-220" dirty="0">
                <a:solidFill>
                  <a:schemeClr val="accent6"/>
                </a:solidFill>
              </a:rPr>
              <a:t> xmm0, xmm1 </a:t>
            </a:r>
          </a:p>
          <a:p>
            <a:pPr marL="12700" marR="5080"/>
            <a:r>
              <a:rPr lang="en-US" sz="1800" kern="0" spc="-220" dirty="0">
                <a:solidFill>
                  <a:schemeClr val="accent6"/>
                </a:solidFill>
              </a:rPr>
              <a:t>(A single SSE/AVX vector floating-point add instruction.)</a:t>
            </a:r>
          </a:p>
          <a:p>
            <a:pPr marL="12700" marR="5080"/>
            <a:r>
              <a:rPr lang="en-US" sz="1800" kern="0" spc="-220" dirty="0">
                <a:solidFill>
                  <a:schemeClr val="accent6"/>
                </a:solidFill>
              </a:rPr>
              <a:t>DOP unlocks SIMD. OOP does not.</a:t>
            </a:r>
          </a:p>
          <a:p>
            <a:pPr marL="12700" marR="5080"/>
            <a:endParaRPr lang="en-US" sz="1800" kern="0" spc="-220" dirty="0">
              <a:solidFill>
                <a:schemeClr val="accent6"/>
              </a:solidFill>
            </a:endParaRPr>
          </a:p>
          <a:p>
            <a:pPr marL="12700" marR="5080"/>
            <a:r>
              <a:rPr lang="en-US" sz="1800" kern="0" spc="-220" dirty="0">
                <a:solidFill>
                  <a:schemeClr val="accent2"/>
                </a:solidFill>
              </a:rPr>
              <a:t>4. Branch Optimization (Branchless Programming)</a:t>
            </a:r>
          </a:p>
          <a:p>
            <a:pPr marL="12700" marR="5080"/>
            <a:r>
              <a:rPr lang="en-US" sz="1800" kern="0" spc="-220" dirty="0">
                <a:solidFill>
                  <a:schemeClr val="accent2"/>
                </a:solidFill>
              </a:rPr>
              <a:t>Not that Good (branch </a:t>
            </a:r>
            <a:r>
              <a:rPr lang="en-US" sz="1800" kern="0" spc="-220" dirty="0" err="1">
                <a:solidFill>
                  <a:schemeClr val="accent2"/>
                </a:solidFill>
              </a:rPr>
              <a:t>mispredict</a:t>
            </a:r>
            <a:r>
              <a:rPr lang="en-US" sz="1800" kern="0" spc="-220" dirty="0">
                <a:solidFill>
                  <a:schemeClr val="accent2"/>
                </a:solidFill>
              </a:rPr>
              <a:t> explosions):</a:t>
            </a:r>
          </a:p>
          <a:p>
            <a:pPr marL="12700" marR="5080"/>
            <a:r>
              <a:rPr lang="en-US" sz="1800" kern="0" spc="-220" dirty="0">
                <a:solidFill>
                  <a:schemeClr val="accent6"/>
                </a:solidFill>
              </a:rPr>
              <a:t>for (int </a:t>
            </a:r>
            <a:r>
              <a:rPr lang="en-US" sz="1800" kern="0" spc="-220" dirty="0" err="1">
                <a:solidFill>
                  <a:schemeClr val="accent6"/>
                </a:solidFill>
              </a:rPr>
              <a:t>i</a:t>
            </a:r>
            <a:r>
              <a:rPr lang="en-US" sz="1800" kern="0" spc="-220" dirty="0">
                <a:solidFill>
                  <a:schemeClr val="accent6"/>
                </a:solidFill>
              </a:rPr>
              <a:t> = 0; </a:t>
            </a:r>
            <a:r>
              <a:rPr lang="en-US" sz="1800" kern="0" spc="-220" dirty="0" err="1">
                <a:solidFill>
                  <a:schemeClr val="accent6"/>
                </a:solidFill>
              </a:rPr>
              <a:t>i</a:t>
            </a:r>
            <a:r>
              <a:rPr lang="en-US" sz="1800" kern="0" spc="-220" dirty="0">
                <a:solidFill>
                  <a:schemeClr val="accent6"/>
                </a:solidFill>
              </a:rPr>
              <a:t> &lt; N; </a:t>
            </a:r>
            <a:r>
              <a:rPr lang="en-US" sz="1800" kern="0" spc="-220" dirty="0" err="1">
                <a:solidFill>
                  <a:schemeClr val="accent6"/>
                </a:solidFill>
              </a:rPr>
              <a:t>i</a:t>
            </a:r>
            <a:r>
              <a:rPr lang="en-US" sz="1800" kern="0" spc="-220" dirty="0">
                <a:solidFill>
                  <a:schemeClr val="accent6"/>
                </a:solidFill>
              </a:rPr>
              <a:t>++)</a:t>
            </a:r>
          </a:p>
          <a:p>
            <a:pPr marL="12700" marR="5080"/>
            <a:r>
              <a:rPr lang="en-US" sz="1800" kern="0" spc="-220" dirty="0">
                <a:solidFill>
                  <a:schemeClr val="accent6"/>
                </a:solidFill>
              </a:rPr>
              <a:t>{</a:t>
            </a:r>
          </a:p>
          <a:p>
            <a:pPr marL="12700" marR="5080"/>
            <a:r>
              <a:rPr lang="en-US" sz="1800" kern="0" spc="-220" dirty="0">
                <a:solidFill>
                  <a:schemeClr val="accent6"/>
                </a:solidFill>
              </a:rPr>
              <a:t>    if (alive[</a:t>
            </a:r>
            <a:r>
              <a:rPr lang="en-US" sz="1800" kern="0" spc="-220" dirty="0" err="1">
                <a:solidFill>
                  <a:schemeClr val="accent6"/>
                </a:solidFill>
              </a:rPr>
              <a:t>i</a:t>
            </a:r>
            <a:r>
              <a:rPr lang="en-US" sz="1800" kern="0" spc="-220" dirty="0">
                <a:solidFill>
                  <a:schemeClr val="accent6"/>
                </a:solidFill>
              </a:rPr>
              <a:t>]) { // unpredictable per element</a:t>
            </a:r>
          </a:p>
          <a:p>
            <a:pPr marL="12700" marR="5080"/>
            <a:r>
              <a:rPr lang="en-US" sz="1800" kern="0" spc="-220" dirty="0">
                <a:solidFill>
                  <a:schemeClr val="accent6"/>
                </a:solidFill>
              </a:rPr>
              <a:t>        health[</a:t>
            </a:r>
            <a:r>
              <a:rPr lang="en-US" sz="1800" kern="0" spc="-220" dirty="0" err="1">
                <a:solidFill>
                  <a:schemeClr val="accent6"/>
                </a:solidFill>
              </a:rPr>
              <a:t>i</a:t>
            </a:r>
            <a:r>
              <a:rPr lang="en-US" sz="1800" kern="0" spc="-220" dirty="0">
                <a:solidFill>
                  <a:schemeClr val="accent6"/>
                </a:solidFill>
              </a:rPr>
              <a:t>] -= damage;</a:t>
            </a:r>
          </a:p>
          <a:p>
            <a:pPr marL="12700" marR="5080"/>
            <a:r>
              <a:rPr lang="en-US" sz="1800" kern="0" spc="-220" dirty="0">
                <a:solidFill>
                  <a:schemeClr val="accent6"/>
                </a:solidFill>
              </a:rPr>
              <a:t>    }</a:t>
            </a:r>
          </a:p>
          <a:p>
            <a:pPr marL="12700" marR="5080"/>
            <a:r>
              <a:rPr lang="en-US" sz="1800" kern="0" spc="-220" dirty="0">
                <a:solidFill>
                  <a:schemeClr val="accent6"/>
                </a:solidFill>
              </a:rPr>
              <a:t>}</a:t>
            </a:r>
          </a:p>
        </p:txBody>
      </p:sp>
    </p:spTree>
    <p:extLst>
      <p:ext uri="{BB962C8B-B14F-4D97-AF65-F5344CB8AC3E}">
        <p14:creationId xmlns:p14="http://schemas.microsoft.com/office/powerpoint/2010/main" val="22945646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A0A60-8059-2B0D-9191-4F3F9264A74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C30F1ED-2B9A-530C-E4C8-7793F2CE852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C6946B8-A11D-CF02-4439-D74B410608D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BB34655-50DC-D96C-B1D8-B424E44C5250}"/>
              </a:ext>
            </a:extLst>
          </p:cNvPr>
          <p:cNvGraphicFramePr/>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DD7293E-FD18-9A35-653C-C948D7C75B9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B5F980AA-42A0-6E99-C283-28EADBF1A8A8}"/>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C03930E6-0E78-E6B8-42D7-82E6C8A72FD9}"/>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1327CD49-FBB8-C248-7FDC-61BF6A842335}"/>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40E493DB-BA41-FCD2-A9F9-311DE1B1C0D2}"/>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90D7F741-2EA3-CA88-B229-2E8C10680628}"/>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B129E811-4BF5-7D1F-1EA0-CB683F7D603B}"/>
              </a:ext>
            </a:extLst>
          </p:cNvPr>
          <p:cNvSpPr txBox="1">
            <a:spLocks/>
          </p:cNvSpPr>
          <p:nvPr/>
        </p:nvSpPr>
        <p:spPr>
          <a:xfrm>
            <a:off x="228600" y="685800"/>
            <a:ext cx="8624937" cy="526297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220" dirty="0">
                <a:solidFill>
                  <a:schemeClr val="accent2"/>
                </a:solidFill>
              </a:rPr>
              <a:t>Good (separate active data → branch removed):</a:t>
            </a:r>
          </a:p>
          <a:p>
            <a:pPr marL="12700" marR="5080"/>
            <a:r>
              <a:rPr lang="en-US" sz="1800" kern="0" spc="-220" dirty="0">
                <a:solidFill>
                  <a:schemeClr val="accent6"/>
                </a:solidFill>
              </a:rPr>
              <a:t>int </a:t>
            </a:r>
            <a:r>
              <a:rPr lang="en-US" sz="1800" kern="0" spc="-220" dirty="0" err="1">
                <a:solidFill>
                  <a:schemeClr val="accent6"/>
                </a:solidFill>
              </a:rPr>
              <a:t>aliveCount</a:t>
            </a:r>
            <a:r>
              <a:rPr lang="en-US" sz="1800" kern="0" spc="-220" dirty="0">
                <a:solidFill>
                  <a:schemeClr val="accent6"/>
                </a:solidFill>
              </a:rPr>
              <a:t> = </a:t>
            </a:r>
            <a:r>
              <a:rPr lang="en-US" sz="1800" kern="0" spc="-220" dirty="0" err="1">
                <a:solidFill>
                  <a:schemeClr val="accent6"/>
                </a:solidFill>
              </a:rPr>
              <a:t>PackAlive</a:t>
            </a:r>
            <a:r>
              <a:rPr lang="en-US" sz="1800" kern="0" spc="-220" dirty="0">
                <a:solidFill>
                  <a:schemeClr val="accent6"/>
                </a:solidFill>
              </a:rPr>
              <a:t>(alive, indices); // tight </a:t>
            </a:r>
            <a:r>
              <a:rPr lang="en-US" sz="1800" kern="0" spc="-220" dirty="0" err="1">
                <a:solidFill>
                  <a:schemeClr val="accent6"/>
                </a:solidFill>
              </a:rPr>
              <a:t>SoA</a:t>
            </a:r>
            <a:r>
              <a:rPr lang="en-US" sz="1800" kern="0" spc="-220" dirty="0">
                <a:solidFill>
                  <a:schemeClr val="accent6"/>
                </a:solidFill>
              </a:rPr>
              <a:t> packing</a:t>
            </a:r>
          </a:p>
          <a:p>
            <a:pPr marL="12700" marR="5080"/>
            <a:r>
              <a:rPr lang="en-US" sz="1800" kern="0" spc="-220" dirty="0">
                <a:solidFill>
                  <a:schemeClr val="accent6"/>
                </a:solidFill>
              </a:rPr>
              <a:t>for (int k = 0; k &lt; </a:t>
            </a:r>
            <a:r>
              <a:rPr lang="en-US" sz="1800" kern="0" spc="-220" dirty="0" err="1">
                <a:solidFill>
                  <a:schemeClr val="accent6"/>
                </a:solidFill>
              </a:rPr>
              <a:t>aliveCount</a:t>
            </a:r>
            <a:r>
              <a:rPr lang="en-US" sz="1800" kern="0" spc="-220" dirty="0">
                <a:solidFill>
                  <a:schemeClr val="accent6"/>
                </a:solidFill>
              </a:rPr>
              <a:t>; k++)</a:t>
            </a:r>
          </a:p>
          <a:p>
            <a:pPr marL="12700" marR="5080"/>
            <a:r>
              <a:rPr lang="en-US" sz="1800" kern="0" spc="-220" dirty="0">
                <a:solidFill>
                  <a:schemeClr val="accent6"/>
                </a:solidFill>
              </a:rPr>
              <a:t>{</a:t>
            </a:r>
          </a:p>
          <a:p>
            <a:pPr marL="12700" marR="5080"/>
            <a:r>
              <a:rPr lang="en-US" sz="1800" kern="0" spc="-220" dirty="0">
                <a:solidFill>
                  <a:schemeClr val="accent6"/>
                </a:solidFill>
              </a:rPr>
              <a:t>    int </a:t>
            </a:r>
            <a:r>
              <a:rPr lang="en-US" sz="1800" kern="0" spc="-220" dirty="0" err="1">
                <a:solidFill>
                  <a:schemeClr val="accent6"/>
                </a:solidFill>
              </a:rPr>
              <a:t>i</a:t>
            </a:r>
            <a:r>
              <a:rPr lang="en-US" sz="1800" kern="0" spc="-220" dirty="0">
                <a:solidFill>
                  <a:schemeClr val="accent6"/>
                </a:solidFill>
              </a:rPr>
              <a:t> = indices[k];</a:t>
            </a:r>
          </a:p>
          <a:p>
            <a:pPr marL="12700" marR="5080"/>
            <a:r>
              <a:rPr lang="en-US" sz="1800" kern="0" spc="-220" dirty="0">
                <a:solidFill>
                  <a:schemeClr val="accent6"/>
                </a:solidFill>
              </a:rPr>
              <a:t>    health[</a:t>
            </a:r>
            <a:r>
              <a:rPr lang="en-US" sz="1800" kern="0" spc="-220" dirty="0" err="1">
                <a:solidFill>
                  <a:schemeClr val="accent6"/>
                </a:solidFill>
              </a:rPr>
              <a:t>i</a:t>
            </a:r>
            <a:r>
              <a:rPr lang="en-US" sz="1800" kern="0" spc="-220" dirty="0">
                <a:solidFill>
                  <a:schemeClr val="accent6"/>
                </a:solidFill>
              </a:rPr>
              <a:t>] -= damage; // no branch → CPU pipeline 100% efficient</a:t>
            </a:r>
          </a:p>
          <a:p>
            <a:pPr marL="12700" marR="5080"/>
            <a:r>
              <a:rPr lang="en-US" sz="1800" kern="0" spc="-220" dirty="0">
                <a:solidFill>
                  <a:schemeClr val="accent6"/>
                </a:solidFill>
              </a:rPr>
              <a:t>}</a:t>
            </a:r>
          </a:p>
          <a:p>
            <a:pPr marL="12700" marR="5080"/>
            <a:endParaRPr lang="en-US" sz="1800" kern="0" spc="-220" dirty="0">
              <a:solidFill>
                <a:schemeClr val="accent6"/>
              </a:solidFill>
            </a:endParaRPr>
          </a:p>
          <a:p>
            <a:pPr marL="12700" marR="5080"/>
            <a:r>
              <a:rPr lang="en-US" sz="1800" kern="0" spc="-220" dirty="0">
                <a:solidFill>
                  <a:schemeClr val="accent2"/>
                </a:solidFill>
              </a:rPr>
              <a:t>5. Multithreading &amp; False Sharing</a:t>
            </a:r>
          </a:p>
          <a:p>
            <a:pPr marL="12700" marR="5080"/>
            <a:r>
              <a:rPr lang="en-US" sz="1800" kern="0" spc="-220" dirty="0">
                <a:solidFill>
                  <a:schemeClr val="accent6"/>
                </a:solidFill>
              </a:rPr>
              <a:t>False Sharing</a:t>
            </a:r>
          </a:p>
          <a:p>
            <a:pPr marL="12700" marR="5080"/>
            <a:r>
              <a:rPr lang="en-US" sz="1800" kern="0" spc="-220" dirty="0">
                <a:solidFill>
                  <a:schemeClr val="accent6"/>
                </a:solidFill>
              </a:rPr>
              <a:t>Occurs when two threads modify different variables but same cache line.</a:t>
            </a:r>
          </a:p>
          <a:p>
            <a:pPr marL="12700" marR="5080"/>
            <a:r>
              <a:rPr lang="en-US" sz="1800" kern="0" spc="-220" dirty="0">
                <a:solidFill>
                  <a:schemeClr val="accent6"/>
                </a:solidFill>
              </a:rPr>
              <a:t>struct </a:t>
            </a:r>
            <a:r>
              <a:rPr lang="en-US" sz="1800" kern="0" spc="-220" dirty="0" err="1">
                <a:solidFill>
                  <a:schemeClr val="accent6"/>
                </a:solidFill>
              </a:rPr>
              <a:t>WorkItem</a:t>
            </a:r>
            <a:r>
              <a:rPr lang="en-US" sz="1800" kern="0" spc="-220" dirty="0">
                <a:solidFill>
                  <a:schemeClr val="accent6"/>
                </a:solidFill>
              </a:rPr>
              <a:t> { public long A; public long B; } // Danger</a:t>
            </a:r>
          </a:p>
          <a:p>
            <a:pPr marL="12700" marR="5080"/>
            <a:r>
              <a:rPr lang="en-US" sz="1800" kern="0" spc="-220" dirty="0">
                <a:solidFill>
                  <a:schemeClr val="accent6"/>
                </a:solidFill>
              </a:rPr>
              <a:t>Fix by aligning each thread’s data to cache line size:</a:t>
            </a:r>
          </a:p>
          <a:p>
            <a:pPr marL="12700" marR="5080"/>
            <a:r>
              <a:rPr lang="en-US" sz="1800" kern="0" spc="-220" dirty="0">
                <a:solidFill>
                  <a:schemeClr val="accent6"/>
                </a:solidFill>
              </a:rPr>
              <a:t>[</a:t>
            </a:r>
            <a:r>
              <a:rPr lang="en-US" sz="1800" kern="0" spc="-220" dirty="0" err="1">
                <a:solidFill>
                  <a:schemeClr val="accent6"/>
                </a:solidFill>
              </a:rPr>
              <a:t>StructLayout</a:t>
            </a:r>
            <a:r>
              <a:rPr lang="en-US" sz="1800" kern="0" spc="-220" dirty="0">
                <a:solidFill>
                  <a:schemeClr val="accent6"/>
                </a:solidFill>
              </a:rPr>
              <a:t>(</a:t>
            </a:r>
            <a:r>
              <a:rPr lang="en-US" sz="1800" kern="0" spc="-220" dirty="0" err="1">
                <a:solidFill>
                  <a:schemeClr val="accent6"/>
                </a:solidFill>
              </a:rPr>
              <a:t>LayoutKind.Explicit</a:t>
            </a:r>
            <a:r>
              <a:rPr lang="en-US" sz="1800" kern="0" spc="-220" dirty="0">
                <a:solidFill>
                  <a:schemeClr val="accent6"/>
                </a:solidFill>
              </a:rPr>
              <a:t>, Size = 64)] // &lt;-- padded to cache line</a:t>
            </a:r>
          </a:p>
          <a:p>
            <a:pPr marL="12700" marR="5080"/>
            <a:r>
              <a:rPr lang="en-US" sz="1800" kern="0" spc="-220" dirty="0">
                <a:solidFill>
                  <a:schemeClr val="accent6"/>
                </a:solidFill>
              </a:rPr>
              <a:t>struct </a:t>
            </a:r>
            <a:r>
              <a:rPr lang="en-US" sz="1800" kern="0" spc="-220" dirty="0" err="1">
                <a:solidFill>
                  <a:schemeClr val="accent6"/>
                </a:solidFill>
              </a:rPr>
              <a:t>CacheLinePaddedLong</a:t>
            </a:r>
            <a:endParaRPr lang="en-US" sz="1800" kern="0" spc="-220" dirty="0">
              <a:solidFill>
                <a:schemeClr val="accent6"/>
              </a:solidFill>
            </a:endParaRPr>
          </a:p>
          <a:p>
            <a:pPr marL="12700" marR="5080"/>
            <a:r>
              <a:rPr lang="en-US" sz="1800" kern="0" spc="-220" dirty="0">
                <a:solidFill>
                  <a:schemeClr val="accent6"/>
                </a:solidFill>
              </a:rPr>
              <a:t>{</a:t>
            </a:r>
          </a:p>
          <a:p>
            <a:pPr marL="12700" marR="5080"/>
            <a:r>
              <a:rPr lang="en-US" sz="1800" kern="0" spc="-220" dirty="0">
                <a:solidFill>
                  <a:schemeClr val="accent6"/>
                </a:solidFill>
              </a:rPr>
              <a:t>    [</a:t>
            </a:r>
            <a:r>
              <a:rPr lang="en-US" sz="1800" kern="0" spc="-220" dirty="0" err="1">
                <a:solidFill>
                  <a:schemeClr val="accent6"/>
                </a:solidFill>
              </a:rPr>
              <a:t>FieldOffset</a:t>
            </a:r>
            <a:r>
              <a:rPr lang="en-US" sz="1800" kern="0" spc="-220" dirty="0">
                <a:solidFill>
                  <a:schemeClr val="accent6"/>
                </a:solidFill>
              </a:rPr>
              <a:t>(0)]</a:t>
            </a:r>
          </a:p>
          <a:p>
            <a:pPr marL="12700" marR="5080"/>
            <a:r>
              <a:rPr lang="en-US" sz="1800" kern="0" spc="-220" dirty="0">
                <a:solidFill>
                  <a:schemeClr val="accent6"/>
                </a:solidFill>
              </a:rPr>
              <a:t>    public long Value;</a:t>
            </a:r>
          </a:p>
          <a:p>
            <a:pPr marL="12700" marR="5080"/>
            <a:r>
              <a:rPr lang="en-US" sz="1800" kern="0" spc="-220" dirty="0">
                <a:solidFill>
                  <a:schemeClr val="accent6"/>
                </a:solidFill>
              </a:rPr>
              <a:t>}</a:t>
            </a:r>
          </a:p>
        </p:txBody>
      </p:sp>
    </p:spTree>
    <p:extLst>
      <p:ext uri="{BB962C8B-B14F-4D97-AF65-F5344CB8AC3E}">
        <p14:creationId xmlns:p14="http://schemas.microsoft.com/office/powerpoint/2010/main" val="181732911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15EA7-B8DA-7DE1-9D39-F667113E93E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4290956-AE1E-FD68-EC0C-4031030BCD5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CD5495E-2A6A-796E-2D31-02F1B61F6D45}"/>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04BA82B-7C8A-D441-6152-72AD6AB7A349}"/>
              </a:ext>
            </a:extLst>
          </p:cNvPr>
          <p:cNvGraphicFramePr/>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8AFA71CB-68CD-55BD-4F42-BF243F917EB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0C9E77DC-0C09-3730-7162-D60845DBE00F}"/>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4415A39-9A44-DC9D-26DC-6EF70177F20B}"/>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038F7AF4-1086-1503-5FA8-C9DA4F9EA2F3}"/>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B809ABA9-C0EF-DCC1-A117-0ED46D5496FC}"/>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9D5742DB-8256-E2C6-212F-5D1A4451ACF3}"/>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E7D33F4B-E50F-6667-2325-165F3A4908F2}"/>
              </a:ext>
            </a:extLst>
          </p:cNvPr>
          <p:cNvSpPr txBox="1">
            <a:spLocks/>
          </p:cNvSpPr>
          <p:nvPr/>
        </p:nvSpPr>
        <p:spPr>
          <a:xfrm>
            <a:off x="228600" y="685800"/>
            <a:ext cx="8624937" cy="523220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220" dirty="0">
                <a:solidFill>
                  <a:schemeClr val="accent2"/>
                </a:solidFill>
              </a:rPr>
              <a:t>6. The Real Pattern: The “Hot Loop”</a:t>
            </a:r>
          </a:p>
          <a:p>
            <a:pPr marL="12700" marR="5080"/>
            <a:r>
              <a:rPr lang="en-US" sz="1400" kern="0" spc="-220" dirty="0">
                <a:solidFill>
                  <a:schemeClr val="accent6"/>
                </a:solidFill>
              </a:rPr>
              <a:t>Your performance is determined by one core loop.</a:t>
            </a:r>
          </a:p>
          <a:p>
            <a:pPr marL="12700" marR="5080"/>
            <a:r>
              <a:rPr lang="en-US" sz="1400" kern="0" spc="-220" dirty="0">
                <a:solidFill>
                  <a:schemeClr val="accent6"/>
                </a:solidFill>
              </a:rPr>
              <a:t>Example: Moving 100k particles / frame</a:t>
            </a:r>
          </a:p>
          <a:p>
            <a:pPr marL="12700" marR="5080"/>
            <a:r>
              <a:rPr lang="en-US" sz="1400" kern="0" spc="-220" dirty="0">
                <a:solidFill>
                  <a:schemeClr val="accent6"/>
                </a:solidFill>
              </a:rPr>
              <a:t>OOP → scattered heap → ~</a:t>
            </a:r>
            <a:r>
              <a:rPr lang="en-US" sz="1400" kern="0" spc="-220" dirty="0" err="1">
                <a:solidFill>
                  <a:schemeClr val="accent6"/>
                </a:solidFill>
              </a:rPr>
              <a:t>ms</a:t>
            </a:r>
            <a:r>
              <a:rPr lang="en-US" sz="1400" kern="0" spc="-220" dirty="0">
                <a:solidFill>
                  <a:schemeClr val="accent6"/>
                </a:solidFill>
              </a:rPr>
              <a:t>-level stalls</a:t>
            </a:r>
          </a:p>
          <a:p>
            <a:pPr marL="12700" marR="5080"/>
            <a:r>
              <a:rPr lang="en-US" sz="1400" kern="0" spc="-220" dirty="0">
                <a:solidFill>
                  <a:schemeClr val="accent6"/>
                </a:solidFill>
              </a:rPr>
              <a:t>DOP→ contiguous </a:t>
            </a:r>
            <a:r>
              <a:rPr lang="en-US" sz="1400" kern="0" spc="-220" dirty="0" err="1">
                <a:solidFill>
                  <a:schemeClr val="accent6"/>
                </a:solidFill>
              </a:rPr>
              <a:t>SoA</a:t>
            </a:r>
            <a:r>
              <a:rPr lang="en-US" sz="1400" kern="0" spc="-220" dirty="0">
                <a:solidFill>
                  <a:schemeClr val="accent6"/>
                </a:solidFill>
              </a:rPr>
              <a:t> + SIMD → µs-level throughput</a:t>
            </a:r>
          </a:p>
          <a:p>
            <a:pPr marL="12700" marR="5080"/>
            <a:r>
              <a:rPr lang="en-US" sz="1400" kern="0" spc="-220" dirty="0">
                <a:solidFill>
                  <a:schemeClr val="accent6"/>
                </a:solidFill>
              </a:rPr>
              <a:t>public static unsafe void Update(float* </a:t>
            </a:r>
            <a:r>
              <a:rPr lang="en-US" sz="1400" kern="0" spc="-220" dirty="0" err="1">
                <a:solidFill>
                  <a:schemeClr val="accent6"/>
                </a:solidFill>
              </a:rPr>
              <a:t>posX</a:t>
            </a:r>
            <a:r>
              <a:rPr lang="en-US" sz="1400" kern="0" spc="-220" dirty="0">
                <a:solidFill>
                  <a:schemeClr val="accent6"/>
                </a:solidFill>
              </a:rPr>
              <a:t>, float* </a:t>
            </a:r>
            <a:r>
              <a:rPr lang="en-US" sz="1400" kern="0" spc="-220" dirty="0" err="1">
                <a:solidFill>
                  <a:schemeClr val="accent6"/>
                </a:solidFill>
              </a:rPr>
              <a:t>velX</a:t>
            </a:r>
            <a:r>
              <a:rPr lang="en-US" sz="1400" kern="0" spc="-220" dirty="0">
                <a:solidFill>
                  <a:schemeClr val="accent6"/>
                </a:solidFill>
              </a:rPr>
              <a:t>, int count, float dt)</a:t>
            </a:r>
          </a:p>
          <a:p>
            <a:pPr marL="12700" marR="5080"/>
            <a:r>
              <a:rPr lang="en-US" sz="1400" kern="0" spc="-220" dirty="0">
                <a:solidFill>
                  <a:schemeClr val="accent6"/>
                </a:solidFill>
              </a:rPr>
              <a:t>{</a:t>
            </a:r>
          </a:p>
          <a:p>
            <a:pPr marL="12700" marR="5080"/>
            <a:r>
              <a:rPr lang="en-US" sz="1400" kern="0" spc="-220" dirty="0">
                <a:solidFill>
                  <a:schemeClr val="accent6"/>
                </a:solidFill>
              </a:rPr>
              <a:t>    int </a:t>
            </a:r>
            <a:r>
              <a:rPr lang="en-US" sz="1400" kern="0" spc="-220" dirty="0" err="1">
                <a:solidFill>
                  <a:schemeClr val="accent6"/>
                </a:solidFill>
              </a:rPr>
              <a:t>i</a:t>
            </a:r>
            <a:r>
              <a:rPr lang="en-US" sz="1400" kern="0" spc="-220" dirty="0">
                <a:solidFill>
                  <a:schemeClr val="accent6"/>
                </a:solidFill>
              </a:rPr>
              <a:t> = 0;</a:t>
            </a:r>
          </a:p>
          <a:p>
            <a:pPr marL="12700" marR="5080"/>
            <a:r>
              <a:rPr lang="en-US" sz="1400" kern="0" spc="-220" dirty="0">
                <a:solidFill>
                  <a:schemeClr val="accent6"/>
                </a:solidFill>
              </a:rPr>
              <a:t>    int </a:t>
            </a:r>
            <a:r>
              <a:rPr lang="en-US" sz="1400" kern="0" spc="-220" dirty="0" err="1">
                <a:solidFill>
                  <a:schemeClr val="accent6"/>
                </a:solidFill>
              </a:rPr>
              <a:t>simdCount</a:t>
            </a:r>
            <a:r>
              <a:rPr lang="en-US" sz="1400" kern="0" spc="-220" dirty="0">
                <a:solidFill>
                  <a:schemeClr val="accent6"/>
                </a:solidFill>
              </a:rPr>
              <a:t> = count - (count % Vector&lt;float&gt;.Count);</a:t>
            </a:r>
          </a:p>
          <a:p>
            <a:pPr marL="12700" marR="5080"/>
            <a:endParaRPr lang="en-US" sz="1400" kern="0" spc="-220" dirty="0">
              <a:solidFill>
                <a:schemeClr val="accent6"/>
              </a:solidFill>
            </a:endParaRPr>
          </a:p>
          <a:p>
            <a:pPr marL="12700" marR="5080"/>
            <a:r>
              <a:rPr lang="en-US" sz="1400" kern="0" spc="-220" dirty="0">
                <a:solidFill>
                  <a:schemeClr val="accent6"/>
                </a:solidFill>
              </a:rPr>
              <a:t>    var </a:t>
            </a:r>
            <a:r>
              <a:rPr lang="en-US" sz="1400" kern="0" spc="-220" dirty="0" err="1">
                <a:solidFill>
                  <a:schemeClr val="accent6"/>
                </a:solidFill>
              </a:rPr>
              <a:t>vdt</a:t>
            </a:r>
            <a:r>
              <a:rPr lang="en-US" sz="1400" kern="0" spc="-220" dirty="0">
                <a:solidFill>
                  <a:schemeClr val="accent6"/>
                </a:solidFill>
              </a:rPr>
              <a:t> = new Vector&lt;float&gt;(dt);</a:t>
            </a:r>
          </a:p>
          <a:p>
            <a:pPr marL="12700" marR="5080"/>
            <a:endParaRPr lang="en-US" sz="1400" kern="0" spc="-220" dirty="0">
              <a:solidFill>
                <a:schemeClr val="accent6"/>
              </a:solidFill>
            </a:endParaRPr>
          </a:p>
          <a:p>
            <a:pPr marL="12700" marR="5080"/>
            <a:r>
              <a:rPr lang="en-US" sz="1400" kern="0" spc="-220" dirty="0">
                <a:solidFill>
                  <a:schemeClr val="accent6"/>
                </a:solidFill>
              </a:rPr>
              <a:t>    for (; </a:t>
            </a:r>
            <a:r>
              <a:rPr lang="en-US" sz="1400" kern="0" spc="-220" dirty="0" err="1">
                <a:solidFill>
                  <a:schemeClr val="accent6"/>
                </a:solidFill>
              </a:rPr>
              <a:t>i</a:t>
            </a:r>
            <a:r>
              <a:rPr lang="en-US" sz="1400" kern="0" spc="-220" dirty="0">
                <a:solidFill>
                  <a:schemeClr val="accent6"/>
                </a:solidFill>
              </a:rPr>
              <a:t> &lt; </a:t>
            </a:r>
            <a:r>
              <a:rPr lang="en-US" sz="1400" kern="0" spc="-220" dirty="0" err="1">
                <a:solidFill>
                  <a:schemeClr val="accent6"/>
                </a:solidFill>
              </a:rPr>
              <a:t>simdCount</a:t>
            </a:r>
            <a:r>
              <a:rPr lang="en-US" sz="1400" kern="0" spc="-220" dirty="0">
                <a:solidFill>
                  <a:schemeClr val="accent6"/>
                </a:solidFill>
              </a:rPr>
              <a:t>; </a:t>
            </a:r>
            <a:r>
              <a:rPr lang="en-US" sz="1400" kern="0" spc="-220" dirty="0" err="1">
                <a:solidFill>
                  <a:schemeClr val="accent6"/>
                </a:solidFill>
              </a:rPr>
              <a:t>i</a:t>
            </a:r>
            <a:r>
              <a:rPr lang="en-US" sz="1400" kern="0" spc="-220" dirty="0">
                <a:solidFill>
                  <a:schemeClr val="accent6"/>
                </a:solidFill>
              </a:rPr>
              <a:t> += Vector&lt;float&gt;.Count)</a:t>
            </a:r>
          </a:p>
          <a:p>
            <a:pPr marL="12700" marR="5080"/>
            <a:r>
              <a:rPr lang="en-US" sz="1400" kern="0" spc="-220" dirty="0">
                <a:solidFill>
                  <a:schemeClr val="accent6"/>
                </a:solidFill>
              </a:rPr>
              <a:t>    {</a:t>
            </a:r>
          </a:p>
          <a:p>
            <a:pPr marL="12700" marR="5080"/>
            <a:r>
              <a:rPr lang="en-US" sz="1400" kern="0" spc="-220" dirty="0">
                <a:solidFill>
                  <a:schemeClr val="accent6"/>
                </a:solidFill>
              </a:rPr>
              <a:t>        var </a:t>
            </a:r>
            <a:r>
              <a:rPr lang="en-US" sz="1400" kern="0" spc="-220" dirty="0" err="1">
                <a:solidFill>
                  <a:schemeClr val="accent6"/>
                </a:solidFill>
              </a:rPr>
              <a:t>px</a:t>
            </a:r>
            <a:r>
              <a:rPr lang="en-US" sz="1400" kern="0" spc="-220" dirty="0">
                <a:solidFill>
                  <a:schemeClr val="accent6"/>
                </a:solidFill>
              </a:rPr>
              <a:t> = new Vector&lt;float&gt;(</a:t>
            </a:r>
            <a:r>
              <a:rPr lang="en-US" sz="1400" kern="0" spc="-220" dirty="0" err="1">
                <a:solidFill>
                  <a:schemeClr val="accent6"/>
                </a:solidFill>
              </a:rPr>
              <a:t>posX</a:t>
            </a:r>
            <a:r>
              <a:rPr lang="en-US" sz="1400" kern="0" spc="-220" dirty="0">
                <a:solidFill>
                  <a:schemeClr val="accent6"/>
                </a:solidFill>
              </a:rPr>
              <a:t> + </a:t>
            </a:r>
            <a:r>
              <a:rPr lang="en-US" sz="1400" kern="0" spc="-220" dirty="0" err="1">
                <a:solidFill>
                  <a:schemeClr val="accent6"/>
                </a:solidFill>
              </a:rPr>
              <a:t>i</a:t>
            </a:r>
            <a:r>
              <a:rPr lang="en-US" sz="1400" kern="0" spc="-220" dirty="0">
                <a:solidFill>
                  <a:schemeClr val="accent6"/>
                </a:solidFill>
              </a:rPr>
              <a:t>);</a:t>
            </a:r>
          </a:p>
          <a:p>
            <a:pPr marL="12700" marR="5080"/>
            <a:r>
              <a:rPr lang="en-US" sz="1400" kern="0" spc="-220" dirty="0">
                <a:solidFill>
                  <a:schemeClr val="accent6"/>
                </a:solidFill>
              </a:rPr>
              <a:t>        var </a:t>
            </a:r>
            <a:r>
              <a:rPr lang="en-US" sz="1400" kern="0" spc="-220" dirty="0" err="1">
                <a:solidFill>
                  <a:schemeClr val="accent6"/>
                </a:solidFill>
              </a:rPr>
              <a:t>vx</a:t>
            </a:r>
            <a:r>
              <a:rPr lang="en-US" sz="1400" kern="0" spc="-220" dirty="0">
                <a:solidFill>
                  <a:schemeClr val="accent6"/>
                </a:solidFill>
              </a:rPr>
              <a:t> = new Vector&lt;float&gt;(</a:t>
            </a:r>
            <a:r>
              <a:rPr lang="en-US" sz="1400" kern="0" spc="-220" dirty="0" err="1">
                <a:solidFill>
                  <a:schemeClr val="accent6"/>
                </a:solidFill>
              </a:rPr>
              <a:t>velX</a:t>
            </a:r>
            <a:r>
              <a:rPr lang="en-US" sz="1400" kern="0" spc="-220" dirty="0">
                <a:solidFill>
                  <a:schemeClr val="accent6"/>
                </a:solidFill>
              </a:rPr>
              <a:t> + </a:t>
            </a:r>
            <a:r>
              <a:rPr lang="en-US" sz="1400" kern="0" spc="-220" dirty="0" err="1">
                <a:solidFill>
                  <a:schemeClr val="accent6"/>
                </a:solidFill>
              </a:rPr>
              <a:t>i</a:t>
            </a:r>
            <a:r>
              <a:rPr lang="en-US" sz="1400" kern="0" spc="-220" dirty="0">
                <a:solidFill>
                  <a:schemeClr val="accent6"/>
                </a:solidFill>
              </a:rPr>
              <a:t>);</a:t>
            </a:r>
          </a:p>
          <a:p>
            <a:pPr marL="12700" marR="5080"/>
            <a:r>
              <a:rPr lang="en-US" sz="1400" kern="0" spc="-220" dirty="0">
                <a:solidFill>
                  <a:schemeClr val="accent6"/>
                </a:solidFill>
              </a:rPr>
              <a:t>        </a:t>
            </a:r>
            <a:r>
              <a:rPr lang="en-US" sz="1400" kern="0" spc="-220" dirty="0" err="1">
                <a:solidFill>
                  <a:schemeClr val="accent6"/>
                </a:solidFill>
              </a:rPr>
              <a:t>px</a:t>
            </a:r>
            <a:r>
              <a:rPr lang="en-US" sz="1400" kern="0" spc="-220" dirty="0">
                <a:solidFill>
                  <a:schemeClr val="accent6"/>
                </a:solidFill>
              </a:rPr>
              <a:t> += </a:t>
            </a:r>
            <a:r>
              <a:rPr lang="en-US" sz="1400" kern="0" spc="-220" dirty="0" err="1">
                <a:solidFill>
                  <a:schemeClr val="accent6"/>
                </a:solidFill>
              </a:rPr>
              <a:t>vx</a:t>
            </a:r>
            <a:r>
              <a:rPr lang="en-US" sz="1400" kern="0" spc="-220" dirty="0">
                <a:solidFill>
                  <a:schemeClr val="accent6"/>
                </a:solidFill>
              </a:rPr>
              <a:t> * </a:t>
            </a:r>
            <a:r>
              <a:rPr lang="en-US" sz="1400" kern="0" spc="-220" dirty="0" err="1">
                <a:solidFill>
                  <a:schemeClr val="accent6"/>
                </a:solidFill>
              </a:rPr>
              <a:t>vdt</a:t>
            </a:r>
            <a:r>
              <a:rPr lang="en-US" sz="1400" kern="0" spc="-220" dirty="0">
                <a:solidFill>
                  <a:schemeClr val="accent6"/>
                </a:solidFill>
              </a:rPr>
              <a:t>;</a:t>
            </a:r>
          </a:p>
          <a:p>
            <a:pPr marL="12700" marR="5080"/>
            <a:r>
              <a:rPr lang="en-US" sz="1400" kern="0" spc="-220" dirty="0">
                <a:solidFill>
                  <a:schemeClr val="accent6"/>
                </a:solidFill>
              </a:rPr>
              <a:t>        </a:t>
            </a:r>
            <a:r>
              <a:rPr lang="en-US" sz="1400" kern="0" spc="-220" dirty="0" err="1">
                <a:solidFill>
                  <a:schemeClr val="accent6"/>
                </a:solidFill>
              </a:rPr>
              <a:t>px.CopyTo</a:t>
            </a:r>
            <a:r>
              <a:rPr lang="en-US" sz="1400" kern="0" spc="-220" dirty="0">
                <a:solidFill>
                  <a:schemeClr val="accent6"/>
                </a:solidFill>
              </a:rPr>
              <a:t>(</a:t>
            </a:r>
            <a:r>
              <a:rPr lang="en-US" sz="1400" kern="0" spc="-220" dirty="0" err="1">
                <a:solidFill>
                  <a:schemeClr val="accent6"/>
                </a:solidFill>
              </a:rPr>
              <a:t>posX</a:t>
            </a:r>
            <a:r>
              <a:rPr lang="en-US" sz="1400" kern="0" spc="-220" dirty="0">
                <a:solidFill>
                  <a:schemeClr val="accent6"/>
                </a:solidFill>
              </a:rPr>
              <a:t> + </a:t>
            </a:r>
            <a:r>
              <a:rPr lang="en-US" sz="1400" kern="0" spc="-220" dirty="0" err="1">
                <a:solidFill>
                  <a:schemeClr val="accent6"/>
                </a:solidFill>
              </a:rPr>
              <a:t>i</a:t>
            </a:r>
            <a:r>
              <a:rPr lang="en-US" sz="1400" kern="0" spc="-220" dirty="0">
                <a:solidFill>
                  <a:schemeClr val="accent6"/>
                </a:solidFill>
              </a:rPr>
              <a:t>);</a:t>
            </a:r>
          </a:p>
          <a:p>
            <a:pPr marL="12700" marR="5080"/>
            <a:r>
              <a:rPr lang="en-US" sz="1400" kern="0" spc="-220" dirty="0">
                <a:solidFill>
                  <a:schemeClr val="accent6"/>
                </a:solidFill>
              </a:rPr>
              <a:t>    }</a:t>
            </a:r>
          </a:p>
          <a:p>
            <a:pPr marL="12700" marR="5080"/>
            <a:endParaRPr lang="en-US" sz="1400" kern="0" spc="-220" dirty="0">
              <a:solidFill>
                <a:schemeClr val="accent6"/>
              </a:solidFill>
            </a:endParaRPr>
          </a:p>
          <a:p>
            <a:pPr marL="12700" marR="5080"/>
            <a:r>
              <a:rPr lang="en-US" sz="1400" kern="0" spc="-220" dirty="0">
                <a:solidFill>
                  <a:schemeClr val="accent6"/>
                </a:solidFill>
              </a:rPr>
              <a:t>    for (; </a:t>
            </a:r>
            <a:r>
              <a:rPr lang="en-US" sz="1400" kern="0" spc="-220" dirty="0" err="1">
                <a:solidFill>
                  <a:schemeClr val="accent6"/>
                </a:solidFill>
              </a:rPr>
              <a:t>i</a:t>
            </a:r>
            <a:r>
              <a:rPr lang="en-US" sz="1400" kern="0" spc="-220" dirty="0">
                <a:solidFill>
                  <a:schemeClr val="accent6"/>
                </a:solidFill>
              </a:rPr>
              <a:t> &lt; count; </a:t>
            </a:r>
            <a:r>
              <a:rPr lang="en-US" sz="1400" kern="0" spc="-220" dirty="0" err="1">
                <a:solidFill>
                  <a:schemeClr val="accent6"/>
                </a:solidFill>
              </a:rPr>
              <a:t>i</a:t>
            </a:r>
            <a:r>
              <a:rPr lang="en-US" sz="1400" kern="0" spc="-220" dirty="0">
                <a:solidFill>
                  <a:schemeClr val="accent6"/>
                </a:solidFill>
              </a:rPr>
              <a:t>++)</a:t>
            </a:r>
          </a:p>
          <a:p>
            <a:pPr marL="12700" marR="5080"/>
            <a:r>
              <a:rPr lang="en-US" sz="1400" kern="0" spc="-220" dirty="0">
                <a:solidFill>
                  <a:schemeClr val="accent6"/>
                </a:solidFill>
              </a:rPr>
              <a:t>        </a:t>
            </a:r>
            <a:r>
              <a:rPr lang="en-US" sz="1400" kern="0" spc="-220" dirty="0" err="1">
                <a:solidFill>
                  <a:schemeClr val="accent6"/>
                </a:solidFill>
              </a:rPr>
              <a:t>posX</a:t>
            </a:r>
            <a:r>
              <a:rPr lang="en-US" sz="1400" kern="0" spc="-220" dirty="0">
                <a:solidFill>
                  <a:schemeClr val="accent6"/>
                </a:solidFill>
              </a:rPr>
              <a:t>[</a:t>
            </a:r>
            <a:r>
              <a:rPr lang="en-US" sz="1400" kern="0" spc="-220" dirty="0" err="1">
                <a:solidFill>
                  <a:schemeClr val="accent6"/>
                </a:solidFill>
              </a:rPr>
              <a:t>i</a:t>
            </a:r>
            <a:r>
              <a:rPr lang="en-US" sz="1400" kern="0" spc="-220" dirty="0">
                <a:solidFill>
                  <a:schemeClr val="accent6"/>
                </a:solidFill>
              </a:rPr>
              <a:t>] += </a:t>
            </a:r>
            <a:r>
              <a:rPr lang="en-US" sz="1400" kern="0" spc="-220" dirty="0" err="1">
                <a:solidFill>
                  <a:schemeClr val="accent6"/>
                </a:solidFill>
              </a:rPr>
              <a:t>velX</a:t>
            </a:r>
            <a:r>
              <a:rPr lang="en-US" sz="1400" kern="0" spc="-220" dirty="0">
                <a:solidFill>
                  <a:schemeClr val="accent6"/>
                </a:solidFill>
              </a:rPr>
              <a:t>[</a:t>
            </a:r>
            <a:r>
              <a:rPr lang="en-US" sz="1400" kern="0" spc="-220" dirty="0" err="1">
                <a:solidFill>
                  <a:schemeClr val="accent6"/>
                </a:solidFill>
              </a:rPr>
              <a:t>i</a:t>
            </a:r>
            <a:r>
              <a:rPr lang="en-US" sz="1400" kern="0" spc="-220" dirty="0">
                <a:solidFill>
                  <a:schemeClr val="accent6"/>
                </a:solidFill>
              </a:rPr>
              <a:t>] * dt;</a:t>
            </a:r>
          </a:p>
          <a:p>
            <a:pPr marL="12700" marR="5080"/>
            <a:r>
              <a:rPr lang="en-US" sz="1400" kern="0" spc="-220" dirty="0">
                <a:solidFill>
                  <a:schemeClr val="accent6"/>
                </a:solidFill>
              </a:rPr>
              <a:t>}</a:t>
            </a:r>
          </a:p>
          <a:p>
            <a:pPr marL="12700" marR="5080"/>
            <a:r>
              <a:rPr lang="en-US" sz="1400" kern="0" spc="-220" dirty="0">
                <a:solidFill>
                  <a:schemeClr val="accent6"/>
                </a:solidFill>
              </a:rPr>
              <a:t>This is basically what Unity Burst does automatically.</a:t>
            </a:r>
          </a:p>
        </p:txBody>
      </p:sp>
    </p:spTree>
    <p:extLst>
      <p:ext uri="{BB962C8B-B14F-4D97-AF65-F5344CB8AC3E}">
        <p14:creationId xmlns:p14="http://schemas.microsoft.com/office/powerpoint/2010/main" val="199220173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E9537-2B83-8E5E-DE1E-36A494E0E13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D6A2278-CA1B-90CF-8890-6BFF0928143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7831BF8-AF52-33EA-0F71-E6E1F40546C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9D00092-784C-F1BE-B396-D6715C7E99AD}"/>
              </a:ext>
            </a:extLst>
          </p:cNvPr>
          <p:cNvGraphicFramePr/>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CB3EE92-8EC1-52D9-1591-748971EC433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37C37985-351C-4996-168E-DA17A8A9C33E}"/>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A6817B41-6036-9355-24FA-1E1AB1D1FE3B}"/>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B19DF974-59A0-7B78-1CDE-E583889E0DFC}"/>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DED50551-5BF5-2865-E6BC-FB2E3BF7EC40}"/>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F2660E40-B59C-7E1C-584A-040A83FC54E3}"/>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7A614567-643B-FD9B-0598-2C1A3CBD50BF}"/>
              </a:ext>
            </a:extLst>
          </p:cNvPr>
          <p:cNvSpPr txBox="1">
            <a:spLocks/>
          </p:cNvSpPr>
          <p:nvPr/>
        </p:nvSpPr>
        <p:spPr>
          <a:xfrm>
            <a:off x="228600" y="685800"/>
            <a:ext cx="8624937" cy="415498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220" dirty="0">
                <a:solidFill>
                  <a:schemeClr val="accent2"/>
                </a:solidFill>
              </a:rPr>
              <a:t>7. Entity Component System in Pure C# (No Unity)</a:t>
            </a:r>
          </a:p>
          <a:p>
            <a:pPr marL="12700" marR="5080"/>
            <a:r>
              <a:rPr lang="en-US" sz="1800" kern="0" spc="-220" dirty="0">
                <a:solidFill>
                  <a:schemeClr val="accent6"/>
                </a:solidFill>
              </a:rPr>
              <a:t>struct Position { public float X, Y; }</a:t>
            </a:r>
          </a:p>
          <a:p>
            <a:pPr marL="12700" marR="5080"/>
            <a:r>
              <a:rPr lang="en-US" sz="1800" kern="0" spc="-220" dirty="0">
                <a:solidFill>
                  <a:schemeClr val="accent6"/>
                </a:solidFill>
              </a:rPr>
              <a:t>struct Velocity { public float X, Y; }</a:t>
            </a:r>
          </a:p>
          <a:p>
            <a:pPr marL="12700" marR="5080"/>
            <a:endParaRPr lang="en-US" sz="1800" kern="0" spc="-220" dirty="0">
              <a:solidFill>
                <a:schemeClr val="accent6"/>
              </a:solidFill>
            </a:endParaRPr>
          </a:p>
          <a:p>
            <a:pPr marL="12700" marR="5080"/>
            <a:r>
              <a:rPr lang="en-US" sz="1800" kern="0" spc="-220" dirty="0">
                <a:solidFill>
                  <a:schemeClr val="accent6"/>
                </a:solidFill>
              </a:rPr>
              <a:t>Position[] pos;</a:t>
            </a:r>
          </a:p>
          <a:p>
            <a:pPr marL="12700" marR="5080"/>
            <a:r>
              <a:rPr lang="en-US" sz="1800" kern="0" spc="-220" dirty="0">
                <a:solidFill>
                  <a:schemeClr val="accent6"/>
                </a:solidFill>
              </a:rPr>
              <a:t>Velocity[] vel;</a:t>
            </a:r>
          </a:p>
          <a:p>
            <a:pPr marL="12700" marR="5080"/>
            <a:endParaRPr lang="en-US" sz="1800" kern="0" spc="-220" dirty="0">
              <a:solidFill>
                <a:schemeClr val="accent6"/>
              </a:solidFill>
            </a:endParaRPr>
          </a:p>
          <a:p>
            <a:pPr marL="12700" marR="5080"/>
            <a:r>
              <a:rPr lang="en-US" sz="1800" kern="0" spc="-220" dirty="0">
                <a:solidFill>
                  <a:schemeClr val="accent6"/>
                </a:solidFill>
              </a:rPr>
              <a:t>// Systems operate on "archetype-matched" arrays.</a:t>
            </a:r>
          </a:p>
          <a:p>
            <a:pPr marL="12700" marR="5080"/>
            <a:r>
              <a:rPr lang="en-US" sz="1800" kern="0" spc="-220" dirty="0">
                <a:solidFill>
                  <a:schemeClr val="accent6"/>
                </a:solidFill>
              </a:rPr>
              <a:t>// No object pointers. No indirection. Pure </a:t>
            </a:r>
            <a:r>
              <a:rPr lang="en-US" sz="1800" kern="0" spc="-220" dirty="0" err="1">
                <a:solidFill>
                  <a:schemeClr val="accent6"/>
                </a:solidFill>
              </a:rPr>
              <a:t>SoA</a:t>
            </a:r>
            <a:r>
              <a:rPr lang="en-US" sz="1800" kern="0" spc="-220" dirty="0">
                <a:solidFill>
                  <a:schemeClr val="accent6"/>
                </a:solidFill>
              </a:rPr>
              <a:t> access.</a:t>
            </a:r>
          </a:p>
          <a:p>
            <a:pPr marL="12700" marR="5080"/>
            <a:r>
              <a:rPr lang="en-US" sz="1800" kern="0" spc="-220" dirty="0">
                <a:solidFill>
                  <a:schemeClr val="accent6"/>
                </a:solidFill>
              </a:rPr>
              <a:t>for (int </a:t>
            </a:r>
            <a:r>
              <a:rPr lang="en-US" sz="1800" kern="0" spc="-220" dirty="0" err="1">
                <a:solidFill>
                  <a:schemeClr val="accent6"/>
                </a:solidFill>
              </a:rPr>
              <a:t>i</a:t>
            </a:r>
            <a:r>
              <a:rPr lang="en-US" sz="1800" kern="0" spc="-220" dirty="0">
                <a:solidFill>
                  <a:schemeClr val="accent6"/>
                </a:solidFill>
              </a:rPr>
              <a:t> = 0; </a:t>
            </a:r>
            <a:r>
              <a:rPr lang="en-US" sz="1800" kern="0" spc="-220" dirty="0" err="1">
                <a:solidFill>
                  <a:schemeClr val="accent6"/>
                </a:solidFill>
              </a:rPr>
              <a:t>i</a:t>
            </a:r>
            <a:r>
              <a:rPr lang="en-US" sz="1800" kern="0" spc="-220" dirty="0">
                <a:solidFill>
                  <a:schemeClr val="accent6"/>
                </a:solidFill>
              </a:rPr>
              <a:t> &lt; </a:t>
            </a:r>
            <a:r>
              <a:rPr lang="en-US" sz="1800" kern="0" spc="-220" dirty="0" err="1">
                <a:solidFill>
                  <a:schemeClr val="accent6"/>
                </a:solidFill>
              </a:rPr>
              <a:t>pos.Length</a:t>
            </a:r>
            <a:r>
              <a:rPr lang="en-US" sz="1800" kern="0" spc="-220" dirty="0">
                <a:solidFill>
                  <a:schemeClr val="accent6"/>
                </a:solidFill>
              </a:rPr>
              <a:t>; </a:t>
            </a:r>
            <a:r>
              <a:rPr lang="en-US" sz="1800" kern="0" spc="-220" dirty="0" err="1">
                <a:solidFill>
                  <a:schemeClr val="accent6"/>
                </a:solidFill>
              </a:rPr>
              <a:t>i</a:t>
            </a:r>
            <a:r>
              <a:rPr lang="en-US" sz="1800" kern="0" spc="-220" dirty="0">
                <a:solidFill>
                  <a:schemeClr val="accent6"/>
                </a:solidFill>
              </a:rPr>
              <a:t>++)</a:t>
            </a:r>
          </a:p>
          <a:p>
            <a:pPr marL="12700" marR="5080"/>
            <a:r>
              <a:rPr lang="en-US" sz="1800" kern="0" spc="-220" dirty="0">
                <a:solidFill>
                  <a:schemeClr val="accent6"/>
                </a:solidFill>
              </a:rPr>
              <a:t>{</a:t>
            </a:r>
          </a:p>
          <a:p>
            <a:pPr marL="12700" marR="5080"/>
            <a:r>
              <a:rPr lang="en-US" sz="1800" kern="0" spc="-220" dirty="0">
                <a:solidFill>
                  <a:schemeClr val="accent6"/>
                </a:solidFill>
              </a:rPr>
              <a:t>    pos[</a:t>
            </a:r>
            <a:r>
              <a:rPr lang="en-US" sz="1800" kern="0" spc="-220" dirty="0" err="1">
                <a:solidFill>
                  <a:schemeClr val="accent6"/>
                </a:solidFill>
              </a:rPr>
              <a:t>i</a:t>
            </a:r>
            <a:r>
              <a:rPr lang="en-US" sz="1800" kern="0" spc="-220" dirty="0">
                <a:solidFill>
                  <a:schemeClr val="accent6"/>
                </a:solidFill>
              </a:rPr>
              <a:t>].X += vel[</a:t>
            </a:r>
            <a:r>
              <a:rPr lang="en-US" sz="1800" kern="0" spc="-220" dirty="0" err="1">
                <a:solidFill>
                  <a:schemeClr val="accent6"/>
                </a:solidFill>
              </a:rPr>
              <a:t>i</a:t>
            </a:r>
            <a:r>
              <a:rPr lang="en-US" sz="1800" kern="0" spc="-220" dirty="0">
                <a:solidFill>
                  <a:schemeClr val="accent6"/>
                </a:solidFill>
              </a:rPr>
              <a:t>].X;</a:t>
            </a:r>
          </a:p>
          <a:p>
            <a:pPr marL="12700" marR="5080"/>
            <a:r>
              <a:rPr lang="en-US" sz="1800" kern="0" spc="-220" dirty="0">
                <a:solidFill>
                  <a:schemeClr val="accent6"/>
                </a:solidFill>
              </a:rPr>
              <a:t>    pos[</a:t>
            </a:r>
            <a:r>
              <a:rPr lang="en-US" sz="1800" kern="0" spc="-220" dirty="0" err="1">
                <a:solidFill>
                  <a:schemeClr val="accent6"/>
                </a:solidFill>
              </a:rPr>
              <a:t>i</a:t>
            </a:r>
            <a:r>
              <a:rPr lang="en-US" sz="1800" kern="0" spc="-220" dirty="0">
                <a:solidFill>
                  <a:schemeClr val="accent6"/>
                </a:solidFill>
              </a:rPr>
              <a:t>].Y += vel[</a:t>
            </a:r>
            <a:r>
              <a:rPr lang="en-US" sz="1800" kern="0" spc="-220" dirty="0" err="1">
                <a:solidFill>
                  <a:schemeClr val="accent6"/>
                </a:solidFill>
              </a:rPr>
              <a:t>i</a:t>
            </a:r>
            <a:r>
              <a:rPr lang="en-US" sz="1800" kern="0" spc="-220" dirty="0">
                <a:solidFill>
                  <a:schemeClr val="accent6"/>
                </a:solidFill>
              </a:rPr>
              <a:t>].Y;</a:t>
            </a:r>
          </a:p>
          <a:p>
            <a:pPr marL="12700" marR="5080"/>
            <a:r>
              <a:rPr lang="en-US" sz="1800" kern="0" spc="-220" dirty="0">
                <a:solidFill>
                  <a:schemeClr val="accent6"/>
                </a:solidFill>
              </a:rPr>
              <a:t>}</a:t>
            </a:r>
          </a:p>
          <a:p>
            <a:pPr marL="12700" marR="5080"/>
            <a:r>
              <a:rPr lang="en-US" sz="1800" kern="0" spc="-220" dirty="0">
                <a:solidFill>
                  <a:schemeClr val="accent6"/>
                </a:solidFill>
              </a:rPr>
              <a:t>This is ECS, but you're not using Unity ECS — just the principles.</a:t>
            </a:r>
          </a:p>
        </p:txBody>
      </p:sp>
    </p:spTree>
    <p:extLst>
      <p:ext uri="{BB962C8B-B14F-4D97-AF65-F5344CB8AC3E}">
        <p14:creationId xmlns:p14="http://schemas.microsoft.com/office/powerpoint/2010/main" val="214481404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F78A1-E3B8-A52A-B42F-D2C53D68ADA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D53CAB3-6468-3E74-27F6-51EB3618C63E}"/>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E6A3B66-4524-8D0C-5A90-1CE75BB3EBB5}"/>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4C50557-C3EF-5AF2-751A-88BA612D1C5E}"/>
              </a:ext>
            </a:extLst>
          </p:cNvPr>
          <p:cNvGraphicFramePr/>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648B2FCE-7238-DF03-8BF1-433164E9EEBE}"/>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3461003A-91CA-8832-4098-61540560D7D8}"/>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926E1C90-D2AF-8D06-4E96-D3407EFADF88}"/>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CA6BD1DF-EB01-95F6-57E4-16545363160D}"/>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AE27B933-427A-B3E0-78B8-1FC1F4477AA9}"/>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B5A51F5F-0D33-68AC-136C-65A54B4E36AA}"/>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90831625-C892-6A5A-A464-744C0C17BA45}"/>
              </a:ext>
            </a:extLst>
          </p:cNvPr>
          <p:cNvSpPr txBox="1">
            <a:spLocks/>
          </p:cNvSpPr>
          <p:nvPr/>
        </p:nvSpPr>
        <p:spPr>
          <a:xfrm>
            <a:off x="228600" y="685800"/>
            <a:ext cx="8624937" cy="360098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220" dirty="0">
                <a:solidFill>
                  <a:schemeClr val="accent2"/>
                </a:solidFill>
              </a:rPr>
              <a:t>8. When to Not Use DOP</a:t>
            </a:r>
          </a:p>
          <a:p>
            <a:pPr marL="12700" marR="5080"/>
            <a:r>
              <a:rPr lang="en-US" sz="1800" kern="0" spc="-220" dirty="0">
                <a:solidFill>
                  <a:schemeClr val="accent2"/>
                </a:solidFill>
              </a:rPr>
              <a:t>Situation	                                         Verdict</a:t>
            </a:r>
          </a:p>
          <a:p>
            <a:pPr marL="12700" marR="5080"/>
            <a:r>
              <a:rPr lang="en-US" sz="1800" kern="0" spc="-220" dirty="0">
                <a:solidFill>
                  <a:schemeClr val="accent6"/>
                </a:solidFill>
              </a:rPr>
              <a:t>Performance-critical loops	✅ DO DOP</a:t>
            </a:r>
          </a:p>
          <a:p>
            <a:pPr marL="12700" marR="5080"/>
            <a:r>
              <a:rPr lang="en-US" sz="1800" kern="0" spc="-220" dirty="0">
                <a:solidFill>
                  <a:schemeClr val="accent6"/>
                </a:solidFill>
              </a:rPr>
              <a:t>UIs, APIs, business logic	❌ Stick to OOP</a:t>
            </a:r>
          </a:p>
          <a:p>
            <a:pPr marL="12700" marR="5080"/>
            <a:r>
              <a:rPr lang="en-US" sz="1800" kern="0" spc="-220" dirty="0">
                <a:solidFill>
                  <a:schemeClr val="accent6"/>
                </a:solidFill>
              </a:rPr>
              <a:t>Hybrid systems	                     ✅ Mix them: OOP externally, DOP internally</a:t>
            </a:r>
          </a:p>
          <a:p>
            <a:pPr marL="12700" marR="5080"/>
            <a:endParaRPr lang="en-US" sz="1800" kern="0" spc="-220" dirty="0">
              <a:solidFill>
                <a:schemeClr val="accent6"/>
              </a:solidFill>
            </a:endParaRPr>
          </a:p>
          <a:p>
            <a:pPr marL="12700" marR="5080"/>
            <a:r>
              <a:rPr lang="en-US" sz="1800" kern="0" spc="-220" dirty="0">
                <a:solidFill>
                  <a:schemeClr val="accent2"/>
                </a:solidFill>
              </a:rPr>
              <a:t>How to Practice (The Real Skill Path)</a:t>
            </a:r>
          </a:p>
          <a:p>
            <a:pPr marL="12700" marR="5080"/>
            <a:r>
              <a:rPr lang="en-US" sz="1800" kern="0" spc="-220" dirty="0">
                <a:solidFill>
                  <a:schemeClr val="accent2"/>
                </a:solidFill>
              </a:rPr>
              <a:t>Level	Task	                                                            Target Skills Developed</a:t>
            </a:r>
          </a:p>
          <a:p>
            <a:pPr marL="12700" marR="5080"/>
            <a:r>
              <a:rPr lang="en-US" sz="1800" kern="0" spc="-220" dirty="0">
                <a:solidFill>
                  <a:schemeClr val="accent6"/>
                </a:solidFill>
              </a:rPr>
              <a:t>1	Convert </a:t>
            </a:r>
            <a:r>
              <a:rPr lang="en-US" sz="1800" kern="0" spc="-220" dirty="0" err="1">
                <a:solidFill>
                  <a:schemeClr val="accent6"/>
                </a:solidFill>
              </a:rPr>
              <a:t>AoS</a:t>
            </a:r>
            <a:r>
              <a:rPr lang="en-US" sz="1800" kern="0" spc="-220" dirty="0">
                <a:solidFill>
                  <a:schemeClr val="accent6"/>
                </a:solidFill>
              </a:rPr>
              <a:t> → </a:t>
            </a:r>
            <a:r>
              <a:rPr lang="en-US" sz="1800" kern="0" spc="-220" dirty="0" err="1">
                <a:solidFill>
                  <a:schemeClr val="accent6"/>
                </a:solidFill>
              </a:rPr>
              <a:t>SoA</a:t>
            </a:r>
            <a:r>
              <a:rPr lang="en-US" sz="1800" kern="0" spc="-220" dirty="0">
                <a:solidFill>
                  <a:schemeClr val="accent6"/>
                </a:solidFill>
              </a:rPr>
              <a:t>	                                         Memory layout awareness</a:t>
            </a:r>
          </a:p>
          <a:p>
            <a:pPr marL="12700" marR="5080"/>
            <a:r>
              <a:rPr lang="en-US" sz="1800" kern="0" spc="-220" dirty="0">
                <a:solidFill>
                  <a:schemeClr val="accent6"/>
                </a:solidFill>
              </a:rPr>
              <a:t>2	Remove branches from core loops	Pipeline efficiency</a:t>
            </a:r>
          </a:p>
          <a:p>
            <a:pPr marL="12700" marR="5080"/>
            <a:r>
              <a:rPr lang="en-US" sz="1800" kern="0" spc="-220" dirty="0">
                <a:solidFill>
                  <a:schemeClr val="accent6"/>
                </a:solidFill>
              </a:rPr>
              <a:t>3	Use Vector&lt;T&gt; and Burst-like patterns	Auto-SIMD recognition</a:t>
            </a:r>
          </a:p>
          <a:p>
            <a:pPr marL="12700" marR="5080"/>
            <a:r>
              <a:rPr lang="en-US" sz="1800" kern="0" spc="-220" dirty="0">
                <a:solidFill>
                  <a:schemeClr val="accent6"/>
                </a:solidFill>
              </a:rPr>
              <a:t>4	Parallelize with no false sharing	Multicore scaling</a:t>
            </a:r>
          </a:p>
          <a:p>
            <a:pPr marL="12700" marR="5080"/>
            <a:r>
              <a:rPr lang="en-US" sz="1800" kern="0" spc="-220" dirty="0">
                <a:solidFill>
                  <a:schemeClr val="accent6"/>
                </a:solidFill>
              </a:rPr>
              <a:t>5	Build a mini ECS framework	                     Data grouping + scheduling</a:t>
            </a:r>
          </a:p>
        </p:txBody>
      </p:sp>
    </p:spTree>
    <p:extLst>
      <p:ext uri="{BB962C8B-B14F-4D97-AF65-F5344CB8AC3E}">
        <p14:creationId xmlns:p14="http://schemas.microsoft.com/office/powerpoint/2010/main" val="123402026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A8380-0190-F061-73A1-F0258668AAD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144A7C7-DF9A-ECAA-10F0-C8D0F5B9D83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EF7BEC7-A16A-D5AD-16EC-4F5BA7FBA843}"/>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E3978B6-1643-BD54-4C5F-F3E15FA2A6F0}"/>
              </a:ext>
            </a:extLst>
          </p:cNvPr>
          <p:cNvGraphicFramePr/>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65304E0-4CFD-3473-3517-352FD40CBC8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A5DAA3A9-5425-E947-3511-23ECA37A9EB2}"/>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5376D7E6-F57E-2B5A-58E5-CF26480E0C50}"/>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7114C3F2-31EE-06D7-0356-A276ABB8AA9B}"/>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B6120FBC-4DBE-E82D-2FCC-D213582C9224}"/>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4DE89086-240B-8826-7601-138AE0AD0E4A}"/>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5226333E-60F4-5C32-7F34-8645E9CE343F}"/>
              </a:ext>
            </a:extLst>
          </p:cNvPr>
          <p:cNvSpPr txBox="1">
            <a:spLocks/>
          </p:cNvSpPr>
          <p:nvPr/>
        </p:nvSpPr>
        <p:spPr>
          <a:xfrm>
            <a:off x="228600" y="685800"/>
            <a:ext cx="8624937" cy="16619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220" dirty="0">
                <a:solidFill>
                  <a:schemeClr val="accent2"/>
                </a:solidFill>
              </a:rPr>
              <a:t>For Further Exploration</a:t>
            </a:r>
          </a:p>
          <a:p>
            <a:pPr marL="12700" marR="5080"/>
            <a:r>
              <a:rPr lang="en-US" sz="1800" dirty="0">
                <a:hlinkClick r:id="rId7"/>
              </a:rPr>
              <a:t>The Magic of Data-oriented Design (DOD) Programming</a:t>
            </a:r>
            <a:endParaRPr lang="en-US" sz="1800" dirty="0"/>
          </a:p>
          <a:p>
            <a:pPr marL="12700" marR="5080"/>
            <a:r>
              <a:rPr lang="en-US" sz="1800" dirty="0">
                <a:hlinkClick r:id="rId8"/>
              </a:rPr>
              <a:t>Principles of Data-Oriented Programming | </a:t>
            </a:r>
            <a:r>
              <a:rPr lang="en-US" sz="1800" dirty="0" err="1">
                <a:hlinkClick r:id="rId8"/>
              </a:rPr>
              <a:t>Yehonathan</a:t>
            </a:r>
            <a:r>
              <a:rPr lang="en-US" sz="1800" dirty="0">
                <a:hlinkClick r:id="rId8"/>
              </a:rPr>
              <a:t> </a:t>
            </a:r>
            <a:r>
              <a:rPr lang="en-US" sz="1800" dirty="0" err="1">
                <a:hlinkClick r:id="rId8"/>
              </a:rPr>
              <a:t>Sharvit</a:t>
            </a:r>
            <a:endParaRPr lang="en-US" sz="1800" kern="0" spc="-220" dirty="0">
              <a:solidFill>
                <a:schemeClr val="accent2"/>
              </a:solidFill>
            </a:endParaRPr>
          </a:p>
          <a:p>
            <a:pPr marL="12700" marR="5080"/>
            <a:r>
              <a:rPr lang="en-US" sz="1800" dirty="0">
                <a:hlinkClick r:id="rId9"/>
              </a:rPr>
              <a:t>Understand data-oriented design - Unity Learn</a:t>
            </a:r>
            <a:endParaRPr lang="en-US" sz="1800" dirty="0"/>
          </a:p>
          <a:p>
            <a:pPr marL="12700" marR="5080"/>
            <a:r>
              <a:rPr lang="en-US" sz="1800" dirty="0">
                <a:hlinkClick r:id="rId10"/>
              </a:rPr>
              <a:t>Data Driven Code Design - C# and Unity development</a:t>
            </a:r>
            <a:endParaRPr lang="en-US" sz="1800" dirty="0"/>
          </a:p>
          <a:p>
            <a:pPr marL="12700" marR="5080"/>
            <a:r>
              <a:rPr lang="en-US" sz="1800" dirty="0">
                <a:hlinkClick r:id="rId11"/>
              </a:rPr>
              <a:t>Awesome-Data-Oriented-Design</a:t>
            </a:r>
            <a:endParaRPr lang="en-US" sz="1800" dirty="0"/>
          </a:p>
        </p:txBody>
      </p:sp>
    </p:spTree>
    <p:extLst>
      <p:ext uri="{BB962C8B-B14F-4D97-AF65-F5344CB8AC3E}">
        <p14:creationId xmlns:p14="http://schemas.microsoft.com/office/powerpoint/2010/main" val="384590245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E6B76-D4F5-94D5-0774-D89E26C8A04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7B83C14-1AAE-E325-492E-7C5C96C894EA}"/>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0C20827-427F-3E15-7F74-35BA582F1FCD}"/>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EF61A80-DA1D-94D1-4DF8-14E46F5F4179}"/>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3DAC62DF-CB4D-D355-F3A4-825D6BE77AE2}"/>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540C1137-8306-9718-8E4D-4B7E0AEAB868}"/>
              </a:ext>
            </a:extLst>
          </p:cNvPr>
          <p:cNvSpPr txBox="1">
            <a:spLocks/>
          </p:cNvSpPr>
          <p:nvPr/>
        </p:nvSpPr>
        <p:spPr>
          <a:xfrm>
            <a:off x="-19234" y="1258669"/>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7" name="object 2">
            <a:extLst>
              <a:ext uri="{FF2B5EF4-FFF2-40B4-BE49-F238E27FC236}">
                <a16:creationId xmlns:a16="http://schemas.microsoft.com/office/drawing/2014/main" id="{943A935A-E6FD-498F-C1C2-95413D476781}"/>
              </a:ext>
            </a:extLst>
          </p:cNvPr>
          <p:cNvSpPr txBox="1">
            <a:spLocks/>
          </p:cNvSpPr>
          <p:nvPr/>
        </p:nvSpPr>
        <p:spPr>
          <a:xfrm>
            <a:off x="259531" y="1125141"/>
            <a:ext cx="8624937" cy="92333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IN" sz="1500" kern="0" spc="-220" dirty="0">
                <a:solidFill>
                  <a:schemeClr val="accent6"/>
                </a:solidFill>
              </a:rPr>
              <a:t>Allocation-free patterns in C#/.NET focus on minimizing heap allocations using techniques like structs, Span&lt;T&gt;, </a:t>
            </a:r>
            <a:r>
              <a:rPr lang="en-IN" sz="1500" kern="0" spc="-220" dirty="0" err="1">
                <a:solidFill>
                  <a:schemeClr val="accent6"/>
                </a:solidFill>
              </a:rPr>
              <a:t>stackalloc</a:t>
            </a:r>
            <a:r>
              <a:rPr lang="en-IN" sz="1500" kern="0" spc="-220" dirty="0">
                <a:solidFill>
                  <a:schemeClr val="accent6"/>
                </a:solidFill>
              </a:rPr>
              <a:t>, ref parameters, avoiding LINQ closures/intermediate collections (.</a:t>
            </a:r>
            <a:r>
              <a:rPr lang="en-IN" sz="1500" kern="0" spc="-220" dirty="0" err="1">
                <a:solidFill>
                  <a:schemeClr val="accent6"/>
                </a:solidFill>
              </a:rPr>
              <a:t>ToList</a:t>
            </a:r>
            <a:r>
              <a:rPr lang="en-IN" sz="1500" kern="0" spc="-220" dirty="0">
                <a:solidFill>
                  <a:schemeClr val="accent6"/>
                </a:solidFill>
              </a:rPr>
              <a:t>(), .Select()), string formatting, and leveraging </a:t>
            </a:r>
            <a:r>
              <a:rPr lang="en-IN" sz="1500" kern="0" spc="-220" dirty="0" err="1">
                <a:solidFill>
                  <a:schemeClr val="accent6"/>
                </a:solidFill>
              </a:rPr>
              <a:t>AsNoTracking</a:t>
            </a:r>
            <a:r>
              <a:rPr lang="en-IN" sz="1500" kern="0" spc="-220" dirty="0">
                <a:solidFill>
                  <a:schemeClr val="accent6"/>
                </a:solidFill>
              </a:rPr>
              <a:t>() for data access, all crucial for high-performance code to reduce GC pressure and improve predictability, often involving measuring memory impact after changes. </a:t>
            </a:r>
            <a:endParaRPr lang="en-US" sz="1500" kern="0" spc="-220" dirty="0">
              <a:solidFill>
                <a:schemeClr val="accent6"/>
              </a:solidFill>
            </a:endParaRPr>
          </a:p>
        </p:txBody>
      </p:sp>
      <p:pic>
        <p:nvPicPr>
          <p:cNvPr id="9" name="Picture 8">
            <a:extLst>
              <a:ext uri="{FF2B5EF4-FFF2-40B4-BE49-F238E27FC236}">
                <a16:creationId xmlns:a16="http://schemas.microsoft.com/office/drawing/2014/main" id="{AFD42132-5F7D-DF3D-E88E-B13A8C98A58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3762" y="2048470"/>
            <a:ext cx="8716299" cy="3895129"/>
          </a:xfrm>
          <a:prstGeom prst="rect">
            <a:avLst/>
          </a:prstGeom>
        </p:spPr>
      </p:pic>
    </p:spTree>
    <p:extLst>
      <p:ext uri="{BB962C8B-B14F-4D97-AF65-F5344CB8AC3E}">
        <p14:creationId xmlns:p14="http://schemas.microsoft.com/office/powerpoint/2010/main" val="305017420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D0490-87F3-D6C8-4F70-C3E05CAB4BF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EBA0B21-1C95-CBC3-16BF-995B7B808951}"/>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9BCB557-DFC9-2FE3-9ABC-7B1438AEA899}"/>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F3DD74F-6E67-2809-62D4-E5300E72F733}"/>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F60458BC-6B82-2B3B-CB7F-9DCD53E38A72}"/>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03C7E50E-10B1-A6AD-4208-6FA570A49A71}"/>
              </a:ext>
            </a:extLst>
          </p:cNvPr>
          <p:cNvSpPr txBox="1">
            <a:spLocks/>
          </p:cNvSpPr>
          <p:nvPr/>
        </p:nvSpPr>
        <p:spPr>
          <a:xfrm>
            <a:off x="-19234" y="1258669"/>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pic>
        <p:nvPicPr>
          <p:cNvPr id="10" name="Picture 9">
            <a:extLst>
              <a:ext uri="{FF2B5EF4-FFF2-40B4-BE49-F238E27FC236}">
                <a16:creationId xmlns:a16="http://schemas.microsoft.com/office/drawing/2014/main" id="{B40FD33C-10F9-4460-AFA5-CCC94534FB0D}"/>
              </a:ext>
            </a:extLst>
          </p:cNvPr>
          <p:cNvPicPr>
            <a:picLocks noChangeAspect="1"/>
          </p:cNvPicPr>
          <p:nvPr/>
        </p:nvPicPr>
        <p:blipFill>
          <a:blip r:embed="rId7"/>
          <a:stretch>
            <a:fillRect/>
          </a:stretch>
        </p:blipFill>
        <p:spPr>
          <a:xfrm>
            <a:off x="275299" y="1143000"/>
            <a:ext cx="8624937" cy="4591286"/>
          </a:xfrm>
          <a:prstGeom prst="rect">
            <a:avLst/>
          </a:prstGeom>
        </p:spPr>
      </p:pic>
    </p:spTree>
    <p:extLst>
      <p:ext uri="{BB962C8B-B14F-4D97-AF65-F5344CB8AC3E}">
        <p14:creationId xmlns:p14="http://schemas.microsoft.com/office/powerpoint/2010/main" val="291943460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D27FF-5A66-E26F-8B19-D56A5E594F2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7BA9F97-B9C2-0AAB-8930-DACF3579EACF}"/>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377A5E0-56F0-3E9B-91A2-5B44419C2031}"/>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3F349A8-179C-2883-D93E-2E01AC0F0690}"/>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98F41DE8-DC58-B9D9-47B0-BD752D445E06}"/>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387C6EC3-41A9-2CE7-D1F2-43F2286C9BA4}"/>
              </a:ext>
            </a:extLst>
          </p:cNvPr>
          <p:cNvSpPr txBox="1">
            <a:spLocks/>
          </p:cNvSpPr>
          <p:nvPr/>
        </p:nvSpPr>
        <p:spPr>
          <a:xfrm>
            <a:off x="-19234" y="1258669"/>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pic>
        <p:nvPicPr>
          <p:cNvPr id="8" name="Picture 7">
            <a:extLst>
              <a:ext uri="{FF2B5EF4-FFF2-40B4-BE49-F238E27FC236}">
                <a16:creationId xmlns:a16="http://schemas.microsoft.com/office/drawing/2014/main" id="{524059B1-2629-C914-70F1-6BE6A9A10C1D}"/>
              </a:ext>
            </a:extLst>
          </p:cNvPr>
          <p:cNvPicPr>
            <a:picLocks noChangeAspect="1"/>
          </p:cNvPicPr>
          <p:nvPr/>
        </p:nvPicPr>
        <p:blipFill>
          <a:blip r:embed="rId7"/>
          <a:stretch>
            <a:fillRect/>
          </a:stretch>
        </p:blipFill>
        <p:spPr>
          <a:xfrm>
            <a:off x="275300" y="1155509"/>
            <a:ext cx="8593399" cy="4483291"/>
          </a:xfrm>
          <a:prstGeom prst="rect">
            <a:avLst/>
          </a:prstGeom>
        </p:spPr>
      </p:pic>
    </p:spTree>
    <p:extLst>
      <p:ext uri="{BB962C8B-B14F-4D97-AF65-F5344CB8AC3E}">
        <p14:creationId xmlns:p14="http://schemas.microsoft.com/office/powerpoint/2010/main" val="179831761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762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pic>
        <p:nvPicPr>
          <p:cNvPr id="1026" name="Picture 2" descr="No alternative text description for this image">
            <a:extLst>
              <a:ext uri="{FF2B5EF4-FFF2-40B4-BE49-F238E27FC236}">
                <a16:creationId xmlns:a16="http://schemas.microsoft.com/office/drawing/2014/main" id="{0E5B245B-DF72-B6BB-7DFC-0D74EF67A38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200" y="1143000"/>
            <a:ext cx="9067800" cy="4061936"/>
          </a:xfrm>
          <a:prstGeom prst="rect">
            <a:avLst/>
          </a:prstGeom>
          <a:noFill/>
          <a:extLst>
            <a:ext uri="{909E8E84-426E-40DD-AFC4-6F175D3DCCD1}">
              <a14:hiddenFill xmlns:a14="http://schemas.microsoft.com/office/drawing/2010/main">
                <a:solidFill>
                  <a:srgbClr val="FFFFFF"/>
                </a:solidFill>
              </a14:hiddenFill>
            </a:ext>
          </a:extLst>
        </p:spPr>
      </p:pic>
      <p:sp>
        <p:nvSpPr>
          <p:cNvPr id="8" name="object 2">
            <a:extLst>
              <a:ext uri="{FF2B5EF4-FFF2-40B4-BE49-F238E27FC236}">
                <a16:creationId xmlns:a16="http://schemas.microsoft.com/office/drawing/2014/main" id="{4DC6B3B2-1782-7B7D-6526-9478B8893CD0}"/>
              </a:ext>
            </a:extLst>
          </p:cNvPr>
          <p:cNvSpPr txBox="1">
            <a:spLocks/>
          </p:cNvSpPr>
          <p:nvPr/>
        </p:nvSpPr>
        <p:spPr>
          <a:xfrm>
            <a:off x="228600" y="5204936"/>
            <a:ext cx="8624937" cy="50783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1800" kern="0" spc="-220" dirty="0">
                <a:solidFill>
                  <a:schemeClr val="accent2"/>
                </a:solidFill>
              </a:rPr>
              <a:t>For Further Exploration – </a:t>
            </a:r>
          </a:p>
          <a:p>
            <a:pPr algn="l"/>
            <a:r>
              <a:rPr lang="en-US" sz="1500" dirty="0">
                <a:hlinkClick r:id="rId8"/>
              </a:rPr>
              <a:t>Processes, Threads, </a:t>
            </a:r>
            <a:r>
              <a:rPr lang="en-US" sz="1500" dirty="0" err="1">
                <a:hlinkClick r:id="rId8"/>
              </a:rPr>
              <a:t>AppDomains</a:t>
            </a:r>
            <a:r>
              <a:rPr lang="en-US" sz="1500" dirty="0">
                <a:hlinkClick r:id="rId8"/>
              </a:rPr>
              <a:t> And Object Contexts | </a:t>
            </a:r>
            <a:r>
              <a:rPr lang="en-US" sz="1500" dirty="0" err="1">
                <a:hlinkClick r:id="rId8"/>
              </a:rPr>
              <a:t>luke</a:t>
            </a:r>
            <a:r>
              <a:rPr lang="en-US" sz="1500" dirty="0">
                <a:hlinkClick r:id="rId8"/>
              </a:rPr>
              <a:t> </a:t>
            </a:r>
            <a:r>
              <a:rPr lang="en-US" sz="1500" dirty="0" err="1">
                <a:hlinkClick r:id="rId8"/>
              </a:rPr>
              <a:t>wickstead</a:t>
            </a:r>
            <a:endParaRPr lang="en-US" sz="1500" kern="0" spc="-220" dirty="0">
              <a:solidFill>
                <a:schemeClr val="accent6"/>
              </a:solidFill>
            </a:endParaRPr>
          </a:p>
        </p:txBody>
      </p:sp>
    </p:spTree>
    <p:extLst>
      <p:ext uri="{BB962C8B-B14F-4D97-AF65-F5344CB8AC3E}">
        <p14:creationId xmlns:p14="http://schemas.microsoft.com/office/powerpoint/2010/main" val="313462389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986750694"/>
              </p:ext>
            </p:extLst>
          </p:nvPr>
        </p:nvGraphicFramePr>
        <p:xfrm>
          <a:off x="762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graphicFrame>
        <p:nvGraphicFramePr>
          <p:cNvPr id="15" name="Table 14">
            <a:extLst>
              <a:ext uri="{FF2B5EF4-FFF2-40B4-BE49-F238E27FC236}">
                <a16:creationId xmlns:a16="http://schemas.microsoft.com/office/drawing/2014/main" id="{48478E13-B33F-B596-C414-350401705CFE}"/>
              </a:ext>
            </a:extLst>
          </p:cNvPr>
          <p:cNvGraphicFramePr>
            <a:graphicFrameLocks noGrp="1"/>
          </p:cNvGraphicFramePr>
          <p:nvPr>
            <p:extLst>
              <p:ext uri="{D42A27DB-BD31-4B8C-83A1-F6EECF244321}">
                <p14:modId xmlns:p14="http://schemas.microsoft.com/office/powerpoint/2010/main" val="2787147295"/>
              </p:ext>
            </p:extLst>
          </p:nvPr>
        </p:nvGraphicFramePr>
        <p:xfrm>
          <a:off x="76200" y="1066800"/>
          <a:ext cx="8991600" cy="4953000"/>
        </p:xfrm>
        <a:graphic>
          <a:graphicData uri="http://schemas.openxmlformats.org/drawingml/2006/table">
            <a:tbl>
              <a:tblPr firstRow="1" bandRow="1">
                <a:tableStyleId>{5C22544A-7EE6-4342-B048-85BDC9FD1C3A}</a:tableStyleId>
              </a:tblPr>
              <a:tblGrid>
                <a:gridCol w="1355106">
                  <a:extLst>
                    <a:ext uri="{9D8B030D-6E8A-4147-A177-3AD203B41FA5}">
                      <a16:colId xmlns:a16="http://schemas.microsoft.com/office/drawing/2014/main" val="1786937020"/>
                    </a:ext>
                  </a:extLst>
                </a:gridCol>
                <a:gridCol w="3216894">
                  <a:extLst>
                    <a:ext uri="{9D8B030D-6E8A-4147-A177-3AD203B41FA5}">
                      <a16:colId xmlns:a16="http://schemas.microsoft.com/office/drawing/2014/main" val="1108411683"/>
                    </a:ext>
                  </a:extLst>
                </a:gridCol>
                <a:gridCol w="4419600">
                  <a:extLst>
                    <a:ext uri="{9D8B030D-6E8A-4147-A177-3AD203B41FA5}">
                      <a16:colId xmlns:a16="http://schemas.microsoft.com/office/drawing/2014/main" val="3284897530"/>
                    </a:ext>
                  </a:extLst>
                </a:gridCol>
              </a:tblGrid>
              <a:tr h="389216">
                <a:tc>
                  <a:txBody>
                    <a:bodyPr/>
                    <a:lstStyle/>
                    <a:p>
                      <a:endParaRPr lang="en-IN" dirty="0"/>
                    </a:p>
                  </a:txBody>
                  <a:tcPr/>
                </a:tc>
                <a:tc>
                  <a:txBody>
                    <a:bodyPr/>
                    <a:lstStyle/>
                    <a:p>
                      <a:r>
                        <a:rPr lang="en-US" sz="1600" dirty="0"/>
                        <a:t>When to Use</a:t>
                      </a:r>
                      <a:endParaRPr lang="en-IN" sz="1600" dirty="0"/>
                    </a:p>
                  </a:txBody>
                  <a:tcPr/>
                </a:tc>
                <a:tc>
                  <a:txBody>
                    <a:bodyPr/>
                    <a:lstStyle/>
                    <a:p>
                      <a:r>
                        <a:rPr lang="en-US" sz="1600" dirty="0"/>
                        <a:t>Comment(s)/Example(s)</a:t>
                      </a:r>
                      <a:endParaRPr lang="en-IN" sz="1600" dirty="0"/>
                    </a:p>
                  </a:txBody>
                  <a:tcPr/>
                </a:tc>
                <a:extLst>
                  <a:ext uri="{0D108BD9-81ED-4DB2-BD59-A6C34878D82A}">
                    <a16:rowId xmlns:a16="http://schemas.microsoft.com/office/drawing/2014/main" val="2947363692"/>
                  </a:ext>
                </a:extLst>
              </a:tr>
              <a:tr h="1556862">
                <a:tc>
                  <a:txBody>
                    <a:bodyPr/>
                    <a:lstStyle/>
                    <a:p>
                      <a:r>
                        <a:rPr lang="en-US" sz="1600" dirty="0"/>
                        <a:t>Thread</a:t>
                      </a:r>
                      <a:endParaRPr lang="en-IN" sz="1600" dirty="0"/>
                    </a:p>
                  </a:txBody>
                  <a:tcPr/>
                </a:tc>
                <a:tc>
                  <a:txBody>
                    <a:bodyPr/>
                    <a:lstStyle/>
                    <a:p>
                      <a:r>
                        <a:rPr lang="en-US" sz="1600" dirty="0"/>
                        <a:t>When you need to control at the minutest level how these are managed(created, started, resumed, stopped etc.)</a:t>
                      </a:r>
                      <a:endParaRPr lang="en-IN" sz="1600" dirty="0"/>
                    </a:p>
                  </a:txBody>
                  <a:tcPr/>
                </a:tc>
                <a:tc>
                  <a:txBody>
                    <a:bodyPr/>
                    <a:lstStyle/>
                    <a:p>
                      <a:r>
                        <a:rPr lang="en-US" sz="1600" dirty="0">
                          <a:hlinkClick r:id="rId7"/>
                        </a:rPr>
                        <a:t>How to Pass Data Thread Function in Type-Safe Manner in C#</a:t>
                      </a:r>
                      <a:endParaRPr lang="en-US" sz="1600" dirty="0"/>
                    </a:p>
                    <a:p>
                      <a:r>
                        <a:rPr lang="en-US" sz="1600" dirty="0">
                          <a:hlinkClick r:id="rId8"/>
                        </a:rPr>
                        <a:t>How to Retrieve Data from a Thread Function in C# - Dot Net Tutorials</a:t>
                      </a:r>
                      <a:r>
                        <a:rPr lang="en-IN" sz="1600" dirty="0"/>
                        <a:t>  </a:t>
                      </a:r>
                    </a:p>
                  </a:txBody>
                  <a:tcPr/>
                </a:tc>
                <a:extLst>
                  <a:ext uri="{0D108BD9-81ED-4DB2-BD59-A6C34878D82A}">
                    <a16:rowId xmlns:a16="http://schemas.microsoft.com/office/drawing/2014/main" val="1358888461"/>
                  </a:ext>
                </a:extLst>
              </a:tr>
              <a:tr h="1169825">
                <a:tc>
                  <a:txBody>
                    <a:bodyPr/>
                    <a:lstStyle/>
                    <a:p>
                      <a:r>
                        <a:rPr lang="en-US" dirty="0" err="1"/>
                        <a:t>ThreadPool</a:t>
                      </a:r>
                      <a:endParaRPr lang="en-IN" dirty="0"/>
                    </a:p>
                  </a:txBody>
                  <a:tcPr/>
                </a:tc>
                <a:tc>
                  <a:txBody>
                    <a:bodyPr/>
                    <a:lstStyle/>
                    <a:p>
                      <a:r>
                        <a:rPr lang="en-US" sz="1600" b="0" i="0" dirty="0">
                          <a:solidFill>
                            <a:schemeClr val="dk1"/>
                          </a:solidFill>
                          <a:effectLst/>
                          <a:latin typeface="+mn-lt"/>
                          <a:ea typeface="+mn-ea"/>
                          <a:cs typeface="+mn-cs"/>
                        </a:rPr>
                        <a:t>Primarily used to reuse  application threads and provide management of the worker threads. </a:t>
                      </a:r>
                      <a:endParaRPr lang="en-IN" sz="1600" dirty="0"/>
                    </a:p>
                  </a:txBody>
                  <a:tcPr/>
                </a:tc>
                <a:tc>
                  <a:txBody>
                    <a:bodyPr/>
                    <a:lstStyle/>
                    <a:p>
                      <a:r>
                        <a:rPr lang="en-US" sz="1600" dirty="0">
                          <a:hlinkClick r:id="rId9"/>
                        </a:rPr>
                        <a:t>Thread Pools - Win32 apps | Microsoft Learn</a:t>
                      </a:r>
                      <a:endParaRPr lang="en-IN" sz="1600" dirty="0"/>
                    </a:p>
                    <a:p>
                      <a:r>
                        <a:rPr lang="en-IN" sz="1600" dirty="0"/>
                        <a:t>(check/google/</a:t>
                      </a:r>
                      <a:r>
                        <a:rPr lang="en-IN" sz="1600" dirty="0" err="1"/>
                        <a:t>chaptGPT</a:t>
                      </a:r>
                      <a:r>
                        <a:rPr lang="en-IN" sz="1600" dirty="0"/>
                        <a:t> how data can be passed to [&amp; back from] </a:t>
                      </a:r>
                      <a:r>
                        <a:rPr lang="en-IN" sz="1600" dirty="0" err="1"/>
                        <a:t>ThreadPool</a:t>
                      </a:r>
                      <a:r>
                        <a:rPr lang="en-IN" sz="1600" dirty="0"/>
                        <a:t>)</a:t>
                      </a:r>
                    </a:p>
                  </a:txBody>
                  <a:tcPr/>
                </a:tc>
                <a:extLst>
                  <a:ext uri="{0D108BD9-81ED-4DB2-BD59-A6C34878D82A}">
                    <a16:rowId xmlns:a16="http://schemas.microsoft.com/office/drawing/2014/main" val="34980675"/>
                  </a:ext>
                </a:extLst>
              </a:tr>
              <a:tr h="1837097">
                <a:tc>
                  <a:txBody>
                    <a:bodyPr/>
                    <a:lstStyle/>
                    <a:p>
                      <a:r>
                        <a:rPr lang="en-US" dirty="0"/>
                        <a:t>Task</a:t>
                      </a:r>
                      <a:endParaRPr lang="en-IN" dirty="0"/>
                    </a:p>
                  </a:txBody>
                  <a:tcPr/>
                </a:tc>
                <a:tc>
                  <a:txBody>
                    <a:bodyPr/>
                    <a:lstStyle/>
                    <a:p>
                      <a:r>
                        <a:rPr lang="en-US" sz="1600" dirty="0"/>
                        <a:t>Internally a Thread only but managed via the </a:t>
                      </a:r>
                      <a:r>
                        <a:rPr lang="en-US" sz="1600" dirty="0" err="1"/>
                        <a:t>ThreadPool</a:t>
                      </a:r>
                      <a:r>
                        <a:rPr lang="en-US" sz="1600" dirty="0"/>
                        <a:t> by default.</a:t>
                      </a:r>
                    </a:p>
                    <a:p>
                      <a:endParaRPr lang="en-IN" sz="1600" dirty="0"/>
                    </a:p>
                  </a:txBody>
                  <a:tcPr/>
                </a:tc>
                <a:tc>
                  <a:txBody>
                    <a:bodyPr/>
                    <a:lstStyle/>
                    <a:p>
                      <a:r>
                        <a:rPr lang="en-US" sz="1600" dirty="0" err="1">
                          <a:hlinkClick r:id="rId10"/>
                        </a:rPr>
                        <a:t>c#</a:t>
                      </a:r>
                      <a:r>
                        <a:rPr lang="en-US" sz="1600" dirty="0">
                          <a:hlinkClick r:id="rId10"/>
                        </a:rPr>
                        <a:t> - What is the difference between task and thread? - Stack Overflow</a:t>
                      </a:r>
                      <a:endParaRPr lang="en-US" sz="1600" dirty="0"/>
                    </a:p>
                    <a:p>
                      <a:r>
                        <a:rPr lang="en-US" sz="1600" dirty="0">
                          <a:hlinkClick r:id="rId11"/>
                        </a:rPr>
                        <a:t>Task Class (</a:t>
                      </a:r>
                      <a:r>
                        <a:rPr lang="en-US" sz="1600" dirty="0" err="1">
                          <a:hlinkClick r:id="rId11"/>
                        </a:rPr>
                        <a:t>System.Threading.Tasks</a:t>
                      </a:r>
                      <a:r>
                        <a:rPr lang="en-US" sz="1600" dirty="0">
                          <a:hlinkClick r:id="rId11"/>
                        </a:rPr>
                        <a:t>) | Microsoft Learn</a:t>
                      </a:r>
                      <a:endParaRPr lang="en-IN" sz="1600" dirty="0"/>
                    </a:p>
                    <a:p>
                      <a:pPr marL="0" marR="0" lvl="0" indent="0" defTabSz="914400" eaLnBrk="1" fontAlgn="auto" latinLnBrk="0" hangingPunct="1">
                        <a:lnSpc>
                          <a:spcPct val="100000"/>
                        </a:lnSpc>
                        <a:spcBef>
                          <a:spcPts val="0"/>
                        </a:spcBef>
                        <a:spcAft>
                          <a:spcPts val="0"/>
                        </a:spcAft>
                        <a:buClrTx/>
                        <a:buSzTx/>
                        <a:buFontTx/>
                        <a:buNone/>
                        <a:tabLst/>
                        <a:defRPr/>
                      </a:pPr>
                      <a:r>
                        <a:rPr lang="en-IN" sz="1600" dirty="0"/>
                        <a:t>(check/google/</a:t>
                      </a:r>
                      <a:r>
                        <a:rPr lang="en-IN" sz="1600" dirty="0" err="1"/>
                        <a:t>chatGPT</a:t>
                      </a:r>
                      <a:r>
                        <a:rPr lang="en-IN" sz="1600" dirty="0"/>
                        <a:t> how data can be passed to [&amp; back from] Task)</a:t>
                      </a:r>
                    </a:p>
                  </a:txBody>
                  <a:tcPr/>
                </a:tc>
                <a:extLst>
                  <a:ext uri="{0D108BD9-81ED-4DB2-BD59-A6C34878D82A}">
                    <a16:rowId xmlns:a16="http://schemas.microsoft.com/office/drawing/2014/main" val="3670476645"/>
                  </a:ext>
                </a:extLst>
              </a:tr>
            </a:tbl>
          </a:graphicData>
        </a:graphic>
      </p:graphicFrame>
    </p:spTree>
    <p:extLst>
      <p:ext uri="{BB962C8B-B14F-4D97-AF65-F5344CB8AC3E}">
        <p14:creationId xmlns:p14="http://schemas.microsoft.com/office/powerpoint/2010/main" val="330070216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8A571-B55E-9116-A314-12F5B387C34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D70F1B3-A9A2-D812-E259-2DECDE7EAB8C}"/>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59E2CDB-8993-1CDE-3AF2-7947AC24F696}"/>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0C432C3-12DA-9994-906C-EC0D3EBE1691}"/>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E9A6CE9-BFA5-F2F2-262F-F5106916058E}"/>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4" name="object 2">
            <a:extLst>
              <a:ext uri="{FF2B5EF4-FFF2-40B4-BE49-F238E27FC236}">
                <a16:creationId xmlns:a16="http://schemas.microsoft.com/office/drawing/2014/main" id="{CC04FBE2-1F81-25DC-C0F9-B19CDE87BF38}"/>
              </a:ext>
            </a:extLst>
          </p:cNvPr>
          <p:cNvSpPr txBox="1">
            <a:spLocks/>
          </p:cNvSpPr>
          <p:nvPr/>
        </p:nvSpPr>
        <p:spPr>
          <a:xfrm>
            <a:off x="152400" y="1128860"/>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err="1">
                <a:solidFill>
                  <a:schemeClr val="accent2"/>
                </a:solidFill>
              </a:rPr>
              <a:t>Thread.Sleep</a:t>
            </a:r>
            <a:r>
              <a:rPr lang="en-US" sz="2000" kern="0" spc="-220" dirty="0">
                <a:solidFill>
                  <a:schemeClr val="accent2"/>
                </a:solidFill>
              </a:rPr>
              <a:t>() vs </a:t>
            </a:r>
            <a:r>
              <a:rPr lang="en-US" sz="2000" kern="0" spc="-220" dirty="0" err="1">
                <a:solidFill>
                  <a:schemeClr val="accent2"/>
                </a:solidFill>
              </a:rPr>
              <a:t>Task.Delay</a:t>
            </a:r>
            <a:r>
              <a:rPr lang="en-US" sz="2000" kern="0" spc="-220" dirty="0">
                <a:solidFill>
                  <a:schemeClr val="accent2"/>
                </a:solidFill>
              </a:rPr>
              <a:t>()</a:t>
            </a:r>
            <a:endParaRPr lang="en-US" sz="2000" kern="0" spc="-220" dirty="0">
              <a:solidFill>
                <a:schemeClr val="accent6"/>
              </a:solidFill>
            </a:endParaRPr>
          </a:p>
        </p:txBody>
      </p:sp>
      <p:pic>
        <p:nvPicPr>
          <p:cNvPr id="7" name="Picture 6">
            <a:extLst>
              <a:ext uri="{FF2B5EF4-FFF2-40B4-BE49-F238E27FC236}">
                <a16:creationId xmlns:a16="http://schemas.microsoft.com/office/drawing/2014/main" id="{E1A092A9-8A1B-5183-68D6-82BC4A47B0C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2400" y="1485823"/>
            <a:ext cx="8839200" cy="4457777"/>
          </a:xfrm>
          <a:prstGeom prst="rect">
            <a:avLst/>
          </a:prstGeom>
        </p:spPr>
      </p:pic>
    </p:spTree>
    <p:extLst>
      <p:ext uri="{BB962C8B-B14F-4D97-AF65-F5344CB8AC3E}">
        <p14:creationId xmlns:p14="http://schemas.microsoft.com/office/powerpoint/2010/main" val="314708258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429957821"/>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4" name="object 2">
            <a:extLst>
              <a:ext uri="{FF2B5EF4-FFF2-40B4-BE49-F238E27FC236}">
                <a16:creationId xmlns:a16="http://schemas.microsoft.com/office/drawing/2014/main" id="{9F0599CA-370B-DA70-02C4-ED9A1FB310C4}"/>
              </a:ext>
            </a:extLst>
          </p:cNvPr>
          <p:cNvSpPr txBox="1">
            <a:spLocks/>
          </p:cNvSpPr>
          <p:nvPr/>
        </p:nvSpPr>
        <p:spPr>
          <a:xfrm>
            <a:off x="152400" y="1128860"/>
            <a:ext cx="8624937" cy="461664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Main Reason(s)/Advantages for </a:t>
            </a:r>
            <a:r>
              <a:rPr lang="en-US" sz="2000" kern="0" spc="-220" dirty="0" err="1">
                <a:solidFill>
                  <a:schemeClr val="accent2"/>
                </a:solidFill>
              </a:rPr>
              <a:t>MultiThreading</a:t>
            </a:r>
            <a:r>
              <a:rPr lang="en-US" sz="2000" kern="0" spc="-220" dirty="0">
                <a:solidFill>
                  <a:schemeClr val="accent2"/>
                </a:solidFill>
              </a:rPr>
              <a:t> – </a:t>
            </a:r>
          </a:p>
          <a:p>
            <a:pPr algn="l"/>
            <a:r>
              <a:rPr lang="en-US" sz="2000" kern="0" spc="-220" dirty="0">
                <a:solidFill>
                  <a:schemeClr val="accent6"/>
                </a:solidFill>
              </a:rPr>
              <a:t> 1) Scalability using </a:t>
            </a:r>
            <a:r>
              <a:rPr lang="en-US" sz="2000" kern="0" spc="-220" dirty="0">
                <a:solidFill>
                  <a:schemeClr val="tx2">
                    <a:lumMod val="60000"/>
                    <a:lumOff val="40000"/>
                  </a:schemeClr>
                </a:solidFill>
              </a:rPr>
              <a:t>Worker Threads</a:t>
            </a:r>
            <a:r>
              <a:rPr lang="en-US" sz="2000" kern="0" spc="-220" dirty="0">
                <a:solidFill>
                  <a:schemeClr val="accent6"/>
                </a:solidFill>
              </a:rPr>
              <a:t>. Also, each thread can perform different/similar operation if needed. </a:t>
            </a:r>
          </a:p>
          <a:p>
            <a:pPr algn="l"/>
            <a:r>
              <a:rPr lang="en-US" sz="2000" kern="0" spc="-220" dirty="0">
                <a:solidFill>
                  <a:schemeClr val="accent6"/>
                </a:solidFill>
              </a:rPr>
              <a:t>       Applications built using Thread Scalability – </a:t>
            </a:r>
          </a:p>
          <a:p>
            <a:r>
              <a:rPr lang="en-US" sz="2000" kern="0" spc="-220" dirty="0">
                <a:solidFill>
                  <a:schemeClr val="accent6"/>
                </a:solidFill>
              </a:rPr>
              <a:t>       a) Building High Performant Schedulers</a:t>
            </a:r>
          </a:p>
          <a:p>
            <a:r>
              <a:rPr lang="en-US" sz="2000" kern="0" spc="-220" dirty="0">
                <a:solidFill>
                  <a:schemeClr val="accent6"/>
                </a:solidFill>
              </a:rPr>
              <a:t>       b) Building High Performant servers in Client-Server model. Ultimately,</a:t>
            </a:r>
          </a:p>
          <a:p>
            <a:r>
              <a:rPr lang="en-US" sz="2000" kern="0" spc="-220" dirty="0">
                <a:solidFill>
                  <a:schemeClr val="accent6"/>
                </a:solidFill>
              </a:rPr>
              <a:t>            servers are continuously running schedulers listening for some network </a:t>
            </a:r>
          </a:p>
          <a:p>
            <a:r>
              <a:rPr lang="en-US" sz="2000" kern="0" spc="-220" dirty="0">
                <a:solidFill>
                  <a:schemeClr val="accent6"/>
                </a:solidFill>
              </a:rPr>
              <a:t>            protocol(s) based requests.</a:t>
            </a:r>
          </a:p>
          <a:p>
            <a:pPr algn="l"/>
            <a:r>
              <a:rPr lang="en-US" sz="2000" kern="0" spc="-220" dirty="0">
                <a:solidFill>
                  <a:schemeClr val="accent6"/>
                </a:solidFill>
              </a:rPr>
              <a:t> 2) UI(/Client) Responsiveness(using </a:t>
            </a:r>
            <a:r>
              <a:rPr lang="en-US" sz="2000" kern="0" spc="-220" dirty="0">
                <a:solidFill>
                  <a:schemeClr val="tx2">
                    <a:lumMod val="60000"/>
                    <a:lumOff val="40000"/>
                  </a:schemeClr>
                </a:solidFill>
              </a:rPr>
              <a:t>async Threads</a:t>
            </a:r>
            <a:r>
              <a:rPr lang="en-US" sz="2000" kern="0" spc="-220" dirty="0">
                <a:solidFill>
                  <a:schemeClr val="accent6"/>
                </a:solidFill>
              </a:rPr>
              <a:t>)</a:t>
            </a:r>
          </a:p>
          <a:p>
            <a:pPr algn="l"/>
            <a:r>
              <a:rPr lang="en-US" sz="2000" kern="0" spc="-220" dirty="0">
                <a:solidFill>
                  <a:schemeClr val="accent6"/>
                </a:solidFill>
              </a:rPr>
              <a:t> 3) Resource Sharing  - but this can create problems also as depicted below</a:t>
            </a:r>
          </a:p>
          <a:p>
            <a:pPr algn="l"/>
            <a:endParaRPr lang="en-US" sz="2000" kern="0" spc="-220" dirty="0">
              <a:solidFill>
                <a:schemeClr val="accent6"/>
              </a:solidFill>
            </a:endParaRPr>
          </a:p>
          <a:p>
            <a:pPr algn="l"/>
            <a:r>
              <a:rPr lang="en-US" sz="2000" kern="0" spc="-220" dirty="0">
                <a:solidFill>
                  <a:schemeClr val="accent6"/>
                </a:solidFill>
              </a:rPr>
              <a:t> </a:t>
            </a:r>
            <a:r>
              <a:rPr lang="en-US" sz="2000" kern="0" spc="-220" dirty="0">
                <a:solidFill>
                  <a:schemeClr val="accent2"/>
                </a:solidFill>
              </a:rPr>
              <a:t>Shared Resource Concurrent Access Issues – </a:t>
            </a:r>
          </a:p>
          <a:p>
            <a:pPr algn="l"/>
            <a:r>
              <a:rPr lang="en-US" sz="2000" kern="0" spc="-220" dirty="0">
                <a:solidFill>
                  <a:schemeClr val="accent2"/>
                </a:solidFill>
              </a:rPr>
              <a:t>  </a:t>
            </a:r>
            <a:r>
              <a:rPr lang="en-US" sz="2000" kern="0" spc="-220" dirty="0">
                <a:solidFill>
                  <a:schemeClr val="accent6"/>
                </a:solidFill>
              </a:rPr>
              <a:t>Unpredictable Values </a:t>
            </a:r>
          </a:p>
          <a:p>
            <a:pPr algn="l"/>
            <a:r>
              <a:rPr lang="en-US" sz="2000" kern="0" spc="-220" dirty="0">
                <a:solidFill>
                  <a:schemeClr val="accent2"/>
                </a:solidFill>
              </a:rPr>
              <a:t>  </a:t>
            </a:r>
            <a:r>
              <a:rPr lang="en-US" sz="2000" kern="0" spc="-220" dirty="0">
                <a:solidFill>
                  <a:schemeClr val="accent6"/>
                </a:solidFill>
              </a:rPr>
              <a:t>Race Condition</a:t>
            </a:r>
          </a:p>
          <a:p>
            <a:pPr algn="l"/>
            <a:r>
              <a:rPr lang="en-US" sz="2000" kern="0" spc="-220" dirty="0">
                <a:solidFill>
                  <a:schemeClr val="accent6"/>
                </a:solidFill>
              </a:rPr>
              <a:t>  Dead Lock</a:t>
            </a:r>
          </a:p>
        </p:txBody>
      </p:sp>
    </p:spTree>
    <p:extLst>
      <p:ext uri="{BB962C8B-B14F-4D97-AF65-F5344CB8AC3E}">
        <p14:creationId xmlns:p14="http://schemas.microsoft.com/office/powerpoint/2010/main" val="346209551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635981757"/>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14" name="object 2">
            <a:extLst>
              <a:ext uri="{FF2B5EF4-FFF2-40B4-BE49-F238E27FC236}">
                <a16:creationId xmlns:a16="http://schemas.microsoft.com/office/drawing/2014/main" id="{9F0599CA-370B-DA70-02C4-ED9A1FB310C4}"/>
              </a:ext>
            </a:extLst>
          </p:cNvPr>
          <p:cNvSpPr txBox="1">
            <a:spLocks/>
          </p:cNvSpPr>
          <p:nvPr/>
        </p:nvSpPr>
        <p:spPr>
          <a:xfrm>
            <a:off x="228600" y="1066800"/>
            <a:ext cx="8624937" cy="207749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Race Condition – </a:t>
            </a:r>
          </a:p>
          <a:p>
            <a:pPr algn="l"/>
            <a:r>
              <a:rPr lang="en-US" sz="2000" kern="0" spc="-220" dirty="0">
                <a:solidFill>
                  <a:schemeClr val="accent6"/>
                </a:solidFill>
              </a:rPr>
              <a:t>A race condition happens when two or more threads want to update shared data at the same time</a:t>
            </a:r>
            <a:r>
              <a:rPr lang="en-US" sz="1200" b="0" i="0" dirty="0">
                <a:solidFill>
                  <a:srgbClr val="000000"/>
                </a:solidFill>
                <a:effectLst/>
                <a:latin typeface="arial" panose="020B0604020202020204" pitchFamily="34" charset="0"/>
              </a:rPr>
              <a:t>. </a:t>
            </a:r>
          </a:p>
          <a:p>
            <a:pPr algn="l"/>
            <a:r>
              <a:rPr lang="en-US" sz="1500" dirty="0">
                <a:hlinkClick r:id="rId7"/>
              </a:rPr>
              <a:t>What is a Race Condition? Vulnerability and Attack</a:t>
            </a:r>
            <a:endParaRPr lang="en-US" sz="1500" dirty="0"/>
          </a:p>
          <a:p>
            <a:pPr algn="l"/>
            <a:r>
              <a:rPr lang="en-US" sz="2000" kern="0" spc="-220" dirty="0">
                <a:solidFill>
                  <a:schemeClr val="accent2"/>
                </a:solidFill>
              </a:rPr>
              <a:t>Dead Lock – </a:t>
            </a:r>
          </a:p>
          <a:p>
            <a:pPr algn="l"/>
            <a:r>
              <a:rPr lang="en-US" sz="2000" kern="0" spc="-220" dirty="0">
                <a:solidFill>
                  <a:schemeClr val="accent6"/>
                </a:solidFill>
              </a:rPr>
              <a:t>Mainly happens when multiple threads are waiting for other threads to release some shared resource</a:t>
            </a:r>
          </a:p>
        </p:txBody>
      </p:sp>
      <p:sp>
        <p:nvSpPr>
          <p:cNvPr id="8" name="AutoShape 4" descr="Deadlock Interview Questions and Answers in C#">
            <a:extLst>
              <a:ext uri="{FF2B5EF4-FFF2-40B4-BE49-F238E27FC236}">
                <a16:creationId xmlns:a16="http://schemas.microsoft.com/office/drawing/2014/main" id="{AD348A42-3BB4-8BBA-07FE-6A92F9AC0BFC}"/>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6" name="Picture 15">
            <a:extLst>
              <a:ext uri="{FF2B5EF4-FFF2-40B4-BE49-F238E27FC236}">
                <a16:creationId xmlns:a16="http://schemas.microsoft.com/office/drawing/2014/main" id="{7977DE98-1D5F-1973-77A0-A9E6866A3916}"/>
              </a:ext>
            </a:extLst>
          </p:cNvPr>
          <p:cNvPicPr>
            <a:picLocks noChangeAspect="1"/>
          </p:cNvPicPr>
          <p:nvPr/>
        </p:nvPicPr>
        <p:blipFill>
          <a:blip r:embed="rId8"/>
          <a:stretch>
            <a:fillRect/>
          </a:stretch>
        </p:blipFill>
        <p:spPr>
          <a:xfrm>
            <a:off x="1295400" y="3144292"/>
            <a:ext cx="5639090" cy="2489060"/>
          </a:xfrm>
          <a:prstGeom prst="rect">
            <a:avLst/>
          </a:prstGeom>
        </p:spPr>
      </p:pic>
      <p:sp>
        <p:nvSpPr>
          <p:cNvPr id="12" name="TextBox 11">
            <a:extLst>
              <a:ext uri="{FF2B5EF4-FFF2-40B4-BE49-F238E27FC236}">
                <a16:creationId xmlns:a16="http://schemas.microsoft.com/office/drawing/2014/main" id="{7238456B-9289-E569-E6BF-290013E4B791}"/>
              </a:ext>
            </a:extLst>
          </p:cNvPr>
          <p:cNvSpPr txBox="1"/>
          <p:nvPr/>
        </p:nvSpPr>
        <p:spPr>
          <a:xfrm>
            <a:off x="66040" y="5653444"/>
            <a:ext cx="8915400" cy="369332"/>
          </a:xfrm>
          <a:prstGeom prst="rect">
            <a:avLst/>
          </a:prstGeom>
          <a:noFill/>
        </p:spPr>
        <p:txBody>
          <a:bodyPr wrap="square">
            <a:spAutoFit/>
          </a:bodyPr>
          <a:lstStyle/>
          <a:p>
            <a:r>
              <a:rPr lang="en-US" dirty="0">
                <a:hlinkClick r:id="rId9"/>
              </a:rPr>
              <a:t>EP112: What is a deadlock? - </a:t>
            </a:r>
            <a:r>
              <a:rPr lang="en-US" dirty="0" err="1">
                <a:hlinkClick r:id="rId9"/>
              </a:rPr>
              <a:t>ByteByteGo</a:t>
            </a:r>
            <a:r>
              <a:rPr lang="en-US" dirty="0">
                <a:hlinkClick r:id="rId9"/>
              </a:rPr>
              <a:t> Newsletter</a:t>
            </a:r>
            <a:endParaRPr lang="en-IN" dirty="0"/>
          </a:p>
        </p:txBody>
      </p:sp>
    </p:spTree>
    <p:extLst>
      <p:ext uri="{BB962C8B-B14F-4D97-AF65-F5344CB8AC3E}">
        <p14:creationId xmlns:p14="http://schemas.microsoft.com/office/powerpoint/2010/main" val="207461572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95911515"/>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11" name="object 2">
            <a:extLst>
              <a:ext uri="{FF2B5EF4-FFF2-40B4-BE49-F238E27FC236}">
                <a16:creationId xmlns:a16="http://schemas.microsoft.com/office/drawing/2014/main" id="{98A7BA29-4720-D09A-0DCB-47B829C98713}"/>
              </a:ext>
            </a:extLst>
          </p:cNvPr>
          <p:cNvSpPr txBox="1">
            <a:spLocks/>
          </p:cNvSpPr>
          <p:nvPr/>
        </p:nvSpPr>
        <p:spPr>
          <a:xfrm>
            <a:off x="243763" y="1095844"/>
            <a:ext cx="8624937" cy="523220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Necessary Conditions for Dead Lock – </a:t>
            </a:r>
          </a:p>
          <a:p>
            <a:pPr algn="just" fontAlgn="base">
              <a:buFont typeface="+mj-lt"/>
              <a:buAutoNum type="arabicPeriod"/>
            </a:pPr>
            <a:r>
              <a:rPr lang="en-US" sz="2000" kern="0" spc="-220" dirty="0">
                <a:solidFill>
                  <a:schemeClr val="accent2"/>
                </a:solidFill>
              </a:rPr>
              <a:t>Mutual Exclusion: </a:t>
            </a:r>
            <a:r>
              <a:rPr lang="en-US" sz="2000" kern="0" spc="-220" dirty="0">
                <a:solidFill>
                  <a:schemeClr val="accent6"/>
                </a:solidFill>
              </a:rPr>
              <a:t>Resources involved must be </a:t>
            </a:r>
            <a:r>
              <a:rPr lang="en-US" sz="2000" kern="0" spc="-220" dirty="0" err="1">
                <a:solidFill>
                  <a:schemeClr val="accent6"/>
                </a:solidFill>
              </a:rPr>
              <a:t>unshareable</a:t>
            </a:r>
            <a:r>
              <a:rPr lang="en-US" sz="2000" kern="0" spc="-220" dirty="0">
                <a:solidFill>
                  <a:schemeClr val="accent6"/>
                </a:solidFill>
              </a:rPr>
              <a:t> between multiple threads.</a:t>
            </a:r>
          </a:p>
          <a:p>
            <a:pPr algn="just" fontAlgn="base">
              <a:buFont typeface="+mj-lt"/>
              <a:buAutoNum type="arabicPeriod"/>
            </a:pPr>
            <a:r>
              <a:rPr lang="en-US" sz="2000" kern="0" spc="-220" dirty="0">
                <a:solidFill>
                  <a:schemeClr val="accent2"/>
                </a:solidFill>
              </a:rPr>
              <a:t>Hold and Wait:</a:t>
            </a:r>
            <a:r>
              <a:rPr lang="en-US" sz="2000" kern="0" spc="-220" dirty="0">
                <a:solidFill>
                  <a:schemeClr val="accent6"/>
                </a:solidFill>
              </a:rPr>
              <a:t> Threads hold the resources they have allocated and wait for the resources they want.</a:t>
            </a:r>
          </a:p>
          <a:p>
            <a:pPr algn="just" fontAlgn="base">
              <a:buFont typeface="+mj-lt"/>
              <a:buAutoNum type="arabicPeriod"/>
            </a:pPr>
            <a:r>
              <a:rPr lang="en-US" sz="2000" kern="0" spc="-220" dirty="0">
                <a:solidFill>
                  <a:schemeClr val="accent2"/>
                </a:solidFill>
              </a:rPr>
              <a:t>No pre-emption: </a:t>
            </a:r>
            <a:r>
              <a:rPr lang="en-US" sz="2000" kern="0" spc="-220" dirty="0">
                <a:solidFill>
                  <a:schemeClr val="accent6"/>
                </a:solidFill>
              </a:rPr>
              <a:t>If the thread locks the resource, other threads cannot take the resource until the thread releases it.</a:t>
            </a:r>
          </a:p>
          <a:p>
            <a:pPr algn="just" fontAlgn="base">
              <a:buFont typeface="+mj-lt"/>
              <a:buAutoNum type="arabicPeriod"/>
            </a:pPr>
            <a:r>
              <a:rPr lang="en-US" sz="2000" kern="0" spc="-220" dirty="0">
                <a:solidFill>
                  <a:schemeClr val="accent2"/>
                </a:solidFill>
              </a:rPr>
              <a:t>Circular Wait:</a:t>
            </a:r>
            <a:r>
              <a:rPr lang="en-US" sz="2000" kern="0" spc="-220" dirty="0">
                <a:solidFill>
                  <a:schemeClr val="accent6"/>
                </a:solidFill>
              </a:rPr>
              <a:t> A circular chain must exist in which each thread waits for other threads to release resources.</a:t>
            </a:r>
          </a:p>
          <a:p>
            <a:pPr algn="just" fontAlgn="base"/>
            <a:endParaRPr lang="en-US" sz="2000" kern="0" spc="-220" dirty="0">
              <a:solidFill>
                <a:schemeClr val="accent6"/>
              </a:solidFill>
            </a:endParaRPr>
          </a:p>
          <a:p>
            <a:pPr algn="l"/>
            <a:r>
              <a:rPr lang="en-US" sz="2000" kern="0" spc="-220" dirty="0">
                <a:solidFill>
                  <a:schemeClr val="accent2"/>
                </a:solidFill>
              </a:rPr>
              <a:t>Solving Shared Resource Concurrent Access Issues –</a:t>
            </a:r>
          </a:p>
          <a:p>
            <a:pPr algn="l"/>
            <a:r>
              <a:rPr lang="en-US" sz="2000" kern="0" spc="-220" dirty="0">
                <a:solidFill>
                  <a:schemeClr val="accent6"/>
                </a:solidFill>
              </a:rPr>
              <a:t>Using some critical section(some form of lock) wherein only some limited number of Thread(s)[typically 1] can enter at a time(&amp;  others will be queued up until their time comes to enter the critical section) &amp; thus shared resource can’t be accessed concurrently by multiple threads at the same time &amp; thus the issue gets resolved. This is a form of </a:t>
            </a:r>
            <a:r>
              <a:rPr lang="en-US" sz="2000" kern="0" spc="-220" dirty="0">
                <a:solidFill>
                  <a:schemeClr val="tx2">
                    <a:lumMod val="60000"/>
                    <a:lumOff val="40000"/>
                  </a:schemeClr>
                </a:solidFill>
              </a:rPr>
              <a:t>Synchronization</a:t>
            </a:r>
            <a:r>
              <a:rPr lang="en-US" sz="2000" kern="0" spc="-220" dirty="0">
                <a:solidFill>
                  <a:schemeClr val="accent6"/>
                </a:solidFill>
              </a:rPr>
              <a:t>.</a:t>
            </a:r>
          </a:p>
          <a:p>
            <a:pPr algn="just" fontAlgn="base"/>
            <a:endParaRPr lang="en-US" sz="2000" kern="0" spc="-220" dirty="0">
              <a:solidFill>
                <a:schemeClr val="accent6"/>
              </a:solidFill>
            </a:endParaRPr>
          </a:p>
        </p:txBody>
      </p:sp>
    </p:spTree>
    <p:extLst>
      <p:ext uri="{BB962C8B-B14F-4D97-AF65-F5344CB8AC3E}">
        <p14:creationId xmlns:p14="http://schemas.microsoft.com/office/powerpoint/2010/main" val="152940009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439972341"/>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143000"/>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11" name="object 2">
            <a:extLst>
              <a:ext uri="{FF2B5EF4-FFF2-40B4-BE49-F238E27FC236}">
                <a16:creationId xmlns:a16="http://schemas.microsoft.com/office/drawing/2014/main" id="{98A7BA29-4720-D09A-0DCB-47B829C98713}"/>
              </a:ext>
            </a:extLst>
          </p:cNvPr>
          <p:cNvSpPr txBox="1">
            <a:spLocks/>
          </p:cNvSpPr>
          <p:nvPr/>
        </p:nvSpPr>
        <p:spPr>
          <a:xfrm>
            <a:off x="243763" y="1095844"/>
            <a:ext cx="8624937" cy="406265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2"/>
                </a:solidFill>
              </a:rPr>
              <a:t>Synchronization –</a:t>
            </a:r>
          </a:p>
          <a:p>
            <a:pPr algn="just" fontAlgn="base"/>
            <a:r>
              <a:rPr lang="en-US" sz="1700" kern="0" spc="-220" dirty="0">
                <a:solidFill>
                  <a:schemeClr val="accent6"/>
                </a:solidFill>
              </a:rPr>
              <a:t>Synchronization is particularly important when threads access the same data. Its basically coordinating the actions of threads for a predictable outcome.</a:t>
            </a:r>
          </a:p>
          <a:p>
            <a:pPr algn="just" fontAlgn="base"/>
            <a:endParaRPr lang="en-US" sz="1700" kern="0" spc="-220" dirty="0">
              <a:solidFill>
                <a:schemeClr val="accent6"/>
              </a:solidFill>
            </a:endParaRPr>
          </a:p>
          <a:p>
            <a:pPr algn="just" fontAlgn="base"/>
            <a:r>
              <a:rPr lang="en-US" sz="2000" kern="0" spc="-220" dirty="0">
                <a:solidFill>
                  <a:schemeClr val="accent2"/>
                </a:solidFill>
              </a:rPr>
              <a:t>Basic Blocking Methods - </a:t>
            </a:r>
            <a:r>
              <a:rPr lang="en-US" sz="1700" kern="0" spc="-220" dirty="0">
                <a:solidFill>
                  <a:schemeClr val="accent6"/>
                </a:solidFill>
              </a:rPr>
              <a:t>  </a:t>
            </a:r>
          </a:p>
          <a:p>
            <a:pPr algn="just" fontAlgn="base"/>
            <a:r>
              <a:rPr lang="en-US" sz="1700" kern="0" spc="-220" dirty="0">
                <a:solidFill>
                  <a:schemeClr val="accent6"/>
                </a:solidFill>
              </a:rPr>
              <a:t>Sleep, Join, </a:t>
            </a:r>
            <a:r>
              <a:rPr lang="en-US" sz="1700" kern="0" spc="-220" dirty="0" err="1">
                <a:solidFill>
                  <a:schemeClr val="accent6"/>
                </a:solidFill>
              </a:rPr>
              <a:t>Task.Wait</a:t>
            </a:r>
            <a:r>
              <a:rPr lang="en-US" sz="1700" kern="0" spc="-220" dirty="0">
                <a:solidFill>
                  <a:schemeClr val="accent6"/>
                </a:solidFill>
              </a:rPr>
              <a:t> </a:t>
            </a:r>
            <a:r>
              <a:rPr lang="en-US" sz="1700" kern="0" spc="-220" dirty="0" err="1">
                <a:solidFill>
                  <a:schemeClr val="accent6"/>
                </a:solidFill>
              </a:rPr>
              <a:t>etc</a:t>
            </a:r>
            <a:r>
              <a:rPr lang="en-US" sz="1700" kern="0" spc="-220" dirty="0">
                <a:solidFill>
                  <a:schemeClr val="accent6"/>
                </a:solidFill>
              </a:rPr>
              <a:t> are simple blocking methods that wait for other thread(s) to finish or for a period of time to elapse.</a:t>
            </a:r>
          </a:p>
          <a:p>
            <a:pPr algn="just" fontAlgn="base"/>
            <a:endParaRPr lang="en-US" sz="1700" kern="0" spc="-220" dirty="0">
              <a:solidFill>
                <a:schemeClr val="accent6"/>
              </a:solidFill>
            </a:endParaRPr>
          </a:p>
          <a:p>
            <a:pPr algn="just" fontAlgn="base"/>
            <a:r>
              <a:rPr lang="en-US" sz="2000" kern="0" spc="-220" dirty="0">
                <a:solidFill>
                  <a:schemeClr val="accent2"/>
                </a:solidFill>
              </a:rPr>
              <a:t>Locking  &amp; Signaling constructs –</a:t>
            </a:r>
          </a:p>
          <a:p>
            <a:pPr algn="just" fontAlgn="base"/>
            <a:r>
              <a:rPr lang="en-US" sz="1700" kern="0" spc="-220" dirty="0">
                <a:solidFill>
                  <a:schemeClr val="accent6"/>
                </a:solidFill>
              </a:rPr>
              <a:t>In .NET, thread synchronization is achieved primarily through Locking (ensuring mutual exclusion to shared resources) and Signaling (coordinating the order of execution between threads). </a:t>
            </a:r>
          </a:p>
          <a:p>
            <a:pPr algn="just" fontAlgn="base"/>
            <a:r>
              <a:rPr lang="en-US" sz="1700" kern="0" spc="-220" dirty="0">
                <a:solidFill>
                  <a:schemeClr val="accent2"/>
                </a:solidFill>
              </a:rPr>
              <a:t>Locking: </a:t>
            </a:r>
            <a:r>
              <a:rPr lang="en-US" sz="1700" kern="0" spc="-220" dirty="0">
                <a:solidFill>
                  <a:schemeClr val="accent6"/>
                </a:solidFill>
              </a:rPr>
              <a:t>Prevents multiple threads from accessing a critical section of code or data simultaneously (e.g., lock, Mutex, Semaphore, </a:t>
            </a:r>
            <a:r>
              <a:rPr lang="en-US" sz="1700" kern="0" spc="-220" dirty="0" err="1">
                <a:solidFill>
                  <a:schemeClr val="accent6"/>
                </a:solidFill>
              </a:rPr>
              <a:t>ReaderWriterLockSlim</a:t>
            </a:r>
            <a:r>
              <a:rPr lang="en-US" sz="1700" kern="0" spc="-220" dirty="0">
                <a:solidFill>
                  <a:schemeClr val="accent6"/>
                </a:solidFill>
              </a:rPr>
              <a:t>).</a:t>
            </a:r>
          </a:p>
          <a:p>
            <a:pPr algn="just" fontAlgn="base"/>
            <a:r>
              <a:rPr lang="en-US" sz="1700" kern="0" spc="-220" dirty="0">
                <a:solidFill>
                  <a:schemeClr val="accent2"/>
                </a:solidFill>
              </a:rPr>
              <a:t>Signaling: </a:t>
            </a:r>
            <a:r>
              <a:rPr lang="en-US" sz="1700" kern="0" spc="-220" dirty="0">
                <a:solidFill>
                  <a:schemeClr val="accent6"/>
                </a:solidFill>
              </a:rPr>
              <a:t>Allows one thread to pause until it receives a notification/signal from another thread, avoiding inefficient CPU-intensive polling (e.g., </a:t>
            </a:r>
            <a:r>
              <a:rPr lang="en-US" sz="1700" kern="0" spc="-220" dirty="0" err="1">
                <a:solidFill>
                  <a:schemeClr val="accent6"/>
                </a:solidFill>
              </a:rPr>
              <a:t>AutoResetEvent</a:t>
            </a:r>
            <a:r>
              <a:rPr lang="en-US" sz="1700" kern="0" spc="-220" dirty="0">
                <a:solidFill>
                  <a:schemeClr val="accent6"/>
                </a:solidFill>
              </a:rPr>
              <a:t>, </a:t>
            </a:r>
            <a:r>
              <a:rPr lang="en-US" sz="1700" kern="0" spc="-220" dirty="0" err="1">
                <a:solidFill>
                  <a:schemeClr val="accent6"/>
                </a:solidFill>
              </a:rPr>
              <a:t>ManualResetEvent</a:t>
            </a:r>
            <a:r>
              <a:rPr lang="en-US" sz="1700" kern="0" spc="-220" dirty="0">
                <a:solidFill>
                  <a:schemeClr val="accent6"/>
                </a:solidFill>
              </a:rPr>
              <a:t>, </a:t>
            </a:r>
            <a:r>
              <a:rPr lang="en-US" sz="1700" kern="0" spc="-220" dirty="0" err="1">
                <a:solidFill>
                  <a:schemeClr val="accent6"/>
                </a:solidFill>
              </a:rPr>
              <a:t>Monitor.Wait</a:t>
            </a:r>
            <a:r>
              <a:rPr lang="en-US" sz="1700" kern="0" spc="-220" dirty="0">
                <a:solidFill>
                  <a:schemeClr val="accent6"/>
                </a:solidFill>
              </a:rPr>
              <a:t>/Pulse)</a:t>
            </a:r>
          </a:p>
        </p:txBody>
      </p:sp>
    </p:spTree>
    <p:extLst>
      <p:ext uri="{BB962C8B-B14F-4D97-AF65-F5344CB8AC3E}">
        <p14:creationId xmlns:p14="http://schemas.microsoft.com/office/powerpoint/2010/main" val="104694420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0C81D-FB19-F89B-4B1C-B42707D2EAB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8DE0490-A316-5A34-D8E4-13CDCF0E0CCE}"/>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C69DAAF-F568-E62D-3693-3AF9F1383625}"/>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415F10B-A1F6-D7BD-FB00-758DF8BF5073}"/>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5E1A1062-FB45-04D2-99F2-CC90C31DF7DB}"/>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798E08CC-F625-A5B8-5B6F-3248898448F6}"/>
              </a:ext>
            </a:extLst>
          </p:cNvPr>
          <p:cNvSpPr txBox="1">
            <a:spLocks/>
          </p:cNvSpPr>
          <p:nvPr/>
        </p:nvSpPr>
        <p:spPr>
          <a:xfrm>
            <a:off x="275300" y="1143000"/>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EC3DC245-FB54-1943-C66F-7BA164CFA973}"/>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11" name="object 2">
            <a:extLst>
              <a:ext uri="{FF2B5EF4-FFF2-40B4-BE49-F238E27FC236}">
                <a16:creationId xmlns:a16="http://schemas.microsoft.com/office/drawing/2014/main" id="{EC027B93-8BC8-93C4-28B6-91A9F009DEBE}"/>
              </a:ext>
            </a:extLst>
          </p:cNvPr>
          <p:cNvSpPr txBox="1">
            <a:spLocks/>
          </p:cNvSpPr>
          <p:nvPr/>
        </p:nvSpPr>
        <p:spPr>
          <a:xfrm>
            <a:off x="243763" y="1095844"/>
            <a:ext cx="8624937"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2"/>
                </a:solidFill>
              </a:rPr>
              <a:t>Synchronization –</a:t>
            </a:r>
          </a:p>
          <a:p>
            <a:pPr algn="just" fontAlgn="base"/>
            <a:r>
              <a:rPr lang="en-US" sz="2000" kern="0" spc="-220" dirty="0">
                <a:solidFill>
                  <a:schemeClr val="accent2"/>
                </a:solidFill>
              </a:rPr>
              <a:t>Locking  &amp; Signaling constructs –</a:t>
            </a:r>
          </a:p>
        </p:txBody>
      </p:sp>
      <p:pic>
        <p:nvPicPr>
          <p:cNvPr id="8" name="Picture 7">
            <a:extLst>
              <a:ext uri="{FF2B5EF4-FFF2-40B4-BE49-F238E27FC236}">
                <a16:creationId xmlns:a16="http://schemas.microsoft.com/office/drawing/2014/main" id="{61AAA857-BD7E-4888-3752-327DF0E8A1D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3764" y="1750133"/>
            <a:ext cx="8716300" cy="3094782"/>
          </a:xfrm>
          <a:prstGeom prst="rect">
            <a:avLst/>
          </a:prstGeom>
        </p:spPr>
      </p:pic>
      <p:pic>
        <p:nvPicPr>
          <p:cNvPr id="12" name="Picture 11">
            <a:extLst>
              <a:ext uri="{FF2B5EF4-FFF2-40B4-BE49-F238E27FC236}">
                <a16:creationId xmlns:a16="http://schemas.microsoft.com/office/drawing/2014/main" id="{EB4DA39A-9B9C-3BDF-6EDF-A941FE24B76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75300" y="4972000"/>
            <a:ext cx="8593400" cy="971600"/>
          </a:xfrm>
          <a:prstGeom prst="rect">
            <a:avLst/>
          </a:prstGeom>
        </p:spPr>
      </p:pic>
    </p:spTree>
    <p:extLst>
      <p:ext uri="{BB962C8B-B14F-4D97-AF65-F5344CB8AC3E}">
        <p14:creationId xmlns:p14="http://schemas.microsoft.com/office/powerpoint/2010/main" val="385837599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356D7-6B5C-DC1D-B422-ED5ACFBC1E6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1DA8E39-D505-8968-FF35-0579E8D4F7A2}"/>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2171B9D-0BBA-D7A4-87DE-A0FC42D62FA9}"/>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E264009-DFF8-EB80-BEAA-1879237C1E28}"/>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7CF4F099-9E65-2D9C-5DDF-8D64F3697DAB}"/>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0A40B525-D8A2-461E-C511-DC999BBC1825}"/>
              </a:ext>
            </a:extLst>
          </p:cNvPr>
          <p:cNvSpPr txBox="1">
            <a:spLocks/>
          </p:cNvSpPr>
          <p:nvPr/>
        </p:nvSpPr>
        <p:spPr>
          <a:xfrm>
            <a:off x="275300" y="1143000"/>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EC89142B-76C1-BFEE-5097-7411E7D714FD}"/>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11" name="object 2">
            <a:extLst>
              <a:ext uri="{FF2B5EF4-FFF2-40B4-BE49-F238E27FC236}">
                <a16:creationId xmlns:a16="http://schemas.microsoft.com/office/drawing/2014/main" id="{9C52A7A4-02CE-A168-EA5C-A0991A3EA3D3}"/>
              </a:ext>
            </a:extLst>
          </p:cNvPr>
          <p:cNvSpPr txBox="1">
            <a:spLocks/>
          </p:cNvSpPr>
          <p:nvPr/>
        </p:nvSpPr>
        <p:spPr>
          <a:xfrm>
            <a:off x="243763" y="1095844"/>
            <a:ext cx="8624937" cy="461664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2"/>
                </a:solidFill>
              </a:rPr>
              <a:t>Synchronization –</a:t>
            </a:r>
          </a:p>
          <a:p>
            <a:pPr algn="just" fontAlgn="base"/>
            <a:r>
              <a:rPr lang="en-US" sz="2000" kern="0" spc="-220" dirty="0">
                <a:solidFill>
                  <a:schemeClr val="accent2"/>
                </a:solidFill>
              </a:rPr>
              <a:t>Locking constructs –</a:t>
            </a:r>
          </a:p>
          <a:p>
            <a:pPr algn="just" fontAlgn="base"/>
            <a:r>
              <a:rPr lang="en-US" sz="2000" kern="0" spc="-220" dirty="0">
                <a:solidFill>
                  <a:schemeClr val="accent2"/>
                </a:solidFill>
              </a:rPr>
              <a:t>Exclusive Locking Constructs</a:t>
            </a:r>
          </a:p>
          <a:p>
            <a:pPr algn="just" fontAlgn="base"/>
            <a:r>
              <a:rPr lang="en-US" sz="2000" kern="0" spc="-220" dirty="0">
                <a:solidFill>
                  <a:schemeClr val="accent6"/>
                </a:solidFill>
              </a:rPr>
              <a:t>These constructs ensure that only one thread can execute a specific block of code or access a shared resource at a time. </a:t>
            </a:r>
          </a:p>
          <a:p>
            <a:pPr algn="just" fontAlgn="base"/>
            <a:r>
              <a:rPr lang="en-US" sz="2000" kern="0" spc="-220" dirty="0">
                <a:solidFill>
                  <a:schemeClr val="accent2"/>
                </a:solidFill>
              </a:rPr>
              <a:t>lock Statement: </a:t>
            </a:r>
            <a:r>
              <a:rPr lang="en-US" sz="2000" kern="0" spc="-220" dirty="0">
                <a:solidFill>
                  <a:schemeClr val="accent6"/>
                </a:solidFill>
              </a:rPr>
              <a:t>The most common and simple way to achieve exclusive locking within a single process. It is syntactic sugar for the Monitor class methods and uses a try-finally block to ensure the lock is released even if an exception occurs. Check the difference between lock &amp; Monitor at </a:t>
            </a:r>
            <a:r>
              <a:rPr lang="en-US" sz="2000" dirty="0">
                <a:hlinkClick r:id="rId7"/>
              </a:rPr>
              <a:t>lock vs monitor in c#. Lock:- In C#, the lock keyword is used…</a:t>
            </a:r>
            <a:endParaRPr lang="en-US" sz="2000" kern="0" spc="-220" dirty="0">
              <a:solidFill>
                <a:schemeClr val="accent6"/>
              </a:solidFill>
            </a:endParaRPr>
          </a:p>
          <a:p>
            <a:pPr algn="just" fontAlgn="base"/>
            <a:r>
              <a:rPr lang="en-US" sz="2000" kern="0" spc="-220" dirty="0">
                <a:solidFill>
                  <a:schemeClr val="accent2"/>
                </a:solidFill>
              </a:rPr>
              <a:t>Usage:</a:t>
            </a:r>
            <a:r>
              <a:rPr lang="en-US" sz="2000" kern="0" spc="-220" dirty="0">
                <a:solidFill>
                  <a:schemeClr val="accent6"/>
                </a:solidFill>
              </a:rPr>
              <a:t> It requires a dedicated, private, reference-type object (e.g., private </a:t>
            </a:r>
            <a:r>
              <a:rPr lang="en-US" sz="2000" kern="0" spc="-220" dirty="0" err="1">
                <a:solidFill>
                  <a:schemeClr val="accent6"/>
                </a:solidFill>
              </a:rPr>
              <a:t>readonly</a:t>
            </a:r>
            <a:r>
              <a:rPr lang="en-US" sz="2000" kern="0" spc="-220" dirty="0">
                <a:solidFill>
                  <a:schemeClr val="accent6"/>
                </a:solidFill>
              </a:rPr>
              <a:t> object _</a:t>
            </a:r>
            <a:r>
              <a:rPr lang="en-US" sz="2000" kern="0" spc="-220" dirty="0" err="1">
                <a:solidFill>
                  <a:schemeClr val="accent6"/>
                </a:solidFill>
              </a:rPr>
              <a:t>lockObject</a:t>
            </a:r>
            <a:r>
              <a:rPr lang="en-US" sz="2000" kern="0" spc="-220" dirty="0">
                <a:solidFill>
                  <a:schemeClr val="accent6"/>
                </a:solidFill>
              </a:rPr>
              <a:t> = new object();) to lock on.</a:t>
            </a:r>
          </a:p>
          <a:p>
            <a:pPr algn="just" fontAlgn="base"/>
            <a:r>
              <a:rPr lang="en-US" sz="2000" kern="0" spc="-220" dirty="0">
                <a:solidFill>
                  <a:schemeClr val="accent2"/>
                </a:solidFill>
              </a:rPr>
              <a:t>Lock Class (C# 13 / .NET 9+): </a:t>
            </a:r>
            <a:r>
              <a:rPr lang="en-US" sz="2000" kern="0" spc="-220" dirty="0">
                <a:solidFill>
                  <a:schemeClr val="accent6"/>
                </a:solidFill>
              </a:rPr>
              <a:t>A more performant and resource-efficient class introduced in C# 13/ .NET 9, providing a cleaner API for locking and unlocking shared resources than the traditional lock statement (which relies on Monitor).</a:t>
            </a:r>
          </a:p>
        </p:txBody>
      </p:sp>
    </p:spTree>
    <p:extLst>
      <p:ext uri="{BB962C8B-B14F-4D97-AF65-F5344CB8AC3E}">
        <p14:creationId xmlns:p14="http://schemas.microsoft.com/office/powerpoint/2010/main" val="367999501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B5333-2C71-94B3-8F65-89C4DDF93D8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347A32B-F9C8-8EFA-6C31-488BD27E45A8}"/>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FE44E66-E670-C070-38D0-A55EF876369C}"/>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0652A79-847F-B947-2D73-EBA6B30AD724}"/>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F2239119-E0B4-82F7-AECF-FE32BBBDA258}"/>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ECA13F66-C5A0-5A51-E923-20062BADA49C}"/>
              </a:ext>
            </a:extLst>
          </p:cNvPr>
          <p:cNvSpPr txBox="1">
            <a:spLocks/>
          </p:cNvSpPr>
          <p:nvPr/>
        </p:nvSpPr>
        <p:spPr>
          <a:xfrm>
            <a:off x="275300" y="1143000"/>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5C3870D1-8AB9-6656-6624-642918F6E542}"/>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11" name="object 2">
            <a:extLst>
              <a:ext uri="{FF2B5EF4-FFF2-40B4-BE49-F238E27FC236}">
                <a16:creationId xmlns:a16="http://schemas.microsoft.com/office/drawing/2014/main" id="{D862461A-3C9D-6ACF-6B68-9895131907E3}"/>
              </a:ext>
            </a:extLst>
          </p:cNvPr>
          <p:cNvSpPr txBox="1">
            <a:spLocks/>
          </p:cNvSpPr>
          <p:nvPr/>
        </p:nvSpPr>
        <p:spPr>
          <a:xfrm>
            <a:off x="243763" y="1095844"/>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2"/>
                </a:solidFill>
              </a:rPr>
              <a:t>Synchronization –</a:t>
            </a:r>
          </a:p>
          <a:p>
            <a:pPr algn="just" fontAlgn="base"/>
            <a:r>
              <a:rPr lang="en-US" sz="2000" kern="0" spc="-220" dirty="0">
                <a:solidFill>
                  <a:schemeClr val="accent2"/>
                </a:solidFill>
              </a:rPr>
              <a:t>Locking constructs –</a:t>
            </a:r>
          </a:p>
          <a:p>
            <a:pPr algn="just" fontAlgn="base"/>
            <a:r>
              <a:rPr lang="en-US" sz="2000" kern="0" spc="-220" dirty="0">
                <a:solidFill>
                  <a:schemeClr val="accent2"/>
                </a:solidFill>
              </a:rPr>
              <a:t>Exclusive Locking Constructs</a:t>
            </a:r>
          </a:p>
          <a:p>
            <a:pPr algn="just" fontAlgn="base"/>
            <a:r>
              <a:rPr lang="en-US" sz="2000" kern="0" spc="-220" dirty="0">
                <a:solidFill>
                  <a:schemeClr val="accent2"/>
                </a:solidFill>
              </a:rPr>
              <a:t>Mutex Class:</a:t>
            </a:r>
            <a:r>
              <a:rPr lang="en-US" sz="2000" kern="0" spc="-220" dirty="0">
                <a:solidFill>
                  <a:schemeClr val="accent6"/>
                </a:solidFill>
              </a:rPr>
              <a:t> Similar to lock, but it can synchronize access to resources across multiple processes (system-wide synchronization), not just within a single application. It has higher overhead than lock or Lock.</a:t>
            </a:r>
            <a:endParaRPr lang="en-US" sz="2000" kern="0" spc="-220" dirty="0">
              <a:solidFill>
                <a:schemeClr val="accent2"/>
              </a:solidFill>
            </a:endParaRPr>
          </a:p>
          <a:p>
            <a:pPr algn="just" fontAlgn="base"/>
            <a:r>
              <a:rPr lang="en-US" sz="2000" kern="0" spc="-220" dirty="0" err="1">
                <a:solidFill>
                  <a:schemeClr val="accent2"/>
                </a:solidFill>
              </a:rPr>
              <a:t>SpinLock</a:t>
            </a:r>
            <a:r>
              <a:rPr lang="en-US" sz="2000" kern="0" spc="-220" dirty="0">
                <a:solidFill>
                  <a:schemeClr val="accent2"/>
                </a:solidFill>
              </a:rPr>
              <a:t> Struct: </a:t>
            </a:r>
            <a:r>
              <a:rPr lang="en-US" sz="2000" kern="0" spc="-220" dirty="0">
                <a:solidFill>
                  <a:schemeClr val="accent6"/>
                </a:solidFill>
              </a:rPr>
              <a:t>A lightweight alternative for scenarios where lock contention times are expected to be very short (microseconds). Instead of blocking a thread and incurring a context switch, it "spins" in a loop, repeatedly checking if the resource is free. </a:t>
            </a:r>
          </a:p>
          <a:p>
            <a:pPr algn="just" fontAlgn="base"/>
            <a:endParaRPr lang="en-US" sz="2000" kern="0" spc="-220" dirty="0">
              <a:solidFill>
                <a:schemeClr val="accent6"/>
              </a:solidFill>
            </a:endParaRPr>
          </a:p>
          <a:p>
            <a:pPr algn="just" fontAlgn="base"/>
            <a:r>
              <a:rPr lang="en-US" sz="2000" kern="0" spc="-220" dirty="0">
                <a:solidFill>
                  <a:schemeClr val="accent2"/>
                </a:solidFill>
              </a:rPr>
              <a:t>Non-Exclusive (Reader/Writer &amp; Counted) Constructs</a:t>
            </a:r>
          </a:p>
          <a:p>
            <a:pPr algn="just" fontAlgn="base"/>
            <a:r>
              <a:rPr lang="en-US" sz="2000" kern="0" spc="-220" dirty="0">
                <a:solidFill>
                  <a:schemeClr val="accent6"/>
                </a:solidFill>
              </a:rPr>
              <a:t>These constructs offer more flexible control over concurrency, allowing multiple threads to access a resource simultaneously under certain conditions. </a:t>
            </a:r>
          </a:p>
          <a:p>
            <a:pPr algn="just" fontAlgn="base"/>
            <a:r>
              <a:rPr lang="en-US" sz="2000" kern="0" spc="-220" dirty="0">
                <a:solidFill>
                  <a:schemeClr val="accent2"/>
                </a:solidFill>
              </a:rPr>
              <a:t>Semaphore and </a:t>
            </a:r>
            <a:r>
              <a:rPr lang="en-US" sz="2000" kern="0" spc="-220" dirty="0" err="1">
                <a:solidFill>
                  <a:schemeClr val="accent2"/>
                </a:solidFill>
              </a:rPr>
              <a:t>SemaphoreSlim</a:t>
            </a:r>
            <a:r>
              <a:rPr lang="en-US" sz="2000" kern="0" spc="-220" dirty="0">
                <a:solidFill>
                  <a:schemeClr val="accent2"/>
                </a:solidFill>
              </a:rPr>
              <a:t> Classes:</a:t>
            </a:r>
            <a:r>
              <a:rPr lang="en-US" sz="2000" kern="0" spc="-220" dirty="0">
                <a:solidFill>
                  <a:schemeClr val="accent6"/>
                </a:solidFill>
              </a:rPr>
              <a:t> These limit the number of threads that can concurrently access a shared resource to a specified maximum number.</a:t>
            </a:r>
          </a:p>
        </p:txBody>
      </p:sp>
    </p:spTree>
    <p:extLst>
      <p:ext uri="{BB962C8B-B14F-4D97-AF65-F5344CB8AC3E}">
        <p14:creationId xmlns:p14="http://schemas.microsoft.com/office/powerpoint/2010/main" val="321410332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C7987-F760-2C8B-599D-3867A3675A9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9720763-313B-1487-7C79-CAE57ED9EE34}"/>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3F932D1-BC30-16EF-28D8-B4A6FADFFBE4}"/>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DCF3489-C2B7-3A6E-8D27-88BEBFC8728F}"/>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16AB46DC-58E4-950D-1AA6-27669231711B}"/>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BBE775F1-4E40-01E3-5F1C-080A35C4D607}"/>
              </a:ext>
            </a:extLst>
          </p:cNvPr>
          <p:cNvSpPr txBox="1">
            <a:spLocks/>
          </p:cNvSpPr>
          <p:nvPr/>
        </p:nvSpPr>
        <p:spPr>
          <a:xfrm>
            <a:off x="275300" y="1143000"/>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20E03AEF-704B-D575-392F-488A52894AFF}"/>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11" name="object 2">
            <a:extLst>
              <a:ext uri="{FF2B5EF4-FFF2-40B4-BE49-F238E27FC236}">
                <a16:creationId xmlns:a16="http://schemas.microsoft.com/office/drawing/2014/main" id="{A943AD2B-3355-914B-94D6-743947F888AB}"/>
              </a:ext>
            </a:extLst>
          </p:cNvPr>
          <p:cNvSpPr txBox="1">
            <a:spLocks/>
          </p:cNvSpPr>
          <p:nvPr/>
        </p:nvSpPr>
        <p:spPr>
          <a:xfrm>
            <a:off x="243763" y="1095844"/>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2"/>
                </a:solidFill>
              </a:rPr>
              <a:t>Synchronization –</a:t>
            </a:r>
          </a:p>
          <a:p>
            <a:pPr algn="just" fontAlgn="base"/>
            <a:r>
              <a:rPr lang="en-US" sz="2000" kern="0" spc="-220" dirty="0">
                <a:solidFill>
                  <a:schemeClr val="accent2"/>
                </a:solidFill>
              </a:rPr>
              <a:t>Locking constructs –</a:t>
            </a:r>
          </a:p>
          <a:p>
            <a:pPr algn="just" fontAlgn="base"/>
            <a:r>
              <a:rPr lang="en-US" sz="2000" kern="0" spc="-220" dirty="0">
                <a:solidFill>
                  <a:schemeClr val="accent6"/>
                </a:solidFill>
              </a:rPr>
              <a:t>Semaphore can be system-wide (cross-process).</a:t>
            </a:r>
          </a:p>
          <a:p>
            <a:pPr algn="just" fontAlgn="base"/>
            <a:r>
              <a:rPr lang="en-US" sz="2000" kern="0" spc="-220" dirty="0" err="1">
                <a:solidFill>
                  <a:schemeClr val="accent2"/>
                </a:solidFill>
              </a:rPr>
              <a:t>SemaphoreSlim</a:t>
            </a:r>
            <a:r>
              <a:rPr lang="en-US" sz="2000" kern="0" spc="-220" dirty="0">
                <a:solidFill>
                  <a:schemeClr val="accent6"/>
                </a:solidFill>
              </a:rPr>
              <a:t> is a lightweight, faster alternative suitable for intra-process synchronization, often used with async/await operations.</a:t>
            </a:r>
            <a:endParaRPr lang="en-US" sz="2000" kern="0" spc="-220" dirty="0">
              <a:solidFill>
                <a:schemeClr val="accent2"/>
              </a:solidFill>
            </a:endParaRPr>
          </a:p>
          <a:p>
            <a:pPr algn="just" fontAlgn="base"/>
            <a:r>
              <a:rPr lang="en-US" sz="2000" kern="0" spc="-220" dirty="0">
                <a:solidFill>
                  <a:schemeClr val="accent2"/>
                </a:solidFill>
              </a:rPr>
              <a:t>Non-Exclusive (Reader/Writer &amp; Counted) Constructs</a:t>
            </a:r>
          </a:p>
          <a:p>
            <a:pPr algn="just" fontAlgn="base"/>
            <a:r>
              <a:rPr lang="en-US" sz="2000" kern="0" spc="-220" dirty="0" err="1">
                <a:solidFill>
                  <a:schemeClr val="accent2"/>
                </a:solidFill>
              </a:rPr>
              <a:t>ReaderWriterLockSlim</a:t>
            </a:r>
            <a:r>
              <a:rPr lang="en-US" sz="2000" kern="0" spc="-220" dirty="0">
                <a:solidFill>
                  <a:schemeClr val="accent2"/>
                </a:solidFill>
              </a:rPr>
              <a:t> Class: </a:t>
            </a:r>
            <a:r>
              <a:rPr lang="en-US" sz="2000" kern="0" spc="-220" dirty="0">
                <a:solidFill>
                  <a:schemeClr val="accent6"/>
                </a:solidFill>
              </a:rPr>
              <a:t>This allows multiple threads to have concurrent read access to a shared resource, but grants exclusive access to a single thread for writing. This is ideal for data structures that are read frequently but written to infrequently. </a:t>
            </a:r>
          </a:p>
          <a:p>
            <a:pPr algn="just" fontAlgn="base"/>
            <a:endParaRPr lang="en-US" sz="2000" kern="0" spc="-220" dirty="0">
              <a:solidFill>
                <a:schemeClr val="accent6"/>
              </a:solidFill>
            </a:endParaRPr>
          </a:p>
          <a:p>
            <a:pPr algn="just" fontAlgn="base"/>
            <a:r>
              <a:rPr lang="en-US" sz="2000" kern="0" spc="-220" dirty="0">
                <a:solidFill>
                  <a:schemeClr val="accent2"/>
                </a:solidFill>
              </a:rPr>
              <a:t>Key Considerations</a:t>
            </a:r>
          </a:p>
          <a:p>
            <a:pPr algn="just" fontAlgn="base"/>
            <a:r>
              <a:rPr lang="en-US" sz="2000" kern="0" spc="-220" dirty="0">
                <a:solidFill>
                  <a:schemeClr val="accent2"/>
                </a:solidFill>
              </a:rPr>
              <a:t>Avoid Deadlocks: </a:t>
            </a:r>
            <a:r>
              <a:rPr lang="en-US" sz="2000" kern="0" spc="-220" dirty="0">
                <a:solidFill>
                  <a:schemeClr val="accent6"/>
                </a:solidFill>
              </a:rPr>
              <a:t>When using multiple locks, acquire them in a consistent, predefined order to prevent deadlocks.</a:t>
            </a:r>
          </a:p>
          <a:p>
            <a:pPr algn="just" fontAlgn="base"/>
            <a:r>
              <a:rPr lang="en-US" sz="2000" kern="0" spc="-220" dirty="0">
                <a:solidFill>
                  <a:schemeClr val="accent2"/>
                </a:solidFill>
              </a:rPr>
              <a:t>Keep Critical Sections Brief: </a:t>
            </a:r>
            <a:r>
              <a:rPr lang="en-US" sz="2000" kern="0" spc="-220" dirty="0">
                <a:solidFill>
                  <a:schemeClr val="accent6"/>
                </a:solidFill>
              </a:rPr>
              <a:t>Minimize the amount of code within a locked section to reduce contention and improve performance.</a:t>
            </a:r>
          </a:p>
        </p:txBody>
      </p:sp>
    </p:spTree>
    <p:extLst>
      <p:ext uri="{BB962C8B-B14F-4D97-AF65-F5344CB8AC3E}">
        <p14:creationId xmlns:p14="http://schemas.microsoft.com/office/powerpoint/2010/main" val="152663336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72703-AD93-5882-7A56-0A63CED1574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62B9125-1C37-BE31-7336-8C05BC710A3F}"/>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0DA5C00-72E9-2E01-5E00-CDB513C4A6F3}"/>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3F46D6F-9382-A283-2F33-DE984BC667DF}"/>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F01CCD18-3F7F-7E45-8AA0-10A59C4DE4B4}"/>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75F8E955-E17C-5704-236F-CD153145F4E8}"/>
              </a:ext>
            </a:extLst>
          </p:cNvPr>
          <p:cNvSpPr txBox="1">
            <a:spLocks/>
          </p:cNvSpPr>
          <p:nvPr/>
        </p:nvSpPr>
        <p:spPr>
          <a:xfrm>
            <a:off x="275300" y="1143000"/>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2C2EC179-F3B3-4EA1-8A3B-8FAA13245519}"/>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11" name="object 2">
            <a:extLst>
              <a:ext uri="{FF2B5EF4-FFF2-40B4-BE49-F238E27FC236}">
                <a16:creationId xmlns:a16="http://schemas.microsoft.com/office/drawing/2014/main" id="{87F7D5F7-53CF-70B1-4C20-D613442A6D49}"/>
              </a:ext>
            </a:extLst>
          </p:cNvPr>
          <p:cNvSpPr txBox="1">
            <a:spLocks/>
          </p:cNvSpPr>
          <p:nvPr/>
        </p:nvSpPr>
        <p:spPr>
          <a:xfrm>
            <a:off x="243763" y="1095844"/>
            <a:ext cx="8624937" cy="270843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2"/>
                </a:solidFill>
              </a:rPr>
              <a:t>Synchronization –</a:t>
            </a:r>
          </a:p>
          <a:p>
            <a:pPr algn="just" fontAlgn="base"/>
            <a:r>
              <a:rPr lang="en-US" sz="1700" kern="0" spc="-220" dirty="0">
                <a:solidFill>
                  <a:schemeClr val="accent2"/>
                </a:solidFill>
              </a:rPr>
              <a:t>Locking constructs –</a:t>
            </a:r>
          </a:p>
          <a:p>
            <a:pPr algn="just" fontAlgn="base"/>
            <a:r>
              <a:rPr lang="en-US" sz="1700" kern="0" spc="-220" dirty="0">
                <a:solidFill>
                  <a:schemeClr val="accent2"/>
                </a:solidFill>
              </a:rPr>
              <a:t>Key Considerations</a:t>
            </a:r>
          </a:p>
          <a:p>
            <a:pPr algn="just" fontAlgn="base"/>
            <a:r>
              <a:rPr lang="en-US" sz="1700" kern="0" spc="-220" dirty="0">
                <a:solidFill>
                  <a:schemeClr val="accent2"/>
                </a:solidFill>
              </a:rPr>
              <a:t>Lock on Dedicated Objects:</a:t>
            </a:r>
            <a:r>
              <a:rPr lang="en-US" sz="1700" kern="0" spc="-220" dirty="0">
                <a:solidFill>
                  <a:schemeClr val="accent6"/>
                </a:solidFill>
              </a:rPr>
              <a:t> Always lock on a dedicated private </a:t>
            </a:r>
            <a:r>
              <a:rPr lang="en-US" sz="1700" kern="0" spc="-220" dirty="0" err="1">
                <a:solidFill>
                  <a:schemeClr val="accent6"/>
                </a:solidFill>
              </a:rPr>
              <a:t>readonly</a:t>
            </a:r>
            <a:r>
              <a:rPr lang="en-US" sz="1700" kern="0" spc="-220" dirty="0">
                <a:solidFill>
                  <a:schemeClr val="accent6"/>
                </a:solidFill>
              </a:rPr>
              <a:t> object instance that isn't used for any other purpose and isn't publicly accessible (avoid lock(this), lock(</a:t>
            </a:r>
            <a:r>
              <a:rPr lang="en-US" sz="1700" kern="0" spc="-220" dirty="0" err="1">
                <a:solidFill>
                  <a:schemeClr val="accent6"/>
                </a:solidFill>
              </a:rPr>
              <a:t>typeof</a:t>
            </a:r>
            <a:r>
              <a:rPr lang="en-US" sz="1700" kern="0" spc="-220" dirty="0">
                <a:solidFill>
                  <a:schemeClr val="accent6"/>
                </a:solidFill>
              </a:rPr>
              <a:t>(</a:t>
            </a:r>
            <a:r>
              <a:rPr lang="en-US" sz="1700" kern="0" spc="-220" dirty="0" err="1">
                <a:solidFill>
                  <a:schemeClr val="accent6"/>
                </a:solidFill>
              </a:rPr>
              <a:t>MyType</a:t>
            </a:r>
            <a:r>
              <a:rPr lang="en-US" sz="1700" kern="0" spc="-220" dirty="0">
                <a:solidFill>
                  <a:schemeClr val="accent6"/>
                </a:solidFill>
              </a:rPr>
              <a:t>)), or lock("string")).</a:t>
            </a:r>
            <a:endParaRPr lang="en-US" sz="1700" kern="0" spc="-220" dirty="0">
              <a:solidFill>
                <a:schemeClr val="accent2"/>
              </a:solidFill>
            </a:endParaRPr>
          </a:p>
          <a:p>
            <a:pPr algn="just" fontAlgn="base"/>
            <a:r>
              <a:rPr lang="en-US" sz="1700" kern="0" spc="-220" dirty="0">
                <a:solidFill>
                  <a:schemeClr val="accent2"/>
                </a:solidFill>
              </a:rPr>
              <a:t>Exception Safety: </a:t>
            </a:r>
            <a:r>
              <a:rPr lang="en-US" sz="1700" kern="0" spc="-220" dirty="0">
                <a:solidFill>
                  <a:schemeClr val="accent6"/>
                </a:solidFill>
              </a:rPr>
              <a:t>Ensure that locks or semaphores are always released, typically by using a try...finally block (which the lock keyword handles automatically). </a:t>
            </a:r>
          </a:p>
          <a:p>
            <a:pPr algn="just" fontAlgn="base"/>
            <a:r>
              <a:rPr lang="en-US" sz="1700" kern="0" spc="-220" dirty="0">
                <a:solidFill>
                  <a:schemeClr val="accent2"/>
                </a:solidFill>
              </a:rPr>
              <a:t>Mutex vs Semaphore - </a:t>
            </a:r>
          </a:p>
          <a:p>
            <a:pPr algn="just" fontAlgn="base"/>
            <a:endParaRPr lang="en-US" sz="2000" kern="0" spc="-220" dirty="0">
              <a:solidFill>
                <a:schemeClr val="accent2"/>
              </a:solidFill>
            </a:endParaRPr>
          </a:p>
        </p:txBody>
      </p:sp>
      <p:pic>
        <p:nvPicPr>
          <p:cNvPr id="1026" name="Picture 2" descr="Diiference between Semaphores adn Mutex">
            <a:extLst>
              <a:ext uri="{FF2B5EF4-FFF2-40B4-BE49-F238E27FC236}">
                <a16:creationId xmlns:a16="http://schemas.microsoft.com/office/drawing/2014/main" id="{6034C7FB-1E8A-7A02-9307-62F8954A458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2400" y="3429001"/>
            <a:ext cx="8716300" cy="1745158"/>
          </a:xfrm>
          <a:prstGeom prst="rect">
            <a:avLst/>
          </a:prstGeom>
          <a:noFill/>
          <a:extLst>
            <a:ext uri="{909E8E84-426E-40DD-AFC4-6F175D3DCCD1}">
              <a14:hiddenFill xmlns:a14="http://schemas.microsoft.com/office/drawing/2010/main">
                <a:solidFill>
                  <a:srgbClr val="FFFFFF"/>
                </a:solidFill>
              </a14:hiddenFill>
            </a:ext>
          </a:extLst>
        </p:spPr>
      </p:pic>
      <p:sp>
        <p:nvSpPr>
          <p:cNvPr id="7" name="object 2">
            <a:extLst>
              <a:ext uri="{FF2B5EF4-FFF2-40B4-BE49-F238E27FC236}">
                <a16:creationId xmlns:a16="http://schemas.microsoft.com/office/drawing/2014/main" id="{6683EECA-7C25-5D30-2656-2B764560C76D}"/>
              </a:ext>
            </a:extLst>
          </p:cNvPr>
          <p:cNvSpPr txBox="1">
            <a:spLocks/>
          </p:cNvSpPr>
          <p:nvPr/>
        </p:nvSpPr>
        <p:spPr>
          <a:xfrm>
            <a:off x="228600" y="5174159"/>
            <a:ext cx="8839200" cy="72327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1700" kern="0" spc="-220" dirty="0">
                <a:solidFill>
                  <a:schemeClr val="accent2"/>
                </a:solidFill>
              </a:rPr>
              <a:t>Cross-Process (Named) Mutex Example(e.g. 2 apps trying to access the same file) –</a:t>
            </a:r>
          </a:p>
          <a:p>
            <a:pPr algn="just" fontAlgn="base"/>
            <a:r>
              <a:rPr lang="en-US" sz="1500" dirty="0" err="1">
                <a:hlinkClick r:id="rId8"/>
              </a:rPr>
              <a:t>.net</a:t>
            </a:r>
            <a:r>
              <a:rPr lang="en-US" sz="1500" dirty="0">
                <a:hlinkClick r:id="rId8"/>
              </a:rPr>
              <a:t> - Synchronization between two processes in C#.? - Stack Overflow</a:t>
            </a:r>
            <a:endParaRPr lang="en-US" sz="1500" dirty="0"/>
          </a:p>
          <a:p>
            <a:pPr algn="just" fontAlgn="base"/>
            <a:r>
              <a:rPr lang="en-US" sz="1500" dirty="0">
                <a:hlinkClick r:id="rId9"/>
              </a:rPr>
              <a:t>Using C# Mutexes for </a:t>
            </a:r>
            <a:r>
              <a:rPr lang="en-US" sz="1500" dirty="0" err="1">
                <a:hlinkClick r:id="rId9"/>
              </a:rPr>
              <a:t>interprocess</a:t>
            </a:r>
            <a:r>
              <a:rPr lang="en-US" sz="1500" dirty="0">
                <a:hlinkClick r:id="rId9"/>
              </a:rPr>
              <a:t> synchronization</a:t>
            </a:r>
            <a:endParaRPr lang="en-US" sz="1500" kern="0" spc="-220" dirty="0">
              <a:solidFill>
                <a:schemeClr val="accent6"/>
              </a:solidFill>
            </a:endParaRPr>
          </a:p>
        </p:txBody>
      </p:sp>
    </p:spTree>
    <p:extLst>
      <p:ext uri="{BB962C8B-B14F-4D97-AF65-F5344CB8AC3E}">
        <p14:creationId xmlns:p14="http://schemas.microsoft.com/office/powerpoint/2010/main" val="216674683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44250-6703-E611-CEC6-23560B77AEF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27F0BE5-0530-6932-7088-3136FD1F2B90}"/>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56E745B-A7CA-4803-BF20-9A284B6C0F1D}"/>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BFBE86F-05C1-BB12-6DE4-9D2E317804C3}"/>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4E9451DE-3FF1-40BC-6A46-7B683BF9FCB4}"/>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046E5792-7F4E-01D2-083E-44D0D0C959C5}"/>
              </a:ext>
            </a:extLst>
          </p:cNvPr>
          <p:cNvSpPr txBox="1">
            <a:spLocks/>
          </p:cNvSpPr>
          <p:nvPr/>
        </p:nvSpPr>
        <p:spPr>
          <a:xfrm>
            <a:off x="275300" y="1143000"/>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59FDC04D-4BA6-577B-33EE-9D3D420A1BA9}"/>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11" name="object 2">
            <a:extLst>
              <a:ext uri="{FF2B5EF4-FFF2-40B4-BE49-F238E27FC236}">
                <a16:creationId xmlns:a16="http://schemas.microsoft.com/office/drawing/2014/main" id="{5A10602D-0A7E-A0DB-53AB-8F1980481EEB}"/>
              </a:ext>
            </a:extLst>
          </p:cNvPr>
          <p:cNvSpPr txBox="1">
            <a:spLocks/>
          </p:cNvSpPr>
          <p:nvPr/>
        </p:nvSpPr>
        <p:spPr>
          <a:xfrm>
            <a:off x="320981" y="1057644"/>
            <a:ext cx="8624937" cy="130805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1700" kern="0" spc="-220" dirty="0">
                <a:solidFill>
                  <a:schemeClr val="accent2"/>
                </a:solidFill>
              </a:rPr>
              <a:t>Synchronization –</a:t>
            </a:r>
          </a:p>
          <a:p>
            <a:pPr algn="just" fontAlgn="base"/>
            <a:r>
              <a:rPr lang="en-US" sz="1700" kern="0" spc="-220" dirty="0">
                <a:solidFill>
                  <a:schemeClr val="accent2"/>
                </a:solidFill>
              </a:rPr>
              <a:t>Locking constructs –</a:t>
            </a:r>
          </a:p>
          <a:p>
            <a:pPr algn="just" fontAlgn="base"/>
            <a:r>
              <a:rPr lang="en-US" sz="1700" kern="0" spc="-220" dirty="0">
                <a:solidFill>
                  <a:schemeClr val="accent2"/>
                </a:solidFill>
              </a:rPr>
              <a:t>Semaphore</a:t>
            </a:r>
          </a:p>
          <a:p>
            <a:pPr algn="just" fontAlgn="base"/>
            <a:r>
              <a:rPr lang="en-US" sz="1700" kern="0" spc="-220" dirty="0">
                <a:solidFill>
                  <a:schemeClr val="accent6"/>
                </a:solidFill>
              </a:rPr>
              <a:t>Binary Semaphores can protect against Race condition and Dead Lock but Counting Semaphores with count &gt; 1 cannot really protect against Race </a:t>
            </a:r>
            <a:r>
              <a:rPr lang="en-US" sz="1700" kern="0" spc="-220" dirty="0" err="1">
                <a:solidFill>
                  <a:schemeClr val="accent6"/>
                </a:solidFill>
              </a:rPr>
              <a:t>Consition</a:t>
            </a:r>
            <a:r>
              <a:rPr lang="en-US" sz="1700" kern="0" spc="-220" dirty="0">
                <a:solidFill>
                  <a:schemeClr val="accent6"/>
                </a:solidFill>
              </a:rPr>
              <a:t> and Deadlocks as mentioned below -   </a:t>
            </a:r>
          </a:p>
        </p:txBody>
      </p:sp>
      <p:pic>
        <p:nvPicPr>
          <p:cNvPr id="8" name="Picture 7">
            <a:extLst>
              <a:ext uri="{FF2B5EF4-FFF2-40B4-BE49-F238E27FC236}">
                <a16:creationId xmlns:a16="http://schemas.microsoft.com/office/drawing/2014/main" id="{C8B27F98-2AC0-7BAC-9D9E-91C1A68E191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20981" y="2403894"/>
            <a:ext cx="8624937" cy="2930106"/>
          </a:xfrm>
          <a:prstGeom prst="rect">
            <a:avLst/>
          </a:prstGeom>
        </p:spPr>
      </p:pic>
      <p:pic>
        <p:nvPicPr>
          <p:cNvPr id="12" name="Picture 11">
            <a:extLst>
              <a:ext uri="{FF2B5EF4-FFF2-40B4-BE49-F238E27FC236}">
                <a16:creationId xmlns:a16="http://schemas.microsoft.com/office/drawing/2014/main" id="{18B2A556-9B08-5D96-82CA-B6570867A2D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04800" y="5189618"/>
            <a:ext cx="8487898" cy="666784"/>
          </a:xfrm>
          <a:prstGeom prst="rect">
            <a:avLst/>
          </a:prstGeom>
        </p:spPr>
      </p:pic>
    </p:spTree>
    <p:extLst>
      <p:ext uri="{BB962C8B-B14F-4D97-AF65-F5344CB8AC3E}">
        <p14:creationId xmlns:p14="http://schemas.microsoft.com/office/powerpoint/2010/main" val="156704629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E8DCB-1B64-8B01-4249-3281603419E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2E0C9ED-67F6-E1B6-E386-E47A30AAC157}"/>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A4ABF05-5205-9BB9-1704-BCD6D16022B4}"/>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8A736EF-B13A-2D83-4394-091E40E609B4}"/>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5A8451A7-1B6E-F77E-9BF2-146D334A9BDA}"/>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6E087F6D-8815-D525-346D-324BD4A5FBFA}"/>
              </a:ext>
            </a:extLst>
          </p:cNvPr>
          <p:cNvSpPr txBox="1">
            <a:spLocks/>
          </p:cNvSpPr>
          <p:nvPr/>
        </p:nvSpPr>
        <p:spPr>
          <a:xfrm>
            <a:off x="275300" y="1143000"/>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8DA7E181-CAED-FBD8-4329-0DB3A94AA729}"/>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11" name="object 2">
            <a:extLst>
              <a:ext uri="{FF2B5EF4-FFF2-40B4-BE49-F238E27FC236}">
                <a16:creationId xmlns:a16="http://schemas.microsoft.com/office/drawing/2014/main" id="{11BF7B3F-4851-B26E-2790-AFB75AE416C7}"/>
              </a:ext>
            </a:extLst>
          </p:cNvPr>
          <p:cNvSpPr txBox="1">
            <a:spLocks/>
          </p:cNvSpPr>
          <p:nvPr/>
        </p:nvSpPr>
        <p:spPr>
          <a:xfrm>
            <a:off x="320981" y="1057644"/>
            <a:ext cx="8624937" cy="510909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1700" kern="0" spc="-220" dirty="0">
                <a:solidFill>
                  <a:schemeClr val="accent2"/>
                </a:solidFill>
              </a:rPr>
              <a:t>Synchronization –</a:t>
            </a:r>
          </a:p>
          <a:p>
            <a:pPr algn="just" fontAlgn="base"/>
            <a:r>
              <a:rPr lang="en-US" sz="1700" kern="0" spc="-220" dirty="0">
                <a:solidFill>
                  <a:schemeClr val="accent2"/>
                </a:solidFill>
              </a:rPr>
              <a:t>Locking constructs –</a:t>
            </a:r>
          </a:p>
          <a:p>
            <a:pPr algn="just" fontAlgn="base"/>
            <a:r>
              <a:rPr lang="en-US" sz="1700" kern="0" spc="-220" dirty="0">
                <a:solidFill>
                  <a:schemeClr val="accent2"/>
                </a:solidFill>
              </a:rPr>
              <a:t>Reader Writer Lock</a:t>
            </a:r>
          </a:p>
          <a:p>
            <a:pPr algn="just" fontAlgn="base"/>
            <a:r>
              <a:rPr lang="en-US" sz="1700" kern="0" spc="-220" dirty="0">
                <a:solidFill>
                  <a:schemeClr val="accent6"/>
                </a:solidFill>
              </a:rPr>
              <a:t>A reader-writer (RW) lock should not be used always instead of a simple lock (lock/mutex). While RW locks allow multiple simultaneous readers, they are generally more complex, have higher overhead, and are slower than a simple, lightweight lock when there is low contention or a high frequency of writes. </a:t>
            </a:r>
          </a:p>
          <a:p>
            <a:pPr algn="just" fontAlgn="base"/>
            <a:r>
              <a:rPr lang="en-US" sz="1700" kern="0" spc="-220" dirty="0">
                <a:solidFill>
                  <a:schemeClr val="accent6"/>
                </a:solidFill>
              </a:rPr>
              <a:t>The decision to use a reader-writer lock should be based on performance metrics confirming high read contention and low write frequency. </a:t>
            </a:r>
          </a:p>
          <a:p>
            <a:pPr algn="just" fontAlgn="base"/>
            <a:r>
              <a:rPr lang="en-US" sz="1700" kern="0" spc="-220" dirty="0">
                <a:solidFill>
                  <a:schemeClr val="accent2"/>
                </a:solidFill>
              </a:rPr>
              <a:t>Why Reader-Writer Locks Should Not Be Used Everywhere</a:t>
            </a:r>
          </a:p>
          <a:p>
            <a:pPr algn="just" fontAlgn="base"/>
            <a:r>
              <a:rPr lang="en-US" sz="1700" kern="0" spc="-220" dirty="0">
                <a:solidFill>
                  <a:schemeClr val="accent2"/>
                </a:solidFill>
              </a:rPr>
              <a:t>Higher Overhead: </a:t>
            </a:r>
            <a:r>
              <a:rPr lang="en-US" sz="1700" kern="0" spc="-220" dirty="0">
                <a:solidFill>
                  <a:schemeClr val="accent6"/>
                </a:solidFill>
              </a:rPr>
              <a:t>RW locks are more complex, often requiring atomic operations or even multiple internal mutexes to manage both readers and writers, which makes taking and releasing the lock slower.</a:t>
            </a:r>
          </a:p>
          <a:p>
            <a:pPr algn="just" fontAlgn="base"/>
            <a:r>
              <a:rPr lang="en-US" sz="1700" kern="0" spc="-220" dirty="0">
                <a:solidFill>
                  <a:schemeClr val="accent2"/>
                </a:solidFill>
              </a:rPr>
              <a:t>Performance Penalty on Writes: </a:t>
            </a:r>
            <a:r>
              <a:rPr lang="en-US" sz="1700" kern="0" spc="-220" dirty="0">
                <a:solidFill>
                  <a:schemeClr val="accent6"/>
                </a:solidFill>
              </a:rPr>
              <a:t>If a resource is frequently updated (write-heavy), an RW lock will perform worse than a standard lock due to the overhead of managing the reader count.</a:t>
            </a:r>
          </a:p>
          <a:p>
            <a:pPr algn="just" fontAlgn="base"/>
            <a:r>
              <a:rPr lang="en-US" sz="1700" kern="0" spc="-220" dirty="0">
                <a:solidFill>
                  <a:schemeClr val="accent2"/>
                </a:solidFill>
              </a:rPr>
              <a:t>Writer Starvation: </a:t>
            </a:r>
            <a:r>
              <a:rPr lang="en-US" sz="1700" kern="0" spc="-220" dirty="0">
                <a:solidFill>
                  <a:schemeClr val="accent6"/>
                </a:solidFill>
              </a:rPr>
              <a:t>In read-preferring RW locks, if there is a steady stream of readers, a writer may wait indefinitely, as new readers are allowed to enter even if a writer is waiting.</a:t>
            </a:r>
          </a:p>
          <a:p>
            <a:pPr algn="just" fontAlgn="base"/>
            <a:r>
              <a:rPr lang="en-US" sz="1700" kern="0" spc="-220" dirty="0">
                <a:solidFill>
                  <a:schemeClr val="accent2"/>
                </a:solidFill>
              </a:rPr>
              <a:t>Complexity &amp; Bugs: </a:t>
            </a:r>
            <a:r>
              <a:rPr lang="en-US" sz="1700" kern="0" spc="-220" dirty="0">
                <a:solidFill>
                  <a:schemeClr val="accent6"/>
                </a:solidFill>
              </a:rPr>
              <a:t>Implementing or using them incorrectly (e.g., failing to unlock in a finally block or incorrect upgrading/downgrading of locks) can lead to deadlocks or memory leaks. </a:t>
            </a:r>
          </a:p>
        </p:txBody>
      </p:sp>
    </p:spTree>
    <p:extLst>
      <p:ext uri="{BB962C8B-B14F-4D97-AF65-F5344CB8AC3E}">
        <p14:creationId xmlns:p14="http://schemas.microsoft.com/office/powerpoint/2010/main" val="348721941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FF0AC-6D0A-51E4-6076-82055651D2E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740842A-2E74-C9FF-1989-AA3F8C1797F2}"/>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81ECD60-4270-5BB4-5D1F-A15737F41741}"/>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98FFE22-832B-F039-B966-FBB21E8D6248}"/>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91F57F09-8E28-67CC-4106-956AFE42B746}"/>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5C4BBD56-6FAB-FCDE-67EA-01F230B6E7CA}"/>
              </a:ext>
            </a:extLst>
          </p:cNvPr>
          <p:cNvSpPr txBox="1">
            <a:spLocks/>
          </p:cNvSpPr>
          <p:nvPr/>
        </p:nvSpPr>
        <p:spPr>
          <a:xfrm>
            <a:off x="275300" y="1143000"/>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6533395B-CD2F-BAF5-0A3D-811F1E7DFE5A}"/>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11" name="object 2">
            <a:extLst>
              <a:ext uri="{FF2B5EF4-FFF2-40B4-BE49-F238E27FC236}">
                <a16:creationId xmlns:a16="http://schemas.microsoft.com/office/drawing/2014/main" id="{EBFF8331-7D0C-D730-E3E7-287FCE1496F8}"/>
              </a:ext>
            </a:extLst>
          </p:cNvPr>
          <p:cNvSpPr txBox="1">
            <a:spLocks/>
          </p:cNvSpPr>
          <p:nvPr/>
        </p:nvSpPr>
        <p:spPr>
          <a:xfrm>
            <a:off x="320981" y="1057644"/>
            <a:ext cx="8624937" cy="515525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2"/>
                </a:solidFill>
              </a:rPr>
              <a:t>Synchronization –</a:t>
            </a:r>
          </a:p>
          <a:p>
            <a:pPr algn="just" fontAlgn="base"/>
            <a:r>
              <a:rPr lang="en-US" sz="2000" kern="0" spc="-220" dirty="0">
                <a:solidFill>
                  <a:schemeClr val="accent2"/>
                </a:solidFill>
              </a:rPr>
              <a:t>Locking constructs –</a:t>
            </a:r>
          </a:p>
          <a:p>
            <a:pPr algn="just" fontAlgn="base"/>
            <a:r>
              <a:rPr lang="en-US" sz="2000" kern="0" spc="-220" dirty="0">
                <a:solidFill>
                  <a:schemeClr val="accent2"/>
                </a:solidFill>
              </a:rPr>
              <a:t>Reader Writer Lock</a:t>
            </a:r>
          </a:p>
          <a:p>
            <a:pPr algn="just" fontAlgn="base"/>
            <a:r>
              <a:rPr lang="en-US" sz="1700" kern="0" spc="-220" dirty="0">
                <a:solidFill>
                  <a:schemeClr val="accent2"/>
                </a:solidFill>
              </a:rPr>
              <a:t>When to Use Each</a:t>
            </a:r>
          </a:p>
          <a:p>
            <a:pPr algn="just" fontAlgn="base"/>
            <a:r>
              <a:rPr lang="en-US" sz="1700" kern="0" spc="-220" dirty="0">
                <a:solidFill>
                  <a:schemeClr val="accent2"/>
                </a:solidFill>
              </a:rPr>
              <a:t>Scenario 	                         Recommended Lock        Reason</a:t>
            </a:r>
          </a:p>
          <a:p>
            <a:pPr algn="just" fontAlgn="base"/>
            <a:r>
              <a:rPr lang="en-US" sz="1700" kern="0" spc="-220" dirty="0">
                <a:solidFill>
                  <a:schemeClr val="accent6"/>
                </a:solidFill>
              </a:rPr>
              <a:t>Read-Mostly	  Reader-Writer Lock	         Allows many threads to read simultaneously, reducing </a:t>
            </a:r>
          </a:p>
          <a:p>
            <a:pPr algn="just" fontAlgn="base"/>
            <a:r>
              <a:rPr lang="en-US" sz="1700" kern="0" spc="-220" dirty="0">
                <a:solidFill>
                  <a:schemeClr val="accent6"/>
                </a:solidFill>
              </a:rPr>
              <a:t>                                                                                                    bottleneck.</a:t>
            </a:r>
          </a:p>
          <a:p>
            <a:pPr algn="just" fontAlgn="base"/>
            <a:r>
              <a:rPr lang="en-US" sz="1700" kern="0" spc="-220" dirty="0">
                <a:solidFill>
                  <a:schemeClr val="accent6"/>
                </a:solidFill>
              </a:rPr>
              <a:t>Write-Heavy	  Simple Lock (Mutex)	         Lower overhead than RW lock; quicker in high-write </a:t>
            </a:r>
          </a:p>
          <a:p>
            <a:pPr algn="just" fontAlgn="base"/>
            <a:r>
              <a:rPr lang="en-US" sz="1700" kern="0" spc="-220" dirty="0">
                <a:solidFill>
                  <a:schemeClr val="accent6"/>
                </a:solidFill>
              </a:rPr>
              <a:t>                                                                                                    scenarios.</a:t>
            </a:r>
          </a:p>
          <a:p>
            <a:pPr algn="just" fontAlgn="base"/>
            <a:r>
              <a:rPr lang="en-US" sz="1700" kern="0" spc="-220" dirty="0">
                <a:solidFill>
                  <a:schemeClr val="accent6"/>
                </a:solidFill>
              </a:rPr>
              <a:t>Low Contention	  Simple Lock (Mutex)	         Uncontended mutexes are very fast and lightweight.</a:t>
            </a:r>
          </a:p>
          <a:p>
            <a:pPr algn="just" fontAlgn="base"/>
            <a:r>
              <a:rPr lang="en-US" sz="1700" kern="0" spc="-220" dirty="0">
                <a:solidFill>
                  <a:schemeClr val="accent6"/>
                </a:solidFill>
              </a:rPr>
              <a:t>Short Critical Sections	  Simple Lock (Spinlock)      Very fast for short tasks; RW lock adds unnecessary </a:t>
            </a:r>
          </a:p>
          <a:p>
            <a:pPr algn="just" fontAlgn="base"/>
            <a:r>
              <a:rPr lang="en-US" sz="1700" kern="0" spc="-220" dirty="0">
                <a:solidFill>
                  <a:schemeClr val="accent6"/>
                </a:solidFill>
              </a:rPr>
              <a:t>                                                                                                    complexity.</a:t>
            </a:r>
          </a:p>
          <a:p>
            <a:pPr algn="just" fontAlgn="base"/>
            <a:r>
              <a:rPr lang="en-US" sz="1700" kern="0" spc="-220" dirty="0">
                <a:solidFill>
                  <a:schemeClr val="accent2"/>
                </a:solidFill>
              </a:rPr>
              <a:t>Summary Checklist</a:t>
            </a:r>
          </a:p>
          <a:p>
            <a:pPr algn="just" fontAlgn="base"/>
            <a:r>
              <a:rPr lang="en-US" sz="1700" kern="0" spc="-220" dirty="0">
                <a:solidFill>
                  <a:schemeClr val="accent6"/>
                </a:solidFill>
              </a:rPr>
              <a:t>Can I avoid sharing data? If yes, do that (best performance).</a:t>
            </a:r>
          </a:p>
          <a:p>
            <a:pPr algn="just" fontAlgn="base"/>
            <a:r>
              <a:rPr lang="en-US" sz="1700" kern="0" spc="-220" dirty="0">
                <a:solidFill>
                  <a:schemeClr val="accent6"/>
                </a:solidFill>
              </a:rPr>
              <a:t>Is it read-mostly (e.g., &gt;95% reads)? If yes, consider </a:t>
            </a:r>
            <a:r>
              <a:rPr lang="en-US" sz="1700" kern="0" spc="-220" dirty="0" err="1">
                <a:solidFill>
                  <a:schemeClr val="accent6"/>
                </a:solidFill>
              </a:rPr>
              <a:t>ReaderWriterLockSlim</a:t>
            </a:r>
            <a:r>
              <a:rPr lang="en-US" sz="1700" kern="0" spc="-220" dirty="0">
                <a:solidFill>
                  <a:schemeClr val="accent6"/>
                </a:solidFill>
              </a:rPr>
              <a:t> (in .NET) or </a:t>
            </a:r>
            <a:r>
              <a:rPr lang="en-US" sz="1700" kern="0" spc="-220" dirty="0" err="1">
                <a:solidFill>
                  <a:schemeClr val="accent6"/>
                </a:solidFill>
              </a:rPr>
              <a:t>RwLock</a:t>
            </a:r>
            <a:r>
              <a:rPr lang="en-US" sz="1700" kern="0" spc="-220" dirty="0">
                <a:solidFill>
                  <a:schemeClr val="accent6"/>
                </a:solidFill>
              </a:rPr>
              <a:t> (in Rust).</a:t>
            </a:r>
          </a:p>
          <a:p>
            <a:pPr algn="just" fontAlgn="base"/>
            <a:r>
              <a:rPr lang="en-US" sz="1700" kern="0" spc="-220" dirty="0">
                <a:solidFill>
                  <a:schemeClr val="accent6"/>
                </a:solidFill>
              </a:rPr>
              <a:t>Is it write-heavy or low-contention? Use a standard, simple lock (e.g., lock in C#, mutex in C++). </a:t>
            </a:r>
          </a:p>
          <a:p>
            <a:pPr algn="just" fontAlgn="base"/>
            <a:r>
              <a:rPr lang="en-US" sz="1700" kern="0" spc="-220" dirty="0">
                <a:solidFill>
                  <a:schemeClr val="accent2"/>
                </a:solidFill>
              </a:rPr>
              <a:t>Note: </a:t>
            </a:r>
            <a:r>
              <a:rPr lang="en-US" sz="1700" kern="0" spc="-220" dirty="0">
                <a:solidFill>
                  <a:schemeClr val="accent6"/>
                </a:solidFill>
              </a:rPr>
              <a:t>In modern .NET development, </a:t>
            </a:r>
            <a:r>
              <a:rPr lang="en-US" sz="1700" kern="0" spc="-220" dirty="0" err="1">
                <a:solidFill>
                  <a:schemeClr val="accent6"/>
                </a:solidFill>
              </a:rPr>
              <a:t>ReaderWriterLockSlim</a:t>
            </a:r>
            <a:r>
              <a:rPr lang="en-US" sz="1700" kern="0" spc="-220" dirty="0">
                <a:solidFill>
                  <a:schemeClr val="accent6"/>
                </a:solidFill>
              </a:rPr>
              <a:t> is generally preferred over the older </a:t>
            </a:r>
            <a:r>
              <a:rPr lang="en-US" sz="1700" kern="0" spc="-220" dirty="0" err="1">
                <a:solidFill>
                  <a:schemeClr val="accent6"/>
                </a:solidFill>
              </a:rPr>
              <a:t>ReaderWriterLock</a:t>
            </a:r>
            <a:endParaRPr lang="en-US" sz="1700" kern="0" spc="-220" dirty="0">
              <a:solidFill>
                <a:schemeClr val="accent6"/>
              </a:solidFill>
            </a:endParaRPr>
          </a:p>
          <a:p>
            <a:pPr algn="just" fontAlgn="base"/>
            <a:endParaRPr lang="en-US" sz="2000" kern="0" spc="-220" dirty="0">
              <a:solidFill>
                <a:schemeClr val="accent2"/>
              </a:solidFill>
            </a:endParaRPr>
          </a:p>
        </p:txBody>
      </p:sp>
    </p:spTree>
    <p:extLst>
      <p:ext uri="{BB962C8B-B14F-4D97-AF65-F5344CB8AC3E}">
        <p14:creationId xmlns:p14="http://schemas.microsoft.com/office/powerpoint/2010/main" val="240452732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133352957"/>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E05F6423-24A2-AC88-B228-4CA42CB8E405}"/>
              </a:ext>
            </a:extLst>
          </p:cNvPr>
          <p:cNvSpPr txBox="1">
            <a:spLocks/>
          </p:cNvSpPr>
          <p:nvPr/>
        </p:nvSpPr>
        <p:spPr>
          <a:xfrm>
            <a:off x="243763" y="1066800"/>
            <a:ext cx="8624937" cy="215443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2"/>
                </a:solidFill>
              </a:rPr>
              <a:t>Synchronization –</a:t>
            </a:r>
          </a:p>
          <a:p>
            <a:pPr algn="just" fontAlgn="base"/>
            <a:r>
              <a:rPr lang="en-US" sz="2000" kern="0" spc="-220" dirty="0">
                <a:solidFill>
                  <a:schemeClr val="accent2"/>
                </a:solidFill>
              </a:rPr>
              <a:t>Signaling Constructs - </a:t>
            </a:r>
            <a:r>
              <a:rPr lang="en-US" sz="2000" kern="0" spc="-220" dirty="0">
                <a:solidFill>
                  <a:schemeClr val="accent6"/>
                </a:solidFill>
              </a:rPr>
              <a:t>Signaling is when one thread waits until it receives notification from another. Event wait handles are the simplest of the signaling constructs and they are unrelated to C# events. </a:t>
            </a:r>
            <a:r>
              <a:rPr lang="en-US" sz="2000" kern="0" spc="-220" dirty="0">
                <a:solidFill>
                  <a:schemeClr val="accent2"/>
                </a:solidFill>
              </a:rPr>
              <a:t>Mainly needed for Thread(s) based Orchestration &amp; most Orchestrations can be implemented using FSM(Finite State Machine) Techniques.</a:t>
            </a:r>
          </a:p>
          <a:p>
            <a:pPr algn="just" fontAlgn="base"/>
            <a:endParaRPr lang="en-US" sz="2000" kern="0" spc="-220" dirty="0">
              <a:solidFill>
                <a:schemeClr val="accent6"/>
              </a:solidFill>
            </a:endParaRPr>
          </a:p>
        </p:txBody>
      </p:sp>
      <p:pic>
        <p:nvPicPr>
          <p:cNvPr id="11" name="Picture 10">
            <a:extLst>
              <a:ext uri="{FF2B5EF4-FFF2-40B4-BE49-F238E27FC236}">
                <a16:creationId xmlns:a16="http://schemas.microsoft.com/office/drawing/2014/main" id="{944E46E2-B276-4820-7C06-7441B4BB56E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12226" y="2971800"/>
            <a:ext cx="8779373" cy="2971800"/>
          </a:xfrm>
          <a:prstGeom prst="rect">
            <a:avLst/>
          </a:prstGeom>
        </p:spPr>
      </p:pic>
    </p:spTree>
    <p:extLst>
      <p:ext uri="{BB962C8B-B14F-4D97-AF65-F5344CB8AC3E}">
        <p14:creationId xmlns:p14="http://schemas.microsoft.com/office/powerpoint/2010/main" val="339853566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EF9E3-2ABB-161A-FA9D-54395AB5A29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BD1D397-0FB0-36D2-2546-E44AA038377C}"/>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D633C53-8927-8401-46CF-9D9CECB8FCBB}"/>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F7FB4D9-3FB4-0810-D492-4DEC3D03D821}"/>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64A2FA49-BAA8-A78C-4366-918961971C5A}"/>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8B23262A-BACE-90A2-2BE8-EF4F59B9709D}"/>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5D46E298-06C5-6D1E-0325-90F8C304AB34}"/>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53B55743-1B15-1BC2-5F30-6D903B9B8505}"/>
              </a:ext>
            </a:extLst>
          </p:cNvPr>
          <p:cNvSpPr txBox="1">
            <a:spLocks/>
          </p:cNvSpPr>
          <p:nvPr/>
        </p:nvSpPr>
        <p:spPr>
          <a:xfrm>
            <a:off x="243763" y="1066800"/>
            <a:ext cx="8624937" cy="238526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2"/>
                </a:solidFill>
              </a:rPr>
              <a:t>Synchronization –</a:t>
            </a:r>
          </a:p>
          <a:p>
            <a:pPr algn="just" fontAlgn="base"/>
            <a:r>
              <a:rPr lang="en-US" sz="2000" kern="0" spc="-220" dirty="0">
                <a:solidFill>
                  <a:schemeClr val="accent2"/>
                </a:solidFill>
              </a:rPr>
              <a:t>Signaling Constructs</a:t>
            </a:r>
          </a:p>
          <a:p>
            <a:pPr algn="just" fontAlgn="base"/>
            <a:r>
              <a:rPr lang="en-US" sz="2000" kern="0" spc="-220" dirty="0">
                <a:solidFill>
                  <a:schemeClr val="accent2"/>
                </a:solidFill>
              </a:rPr>
              <a:t>Manual and </a:t>
            </a:r>
            <a:r>
              <a:rPr lang="en-US" sz="2000" kern="0" spc="-220" dirty="0" err="1">
                <a:solidFill>
                  <a:schemeClr val="accent2"/>
                </a:solidFill>
              </a:rPr>
              <a:t>AutoResetEvent</a:t>
            </a:r>
            <a:r>
              <a:rPr lang="en-US" sz="2000" kern="0" spc="-220" dirty="0">
                <a:solidFill>
                  <a:schemeClr val="accent2"/>
                </a:solidFill>
              </a:rPr>
              <a:t> Code Examples</a:t>
            </a:r>
          </a:p>
          <a:p>
            <a:pPr algn="just" fontAlgn="base"/>
            <a:r>
              <a:rPr lang="en-US" sz="1500" kern="0" spc="-220" dirty="0">
                <a:solidFill>
                  <a:schemeClr val="accent6"/>
                </a:solidFill>
              </a:rPr>
              <a:t>In .NET, </a:t>
            </a:r>
            <a:r>
              <a:rPr lang="en-US" sz="1500" kern="0" spc="-220" dirty="0" err="1">
                <a:solidFill>
                  <a:schemeClr val="accent6"/>
                </a:solidFill>
              </a:rPr>
              <a:t>AutoResetEvent</a:t>
            </a:r>
            <a:r>
              <a:rPr lang="en-US" sz="1500" kern="0" spc="-220" dirty="0">
                <a:solidFill>
                  <a:schemeClr val="accent6"/>
                </a:solidFill>
              </a:rPr>
              <a:t> and </a:t>
            </a:r>
            <a:r>
              <a:rPr lang="en-US" sz="1500" kern="0" spc="-220" dirty="0" err="1">
                <a:solidFill>
                  <a:schemeClr val="accent6"/>
                </a:solidFill>
              </a:rPr>
              <a:t>ManualResetEvent</a:t>
            </a:r>
            <a:r>
              <a:rPr lang="en-US" sz="1500" kern="0" spc="-220" dirty="0">
                <a:solidFill>
                  <a:schemeClr val="accent6"/>
                </a:solidFill>
              </a:rPr>
              <a:t> are synchronization primitives used for signaling between threads. The primary difference is how they handle the "gate" after a thread is released: an </a:t>
            </a:r>
            <a:r>
              <a:rPr lang="en-US" sz="1500" kern="0" spc="-220" dirty="0" err="1">
                <a:solidFill>
                  <a:schemeClr val="accent6"/>
                </a:solidFill>
              </a:rPr>
              <a:t>AutoResetEvent</a:t>
            </a:r>
            <a:r>
              <a:rPr lang="en-US" sz="1500" kern="0" spc="-220" dirty="0">
                <a:solidFill>
                  <a:schemeClr val="accent6"/>
                </a:solidFill>
              </a:rPr>
              <a:t> closes automatically after one thread passes, while a </a:t>
            </a:r>
            <a:r>
              <a:rPr lang="en-US" sz="1500" kern="0" spc="-220" dirty="0" err="1">
                <a:solidFill>
                  <a:schemeClr val="accent6"/>
                </a:solidFill>
              </a:rPr>
              <a:t>ManualResetEvent</a:t>
            </a:r>
            <a:r>
              <a:rPr lang="en-US" sz="1500" kern="0" spc="-220" dirty="0">
                <a:solidFill>
                  <a:schemeClr val="accent6"/>
                </a:solidFill>
              </a:rPr>
              <a:t> stays open until explicitly reset. </a:t>
            </a:r>
          </a:p>
          <a:p>
            <a:pPr algn="just" fontAlgn="base"/>
            <a:r>
              <a:rPr lang="en-US" sz="2000" kern="0" spc="-220" dirty="0">
                <a:solidFill>
                  <a:schemeClr val="accent2"/>
                </a:solidFill>
              </a:rPr>
              <a:t>1. </a:t>
            </a:r>
            <a:r>
              <a:rPr lang="en-US" sz="2000" kern="0" spc="-220" dirty="0" err="1">
                <a:solidFill>
                  <a:schemeClr val="accent2"/>
                </a:solidFill>
              </a:rPr>
              <a:t>AutoResetEvent</a:t>
            </a:r>
            <a:r>
              <a:rPr lang="en-US" sz="2000" kern="0" spc="-220" dirty="0">
                <a:solidFill>
                  <a:schemeClr val="accent2"/>
                </a:solidFill>
              </a:rPr>
              <a:t> Code Sample</a:t>
            </a:r>
          </a:p>
          <a:p>
            <a:pPr algn="just" fontAlgn="base"/>
            <a:r>
              <a:rPr lang="en-US" sz="1500" kern="0" spc="-220" dirty="0">
                <a:solidFill>
                  <a:schemeClr val="accent6"/>
                </a:solidFill>
              </a:rPr>
              <a:t>This event acts like a turnstile; it allows only one thread through and then immediately resets to a non-signaled state. </a:t>
            </a:r>
          </a:p>
          <a:p>
            <a:pPr algn="just" fontAlgn="base"/>
            <a:endParaRPr lang="en-US" sz="1500" kern="0" spc="-220" dirty="0">
              <a:solidFill>
                <a:schemeClr val="accent6"/>
              </a:solidFill>
            </a:endParaRPr>
          </a:p>
        </p:txBody>
      </p:sp>
      <p:pic>
        <p:nvPicPr>
          <p:cNvPr id="12" name="Picture 11">
            <a:extLst>
              <a:ext uri="{FF2B5EF4-FFF2-40B4-BE49-F238E27FC236}">
                <a16:creationId xmlns:a16="http://schemas.microsoft.com/office/drawing/2014/main" id="{3A45F2D8-0B5F-DDA1-7ABB-23D9446DCC3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12226" y="3276600"/>
            <a:ext cx="8688011" cy="2667000"/>
          </a:xfrm>
          <a:prstGeom prst="rect">
            <a:avLst/>
          </a:prstGeom>
        </p:spPr>
      </p:pic>
    </p:spTree>
    <p:extLst>
      <p:ext uri="{BB962C8B-B14F-4D97-AF65-F5344CB8AC3E}">
        <p14:creationId xmlns:p14="http://schemas.microsoft.com/office/powerpoint/2010/main" val="3110688534"/>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BB135-DE10-6931-DA5D-7D874D93356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6B88FDC-D228-FD74-4528-5A5649346724}"/>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72E7DB7-ACE8-1A32-A6FD-C05173249A9A}"/>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AA30C0C-75C4-11EC-92FE-93B03FCCF0D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6C558656-DCA1-7EEA-4116-6D3156B3987B}"/>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7325C12F-4D40-5570-920F-7A04C68ED16F}"/>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2552BB11-87D1-158A-37C9-33E8539538D7}"/>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5796311C-7524-EDCF-20B1-426123E44BBB}"/>
              </a:ext>
            </a:extLst>
          </p:cNvPr>
          <p:cNvSpPr txBox="1">
            <a:spLocks/>
          </p:cNvSpPr>
          <p:nvPr/>
        </p:nvSpPr>
        <p:spPr>
          <a:xfrm>
            <a:off x="243763" y="1066800"/>
            <a:ext cx="8624937" cy="169277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2"/>
                </a:solidFill>
              </a:rPr>
              <a:t>Synchronization –</a:t>
            </a:r>
          </a:p>
          <a:p>
            <a:pPr algn="just" fontAlgn="base"/>
            <a:r>
              <a:rPr lang="en-US" sz="2000" kern="0" spc="-220" dirty="0">
                <a:solidFill>
                  <a:schemeClr val="accent2"/>
                </a:solidFill>
              </a:rPr>
              <a:t>Signaling Constructs</a:t>
            </a:r>
          </a:p>
          <a:p>
            <a:pPr algn="just" fontAlgn="base"/>
            <a:r>
              <a:rPr lang="en-US" sz="2000" kern="0" spc="-220" dirty="0">
                <a:solidFill>
                  <a:schemeClr val="accent2"/>
                </a:solidFill>
              </a:rPr>
              <a:t>Manual and </a:t>
            </a:r>
            <a:r>
              <a:rPr lang="en-US" sz="2000" kern="0" spc="-220" dirty="0" err="1">
                <a:solidFill>
                  <a:schemeClr val="accent2"/>
                </a:solidFill>
              </a:rPr>
              <a:t>AutoResetEvent</a:t>
            </a:r>
            <a:r>
              <a:rPr lang="en-US" sz="2000" kern="0" spc="-220" dirty="0">
                <a:solidFill>
                  <a:schemeClr val="accent2"/>
                </a:solidFill>
              </a:rPr>
              <a:t> Code Examples</a:t>
            </a:r>
          </a:p>
          <a:p>
            <a:pPr algn="just" fontAlgn="base"/>
            <a:r>
              <a:rPr lang="en-US" sz="2000" kern="0" spc="-220" dirty="0">
                <a:solidFill>
                  <a:schemeClr val="accent2"/>
                </a:solidFill>
              </a:rPr>
              <a:t>2. </a:t>
            </a:r>
            <a:r>
              <a:rPr lang="en-US" sz="2000" kern="0" spc="-220" dirty="0" err="1">
                <a:solidFill>
                  <a:schemeClr val="accent2"/>
                </a:solidFill>
              </a:rPr>
              <a:t>ManualResetEvent</a:t>
            </a:r>
            <a:r>
              <a:rPr lang="en-US" sz="2000" kern="0" spc="-220" dirty="0">
                <a:solidFill>
                  <a:schemeClr val="accent2"/>
                </a:solidFill>
              </a:rPr>
              <a:t> Code Sample</a:t>
            </a:r>
          </a:p>
          <a:p>
            <a:pPr algn="just" fontAlgn="base"/>
            <a:r>
              <a:rPr lang="en-US" sz="1500" kern="0" spc="-220" dirty="0">
                <a:solidFill>
                  <a:schemeClr val="accent6"/>
                </a:solidFill>
              </a:rPr>
              <a:t>This event acts like an open door; once signaled, it stays open, allowing all waiting threads to pass until it is manually closed using Reset(). </a:t>
            </a:r>
          </a:p>
        </p:txBody>
      </p:sp>
      <p:pic>
        <p:nvPicPr>
          <p:cNvPr id="9" name="Picture 8">
            <a:extLst>
              <a:ext uri="{FF2B5EF4-FFF2-40B4-BE49-F238E27FC236}">
                <a16:creationId xmlns:a16="http://schemas.microsoft.com/office/drawing/2014/main" id="{55A4CB3A-45F9-6FD1-4B6D-141FADF4155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75300" y="2759571"/>
            <a:ext cx="8593400" cy="3107828"/>
          </a:xfrm>
          <a:prstGeom prst="rect">
            <a:avLst/>
          </a:prstGeom>
        </p:spPr>
      </p:pic>
    </p:spTree>
    <p:extLst>
      <p:ext uri="{BB962C8B-B14F-4D97-AF65-F5344CB8AC3E}">
        <p14:creationId xmlns:p14="http://schemas.microsoft.com/office/powerpoint/2010/main" val="797035657"/>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1B314-D0DB-59E6-0D1A-F64F559722B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4EDCDB5-6010-1944-4117-132E3629CBBF}"/>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C5BB193-B993-495F-302F-56F31DA6E1DF}"/>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035DB61-1E2A-C6FD-2D95-EFFD266EB16F}"/>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E66595F7-7064-33F3-B48B-B56B2927931D}"/>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C57AA3CF-4686-C134-3524-319CC6FD00C1}"/>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CB81F047-E350-3F53-457A-CB46E202F16B}"/>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735ADAF7-6ACC-1F9F-8372-AA0B2FFA4974}"/>
              </a:ext>
            </a:extLst>
          </p:cNvPr>
          <p:cNvSpPr txBox="1">
            <a:spLocks/>
          </p:cNvSpPr>
          <p:nvPr/>
        </p:nvSpPr>
        <p:spPr>
          <a:xfrm>
            <a:off x="243763" y="1066800"/>
            <a:ext cx="8624937" cy="438581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2"/>
                </a:solidFill>
              </a:rPr>
              <a:t>Synchronization –</a:t>
            </a:r>
          </a:p>
          <a:p>
            <a:pPr algn="just" fontAlgn="base"/>
            <a:r>
              <a:rPr lang="en-US" sz="2000" kern="0" spc="-220" dirty="0">
                <a:solidFill>
                  <a:schemeClr val="accent2"/>
                </a:solidFill>
              </a:rPr>
              <a:t>Signaling Constructs</a:t>
            </a:r>
          </a:p>
          <a:p>
            <a:pPr algn="just" fontAlgn="base"/>
            <a:r>
              <a:rPr lang="en-US" sz="2000" kern="0" spc="-220" dirty="0">
                <a:solidFill>
                  <a:schemeClr val="accent2"/>
                </a:solidFill>
              </a:rPr>
              <a:t>Manual and </a:t>
            </a:r>
            <a:r>
              <a:rPr lang="en-US" sz="2000" kern="0" spc="-220" dirty="0" err="1">
                <a:solidFill>
                  <a:schemeClr val="accent2"/>
                </a:solidFill>
              </a:rPr>
              <a:t>AutoResetEvent</a:t>
            </a:r>
            <a:r>
              <a:rPr lang="en-US" sz="2000" kern="0" spc="-220" dirty="0">
                <a:solidFill>
                  <a:schemeClr val="accent2"/>
                </a:solidFill>
              </a:rPr>
              <a:t> Code Examples</a:t>
            </a:r>
          </a:p>
          <a:p>
            <a:pPr algn="just" fontAlgn="base"/>
            <a:r>
              <a:rPr lang="en-US" sz="1500" kern="0" spc="-220" dirty="0">
                <a:solidFill>
                  <a:schemeClr val="accent2"/>
                </a:solidFill>
              </a:rPr>
              <a:t>Some Salient points of the code</a:t>
            </a:r>
          </a:p>
          <a:p>
            <a:pPr algn="just" fontAlgn="base"/>
            <a:r>
              <a:rPr lang="en-US" sz="1500" kern="0" spc="-220" dirty="0" err="1">
                <a:solidFill>
                  <a:schemeClr val="accent6"/>
                </a:solidFill>
              </a:rPr>
              <a:t>AutoResetEvent</a:t>
            </a:r>
            <a:r>
              <a:rPr lang="en-US" sz="1500" kern="0" spc="-220" dirty="0">
                <a:solidFill>
                  <a:schemeClr val="accent6"/>
                </a:solidFill>
              </a:rPr>
              <a:t> - </a:t>
            </a:r>
          </a:p>
          <a:p>
            <a:pPr algn="just" fontAlgn="base"/>
            <a:r>
              <a:rPr lang="en-US" sz="1500" kern="0" spc="-220" dirty="0">
                <a:solidFill>
                  <a:schemeClr val="accent6"/>
                </a:solidFill>
              </a:rPr>
              <a:t>private static </a:t>
            </a:r>
            <a:r>
              <a:rPr lang="en-US" sz="1500" kern="0" spc="-220" dirty="0" err="1">
                <a:solidFill>
                  <a:schemeClr val="accent6"/>
                </a:solidFill>
              </a:rPr>
              <a:t>AutoResetEvent</a:t>
            </a:r>
            <a:r>
              <a:rPr lang="en-US" sz="1500" kern="0" spc="-220" dirty="0">
                <a:solidFill>
                  <a:schemeClr val="accent6"/>
                </a:solidFill>
              </a:rPr>
              <a:t> </a:t>
            </a:r>
            <a:r>
              <a:rPr lang="en-US" sz="1500" kern="0" spc="-220" dirty="0" err="1">
                <a:solidFill>
                  <a:schemeClr val="accent6"/>
                </a:solidFill>
              </a:rPr>
              <a:t>autoResetEvent</a:t>
            </a:r>
            <a:r>
              <a:rPr lang="en-US" sz="1500" kern="0" spc="-220" dirty="0">
                <a:solidFill>
                  <a:schemeClr val="accent6"/>
                </a:solidFill>
              </a:rPr>
              <a:t> = new </a:t>
            </a:r>
            <a:r>
              <a:rPr lang="en-US" sz="1500" kern="0" spc="-220" dirty="0" err="1">
                <a:solidFill>
                  <a:schemeClr val="accent6"/>
                </a:solidFill>
              </a:rPr>
              <a:t>AutoResetEvent</a:t>
            </a:r>
            <a:r>
              <a:rPr lang="en-US" sz="1500" kern="0" spc="-220" dirty="0">
                <a:solidFill>
                  <a:schemeClr val="accent6"/>
                </a:solidFill>
              </a:rPr>
              <a:t>(false); </a:t>
            </a:r>
          </a:p>
          <a:p>
            <a:pPr algn="just" fontAlgn="base"/>
            <a:r>
              <a:rPr lang="en-US" sz="1500" kern="0" spc="-220" dirty="0" err="1">
                <a:solidFill>
                  <a:schemeClr val="accent6"/>
                </a:solidFill>
              </a:rPr>
              <a:t>autoResetEvent.Set</a:t>
            </a:r>
            <a:r>
              <a:rPr lang="en-US" sz="1500" kern="0" spc="-220" dirty="0">
                <a:solidFill>
                  <a:schemeClr val="accent6"/>
                </a:solidFill>
              </a:rPr>
              <a:t>(); </a:t>
            </a:r>
          </a:p>
          <a:p>
            <a:pPr algn="just" fontAlgn="base"/>
            <a:r>
              <a:rPr lang="en-US" sz="1500" kern="0" spc="-220" dirty="0">
                <a:solidFill>
                  <a:schemeClr val="accent6"/>
                </a:solidFill>
              </a:rPr>
              <a:t>// - Signal one thread at a time to proceed &amp; so needs to be there in loop if multiple threads needs to be </a:t>
            </a:r>
            <a:r>
              <a:rPr lang="en-US" sz="1500" kern="0" spc="-220" dirty="0" err="1">
                <a:solidFill>
                  <a:schemeClr val="accent6"/>
                </a:solidFill>
              </a:rPr>
              <a:t>set.Code</a:t>
            </a:r>
            <a:r>
              <a:rPr lang="en-US" sz="1500" kern="0" spc="-220" dirty="0">
                <a:solidFill>
                  <a:schemeClr val="accent6"/>
                </a:solidFill>
              </a:rPr>
              <a:t> written in the main thread </a:t>
            </a:r>
          </a:p>
          <a:p>
            <a:pPr algn="just" fontAlgn="base"/>
            <a:r>
              <a:rPr lang="en-US" sz="1500" kern="0" spc="-220" dirty="0" err="1">
                <a:solidFill>
                  <a:schemeClr val="accent6"/>
                </a:solidFill>
              </a:rPr>
              <a:t>autoResetEvent.WaitOne</a:t>
            </a:r>
            <a:r>
              <a:rPr lang="en-US" sz="1500" kern="0" spc="-220" dirty="0">
                <a:solidFill>
                  <a:schemeClr val="accent6"/>
                </a:solidFill>
              </a:rPr>
              <a:t>(); </a:t>
            </a:r>
          </a:p>
          <a:p>
            <a:pPr algn="just" fontAlgn="base"/>
            <a:r>
              <a:rPr lang="en-US" sz="1500" kern="0" spc="-220" dirty="0">
                <a:solidFill>
                  <a:schemeClr val="accent6"/>
                </a:solidFill>
              </a:rPr>
              <a:t>// Blocks until signal is received and automatically </a:t>
            </a:r>
            <a:r>
              <a:rPr lang="en-US" sz="1500" kern="0" spc="-220" dirty="0" err="1">
                <a:solidFill>
                  <a:schemeClr val="accent6"/>
                </a:solidFill>
              </a:rPr>
              <a:t>consumed.Code</a:t>
            </a:r>
            <a:r>
              <a:rPr lang="en-US" sz="1500" kern="0" spc="-220" dirty="0">
                <a:solidFill>
                  <a:schemeClr val="accent6"/>
                </a:solidFill>
              </a:rPr>
              <a:t> written in worker thread </a:t>
            </a:r>
          </a:p>
          <a:p>
            <a:pPr algn="just" fontAlgn="base"/>
            <a:r>
              <a:rPr lang="en-US" sz="1500" kern="0" spc="-220" dirty="0" err="1">
                <a:solidFill>
                  <a:schemeClr val="accent6"/>
                </a:solidFill>
              </a:rPr>
              <a:t>ManualResetEvent</a:t>
            </a:r>
            <a:r>
              <a:rPr lang="en-US" sz="1500" kern="0" spc="-220" dirty="0">
                <a:solidFill>
                  <a:schemeClr val="accent6"/>
                </a:solidFill>
              </a:rPr>
              <a:t> - </a:t>
            </a:r>
          </a:p>
          <a:p>
            <a:pPr algn="just" fontAlgn="base"/>
            <a:r>
              <a:rPr lang="en-US" sz="1500" kern="0" spc="-220" dirty="0">
                <a:solidFill>
                  <a:schemeClr val="accent6"/>
                </a:solidFill>
              </a:rPr>
              <a:t>_</a:t>
            </a:r>
            <a:r>
              <a:rPr lang="en-US" sz="1500" kern="0" spc="-220" dirty="0" err="1">
                <a:solidFill>
                  <a:schemeClr val="accent6"/>
                </a:solidFill>
              </a:rPr>
              <a:t>manualResetEvent.Set</a:t>
            </a:r>
            <a:r>
              <a:rPr lang="en-US" sz="1500" kern="0" spc="-220" dirty="0">
                <a:solidFill>
                  <a:schemeClr val="accent6"/>
                </a:solidFill>
              </a:rPr>
              <a:t>(); </a:t>
            </a:r>
          </a:p>
          <a:p>
            <a:pPr algn="just" fontAlgn="base"/>
            <a:r>
              <a:rPr lang="en-US" sz="1500" kern="0" spc="-220" dirty="0">
                <a:solidFill>
                  <a:schemeClr val="accent6"/>
                </a:solidFill>
              </a:rPr>
              <a:t>// Signal all waiting threads to </a:t>
            </a:r>
            <a:r>
              <a:rPr lang="en-US" sz="1500" kern="0" spc="-220" dirty="0" err="1">
                <a:solidFill>
                  <a:schemeClr val="accent6"/>
                </a:solidFill>
              </a:rPr>
              <a:t>proceed.Code</a:t>
            </a:r>
            <a:r>
              <a:rPr lang="en-US" sz="1500" kern="0" spc="-220" dirty="0">
                <a:solidFill>
                  <a:schemeClr val="accent6"/>
                </a:solidFill>
              </a:rPr>
              <a:t> written in main thread </a:t>
            </a:r>
          </a:p>
          <a:p>
            <a:pPr algn="just" fontAlgn="base"/>
            <a:r>
              <a:rPr lang="en-US" sz="1500" kern="0" spc="-220" dirty="0">
                <a:solidFill>
                  <a:schemeClr val="accent6"/>
                </a:solidFill>
              </a:rPr>
              <a:t>_</a:t>
            </a:r>
            <a:r>
              <a:rPr lang="en-US" sz="1500" kern="0" spc="-220" dirty="0" err="1">
                <a:solidFill>
                  <a:schemeClr val="accent6"/>
                </a:solidFill>
              </a:rPr>
              <a:t>manualResetEvent.WaitOne</a:t>
            </a:r>
            <a:r>
              <a:rPr lang="en-US" sz="1500" kern="0" spc="-220" dirty="0">
                <a:solidFill>
                  <a:schemeClr val="accent6"/>
                </a:solidFill>
              </a:rPr>
              <a:t>(); </a:t>
            </a:r>
          </a:p>
          <a:p>
            <a:pPr algn="just" fontAlgn="base"/>
            <a:r>
              <a:rPr lang="en-US" sz="1500" kern="0" spc="-220" dirty="0">
                <a:solidFill>
                  <a:schemeClr val="accent6"/>
                </a:solidFill>
              </a:rPr>
              <a:t>// Block until the </a:t>
            </a:r>
            <a:r>
              <a:rPr lang="en-US" sz="1500" kern="0" spc="-220" dirty="0" err="1">
                <a:solidFill>
                  <a:schemeClr val="accent6"/>
                </a:solidFill>
              </a:rPr>
              <a:t>ManualResetEvent</a:t>
            </a:r>
            <a:r>
              <a:rPr lang="en-US" sz="1500" kern="0" spc="-220" dirty="0">
                <a:solidFill>
                  <a:schemeClr val="accent6"/>
                </a:solidFill>
              </a:rPr>
              <a:t> is in the signaled </a:t>
            </a:r>
            <a:r>
              <a:rPr lang="en-US" sz="1500" kern="0" spc="-220" dirty="0" err="1">
                <a:solidFill>
                  <a:schemeClr val="accent6"/>
                </a:solidFill>
              </a:rPr>
              <a:t>state.Code</a:t>
            </a:r>
            <a:r>
              <a:rPr lang="en-US" sz="1500" kern="0" spc="-220" dirty="0">
                <a:solidFill>
                  <a:schemeClr val="accent6"/>
                </a:solidFill>
              </a:rPr>
              <a:t> written in worker thread </a:t>
            </a:r>
          </a:p>
          <a:p>
            <a:pPr algn="just" fontAlgn="base"/>
            <a:r>
              <a:rPr lang="en-US" sz="1500" kern="0" spc="-220" dirty="0">
                <a:solidFill>
                  <a:schemeClr val="accent6"/>
                </a:solidFill>
              </a:rPr>
              <a:t>_</a:t>
            </a:r>
            <a:r>
              <a:rPr lang="en-US" sz="1500" kern="0" spc="-220" dirty="0" err="1">
                <a:solidFill>
                  <a:schemeClr val="accent6"/>
                </a:solidFill>
              </a:rPr>
              <a:t>manualResetEvent.Reset</a:t>
            </a:r>
            <a:r>
              <a:rPr lang="en-US" sz="1500" kern="0" spc="-220" dirty="0">
                <a:solidFill>
                  <a:schemeClr val="accent6"/>
                </a:solidFill>
              </a:rPr>
              <a:t>(); </a:t>
            </a:r>
          </a:p>
          <a:p>
            <a:pPr algn="just" fontAlgn="base"/>
            <a:r>
              <a:rPr lang="en-US" sz="1500" kern="0" spc="-220" dirty="0">
                <a:solidFill>
                  <a:schemeClr val="accent6"/>
                </a:solidFill>
              </a:rPr>
              <a:t>- // Reset the event to block future threads - In Main thread</a:t>
            </a:r>
          </a:p>
        </p:txBody>
      </p:sp>
    </p:spTree>
    <p:extLst>
      <p:ext uri="{BB962C8B-B14F-4D97-AF65-F5344CB8AC3E}">
        <p14:creationId xmlns:p14="http://schemas.microsoft.com/office/powerpoint/2010/main" val="419150677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B8377-7FFC-7F8A-D98F-76E6ECCAD4B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DE744AC-8717-49B0-EF22-DD1010D9626D}"/>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7DA7F5E-DEC8-7268-64BF-C92B6F09207E}"/>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91A73A1-8CBF-734F-B0FB-61BCB2FBBD08}"/>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EC9385BB-6B90-DB8A-6D6F-3CF958FB2065}"/>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3070DDAB-77E9-8B32-04E3-F725BC8FFF0B}"/>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11452D88-F1F6-6693-3709-CAB395256855}"/>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2FD8310D-7392-C25C-8049-9AEBE050FBEA}"/>
              </a:ext>
            </a:extLst>
          </p:cNvPr>
          <p:cNvSpPr txBox="1">
            <a:spLocks/>
          </p:cNvSpPr>
          <p:nvPr/>
        </p:nvSpPr>
        <p:spPr>
          <a:xfrm>
            <a:off x="243763" y="1066800"/>
            <a:ext cx="8624937" cy="92333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2"/>
                </a:solidFill>
              </a:rPr>
              <a:t>Synchronization –</a:t>
            </a:r>
          </a:p>
          <a:p>
            <a:pPr algn="just" fontAlgn="base"/>
            <a:r>
              <a:rPr lang="en-US" sz="2000" kern="0" spc="-220" dirty="0">
                <a:solidFill>
                  <a:schemeClr val="accent2"/>
                </a:solidFill>
              </a:rPr>
              <a:t>Signaling Constructs</a:t>
            </a:r>
          </a:p>
          <a:p>
            <a:pPr algn="just" fontAlgn="base"/>
            <a:r>
              <a:rPr lang="en-US" sz="2000" kern="0" spc="-220" dirty="0">
                <a:solidFill>
                  <a:schemeClr val="accent2"/>
                </a:solidFill>
              </a:rPr>
              <a:t>Manual and </a:t>
            </a:r>
            <a:r>
              <a:rPr lang="en-US" sz="2000" kern="0" spc="-220" dirty="0" err="1">
                <a:solidFill>
                  <a:schemeClr val="accent2"/>
                </a:solidFill>
              </a:rPr>
              <a:t>AutoResetEvent</a:t>
            </a:r>
            <a:r>
              <a:rPr lang="en-US" sz="2000" kern="0" spc="-220" dirty="0">
                <a:solidFill>
                  <a:schemeClr val="accent2"/>
                </a:solidFill>
              </a:rPr>
              <a:t> Code Examples</a:t>
            </a:r>
          </a:p>
        </p:txBody>
      </p:sp>
      <p:pic>
        <p:nvPicPr>
          <p:cNvPr id="9" name="Picture 8">
            <a:extLst>
              <a:ext uri="{FF2B5EF4-FFF2-40B4-BE49-F238E27FC236}">
                <a16:creationId xmlns:a16="http://schemas.microsoft.com/office/drawing/2014/main" id="{A3C7462F-2374-B656-2EC7-14797231231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3764" y="1981200"/>
            <a:ext cx="8900236" cy="2971800"/>
          </a:xfrm>
          <a:prstGeom prst="rect">
            <a:avLst/>
          </a:prstGeom>
        </p:spPr>
      </p:pic>
      <p:sp>
        <p:nvSpPr>
          <p:cNvPr id="11" name="object 2">
            <a:extLst>
              <a:ext uri="{FF2B5EF4-FFF2-40B4-BE49-F238E27FC236}">
                <a16:creationId xmlns:a16="http://schemas.microsoft.com/office/drawing/2014/main" id="{C4144856-9E3F-61A9-D882-7B792C337F65}"/>
              </a:ext>
            </a:extLst>
          </p:cNvPr>
          <p:cNvSpPr txBox="1">
            <a:spLocks/>
          </p:cNvSpPr>
          <p:nvPr/>
        </p:nvSpPr>
        <p:spPr>
          <a:xfrm>
            <a:off x="243762" y="4961709"/>
            <a:ext cx="8624937" cy="98488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600" kern="0" spc="-220" dirty="0">
                <a:solidFill>
                  <a:schemeClr val="accent6"/>
                </a:solidFill>
              </a:rPr>
              <a:t>For high-performance scenarios where wait times are short, consider </a:t>
            </a:r>
            <a:r>
              <a:rPr lang="en-US" sz="1600" kern="0" spc="-220" dirty="0" err="1">
                <a:solidFill>
                  <a:schemeClr val="accent6"/>
                </a:solidFill>
              </a:rPr>
              <a:t>ManualResetEventSlim</a:t>
            </a:r>
            <a:r>
              <a:rPr lang="en-US" sz="1600" kern="0" spc="-220" dirty="0">
                <a:solidFill>
                  <a:schemeClr val="accent6"/>
                </a:solidFill>
              </a:rPr>
              <a:t>, which uses busy spinning to reduce overhead..</a:t>
            </a:r>
            <a:r>
              <a:rPr lang="en-US" sz="1600" kern="0" spc="-220" dirty="0" err="1">
                <a:solidFill>
                  <a:schemeClr val="accent6"/>
                </a:solidFill>
              </a:rPr>
              <a:t>AutoResetEventSlim</a:t>
            </a:r>
            <a:r>
              <a:rPr lang="en-US" sz="1600" kern="0" spc="-220" dirty="0">
                <a:solidFill>
                  <a:schemeClr val="accent6"/>
                </a:solidFill>
              </a:rPr>
              <a:t> can be implemented using </a:t>
            </a:r>
            <a:r>
              <a:rPr lang="en-US" sz="1600" kern="0" spc="-220" dirty="0" err="1">
                <a:solidFill>
                  <a:schemeClr val="accent6"/>
                </a:solidFill>
              </a:rPr>
              <a:t>SemaphoreSlim</a:t>
            </a:r>
            <a:r>
              <a:rPr lang="en-US" sz="1600" kern="0" spc="-220" dirty="0">
                <a:solidFill>
                  <a:schemeClr val="accent6"/>
                </a:solidFill>
              </a:rPr>
              <a:t> and busy spinning techniques for short wait </a:t>
            </a:r>
            <a:r>
              <a:rPr lang="en-US" sz="1600" kern="0" spc="-220" dirty="0" err="1">
                <a:solidFill>
                  <a:schemeClr val="accent6"/>
                </a:solidFill>
              </a:rPr>
              <a:t>times.Check</a:t>
            </a:r>
            <a:r>
              <a:rPr lang="en-US" sz="1600" kern="0" spc="-220" dirty="0">
                <a:solidFill>
                  <a:schemeClr val="accent6"/>
                </a:solidFill>
              </a:rPr>
              <a:t> </a:t>
            </a:r>
            <a:r>
              <a:rPr lang="en-US" sz="1600" kern="0" spc="-220" dirty="0" err="1">
                <a:solidFill>
                  <a:schemeClr val="accent6"/>
                </a:solidFill>
              </a:rPr>
              <a:t>AsyncManualResetEvent</a:t>
            </a:r>
            <a:r>
              <a:rPr lang="en-US" sz="1600" kern="0" spc="-220" dirty="0">
                <a:solidFill>
                  <a:schemeClr val="accent6"/>
                </a:solidFill>
              </a:rPr>
              <a:t> and </a:t>
            </a:r>
            <a:r>
              <a:rPr lang="en-US" sz="1600" kern="0" spc="-220" dirty="0" err="1">
                <a:solidFill>
                  <a:schemeClr val="accent6"/>
                </a:solidFill>
              </a:rPr>
              <a:t>AsyncAutoResetEvent</a:t>
            </a:r>
            <a:r>
              <a:rPr lang="en-US" sz="1600" kern="0" spc="-220" dirty="0">
                <a:solidFill>
                  <a:schemeClr val="accent6"/>
                </a:solidFill>
              </a:rPr>
              <a:t> for modern Task  based asynchronous programming.</a:t>
            </a:r>
          </a:p>
        </p:txBody>
      </p:sp>
    </p:spTree>
    <p:extLst>
      <p:ext uri="{BB962C8B-B14F-4D97-AF65-F5344CB8AC3E}">
        <p14:creationId xmlns:p14="http://schemas.microsoft.com/office/powerpoint/2010/main" val="263229769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BC742-62AE-2384-144D-52E047844C8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9A0A0D7-3425-A134-6E36-36C9717256FC}"/>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D21FB66-56E8-43CF-A09F-0E85CB1EB4E4}"/>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C8B95A6-F450-094E-D27D-9A20DEAA9D5E}"/>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B3E0288D-B7AF-1B82-0046-92ED12E9A63A}"/>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88F5985A-FCAC-FCEB-D27C-F5631812399E}"/>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566AAFDB-1FA1-D000-E3FB-53CB14C6C8EB}"/>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FC065A29-92EC-6329-4ACE-E39F44A7D65C}"/>
              </a:ext>
            </a:extLst>
          </p:cNvPr>
          <p:cNvSpPr txBox="1">
            <a:spLocks/>
          </p:cNvSpPr>
          <p:nvPr/>
        </p:nvSpPr>
        <p:spPr>
          <a:xfrm>
            <a:off x="243763" y="1174552"/>
            <a:ext cx="8624937" cy="92333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2"/>
                </a:solidFill>
              </a:rPr>
              <a:t>Synchronization –</a:t>
            </a:r>
          </a:p>
          <a:p>
            <a:pPr algn="just" fontAlgn="base"/>
            <a:r>
              <a:rPr lang="en-US" sz="2000" kern="0" spc="-220" dirty="0">
                <a:solidFill>
                  <a:schemeClr val="accent2"/>
                </a:solidFill>
              </a:rPr>
              <a:t>Signaling Constructs</a:t>
            </a:r>
          </a:p>
          <a:p>
            <a:pPr algn="just" fontAlgn="base"/>
            <a:r>
              <a:rPr lang="en-US" sz="2000" kern="0" spc="-220" dirty="0" err="1">
                <a:solidFill>
                  <a:schemeClr val="accent2"/>
                </a:solidFill>
              </a:rPr>
              <a:t>CountDownEvent</a:t>
            </a:r>
            <a:r>
              <a:rPr lang="en-US" sz="2000" kern="0" spc="-220" dirty="0">
                <a:solidFill>
                  <a:schemeClr val="accent2"/>
                </a:solidFill>
              </a:rPr>
              <a:t> vs Barrier vs Wait/Pulse</a:t>
            </a:r>
          </a:p>
        </p:txBody>
      </p:sp>
      <p:pic>
        <p:nvPicPr>
          <p:cNvPr id="11" name="Picture 10">
            <a:extLst>
              <a:ext uri="{FF2B5EF4-FFF2-40B4-BE49-F238E27FC236}">
                <a16:creationId xmlns:a16="http://schemas.microsoft.com/office/drawing/2014/main" id="{7979187E-F65D-0195-002C-F040EEE2A28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2400" y="2097882"/>
            <a:ext cx="8915400" cy="3769518"/>
          </a:xfrm>
          <a:prstGeom prst="rect">
            <a:avLst/>
          </a:prstGeom>
        </p:spPr>
      </p:pic>
    </p:spTree>
    <p:extLst>
      <p:ext uri="{BB962C8B-B14F-4D97-AF65-F5344CB8AC3E}">
        <p14:creationId xmlns:p14="http://schemas.microsoft.com/office/powerpoint/2010/main" val="402023860"/>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09C51-8C40-C0F6-7588-57F267FB8CD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B0AB23F-BEFE-8921-6AB8-6CCEE2A0FF82}"/>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ECD5EF8-A6E2-22FF-70F9-CF37153D1145}"/>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305C521-B799-ED6B-3176-F1F0E2E353B1}"/>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231062DE-0EFB-7ECF-137C-AA2530A82572}"/>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08C9B663-448A-F18B-1411-E4AA262D451E}"/>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2813F23-5529-A8C3-1AE9-A9F81736A545}"/>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7EDD2FC8-2870-4BF1-1698-A53F79143553}"/>
              </a:ext>
            </a:extLst>
          </p:cNvPr>
          <p:cNvSpPr txBox="1">
            <a:spLocks/>
          </p:cNvSpPr>
          <p:nvPr/>
        </p:nvSpPr>
        <p:spPr>
          <a:xfrm>
            <a:off x="243763" y="1174552"/>
            <a:ext cx="8624937" cy="138499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2"/>
                </a:solidFill>
              </a:rPr>
              <a:t>Synchronization –</a:t>
            </a:r>
          </a:p>
          <a:p>
            <a:pPr algn="just" fontAlgn="base"/>
            <a:r>
              <a:rPr lang="en-US" sz="2000" kern="0" spc="-220" dirty="0">
                <a:solidFill>
                  <a:schemeClr val="accent2"/>
                </a:solidFill>
              </a:rPr>
              <a:t>Signaling Constructs</a:t>
            </a:r>
          </a:p>
          <a:p>
            <a:pPr algn="just" fontAlgn="base"/>
            <a:r>
              <a:rPr lang="en-US" sz="2000" kern="0" spc="-220" dirty="0">
                <a:solidFill>
                  <a:schemeClr val="accent2"/>
                </a:solidFill>
              </a:rPr>
              <a:t>Barrier Code Sample</a:t>
            </a:r>
          </a:p>
          <a:p>
            <a:pPr algn="just" fontAlgn="base"/>
            <a:r>
              <a:rPr lang="en-US" sz="1500" kern="0" spc="-220" dirty="0">
                <a:solidFill>
                  <a:schemeClr val="accent6"/>
                </a:solidFill>
              </a:rPr>
              <a:t>The C# Barrier class is a synchronization primitive used to coordinate multiple threads that cooperate in a multi-phase operation, ensuring all participants reach a certain point before any can proceed to the next phase. </a:t>
            </a:r>
          </a:p>
        </p:txBody>
      </p:sp>
      <p:pic>
        <p:nvPicPr>
          <p:cNvPr id="9" name="Picture 8">
            <a:extLst>
              <a:ext uri="{FF2B5EF4-FFF2-40B4-BE49-F238E27FC236}">
                <a16:creationId xmlns:a16="http://schemas.microsoft.com/office/drawing/2014/main" id="{2C609C74-D116-023C-AAF6-6651BCD43E1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2629835"/>
            <a:ext cx="9144000" cy="3313765"/>
          </a:xfrm>
          <a:prstGeom prst="rect">
            <a:avLst/>
          </a:prstGeom>
        </p:spPr>
      </p:pic>
    </p:spTree>
    <p:extLst>
      <p:ext uri="{BB962C8B-B14F-4D97-AF65-F5344CB8AC3E}">
        <p14:creationId xmlns:p14="http://schemas.microsoft.com/office/powerpoint/2010/main" val="3238078680"/>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BC332-9F80-2D2E-6C98-DA3C3A9E321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C785952-3529-53BB-ABC1-C0DF9001DF02}"/>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E52A8B8-0F7D-F8C0-3ABB-175585819EC9}"/>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3F48244-22C2-6D32-148C-4D8B5752027A}"/>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E8A189B1-C07D-4057-7567-F68ECE5679B8}"/>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37C9A290-BB79-6478-B1FC-8CB3A57D68E6}"/>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BD2A998D-CD48-A8F9-DF4E-F6D84725D145}"/>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B2948EFE-2582-B511-EE3D-9DC52444F6BC}"/>
              </a:ext>
            </a:extLst>
          </p:cNvPr>
          <p:cNvSpPr txBox="1">
            <a:spLocks/>
          </p:cNvSpPr>
          <p:nvPr/>
        </p:nvSpPr>
        <p:spPr>
          <a:xfrm>
            <a:off x="243763" y="1174552"/>
            <a:ext cx="8624937" cy="92333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2"/>
                </a:solidFill>
              </a:rPr>
              <a:t>Synchronization –</a:t>
            </a:r>
          </a:p>
          <a:p>
            <a:pPr algn="just" fontAlgn="base"/>
            <a:r>
              <a:rPr lang="en-US" sz="2000" kern="0" spc="-220" dirty="0">
                <a:solidFill>
                  <a:schemeClr val="accent2"/>
                </a:solidFill>
              </a:rPr>
              <a:t>Signaling Constructs</a:t>
            </a:r>
          </a:p>
          <a:p>
            <a:pPr algn="just" fontAlgn="base"/>
            <a:r>
              <a:rPr lang="en-US" sz="2000" kern="0" spc="-220" dirty="0">
                <a:solidFill>
                  <a:schemeClr val="accent2"/>
                </a:solidFill>
              </a:rPr>
              <a:t>Barrier Code Sample</a:t>
            </a:r>
          </a:p>
        </p:txBody>
      </p:sp>
      <p:pic>
        <p:nvPicPr>
          <p:cNvPr id="11" name="Picture 10">
            <a:extLst>
              <a:ext uri="{FF2B5EF4-FFF2-40B4-BE49-F238E27FC236}">
                <a16:creationId xmlns:a16="http://schemas.microsoft.com/office/drawing/2014/main" id="{8C986108-2DB4-0C10-9809-F42477B8A21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12226" y="2110740"/>
            <a:ext cx="8688011" cy="3832860"/>
          </a:xfrm>
          <a:prstGeom prst="rect">
            <a:avLst/>
          </a:prstGeom>
        </p:spPr>
      </p:pic>
    </p:spTree>
    <p:extLst>
      <p:ext uri="{BB962C8B-B14F-4D97-AF65-F5344CB8AC3E}">
        <p14:creationId xmlns:p14="http://schemas.microsoft.com/office/powerpoint/2010/main" val="2250552871"/>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64678-5E9F-D076-E372-E7610F7C4FF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5168474-EA2C-1EF1-2F05-3AD89B8E62CE}"/>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D6F07D1-D552-3B2E-1EB3-3F38649F3ADA}"/>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7C6D2CD-7F7D-9253-110A-2542760A8B2B}"/>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866FA1A2-9B0C-31BE-2C7E-E99524234311}"/>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27252FEF-401C-4974-91D6-FBB2AC1CAFC1}"/>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6F1B9A20-88D9-2B81-C41B-06E46007452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BCEB0DEE-123A-40A7-43D0-6F6B0E8B5438}"/>
              </a:ext>
            </a:extLst>
          </p:cNvPr>
          <p:cNvSpPr txBox="1">
            <a:spLocks/>
          </p:cNvSpPr>
          <p:nvPr/>
        </p:nvSpPr>
        <p:spPr>
          <a:xfrm>
            <a:off x="243763" y="1174552"/>
            <a:ext cx="8624937"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2"/>
                </a:solidFill>
              </a:rPr>
              <a:t>Synchronization –</a:t>
            </a:r>
          </a:p>
          <a:p>
            <a:pPr algn="just" fontAlgn="base"/>
            <a:r>
              <a:rPr lang="en-US" sz="2000" dirty="0">
                <a:solidFill>
                  <a:schemeClr val="accent2"/>
                </a:solidFill>
                <a:latin typeface="Google Sans"/>
                <a:ea typeface="+mn-ea"/>
                <a:cs typeface="+mn-cs"/>
              </a:rPr>
              <a:t>Join vs Barrier vs </a:t>
            </a:r>
            <a:r>
              <a:rPr lang="en-US" sz="2000" dirty="0" err="1">
                <a:solidFill>
                  <a:schemeClr val="accent2"/>
                </a:solidFill>
                <a:latin typeface="Google Sans"/>
                <a:ea typeface="+mn-ea"/>
                <a:cs typeface="+mn-cs"/>
              </a:rPr>
              <a:t>Task.WhenAll</a:t>
            </a:r>
            <a:endParaRPr lang="en-US" sz="2000" dirty="0">
              <a:solidFill>
                <a:schemeClr val="accent2"/>
              </a:solidFill>
              <a:latin typeface="Google Sans"/>
              <a:ea typeface="+mn-ea"/>
              <a:cs typeface="+mn-cs"/>
            </a:endParaRPr>
          </a:p>
        </p:txBody>
      </p:sp>
      <p:pic>
        <p:nvPicPr>
          <p:cNvPr id="9" name="Picture 8">
            <a:extLst>
              <a:ext uri="{FF2B5EF4-FFF2-40B4-BE49-F238E27FC236}">
                <a16:creationId xmlns:a16="http://schemas.microsoft.com/office/drawing/2014/main" id="{74189151-E9B3-1202-6EF3-8625E3441CC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2400" y="1868813"/>
            <a:ext cx="8839200" cy="4074787"/>
          </a:xfrm>
          <a:prstGeom prst="rect">
            <a:avLst/>
          </a:prstGeom>
        </p:spPr>
      </p:pic>
    </p:spTree>
    <p:extLst>
      <p:ext uri="{BB962C8B-B14F-4D97-AF65-F5344CB8AC3E}">
        <p14:creationId xmlns:p14="http://schemas.microsoft.com/office/powerpoint/2010/main" val="387045371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E9909-A399-7E7A-A1AF-9EECF164878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6C8CC14-DEDD-2BFB-D0EE-EE0C307D92B3}"/>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9492EBF-1198-3D43-0E97-16988A56D7C8}"/>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D54E317-4051-046D-8834-370852CD31D7}"/>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04006CC0-E5CA-9814-6C79-1FCC3EE41E8E}"/>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7E7F7D5D-722B-AB3F-7864-A2A4093F795B}"/>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79C918F1-8005-A74E-70C5-6D766BC1724C}"/>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A26AA0F0-372C-ADE3-62C5-8FB0AECFA2B5}"/>
              </a:ext>
            </a:extLst>
          </p:cNvPr>
          <p:cNvSpPr txBox="1">
            <a:spLocks/>
          </p:cNvSpPr>
          <p:nvPr/>
        </p:nvSpPr>
        <p:spPr>
          <a:xfrm>
            <a:off x="243763" y="1174552"/>
            <a:ext cx="8624937"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2"/>
                </a:solidFill>
              </a:rPr>
              <a:t>Synchronization –</a:t>
            </a:r>
          </a:p>
          <a:p>
            <a:pPr algn="just" fontAlgn="base"/>
            <a:r>
              <a:rPr lang="en-US" sz="2000" dirty="0">
                <a:solidFill>
                  <a:schemeClr val="accent2"/>
                </a:solidFill>
                <a:latin typeface="Google Sans"/>
                <a:ea typeface="+mn-ea"/>
                <a:cs typeface="+mn-cs"/>
              </a:rPr>
              <a:t>Join vs Barrier vs </a:t>
            </a:r>
            <a:r>
              <a:rPr lang="en-US" sz="2000" dirty="0" err="1">
                <a:solidFill>
                  <a:schemeClr val="accent2"/>
                </a:solidFill>
                <a:latin typeface="Google Sans"/>
                <a:ea typeface="+mn-ea"/>
                <a:cs typeface="+mn-cs"/>
              </a:rPr>
              <a:t>Task.WhenAll</a:t>
            </a:r>
            <a:endParaRPr lang="en-US" sz="2000" dirty="0">
              <a:solidFill>
                <a:schemeClr val="accent2"/>
              </a:solidFill>
              <a:latin typeface="Google Sans"/>
              <a:ea typeface="+mn-ea"/>
              <a:cs typeface="+mn-cs"/>
            </a:endParaRPr>
          </a:p>
        </p:txBody>
      </p:sp>
      <p:pic>
        <p:nvPicPr>
          <p:cNvPr id="11" name="Picture 10">
            <a:extLst>
              <a:ext uri="{FF2B5EF4-FFF2-40B4-BE49-F238E27FC236}">
                <a16:creationId xmlns:a16="http://schemas.microsoft.com/office/drawing/2014/main" id="{1FC83A53-0840-1B5B-B9F3-BD0B54DD078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34582" y="1782748"/>
            <a:ext cx="8909418" cy="327992"/>
          </a:xfrm>
          <a:prstGeom prst="rect">
            <a:avLst/>
          </a:prstGeom>
        </p:spPr>
      </p:pic>
      <p:pic>
        <p:nvPicPr>
          <p:cNvPr id="13" name="Picture 12">
            <a:extLst>
              <a:ext uri="{FF2B5EF4-FFF2-40B4-BE49-F238E27FC236}">
                <a16:creationId xmlns:a16="http://schemas.microsoft.com/office/drawing/2014/main" id="{F8633EAE-9EE8-2B72-971E-1A374587B20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75300" y="2186606"/>
            <a:ext cx="8909417" cy="3680794"/>
          </a:xfrm>
          <a:prstGeom prst="rect">
            <a:avLst/>
          </a:prstGeom>
        </p:spPr>
      </p:pic>
    </p:spTree>
    <p:extLst>
      <p:ext uri="{BB962C8B-B14F-4D97-AF65-F5344CB8AC3E}">
        <p14:creationId xmlns:p14="http://schemas.microsoft.com/office/powerpoint/2010/main" val="3967625678"/>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D8576-BF5E-14DC-A6BC-7A71B3EE141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3F8EB68-EF33-C534-19A3-89226927F050}"/>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6402480-5874-A6C2-B6BA-B70C104A3D2A}"/>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ED7897D-40DF-302B-CBE8-B1D3500CA766}"/>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331C88E8-6900-92F0-44DD-B33B267478F0}"/>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29713F1E-72D1-2880-206C-77C2F7777B8A}"/>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A331076D-B9CF-0407-19CD-D8DAE6F7DBDF}"/>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A7145CDB-A07A-795B-4C8F-ACC1CD2FF749}"/>
              </a:ext>
            </a:extLst>
          </p:cNvPr>
          <p:cNvSpPr txBox="1">
            <a:spLocks/>
          </p:cNvSpPr>
          <p:nvPr/>
        </p:nvSpPr>
        <p:spPr>
          <a:xfrm>
            <a:off x="243763" y="1174552"/>
            <a:ext cx="8624937"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2"/>
                </a:solidFill>
              </a:rPr>
              <a:t>Synchronization –</a:t>
            </a:r>
          </a:p>
          <a:p>
            <a:pPr algn="just" fontAlgn="base"/>
            <a:r>
              <a:rPr lang="en-US" sz="2000" dirty="0">
                <a:solidFill>
                  <a:schemeClr val="accent2"/>
                </a:solidFill>
                <a:latin typeface="Google Sans"/>
                <a:ea typeface="+mn-ea"/>
                <a:cs typeface="+mn-cs"/>
              </a:rPr>
              <a:t>Join vs Barrier vs </a:t>
            </a:r>
            <a:r>
              <a:rPr lang="en-US" sz="2000" dirty="0" err="1">
                <a:solidFill>
                  <a:schemeClr val="accent2"/>
                </a:solidFill>
                <a:latin typeface="Google Sans"/>
                <a:ea typeface="+mn-ea"/>
                <a:cs typeface="+mn-cs"/>
              </a:rPr>
              <a:t>Task.WhenAll</a:t>
            </a:r>
            <a:endParaRPr lang="en-US" sz="2000" dirty="0">
              <a:solidFill>
                <a:schemeClr val="accent2"/>
              </a:solidFill>
              <a:latin typeface="Google Sans"/>
              <a:ea typeface="+mn-ea"/>
              <a:cs typeface="+mn-cs"/>
            </a:endParaRPr>
          </a:p>
        </p:txBody>
      </p:sp>
      <p:pic>
        <p:nvPicPr>
          <p:cNvPr id="11" name="Picture 10">
            <a:extLst>
              <a:ext uri="{FF2B5EF4-FFF2-40B4-BE49-F238E27FC236}">
                <a16:creationId xmlns:a16="http://schemas.microsoft.com/office/drawing/2014/main" id="{ACC63826-5D9B-1956-F524-39A4DA9AC10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34582" y="1782748"/>
            <a:ext cx="8909418" cy="327992"/>
          </a:xfrm>
          <a:prstGeom prst="rect">
            <a:avLst/>
          </a:prstGeom>
        </p:spPr>
      </p:pic>
      <p:pic>
        <p:nvPicPr>
          <p:cNvPr id="9" name="Picture 8">
            <a:extLst>
              <a:ext uri="{FF2B5EF4-FFF2-40B4-BE49-F238E27FC236}">
                <a16:creationId xmlns:a16="http://schemas.microsoft.com/office/drawing/2014/main" id="{8ABD389C-03A6-17BD-1A34-EE8DD5A2392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75300" y="2008385"/>
            <a:ext cx="8868700" cy="1268215"/>
          </a:xfrm>
          <a:prstGeom prst="rect">
            <a:avLst/>
          </a:prstGeom>
        </p:spPr>
      </p:pic>
      <p:sp>
        <p:nvSpPr>
          <p:cNvPr id="12" name="object 2">
            <a:extLst>
              <a:ext uri="{FF2B5EF4-FFF2-40B4-BE49-F238E27FC236}">
                <a16:creationId xmlns:a16="http://schemas.microsoft.com/office/drawing/2014/main" id="{7908AA2C-87D8-2DCC-02A4-4C54B9B0BD50}"/>
              </a:ext>
            </a:extLst>
          </p:cNvPr>
          <p:cNvSpPr txBox="1">
            <a:spLocks/>
          </p:cNvSpPr>
          <p:nvPr/>
        </p:nvSpPr>
        <p:spPr>
          <a:xfrm>
            <a:off x="256020" y="3460098"/>
            <a:ext cx="8624937" cy="252376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kern="0" spc="-220" dirty="0">
                <a:solidFill>
                  <a:schemeClr val="accent2"/>
                </a:solidFill>
              </a:rPr>
              <a:t>Summary of Use Cases</a:t>
            </a:r>
          </a:p>
          <a:p>
            <a:r>
              <a:rPr lang="en-US" sz="1800" kern="0" spc="-220" dirty="0">
                <a:solidFill>
                  <a:schemeClr val="accent2"/>
                </a:solidFill>
              </a:rPr>
              <a:t>Use </a:t>
            </a:r>
            <a:r>
              <a:rPr lang="en-US" sz="1800" kern="0" spc="-220" dirty="0" err="1">
                <a:solidFill>
                  <a:schemeClr val="accent2"/>
                </a:solidFill>
              </a:rPr>
              <a:t>Thread.Join</a:t>
            </a:r>
            <a:r>
              <a:rPr lang="en-US" sz="1800" kern="0" spc="-220" dirty="0">
                <a:solidFill>
                  <a:schemeClr val="accent2"/>
                </a:solidFill>
              </a:rPr>
              <a:t> </a:t>
            </a:r>
            <a:r>
              <a:rPr lang="en-US" sz="1800" kern="0" spc="-220" dirty="0">
                <a:solidFill>
                  <a:schemeClr val="accent6"/>
                </a:solidFill>
              </a:rPr>
              <a:t>when you have an explicitly created Thread and the calling thread absolutely must stop and wait for that specific thread to terminate its entire operation before continuing.</a:t>
            </a:r>
          </a:p>
          <a:p>
            <a:r>
              <a:rPr lang="en-US" sz="1800" kern="0" spc="-220" dirty="0">
                <a:solidFill>
                  <a:schemeClr val="accent2"/>
                </a:solidFill>
              </a:rPr>
              <a:t>Use a </a:t>
            </a:r>
            <a:r>
              <a:rPr lang="en-US" sz="1800" kern="0" spc="-220" dirty="0" err="1">
                <a:solidFill>
                  <a:schemeClr val="accent2"/>
                </a:solidFill>
              </a:rPr>
              <a:t>System.Threading.Barrier</a:t>
            </a:r>
            <a:r>
              <a:rPr lang="en-US" sz="1800" kern="0" spc="-220" dirty="0">
                <a:solidFill>
                  <a:schemeClr val="accent6"/>
                </a:solidFill>
              </a:rPr>
              <a:t> when you have a set of threads repeatedly working in parallel on phases of an algorithm (e.g., in a loop) and they all need to synchronize at a specific point ("barrier") before starting the next phase.</a:t>
            </a:r>
          </a:p>
          <a:p>
            <a:r>
              <a:rPr lang="en-US" sz="1800" kern="0" spc="-220" dirty="0">
                <a:solidFill>
                  <a:schemeClr val="accent2"/>
                </a:solidFill>
              </a:rPr>
              <a:t>Use </a:t>
            </a:r>
            <a:r>
              <a:rPr lang="en-US" sz="1800" kern="0" spc="-220" dirty="0" err="1">
                <a:solidFill>
                  <a:schemeClr val="accent2"/>
                </a:solidFill>
              </a:rPr>
              <a:t>Task.WhenAll</a:t>
            </a:r>
            <a:r>
              <a:rPr lang="en-US" sz="1800" kern="0" spc="-220" dirty="0">
                <a:solidFill>
                  <a:schemeClr val="accent2"/>
                </a:solidFill>
              </a:rPr>
              <a:t> </a:t>
            </a:r>
            <a:r>
              <a:rPr lang="en-US" sz="1800" kern="0" spc="-220" dirty="0">
                <a:solidFill>
                  <a:schemeClr val="accent6"/>
                </a:solidFill>
              </a:rPr>
              <a:t>in modern asynchronous programming to efficiently manage multiple independent operations (both CPU-bound with </a:t>
            </a:r>
            <a:r>
              <a:rPr lang="en-US" sz="1800" kern="0" spc="-220" dirty="0" err="1">
                <a:solidFill>
                  <a:schemeClr val="accent6"/>
                </a:solidFill>
              </a:rPr>
              <a:t>Task.Run</a:t>
            </a:r>
            <a:r>
              <a:rPr lang="en-US" sz="1800" kern="0" spc="-220" dirty="0">
                <a:solidFill>
                  <a:schemeClr val="accent6"/>
                </a:solidFill>
              </a:rPr>
              <a:t> and I/O-bound with async/await) without blocking threads, allowing for responsive applications. </a:t>
            </a:r>
          </a:p>
        </p:txBody>
      </p:sp>
    </p:spTree>
    <p:extLst>
      <p:ext uri="{BB962C8B-B14F-4D97-AF65-F5344CB8AC3E}">
        <p14:creationId xmlns:p14="http://schemas.microsoft.com/office/powerpoint/2010/main" val="3144714133"/>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A7B07-FF9A-6905-F9F2-B02A1715931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96F88AC-5DB2-B88C-639A-1E5FE46C55F4}"/>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61DE5A5-602F-3B5E-B268-6EBB7624DE1F}"/>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D022070-E3B5-7D6E-7A20-C6DC39C4296A}"/>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92951D87-FFDC-C479-B11D-BF7D903B8652}"/>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D3FCF61A-E0D6-11E5-2835-4689BC7CFAAD}"/>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7DC455B2-40D7-51A0-D6C0-766F7064B6F0}"/>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388544C7-BA05-A53B-CC46-F1A80B787992}"/>
              </a:ext>
            </a:extLst>
          </p:cNvPr>
          <p:cNvSpPr txBox="1">
            <a:spLocks/>
          </p:cNvSpPr>
          <p:nvPr/>
        </p:nvSpPr>
        <p:spPr>
          <a:xfrm>
            <a:off x="243763" y="1174552"/>
            <a:ext cx="8624937"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2"/>
                </a:solidFill>
              </a:rPr>
              <a:t>Synchronization –</a:t>
            </a:r>
          </a:p>
          <a:p>
            <a:pPr algn="just" fontAlgn="base"/>
            <a:r>
              <a:rPr lang="en-US" sz="2000" kern="0" spc="-220" dirty="0">
                <a:solidFill>
                  <a:schemeClr val="accent2"/>
                </a:solidFill>
              </a:rPr>
              <a:t>Volatile</a:t>
            </a:r>
          </a:p>
        </p:txBody>
      </p:sp>
      <p:pic>
        <p:nvPicPr>
          <p:cNvPr id="9" name="Picture 8">
            <a:extLst>
              <a:ext uri="{FF2B5EF4-FFF2-40B4-BE49-F238E27FC236}">
                <a16:creationId xmlns:a16="http://schemas.microsoft.com/office/drawing/2014/main" id="{C1F0D138-309E-C326-E89A-A5190016A46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3764" y="1801529"/>
            <a:ext cx="8624936" cy="2160872"/>
          </a:xfrm>
          <a:prstGeom prst="rect">
            <a:avLst/>
          </a:prstGeom>
        </p:spPr>
      </p:pic>
      <p:pic>
        <p:nvPicPr>
          <p:cNvPr id="13" name="Picture 12">
            <a:extLst>
              <a:ext uri="{FF2B5EF4-FFF2-40B4-BE49-F238E27FC236}">
                <a16:creationId xmlns:a16="http://schemas.microsoft.com/office/drawing/2014/main" id="{DDECD302-1065-00A2-3E06-87CF76AE33A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75300" y="3973825"/>
            <a:ext cx="8259100" cy="1893575"/>
          </a:xfrm>
          <a:prstGeom prst="rect">
            <a:avLst/>
          </a:prstGeom>
        </p:spPr>
      </p:pic>
    </p:spTree>
    <p:extLst>
      <p:ext uri="{BB962C8B-B14F-4D97-AF65-F5344CB8AC3E}">
        <p14:creationId xmlns:p14="http://schemas.microsoft.com/office/powerpoint/2010/main" val="1919635217"/>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4026206761"/>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E05F6423-24A2-AC88-B228-4CA42CB8E405}"/>
              </a:ext>
            </a:extLst>
          </p:cNvPr>
          <p:cNvSpPr txBox="1">
            <a:spLocks/>
          </p:cNvSpPr>
          <p:nvPr/>
        </p:nvSpPr>
        <p:spPr>
          <a:xfrm>
            <a:off x="228523" y="1001228"/>
            <a:ext cx="8624937" cy="472437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2"/>
                </a:solidFill>
              </a:rPr>
              <a:t>Synchronization –</a:t>
            </a:r>
          </a:p>
          <a:p>
            <a:pPr algn="just" fontAlgn="base"/>
            <a:r>
              <a:rPr lang="en-US" sz="2000" kern="0" spc="-220" dirty="0">
                <a:solidFill>
                  <a:schemeClr val="accent2"/>
                </a:solidFill>
              </a:rPr>
              <a:t>Producer Consumer Constructs (</a:t>
            </a:r>
            <a:r>
              <a:rPr lang="en-US" sz="2000" kern="0" spc="-220" dirty="0" err="1">
                <a:solidFill>
                  <a:schemeClr val="accent2"/>
                </a:solidFill>
              </a:rPr>
              <a:t>BlockingCollection</a:t>
            </a:r>
            <a:r>
              <a:rPr lang="en-US" sz="2000" kern="0" spc="-220" dirty="0">
                <a:solidFill>
                  <a:schemeClr val="accent2"/>
                </a:solidFill>
              </a:rPr>
              <a:t> and Channels)</a:t>
            </a:r>
          </a:p>
          <a:p>
            <a:pPr algn="just" fontAlgn="base"/>
            <a:r>
              <a:rPr lang="en-US" sz="1800" kern="0" spc="-220" dirty="0" err="1">
                <a:solidFill>
                  <a:schemeClr val="accent6"/>
                </a:solidFill>
              </a:rPr>
              <a:t>BlockingCollection</a:t>
            </a:r>
            <a:r>
              <a:rPr lang="en-US" sz="1800" kern="0" spc="-220" dirty="0">
                <a:solidFill>
                  <a:schemeClr val="accent6"/>
                </a:solidFill>
              </a:rPr>
              <a:t> (C# TPL) offers built-in bounded queues, thread-safe blocking for producer/consumer sync, simpler buffer management, and clear completion signals but lacks native persistence/batching/advanced monitoring; whereas Channels (like in Go/Kotlin) provide flexible async streams with more explicit backpressure, simpler synchronization (channels are often unbuffered or have direct signaling), fine-grained buffer control (buffered/unbuffered), require custom logic for persistence/batching, and offer rich monitoring via context/middleware, making Channels better for modern stream processing and </a:t>
            </a:r>
            <a:r>
              <a:rPr lang="en-US" sz="1800" kern="0" spc="-220" dirty="0" err="1">
                <a:solidFill>
                  <a:schemeClr val="accent6"/>
                </a:solidFill>
              </a:rPr>
              <a:t>BlockingCollection</a:t>
            </a:r>
            <a:r>
              <a:rPr lang="en-US" sz="1800" kern="0" spc="-220" dirty="0">
                <a:solidFill>
                  <a:schemeClr val="accent6"/>
                </a:solidFill>
              </a:rPr>
              <a:t> ideal for classic bounded-buffer producer-consumer tasks. </a:t>
            </a:r>
          </a:p>
          <a:p>
            <a:pPr algn="just" fontAlgn="base"/>
            <a:r>
              <a:rPr lang="en-US" sz="1800" kern="0" spc="-220" dirty="0">
                <a:solidFill>
                  <a:schemeClr val="accent2"/>
                </a:solidFill>
              </a:rPr>
              <a:t>       Channels(Important  tasks to keep in mind)</a:t>
            </a:r>
          </a:p>
          <a:p>
            <a:pPr algn="just" fontAlgn="base"/>
            <a:r>
              <a:rPr lang="en-US" sz="1800" kern="0" spc="-220" dirty="0">
                <a:solidFill>
                  <a:schemeClr val="accent2"/>
                </a:solidFill>
              </a:rPr>
              <a:t>✔️Creating channels:  </a:t>
            </a:r>
            <a:r>
              <a:rPr lang="en-US" sz="1800" kern="0" spc="-220" dirty="0" err="1">
                <a:solidFill>
                  <a:schemeClr val="accent6"/>
                </a:solidFill>
              </a:rPr>
              <a:t>Channel.CreateUnbounded</a:t>
            </a:r>
            <a:r>
              <a:rPr lang="en-US" sz="1800" kern="0" spc="-220" dirty="0">
                <a:solidFill>
                  <a:schemeClr val="accent6"/>
                </a:solidFill>
              </a:rPr>
              <a:t>&lt;T&gt;(), </a:t>
            </a:r>
            <a:r>
              <a:rPr lang="en-US" sz="1800" kern="0" spc="-220" dirty="0" err="1">
                <a:solidFill>
                  <a:schemeClr val="accent6"/>
                </a:solidFill>
              </a:rPr>
              <a:t>Channel.CreateBounded</a:t>
            </a:r>
            <a:r>
              <a:rPr lang="en-US" sz="1800" kern="0" spc="-220" dirty="0">
                <a:solidFill>
                  <a:schemeClr val="accent6"/>
                </a:solidFill>
              </a:rPr>
              <a:t>&lt;T&gt;()</a:t>
            </a:r>
          </a:p>
          <a:p>
            <a:pPr algn="just" fontAlgn="base"/>
            <a:r>
              <a:rPr lang="en-US" sz="1800" kern="0" spc="-220" dirty="0">
                <a:solidFill>
                  <a:schemeClr val="accent2"/>
                </a:solidFill>
              </a:rPr>
              <a:t>✔️ Writing/reading: </a:t>
            </a:r>
            <a:r>
              <a:rPr lang="en-US" sz="1800" kern="0" spc="-220" dirty="0">
                <a:solidFill>
                  <a:schemeClr val="accent6"/>
                </a:solidFill>
              </a:rPr>
              <a:t> </a:t>
            </a:r>
            <a:r>
              <a:rPr lang="en-US" sz="1800" kern="0" spc="-220" dirty="0" err="1">
                <a:solidFill>
                  <a:schemeClr val="accent6"/>
                </a:solidFill>
              </a:rPr>
              <a:t>WriteAsync</a:t>
            </a:r>
            <a:r>
              <a:rPr lang="en-US" sz="1800" kern="0" spc="-220" dirty="0">
                <a:solidFill>
                  <a:schemeClr val="accent6"/>
                </a:solidFill>
              </a:rPr>
              <a:t>, </a:t>
            </a:r>
            <a:r>
              <a:rPr lang="en-US" sz="1800" kern="0" spc="-220" dirty="0" err="1">
                <a:solidFill>
                  <a:schemeClr val="accent6"/>
                </a:solidFill>
              </a:rPr>
              <a:t>ReadAllAsync</a:t>
            </a:r>
            <a:r>
              <a:rPr lang="en-US" sz="1800" kern="0" spc="-220" dirty="0">
                <a:solidFill>
                  <a:schemeClr val="accent6"/>
                </a:solidFill>
              </a:rPr>
              <a:t>, </a:t>
            </a:r>
            <a:r>
              <a:rPr lang="en-US" sz="1800" kern="0" spc="-220" dirty="0" err="1">
                <a:solidFill>
                  <a:schemeClr val="accent6"/>
                </a:solidFill>
              </a:rPr>
              <a:t>TryWrite</a:t>
            </a:r>
            <a:r>
              <a:rPr lang="en-US" sz="1800" kern="0" spc="-220" dirty="0">
                <a:solidFill>
                  <a:schemeClr val="accent6"/>
                </a:solidFill>
              </a:rPr>
              <a:t>, </a:t>
            </a:r>
            <a:r>
              <a:rPr lang="en-US" sz="1800" kern="0" spc="-220" dirty="0" err="1">
                <a:solidFill>
                  <a:schemeClr val="accent6"/>
                </a:solidFill>
              </a:rPr>
              <a:t>WaitToReadAsync</a:t>
            </a:r>
            <a:endParaRPr lang="en-US" sz="1800" kern="0" spc="-220" dirty="0">
              <a:solidFill>
                <a:schemeClr val="accent6"/>
              </a:solidFill>
            </a:endParaRPr>
          </a:p>
          <a:p>
            <a:pPr algn="just" fontAlgn="base"/>
            <a:r>
              <a:rPr lang="en-US" sz="1800" kern="0" spc="-220" dirty="0">
                <a:solidFill>
                  <a:schemeClr val="accent6"/>
                </a:solidFill>
              </a:rPr>
              <a:t>✔️ Capacity control &amp; backpressure strategies</a:t>
            </a:r>
          </a:p>
          <a:p>
            <a:pPr algn="just" fontAlgn="base"/>
            <a:r>
              <a:rPr lang="en-US" sz="1800" kern="0" spc="-220" dirty="0">
                <a:solidFill>
                  <a:schemeClr val="accent6"/>
                </a:solidFill>
              </a:rPr>
              <a:t>✔️ Cancellation and lifetime management in long-running tasks</a:t>
            </a:r>
          </a:p>
          <a:p>
            <a:pPr algn="just" fontAlgn="base"/>
            <a:r>
              <a:rPr lang="en-US" sz="1800" kern="0" spc="-220" dirty="0">
                <a:solidFill>
                  <a:schemeClr val="accent6"/>
                </a:solidFill>
              </a:rPr>
              <a:t>✔️ Integration in background services (e.g., background  worker services)</a:t>
            </a:r>
          </a:p>
          <a:p>
            <a:pPr algn="just" fontAlgn="base"/>
            <a:r>
              <a:rPr lang="en-US" sz="1500" kern="0" spc="-220" dirty="0">
                <a:solidFill>
                  <a:schemeClr val="accent6"/>
                </a:solidFill>
              </a:rPr>
              <a:t>        </a:t>
            </a:r>
            <a:endParaRPr lang="en-US" sz="1500" dirty="0"/>
          </a:p>
        </p:txBody>
      </p:sp>
    </p:spTree>
    <p:extLst>
      <p:ext uri="{BB962C8B-B14F-4D97-AF65-F5344CB8AC3E}">
        <p14:creationId xmlns:p14="http://schemas.microsoft.com/office/powerpoint/2010/main" val="1399390775"/>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53EB1-D61B-AABD-9F06-AD2CE6FEBF0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793DCA2-B1E0-00EF-8761-D467FAE0C033}"/>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FE097B7-B30C-5D4A-66CA-EED49F1C2BC7}"/>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A70B209-AD6E-6E32-FBBC-7E2DAD9597E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C5052B3C-F0E4-020D-58ED-675BA3A7E0F4}"/>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C8F547F-A2BB-1592-EDFC-525B8FD952F1}"/>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E71FDE86-2FB4-9C5B-3516-EACDA41CD482}"/>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227F9D5F-27EE-7DBB-CBCC-055D68D8BDA8}"/>
              </a:ext>
            </a:extLst>
          </p:cNvPr>
          <p:cNvSpPr txBox="1">
            <a:spLocks/>
          </p:cNvSpPr>
          <p:nvPr/>
        </p:nvSpPr>
        <p:spPr>
          <a:xfrm>
            <a:off x="228523" y="1001228"/>
            <a:ext cx="8624937" cy="45397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2"/>
                </a:solidFill>
              </a:rPr>
              <a:t>Synchronization –</a:t>
            </a:r>
          </a:p>
          <a:p>
            <a:pPr algn="just" fontAlgn="base"/>
            <a:r>
              <a:rPr lang="en-US" sz="2000" kern="0" spc="-220" dirty="0">
                <a:solidFill>
                  <a:schemeClr val="accent2"/>
                </a:solidFill>
              </a:rPr>
              <a:t>Producer Consumer Constructs (</a:t>
            </a:r>
            <a:r>
              <a:rPr lang="en-US" sz="2000" kern="0" spc="-220" dirty="0" err="1">
                <a:solidFill>
                  <a:schemeClr val="accent2"/>
                </a:solidFill>
              </a:rPr>
              <a:t>BlockingCollection</a:t>
            </a:r>
            <a:r>
              <a:rPr lang="en-US" sz="2000" kern="0" spc="-220" dirty="0">
                <a:solidFill>
                  <a:schemeClr val="accent2"/>
                </a:solidFill>
              </a:rPr>
              <a:t> and Channels)</a:t>
            </a:r>
          </a:p>
          <a:p>
            <a:pPr algn="just" fontAlgn="base"/>
            <a:r>
              <a:rPr lang="en-US" sz="1500" kern="0" spc="-220" dirty="0">
                <a:solidFill>
                  <a:schemeClr val="accent6"/>
                </a:solidFill>
              </a:rPr>
              <a:t>        </a:t>
            </a:r>
          </a:p>
          <a:p>
            <a:pPr algn="just" fontAlgn="base"/>
            <a:r>
              <a:rPr lang="en-US" sz="1500" kern="0" spc="-220" dirty="0">
                <a:solidFill>
                  <a:schemeClr val="accent6"/>
                </a:solidFill>
              </a:rPr>
              <a:t>        </a:t>
            </a:r>
          </a:p>
          <a:p>
            <a:pPr algn="just" fontAlgn="base"/>
            <a:endParaRPr lang="en-US" sz="1500" kern="0" spc="-220" dirty="0">
              <a:solidFill>
                <a:schemeClr val="accent2"/>
              </a:solidFill>
            </a:endParaRPr>
          </a:p>
          <a:p>
            <a:pPr algn="just" fontAlgn="base"/>
            <a:endParaRPr lang="en-US" sz="1500" kern="0" spc="-220" dirty="0">
              <a:solidFill>
                <a:schemeClr val="accent2"/>
              </a:solidFill>
            </a:endParaRPr>
          </a:p>
          <a:p>
            <a:pPr algn="just" fontAlgn="base"/>
            <a:endParaRPr lang="en-US" sz="1500" kern="0" spc="-220" dirty="0">
              <a:solidFill>
                <a:schemeClr val="accent2"/>
              </a:solidFill>
            </a:endParaRPr>
          </a:p>
          <a:p>
            <a:pPr algn="just" fontAlgn="base"/>
            <a:endParaRPr lang="en-US" sz="1500" kern="0" spc="-220" dirty="0">
              <a:solidFill>
                <a:schemeClr val="accent2"/>
              </a:solidFill>
            </a:endParaRPr>
          </a:p>
          <a:p>
            <a:pPr algn="just" fontAlgn="base"/>
            <a:endParaRPr lang="en-US" sz="1500" kern="0" spc="-220" dirty="0">
              <a:solidFill>
                <a:schemeClr val="accent2"/>
              </a:solidFill>
            </a:endParaRPr>
          </a:p>
          <a:p>
            <a:pPr algn="just" fontAlgn="base"/>
            <a:endParaRPr lang="en-US" sz="1500" kern="0" spc="-220" dirty="0">
              <a:solidFill>
                <a:schemeClr val="accent2"/>
              </a:solidFill>
            </a:endParaRPr>
          </a:p>
          <a:p>
            <a:pPr algn="just" fontAlgn="base"/>
            <a:endParaRPr lang="en-US" sz="1500" kern="0" spc="-220" dirty="0">
              <a:solidFill>
                <a:schemeClr val="accent2"/>
              </a:solidFill>
            </a:endParaRPr>
          </a:p>
          <a:p>
            <a:pPr algn="just" fontAlgn="base"/>
            <a:endParaRPr lang="en-US" sz="1500" kern="0" spc="-220" dirty="0">
              <a:solidFill>
                <a:schemeClr val="accent2"/>
              </a:solidFill>
            </a:endParaRPr>
          </a:p>
          <a:p>
            <a:pPr algn="just" fontAlgn="base"/>
            <a:endParaRPr lang="en-US" sz="1500" kern="0" spc="-220" dirty="0">
              <a:solidFill>
                <a:schemeClr val="accent2"/>
              </a:solidFill>
            </a:endParaRPr>
          </a:p>
          <a:p>
            <a:pPr algn="just" fontAlgn="base"/>
            <a:endParaRPr lang="en-US" sz="1500" kern="0" spc="-220" dirty="0">
              <a:solidFill>
                <a:schemeClr val="accent2"/>
              </a:solidFill>
            </a:endParaRPr>
          </a:p>
          <a:p>
            <a:pPr algn="just" fontAlgn="base"/>
            <a:endParaRPr lang="en-US" sz="1500" kern="0" spc="-220" dirty="0">
              <a:solidFill>
                <a:schemeClr val="accent2"/>
              </a:solidFill>
            </a:endParaRPr>
          </a:p>
          <a:p>
            <a:pPr algn="just" fontAlgn="base"/>
            <a:endParaRPr lang="en-US" sz="1500" kern="0" spc="-220" dirty="0">
              <a:solidFill>
                <a:schemeClr val="accent2"/>
              </a:solidFill>
            </a:endParaRPr>
          </a:p>
          <a:p>
            <a:pPr algn="just" fontAlgn="base"/>
            <a:endParaRPr lang="en-US" sz="1500" kern="0" spc="-220" dirty="0">
              <a:solidFill>
                <a:schemeClr val="accent2"/>
              </a:solidFill>
            </a:endParaRPr>
          </a:p>
          <a:p>
            <a:pPr algn="just" fontAlgn="base"/>
            <a:endParaRPr lang="en-US" sz="1500" kern="0" spc="-220" dirty="0">
              <a:solidFill>
                <a:schemeClr val="accent2"/>
              </a:solidFill>
            </a:endParaRPr>
          </a:p>
          <a:p>
            <a:pPr algn="just" fontAlgn="base"/>
            <a:endParaRPr lang="en-US" sz="1500" kern="0" spc="-220" dirty="0">
              <a:solidFill>
                <a:schemeClr val="accent2"/>
              </a:solidFill>
            </a:endParaRPr>
          </a:p>
        </p:txBody>
      </p:sp>
      <p:pic>
        <p:nvPicPr>
          <p:cNvPr id="9" name="Picture 8">
            <a:extLst>
              <a:ext uri="{FF2B5EF4-FFF2-40B4-BE49-F238E27FC236}">
                <a16:creationId xmlns:a16="http://schemas.microsoft.com/office/drawing/2014/main" id="{AFE0FD33-3EF2-D894-6154-211D8BD7E4D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3764" y="1665004"/>
            <a:ext cx="8747836" cy="2071916"/>
          </a:xfrm>
          <a:prstGeom prst="rect">
            <a:avLst/>
          </a:prstGeom>
        </p:spPr>
      </p:pic>
      <p:pic>
        <p:nvPicPr>
          <p:cNvPr id="12" name="Picture 11">
            <a:extLst>
              <a:ext uri="{FF2B5EF4-FFF2-40B4-BE49-F238E27FC236}">
                <a16:creationId xmlns:a16="http://schemas.microsoft.com/office/drawing/2014/main" id="{A1667B85-688F-D69B-8072-D4F2EC9495B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04800" y="3790859"/>
            <a:ext cx="8382000" cy="2152741"/>
          </a:xfrm>
          <a:prstGeom prst="rect">
            <a:avLst/>
          </a:prstGeom>
        </p:spPr>
      </p:pic>
    </p:spTree>
    <p:extLst>
      <p:ext uri="{BB962C8B-B14F-4D97-AF65-F5344CB8AC3E}">
        <p14:creationId xmlns:p14="http://schemas.microsoft.com/office/powerpoint/2010/main" val="2841127275"/>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1744F-AB2E-D607-263D-D8F5DD8DC8C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067410D-A4A6-2B68-8161-84D9259EF1D5}"/>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91BE7F6-006D-C529-4167-C1CA197CB104}"/>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CF7695E-4335-A2E8-905B-E25E8F02F2A0}"/>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07D8DF88-6C33-2C35-7649-3F5FF720B4E8}"/>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017153B-1744-6039-15FC-C2CA7350F538}"/>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C4C36CDC-435E-A08D-78C9-4DD936A85E6D}"/>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7939F893-77D3-8FB7-B872-F54987490102}"/>
              </a:ext>
            </a:extLst>
          </p:cNvPr>
          <p:cNvSpPr txBox="1">
            <a:spLocks/>
          </p:cNvSpPr>
          <p:nvPr/>
        </p:nvSpPr>
        <p:spPr>
          <a:xfrm>
            <a:off x="228523" y="1001228"/>
            <a:ext cx="8624937" cy="286232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2"/>
                </a:solidFill>
              </a:rPr>
              <a:t>Synchronization –</a:t>
            </a:r>
          </a:p>
          <a:p>
            <a:pPr algn="just" fontAlgn="base"/>
            <a:r>
              <a:rPr lang="en-US" sz="2000" kern="0" spc="-220" dirty="0">
                <a:solidFill>
                  <a:schemeClr val="accent2"/>
                </a:solidFill>
              </a:rPr>
              <a:t>Producer Consumer Constructs (</a:t>
            </a:r>
            <a:r>
              <a:rPr lang="en-US" sz="2000" kern="0" spc="-220" dirty="0" err="1">
                <a:solidFill>
                  <a:schemeClr val="accent2"/>
                </a:solidFill>
              </a:rPr>
              <a:t>BlockingCollection</a:t>
            </a:r>
            <a:r>
              <a:rPr lang="en-US" sz="2000" kern="0" spc="-220" dirty="0">
                <a:solidFill>
                  <a:schemeClr val="accent2"/>
                </a:solidFill>
              </a:rPr>
              <a:t> and Channels)</a:t>
            </a:r>
          </a:p>
          <a:p>
            <a:pPr algn="just" fontAlgn="base"/>
            <a:r>
              <a:rPr lang="en-US" sz="2000" kern="0" spc="-220" dirty="0">
                <a:solidFill>
                  <a:schemeClr val="accent6"/>
                </a:solidFill>
              </a:rPr>
              <a:t>    </a:t>
            </a:r>
            <a:r>
              <a:rPr lang="en-US" sz="2000" kern="0" spc="-220" dirty="0">
                <a:solidFill>
                  <a:schemeClr val="accent2"/>
                </a:solidFill>
              </a:rPr>
              <a:t>For Further Exploration</a:t>
            </a:r>
          </a:p>
          <a:p>
            <a:pPr algn="just" fontAlgn="base"/>
            <a:r>
              <a:rPr lang="en-US" sz="1500" kern="0" spc="-220" dirty="0">
                <a:solidFill>
                  <a:schemeClr val="accent2"/>
                </a:solidFill>
              </a:rPr>
              <a:t>       </a:t>
            </a:r>
            <a:r>
              <a:rPr lang="en-IN" sz="1800" dirty="0">
                <a:hlinkClick r:id="rId7"/>
              </a:rPr>
              <a:t>Backpressure Pattern- Design Principle</a:t>
            </a:r>
            <a:endParaRPr lang="en-IN" sz="1800" dirty="0"/>
          </a:p>
          <a:p>
            <a:pPr algn="just" fontAlgn="base"/>
            <a:r>
              <a:rPr lang="en-IN" sz="1800" kern="0" spc="-220" dirty="0">
                <a:solidFill>
                  <a:schemeClr val="accent2"/>
                </a:solidFill>
              </a:rPr>
              <a:t>     </a:t>
            </a:r>
            <a:r>
              <a:rPr lang="en-US" sz="1800" dirty="0" err="1">
                <a:hlinkClick r:id="rId8"/>
              </a:rPr>
              <a:t>BlockingCollection</a:t>
            </a:r>
            <a:r>
              <a:rPr lang="en-US" sz="1800" dirty="0">
                <a:hlinkClick r:id="rId8"/>
              </a:rPr>
              <a:t> vs. Channels in C#</a:t>
            </a:r>
            <a:endParaRPr lang="en-US" sz="1800" dirty="0"/>
          </a:p>
          <a:p>
            <a:pPr algn="just" fontAlgn="base"/>
            <a:r>
              <a:rPr lang="en-US" sz="1800" kern="0" spc="-220" dirty="0">
                <a:solidFill>
                  <a:schemeClr val="accent2"/>
                </a:solidFill>
              </a:rPr>
              <a:t>     </a:t>
            </a:r>
            <a:r>
              <a:rPr lang="en-US" sz="1800" dirty="0" err="1">
                <a:hlinkClick r:id="rId9"/>
              </a:rPr>
              <a:t>BlockingCollection</a:t>
            </a:r>
            <a:r>
              <a:rPr lang="en-US" sz="1800" dirty="0">
                <a:hlinkClick r:id="rId9"/>
              </a:rPr>
              <a:t> Overview - .NET | Microsoft Learn</a:t>
            </a:r>
            <a:endParaRPr lang="en-US" sz="1800" kern="0" spc="-220" dirty="0">
              <a:solidFill>
                <a:schemeClr val="accent2"/>
              </a:solidFill>
            </a:endParaRPr>
          </a:p>
          <a:p>
            <a:pPr algn="just" fontAlgn="base"/>
            <a:r>
              <a:rPr lang="en-US" sz="1800" kern="0" spc="-220" dirty="0">
                <a:solidFill>
                  <a:schemeClr val="accent2"/>
                </a:solidFill>
              </a:rPr>
              <a:t>     </a:t>
            </a:r>
            <a:r>
              <a:rPr lang="en-IN" sz="1800" dirty="0">
                <a:hlinkClick r:id="rId10"/>
              </a:rPr>
              <a:t>Channels - .NET | Microsoft Learn</a:t>
            </a:r>
            <a:endParaRPr lang="en-IN" sz="1800" dirty="0"/>
          </a:p>
          <a:p>
            <a:pPr algn="just" fontAlgn="base"/>
            <a:r>
              <a:rPr lang="en-IN" sz="1800" dirty="0"/>
              <a:t>   </a:t>
            </a:r>
            <a:r>
              <a:rPr lang="en-US" sz="1800" dirty="0" err="1">
                <a:hlinkClick r:id="rId11"/>
              </a:rPr>
              <a:t>Csharp</a:t>
            </a:r>
            <a:r>
              <a:rPr lang="en-US" sz="1800" dirty="0">
                <a:hlinkClick r:id="rId11"/>
              </a:rPr>
              <a:t>-Channels-Presentation</a:t>
            </a:r>
            <a:endParaRPr lang="en-IN" sz="1800" dirty="0"/>
          </a:p>
          <a:p>
            <a:pPr algn="just" fontAlgn="base"/>
            <a:r>
              <a:rPr lang="en-IN" sz="1800" dirty="0"/>
              <a:t>   </a:t>
            </a:r>
            <a:r>
              <a:rPr lang="en-US" sz="1800" dirty="0">
                <a:hlinkClick r:id="rId12"/>
              </a:rPr>
              <a:t>Building a .NET 9 Console App with </a:t>
            </a:r>
            <a:r>
              <a:rPr lang="en-US" sz="1800" dirty="0" err="1">
                <a:hlinkClick r:id="rId12"/>
              </a:rPr>
              <a:t>Hangfire</a:t>
            </a:r>
            <a:r>
              <a:rPr lang="en-US" sz="1800" dirty="0">
                <a:hlinkClick r:id="rId12"/>
              </a:rPr>
              <a:t> and Channels</a:t>
            </a:r>
            <a:endParaRPr lang="en-US" sz="1800" dirty="0"/>
          </a:p>
          <a:p>
            <a:pPr algn="just" fontAlgn="base"/>
            <a:r>
              <a:rPr lang="en-US" sz="1800" dirty="0"/>
              <a:t>   </a:t>
            </a:r>
            <a:r>
              <a:rPr lang="en-US" sz="1800" dirty="0">
                <a:hlinkClick r:id="rId13"/>
              </a:rPr>
              <a:t>Channels in .NET: Building High-Performance Pipelines | Turbo .NET</a:t>
            </a:r>
            <a:endParaRPr lang="en-IN" sz="1800" dirty="0"/>
          </a:p>
        </p:txBody>
      </p:sp>
    </p:spTree>
    <p:extLst>
      <p:ext uri="{BB962C8B-B14F-4D97-AF65-F5344CB8AC3E}">
        <p14:creationId xmlns:p14="http://schemas.microsoft.com/office/powerpoint/2010/main" val="144268335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ACC59-30C5-5F6E-02FC-1DE927E25B3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2540657-7982-0EEA-0D73-6E9ECA1907F3}"/>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6415190-5867-F4E9-DB32-EA4ADC35A79A}"/>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DA1CB38-8009-0311-387B-0A4B4378BBAB}"/>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130A98DE-AE30-2195-554C-B55F05FDFD91}"/>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2F6FBB8D-F4C3-F72C-D795-345E034049FE}"/>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78E32685-DCC2-6828-68E9-3AA557DA3841}"/>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312BFFBB-8F13-EE4C-CF86-E95C9DE773F7}"/>
              </a:ext>
            </a:extLst>
          </p:cNvPr>
          <p:cNvSpPr txBox="1">
            <a:spLocks/>
          </p:cNvSpPr>
          <p:nvPr/>
        </p:nvSpPr>
        <p:spPr>
          <a:xfrm>
            <a:off x="228523" y="1001228"/>
            <a:ext cx="8624937" cy="384720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2"/>
                </a:solidFill>
              </a:rPr>
              <a:t>Synchronization –</a:t>
            </a:r>
          </a:p>
          <a:p>
            <a:pPr algn="just" fontAlgn="base"/>
            <a:r>
              <a:rPr lang="en-US" sz="2000" kern="0" spc="-220" dirty="0">
                <a:solidFill>
                  <a:schemeClr val="accent2"/>
                </a:solidFill>
              </a:rPr>
              <a:t>Advanced </a:t>
            </a:r>
            <a:r>
              <a:rPr lang="en-US" sz="2000" kern="0" spc="-220" dirty="0" err="1">
                <a:solidFill>
                  <a:schemeClr val="accent2"/>
                </a:solidFill>
              </a:rPr>
              <a:t>NonBlocking</a:t>
            </a:r>
            <a:r>
              <a:rPr lang="en-US" sz="2000" kern="0" spc="-220" dirty="0">
                <a:solidFill>
                  <a:schemeClr val="accent2"/>
                </a:solidFill>
              </a:rPr>
              <a:t> Constructs(Atomic Operations Constructs) – </a:t>
            </a:r>
          </a:p>
          <a:p>
            <a:pPr algn="just" fontAlgn="base"/>
            <a:r>
              <a:rPr lang="en-US" sz="1500" kern="0" spc="-220" dirty="0">
                <a:solidFill>
                  <a:schemeClr val="accent2"/>
                </a:solidFill>
              </a:rPr>
              <a:t>Atomic Operations – </a:t>
            </a:r>
            <a:r>
              <a:rPr lang="en-US" sz="1500" kern="0" spc="-220" dirty="0">
                <a:solidFill>
                  <a:schemeClr val="accent6"/>
                </a:solidFill>
              </a:rPr>
              <a:t>operations that cannot occur concurrently &amp; should always occur in a sequence only</a:t>
            </a:r>
          </a:p>
          <a:p>
            <a:pPr algn="just" fontAlgn="base"/>
            <a:endParaRPr lang="en-US" sz="1500" kern="0" spc="-220" dirty="0">
              <a:solidFill>
                <a:schemeClr val="accent6"/>
              </a:solidFill>
            </a:endParaRPr>
          </a:p>
          <a:p>
            <a:pPr algn="just" fontAlgn="base"/>
            <a:endParaRPr lang="en-US" sz="1500" kern="0" spc="-220" dirty="0">
              <a:solidFill>
                <a:schemeClr val="accent6"/>
              </a:solidFill>
            </a:endParaRPr>
          </a:p>
          <a:p>
            <a:pPr algn="just" fontAlgn="base"/>
            <a:endParaRPr lang="en-US" sz="1500" kern="0" spc="-220" dirty="0">
              <a:solidFill>
                <a:schemeClr val="accent6"/>
              </a:solidFill>
            </a:endParaRPr>
          </a:p>
          <a:p>
            <a:pPr algn="just" fontAlgn="base"/>
            <a:endParaRPr lang="en-US" sz="1500" kern="0" spc="-220" dirty="0">
              <a:solidFill>
                <a:schemeClr val="accent6"/>
              </a:solidFill>
            </a:endParaRPr>
          </a:p>
          <a:p>
            <a:pPr algn="just" fontAlgn="base"/>
            <a:endParaRPr lang="en-US" sz="1500" kern="0" spc="-220" dirty="0">
              <a:solidFill>
                <a:schemeClr val="accent6"/>
              </a:solidFill>
            </a:endParaRPr>
          </a:p>
          <a:p>
            <a:pPr algn="just" fontAlgn="base"/>
            <a:endParaRPr lang="en-US" sz="1500" kern="0" spc="-220" dirty="0">
              <a:solidFill>
                <a:schemeClr val="accent6"/>
              </a:solidFill>
            </a:endParaRPr>
          </a:p>
          <a:p>
            <a:pPr algn="just" fontAlgn="base"/>
            <a:endParaRPr lang="en-US" sz="1500" kern="0" spc="-220" dirty="0">
              <a:solidFill>
                <a:schemeClr val="accent6"/>
              </a:solidFill>
            </a:endParaRPr>
          </a:p>
          <a:p>
            <a:pPr algn="just" fontAlgn="base"/>
            <a:endParaRPr lang="en-US" sz="1500" kern="0" spc="-220" dirty="0">
              <a:solidFill>
                <a:schemeClr val="accent6"/>
              </a:solidFill>
            </a:endParaRPr>
          </a:p>
          <a:p>
            <a:pPr algn="just" fontAlgn="base"/>
            <a:endParaRPr lang="en-US" sz="1500" kern="0" spc="-220" dirty="0">
              <a:solidFill>
                <a:schemeClr val="accent6"/>
              </a:solidFill>
            </a:endParaRPr>
          </a:p>
          <a:p>
            <a:pPr algn="just" fontAlgn="base"/>
            <a:endParaRPr lang="en-US" sz="1500" kern="0" spc="-220" dirty="0">
              <a:solidFill>
                <a:schemeClr val="accent6"/>
              </a:solidFill>
            </a:endParaRPr>
          </a:p>
          <a:p>
            <a:pPr algn="just" fontAlgn="base"/>
            <a:endParaRPr lang="en-US" sz="1500" kern="0" spc="-220" dirty="0">
              <a:solidFill>
                <a:schemeClr val="accent6"/>
              </a:solidFill>
            </a:endParaRPr>
          </a:p>
          <a:p>
            <a:pPr algn="just" fontAlgn="base"/>
            <a:endParaRPr lang="en-US" sz="1500" kern="0" spc="-220" dirty="0">
              <a:solidFill>
                <a:schemeClr val="accent6"/>
              </a:solidFill>
            </a:endParaRPr>
          </a:p>
          <a:p>
            <a:pPr algn="just" fontAlgn="base"/>
            <a:endParaRPr lang="en-US" sz="1500" kern="0" spc="-220" dirty="0">
              <a:solidFill>
                <a:schemeClr val="accent6"/>
              </a:solidFill>
            </a:endParaRPr>
          </a:p>
        </p:txBody>
      </p:sp>
      <p:pic>
        <p:nvPicPr>
          <p:cNvPr id="9" name="Picture 8">
            <a:extLst>
              <a:ext uri="{FF2B5EF4-FFF2-40B4-BE49-F238E27FC236}">
                <a16:creationId xmlns:a16="http://schemas.microsoft.com/office/drawing/2014/main" id="{7423362E-DEEC-8940-C743-73F028C571C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75300" y="1828800"/>
            <a:ext cx="8716300" cy="3962400"/>
          </a:xfrm>
          <a:prstGeom prst="rect">
            <a:avLst/>
          </a:prstGeom>
        </p:spPr>
      </p:pic>
    </p:spTree>
    <p:extLst>
      <p:ext uri="{BB962C8B-B14F-4D97-AF65-F5344CB8AC3E}">
        <p14:creationId xmlns:p14="http://schemas.microsoft.com/office/powerpoint/2010/main" val="613365487"/>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E6C65-530C-E9AB-73CF-3DAAA4C1E40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E3F3C8C-766F-26A2-3DD6-7BB0D4199372}"/>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6D840D7-5CCA-2468-D3F4-A64227FAD5E0}"/>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9DC4C4D-3E4A-2FE5-E4C9-2FB392D389F1}"/>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0FBC77CB-8872-45CF-B658-49FDA7F43225}"/>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849E7F3-01C4-29C2-DB69-B472A33D2A96}"/>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0948DD3F-29A4-6B6F-2810-8389924A0202}"/>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D37AF1E7-1A4B-3087-F7A7-62A69FD0F0BC}"/>
              </a:ext>
            </a:extLst>
          </p:cNvPr>
          <p:cNvSpPr txBox="1">
            <a:spLocks/>
          </p:cNvSpPr>
          <p:nvPr/>
        </p:nvSpPr>
        <p:spPr>
          <a:xfrm>
            <a:off x="228523" y="1001228"/>
            <a:ext cx="8624937" cy="464742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2"/>
                </a:solidFill>
              </a:rPr>
              <a:t>Synchronization –</a:t>
            </a:r>
          </a:p>
          <a:p>
            <a:pPr algn="just" fontAlgn="base"/>
            <a:r>
              <a:rPr lang="en-US" sz="2000" kern="0" spc="-220" dirty="0">
                <a:solidFill>
                  <a:schemeClr val="accent2"/>
                </a:solidFill>
              </a:rPr>
              <a:t>Advanced </a:t>
            </a:r>
            <a:r>
              <a:rPr lang="en-US" sz="2000" kern="0" spc="-220" dirty="0" err="1">
                <a:solidFill>
                  <a:schemeClr val="accent2"/>
                </a:solidFill>
              </a:rPr>
              <a:t>NonBlocking</a:t>
            </a:r>
            <a:r>
              <a:rPr lang="en-US" sz="2000" kern="0" spc="-220" dirty="0">
                <a:solidFill>
                  <a:schemeClr val="accent2"/>
                </a:solidFill>
              </a:rPr>
              <a:t> Constructs(Atomic Operations Constructs) – </a:t>
            </a:r>
          </a:p>
          <a:p>
            <a:pPr algn="just" fontAlgn="base"/>
            <a:r>
              <a:rPr lang="en-US" sz="1500" dirty="0">
                <a:solidFill>
                  <a:schemeClr val="accent2"/>
                </a:solidFill>
                <a:latin typeface="Google Sans"/>
                <a:ea typeface="+mn-ea"/>
                <a:cs typeface="+mn-cs"/>
              </a:rPr>
              <a:t>Atomic Operations Supported Types and Specifics</a:t>
            </a:r>
          </a:p>
          <a:p>
            <a:pPr algn="just" fontAlgn="base"/>
            <a:r>
              <a:rPr lang="en-US" sz="1500" dirty="0">
                <a:solidFill>
                  <a:schemeClr val="accent2"/>
                </a:solidFill>
                <a:latin typeface="Google Sans"/>
                <a:ea typeface="+mn-ea"/>
                <a:cs typeface="+mn-cs"/>
              </a:rPr>
              <a:t>Types: </a:t>
            </a:r>
            <a:r>
              <a:rPr lang="en-US" sz="1500" dirty="0">
                <a:solidFill>
                  <a:schemeClr val="accent6"/>
                </a:solidFill>
                <a:latin typeface="Google Sans"/>
                <a:ea typeface="+mn-ea"/>
                <a:cs typeface="+mn-cs"/>
              </a:rPr>
              <a:t>Int32, Int64, Single (float), Double, </a:t>
            </a:r>
            <a:r>
              <a:rPr lang="en-US" sz="1500" dirty="0" err="1">
                <a:solidFill>
                  <a:schemeClr val="accent6"/>
                </a:solidFill>
                <a:latin typeface="Google Sans"/>
                <a:ea typeface="+mn-ea"/>
                <a:cs typeface="+mn-cs"/>
              </a:rPr>
              <a:t>IntPtr</a:t>
            </a:r>
            <a:r>
              <a:rPr lang="en-US" sz="1500" dirty="0">
                <a:solidFill>
                  <a:schemeClr val="accent6"/>
                </a:solidFill>
                <a:latin typeface="Google Sans"/>
                <a:ea typeface="+mn-ea"/>
                <a:cs typeface="+mn-cs"/>
              </a:rPr>
              <a:t>, and generic T (for Reference types).</a:t>
            </a:r>
          </a:p>
          <a:p>
            <a:pPr algn="just" fontAlgn="base"/>
            <a:r>
              <a:rPr lang="en-US" sz="1500" dirty="0">
                <a:solidFill>
                  <a:schemeClr val="accent2"/>
                </a:solidFill>
                <a:latin typeface="Google Sans"/>
                <a:ea typeface="+mn-ea"/>
                <a:cs typeface="+mn-cs"/>
              </a:rPr>
              <a:t>Atomic Property:</a:t>
            </a:r>
            <a:r>
              <a:rPr lang="en-US" sz="1500" dirty="0">
                <a:solidFill>
                  <a:schemeClr val="accent6"/>
                </a:solidFill>
                <a:latin typeface="Google Sans"/>
                <a:ea typeface="+mn-ea"/>
                <a:cs typeface="+mn-cs"/>
              </a:rPr>
              <a:t> On 32-bit systems, 64-bit operations (Int64, Double) require Interlocked methods to guarantee atomicity, whereas 32-bit reads/writes are generally atomic, provided they are properly aligned.</a:t>
            </a:r>
          </a:p>
          <a:p>
            <a:pPr algn="just" fontAlgn="base"/>
            <a:r>
              <a:rPr lang="en-US" sz="1500" dirty="0">
                <a:solidFill>
                  <a:schemeClr val="accent2"/>
                </a:solidFill>
                <a:latin typeface="Google Sans"/>
                <a:ea typeface="+mn-ea"/>
                <a:cs typeface="+mn-cs"/>
              </a:rPr>
              <a:t>Memory Fences:</a:t>
            </a:r>
            <a:r>
              <a:rPr lang="en-US" sz="1500" dirty="0">
                <a:solidFill>
                  <a:schemeClr val="accent6"/>
                </a:solidFill>
                <a:latin typeface="Google Sans"/>
                <a:ea typeface="+mn-ea"/>
                <a:cs typeface="+mn-cs"/>
              </a:rPr>
              <a:t> Interlocked operations often erect a memory barrier before and/or after the update, preventing compiler/CPU reordering.</a:t>
            </a:r>
          </a:p>
          <a:p>
            <a:pPr algn="just" fontAlgn="base"/>
            <a:r>
              <a:rPr lang="en-US" sz="1500" dirty="0" err="1">
                <a:solidFill>
                  <a:schemeClr val="accent2"/>
                </a:solidFill>
                <a:latin typeface="Google Sans"/>
                <a:ea typeface="+mn-ea"/>
                <a:cs typeface="+mn-cs"/>
              </a:rPr>
              <a:t>CompareExchange</a:t>
            </a:r>
            <a:r>
              <a:rPr lang="en-US" sz="1500" dirty="0">
                <a:solidFill>
                  <a:schemeClr val="accent2"/>
                </a:solidFill>
                <a:latin typeface="Google Sans"/>
                <a:ea typeface="+mn-ea"/>
                <a:cs typeface="+mn-cs"/>
              </a:rPr>
              <a:t>: </a:t>
            </a:r>
            <a:r>
              <a:rPr lang="en-US" sz="1500" dirty="0">
                <a:solidFill>
                  <a:schemeClr val="accent6"/>
                </a:solidFill>
                <a:latin typeface="Google Sans"/>
                <a:ea typeface="+mn-ea"/>
                <a:cs typeface="+mn-cs"/>
              </a:rPr>
              <a:t>Forms the basis of lock-free data structures. </a:t>
            </a:r>
          </a:p>
          <a:p>
            <a:pPr algn="just" fontAlgn="base"/>
            <a:r>
              <a:rPr lang="en-US" sz="1500" dirty="0">
                <a:solidFill>
                  <a:schemeClr val="accent2"/>
                </a:solidFill>
                <a:latin typeface="Google Sans"/>
                <a:ea typeface="+mn-ea"/>
                <a:cs typeface="+mn-cs"/>
              </a:rPr>
              <a:t>Alternatives and Advanced Patterns</a:t>
            </a:r>
          </a:p>
          <a:p>
            <a:pPr algn="just" fontAlgn="base"/>
            <a:r>
              <a:rPr lang="en-US" sz="1500" dirty="0" err="1">
                <a:solidFill>
                  <a:schemeClr val="accent2"/>
                </a:solidFill>
                <a:latin typeface="Google Sans"/>
                <a:ea typeface="+mn-ea"/>
                <a:cs typeface="+mn-cs"/>
              </a:rPr>
              <a:t>Volatile.Read</a:t>
            </a:r>
            <a:r>
              <a:rPr lang="en-US" sz="1500" dirty="0">
                <a:solidFill>
                  <a:schemeClr val="accent2"/>
                </a:solidFill>
                <a:latin typeface="Google Sans"/>
                <a:ea typeface="+mn-ea"/>
                <a:cs typeface="+mn-cs"/>
              </a:rPr>
              <a:t> / </a:t>
            </a:r>
            <a:r>
              <a:rPr lang="en-US" sz="1500" dirty="0" err="1">
                <a:solidFill>
                  <a:schemeClr val="accent2"/>
                </a:solidFill>
                <a:latin typeface="Google Sans"/>
                <a:ea typeface="+mn-ea"/>
                <a:cs typeface="+mn-cs"/>
              </a:rPr>
              <a:t>Volatile.Write</a:t>
            </a:r>
            <a:r>
              <a:rPr lang="en-US" sz="1500" dirty="0">
                <a:solidFill>
                  <a:schemeClr val="accent2"/>
                </a:solidFill>
                <a:latin typeface="Google Sans"/>
                <a:ea typeface="+mn-ea"/>
                <a:cs typeface="+mn-cs"/>
              </a:rPr>
              <a:t>:</a:t>
            </a:r>
            <a:r>
              <a:rPr lang="en-US" sz="1500" dirty="0">
                <a:solidFill>
                  <a:schemeClr val="accent6"/>
                </a:solidFill>
                <a:latin typeface="Google Sans"/>
                <a:ea typeface="+mn-ea"/>
                <a:cs typeface="+mn-cs"/>
              </a:rPr>
              <a:t> Ensures the latest value is read from memory rather than a CPU cache, preventing read/write reordering, but not atomic for large types.</a:t>
            </a:r>
          </a:p>
          <a:p>
            <a:pPr algn="just" fontAlgn="base"/>
            <a:r>
              <a:rPr lang="en-US" sz="1500" dirty="0" err="1">
                <a:solidFill>
                  <a:schemeClr val="accent2"/>
                </a:solidFill>
                <a:latin typeface="Google Sans"/>
                <a:ea typeface="+mn-ea"/>
                <a:cs typeface="+mn-cs"/>
              </a:rPr>
              <a:t>SpinWait</a:t>
            </a:r>
            <a:r>
              <a:rPr lang="en-US" sz="1500" dirty="0">
                <a:solidFill>
                  <a:schemeClr val="accent2"/>
                </a:solidFill>
                <a:latin typeface="Google Sans"/>
                <a:ea typeface="+mn-ea"/>
                <a:cs typeface="+mn-cs"/>
              </a:rPr>
              <a:t>: </a:t>
            </a:r>
            <a:r>
              <a:rPr lang="en-US" sz="1500" dirty="0">
                <a:solidFill>
                  <a:schemeClr val="accent6"/>
                </a:solidFill>
                <a:latin typeface="Google Sans"/>
                <a:ea typeface="+mn-ea"/>
                <a:cs typeface="+mn-cs"/>
              </a:rPr>
              <a:t>Used in conjunction with Interlocked to create high-performance spin-locks.</a:t>
            </a:r>
          </a:p>
          <a:p>
            <a:pPr algn="just" fontAlgn="base"/>
            <a:r>
              <a:rPr lang="en-US" sz="1500" dirty="0" err="1">
                <a:solidFill>
                  <a:schemeClr val="accent2"/>
                </a:solidFill>
                <a:latin typeface="Google Sans"/>
                <a:ea typeface="+mn-ea"/>
                <a:cs typeface="+mn-cs"/>
              </a:rPr>
              <a:t>System.Threading.Channels</a:t>
            </a:r>
            <a:r>
              <a:rPr lang="en-US" sz="1500" dirty="0">
                <a:solidFill>
                  <a:schemeClr val="accent2"/>
                </a:solidFill>
                <a:latin typeface="Google Sans"/>
                <a:ea typeface="+mn-ea"/>
                <a:cs typeface="+mn-cs"/>
              </a:rPr>
              <a:t> / TPL Dataflow:</a:t>
            </a:r>
            <a:r>
              <a:rPr lang="en-US" sz="1500" dirty="0">
                <a:solidFill>
                  <a:schemeClr val="accent6"/>
                </a:solidFill>
                <a:latin typeface="Google Sans"/>
                <a:ea typeface="+mn-ea"/>
                <a:cs typeface="+mn-cs"/>
              </a:rPr>
              <a:t> Higher-level concurrency primitives that manage atomicity within pipelines. </a:t>
            </a:r>
          </a:p>
          <a:p>
            <a:pPr algn="just" fontAlgn="base"/>
            <a:r>
              <a:rPr lang="en-US" sz="2000" kern="0" spc="-220" dirty="0">
                <a:solidFill>
                  <a:schemeClr val="accent2"/>
                </a:solidFill>
              </a:rPr>
              <a:t>For Further Exploration</a:t>
            </a:r>
          </a:p>
          <a:p>
            <a:pPr algn="just" fontAlgn="base"/>
            <a:r>
              <a:rPr lang="en-US" sz="1600" dirty="0">
                <a:hlinkClick r:id="rId7"/>
              </a:rPr>
              <a:t>What are atomic operations for newbies</a:t>
            </a:r>
            <a:endParaRPr lang="en-US" sz="1600" dirty="0"/>
          </a:p>
          <a:p>
            <a:pPr algn="just" fontAlgn="base"/>
            <a:r>
              <a:rPr lang="en-US" sz="1600" dirty="0">
                <a:hlinkClick r:id="rId8"/>
              </a:rPr>
              <a:t>Thread-Safe Counters and Flags Using Interlocked in .NET</a:t>
            </a:r>
            <a:endParaRPr lang="en-US" sz="1600" dirty="0"/>
          </a:p>
          <a:p>
            <a:pPr algn="just" fontAlgn="base"/>
            <a:r>
              <a:rPr lang="en-IN" sz="1600" dirty="0">
                <a:hlinkClick r:id="rId9"/>
              </a:rPr>
              <a:t>Compare-and-swap - Wikipedia</a:t>
            </a:r>
            <a:endParaRPr lang="en-US" sz="1500" kern="0" spc="-220" dirty="0">
              <a:solidFill>
                <a:schemeClr val="accent6"/>
              </a:solidFill>
            </a:endParaRPr>
          </a:p>
        </p:txBody>
      </p:sp>
    </p:spTree>
    <p:extLst>
      <p:ext uri="{BB962C8B-B14F-4D97-AF65-F5344CB8AC3E}">
        <p14:creationId xmlns:p14="http://schemas.microsoft.com/office/powerpoint/2010/main" val="3352370988"/>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143000"/>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11" name="object 2">
            <a:extLst>
              <a:ext uri="{FF2B5EF4-FFF2-40B4-BE49-F238E27FC236}">
                <a16:creationId xmlns:a16="http://schemas.microsoft.com/office/drawing/2014/main" id="{98A7BA29-4720-D09A-0DCB-47B829C98713}"/>
              </a:ext>
            </a:extLst>
          </p:cNvPr>
          <p:cNvSpPr txBox="1">
            <a:spLocks/>
          </p:cNvSpPr>
          <p:nvPr/>
        </p:nvSpPr>
        <p:spPr>
          <a:xfrm>
            <a:off x="243763" y="1095844"/>
            <a:ext cx="8624937" cy="215443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2"/>
                </a:solidFill>
              </a:rPr>
              <a:t>Synchronization –</a:t>
            </a:r>
          </a:p>
          <a:p>
            <a:pPr algn="just" fontAlgn="base"/>
            <a:r>
              <a:rPr lang="en-US" sz="2000" kern="0" spc="-220" dirty="0">
                <a:solidFill>
                  <a:schemeClr val="accent2"/>
                </a:solidFill>
              </a:rPr>
              <a:t>Other Techniques</a:t>
            </a:r>
          </a:p>
          <a:p>
            <a:pPr algn="just" fontAlgn="base"/>
            <a:r>
              <a:rPr lang="en-US" sz="2000" kern="0" spc="-220" dirty="0">
                <a:solidFill>
                  <a:schemeClr val="accent2"/>
                </a:solidFill>
              </a:rPr>
              <a:t>Busy Waiting(/Spinning) – </a:t>
            </a:r>
          </a:p>
          <a:p>
            <a:pPr algn="l" rtl="0"/>
            <a:r>
              <a:rPr lang="en-US" sz="1600" kern="0" spc="-220" dirty="0">
                <a:solidFill>
                  <a:schemeClr val="accent6"/>
                </a:solidFill>
              </a:rPr>
              <a:t>When a thread blocks or unblocks, the operating system performs a context switch. This can be avoided using </a:t>
            </a:r>
            <a:r>
              <a:rPr lang="en-US" sz="1600" kern="0" spc="-220" dirty="0" err="1">
                <a:solidFill>
                  <a:schemeClr val="accent6"/>
                </a:solidFill>
              </a:rPr>
              <a:t>BusyWaiting</a:t>
            </a:r>
            <a:r>
              <a:rPr lang="en-US" sz="1600" kern="0" spc="-220" dirty="0">
                <a:solidFill>
                  <a:schemeClr val="accent6"/>
                </a:solidFill>
              </a:rPr>
              <a:t>. When a thread is in critical section, other threads simply spins(just loops) and keeps checking the break condition(via some flag) to enter in its critical section. This is called BUSY WAITING. Busy waiting wastes CPU cycles that some other process  can use  for doing any productive work. Mainly used for short span locks.</a:t>
            </a:r>
          </a:p>
          <a:p>
            <a:pPr algn="l" rtl="0"/>
            <a:r>
              <a:rPr lang="en-US" sz="1600" kern="0" spc="-220" dirty="0">
                <a:solidFill>
                  <a:schemeClr val="accent2"/>
                </a:solidFill>
              </a:rPr>
              <a:t>A sample Busy Waiting Logic(can be more complex for real world projects) - </a:t>
            </a:r>
          </a:p>
        </p:txBody>
      </p:sp>
      <p:pic>
        <p:nvPicPr>
          <p:cNvPr id="8" name="Picture 7">
            <a:extLst>
              <a:ext uri="{FF2B5EF4-FFF2-40B4-BE49-F238E27FC236}">
                <a16:creationId xmlns:a16="http://schemas.microsoft.com/office/drawing/2014/main" id="{E3C33EEF-E3B1-02C1-CA1A-2E2DE5BD1F1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3763" y="2942504"/>
            <a:ext cx="8747837" cy="2924896"/>
          </a:xfrm>
          <a:prstGeom prst="rect">
            <a:avLst/>
          </a:prstGeom>
        </p:spPr>
      </p:pic>
    </p:spTree>
    <p:extLst>
      <p:ext uri="{BB962C8B-B14F-4D97-AF65-F5344CB8AC3E}">
        <p14:creationId xmlns:p14="http://schemas.microsoft.com/office/powerpoint/2010/main" val="3464139101"/>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68660-E637-EBEF-0288-428E29E4E45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A00FE20-D3D2-00B7-794A-8242233EA71E}"/>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DF63E2F-22AB-6684-FD4E-5C12A4DF7286}"/>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EFF7757-9091-A576-E139-281448367650}"/>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2501297B-79AD-753A-AA22-9C0F9C220D70}"/>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33C47728-DFA6-9B35-CEA0-0C5EFDDAC265}"/>
              </a:ext>
            </a:extLst>
          </p:cNvPr>
          <p:cNvSpPr txBox="1">
            <a:spLocks/>
          </p:cNvSpPr>
          <p:nvPr/>
        </p:nvSpPr>
        <p:spPr>
          <a:xfrm>
            <a:off x="275300" y="1143000"/>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25823EDB-051F-A3CB-89F3-043CDDF6FFE9}"/>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11" name="object 2">
            <a:extLst>
              <a:ext uri="{FF2B5EF4-FFF2-40B4-BE49-F238E27FC236}">
                <a16:creationId xmlns:a16="http://schemas.microsoft.com/office/drawing/2014/main" id="{3C54A54A-59B4-32E8-41DB-E9481E07DF75}"/>
              </a:ext>
            </a:extLst>
          </p:cNvPr>
          <p:cNvSpPr txBox="1">
            <a:spLocks/>
          </p:cNvSpPr>
          <p:nvPr/>
        </p:nvSpPr>
        <p:spPr>
          <a:xfrm>
            <a:off x="243763" y="1095844"/>
            <a:ext cx="8624937" cy="48474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2"/>
                </a:solidFill>
              </a:rPr>
              <a:t>Synchronization –</a:t>
            </a:r>
          </a:p>
          <a:p>
            <a:pPr algn="just" fontAlgn="base"/>
            <a:r>
              <a:rPr lang="en-US" sz="2000" kern="0" spc="-220" dirty="0">
                <a:solidFill>
                  <a:schemeClr val="accent2"/>
                </a:solidFill>
              </a:rPr>
              <a:t>Other Techniques</a:t>
            </a:r>
          </a:p>
          <a:p>
            <a:pPr algn="just" fontAlgn="base"/>
            <a:r>
              <a:rPr lang="en-US" sz="2000" kern="0" spc="-220" dirty="0">
                <a:solidFill>
                  <a:schemeClr val="accent2"/>
                </a:solidFill>
              </a:rPr>
              <a:t>Busy Waiting(/Spinning) – </a:t>
            </a:r>
          </a:p>
          <a:p>
            <a:pPr algn="just" fontAlgn="base"/>
            <a:r>
              <a:rPr lang="en-US" sz="1700" kern="0" spc="-220" dirty="0">
                <a:solidFill>
                  <a:schemeClr val="accent2"/>
                </a:solidFill>
              </a:rPr>
              <a:t>Why Busy Waiting is Generally Avoided in C#</a:t>
            </a:r>
          </a:p>
          <a:p>
            <a:pPr algn="just" fontAlgn="base"/>
            <a:r>
              <a:rPr lang="en-US" sz="1700" kern="0" spc="-220" dirty="0">
                <a:solidFill>
                  <a:schemeClr val="accent6"/>
                </a:solidFill>
              </a:rPr>
              <a:t>In most C# applications, especially ASP.NET Core or general-purpose desktop apps, busy waiting is an anti-pattern that leads to significant performance degradation:</a:t>
            </a:r>
          </a:p>
          <a:p>
            <a:pPr algn="just" fontAlgn="base"/>
            <a:r>
              <a:rPr lang="en-US" sz="1700" kern="0" spc="-220" dirty="0">
                <a:solidFill>
                  <a:schemeClr val="accent2"/>
                </a:solidFill>
              </a:rPr>
              <a:t>**Wasted CPU Cycles:**</a:t>
            </a:r>
            <a:r>
              <a:rPr lang="en-US" sz="1700" kern="0" spc="-220" dirty="0">
                <a:solidFill>
                  <a:schemeClr val="accent6"/>
                </a:solidFill>
              </a:rPr>
              <a:t> A thread actively consumes CPU time while waiting for a condition, preventing other threads from running meaningful tasks.</a:t>
            </a:r>
          </a:p>
          <a:p>
            <a:pPr algn="just" fontAlgn="base"/>
            <a:r>
              <a:rPr lang="en-US" sz="1700" kern="0" spc="-220" dirty="0">
                <a:solidFill>
                  <a:schemeClr val="accent2"/>
                </a:solidFill>
              </a:rPr>
              <a:t>**Thread Pool Starvation:**</a:t>
            </a:r>
            <a:r>
              <a:rPr lang="en-US" sz="1700" kern="0" spc="-220" dirty="0">
                <a:solidFill>
                  <a:schemeClr val="accent6"/>
                </a:solidFill>
              </a:rPr>
              <a:t> In environments like ASP.NET, busy-waiting can starve the thread pool, leading to degraded application responsiveness and potential deadlocks.</a:t>
            </a:r>
          </a:p>
          <a:p>
            <a:pPr algn="just" fontAlgn="base"/>
            <a:r>
              <a:rPr lang="en-US" sz="1700" kern="0" spc="-220" dirty="0">
                <a:solidFill>
                  <a:schemeClr val="accent2"/>
                </a:solidFill>
              </a:rPr>
              <a:t>**Alternatives:** </a:t>
            </a:r>
            <a:r>
              <a:rPr lang="en-US" sz="1700" kern="0" spc="-220" dirty="0">
                <a:solidFill>
                  <a:schemeClr val="accent6"/>
                </a:solidFill>
              </a:rPr>
              <a:t>C# provides robust synchronization primitives that put threads to sleep (non-busy wait) until a signal is received, such as:</a:t>
            </a:r>
          </a:p>
          <a:p>
            <a:pPr algn="just" fontAlgn="base"/>
            <a:r>
              <a:rPr lang="en-US" sz="1700" kern="0" spc="-220" dirty="0">
                <a:solidFill>
                  <a:schemeClr val="accent6"/>
                </a:solidFill>
              </a:rPr>
              <a:t>    *   `lock` (which uses `Monitor` internally)</a:t>
            </a:r>
          </a:p>
          <a:p>
            <a:pPr algn="just" fontAlgn="base"/>
            <a:r>
              <a:rPr lang="en-US" sz="1700" kern="0" spc="-220" dirty="0">
                <a:solidFill>
                  <a:schemeClr val="accent6"/>
                </a:solidFill>
              </a:rPr>
              <a:t>    *   `</a:t>
            </a:r>
            <a:r>
              <a:rPr lang="en-US" sz="1700" kern="0" spc="-220" dirty="0" err="1">
                <a:solidFill>
                  <a:schemeClr val="accent6"/>
                </a:solidFill>
              </a:rPr>
              <a:t>SemaphoreSlim</a:t>
            </a:r>
            <a:r>
              <a:rPr lang="en-US" sz="1700" kern="0" spc="-220" dirty="0">
                <a:solidFill>
                  <a:schemeClr val="accent6"/>
                </a:solidFill>
              </a:rPr>
              <a:t>`</a:t>
            </a:r>
          </a:p>
          <a:p>
            <a:pPr algn="just" fontAlgn="base"/>
            <a:r>
              <a:rPr lang="en-US" sz="1700" kern="0" spc="-220" dirty="0">
                <a:solidFill>
                  <a:schemeClr val="accent6"/>
                </a:solidFill>
              </a:rPr>
              <a:t>    *   `</a:t>
            </a:r>
            <a:r>
              <a:rPr lang="en-US" sz="1700" kern="0" spc="-220" dirty="0" err="1">
                <a:solidFill>
                  <a:schemeClr val="accent6"/>
                </a:solidFill>
              </a:rPr>
              <a:t>ManualResetEvent</a:t>
            </a:r>
            <a:r>
              <a:rPr lang="en-US" sz="1700" kern="0" spc="-220" dirty="0">
                <a:solidFill>
                  <a:schemeClr val="accent6"/>
                </a:solidFill>
              </a:rPr>
              <a:t>`/`</a:t>
            </a:r>
            <a:r>
              <a:rPr lang="en-US" sz="1700" kern="0" spc="-220" dirty="0" err="1">
                <a:solidFill>
                  <a:schemeClr val="accent6"/>
                </a:solidFill>
              </a:rPr>
              <a:t>AutoResetEvent</a:t>
            </a:r>
            <a:r>
              <a:rPr lang="en-US" sz="1700" kern="0" spc="-220" dirty="0">
                <a:solidFill>
                  <a:schemeClr val="accent6"/>
                </a:solidFill>
              </a:rPr>
              <a:t>`</a:t>
            </a:r>
          </a:p>
          <a:p>
            <a:pPr algn="just" fontAlgn="base"/>
            <a:r>
              <a:rPr lang="en-US" sz="1700" kern="0" spc="-220" dirty="0">
                <a:solidFill>
                  <a:schemeClr val="accent6"/>
                </a:solidFill>
              </a:rPr>
              <a:t>    *   `</a:t>
            </a:r>
            <a:r>
              <a:rPr lang="en-US" sz="1700" kern="0" spc="-220" dirty="0" err="1">
                <a:solidFill>
                  <a:schemeClr val="accent6"/>
                </a:solidFill>
              </a:rPr>
              <a:t>BlockingCollection</a:t>
            </a:r>
            <a:r>
              <a:rPr lang="en-US" sz="1700" kern="0" spc="-220" dirty="0">
                <a:solidFill>
                  <a:schemeClr val="accent6"/>
                </a:solidFill>
              </a:rPr>
              <a:t>` for producer-consumer scenarios</a:t>
            </a:r>
          </a:p>
          <a:p>
            <a:pPr algn="just" fontAlgn="base"/>
            <a:r>
              <a:rPr lang="en-US" sz="1700" kern="0" spc="-220" dirty="0">
                <a:solidFill>
                  <a:schemeClr val="accent6"/>
                </a:solidFill>
              </a:rPr>
              <a:t>Using these non-busy waiting mechanisms allows the operating system's scheduler to utilize the CPU efficiently by allocating time to threads that actually have work to do.</a:t>
            </a:r>
          </a:p>
        </p:txBody>
      </p:sp>
    </p:spTree>
    <p:extLst>
      <p:ext uri="{BB962C8B-B14F-4D97-AF65-F5344CB8AC3E}">
        <p14:creationId xmlns:p14="http://schemas.microsoft.com/office/powerpoint/2010/main" val="461956709"/>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E05F6423-24A2-AC88-B228-4CA42CB8E405}"/>
              </a:ext>
            </a:extLst>
          </p:cNvPr>
          <p:cNvSpPr txBox="1">
            <a:spLocks/>
          </p:cNvSpPr>
          <p:nvPr/>
        </p:nvSpPr>
        <p:spPr>
          <a:xfrm>
            <a:off x="243763" y="1173807"/>
            <a:ext cx="8624937" cy="489364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2"/>
                </a:solidFill>
              </a:rPr>
              <a:t>Synchronization –</a:t>
            </a:r>
          </a:p>
          <a:p>
            <a:pPr algn="just" fontAlgn="base"/>
            <a:r>
              <a:rPr lang="en-US" sz="2000" kern="0" spc="-220" dirty="0">
                <a:solidFill>
                  <a:schemeClr val="accent2"/>
                </a:solidFill>
              </a:rPr>
              <a:t>Other Techniques</a:t>
            </a:r>
          </a:p>
          <a:p>
            <a:pPr algn="just" fontAlgn="base"/>
            <a:r>
              <a:rPr lang="en-US" sz="1900" kern="0" spc="-220" dirty="0" err="1">
                <a:solidFill>
                  <a:schemeClr val="accent2"/>
                </a:solidFill>
              </a:rPr>
              <a:t>XSlim</a:t>
            </a:r>
            <a:r>
              <a:rPr lang="en-US" sz="1900" kern="0" spc="-220" dirty="0">
                <a:solidFill>
                  <a:schemeClr val="accent2"/>
                </a:solidFill>
              </a:rPr>
              <a:t> Locks where X can be Semaphore, </a:t>
            </a:r>
            <a:r>
              <a:rPr lang="en-US" sz="1900" kern="0" spc="-220" dirty="0" err="1">
                <a:solidFill>
                  <a:schemeClr val="accent2"/>
                </a:solidFill>
              </a:rPr>
              <a:t>ReaderWriterLock</a:t>
            </a:r>
            <a:r>
              <a:rPr lang="en-US" sz="1900" kern="0" spc="-220" dirty="0">
                <a:solidFill>
                  <a:schemeClr val="accent2"/>
                </a:solidFill>
              </a:rPr>
              <a:t> – </a:t>
            </a:r>
          </a:p>
          <a:p>
            <a:pPr algn="just" fontAlgn="base"/>
            <a:r>
              <a:rPr lang="en-US" sz="1900" kern="0" spc="-220" dirty="0" err="1">
                <a:solidFill>
                  <a:schemeClr val="accent6"/>
                </a:solidFill>
              </a:rPr>
              <a:t>X</a:t>
            </a:r>
            <a:r>
              <a:rPr lang="en-US" sz="1900" kern="0" spc="-220" dirty="0" err="1">
                <a:solidFill>
                  <a:schemeClr val="accent6"/>
                </a:solidFill>
                <a:hlinkClick r:id="rId7">
                  <a:extLst>
                    <a:ext uri="{A12FA001-AC4F-418D-AE19-62706E023703}">
                      <ahyp:hlinkClr xmlns:ahyp="http://schemas.microsoft.com/office/drawing/2018/hyperlinkcolor" val="tx"/>
                    </a:ext>
                  </a:extLst>
                </a:hlinkClick>
              </a:rPr>
              <a:t>Slim</a:t>
            </a:r>
            <a:r>
              <a:rPr lang="en-US" sz="1900" b="0" i="0" dirty="0">
                <a:solidFill>
                  <a:srgbClr val="161616"/>
                </a:solidFill>
                <a:effectLst/>
                <a:latin typeface="Segoe UI" panose="020B0502040204020203" pitchFamily="34" charset="0"/>
              </a:rPr>
              <a:t> </a:t>
            </a:r>
            <a:r>
              <a:rPr lang="en-US" sz="1900" kern="0" spc="-220" dirty="0">
                <a:solidFill>
                  <a:schemeClr val="accent6"/>
                </a:solidFill>
              </a:rPr>
              <a:t>represents a lightweight, fast construct that can be used for waiting when wait times are expected to be very </a:t>
            </a:r>
            <a:r>
              <a:rPr lang="en-US" sz="1900" kern="0" spc="-220" dirty="0" err="1">
                <a:solidFill>
                  <a:schemeClr val="accent6"/>
                </a:solidFill>
              </a:rPr>
              <a:t>short.In</a:t>
            </a:r>
            <a:r>
              <a:rPr lang="en-US" sz="1900" kern="0" spc="-220" dirty="0">
                <a:solidFill>
                  <a:schemeClr val="accent6"/>
                </a:solidFill>
              </a:rPr>
              <a:t> general, uses Busy Waiting or a relevant variant to implement the “Slim” versions.</a:t>
            </a:r>
          </a:p>
          <a:p>
            <a:pPr algn="just" fontAlgn="base"/>
            <a:r>
              <a:rPr lang="en-US" sz="1900" kern="0" spc="-220" dirty="0">
                <a:solidFill>
                  <a:schemeClr val="accent2"/>
                </a:solidFill>
              </a:rPr>
              <a:t>Async Awaiting inside C# Locks – </a:t>
            </a:r>
          </a:p>
          <a:p>
            <a:pPr algn="just" fontAlgn="base"/>
            <a:r>
              <a:rPr lang="en-IN" sz="1500" dirty="0">
                <a:hlinkClick r:id="rId8"/>
              </a:rPr>
              <a:t>Async Waiting inside C# Locks</a:t>
            </a:r>
            <a:r>
              <a:rPr lang="en-US" sz="1900" kern="0" spc="-220" dirty="0">
                <a:solidFill>
                  <a:schemeClr val="accent2"/>
                </a:solidFill>
              </a:rPr>
              <a:t>. </a:t>
            </a:r>
            <a:r>
              <a:rPr lang="en-US" sz="1900" kern="0" spc="-220" dirty="0" err="1">
                <a:solidFill>
                  <a:schemeClr val="accent6"/>
                </a:solidFill>
              </a:rPr>
              <a:t>Infact</a:t>
            </a:r>
            <a:r>
              <a:rPr lang="en-US" sz="1900" kern="0" spc="-220" dirty="0">
                <a:solidFill>
                  <a:schemeClr val="accent6"/>
                </a:solidFill>
              </a:rPr>
              <a:t>, this technique is possible with most of the constructs deriving from </a:t>
            </a:r>
            <a:r>
              <a:rPr lang="en-US" sz="1900" kern="0" spc="-220" dirty="0" err="1">
                <a:solidFill>
                  <a:schemeClr val="accent6"/>
                </a:solidFill>
              </a:rPr>
              <a:t>System.Threading.WaitHandle</a:t>
            </a:r>
            <a:r>
              <a:rPr lang="en-US" sz="1900" kern="0" spc="-220" dirty="0">
                <a:solidFill>
                  <a:schemeClr val="accent6"/>
                </a:solidFill>
              </a:rPr>
              <a:t>.</a:t>
            </a:r>
          </a:p>
          <a:p>
            <a:pPr algn="just" fontAlgn="base"/>
            <a:r>
              <a:rPr lang="en-US" sz="1900" kern="0" spc="-220" dirty="0">
                <a:solidFill>
                  <a:schemeClr val="accent2"/>
                </a:solidFill>
              </a:rPr>
              <a:t>Cancellation,  Lazy Initialization &amp;Thread Local Storage – </a:t>
            </a:r>
          </a:p>
          <a:p>
            <a:pPr algn="just" fontAlgn="base"/>
            <a:r>
              <a:rPr lang="en-US" sz="1500" dirty="0">
                <a:hlinkClick r:id="rId9"/>
              </a:rPr>
              <a:t>Threading in C# - Part 3 - Using Threads</a:t>
            </a:r>
            <a:r>
              <a:rPr lang="en-US" sz="1500" kern="0" spc="-220" dirty="0">
                <a:solidFill>
                  <a:schemeClr val="accent2"/>
                </a:solidFill>
              </a:rPr>
              <a:t>  </a:t>
            </a:r>
          </a:p>
          <a:p>
            <a:pPr algn="just" fontAlgn="base"/>
            <a:r>
              <a:rPr lang="en-US" sz="1500" dirty="0">
                <a:hlinkClick r:id="rId10"/>
              </a:rPr>
              <a:t>How to use cancellation tokens in ASP.NET Core 7 | InfoWorld</a:t>
            </a:r>
            <a:endParaRPr lang="en-US" sz="1500" dirty="0"/>
          </a:p>
          <a:p>
            <a:pPr algn="just" fontAlgn="base"/>
            <a:r>
              <a:rPr lang="en-US" sz="1900" kern="0" spc="-220" dirty="0">
                <a:solidFill>
                  <a:schemeClr val="accent6"/>
                </a:solidFill>
              </a:rPr>
              <a:t>For Web API, if the client is some Web UI or Non .NET 3rd party API, use a custom Middleware[or Filter] based on command(‘cancel’) pattern </a:t>
            </a:r>
            <a:r>
              <a:rPr lang="en-US" sz="1900" kern="0" spc="-220" dirty="0" err="1">
                <a:solidFill>
                  <a:schemeClr val="accent6"/>
                </a:solidFill>
              </a:rPr>
              <a:t>alongwith</a:t>
            </a:r>
            <a:r>
              <a:rPr lang="en-US" sz="1900" kern="0" spc="-220" dirty="0">
                <a:solidFill>
                  <a:schemeClr val="accent6"/>
                </a:solidFill>
              </a:rPr>
              <a:t> keeping track of the cancellation token per request(identifier passed by client) using some [distributed] cache.</a:t>
            </a:r>
          </a:p>
          <a:p>
            <a:pPr algn="just" fontAlgn="base"/>
            <a:r>
              <a:rPr lang="en-US" sz="2000" kern="0" spc="-220" dirty="0">
                <a:solidFill>
                  <a:schemeClr val="accent2"/>
                </a:solidFill>
              </a:rPr>
              <a:t>Lock Splitting and Lock Stripping - </a:t>
            </a:r>
            <a:r>
              <a:rPr lang="en-US" sz="2000" dirty="0">
                <a:hlinkClick r:id="rId11"/>
              </a:rPr>
              <a:t>Lock splitting vs lock striping</a:t>
            </a:r>
            <a:endParaRPr lang="en-US" sz="2000" dirty="0"/>
          </a:p>
          <a:p>
            <a:pPr algn="just" fontAlgn="base"/>
            <a:endParaRPr lang="en-US" sz="1900" kern="0" spc="-220" dirty="0">
              <a:solidFill>
                <a:schemeClr val="accent6"/>
              </a:solidFill>
            </a:endParaRPr>
          </a:p>
        </p:txBody>
      </p:sp>
    </p:spTree>
    <p:extLst>
      <p:ext uri="{BB962C8B-B14F-4D97-AF65-F5344CB8AC3E}">
        <p14:creationId xmlns:p14="http://schemas.microsoft.com/office/powerpoint/2010/main" val="1639995415"/>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F0B6C-6F36-1C33-12BB-9E92B3E9674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B64B8A9-3DDF-C5E6-6287-879C9604B80F}"/>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A72FF42-3700-D07D-9FF0-4F4539651358}"/>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52BA40-0534-5B21-6B9A-169AFDB4AC44}"/>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7CD17F07-B249-7D1E-C53B-9FED34CB0922}"/>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A4D2E16B-8B31-906B-4E03-F33433CC1072}"/>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58CDFE67-0CCD-74D9-3D2D-A4FDDD351BE7}"/>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14" name="object 2">
            <a:extLst>
              <a:ext uri="{FF2B5EF4-FFF2-40B4-BE49-F238E27FC236}">
                <a16:creationId xmlns:a16="http://schemas.microsoft.com/office/drawing/2014/main" id="{D4DD9FED-C1C6-EE19-EA3F-76DC7E1880B1}"/>
              </a:ext>
            </a:extLst>
          </p:cNvPr>
          <p:cNvSpPr txBox="1">
            <a:spLocks/>
          </p:cNvSpPr>
          <p:nvPr/>
        </p:nvSpPr>
        <p:spPr>
          <a:xfrm>
            <a:off x="243763" y="1104264"/>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Thread Contention, Starvation &amp; Safety</a:t>
            </a:r>
            <a:endParaRPr lang="en-US" sz="2000" kern="0" spc="-220" dirty="0">
              <a:solidFill>
                <a:schemeClr val="accent6"/>
              </a:solidFill>
            </a:endParaRPr>
          </a:p>
        </p:txBody>
      </p:sp>
      <p:pic>
        <p:nvPicPr>
          <p:cNvPr id="9" name="Picture 8">
            <a:extLst>
              <a:ext uri="{FF2B5EF4-FFF2-40B4-BE49-F238E27FC236}">
                <a16:creationId xmlns:a16="http://schemas.microsoft.com/office/drawing/2014/main" id="{5A75BF8E-064A-9F98-F26B-ADD62191A4B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3763" y="1473595"/>
            <a:ext cx="8716300" cy="2263325"/>
          </a:xfrm>
          <a:prstGeom prst="rect">
            <a:avLst/>
          </a:prstGeom>
        </p:spPr>
      </p:pic>
      <p:pic>
        <p:nvPicPr>
          <p:cNvPr id="12" name="Picture 11">
            <a:extLst>
              <a:ext uri="{FF2B5EF4-FFF2-40B4-BE49-F238E27FC236}">
                <a16:creationId xmlns:a16="http://schemas.microsoft.com/office/drawing/2014/main" id="{6EF9B5F6-D842-136C-A5E5-4771B009ECD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81000" y="3745339"/>
            <a:ext cx="8382000" cy="2198261"/>
          </a:xfrm>
          <a:prstGeom prst="rect">
            <a:avLst/>
          </a:prstGeom>
        </p:spPr>
      </p:pic>
    </p:spTree>
    <p:extLst>
      <p:ext uri="{BB962C8B-B14F-4D97-AF65-F5344CB8AC3E}">
        <p14:creationId xmlns:p14="http://schemas.microsoft.com/office/powerpoint/2010/main" val="3839630384"/>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9FFCF-2C06-765B-8D20-D66DF571BB3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95844B8-84D9-6F8E-0E40-A388C198B7EB}"/>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17F73C3-BB8A-852D-A460-EB84C956D26F}"/>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4A7B882-9A39-AB6F-3CB1-6CB846A1B988}"/>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01199628-10FC-E153-3A41-8FFD4ADD250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79BC0ABC-CB47-20F6-4E77-49E1C4CBF433}"/>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32AB08E0-7C32-FCE0-37CE-014F47A772A7}"/>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14" name="object 2">
            <a:extLst>
              <a:ext uri="{FF2B5EF4-FFF2-40B4-BE49-F238E27FC236}">
                <a16:creationId xmlns:a16="http://schemas.microsoft.com/office/drawing/2014/main" id="{E14A00C3-CA60-BC35-7577-CDE98598B1F9}"/>
              </a:ext>
            </a:extLst>
          </p:cNvPr>
          <p:cNvSpPr txBox="1">
            <a:spLocks/>
          </p:cNvSpPr>
          <p:nvPr/>
        </p:nvSpPr>
        <p:spPr>
          <a:xfrm>
            <a:off x="243763" y="1104264"/>
            <a:ext cx="8624937" cy="430887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kern="0" spc="-220" dirty="0">
                <a:solidFill>
                  <a:schemeClr val="accent2"/>
                </a:solidFill>
              </a:rPr>
              <a:t>Thread Contention, Starvation &amp; Safety</a:t>
            </a:r>
          </a:p>
          <a:p>
            <a:r>
              <a:rPr lang="en-US" sz="2000" kern="0" spc="-220" dirty="0">
                <a:solidFill>
                  <a:schemeClr val="accent2"/>
                </a:solidFill>
              </a:rPr>
              <a:t>Detailed Breakdown</a:t>
            </a:r>
          </a:p>
          <a:p>
            <a:r>
              <a:rPr lang="en-US" sz="2000" kern="0" spc="-220" dirty="0">
                <a:solidFill>
                  <a:schemeClr val="accent2"/>
                </a:solidFill>
              </a:rPr>
              <a:t>Contention (Lock Contentions): </a:t>
            </a:r>
            <a:r>
              <a:rPr lang="en-US" sz="2000" kern="0" spc="-220" dirty="0">
                <a:solidFill>
                  <a:schemeClr val="accent6"/>
                </a:solidFill>
              </a:rPr>
              <a:t>Occurs when a thread attempts to acquire a </a:t>
            </a:r>
            <a:r>
              <a:rPr lang="en-US" sz="2000" kern="0" spc="-220" dirty="0" err="1">
                <a:solidFill>
                  <a:schemeClr val="accent6"/>
                </a:solidFill>
              </a:rPr>
              <a:t>System.Threading.Monitor</a:t>
            </a:r>
            <a:r>
              <a:rPr lang="en-US" sz="2000" kern="0" spc="-220" dirty="0">
                <a:solidFill>
                  <a:schemeClr val="accent6"/>
                </a:solidFill>
              </a:rPr>
              <a:t> lock held by another thread, causing the requester to wait. This is normal but becomes a bottleneck when critical sections are too long or used too often.</a:t>
            </a:r>
          </a:p>
          <a:p>
            <a:r>
              <a:rPr lang="en-US" sz="2000" kern="0" spc="-220" dirty="0">
                <a:solidFill>
                  <a:schemeClr val="accent2"/>
                </a:solidFill>
              </a:rPr>
              <a:t>Starvation: </a:t>
            </a:r>
            <a:r>
              <a:rPr lang="en-US" sz="2000" kern="0" spc="-220" dirty="0">
                <a:solidFill>
                  <a:schemeClr val="accent6"/>
                </a:solidFill>
              </a:rPr>
              <a:t>Occurs when the .NET </a:t>
            </a:r>
            <a:r>
              <a:rPr lang="en-US" sz="2000" kern="0" spc="-220" dirty="0" err="1">
                <a:solidFill>
                  <a:schemeClr val="accent6"/>
                </a:solidFill>
              </a:rPr>
              <a:t>ThreadPool</a:t>
            </a:r>
            <a:r>
              <a:rPr lang="en-US" sz="2000" kern="0" spc="-220" dirty="0">
                <a:solidFill>
                  <a:schemeClr val="accent6"/>
                </a:solidFill>
              </a:rPr>
              <a:t> has no available threads to process new work items, usually because existing threads are blocked (e.g., synchronous I/O). The system becomes unresponsive because it cannot spawn new threads quickly enough.</a:t>
            </a:r>
          </a:p>
          <a:p>
            <a:r>
              <a:rPr lang="en-US" sz="2000" kern="0" spc="-220" dirty="0">
                <a:solidFill>
                  <a:schemeClr val="accent2"/>
                </a:solidFill>
              </a:rPr>
              <a:t>Safety: </a:t>
            </a:r>
            <a:r>
              <a:rPr lang="en-US" sz="2000" kern="0" spc="-220" dirty="0">
                <a:solidFill>
                  <a:schemeClr val="accent6"/>
                </a:solidFill>
              </a:rPr>
              <a:t>Ensures that data is not corrupted during simultaneous access. While necessary, over-synchronization leads to excessive contention. .NET generic collections are not thread-safe by default to maintain high performance for single-threaded scenarios. </a:t>
            </a:r>
          </a:p>
        </p:txBody>
      </p:sp>
    </p:spTree>
    <p:extLst>
      <p:ext uri="{BB962C8B-B14F-4D97-AF65-F5344CB8AC3E}">
        <p14:creationId xmlns:p14="http://schemas.microsoft.com/office/powerpoint/2010/main" val="3654484421"/>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FBF47-B24C-78F2-5C31-EC40F5E47BE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F7B7787-8B49-A122-9731-587CF733E9F7}"/>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CBCD4C5-709A-D80A-9E3D-4C6ED99D0EEE}"/>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233D567-3EF7-AD82-908B-A106E726F887}"/>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3DF973AB-1479-85B7-6EEA-0CB8DBFEED03}"/>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C3DD7262-F3CD-CC76-DDDD-071DE05E1BD4}"/>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904C8E6E-6112-F624-B66D-0EBC7176952D}"/>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CD7EE3A1-5DE3-BA3C-4E34-B88DECE49887}"/>
              </a:ext>
            </a:extLst>
          </p:cNvPr>
          <p:cNvSpPr txBox="1">
            <a:spLocks/>
          </p:cNvSpPr>
          <p:nvPr/>
        </p:nvSpPr>
        <p:spPr>
          <a:xfrm>
            <a:off x="228523" y="1140023"/>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2"/>
                </a:solidFill>
              </a:rPr>
              <a:t>.NET Lock Based vs Lock Free vs Wait Free Techniques </a:t>
            </a:r>
          </a:p>
        </p:txBody>
      </p:sp>
      <p:pic>
        <p:nvPicPr>
          <p:cNvPr id="9" name="Picture 8">
            <a:extLst>
              <a:ext uri="{FF2B5EF4-FFF2-40B4-BE49-F238E27FC236}">
                <a16:creationId xmlns:a16="http://schemas.microsoft.com/office/drawing/2014/main" id="{A358ACE7-BCAE-3A49-70CA-083FD7352CF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56018" y="1424941"/>
            <a:ext cx="8792499" cy="1470659"/>
          </a:xfrm>
          <a:prstGeom prst="rect">
            <a:avLst/>
          </a:prstGeom>
        </p:spPr>
      </p:pic>
      <p:pic>
        <p:nvPicPr>
          <p:cNvPr id="12" name="Picture 11">
            <a:extLst>
              <a:ext uri="{FF2B5EF4-FFF2-40B4-BE49-F238E27FC236}">
                <a16:creationId xmlns:a16="http://schemas.microsoft.com/office/drawing/2014/main" id="{E845A8CC-3639-EC27-646A-E708ECCFF1E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9283" y="2971800"/>
            <a:ext cx="8972317" cy="1470659"/>
          </a:xfrm>
          <a:prstGeom prst="rect">
            <a:avLst/>
          </a:prstGeom>
        </p:spPr>
      </p:pic>
      <p:pic>
        <p:nvPicPr>
          <p:cNvPr id="14" name="Picture 13">
            <a:extLst>
              <a:ext uri="{FF2B5EF4-FFF2-40B4-BE49-F238E27FC236}">
                <a16:creationId xmlns:a16="http://schemas.microsoft.com/office/drawing/2014/main" id="{B79E521E-10B4-6A28-54AE-8A8D422900C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52400" y="4473959"/>
            <a:ext cx="8671714" cy="1317241"/>
          </a:xfrm>
          <a:prstGeom prst="rect">
            <a:avLst/>
          </a:prstGeom>
        </p:spPr>
      </p:pic>
    </p:spTree>
    <p:extLst>
      <p:ext uri="{BB962C8B-B14F-4D97-AF65-F5344CB8AC3E}">
        <p14:creationId xmlns:p14="http://schemas.microsoft.com/office/powerpoint/2010/main" val="3088091204"/>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9A50D-0C8A-4CD7-146D-486E19F4D1A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BF31939-181F-C102-BE98-B229222E9F5F}"/>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C0C1EC2-9214-F18D-7F04-CD7262E57BE6}"/>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8B9D447-F566-3C31-BF51-6DFE9844AAF5}"/>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64604B0D-B748-2FC6-AA1A-0271C74A1A59}"/>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E7447791-0613-63E7-E7F9-24702097FFEB}"/>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8CE0258C-9182-AFC7-3D5E-DE9E5757C25F}"/>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D702AB22-EC11-F17C-71AD-1844897EBD85}"/>
              </a:ext>
            </a:extLst>
          </p:cNvPr>
          <p:cNvSpPr txBox="1">
            <a:spLocks/>
          </p:cNvSpPr>
          <p:nvPr/>
        </p:nvSpPr>
        <p:spPr>
          <a:xfrm>
            <a:off x="228523" y="1140023"/>
            <a:ext cx="8624937" cy="478592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2"/>
                </a:solidFill>
              </a:rPr>
              <a:t>.NET Lock Based vs Lock Free vs Wait Free Techniques </a:t>
            </a:r>
          </a:p>
          <a:p>
            <a:pPr algn="just" fontAlgn="base"/>
            <a:r>
              <a:rPr lang="en-US" sz="2000" kern="0" spc="-220" dirty="0">
                <a:solidFill>
                  <a:schemeClr val="accent2"/>
                </a:solidFill>
              </a:rPr>
              <a:t>Detailed Technique Characteristics</a:t>
            </a:r>
          </a:p>
          <a:p>
            <a:pPr algn="just" fontAlgn="base"/>
            <a:r>
              <a:rPr lang="en-US" sz="1400" kern="0" spc="-220" dirty="0">
                <a:solidFill>
                  <a:schemeClr val="accent2"/>
                </a:solidFill>
              </a:rPr>
              <a:t>Lock-Based (Pessimistic):</a:t>
            </a:r>
          </a:p>
          <a:p>
            <a:pPr algn="just" fontAlgn="base"/>
            <a:r>
              <a:rPr lang="en-US" sz="1400" kern="0" spc="-220" dirty="0">
                <a:solidFill>
                  <a:schemeClr val="accent2"/>
                </a:solidFill>
              </a:rPr>
              <a:t>Mechanism: </a:t>
            </a:r>
            <a:r>
              <a:rPr lang="en-US" sz="1400" kern="0" spc="-220" dirty="0">
                <a:solidFill>
                  <a:schemeClr val="accent6"/>
                </a:solidFill>
              </a:rPr>
              <a:t>Prevents concurrent access by forcing threads to wait until a resource is released.</a:t>
            </a:r>
          </a:p>
          <a:p>
            <a:pPr algn="just" fontAlgn="base"/>
            <a:r>
              <a:rPr lang="en-US" sz="1400" kern="0" spc="-220" dirty="0">
                <a:solidFill>
                  <a:schemeClr val="accent2"/>
                </a:solidFill>
              </a:rPr>
              <a:t>Pros: </a:t>
            </a:r>
            <a:r>
              <a:rPr lang="en-US" sz="1400" kern="0" spc="-220" dirty="0">
                <a:solidFill>
                  <a:schemeClr val="accent6"/>
                </a:solidFill>
              </a:rPr>
              <a:t>Easiest to implement and verify; protects complex data structures efficiently when contention is low.</a:t>
            </a:r>
          </a:p>
          <a:p>
            <a:pPr algn="just" fontAlgn="base"/>
            <a:r>
              <a:rPr lang="en-US" sz="1400" kern="0" spc="-220" dirty="0">
                <a:solidFill>
                  <a:schemeClr val="accent2"/>
                </a:solidFill>
              </a:rPr>
              <a:t>Cons: </a:t>
            </a:r>
            <a:r>
              <a:rPr lang="en-US" sz="1400" kern="0" spc="-220" dirty="0">
                <a:solidFill>
                  <a:schemeClr val="accent6"/>
                </a:solidFill>
              </a:rPr>
              <a:t>Subject to Priority Inversion and Deadlocks. Thread suspension causes expensive context switches to the kernel.</a:t>
            </a:r>
          </a:p>
          <a:p>
            <a:pPr algn="just" fontAlgn="base"/>
            <a:r>
              <a:rPr lang="en-US" sz="1400" kern="0" spc="-220" dirty="0">
                <a:solidFill>
                  <a:schemeClr val="accent2"/>
                </a:solidFill>
              </a:rPr>
              <a:t>Lock-Free (Optimistic):</a:t>
            </a:r>
          </a:p>
          <a:p>
            <a:pPr algn="just" fontAlgn="base"/>
            <a:r>
              <a:rPr lang="en-US" sz="1400" kern="0" spc="-220" dirty="0">
                <a:solidFill>
                  <a:schemeClr val="accent2"/>
                </a:solidFill>
              </a:rPr>
              <a:t>Mechanism: </a:t>
            </a:r>
            <a:r>
              <a:rPr lang="en-US" sz="1400" kern="0" spc="-220" dirty="0">
                <a:solidFill>
                  <a:schemeClr val="accent6"/>
                </a:solidFill>
              </a:rPr>
              <a:t>Uses atomic operations like Compare-And-Swap (CAS). If an update fails because another thread changed the data, the thread retries.</a:t>
            </a:r>
          </a:p>
          <a:p>
            <a:pPr algn="just" fontAlgn="base"/>
            <a:r>
              <a:rPr lang="en-US" sz="1400" kern="0" spc="-220" dirty="0">
                <a:solidFill>
                  <a:schemeClr val="accent2"/>
                </a:solidFill>
              </a:rPr>
              <a:t>Pros: </a:t>
            </a:r>
            <a:r>
              <a:rPr lang="en-US" sz="1400" kern="0" spc="-220" dirty="0">
                <a:solidFill>
                  <a:schemeClr val="accent6"/>
                </a:solidFill>
              </a:rPr>
              <a:t>Avoids deadlocks; high throughput because threads don't go to sleep.</a:t>
            </a:r>
          </a:p>
          <a:p>
            <a:pPr algn="just" fontAlgn="base"/>
            <a:r>
              <a:rPr lang="en-US" sz="1400" kern="0" spc="-220" dirty="0">
                <a:solidFill>
                  <a:schemeClr val="accent2"/>
                </a:solidFill>
              </a:rPr>
              <a:t>Cons: </a:t>
            </a:r>
            <a:r>
              <a:rPr lang="en-US" sz="1400" kern="0" spc="-220" dirty="0">
                <a:solidFill>
                  <a:schemeClr val="accent6"/>
                </a:solidFill>
              </a:rPr>
              <a:t>Individual threads can suffer from Starvation if they are perpetually unlucky during retries.</a:t>
            </a:r>
          </a:p>
          <a:p>
            <a:pPr algn="just" fontAlgn="base"/>
            <a:r>
              <a:rPr lang="en-US" sz="1400" kern="0" spc="-220" dirty="0">
                <a:solidFill>
                  <a:schemeClr val="accent2"/>
                </a:solidFill>
              </a:rPr>
              <a:t>Wait-Free (Guaranteed):</a:t>
            </a:r>
          </a:p>
          <a:p>
            <a:pPr algn="just" fontAlgn="base"/>
            <a:r>
              <a:rPr lang="en-US" sz="1400" kern="0" spc="-220" dirty="0">
                <a:solidFill>
                  <a:schemeClr val="accent2"/>
                </a:solidFill>
              </a:rPr>
              <a:t>Mechanism: </a:t>
            </a:r>
            <a:r>
              <a:rPr lang="en-US" sz="1400" kern="0" spc="-220" dirty="0">
                <a:solidFill>
                  <a:schemeClr val="accent6"/>
                </a:solidFill>
              </a:rPr>
              <a:t>Usually involves a "helping" mechanism where a fast thread identifies a stalled thread and completes its operation before finishing its own.</a:t>
            </a:r>
          </a:p>
          <a:p>
            <a:pPr algn="just" fontAlgn="base"/>
            <a:r>
              <a:rPr lang="en-US" sz="1400" kern="0" spc="-220" dirty="0">
                <a:solidFill>
                  <a:schemeClr val="accent2"/>
                </a:solidFill>
              </a:rPr>
              <a:t>Pros: </a:t>
            </a:r>
            <a:r>
              <a:rPr lang="en-US" sz="1400" kern="0" spc="-220" dirty="0">
                <a:solidFill>
                  <a:schemeClr val="accent6"/>
                </a:solidFill>
              </a:rPr>
              <a:t>Essential for Real-Time Systems where every operation must meet a strict deadline.</a:t>
            </a:r>
          </a:p>
          <a:p>
            <a:pPr algn="just" fontAlgn="base"/>
            <a:r>
              <a:rPr lang="en-US" sz="1400" kern="0" spc="-220" dirty="0">
                <a:solidFill>
                  <a:schemeClr val="accent2"/>
                </a:solidFill>
              </a:rPr>
              <a:t>Cons: </a:t>
            </a:r>
            <a:r>
              <a:rPr lang="en-US" sz="1400" kern="0" spc="-220" dirty="0">
                <a:solidFill>
                  <a:schemeClr val="accent6"/>
                </a:solidFill>
              </a:rPr>
              <a:t>Extremely difficult to design correctly; often carries slightly more overhead than lock-free due to the complexity of the "helping" logic.</a:t>
            </a:r>
          </a:p>
          <a:p>
            <a:pPr algn="just" fontAlgn="base"/>
            <a:endParaRPr lang="en-US" sz="1400" kern="0" spc="-220" dirty="0">
              <a:solidFill>
                <a:schemeClr val="accent6"/>
              </a:solidFill>
            </a:endParaRPr>
          </a:p>
          <a:p>
            <a:pPr algn="just" fontAlgn="base"/>
            <a:r>
              <a:rPr lang="en-US" sz="1500" kern="0" spc="-220" dirty="0">
                <a:solidFill>
                  <a:schemeClr val="accent2"/>
                </a:solidFill>
              </a:rPr>
              <a:t>For Further Exploration</a:t>
            </a:r>
          </a:p>
          <a:p>
            <a:pPr algn="just" fontAlgn="base"/>
            <a:r>
              <a:rPr lang="en-IN" sz="1600" dirty="0">
                <a:hlinkClick r:id="rId7"/>
              </a:rPr>
              <a:t>Wait Free Algos</a:t>
            </a:r>
            <a:endParaRPr lang="en-IN" sz="1600" dirty="0"/>
          </a:p>
          <a:p>
            <a:pPr algn="just" fontAlgn="base"/>
            <a:r>
              <a:rPr lang="en-US" sz="1600" dirty="0">
                <a:hlinkClick r:id="rId8"/>
              </a:rPr>
              <a:t>The Art of Multiprocessor Programming</a:t>
            </a:r>
            <a:endParaRPr lang="en-US" sz="1500" kern="0" spc="-220" dirty="0">
              <a:solidFill>
                <a:schemeClr val="accent2"/>
              </a:solidFill>
            </a:endParaRPr>
          </a:p>
        </p:txBody>
      </p:sp>
    </p:spTree>
    <p:extLst>
      <p:ext uri="{BB962C8B-B14F-4D97-AF65-F5344CB8AC3E}">
        <p14:creationId xmlns:p14="http://schemas.microsoft.com/office/powerpoint/2010/main" val="897411323"/>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AD825-BAAC-6C1E-3308-EDCEDB1DE04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A5355E5-A095-CF74-FA67-ADC7BA38F46E}"/>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95B24CF-AD3F-1ADC-AC06-39A3E6B964AD}"/>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72A413C-B05F-919F-EA84-82F389AC243B}"/>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0F37528-02F6-68F1-833B-FC3FA8473059}"/>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BBE66840-5D0D-FB3B-E4DE-7D36BCE6BD3D}"/>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E30F1556-F51E-C78B-11B0-AEBBF3D894AB}"/>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14" name="object 2">
            <a:extLst>
              <a:ext uri="{FF2B5EF4-FFF2-40B4-BE49-F238E27FC236}">
                <a16:creationId xmlns:a16="http://schemas.microsoft.com/office/drawing/2014/main" id="{A627672F-B57F-65A6-50CC-EE185EA40E1A}"/>
              </a:ext>
            </a:extLst>
          </p:cNvPr>
          <p:cNvSpPr txBox="1">
            <a:spLocks/>
          </p:cNvSpPr>
          <p:nvPr/>
        </p:nvSpPr>
        <p:spPr>
          <a:xfrm>
            <a:off x="228600" y="1066800"/>
            <a:ext cx="8624937" cy="46935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Race Condition &amp; Dead Lock Detection in .NET– </a:t>
            </a:r>
          </a:p>
          <a:p>
            <a:r>
              <a:rPr lang="en-US" sz="1500" dirty="0">
                <a:solidFill>
                  <a:schemeClr val="accent6"/>
                </a:solidFill>
                <a:latin typeface="Google Sans"/>
                <a:ea typeface="+mn-ea"/>
                <a:cs typeface="+mn-cs"/>
              </a:rPr>
              <a:t>Detecting race conditions and deadlocks in C# involves a combination of design best practices, careful code review, and specialized tooling. Since these issues are non-deterministic and can be difficult to reproduce, a multi-faceted approach is key. </a:t>
            </a:r>
          </a:p>
          <a:p>
            <a:r>
              <a:rPr lang="en-US" sz="1500" dirty="0">
                <a:solidFill>
                  <a:schemeClr val="accent2"/>
                </a:solidFill>
                <a:latin typeface="Google Sans"/>
                <a:ea typeface="+mn-ea"/>
                <a:cs typeface="+mn-cs"/>
              </a:rPr>
              <a:t>Detecting Race Conditions</a:t>
            </a:r>
          </a:p>
          <a:p>
            <a:r>
              <a:rPr lang="en-US" sz="1500" dirty="0">
                <a:solidFill>
                  <a:schemeClr val="accent6"/>
                </a:solidFill>
                <a:latin typeface="Google Sans"/>
                <a:ea typeface="+mn-ea"/>
                <a:cs typeface="+mn-cs"/>
              </a:rPr>
              <a:t>A race condition occurs when the outcome of a program depends on the unpredictable timing or order of execution of multiple threads accessing shared resources. </a:t>
            </a:r>
          </a:p>
          <a:p>
            <a:r>
              <a:rPr lang="en-US" sz="1500" dirty="0">
                <a:solidFill>
                  <a:schemeClr val="accent2"/>
                </a:solidFill>
                <a:latin typeface="Google Sans"/>
                <a:ea typeface="+mn-ea"/>
                <a:cs typeface="+mn-cs"/>
              </a:rPr>
              <a:t>Manual Detection and Prevention</a:t>
            </a:r>
          </a:p>
          <a:p>
            <a:r>
              <a:rPr lang="en-US" sz="1500" dirty="0">
                <a:solidFill>
                  <a:schemeClr val="accent2"/>
                </a:solidFill>
                <a:latin typeface="Google Sans"/>
                <a:ea typeface="+mn-ea"/>
                <a:cs typeface="+mn-cs"/>
              </a:rPr>
              <a:t>Code Review: </a:t>
            </a:r>
            <a:r>
              <a:rPr lang="en-US" sz="1500" dirty="0">
                <a:solidFill>
                  <a:schemeClr val="accent6"/>
                </a:solidFill>
                <a:latin typeface="Google Sans"/>
                <a:ea typeface="+mn-ea"/>
                <a:cs typeface="+mn-cs"/>
              </a:rPr>
              <a:t>Carefully review code for shared variables accessed by multiple threads without proper synchronization. Look for scenarios where operations (like count++, which is not atomic) are broken into multiple steps (read, increment, write).</a:t>
            </a:r>
          </a:p>
          <a:p>
            <a:r>
              <a:rPr lang="en-US" sz="1500" dirty="0">
                <a:solidFill>
                  <a:schemeClr val="accent2"/>
                </a:solidFill>
                <a:latin typeface="Google Sans"/>
                <a:ea typeface="+mn-ea"/>
                <a:cs typeface="+mn-cs"/>
              </a:rPr>
              <a:t>Design Practices:</a:t>
            </a:r>
          </a:p>
          <a:p>
            <a:r>
              <a:rPr lang="en-US" sz="1500" dirty="0">
                <a:solidFill>
                  <a:schemeClr val="accent2"/>
                </a:solidFill>
                <a:latin typeface="Google Sans"/>
                <a:ea typeface="+mn-ea"/>
                <a:cs typeface="+mn-cs"/>
              </a:rPr>
              <a:t>Avoid Shared State: </a:t>
            </a:r>
            <a:r>
              <a:rPr lang="en-US" sz="1500" dirty="0">
                <a:solidFill>
                  <a:schemeClr val="accent6"/>
                </a:solidFill>
                <a:latin typeface="Google Sans"/>
                <a:ea typeface="+mn-ea"/>
                <a:cs typeface="+mn-cs"/>
              </a:rPr>
              <a:t>Design code to avoid sharing data between threads whenever possible.</a:t>
            </a:r>
          </a:p>
          <a:p>
            <a:r>
              <a:rPr lang="en-US" sz="1500" dirty="0">
                <a:solidFill>
                  <a:schemeClr val="accent2"/>
                </a:solidFill>
                <a:latin typeface="Google Sans"/>
                <a:ea typeface="+mn-ea"/>
                <a:cs typeface="+mn-cs"/>
              </a:rPr>
              <a:t>Use Thread-Safe Collections:</a:t>
            </a:r>
            <a:r>
              <a:rPr lang="en-US" sz="1500" dirty="0">
                <a:solidFill>
                  <a:schemeClr val="accent6"/>
                </a:solidFill>
                <a:latin typeface="Google Sans"/>
                <a:ea typeface="+mn-ea"/>
                <a:cs typeface="+mn-cs"/>
              </a:rPr>
              <a:t> Utilize built-in concurrent collections like </a:t>
            </a:r>
            <a:r>
              <a:rPr lang="en-US" sz="1500" dirty="0" err="1">
                <a:solidFill>
                  <a:schemeClr val="accent6"/>
                </a:solidFill>
                <a:latin typeface="Google Sans"/>
                <a:ea typeface="+mn-ea"/>
                <a:cs typeface="+mn-cs"/>
              </a:rPr>
              <a:t>ConcurrentDictionary</a:t>
            </a:r>
            <a:r>
              <a:rPr lang="en-US" sz="1500" dirty="0">
                <a:solidFill>
                  <a:schemeClr val="accent6"/>
                </a:solidFill>
                <a:latin typeface="Google Sans"/>
                <a:ea typeface="+mn-ea"/>
                <a:cs typeface="+mn-cs"/>
              </a:rPr>
              <a:t>&lt;</a:t>
            </a:r>
            <a:r>
              <a:rPr lang="en-US" sz="1500" dirty="0" err="1">
                <a:solidFill>
                  <a:schemeClr val="accent6"/>
                </a:solidFill>
                <a:latin typeface="Google Sans"/>
                <a:ea typeface="+mn-ea"/>
                <a:cs typeface="+mn-cs"/>
              </a:rPr>
              <a:t>TKey</a:t>
            </a:r>
            <a:r>
              <a:rPr lang="en-US" sz="1500" dirty="0">
                <a:solidFill>
                  <a:schemeClr val="accent6"/>
                </a:solidFill>
                <a:latin typeface="Google Sans"/>
                <a:ea typeface="+mn-ea"/>
                <a:cs typeface="+mn-cs"/>
              </a:rPr>
              <a:t>, TValue&gt; or </a:t>
            </a:r>
            <a:r>
              <a:rPr lang="en-US" sz="1500" dirty="0" err="1">
                <a:solidFill>
                  <a:schemeClr val="accent6"/>
                </a:solidFill>
                <a:latin typeface="Google Sans"/>
                <a:ea typeface="+mn-ea"/>
                <a:cs typeface="+mn-cs"/>
              </a:rPr>
              <a:t>BlockingCollection</a:t>
            </a:r>
            <a:r>
              <a:rPr lang="en-US" sz="1500" dirty="0">
                <a:solidFill>
                  <a:schemeClr val="accent6"/>
                </a:solidFill>
                <a:latin typeface="Google Sans"/>
                <a:ea typeface="+mn-ea"/>
                <a:cs typeface="+mn-cs"/>
              </a:rPr>
              <a:t>&lt;T&gt; which manage synchronization internally.</a:t>
            </a:r>
          </a:p>
          <a:p>
            <a:r>
              <a:rPr lang="en-US" sz="1500" dirty="0">
                <a:solidFill>
                  <a:schemeClr val="accent2"/>
                </a:solidFill>
                <a:latin typeface="Google Sans"/>
                <a:ea typeface="+mn-ea"/>
                <a:cs typeface="+mn-cs"/>
              </a:rPr>
              <a:t>Immutability: </a:t>
            </a:r>
            <a:r>
              <a:rPr lang="en-US" sz="1500" dirty="0">
                <a:solidFill>
                  <a:schemeClr val="accent6"/>
                </a:solidFill>
                <a:latin typeface="Google Sans"/>
                <a:ea typeface="+mn-ea"/>
                <a:cs typeface="+mn-cs"/>
              </a:rPr>
              <a:t>Use immutable objects, as their state cannot be changed after creation, eliminating the risk of concurrent modification issues. </a:t>
            </a:r>
          </a:p>
          <a:p>
            <a:r>
              <a:rPr lang="en-US" sz="1500" dirty="0">
                <a:solidFill>
                  <a:schemeClr val="accent2"/>
                </a:solidFill>
                <a:latin typeface="Google Sans"/>
                <a:ea typeface="+mn-ea"/>
                <a:cs typeface="+mn-cs"/>
              </a:rPr>
              <a:t>Dynamic Analysis and Testing</a:t>
            </a:r>
          </a:p>
          <a:p>
            <a:r>
              <a:rPr lang="en-US" sz="1500" dirty="0">
                <a:solidFill>
                  <a:schemeClr val="accent2"/>
                </a:solidFill>
                <a:latin typeface="Google Sans"/>
                <a:ea typeface="+mn-ea"/>
                <a:cs typeface="+mn-cs"/>
              </a:rPr>
              <a:t>Stress </a:t>
            </a:r>
            <a:r>
              <a:rPr lang="en-US" sz="1500" dirty="0">
                <a:solidFill>
                  <a:schemeClr val="accent6"/>
                </a:solidFill>
                <a:latin typeface="Google Sans"/>
                <a:ea typeface="+mn-ea"/>
                <a:cs typeface="+mn-cs"/>
              </a:rPr>
              <a:t>Testing: Run the application under heavy load with multiple threads to try and force the race condition to occur. This does not guarantee all race conditions will be found but can help expose suspected bugs.</a:t>
            </a:r>
          </a:p>
        </p:txBody>
      </p:sp>
      <p:sp>
        <p:nvSpPr>
          <p:cNvPr id="8" name="AutoShape 4" descr="Deadlock Interview Questions and Answers in C#">
            <a:extLst>
              <a:ext uri="{FF2B5EF4-FFF2-40B4-BE49-F238E27FC236}">
                <a16:creationId xmlns:a16="http://schemas.microsoft.com/office/drawing/2014/main" id="{88DDB23F-F2CE-AD48-7715-511D384FADEB}"/>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42948863"/>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492C7-4548-270C-51B9-1C7F430AA54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7C351A4-8A4D-6E1D-BB81-CFC53062F836}"/>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ABC4CF0-0FC7-070B-61F8-A2DF68A19A4D}"/>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D12C0FE-9E08-3A3D-D5FE-48F1CDD8011A}"/>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476C94DA-5310-76EF-F47A-D5415DB1FAFB}"/>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1E555912-615F-D3A2-604D-185FEEA19672}"/>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6F526E65-A58C-12B1-4BBF-A432C37EE781}"/>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14" name="object 2">
            <a:extLst>
              <a:ext uri="{FF2B5EF4-FFF2-40B4-BE49-F238E27FC236}">
                <a16:creationId xmlns:a16="http://schemas.microsoft.com/office/drawing/2014/main" id="{2A94F9EF-A053-726C-F9A4-0D1BF7B5A8C8}"/>
              </a:ext>
            </a:extLst>
          </p:cNvPr>
          <p:cNvSpPr txBox="1">
            <a:spLocks/>
          </p:cNvSpPr>
          <p:nvPr/>
        </p:nvSpPr>
        <p:spPr>
          <a:xfrm>
            <a:off x="228600" y="1066800"/>
            <a:ext cx="8624937" cy="446276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Race Condition &amp; Dead Lock Detection in .NET– </a:t>
            </a:r>
          </a:p>
          <a:p>
            <a:r>
              <a:rPr lang="en-US" sz="1500" dirty="0">
                <a:solidFill>
                  <a:schemeClr val="accent2"/>
                </a:solidFill>
                <a:latin typeface="Google Sans"/>
                <a:ea typeface="+mn-ea"/>
                <a:cs typeface="+mn-cs"/>
              </a:rPr>
              <a:t>Design Practices:</a:t>
            </a:r>
          </a:p>
          <a:p>
            <a:r>
              <a:rPr lang="en-US" sz="1500" dirty="0">
                <a:solidFill>
                  <a:schemeClr val="accent2"/>
                </a:solidFill>
                <a:latin typeface="Google Sans"/>
                <a:ea typeface="+mn-ea"/>
                <a:cs typeface="+mn-cs"/>
              </a:rPr>
              <a:t>Logging: </a:t>
            </a:r>
            <a:r>
              <a:rPr lang="en-US" sz="1500" dirty="0">
                <a:solidFill>
                  <a:schemeClr val="accent6"/>
                </a:solidFill>
                <a:latin typeface="Google Sans"/>
                <a:ea typeface="+mn-ea"/>
                <a:cs typeface="+mn-cs"/>
              </a:rPr>
              <a:t>Add extensive async logging to track which threads are accessing shared resources and when. Analyzing log files can help pinpoint unexpected execution orders. </a:t>
            </a:r>
          </a:p>
          <a:p>
            <a:r>
              <a:rPr lang="en-US" sz="1500" dirty="0">
                <a:solidFill>
                  <a:schemeClr val="accent2"/>
                </a:solidFill>
                <a:latin typeface="Google Sans"/>
                <a:ea typeface="+mn-ea"/>
                <a:cs typeface="+mn-cs"/>
              </a:rPr>
              <a:t>Detecting Deadlocks</a:t>
            </a:r>
          </a:p>
          <a:p>
            <a:r>
              <a:rPr lang="en-US" sz="1500" dirty="0">
                <a:solidFill>
                  <a:schemeClr val="accent6"/>
                </a:solidFill>
                <a:latin typeface="Google Sans"/>
                <a:ea typeface="+mn-ea"/>
                <a:cs typeface="+mn-cs"/>
              </a:rPr>
              <a:t>A deadlock occurs when two or more threads are stuck indefinitely, each waiting for a resource locked by the other. </a:t>
            </a:r>
          </a:p>
          <a:p>
            <a:r>
              <a:rPr lang="en-US" sz="1500" dirty="0">
                <a:solidFill>
                  <a:schemeClr val="accent2"/>
                </a:solidFill>
                <a:latin typeface="Google Sans"/>
                <a:ea typeface="+mn-ea"/>
                <a:cs typeface="+mn-cs"/>
              </a:rPr>
              <a:t>Manual Detection and Prevention</a:t>
            </a:r>
          </a:p>
          <a:p>
            <a:r>
              <a:rPr lang="en-US" sz="1500" dirty="0">
                <a:solidFill>
                  <a:schemeClr val="accent2"/>
                </a:solidFill>
                <a:latin typeface="Google Sans"/>
                <a:ea typeface="+mn-ea"/>
                <a:cs typeface="+mn-cs"/>
              </a:rPr>
              <a:t>Code Review: </a:t>
            </a:r>
            <a:r>
              <a:rPr lang="en-US" sz="1500" dirty="0">
                <a:solidFill>
                  <a:schemeClr val="accent6"/>
                </a:solidFill>
                <a:latin typeface="Google Sans"/>
                <a:ea typeface="+mn-ea"/>
                <a:cs typeface="+mn-cs"/>
              </a:rPr>
              <a:t>Look for nested locks, where one thread acquires a lock and then attempts to acquire another that a second thread might already hold.</a:t>
            </a:r>
          </a:p>
          <a:p>
            <a:r>
              <a:rPr lang="en-US" sz="1500" dirty="0">
                <a:solidFill>
                  <a:schemeClr val="accent2"/>
                </a:solidFill>
                <a:latin typeface="Google Sans"/>
                <a:ea typeface="+mn-ea"/>
                <a:cs typeface="+mn-cs"/>
              </a:rPr>
              <a:t>Design Practices:</a:t>
            </a:r>
          </a:p>
          <a:p>
            <a:r>
              <a:rPr lang="en-US" sz="1500" dirty="0">
                <a:solidFill>
                  <a:schemeClr val="accent2"/>
                </a:solidFill>
                <a:latin typeface="Google Sans"/>
                <a:ea typeface="+mn-ea"/>
                <a:cs typeface="+mn-cs"/>
              </a:rPr>
              <a:t>Consistent Lock Ordering: </a:t>
            </a:r>
            <a:r>
              <a:rPr lang="en-US" sz="1500" dirty="0">
                <a:solidFill>
                  <a:schemeClr val="accent6"/>
                </a:solidFill>
                <a:latin typeface="Google Sans"/>
                <a:ea typeface="+mn-ea"/>
                <a:cs typeface="+mn-cs"/>
              </a:rPr>
              <a:t>Always acquire multiple locks in the same, consistent global order across all threads. This prevents the circular wait condition necessary for a deadlock.</a:t>
            </a:r>
          </a:p>
          <a:p>
            <a:r>
              <a:rPr lang="en-US" sz="1500" dirty="0">
                <a:solidFill>
                  <a:schemeClr val="accent2"/>
                </a:solidFill>
                <a:latin typeface="Google Sans"/>
                <a:ea typeface="+mn-ea"/>
                <a:cs typeface="+mn-cs"/>
              </a:rPr>
              <a:t>Avoid Long Operations Inside Locks: </a:t>
            </a:r>
            <a:r>
              <a:rPr lang="en-US" sz="1500" dirty="0">
                <a:solidFill>
                  <a:schemeClr val="accent6"/>
                </a:solidFill>
                <a:latin typeface="Google Sans"/>
                <a:ea typeface="+mn-ea"/>
                <a:cs typeface="+mn-cs"/>
              </a:rPr>
              <a:t>Keep locked sections of code minimal to reduce the chance of another thread needing the resource while the first is performing a long operation.</a:t>
            </a:r>
          </a:p>
          <a:p>
            <a:r>
              <a:rPr lang="en-US" sz="1500" dirty="0">
                <a:solidFill>
                  <a:schemeClr val="accent2"/>
                </a:solidFill>
                <a:latin typeface="Google Sans"/>
                <a:ea typeface="+mn-ea"/>
                <a:cs typeface="+mn-cs"/>
              </a:rPr>
              <a:t>Use Timeouts: </a:t>
            </a:r>
            <a:r>
              <a:rPr lang="en-US" sz="1500" dirty="0">
                <a:solidFill>
                  <a:schemeClr val="accent6"/>
                </a:solidFill>
                <a:latin typeface="Google Sans"/>
                <a:ea typeface="+mn-ea"/>
                <a:cs typeface="+mn-cs"/>
              </a:rPr>
              <a:t>When acquiring a lock using classes like Monitor or Mutex, use a timeout value (e.g., </a:t>
            </a:r>
            <a:r>
              <a:rPr lang="en-US" sz="1500" dirty="0" err="1">
                <a:solidFill>
                  <a:schemeClr val="accent6"/>
                </a:solidFill>
                <a:latin typeface="Google Sans"/>
                <a:ea typeface="+mn-ea"/>
                <a:cs typeface="+mn-cs"/>
              </a:rPr>
              <a:t>Monitor.TryEnter</a:t>
            </a:r>
            <a:r>
              <a:rPr lang="en-US" sz="1500" dirty="0">
                <a:solidFill>
                  <a:schemeClr val="accent6"/>
                </a:solidFill>
                <a:latin typeface="Google Sans"/>
                <a:ea typeface="+mn-ea"/>
                <a:cs typeface="+mn-cs"/>
              </a:rPr>
              <a:t>(this, 500)). If the lock is not acquired within the specified time, it's a strong indication of a potential deadlock or starvation issue. </a:t>
            </a:r>
          </a:p>
          <a:p>
            <a:endParaRPr lang="en-US" sz="1500" dirty="0">
              <a:solidFill>
                <a:schemeClr val="accent6"/>
              </a:solidFill>
              <a:latin typeface="Google Sans"/>
              <a:ea typeface="+mn-ea"/>
              <a:cs typeface="+mn-cs"/>
            </a:endParaRPr>
          </a:p>
        </p:txBody>
      </p:sp>
      <p:sp>
        <p:nvSpPr>
          <p:cNvPr id="8" name="AutoShape 4" descr="Deadlock Interview Questions and Answers in C#">
            <a:extLst>
              <a:ext uri="{FF2B5EF4-FFF2-40B4-BE49-F238E27FC236}">
                <a16:creationId xmlns:a16="http://schemas.microsoft.com/office/drawing/2014/main" id="{FC18E9B1-CA3D-0FEB-6A17-2B526731B813}"/>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021705408"/>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9C6E2-B8BD-03E9-E91D-0B9274B3724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76743C6-2125-E823-F4F8-421082C31C1A}"/>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3DAEEBE-DF35-5ACA-F171-7393996540CD}"/>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B3B43B1-9EF0-4699-B619-2AA9FE76412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75142299-E107-8113-F92F-5EEBBA4E0891}"/>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6BC39B21-D288-BA15-3411-59BDE0B8C4C8}"/>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F979E53-4D06-709C-BE25-6CDEB5C932F7}"/>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14" name="object 2">
            <a:extLst>
              <a:ext uri="{FF2B5EF4-FFF2-40B4-BE49-F238E27FC236}">
                <a16:creationId xmlns:a16="http://schemas.microsoft.com/office/drawing/2014/main" id="{39E430EE-B8C5-6BC6-3E45-95DDE126FB3F}"/>
              </a:ext>
            </a:extLst>
          </p:cNvPr>
          <p:cNvSpPr txBox="1">
            <a:spLocks/>
          </p:cNvSpPr>
          <p:nvPr/>
        </p:nvSpPr>
        <p:spPr>
          <a:xfrm>
            <a:off x="228600" y="1066800"/>
            <a:ext cx="8624937" cy="238526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Race Condition &amp; Dead Lock Detection in .NET– </a:t>
            </a:r>
          </a:p>
          <a:p>
            <a:r>
              <a:rPr lang="en-US" sz="1500" dirty="0">
                <a:solidFill>
                  <a:schemeClr val="accent2"/>
                </a:solidFill>
                <a:latin typeface="Google Sans"/>
                <a:ea typeface="+mn-ea"/>
                <a:cs typeface="+mn-cs"/>
              </a:rPr>
              <a:t>Dynamic Analysis and Tooling</a:t>
            </a:r>
          </a:p>
          <a:p>
            <a:r>
              <a:rPr lang="en-US" sz="1500" dirty="0">
                <a:solidFill>
                  <a:schemeClr val="accent2"/>
                </a:solidFill>
                <a:latin typeface="Google Sans"/>
                <a:ea typeface="+mn-ea"/>
                <a:cs typeface="+mn-cs"/>
              </a:rPr>
              <a:t>Memory Dumps and Debugging Tools:</a:t>
            </a:r>
          </a:p>
          <a:p>
            <a:r>
              <a:rPr lang="en-US" sz="1500" dirty="0">
                <a:solidFill>
                  <a:schemeClr val="accent2"/>
                </a:solidFill>
                <a:latin typeface="Google Sans"/>
                <a:ea typeface="+mn-ea"/>
                <a:cs typeface="+mn-cs"/>
              </a:rPr>
              <a:t>Visual Studio:</a:t>
            </a:r>
            <a:r>
              <a:rPr lang="en-US" sz="1500" dirty="0">
                <a:solidFill>
                  <a:schemeClr val="accent6"/>
                </a:solidFill>
                <a:latin typeface="Google Sans"/>
                <a:ea typeface="+mn-ea"/>
                <a:cs typeface="+mn-cs"/>
              </a:rPr>
              <a:t> Use the Threads and Tasks windows during debugging to inspect what each thread is doing and which locks they are waiting on.</a:t>
            </a:r>
          </a:p>
          <a:p>
            <a:r>
              <a:rPr lang="en-US" sz="1500" dirty="0" err="1">
                <a:solidFill>
                  <a:schemeClr val="accent2"/>
                </a:solidFill>
                <a:latin typeface="Google Sans"/>
                <a:ea typeface="+mn-ea"/>
                <a:cs typeface="+mn-cs"/>
              </a:rPr>
              <a:t>WinDbg</a:t>
            </a:r>
            <a:r>
              <a:rPr lang="en-US" sz="1500" dirty="0">
                <a:solidFill>
                  <a:schemeClr val="accent2"/>
                </a:solidFill>
                <a:latin typeface="Google Sans"/>
                <a:ea typeface="+mn-ea"/>
                <a:cs typeface="+mn-cs"/>
              </a:rPr>
              <a:t>: </a:t>
            </a:r>
            <a:r>
              <a:rPr lang="en-US" sz="1500" dirty="0">
                <a:solidFill>
                  <a:schemeClr val="accent6"/>
                </a:solidFill>
                <a:latin typeface="Google Sans"/>
                <a:ea typeface="+mn-ea"/>
                <a:cs typeface="+mn-cs"/>
              </a:rPr>
              <a:t>When an application hangs due to a deadlock, a memory dump can be analyzed using the </a:t>
            </a:r>
            <a:r>
              <a:rPr lang="en-US" sz="1500" dirty="0" err="1">
                <a:solidFill>
                  <a:schemeClr val="accent6"/>
                </a:solidFill>
                <a:latin typeface="Google Sans"/>
                <a:ea typeface="+mn-ea"/>
                <a:cs typeface="+mn-cs"/>
              </a:rPr>
              <a:t>WinDbg</a:t>
            </a:r>
            <a:r>
              <a:rPr lang="en-US" sz="1500" dirty="0">
                <a:solidFill>
                  <a:schemeClr val="accent6"/>
                </a:solidFill>
                <a:latin typeface="Google Sans"/>
                <a:ea typeface="+mn-ea"/>
                <a:cs typeface="+mn-cs"/>
              </a:rPr>
              <a:t> tool and the SOS/SOSEX extensions. The !</a:t>
            </a:r>
            <a:r>
              <a:rPr lang="en-US" sz="1500" dirty="0" err="1">
                <a:solidFill>
                  <a:schemeClr val="accent6"/>
                </a:solidFill>
                <a:latin typeface="Google Sans"/>
                <a:ea typeface="+mn-ea"/>
                <a:cs typeface="+mn-cs"/>
              </a:rPr>
              <a:t>dlk</a:t>
            </a:r>
            <a:r>
              <a:rPr lang="en-US" sz="1500" dirty="0">
                <a:solidFill>
                  <a:schemeClr val="accent6"/>
                </a:solidFill>
                <a:latin typeface="Google Sans"/>
                <a:ea typeface="+mn-ea"/>
                <a:cs typeface="+mn-cs"/>
              </a:rPr>
              <a:t> command (from SOSEX) can automatically detect deadlocked threads.</a:t>
            </a:r>
          </a:p>
          <a:p>
            <a:r>
              <a:rPr lang="en-US" sz="1500" dirty="0">
                <a:solidFill>
                  <a:schemeClr val="accent2"/>
                </a:solidFill>
                <a:latin typeface="Google Sans"/>
                <a:ea typeface="+mn-ea"/>
                <a:cs typeface="+mn-cs"/>
              </a:rPr>
              <a:t>Performance Profilers:</a:t>
            </a:r>
            <a:r>
              <a:rPr lang="en-US" sz="1500" dirty="0">
                <a:solidFill>
                  <a:schemeClr val="accent6"/>
                </a:solidFill>
                <a:latin typeface="Google Sans"/>
                <a:ea typeface="+mn-ea"/>
                <a:cs typeface="+mn-cs"/>
              </a:rPr>
              <a:t> Profilers like </a:t>
            </a:r>
            <a:r>
              <a:rPr lang="en-US" sz="1500" dirty="0" err="1">
                <a:solidFill>
                  <a:schemeClr val="accent6"/>
                </a:solidFill>
                <a:latin typeface="Google Sans"/>
                <a:ea typeface="+mn-ea"/>
                <a:cs typeface="+mn-cs"/>
              </a:rPr>
              <a:t>dotTrace</a:t>
            </a:r>
            <a:r>
              <a:rPr lang="en-US" sz="1500" dirty="0">
                <a:solidFill>
                  <a:schemeClr val="accent6"/>
                </a:solidFill>
                <a:latin typeface="Google Sans"/>
                <a:ea typeface="+mn-ea"/>
                <a:cs typeface="+mn-cs"/>
              </a:rPr>
              <a:t> can capture performance snapshots and visualize long-running lock contentions, helping you identify threads that are stuck waiting. </a:t>
            </a:r>
          </a:p>
        </p:txBody>
      </p:sp>
      <p:sp>
        <p:nvSpPr>
          <p:cNvPr id="8" name="AutoShape 4" descr="Deadlock Interview Questions and Answers in C#">
            <a:extLst>
              <a:ext uri="{FF2B5EF4-FFF2-40B4-BE49-F238E27FC236}">
                <a16:creationId xmlns:a16="http://schemas.microsoft.com/office/drawing/2014/main" id="{660E762A-CFD6-86C3-FD53-CC031CB0F92C}"/>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4010273914"/>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D2A3C-AC63-827A-A998-3FE37DBE80A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7E7ACF7-B426-0988-54A1-BDCC3B22E9C7}"/>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6D40CB2-620B-9364-2120-1A6DCEA89CF9}"/>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BBC8239-532B-14D3-CC4A-E8DAF2E936B4}"/>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066CCF68-FA89-99FC-3047-4649CC66CD08}"/>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CAA1EE24-CA2E-5B55-0D64-05E5A40CDE6E}"/>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A668BE9A-DD9D-A119-54CC-AB45C1E703A7}"/>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CBC8A3DA-9A1A-BC3A-90D7-0BA7FED06064}"/>
              </a:ext>
            </a:extLst>
          </p:cNvPr>
          <p:cNvSpPr txBox="1">
            <a:spLocks/>
          </p:cNvSpPr>
          <p:nvPr/>
        </p:nvSpPr>
        <p:spPr>
          <a:xfrm>
            <a:off x="228523" y="1144518"/>
            <a:ext cx="8624937" cy="457048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1800" kern="0" spc="-220" dirty="0">
                <a:solidFill>
                  <a:schemeClr val="accent2"/>
                </a:solidFill>
              </a:rPr>
              <a:t>For Further Exploration –</a:t>
            </a:r>
            <a:r>
              <a:rPr lang="en-US" sz="1200" kern="0" spc="-220" dirty="0">
                <a:solidFill>
                  <a:schemeClr val="accent2"/>
                </a:solidFill>
              </a:rPr>
              <a:t> </a:t>
            </a:r>
          </a:p>
          <a:p>
            <a:pPr algn="just" fontAlgn="base"/>
            <a:r>
              <a:rPr lang="en-US" sz="1550" dirty="0" err="1">
                <a:hlinkClick r:id="rId7"/>
              </a:rPr>
              <a:t>MultithreadingwithCSharpCookbook</a:t>
            </a:r>
            <a:endParaRPr lang="en-US" sz="1550" dirty="0"/>
          </a:p>
          <a:p>
            <a:pPr algn="just" fontAlgn="base"/>
            <a:r>
              <a:rPr lang="en-US" sz="1550" dirty="0">
                <a:hlinkClick r:id="rId8"/>
              </a:rPr>
              <a:t>Check the Number of threads available in </a:t>
            </a:r>
            <a:r>
              <a:rPr lang="en-US" sz="1550" dirty="0" err="1">
                <a:hlinkClick r:id="rId8"/>
              </a:rPr>
              <a:t>ThreadPool</a:t>
            </a:r>
            <a:r>
              <a:rPr lang="en-US" sz="1550" dirty="0">
                <a:hlinkClick r:id="rId8"/>
              </a:rPr>
              <a:t> at any time - Stack Overflow</a:t>
            </a:r>
            <a:endParaRPr lang="en-US" sz="1550" dirty="0"/>
          </a:p>
          <a:p>
            <a:pPr algn="just" fontAlgn="base"/>
            <a:r>
              <a:rPr lang="en-US" sz="1550" dirty="0">
                <a:hlinkClick r:id="rId9"/>
              </a:rPr>
              <a:t>Concurrency-in-</a:t>
            </a:r>
            <a:r>
              <a:rPr lang="en-US" sz="1550" dirty="0" err="1">
                <a:hlinkClick r:id="rId9"/>
              </a:rPr>
              <a:t>csharp</a:t>
            </a:r>
            <a:r>
              <a:rPr lang="en-US" sz="1550" dirty="0">
                <a:hlinkClick r:id="rId9"/>
              </a:rPr>
              <a:t>-cookbook</a:t>
            </a:r>
            <a:endParaRPr lang="en-US" sz="1550" dirty="0"/>
          </a:p>
          <a:p>
            <a:pPr algn="just" fontAlgn="base"/>
            <a:r>
              <a:rPr lang="en-US" sz="1550" dirty="0" err="1">
                <a:hlinkClick r:id="rId10"/>
              </a:rPr>
              <a:t>PowerThreading</a:t>
            </a:r>
            <a:r>
              <a:rPr lang="en-US" sz="1550" dirty="0">
                <a:hlinkClick r:id="rId10"/>
              </a:rPr>
              <a:t>: Jeffrey Richter's Power Threading Library</a:t>
            </a:r>
            <a:endParaRPr lang="en-US" sz="1550" dirty="0"/>
          </a:p>
          <a:p>
            <a:pPr algn="just" fontAlgn="base"/>
            <a:r>
              <a:rPr lang="en-US" sz="1550" dirty="0">
                <a:hlinkClick r:id="rId11"/>
              </a:rPr>
              <a:t>Web Servers Succinctly</a:t>
            </a:r>
            <a:endParaRPr lang="en-US" sz="1550" dirty="0"/>
          </a:p>
          <a:p>
            <a:pPr algn="just" fontAlgn="base"/>
            <a:r>
              <a:rPr lang="en-IN" sz="1550" dirty="0">
                <a:hlinkClick r:id="rId12"/>
              </a:rPr>
              <a:t>Web server implementations in ASP.NET Core | Microsoft Learn</a:t>
            </a:r>
            <a:endParaRPr lang="en-US" sz="1550" dirty="0"/>
          </a:p>
          <a:p>
            <a:pPr algn="just" fontAlgn="base"/>
            <a:r>
              <a:rPr lang="en-US" sz="1550" dirty="0">
                <a:hlinkClick r:id="rId13"/>
              </a:rPr>
              <a:t>Compendium of Community Knowledge on Game Design and Development</a:t>
            </a:r>
            <a:endParaRPr lang="en-US" sz="1550" dirty="0"/>
          </a:p>
          <a:p>
            <a:pPr algn="just" fontAlgn="base"/>
            <a:r>
              <a:rPr lang="en-US" sz="1550" dirty="0" err="1">
                <a:hlinkClick r:id="rId14"/>
              </a:rPr>
              <a:t>FConcBook</a:t>
            </a:r>
            <a:r>
              <a:rPr lang="en-US" sz="1550" dirty="0">
                <a:hlinkClick r:id="rId14"/>
              </a:rPr>
              <a:t>: Source code for "Concurrency in .NET" book Manning publisher</a:t>
            </a:r>
            <a:endParaRPr lang="en-US" sz="1550" dirty="0"/>
          </a:p>
          <a:p>
            <a:pPr algn="just" fontAlgn="base"/>
            <a:r>
              <a:rPr lang="en-IN" sz="1550" dirty="0">
                <a:hlinkClick r:id="rId15"/>
              </a:rPr>
              <a:t>Multithreading Principles and Patterns</a:t>
            </a:r>
            <a:endParaRPr lang="en-IN" sz="1550" dirty="0"/>
          </a:p>
          <a:p>
            <a:pPr algn="just" fontAlgn="base"/>
            <a:r>
              <a:rPr lang="en-US" sz="1550" dirty="0">
                <a:hlinkClick r:id="rId16"/>
              </a:rPr>
              <a:t>Multithreading and Patterns - DEV Community</a:t>
            </a:r>
            <a:endParaRPr lang="en-US" sz="1550" dirty="0"/>
          </a:p>
          <a:p>
            <a:pPr algn="just" fontAlgn="base"/>
            <a:r>
              <a:rPr lang="en-IN" sz="1550" dirty="0">
                <a:hlinkClick r:id="rId17"/>
              </a:rPr>
              <a:t>Multithreading-Patterns-Data-Structures</a:t>
            </a:r>
            <a:endParaRPr lang="en-IN" sz="1550" dirty="0"/>
          </a:p>
          <a:p>
            <a:pPr algn="just" fontAlgn="base"/>
            <a:r>
              <a:rPr lang="en-US" sz="1550" dirty="0">
                <a:hlinkClick r:id="rId18"/>
              </a:rPr>
              <a:t>Common patterns for poorly-behaved multithreaded apps - Visual Studio (Windows)</a:t>
            </a:r>
            <a:endParaRPr lang="en-US" sz="1550" dirty="0"/>
          </a:p>
          <a:p>
            <a:pPr algn="just" fontAlgn="base"/>
            <a:r>
              <a:rPr lang="en-US" sz="1550" dirty="0">
                <a:hlinkClick r:id="rId19"/>
              </a:rPr>
              <a:t>Part B (ADVANCE) Multithreading Design Patterns ( </a:t>
            </a:r>
            <a:r>
              <a:rPr lang="en-US" sz="1550" dirty="0" err="1">
                <a:hlinkClick r:id="rId19"/>
              </a:rPr>
              <a:t>pthreads</a:t>
            </a:r>
            <a:r>
              <a:rPr lang="en-US" sz="1550" dirty="0">
                <a:hlinkClick r:id="rId19"/>
              </a:rPr>
              <a:t> ) | Udemy</a:t>
            </a:r>
            <a:endParaRPr lang="en-US" sz="1550" dirty="0"/>
          </a:p>
          <a:p>
            <a:pPr algn="just" fontAlgn="base"/>
            <a:r>
              <a:rPr lang="en-IN" sz="1550" dirty="0">
                <a:hlinkClick r:id="rId20"/>
              </a:rPr>
              <a:t>Embedded C Programming Design Patterns</a:t>
            </a:r>
            <a:endParaRPr lang="en-IN" sz="1550" dirty="0"/>
          </a:p>
          <a:p>
            <a:pPr algn="just" fontAlgn="base"/>
            <a:r>
              <a:rPr lang="en-IN" sz="1550" dirty="0">
                <a:hlinkClick r:id="rId21"/>
              </a:rPr>
              <a:t>Design-Patterns-For-Embedded-system-in-c</a:t>
            </a:r>
            <a:endParaRPr lang="en-IN" sz="1550" dirty="0"/>
          </a:p>
          <a:p>
            <a:pPr algn="just" fontAlgn="base"/>
            <a:r>
              <a:rPr lang="en-US" sz="1550" dirty="0">
                <a:hlinkClick r:id="rId22"/>
              </a:rPr>
              <a:t>Seven Concurrency Models in Seven Weeks: When Threads Unravel by Paul Butcher</a:t>
            </a:r>
            <a:endParaRPr lang="en-US" sz="1550" dirty="0"/>
          </a:p>
          <a:p>
            <a:pPr algn="just" fontAlgn="base"/>
            <a:r>
              <a:rPr lang="en-US" sz="1550" dirty="0">
                <a:hlinkClick r:id="rId23"/>
              </a:rPr>
              <a:t>List of concurrency models - Stack Overflow</a:t>
            </a:r>
            <a:endParaRPr lang="en-US" sz="1550" dirty="0"/>
          </a:p>
          <a:p>
            <a:pPr algn="just" fontAlgn="base"/>
            <a:endParaRPr lang="en-IN" sz="1550" dirty="0"/>
          </a:p>
        </p:txBody>
      </p:sp>
    </p:spTree>
    <p:extLst>
      <p:ext uri="{BB962C8B-B14F-4D97-AF65-F5344CB8AC3E}">
        <p14:creationId xmlns:p14="http://schemas.microsoft.com/office/powerpoint/2010/main" val="1912927732"/>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98E40-F99D-9BEB-866C-0AE40418980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4BC5FFA-6C1C-A4A3-8066-1256B6D55573}"/>
              </a:ext>
            </a:extLst>
          </p:cNvPr>
          <p:cNvSpPr/>
          <p:nvPr/>
        </p:nvSpPr>
        <p:spPr>
          <a:xfrm>
            <a:off x="1580918" y="69352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C2ED61F-6222-04E3-E375-1808E5966BC7}"/>
              </a:ext>
            </a:extLst>
          </p:cNvPr>
          <p:cNvSpPr/>
          <p:nvPr/>
        </p:nvSpPr>
        <p:spPr>
          <a:xfrm>
            <a:off x="1580918" y="52661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E260E54-0762-0409-ACD2-26D35D727F27}"/>
              </a:ext>
            </a:extLst>
          </p:cNvPr>
          <p:cNvGraphicFramePr/>
          <p:nvPr>
            <p:extLst>
              <p:ext uri="{D42A27DB-BD31-4B8C-83A1-F6EECF244321}">
                <p14:modId xmlns:p14="http://schemas.microsoft.com/office/powerpoint/2010/main" val="3359701032"/>
              </p:ext>
            </p:extLst>
          </p:nvPr>
        </p:nvGraphicFramePr>
        <p:xfrm>
          <a:off x="33050" y="-54006"/>
          <a:ext cx="9067799" cy="6636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0F6455EE-6729-5129-2455-52A9E77E949B}"/>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E1CB120A-CE16-6710-9662-371346D612CB}"/>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294093D0-5E48-9AC3-00FD-89D8004BB2E1}"/>
              </a:ext>
            </a:extLst>
          </p:cNvPr>
          <p:cNvSpPr txBox="1">
            <a:spLocks/>
          </p:cNvSpPr>
          <p:nvPr/>
        </p:nvSpPr>
        <p:spPr>
          <a:xfrm>
            <a:off x="259531" y="833254"/>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8" name="AutoShape 4" descr="Deadlock Interview Questions and Answers in C#">
            <a:extLst>
              <a:ext uri="{FF2B5EF4-FFF2-40B4-BE49-F238E27FC236}">
                <a16:creationId xmlns:a16="http://schemas.microsoft.com/office/drawing/2014/main" id="{CAA55D91-0F26-D313-6C86-4A1A0F9902F7}"/>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a:extLst>
              <a:ext uri="{FF2B5EF4-FFF2-40B4-BE49-F238E27FC236}">
                <a16:creationId xmlns:a16="http://schemas.microsoft.com/office/drawing/2014/main" id="{55328D77-B84A-5029-A577-DE1CACCF523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2400" y="860445"/>
            <a:ext cx="8839200" cy="3406756"/>
          </a:xfrm>
          <a:prstGeom prst="rect">
            <a:avLst/>
          </a:prstGeom>
        </p:spPr>
      </p:pic>
      <p:pic>
        <p:nvPicPr>
          <p:cNvPr id="12" name="Picture 11">
            <a:extLst>
              <a:ext uri="{FF2B5EF4-FFF2-40B4-BE49-F238E27FC236}">
                <a16:creationId xmlns:a16="http://schemas.microsoft.com/office/drawing/2014/main" id="{3E36BDEB-24D3-D059-505A-909025EB959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6200" y="4283029"/>
            <a:ext cx="9067800" cy="1600251"/>
          </a:xfrm>
          <a:prstGeom prst="rect">
            <a:avLst/>
          </a:prstGeom>
        </p:spPr>
      </p:pic>
    </p:spTree>
    <p:extLst>
      <p:ext uri="{BB962C8B-B14F-4D97-AF65-F5344CB8AC3E}">
        <p14:creationId xmlns:p14="http://schemas.microsoft.com/office/powerpoint/2010/main" val="2653460323"/>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E05F6423-24A2-AC88-B228-4CA42CB8E405}"/>
              </a:ext>
            </a:extLst>
          </p:cNvPr>
          <p:cNvSpPr txBox="1">
            <a:spLocks/>
          </p:cNvSpPr>
          <p:nvPr/>
        </p:nvSpPr>
        <p:spPr>
          <a:xfrm>
            <a:off x="243763" y="4185047"/>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6"/>
                </a:solidFill>
              </a:rPr>
              <a:t> </a:t>
            </a:r>
          </a:p>
        </p:txBody>
      </p:sp>
      <p:sp>
        <p:nvSpPr>
          <p:cNvPr id="8" name="object 2">
            <a:extLst>
              <a:ext uri="{FF2B5EF4-FFF2-40B4-BE49-F238E27FC236}">
                <a16:creationId xmlns:a16="http://schemas.microsoft.com/office/drawing/2014/main" id="{75019B3C-51F3-552B-E695-5BCF3B7786EF}"/>
              </a:ext>
            </a:extLst>
          </p:cNvPr>
          <p:cNvSpPr txBox="1">
            <a:spLocks/>
          </p:cNvSpPr>
          <p:nvPr/>
        </p:nvSpPr>
        <p:spPr>
          <a:xfrm>
            <a:off x="259983" y="1066800"/>
            <a:ext cx="8731617" cy="440120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1600" kern="0" spc="-220" dirty="0">
                <a:solidFill>
                  <a:schemeClr val="accent2"/>
                </a:solidFill>
              </a:rPr>
              <a:t>Assigning a Thread to a specific core – </a:t>
            </a:r>
          </a:p>
          <a:p>
            <a:pPr algn="just" fontAlgn="base"/>
            <a:r>
              <a:rPr lang="en-US" sz="1500" dirty="0" err="1">
                <a:hlinkClick r:id="rId7"/>
              </a:rPr>
              <a:t>c#</a:t>
            </a:r>
            <a:r>
              <a:rPr lang="en-US" sz="1500" dirty="0">
                <a:hlinkClick r:id="rId7"/>
              </a:rPr>
              <a:t> - How can I set processor affinity to a thread or a Task in .NET? - Stack Overflow</a:t>
            </a:r>
            <a:endParaRPr lang="en-US" sz="1500" dirty="0"/>
          </a:p>
          <a:p>
            <a:pPr algn="just" fontAlgn="base"/>
            <a:r>
              <a:rPr lang="en-US" sz="1600" kern="0" spc="-220" dirty="0" err="1">
                <a:solidFill>
                  <a:schemeClr val="accent2"/>
                </a:solidFill>
              </a:rPr>
              <a:t>MultiCore_Locking_constructs</a:t>
            </a:r>
            <a:r>
              <a:rPr lang="en-US" sz="1600" kern="0" spc="-220" dirty="0">
                <a:solidFill>
                  <a:schemeClr val="accent2"/>
                </a:solidFill>
              </a:rPr>
              <a:t>– </a:t>
            </a:r>
            <a:r>
              <a:rPr lang="en-US" sz="1500" dirty="0">
                <a:hlinkClick r:id="rId8"/>
              </a:rPr>
              <a:t>Threading in C# - Part 5 - Parallel Programming</a:t>
            </a:r>
            <a:endParaRPr lang="en-US" sz="1500" kern="0" spc="-220" dirty="0">
              <a:solidFill>
                <a:schemeClr val="accent2"/>
              </a:solidFill>
            </a:endParaRPr>
          </a:p>
          <a:p>
            <a:pPr algn="just" fontAlgn="base"/>
            <a:r>
              <a:rPr lang="en-US" sz="1600" kern="0" spc="-220" dirty="0">
                <a:solidFill>
                  <a:schemeClr val="accent2"/>
                </a:solidFill>
              </a:rPr>
              <a:t>Some usual Parallel constructs – </a:t>
            </a:r>
          </a:p>
          <a:p>
            <a:pPr algn="just" fontAlgn="base"/>
            <a:r>
              <a:rPr lang="en-US" sz="1600" kern="0" spc="-220" dirty="0" err="1">
                <a:solidFill>
                  <a:schemeClr val="accent6"/>
                </a:solidFill>
              </a:rPr>
              <a:t>Parallel.Invoke</a:t>
            </a:r>
            <a:r>
              <a:rPr lang="en-US" sz="1600" kern="0" spc="-220" dirty="0">
                <a:solidFill>
                  <a:schemeClr val="accent6"/>
                </a:solidFill>
              </a:rPr>
              <a:t> –  </a:t>
            </a:r>
            <a:r>
              <a:rPr lang="en-US" sz="1600" kern="0" spc="-220" dirty="0">
                <a:solidFill>
                  <a:schemeClr val="tx2">
                    <a:lumMod val="60000"/>
                    <a:lumOff val="40000"/>
                  </a:schemeClr>
                </a:solidFill>
              </a:rPr>
              <a:t>equivalent to </a:t>
            </a:r>
            <a:r>
              <a:rPr lang="en-US" sz="1600" kern="0" spc="-220" dirty="0" err="1">
                <a:solidFill>
                  <a:schemeClr val="tx2">
                    <a:lumMod val="60000"/>
                    <a:lumOff val="40000"/>
                  </a:schemeClr>
                </a:solidFill>
              </a:rPr>
              <a:t>Task.WhenAll</a:t>
            </a:r>
            <a:r>
              <a:rPr lang="en-US" sz="1600" kern="0" spc="-220" dirty="0">
                <a:solidFill>
                  <a:schemeClr val="tx2">
                    <a:lumMod val="60000"/>
                    <a:lumOff val="40000"/>
                  </a:schemeClr>
                </a:solidFill>
              </a:rPr>
              <a:t> but in this case threads are optimally distributed across multiple cores.. For Speculative Execution,  there is no Parallel equivalent but you need to use </a:t>
            </a:r>
            <a:r>
              <a:rPr lang="en-US" sz="1600" kern="0" spc="-220" dirty="0" err="1">
                <a:solidFill>
                  <a:schemeClr val="tx2">
                    <a:lumMod val="60000"/>
                    <a:lumOff val="40000"/>
                  </a:schemeClr>
                </a:solidFill>
              </a:rPr>
              <a:t>Task.WhenAny</a:t>
            </a:r>
            <a:r>
              <a:rPr lang="en-US" sz="1600" kern="0" spc="-220" dirty="0">
                <a:solidFill>
                  <a:schemeClr val="tx2">
                    <a:lumMod val="60000"/>
                    <a:lumOff val="40000"/>
                  </a:schemeClr>
                </a:solidFill>
              </a:rPr>
              <a:t> but for this if you want to use multiple cores optimally, you will have to build some wrapper over </a:t>
            </a:r>
            <a:r>
              <a:rPr lang="en-US" sz="1600" kern="0" spc="-220" dirty="0" err="1">
                <a:solidFill>
                  <a:schemeClr val="tx2">
                    <a:lumMod val="60000"/>
                    <a:lumOff val="40000"/>
                  </a:schemeClr>
                </a:solidFill>
              </a:rPr>
              <a:t>Task.WhenAny</a:t>
            </a:r>
            <a:r>
              <a:rPr lang="en-US" sz="1600" kern="0" spc="-220" dirty="0">
                <a:solidFill>
                  <a:schemeClr val="tx2">
                    <a:lumMod val="60000"/>
                    <a:lumOff val="40000"/>
                  </a:schemeClr>
                </a:solidFill>
              </a:rPr>
              <a:t> using the above 2 links/resources(Processor Affinity based Thread [&amp;  </a:t>
            </a:r>
            <a:r>
              <a:rPr lang="en-US" sz="1600" kern="0" spc="-220" dirty="0" err="1">
                <a:solidFill>
                  <a:schemeClr val="tx2">
                    <a:lumMod val="60000"/>
                    <a:lumOff val="40000"/>
                  </a:schemeClr>
                </a:solidFill>
              </a:rPr>
              <a:t>SpinWait</a:t>
            </a:r>
            <a:r>
              <a:rPr lang="en-US" sz="1600" kern="0" spc="-220" dirty="0">
                <a:solidFill>
                  <a:schemeClr val="tx2">
                    <a:lumMod val="60000"/>
                    <a:lumOff val="40000"/>
                  </a:schemeClr>
                </a:solidFill>
              </a:rPr>
              <a:t>]). For Sequential API calls better to use </a:t>
            </a:r>
            <a:r>
              <a:rPr lang="en-US" sz="1600" kern="0" spc="-220" dirty="0" err="1">
                <a:solidFill>
                  <a:schemeClr val="tx2">
                    <a:lumMod val="60000"/>
                    <a:lumOff val="40000"/>
                  </a:schemeClr>
                </a:solidFill>
              </a:rPr>
              <a:t>Task.ContinueWith</a:t>
            </a:r>
            <a:r>
              <a:rPr lang="en-US" sz="1600" kern="0" spc="-220" dirty="0">
                <a:solidFill>
                  <a:schemeClr val="tx2">
                    <a:lumMod val="60000"/>
                    <a:lumOff val="40000"/>
                  </a:schemeClr>
                </a:solidFill>
              </a:rPr>
              <a:t> for better readability. </a:t>
            </a:r>
          </a:p>
          <a:p>
            <a:pPr algn="just" fontAlgn="base"/>
            <a:r>
              <a:rPr lang="en-US" sz="1600" kern="0" spc="-220" dirty="0" err="1">
                <a:solidFill>
                  <a:schemeClr val="accent6"/>
                </a:solidFill>
              </a:rPr>
              <a:t>Parallel.For</a:t>
            </a:r>
            <a:endParaRPr lang="en-US" sz="1600" kern="0" spc="-220" dirty="0">
              <a:solidFill>
                <a:schemeClr val="accent6"/>
              </a:solidFill>
            </a:endParaRPr>
          </a:p>
          <a:p>
            <a:pPr algn="just" fontAlgn="base"/>
            <a:r>
              <a:rPr lang="en-US" sz="1600" kern="0" spc="-220" dirty="0" err="1">
                <a:solidFill>
                  <a:schemeClr val="accent6"/>
                </a:solidFill>
              </a:rPr>
              <a:t>Parallel.ForEach</a:t>
            </a:r>
            <a:endParaRPr lang="en-US" sz="1600" kern="0" spc="-220" dirty="0">
              <a:solidFill>
                <a:schemeClr val="accent6"/>
              </a:solidFill>
            </a:endParaRPr>
          </a:p>
          <a:p>
            <a:pPr algn="just" fontAlgn="base"/>
            <a:r>
              <a:rPr lang="en-US" sz="1600" kern="0" spc="-220" dirty="0">
                <a:solidFill>
                  <a:schemeClr val="accent6">
                    <a:lumMod val="75000"/>
                  </a:schemeClr>
                </a:solidFill>
              </a:rPr>
              <a:t>Parallel Constructs can be used to fire calls to multiple APIs or  DB Tables or any external resource for single or multiple(Bulk/Batch) items in each API or DB or some other external call.</a:t>
            </a:r>
          </a:p>
          <a:p>
            <a:pPr algn="just" fontAlgn="base"/>
            <a:r>
              <a:rPr lang="en-US" sz="1500" dirty="0">
                <a:hlinkClick r:id="rId9"/>
              </a:rPr>
              <a:t>Threading in C# - Part 5 - Parallel Programming</a:t>
            </a:r>
            <a:endParaRPr lang="en-US" sz="1500" dirty="0"/>
          </a:p>
          <a:p>
            <a:pPr algn="just" fontAlgn="base"/>
            <a:endParaRPr lang="en-US" sz="1600" kern="0" spc="-220" dirty="0">
              <a:solidFill>
                <a:schemeClr val="accent6"/>
              </a:solidFill>
            </a:endParaRPr>
          </a:p>
          <a:p>
            <a:pPr algn="just" fontAlgn="base"/>
            <a:r>
              <a:rPr lang="en-US" sz="1600" kern="0" spc="-220" dirty="0" err="1">
                <a:solidFill>
                  <a:schemeClr val="accent2"/>
                </a:solidFill>
              </a:rPr>
              <a:t>Plinq</a:t>
            </a:r>
            <a:r>
              <a:rPr lang="en-US" sz="1600" kern="0" spc="-220" dirty="0">
                <a:solidFill>
                  <a:schemeClr val="accent2"/>
                </a:solidFill>
              </a:rPr>
              <a:t> – </a:t>
            </a:r>
          </a:p>
          <a:p>
            <a:pPr algn="just" fontAlgn="base"/>
            <a:r>
              <a:rPr lang="en-US" sz="1600" kern="0" spc="-220" dirty="0" err="1">
                <a:solidFill>
                  <a:schemeClr val="accent6"/>
                </a:solidFill>
              </a:rPr>
              <a:t>AsParallel</a:t>
            </a:r>
            <a:r>
              <a:rPr lang="en-US" sz="1600" kern="0" spc="-220" dirty="0">
                <a:solidFill>
                  <a:schemeClr val="accent6"/>
                </a:solidFill>
              </a:rPr>
              <a:t> is applicable only on </a:t>
            </a:r>
            <a:r>
              <a:rPr lang="en-US" sz="1600" kern="0" spc="-220" dirty="0" err="1">
                <a:solidFill>
                  <a:schemeClr val="accent6"/>
                </a:solidFill>
              </a:rPr>
              <a:t>IEnumerable</a:t>
            </a:r>
            <a:r>
              <a:rPr lang="en-US" sz="1600" kern="0" spc="-220" dirty="0">
                <a:solidFill>
                  <a:schemeClr val="accent6"/>
                </a:solidFill>
              </a:rPr>
              <a:t> and not </a:t>
            </a:r>
            <a:r>
              <a:rPr lang="en-US" sz="1600" kern="0" spc="-220" dirty="0" err="1">
                <a:solidFill>
                  <a:schemeClr val="accent6"/>
                </a:solidFill>
              </a:rPr>
              <a:t>IQueryable</a:t>
            </a:r>
            <a:r>
              <a:rPr lang="en-US" sz="1600" kern="0" spc="-220" dirty="0">
                <a:solidFill>
                  <a:schemeClr val="accent6"/>
                </a:solidFill>
              </a:rPr>
              <a:t>.</a:t>
            </a:r>
          </a:p>
          <a:p>
            <a:pPr algn="just" fontAlgn="base"/>
            <a:r>
              <a:rPr lang="en-US" sz="1500" dirty="0">
                <a:hlinkClick r:id="rId10"/>
              </a:rPr>
              <a:t>Threading in C# - Part 5 - Parallel Programming</a:t>
            </a:r>
            <a:endParaRPr lang="en-US" sz="1500" kern="0" spc="-220" dirty="0">
              <a:solidFill>
                <a:schemeClr val="accent6"/>
              </a:solidFill>
            </a:endParaRPr>
          </a:p>
        </p:txBody>
      </p:sp>
    </p:spTree>
    <p:extLst>
      <p:ext uri="{BB962C8B-B14F-4D97-AF65-F5344CB8AC3E}">
        <p14:creationId xmlns:p14="http://schemas.microsoft.com/office/powerpoint/2010/main" val="4241961463"/>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420AB7-5E74-1DAA-6D30-9F38980C009C}"/>
              </a:ext>
            </a:extLst>
          </p:cNvPr>
          <p:cNvSpPr txBox="1">
            <a:spLocks/>
          </p:cNvSpPr>
          <p:nvPr/>
        </p:nvSpPr>
        <p:spPr>
          <a:xfrm>
            <a:off x="275300" y="1304092"/>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9EAD542-20E0-29E0-AC39-9EF53B8B3BCE}"/>
              </a:ext>
            </a:extLst>
          </p:cNvPr>
          <p:cNvSpPr txBox="1">
            <a:spLocks/>
          </p:cNvSpPr>
          <p:nvPr/>
        </p:nvSpPr>
        <p:spPr>
          <a:xfrm>
            <a:off x="275300" y="1095844"/>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E05F6423-24A2-AC88-B228-4CA42CB8E405}"/>
              </a:ext>
            </a:extLst>
          </p:cNvPr>
          <p:cNvSpPr txBox="1">
            <a:spLocks/>
          </p:cNvSpPr>
          <p:nvPr/>
        </p:nvSpPr>
        <p:spPr>
          <a:xfrm>
            <a:off x="243763" y="4185047"/>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a:solidFill>
                  <a:schemeClr val="accent6"/>
                </a:solidFill>
              </a:rPr>
              <a:t> </a:t>
            </a:r>
          </a:p>
        </p:txBody>
      </p:sp>
      <p:sp>
        <p:nvSpPr>
          <p:cNvPr id="8" name="object 2">
            <a:extLst>
              <a:ext uri="{FF2B5EF4-FFF2-40B4-BE49-F238E27FC236}">
                <a16:creationId xmlns:a16="http://schemas.microsoft.com/office/drawing/2014/main" id="{75019B3C-51F3-552B-E695-5BCF3B7786EF}"/>
              </a:ext>
            </a:extLst>
          </p:cNvPr>
          <p:cNvSpPr txBox="1">
            <a:spLocks/>
          </p:cNvSpPr>
          <p:nvPr/>
        </p:nvSpPr>
        <p:spPr>
          <a:xfrm>
            <a:off x="259983" y="1143000"/>
            <a:ext cx="8731617" cy="515525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just" fontAlgn="base"/>
            <a:r>
              <a:rPr lang="en-US" sz="2000" kern="0" spc="-220" dirty="0" err="1">
                <a:solidFill>
                  <a:schemeClr val="accent2"/>
                </a:solidFill>
              </a:rPr>
              <a:t>ConcurrentCollections</a:t>
            </a:r>
            <a:r>
              <a:rPr lang="en-US" sz="2000" kern="0" spc="-220" dirty="0">
                <a:solidFill>
                  <a:schemeClr val="accent2"/>
                </a:solidFill>
              </a:rPr>
              <a:t> – </a:t>
            </a:r>
          </a:p>
          <a:p>
            <a:pPr algn="just" fontAlgn="base"/>
            <a:r>
              <a:rPr lang="en-US" sz="1500" dirty="0">
                <a:hlinkClick r:id="rId7"/>
              </a:rPr>
              <a:t>Threading in C# - Part 5 - Parallel Programming</a:t>
            </a:r>
            <a:endParaRPr lang="en-US" sz="1500" dirty="0"/>
          </a:p>
          <a:p>
            <a:pPr algn="just" fontAlgn="base"/>
            <a:endParaRPr lang="en-US" sz="2000" kern="0" spc="-220" dirty="0">
              <a:solidFill>
                <a:schemeClr val="accent6"/>
              </a:solidFill>
            </a:endParaRPr>
          </a:p>
          <a:p>
            <a:pPr algn="just" fontAlgn="base"/>
            <a:r>
              <a:rPr lang="en-US" sz="2000" kern="0" spc="-220" dirty="0">
                <a:solidFill>
                  <a:schemeClr val="accent2"/>
                </a:solidFill>
              </a:rPr>
              <a:t>Immutable Collections vs Concurrent Collections – </a:t>
            </a:r>
          </a:p>
          <a:p>
            <a:pPr algn="just" fontAlgn="base"/>
            <a:r>
              <a:rPr lang="en-US" sz="1500" dirty="0" err="1">
                <a:hlinkClick r:id="rId8"/>
              </a:rPr>
              <a:t>c#</a:t>
            </a:r>
            <a:r>
              <a:rPr lang="en-US" sz="1500" dirty="0">
                <a:hlinkClick r:id="rId8"/>
              </a:rPr>
              <a:t> - When immutable collections are preferable than concurrent - Stack Overflow</a:t>
            </a:r>
            <a:r>
              <a:rPr lang="en-US" sz="2000" kern="0" spc="-220" dirty="0">
                <a:solidFill>
                  <a:schemeClr val="accent2"/>
                </a:solidFill>
              </a:rPr>
              <a:t> </a:t>
            </a:r>
          </a:p>
          <a:p>
            <a:pPr algn="just" fontAlgn="base"/>
            <a:endParaRPr lang="en-US" sz="2000" kern="0" spc="-220" dirty="0">
              <a:solidFill>
                <a:schemeClr val="accent2"/>
              </a:solidFill>
            </a:endParaRPr>
          </a:p>
          <a:p>
            <a:pPr algn="just" fontAlgn="base"/>
            <a:r>
              <a:rPr lang="en-US" sz="2000" kern="0" spc="-220" dirty="0">
                <a:solidFill>
                  <a:schemeClr val="accent2"/>
                </a:solidFill>
              </a:rPr>
              <a:t>For Further Exploration(a bit advanced)–</a:t>
            </a:r>
          </a:p>
          <a:p>
            <a:pPr algn="just" fontAlgn="base"/>
            <a:r>
              <a:rPr lang="en-US" sz="1200" dirty="0">
                <a:hlinkClick r:id="rId9"/>
              </a:rPr>
              <a:t>Hands-On-Parallel-Programming-with-C-8-and-.NET-Core-3</a:t>
            </a:r>
            <a:endParaRPr lang="en-US" sz="1200" dirty="0"/>
          </a:p>
          <a:p>
            <a:pPr algn="just" fontAlgn="base"/>
            <a:r>
              <a:rPr lang="en-US" sz="1200" dirty="0">
                <a:hlinkClick r:id="rId10"/>
              </a:rPr>
              <a:t>Parallel-Programming-and-Concurrency-with-C-sharp-10-and-.NET-6</a:t>
            </a:r>
            <a:endParaRPr lang="en-US" sz="1200" dirty="0"/>
          </a:p>
          <a:p>
            <a:pPr algn="just" fontAlgn="base"/>
            <a:r>
              <a:rPr lang="en-US" sz="1200" dirty="0" err="1">
                <a:hlinkClick r:id="rId11"/>
              </a:rPr>
              <a:t>c#</a:t>
            </a:r>
            <a:r>
              <a:rPr lang="en-US" sz="1200" dirty="0">
                <a:hlinkClick r:id="rId11"/>
              </a:rPr>
              <a:t> - How do I spawn threads on different CPU cores? - Stack Overflow</a:t>
            </a:r>
            <a:endParaRPr lang="en-US" sz="1200" dirty="0"/>
          </a:p>
          <a:p>
            <a:pPr algn="just" fontAlgn="base"/>
            <a:r>
              <a:rPr lang="en-US" sz="1200" dirty="0" err="1">
                <a:hlinkClick r:id="rId12"/>
              </a:rPr>
              <a:t>c#</a:t>
            </a:r>
            <a:r>
              <a:rPr lang="en-US" sz="1200" dirty="0">
                <a:hlinkClick r:id="rId12"/>
              </a:rPr>
              <a:t> - Can you force </a:t>
            </a:r>
            <a:r>
              <a:rPr lang="en-US" sz="1200" dirty="0" err="1">
                <a:hlinkClick r:id="rId12"/>
              </a:rPr>
              <a:t>Parallel.Invoke</a:t>
            </a:r>
            <a:r>
              <a:rPr lang="en-US" sz="1200" dirty="0">
                <a:hlinkClick r:id="rId12"/>
              </a:rPr>
              <a:t> to use multiple threads? - Stack Overflow</a:t>
            </a:r>
            <a:endParaRPr lang="en-US" sz="1200" dirty="0"/>
          </a:p>
          <a:p>
            <a:pPr algn="just" fontAlgn="base"/>
            <a:r>
              <a:rPr lang="en-US" sz="1200" dirty="0" err="1">
                <a:hlinkClick r:id="rId13"/>
              </a:rPr>
              <a:t>c#</a:t>
            </a:r>
            <a:r>
              <a:rPr lang="en-US" sz="1200" dirty="0">
                <a:hlinkClick r:id="rId13"/>
              </a:rPr>
              <a:t> - How to set maximum concurrent threads using Task - Stack Overflow</a:t>
            </a:r>
            <a:endParaRPr lang="en-US" sz="1200" dirty="0"/>
          </a:p>
          <a:p>
            <a:pPr algn="just" fontAlgn="base"/>
            <a:r>
              <a:rPr lang="en-US" sz="1200" dirty="0">
                <a:hlinkClick r:id="rId14"/>
              </a:rPr>
              <a:t>Limiting concurrency for faster and more responsive apps - Developer Support</a:t>
            </a:r>
            <a:endParaRPr lang="en-US" sz="1200" dirty="0"/>
          </a:p>
          <a:p>
            <a:pPr algn="just" fontAlgn="base"/>
            <a:r>
              <a:rPr lang="en-US" sz="1200" dirty="0" err="1">
                <a:hlinkClick r:id="rId15"/>
              </a:rPr>
              <a:t>c#</a:t>
            </a:r>
            <a:r>
              <a:rPr lang="en-US" sz="1200" dirty="0">
                <a:hlinkClick r:id="rId15"/>
              </a:rPr>
              <a:t> - Limited concurrency </a:t>
            </a:r>
            <a:r>
              <a:rPr lang="en-US" sz="1200" dirty="0" err="1">
                <a:hlinkClick r:id="rId15"/>
              </a:rPr>
              <a:t>TaskScheduler</a:t>
            </a:r>
            <a:r>
              <a:rPr lang="en-US" sz="1200" dirty="0">
                <a:hlinkClick r:id="rId15"/>
              </a:rPr>
              <a:t> that can interleave tasks to be explicitly ordered - Stack Overflow</a:t>
            </a:r>
            <a:endParaRPr lang="en-US" sz="1200" dirty="0"/>
          </a:p>
          <a:p>
            <a:pPr algn="just" fontAlgn="base"/>
            <a:r>
              <a:rPr lang="en-IN" sz="1200" dirty="0">
                <a:hlinkClick r:id="rId16"/>
              </a:rPr>
              <a:t>A Tour of </a:t>
            </a:r>
            <a:r>
              <a:rPr lang="en-IN" sz="1200" dirty="0" err="1">
                <a:hlinkClick r:id="rId16"/>
              </a:rPr>
              <a:t>ParallelExtensionsExtras</a:t>
            </a:r>
            <a:r>
              <a:rPr lang="en-IN" sz="1200" dirty="0">
                <a:hlinkClick r:id="rId16"/>
              </a:rPr>
              <a:t> - .NET Parallel Programming</a:t>
            </a:r>
            <a:endParaRPr lang="en-IN" sz="1200" dirty="0"/>
          </a:p>
          <a:p>
            <a:pPr algn="just" fontAlgn="base"/>
            <a:r>
              <a:rPr lang="en-IN" sz="1200" dirty="0">
                <a:hlinkClick r:id="rId17"/>
              </a:rPr>
              <a:t>Parallel-Extensions-Extras</a:t>
            </a:r>
            <a:endParaRPr lang="en-IN" sz="1200" dirty="0"/>
          </a:p>
          <a:p>
            <a:pPr algn="just" fontAlgn="base"/>
            <a:r>
              <a:rPr lang="en-US" sz="1200" dirty="0">
                <a:hlinkClick r:id="rId18"/>
              </a:rPr>
              <a:t>For Further Reading (Parallel Programming) - .NET | Microsoft Learn</a:t>
            </a:r>
            <a:endParaRPr lang="en-US" sz="1200" dirty="0"/>
          </a:p>
          <a:p>
            <a:pPr algn="just" fontAlgn="base"/>
            <a:r>
              <a:rPr lang="en-IN" sz="1200" dirty="0">
                <a:hlinkClick r:id="rId19"/>
              </a:rPr>
              <a:t>Parallel-Patterns</a:t>
            </a:r>
            <a:endParaRPr lang="en-IN" sz="1200" dirty="0"/>
          </a:p>
          <a:p>
            <a:pPr algn="just" fontAlgn="base"/>
            <a:r>
              <a:rPr lang="en-IN" sz="1200" dirty="0">
                <a:hlinkClick r:id="rId20"/>
              </a:rPr>
              <a:t>Patterns for Parallel Programming[Book]</a:t>
            </a:r>
            <a:endParaRPr lang="en-IN" sz="1200" dirty="0"/>
          </a:p>
          <a:p>
            <a:pPr algn="just" fontAlgn="base"/>
            <a:r>
              <a:rPr lang="en-US" sz="1200" dirty="0">
                <a:hlinkClick r:id="rId21"/>
              </a:rPr>
              <a:t>Build Your Own RealTime OS (RTOS) From Ground Up™ on ARM 1 | Udemy</a:t>
            </a:r>
            <a:endParaRPr lang="en-US" sz="1200" dirty="0"/>
          </a:p>
          <a:p>
            <a:pPr algn="just" fontAlgn="base"/>
            <a:r>
              <a:rPr lang="en-US" sz="1200" dirty="0">
                <a:hlinkClick r:id="rId22"/>
              </a:rPr>
              <a:t>Build Your Own RealTime OS (RTOS) From Ground Up™ on ARM 2 | Udemy</a:t>
            </a:r>
            <a:endParaRPr lang="en-US" sz="1200" dirty="0"/>
          </a:p>
          <a:p>
            <a:pPr algn="just" fontAlgn="base"/>
            <a:r>
              <a:rPr lang="en-IN" sz="1200" dirty="0">
                <a:hlinkClick r:id="rId23"/>
              </a:rPr>
              <a:t>"DIY RTOS Made Easy: Mastering Microcontrollers " | Udemy</a:t>
            </a:r>
            <a:endParaRPr lang="en-US" sz="1200" kern="0" spc="-220" dirty="0">
              <a:solidFill>
                <a:schemeClr val="accent2"/>
              </a:solidFill>
            </a:endParaRPr>
          </a:p>
          <a:p>
            <a:pPr algn="just" fontAlgn="base"/>
            <a:endParaRPr lang="en-US" sz="2000" kern="0" spc="-220" dirty="0">
              <a:solidFill>
                <a:schemeClr val="accent2"/>
              </a:solidFill>
            </a:endParaRPr>
          </a:p>
        </p:txBody>
      </p:sp>
    </p:spTree>
    <p:extLst>
      <p:ext uri="{BB962C8B-B14F-4D97-AF65-F5344CB8AC3E}">
        <p14:creationId xmlns:p14="http://schemas.microsoft.com/office/powerpoint/2010/main" val="1696603681"/>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1521B-999D-697C-D304-D2CCD0FBBBF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46DC7E6-D346-E981-DE06-B0E1D6FC04D9}"/>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B223891-BCA7-8D55-A383-7473989804F8}"/>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FBED13E-5C0C-A224-C5D9-1E6FE250A4FF}"/>
              </a:ext>
            </a:extLst>
          </p:cNvPr>
          <p:cNvGraphicFramePr/>
          <p:nvPr>
            <p:extLst>
              <p:ext uri="{D42A27DB-BD31-4B8C-83A1-F6EECF244321}">
                <p14:modId xmlns:p14="http://schemas.microsoft.com/office/powerpoint/2010/main" val="2136523020"/>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E1568E69-5121-96A7-A752-4C6DE60B7487}"/>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1BF43713-29A4-ABAA-0BF6-79F9A7CF7381}"/>
              </a:ext>
            </a:extLst>
          </p:cNvPr>
          <p:cNvSpPr txBox="1">
            <a:spLocks/>
          </p:cNvSpPr>
          <p:nvPr/>
        </p:nvSpPr>
        <p:spPr>
          <a:xfrm>
            <a:off x="228600" y="1119932"/>
            <a:ext cx="8624937" cy="48474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                          USER SPACE                                                           ║</a:t>
            </a:r>
          </a:p>
          <a:p>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  ┌────────────────────────────────────────────────────────────┐  ║</a:t>
            </a:r>
          </a:p>
          <a:p>
            <a:r>
              <a:rPr lang="en-US" sz="1500" dirty="0">
                <a:solidFill>
                  <a:schemeClr val="accent6"/>
                </a:solidFill>
                <a:latin typeface="Google Sans"/>
                <a:ea typeface="+mn-ea"/>
                <a:cs typeface="+mn-cs"/>
              </a:rPr>
              <a:t>║  │ Applications                                                                               ║</a:t>
            </a:r>
          </a:p>
          <a:p>
            <a:r>
              <a:rPr lang="en-US" sz="1500" dirty="0">
                <a:solidFill>
                  <a:schemeClr val="accent6"/>
                </a:solidFill>
                <a:latin typeface="Google Sans"/>
                <a:ea typeface="+mn-ea"/>
                <a:cs typeface="+mn-cs"/>
              </a:rPr>
              <a:t>║  │                                                                                                       ║</a:t>
            </a:r>
          </a:p>
          <a:p>
            <a:r>
              <a:rPr lang="en-US" sz="1500" dirty="0">
                <a:solidFill>
                  <a:schemeClr val="accent6"/>
                </a:solidFill>
                <a:latin typeface="Google Sans"/>
                <a:ea typeface="+mn-ea"/>
                <a:cs typeface="+mn-cs"/>
              </a:rPr>
              <a:t>║  │  • Browsers (Chrome, Firefox)                                                ║</a:t>
            </a:r>
          </a:p>
          <a:p>
            <a:r>
              <a:rPr lang="en-US" sz="1500" dirty="0">
                <a:solidFill>
                  <a:schemeClr val="accent6"/>
                </a:solidFill>
                <a:latin typeface="Google Sans"/>
                <a:ea typeface="+mn-ea"/>
                <a:cs typeface="+mn-cs"/>
              </a:rPr>
              <a:t>║  │  • ML / AI code (Python, TensorFlow, </a:t>
            </a:r>
            <a:r>
              <a:rPr lang="en-US" sz="1500" dirty="0" err="1">
                <a:solidFill>
                  <a:schemeClr val="accent6"/>
                </a:solidFill>
                <a:latin typeface="Google Sans"/>
                <a:ea typeface="+mn-ea"/>
                <a:cs typeface="+mn-cs"/>
              </a:rPr>
              <a:t>PyTorch</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  │  • Editors (VS Code)                                                                  ║</a:t>
            </a:r>
          </a:p>
          <a:p>
            <a:r>
              <a:rPr lang="en-US" sz="1500" dirty="0">
                <a:solidFill>
                  <a:schemeClr val="accent6"/>
                </a:solidFill>
                <a:latin typeface="Google Sans"/>
                <a:ea typeface="+mn-ea"/>
                <a:cs typeface="+mn-cs"/>
              </a:rPr>
              <a:t>║  │  • Business applications                                                           ║</a:t>
            </a:r>
          </a:p>
          <a:p>
            <a:r>
              <a:rPr lang="en-US" sz="1500" dirty="0">
                <a:solidFill>
                  <a:schemeClr val="accent6"/>
                </a:solidFill>
                <a:latin typeface="Google Sans"/>
                <a:ea typeface="+mn-ea"/>
                <a:cs typeface="+mn-cs"/>
              </a:rPr>
              <a:t>║  │                                                                                                       ║</a:t>
            </a:r>
          </a:p>
          <a:p>
            <a:r>
              <a:rPr lang="en-US" sz="1500" dirty="0">
                <a:solidFill>
                  <a:schemeClr val="accent6"/>
                </a:solidFill>
                <a:latin typeface="Google Sans"/>
                <a:ea typeface="+mn-ea"/>
                <a:cs typeface="+mn-cs"/>
              </a:rPr>
              <a:t>║  │  Characteristics:                                                                         ║</a:t>
            </a:r>
          </a:p>
          <a:p>
            <a:r>
              <a:rPr lang="en-US" sz="1500" dirty="0">
                <a:solidFill>
                  <a:schemeClr val="accent6"/>
                </a:solidFill>
                <a:latin typeface="Google Sans"/>
                <a:ea typeface="+mn-ea"/>
                <a:cs typeface="+mn-cs"/>
              </a:rPr>
              <a:t>║  │  - No direct hardware access                                                  ║</a:t>
            </a:r>
          </a:p>
          <a:p>
            <a:r>
              <a:rPr lang="en-US" sz="1500" dirty="0">
                <a:solidFill>
                  <a:schemeClr val="accent6"/>
                </a:solidFill>
                <a:latin typeface="Google Sans"/>
                <a:ea typeface="+mn-ea"/>
                <a:cs typeface="+mn-cs"/>
              </a:rPr>
              <a:t>║  │  - Runs with low privilege                                                        ║</a:t>
            </a:r>
          </a:p>
          <a:p>
            <a:r>
              <a:rPr lang="en-US" sz="1500" dirty="0">
                <a:solidFill>
                  <a:schemeClr val="accent6"/>
                </a:solidFill>
                <a:latin typeface="Google Sans"/>
                <a:ea typeface="+mn-ea"/>
                <a:cs typeface="+mn-cs"/>
              </a:rPr>
              <a:t>║  │  - Crashes affect only this process                                         ║</a:t>
            </a:r>
          </a:p>
          <a:p>
            <a:r>
              <a:rPr lang="en-US" sz="1500" dirty="0">
                <a:solidFill>
                  <a:schemeClr val="accent6"/>
                </a:solidFill>
                <a:latin typeface="Google Sans"/>
                <a:ea typeface="+mn-ea"/>
                <a:cs typeface="+mn-cs"/>
              </a:rPr>
              <a:t>║  └────────────────────────────────────────────────────────────┘  ║</a:t>
            </a:r>
          </a:p>
          <a:p>
            <a:r>
              <a:rPr lang="en-US" sz="1500" dirty="0">
                <a:solidFill>
                  <a:schemeClr val="accent6"/>
                </a:solidFill>
                <a:latin typeface="Google Sans"/>
                <a:ea typeface="+mn-ea"/>
                <a:cs typeface="+mn-cs"/>
              </a:rPr>
              <a:t>║                                                                  ║</a:t>
            </a:r>
          </a:p>
          <a:p>
            <a:r>
              <a:rPr lang="en-US" sz="1500" dirty="0">
                <a:solidFill>
                  <a:schemeClr val="accent6"/>
                </a:solidFill>
                <a:latin typeface="Google Sans"/>
              </a:rPr>
              <a:t>║                                                                  ║</a:t>
            </a:r>
            <a:endParaRPr lang="en-US" sz="1500" dirty="0">
              <a:solidFill>
                <a:schemeClr val="accent6"/>
              </a:solidFill>
              <a:latin typeface="Google Sans"/>
              <a:ea typeface="+mn-ea"/>
              <a:cs typeface="+mn-cs"/>
            </a:endParaRPr>
          </a:p>
          <a:p>
            <a:r>
              <a:rPr lang="en-US" sz="1500" dirty="0">
                <a:solidFill>
                  <a:schemeClr val="accent6"/>
                </a:solidFill>
                <a:latin typeface="Google Sans"/>
              </a:rPr>
              <a:t>║                                                                  ║</a:t>
            </a:r>
            <a:endParaRPr lang="en-US" sz="1500" dirty="0">
              <a:solidFill>
                <a:schemeClr val="accent6"/>
              </a:solidFill>
              <a:latin typeface="Google Sans"/>
              <a:ea typeface="+mn-ea"/>
              <a:cs typeface="+mn-cs"/>
            </a:endParaRPr>
          </a:p>
          <a:p>
            <a:r>
              <a:rPr lang="en-US" sz="1500" dirty="0">
                <a:solidFill>
                  <a:schemeClr val="accent6"/>
                </a:solidFill>
                <a:latin typeface="Google Sans"/>
              </a:rPr>
              <a:t>║                                                                  ║</a:t>
            </a:r>
            <a:endParaRPr lang="en-US" sz="1500" dirty="0">
              <a:solidFill>
                <a:schemeClr val="accent6"/>
              </a:solidFill>
              <a:latin typeface="Google Sans"/>
              <a:ea typeface="+mn-ea"/>
              <a:cs typeface="+mn-cs"/>
            </a:endParaRPr>
          </a:p>
        </p:txBody>
      </p:sp>
    </p:spTree>
    <p:extLst>
      <p:ext uri="{BB962C8B-B14F-4D97-AF65-F5344CB8AC3E}">
        <p14:creationId xmlns:p14="http://schemas.microsoft.com/office/powerpoint/2010/main" val="2267366761"/>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0B82A-B6D4-0A5F-3AB7-63436B63EAC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6413DD1-DB03-B0B1-CE6E-6CA4F21E4C7A}"/>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61DC60A-C8BC-4664-C974-49DDDC3309D0}"/>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BD31698-A9C9-E7B8-872C-208F2F8B3B1C}"/>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553EAF85-16DD-CF12-F32E-00D5802E29F6}"/>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69C19701-5F64-D4CB-0D8D-518B3DF8EA0E}"/>
              </a:ext>
            </a:extLst>
          </p:cNvPr>
          <p:cNvSpPr txBox="1">
            <a:spLocks/>
          </p:cNvSpPr>
          <p:nvPr/>
        </p:nvSpPr>
        <p:spPr>
          <a:xfrm>
            <a:off x="228600" y="1119932"/>
            <a:ext cx="8624937" cy="48474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6"/>
                </a:solidFill>
                <a:latin typeface="Google Sans"/>
                <a:ea typeface="+mn-ea"/>
                <a:cs typeface="+mn-cs"/>
              </a:rPr>
              <a:t>║  ┌────────────────────────────────────────────────────────────┐  ║</a:t>
            </a:r>
          </a:p>
          <a:p>
            <a:r>
              <a:rPr lang="en-US" sz="1500" dirty="0">
                <a:solidFill>
                  <a:schemeClr val="accent6"/>
                </a:solidFill>
                <a:latin typeface="Google Sans"/>
                <a:ea typeface="+mn-ea"/>
                <a:cs typeface="+mn-cs"/>
              </a:rPr>
              <a:t>║  │ SYSTEMS PROGRAMMING (User-Space Part)                        ║</a:t>
            </a:r>
          </a:p>
          <a:p>
            <a:r>
              <a:rPr lang="en-US" sz="1500" dirty="0">
                <a:solidFill>
                  <a:schemeClr val="accent6"/>
                </a:solidFill>
                <a:latin typeface="Google Sans"/>
                <a:ea typeface="+mn-ea"/>
                <a:cs typeface="+mn-cs"/>
              </a:rPr>
              <a:t>║  │                                                                                                          ║</a:t>
            </a:r>
          </a:p>
          <a:p>
            <a:r>
              <a:rPr lang="en-US" sz="1500" dirty="0">
                <a:solidFill>
                  <a:schemeClr val="accent6"/>
                </a:solidFill>
                <a:latin typeface="Google Sans"/>
                <a:ea typeface="+mn-ea"/>
                <a:cs typeface="+mn-cs"/>
              </a:rPr>
              <a:t>║  │  • Shells (bash, </a:t>
            </a:r>
            <a:r>
              <a:rPr lang="en-US" sz="1500" dirty="0" err="1">
                <a:solidFill>
                  <a:schemeClr val="accent6"/>
                </a:solidFill>
                <a:latin typeface="Google Sans"/>
                <a:ea typeface="+mn-ea"/>
                <a:cs typeface="+mn-cs"/>
              </a:rPr>
              <a:t>zsh</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  │  • Compilers (</a:t>
            </a:r>
            <a:r>
              <a:rPr lang="en-US" sz="1500" dirty="0" err="1">
                <a:solidFill>
                  <a:schemeClr val="accent6"/>
                </a:solidFill>
                <a:latin typeface="Google Sans"/>
                <a:ea typeface="+mn-ea"/>
                <a:cs typeface="+mn-cs"/>
              </a:rPr>
              <a:t>gcc</a:t>
            </a:r>
            <a:r>
              <a:rPr lang="en-US" sz="1500" dirty="0">
                <a:solidFill>
                  <a:schemeClr val="accent6"/>
                </a:solidFill>
                <a:latin typeface="Google Sans"/>
                <a:ea typeface="+mn-ea"/>
                <a:cs typeface="+mn-cs"/>
              </a:rPr>
              <a:t>, clang)                                                             ║</a:t>
            </a:r>
          </a:p>
          <a:p>
            <a:r>
              <a:rPr lang="en-US" sz="1500" dirty="0">
                <a:solidFill>
                  <a:schemeClr val="accent6"/>
                </a:solidFill>
                <a:latin typeface="Google Sans"/>
                <a:ea typeface="+mn-ea"/>
                <a:cs typeface="+mn-cs"/>
              </a:rPr>
              <a:t>║  │  • Runtimes (JVM, Python interpreter)                                   ║</a:t>
            </a:r>
          </a:p>
          <a:p>
            <a:r>
              <a:rPr lang="en-US" sz="1500" dirty="0">
                <a:solidFill>
                  <a:schemeClr val="accent6"/>
                </a:solidFill>
                <a:latin typeface="Google Sans"/>
                <a:ea typeface="+mn-ea"/>
                <a:cs typeface="+mn-cs"/>
              </a:rPr>
              <a:t>║  │  • Databases (storage engines)                                                 ║</a:t>
            </a:r>
          </a:p>
          <a:p>
            <a:r>
              <a:rPr lang="en-US" sz="1500" dirty="0">
                <a:solidFill>
                  <a:schemeClr val="accent6"/>
                </a:solidFill>
                <a:latin typeface="Google Sans"/>
                <a:ea typeface="+mn-ea"/>
                <a:cs typeface="+mn-cs"/>
              </a:rPr>
              <a:t>║  │  • Web servers (nginx)                                                                ║</a:t>
            </a:r>
          </a:p>
          <a:p>
            <a:r>
              <a:rPr lang="en-US" sz="1500" dirty="0">
                <a:solidFill>
                  <a:schemeClr val="accent6"/>
                </a:solidFill>
                <a:latin typeface="Google Sans"/>
                <a:ea typeface="+mn-ea"/>
                <a:cs typeface="+mn-cs"/>
              </a:rPr>
              <a:t>║  │  • Container runtimes (Docker, </a:t>
            </a:r>
            <a:r>
              <a:rPr lang="en-US" sz="1500" dirty="0" err="1">
                <a:solidFill>
                  <a:schemeClr val="accent6"/>
                </a:solidFill>
                <a:latin typeface="Google Sans"/>
                <a:ea typeface="+mn-ea"/>
                <a:cs typeface="+mn-cs"/>
              </a:rPr>
              <a:t>containerd</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  │                                                                                                          ║</a:t>
            </a:r>
          </a:p>
          <a:p>
            <a:r>
              <a:rPr lang="en-US" sz="1500" dirty="0">
                <a:solidFill>
                  <a:schemeClr val="accent6"/>
                </a:solidFill>
                <a:latin typeface="Google Sans"/>
                <a:ea typeface="+mn-ea"/>
                <a:cs typeface="+mn-cs"/>
              </a:rPr>
              <a:t>║  │  Characteristics:                                                                            ║</a:t>
            </a:r>
          </a:p>
          <a:p>
            <a:r>
              <a:rPr lang="en-US" sz="1500" dirty="0">
                <a:solidFill>
                  <a:schemeClr val="accent6"/>
                </a:solidFill>
                <a:latin typeface="Google Sans"/>
                <a:ea typeface="+mn-ea"/>
                <a:cs typeface="+mn-cs"/>
              </a:rPr>
              <a:t>║  │  - Written in C / C++ / Rust                                                         ║</a:t>
            </a:r>
          </a:p>
          <a:p>
            <a:r>
              <a:rPr lang="en-US" sz="1500" dirty="0">
                <a:solidFill>
                  <a:schemeClr val="accent6"/>
                </a:solidFill>
                <a:latin typeface="Google Sans"/>
                <a:ea typeface="+mn-ea"/>
                <a:cs typeface="+mn-cs"/>
              </a:rPr>
              <a:t>║  │  - Performance-critical                                                                ║</a:t>
            </a:r>
          </a:p>
          <a:p>
            <a:r>
              <a:rPr lang="en-US" sz="1500" dirty="0">
                <a:solidFill>
                  <a:schemeClr val="accent6"/>
                </a:solidFill>
                <a:latin typeface="Google Sans"/>
                <a:ea typeface="+mn-ea"/>
                <a:cs typeface="+mn-cs"/>
              </a:rPr>
              <a:t>║  │  - Uses system calls                                                                      ║</a:t>
            </a:r>
          </a:p>
          <a:p>
            <a:r>
              <a:rPr lang="en-US" sz="1500" dirty="0">
                <a:solidFill>
                  <a:schemeClr val="accent6"/>
                </a:solidFill>
                <a:latin typeface="Google Sans"/>
                <a:ea typeface="+mn-ea"/>
                <a:cs typeface="+mn-cs"/>
              </a:rPr>
              <a:t>║  │  - OS-aware, but not privileged                                                 ║</a:t>
            </a:r>
          </a:p>
          <a:p>
            <a:r>
              <a:rPr lang="en-US" sz="1500" dirty="0">
                <a:solidFill>
                  <a:schemeClr val="accent6"/>
                </a:solidFill>
                <a:latin typeface="Google Sans"/>
                <a:ea typeface="+mn-ea"/>
                <a:cs typeface="+mn-cs"/>
              </a:rPr>
              <a:t>║  └────────────────────────────────────────────────────────────┘  ║</a:t>
            </a:r>
          </a:p>
          <a:p>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 SYSTEM CALL BOUNDARY ══════════════════════╣</a:t>
            </a:r>
          </a:p>
          <a:p>
            <a:r>
              <a:rPr lang="en-US" sz="1500" dirty="0">
                <a:solidFill>
                  <a:schemeClr val="accent6"/>
                </a:solidFill>
                <a:latin typeface="Google Sans"/>
                <a:ea typeface="+mn-ea"/>
                <a:cs typeface="+mn-cs"/>
              </a:rPr>
              <a:t>║           (Controlled &amp; secure entry into kernel space)                ║</a:t>
            </a:r>
          </a:p>
          <a:p>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   Examples: read(), write(), fork(), exec(), </a:t>
            </a:r>
            <a:r>
              <a:rPr lang="en-US" sz="1500" dirty="0" err="1">
                <a:solidFill>
                  <a:schemeClr val="accent6"/>
                </a:solidFill>
                <a:latin typeface="Google Sans"/>
                <a:ea typeface="+mn-ea"/>
                <a:cs typeface="+mn-cs"/>
              </a:rPr>
              <a:t>mmap</a:t>
            </a:r>
            <a:r>
              <a:rPr lang="en-US" sz="1500" dirty="0">
                <a:solidFill>
                  <a:schemeClr val="accent6"/>
                </a:solidFill>
                <a:latin typeface="Google Sans"/>
                <a:ea typeface="+mn-ea"/>
                <a:cs typeface="+mn-cs"/>
              </a:rPr>
              <a:t>(), </a:t>
            </a:r>
            <a:r>
              <a:rPr lang="en-US" sz="1500" dirty="0" err="1">
                <a:solidFill>
                  <a:schemeClr val="accent6"/>
                </a:solidFill>
                <a:latin typeface="Google Sans"/>
                <a:ea typeface="+mn-ea"/>
                <a:cs typeface="+mn-cs"/>
              </a:rPr>
              <a:t>ioctl</a:t>
            </a:r>
            <a:r>
              <a:rPr lang="en-US" sz="1500" dirty="0">
                <a:solidFill>
                  <a:schemeClr val="accent6"/>
                </a:solidFill>
                <a:latin typeface="Google Sans"/>
                <a:ea typeface="+mn-ea"/>
                <a:cs typeface="+mn-cs"/>
              </a:rPr>
              <a:t>()      ║</a:t>
            </a:r>
          </a:p>
        </p:txBody>
      </p:sp>
    </p:spTree>
    <p:extLst>
      <p:ext uri="{BB962C8B-B14F-4D97-AF65-F5344CB8AC3E}">
        <p14:creationId xmlns:p14="http://schemas.microsoft.com/office/powerpoint/2010/main" val="3039046513"/>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64B17-A791-E343-6BFF-FF22649399E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C8F0344-B375-258E-BE40-ED526A43E79D}"/>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57BE557-0E84-AF01-DD1A-D154EE30AA77}"/>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5D790A5-D782-D4E6-C04B-8981A61D1939}"/>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39848BB5-8D3E-97A2-58E0-633E9D4E5C7E}"/>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94FAD8A4-C4A5-E61E-940B-B7B6C2C06DE6}"/>
              </a:ext>
            </a:extLst>
          </p:cNvPr>
          <p:cNvSpPr txBox="1">
            <a:spLocks/>
          </p:cNvSpPr>
          <p:nvPr/>
        </p:nvSpPr>
        <p:spPr>
          <a:xfrm>
            <a:off x="228600" y="1119932"/>
            <a:ext cx="8624937" cy="48474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                         KERNEL SPACE                             ║</a:t>
            </a:r>
          </a:p>
          <a:p>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  ┌────────────────────────────────────────────────────────────┐  ║</a:t>
            </a:r>
          </a:p>
          <a:p>
            <a:r>
              <a:rPr lang="en-US" sz="1500" dirty="0">
                <a:solidFill>
                  <a:schemeClr val="accent6"/>
                </a:solidFill>
                <a:latin typeface="Google Sans"/>
                <a:ea typeface="+mn-ea"/>
                <a:cs typeface="+mn-cs"/>
              </a:rPr>
              <a:t>║  │ SYSTEMS PROGRAMMING (Kernel Part = Kernel Programming)      │  ║</a:t>
            </a:r>
          </a:p>
          <a:p>
            <a:r>
              <a:rPr lang="en-US" sz="1500" dirty="0">
                <a:solidFill>
                  <a:schemeClr val="accent6"/>
                </a:solidFill>
                <a:latin typeface="Google Sans"/>
                <a:ea typeface="+mn-ea"/>
                <a:cs typeface="+mn-cs"/>
              </a:rPr>
              <a:t>║  │                                                                            ║</a:t>
            </a:r>
          </a:p>
          <a:p>
            <a:r>
              <a:rPr lang="en-US" sz="1500" dirty="0">
                <a:solidFill>
                  <a:schemeClr val="accent6"/>
                </a:solidFill>
                <a:latin typeface="Google Sans"/>
                <a:ea typeface="+mn-ea"/>
                <a:cs typeface="+mn-cs"/>
              </a:rPr>
              <a:t>║  │  • Process Scheduler                                      ║</a:t>
            </a:r>
          </a:p>
          <a:p>
            <a:r>
              <a:rPr lang="en-US" sz="1500" dirty="0">
                <a:solidFill>
                  <a:schemeClr val="accent6"/>
                </a:solidFill>
                <a:latin typeface="Google Sans"/>
                <a:ea typeface="+mn-ea"/>
                <a:cs typeface="+mn-cs"/>
              </a:rPr>
              <a:t>║  │  • Virtual Memory Manager                        ║</a:t>
            </a:r>
          </a:p>
          <a:p>
            <a:r>
              <a:rPr lang="en-US" sz="1500" dirty="0">
                <a:solidFill>
                  <a:schemeClr val="accent6"/>
                </a:solidFill>
                <a:latin typeface="Google Sans"/>
                <a:ea typeface="+mn-ea"/>
                <a:cs typeface="+mn-cs"/>
              </a:rPr>
              <a:t>║  │  • File Systems (ext4, </a:t>
            </a:r>
            <a:r>
              <a:rPr lang="en-US" sz="1500" dirty="0" err="1">
                <a:solidFill>
                  <a:schemeClr val="accent6"/>
                </a:solidFill>
                <a:latin typeface="Google Sans"/>
                <a:ea typeface="+mn-ea"/>
                <a:cs typeface="+mn-cs"/>
              </a:rPr>
              <a:t>xfs</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  │  • Device Drivers                                             ║</a:t>
            </a:r>
          </a:p>
          <a:p>
            <a:r>
              <a:rPr lang="en-US" sz="1500" dirty="0">
                <a:solidFill>
                  <a:schemeClr val="accent6"/>
                </a:solidFill>
                <a:latin typeface="Google Sans"/>
                <a:ea typeface="+mn-ea"/>
                <a:cs typeface="+mn-cs"/>
              </a:rPr>
              <a:t>║  │  • Interrupt Handlers                                      ║</a:t>
            </a:r>
          </a:p>
          <a:p>
            <a:r>
              <a:rPr lang="en-US" sz="1500" dirty="0">
                <a:solidFill>
                  <a:schemeClr val="accent6"/>
                </a:solidFill>
                <a:latin typeface="Google Sans"/>
                <a:ea typeface="+mn-ea"/>
                <a:cs typeface="+mn-cs"/>
              </a:rPr>
              <a:t>║  │  • Network Stack                                             ║</a:t>
            </a:r>
          </a:p>
          <a:p>
            <a:r>
              <a:rPr lang="en-US" sz="1500" dirty="0">
                <a:solidFill>
                  <a:schemeClr val="accent6"/>
                </a:solidFill>
                <a:latin typeface="Google Sans"/>
                <a:ea typeface="+mn-ea"/>
                <a:cs typeface="+mn-cs"/>
              </a:rPr>
              <a:t>║  │                                                                             ║</a:t>
            </a:r>
          </a:p>
          <a:p>
            <a:r>
              <a:rPr lang="en-US" sz="1500" dirty="0">
                <a:solidFill>
                  <a:schemeClr val="accent6"/>
                </a:solidFill>
                <a:latin typeface="Google Sans"/>
                <a:ea typeface="+mn-ea"/>
                <a:cs typeface="+mn-cs"/>
              </a:rPr>
              <a:t>║  │  Characteristics:                                               ║</a:t>
            </a:r>
          </a:p>
          <a:p>
            <a:r>
              <a:rPr lang="en-US" sz="1500" dirty="0">
                <a:solidFill>
                  <a:schemeClr val="accent6"/>
                </a:solidFill>
                <a:latin typeface="Google Sans"/>
                <a:ea typeface="+mn-ea"/>
                <a:cs typeface="+mn-cs"/>
              </a:rPr>
              <a:t>║  │  - Runs in Ring 0 (highest privilege)             ║</a:t>
            </a:r>
          </a:p>
          <a:p>
            <a:r>
              <a:rPr lang="en-US" sz="1500" dirty="0">
                <a:solidFill>
                  <a:schemeClr val="accent6"/>
                </a:solidFill>
                <a:latin typeface="Google Sans"/>
                <a:ea typeface="+mn-ea"/>
                <a:cs typeface="+mn-cs"/>
              </a:rPr>
              <a:t>║  │  - Direct hardware access                               ║</a:t>
            </a:r>
          </a:p>
          <a:p>
            <a:r>
              <a:rPr lang="en-US" sz="1500" dirty="0">
                <a:solidFill>
                  <a:schemeClr val="accent6"/>
                </a:solidFill>
                <a:latin typeface="Google Sans"/>
                <a:ea typeface="+mn-ea"/>
                <a:cs typeface="+mn-cs"/>
              </a:rPr>
              <a:t>║  │  - Bugs can crash entire OS                            ║</a:t>
            </a:r>
          </a:p>
          <a:p>
            <a:r>
              <a:rPr lang="en-US" sz="1500" dirty="0">
                <a:solidFill>
                  <a:schemeClr val="accent6"/>
                </a:solidFill>
                <a:latin typeface="Google Sans"/>
                <a:ea typeface="+mn-ea"/>
                <a:cs typeface="+mn-cs"/>
              </a:rPr>
              <a:t>║  │  - Written mostly in C / Rust                         ║</a:t>
            </a:r>
          </a:p>
          <a:p>
            <a:r>
              <a:rPr lang="en-US" sz="1500" dirty="0">
                <a:solidFill>
                  <a:schemeClr val="accent6"/>
                </a:solidFill>
                <a:latin typeface="Google Sans"/>
                <a:ea typeface="+mn-ea"/>
                <a:cs typeface="+mn-cs"/>
              </a:rPr>
              <a:t>║  └────────────────────────────────────────────────────────────┘  ║</a:t>
            </a:r>
          </a:p>
        </p:txBody>
      </p:sp>
    </p:spTree>
    <p:extLst>
      <p:ext uri="{BB962C8B-B14F-4D97-AF65-F5344CB8AC3E}">
        <p14:creationId xmlns:p14="http://schemas.microsoft.com/office/powerpoint/2010/main" val="1705437058"/>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0777E-3825-6BD7-AACD-F3A76D49EEB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6E0A119-C0C1-CDD7-D6E5-5494DDD4121C}"/>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5D087B1-03AD-C2B1-84A0-A0F28A928982}"/>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00026CF-F56B-5B3E-A66A-A78135F15BB6}"/>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8539563D-604C-87D0-645E-E069379A9288}"/>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CE35889D-46B1-4116-0246-59D658745EFD}"/>
              </a:ext>
            </a:extLst>
          </p:cNvPr>
          <p:cNvSpPr txBox="1">
            <a:spLocks/>
          </p:cNvSpPr>
          <p:nvPr/>
        </p:nvSpPr>
        <p:spPr>
          <a:xfrm>
            <a:off x="228600" y="1119932"/>
            <a:ext cx="8624937" cy="30008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                            HARDWARE                ║</a:t>
            </a:r>
          </a:p>
          <a:p>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  • CPU (registers, modes, interrupts)                           </a:t>
            </a:r>
          </a:p>
          <a:p>
            <a:r>
              <a:rPr lang="en-US" sz="1500" dirty="0">
                <a:solidFill>
                  <a:schemeClr val="accent6"/>
                </a:solidFill>
                <a:latin typeface="Google Sans"/>
                <a:ea typeface="+mn-ea"/>
                <a:cs typeface="+mn-cs"/>
              </a:rPr>
              <a:t>║  • RAM                                                    ║</a:t>
            </a:r>
          </a:p>
          <a:p>
            <a:r>
              <a:rPr lang="en-US" sz="1500" dirty="0">
                <a:solidFill>
                  <a:schemeClr val="accent6"/>
                </a:solidFill>
                <a:latin typeface="Google Sans"/>
                <a:ea typeface="+mn-ea"/>
                <a:cs typeface="+mn-cs"/>
              </a:rPr>
              <a:t>║  • Disk / SSD                                          ║</a:t>
            </a:r>
          </a:p>
          <a:p>
            <a:r>
              <a:rPr lang="en-US" sz="1500" dirty="0">
                <a:solidFill>
                  <a:schemeClr val="accent6"/>
                </a:solidFill>
                <a:latin typeface="Google Sans"/>
                <a:ea typeface="+mn-ea"/>
                <a:cs typeface="+mn-cs"/>
              </a:rPr>
              <a:t>║  • Network cards                                  ║</a:t>
            </a:r>
          </a:p>
          <a:p>
            <a:r>
              <a:rPr lang="en-US" sz="1500" dirty="0">
                <a:solidFill>
                  <a:schemeClr val="accent6"/>
                </a:solidFill>
                <a:latin typeface="Google Sans"/>
                <a:ea typeface="+mn-ea"/>
                <a:cs typeface="+mn-cs"/>
              </a:rPr>
              <a:t>║  • GPUs                                                   ║</a:t>
            </a:r>
          </a:p>
          <a:p>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a:t>
            </a:r>
          </a:p>
        </p:txBody>
      </p:sp>
    </p:spTree>
    <p:extLst>
      <p:ext uri="{BB962C8B-B14F-4D97-AF65-F5344CB8AC3E}">
        <p14:creationId xmlns:p14="http://schemas.microsoft.com/office/powerpoint/2010/main" val="275975543"/>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67FE4-7B41-A709-C8B8-7C85438C8C1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DF25F14-7EAE-268B-9DEE-636D576C9A95}"/>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BF70378-510A-93B5-8F1F-F65DC904530B}"/>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D9F9B89-37AF-7ED8-B37F-37BE3A45074C}"/>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BC8D66D1-CDA0-F3F1-A953-11C648CC9396}"/>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4C94B990-34C4-56AA-E5C0-CD53300AF280}"/>
              </a:ext>
            </a:extLst>
          </p:cNvPr>
          <p:cNvSpPr txBox="1">
            <a:spLocks/>
          </p:cNvSpPr>
          <p:nvPr/>
        </p:nvSpPr>
        <p:spPr>
          <a:xfrm>
            <a:off x="228600" y="1119932"/>
            <a:ext cx="8624937" cy="498598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400" dirty="0">
                <a:solidFill>
                  <a:schemeClr val="accent2"/>
                </a:solidFill>
                <a:latin typeface="Google Sans"/>
                <a:ea typeface="+mn-ea"/>
                <a:cs typeface="+mn-cs"/>
              </a:rPr>
              <a:t>Why Separate User and Kernel Space Needed?</a:t>
            </a:r>
          </a:p>
          <a:p>
            <a:r>
              <a:rPr lang="en-US" sz="1500" dirty="0">
                <a:solidFill>
                  <a:schemeClr val="accent2"/>
                </a:solidFill>
                <a:latin typeface="Google Sans"/>
                <a:ea typeface="+mn-ea"/>
                <a:cs typeface="+mn-cs"/>
              </a:rPr>
              <a:t>First: what problem are we really solving?</a:t>
            </a:r>
          </a:p>
          <a:p>
            <a:r>
              <a:rPr lang="en-US" sz="1500" dirty="0">
                <a:solidFill>
                  <a:schemeClr val="accent2"/>
                </a:solidFill>
                <a:latin typeface="Google Sans"/>
                <a:ea typeface="+mn-ea"/>
                <a:cs typeface="+mn-cs"/>
              </a:rPr>
              <a:t>An operating system has to do two very different jobs:</a:t>
            </a:r>
          </a:p>
          <a:p>
            <a:r>
              <a:rPr lang="en-US" sz="1500" dirty="0">
                <a:solidFill>
                  <a:schemeClr val="accent6"/>
                </a:solidFill>
                <a:latin typeface="Google Sans"/>
                <a:ea typeface="+mn-ea"/>
                <a:cs typeface="+mn-cs"/>
              </a:rPr>
              <a:t>Let programs run freely and fast (editors, browsers, ML code, etc.)</a:t>
            </a:r>
          </a:p>
          <a:p>
            <a:r>
              <a:rPr lang="en-US" sz="1500" dirty="0">
                <a:solidFill>
                  <a:schemeClr val="accent6"/>
                </a:solidFill>
                <a:latin typeface="Google Sans"/>
                <a:ea typeface="+mn-ea"/>
                <a:cs typeface="+mn-cs"/>
              </a:rPr>
              <a:t>Protect the system and other programs from mistakes or abuse</a:t>
            </a:r>
          </a:p>
          <a:p>
            <a:r>
              <a:rPr lang="en-US" sz="1500" dirty="0">
                <a:solidFill>
                  <a:schemeClr val="accent6"/>
                </a:solidFill>
                <a:latin typeface="Google Sans"/>
                <a:ea typeface="+mn-ea"/>
                <a:cs typeface="+mn-cs"/>
              </a:rPr>
              <a:t>Those two goals conflict if you put everything in one place.</a:t>
            </a:r>
          </a:p>
          <a:p>
            <a:r>
              <a:rPr lang="en-US" sz="1500" dirty="0">
                <a:solidFill>
                  <a:schemeClr val="accent2"/>
                </a:solidFill>
                <a:latin typeface="Google Sans"/>
                <a:ea typeface="+mn-ea"/>
                <a:cs typeface="+mn-cs"/>
              </a:rPr>
              <a:t>Why only Kernel Space is a bad idea 🚫</a:t>
            </a:r>
          </a:p>
          <a:p>
            <a:r>
              <a:rPr lang="en-US" sz="1500" dirty="0">
                <a:solidFill>
                  <a:schemeClr val="accent6"/>
                </a:solidFill>
                <a:latin typeface="Google Sans"/>
                <a:ea typeface="+mn-ea"/>
                <a:cs typeface="+mn-cs"/>
              </a:rPr>
              <a:t>Imagine everything runs with full hardware power.</a:t>
            </a:r>
          </a:p>
          <a:p>
            <a:r>
              <a:rPr lang="en-US" sz="1500" dirty="0">
                <a:solidFill>
                  <a:schemeClr val="accent2"/>
                </a:solidFill>
                <a:latin typeface="Google Sans"/>
                <a:ea typeface="+mn-ea"/>
                <a:cs typeface="+mn-cs"/>
              </a:rPr>
              <a:t>What goes wrong?</a:t>
            </a:r>
          </a:p>
          <a:p>
            <a:r>
              <a:rPr lang="en-US" sz="1500" dirty="0">
                <a:solidFill>
                  <a:schemeClr val="accent2"/>
                </a:solidFill>
                <a:latin typeface="Google Sans"/>
                <a:ea typeface="+mn-ea"/>
                <a:cs typeface="+mn-cs"/>
              </a:rPr>
              <a:t>A bug in one app can:</a:t>
            </a:r>
          </a:p>
          <a:p>
            <a:r>
              <a:rPr lang="en-US" sz="1500" dirty="0">
                <a:solidFill>
                  <a:schemeClr val="accent6"/>
                </a:solidFill>
                <a:latin typeface="Google Sans"/>
                <a:ea typeface="+mn-ea"/>
                <a:cs typeface="+mn-cs"/>
              </a:rPr>
              <a:t>overwrite memory of another app</a:t>
            </a:r>
          </a:p>
          <a:p>
            <a:r>
              <a:rPr lang="en-US" sz="1500" dirty="0">
                <a:solidFill>
                  <a:schemeClr val="accent6"/>
                </a:solidFill>
                <a:latin typeface="Google Sans"/>
                <a:ea typeface="+mn-ea"/>
                <a:cs typeface="+mn-cs"/>
              </a:rPr>
              <a:t>crash the entire OS</a:t>
            </a:r>
          </a:p>
          <a:p>
            <a:r>
              <a:rPr lang="en-US" sz="1500" dirty="0">
                <a:solidFill>
                  <a:schemeClr val="accent6"/>
                </a:solidFill>
                <a:latin typeface="Google Sans"/>
                <a:ea typeface="+mn-ea"/>
                <a:cs typeface="+mn-cs"/>
              </a:rPr>
              <a:t>No isolation → no security</a:t>
            </a:r>
          </a:p>
          <a:p>
            <a:r>
              <a:rPr lang="en-US" sz="1500" dirty="0">
                <a:solidFill>
                  <a:schemeClr val="accent6"/>
                </a:solidFill>
                <a:latin typeface="Google Sans"/>
                <a:ea typeface="+mn-ea"/>
                <a:cs typeface="+mn-cs"/>
              </a:rPr>
              <a:t>Every typo in user code = potential system panic</a:t>
            </a:r>
          </a:p>
          <a:p>
            <a:r>
              <a:rPr lang="en-US" sz="1500" dirty="0">
                <a:solidFill>
                  <a:schemeClr val="accent6"/>
                </a:solidFill>
                <a:latin typeface="Google Sans"/>
                <a:ea typeface="+mn-ea"/>
                <a:cs typeface="+mn-cs"/>
              </a:rPr>
              <a:t>Historical example</a:t>
            </a:r>
          </a:p>
          <a:p>
            <a:r>
              <a:rPr lang="en-US" sz="1500" dirty="0">
                <a:solidFill>
                  <a:schemeClr val="accent6"/>
                </a:solidFill>
                <a:latin typeface="Google Sans"/>
                <a:ea typeface="+mn-ea"/>
                <a:cs typeface="+mn-cs"/>
              </a:rPr>
              <a:t>Early systems (and even MS-DOS) effectively worked this way.</a:t>
            </a:r>
          </a:p>
          <a:p>
            <a:r>
              <a:rPr lang="en-US" sz="1500" dirty="0">
                <a:solidFill>
                  <a:schemeClr val="accent2"/>
                </a:solidFill>
                <a:latin typeface="Google Sans"/>
                <a:ea typeface="+mn-ea"/>
                <a:cs typeface="+mn-cs"/>
              </a:rPr>
              <a:t>They were:</a:t>
            </a:r>
          </a:p>
          <a:p>
            <a:r>
              <a:rPr lang="en-US" sz="1500" dirty="0">
                <a:solidFill>
                  <a:schemeClr val="accent6"/>
                </a:solidFill>
                <a:latin typeface="Google Sans"/>
                <a:ea typeface="+mn-ea"/>
                <a:cs typeface="+mn-cs"/>
              </a:rPr>
              <a:t>fast ✅</a:t>
            </a:r>
          </a:p>
          <a:p>
            <a:r>
              <a:rPr lang="en-US" sz="1500" dirty="0">
                <a:solidFill>
                  <a:schemeClr val="accent6"/>
                </a:solidFill>
                <a:latin typeface="Google Sans"/>
                <a:ea typeface="+mn-ea"/>
                <a:cs typeface="+mn-cs"/>
              </a:rPr>
              <a:t>simple ✅</a:t>
            </a:r>
          </a:p>
          <a:p>
            <a:r>
              <a:rPr lang="en-US" sz="1500" dirty="0">
                <a:solidFill>
                  <a:schemeClr val="accent6"/>
                </a:solidFill>
                <a:latin typeface="Google Sans"/>
                <a:ea typeface="+mn-ea"/>
                <a:cs typeface="+mn-cs"/>
              </a:rPr>
              <a:t>fragile and insecure ❌</a:t>
            </a:r>
          </a:p>
          <a:p>
            <a:r>
              <a:rPr lang="en-US" sz="1500" dirty="0">
                <a:solidFill>
                  <a:schemeClr val="accent6"/>
                </a:solidFill>
                <a:latin typeface="Google Sans"/>
                <a:ea typeface="+mn-ea"/>
                <a:cs typeface="+mn-cs"/>
              </a:rPr>
              <a:t>So kernel-only systems fail at stability and safety.</a:t>
            </a:r>
          </a:p>
        </p:txBody>
      </p:sp>
    </p:spTree>
    <p:extLst>
      <p:ext uri="{BB962C8B-B14F-4D97-AF65-F5344CB8AC3E}">
        <p14:creationId xmlns:p14="http://schemas.microsoft.com/office/powerpoint/2010/main" val="3678059398"/>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E9EBC-5C59-917C-3B2A-7755A0AAAAB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B4A633E-812D-88B2-6E95-360ECD6F0AF8}"/>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53541E5-863B-2807-6187-7B107105D299}"/>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D5930C7-3157-2920-A12D-39E0565BF6F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41C9295E-3D93-3F4E-0A56-0F163C9F98F0}"/>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AAA48681-0678-6413-BB08-D5B27D4E64FB}"/>
              </a:ext>
            </a:extLst>
          </p:cNvPr>
          <p:cNvSpPr txBox="1">
            <a:spLocks/>
          </p:cNvSpPr>
          <p:nvPr/>
        </p:nvSpPr>
        <p:spPr>
          <a:xfrm>
            <a:off x="228600" y="1119932"/>
            <a:ext cx="8624937" cy="452431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400" dirty="0">
                <a:solidFill>
                  <a:schemeClr val="accent2"/>
                </a:solidFill>
                <a:latin typeface="Google Sans"/>
                <a:ea typeface="+mn-ea"/>
                <a:cs typeface="+mn-cs"/>
              </a:rPr>
              <a:t>Why Separate User and Kernel Space Needed?</a:t>
            </a:r>
          </a:p>
          <a:p>
            <a:r>
              <a:rPr lang="en-US" sz="1500" dirty="0">
                <a:solidFill>
                  <a:schemeClr val="accent2"/>
                </a:solidFill>
                <a:latin typeface="Google Sans"/>
                <a:ea typeface="+mn-ea"/>
                <a:cs typeface="+mn-cs"/>
              </a:rPr>
              <a:t>Why only User Space is also impossible 🚫</a:t>
            </a:r>
          </a:p>
          <a:p>
            <a:r>
              <a:rPr lang="en-US" sz="1500" dirty="0">
                <a:solidFill>
                  <a:schemeClr val="accent6"/>
                </a:solidFill>
                <a:latin typeface="Google Sans"/>
                <a:ea typeface="+mn-ea"/>
                <a:cs typeface="+mn-cs"/>
              </a:rPr>
              <a:t>Now flip the idea: what if everything runs as a normal program?</a:t>
            </a:r>
          </a:p>
          <a:p>
            <a:r>
              <a:rPr lang="en-US" sz="1500" dirty="0">
                <a:solidFill>
                  <a:schemeClr val="accent2"/>
                </a:solidFill>
                <a:latin typeface="Google Sans"/>
                <a:ea typeface="+mn-ea"/>
                <a:cs typeface="+mn-cs"/>
              </a:rPr>
              <a:t>What breaks?</a:t>
            </a:r>
          </a:p>
          <a:p>
            <a:r>
              <a:rPr lang="en-US" sz="1500" dirty="0">
                <a:solidFill>
                  <a:schemeClr val="accent6"/>
                </a:solidFill>
                <a:latin typeface="Google Sans"/>
                <a:ea typeface="+mn-ea"/>
                <a:cs typeface="+mn-cs"/>
              </a:rPr>
              <a:t>User-space programs:</a:t>
            </a:r>
          </a:p>
          <a:p>
            <a:r>
              <a:rPr lang="en-US" sz="1500" dirty="0">
                <a:solidFill>
                  <a:schemeClr val="accent6"/>
                </a:solidFill>
                <a:latin typeface="Google Sans"/>
                <a:ea typeface="+mn-ea"/>
                <a:cs typeface="+mn-cs"/>
              </a:rPr>
              <a:t>cannot directly access hardware</a:t>
            </a:r>
          </a:p>
          <a:p>
            <a:r>
              <a:rPr lang="en-US" sz="1500" dirty="0">
                <a:solidFill>
                  <a:schemeClr val="accent6"/>
                </a:solidFill>
                <a:latin typeface="Google Sans"/>
                <a:ea typeface="+mn-ea"/>
                <a:cs typeface="+mn-cs"/>
              </a:rPr>
              <a:t>cannot schedule CPU</a:t>
            </a:r>
          </a:p>
          <a:p>
            <a:r>
              <a:rPr lang="en-US" sz="1500" dirty="0">
                <a:solidFill>
                  <a:schemeClr val="accent6"/>
                </a:solidFill>
                <a:latin typeface="Google Sans"/>
                <a:ea typeface="+mn-ea"/>
                <a:cs typeface="+mn-cs"/>
              </a:rPr>
              <a:t>cannot manage memory or interrupts</a:t>
            </a:r>
          </a:p>
          <a:p>
            <a:r>
              <a:rPr lang="en-US" sz="1500" dirty="0">
                <a:solidFill>
                  <a:schemeClr val="accent2"/>
                </a:solidFill>
                <a:latin typeface="Google Sans"/>
                <a:ea typeface="+mn-ea"/>
                <a:cs typeface="+mn-cs"/>
              </a:rPr>
              <a:t>Why?</a:t>
            </a:r>
          </a:p>
          <a:p>
            <a:r>
              <a:rPr lang="en-US" sz="1500" dirty="0">
                <a:solidFill>
                  <a:schemeClr val="accent6"/>
                </a:solidFill>
                <a:latin typeface="Google Sans"/>
                <a:ea typeface="+mn-ea"/>
                <a:cs typeface="+mn-cs"/>
              </a:rPr>
              <a:t>Because CPUs themselves enforce privilege levels (rings).</a:t>
            </a:r>
          </a:p>
          <a:p>
            <a:r>
              <a:rPr lang="en-US" sz="1500" dirty="0">
                <a:solidFill>
                  <a:schemeClr val="accent2"/>
                </a:solidFill>
                <a:latin typeface="Google Sans"/>
                <a:ea typeface="+mn-ea"/>
                <a:cs typeface="+mn-cs"/>
              </a:rPr>
              <a:t>So:</a:t>
            </a:r>
          </a:p>
          <a:p>
            <a:r>
              <a:rPr lang="en-US" sz="1500" dirty="0">
                <a:solidFill>
                  <a:schemeClr val="accent6"/>
                </a:solidFill>
                <a:latin typeface="Google Sans"/>
                <a:ea typeface="+mn-ea"/>
                <a:cs typeface="+mn-cs"/>
              </a:rPr>
              <a:t>No kernel → no disk access</a:t>
            </a:r>
          </a:p>
          <a:p>
            <a:r>
              <a:rPr lang="en-US" sz="1500" dirty="0">
                <a:solidFill>
                  <a:schemeClr val="accent6"/>
                </a:solidFill>
                <a:latin typeface="Google Sans"/>
                <a:ea typeface="+mn-ea"/>
                <a:cs typeface="+mn-cs"/>
              </a:rPr>
              <a:t>No kernel → no process scheduling</a:t>
            </a:r>
          </a:p>
          <a:p>
            <a:r>
              <a:rPr lang="en-US" sz="1500" dirty="0">
                <a:solidFill>
                  <a:schemeClr val="accent6"/>
                </a:solidFill>
                <a:latin typeface="Google Sans"/>
                <a:ea typeface="+mn-ea"/>
                <a:cs typeface="+mn-cs"/>
              </a:rPr>
              <a:t>No kernel → no memory protection</a:t>
            </a:r>
          </a:p>
          <a:p>
            <a:r>
              <a:rPr lang="en-US" sz="1500" dirty="0">
                <a:solidFill>
                  <a:schemeClr val="accent6"/>
                </a:solidFill>
                <a:latin typeface="Google Sans"/>
                <a:ea typeface="+mn-ea"/>
                <a:cs typeface="+mn-cs"/>
              </a:rPr>
              <a:t>A pure user-space OS cannot control hardware.</a:t>
            </a:r>
          </a:p>
          <a:p>
            <a:r>
              <a:rPr lang="en-US" sz="1500" dirty="0">
                <a:solidFill>
                  <a:schemeClr val="accent2"/>
                </a:solidFill>
                <a:latin typeface="Google Sans"/>
                <a:ea typeface="+mn-ea"/>
                <a:cs typeface="+mn-cs"/>
              </a:rPr>
              <a:t>The key insight 🔑 (this is the heart of it)</a:t>
            </a:r>
          </a:p>
          <a:p>
            <a:r>
              <a:rPr lang="en-US" sz="1500" dirty="0">
                <a:solidFill>
                  <a:schemeClr val="accent6"/>
                </a:solidFill>
                <a:latin typeface="Google Sans"/>
                <a:ea typeface="+mn-ea"/>
                <a:cs typeface="+mn-cs"/>
              </a:rPr>
              <a:t>User space exists to protect the system from programs.</a:t>
            </a:r>
          </a:p>
          <a:p>
            <a:r>
              <a:rPr lang="en-US" sz="1500" dirty="0">
                <a:solidFill>
                  <a:schemeClr val="accent6"/>
                </a:solidFill>
                <a:latin typeface="Google Sans"/>
                <a:ea typeface="+mn-ea"/>
                <a:cs typeface="+mn-cs"/>
              </a:rPr>
              <a:t>Kernel space exists to protect the system for programs.</a:t>
            </a:r>
          </a:p>
          <a:p>
            <a:r>
              <a:rPr lang="en-US" sz="1500" dirty="0">
                <a:solidFill>
                  <a:schemeClr val="accent6"/>
                </a:solidFill>
                <a:latin typeface="Google Sans"/>
                <a:ea typeface="+mn-ea"/>
                <a:cs typeface="+mn-cs"/>
              </a:rPr>
              <a:t>They are complementary, not redundant.</a:t>
            </a:r>
          </a:p>
        </p:txBody>
      </p:sp>
    </p:spTree>
    <p:extLst>
      <p:ext uri="{BB962C8B-B14F-4D97-AF65-F5344CB8AC3E}">
        <p14:creationId xmlns:p14="http://schemas.microsoft.com/office/powerpoint/2010/main" val="708219813"/>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291D9-B5E5-4EEB-3686-5E767CE89DD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66889FE-901B-6E98-5EA9-6B054355EEDB}"/>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7AE99AF-3BA4-A60D-4E24-FE41073F8D00}"/>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C2EBFBD-9227-CB8C-FBE2-E0B20B873E30}"/>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6F8321AB-1907-11F1-41D8-D6AD165CA51E}"/>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426F4F3A-B943-3C91-81F6-0E935AF23146}"/>
              </a:ext>
            </a:extLst>
          </p:cNvPr>
          <p:cNvSpPr txBox="1">
            <a:spLocks/>
          </p:cNvSpPr>
          <p:nvPr/>
        </p:nvSpPr>
        <p:spPr>
          <a:xfrm>
            <a:off x="228600" y="1119932"/>
            <a:ext cx="8624937" cy="429348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400" dirty="0">
                <a:solidFill>
                  <a:schemeClr val="accent2"/>
                </a:solidFill>
                <a:latin typeface="Google Sans"/>
                <a:ea typeface="+mn-ea"/>
                <a:cs typeface="+mn-cs"/>
              </a:rPr>
              <a:t>Why Separate User and Kernel Space Needed?</a:t>
            </a:r>
          </a:p>
          <a:p>
            <a:r>
              <a:rPr lang="en-US" sz="1500" dirty="0">
                <a:solidFill>
                  <a:schemeClr val="accent2"/>
                </a:solidFill>
                <a:latin typeface="Google Sans"/>
                <a:ea typeface="+mn-ea"/>
                <a:cs typeface="+mn-cs"/>
              </a:rPr>
              <a:t>Clean mental model 🧠</a:t>
            </a:r>
          </a:p>
          <a:p>
            <a:r>
              <a:rPr lang="en-US" sz="1500" dirty="0">
                <a:solidFill>
                  <a:schemeClr val="accent2"/>
                </a:solidFill>
                <a:latin typeface="Google Sans"/>
                <a:ea typeface="+mn-ea"/>
                <a:cs typeface="+mn-cs"/>
              </a:rPr>
              <a:t>Think of it like this:</a:t>
            </a:r>
          </a:p>
          <a:p>
            <a:r>
              <a:rPr lang="en-US" sz="1500" dirty="0">
                <a:solidFill>
                  <a:schemeClr val="accent2"/>
                </a:solidFill>
                <a:latin typeface="Google Sans"/>
                <a:ea typeface="+mn-ea"/>
                <a:cs typeface="+mn-cs"/>
              </a:rPr>
              <a:t>Layer	                           Role</a:t>
            </a:r>
          </a:p>
          <a:p>
            <a:r>
              <a:rPr lang="en-US" sz="1500" dirty="0">
                <a:solidFill>
                  <a:schemeClr val="accent6"/>
                </a:solidFill>
                <a:latin typeface="Google Sans"/>
                <a:ea typeface="+mn-ea"/>
                <a:cs typeface="+mn-cs"/>
              </a:rPr>
              <a:t>User Space	                           Freedom, flexibility, experimentation</a:t>
            </a:r>
          </a:p>
          <a:p>
            <a:r>
              <a:rPr lang="en-US" sz="1500" dirty="0">
                <a:solidFill>
                  <a:schemeClr val="accent6"/>
                </a:solidFill>
                <a:latin typeface="Google Sans"/>
                <a:ea typeface="+mn-ea"/>
                <a:cs typeface="+mn-cs"/>
              </a:rPr>
              <a:t>Kernel Space	      Authority, safety, arbitration</a:t>
            </a:r>
          </a:p>
          <a:p>
            <a:r>
              <a:rPr lang="en-US" sz="1500" dirty="0">
                <a:solidFill>
                  <a:schemeClr val="accent2"/>
                </a:solidFill>
                <a:latin typeface="Google Sans"/>
                <a:ea typeface="+mn-ea"/>
                <a:cs typeface="+mn-cs"/>
              </a:rPr>
              <a:t>Or even simpler:</a:t>
            </a:r>
          </a:p>
          <a:p>
            <a:r>
              <a:rPr lang="en-US" sz="1500" dirty="0">
                <a:solidFill>
                  <a:schemeClr val="accent6"/>
                </a:solidFill>
                <a:latin typeface="Google Sans"/>
                <a:ea typeface="+mn-ea"/>
                <a:cs typeface="+mn-cs"/>
              </a:rPr>
              <a:t>User space = “I want to do X”</a:t>
            </a:r>
          </a:p>
          <a:p>
            <a:r>
              <a:rPr lang="en-US" sz="1500" dirty="0">
                <a:solidFill>
                  <a:schemeClr val="accent6"/>
                </a:solidFill>
                <a:latin typeface="Google Sans"/>
                <a:ea typeface="+mn-ea"/>
                <a:cs typeface="+mn-cs"/>
              </a:rPr>
              <a:t>Kernel space = “You may do X safely”</a:t>
            </a:r>
          </a:p>
          <a:p>
            <a:r>
              <a:rPr lang="en-US" sz="1500" dirty="0">
                <a:solidFill>
                  <a:schemeClr val="accent2"/>
                </a:solidFill>
                <a:latin typeface="Google Sans"/>
                <a:ea typeface="+mn-ea"/>
                <a:cs typeface="+mn-cs"/>
              </a:rPr>
              <a:t>Why the boundary is worth the overhead</a:t>
            </a:r>
          </a:p>
          <a:p>
            <a:r>
              <a:rPr lang="en-US" sz="1500" dirty="0">
                <a:solidFill>
                  <a:schemeClr val="accent2"/>
                </a:solidFill>
                <a:latin typeface="Google Sans"/>
                <a:ea typeface="+mn-ea"/>
                <a:cs typeface="+mn-cs"/>
              </a:rPr>
              <a:t>Yes, system calls add overhead.</a:t>
            </a:r>
          </a:p>
          <a:p>
            <a:r>
              <a:rPr lang="en-US" sz="1500" dirty="0">
                <a:solidFill>
                  <a:schemeClr val="accent2"/>
                </a:solidFill>
                <a:latin typeface="Google Sans"/>
                <a:ea typeface="+mn-ea"/>
                <a:cs typeface="+mn-cs"/>
              </a:rPr>
              <a:t>But the trade-off buys us:</a:t>
            </a:r>
          </a:p>
          <a:p>
            <a:r>
              <a:rPr lang="en-US" sz="1500" dirty="0">
                <a:solidFill>
                  <a:schemeClr val="accent6"/>
                </a:solidFill>
                <a:latin typeface="Google Sans"/>
                <a:ea typeface="+mn-ea"/>
                <a:cs typeface="+mn-cs"/>
              </a:rPr>
              <a:t>✔ Process isolation</a:t>
            </a:r>
          </a:p>
          <a:p>
            <a:r>
              <a:rPr lang="en-US" sz="1500" dirty="0">
                <a:solidFill>
                  <a:schemeClr val="accent6"/>
                </a:solidFill>
                <a:latin typeface="Google Sans"/>
                <a:ea typeface="+mn-ea"/>
                <a:cs typeface="+mn-cs"/>
              </a:rPr>
              <a:t>✔ Memory protection</a:t>
            </a:r>
          </a:p>
          <a:p>
            <a:r>
              <a:rPr lang="en-US" sz="1500" dirty="0">
                <a:solidFill>
                  <a:schemeClr val="accent6"/>
                </a:solidFill>
                <a:latin typeface="Google Sans"/>
                <a:ea typeface="+mn-ea"/>
                <a:cs typeface="+mn-cs"/>
              </a:rPr>
              <a:t>✔ Security boundaries</a:t>
            </a:r>
          </a:p>
          <a:p>
            <a:r>
              <a:rPr lang="en-US" sz="1500" dirty="0">
                <a:solidFill>
                  <a:schemeClr val="accent6"/>
                </a:solidFill>
                <a:latin typeface="Google Sans"/>
                <a:ea typeface="+mn-ea"/>
                <a:cs typeface="+mn-cs"/>
              </a:rPr>
              <a:t>✔ Fault containment</a:t>
            </a:r>
          </a:p>
          <a:p>
            <a:r>
              <a:rPr lang="en-US" sz="1500" dirty="0">
                <a:solidFill>
                  <a:schemeClr val="accent6"/>
                </a:solidFill>
                <a:latin typeface="Google Sans"/>
                <a:ea typeface="+mn-ea"/>
                <a:cs typeface="+mn-cs"/>
              </a:rPr>
              <a:t>✔ Multi-user safety</a:t>
            </a:r>
          </a:p>
          <a:p>
            <a:r>
              <a:rPr lang="en-US" sz="1500" dirty="0">
                <a:solidFill>
                  <a:schemeClr val="accent6"/>
                </a:solidFill>
                <a:latin typeface="Google Sans"/>
                <a:ea typeface="+mn-ea"/>
                <a:cs typeface="+mn-cs"/>
              </a:rPr>
              <a:t>A crashing Python script should not reboot your machine—and thanks to this split, it doesn’t.</a:t>
            </a:r>
          </a:p>
        </p:txBody>
      </p:sp>
    </p:spTree>
    <p:extLst>
      <p:ext uri="{BB962C8B-B14F-4D97-AF65-F5344CB8AC3E}">
        <p14:creationId xmlns:p14="http://schemas.microsoft.com/office/powerpoint/2010/main" val="974599084"/>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F82ED-6036-E02E-E35C-445CDA9A330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7DD8B88-3ECE-1E1B-36ED-E9BBDF1E4D48}"/>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04573DF-E39D-7A08-DF9D-975F272ED3E2}"/>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8F4AC68-B33F-0575-3DCB-49D43EDC5F28}"/>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0774D735-AFC8-BD13-4756-1A4E98D702DF}"/>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F24C2D07-3CCB-2121-6F9E-EA8444C986B3}"/>
              </a:ext>
            </a:extLst>
          </p:cNvPr>
          <p:cNvSpPr txBox="1">
            <a:spLocks/>
          </p:cNvSpPr>
          <p:nvPr/>
        </p:nvSpPr>
        <p:spPr>
          <a:xfrm>
            <a:off x="228600" y="1119932"/>
            <a:ext cx="8624937" cy="452431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400" dirty="0">
                <a:solidFill>
                  <a:schemeClr val="accent2"/>
                </a:solidFill>
                <a:latin typeface="Google Sans"/>
                <a:ea typeface="+mn-ea"/>
                <a:cs typeface="+mn-cs"/>
              </a:rPr>
              <a:t>Why Separate User and Kernel Space Needed?</a:t>
            </a:r>
          </a:p>
          <a:p>
            <a:r>
              <a:rPr lang="en-US" sz="1500" dirty="0">
                <a:solidFill>
                  <a:schemeClr val="accent2"/>
                </a:solidFill>
                <a:latin typeface="Google Sans"/>
                <a:ea typeface="+mn-ea"/>
                <a:cs typeface="+mn-cs"/>
              </a:rPr>
              <a:t>Real-world analogy 🏛️</a:t>
            </a:r>
          </a:p>
          <a:p>
            <a:r>
              <a:rPr lang="en-US" sz="1500" dirty="0">
                <a:solidFill>
                  <a:schemeClr val="accent6"/>
                </a:solidFill>
                <a:latin typeface="Google Sans"/>
                <a:ea typeface="+mn-ea"/>
                <a:cs typeface="+mn-cs"/>
              </a:rPr>
              <a:t>Kernel space = government + law enforcement</a:t>
            </a:r>
          </a:p>
          <a:p>
            <a:r>
              <a:rPr lang="en-US" sz="1500" dirty="0">
                <a:solidFill>
                  <a:schemeClr val="accent6"/>
                </a:solidFill>
                <a:latin typeface="Google Sans"/>
                <a:ea typeface="+mn-ea"/>
                <a:cs typeface="+mn-cs"/>
              </a:rPr>
              <a:t>User space = citizens</a:t>
            </a:r>
          </a:p>
          <a:p>
            <a:r>
              <a:rPr lang="en-US" sz="1500" dirty="0">
                <a:solidFill>
                  <a:schemeClr val="accent6"/>
                </a:solidFill>
                <a:latin typeface="Google Sans"/>
                <a:ea typeface="+mn-ea"/>
                <a:cs typeface="+mn-cs"/>
              </a:rPr>
              <a:t>Could citizens run the country directly? Chaos.</a:t>
            </a:r>
          </a:p>
          <a:p>
            <a:r>
              <a:rPr lang="en-US" sz="1500" dirty="0">
                <a:solidFill>
                  <a:schemeClr val="accent6"/>
                </a:solidFill>
                <a:latin typeface="Google Sans"/>
                <a:ea typeface="+mn-ea"/>
                <a:cs typeface="+mn-cs"/>
              </a:rPr>
              <a:t>Could government do everything for citizens? No innovation.</a:t>
            </a:r>
          </a:p>
          <a:p>
            <a:r>
              <a:rPr lang="en-US" sz="1500" dirty="0">
                <a:solidFill>
                  <a:schemeClr val="accent6"/>
                </a:solidFill>
                <a:latin typeface="Google Sans"/>
                <a:ea typeface="+mn-ea"/>
                <a:cs typeface="+mn-cs"/>
              </a:rPr>
              <a:t>You need both, with clear rules.</a:t>
            </a:r>
          </a:p>
          <a:p>
            <a:r>
              <a:rPr lang="en-US" sz="1500" dirty="0">
                <a:solidFill>
                  <a:schemeClr val="accent2"/>
                </a:solidFill>
                <a:latin typeface="Google Sans"/>
                <a:ea typeface="+mn-ea"/>
                <a:cs typeface="+mn-cs"/>
              </a:rPr>
              <a:t>Modern twist: “Is the boundary fixed?”</a:t>
            </a:r>
          </a:p>
          <a:p>
            <a:r>
              <a:rPr lang="en-US" sz="1500" dirty="0">
                <a:solidFill>
                  <a:schemeClr val="accent6"/>
                </a:solidFill>
                <a:latin typeface="Google Sans"/>
                <a:ea typeface="+mn-ea"/>
                <a:cs typeface="+mn-cs"/>
              </a:rPr>
              <a:t>Not exactly.</a:t>
            </a:r>
          </a:p>
          <a:p>
            <a:r>
              <a:rPr lang="en-US" sz="1500" dirty="0">
                <a:solidFill>
                  <a:schemeClr val="accent6"/>
                </a:solidFill>
                <a:latin typeface="Google Sans"/>
                <a:ea typeface="+mn-ea"/>
                <a:cs typeface="+mn-cs"/>
              </a:rPr>
              <a:t>Microkernels → push more into user space</a:t>
            </a:r>
          </a:p>
          <a:p>
            <a:r>
              <a:rPr lang="en-US" sz="1500" dirty="0">
                <a:solidFill>
                  <a:schemeClr val="accent6"/>
                </a:solidFill>
                <a:latin typeface="Google Sans"/>
                <a:ea typeface="+mn-ea"/>
                <a:cs typeface="+mn-cs"/>
              </a:rPr>
              <a:t>Monolithic kernels → keep more in kernel space</a:t>
            </a:r>
          </a:p>
          <a:p>
            <a:r>
              <a:rPr lang="en-US" sz="1500" dirty="0">
                <a:solidFill>
                  <a:schemeClr val="accent6"/>
                </a:solidFill>
                <a:latin typeface="Google Sans"/>
                <a:ea typeface="+mn-ea"/>
                <a:cs typeface="+mn-cs"/>
              </a:rPr>
              <a:t>Containers → virtualize user space</a:t>
            </a:r>
          </a:p>
          <a:p>
            <a:r>
              <a:rPr lang="en-US" sz="1500" dirty="0" err="1">
                <a:solidFill>
                  <a:schemeClr val="accent6"/>
                </a:solidFill>
                <a:latin typeface="Google Sans"/>
                <a:ea typeface="+mn-ea"/>
                <a:cs typeface="+mn-cs"/>
              </a:rPr>
              <a:t>eBPF</a:t>
            </a:r>
            <a:r>
              <a:rPr lang="en-US" sz="1500" dirty="0">
                <a:solidFill>
                  <a:schemeClr val="accent6"/>
                </a:solidFill>
                <a:latin typeface="Google Sans"/>
                <a:ea typeface="+mn-ea"/>
                <a:cs typeface="+mn-cs"/>
              </a:rPr>
              <a:t> → controlled kernel execution</a:t>
            </a:r>
          </a:p>
          <a:p>
            <a:r>
              <a:rPr lang="en-US" sz="1500" dirty="0">
                <a:solidFill>
                  <a:schemeClr val="accent6"/>
                </a:solidFill>
                <a:latin typeface="Google Sans"/>
                <a:ea typeface="+mn-ea"/>
                <a:cs typeface="+mn-cs"/>
              </a:rPr>
              <a:t>Different designs, same fundamental separation.</a:t>
            </a:r>
          </a:p>
          <a:p>
            <a:r>
              <a:rPr lang="en-US" sz="1500" dirty="0">
                <a:solidFill>
                  <a:schemeClr val="accent6"/>
                </a:solidFill>
                <a:latin typeface="Google Sans"/>
                <a:ea typeface="+mn-ea"/>
                <a:cs typeface="+mn-cs"/>
              </a:rPr>
              <a:t>One-line takeaway</a:t>
            </a:r>
          </a:p>
          <a:p>
            <a:r>
              <a:rPr lang="en-US" sz="1500" dirty="0">
                <a:solidFill>
                  <a:schemeClr val="accent6"/>
                </a:solidFill>
                <a:latin typeface="Google Sans"/>
                <a:ea typeface="+mn-ea"/>
                <a:cs typeface="+mn-cs"/>
              </a:rPr>
              <a:t>Without user space: unsafe.</a:t>
            </a:r>
          </a:p>
          <a:p>
            <a:r>
              <a:rPr lang="en-US" sz="1500" dirty="0">
                <a:solidFill>
                  <a:schemeClr val="accent6"/>
                </a:solidFill>
                <a:latin typeface="Google Sans"/>
                <a:ea typeface="+mn-ea"/>
                <a:cs typeface="+mn-cs"/>
              </a:rPr>
              <a:t>Without kernel space: impossible.</a:t>
            </a:r>
          </a:p>
          <a:p>
            <a:r>
              <a:rPr lang="en-US" sz="1500" dirty="0">
                <a:solidFill>
                  <a:schemeClr val="accent6"/>
                </a:solidFill>
                <a:latin typeface="Google Sans"/>
                <a:ea typeface="+mn-ea"/>
                <a:cs typeface="+mn-cs"/>
              </a:rPr>
              <a:t>With both: stable, secure, scalable systems.</a:t>
            </a:r>
          </a:p>
          <a:p>
            <a:endParaRPr lang="en-US" sz="1500" dirty="0">
              <a:solidFill>
                <a:schemeClr val="accent6"/>
              </a:solidFill>
              <a:latin typeface="Google Sans"/>
              <a:ea typeface="+mn-ea"/>
              <a:cs typeface="+mn-cs"/>
            </a:endParaRPr>
          </a:p>
        </p:txBody>
      </p:sp>
    </p:spTree>
    <p:extLst>
      <p:ext uri="{BB962C8B-B14F-4D97-AF65-F5344CB8AC3E}">
        <p14:creationId xmlns:p14="http://schemas.microsoft.com/office/powerpoint/2010/main" val="402759373"/>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151B5-AFE9-4D14-0B94-1BAA01550BC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C0AF5FB-61F7-41B3-A2D0-E95A2FD245C4}"/>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2EC6C2E-34EF-90F2-E729-149A9EDF0014}"/>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5FCEE87-AC67-9B2D-B8C8-EEF16E6D831E}"/>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AC42329-4BAB-16B8-83AA-C24738365816}"/>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83C41EC3-CBD3-7D75-C3E9-4BD9DA0CFE34}"/>
              </a:ext>
            </a:extLst>
          </p:cNvPr>
          <p:cNvSpPr txBox="1">
            <a:spLocks/>
          </p:cNvSpPr>
          <p:nvPr/>
        </p:nvSpPr>
        <p:spPr>
          <a:xfrm>
            <a:off x="228600" y="1119932"/>
            <a:ext cx="8624937" cy="33855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200" dirty="0">
                <a:solidFill>
                  <a:schemeClr val="accent2"/>
                </a:solidFill>
                <a:latin typeface="Google Sans"/>
                <a:ea typeface="+mn-ea"/>
                <a:cs typeface="+mn-cs"/>
              </a:rPr>
              <a:t>Why Switching From User Space to Kernel Space &amp; vice versa Needed </a:t>
            </a:r>
          </a:p>
        </p:txBody>
      </p:sp>
      <p:pic>
        <p:nvPicPr>
          <p:cNvPr id="7" name="Picture 6">
            <a:extLst>
              <a:ext uri="{FF2B5EF4-FFF2-40B4-BE49-F238E27FC236}">
                <a16:creationId xmlns:a16="http://schemas.microsoft.com/office/drawing/2014/main" id="{A1C4ADB3-C9F8-3DF3-39BF-2668B5680B8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8601" y="1489263"/>
            <a:ext cx="8624936" cy="4378137"/>
          </a:xfrm>
          <a:prstGeom prst="rect">
            <a:avLst/>
          </a:prstGeom>
        </p:spPr>
      </p:pic>
    </p:spTree>
    <p:extLst>
      <p:ext uri="{BB962C8B-B14F-4D97-AF65-F5344CB8AC3E}">
        <p14:creationId xmlns:p14="http://schemas.microsoft.com/office/powerpoint/2010/main" val="2076652212"/>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59A18-DB8F-6E63-1700-D7A0E6F3E02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4AED35E-A30C-30D6-FAF9-4F470F08E018}"/>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B5A4BEB-1126-BD8C-CE05-0B535727EC8D}"/>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2E8CC22-3CAC-95E0-9914-99BDFFF076A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D2420250-DB7E-A166-F387-C29DABA733F5}"/>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BD267B7F-45C7-41C9-89F2-7C6206E0026E}"/>
              </a:ext>
            </a:extLst>
          </p:cNvPr>
          <p:cNvSpPr txBox="1">
            <a:spLocks/>
          </p:cNvSpPr>
          <p:nvPr/>
        </p:nvSpPr>
        <p:spPr>
          <a:xfrm>
            <a:off x="228600" y="1119932"/>
            <a:ext cx="8624937" cy="33855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200" dirty="0">
                <a:solidFill>
                  <a:schemeClr val="accent2"/>
                </a:solidFill>
                <a:latin typeface="Google Sans"/>
                <a:ea typeface="+mn-ea"/>
                <a:cs typeface="+mn-cs"/>
              </a:rPr>
              <a:t>Why Switching From User Space to Kernel Space &amp; vice versa Needed </a:t>
            </a:r>
          </a:p>
        </p:txBody>
      </p:sp>
      <p:pic>
        <p:nvPicPr>
          <p:cNvPr id="9" name="Picture 8">
            <a:extLst>
              <a:ext uri="{FF2B5EF4-FFF2-40B4-BE49-F238E27FC236}">
                <a16:creationId xmlns:a16="http://schemas.microsoft.com/office/drawing/2014/main" id="{3FA4B182-46A7-99BB-A4DE-F4E965F5661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8600" y="1481804"/>
            <a:ext cx="8624937" cy="369332"/>
          </a:xfrm>
          <a:prstGeom prst="rect">
            <a:avLst/>
          </a:prstGeom>
        </p:spPr>
      </p:pic>
      <p:pic>
        <p:nvPicPr>
          <p:cNvPr id="11" name="Picture 10">
            <a:extLst>
              <a:ext uri="{FF2B5EF4-FFF2-40B4-BE49-F238E27FC236}">
                <a16:creationId xmlns:a16="http://schemas.microsoft.com/office/drawing/2014/main" id="{59B8F9F4-2B00-E490-DEE0-99A9488BD3C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99644" y="1704413"/>
            <a:ext cx="8387156" cy="1422473"/>
          </a:xfrm>
          <a:prstGeom prst="rect">
            <a:avLst/>
          </a:prstGeom>
        </p:spPr>
      </p:pic>
      <p:sp>
        <p:nvSpPr>
          <p:cNvPr id="12" name="object 2">
            <a:extLst>
              <a:ext uri="{FF2B5EF4-FFF2-40B4-BE49-F238E27FC236}">
                <a16:creationId xmlns:a16="http://schemas.microsoft.com/office/drawing/2014/main" id="{DE07A092-6D5D-F6D2-781E-527CC28F62BB}"/>
              </a:ext>
            </a:extLst>
          </p:cNvPr>
          <p:cNvSpPr txBox="1">
            <a:spLocks/>
          </p:cNvSpPr>
          <p:nvPr/>
        </p:nvSpPr>
        <p:spPr>
          <a:xfrm>
            <a:off x="214263" y="3417838"/>
            <a:ext cx="8624937" cy="115416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Summary of Differences</a:t>
            </a:r>
          </a:p>
          <a:p>
            <a:r>
              <a:rPr lang="en-US" sz="1500" dirty="0">
                <a:solidFill>
                  <a:schemeClr val="accent2"/>
                </a:solidFill>
                <a:latin typeface="Google Sans"/>
                <a:ea typeface="+mn-ea"/>
                <a:cs typeface="+mn-cs"/>
              </a:rPr>
              <a:t>User Space: </a:t>
            </a:r>
            <a:r>
              <a:rPr lang="en-US" sz="1500" dirty="0">
                <a:solidFill>
                  <a:schemeClr val="accent6"/>
                </a:solidFill>
                <a:latin typeface="Google Sans"/>
                <a:ea typeface="+mn-ea"/>
                <a:cs typeface="+mn-cs"/>
              </a:rPr>
              <a:t>Restricted mode (Ring 3), limited resources, user application code.</a:t>
            </a:r>
          </a:p>
          <a:p>
            <a:r>
              <a:rPr lang="en-US" sz="1500" dirty="0">
                <a:solidFill>
                  <a:schemeClr val="accent2"/>
                </a:solidFill>
                <a:latin typeface="Google Sans"/>
                <a:ea typeface="+mn-ea"/>
                <a:cs typeface="+mn-cs"/>
              </a:rPr>
              <a:t>Kernel Space:</a:t>
            </a:r>
            <a:r>
              <a:rPr lang="en-US" sz="1500" dirty="0">
                <a:solidFill>
                  <a:schemeClr val="accent6"/>
                </a:solidFill>
                <a:latin typeface="Google Sans"/>
                <a:ea typeface="+mn-ea"/>
                <a:cs typeface="+mn-cs"/>
              </a:rPr>
              <a:t> Privileged mode (Ring 0), full access to hardware and memory, core OS code.</a:t>
            </a:r>
          </a:p>
          <a:p>
            <a:r>
              <a:rPr lang="en-US" sz="1500" dirty="0">
                <a:solidFill>
                  <a:schemeClr val="accent2"/>
                </a:solidFill>
                <a:latin typeface="Google Sans"/>
                <a:ea typeface="+mn-ea"/>
                <a:cs typeface="+mn-cs"/>
              </a:rPr>
              <a:t>Switch Overhead: </a:t>
            </a:r>
            <a:r>
              <a:rPr lang="en-US" sz="1500" dirty="0">
                <a:solidFill>
                  <a:schemeClr val="accent6"/>
                </a:solidFill>
                <a:latin typeface="Google Sans"/>
                <a:ea typeface="+mn-ea"/>
                <a:cs typeface="+mn-cs"/>
              </a:rPr>
              <a:t>Switching is expensive; high frequency can reduce performance, which is why techniques like batching or </a:t>
            </a:r>
            <a:r>
              <a:rPr lang="en-US" sz="1500" dirty="0" err="1">
                <a:solidFill>
                  <a:schemeClr val="accent6"/>
                </a:solidFill>
                <a:latin typeface="Google Sans"/>
                <a:ea typeface="+mn-ea"/>
                <a:cs typeface="+mn-cs"/>
              </a:rPr>
              <a:t>eBPF</a:t>
            </a:r>
            <a:r>
              <a:rPr lang="en-US" sz="1500" dirty="0">
                <a:solidFill>
                  <a:schemeClr val="accent6"/>
                </a:solidFill>
                <a:latin typeface="Google Sans"/>
                <a:ea typeface="+mn-ea"/>
                <a:cs typeface="+mn-cs"/>
              </a:rPr>
              <a:t> are used. </a:t>
            </a:r>
          </a:p>
        </p:txBody>
      </p:sp>
    </p:spTree>
    <p:extLst>
      <p:ext uri="{BB962C8B-B14F-4D97-AF65-F5344CB8AC3E}">
        <p14:creationId xmlns:p14="http://schemas.microsoft.com/office/powerpoint/2010/main" val="3736593771"/>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3B530-698A-7AB5-5926-F7E102F8C06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86FA71C-1ED2-4D4B-1926-0A5DC610CBE0}"/>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2F903F8-912B-66D4-C94F-913D93456D54}"/>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DEECE6F-6AC4-746F-365B-3EF5EEE6B5C7}"/>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4E93E830-F838-CE8F-A4EC-F1DC2B37AD33}"/>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A74C037A-5D78-D062-0357-86761407C5EC}"/>
              </a:ext>
            </a:extLst>
          </p:cNvPr>
          <p:cNvSpPr txBox="1">
            <a:spLocks/>
          </p:cNvSpPr>
          <p:nvPr/>
        </p:nvSpPr>
        <p:spPr>
          <a:xfrm>
            <a:off x="228600" y="1119932"/>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400" dirty="0">
                <a:solidFill>
                  <a:schemeClr val="accent2"/>
                </a:solidFill>
                <a:latin typeface="Google Sans"/>
                <a:ea typeface="+mn-ea"/>
                <a:cs typeface="+mn-cs"/>
              </a:rPr>
              <a:t>Kernel Types</a:t>
            </a:r>
            <a:endParaRPr lang="en-US" sz="1500" dirty="0">
              <a:solidFill>
                <a:schemeClr val="accent6"/>
              </a:solidFill>
              <a:latin typeface="Google Sans"/>
              <a:ea typeface="+mn-ea"/>
              <a:cs typeface="+mn-cs"/>
            </a:endParaRPr>
          </a:p>
        </p:txBody>
      </p:sp>
      <p:pic>
        <p:nvPicPr>
          <p:cNvPr id="7" name="Picture 6">
            <a:extLst>
              <a:ext uri="{FF2B5EF4-FFF2-40B4-BE49-F238E27FC236}">
                <a16:creationId xmlns:a16="http://schemas.microsoft.com/office/drawing/2014/main" id="{4FD28AFB-A3B3-1824-3DC3-7EA2295BA5F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1900" y="1489264"/>
            <a:ext cx="8809700" cy="4454336"/>
          </a:xfrm>
          <a:prstGeom prst="rect">
            <a:avLst/>
          </a:prstGeom>
        </p:spPr>
      </p:pic>
    </p:spTree>
    <p:extLst>
      <p:ext uri="{BB962C8B-B14F-4D97-AF65-F5344CB8AC3E}">
        <p14:creationId xmlns:p14="http://schemas.microsoft.com/office/powerpoint/2010/main" val="2831157873"/>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364A9-14FE-3CB1-D37F-ACAF456BDAE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89A91C0-5F6F-123F-8F6A-74C10AD60C01}"/>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E935CB7-E7F5-56D9-B6FD-13161FCFD2F8}"/>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7909B96-0D1A-DDA3-9792-BA3A15571309}"/>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406F7AB2-4671-540B-2147-4172444AC1DE}"/>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815CE32D-AC6D-0F37-BA90-E319B4FD9378}"/>
              </a:ext>
            </a:extLst>
          </p:cNvPr>
          <p:cNvSpPr txBox="1">
            <a:spLocks/>
          </p:cNvSpPr>
          <p:nvPr/>
        </p:nvSpPr>
        <p:spPr>
          <a:xfrm>
            <a:off x="228600" y="1119932"/>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400" dirty="0">
                <a:solidFill>
                  <a:schemeClr val="accent2"/>
                </a:solidFill>
                <a:latin typeface="Google Sans"/>
                <a:ea typeface="+mn-ea"/>
                <a:cs typeface="+mn-cs"/>
              </a:rPr>
              <a:t>Kernel Types</a:t>
            </a:r>
            <a:endParaRPr lang="en-US" sz="1500" dirty="0">
              <a:solidFill>
                <a:schemeClr val="accent6"/>
              </a:solidFill>
              <a:latin typeface="Google Sans"/>
              <a:ea typeface="+mn-ea"/>
              <a:cs typeface="+mn-cs"/>
            </a:endParaRPr>
          </a:p>
        </p:txBody>
      </p:sp>
      <p:pic>
        <p:nvPicPr>
          <p:cNvPr id="9" name="Picture 8">
            <a:extLst>
              <a:ext uri="{FF2B5EF4-FFF2-40B4-BE49-F238E27FC236}">
                <a16:creationId xmlns:a16="http://schemas.microsoft.com/office/drawing/2014/main" id="{54F8358C-4643-9A88-1DFB-E42E852D14B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09794" y="1459729"/>
            <a:ext cx="8781806" cy="521472"/>
          </a:xfrm>
          <a:prstGeom prst="rect">
            <a:avLst/>
          </a:prstGeom>
        </p:spPr>
      </p:pic>
      <p:pic>
        <p:nvPicPr>
          <p:cNvPr id="11" name="Picture 10">
            <a:extLst>
              <a:ext uri="{FF2B5EF4-FFF2-40B4-BE49-F238E27FC236}">
                <a16:creationId xmlns:a16="http://schemas.microsoft.com/office/drawing/2014/main" id="{4149ED08-32E7-D01B-29A8-5A4FEA74152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09794" y="1990674"/>
            <a:ext cx="8781806" cy="1962251"/>
          </a:xfrm>
          <a:prstGeom prst="rect">
            <a:avLst/>
          </a:prstGeom>
        </p:spPr>
      </p:pic>
      <p:sp>
        <p:nvSpPr>
          <p:cNvPr id="2" name="object 2">
            <a:extLst>
              <a:ext uri="{FF2B5EF4-FFF2-40B4-BE49-F238E27FC236}">
                <a16:creationId xmlns:a16="http://schemas.microsoft.com/office/drawing/2014/main" id="{A7E57494-D486-5D5C-7719-908E1CB605E9}"/>
              </a:ext>
            </a:extLst>
          </p:cNvPr>
          <p:cNvSpPr txBox="1">
            <a:spLocks/>
          </p:cNvSpPr>
          <p:nvPr/>
        </p:nvSpPr>
        <p:spPr>
          <a:xfrm>
            <a:off x="209794" y="4943326"/>
            <a:ext cx="8624937" cy="100027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For Further Exploration</a:t>
            </a:r>
            <a:endParaRPr lang="en-US" sz="2000" dirty="0">
              <a:solidFill>
                <a:schemeClr val="accent6"/>
              </a:solidFill>
              <a:latin typeface="Google Sans"/>
              <a:ea typeface="+mn-ea"/>
              <a:cs typeface="+mn-cs"/>
            </a:endParaRPr>
          </a:p>
          <a:p>
            <a:r>
              <a:rPr lang="nl-NL" sz="1500" dirty="0">
                <a:hlinkClick r:id="rId9"/>
              </a:rPr>
              <a:t>Kernel in Operating System </a:t>
            </a:r>
            <a:endParaRPr lang="nl-NL" sz="1500" dirty="0"/>
          </a:p>
          <a:p>
            <a:r>
              <a:rPr lang="en-US" sz="1500" dirty="0">
                <a:hlinkClick r:id="rId10"/>
              </a:rPr>
              <a:t>Operating System Architecture</a:t>
            </a:r>
            <a:endParaRPr lang="en-US" sz="1500" dirty="0"/>
          </a:p>
          <a:p>
            <a:r>
              <a:rPr lang="en-US" sz="1500" dirty="0">
                <a:hlinkClick r:id="rId11"/>
              </a:rPr>
              <a:t>Comparison of operating system kernels - Wikipedia</a:t>
            </a:r>
            <a:endParaRPr lang="en-US" sz="1500" dirty="0">
              <a:solidFill>
                <a:schemeClr val="accent2"/>
              </a:solidFill>
              <a:latin typeface="Google Sans"/>
              <a:ea typeface="+mn-ea"/>
              <a:cs typeface="+mn-cs"/>
            </a:endParaRPr>
          </a:p>
        </p:txBody>
      </p:sp>
    </p:spTree>
    <p:extLst>
      <p:ext uri="{BB962C8B-B14F-4D97-AF65-F5344CB8AC3E}">
        <p14:creationId xmlns:p14="http://schemas.microsoft.com/office/powerpoint/2010/main" val="2516730619"/>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A2AB8-9660-ABEB-C5D1-C1FC91300C7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6BD42CC-0AD1-0A87-9D93-208B95578C4C}"/>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88220EF-09C9-9F5B-65B7-317D33EEB293}"/>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531B248-EE77-D24C-EB50-18923EC38B37}"/>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40965B03-D466-E706-E1CA-4DA94DB76C6E}"/>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905F60D6-EE1C-12C3-E55F-642F2F303494}"/>
              </a:ext>
            </a:extLst>
          </p:cNvPr>
          <p:cNvSpPr txBox="1">
            <a:spLocks/>
          </p:cNvSpPr>
          <p:nvPr/>
        </p:nvSpPr>
        <p:spPr>
          <a:xfrm>
            <a:off x="228600" y="1119932"/>
            <a:ext cx="8624937" cy="213904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400" dirty="0">
                <a:solidFill>
                  <a:schemeClr val="accent2"/>
                </a:solidFill>
                <a:latin typeface="Google Sans"/>
                <a:ea typeface="+mn-ea"/>
                <a:cs typeface="+mn-cs"/>
              </a:rPr>
              <a:t>When and Why Custom Kernel Programming is required?</a:t>
            </a:r>
          </a:p>
          <a:p>
            <a:r>
              <a:rPr lang="en-US" sz="2000" dirty="0">
                <a:solidFill>
                  <a:schemeClr val="accent6"/>
                </a:solidFill>
                <a:latin typeface="Google Sans"/>
                <a:ea typeface="+mn-ea"/>
                <a:cs typeface="+mn-cs"/>
              </a:rPr>
              <a:t>Custom kernel programming involves modifying, configuring, or writing code for the core of an operating system (most commonly the Linux kernel) to tailor it to specific hardware or performance requirements. Unlike standard, pre-compiled kernels, a custom kernel is stripped of unnecessary components and optimized for a particular workload. </a:t>
            </a:r>
          </a:p>
          <a:p>
            <a:endParaRPr lang="en-US" sz="1500" dirty="0">
              <a:solidFill>
                <a:schemeClr val="accent6"/>
              </a:solidFill>
              <a:latin typeface="Google Sans"/>
              <a:ea typeface="+mn-ea"/>
              <a:cs typeface="+mn-cs"/>
            </a:endParaRPr>
          </a:p>
        </p:txBody>
      </p:sp>
      <p:pic>
        <p:nvPicPr>
          <p:cNvPr id="13" name="Picture 12">
            <a:extLst>
              <a:ext uri="{FF2B5EF4-FFF2-40B4-BE49-F238E27FC236}">
                <a16:creationId xmlns:a16="http://schemas.microsoft.com/office/drawing/2014/main" id="{8A61764D-2EC9-E516-8B53-1F4DE573C20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0463" y="3048000"/>
            <a:ext cx="8243937" cy="2895600"/>
          </a:xfrm>
          <a:prstGeom prst="rect">
            <a:avLst/>
          </a:prstGeom>
        </p:spPr>
      </p:pic>
    </p:spTree>
    <p:extLst>
      <p:ext uri="{BB962C8B-B14F-4D97-AF65-F5344CB8AC3E}">
        <p14:creationId xmlns:p14="http://schemas.microsoft.com/office/powerpoint/2010/main" val="3707952828"/>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6190B-44FD-0B9F-4CD8-D43C8CEA4F5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B177AA6-B7CD-E7C4-252E-F8EBEA46DCED}"/>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A2B6540-17B1-24AB-CE27-CF2FD1B5F160}"/>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69F4FDE-05E5-C95C-3DBF-22C81BFDB495}"/>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FD6DEC7B-0E6A-31BB-9ECE-FF7563246BCE}"/>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5C7D41A1-74AA-DB0B-0576-89C426A0E7F2}"/>
              </a:ext>
            </a:extLst>
          </p:cNvPr>
          <p:cNvSpPr txBox="1">
            <a:spLocks/>
          </p:cNvSpPr>
          <p:nvPr/>
        </p:nvSpPr>
        <p:spPr>
          <a:xfrm>
            <a:off x="228600" y="1119932"/>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400" dirty="0">
                <a:solidFill>
                  <a:schemeClr val="accent2"/>
                </a:solidFill>
                <a:latin typeface="Google Sans"/>
                <a:ea typeface="+mn-ea"/>
                <a:cs typeface="+mn-cs"/>
              </a:rPr>
              <a:t>When and Why Custom Kernel Programming is required?</a:t>
            </a:r>
          </a:p>
        </p:txBody>
      </p:sp>
      <p:pic>
        <p:nvPicPr>
          <p:cNvPr id="10" name="Picture 9">
            <a:extLst>
              <a:ext uri="{FF2B5EF4-FFF2-40B4-BE49-F238E27FC236}">
                <a16:creationId xmlns:a16="http://schemas.microsoft.com/office/drawing/2014/main" id="{943098B4-A198-2851-BB68-CFC1C30DCD6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8599" y="1428461"/>
            <a:ext cx="8671637" cy="369332"/>
          </a:xfrm>
          <a:prstGeom prst="rect">
            <a:avLst/>
          </a:prstGeom>
        </p:spPr>
      </p:pic>
      <p:pic>
        <p:nvPicPr>
          <p:cNvPr id="12" name="Picture 11">
            <a:extLst>
              <a:ext uri="{FF2B5EF4-FFF2-40B4-BE49-F238E27FC236}">
                <a16:creationId xmlns:a16="http://schemas.microsoft.com/office/drawing/2014/main" id="{7900C90D-202F-D8CA-CB29-2BD9729AF29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09269" y="1745078"/>
            <a:ext cx="8544268" cy="2222614"/>
          </a:xfrm>
          <a:prstGeom prst="rect">
            <a:avLst/>
          </a:prstGeom>
        </p:spPr>
      </p:pic>
      <p:pic>
        <p:nvPicPr>
          <p:cNvPr id="15" name="Picture 14">
            <a:extLst>
              <a:ext uri="{FF2B5EF4-FFF2-40B4-BE49-F238E27FC236}">
                <a16:creationId xmlns:a16="http://schemas.microsoft.com/office/drawing/2014/main" id="{04338BBA-00B7-BD26-7F5E-EB78593F2C3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04800" y="3975046"/>
            <a:ext cx="8519236" cy="1054154"/>
          </a:xfrm>
          <a:prstGeom prst="rect">
            <a:avLst/>
          </a:prstGeom>
        </p:spPr>
      </p:pic>
    </p:spTree>
    <p:extLst>
      <p:ext uri="{BB962C8B-B14F-4D97-AF65-F5344CB8AC3E}">
        <p14:creationId xmlns:p14="http://schemas.microsoft.com/office/powerpoint/2010/main" val="687858288"/>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CE769-29E2-1F87-8990-97877FEA91B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A7BF8E8-A617-91DD-F7BF-A89537A188A9}"/>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7C0DB8A-3E1B-34FD-6128-6743C6400BA7}"/>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9DC3B78-6222-5A3F-1A47-595BFC5B084F}"/>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3A61B589-D58C-33BB-56E2-D0C71B8A876B}"/>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16A20E99-FF1C-36ED-8BEF-096280B24E7A}"/>
              </a:ext>
            </a:extLst>
          </p:cNvPr>
          <p:cNvSpPr txBox="1">
            <a:spLocks/>
          </p:cNvSpPr>
          <p:nvPr/>
        </p:nvSpPr>
        <p:spPr>
          <a:xfrm>
            <a:off x="228600" y="1119932"/>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When and Why Custom Kernel Programming is required?</a:t>
            </a:r>
          </a:p>
        </p:txBody>
      </p:sp>
      <p:pic>
        <p:nvPicPr>
          <p:cNvPr id="7" name="Picture 6">
            <a:extLst>
              <a:ext uri="{FF2B5EF4-FFF2-40B4-BE49-F238E27FC236}">
                <a16:creationId xmlns:a16="http://schemas.microsoft.com/office/drawing/2014/main" id="{6520448F-A0F3-A95B-783C-96750A14EE3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0463" y="1465176"/>
            <a:ext cx="8853537" cy="1811424"/>
          </a:xfrm>
          <a:prstGeom prst="rect">
            <a:avLst/>
          </a:prstGeom>
        </p:spPr>
      </p:pic>
      <p:sp>
        <p:nvSpPr>
          <p:cNvPr id="2" name="object 2">
            <a:extLst>
              <a:ext uri="{FF2B5EF4-FFF2-40B4-BE49-F238E27FC236}">
                <a16:creationId xmlns:a16="http://schemas.microsoft.com/office/drawing/2014/main" id="{BAC293EB-185E-2DC4-8D91-AD2EAA321428}"/>
              </a:ext>
            </a:extLst>
          </p:cNvPr>
          <p:cNvSpPr txBox="1">
            <a:spLocks/>
          </p:cNvSpPr>
          <p:nvPr/>
        </p:nvSpPr>
        <p:spPr>
          <a:xfrm>
            <a:off x="320981" y="3437178"/>
            <a:ext cx="8624937" cy="269304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Why programming Languages like C, C++ &amp; Rust are more suitable for Systems Programming?</a:t>
            </a:r>
          </a:p>
          <a:p>
            <a:r>
              <a:rPr lang="en-US" sz="1500" dirty="0">
                <a:solidFill>
                  <a:schemeClr val="accent6"/>
                </a:solidFill>
                <a:latin typeface="Google Sans"/>
                <a:ea typeface="+mn-ea"/>
                <a:cs typeface="+mn-cs"/>
              </a:rPr>
              <a:t>Languages like C, C++, and Rust are well-suited for systems programming due to their design principles that emphasize low-level control over system resources, manual memory management, performance, and a direct interface with hardware and the operating system. </a:t>
            </a:r>
          </a:p>
          <a:p>
            <a:r>
              <a:rPr lang="en-US" sz="1500" dirty="0">
                <a:solidFill>
                  <a:schemeClr val="accent6"/>
                </a:solidFill>
                <a:latin typeface="Google Sans"/>
                <a:ea typeface="+mn-ea"/>
                <a:cs typeface="+mn-cs"/>
              </a:rPr>
              <a:t>Here are the key attributes that distinguish them:</a:t>
            </a:r>
          </a:p>
          <a:p>
            <a:r>
              <a:rPr lang="en-US" sz="1500" dirty="0">
                <a:solidFill>
                  <a:schemeClr val="accent6"/>
                </a:solidFill>
                <a:latin typeface="Google Sans"/>
                <a:ea typeface="+mn-ea"/>
                <a:cs typeface="+mn-cs"/>
              </a:rPr>
              <a:t>Manual Memory Management: These languages give programmers explicit control over memory allocation and deallocation (e.g., using malloc/free in C, new/delete in C++, and the ownership/borrowing system in Rust). This precision is vital for systems programming, where efficiency and predictable memory usage are paramount, avoiding the overhead of automatic garbage collection often found in languages like C# or Java.</a:t>
            </a:r>
          </a:p>
          <a:p>
            <a:endParaRPr lang="en-US" sz="1500" dirty="0">
              <a:solidFill>
                <a:schemeClr val="accent6"/>
              </a:solidFill>
              <a:latin typeface="Google Sans"/>
              <a:ea typeface="+mn-ea"/>
              <a:cs typeface="+mn-cs"/>
            </a:endParaRPr>
          </a:p>
        </p:txBody>
      </p:sp>
    </p:spTree>
    <p:extLst>
      <p:ext uri="{BB962C8B-B14F-4D97-AF65-F5344CB8AC3E}">
        <p14:creationId xmlns:p14="http://schemas.microsoft.com/office/powerpoint/2010/main" val="3609913941"/>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C65A3-B022-A6EC-B1C0-EF148C7F6D4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BF3FFB3-4ACF-07ED-2C9A-833E4AC7EE7B}"/>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A52AE5C-CE57-05F6-BF9D-00A105B74A11}"/>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FD846EE-249C-B205-4C8A-A542D83EE767}"/>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2DE8FBC0-52D7-200D-480E-0787FD3645B8}"/>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BC4A3766-CEE9-E0D0-F120-F1FF063DB3E2}"/>
              </a:ext>
            </a:extLst>
          </p:cNvPr>
          <p:cNvSpPr txBox="1">
            <a:spLocks/>
          </p:cNvSpPr>
          <p:nvPr/>
        </p:nvSpPr>
        <p:spPr>
          <a:xfrm>
            <a:off x="212549" y="1015388"/>
            <a:ext cx="8624937" cy="500136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Why programming Languages like C, C++ &amp; Rust are more suitable for Systems Programming?</a:t>
            </a:r>
          </a:p>
          <a:p>
            <a:r>
              <a:rPr lang="en-US" sz="1500" dirty="0">
                <a:solidFill>
                  <a:schemeClr val="accent6"/>
                </a:solidFill>
                <a:latin typeface="Google Sans"/>
              </a:rPr>
              <a:t>Close-to-Hardware Access: They provide mechanisms to interact directly with hardware. Features like pointers in C/C++ allow manipulation of specific memory addresses, which is essential for device drivers and operating system kernels.</a:t>
            </a:r>
          </a:p>
          <a:p>
            <a:r>
              <a:rPr lang="en-US" sz="1500" dirty="0">
                <a:solidFill>
                  <a:schemeClr val="accent6"/>
                </a:solidFill>
                <a:latin typeface="Google Sans"/>
              </a:rPr>
              <a:t>Predictable Performance: The lack of a runtime environment or virtual machine means the code executes "bare metal" with minimal abstraction layers. This results in highly efficient and predictable performance crucial for tasks where speed and real-time constraints matter.</a:t>
            </a:r>
          </a:p>
          <a:p>
            <a:r>
              <a:rPr lang="en-US" sz="1500" dirty="0">
                <a:solidFill>
                  <a:schemeClr val="accent6"/>
                </a:solidFill>
                <a:latin typeface="Google Sans"/>
              </a:rPr>
              <a:t>Minimal Runtime: They have very small or no built-in runtime libraries compared to languages like C# or Java. The compiled code is highly self-contained, which is vital for building core system components like bootloaders or embedded systems where resources are severely limited.</a:t>
            </a:r>
          </a:p>
          <a:p>
            <a:r>
              <a:rPr lang="en-US" sz="1500" dirty="0">
                <a:solidFill>
                  <a:schemeClr val="accent6"/>
                </a:solidFill>
                <a:latin typeface="Google Sans"/>
              </a:rPr>
              <a:t>Statically Typed: All three are statically typed, meaning type checks happen at compile-time. This helps catch errors early and allows the compiler to generate more optimized machine code, further enhancing performance and reliability.</a:t>
            </a:r>
          </a:p>
          <a:p>
            <a:r>
              <a:rPr lang="en-US" sz="1500" dirty="0">
                <a:solidFill>
                  <a:schemeClr val="accent6"/>
                </a:solidFill>
                <a:latin typeface="Google Sans"/>
              </a:rPr>
              <a:t>Direct Interoperability (FFI): They offer robust support for Foreign Function Interfaces (FFI), making it easy to link with code written in other languages, particularly assembly language, which is often necessary for highly optimized or hardware-specific operations. </a:t>
            </a:r>
          </a:p>
          <a:p>
            <a:r>
              <a:rPr lang="en-US" sz="1500" dirty="0">
                <a:solidFill>
                  <a:schemeClr val="accent6"/>
                </a:solidFill>
                <a:latin typeface="Google Sans"/>
              </a:rPr>
              <a:t>Rust, specifically, builds on these principles while introducing a novel ownership system to ensure memory safety at compile time without requiring manual tracking of allocations, thereby preventing common bugs like null pointer dereferences, data races, and buffer overflows that can plague C and C++ development. </a:t>
            </a:r>
          </a:p>
          <a:p>
            <a:endParaRPr lang="en-US" sz="1500" dirty="0">
              <a:solidFill>
                <a:schemeClr val="accent2"/>
              </a:solidFill>
              <a:latin typeface="Google Sans"/>
              <a:ea typeface="+mn-ea"/>
              <a:cs typeface="+mn-cs"/>
            </a:endParaRPr>
          </a:p>
        </p:txBody>
      </p:sp>
    </p:spTree>
    <p:extLst>
      <p:ext uri="{BB962C8B-B14F-4D97-AF65-F5344CB8AC3E}">
        <p14:creationId xmlns:p14="http://schemas.microsoft.com/office/powerpoint/2010/main" val="4204470016"/>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C2341-E304-04EC-9E0D-0A50DE18280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33C2F40-E0E8-F80A-A45E-2B048739D2FA}"/>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027520D-D32B-DDCC-FDB6-8BB6647696FC}"/>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70AD0C8-D147-0450-2DA3-D9D661A4F30C}"/>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CD6C06FE-855A-A0DD-1545-FF190A9707D8}"/>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1339D434-20DA-339B-B149-C36E4D470834}"/>
              </a:ext>
            </a:extLst>
          </p:cNvPr>
          <p:cNvSpPr txBox="1">
            <a:spLocks/>
          </p:cNvSpPr>
          <p:nvPr/>
        </p:nvSpPr>
        <p:spPr>
          <a:xfrm>
            <a:off x="228600" y="1119932"/>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400" dirty="0">
                <a:solidFill>
                  <a:schemeClr val="accent2"/>
                </a:solidFill>
                <a:latin typeface="Google Sans"/>
                <a:ea typeface="+mn-ea"/>
                <a:cs typeface="+mn-cs"/>
              </a:rPr>
              <a:t>Programming Languages for Systems Programming Comparison</a:t>
            </a:r>
          </a:p>
        </p:txBody>
      </p:sp>
      <p:pic>
        <p:nvPicPr>
          <p:cNvPr id="9" name="Picture 8">
            <a:extLst>
              <a:ext uri="{FF2B5EF4-FFF2-40B4-BE49-F238E27FC236}">
                <a16:creationId xmlns:a16="http://schemas.microsoft.com/office/drawing/2014/main" id="{1CA6ACE6-6BF7-C8F6-6D27-2EE778FDA6C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75300" y="1465176"/>
            <a:ext cx="8716299" cy="4402224"/>
          </a:xfrm>
          <a:prstGeom prst="rect">
            <a:avLst/>
          </a:prstGeom>
        </p:spPr>
      </p:pic>
    </p:spTree>
    <p:extLst>
      <p:ext uri="{BB962C8B-B14F-4D97-AF65-F5344CB8AC3E}">
        <p14:creationId xmlns:p14="http://schemas.microsoft.com/office/powerpoint/2010/main" val="400562075"/>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34CA7-D8AF-E728-80B6-326E70C0ECD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3C3CFAC-5488-AB8D-348D-CE65D8585A7B}"/>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FB2724D-34A8-0854-A201-D5291717F262}"/>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8A986F7-7226-C0F2-8FBD-4EEBD7389D0F}"/>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F919B761-5B32-B2B7-CD2B-C1392EED4A87}"/>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488D9A28-670B-DC2E-E11C-08FE44D0C2AB}"/>
              </a:ext>
            </a:extLst>
          </p:cNvPr>
          <p:cNvSpPr txBox="1">
            <a:spLocks/>
          </p:cNvSpPr>
          <p:nvPr/>
        </p:nvSpPr>
        <p:spPr>
          <a:xfrm>
            <a:off x="228600" y="1119932"/>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400" dirty="0">
                <a:solidFill>
                  <a:schemeClr val="accent2"/>
                </a:solidFill>
                <a:latin typeface="Google Sans"/>
              </a:rPr>
              <a:t>Programming Languages for Systems Programming Comparison</a:t>
            </a:r>
          </a:p>
        </p:txBody>
      </p:sp>
      <p:pic>
        <p:nvPicPr>
          <p:cNvPr id="7" name="Picture 6">
            <a:extLst>
              <a:ext uri="{FF2B5EF4-FFF2-40B4-BE49-F238E27FC236}">
                <a16:creationId xmlns:a16="http://schemas.microsoft.com/office/drawing/2014/main" id="{B3CC4D86-6089-AFA6-7CBD-9E7067035AC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8600" y="1477330"/>
            <a:ext cx="8915400" cy="369332"/>
          </a:xfrm>
          <a:prstGeom prst="rect">
            <a:avLst/>
          </a:prstGeom>
        </p:spPr>
      </p:pic>
      <p:pic>
        <p:nvPicPr>
          <p:cNvPr id="11" name="Picture 10">
            <a:extLst>
              <a:ext uri="{FF2B5EF4-FFF2-40B4-BE49-F238E27FC236}">
                <a16:creationId xmlns:a16="http://schemas.microsoft.com/office/drawing/2014/main" id="{3CF53889-4D27-DD4B-AB67-ED62C141352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75300" y="1822574"/>
            <a:ext cx="8640100" cy="4044826"/>
          </a:xfrm>
          <a:prstGeom prst="rect">
            <a:avLst/>
          </a:prstGeom>
        </p:spPr>
      </p:pic>
    </p:spTree>
    <p:extLst>
      <p:ext uri="{BB962C8B-B14F-4D97-AF65-F5344CB8AC3E}">
        <p14:creationId xmlns:p14="http://schemas.microsoft.com/office/powerpoint/2010/main" val="654401622"/>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74387-85AB-D8C1-E766-795636C9D81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AC5B003-BE95-5A63-1F7D-749D779C089E}"/>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A61CCCB-6449-2E43-6369-89B9FA891632}"/>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E46AF9D-DDA1-F324-527C-41ECB7E36C38}"/>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DD2A1215-C08A-E1FC-356F-C1DE640974DA}"/>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D95245C3-F925-CC04-769E-F83EA3A2584B}"/>
              </a:ext>
            </a:extLst>
          </p:cNvPr>
          <p:cNvSpPr txBox="1">
            <a:spLocks/>
          </p:cNvSpPr>
          <p:nvPr/>
        </p:nvSpPr>
        <p:spPr>
          <a:xfrm>
            <a:off x="228600" y="1119932"/>
            <a:ext cx="8624937" cy="503214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400" dirty="0">
                <a:solidFill>
                  <a:schemeClr val="accent2"/>
                </a:solidFill>
                <a:latin typeface="Google Sans"/>
              </a:rPr>
              <a:t>Programming Languages for Systems Programming Comparison</a:t>
            </a:r>
          </a:p>
          <a:p>
            <a:r>
              <a:rPr lang="en-US" sz="2000" dirty="0">
                <a:solidFill>
                  <a:schemeClr val="accent2"/>
                </a:solidFill>
                <a:latin typeface="Google Sans"/>
              </a:rPr>
              <a:t>Summary</a:t>
            </a:r>
          </a:p>
          <a:p>
            <a:r>
              <a:rPr lang="en-US" sz="1500" dirty="0">
                <a:solidFill>
                  <a:schemeClr val="accent2"/>
                </a:solidFill>
                <a:latin typeface="Google Sans"/>
                <a:ea typeface="+mn-ea"/>
                <a:cs typeface="+mn-cs"/>
              </a:rPr>
              <a:t>C</a:t>
            </a:r>
            <a:r>
              <a:rPr lang="en-US" sz="1500" dirty="0">
                <a:solidFill>
                  <a:schemeClr val="accent6"/>
                </a:solidFill>
                <a:latin typeface="Google Sans"/>
                <a:ea typeface="+mn-ea"/>
                <a:cs typeface="+mn-cs"/>
              </a:rPr>
              <a:t> offers maximum control and simplicity, ideal for environments where resources are extremely constrained, but demands significant programmer discipline to avoid errors.</a:t>
            </a:r>
          </a:p>
          <a:p>
            <a:r>
              <a:rPr lang="en-US" sz="1500" dirty="0">
                <a:solidFill>
                  <a:schemeClr val="accent2"/>
                </a:solidFill>
                <a:latin typeface="Google Sans"/>
                <a:ea typeface="+mn-ea"/>
                <a:cs typeface="+mn-cs"/>
              </a:rPr>
              <a:t>C++</a:t>
            </a:r>
            <a:r>
              <a:rPr lang="en-US" sz="1500" dirty="0">
                <a:solidFill>
                  <a:schemeClr val="accent6"/>
                </a:solidFill>
                <a:latin typeface="Google Sans"/>
                <a:ea typeface="+mn-ea"/>
                <a:cs typeface="+mn-cs"/>
              </a:rPr>
              <a:t> builds on C with powerful abstractions like OOP and generics, making it suitable for large, complex projects. However, it retains the potential for memory-related bugs if modern safety features like smart pointers are not used correctly and consistently.</a:t>
            </a:r>
          </a:p>
          <a:p>
            <a:r>
              <a:rPr lang="en-US" sz="1500" dirty="0">
                <a:solidFill>
                  <a:schemeClr val="accent2"/>
                </a:solidFill>
                <a:latin typeface="Google Sans"/>
                <a:ea typeface="+mn-ea"/>
                <a:cs typeface="+mn-cs"/>
              </a:rPr>
              <a:t>Rust</a:t>
            </a:r>
            <a:r>
              <a:rPr lang="en-US" sz="1500" dirty="0">
                <a:solidFill>
                  <a:schemeClr val="accent6"/>
                </a:solidFill>
                <a:latin typeface="Google Sans"/>
                <a:ea typeface="+mn-ea"/>
                <a:cs typeface="+mn-cs"/>
              </a:rPr>
              <a:t> is a modern systems language designed to provide C/C++ performance with guaranteed memory and thread safety at compile time, via its unique ownership model. This makes it a strong choice for new projects prioritizing reliability and secure concurrency, although it has a steeper initial learning curve. </a:t>
            </a:r>
          </a:p>
          <a:p>
            <a:endParaRPr lang="en-US" sz="1500" dirty="0">
              <a:solidFill>
                <a:schemeClr val="accent6"/>
              </a:solidFill>
              <a:latin typeface="Google Sans"/>
              <a:ea typeface="+mn-ea"/>
              <a:cs typeface="+mn-cs"/>
            </a:endParaRPr>
          </a:p>
          <a:p>
            <a:r>
              <a:rPr lang="en-US" sz="1800" dirty="0">
                <a:solidFill>
                  <a:schemeClr val="accent2"/>
                </a:solidFill>
                <a:latin typeface="Google Sans"/>
                <a:ea typeface="+mn-ea"/>
                <a:cs typeface="+mn-cs"/>
              </a:rPr>
              <a:t>For Further Exploration(on Systems Programming)</a:t>
            </a:r>
          </a:p>
          <a:p>
            <a:r>
              <a:rPr lang="en-IN" sz="1200" dirty="0">
                <a:hlinkClick r:id="rId7"/>
              </a:rPr>
              <a:t>Pointers in C &amp; C++</a:t>
            </a:r>
            <a:endParaRPr lang="en-US" sz="1200" dirty="0">
              <a:solidFill>
                <a:schemeClr val="accent2"/>
              </a:solidFill>
              <a:latin typeface="Google Sans"/>
              <a:ea typeface="+mn-ea"/>
              <a:cs typeface="+mn-cs"/>
            </a:endParaRPr>
          </a:p>
          <a:p>
            <a:r>
              <a:rPr lang="en-IN" sz="1200" dirty="0">
                <a:hlinkClick r:id="rId8"/>
              </a:rPr>
              <a:t>Free C Programming Book</a:t>
            </a:r>
            <a:endParaRPr lang="en-IN" sz="1200" dirty="0"/>
          </a:p>
          <a:p>
            <a:r>
              <a:rPr lang="en-IN" sz="1200" dirty="0">
                <a:hlinkClick r:id="rId9"/>
              </a:rPr>
              <a:t>Free C++ Programming Book</a:t>
            </a:r>
            <a:endParaRPr lang="en-IN" sz="1200" dirty="0"/>
          </a:p>
          <a:p>
            <a:r>
              <a:rPr lang="en-US" sz="1200" dirty="0">
                <a:hlinkClick r:id="rId10"/>
              </a:rPr>
              <a:t>The Definitive C Book Guide and List - Stack Overflow</a:t>
            </a:r>
            <a:endParaRPr lang="en-US" sz="1200" dirty="0"/>
          </a:p>
          <a:p>
            <a:r>
              <a:rPr lang="en-US" sz="1200" dirty="0">
                <a:hlinkClick r:id="rId10"/>
              </a:rPr>
              <a:t>The Definitive C Book Guide and List - Stack Overflow</a:t>
            </a:r>
            <a:endParaRPr lang="en-IN" sz="1200" dirty="0"/>
          </a:p>
          <a:p>
            <a:r>
              <a:rPr lang="en-US" sz="1200" dirty="0">
                <a:hlinkClick r:id="rId11"/>
              </a:rPr>
              <a:t>Awesome C</a:t>
            </a:r>
            <a:endParaRPr lang="en-US" sz="1200" dirty="0"/>
          </a:p>
          <a:p>
            <a:r>
              <a:rPr lang="en-US" sz="1200" dirty="0">
                <a:hlinkClick r:id="rId12"/>
              </a:rPr>
              <a:t>Awesome CPP</a:t>
            </a:r>
            <a:endParaRPr lang="en-US" sz="1200" dirty="0"/>
          </a:p>
          <a:p>
            <a:r>
              <a:rPr lang="en-IN" sz="1200" dirty="0">
                <a:hlinkClick r:id="rId13"/>
              </a:rPr>
              <a:t>Awesome Modern C++</a:t>
            </a:r>
            <a:endParaRPr lang="en-IN" sz="1200" dirty="0"/>
          </a:p>
          <a:p>
            <a:r>
              <a:rPr lang="en-US" sz="1200" dirty="0">
                <a:hlinkClick r:id="rId14"/>
              </a:rPr>
              <a:t>Awesome Rust</a:t>
            </a:r>
            <a:endParaRPr lang="en-US" sz="1200" dirty="0"/>
          </a:p>
          <a:p>
            <a:r>
              <a:rPr lang="en-US" sz="1200" dirty="0">
                <a:hlinkClick r:id="rId15"/>
              </a:rPr>
              <a:t>Build Your Own X</a:t>
            </a:r>
            <a:endParaRPr lang="en-US" sz="1200" dirty="0">
              <a:solidFill>
                <a:schemeClr val="accent2"/>
              </a:solidFill>
              <a:latin typeface="Google Sans"/>
              <a:ea typeface="+mn-ea"/>
              <a:cs typeface="+mn-cs"/>
            </a:endParaRPr>
          </a:p>
        </p:txBody>
      </p:sp>
    </p:spTree>
    <p:extLst>
      <p:ext uri="{BB962C8B-B14F-4D97-AF65-F5344CB8AC3E}">
        <p14:creationId xmlns:p14="http://schemas.microsoft.com/office/powerpoint/2010/main" val="521048742"/>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FAB06-9D67-1E62-2B13-7B2755A0E96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84D57DA-BD34-ACCA-5D50-B2A1E6179250}"/>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A250D1E-F362-A823-86B7-D66291B4FA8F}"/>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028F85F-BFB1-EEC8-846B-2C81BCCDEA90}"/>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FABE66B3-C964-50C5-1ED6-8AC15754C53F}"/>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16B73086-409E-78BD-0B22-D092DEE6111C}"/>
              </a:ext>
            </a:extLst>
          </p:cNvPr>
          <p:cNvSpPr txBox="1">
            <a:spLocks/>
          </p:cNvSpPr>
          <p:nvPr/>
        </p:nvSpPr>
        <p:spPr>
          <a:xfrm>
            <a:off x="152400" y="1050009"/>
            <a:ext cx="8624937" cy="527836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For Further Exploration(in General)</a:t>
            </a:r>
          </a:p>
          <a:p>
            <a:r>
              <a:rPr lang="en-US" sz="1400" dirty="0">
                <a:hlinkClick r:id="rId7"/>
              </a:rPr>
              <a:t>User space and kernel space – Wikipedia</a:t>
            </a:r>
            <a:endParaRPr lang="en-US" sz="1400" dirty="0"/>
          </a:p>
          <a:p>
            <a:r>
              <a:rPr lang="en-IN" sz="1400" dirty="0">
                <a:hlinkClick r:id="rId8"/>
              </a:rPr>
              <a:t>Kernel vs User Space - </a:t>
            </a:r>
            <a:r>
              <a:rPr lang="en-IN" sz="1400" dirty="0" err="1">
                <a:hlinkClick r:id="rId8"/>
              </a:rPr>
              <a:t>NamasteDev</a:t>
            </a:r>
            <a:r>
              <a:rPr lang="en-IN" sz="1400" dirty="0">
                <a:hlinkClick r:id="rId8"/>
              </a:rPr>
              <a:t> Blogs</a:t>
            </a:r>
            <a:endParaRPr lang="en-IN" sz="1400" dirty="0"/>
          </a:p>
          <a:p>
            <a:r>
              <a:rPr lang="en-US" sz="1400" dirty="0">
                <a:hlinkClick r:id="rId9"/>
              </a:rPr>
              <a:t>Linux fundamentals: user space, kernel space, and the </a:t>
            </a:r>
            <a:r>
              <a:rPr lang="en-US" sz="1400" dirty="0" err="1">
                <a:hlinkClick r:id="rId9"/>
              </a:rPr>
              <a:t>syscalls</a:t>
            </a:r>
            <a:r>
              <a:rPr lang="en-US" sz="1400" dirty="0">
                <a:hlinkClick r:id="rId9"/>
              </a:rPr>
              <a:t> API surface</a:t>
            </a:r>
            <a:endParaRPr lang="en-US" sz="1400" dirty="0"/>
          </a:p>
          <a:p>
            <a:r>
              <a:rPr lang="en-US" sz="1400" dirty="0">
                <a:hlinkClick r:id="rId10"/>
              </a:rPr>
              <a:t>What Are Rings in Operating Systems? | </a:t>
            </a:r>
            <a:r>
              <a:rPr lang="en-US" sz="1400" dirty="0" err="1">
                <a:hlinkClick r:id="rId10"/>
              </a:rPr>
              <a:t>Baeldung</a:t>
            </a:r>
            <a:r>
              <a:rPr lang="en-US" sz="1400" dirty="0">
                <a:hlinkClick r:id="rId10"/>
              </a:rPr>
              <a:t> on Computer Science</a:t>
            </a:r>
            <a:endParaRPr lang="en-US" sz="1400" dirty="0"/>
          </a:p>
          <a:p>
            <a:r>
              <a:rPr lang="en-US" sz="1400" dirty="0">
                <a:hlinkClick r:id="rId11"/>
              </a:rPr>
              <a:t>Systems-Programming-with-C-Sharp-and-.NET</a:t>
            </a:r>
            <a:endParaRPr lang="en-US" sz="1400" dirty="0"/>
          </a:p>
          <a:p>
            <a:r>
              <a:rPr lang="en-US" sz="1400" dirty="0">
                <a:hlinkClick r:id="rId12"/>
              </a:rPr>
              <a:t>Operating Systems: Three Easy Pieces</a:t>
            </a:r>
            <a:endParaRPr lang="en-US" sz="1400" dirty="0"/>
          </a:p>
          <a:p>
            <a:r>
              <a:rPr lang="en-US" sz="1400" dirty="0">
                <a:hlinkClick r:id="rId13"/>
              </a:rPr>
              <a:t>The little book about OS development</a:t>
            </a:r>
            <a:endParaRPr lang="en-US" sz="1400" dirty="0"/>
          </a:p>
          <a:p>
            <a:r>
              <a:rPr lang="en-US" sz="1400" dirty="0">
                <a:hlinkClick r:id="rId14"/>
              </a:rPr>
              <a:t>Baking Pi – Operating Systems Development</a:t>
            </a:r>
            <a:endParaRPr lang="en-US" sz="1400" dirty="0"/>
          </a:p>
          <a:p>
            <a:r>
              <a:rPr lang="en-US" sz="1400" dirty="0">
                <a:hlinkClick r:id="rId15"/>
              </a:rPr>
              <a:t>Computer Science from the Bottom Up</a:t>
            </a:r>
            <a:endParaRPr lang="en-US" sz="1400" dirty="0"/>
          </a:p>
          <a:p>
            <a:r>
              <a:rPr lang="en-US" sz="1400" dirty="0">
                <a:hlinkClick r:id="rId16"/>
              </a:rPr>
              <a:t>Practical Operating Systems: A Hands-On Approach with Python</a:t>
            </a:r>
            <a:endParaRPr lang="en-US" sz="1400" dirty="0"/>
          </a:p>
          <a:p>
            <a:r>
              <a:rPr lang="en-US" sz="1400" dirty="0">
                <a:hlinkClick r:id="rId17"/>
              </a:rPr>
              <a:t>Developing a Computer Operating System from… [PDF/iPad/Kindle]</a:t>
            </a:r>
            <a:endParaRPr lang="en-US" sz="1400" dirty="0"/>
          </a:p>
          <a:p>
            <a:r>
              <a:rPr lang="en-US" sz="1400" dirty="0">
                <a:hlinkClick r:id="rId18"/>
              </a:rPr>
              <a:t>THE MINIX BOOK: OPERATING SYSTEMS</a:t>
            </a:r>
            <a:endParaRPr lang="en-US" sz="1400" dirty="0"/>
          </a:p>
          <a:p>
            <a:r>
              <a:rPr lang="en-IN" sz="1400" dirty="0">
                <a:hlinkClick r:id="rId19"/>
              </a:rPr>
              <a:t>Modern Operating Systems</a:t>
            </a:r>
            <a:endParaRPr lang="en-IN" sz="1400" dirty="0"/>
          </a:p>
          <a:p>
            <a:r>
              <a:rPr lang="en-US" sz="1400" dirty="0">
                <a:hlinkClick r:id="rId20"/>
              </a:rPr>
              <a:t>Linux Internals and Kernel Programming </a:t>
            </a:r>
            <a:r>
              <a:rPr lang="en-US" sz="1400" dirty="0" err="1">
                <a:hlinkClick r:id="rId20"/>
              </a:rPr>
              <a:t>alongwith</a:t>
            </a:r>
            <a:r>
              <a:rPr lang="en-US" sz="1400" dirty="0">
                <a:hlinkClick r:id="rId20"/>
              </a:rPr>
              <a:t> Drivers Resources</a:t>
            </a:r>
            <a:endParaRPr lang="en-IN" sz="1400" dirty="0"/>
          </a:p>
          <a:p>
            <a:r>
              <a:rPr lang="en-US" sz="1400" dirty="0">
                <a:hlinkClick r:id="rId21"/>
              </a:rPr>
              <a:t>Linux System Programming</a:t>
            </a:r>
            <a:endParaRPr lang="en-US" sz="1400" dirty="0"/>
          </a:p>
          <a:p>
            <a:r>
              <a:rPr lang="en-US" sz="1400" dirty="0">
                <a:hlinkClick r:id="rId22"/>
              </a:rPr>
              <a:t>Understanding the Linux Kernel</a:t>
            </a:r>
            <a:endParaRPr lang="en-US" sz="1400" dirty="0"/>
          </a:p>
          <a:p>
            <a:r>
              <a:rPr lang="en-US" sz="1400" dirty="0">
                <a:hlinkClick r:id="rId23"/>
              </a:rPr>
              <a:t>Linux From Scratch!</a:t>
            </a:r>
            <a:endParaRPr lang="en-US" sz="1400" dirty="0"/>
          </a:p>
          <a:p>
            <a:r>
              <a:rPr lang="en-US" sz="1400" dirty="0">
                <a:hlinkClick r:id="rId24"/>
              </a:rPr>
              <a:t>How Linux Works</a:t>
            </a:r>
            <a:endParaRPr lang="en-US" sz="1400" dirty="0"/>
          </a:p>
          <a:p>
            <a:r>
              <a:rPr lang="en-US" sz="1400" dirty="0">
                <a:hlinkClick r:id="rId25"/>
              </a:rPr>
              <a:t>Windows Internals and Kernel Programming </a:t>
            </a:r>
            <a:r>
              <a:rPr lang="en-US" sz="1400" dirty="0" err="1">
                <a:hlinkClick r:id="rId25"/>
              </a:rPr>
              <a:t>alongwith</a:t>
            </a:r>
            <a:r>
              <a:rPr lang="en-US" sz="1400" dirty="0">
                <a:hlinkClick r:id="rId25"/>
              </a:rPr>
              <a:t> Drivers Resources</a:t>
            </a:r>
            <a:endParaRPr lang="en-IN" sz="1400" dirty="0"/>
          </a:p>
          <a:p>
            <a:r>
              <a:rPr lang="en-US" sz="1400" dirty="0">
                <a:hlinkClick r:id="rId26"/>
              </a:rPr>
              <a:t>System Software by Leland L. Beck | Open Library</a:t>
            </a:r>
            <a:endParaRPr lang="en-US" sz="1400" dirty="0"/>
          </a:p>
          <a:p>
            <a:r>
              <a:rPr lang="en-US" sz="1400" dirty="0">
                <a:hlinkClick r:id="rId27"/>
              </a:rPr>
              <a:t>SYSTEMS PROGRAMMING</a:t>
            </a:r>
            <a:endParaRPr lang="en-US" sz="1400" dirty="0"/>
          </a:p>
          <a:p>
            <a:r>
              <a:rPr lang="en-IN" sz="1400" dirty="0">
                <a:hlinkClick r:id="rId28"/>
              </a:rPr>
              <a:t>Hacker's Delight - Wikipedia</a:t>
            </a:r>
            <a:endParaRPr lang="en-IN" sz="1400" dirty="0"/>
          </a:p>
          <a:p>
            <a:endParaRPr lang="en-US" sz="1500" dirty="0">
              <a:solidFill>
                <a:schemeClr val="accent6"/>
              </a:solidFill>
              <a:latin typeface="Google Sans"/>
              <a:ea typeface="+mn-ea"/>
              <a:cs typeface="+mn-cs"/>
            </a:endParaRPr>
          </a:p>
        </p:txBody>
      </p:sp>
    </p:spTree>
    <p:extLst>
      <p:ext uri="{BB962C8B-B14F-4D97-AF65-F5344CB8AC3E}">
        <p14:creationId xmlns:p14="http://schemas.microsoft.com/office/powerpoint/2010/main" val="125719673"/>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64EF6-8397-7A17-3CB0-5B825D5760B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55B2BAC-CFE0-DE4A-BBE7-C3AA27A2DAEA}"/>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FFC7E15-5F9D-7D70-087F-499E28CDF439}"/>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DC6F4BA-9A4F-D200-6114-10DC67F0BEED}"/>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58EB3780-9D55-C3A5-545A-0618DCB70FB7}"/>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15" name="object 2">
            <a:extLst>
              <a:ext uri="{FF2B5EF4-FFF2-40B4-BE49-F238E27FC236}">
                <a16:creationId xmlns:a16="http://schemas.microsoft.com/office/drawing/2014/main" id="{769A41E0-1825-13DA-4530-C90F00A769DC}"/>
              </a:ext>
            </a:extLst>
          </p:cNvPr>
          <p:cNvSpPr txBox="1">
            <a:spLocks/>
          </p:cNvSpPr>
          <p:nvPr/>
        </p:nvSpPr>
        <p:spPr>
          <a:xfrm>
            <a:off x="259531" y="1295400"/>
            <a:ext cx="8624937" cy="450892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300" kern="0" spc="-220" dirty="0">
                <a:solidFill>
                  <a:schemeClr val="accent2"/>
                </a:solidFill>
              </a:rPr>
              <a:t> Why/When do you need Stream(s) </a:t>
            </a:r>
            <a:r>
              <a:rPr lang="en-US" sz="2300" kern="0" spc="-220" dirty="0">
                <a:solidFill>
                  <a:schemeClr val="accent6"/>
                </a:solidFill>
              </a:rPr>
              <a:t>–</a:t>
            </a:r>
          </a:p>
          <a:p>
            <a:r>
              <a:rPr lang="en-US" sz="2250" kern="0" spc="-220" dirty="0">
                <a:solidFill>
                  <a:schemeClr val="accent6"/>
                </a:solidFill>
              </a:rPr>
              <a:t>Say you want to transfer a large file array/list/object from one server to another but your intermediate server(which will get the data from source &amp; process it &amp; then transfer &amp; store to destination) has  RAM(/memory) limitations &amp; the large array/list/file/object needs to be processed &amp; so only option left is to then divide the large array/list/file/object into chunks &amp; then it can be a stream of chunks which is in general easier to be processed. </a:t>
            </a:r>
            <a:r>
              <a:rPr lang="en-US" sz="2250" kern="0" spc="-220" dirty="0">
                <a:solidFill>
                  <a:schemeClr val="accent1"/>
                </a:solidFill>
              </a:rPr>
              <a:t>The chunk in general is in the form of byte(s) &amp; can be a single byte or a block of byte(s)(although chunks can be some text[character or string], XML, JSON </a:t>
            </a:r>
            <a:r>
              <a:rPr lang="en-US" sz="2250" kern="0" spc="-220" dirty="0" err="1">
                <a:solidFill>
                  <a:schemeClr val="accent1"/>
                </a:solidFill>
              </a:rPr>
              <a:t>etc</a:t>
            </a:r>
            <a:r>
              <a:rPr lang="en-US" sz="2250" kern="0" spc="-220" dirty="0">
                <a:solidFill>
                  <a:schemeClr val="accent1"/>
                </a:solidFill>
              </a:rPr>
              <a:t> as well).Streaming is a real good technique to solve such problems.</a:t>
            </a:r>
          </a:p>
          <a:p>
            <a:pPr algn="l"/>
            <a:r>
              <a:rPr lang="en-US" sz="2250" kern="0" spc="-220" dirty="0">
                <a:solidFill>
                  <a:schemeClr val="accent6"/>
                </a:solidFill>
              </a:rPr>
              <a:t>Also, sometimes Streaming improves the overall performance of a system.</a:t>
            </a:r>
          </a:p>
        </p:txBody>
      </p:sp>
    </p:spTree>
    <p:extLst>
      <p:ext uri="{BB962C8B-B14F-4D97-AF65-F5344CB8AC3E}">
        <p14:creationId xmlns:p14="http://schemas.microsoft.com/office/powerpoint/2010/main" val="2501864053"/>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15" name="object 2">
            <a:extLst>
              <a:ext uri="{FF2B5EF4-FFF2-40B4-BE49-F238E27FC236}">
                <a16:creationId xmlns:a16="http://schemas.microsoft.com/office/drawing/2014/main" id="{7B5E71F4-3184-8125-5ABD-8DC5C7715034}"/>
              </a:ext>
            </a:extLst>
          </p:cNvPr>
          <p:cNvSpPr txBox="1">
            <a:spLocks/>
          </p:cNvSpPr>
          <p:nvPr/>
        </p:nvSpPr>
        <p:spPr>
          <a:xfrm>
            <a:off x="259531" y="1066800"/>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.NET  Streaming Architecture</a:t>
            </a:r>
            <a:endParaRPr lang="en-US" sz="2000" kern="0" spc="-220" dirty="0">
              <a:solidFill>
                <a:schemeClr val="accent6"/>
              </a:solidFill>
            </a:endParaRPr>
          </a:p>
        </p:txBody>
      </p:sp>
      <p:pic>
        <p:nvPicPr>
          <p:cNvPr id="1026" name="Picture 2" descr="c# - stream adapters in Stream Architecture - Stack Overflow">
            <a:extLst>
              <a:ext uri="{FF2B5EF4-FFF2-40B4-BE49-F238E27FC236}">
                <a16:creationId xmlns:a16="http://schemas.microsoft.com/office/drawing/2014/main" id="{288617A7-6009-9A28-1149-9C8B078B803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3764" y="1371600"/>
            <a:ext cx="8443036" cy="3395193"/>
          </a:xfrm>
          <a:prstGeom prst="rect">
            <a:avLst/>
          </a:prstGeom>
          <a:noFill/>
          <a:extLst>
            <a:ext uri="{909E8E84-426E-40DD-AFC4-6F175D3DCCD1}">
              <a14:hiddenFill xmlns:a14="http://schemas.microsoft.com/office/drawing/2010/main">
                <a:solidFill>
                  <a:srgbClr val="FFFFFF"/>
                </a:solidFill>
              </a14:hiddenFill>
            </a:ext>
          </a:extLst>
        </p:spPr>
      </p:pic>
      <p:sp>
        <p:nvSpPr>
          <p:cNvPr id="2" name="object 2">
            <a:extLst>
              <a:ext uri="{FF2B5EF4-FFF2-40B4-BE49-F238E27FC236}">
                <a16:creationId xmlns:a16="http://schemas.microsoft.com/office/drawing/2014/main" id="{5785E4A8-C9FB-F1B2-4F4D-1D7ECD559F1D}"/>
              </a:ext>
            </a:extLst>
          </p:cNvPr>
          <p:cNvSpPr txBox="1">
            <a:spLocks/>
          </p:cNvSpPr>
          <p:nvPr/>
        </p:nvSpPr>
        <p:spPr>
          <a:xfrm>
            <a:off x="61863" y="4611469"/>
            <a:ext cx="8624937" cy="123110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1600" kern="0" spc="-220" dirty="0">
                <a:solidFill>
                  <a:schemeClr val="accent6"/>
                </a:solidFill>
              </a:rPr>
              <a:t>N.B. –  Although the arrows (direction) above might give the impression that the data is always moving from Stream Adapters to Decorator Streams to Backing Stores but that’s in the case of writing data from RAM (using some class inheriting from </a:t>
            </a:r>
            <a:r>
              <a:rPr lang="en-US" sz="1600" kern="0" spc="-220" dirty="0" err="1">
                <a:solidFill>
                  <a:schemeClr val="accent6"/>
                </a:solidFill>
              </a:rPr>
              <a:t>StreamWriter</a:t>
            </a:r>
            <a:r>
              <a:rPr lang="en-US" sz="1600" kern="0" spc="-220" dirty="0">
                <a:solidFill>
                  <a:schemeClr val="accent6"/>
                </a:solidFill>
              </a:rPr>
              <a:t> class or the </a:t>
            </a:r>
            <a:r>
              <a:rPr lang="en-US" sz="1600" kern="0" spc="-220" dirty="0" err="1">
                <a:solidFill>
                  <a:schemeClr val="accent6"/>
                </a:solidFill>
              </a:rPr>
              <a:t>StreamWriter</a:t>
            </a:r>
            <a:r>
              <a:rPr lang="en-US" sz="1600" kern="0" spc="-220" dirty="0">
                <a:solidFill>
                  <a:schemeClr val="accent6"/>
                </a:solidFill>
              </a:rPr>
              <a:t> class itself which again inherits from Stream class). For reading data into the RAM, it’s the other way around.(using some class inheriting from </a:t>
            </a:r>
            <a:r>
              <a:rPr lang="en-US" sz="1600" kern="0" spc="-220" dirty="0" err="1">
                <a:solidFill>
                  <a:schemeClr val="accent6"/>
                </a:solidFill>
              </a:rPr>
              <a:t>StreamReader</a:t>
            </a:r>
            <a:r>
              <a:rPr lang="en-US" sz="1600" kern="0" spc="-220" dirty="0">
                <a:solidFill>
                  <a:schemeClr val="accent6"/>
                </a:solidFill>
              </a:rPr>
              <a:t> class or the </a:t>
            </a:r>
            <a:r>
              <a:rPr lang="en-US" sz="1600" kern="0" spc="-220" dirty="0" err="1">
                <a:solidFill>
                  <a:schemeClr val="accent6"/>
                </a:solidFill>
              </a:rPr>
              <a:t>SreamReader</a:t>
            </a:r>
            <a:r>
              <a:rPr lang="en-US" sz="1600" kern="0" spc="-220" dirty="0">
                <a:solidFill>
                  <a:schemeClr val="accent6"/>
                </a:solidFill>
              </a:rPr>
              <a:t> class itself which again inherits from Stream class).</a:t>
            </a:r>
          </a:p>
        </p:txBody>
      </p:sp>
    </p:spTree>
    <p:extLst>
      <p:ext uri="{BB962C8B-B14F-4D97-AF65-F5344CB8AC3E}">
        <p14:creationId xmlns:p14="http://schemas.microsoft.com/office/powerpoint/2010/main" val="2098834988"/>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15" name="object 2">
            <a:extLst>
              <a:ext uri="{FF2B5EF4-FFF2-40B4-BE49-F238E27FC236}">
                <a16:creationId xmlns:a16="http://schemas.microsoft.com/office/drawing/2014/main" id="{7B5E71F4-3184-8125-5ABD-8DC5C7715034}"/>
              </a:ext>
            </a:extLst>
          </p:cNvPr>
          <p:cNvSpPr txBox="1">
            <a:spLocks/>
          </p:cNvSpPr>
          <p:nvPr/>
        </p:nvSpPr>
        <p:spPr>
          <a:xfrm>
            <a:off x="259531" y="1066800"/>
            <a:ext cx="8624937"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.NET  Streaming Architecture </a:t>
            </a:r>
            <a:r>
              <a:rPr lang="en-US" sz="2000" kern="0" spc="-220" dirty="0" err="1">
                <a:solidFill>
                  <a:schemeClr val="accent2"/>
                </a:solidFill>
              </a:rPr>
              <a:t>contd</a:t>
            </a:r>
            <a:r>
              <a:rPr lang="en-US" sz="2000" kern="0" spc="-220" dirty="0">
                <a:solidFill>
                  <a:schemeClr val="accent2"/>
                </a:solidFill>
              </a:rPr>
              <a:t>…</a:t>
            </a:r>
          </a:p>
          <a:p>
            <a:pPr algn="l"/>
            <a:endParaRPr lang="en-US" sz="2000" kern="0" spc="-220" dirty="0">
              <a:solidFill>
                <a:schemeClr val="accent6"/>
              </a:solidFill>
            </a:endParaRPr>
          </a:p>
        </p:txBody>
      </p:sp>
      <p:graphicFrame>
        <p:nvGraphicFramePr>
          <p:cNvPr id="7" name="Table 6">
            <a:extLst>
              <a:ext uri="{FF2B5EF4-FFF2-40B4-BE49-F238E27FC236}">
                <a16:creationId xmlns:a16="http://schemas.microsoft.com/office/drawing/2014/main" id="{6D035F2E-B4C7-0815-0ACD-816FE846A6AC}"/>
              </a:ext>
            </a:extLst>
          </p:cNvPr>
          <p:cNvGraphicFramePr>
            <a:graphicFrameLocks noGrp="1"/>
          </p:cNvGraphicFramePr>
          <p:nvPr/>
        </p:nvGraphicFramePr>
        <p:xfrm>
          <a:off x="609600" y="1438108"/>
          <a:ext cx="8290637" cy="3907316"/>
        </p:xfrm>
        <a:graphic>
          <a:graphicData uri="http://schemas.openxmlformats.org/drawingml/2006/table">
            <a:tbl>
              <a:tblPr>
                <a:tableStyleId>{5C22544A-7EE6-4342-B048-85BDC9FD1C3A}</a:tableStyleId>
              </a:tblPr>
              <a:tblGrid>
                <a:gridCol w="3362963">
                  <a:extLst>
                    <a:ext uri="{9D8B030D-6E8A-4147-A177-3AD203B41FA5}">
                      <a16:colId xmlns:a16="http://schemas.microsoft.com/office/drawing/2014/main" val="4163440946"/>
                    </a:ext>
                  </a:extLst>
                </a:gridCol>
                <a:gridCol w="4927674">
                  <a:extLst>
                    <a:ext uri="{9D8B030D-6E8A-4147-A177-3AD203B41FA5}">
                      <a16:colId xmlns:a16="http://schemas.microsoft.com/office/drawing/2014/main" val="3313066096"/>
                    </a:ext>
                  </a:extLst>
                </a:gridCol>
              </a:tblGrid>
              <a:tr h="446266">
                <a:tc>
                  <a:txBody>
                    <a:bodyPr/>
                    <a:lstStyle/>
                    <a:p>
                      <a:pPr algn="l" fontAlgn="b"/>
                      <a:r>
                        <a:rPr lang="en-US" sz="1800" u="none" strike="noStrike" dirty="0">
                          <a:solidFill>
                            <a:schemeClr val="accent2"/>
                          </a:solidFill>
                          <a:effectLst/>
                        </a:rPr>
                        <a:t>High Level Stream(s) Type/Group</a:t>
                      </a:r>
                      <a:endParaRPr lang="en-US" sz="1800" b="1" i="0" u="none" strike="noStrike" dirty="0">
                        <a:solidFill>
                          <a:schemeClr val="accent2"/>
                        </a:solidFill>
                        <a:effectLst/>
                        <a:latin typeface="Aptos Narrow" panose="020B0004020202020204" pitchFamily="34" charset="0"/>
                      </a:endParaRPr>
                    </a:p>
                  </a:txBody>
                  <a:tcPr marL="3439" marR="3439" marT="3439" marB="0" anchor="b"/>
                </a:tc>
                <a:tc>
                  <a:txBody>
                    <a:bodyPr/>
                    <a:lstStyle/>
                    <a:p>
                      <a:pPr algn="l" fontAlgn="b"/>
                      <a:r>
                        <a:rPr lang="en-IN" sz="1800" u="none" strike="noStrike" dirty="0">
                          <a:solidFill>
                            <a:schemeClr val="accent2"/>
                          </a:solidFill>
                          <a:effectLst/>
                        </a:rPr>
                        <a:t>Description</a:t>
                      </a:r>
                      <a:endParaRPr lang="en-IN" sz="1800" b="1" i="0" u="none" strike="noStrike" dirty="0">
                        <a:solidFill>
                          <a:schemeClr val="accent2"/>
                        </a:solidFill>
                        <a:effectLst/>
                        <a:latin typeface="Aptos Narrow" panose="020B0004020202020204" pitchFamily="34" charset="0"/>
                      </a:endParaRPr>
                    </a:p>
                  </a:txBody>
                  <a:tcPr marL="3439" marR="3439" marT="3439" marB="0" anchor="b"/>
                </a:tc>
                <a:extLst>
                  <a:ext uri="{0D108BD9-81ED-4DB2-BD59-A6C34878D82A}">
                    <a16:rowId xmlns:a16="http://schemas.microsoft.com/office/drawing/2014/main" val="939733930"/>
                  </a:ext>
                </a:extLst>
              </a:tr>
              <a:tr h="574416">
                <a:tc>
                  <a:txBody>
                    <a:bodyPr/>
                    <a:lstStyle/>
                    <a:p>
                      <a:pPr algn="l" fontAlgn="b"/>
                      <a:r>
                        <a:rPr lang="en-IN" sz="1600" u="none" strike="noStrike" dirty="0">
                          <a:effectLst/>
                        </a:rPr>
                        <a:t>Backing Store Stream(s)</a:t>
                      </a:r>
                      <a:endParaRPr lang="en-IN" sz="600" b="0" i="0" u="none" strike="noStrike" dirty="0">
                        <a:solidFill>
                          <a:srgbClr val="000000"/>
                        </a:solidFill>
                        <a:effectLst/>
                        <a:latin typeface="Aptos Narrow" panose="020B0004020202020204" pitchFamily="34" charset="0"/>
                      </a:endParaRPr>
                    </a:p>
                  </a:txBody>
                  <a:tcPr marL="3439" marR="3439" marT="3439" marB="0" anchor="b"/>
                </a:tc>
                <a:tc>
                  <a:txBody>
                    <a:bodyPr/>
                    <a:lstStyle/>
                    <a:p>
                      <a:pPr algn="l" fontAlgn="b"/>
                      <a:r>
                        <a:rPr lang="en-US" sz="1600" u="none" strike="noStrike" dirty="0">
                          <a:effectLst/>
                        </a:rPr>
                        <a:t>Hardwired to a particular type of Backing Store. Provides raw data. </a:t>
                      </a:r>
                      <a:r>
                        <a:rPr lang="en-US" sz="1600" u="none" strike="noStrike" dirty="0">
                          <a:solidFill>
                            <a:schemeClr val="accent1"/>
                          </a:solidFill>
                          <a:effectLst/>
                        </a:rPr>
                        <a:t>Itself a Stream</a:t>
                      </a:r>
                      <a:r>
                        <a:rPr lang="en-US" sz="600" u="none" strike="noStrike" dirty="0">
                          <a:solidFill>
                            <a:schemeClr val="accent1"/>
                          </a:solidFill>
                          <a:effectLst/>
                        </a:rPr>
                        <a:t>.</a:t>
                      </a:r>
                      <a:endParaRPr lang="en-US" sz="600" b="0" i="0" u="none" strike="noStrike" dirty="0">
                        <a:solidFill>
                          <a:schemeClr val="accent1"/>
                        </a:solidFill>
                        <a:effectLst/>
                        <a:latin typeface="Aptos Narrow" panose="020B0004020202020204" pitchFamily="34" charset="0"/>
                      </a:endParaRPr>
                    </a:p>
                  </a:txBody>
                  <a:tcPr marL="3439" marR="3439" marT="3439" marB="0" anchor="b"/>
                </a:tc>
                <a:extLst>
                  <a:ext uri="{0D108BD9-81ED-4DB2-BD59-A6C34878D82A}">
                    <a16:rowId xmlns:a16="http://schemas.microsoft.com/office/drawing/2014/main" val="2847015799"/>
                  </a:ext>
                </a:extLst>
              </a:tr>
              <a:tr h="962211">
                <a:tc>
                  <a:txBody>
                    <a:bodyPr/>
                    <a:lstStyle/>
                    <a:p>
                      <a:pPr algn="l" fontAlgn="b"/>
                      <a:r>
                        <a:rPr lang="en-IN" sz="1600" u="none" strike="noStrike" dirty="0">
                          <a:effectLst/>
                        </a:rPr>
                        <a:t>Decorator Stream(s)</a:t>
                      </a:r>
                      <a:endParaRPr lang="en-IN" sz="600" b="0" i="0" u="none" strike="noStrike" dirty="0">
                        <a:solidFill>
                          <a:srgbClr val="000000"/>
                        </a:solidFill>
                        <a:effectLst/>
                        <a:latin typeface="Aptos Narrow" panose="020B0004020202020204" pitchFamily="34" charset="0"/>
                      </a:endParaRPr>
                    </a:p>
                  </a:txBody>
                  <a:tcPr marL="3439" marR="3439" marT="3439" marB="0" anchor="b"/>
                </a:tc>
                <a:tc>
                  <a:txBody>
                    <a:bodyPr/>
                    <a:lstStyle/>
                    <a:p>
                      <a:pPr algn="l" fontAlgn="b"/>
                      <a:r>
                        <a:rPr lang="en-US" sz="1600" u="none" strike="noStrike" dirty="0">
                          <a:effectLst/>
                        </a:rPr>
                        <a:t>Feed off another stream &amp; transform the data </a:t>
                      </a:r>
                      <a:br>
                        <a:rPr lang="en-US" sz="1600" u="none" strike="noStrike" dirty="0">
                          <a:effectLst/>
                        </a:rPr>
                      </a:br>
                      <a:r>
                        <a:rPr lang="en-US" sz="1600" u="none" strike="noStrike" dirty="0">
                          <a:effectLst/>
                        </a:rPr>
                        <a:t>in some way (compression or encryption or Buffering). Chain of decorators also possible. </a:t>
                      </a:r>
                      <a:r>
                        <a:rPr lang="en-US" sz="1600" u="none" strike="noStrike" dirty="0">
                          <a:solidFill>
                            <a:schemeClr val="accent1"/>
                          </a:solidFill>
                          <a:effectLst/>
                        </a:rPr>
                        <a:t>Itself a Stream.</a:t>
                      </a:r>
                      <a:endParaRPr lang="en-US" sz="1600" b="0" i="0" u="none" strike="noStrike" dirty="0">
                        <a:solidFill>
                          <a:schemeClr val="accent1"/>
                        </a:solidFill>
                        <a:effectLst/>
                        <a:latin typeface="Aptos Narrow" panose="020B0004020202020204" pitchFamily="34" charset="0"/>
                      </a:endParaRPr>
                    </a:p>
                  </a:txBody>
                  <a:tcPr marL="3439" marR="3439" marT="3439" marB="0" anchor="b"/>
                </a:tc>
                <a:extLst>
                  <a:ext uri="{0D108BD9-81ED-4DB2-BD59-A6C34878D82A}">
                    <a16:rowId xmlns:a16="http://schemas.microsoft.com/office/drawing/2014/main" val="586858950"/>
                  </a:ext>
                </a:extLst>
              </a:tr>
              <a:tr h="1924423">
                <a:tc>
                  <a:txBody>
                    <a:bodyPr/>
                    <a:lstStyle/>
                    <a:p>
                      <a:pPr algn="l" fontAlgn="b"/>
                      <a:r>
                        <a:rPr lang="en-IN" sz="1600" u="none" strike="noStrike" dirty="0">
                          <a:effectLst/>
                        </a:rPr>
                        <a:t>Adapter Stream(s)</a:t>
                      </a:r>
                      <a:endParaRPr lang="en-IN" sz="600" b="0" i="0" u="none" strike="noStrike" dirty="0">
                        <a:solidFill>
                          <a:srgbClr val="000000"/>
                        </a:solidFill>
                        <a:effectLst/>
                        <a:latin typeface="Aptos Narrow" panose="020B0004020202020204" pitchFamily="34" charset="0"/>
                      </a:endParaRPr>
                    </a:p>
                  </a:txBody>
                  <a:tcPr marL="3439" marR="3439" marT="3439" marB="0" anchor="b"/>
                </a:tc>
                <a:tc>
                  <a:txBody>
                    <a:bodyPr/>
                    <a:lstStyle/>
                    <a:p>
                      <a:pPr algn="l" fontAlgn="b"/>
                      <a:r>
                        <a:rPr lang="en-US" sz="1600" u="none" strike="noStrike" dirty="0">
                          <a:effectLst/>
                        </a:rPr>
                        <a:t>Both Backing store &amp; Decorator stream deal </a:t>
                      </a:r>
                      <a:br>
                        <a:rPr lang="en-US" sz="1600" u="none" strike="noStrike" dirty="0">
                          <a:effectLst/>
                        </a:rPr>
                      </a:br>
                      <a:r>
                        <a:rPr lang="en-US" sz="1600" u="none" strike="noStrike" dirty="0">
                          <a:effectLst/>
                        </a:rPr>
                        <a:t>exclusively in bytes. Although that's flexible &amp; efficient but an app often works at higher levels like formatted bytes or text(character or string) or XML or JSON etc. Adapters bridge this gap by wrapping a stream in a class with specialized methods types to a particular format. </a:t>
                      </a:r>
                      <a:r>
                        <a:rPr lang="en-US" sz="1600" u="none" strike="noStrike" dirty="0">
                          <a:solidFill>
                            <a:schemeClr val="accent1"/>
                          </a:solidFill>
                          <a:effectLst/>
                        </a:rPr>
                        <a:t>Itself is not a Stream.</a:t>
                      </a:r>
                      <a:endParaRPr lang="en-US" sz="1600" b="0" i="0" u="none" strike="noStrike" dirty="0">
                        <a:solidFill>
                          <a:schemeClr val="accent1"/>
                        </a:solidFill>
                        <a:effectLst/>
                        <a:latin typeface="Aptos Narrow" panose="020B0004020202020204" pitchFamily="34" charset="0"/>
                      </a:endParaRPr>
                    </a:p>
                  </a:txBody>
                  <a:tcPr marL="3439" marR="3439" marT="3439" marB="0" anchor="b"/>
                </a:tc>
                <a:extLst>
                  <a:ext uri="{0D108BD9-81ED-4DB2-BD59-A6C34878D82A}">
                    <a16:rowId xmlns:a16="http://schemas.microsoft.com/office/drawing/2014/main" val="2141561000"/>
                  </a:ext>
                </a:extLst>
              </a:tr>
            </a:tbl>
          </a:graphicData>
        </a:graphic>
      </p:graphicFrame>
      <p:sp>
        <p:nvSpPr>
          <p:cNvPr id="8" name="object 2">
            <a:extLst>
              <a:ext uri="{FF2B5EF4-FFF2-40B4-BE49-F238E27FC236}">
                <a16:creationId xmlns:a16="http://schemas.microsoft.com/office/drawing/2014/main" id="{7BA15FE9-F5C0-0AEC-044F-81F574BFC720}"/>
              </a:ext>
            </a:extLst>
          </p:cNvPr>
          <p:cNvSpPr txBox="1">
            <a:spLocks/>
          </p:cNvSpPr>
          <p:nvPr/>
        </p:nvSpPr>
        <p:spPr>
          <a:xfrm>
            <a:off x="228600" y="5562600"/>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1600" kern="0" spc="-220" dirty="0">
                <a:solidFill>
                  <a:schemeClr val="accent6"/>
                </a:solidFill>
              </a:rPr>
              <a:t>N.B. –  To compose a chain, you simply pass  one object into another’s constructor.</a:t>
            </a:r>
          </a:p>
        </p:txBody>
      </p:sp>
    </p:spTree>
    <p:extLst>
      <p:ext uri="{BB962C8B-B14F-4D97-AF65-F5344CB8AC3E}">
        <p14:creationId xmlns:p14="http://schemas.microsoft.com/office/powerpoint/2010/main" val="3736188002"/>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2"/>
                </a:solidFill>
              </a:rPr>
              <a:t>Backing Store Stream(s) </a:t>
            </a:r>
          </a:p>
        </p:txBody>
      </p:sp>
      <p:pic>
        <p:nvPicPr>
          <p:cNvPr id="9" name="Picture 8" descr="A diagram of a system&#10;&#10;Description automatically generated">
            <a:extLst>
              <a:ext uri="{FF2B5EF4-FFF2-40B4-BE49-F238E27FC236}">
                <a16:creationId xmlns:a16="http://schemas.microsoft.com/office/drawing/2014/main" id="{AACD817C-1789-8840-7FE0-C34584538C1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1436132"/>
            <a:ext cx="9144000" cy="4050268"/>
          </a:xfrm>
          <a:prstGeom prst="rect">
            <a:avLst/>
          </a:prstGeom>
        </p:spPr>
      </p:pic>
      <p:sp>
        <p:nvSpPr>
          <p:cNvPr id="11" name="object 2">
            <a:extLst>
              <a:ext uri="{FF2B5EF4-FFF2-40B4-BE49-F238E27FC236}">
                <a16:creationId xmlns:a16="http://schemas.microsoft.com/office/drawing/2014/main" id="{5C3C1071-9AD4-4F8A-6B2E-9D6F98777F10}"/>
              </a:ext>
            </a:extLst>
          </p:cNvPr>
          <p:cNvSpPr txBox="1">
            <a:spLocks/>
          </p:cNvSpPr>
          <p:nvPr/>
        </p:nvSpPr>
        <p:spPr>
          <a:xfrm>
            <a:off x="214263" y="5029200"/>
            <a:ext cx="8624937" cy="83099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2"/>
                </a:solidFill>
              </a:rPr>
              <a:t>For Further Exploration(Seek &amp; Peek) - </a:t>
            </a:r>
          </a:p>
          <a:p>
            <a:pPr algn="l"/>
            <a:r>
              <a:rPr lang="en-US" sz="1500" dirty="0" err="1">
                <a:hlinkClick r:id="rId8"/>
              </a:rPr>
              <a:t>c#</a:t>
            </a:r>
            <a:r>
              <a:rPr lang="en-US" sz="1500" dirty="0">
                <a:hlinkClick r:id="rId8"/>
              </a:rPr>
              <a:t> - </a:t>
            </a:r>
            <a:r>
              <a:rPr lang="en-US" sz="1500" dirty="0" err="1">
                <a:hlinkClick r:id="rId8"/>
              </a:rPr>
              <a:t>Stream.Seek</a:t>
            </a:r>
            <a:r>
              <a:rPr lang="en-US" sz="1500" dirty="0">
                <a:hlinkClick r:id="rId8"/>
              </a:rPr>
              <a:t>(0, </a:t>
            </a:r>
            <a:r>
              <a:rPr lang="en-US" sz="1500" dirty="0" err="1">
                <a:hlinkClick r:id="rId8"/>
              </a:rPr>
              <a:t>SeekOrigin.Begin</a:t>
            </a:r>
            <a:r>
              <a:rPr lang="en-US" sz="1500" dirty="0">
                <a:hlinkClick r:id="rId8"/>
              </a:rPr>
              <a:t>) or Position = 0 - Stack Overflow</a:t>
            </a:r>
            <a:endParaRPr lang="en-US" sz="1500" dirty="0"/>
          </a:p>
          <a:p>
            <a:pPr algn="l"/>
            <a:r>
              <a:rPr lang="en-IN" sz="1500" dirty="0" err="1">
                <a:hlinkClick r:id="rId9"/>
              </a:rPr>
              <a:t>StreamReader.Peek</a:t>
            </a:r>
            <a:r>
              <a:rPr lang="en-IN" sz="1500" dirty="0">
                <a:hlinkClick r:id="rId9"/>
              </a:rPr>
              <a:t> Method (System.IO) | Microsoft Learn</a:t>
            </a:r>
            <a:endParaRPr lang="en-US" sz="1500" kern="0" spc="-220" dirty="0">
              <a:solidFill>
                <a:schemeClr val="accent2"/>
              </a:solidFill>
            </a:endParaRPr>
          </a:p>
        </p:txBody>
      </p:sp>
    </p:spTree>
    <p:extLst>
      <p:ext uri="{BB962C8B-B14F-4D97-AF65-F5344CB8AC3E}">
        <p14:creationId xmlns:p14="http://schemas.microsoft.com/office/powerpoint/2010/main" val="445483903"/>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2"/>
                </a:solidFill>
              </a:rPr>
              <a:t>Decorator Stream(s) </a:t>
            </a:r>
          </a:p>
        </p:txBody>
      </p:sp>
      <p:pic>
        <p:nvPicPr>
          <p:cNvPr id="7" name="Picture 6" descr="A diagram of a system&#10;&#10;Description automatically generated">
            <a:extLst>
              <a:ext uri="{FF2B5EF4-FFF2-40B4-BE49-F238E27FC236}">
                <a16:creationId xmlns:a16="http://schemas.microsoft.com/office/drawing/2014/main" id="{C05EBD42-AF9D-94EA-3745-73793E7C315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1523999"/>
            <a:ext cx="9144000" cy="3697069"/>
          </a:xfrm>
          <a:prstGeom prst="rect">
            <a:avLst/>
          </a:prstGeom>
        </p:spPr>
      </p:pic>
      <p:sp>
        <p:nvSpPr>
          <p:cNvPr id="12" name="object 2">
            <a:extLst>
              <a:ext uri="{FF2B5EF4-FFF2-40B4-BE49-F238E27FC236}">
                <a16:creationId xmlns:a16="http://schemas.microsoft.com/office/drawing/2014/main" id="{7AE4F70E-AB8C-DBD0-B9C3-C9699DBDE079}"/>
              </a:ext>
            </a:extLst>
          </p:cNvPr>
          <p:cNvSpPr txBox="1">
            <a:spLocks/>
          </p:cNvSpPr>
          <p:nvPr/>
        </p:nvSpPr>
        <p:spPr>
          <a:xfrm>
            <a:off x="152400" y="5221069"/>
            <a:ext cx="8624937" cy="6001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2"/>
                </a:solidFill>
              </a:rPr>
              <a:t>For Further Exploration – </a:t>
            </a:r>
          </a:p>
          <a:p>
            <a:pPr algn="l"/>
            <a:r>
              <a:rPr lang="en-US" sz="1500" dirty="0">
                <a:hlinkClick r:id="rId8"/>
              </a:rPr>
              <a:t>Anonymous Pipes Made Easy- </a:t>
            </a:r>
            <a:r>
              <a:rPr lang="en-US" sz="1500" dirty="0" err="1">
                <a:hlinkClick r:id="rId8"/>
              </a:rPr>
              <a:t>CodeProject</a:t>
            </a:r>
            <a:endParaRPr lang="en-US" sz="1500" kern="0" spc="-220" dirty="0">
              <a:solidFill>
                <a:schemeClr val="accent2"/>
              </a:solidFill>
            </a:endParaRPr>
          </a:p>
        </p:txBody>
      </p:sp>
    </p:spTree>
    <p:extLst>
      <p:ext uri="{BB962C8B-B14F-4D97-AF65-F5344CB8AC3E}">
        <p14:creationId xmlns:p14="http://schemas.microsoft.com/office/powerpoint/2010/main" val="3773134646"/>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2"/>
                </a:solidFill>
              </a:rPr>
              <a:t>Stream Adapter(s)</a:t>
            </a:r>
          </a:p>
        </p:txBody>
      </p:sp>
      <p:pic>
        <p:nvPicPr>
          <p:cNvPr id="8" name="Picture 7" descr="A diagram of a stream&#10;&#10;Description automatically generated">
            <a:extLst>
              <a:ext uri="{FF2B5EF4-FFF2-40B4-BE49-F238E27FC236}">
                <a16:creationId xmlns:a16="http://schemas.microsoft.com/office/drawing/2014/main" id="{CA8D8DFF-BEFE-E2DE-0AF8-E8B646BF422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1794782"/>
            <a:ext cx="9144000" cy="4225018"/>
          </a:xfrm>
          <a:prstGeom prst="rect">
            <a:avLst/>
          </a:prstGeom>
        </p:spPr>
      </p:pic>
    </p:spTree>
    <p:extLst>
      <p:ext uri="{BB962C8B-B14F-4D97-AF65-F5344CB8AC3E}">
        <p14:creationId xmlns:p14="http://schemas.microsoft.com/office/powerpoint/2010/main" val="1326437839"/>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81DBC9E-9B8C-52DE-361D-2F34AB647A1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2"/>
                </a:solidFill>
              </a:rPr>
              <a:t>File(/Directory) Operations</a:t>
            </a:r>
          </a:p>
        </p:txBody>
      </p:sp>
      <p:pic>
        <p:nvPicPr>
          <p:cNvPr id="7" name="Picture 6" descr="A diagram of a diagram&#10;&#10;Description automatically generated">
            <a:extLst>
              <a:ext uri="{FF2B5EF4-FFF2-40B4-BE49-F238E27FC236}">
                <a16:creationId xmlns:a16="http://schemas.microsoft.com/office/drawing/2014/main" id="{F581F766-03DB-9DCB-E898-F63A3DF81AE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1447799"/>
            <a:ext cx="9144000" cy="3587859"/>
          </a:xfrm>
          <a:prstGeom prst="rect">
            <a:avLst/>
          </a:prstGeom>
        </p:spPr>
      </p:pic>
      <p:sp>
        <p:nvSpPr>
          <p:cNvPr id="9" name="object 2">
            <a:extLst>
              <a:ext uri="{FF2B5EF4-FFF2-40B4-BE49-F238E27FC236}">
                <a16:creationId xmlns:a16="http://schemas.microsoft.com/office/drawing/2014/main" id="{A3132881-0F63-1C96-4794-C9126A0486C3}"/>
              </a:ext>
            </a:extLst>
          </p:cNvPr>
          <p:cNvSpPr txBox="1">
            <a:spLocks/>
          </p:cNvSpPr>
          <p:nvPr/>
        </p:nvSpPr>
        <p:spPr>
          <a:xfrm>
            <a:off x="152400" y="5035659"/>
            <a:ext cx="8624937" cy="90794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For Further Exploration – </a:t>
            </a:r>
          </a:p>
          <a:p>
            <a:pPr algn="l"/>
            <a:r>
              <a:rPr lang="en-US" sz="1300" dirty="0">
                <a:hlinkClick r:id="rId8"/>
              </a:rPr>
              <a:t>Reading large text files with streams in C# - Stack Overflow</a:t>
            </a:r>
            <a:endParaRPr lang="en-US" sz="1300" dirty="0"/>
          </a:p>
          <a:p>
            <a:pPr algn="l"/>
            <a:r>
              <a:rPr lang="en-IN" sz="1300" dirty="0">
                <a:hlinkClick r:id="rId9"/>
              </a:rPr>
              <a:t>System.IO Namespace | Microsoft Learn</a:t>
            </a:r>
            <a:endParaRPr lang="en-IN" sz="1300" dirty="0"/>
          </a:p>
          <a:p>
            <a:pPr algn="l"/>
            <a:r>
              <a:rPr lang="en-IN" sz="1300" dirty="0" err="1">
                <a:hlinkClick r:id="rId10"/>
              </a:rPr>
              <a:t>Environment.SpecialFolder</a:t>
            </a:r>
            <a:r>
              <a:rPr lang="en-IN" sz="1300" dirty="0">
                <a:hlinkClick r:id="rId10"/>
              </a:rPr>
              <a:t> Enum (System) | Microsoft Learn</a:t>
            </a:r>
            <a:endParaRPr lang="en-IN" sz="1300" dirty="0"/>
          </a:p>
        </p:txBody>
      </p:sp>
    </p:spTree>
    <p:extLst>
      <p:ext uri="{BB962C8B-B14F-4D97-AF65-F5344CB8AC3E}">
        <p14:creationId xmlns:p14="http://schemas.microsoft.com/office/powerpoint/2010/main" val="2387672959"/>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9E44C-AC19-6A93-71DE-523390C2D4A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ADF4507-5ED6-C7ED-7726-9132889106D1}"/>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27C5332-EC12-5C8A-BD2D-E5CC9C986099}"/>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568B14C-56F4-A023-E1BF-123851656417}"/>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6398C663-9C1E-17FF-B5E2-0B69884684B8}"/>
              </a:ext>
            </a:extLst>
          </p:cNvPr>
          <p:cNvSpPr txBox="1">
            <a:spLocks/>
          </p:cNvSpPr>
          <p:nvPr/>
        </p:nvSpPr>
        <p:spPr>
          <a:xfrm>
            <a:off x="275300" y="1095844"/>
            <a:ext cx="8624937" cy="45550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2"/>
                </a:solidFill>
              </a:rPr>
              <a:t>Zero Copy IO</a:t>
            </a:r>
          </a:p>
          <a:p>
            <a:r>
              <a:rPr lang="en-US" sz="1600" kern="0" spc="-220" dirty="0">
                <a:solidFill>
                  <a:schemeClr val="accent6"/>
                </a:solidFill>
              </a:rPr>
              <a:t>In .NET, zero-copy I/O is primarily achieved by using memory-mapped files for direct memory access and inter-process communication, or leveraging OS-specific zero-copy mechanisms (like </a:t>
            </a:r>
            <a:r>
              <a:rPr lang="en-US" sz="1600" kern="0" spc="-220" dirty="0" err="1">
                <a:solidFill>
                  <a:schemeClr val="accent6"/>
                </a:solidFill>
              </a:rPr>
              <a:t>sendfile</a:t>
            </a:r>
            <a:r>
              <a:rPr lang="en-US" sz="1600" kern="0" spc="-220" dirty="0">
                <a:solidFill>
                  <a:schemeClr val="accent6"/>
                </a:solidFill>
              </a:rPr>
              <a:t>) via high-performance networking libraries.</a:t>
            </a:r>
          </a:p>
          <a:p>
            <a:r>
              <a:rPr lang="en-US" sz="1600" kern="0" spc="-220" dirty="0">
                <a:solidFill>
                  <a:schemeClr val="accent2"/>
                </a:solidFill>
              </a:rPr>
              <a:t>Using Memory-Mapped Files for Inter-Process Zero-Copy </a:t>
            </a:r>
          </a:p>
          <a:p>
            <a:r>
              <a:rPr lang="en-US" sz="1600" kern="0" spc="-220" dirty="0">
                <a:solidFill>
                  <a:schemeClr val="accent6"/>
                </a:solidFill>
              </a:rPr>
              <a:t>Memory-mapped files provide a form of zero-copy by mapping a file (or a region of system memory not backed by a physical file) directly into the virtual address space of multiple processes. This allows processes to read and write to the same physical memory location without data ever needing to be copied between the kernel and user space. </a:t>
            </a:r>
          </a:p>
          <a:p>
            <a:endParaRPr lang="en-US" sz="1600" kern="0" spc="-220" dirty="0">
              <a:solidFill>
                <a:schemeClr val="accent6"/>
              </a:solidFill>
            </a:endParaRPr>
          </a:p>
          <a:p>
            <a:r>
              <a:rPr lang="en-US" sz="1600" kern="0" spc="-220" dirty="0">
                <a:solidFill>
                  <a:schemeClr val="accent2"/>
                </a:solidFill>
              </a:rPr>
              <a:t>Achieving "Zero-Copy" with </a:t>
            </a:r>
            <a:r>
              <a:rPr lang="en-US" sz="1600" kern="0" spc="-220" dirty="0" err="1">
                <a:solidFill>
                  <a:schemeClr val="accent2"/>
                </a:solidFill>
              </a:rPr>
              <a:t>sendfile</a:t>
            </a:r>
            <a:r>
              <a:rPr lang="en-US" sz="1600" kern="0" spc="-220" dirty="0">
                <a:solidFill>
                  <a:schemeClr val="accent2"/>
                </a:solidFill>
              </a:rPr>
              <a:t> (Networking Context)</a:t>
            </a:r>
          </a:p>
          <a:p>
            <a:r>
              <a:rPr lang="en-US" sz="1600" kern="0" spc="-220" dirty="0">
                <a:solidFill>
                  <a:schemeClr val="accent6"/>
                </a:solidFill>
              </a:rPr>
              <a:t>For scenarios involving high-throughput data transfer (e.g., serving static files), true zero-copy on a system level often leverages OS-specific system calls like </a:t>
            </a:r>
            <a:r>
              <a:rPr lang="en-US" sz="1600" kern="0" spc="-220" dirty="0" err="1">
                <a:solidFill>
                  <a:schemeClr val="accent6"/>
                </a:solidFill>
              </a:rPr>
              <a:t>sendfile</a:t>
            </a:r>
            <a:r>
              <a:rPr lang="en-US" sz="1600" kern="0" spc="-220" dirty="0">
                <a:solidFill>
                  <a:schemeClr val="accent6"/>
                </a:solidFill>
              </a:rPr>
              <a:t> (Linux) or </a:t>
            </a:r>
            <a:r>
              <a:rPr lang="en-US" sz="1600" kern="0" spc="-220" dirty="0" err="1">
                <a:solidFill>
                  <a:schemeClr val="accent6"/>
                </a:solidFill>
              </a:rPr>
              <a:t>TransmitFile</a:t>
            </a:r>
            <a:r>
              <a:rPr lang="en-US" sz="1600" kern="0" spc="-220" dirty="0">
                <a:solidFill>
                  <a:schemeClr val="accent6"/>
                </a:solidFill>
              </a:rPr>
              <a:t> (Windows). These calls instruct the kernel to copy data directly from a file descriptor to a socket descriptor, bypassing the application's user space buffer entirely. </a:t>
            </a:r>
          </a:p>
          <a:p>
            <a:endParaRPr lang="en-US" sz="1600" kern="0" spc="-220" dirty="0">
              <a:solidFill>
                <a:schemeClr val="accent6"/>
              </a:solidFill>
            </a:endParaRPr>
          </a:p>
          <a:p>
            <a:r>
              <a:rPr lang="en-US" sz="1600" kern="0" spc="-220" dirty="0">
                <a:solidFill>
                  <a:schemeClr val="accent6"/>
                </a:solidFill>
              </a:rPr>
              <a:t>.NET does not expose a direct, cross-platform API for </a:t>
            </a:r>
            <a:r>
              <a:rPr lang="en-US" sz="1600" kern="0" spc="-220" dirty="0" err="1">
                <a:solidFill>
                  <a:schemeClr val="accent6"/>
                </a:solidFill>
              </a:rPr>
              <a:t>sendfile</a:t>
            </a:r>
            <a:r>
              <a:rPr lang="en-US" sz="1600" kern="0" spc="-220" dirty="0">
                <a:solidFill>
                  <a:schemeClr val="accent6"/>
                </a:solidFill>
              </a:rPr>
              <a:t>, but high-performance libraries or native interop can be used to access this functionality for specific use cases (e.g., in a web server context). </a:t>
            </a:r>
          </a:p>
        </p:txBody>
      </p:sp>
    </p:spTree>
    <p:extLst>
      <p:ext uri="{BB962C8B-B14F-4D97-AF65-F5344CB8AC3E}">
        <p14:creationId xmlns:p14="http://schemas.microsoft.com/office/powerpoint/2010/main" val="4077509743"/>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CAFA3-930A-F0C5-17C6-52E4EE4D0A0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B435047-9AA1-DCD9-4792-E0D84140F565}"/>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540A251-8433-16D7-F255-99FFCCE0144A}"/>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272F5B6-5264-E3B1-828F-21AD440D489C}"/>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4A4482A6-561F-A230-22D1-593126FEA480}"/>
              </a:ext>
            </a:extLst>
          </p:cNvPr>
          <p:cNvSpPr txBox="1">
            <a:spLocks/>
          </p:cNvSpPr>
          <p:nvPr/>
        </p:nvSpPr>
        <p:spPr>
          <a:xfrm>
            <a:off x="275300" y="1095844"/>
            <a:ext cx="8624937" cy="258532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2"/>
                </a:solidFill>
              </a:rPr>
              <a:t>Zero Copy IO</a:t>
            </a:r>
          </a:p>
          <a:p>
            <a:r>
              <a:rPr lang="en-US" sz="1600" kern="0" spc="-220" dirty="0">
                <a:solidFill>
                  <a:schemeClr val="accent2"/>
                </a:solidFill>
              </a:rPr>
              <a:t>Summary</a:t>
            </a:r>
          </a:p>
          <a:p>
            <a:r>
              <a:rPr lang="en-US" sz="1600" kern="0" spc="-220" dirty="0">
                <a:solidFill>
                  <a:schemeClr val="accent6"/>
                </a:solidFill>
              </a:rPr>
              <a:t>For inter-process communication in .NET where true zero-copy is the goal, memory-mapped files are the most effective built-in mechanism. They allow direct manipulation of shared memory pages, eliminating copies between user and kernel space. Standard pipes, while suitable for general IPC, involve data movement that is not considered true zero-copy in the technical sense. </a:t>
            </a:r>
          </a:p>
          <a:p>
            <a:endParaRPr lang="en-US" sz="1600" kern="0" spc="-220" dirty="0">
              <a:solidFill>
                <a:schemeClr val="accent6"/>
              </a:solidFill>
            </a:endParaRPr>
          </a:p>
          <a:p>
            <a:r>
              <a:rPr lang="en-US" sz="1600" kern="0" spc="-220" dirty="0">
                <a:solidFill>
                  <a:schemeClr val="accent2"/>
                </a:solidFill>
              </a:rPr>
              <a:t>For Further Exploration </a:t>
            </a:r>
          </a:p>
          <a:p>
            <a:r>
              <a:rPr lang="en-IN" sz="1600" dirty="0">
                <a:hlinkClick r:id="rId7"/>
              </a:rPr>
              <a:t>Zero-Copy IO: Building Lightning-Fast Applications </a:t>
            </a:r>
            <a:r>
              <a:rPr lang="en-IN" sz="1600">
                <a:hlinkClick r:id="rId7"/>
              </a:rPr>
              <a:t>Across Languages</a:t>
            </a:r>
            <a:endParaRPr lang="en-IN" sz="1600" dirty="0"/>
          </a:p>
          <a:p>
            <a:r>
              <a:rPr lang="en-US" sz="1600" dirty="0">
                <a:hlinkClick r:id="rId8"/>
              </a:rPr>
              <a:t>Memory-Mapped Files - .NET | Microsoft Learn</a:t>
            </a:r>
            <a:endParaRPr lang="en-US" sz="1600" kern="0" spc="-220" dirty="0">
              <a:solidFill>
                <a:schemeClr val="accent2"/>
              </a:solidFill>
            </a:endParaRPr>
          </a:p>
        </p:txBody>
      </p:sp>
    </p:spTree>
    <p:extLst>
      <p:ext uri="{BB962C8B-B14F-4D97-AF65-F5344CB8AC3E}">
        <p14:creationId xmlns:p14="http://schemas.microsoft.com/office/powerpoint/2010/main" val="2829485058"/>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A1979-744C-D984-FBDF-028D13BFA71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562EFDB-EDFD-C542-91A6-C1FC4976404B}"/>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D170BCE-022B-702B-C34C-B0B04B616260}"/>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05346B3-369D-3EB9-25D3-F8EEE5B7095D}"/>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C873BA4E-7A53-98E4-6FF5-FE5EE79986D1}"/>
              </a:ext>
            </a:extLst>
          </p:cNvPr>
          <p:cNvSpPr txBox="1">
            <a:spLocks/>
          </p:cNvSpPr>
          <p:nvPr/>
        </p:nvSpPr>
        <p:spPr>
          <a:xfrm>
            <a:off x="275300" y="1095844"/>
            <a:ext cx="8624937" cy="446276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Low Level Concepts</a:t>
            </a:r>
          </a:p>
          <a:p>
            <a:r>
              <a:rPr lang="en-US" sz="1500" dirty="0">
                <a:solidFill>
                  <a:schemeClr val="accent2"/>
                </a:solidFill>
                <a:latin typeface="Google Sans"/>
                <a:ea typeface="+mn-ea"/>
                <a:cs typeface="+mn-cs"/>
              </a:rPr>
              <a:t>1. What Stream Actually Is (Conceptual Model)</a:t>
            </a:r>
          </a:p>
          <a:p>
            <a:r>
              <a:rPr lang="en-US" sz="1500" dirty="0">
                <a:solidFill>
                  <a:schemeClr val="accent6"/>
                </a:solidFill>
                <a:latin typeface="Google Sans"/>
                <a:ea typeface="+mn-ea"/>
                <a:cs typeface="+mn-cs"/>
              </a:rPr>
              <a:t>Stream is a sequential byte transport abstraction.</a:t>
            </a:r>
          </a:p>
          <a:p>
            <a:r>
              <a:rPr lang="en-US" sz="1500" dirty="0">
                <a:solidFill>
                  <a:schemeClr val="accent2"/>
                </a:solidFill>
                <a:latin typeface="Google Sans"/>
                <a:ea typeface="+mn-ea"/>
                <a:cs typeface="+mn-cs"/>
              </a:rPr>
              <a:t>Not:</a:t>
            </a:r>
          </a:p>
          <a:p>
            <a:r>
              <a:rPr lang="en-US" sz="1500" dirty="0">
                <a:solidFill>
                  <a:schemeClr val="accent6"/>
                </a:solidFill>
                <a:latin typeface="Google Sans"/>
                <a:ea typeface="+mn-ea"/>
                <a:cs typeface="+mn-cs"/>
              </a:rPr>
              <a:t>files ❌</a:t>
            </a:r>
          </a:p>
          <a:p>
            <a:r>
              <a:rPr lang="en-US" sz="1500" dirty="0">
                <a:solidFill>
                  <a:schemeClr val="accent6"/>
                </a:solidFill>
                <a:latin typeface="Google Sans"/>
                <a:ea typeface="+mn-ea"/>
                <a:cs typeface="+mn-cs"/>
              </a:rPr>
              <a:t>network ❌</a:t>
            </a:r>
          </a:p>
          <a:p>
            <a:r>
              <a:rPr lang="en-US" sz="1500" dirty="0">
                <a:solidFill>
                  <a:schemeClr val="accent6"/>
                </a:solidFill>
                <a:latin typeface="Google Sans"/>
                <a:ea typeface="+mn-ea"/>
                <a:cs typeface="+mn-cs"/>
              </a:rPr>
              <a:t>memory ❌</a:t>
            </a:r>
          </a:p>
          <a:p>
            <a:r>
              <a:rPr lang="en-US" sz="1500" dirty="0">
                <a:solidFill>
                  <a:schemeClr val="accent2"/>
                </a:solidFill>
                <a:latin typeface="Google Sans"/>
                <a:ea typeface="+mn-ea"/>
                <a:cs typeface="+mn-cs"/>
              </a:rPr>
              <a:t>But:</a:t>
            </a:r>
          </a:p>
          <a:p>
            <a:r>
              <a:rPr lang="en-US" sz="1500" dirty="0">
                <a:solidFill>
                  <a:schemeClr val="accent6"/>
                </a:solidFill>
                <a:latin typeface="Google Sans"/>
                <a:ea typeface="+mn-ea"/>
                <a:cs typeface="+mn-cs"/>
              </a:rPr>
              <a:t>“A readable/writable sequence of bytes with optional seeking”</a:t>
            </a:r>
          </a:p>
          <a:p>
            <a:r>
              <a:rPr lang="en-US" sz="1500" dirty="0">
                <a:solidFill>
                  <a:schemeClr val="accent2"/>
                </a:solidFill>
                <a:latin typeface="Google Sans"/>
                <a:ea typeface="+mn-ea"/>
                <a:cs typeface="+mn-cs"/>
              </a:rPr>
              <a:t>Core guarantees</a:t>
            </a:r>
          </a:p>
          <a:p>
            <a:r>
              <a:rPr lang="en-US" sz="1500" dirty="0">
                <a:solidFill>
                  <a:schemeClr val="accent6"/>
                </a:solidFill>
                <a:latin typeface="Google Sans"/>
                <a:ea typeface="+mn-ea"/>
                <a:cs typeface="+mn-cs"/>
              </a:rPr>
              <a:t>Bytes arrive in order</a:t>
            </a:r>
          </a:p>
          <a:p>
            <a:r>
              <a:rPr lang="en-US" sz="1500" dirty="0">
                <a:solidFill>
                  <a:schemeClr val="accent6"/>
                </a:solidFill>
                <a:latin typeface="Google Sans"/>
                <a:ea typeface="+mn-ea"/>
                <a:cs typeface="+mn-cs"/>
              </a:rPr>
              <a:t>Reads may return less than requested</a:t>
            </a:r>
          </a:p>
          <a:p>
            <a:r>
              <a:rPr lang="en-US" sz="1500" dirty="0">
                <a:solidFill>
                  <a:schemeClr val="accent6"/>
                </a:solidFill>
                <a:latin typeface="Google Sans"/>
                <a:ea typeface="+mn-ea"/>
                <a:cs typeface="+mn-cs"/>
              </a:rPr>
              <a:t>Position may exist (not guaranteed)</a:t>
            </a:r>
          </a:p>
          <a:p>
            <a:r>
              <a:rPr lang="en-US" sz="1500" dirty="0">
                <a:solidFill>
                  <a:schemeClr val="accent6"/>
                </a:solidFill>
                <a:latin typeface="Google Sans"/>
                <a:ea typeface="+mn-ea"/>
                <a:cs typeface="+mn-cs"/>
              </a:rPr>
              <a:t>Lifetime is explicit (Dispose)</a:t>
            </a:r>
          </a:p>
          <a:p>
            <a:r>
              <a:rPr lang="en-US" sz="1500" dirty="0">
                <a:solidFill>
                  <a:schemeClr val="accent2"/>
                </a:solidFill>
                <a:latin typeface="Google Sans"/>
                <a:ea typeface="+mn-ea"/>
                <a:cs typeface="+mn-cs"/>
              </a:rPr>
              <a:t>2. Stream Capabilities Matrix</a:t>
            </a:r>
          </a:p>
          <a:p>
            <a:r>
              <a:rPr lang="en-US" sz="1500" dirty="0">
                <a:solidFill>
                  <a:schemeClr val="accent2"/>
                </a:solidFill>
                <a:latin typeface="Google Sans"/>
                <a:ea typeface="+mn-ea"/>
                <a:cs typeface="+mn-cs"/>
              </a:rPr>
              <a:t>Every stream advertises its capabilities:</a:t>
            </a:r>
          </a:p>
          <a:p>
            <a:r>
              <a:rPr lang="en-US" sz="1500" dirty="0">
                <a:solidFill>
                  <a:schemeClr val="accent6"/>
                </a:solidFill>
                <a:latin typeface="Google Sans"/>
                <a:ea typeface="+mn-ea"/>
                <a:cs typeface="+mn-cs"/>
              </a:rPr>
              <a:t>bool </a:t>
            </a:r>
            <a:r>
              <a:rPr lang="en-US" sz="1500" dirty="0" err="1">
                <a:solidFill>
                  <a:schemeClr val="accent6"/>
                </a:solidFill>
                <a:latin typeface="Google Sans"/>
                <a:ea typeface="+mn-ea"/>
                <a:cs typeface="+mn-cs"/>
              </a:rPr>
              <a:t>CanRead</a:t>
            </a:r>
            <a:endParaRPr lang="en-US" sz="1500" dirty="0">
              <a:solidFill>
                <a:schemeClr val="accent6"/>
              </a:solidFill>
              <a:latin typeface="Google Sans"/>
              <a:ea typeface="+mn-ea"/>
              <a:cs typeface="+mn-cs"/>
            </a:endParaRPr>
          </a:p>
          <a:p>
            <a:r>
              <a:rPr lang="en-US" sz="1500" dirty="0">
                <a:solidFill>
                  <a:schemeClr val="accent6"/>
                </a:solidFill>
                <a:latin typeface="Google Sans"/>
                <a:ea typeface="+mn-ea"/>
                <a:cs typeface="+mn-cs"/>
              </a:rPr>
              <a:t>bool </a:t>
            </a:r>
            <a:r>
              <a:rPr lang="en-US" sz="1500" dirty="0" err="1">
                <a:solidFill>
                  <a:schemeClr val="accent6"/>
                </a:solidFill>
                <a:latin typeface="Google Sans"/>
                <a:ea typeface="+mn-ea"/>
                <a:cs typeface="+mn-cs"/>
              </a:rPr>
              <a:t>CanWrite</a:t>
            </a:r>
            <a:endParaRPr lang="en-US" sz="1500" dirty="0">
              <a:solidFill>
                <a:schemeClr val="accent6"/>
              </a:solidFill>
              <a:latin typeface="Google Sans"/>
              <a:ea typeface="+mn-ea"/>
              <a:cs typeface="+mn-cs"/>
            </a:endParaRPr>
          </a:p>
          <a:p>
            <a:r>
              <a:rPr lang="en-US" sz="1500" dirty="0">
                <a:solidFill>
                  <a:schemeClr val="accent6"/>
                </a:solidFill>
                <a:latin typeface="Google Sans"/>
                <a:ea typeface="+mn-ea"/>
                <a:cs typeface="+mn-cs"/>
              </a:rPr>
              <a:t>bool </a:t>
            </a:r>
            <a:r>
              <a:rPr lang="en-US" sz="1500" dirty="0" err="1">
                <a:solidFill>
                  <a:schemeClr val="accent6"/>
                </a:solidFill>
                <a:latin typeface="Google Sans"/>
                <a:ea typeface="+mn-ea"/>
                <a:cs typeface="+mn-cs"/>
              </a:rPr>
              <a:t>CanSeek</a:t>
            </a:r>
            <a:endParaRPr lang="en-US" sz="1500" dirty="0">
              <a:solidFill>
                <a:schemeClr val="accent6"/>
              </a:solidFill>
              <a:latin typeface="Google Sans"/>
              <a:ea typeface="+mn-ea"/>
              <a:cs typeface="+mn-cs"/>
            </a:endParaRPr>
          </a:p>
        </p:txBody>
      </p:sp>
    </p:spTree>
    <p:extLst>
      <p:ext uri="{BB962C8B-B14F-4D97-AF65-F5344CB8AC3E}">
        <p14:creationId xmlns:p14="http://schemas.microsoft.com/office/powerpoint/2010/main" val="1837150471"/>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BE335-1CC4-012C-FADC-338FE67D48A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01C467A-521A-8E88-62C4-0A2B6A6A8345}"/>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31FC36C-830C-651E-5BBB-ED8F2D40E1F9}"/>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33AF5B8-88A1-4109-B1E7-34EFB1E05AA6}"/>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9A6F28B8-F3DE-950E-6E44-4247561F94CD}"/>
              </a:ext>
            </a:extLst>
          </p:cNvPr>
          <p:cNvSpPr txBox="1">
            <a:spLocks/>
          </p:cNvSpPr>
          <p:nvPr/>
        </p:nvSpPr>
        <p:spPr>
          <a:xfrm>
            <a:off x="275300" y="1095844"/>
            <a:ext cx="8624937" cy="506292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Low Level Concepts</a:t>
            </a:r>
          </a:p>
          <a:p>
            <a:r>
              <a:rPr lang="en-US" sz="1400" dirty="0">
                <a:solidFill>
                  <a:schemeClr val="accent2"/>
                </a:solidFill>
                <a:latin typeface="Google Sans"/>
                <a:ea typeface="+mn-ea"/>
                <a:cs typeface="+mn-cs"/>
              </a:rPr>
              <a:t>2. Stream Capabilities Matrix</a:t>
            </a:r>
          </a:p>
          <a:p>
            <a:r>
              <a:rPr lang="en-US" sz="1400" dirty="0">
                <a:solidFill>
                  <a:schemeClr val="accent2"/>
                </a:solidFill>
                <a:latin typeface="Google Sans"/>
                <a:ea typeface="+mn-ea"/>
                <a:cs typeface="+mn-cs"/>
              </a:rPr>
              <a:t>IMPORTANT INSIGHT</a:t>
            </a:r>
          </a:p>
          <a:p>
            <a:r>
              <a:rPr lang="en-US" sz="1400" dirty="0">
                <a:solidFill>
                  <a:schemeClr val="accent6"/>
                </a:solidFill>
                <a:latin typeface="Google Sans"/>
                <a:ea typeface="+mn-ea"/>
                <a:cs typeface="+mn-cs"/>
              </a:rPr>
              <a:t>Never assume </a:t>
            </a:r>
            <a:r>
              <a:rPr lang="en-US" sz="1400" dirty="0" err="1">
                <a:solidFill>
                  <a:schemeClr val="accent6"/>
                </a:solidFill>
                <a:latin typeface="Google Sans"/>
                <a:ea typeface="+mn-ea"/>
                <a:cs typeface="+mn-cs"/>
              </a:rPr>
              <a:t>seekability</a:t>
            </a:r>
            <a:endParaRPr lang="en-US" sz="1400" dirty="0">
              <a:solidFill>
                <a:schemeClr val="accent6"/>
              </a:solidFill>
              <a:latin typeface="Google Sans"/>
              <a:ea typeface="+mn-ea"/>
              <a:cs typeface="+mn-cs"/>
            </a:endParaRPr>
          </a:p>
          <a:p>
            <a:r>
              <a:rPr lang="en-US" sz="1400" dirty="0">
                <a:solidFill>
                  <a:schemeClr val="accent2"/>
                </a:solidFill>
                <a:latin typeface="Google Sans"/>
                <a:ea typeface="+mn-ea"/>
                <a:cs typeface="+mn-cs"/>
              </a:rPr>
              <a:t>Many bugs come from:</a:t>
            </a:r>
          </a:p>
          <a:p>
            <a:r>
              <a:rPr lang="en-US" sz="1400" dirty="0" err="1">
                <a:solidFill>
                  <a:schemeClr val="accent6"/>
                </a:solidFill>
                <a:latin typeface="Google Sans"/>
                <a:ea typeface="+mn-ea"/>
                <a:cs typeface="+mn-cs"/>
              </a:rPr>
              <a:t>stream.Position</a:t>
            </a:r>
            <a:r>
              <a:rPr lang="en-US" sz="1400" dirty="0">
                <a:solidFill>
                  <a:schemeClr val="accent6"/>
                </a:solidFill>
                <a:latin typeface="Google Sans"/>
                <a:ea typeface="+mn-ea"/>
                <a:cs typeface="+mn-cs"/>
              </a:rPr>
              <a:t> = 0; // ❌ crashes on </a:t>
            </a:r>
            <a:r>
              <a:rPr lang="en-US" sz="1400" dirty="0" err="1">
                <a:solidFill>
                  <a:schemeClr val="accent6"/>
                </a:solidFill>
                <a:latin typeface="Google Sans"/>
                <a:ea typeface="+mn-ea"/>
                <a:cs typeface="+mn-cs"/>
              </a:rPr>
              <a:t>NetworkStream</a:t>
            </a:r>
            <a:endParaRPr lang="en-US" sz="1400" dirty="0">
              <a:solidFill>
                <a:schemeClr val="accent6"/>
              </a:solidFill>
              <a:latin typeface="Google Sans"/>
              <a:ea typeface="+mn-ea"/>
              <a:cs typeface="+mn-cs"/>
            </a:endParaRPr>
          </a:p>
          <a:p>
            <a:r>
              <a:rPr lang="en-US" sz="1400" dirty="0">
                <a:solidFill>
                  <a:schemeClr val="accent2"/>
                </a:solidFill>
                <a:latin typeface="Google Sans"/>
                <a:ea typeface="+mn-ea"/>
                <a:cs typeface="+mn-cs"/>
              </a:rPr>
              <a:t>Capability-based logic (pattern)</a:t>
            </a:r>
          </a:p>
          <a:p>
            <a:r>
              <a:rPr lang="en-US" sz="1400" dirty="0">
                <a:solidFill>
                  <a:schemeClr val="accent6"/>
                </a:solidFill>
                <a:latin typeface="Google Sans"/>
                <a:ea typeface="+mn-ea"/>
                <a:cs typeface="+mn-cs"/>
              </a:rPr>
              <a:t>if (</a:t>
            </a:r>
            <a:r>
              <a:rPr lang="en-US" sz="1400" dirty="0" err="1">
                <a:solidFill>
                  <a:schemeClr val="accent6"/>
                </a:solidFill>
                <a:latin typeface="Google Sans"/>
                <a:ea typeface="+mn-ea"/>
                <a:cs typeface="+mn-cs"/>
              </a:rPr>
              <a:t>stream.CanSeek</a:t>
            </a:r>
            <a:r>
              <a:rPr lang="en-US" sz="1400" dirty="0">
                <a:solidFill>
                  <a:schemeClr val="accent6"/>
                </a:solidFill>
                <a:latin typeface="Google Sans"/>
                <a:ea typeface="+mn-ea"/>
                <a:cs typeface="+mn-cs"/>
              </a:rPr>
              <a:t>)</a:t>
            </a:r>
          </a:p>
          <a:p>
            <a:r>
              <a:rPr lang="en-US" sz="1400" dirty="0">
                <a:solidFill>
                  <a:schemeClr val="accent6"/>
                </a:solidFill>
                <a:latin typeface="Google Sans"/>
                <a:ea typeface="+mn-ea"/>
                <a:cs typeface="+mn-cs"/>
              </a:rPr>
              <a:t>{</a:t>
            </a:r>
          </a:p>
          <a:p>
            <a:r>
              <a:rPr lang="en-US" sz="1400" dirty="0">
                <a:solidFill>
                  <a:schemeClr val="accent6"/>
                </a:solidFill>
                <a:latin typeface="Google Sans"/>
                <a:ea typeface="+mn-ea"/>
                <a:cs typeface="+mn-cs"/>
              </a:rPr>
              <a:t>    long </a:t>
            </a:r>
            <a:r>
              <a:rPr lang="en-US" sz="1400" dirty="0" err="1">
                <a:solidFill>
                  <a:schemeClr val="accent6"/>
                </a:solidFill>
                <a:latin typeface="Google Sans"/>
                <a:ea typeface="+mn-ea"/>
                <a:cs typeface="+mn-cs"/>
              </a:rPr>
              <a:t>len</a:t>
            </a:r>
            <a:r>
              <a:rPr lang="en-US" sz="1400" dirty="0">
                <a:solidFill>
                  <a:schemeClr val="accent6"/>
                </a:solidFill>
                <a:latin typeface="Google Sans"/>
                <a:ea typeface="+mn-ea"/>
                <a:cs typeface="+mn-cs"/>
              </a:rPr>
              <a:t> = </a:t>
            </a:r>
            <a:r>
              <a:rPr lang="en-US" sz="1400" dirty="0" err="1">
                <a:solidFill>
                  <a:schemeClr val="accent6"/>
                </a:solidFill>
                <a:latin typeface="Google Sans"/>
                <a:ea typeface="+mn-ea"/>
                <a:cs typeface="+mn-cs"/>
              </a:rPr>
              <a:t>stream.Length</a:t>
            </a:r>
            <a:r>
              <a:rPr lang="en-US" sz="1400" dirty="0">
                <a:solidFill>
                  <a:schemeClr val="accent6"/>
                </a:solidFill>
                <a:latin typeface="Google Sans"/>
                <a:ea typeface="+mn-ea"/>
                <a:cs typeface="+mn-cs"/>
              </a:rPr>
              <a:t>;</a:t>
            </a:r>
          </a:p>
          <a:p>
            <a:r>
              <a:rPr lang="en-US" sz="1400" dirty="0">
                <a:solidFill>
                  <a:schemeClr val="accent6"/>
                </a:solidFill>
                <a:latin typeface="Google Sans"/>
                <a:ea typeface="+mn-ea"/>
                <a:cs typeface="+mn-cs"/>
              </a:rPr>
              <a:t>}</a:t>
            </a:r>
          </a:p>
          <a:p>
            <a:r>
              <a:rPr lang="en-US" sz="1400" dirty="0">
                <a:solidFill>
                  <a:schemeClr val="accent2"/>
                </a:solidFill>
                <a:latin typeface="Google Sans"/>
                <a:ea typeface="+mn-ea"/>
                <a:cs typeface="+mn-cs"/>
              </a:rPr>
              <a:t>3. Core API Surface (What REALLY Matters)</a:t>
            </a:r>
          </a:p>
          <a:p>
            <a:r>
              <a:rPr lang="en-US" sz="1400" dirty="0">
                <a:solidFill>
                  <a:schemeClr val="accent6"/>
                </a:solidFill>
                <a:latin typeface="Google Sans"/>
                <a:ea typeface="+mn-ea"/>
                <a:cs typeface="+mn-cs"/>
              </a:rPr>
              <a:t>Abstract methods (the real contract)</a:t>
            </a:r>
          </a:p>
          <a:p>
            <a:r>
              <a:rPr lang="en-US" sz="1400" dirty="0">
                <a:solidFill>
                  <a:schemeClr val="accent6"/>
                </a:solidFill>
                <a:latin typeface="Google Sans"/>
                <a:ea typeface="+mn-ea"/>
                <a:cs typeface="+mn-cs"/>
              </a:rPr>
              <a:t>Read(byte[] buffer, int offset, int count)</a:t>
            </a:r>
          </a:p>
          <a:p>
            <a:r>
              <a:rPr lang="en-US" sz="1400" dirty="0">
                <a:solidFill>
                  <a:schemeClr val="accent6"/>
                </a:solidFill>
                <a:latin typeface="Google Sans"/>
                <a:ea typeface="+mn-ea"/>
                <a:cs typeface="+mn-cs"/>
              </a:rPr>
              <a:t>Write(byte[] buffer, int offset, int count)</a:t>
            </a:r>
          </a:p>
          <a:p>
            <a:r>
              <a:rPr lang="en-US" sz="1400" dirty="0">
                <a:solidFill>
                  <a:schemeClr val="accent6"/>
                </a:solidFill>
                <a:latin typeface="Google Sans"/>
                <a:ea typeface="+mn-ea"/>
                <a:cs typeface="+mn-cs"/>
              </a:rPr>
              <a:t>Seek(long offset, </a:t>
            </a:r>
            <a:r>
              <a:rPr lang="en-US" sz="1400" dirty="0" err="1">
                <a:solidFill>
                  <a:schemeClr val="accent6"/>
                </a:solidFill>
                <a:latin typeface="Google Sans"/>
                <a:ea typeface="+mn-ea"/>
                <a:cs typeface="+mn-cs"/>
              </a:rPr>
              <a:t>SeekOrigin</a:t>
            </a:r>
            <a:r>
              <a:rPr lang="en-US" sz="1400" dirty="0">
                <a:solidFill>
                  <a:schemeClr val="accent6"/>
                </a:solidFill>
                <a:latin typeface="Google Sans"/>
                <a:ea typeface="+mn-ea"/>
                <a:cs typeface="+mn-cs"/>
              </a:rPr>
              <a:t> origin)</a:t>
            </a:r>
          </a:p>
          <a:p>
            <a:r>
              <a:rPr lang="en-US" sz="1400" dirty="0" err="1">
                <a:solidFill>
                  <a:schemeClr val="accent6"/>
                </a:solidFill>
                <a:latin typeface="Google Sans"/>
                <a:ea typeface="+mn-ea"/>
                <a:cs typeface="+mn-cs"/>
              </a:rPr>
              <a:t>SetLength</a:t>
            </a:r>
            <a:r>
              <a:rPr lang="en-US" sz="1400" dirty="0">
                <a:solidFill>
                  <a:schemeClr val="accent6"/>
                </a:solidFill>
                <a:latin typeface="Google Sans"/>
                <a:ea typeface="+mn-ea"/>
                <a:cs typeface="+mn-cs"/>
              </a:rPr>
              <a:t>(long value)</a:t>
            </a:r>
          </a:p>
          <a:p>
            <a:r>
              <a:rPr lang="en-US" sz="1400" dirty="0">
                <a:solidFill>
                  <a:schemeClr val="accent6"/>
                </a:solidFill>
                <a:latin typeface="Google Sans"/>
                <a:ea typeface="+mn-ea"/>
                <a:cs typeface="+mn-cs"/>
              </a:rPr>
              <a:t>Flush()</a:t>
            </a:r>
          </a:p>
          <a:p>
            <a:r>
              <a:rPr lang="en-US" sz="1400" dirty="0">
                <a:solidFill>
                  <a:schemeClr val="accent2"/>
                </a:solidFill>
                <a:latin typeface="Google Sans"/>
              </a:rPr>
              <a:t>Async variants</a:t>
            </a:r>
          </a:p>
          <a:p>
            <a:r>
              <a:rPr lang="en-US" sz="1400" dirty="0" err="1">
                <a:solidFill>
                  <a:schemeClr val="accent6"/>
                </a:solidFill>
                <a:latin typeface="Google Sans"/>
              </a:rPr>
              <a:t>ReadAsync</a:t>
            </a:r>
            <a:r>
              <a:rPr lang="en-US" sz="1400" dirty="0">
                <a:solidFill>
                  <a:schemeClr val="accent6"/>
                </a:solidFill>
                <a:latin typeface="Google Sans"/>
              </a:rPr>
              <a:t>(...)</a:t>
            </a:r>
          </a:p>
          <a:p>
            <a:r>
              <a:rPr lang="en-US" sz="1400" dirty="0" err="1">
                <a:solidFill>
                  <a:schemeClr val="accent6"/>
                </a:solidFill>
                <a:latin typeface="Google Sans"/>
              </a:rPr>
              <a:t>WriteAsync</a:t>
            </a:r>
            <a:r>
              <a:rPr lang="en-US" sz="1400" dirty="0">
                <a:solidFill>
                  <a:schemeClr val="accent6"/>
                </a:solidFill>
                <a:latin typeface="Google Sans"/>
              </a:rPr>
              <a:t>(...)</a:t>
            </a:r>
          </a:p>
          <a:p>
            <a:r>
              <a:rPr lang="en-US" sz="1400" dirty="0" err="1">
                <a:solidFill>
                  <a:schemeClr val="accent6"/>
                </a:solidFill>
                <a:latin typeface="Google Sans"/>
              </a:rPr>
              <a:t>FlushAsync</a:t>
            </a:r>
            <a:r>
              <a:rPr lang="en-US" sz="1400" dirty="0">
                <a:solidFill>
                  <a:schemeClr val="accent6"/>
                </a:solidFill>
                <a:latin typeface="Google Sans"/>
              </a:rPr>
              <a:t>(...)</a:t>
            </a:r>
            <a:endParaRPr lang="en-US" sz="1400" dirty="0">
              <a:solidFill>
                <a:schemeClr val="accent6"/>
              </a:solidFill>
              <a:latin typeface="Google Sans"/>
              <a:ea typeface="+mn-ea"/>
              <a:cs typeface="+mn-cs"/>
            </a:endParaRPr>
          </a:p>
          <a:p>
            <a:endParaRPr lang="en-US" sz="1500" dirty="0">
              <a:solidFill>
                <a:schemeClr val="accent6"/>
              </a:solidFill>
              <a:latin typeface="Google Sans"/>
              <a:ea typeface="+mn-ea"/>
              <a:cs typeface="+mn-cs"/>
            </a:endParaRPr>
          </a:p>
        </p:txBody>
      </p:sp>
    </p:spTree>
    <p:extLst>
      <p:ext uri="{BB962C8B-B14F-4D97-AF65-F5344CB8AC3E}">
        <p14:creationId xmlns:p14="http://schemas.microsoft.com/office/powerpoint/2010/main" val="274728533"/>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2C033-1355-2BA9-D069-ECB057E92DB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CE59149-4DB6-BCD1-E375-1B6068E8ECB2}"/>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75D6FF3-E191-6AA1-7297-97341E66EB60}"/>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FAC6DF9-D4E2-AD20-758B-15669BE192AB}"/>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56B447F1-2AC8-914E-02FF-83F2B1384975}"/>
              </a:ext>
            </a:extLst>
          </p:cNvPr>
          <p:cNvSpPr txBox="1">
            <a:spLocks/>
          </p:cNvSpPr>
          <p:nvPr/>
        </p:nvSpPr>
        <p:spPr>
          <a:xfrm>
            <a:off x="275300" y="1095844"/>
            <a:ext cx="8624937" cy="463203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600" dirty="0">
                <a:solidFill>
                  <a:schemeClr val="accent2"/>
                </a:solidFill>
                <a:latin typeface="Google Sans"/>
              </a:rPr>
              <a:t>Low Level Concepts</a:t>
            </a:r>
          </a:p>
          <a:p>
            <a:r>
              <a:rPr lang="en-US" sz="1500" dirty="0">
                <a:solidFill>
                  <a:schemeClr val="accent2"/>
                </a:solidFill>
                <a:latin typeface="Google Sans"/>
                <a:ea typeface="+mn-ea"/>
                <a:cs typeface="+mn-cs"/>
              </a:rPr>
              <a:t>3. Core API Surface (What REALLY Matters)</a:t>
            </a:r>
          </a:p>
          <a:p>
            <a:r>
              <a:rPr lang="en-US" sz="1500" dirty="0">
                <a:solidFill>
                  <a:schemeClr val="accent2"/>
                </a:solidFill>
                <a:latin typeface="Google Sans"/>
                <a:ea typeface="+mn-ea"/>
                <a:cs typeface="+mn-cs"/>
              </a:rPr>
              <a:t>Modern additions</a:t>
            </a:r>
          </a:p>
          <a:p>
            <a:r>
              <a:rPr lang="en-US" sz="1500" dirty="0">
                <a:solidFill>
                  <a:schemeClr val="accent6"/>
                </a:solidFill>
                <a:latin typeface="Google Sans"/>
                <a:ea typeface="+mn-ea"/>
                <a:cs typeface="+mn-cs"/>
              </a:rPr>
              <a:t>Read(Span&lt;byte&gt;)</a:t>
            </a:r>
          </a:p>
          <a:p>
            <a:r>
              <a:rPr lang="en-US" sz="1500" dirty="0" err="1">
                <a:solidFill>
                  <a:schemeClr val="accent6"/>
                </a:solidFill>
                <a:latin typeface="Google Sans"/>
                <a:ea typeface="+mn-ea"/>
                <a:cs typeface="+mn-cs"/>
              </a:rPr>
              <a:t>ReadAsync</a:t>
            </a:r>
            <a:r>
              <a:rPr lang="en-US" sz="1500" dirty="0">
                <a:solidFill>
                  <a:schemeClr val="accent6"/>
                </a:solidFill>
                <a:latin typeface="Google Sans"/>
                <a:ea typeface="+mn-ea"/>
                <a:cs typeface="+mn-cs"/>
              </a:rPr>
              <a:t>(Memory&lt;byte&gt;)</a:t>
            </a:r>
          </a:p>
          <a:p>
            <a:r>
              <a:rPr lang="en-US" sz="1500" dirty="0" err="1">
                <a:solidFill>
                  <a:schemeClr val="accent6"/>
                </a:solidFill>
                <a:latin typeface="Google Sans"/>
                <a:ea typeface="+mn-ea"/>
                <a:cs typeface="+mn-cs"/>
              </a:rPr>
              <a:t>CopyToAsync</a:t>
            </a:r>
            <a:endParaRPr lang="en-US" sz="1500" dirty="0">
              <a:solidFill>
                <a:schemeClr val="accent6"/>
              </a:solidFill>
              <a:latin typeface="Google Sans"/>
              <a:ea typeface="+mn-ea"/>
              <a:cs typeface="+mn-cs"/>
            </a:endParaRPr>
          </a:p>
          <a:p>
            <a:r>
              <a:rPr lang="en-US" sz="1500" dirty="0">
                <a:solidFill>
                  <a:schemeClr val="accent2"/>
                </a:solidFill>
                <a:latin typeface="Google Sans"/>
                <a:ea typeface="+mn-ea"/>
                <a:cs typeface="+mn-cs"/>
              </a:rPr>
              <a:t>🔥 Span/Memory are the real performance unlock</a:t>
            </a:r>
          </a:p>
          <a:p>
            <a:r>
              <a:rPr lang="en-US" sz="1500" dirty="0">
                <a:solidFill>
                  <a:schemeClr val="accent2"/>
                </a:solidFill>
                <a:latin typeface="Google Sans"/>
                <a:ea typeface="+mn-ea"/>
                <a:cs typeface="+mn-cs"/>
              </a:rPr>
              <a:t>4. Read Semantics (MOST COMMON BUG SOURCE)</a:t>
            </a:r>
          </a:p>
          <a:p>
            <a:r>
              <a:rPr lang="en-US" sz="1500" dirty="0">
                <a:solidFill>
                  <a:schemeClr val="accent6"/>
                </a:solidFill>
                <a:latin typeface="Google Sans"/>
                <a:ea typeface="+mn-ea"/>
                <a:cs typeface="+mn-cs"/>
              </a:rPr>
              <a:t>Rule #1</a:t>
            </a:r>
          </a:p>
          <a:p>
            <a:r>
              <a:rPr lang="en-US" sz="1500" dirty="0">
                <a:solidFill>
                  <a:schemeClr val="accent6"/>
                </a:solidFill>
                <a:latin typeface="Google Sans"/>
                <a:ea typeface="+mn-ea"/>
                <a:cs typeface="+mn-cs"/>
              </a:rPr>
              <a:t>Read does NOT guarantee filling the buffer</a:t>
            </a:r>
          </a:p>
          <a:p>
            <a:r>
              <a:rPr lang="en-US" sz="1500" dirty="0">
                <a:solidFill>
                  <a:schemeClr val="accent6"/>
                </a:solidFill>
                <a:latin typeface="Google Sans"/>
                <a:ea typeface="+mn-ea"/>
                <a:cs typeface="+mn-cs"/>
              </a:rPr>
              <a:t>int </a:t>
            </a:r>
            <a:r>
              <a:rPr lang="en-US" sz="1500" dirty="0" err="1">
                <a:solidFill>
                  <a:schemeClr val="accent6"/>
                </a:solidFill>
                <a:latin typeface="Google Sans"/>
                <a:ea typeface="+mn-ea"/>
                <a:cs typeface="+mn-cs"/>
              </a:rPr>
              <a:t>bytesRead</a:t>
            </a:r>
            <a:r>
              <a:rPr lang="en-US" sz="1500" dirty="0">
                <a:solidFill>
                  <a:schemeClr val="accent6"/>
                </a:solidFill>
                <a:latin typeface="Google Sans"/>
                <a:ea typeface="+mn-ea"/>
                <a:cs typeface="+mn-cs"/>
              </a:rPr>
              <a:t> = </a:t>
            </a:r>
            <a:r>
              <a:rPr lang="en-US" sz="1500" dirty="0" err="1">
                <a:solidFill>
                  <a:schemeClr val="accent6"/>
                </a:solidFill>
                <a:latin typeface="Google Sans"/>
                <a:ea typeface="+mn-ea"/>
                <a:cs typeface="+mn-cs"/>
              </a:rPr>
              <a:t>stream.Read</a:t>
            </a:r>
            <a:r>
              <a:rPr lang="en-US" sz="1500" dirty="0">
                <a:solidFill>
                  <a:schemeClr val="accent6"/>
                </a:solidFill>
                <a:latin typeface="Google Sans"/>
                <a:ea typeface="+mn-ea"/>
                <a:cs typeface="+mn-cs"/>
              </a:rPr>
              <a:t>(</a:t>
            </a:r>
            <a:r>
              <a:rPr lang="en-US" sz="1500" dirty="0" err="1">
                <a:solidFill>
                  <a:schemeClr val="accent6"/>
                </a:solidFill>
                <a:latin typeface="Google Sans"/>
                <a:ea typeface="+mn-ea"/>
                <a:cs typeface="+mn-cs"/>
              </a:rPr>
              <a:t>buf</a:t>
            </a:r>
            <a:r>
              <a:rPr lang="en-US" sz="1500" dirty="0">
                <a:solidFill>
                  <a:schemeClr val="accent6"/>
                </a:solidFill>
                <a:latin typeface="Google Sans"/>
                <a:ea typeface="+mn-ea"/>
                <a:cs typeface="+mn-cs"/>
              </a:rPr>
              <a:t>, 0, </a:t>
            </a:r>
            <a:r>
              <a:rPr lang="en-US" sz="1500" dirty="0" err="1">
                <a:solidFill>
                  <a:schemeClr val="accent6"/>
                </a:solidFill>
                <a:latin typeface="Google Sans"/>
                <a:ea typeface="+mn-ea"/>
                <a:cs typeface="+mn-cs"/>
              </a:rPr>
              <a:t>buf.Length</a:t>
            </a:r>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 </a:t>
            </a:r>
            <a:r>
              <a:rPr lang="en-US" sz="1500" dirty="0" err="1">
                <a:solidFill>
                  <a:schemeClr val="accent6"/>
                </a:solidFill>
                <a:latin typeface="Google Sans"/>
                <a:ea typeface="+mn-ea"/>
                <a:cs typeface="+mn-cs"/>
              </a:rPr>
              <a:t>bytesRead</a:t>
            </a:r>
            <a:r>
              <a:rPr lang="en-US" sz="1500" dirty="0">
                <a:solidFill>
                  <a:schemeClr val="accent6"/>
                </a:solidFill>
                <a:latin typeface="Google Sans"/>
                <a:ea typeface="+mn-ea"/>
                <a:cs typeface="+mn-cs"/>
              </a:rPr>
              <a:t> can be 1 … </a:t>
            </a:r>
            <a:r>
              <a:rPr lang="en-US" sz="1500" dirty="0" err="1">
                <a:solidFill>
                  <a:schemeClr val="accent6"/>
                </a:solidFill>
                <a:latin typeface="Google Sans"/>
                <a:ea typeface="+mn-ea"/>
                <a:cs typeface="+mn-cs"/>
              </a:rPr>
              <a:t>buf.Length</a:t>
            </a:r>
            <a:endParaRPr lang="en-US" sz="1500" dirty="0">
              <a:solidFill>
                <a:schemeClr val="accent6"/>
              </a:solidFill>
              <a:latin typeface="Google Sans"/>
              <a:ea typeface="+mn-ea"/>
              <a:cs typeface="+mn-cs"/>
            </a:endParaRPr>
          </a:p>
          <a:p>
            <a:r>
              <a:rPr lang="en-US" sz="1500" dirty="0">
                <a:solidFill>
                  <a:schemeClr val="accent2"/>
                </a:solidFill>
                <a:latin typeface="Google Sans"/>
                <a:ea typeface="+mn-ea"/>
                <a:cs typeface="+mn-cs"/>
              </a:rPr>
              <a:t>Correct pattern</a:t>
            </a:r>
          </a:p>
          <a:p>
            <a:r>
              <a:rPr lang="en-US" sz="1500" dirty="0">
                <a:solidFill>
                  <a:schemeClr val="accent6"/>
                </a:solidFill>
                <a:latin typeface="Google Sans"/>
                <a:ea typeface="+mn-ea"/>
                <a:cs typeface="+mn-cs"/>
              </a:rPr>
              <a:t>int total = 0;</a:t>
            </a:r>
          </a:p>
          <a:p>
            <a:r>
              <a:rPr lang="en-US" sz="1500" dirty="0">
                <a:solidFill>
                  <a:schemeClr val="accent6"/>
                </a:solidFill>
                <a:latin typeface="Google Sans"/>
                <a:ea typeface="+mn-ea"/>
                <a:cs typeface="+mn-cs"/>
              </a:rPr>
              <a:t>while (total &lt; count)</a:t>
            </a:r>
          </a:p>
          <a:p>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    int read = </a:t>
            </a:r>
            <a:r>
              <a:rPr lang="en-US" sz="1500" dirty="0" err="1">
                <a:solidFill>
                  <a:schemeClr val="accent6"/>
                </a:solidFill>
                <a:latin typeface="Google Sans"/>
                <a:ea typeface="+mn-ea"/>
                <a:cs typeface="+mn-cs"/>
              </a:rPr>
              <a:t>stream.Read</a:t>
            </a:r>
            <a:r>
              <a:rPr lang="en-US" sz="1500" dirty="0">
                <a:solidFill>
                  <a:schemeClr val="accent6"/>
                </a:solidFill>
                <a:latin typeface="Google Sans"/>
                <a:ea typeface="+mn-ea"/>
                <a:cs typeface="+mn-cs"/>
              </a:rPr>
              <a:t>(</a:t>
            </a:r>
            <a:r>
              <a:rPr lang="en-US" sz="1500" dirty="0" err="1">
                <a:solidFill>
                  <a:schemeClr val="accent6"/>
                </a:solidFill>
                <a:latin typeface="Google Sans"/>
                <a:ea typeface="+mn-ea"/>
                <a:cs typeface="+mn-cs"/>
              </a:rPr>
              <a:t>buf</a:t>
            </a:r>
            <a:r>
              <a:rPr lang="en-US" sz="1500" dirty="0">
                <a:solidFill>
                  <a:schemeClr val="accent6"/>
                </a:solidFill>
                <a:latin typeface="Google Sans"/>
                <a:ea typeface="+mn-ea"/>
                <a:cs typeface="+mn-cs"/>
              </a:rPr>
              <a:t>, total, count - total);</a:t>
            </a:r>
          </a:p>
          <a:p>
            <a:r>
              <a:rPr lang="en-US" sz="1500" dirty="0">
                <a:solidFill>
                  <a:schemeClr val="accent6"/>
                </a:solidFill>
                <a:latin typeface="Google Sans"/>
                <a:ea typeface="+mn-ea"/>
                <a:cs typeface="+mn-cs"/>
              </a:rPr>
              <a:t>    if (read == 0) break; // EOF</a:t>
            </a:r>
          </a:p>
          <a:p>
            <a:r>
              <a:rPr lang="en-US" sz="1500" dirty="0">
                <a:solidFill>
                  <a:schemeClr val="accent6"/>
                </a:solidFill>
                <a:latin typeface="Google Sans"/>
                <a:ea typeface="+mn-ea"/>
                <a:cs typeface="+mn-cs"/>
              </a:rPr>
              <a:t>    total += read;</a:t>
            </a:r>
          </a:p>
          <a:p>
            <a:r>
              <a:rPr lang="en-US" sz="1500" dirty="0">
                <a:solidFill>
                  <a:schemeClr val="accent6"/>
                </a:solidFill>
                <a:latin typeface="Google Sans"/>
                <a:ea typeface="+mn-ea"/>
                <a:cs typeface="+mn-cs"/>
              </a:rPr>
              <a:t>}</a:t>
            </a:r>
          </a:p>
        </p:txBody>
      </p:sp>
    </p:spTree>
    <p:extLst>
      <p:ext uri="{BB962C8B-B14F-4D97-AF65-F5344CB8AC3E}">
        <p14:creationId xmlns:p14="http://schemas.microsoft.com/office/powerpoint/2010/main" val="2211988833"/>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765B3-A262-021C-2DE3-76469376865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ED24A4E-52C0-2498-7EDD-99029B13E647}"/>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5075C12-D3E5-DE74-3254-0BF388A38053}"/>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2985D04-BB77-A684-EFCF-4D4F98EAC16D}"/>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E7C61263-4822-AE24-0629-643ECC3AD77A}"/>
              </a:ext>
            </a:extLst>
          </p:cNvPr>
          <p:cNvSpPr txBox="1">
            <a:spLocks/>
          </p:cNvSpPr>
          <p:nvPr/>
        </p:nvSpPr>
        <p:spPr>
          <a:xfrm>
            <a:off x="275300" y="1095844"/>
            <a:ext cx="8624937" cy="463203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600" dirty="0">
                <a:solidFill>
                  <a:schemeClr val="accent2"/>
                </a:solidFill>
                <a:latin typeface="Google Sans"/>
              </a:rPr>
              <a:t>Low Level Concepts</a:t>
            </a:r>
          </a:p>
          <a:p>
            <a:r>
              <a:rPr lang="en-US" sz="1500" dirty="0">
                <a:solidFill>
                  <a:schemeClr val="accent2"/>
                </a:solidFill>
                <a:latin typeface="Google Sans"/>
                <a:ea typeface="+mn-ea"/>
                <a:cs typeface="+mn-cs"/>
              </a:rPr>
              <a:t>4. Read Semantics (MOST COMMON BUG SOURCE)</a:t>
            </a:r>
          </a:p>
          <a:p>
            <a:r>
              <a:rPr lang="en-US" sz="1500" dirty="0">
                <a:solidFill>
                  <a:schemeClr val="accent6"/>
                </a:solidFill>
                <a:latin typeface="Google Sans"/>
                <a:ea typeface="+mn-ea"/>
                <a:cs typeface="+mn-cs"/>
              </a:rPr>
              <a:t>Rule #1</a:t>
            </a:r>
          </a:p>
          <a:p>
            <a:r>
              <a:rPr lang="en-US" sz="1500" dirty="0">
                <a:solidFill>
                  <a:schemeClr val="accent6"/>
                </a:solidFill>
                <a:latin typeface="Google Sans"/>
                <a:ea typeface="+mn-ea"/>
                <a:cs typeface="+mn-cs"/>
              </a:rPr>
              <a:t>Read does NOT guarantee filling the buffer</a:t>
            </a:r>
          </a:p>
          <a:p>
            <a:r>
              <a:rPr lang="en-US" sz="1500" dirty="0">
                <a:solidFill>
                  <a:schemeClr val="accent2"/>
                </a:solidFill>
                <a:latin typeface="Google Sans"/>
                <a:ea typeface="+mn-ea"/>
                <a:cs typeface="+mn-cs"/>
              </a:rPr>
              <a:t>Async equivalent</a:t>
            </a:r>
          </a:p>
          <a:p>
            <a:r>
              <a:rPr lang="en-US" sz="1500" dirty="0">
                <a:solidFill>
                  <a:schemeClr val="accent6"/>
                </a:solidFill>
                <a:latin typeface="Google Sans"/>
                <a:ea typeface="+mn-ea"/>
                <a:cs typeface="+mn-cs"/>
              </a:rPr>
              <a:t>while ((read = await </a:t>
            </a:r>
            <a:r>
              <a:rPr lang="en-US" sz="1500" dirty="0" err="1">
                <a:solidFill>
                  <a:schemeClr val="accent6"/>
                </a:solidFill>
                <a:latin typeface="Google Sans"/>
                <a:ea typeface="+mn-ea"/>
                <a:cs typeface="+mn-cs"/>
              </a:rPr>
              <a:t>stream.ReadAsync</a:t>
            </a:r>
            <a:r>
              <a:rPr lang="en-US" sz="1500" dirty="0">
                <a:solidFill>
                  <a:schemeClr val="accent6"/>
                </a:solidFill>
                <a:latin typeface="Google Sans"/>
                <a:ea typeface="+mn-ea"/>
                <a:cs typeface="+mn-cs"/>
              </a:rPr>
              <a:t>(mem)) &gt; 0)</a:t>
            </a:r>
          </a:p>
          <a:p>
            <a:r>
              <a:rPr lang="en-US" sz="1500" dirty="0">
                <a:solidFill>
                  <a:schemeClr val="accent2"/>
                </a:solidFill>
                <a:latin typeface="Google Sans"/>
                <a:ea typeface="+mn-ea"/>
                <a:cs typeface="+mn-cs"/>
              </a:rPr>
              <a:t>5. EOF Detection (Subtle but Critical)</a:t>
            </a:r>
          </a:p>
          <a:p>
            <a:r>
              <a:rPr lang="en-US" sz="1500" dirty="0">
                <a:solidFill>
                  <a:schemeClr val="accent6"/>
                </a:solidFill>
                <a:latin typeface="Google Sans"/>
                <a:ea typeface="+mn-ea"/>
                <a:cs typeface="+mn-cs"/>
              </a:rPr>
              <a:t>EOF is signaled by:</a:t>
            </a:r>
          </a:p>
          <a:p>
            <a:r>
              <a:rPr lang="en-US" sz="1500" dirty="0">
                <a:solidFill>
                  <a:schemeClr val="accent6"/>
                </a:solidFill>
                <a:latin typeface="Google Sans"/>
                <a:ea typeface="+mn-ea"/>
                <a:cs typeface="+mn-cs"/>
              </a:rPr>
              <a:t>Read(...) == 0</a:t>
            </a:r>
          </a:p>
          <a:p>
            <a:r>
              <a:rPr lang="en-US" sz="1500" dirty="0">
                <a:solidFill>
                  <a:schemeClr val="accent6"/>
                </a:solidFill>
                <a:latin typeface="Google Sans"/>
                <a:ea typeface="+mn-ea"/>
                <a:cs typeface="+mn-cs"/>
              </a:rPr>
              <a:t>Not by exception ❌</a:t>
            </a:r>
          </a:p>
          <a:p>
            <a:r>
              <a:rPr lang="en-US" sz="1500" dirty="0">
                <a:solidFill>
                  <a:schemeClr val="accent6"/>
                </a:solidFill>
                <a:latin typeface="Google Sans"/>
                <a:ea typeface="+mn-ea"/>
                <a:cs typeface="+mn-cs"/>
              </a:rPr>
              <a:t>Not by Length ❌</a:t>
            </a:r>
          </a:p>
          <a:p>
            <a:r>
              <a:rPr lang="en-US" sz="1500" dirty="0">
                <a:solidFill>
                  <a:schemeClr val="accent2"/>
                </a:solidFill>
                <a:latin typeface="Google Sans"/>
                <a:ea typeface="+mn-ea"/>
                <a:cs typeface="+mn-cs"/>
              </a:rPr>
              <a:t>Network streams</a:t>
            </a:r>
          </a:p>
          <a:p>
            <a:r>
              <a:rPr lang="en-US" sz="1500" dirty="0">
                <a:solidFill>
                  <a:schemeClr val="accent6"/>
                </a:solidFill>
                <a:latin typeface="Google Sans"/>
                <a:ea typeface="+mn-ea"/>
                <a:cs typeface="+mn-cs"/>
              </a:rPr>
              <a:t>0 means remote closed gracefully</a:t>
            </a:r>
          </a:p>
          <a:p>
            <a:r>
              <a:rPr lang="en-US" sz="1500" dirty="0">
                <a:solidFill>
                  <a:schemeClr val="accent6"/>
                </a:solidFill>
                <a:latin typeface="Google Sans"/>
                <a:ea typeface="+mn-ea"/>
                <a:cs typeface="+mn-cs"/>
              </a:rPr>
              <a:t>Exception means error / reset</a:t>
            </a:r>
          </a:p>
          <a:p>
            <a:r>
              <a:rPr lang="en-US" sz="1500" dirty="0">
                <a:solidFill>
                  <a:schemeClr val="accent2"/>
                </a:solidFill>
                <a:latin typeface="Google Sans"/>
                <a:ea typeface="+mn-ea"/>
                <a:cs typeface="+mn-cs"/>
              </a:rPr>
              <a:t>6. Write Semantics (Less Risky, Still Tricky)</a:t>
            </a:r>
          </a:p>
          <a:p>
            <a:r>
              <a:rPr lang="en-US" sz="1500" dirty="0">
                <a:solidFill>
                  <a:schemeClr val="accent2"/>
                </a:solidFill>
                <a:latin typeface="Google Sans"/>
                <a:ea typeface="+mn-ea"/>
                <a:cs typeface="+mn-cs"/>
              </a:rPr>
              <a:t>Write ≠ Persist</a:t>
            </a:r>
          </a:p>
          <a:p>
            <a:r>
              <a:rPr lang="en-US" sz="1500" dirty="0">
                <a:solidFill>
                  <a:schemeClr val="accent6"/>
                </a:solidFill>
                <a:latin typeface="Google Sans"/>
                <a:ea typeface="+mn-ea"/>
                <a:cs typeface="+mn-cs"/>
              </a:rPr>
              <a:t>Write → writes to buffer</a:t>
            </a:r>
          </a:p>
          <a:p>
            <a:r>
              <a:rPr lang="en-US" sz="1500" dirty="0">
                <a:solidFill>
                  <a:schemeClr val="accent6"/>
                </a:solidFill>
                <a:latin typeface="Google Sans"/>
                <a:ea typeface="+mn-ea"/>
                <a:cs typeface="+mn-cs"/>
              </a:rPr>
              <a:t>Flush → pushes downstream</a:t>
            </a:r>
          </a:p>
          <a:p>
            <a:r>
              <a:rPr lang="en-US" sz="1500" dirty="0">
                <a:solidFill>
                  <a:schemeClr val="accent6"/>
                </a:solidFill>
                <a:latin typeface="Google Sans"/>
                <a:ea typeface="+mn-ea"/>
                <a:cs typeface="+mn-cs"/>
              </a:rPr>
              <a:t>OS may still cache</a:t>
            </a:r>
          </a:p>
          <a:p>
            <a:endParaRPr lang="en-US" sz="1500" dirty="0">
              <a:solidFill>
                <a:schemeClr val="accent6"/>
              </a:solidFill>
              <a:latin typeface="Google Sans"/>
              <a:ea typeface="+mn-ea"/>
              <a:cs typeface="+mn-cs"/>
            </a:endParaRPr>
          </a:p>
        </p:txBody>
      </p:sp>
    </p:spTree>
    <p:extLst>
      <p:ext uri="{BB962C8B-B14F-4D97-AF65-F5344CB8AC3E}">
        <p14:creationId xmlns:p14="http://schemas.microsoft.com/office/powerpoint/2010/main" val="996140332"/>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CBFE8-8114-5BE9-0657-C260E245279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440C7BA-D04C-B7A4-D385-AC5F784559AE}"/>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7B4B71F-DB97-9390-5015-F1CEB3A75DB3}"/>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347621D-0BED-4AE2-260C-16A94828CE65}"/>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8BAFB944-12B0-347B-B21F-309E0A706462}"/>
              </a:ext>
            </a:extLst>
          </p:cNvPr>
          <p:cNvSpPr txBox="1">
            <a:spLocks/>
          </p:cNvSpPr>
          <p:nvPr/>
        </p:nvSpPr>
        <p:spPr>
          <a:xfrm>
            <a:off x="275300" y="1095844"/>
            <a:ext cx="8624937" cy="440120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600" dirty="0">
                <a:solidFill>
                  <a:schemeClr val="accent2"/>
                </a:solidFill>
                <a:latin typeface="Google Sans"/>
              </a:rPr>
              <a:t>Low Level Concepts</a:t>
            </a:r>
          </a:p>
          <a:p>
            <a:r>
              <a:rPr lang="en-US" sz="1500" dirty="0">
                <a:solidFill>
                  <a:schemeClr val="accent2"/>
                </a:solidFill>
                <a:latin typeface="Google Sans"/>
                <a:ea typeface="+mn-ea"/>
                <a:cs typeface="+mn-cs"/>
              </a:rPr>
              <a:t>6. Write Semantics (Less Risky, Still Tricky)</a:t>
            </a:r>
          </a:p>
          <a:p>
            <a:r>
              <a:rPr lang="en-US" sz="1500" dirty="0">
                <a:solidFill>
                  <a:schemeClr val="accent2"/>
                </a:solidFill>
                <a:latin typeface="Google Sans"/>
                <a:ea typeface="+mn-ea"/>
                <a:cs typeface="+mn-cs"/>
              </a:rPr>
              <a:t>Flush() realities</a:t>
            </a:r>
          </a:p>
          <a:p>
            <a:r>
              <a:rPr lang="en-US" sz="1500" dirty="0">
                <a:solidFill>
                  <a:schemeClr val="accent2"/>
                </a:solidFill>
                <a:latin typeface="Google Sans"/>
                <a:ea typeface="+mn-ea"/>
                <a:cs typeface="+mn-cs"/>
              </a:rPr>
              <a:t>Stream	                     Flush behavior</a:t>
            </a:r>
          </a:p>
          <a:p>
            <a:r>
              <a:rPr lang="en-US" sz="1500" dirty="0" err="1">
                <a:solidFill>
                  <a:schemeClr val="accent6"/>
                </a:solidFill>
                <a:latin typeface="Google Sans"/>
                <a:ea typeface="+mn-ea"/>
                <a:cs typeface="+mn-cs"/>
              </a:rPr>
              <a:t>FileStream</a:t>
            </a:r>
            <a:r>
              <a:rPr lang="en-US" sz="1500" dirty="0">
                <a:solidFill>
                  <a:schemeClr val="accent6"/>
                </a:solidFill>
                <a:latin typeface="Google Sans"/>
                <a:ea typeface="+mn-ea"/>
                <a:cs typeface="+mn-cs"/>
              </a:rPr>
              <a:t>	                     Pushes to OS buffers</a:t>
            </a:r>
          </a:p>
          <a:p>
            <a:r>
              <a:rPr lang="en-US" sz="1500" dirty="0" err="1">
                <a:solidFill>
                  <a:schemeClr val="accent6"/>
                </a:solidFill>
                <a:latin typeface="Google Sans"/>
                <a:ea typeface="+mn-ea"/>
                <a:cs typeface="+mn-cs"/>
              </a:rPr>
              <a:t>NetworkStream</a:t>
            </a:r>
            <a:r>
              <a:rPr lang="en-US" sz="1500" dirty="0">
                <a:solidFill>
                  <a:schemeClr val="accent6"/>
                </a:solidFill>
                <a:latin typeface="Google Sans"/>
                <a:ea typeface="+mn-ea"/>
                <a:cs typeface="+mn-cs"/>
              </a:rPr>
              <a:t>	Usually no-op</a:t>
            </a:r>
          </a:p>
          <a:p>
            <a:r>
              <a:rPr lang="en-US" sz="1500" dirty="0" err="1">
                <a:solidFill>
                  <a:schemeClr val="accent6"/>
                </a:solidFill>
                <a:latin typeface="Google Sans"/>
                <a:ea typeface="+mn-ea"/>
                <a:cs typeface="+mn-cs"/>
              </a:rPr>
              <a:t>BufferedStream</a:t>
            </a:r>
            <a:r>
              <a:rPr lang="en-US" sz="1500" dirty="0">
                <a:solidFill>
                  <a:schemeClr val="accent6"/>
                </a:solidFill>
                <a:latin typeface="Google Sans"/>
                <a:ea typeface="+mn-ea"/>
                <a:cs typeface="+mn-cs"/>
              </a:rPr>
              <a:t>	Critical</a:t>
            </a:r>
          </a:p>
          <a:p>
            <a:r>
              <a:rPr lang="en-US" sz="1500" dirty="0" err="1">
                <a:solidFill>
                  <a:schemeClr val="accent6"/>
                </a:solidFill>
                <a:latin typeface="Google Sans"/>
                <a:ea typeface="+mn-ea"/>
                <a:cs typeface="+mn-cs"/>
              </a:rPr>
              <a:t>CryptoStream</a:t>
            </a:r>
            <a:r>
              <a:rPr lang="en-US" sz="1500" dirty="0">
                <a:solidFill>
                  <a:schemeClr val="accent6"/>
                </a:solidFill>
                <a:latin typeface="Google Sans"/>
                <a:ea typeface="+mn-ea"/>
                <a:cs typeface="+mn-cs"/>
              </a:rPr>
              <a:t>	Mandatory</a:t>
            </a:r>
          </a:p>
          <a:p>
            <a:r>
              <a:rPr lang="en-US" sz="1500" dirty="0">
                <a:solidFill>
                  <a:schemeClr val="accent6"/>
                </a:solidFill>
                <a:latin typeface="Google Sans"/>
                <a:ea typeface="+mn-ea"/>
                <a:cs typeface="+mn-cs"/>
              </a:rPr>
              <a:t>⚠️ </a:t>
            </a:r>
            <a:r>
              <a:rPr lang="en-US" sz="1500" dirty="0" err="1">
                <a:solidFill>
                  <a:schemeClr val="accent6"/>
                </a:solidFill>
                <a:latin typeface="Google Sans"/>
                <a:ea typeface="+mn-ea"/>
                <a:cs typeface="+mn-cs"/>
              </a:rPr>
              <a:t>CryptoStream</a:t>
            </a:r>
            <a:r>
              <a:rPr lang="en-US" sz="1500" dirty="0">
                <a:solidFill>
                  <a:schemeClr val="accent6"/>
                </a:solidFill>
                <a:latin typeface="Google Sans"/>
                <a:ea typeface="+mn-ea"/>
                <a:cs typeface="+mn-cs"/>
              </a:rPr>
              <a:t> without </a:t>
            </a:r>
            <a:r>
              <a:rPr lang="en-US" sz="1500" dirty="0" err="1">
                <a:solidFill>
                  <a:schemeClr val="accent6"/>
                </a:solidFill>
                <a:latin typeface="Google Sans"/>
                <a:ea typeface="+mn-ea"/>
                <a:cs typeface="+mn-cs"/>
              </a:rPr>
              <a:t>FlushFinalBlock</a:t>
            </a:r>
            <a:r>
              <a:rPr lang="en-US" sz="1500" dirty="0">
                <a:solidFill>
                  <a:schemeClr val="accent6"/>
                </a:solidFill>
                <a:latin typeface="Google Sans"/>
                <a:ea typeface="+mn-ea"/>
                <a:cs typeface="+mn-cs"/>
              </a:rPr>
              <a:t> = corrupted data</a:t>
            </a:r>
          </a:p>
          <a:p>
            <a:r>
              <a:rPr lang="en-US" sz="1500" dirty="0">
                <a:solidFill>
                  <a:schemeClr val="accent2"/>
                </a:solidFill>
                <a:latin typeface="Google Sans"/>
                <a:ea typeface="+mn-ea"/>
                <a:cs typeface="+mn-cs"/>
              </a:rPr>
              <a:t>7. Seeking, Position &amp; Length (Lies You Can Trust… or Not)</a:t>
            </a:r>
          </a:p>
          <a:p>
            <a:r>
              <a:rPr lang="en-US" sz="1500" dirty="0">
                <a:solidFill>
                  <a:schemeClr val="accent2"/>
                </a:solidFill>
                <a:latin typeface="Google Sans"/>
                <a:ea typeface="+mn-ea"/>
                <a:cs typeface="+mn-cs"/>
              </a:rPr>
              <a:t>Position</a:t>
            </a:r>
          </a:p>
          <a:p>
            <a:r>
              <a:rPr lang="en-US" sz="1500" dirty="0">
                <a:solidFill>
                  <a:schemeClr val="accent6"/>
                </a:solidFill>
                <a:latin typeface="Google Sans"/>
                <a:ea typeface="+mn-ea"/>
                <a:cs typeface="+mn-cs"/>
              </a:rPr>
              <a:t>Meaningful only if </a:t>
            </a:r>
            <a:r>
              <a:rPr lang="en-US" sz="1500" dirty="0" err="1">
                <a:solidFill>
                  <a:schemeClr val="accent6"/>
                </a:solidFill>
                <a:latin typeface="Google Sans"/>
                <a:ea typeface="+mn-ea"/>
                <a:cs typeface="+mn-cs"/>
              </a:rPr>
              <a:t>CanSeek</a:t>
            </a:r>
            <a:r>
              <a:rPr lang="en-US" sz="1500" dirty="0">
                <a:solidFill>
                  <a:schemeClr val="accent6"/>
                </a:solidFill>
                <a:latin typeface="Google Sans"/>
                <a:ea typeface="+mn-ea"/>
                <a:cs typeface="+mn-cs"/>
              </a:rPr>
              <a:t> == true</a:t>
            </a:r>
          </a:p>
          <a:p>
            <a:r>
              <a:rPr lang="en-US" sz="1500" dirty="0">
                <a:solidFill>
                  <a:schemeClr val="accent6"/>
                </a:solidFill>
                <a:latin typeface="Google Sans"/>
                <a:ea typeface="+mn-ea"/>
                <a:cs typeface="+mn-cs"/>
              </a:rPr>
              <a:t>Changes with reads/writes</a:t>
            </a:r>
          </a:p>
          <a:p>
            <a:r>
              <a:rPr lang="en-US" sz="1500" dirty="0">
                <a:solidFill>
                  <a:schemeClr val="accent6"/>
                </a:solidFill>
                <a:latin typeface="Google Sans"/>
                <a:ea typeface="+mn-ea"/>
                <a:cs typeface="+mn-cs"/>
              </a:rPr>
              <a:t>Not atomic</a:t>
            </a:r>
          </a:p>
          <a:p>
            <a:r>
              <a:rPr lang="en-US" sz="1500" dirty="0">
                <a:solidFill>
                  <a:schemeClr val="accent6"/>
                </a:solidFill>
                <a:latin typeface="Google Sans"/>
                <a:ea typeface="+mn-ea"/>
                <a:cs typeface="+mn-cs"/>
              </a:rPr>
              <a:t>Length</a:t>
            </a:r>
          </a:p>
          <a:p>
            <a:r>
              <a:rPr lang="en-US" sz="1500" dirty="0">
                <a:solidFill>
                  <a:schemeClr val="accent6"/>
                </a:solidFill>
                <a:latin typeface="Google Sans"/>
                <a:ea typeface="+mn-ea"/>
                <a:cs typeface="+mn-cs"/>
              </a:rPr>
              <a:t>Snapshot, not stable</a:t>
            </a:r>
          </a:p>
          <a:p>
            <a:r>
              <a:rPr lang="en-US" sz="1500" dirty="0">
                <a:solidFill>
                  <a:schemeClr val="accent6"/>
                </a:solidFill>
                <a:latin typeface="Google Sans"/>
                <a:ea typeface="+mn-ea"/>
                <a:cs typeface="+mn-cs"/>
              </a:rPr>
              <a:t>Invalid for network streams</a:t>
            </a:r>
          </a:p>
          <a:p>
            <a:r>
              <a:rPr lang="en-US" sz="1500" dirty="0">
                <a:solidFill>
                  <a:schemeClr val="accent6"/>
                </a:solidFill>
                <a:latin typeface="Google Sans"/>
                <a:ea typeface="+mn-ea"/>
                <a:cs typeface="+mn-cs"/>
              </a:rPr>
              <a:t>Common bug</a:t>
            </a:r>
          </a:p>
          <a:p>
            <a:r>
              <a:rPr lang="en-US" sz="1500" dirty="0">
                <a:solidFill>
                  <a:schemeClr val="accent6"/>
                </a:solidFill>
                <a:latin typeface="Google Sans"/>
                <a:ea typeface="+mn-ea"/>
                <a:cs typeface="+mn-cs"/>
              </a:rPr>
              <a:t>if (</a:t>
            </a:r>
            <a:r>
              <a:rPr lang="en-US" sz="1500" dirty="0" err="1">
                <a:solidFill>
                  <a:schemeClr val="accent6"/>
                </a:solidFill>
                <a:latin typeface="Google Sans"/>
                <a:ea typeface="+mn-ea"/>
                <a:cs typeface="+mn-cs"/>
              </a:rPr>
              <a:t>stream.Position</a:t>
            </a:r>
            <a:r>
              <a:rPr lang="en-US" sz="1500" dirty="0">
                <a:solidFill>
                  <a:schemeClr val="accent6"/>
                </a:solidFill>
                <a:latin typeface="Google Sans"/>
                <a:ea typeface="+mn-ea"/>
                <a:cs typeface="+mn-cs"/>
              </a:rPr>
              <a:t> == </a:t>
            </a:r>
            <a:r>
              <a:rPr lang="en-US" sz="1500" dirty="0" err="1">
                <a:solidFill>
                  <a:schemeClr val="accent6"/>
                </a:solidFill>
                <a:latin typeface="Google Sans"/>
                <a:ea typeface="+mn-ea"/>
                <a:cs typeface="+mn-cs"/>
              </a:rPr>
              <a:t>stream.Length</a:t>
            </a:r>
            <a:r>
              <a:rPr lang="en-US" sz="1500" dirty="0">
                <a:solidFill>
                  <a:schemeClr val="accent6"/>
                </a:solidFill>
                <a:latin typeface="Google Sans"/>
                <a:ea typeface="+mn-ea"/>
                <a:cs typeface="+mn-cs"/>
              </a:rPr>
              <a:t>) // ❌ race-prone</a:t>
            </a:r>
          </a:p>
        </p:txBody>
      </p:sp>
    </p:spTree>
    <p:extLst>
      <p:ext uri="{BB962C8B-B14F-4D97-AF65-F5344CB8AC3E}">
        <p14:creationId xmlns:p14="http://schemas.microsoft.com/office/powerpoint/2010/main" val="3222784099"/>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AB8D5-491C-45D9-5D81-44D3105127D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27A66C9-0F20-AE1A-C7E6-B36B65D4957A}"/>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8025BA0-4B0A-8862-36B1-F0938DBBB664}"/>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42EC313-2A32-7800-9F24-596C36067BB9}"/>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6A9B1462-4506-A96F-BB17-C970FCD4FD44}"/>
              </a:ext>
            </a:extLst>
          </p:cNvPr>
          <p:cNvSpPr txBox="1">
            <a:spLocks/>
          </p:cNvSpPr>
          <p:nvPr/>
        </p:nvSpPr>
        <p:spPr>
          <a:xfrm>
            <a:off x="275300" y="1095844"/>
            <a:ext cx="8624937" cy="440120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600" dirty="0">
                <a:solidFill>
                  <a:schemeClr val="accent2"/>
                </a:solidFill>
                <a:latin typeface="Google Sans"/>
              </a:rPr>
              <a:t>Low Level Concepts</a:t>
            </a:r>
          </a:p>
          <a:p>
            <a:r>
              <a:rPr lang="en-US" sz="1500" dirty="0">
                <a:solidFill>
                  <a:schemeClr val="accent2"/>
                </a:solidFill>
                <a:latin typeface="Google Sans"/>
                <a:ea typeface="+mn-ea"/>
                <a:cs typeface="+mn-cs"/>
              </a:rPr>
              <a:t>8. Stream Lifetime &amp; Ownership (THE Silent Killer)</a:t>
            </a:r>
          </a:p>
          <a:p>
            <a:r>
              <a:rPr lang="en-US" sz="1500" dirty="0">
                <a:solidFill>
                  <a:schemeClr val="accent2"/>
                </a:solidFill>
                <a:latin typeface="Google Sans"/>
                <a:ea typeface="+mn-ea"/>
                <a:cs typeface="+mn-cs"/>
              </a:rPr>
              <a:t>Rule</a:t>
            </a:r>
          </a:p>
          <a:p>
            <a:r>
              <a:rPr lang="en-US" sz="1500" dirty="0">
                <a:solidFill>
                  <a:schemeClr val="accent2"/>
                </a:solidFill>
                <a:latin typeface="Google Sans"/>
                <a:ea typeface="+mn-ea"/>
                <a:cs typeface="+mn-cs"/>
              </a:rPr>
              <a:t>Who creates the stream owns disposing it</a:t>
            </a:r>
          </a:p>
          <a:p>
            <a:r>
              <a:rPr lang="en-US" sz="1500" dirty="0">
                <a:solidFill>
                  <a:schemeClr val="accent6"/>
                </a:solidFill>
                <a:latin typeface="Google Sans"/>
                <a:ea typeface="+mn-ea"/>
                <a:cs typeface="+mn-cs"/>
              </a:rPr>
              <a:t>Wrapper streams</a:t>
            </a:r>
          </a:p>
          <a:p>
            <a:r>
              <a:rPr lang="en-US" sz="1500" dirty="0">
                <a:solidFill>
                  <a:schemeClr val="accent6"/>
                </a:solidFill>
                <a:latin typeface="Google Sans"/>
                <a:ea typeface="+mn-ea"/>
                <a:cs typeface="+mn-cs"/>
              </a:rPr>
              <a:t>using var </a:t>
            </a:r>
            <a:r>
              <a:rPr lang="en-US" sz="1500" dirty="0" err="1">
                <a:solidFill>
                  <a:schemeClr val="accent6"/>
                </a:solidFill>
                <a:latin typeface="Google Sans"/>
                <a:ea typeface="+mn-ea"/>
                <a:cs typeface="+mn-cs"/>
              </a:rPr>
              <a:t>gzip</a:t>
            </a:r>
            <a:r>
              <a:rPr lang="en-US" sz="1500" dirty="0">
                <a:solidFill>
                  <a:schemeClr val="accent6"/>
                </a:solidFill>
                <a:latin typeface="Google Sans"/>
                <a:ea typeface="+mn-ea"/>
                <a:cs typeface="+mn-cs"/>
              </a:rPr>
              <a:t> = new </a:t>
            </a:r>
            <a:r>
              <a:rPr lang="en-US" sz="1500" dirty="0" err="1">
                <a:solidFill>
                  <a:schemeClr val="accent6"/>
                </a:solidFill>
                <a:latin typeface="Google Sans"/>
                <a:ea typeface="+mn-ea"/>
                <a:cs typeface="+mn-cs"/>
              </a:rPr>
              <a:t>GZipStream</a:t>
            </a:r>
            <a:r>
              <a:rPr lang="en-US" sz="1500" dirty="0">
                <a:solidFill>
                  <a:schemeClr val="accent6"/>
                </a:solidFill>
                <a:latin typeface="Google Sans"/>
                <a:ea typeface="+mn-ea"/>
                <a:cs typeface="+mn-cs"/>
              </a:rPr>
              <a:t>(file, </a:t>
            </a:r>
            <a:r>
              <a:rPr lang="en-US" sz="1500" dirty="0" err="1">
                <a:solidFill>
                  <a:schemeClr val="accent6"/>
                </a:solidFill>
                <a:latin typeface="Google Sans"/>
                <a:ea typeface="+mn-ea"/>
                <a:cs typeface="+mn-cs"/>
              </a:rPr>
              <a:t>CompressionMode.Compress</a:t>
            </a:r>
            <a:r>
              <a:rPr lang="en-US" sz="1500" dirty="0">
                <a:solidFill>
                  <a:schemeClr val="accent6"/>
                </a:solidFill>
                <a:latin typeface="Google Sans"/>
                <a:ea typeface="+mn-ea"/>
                <a:cs typeface="+mn-cs"/>
              </a:rPr>
              <a:t>, </a:t>
            </a:r>
            <a:r>
              <a:rPr lang="en-US" sz="1500" dirty="0" err="1">
                <a:solidFill>
                  <a:schemeClr val="accent6"/>
                </a:solidFill>
                <a:latin typeface="Google Sans"/>
                <a:ea typeface="+mn-ea"/>
                <a:cs typeface="+mn-cs"/>
              </a:rPr>
              <a:t>leaveOpen</a:t>
            </a:r>
            <a:r>
              <a:rPr lang="en-US" sz="1500" dirty="0">
                <a:solidFill>
                  <a:schemeClr val="accent6"/>
                </a:solidFill>
                <a:latin typeface="Google Sans"/>
                <a:ea typeface="+mn-ea"/>
                <a:cs typeface="+mn-cs"/>
              </a:rPr>
              <a:t>: true);</a:t>
            </a:r>
          </a:p>
          <a:p>
            <a:r>
              <a:rPr lang="en-US" sz="1500" dirty="0">
                <a:solidFill>
                  <a:schemeClr val="accent6"/>
                </a:solidFill>
                <a:latin typeface="Google Sans"/>
                <a:ea typeface="+mn-ea"/>
                <a:cs typeface="+mn-cs"/>
              </a:rPr>
              <a:t>Without </a:t>
            </a:r>
            <a:r>
              <a:rPr lang="en-US" sz="1500" dirty="0" err="1">
                <a:solidFill>
                  <a:schemeClr val="accent6"/>
                </a:solidFill>
                <a:latin typeface="Google Sans"/>
                <a:ea typeface="+mn-ea"/>
                <a:cs typeface="+mn-cs"/>
              </a:rPr>
              <a:t>leaveOpen</a:t>
            </a:r>
            <a:r>
              <a:rPr lang="en-US" sz="1500" dirty="0">
                <a:solidFill>
                  <a:schemeClr val="accent6"/>
                </a:solidFill>
                <a:latin typeface="Google Sans"/>
                <a:ea typeface="+mn-ea"/>
                <a:cs typeface="+mn-cs"/>
              </a:rPr>
              <a:t>, outer stream gets closed unexpectedly.</a:t>
            </a:r>
          </a:p>
          <a:p>
            <a:r>
              <a:rPr lang="en-US" sz="1500" dirty="0">
                <a:solidFill>
                  <a:schemeClr val="accent6"/>
                </a:solidFill>
                <a:latin typeface="Google Sans"/>
                <a:ea typeface="+mn-ea"/>
                <a:cs typeface="+mn-cs"/>
              </a:rPr>
              <a:t>Disposal chain</a:t>
            </a:r>
          </a:p>
          <a:p>
            <a:r>
              <a:rPr lang="en-US" sz="1500" dirty="0" err="1">
                <a:solidFill>
                  <a:schemeClr val="accent6"/>
                </a:solidFill>
                <a:latin typeface="Google Sans"/>
                <a:ea typeface="+mn-ea"/>
                <a:cs typeface="+mn-cs"/>
              </a:rPr>
              <a:t>CryptoStream</a:t>
            </a:r>
            <a:endParaRPr lang="en-US" sz="1500" dirty="0">
              <a:solidFill>
                <a:schemeClr val="accent6"/>
              </a:solidFill>
              <a:latin typeface="Google Sans"/>
              <a:ea typeface="+mn-ea"/>
              <a:cs typeface="+mn-cs"/>
            </a:endParaRPr>
          </a:p>
          <a:p>
            <a:r>
              <a:rPr lang="en-US" sz="1500" dirty="0">
                <a:solidFill>
                  <a:schemeClr val="accent6"/>
                </a:solidFill>
                <a:latin typeface="Google Sans"/>
                <a:ea typeface="+mn-ea"/>
                <a:cs typeface="+mn-cs"/>
              </a:rPr>
              <a:t>  ↳ </a:t>
            </a:r>
            <a:r>
              <a:rPr lang="en-US" sz="1500" dirty="0" err="1">
                <a:solidFill>
                  <a:schemeClr val="accent6"/>
                </a:solidFill>
                <a:latin typeface="Google Sans"/>
                <a:ea typeface="+mn-ea"/>
                <a:cs typeface="+mn-cs"/>
              </a:rPr>
              <a:t>BufferedStream</a:t>
            </a:r>
            <a:endParaRPr lang="en-US" sz="1500" dirty="0">
              <a:solidFill>
                <a:schemeClr val="accent6"/>
              </a:solidFill>
              <a:latin typeface="Google Sans"/>
              <a:ea typeface="+mn-ea"/>
              <a:cs typeface="+mn-cs"/>
            </a:endParaRPr>
          </a:p>
          <a:p>
            <a:r>
              <a:rPr lang="en-US" sz="1500" dirty="0">
                <a:solidFill>
                  <a:schemeClr val="accent6"/>
                </a:solidFill>
                <a:latin typeface="Google Sans"/>
                <a:ea typeface="+mn-ea"/>
                <a:cs typeface="+mn-cs"/>
              </a:rPr>
              <a:t>     ↳ </a:t>
            </a:r>
            <a:r>
              <a:rPr lang="en-US" sz="1500" dirty="0" err="1">
                <a:solidFill>
                  <a:schemeClr val="accent6"/>
                </a:solidFill>
                <a:latin typeface="Google Sans"/>
                <a:ea typeface="+mn-ea"/>
                <a:cs typeface="+mn-cs"/>
              </a:rPr>
              <a:t>NetworkStream</a:t>
            </a:r>
            <a:endParaRPr lang="en-US" sz="1500" dirty="0">
              <a:solidFill>
                <a:schemeClr val="accent6"/>
              </a:solidFill>
              <a:latin typeface="Google Sans"/>
              <a:ea typeface="+mn-ea"/>
              <a:cs typeface="+mn-cs"/>
            </a:endParaRPr>
          </a:p>
          <a:p>
            <a:r>
              <a:rPr lang="en-US" sz="1500" dirty="0">
                <a:solidFill>
                  <a:schemeClr val="accent6"/>
                </a:solidFill>
                <a:latin typeface="Google Sans"/>
                <a:ea typeface="+mn-ea"/>
                <a:cs typeface="+mn-cs"/>
              </a:rPr>
              <a:t>Disposing top → closes all (unless overridden)</a:t>
            </a:r>
          </a:p>
          <a:p>
            <a:r>
              <a:rPr lang="en-US" sz="1500" dirty="0">
                <a:solidFill>
                  <a:schemeClr val="accent2"/>
                </a:solidFill>
                <a:latin typeface="Google Sans"/>
                <a:ea typeface="+mn-ea"/>
                <a:cs typeface="+mn-cs"/>
              </a:rPr>
              <a:t>9. Key Stream Implementations (Know Their Behavior)</a:t>
            </a:r>
          </a:p>
          <a:p>
            <a:r>
              <a:rPr lang="en-US" sz="1500" dirty="0" err="1">
                <a:solidFill>
                  <a:schemeClr val="accent2"/>
                </a:solidFill>
                <a:latin typeface="Google Sans"/>
                <a:ea typeface="+mn-ea"/>
                <a:cs typeface="+mn-cs"/>
              </a:rPr>
              <a:t>FileStream</a:t>
            </a:r>
            <a:endParaRPr lang="en-US" sz="1500" dirty="0">
              <a:solidFill>
                <a:schemeClr val="accent2"/>
              </a:solidFill>
              <a:latin typeface="Google Sans"/>
              <a:ea typeface="+mn-ea"/>
              <a:cs typeface="+mn-cs"/>
            </a:endParaRPr>
          </a:p>
          <a:p>
            <a:r>
              <a:rPr lang="en-US" sz="1500" dirty="0">
                <a:solidFill>
                  <a:schemeClr val="accent6"/>
                </a:solidFill>
                <a:latin typeface="Google Sans"/>
                <a:ea typeface="+mn-ea"/>
                <a:cs typeface="+mn-cs"/>
              </a:rPr>
              <a:t>OS-backed</a:t>
            </a:r>
          </a:p>
          <a:p>
            <a:r>
              <a:rPr lang="en-US" sz="1500" dirty="0">
                <a:solidFill>
                  <a:schemeClr val="accent6"/>
                </a:solidFill>
                <a:latin typeface="Google Sans"/>
                <a:ea typeface="+mn-ea"/>
                <a:cs typeface="+mn-cs"/>
              </a:rPr>
              <a:t>Async uses IOCP</a:t>
            </a:r>
          </a:p>
          <a:p>
            <a:r>
              <a:rPr lang="en-US" sz="1500" dirty="0">
                <a:solidFill>
                  <a:schemeClr val="accent6"/>
                </a:solidFill>
                <a:latin typeface="Google Sans"/>
                <a:ea typeface="+mn-ea"/>
                <a:cs typeface="+mn-cs"/>
              </a:rPr>
              <a:t>Has internal buffering</a:t>
            </a:r>
          </a:p>
          <a:p>
            <a:r>
              <a:rPr lang="en-US" sz="1500" dirty="0" err="1">
                <a:solidFill>
                  <a:schemeClr val="accent6"/>
                </a:solidFill>
                <a:latin typeface="Google Sans"/>
                <a:ea typeface="+mn-ea"/>
                <a:cs typeface="+mn-cs"/>
              </a:rPr>
              <a:t>FileOptions.SequentialScan</a:t>
            </a:r>
            <a:r>
              <a:rPr lang="en-US" sz="1500" dirty="0">
                <a:solidFill>
                  <a:schemeClr val="accent6"/>
                </a:solidFill>
                <a:latin typeface="Google Sans"/>
                <a:ea typeface="+mn-ea"/>
                <a:cs typeface="+mn-cs"/>
              </a:rPr>
              <a:t> improves perf</a:t>
            </a:r>
          </a:p>
          <a:p>
            <a:endParaRPr lang="en-US" sz="1500" dirty="0">
              <a:solidFill>
                <a:schemeClr val="accent6"/>
              </a:solidFill>
              <a:latin typeface="Google Sans"/>
              <a:ea typeface="+mn-ea"/>
              <a:cs typeface="+mn-cs"/>
            </a:endParaRPr>
          </a:p>
        </p:txBody>
      </p:sp>
    </p:spTree>
    <p:extLst>
      <p:ext uri="{BB962C8B-B14F-4D97-AF65-F5344CB8AC3E}">
        <p14:creationId xmlns:p14="http://schemas.microsoft.com/office/powerpoint/2010/main" val="779591102"/>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3A367-1484-4497-506A-3BAA523E11F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A4BB741-0F23-15BA-1D4A-BF75C585E2EE}"/>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FE137FC-0A2D-956B-C400-3EDA872D8429}"/>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A6DF12D-36A3-2B98-ECBC-1C06055327BC}"/>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4EBAA6AE-75F4-522A-028B-BB806C97E502}"/>
              </a:ext>
            </a:extLst>
          </p:cNvPr>
          <p:cNvSpPr txBox="1">
            <a:spLocks/>
          </p:cNvSpPr>
          <p:nvPr/>
        </p:nvSpPr>
        <p:spPr>
          <a:xfrm>
            <a:off x="275300" y="1095844"/>
            <a:ext cx="8624937" cy="486287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600" dirty="0">
                <a:solidFill>
                  <a:schemeClr val="accent2"/>
                </a:solidFill>
                <a:latin typeface="Google Sans"/>
              </a:rPr>
              <a:t>Low Level Concepts</a:t>
            </a:r>
          </a:p>
          <a:p>
            <a:r>
              <a:rPr lang="en-US" sz="1500" dirty="0">
                <a:solidFill>
                  <a:schemeClr val="accent2"/>
                </a:solidFill>
                <a:latin typeface="Google Sans"/>
                <a:ea typeface="+mn-ea"/>
                <a:cs typeface="+mn-cs"/>
              </a:rPr>
              <a:t>9. Key Stream Implementations (Know Their Behavior)</a:t>
            </a:r>
          </a:p>
          <a:p>
            <a:r>
              <a:rPr lang="en-US" sz="1500" dirty="0" err="1">
                <a:solidFill>
                  <a:schemeClr val="accent6"/>
                </a:solidFill>
                <a:latin typeface="Google Sans"/>
                <a:ea typeface="+mn-ea"/>
                <a:cs typeface="+mn-cs"/>
              </a:rPr>
              <a:t>MemoryStream</a:t>
            </a:r>
            <a:endParaRPr lang="en-US" sz="1500" dirty="0">
              <a:solidFill>
                <a:schemeClr val="accent6"/>
              </a:solidFill>
              <a:latin typeface="Google Sans"/>
              <a:ea typeface="+mn-ea"/>
              <a:cs typeface="+mn-cs"/>
            </a:endParaRPr>
          </a:p>
          <a:p>
            <a:r>
              <a:rPr lang="en-US" sz="1500" dirty="0">
                <a:solidFill>
                  <a:schemeClr val="accent6"/>
                </a:solidFill>
                <a:latin typeface="Google Sans"/>
                <a:ea typeface="+mn-ea"/>
                <a:cs typeface="+mn-cs"/>
              </a:rPr>
              <a:t>RAM-backed</a:t>
            </a:r>
          </a:p>
          <a:p>
            <a:r>
              <a:rPr lang="en-US" sz="1500" dirty="0">
                <a:solidFill>
                  <a:schemeClr val="accent6"/>
                </a:solidFill>
                <a:latin typeface="Google Sans"/>
                <a:ea typeface="+mn-ea"/>
                <a:cs typeface="+mn-cs"/>
              </a:rPr>
              <a:t>Fast</a:t>
            </a:r>
          </a:p>
          <a:p>
            <a:r>
              <a:rPr lang="en-US" sz="1500" dirty="0" err="1">
                <a:solidFill>
                  <a:schemeClr val="accent6"/>
                </a:solidFill>
                <a:latin typeface="Google Sans"/>
                <a:ea typeface="+mn-ea"/>
                <a:cs typeface="+mn-cs"/>
              </a:rPr>
              <a:t>ToArray</a:t>
            </a:r>
            <a:r>
              <a:rPr lang="en-US" sz="1500" dirty="0">
                <a:solidFill>
                  <a:schemeClr val="accent6"/>
                </a:solidFill>
                <a:latin typeface="Google Sans"/>
                <a:ea typeface="+mn-ea"/>
                <a:cs typeface="+mn-cs"/>
              </a:rPr>
              <a:t>() copies ❌</a:t>
            </a:r>
          </a:p>
          <a:p>
            <a:r>
              <a:rPr lang="en-US" sz="1500" dirty="0" err="1">
                <a:solidFill>
                  <a:schemeClr val="accent6"/>
                </a:solidFill>
                <a:latin typeface="Google Sans"/>
                <a:ea typeface="+mn-ea"/>
                <a:cs typeface="+mn-cs"/>
              </a:rPr>
              <a:t>TryGetBuffer</a:t>
            </a:r>
            <a:r>
              <a:rPr lang="en-US" sz="1500" dirty="0">
                <a:solidFill>
                  <a:schemeClr val="accent6"/>
                </a:solidFill>
                <a:latin typeface="Google Sans"/>
                <a:ea typeface="+mn-ea"/>
                <a:cs typeface="+mn-cs"/>
              </a:rPr>
              <a:t>() avoids copy ✅</a:t>
            </a:r>
          </a:p>
          <a:p>
            <a:r>
              <a:rPr lang="en-US" sz="1500" dirty="0" err="1">
                <a:solidFill>
                  <a:schemeClr val="accent6"/>
                </a:solidFill>
                <a:latin typeface="Google Sans"/>
                <a:ea typeface="+mn-ea"/>
                <a:cs typeface="+mn-cs"/>
              </a:rPr>
              <a:t>NetworkStream</a:t>
            </a:r>
            <a:endParaRPr lang="en-US" sz="1500" dirty="0">
              <a:solidFill>
                <a:schemeClr val="accent6"/>
              </a:solidFill>
              <a:latin typeface="Google Sans"/>
              <a:ea typeface="+mn-ea"/>
              <a:cs typeface="+mn-cs"/>
            </a:endParaRPr>
          </a:p>
          <a:p>
            <a:r>
              <a:rPr lang="en-US" sz="1500" dirty="0">
                <a:solidFill>
                  <a:schemeClr val="accent6"/>
                </a:solidFill>
                <a:latin typeface="Google Sans"/>
                <a:ea typeface="+mn-ea"/>
                <a:cs typeface="+mn-cs"/>
              </a:rPr>
              <a:t>Non-</a:t>
            </a:r>
            <a:r>
              <a:rPr lang="en-US" sz="1500" dirty="0" err="1">
                <a:solidFill>
                  <a:schemeClr val="accent6"/>
                </a:solidFill>
                <a:latin typeface="Google Sans"/>
                <a:ea typeface="+mn-ea"/>
                <a:cs typeface="+mn-cs"/>
              </a:rPr>
              <a:t>seekable</a:t>
            </a:r>
            <a:endParaRPr lang="en-US" sz="1500" dirty="0">
              <a:solidFill>
                <a:schemeClr val="accent6"/>
              </a:solidFill>
              <a:latin typeface="Google Sans"/>
              <a:ea typeface="+mn-ea"/>
              <a:cs typeface="+mn-cs"/>
            </a:endParaRPr>
          </a:p>
          <a:p>
            <a:r>
              <a:rPr lang="en-US" sz="1500" dirty="0">
                <a:solidFill>
                  <a:schemeClr val="accent6"/>
                </a:solidFill>
                <a:latin typeface="Google Sans"/>
                <a:ea typeface="+mn-ea"/>
                <a:cs typeface="+mn-cs"/>
              </a:rPr>
              <a:t>Partial reads common</a:t>
            </a:r>
          </a:p>
          <a:p>
            <a:r>
              <a:rPr lang="en-US" sz="1500" dirty="0">
                <a:solidFill>
                  <a:schemeClr val="accent6"/>
                </a:solidFill>
                <a:latin typeface="Google Sans"/>
                <a:ea typeface="+mn-ea"/>
                <a:cs typeface="+mn-cs"/>
              </a:rPr>
              <a:t>Flush is meaningless</a:t>
            </a:r>
          </a:p>
          <a:p>
            <a:r>
              <a:rPr lang="en-US" sz="1500" dirty="0" err="1">
                <a:solidFill>
                  <a:schemeClr val="accent6"/>
                </a:solidFill>
                <a:latin typeface="Google Sans"/>
                <a:ea typeface="+mn-ea"/>
                <a:cs typeface="+mn-cs"/>
              </a:rPr>
              <a:t>BufferedStream</a:t>
            </a:r>
            <a:endParaRPr lang="en-US" sz="1500" dirty="0">
              <a:solidFill>
                <a:schemeClr val="accent6"/>
              </a:solidFill>
              <a:latin typeface="Google Sans"/>
              <a:ea typeface="+mn-ea"/>
              <a:cs typeface="+mn-cs"/>
            </a:endParaRPr>
          </a:p>
          <a:p>
            <a:r>
              <a:rPr lang="en-US" sz="1500" dirty="0">
                <a:solidFill>
                  <a:schemeClr val="accent6"/>
                </a:solidFill>
                <a:latin typeface="Google Sans"/>
                <a:ea typeface="+mn-ea"/>
                <a:cs typeface="+mn-cs"/>
              </a:rPr>
              <a:t>Adds buffering to any stream</a:t>
            </a:r>
          </a:p>
          <a:p>
            <a:r>
              <a:rPr lang="en-US" sz="1500" dirty="0">
                <a:solidFill>
                  <a:schemeClr val="accent6"/>
                </a:solidFill>
                <a:latin typeface="Google Sans"/>
                <a:ea typeface="+mn-ea"/>
                <a:cs typeface="+mn-cs"/>
              </a:rPr>
              <a:t>Reduces </a:t>
            </a:r>
            <a:r>
              <a:rPr lang="en-US" sz="1500" dirty="0" err="1">
                <a:solidFill>
                  <a:schemeClr val="accent6"/>
                </a:solidFill>
                <a:latin typeface="Google Sans"/>
                <a:ea typeface="+mn-ea"/>
                <a:cs typeface="+mn-cs"/>
              </a:rPr>
              <a:t>syscall</a:t>
            </a:r>
            <a:r>
              <a:rPr lang="en-US" sz="1500" dirty="0">
                <a:solidFill>
                  <a:schemeClr val="accent6"/>
                </a:solidFill>
                <a:latin typeface="Google Sans"/>
                <a:ea typeface="+mn-ea"/>
                <a:cs typeface="+mn-cs"/>
              </a:rPr>
              <a:t> overhead</a:t>
            </a:r>
          </a:p>
          <a:p>
            <a:r>
              <a:rPr lang="en-US" sz="1500" dirty="0">
                <a:solidFill>
                  <a:schemeClr val="accent6"/>
                </a:solidFill>
                <a:latin typeface="Google Sans"/>
                <a:ea typeface="+mn-ea"/>
                <a:cs typeface="+mn-cs"/>
              </a:rPr>
              <a:t>Dangerous double-buffering with </a:t>
            </a:r>
            <a:r>
              <a:rPr lang="en-US" sz="1500" dirty="0" err="1">
                <a:solidFill>
                  <a:schemeClr val="accent6"/>
                </a:solidFill>
                <a:latin typeface="Google Sans"/>
                <a:ea typeface="+mn-ea"/>
                <a:cs typeface="+mn-cs"/>
              </a:rPr>
              <a:t>FileStream</a:t>
            </a:r>
            <a:endParaRPr lang="en-US" sz="1500" dirty="0">
              <a:solidFill>
                <a:schemeClr val="accent6"/>
              </a:solidFill>
              <a:latin typeface="Google Sans"/>
              <a:ea typeface="+mn-ea"/>
              <a:cs typeface="+mn-cs"/>
            </a:endParaRPr>
          </a:p>
          <a:p>
            <a:r>
              <a:rPr lang="en-US" sz="1500" dirty="0" err="1">
                <a:solidFill>
                  <a:schemeClr val="accent6"/>
                </a:solidFill>
                <a:latin typeface="Google Sans"/>
                <a:ea typeface="+mn-ea"/>
                <a:cs typeface="+mn-cs"/>
              </a:rPr>
              <a:t>CryptoStream</a:t>
            </a:r>
            <a:endParaRPr lang="en-US" sz="1500" dirty="0">
              <a:solidFill>
                <a:schemeClr val="accent6"/>
              </a:solidFill>
              <a:latin typeface="Google Sans"/>
              <a:ea typeface="+mn-ea"/>
              <a:cs typeface="+mn-cs"/>
            </a:endParaRPr>
          </a:p>
          <a:p>
            <a:r>
              <a:rPr lang="en-US" sz="1500" dirty="0">
                <a:solidFill>
                  <a:schemeClr val="accent6"/>
                </a:solidFill>
                <a:latin typeface="Google Sans"/>
                <a:ea typeface="+mn-ea"/>
                <a:cs typeface="+mn-cs"/>
              </a:rPr>
              <a:t>Transform stream</a:t>
            </a:r>
          </a:p>
          <a:p>
            <a:r>
              <a:rPr lang="en-US" sz="1500" dirty="0">
                <a:solidFill>
                  <a:schemeClr val="accent6"/>
                </a:solidFill>
                <a:latin typeface="Google Sans"/>
                <a:ea typeface="+mn-ea"/>
                <a:cs typeface="+mn-cs"/>
              </a:rPr>
              <a:t>Read/Write direction matters</a:t>
            </a:r>
          </a:p>
          <a:p>
            <a:r>
              <a:rPr lang="en-US" sz="1500" dirty="0">
                <a:solidFill>
                  <a:schemeClr val="accent6"/>
                </a:solidFill>
                <a:latin typeface="Google Sans"/>
                <a:ea typeface="+mn-ea"/>
                <a:cs typeface="+mn-cs"/>
              </a:rPr>
              <a:t>Must finalize block</a:t>
            </a:r>
          </a:p>
          <a:p>
            <a:r>
              <a:rPr lang="en-US" sz="1500" dirty="0">
                <a:solidFill>
                  <a:schemeClr val="accent6"/>
                </a:solidFill>
                <a:latin typeface="Google Sans"/>
                <a:ea typeface="+mn-ea"/>
                <a:cs typeface="+mn-cs"/>
              </a:rPr>
              <a:t>Compression Streams</a:t>
            </a:r>
          </a:p>
          <a:p>
            <a:r>
              <a:rPr lang="en-US" sz="1500" dirty="0">
                <a:solidFill>
                  <a:schemeClr val="accent6"/>
                </a:solidFill>
                <a:latin typeface="Google Sans"/>
                <a:ea typeface="+mn-ea"/>
                <a:cs typeface="+mn-cs"/>
              </a:rPr>
              <a:t>Forward-only</a:t>
            </a:r>
          </a:p>
        </p:txBody>
      </p:sp>
    </p:spTree>
    <p:extLst>
      <p:ext uri="{BB962C8B-B14F-4D97-AF65-F5344CB8AC3E}">
        <p14:creationId xmlns:p14="http://schemas.microsoft.com/office/powerpoint/2010/main" val="2905426871"/>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AECD2-3781-A004-2F83-5371C7B6B53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04F24E8-09D2-8A41-E949-CE500023A03D}"/>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2734EA8-A1F0-D3DB-331F-67B9E40F9901}"/>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56E9CE9-72BC-D0AA-5202-EC7F4AFD014D}"/>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6B844869-D252-065D-3616-DEF11775B9CD}"/>
              </a:ext>
            </a:extLst>
          </p:cNvPr>
          <p:cNvSpPr txBox="1">
            <a:spLocks/>
          </p:cNvSpPr>
          <p:nvPr/>
        </p:nvSpPr>
        <p:spPr>
          <a:xfrm>
            <a:off x="275300" y="1095844"/>
            <a:ext cx="8624937" cy="463203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600" dirty="0">
                <a:solidFill>
                  <a:schemeClr val="accent2"/>
                </a:solidFill>
                <a:latin typeface="Google Sans"/>
              </a:rPr>
              <a:t>Low Level Concepts</a:t>
            </a:r>
          </a:p>
          <a:p>
            <a:r>
              <a:rPr lang="en-US" sz="1500" dirty="0">
                <a:solidFill>
                  <a:schemeClr val="accent2"/>
                </a:solidFill>
                <a:latin typeface="Google Sans"/>
                <a:ea typeface="+mn-ea"/>
                <a:cs typeface="+mn-cs"/>
              </a:rPr>
              <a:t>9. Key Stream Implementations (Know Their Behavior)</a:t>
            </a:r>
          </a:p>
          <a:p>
            <a:r>
              <a:rPr lang="en-US" sz="1500" dirty="0">
                <a:solidFill>
                  <a:schemeClr val="accent6"/>
                </a:solidFill>
                <a:latin typeface="Google Sans"/>
                <a:ea typeface="+mn-ea"/>
                <a:cs typeface="+mn-cs"/>
              </a:rPr>
              <a:t>No seeking</a:t>
            </a:r>
          </a:p>
          <a:p>
            <a:r>
              <a:rPr lang="en-US" sz="1500" dirty="0">
                <a:solidFill>
                  <a:schemeClr val="accent6"/>
                </a:solidFill>
                <a:latin typeface="Google Sans"/>
                <a:ea typeface="+mn-ea"/>
                <a:cs typeface="+mn-cs"/>
              </a:rPr>
              <a:t>Flush ≠ finish</a:t>
            </a:r>
          </a:p>
          <a:p>
            <a:r>
              <a:rPr lang="en-US" sz="1500" dirty="0">
                <a:solidFill>
                  <a:schemeClr val="accent2"/>
                </a:solidFill>
                <a:latin typeface="Google Sans"/>
                <a:ea typeface="+mn-ea"/>
                <a:cs typeface="+mn-cs"/>
              </a:rPr>
              <a:t>10. Copy Patterns (DO THIS, NOT THAT)</a:t>
            </a:r>
          </a:p>
          <a:p>
            <a:r>
              <a:rPr lang="en-US" sz="1500" dirty="0">
                <a:solidFill>
                  <a:schemeClr val="accent2"/>
                </a:solidFill>
                <a:latin typeface="Google Sans"/>
                <a:ea typeface="+mn-ea"/>
                <a:cs typeface="+mn-cs"/>
              </a:rPr>
              <a:t>BAD</a:t>
            </a:r>
          </a:p>
          <a:p>
            <a:r>
              <a:rPr lang="en-US" sz="1500" dirty="0" err="1">
                <a:solidFill>
                  <a:schemeClr val="accent6"/>
                </a:solidFill>
                <a:latin typeface="Google Sans"/>
                <a:ea typeface="+mn-ea"/>
                <a:cs typeface="+mn-cs"/>
              </a:rPr>
              <a:t>stream.Read</a:t>
            </a:r>
            <a:r>
              <a:rPr lang="en-US" sz="1500" dirty="0">
                <a:solidFill>
                  <a:schemeClr val="accent6"/>
                </a:solidFill>
                <a:latin typeface="Google Sans"/>
                <a:ea typeface="+mn-ea"/>
                <a:cs typeface="+mn-cs"/>
              </a:rPr>
              <a:t>(buffer);</a:t>
            </a:r>
          </a:p>
          <a:p>
            <a:r>
              <a:rPr lang="en-US" sz="1500" dirty="0">
                <a:solidFill>
                  <a:schemeClr val="accent2"/>
                </a:solidFill>
                <a:latin typeface="Google Sans"/>
                <a:ea typeface="+mn-ea"/>
                <a:cs typeface="+mn-cs"/>
              </a:rPr>
              <a:t>GOOD</a:t>
            </a:r>
          </a:p>
          <a:p>
            <a:r>
              <a:rPr lang="en-US" sz="1500" dirty="0">
                <a:solidFill>
                  <a:schemeClr val="accent6"/>
                </a:solidFill>
                <a:latin typeface="Google Sans"/>
                <a:ea typeface="+mn-ea"/>
                <a:cs typeface="+mn-cs"/>
              </a:rPr>
              <a:t>await </a:t>
            </a:r>
            <a:r>
              <a:rPr lang="en-US" sz="1500" dirty="0" err="1">
                <a:solidFill>
                  <a:schemeClr val="accent6"/>
                </a:solidFill>
                <a:latin typeface="Google Sans"/>
                <a:ea typeface="+mn-ea"/>
                <a:cs typeface="+mn-cs"/>
              </a:rPr>
              <a:t>source.CopyToAsync</a:t>
            </a:r>
            <a:r>
              <a:rPr lang="en-US" sz="1500" dirty="0">
                <a:solidFill>
                  <a:schemeClr val="accent6"/>
                </a:solidFill>
                <a:latin typeface="Google Sans"/>
                <a:ea typeface="+mn-ea"/>
                <a:cs typeface="+mn-cs"/>
              </a:rPr>
              <a:t>(</a:t>
            </a:r>
            <a:r>
              <a:rPr lang="en-US" sz="1500" dirty="0" err="1">
                <a:solidFill>
                  <a:schemeClr val="accent6"/>
                </a:solidFill>
                <a:latin typeface="Google Sans"/>
                <a:ea typeface="+mn-ea"/>
                <a:cs typeface="+mn-cs"/>
              </a:rPr>
              <a:t>dest</a:t>
            </a:r>
            <a:r>
              <a:rPr lang="en-US" sz="1500" dirty="0">
                <a:solidFill>
                  <a:schemeClr val="accent6"/>
                </a:solidFill>
                <a:latin typeface="Google Sans"/>
                <a:ea typeface="+mn-ea"/>
                <a:cs typeface="+mn-cs"/>
              </a:rPr>
              <a:t>, </a:t>
            </a:r>
            <a:r>
              <a:rPr lang="en-US" sz="1500" dirty="0" err="1">
                <a:solidFill>
                  <a:schemeClr val="accent6"/>
                </a:solidFill>
                <a:latin typeface="Google Sans"/>
                <a:ea typeface="+mn-ea"/>
                <a:cs typeface="+mn-cs"/>
              </a:rPr>
              <a:t>bufferSize</a:t>
            </a:r>
            <a:r>
              <a:rPr lang="en-US" sz="1500" dirty="0">
                <a:solidFill>
                  <a:schemeClr val="accent6"/>
                </a:solidFill>
                <a:latin typeface="Google Sans"/>
                <a:ea typeface="+mn-ea"/>
                <a:cs typeface="+mn-cs"/>
              </a:rPr>
              <a:t>);</a:t>
            </a:r>
          </a:p>
          <a:p>
            <a:r>
              <a:rPr lang="en-US" sz="1500" dirty="0">
                <a:solidFill>
                  <a:schemeClr val="accent2"/>
                </a:solidFill>
                <a:latin typeface="Google Sans"/>
                <a:ea typeface="+mn-ea"/>
                <a:cs typeface="+mn-cs"/>
              </a:rPr>
              <a:t>Tuned buffer sizes</a:t>
            </a:r>
          </a:p>
          <a:p>
            <a:r>
              <a:rPr lang="en-US" sz="1500" dirty="0">
                <a:solidFill>
                  <a:schemeClr val="accent6"/>
                </a:solidFill>
                <a:latin typeface="Google Sans"/>
                <a:ea typeface="+mn-ea"/>
                <a:cs typeface="+mn-cs"/>
              </a:rPr>
              <a:t>Disk → 64KB</a:t>
            </a:r>
          </a:p>
          <a:p>
            <a:r>
              <a:rPr lang="en-US" sz="1500" dirty="0">
                <a:solidFill>
                  <a:schemeClr val="accent6"/>
                </a:solidFill>
                <a:latin typeface="Google Sans"/>
                <a:ea typeface="+mn-ea"/>
                <a:cs typeface="+mn-cs"/>
              </a:rPr>
              <a:t>Network → 16–32KB</a:t>
            </a:r>
          </a:p>
          <a:p>
            <a:r>
              <a:rPr lang="en-US" sz="1500" dirty="0">
                <a:solidFill>
                  <a:schemeClr val="accent6"/>
                </a:solidFill>
                <a:latin typeface="Google Sans"/>
                <a:ea typeface="+mn-ea"/>
                <a:cs typeface="+mn-cs"/>
              </a:rPr>
              <a:t>Memory → irrelevant</a:t>
            </a:r>
          </a:p>
          <a:p>
            <a:r>
              <a:rPr lang="en-US" sz="1500" dirty="0">
                <a:solidFill>
                  <a:schemeClr val="accent2"/>
                </a:solidFill>
                <a:latin typeface="Google Sans"/>
                <a:ea typeface="+mn-ea"/>
                <a:cs typeface="+mn-cs"/>
              </a:rPr>
              <a:t>11. Buffer Management (Perf-Critical)</a:t>
            </a:r>
          </a:p>
          <a:p>
            <a:r>
              <a:rPr lang="en-US" sz="1500" dirty="0">
                <a:solidFill>
                  <a:schemeClr val="accent2"/>
                </a:solidFill>
                <a:latin typeface="Google Sans"/>
                <a:ea typeface="+mn-ea"/>
                <a:cs typeface="+mn-cs"/>
              </a:rPr>
              <a:t>Array allocations kill throughput</a:t>
            </a:r>
          </a:p>
          <a:p>
            <a:r>
              <a:rPr lang="en-US" sz="1500" dirty="0">
                <a:solidFill>
                  <a:schemeClr val="accent6"/>
                </a:solidFill>
                <a:latin typeface="Google Sans"/>
                <a:ea typeface="+mn-ea"/>
                <a:cs typeface="+mn-cs"/>
              </a:rPr>
              <a:t>Use </a:t>
            </a:r>
            <a:r>
              <a:rPr lang="en-US" sz="1500" dirty="0" err="1">
                <a:solidFill>
                  <a:schemeClr val="accent6"/>
                </a:solidFill>
                <a:latin typeface="Google Sans"/>
                <a:ea typeface="+mn-ea"/>
                <a:cs typeface="+mn-cs"/>
              </a:rPr>
              <a:t>ArrayPool</a:t>
            </a:r>
            <a:r>
              <a:rPr lang="en-US" sz="1500" dirty="0">
                <a:solidFill>
                  <a:schemeClr val="accent6"/>
                </a:solidFill>
                <a:latin typeface="Google Sans"/>
                <a:ea typeface="+mn-ea"/>
                <a:cs typeface="+mn-cs"/>
              </a:rPr>
              <a:t>&lt;byte&gt;</a:t>
            </a:r>
          </a:p>
          <a:p>
            <a:r>
              <a:rPr lang="en-US" sz="1500" dirty="0">
                <a:solidFill>
                  <a:schemeClr val="accent6"/>
                </a:solidFill>
                <a:latin typeface="Google Sans"/>
                <a:ea typeface="+mn-ea"/>
                <a:cs typeface="+mn-cs"/>
              </a:rPr>
              <a:t>byte[] </a:t>
            </a:r>
            <a:r>
              <a:rPr lang="en-US" sz="1500" dirty="0" err="1">
                <a:solidFill>
                  <a:schemeClr val="accent6"/>
                </a:solidFill>
                <a:latin typeface="Google Sans"/>
                <a:ea typeface="+mn-ea"/>
                <a:cs typeface="+mn-cs"/>
              </a:rPr>
              <a:t>buf</a:t>
            </a:r>
            <a:r>
              <a:rPr lang="en-US" sz="1500" dirty="0">
                <a:solidFill>
                  <a:schemeClr val="accent6"/>
                </a:solidFill>
                <a:latin typeface="Google Sans"/>
                <a:ea typeface="+mn-ea"/>
                <a:cs typeface="+mn-cs"/>
              </a:rPr>
              <a:t> = </a:t>
            </a:r>
            <a:r>
              <a:rPr lang="en-US" sz="1500" dirty="0" err="1">
                <a:solidFill>
                  <a:schemeClr val="accent6"/>
                </a:solidFill>
                <a:latin typeface="Google Sans"/>
                <a:ea typeface="+mn-ea"/>
                <a:cs typeface="+mn-cs"/>
              </a:rPr>
              <a:t>ArrayPool</a:t>
            </a:r>
            <a:r>
              <a:rPr lang="en-US" sz="1500" dirty="0">
                <a:solidFill>
                  <a:schemeClr val="accent6"/>
                </a:solidFill>
                <a:latin typeface="Google Sans"/>
                <a:ea typeface="+mn-ea"/>
                <a:cs typeface="+mn-cs"/>
              </a:rPr>
              <a:t>&lt;byte&gt;.</a:t>
            </a:r>
            <a:r>
              <a:rPr lang="en-US" sz="1500" dirty="0" err="1">
                <a:solidFill>
                  <a:schemeClr val="accent6"/>
                </a:solidFill>
                <a:latin typeface="Google Sans"/>
                <a:ea typeface="+mn-ea"/>
                <a:cs typeface="+mn-cs"/>
              </a:rPr>
              <a:t>Shared.Rent</a:t>
            </a:r>
            <a:r>
              <a:rPr lang="en-US" sz="1500" dirty="0">
                <a:solidFill>
                  <a:schemeClr val="accent6"/>
                </a:solidFill>
                <a:latin typeface="Google Sans"/>
                <a:ea typeface="+mn-ea"/>
                <a:cs typeface="+mn-cs"/>
              </a:rPr>
              <a:t>(64 * 1024);</a:t>
            </a:r>
          </a:p>
          <a:p>
            <a:r>
              <a:rPr lang="en-US" sz="1500" dirty="0">
                <a:solidFill>
                  <a:schemeClr val="accent6"/>
                </a:solidFill>
                <a:latin typeface="Google Sans"/>
                <a:ea typeface="+mn-ea"/>
                <a:cs typeface="+mn-cs"/>
              </a:rPr>
              <a:t>try { ... }</a:t>
            </a:r>
          </a:p>
          <a:p>
            <a:r>
              <a:rPr lang="en-US" sz="1500" dirty="0">
                <a:solidFill>
                  <a:schemeClr val="accent6"/>
                </a:solidFill>
                <a:latin typeface="Google Sans"/>
                <a:ea typeface="+mn-ea"/>
                <a:cs typeface="+mn-cs"/>
              </a:rPr>
              <a:t>finally { </a:t>
            </a:r>
            <a:r>
              <a:rPr lang="en-US" sz="1500" dirty="0" err="1">
                <a:solidFill>
                  <a:schemeClr val="accent6"/>
                </a:solidFill>
                <a:latin typeface="Google Sans"/>
                <a:ea typeface="+mn-ea"/>
                <a:cs typeface="+mn-cs"/>
              </a:rPr>
              <a:t>ArrayPool</a:t>
            </a:r>
            <a:r>
              <a:rPr lang="en-US" sz="1500" dirty="0">
                <a:solidFill>
                  <a:schemeClr val="accent6"/>
                </a:solidFill>
                <a:latin typeface="Google Sans"/>
                <a:ea typeface="+mn-ea"/>
                <a:cs typeface="+mn-cs"/>
              </a:rPr>
              <a:t>&lt;byte&gt;.</a:t>
            </a:r>
            <a:r>
              <a:rPr lang="en-US" sz="1500" dirty="0" err="1">
                <a:solidFill>
                  <a:schemeClr val="accent6"/>
                </a:solidFill>
                <a:latin typeface="Google Sans"/>
                <a:ea typeface="+mn-ea"/>
                <a:cs typeface="+mn-cs"/>
              </a:rPr>
              <a:t>Shared.Return</a:t>
            </a:r>
            <a:r>
              <a:rPr lang="en-US" sz="1500" dirty="0">
                <a:solidFill>
                  <a:schemeClr val="accent6"/>
                </a:solidFill>
                <a:latin typeface="Google Sans"/>
                <a:ea typeface="+mn-ea"/>
                <a:cs typeface="+mn-cs"/>
              </a:rPr>
              <a:t>(</a:t>
            </a:r>
            <a:r>
              <a:rPr lang="en-US" sz="1500" dirty="0" err="1">
                <a:solidFill>
                  <a:schemeClr val="accent6"/>
                </a:solidFill>
                <a:latin typeface="Google Sans"/>
                <a:ea typeface="+mn-ea"/>
                <a:cs typeface="+mn-cs"/>
              </a:rPr>
              <a:t>buf</a:t>
            </a:r>
            <a:r>
              <a:rPr lang="en-US" sz="1500" dirty="0">
                <a:solidFill>
                  <a:schemeClr val="accent6"/>
                </a:solidFill>
                <a:latin typeface="Google Sans"/>
                <a:ea typeface="+mn-ea"/>
                <a:cs typeface="+mn-cs"/>
              </a:rPr>
              <a:t>); }</a:t>
            </a:r>
          </a:p>
          <a:p>
            <a:endParaRPr lang="en-US" sz="1500" dirty="0">
              <a:solidFill>
                <a:schemeClr val="accent6"/>
              </a:solidFill>
              <a:latin typeface="Google Sans"/>
              <a:ea typeface="+mn-ea"/>
              <a:cs typeface="+mn-cs"/>
            </a:endParaRPr>
          </a:p>
        </p:txBody>
      </p:sp>
    </p:spTree>
    <p:extLst>
      <p:ext uri="{BB962C8B-B14F-4D97-AF65-F5344CB8AC3E}">
        <p14:creationId xmlns:p14="http://schemas.microsoft.com/office/powerpoint/2010/main" val="194597625"/>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670B1-0B20-2C5A-F0F6-F584D4FF951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709B91E-4AB3-2F52-CD1F-6C981B06941A}"/>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2B5A3B7-C256-E420-4270-DBA2AFB61FF8}"/>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9C0C85C-98D0-B5E5-1218-C5B7D6C24586}"/>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7CC78E20-BBA7-2664-C73D-D754A6487EE1}"/>
              </a:ext>
            </a:extLst>
          </p:cNvPr>
          <p:cNvSpPr txBox="1">
            <a:spLocks/>
          </p:cNvSpPr>
          <p:nvPr/>
        </p:nvSpPr>
        <p:spPr>
          <a:xfrm>
            <a:off x="275300" y="1095844"/>
            <a:ext cx="8624937" cy="463203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600" dirty="0">
                <a:solidFill>
                  <a:schemeClr val="accent2"/>
                </a:solidFill>
                <a:latin typeface="Google Sans"/>
              </a:rPr>
              <a:t>Low Level Concepts</a:t>
            </a:r>
          </a:p>
          <a:p>
            <a:r>
              <a:rPr lang="en-US" sz="1500" dirty="0">
                <a:solidFill>
                  <a:schemeClr val="accent2"/>
                </a:solidFill>
                <a:latin typeface="Google Sans"/>
                <a:ea typeface="+mn-ea"/>
                <a:cs typeface="+mn-cs"/>
              </a:rPr>
              <a:t>11. Buffer Management (Perf-Critical)</a:t>
            </a:r>
          </a:p>
          <a:p>
            <a:r>
              <a:rPr lang="en-US" sz="1500" dirty="0">
                <a:solidFill>
                  <a:schemeClr val="accent2"/>
                </a:solidFill>
                <a:latin typeface="Google Sans"/>
                <a:ea typeface="+mn-ea"/>
                <a:cs typeface="+mn-cs"/>
              </a:rPr>
              <a:t>Use Span&lt;T&gt; for sync paths</a:t>
            </a:r>
          </a:p>
          <a:p>
            <a:r>
              <a:rPr lang="en-US" sz="1500" dirty="0">
                <a:solidFill>
                  <a:schemeClr val="accent6"/>
                </a:solidFill>
                <a:latin typeface="Google Sans"/>
                <a:ea typeface="+mn-ea"/>
                <a:cs typeface="+mn-cs"/>
              </a:rPr>
              <a:t>Span&lt;byte&gt; span = </a:t>
            </a:r>
            <a:r>
              <a:rPr lang="en-US" sz="1500" dirty="0" err="1">
                <a:solidFill>
                  <a:schemeClr val="accent6"/>
                </a:solidFill>
                <a:latin typeface="Google Sans"/>
                <a:ea typeface="+mn-ea"/>
                <a:cs typeface="+mn-cs"/>
              </a:rPr>
              <a:t>stackalloc</a:t>
            </a:r>
            <a:r>
              <a:rPr lang="en-US" sz="1500" dirty="0">
                <a:solidFill>
                  <a:schemeClr val="accent6"/>
                </a:solidFill>
                <a:latin typeface="Google Sans"/>
                <a:ea typeface="+mn-ea"/>
                <a:cs typeface="+mn-cs"/>
              </a:rPr>
              <a:t> byte[256];</a:t>
            </a:r>
          </a:p>
          <a:p>
            <a:r>
              <a:rPr lang="en-US" sz="1500" dirty="0" err="1">
                <a:solidFill>
                  <a:schemeClr val="accent6"/>
                </a:solidFill>
                <a:latin typeface="Google Sans"/>
                <a:ea typeface="+mn-ea"/>
                <a:cs typeface="+mn-cs"/>
              </a:rPr>
              <a:t>stream.Read</a:t>
            </a:r>
            <a:r>
              <a:rPr lang="en-US" sz="1500" dirty="0">
                <a:solidFill>
                  <a:schemeClr val="accent6"/>
                </a:solidFill>
                <a:latin typeface="Google Sans"/>
                <a:ea typeface="+mn-ea"/>
                <a:cs typeface="+mn-cs"/>
              </a:rPr>
              <a:t>(span);</a:t>
            </a:r>
          </a:p>
          <a:p>
            <a:r>
              <a:rPr lang="en-US" sz="1500" dirty="0">
                <a:solidFill>
                  <a:schemeClr val="accent2"/>
                </a:solidFill>
                <a:latin typeface="Google Sans"/>
                <a:ea typeface="+mn-ea"/>
                <a:cs typeface="+mn-cs"/>
              </a:rPr>
              <a:t>12. Async vs Sync (Deep Truth)</a:t>
            </a:r>
          </a:p>
          <a:p>
            <a:r>
              <a:rPr lang="en-US" sz="1500" dirty="0">
                <a:solidFill>
                  <a:schemeClr val="accent2"/>
                </a:solidFill>
                <a:latin typeface="Google Sans"/>
                <a:ea typeface="+mn-ea"/>
                <a:cs typeface="+mn-cs"/>
              </a:rPr>
              <a:t>Async streams</a:t>
            </a:r>
          </a:p>
          <a:p>
            <a:r>
              <a:rPr lang="en-US" sz="1500" dirty="0">
                <a:solidFill>
                  <a:schemeClr val="accent6"/>
                </a:solidFill>
                <a:latin typeface="Google Sans"/>
                <a:ea typeface="+mn-ea"/>
                <a:cs typeface="+mn-cs"/>
              </a:rPr>
              <a:t>Do not mean background thread</a:t>
            </a:r>
          </a:p>
          <a:p>
            <a:r>
              <a:rPr lang="en-US" sz="1500" dirty="0">
                <a:solidFill>
                  <a:schemeClr val="accent6"/>
                </a:solidFill>
                <a:latin typeface="Google Sans"/>
                <a:ea typeface="+mn-ea"/>
                <a:cs typeface="+mn-cs"/>
              </a:rPr>
              <a:t>Use kernel async I/O (File, Socket)</a:t>
            </a:r>
          </a:p>
          <a:p>
            <a:r>
              <a:rPr lang="en-US" sz="1500" dirty="0">
                <a:solidFill>
                  <a:schemeClr val="accent6"/>
                </a:solidFill>
                <a:latin typeface="Google Sans"/>
                <a:ea typeface="+mn-ea"/>
                <a:cs typeface="+mn-cs"/>
              </a:rPr>
              <a:t>Avoid thread pool starvation</a:t>
            </a:r>
          </a:p>
          <a:p>
            <a:r>
              <a:rPr lang="en-US" sz="1500" dirty="0">
                <a:solidFill>
                  <a:schemeClr val="accent2"/>
                </a:solidFill>
                <a:latin typeface="Google Sans"/>
                <a:ea typeface="+mn-ea"/>
                <a:cs typeface="+mn-cs"/>
              </a:rPr>
              <a:t>Mixing sync + async</a:t>
            </a:r>
          </a:p>
          <a:p>
            <a:r>
              <a:rPr lang="en-US" sz="1500" dirty="0">
                <a:solidFill>
                  <a:schemeClr val="accent6"/>
                </a:solidFill>
                <a:latin typeface="Google Sans"/>
                <a:ea typeface="+mn-ea"/>
                <a:cs typeface="+mn-cs"/>
              </a:rPr>
              <a:t>❌ Can cause deadlocks</a:t>
            </a:r>
          </a:p>
          <a:p>
            <a:r>
              <a:rPr lang="en-US" sz="1500" dirty="0">
                <a:solidFill>
                  <a:schemeClr val="accent6"/>
                </a:solidFill>
                <a:latin typeface="Google Sans"/>
                <a:ea typeface="+mn-ea"/>
                <a:cs typeface="+mn-cs"/>
              </a:rPr>
              <a:t>❌ Destroys scalability</a:t>
            </a:r>
          </a:p>
          <a:p>
            <a:r>
              <a:rPr lang="en-US" sz="1500" dirty="0">
                <a:solidFill>
                  <a:schemeClr val="accent2"/>
                </a:solidFill>
                <a:latin typeface="Google Sans"/>
                <a:ea typeface="+mn-ea"/>
                <a:cs typeface="+mn-cs"/>
              </a:rPr>
              <a:t>Rule:</a:t>
            </a:r>
          </a:p>
          <a:p>
            <a:r>
              <a:rPr lang="en-US" sz="1500" dirty="0">
                <a:solidFill>
                  <a:schemeClr val="accent2"/>
                </a:solidFill>
                <a:latin typeface="Google Sans"/>
                <a:ea typeface="+mn-ea"/>
                <a:cs typeface="+mn-cs"/>
              </a:rPr>
              <a:t>Once async, always async</a:t>
            </a:r>
          </a:p>
          <a:p>
            <a:r>
              <a:rPr lang="en-US" sz="1500" dirty="0">
                <a:solidFill>
                  <a:schemeClr val="accent2"/>
                </a:solidFill>
                <a:latin typeface="Google Sans"/>
                <a:ea typeface="+mn-ea"/>
                <a:cs typeface="+mn-cs"/>
              </a:rPr>
              <a:t>13. Thread Safety (Streams Are NOT Safe)</a:t>
            </a:r>
          </a:p>
          <a:p>
            <a:r>
              <a:rPr lang="en-US" sz="1500" dirty="0">
                <a:solidFill>
                  <a:schemeClr val="accent6"/>
                </a:solidFill>
                <a:latin typeface="Google Sans"/>
                <a:ea typeface="+mn-ea"/>
                <a:cs typeface="+mn-cs"/>
              </a:rPr>
              <a:t>No internal locking</a:t>
            </a:r>
          </a:p>
          <a:p>
            <a:r>
              <a:rPr lang="en-US" sz="1500" dirty="0">
                <a:solidFill>
                  <a:schemeClr val="accent6"/>
                </a:solidFill>
                <a:latin typeface="Google Sans"/>
                <a:ea typeface="+mn-ea"/>
                <a:cs typeface="+mn-cs"/>
              </a:rPr>
              <a:t>Concurrent reads corrupt state</a:t>
            </a:r>
          </a:p>
          <a:p>
            <a:r>
              <a:rPr lang="en-US" sz="1500" dirty="0">
                <a:solidFill>
                  <a:schemeClr val="accent6"/>
                </a:solidFill>
                <a:latin typeface="Google Sans"/>
                <a:ea typeface="+mn-ea"/>
                <a:cs typeface="+mn-cs"/>
              </a:rPr>
              <a:t>Wrap with your own synchronization</a:t>
            </a:r>
          </a:p>
          <a:p>
            <a:endParaRPr lang="en-US" sz="1500" dirty="0">
              <a:solidFill>
                <a:schemeClr val="accent6"/>
              </a:solidFill>
              <a:latin typeface="Google Sans"/>
              <a:ea typeface="+mn-ea"/>
              <a:cs typeface="+mn-cs"/>
            </a:endParaRPr>
          </a:p>
        </p:txBody>
      </p:sp>
    </p:spTree>
    <p:extLst>
      <p:ext uri="{BB962C8B-B14F-4D97-AF65-F5344CB8AC3E}">
        <p14:creationId xmlns:p14="http://schemas.microsoft.com/office/powerpoint/2010/main" val="2959759625"/>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67355-FD64-3C78-3CA4-D47DD8FC1F9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1F15B5E-0D4F-3D36-FB63-902CD027C397}"/>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93A041C-C55B-F7D0-7F54-C6C51D186BC0}"/>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0C3E909-4520-37EF-BFE7-19DD79589DD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6EE33FF0-9F14-D924-00E5-CF188EA09529}"/>
              </a:ext>
            </a:extLst>
          </p:cNvPr>
          <p:cNvSpPr txBox="1">
            <a:spLocks/>
          </p:cNvSpPr>
          <p:nvPr/>
        </p:nvSpPr>
        <p:spPr>
          <a:xfrm>
            <a:off x="275300" y="1095844"/>
            <a:ext cx="8624937" cy="486287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600" dirty="0">
                <a:solidFill>
                  <a:schemeClr val="accent2"/>
                </a:solidFill>
                <a:latin typeface="Google Sans"/>
              </a:rPr>
              <a:t>Low Level Concepts</a:t>
            </a:r>
          </a:p>
          <a:p>
            <a:r>
              <a:rPr lang="en-US" sz="1500" dirty="0">
                <a:solidFill>
                  <a:schemeClr val="accent2"/>
                </a:solidFill>
                <a:latin typeface="Google Sans"/>
                <a:ea typeface="+mn-ea"/>
                <a:cs typeface="+mn-cs"/>
              </a:rPr>
              <a:t>14. High-Performance Patterns</a:t>
            </a:r>
          </a:p>
          <a:p>
            <a:r>
              <a:rPr lang="en-US" sz="1500" dirty="0">
                <a:solidFill>
                  <a:schemeClr val="accent6"/>
                </a:solidFill>
                <a:latin typeface="Google Sans"/>
                <a:ea typeface="+mn-ea"/>
                <a:cs typeface="+mn-cs"/>
              </a:rPr>
              <a:t>Zero-copy pipelines</a:t>
            </a:r>
          </a:p>
          <a:p>
            <a:r>
              <a:rPr lang="en-US" sz="1500" dirty="0" err="1">
                <a:solidFill>
                  <a:schemeClr val="accent6"/>
                </a:solidFill>
                <a:latin typeface="Google Sans"/>
                <a:ea typeface="+mn-ea"/>
                <a:cs typeface="+mn-cs"/>
              </a:rPr>
              <a:t>System.IO.Pipelines</a:t>
            </a:r>
            <a:endParaRPr lang="en-US" sz="1500" dirty="0">
              <a:solidFill>
                <a:schemeClr val="accent6"/>
              </a:solidFill>
              <a:latin typeface="Google Sans"/>
              <a:ea typeface="+mn-ea"/>
              <a:cs typeface="+mn-cs"/>
            </a:endParaRPr>
          </a:p>
          <a:p>
            <a:r>
              <a:rPr lang="en-US" sz="1500" dirty="0">
                <a:solidFill>
                  <a:schemeClr val="accent6"/>
                </a:solidFill>
                <a:latin typeface="Google Sans"/>
                <a:ea typeface="+mn-ea"/>
                <a:cs typeface="+mn-cs"/>
              </a:rPr>
              <a:t>ASP.NET Core uses this internally</a:t>
            </a:r>
          </a:p>
          <a:p>
            <a:r>
              <a:rPr lang="en-US" sz="1500" dirty="0">
                <a:solidFill>
                  <a:schemeClr val="accent6"/>
                </a:solidFill>
                <a:latin typeface="Google Sans"/>
                <a:ea typeface="+mn-ea"/>
                <a:cs typeface="+mn-cs"/>
              </a:rPr>
              <a:t>Avoids Stream abstractions overhead</a:t>
            </a:r>
          </a:p>
          <a:p>
            <a:r>
              <a:rPr lang="en-US" sz="1500" dirty="0" err="1">
                <a:solidFill>
                  <a:schemeClr val="accent6"/>
                </a:solidFill>
                <a:latin typeface="Google Sans"/>
                <a:ea typeface="+mn-ea"/>
                <a:cs typeface="+mn-cs"/>
              </a:rPr>
              <a:t>RecyclableMemoryStream</a:t>
            </a:r>
            <a:endParaRPr lang="en-US" sz="1500" dirty="0">
              <a:solidFill>
                <a:schemeClr val="accent6"/>
              </a:solidFill>
              <a:latin typeface="Google Sans"/>
              <a:ea typeface="+mn-ea"/>
              <a:cs typeface="+mn-cs"/>
            </a:endParaRPr>
          </a:p>
          <a:p>
            <a:r>
              <a:rPr lang="en-US" sz="1500" dirty="0" err="1">
                <a:solidFill>
                  <a:schemeClr val="accent6"/>
                </a:solidFill>
                <a:latin typeface="Google Sans"/>
                <a:ea typeface="+mn-ea"/>
                <a:cs typeface="+mn-cs"/>
              </a:rPr>
              <a:t>Microsoft.IO.RecyclableMemoryStream</a:t>
            </a:r>
            <a:endParaRPr lang="en-US" sz="1500" dirty="0">
              <a:solidFill>
                <a:schemeClr val="accent6"/>
              </a:solidFill>
              <a:latin typeface="Google Sans"/>
              <a:ea typeface="+mn-ea"/>
              <a:cs typeface="+mn-cs"/>
            </a:endParaRPr>
          </a:p>
          <a:p>
            <a:r>
              <a:rPr lang="en-US" sz="1500" dirty="0">
                <a:solidFill>
                  <a:schemeClr val="accent6"/>
                </a:solidFill>
                <a:latin typeface="Google Sans"/>
                <a:ea typeface="+mn-ea"/>
                <a:cs typeface="+mn-cs"/>
              </a:rPr>
              <a:t>Prevents LOH fragmentation</a:t>
            </a:r>
          </a:p>
          <a:p>
            <a:r>
              <a:rPr lang="en-US" sz="1500" dirty="0">
                <a:solidFill>
                  <a:schemeClr val="accent2"/>
                </a:solidFill>
                <a:latin typeface="Google Sans"/>
                <a:ea typeface="+mn-ea"/>
                <a:cs typeface="+mn-cs"/>
              </a:rPr>
              <a:t>15. Exception Semantics</a:t>
            </a:r>
          </a:p>
          <a:p>
            <a:r>
              <a:rPr lang="en-US" sz="1500" dirty="0">
                <a:solidFill>
                  <a:schemeClr val="accent2"/>
                </a:solidFill>
                <a:latin typeface="Google Sans"/>
                <a:ea typeface="+mn-ea"/>
                <a:cs typeface="+mn-cs"/>
              </a:rPr>
              <a:t>Scenario	                     Exception</a:t>
            </a:r>
          </a:p>
          <a:p>
            <a:r>
              <a:rPr lang="en-US" sz="1500" dirty="0">
                <a:solidFill>
                  <a:schemeClr val="accent6"/>
                </a:solidFill>
                <a:latin typeface="Google Sans"/>
                <a:ea typeface="+mn-ea"/>
                <a:cs typeface="+mn-cs"/>
              </a:rPr>
              <a:t>EOF	                     No exception</a:t>
            </a:r>
          </a:p>
          <a:p>
            <a:r>
              <a:rPr lang="en-US" sz="1500" dirty="0">
                <a:solidFill>
                  <a:schemeClr val="accent6"/>
                </a:solidFill>
                <a:latin typeface="Google Sans"/>
                <a:ea typeface="+mn-ea"/>
                <a:cs typeface="+mn-cs"/>
              </a:rPr>
              <a:t>Closed stream	</a:t>
            </a:r>
            <a:r>
              <a:rPr lang="en-US" sz="1500" dirty="0" err="1">
                <a:solidFill>
                  <a:schemeClr val="accent6"/>
                </a:solidFill>
                <a:latin typeface="Google Sans"/>
                <a:ea typeface="+mn-ea"/>
                <a:cs typeface="+mn-cs"/>
              </a:rPr>
              <a:t>ObjectDisposedException</a:t>
            </a:r>
            <a:endParaRPr lang="en-US" sz="1500" dirty="0">
              <a:solidFill>
                <a:schemeClr val="accent6"/>
              </a:solidFill>
              <a:latin typeface="Google Sans"/>
              <a:ea typeface="+mn-ea"/>
              <a:cs typeface="+mn-cs"/>
            </a:endParaRPr>
          </a:p>
          <a:p>
            <a:r>
              <a:rPr lang="en-US" sz="1500" dirty="0">
                <a:solidFill>
                  <a:schemeClr val="accent6"/>
                </a:solidFill>
                <a:latin typeface="Google Sans"/>
                <a:ea typeface="+mn-ea"/>
                <a:cs typeface="+mn-cs"/>
              </a:rPr>
              <a:t>Network reset	</a:t>
            </a:r>
            <a:r>
              <a:rPr lang="en-US" sz="1500" dirty="0" err="1">
                <a:solidFill>
                  <a:schemeClr val="accent6"/>
                </a:solidFill>
                <a:latin typeface="Google Sans"/>
                <a:ea typeface="+mn-ea"/>
                <a:cs typeface="+mn-cs"/>
              </a:rPr>
              <a:t>IOException</a:t>
            </a:r>
            <a:endParaRPr lang="en-US" sz="1500" dirty="0">
              <a:solidFill>
                <a:schemeClr val="accent6"/>
              </a:solidFill>
              <a:latin typeface="Google Sans"/>
              <a:ea typeface="+mn-ea"/>
              <a:cs typeface="+mn-cs"/>
            </a:endParaRPr>
          </a:p>
          <a:p>
            <a:r>
              <a:rPr lang="en-US" sz="1500" dirty="0">
                <a:solidFill>
                  <a:schemeClr val="accent6"/>
                </a:solidFill>
                <a:latin typeface="Google Sans"/>
                <a:ea typeface="+mn-ea"/>
                <a:cs typeface="+mn-cs"/>
              </a:rPr>
              <a:t>Timeout	                      </a:t>
            </a:r>
            <a:r>
              <a:rPr lang="en-US" sz="1500" dirty="0" err="1">
                <a:solidFill>
                  <a:schemeClr val="accent6"/>
                </a:solidFill>
                <a:latin typeface="Google Sans"/>
                <a:ea typeface="+mn-ea"/>
                <a:cs typeface="+mn-cs"/>
              </a:rPr>
              <a:t>IOException</a:t>
            </a:r>
            <a:endParaRPr lang="en-US" sz="1500" dirty="0">
              <a:solidFill>
                <a:schemeClr val="accent6"/>
              </a:solidFill>
              <a:latin typeface="Google Sans"/>
              <a:ea typeface="+mn-ea"/>
              <a:cs typeface="+mn-cs"/>
            </a:endParaRPr>
          </a:p>
          <a:p>
            <a:r>
              <a:rPr lang="en-US" sz="1500" dirty="0">
                <a:solidFill>
                  <a:schemeClr val="accent6"/>
                </a:solidFill>
                <a:latin typeface="Google Sans"/>
                <a:ea typeface="+mn-ea"/>
                <a:cs typeface="+mn-cs"/>
              </a:rPr>
              <a:t>Never use exceptions for flow control.</a:t>
            </a:r>
          </a:p>
          <a:p>
            <a:r>
              <a:rPr lang="en-US" sz="1500" dirty="0">
                <a:solidFill>
                  <a:schemeClr val="accent2"/>
                </a:solidFill>
                <a:latin typeface="Google Sans"/>
                <a:ea typeface="+mn-ea"/>
                <a:cs typeface="+mn-cs"/>
              </a:rPr>
              <a:t>16. Common Gotchas (Real Production Bugs)</a:t>
            </a:r>
          </a:p>
          <a:p>
            <a:r>
              <a:rPr lang="en-US" sz="1500" dirty="0">
                <a:solidFill>
                  <a:schemeClr val="accent6"/>
                </a:solidFill>
                <a:latin typeface="Google Sans"/>
                <a:ea typeface="+mn-ea"/>
                <a:cs typeface="+mn-cs"/>
              </a:rPr>
              <a:t>❌ Assuming full buffer read</a:t>
            </a:r>
          </a:p>
          <a:p>
            <a:r>
              <a:rPr lang="en-US" sz="1500" dirty="0">
                <a:solidFill>
                  <a:schemeClr val="accent6"/>
                </a:solidFill>
                <a:latin typeface="Google Sans"/>
                <a:ea typeface="+mn-ea"/>
                <a:cs typeface="+mn-cs"/>
              </a:rPr>
              <a:t>❌ Forgetting </a:t>
            </a:r>
            <a:r>
              <a:rPr lang="en-US" sz="1500" dirty="0" err="1">
                <a:solidFill>
                  <a:schemeClr val="accent6"/>
                </a:solidFill>
                <a:latin typeface="Google Sans"/>
                <a:ea typeface="+mn-ea"/>
                <a:cs typeface="+mn-cs"/>
              </a:rPr>
              <a:t>FlushFinalBlock</a:t>
            </a:r>
            <a:endParaRPr lang="en-US" sz="1500" dirty="0">
              <a:solidFill>
                <a:schemeClr val="accent6"/>
              </a:solidFill>
              <a:latin typeface="Google Sans"/>
              <a:ea typeface="+mn-ea"/>
              <a:cs typeface="+mn-cs"/>
            </a:endParaRPr>
          </a:p>
          <a:p>
            <a:r>
              <a:rPr lang="en-US" sz="1500" dirty="0">
                <a:solidFill>
                  <a:schemeClr val="accent6"/>
                </a:solidFill>
                <a:latin typeface="Google Sans"/>
                <a:ea typeface="+mn-ea"/>
                <a:cs typeface="+mn-cs"/>
              </a:rPr>
              <a:t>❌ Disposing inner stream accidentally</a:t>
            </a:r>
          </a:p>
          <a:p>
            <a:r>
              <a:rPr lang="en-US" sz="1500" dirty="0">
                <a:solidFill>
                  <a:schemeClr val="accent6"/>
                </a:solidFill>
                <a:latin typeface="Google Sans"/>
                <a:ea typeface="+mn-ea"/>
                <a:cs typeface="+mn-cs"/>
              </a:rPr>
              <a:t>❌ Blocking async with .Result</a:t>
            </a:r>
          </a:p>
        </p:txBody>
      </p:sp>
    </p:spTree>
    <p:extLst>
      <p:ext uri="{BB962C8B-B14F-4D97-AF65-F5344CB8AC3E}">
        <p14:creationId xmlns:p14="http://schemas.microsoft.com/office/powerpoint/2010/main" val="3809800763"/>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DA515-F6F9-0C3B-E31F-DD3ACE532D8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BD9BAD6-A27B-4F51-FC27-F1474169A18A}"/>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97E659B-27A8-09A8-3E4C-B66581F2147E}"/>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8347913-A7B7-5739-E92F-521D5240EE4F}"/>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860C3BB0-2E90-8C1F-3F05-35B80733CA10}"/>
              </a:ext>
            </a:extLst>
          </p:cNvPr>
          <p:cNvSpPr txBox="1">
            <a:spLocks/>
          </p:cNvSpPr>
          <p:nvPr/>
        </p:nvSpPr>
        <p:spPr>
          <a:xfrm>
            <a:off x="275300" y="1095844"/>
            <a:ext cx="8624937" cy="486287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600" dirty="0">
                <a:solidFill>
                  <a:schemeClr val="accent2"/>
                </a:solidFill>
                <a:latin typeface="Google Sans"/>
              </a:rPr>
              <a:t>Low Level Concepts</a:t>
            </a:r>
          </a:p>
          <a:p>
            <a:r>
              <a:rPr lang="en-US" sz="1500" dirty="0">
                <a:solidFill>
                  <a:schemeClr val="accent2"/>
                </a:solidFill>
                <a:latin typeface="Google Sans"/>
                <a:ea typeface="+mn-ea"/>
                <a:cs typeface="+mn-cs"/>
              </a:rPr>
              <a:t>16. Common Gotchas (Real Production Bugs)</a:t>
            </a:r>
          </a:p>
          <a:p>
            <a:r>
              <a:rPr lang="en-US" sz="1500" dirty="0">
                <a:solidFill>
                  <a:schemeClr val="accent6"/>
                </a:solidFill>
                <a:latin typeface="Google Sans"/>
                <a:ea typeface="+mn-ea"/>
                <a:cs typeface="+mn-cs"/>
              </a:rPr>
              <a:t>❌ Using Length on network streams</a:t>
            </a:r>
          </a:p>
          <a:p>
            <a:r>
              <a:rPr lang="en-US" sz="1500" dirty="0">
                <a:solidFill>
                  <a:schemeClr val="accent6"/>
                </a:solidFill>
                <a:latin typeface="Google Sans"/>
                <a:ea typeface="+mn-ea"/>
                <a:cs typeface="+mn-cs"/>
              </a:rPr>
              <a:t>❌ Double buffering (</a:t>
            </a:r>
            <a:r>
              <a:rPr lang="en-US" sz="1500" dirty="0" err="1">
                <a:solidFill>
                  <a:schemeClr val="accent6"/>
                </a:solidFill>
                <a:latin typeface="Google Sans"/>
                <a:ea typeface="+mn-ea"/>
                <a:cs typeface="+mn-cs"/>
              </a:rPr>
              <a:t>BufferedStream</a:t>
            </a:r>
            <a:r>
              <a:rPr lang="en-US" sz="1500" dirty="0">
                <a:solidFill>
                  <a:schemeClr val="accent6"/>
                </a:solidFill>
                <a:latin typeface="Google Sans"/>
                <a:ea typeface="+mn-ea"/>
                <a:cs typeface="+mn-cs"/>
              </a:rPr>
              <a:t> + </a:t>
            </a:r>
            <a:r>
              <a:rPr lang="en-US" sz="1500" dirty="0" err="1">
                <a:solidFill>
                  <a:schemeClr val="accent6"/>
                </a:solidFill>
                <a:latin typeface="Google Sans"/>
                <a:ea typeface="+mn-ea"/>
                <a:cs typeface="+mn-cs"/>
              </a:rPr>
              <a:t>FileStream</a:t>
            </a:r>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 Allocating new buffers per request</a:t>
            </a:r>
          </a:p>
          <a:p>
            <a:r>
              <a:rPr lang="en-US" sz="1500" dirty="0">
                <a:solidFill>
                  <a:schemeClr val="accent2"/>
                </a:solidFill>
                <a:latin typeface="Google Sans"/>
                <a:ea typeface="+mn-ea"/>
                <a:cs typeface="+mn-cs"/>
              </a:rPr>
              <a:t>17. Design Patterns Using Streams</a:t>
            </a:r>
          </a:p>
          <a:p>
            <a:r>
              <a:rPr lang="en-US" sz="1500" dirty="0">
                <a:solidFill>
                  <a:schemeClr val="accent2"/>
                </a:solidFill>
                <a:latin typeface="Google Sans"/>
                <a:ea typeface="+mn-ea"/>
                <a:cs typeface="+mn-cs"/>
              </a:rPr>
              <a:t>Decorator pattern</a:t>
            </a:r>
          </a:p>
          <a:p>
            <a:r>
              <a:rPr lang="en-US" sz="1500" dirty="0" err="1">
                <a:solidFill>
                  <a:schemeClr val="accent6"/>
                </a:solidFill>
                <a:latin typeface="Google Sans"/>
                <a:ea typeface="+mn-ea"/>
                <a:cs typeface="+mn-cs"/>
              </a:rPr>
              <a:t>BufferedStream</a:t>
            </a:r>
            <a:endParaRPr lang="en-US" sz="1500" dirty="0">
              <a:solidFill>
                <a:schemeClr val="accent6"/>
              </a:solidFill>
              <a:latin typeface="Google Sans"/>
              <a:ea typeface="+mn-ea"/>
              <a:cs typeface="+mn-cs"/>
            </a:endParaRPr>
          </a:p>
          <a:p>
            <a:r>
              <a:rPr lang="en-US" sz="1500" dirty="0" err="1">
                <a:solidFill>
                  <a:schemeClr val="accent6"/>
                </a:solidFill>
                <a:latin typeface="Google Sans"/>
                <a:ea typeface="+mn-ea"/>
                <a:cs typeface="+mn-cs"/>
              </a:rPr>
              <a:t>CryptoStream</a:t>
            </a:r>
            <a:endParaRPr lang="en-US" sz="1500" dirty="0">
              <a:solidFill>
                <a:schemeClr val="accent6"/>
              </a:solidFill>
              <a:latin typeface="Google Sans"/>
              <a:ea typeface="+mn-ea"/>
              <a:cs typeface="+mn-cs"/>
            </a:endParaRPr>
          </a:p>
          <a:p>
            <a:r>
              <a:rPr lang="en-US" sz="1500" dirty="0" err="1">
                <a:solidFill>
                  <a:schemeClr val="accent6"/>
                </a:solidFill>
                <a:latin typeface="Google Sans"/>
                <a:ea typeface="+mn-ea"/>
                <a:cs typeface="+mn-cs"/>
              </a:rPr>
              <a:t>CompressionStream</a:t>
            </a:r>
            <a:endParaRPr lang="en-US" sz="1500" dirty="0">
              <a:solidFill>
                <a:schemeClr val="accent6"/>
              </a:solidFill>
              <a:latin typeface="Google Sans"/>
              <a:ea typeface="+mn-ea"/>
              <a:cs typeface="+mn-cs"/>
            </a:endParaRPr>
          </a:p>
          <a:p>
            <a:r>
              <a:rPr lang="en-US" sz="1500" dirty="0">
                <a:solidFill>
                  <a:schemeClr val="accent2"/>
                </a:solidFill>
                <a:latin typeface="Google Sans"/>
                <a:ea typeface="+mn-ea"/>
                <a:cs typeface="+mn-cs"/>
              </a:rPr>
              <a:t>Adapter pattern</a:t>
            </a:r>
          </a:p>
          <a:p>
            <a:r>
              <a:rPr lang="en-US" sz="1500" dirty="0">
                <a:solidFill>
                  <a:schemeClr val="accent6"/>
                </a:solidFill>
                <a:latin typeface="Google Sans"/>
                <a:ea typeface="+mn-ea"/>
                <a:cs typeface="+mn-cs"/>
              </a:rPr>
              <a:t>Stream ↔ </a:t>
            </a:r>
            <a:r>
              <a:rPr lang="en-US" sz="1500" dirty="0" err="1">
                <a:solidFill>
                  <a:schemeClr val="accent6"/>
                </a:solidFill>
                <a:latin typeface="Google Sans"/>
                <a:ea typeface="+mn-ea"/>
                <a:cs typeface="+mn-cs"/>
              </a:rPr>
              <a:t>PipeReader</a:t>
            </a:r>
            <a:endParaRPr lang="en-US" sz="1500" dirty="0">
              <a:solidFill>
                <a:schemeClr val="accent6"/>
              </a:solidFill>
              <a:latin typeface="Google Sans"/>
              <a:ea typeface="+mn-ea"/>
              <a:cs typeface="+mn-cs"/>
            </a:endParaRPr>
          </a:p>
          <a:p>
            <a:r>
              <a:rPr lang="en-US" sz="1500" dirty="0">
                <a:solidFill>
                  <a:schemeClr val="accent6"/>
                </a:solidFill>
                <a:latin typeface="Google Sans"/>
                <a:ea typeface="+mn-ea"/>
                <a:cs typeface="+mn-cs"/>
              </a:rPr>
              <a:t>Stream ↔ HTTP content</a:t>
            </a:r>
          </a:p>
          <a:p>
            <a:r>
              <a:rPr lang="en-US" sz="1500" dirty="0">
                <a:solidFill>
                  <a:schemeClr val="accent6"/>
                </a:solidFill>
                <a:latin typeface="Google Sans"/>
                <a:ea typeface="+mn-ea"/>
                <a:cs typeface="+mn-cs"/>
              </a:rPr>
              <a:t>Producer–Consumer</a:t>
            </a:r>
          </a:p>
          <a:p>
            <a:r>
              <a:rPr lang="en-US" sz="1500" dirty="0">
                <a:solidFill>
                  <a:schemeClr val="accent6"/>
                </a:solidFill>
                <a:latin typeface="Google Sans"/>
                <a:ea typeface="+mn-ea"/>
                <a:cs typeface="+mn-cs"/>
              </a:rPr>
              <a:t>Stream as boundary</a:t>
            </a:r>
          </a:p>
          <a:p>
            <a:r>
              <a:rPr lang="en-US" sz="1500" dirty="0">
                <a:solidFill>
                  <a:schemeClr val="accent6"/>
                </a:solidFill>
                <a:latin typeface="Google Sans"/>
                <a:ea typeface="+mn-ea"/>
                <a:cs typeface="+mn-cs"/>
              </a:rPr>
              <a:t>Backpressure via async reads</a:t>
            </a:r>
          </a:p>
          <a:p>
            <a:r>
              <a:rPr lang="en-US" sz="1500" dirty="0">
                <a:solidFill>
                  <a:schemeClr val="accent2"/>
                </a:solidFill>
                <a:latin typeface="Google Sans"/>
                <a:ea typeface="+mn-ea"/>
                <a:cs typeface="+mn-cs"/>
              </a:rPr>
              <a:t>18. When NOT to Use Stream</a:t>
            </a:r>
          </a:p>
          <a:p>
            <a:r>
              <a:rPr lang="en-US" sz="1500" dirty="0">
                <a:solidFill>
                  <a:schemeClr val="accent2"/>
                </a:solidFill>
                <a:latin typeface="Google Sans"/>
                <a:ea typeface="+mn-ea"/>
                <a:cs typeface="+mn-cs"/>
              </a:rPr>
              <a:t>Use case	                                           Better alternative</a:t>
            </a:r>
          </a:p>
          <a:p>
            <a:r>
              <a:rPr lang="en-US" sz="1500" dirty="0">
                <a:solidFill>
                  <a:schemeClr val="accent6"/>
                </a:solidFill>
                <a:latin typeface="Google Sans"/>
                <a:ea typeface="+mn-ea"/>
                <a:cs typeface="+mn-cs"/>
              </a:rPr>
              <a:t>High-frequency messaging	Pipelines</a:t>
            </a:r>
          </a:p>
          <a:p>
            <a:r>
              <a:rPr lang="en-US" sz="1500" dirty="0">
                <a:solidFill>
                  <a:schemeClr val="accent6"/>
                </a:solidFill>
                <a:latin typeface="Google Sans"/>
                <a:ea typeface="+mn-ea"/>
                <a:cs typeface="+mn-cs"/>
              </a:rPr>
              <a:t>Binary protocols	                     Span + Socket</a:t>
            </a:r>
          </a:p>
          <a:p>
            <a:r>
              <a:rPr lang="en-US" sz="1500" dirty="0">
                <a:solidFill>
                  <a:schemeClr val="accent6"/>
                </a:solidFill>
                <a:latin typeface="Google Sans"/>
                <a:ea typeface="+mn-ea"/>
                <a:cs typeface="+mn-cs"/>
              </a:rPr>
              <a:t>Structured data	                     </a:t>
            </a:r>
            <a:r>
              <a:rPr lang="en-US" sz="1500" dirty="0" err="1">
                <a:solidFill>
                  <a:schemeClr val="accent6"/>
                </a:solidFill>
                <a:latin typeface="Google Sans"/>
                <a:ea typeface="+mn-ea"/>
                <a:cs typeface="+mn-cs"/>
              </a:rPr>
              <a:t>gRPC</a:t>
            </a:r>
            <a:r>
              <a:rPr lang="en-US" sz="1500" dirty="0">
                <a:solidFill>
                  <a:schemeClr val="accent6"/>
                </a:solidFill>
                <a:latin typeface="Google Sans"/>
                <a:ea typeface="+mn-ea"/>
                <a:cs typeface="+mn-cs"/>
              </a:rPr>
              <a:t> / </a:t>
            </a:r>
            <a:r>
              <a:rPr lang="en-US" sz="1500" dirty="0" err="1">
                <a:solidFill>
                  <a:schemeClr val="accent6"/>
                </a:solidFill>
                <a:latin typeface="Google Sans"/>
                <a:ea typeface="+mn-ea"/>
                <a:cs typeface="+mn-cs"/>
              </a:rPr>
              <a:t>Protobuf</a:t>
            </a:r>
            <a:endParaRPr lang="en-US" sz="1500" dirty="0">
              <a:solidFill>
                <a:schemeClr val="accent6"/>
              </a:solidFill>
              <a:latin typeface="Google Sans"/>
              <a:ea typeface="+mn-ea"/>
              <a:cs typeface="+mn-cs"/>
            </a:endParaRPr>
          </a:p>
        </p:txBody>
      </p:sp>
    </p:spTree>
    <p:extLst>
      <p:ext uri="{BB962C8B-B14F-4D97-AF65-F5344CB8AC3E}">
        <p14:creationId xmlns:p14="http://schemas.microsoft.com/office/powerpoint/2010/main" val="3822449373"/>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43F3A-6AD3-4B75-5452-EA2221E8E92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3E6E16A-1664-7857-E710-1131F61C6DCB}"/>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0ED8620-ED8B-317B-AC87-197A4F319EAE}"/>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BB8D493-4EC0-6B7D-EEB8-E738BA76C6E8}"/>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D132474D-42F6-1513-8709-47DF0B39C342}"/>
              </a:ext>
            </a:extLst>
          </p:cNvPr>
          <p:cNvSpPr txBox="1">
            <a:spLocks/>
          </p:cNvSpPr>
          <p:nvPr/>
        </p:nvSpPr>
        <p:spPr>
          <a:xfrm>
            <a:off x="275300" y="1095844"/>
            <a:ext cx="8624937" cy="480131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600" dirty="0">
                <a:solidFill>
                  <a:schemeClr val="accent2"/>
                </a:solidFill>
                <a:latin typeface="Google Sans"/>
              </a:rPr>
              <a:t>Low Level Concepts</a:t>
            </a:r>
          </a:p>
          <a:p>
            <a:r>
              <a:rPr lang="en-US" sz="1500" dirty="0">
                <a:solidFill>
                  <a:schemeClr val="accent2"/>
                </a:solidFill>
                <a:latin typeface="Google Sans"/>
                <a:ea typeface="+mn-ea"/>
                <a:cs typeface="+mn-cs"/>
              </a:rPr>
              <a:t>18. When NOT to Use Stream</a:t>
            </a:r>
          </a:p>
          <a:p>
            <a:r>
              <a:rPr lang="en-US" sz="1500" dirty="0">
                <a:solidFill>
                  <a:schemeClr val="accent2"/>
                </a:solidFill>
                <a:latin typeface="Google Sans"/>
                <a:ea typeface="+mn-ea"/>
                <a:cs typeface="+mn-cs"/>
              </a:rPr>
              <a:t>Use case	                                           Better alternative</a:t>
            </a:r>
          </a:p>
          <a:p>
            <a:r>
              <a:rPr lang="en-US" sz="1500" dirty="0">
                <a:solidFill>
                  <a:schemeClr val="accent6"/>
                </a:solidFill>
                <a:latin typeface="Google Sans"/>
                <a:ea typeface="+mn-ea"/>
                <a:cs typeface="+mn-cs"/>
              </a:rPr>
              <a:t>In-memory transformations	Span APIs</a:t>
            </a:r>
          </a:p>
          <a:p>
            <a:r>
              <a:rPr lang="en-US" sz="1500" dirty="0">
                <a:solidFill>
                  <a:schemeClr val="accent2"/>
                </a:solidFill>
                <a:latin typeface="Google Sans"/>
                <a:ea typeface="+mn-ea"/>
                <a:cs typeface="+mn-cs"/>
              </a:rPr>
              <a:t>19. Deep Insight (The “Aha” Moment)</a:t>
            </a:r>
          </a:p>
          <a:p>
            <a:r>
              <a:rPr lang="en-US" sz="1500" dirty="0">
                <a:solidFill>
                  <a:schemeClr val="accent2"/>
                </a:solidFill>
                <a:latin typeface="Google Sans"/>
                <a:ea typeface="+mn-ea"/>
                <a:cs typeface="+mn-cs"/>
              </a:rPr>
              <a:t>Streams are not data structures.</a:t>
            </a:r>
          </a:p>
          <a:p>
            <a:r>
              <a:rPr lang="en-US" sz="1500" dirty="0">
                <a:solidFill>
                  <a:schemeClr val="accent2"/>
                </a:solidFill>
                <a:latin typeface="Google Sans"/>
                <a:ea typeface="+mn-ea"/>
                <a:cs typeface="+mn-cs"/>
              </a:rPr>
              <a:t>They are flow control primitives.</a:t>
            </a:r>
          </a:p>
          <a:p>
            <a:r>
              <a:rPr lang="en-US" sz="1500" dirty="0">
                <a:solidFill>
                  <a:schemeClr val="accent2"/>
                </a:solidFill>
                <a:latin typeface="Google Sans"/>
                <a:ea typeface="+mn-ea"/>
                <a:cs typeface="+mn-cs"/>
              </a:rPr>
              <a:t>Once you think in:</a:t>
            </a:r>
          </a:p>
          <a:p>
            <a:r>
              <a:rPr lang="en-US" sz="1500" dirty="0">
                <a:solidFill>
                  <a:schemeClr val="accent6"/>
                </a:solidFill>
                <a:latin typeface="Google Sans"/>
                <a:ea typeface="+mn-ea"/>
                <a:cs typeface="+mn-cs"/>
              </a:rPr>
              <a:t>backpressure</a:t>
            </a:r>
          </a:p>
          <a:p>
            <a:r>
              <a:rPr lang="en-US" sz="1500" dirty="0">
                <a:solidFill>
                  <a:schemeClr val="accent6"/>
                </a:solidFill>
                <a:latin typeface="Google Sans"/>
                <a:ea typeface="+mn-ea"/>
                <a:cs typeface="+mn-cs"/>
              </a:rPr>
              <a:t>partial reads</a:t>
            </a:r>
          </a:p>
          <a:p>
            <a:r>
              <a:rPr lang="en-US" sz="1500" dirty="0">
                <a:solidFill>
                  <a:schemeClr val="accent6"/>
                </a:solidFill>
                <a:latin typeface="Google Sans"/>
                <a:ea typeface="+mn-ea"/>
                <a:cs typeface="+mn-cs"/>
              </a:rPr>
              <a:t>ownership</a:t>
            </a:r>
          </a:p>
          <a:p>
            <a:r>
              <a:rPr lang="en-US" sz="1500" dirty="0">
                <a:solidFill>
                  <a:schemeClr val="accent6"/>
                </a:solidFill>
                <a:latin typeface="Google Sans"/>
                <a:ea typeface="+mn-ea"/>
                <a:cs typeface="+mn-cs"/>
              </a:rPr>
              <a:t>buffering layers</a:t>
            </a:r>
          </a:p>
          <a:p>
            <a:endParaRPr lang="en-US" sz="1500" dirty="0">
              <a:solidFill>
                <a:schemeClr val="accent6"/>
              </a:solidFill>
              <a:latin typeface="Google Sans"/>
              <a:ea typeface="+mn-ea"/>
              <a:cs typeface="+mn-cs"/>
            </a:endParaRPr>
          </a:p>
          <a:p>
            <a:r>
              <a:rPr lang="en-US" sz="2000" dirty="0">
                <a:solidFill>
                  <a:schemeClr val="accent2"/>
                </a:solidFill>
                <a:latin typeface="Google Sans"/>
                <a:ea typeface="+mn-ea"/>
                <a:cs typeface="+mn-cs"/>
              </a:rPr>
              <a:t>For Further Exploration</a:t>
            </a:r>
          </a:p>
          <a:p>
            <a:r>
              <a:rPr lang="en-US" sz="1600" dirty="0">
                <a:hlinkClick r:id="rId7"/>
              </a:rPr>
              <a:t>Working with Files and Streams in .NET (Updated for .NET 8)</a:t>
            </a:r>
            <a:endParaRPr lang="en-US" sz="1600" dirty="0"/>
          </a:p>
          <a:p>
            <a:r>
              <a:rPr lang="en-US" sz="1600" dirty="0">
                <a:hlinkClick r:id="rId8"/>
              </a:rPr>
              <a:t>What is a </a:t>
            </a:r>
            <a:r>
              <a:rPr lang="en-US" sz="1600" dirty="0" err="1">
                <a:hlinkClick r:id="rId8"/>
              </a:rPr>
              <a:t>MemoryStream</a:t>
            </a:r>
            <a:r>
              <a:rPr lang="en-US" sz="1600" dirty="0">
                <a:hlinkClick r:id="rId8"/>
              </a:rPr>
              <a:t> and how to use </a:t>
            </a:r>
            <a:r>
              <a:rPr lang="en-US" sz="1600" dirty="0" err="1">
                <a:hlinkClick r:id="rId8"/>
              </a:rPr>
              <a:t>MemoryStrea</a:t>
            </a:r>
            <a:r>
              <a:rPr lang="en-US" sz="1600" dirty="0">
                <a:hlinkClick r:id="rId8"/>
              </a:rPr>
              <a:t>... | </a:t>
            </a:r>
            <a:r>
              <a:rPr lang="en-US" sz="1600" dirty="0" err="1">
                <a:hlinkClick r:id="rId8"/>
              </a:rPr>
              <a:t>Syncfusion</a:t>
            </a:r>
            <a:r>
              <a:rPr lang="en-US" sz="1600" dirty="0">
                <a:hlinkClick r:id="rId8"/>
              </a:rPr>
              <a:t>® FAQ</a:t>
            </a:r>
            <a:endParaRPr lang="en-US" sz="1600" dirty="0"/>
          </a:p>
          <a:p>
            <a:r>
              <a:rPr lang="en-US" sz="1600" dirty="0">
                <a:hlinkClick r:id="rId9"/>
              </a:rPr>
              <a:t>Stream Class (System.IO) | Microsoft Learn</a:t>
            </a:r>
            <a:endParaRPr lang="en-US" sz="1600" dirty="0"/>
          </a:p>
          <a:p>
            <a:r>
              <a:rPr lang="en-US" sz="1600" dirty="0">
                <a:hlinkClick r:id="rId10"/>
              </a:rPr>
              <a:t>File and Stream I/O - .NET | Microsoft Learn</a:t>
            </a:r>
            <a:endParaRPr lang="en-US" sz="1600" dirty="0"/>
          </a:p>
          <a:p>
            <a:r>
              <a:rPr lang="en-US" sz="1600" dirty="0" err="1">
                <a:hlinkClick r:id="rId11"/>
              </a:rPr>
              <a:t>StreamReader</a:t>
            </a:r>
            <a:r>
              <a:rPr lang="en-US" sz="1600" dirty="0">
                <a:hlinkClick r:id="rId11"/>
              </a:rPr>
              <a:t> Class (System.IO) | Microsoft Learn</a:t>
            </a:r>
            <a:endParaRPr lang="en-US" sz="1600" dirty="0"/>
          </a:p>
          <a:p>
            <a:r>
              <a:rPr lang="en-US" sz="1600" dirty="0" err="1">
                <a:hlinkClick r:id="rId12"/>
              </a:rPr>
              <a:t>StreamWriter</a:t>
            </a:r>
            <a:r>
              <a:rPr lang="en-US" sz="1600" dirty="0">
                <a:hlinkClick r:id="rId12"/>
              </a:rPr>
              <a:t> Class (System.IO) | Microsoft Learn</a:t>
            </a:r>
            <a:endParaRPr lang="en-US" sz="1500" dirty="0">
              <a:solidFill>
                <a:schemeClr val="accent2"/>
              </a:solidFill>
              <a:latin typeface="Google Sans"/>
              <a:ea typeface="+mn-ea"/>
              <a:cs typeface="+mn-cs"/>
            </a:endParaRPr>
          </a:p>
        </p:txBody>
      </p:sp>
    </p:spTree>
    <p:extLst>
      <p:ext uri="{BB962C8B-B14F-4D97-AF65-F5344CB8AC3E}">
        <p14:creationId xmlns:p14="http://schemas.microsoft.com/office/powerpoint/2010/main" val="2713893121"/>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4216728768"/>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6" name="Picture 2" descr="The OSI model">
            <a:extLst>
              <a:ext uri="{FF2B5EF4-FFF2-40B4-BE49-F238E27FC236}">
                <a16:creationId xmlns:a16="http://schemas.microsoft.com/office/drawing/2014/main" id="{AB99D286-C4EA-C983-1981-2E275519F60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5300" y="1600200"/>
            <a:ext cx="8792500" cy="4267200"/>
          </a:xfrm>
          <a:prstGeom prst="rect">
            <a:avLst/>
          </a:prstGeom>
          <a:noFill/>
          <a:extLst>
            <a:ext uri="{909E8E84-426E-40DD-AFC4-6F175D3DCCD1}">
              <a14:hiddenFill xmlns:a14="http://schemas.microsoft.com/office/drawing/2010/main">
                <a:solidFill>
                  <a:srgbClr val="FFFFFF"/>
                </a:solidFill>
              </a14:hiddenFill>
            </a:ext>
          </a:extLst>
        </p:spPr>
      </p:pic>
      <p:sp>
        <p:nvSpPr>
          <p:cNvPr id="2" name="object 2">
            <a:extLst>
              <a:ext uri="{FF2B5EF4-FFF2-40B4-BE49-F238E27FC236}">
                <a16:creationId xmlns:a16="http://schemas.microsoft.com/office/drawing/2014/main" id="{6FC016BF-DA09-A4E1-ADFF-F18B6DE25179}"/>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2"/>
                </a:solidFill>
              </a:rPr>
              <a:t>OSI Model</a:t>
            </a:r>
          </a:p>
        </p:txBody>
      </p:sp>
    </p:spTree>
    <p:extLst>
      <p:ext uri="{BB962C8B-B14F-4D97-AF65-F5344CB8AC3E}">
        <p14:creationId xmlns:p14="http://schemas.microsoft.com/office/powerpoint/2010/main" val="4053734235"/>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DF24C-4594-6F40-4070-5EC2D541F1C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52271DA-DB84-15B2-36AA-C80D6D82C207}"/>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1812016-1257-AA3E-868F-BC71461C6256}"/>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8B8075A-A669-EB2D-B33A-9F7CA2760A8B}"/>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A66AE98-977C-F5CB-33CA-2B4795D5298F}"/>
              </a:ext>
            </a:extLst>
          </p:cNvPr>
          <p:cNvSpPr txBox="1">
            <a:spLocks/>
          </p:cNvSpPr>
          <p:nvPr/>
        </p:nvSpPr>
        <p:spPr>
          <a:xfrm>
            <a:off x="275300" y="1095844"/>
            <a:ext cx="8624937" cy="377026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OSI Model Low Level Concepts</a:t>
            </a:r>
          </a:p>
          <a:p>
            <a:r>
              <a:rPr lang="en-US" sz="1500" dirty="0">
                <a:solidFill>
                  <a:schemeClr val="accent2"/>
                </a:solidFill>
                <a:latin typeface="Google Sans"/>
              </a:rPr>
              <a:t>🌐 OSI Model Overview</a:t>
            </a:r>
          </a:p>
          <a:p>
            <a:r>
              <a:rPr lang="en-US" sz="1500" dirty="0">
                <a:solidFill>
                  <a:schemeClr val="accent6"/>
                </a:solidFill>
                <a:latin typeface="Google Sans"/>
              </a:rPr>
              <a:t>The OSI model divides network communication into seven layers, each with distinct responsibilities. The idea is to modularize networking functions, so implementation, troubleshooting, and standardization become easier.</a:t>
            </a:r>
          </a:p>
          <a:p>
            <a:endParaRPr lang="en-US" sz="1500" dirty="0">
              <a:solidFill>
                <a:schemeClr val="accent6"/>
              </a:solidFill>
              <a:latin typeface="Google Sans"/>
            </a:endParaRPr>
          </a:p>
          <a:p>
            <a:r>
              <a:rPr lang="en-US" sz="1500" dirty="0">
                <a:solidFill>
                  <a:schemeClr val="accent2"/>
                </a:solidFill>
                <a:latin typeface="Google Sans"/>
              </a:rPr>
              <a:t>Here’s a layered breakdown:</a:t>
            </a:r>
          </a:p>
          <a:p>
            <a:r>
              <a:rPr lang="en-US" sz="1500" dirty="0">
                <a:solidFill>
                  <a:schemeClr val="accent6"/>
                </a:solidFill>
                <a:latin typeface="Google Sans"/>
              </a:rPr>
              <a:t>7. Application</a:t>
            </a:r>
          </a:p>
          <a:p>
            <a:r>
              <a:rPr lang="en-US" sz="1500" dirty="0">
                <a:solidFill>
                  <a:schemeClr val="accent6"/>
                </a:solidFill>
                <a:latin typeface="Google Sans"/>
              </a:rPr>
              <a:t>6. Presentation</a:t>
            </a:r>
          </a:p>
          <a:p>
            <a:r>
              <a:rPr lang="en-US" sz="1500" dirty="0">
                <a:solidFill>
                  <a:schemeClr val="accent6"/>
                </a:solidFill>
                <a:latin typeface="Google Sans"/>
              </a:rPr>
              <a:t>5. Session</a:t>
            </a:r>
          </a:p>
          <a:p>
            <a:r>
              <a:rPr lang="en-US" sz="1500" dirty="0">
                <a:solidFill>
                  <a:schemeClr val="accent6"/>
                </a:solidFill>
                <a:latin typeface="Google Sans"/>
              </a:rPr>
              <a:t>4. Transport</a:t>
            </a:r>
          </a:p>
          <a:p>
            <a:r>
              <a:rPr lang="en-US" sz="1500" dirty="0">
                <a:solidFill>
                  <a:schemeClr val="accent6"/>
                </a:solidFill>
                <a:latin typeface="Google Sans"/>
              </a:rPr>
              <a:t>3. Network</a:t>
            </a:r>
          </a:p>
          <a:p>
            <a:r>
              <a:rPr lang="en-US" sz="1500" dirty="0">
                <a:solidFill>
                  <a:schemeClr val="accent6"/>
                </a:solidFill>
                <a:latin typeface="Google Sans"/>
              </a:rPr>
              <a:t>2. Data Link</a:t>
            </a:r>
          </a:p>
          <a:p>
            <a:r>
              <a:rPr lang="en-US" sz="1500" dirty="0">
                <a:solidFill>
                  <a:schemeClr val="accent6"/>
                </a:solidFill>
                <a:latin typeface="Google Sans"/>
              </a:rPr>
              <a:t>1. Physical</a:t>
            </a:r>
          </a:p>
          <a:p>
            <a:r>
              <a:rPr lang="en-US" sz="1500" dirty="0">
                <a:solidFill>
                  <a:schemeClr val="accent2"/>
                </a:solidFill>
                <a:latin typeface="Google Sans"/>
              </a:rPr>
              <a:t>Each layer adds its own logic, services, and data structures.</a:t>
            </a:r>
          </a:p>
          <a:p>
            <a:endParaRPr lang="en-US" sz="1500" dirty="0">
              <a:solidFill>
                <a:schemeClr val="accent6"/>
              </a:solidFill>
              <a:latin typeface="Google Sans"/>
            </a:endParaRPr>
          </a:p>
        </p:txBody>
      </p:sp>
    </p:spTree>
    <p:extLst>
      <p:ext uri="{BB962C8B-B14F-4D97-AF65-F5344CB8AC3E}">
        <p14:creationId xmlns:p14="http://schemas.microsoft.com/office/powerpoint/2010/main" val="2603733294"/>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AF424-780C-D37F-C6A5-CFC889E19AA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08E5420-D116-6526-0370-6B42A6A20F50}"/>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5BD6E3F-5236-CB6B-1261-CE79D9577C46}"/>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BC55B89-84BF-F3AA-88C0-EE26867DC843}"/>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631A9B61-7383-AF34-416D-53F63EE71A06}"/>
              </a:ext>
            </a:extLst>
          </p:cNvPr>
          <p:cNvSpPr txBox="1">
            <a:spLocks/>
          </p:cNvSpPr>
          <p:nvPr/>
        </p:nvSpPr>
        <p:spPr>
          <a:xfrm>
            <a:off x="275300" y="1095844"/>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OSI Model Low Level Concepts</a:t>
            </a:r>
          </a:p>
          <a:p>
            <a:r>
              <a:rPr lang="en-US" sz="1500" dirty="0">
                <a:solidFill>
                  <a:schemeClr val="accent2"/>
                </a:solidFill>
                <a:latin typeface="Google Sans"/>
              </a:rPr>
              <a:t>📌 Layer 7 — Application Layer</a:t>
            </a:r>
          </a:p>
          <a:p>
            <a:r>
              <a:rPr lang="en-US" sz="1500" dirty="0">
                <a:solidFill>
                  <a:schemeClr val="accent2"/>
                </a:solidFill>
                <a:latin typeface="Google Sans"/>
              </a:rPr>
              <a:t>🔎 Layer-by-Layer Functionalities + Implementation Logic</a:t>
            </a:r>
          </a:p>
          <a:p>
            <a:r>
              <a:rPr lang="en-US" sz="1500" dirty="0">
                <a:solidFill>
                  <a:schemeClr val="accent2"/>
                </a:solidFill>
                <a:latin typeface="Google Sans"/>
              </a:rPr>
              <a:t>📌 Layer 7 — Application Layer</a:t>
            </a:r>
          </a:p>
          <a:p>
            <a:r>
              <a:rPr lang="en-US" sz="1500" dirty="0">
                <a:solidFill>
                  <a:schemeClr val="accent2"/>
                </a:solidFill>
                <a:latin typeface="Google Sans"/>
              </a:rPr>
              <a:t>Primary Purpose</a:t>
            </a:r>
          </a:p>
          <a:p>
            <a:r>
              <a:rPr lang="en-US" sz="1500" dirty="0">
                <a:solidFill>
                  <a:schemeClr val="accent6"/>
                </a:solidFill>
                <a:latin typeface="Google Sans"/>
              </a:rPr>
              <a:t>Provides networking services directly to user applications. It is where users interact with the network.</a:t>
            </a:r>
          </a:p>
          <a:p>
            <a:endParaRPr lang="en-US" sz="1500" dirty="0">
              <a:solidFill>
                <a:schemeClr val="accent6"/>
              </a:solidFill>
              <a:latin typeface="Google Sans"/>
            </a:endParaRPr>
          </a:p>
          <a:p>
            <a:r>
              <a:rPr lang="en-US" sz="1500" dirty="0">
                <a:solidFill>
                  <a:schemeClr val="accent2"/>
                </a:solidFill>
                <a:latin typeface="Google Sans"/>
              </a:rPr>
              <a:t>Key Functionalities</a:t>
            </a:r>
          </a:p>
          <a:p>
            <a:r>
              <a:rPr lang="en-US" sz="1500" dirty="0">
                <a:solidFill>
                  <a:schemeClr val="accent2"/>
                </a:solidFill>
                <a:latin typeface="Google Sans"/>
              </a:rPr>
              <a:t>Function	                                                                 Description</a:t>
            </a:r>
          </a:p>
          <a:p>
            <a:r>
              <a:rPr lang="en-US" sz="1500" dirty="0">
                <a:solidFill>
                  <a:schemeClr val="accent6"/>
                </a:solidFill>
                <a:latin typeface="Google Sans"/>
              </a:rPr>
              <a:t>End-user services	                                            Enables email, web browsing, remote login, file transfer</a:t>
            </a:r>
          </a:p>
          <a:p>
            <a:r>
              <a:rPr lang="en-US" sz="1500" dirty="0">
                <a:solidFill>
                  <a:schemeClr val="accent6"/>
                </a:solidFill>
                <a:latin typeface="Google Sans"/>
              </a:rPr>
              <a:t>Application protocols	                                            HTTP, FTP, SMTP, DNS, POP3, IMAP, SNMP</a:t>
            </a:r>
          </a:p>
          <a:p>
            <a:r>
              <a:rPr lang="en-US" sz="1500" dirty="0">
                <a:solidFill>
                  <a:schemeClr val="accent6"/>
                </a:solidFill>
                <a:latin typeface="Google Sans"/>
              </a:rPr>
              <a:t>Data representation settings	                       Negotiates formats between systems</a:t>
            </a:r>
          </a:p>
          <a:p>
            <a:r>
              <a:rPr lang="en-US" sz="1500" dirty="0">
                <a:solidFill>
                  <a:schemeClr val="accent6"/>
                </a:solidFill>
                <a:latin typeface="Google Sans"/>
              </a:rPr>
              <a:t>Resource sharing and device redirection	 File and printer sharing, remote drives</a:t>
            </a:r>
          </a:p>
          <a:p>
            <a:r>
              <a:rPr lang="en-US" sz="1500" dirty="0">
                <a:solidFill>
                  <a:schemeClr val="accent2"/>
                </a:solidFill>
                <a:latin typeface="Google Sans"/>
              </a:rPr>
              <a:t>Implementation Logic</a:t>
            </a:r>
          </a:p>
          <a:p>
            <a:r>
              <a:rPr lang="en-US" sz="1500" dirty="0">
                <a:solidFill>
                  <a:schemeClr val="accent2"/>
                </a:solidFill>
                <a:latin typeface="Google Sans"/>
              </a:rPr>
              <a:t>Service Invocation Logic:</a:t>
            </a:r>
            <a:r>
              <a:rPr lang="en-US" sz="1500" dirty="0">
                <a:solidFill>
                  <a:schemeClr val="accent6"/>
                </a:solidFill>
                <a:latin typeface="Google Sans"/>
              </a:rPr>
              <a:t> Apps (e.g., browsers) initiate sessions using application protocols.</a:t>
            </a:r>
          </a:p>
          <a:p>
            <a:r>
              <a:rPr lang="en-US" sz="1500" dirty="0">
                <a:solidFill>
                  <a:schemeClr val="accent2"/>
                </a:solidFill>
                <a:latin typeface="Google Sans"/>
              </a:rPr>
              <a:t>Protocol Handlers: </a:t>
            </a:r>
            <a:r>
              <a:rPr lang="en-US" sz="1500" dirty="0">
                <a:solidFill>
                  <a:schemeClr val="accent6"/>
                </a:solidFill>
                <a:latin typeface="Google Sans"/>
              </a:rPr>
              <a:t>Each application implements a protocol stack—e.g., HTTP parser in browsers.</a:t>
            </a:r>
          </a:p>
          <a:p>
            <a:r>
              <a:rPr lang="en-US" sz="1500" dirty="0">
                <a:solidFill>
                  <a:schemeClr val="accent2"/>
                </a:solidFill>
                <a:latin typeface="Google Sans"/>
              </a:rPr>
              <a:t>API Access: </a:t>
            </a:r>
            <a:r>
              <a:rPr lang="en-US" sz="1500" dirty="0">
                <a:solidFill>
                  <a:schemeClr val="accent6"/>
                </a:solidFill>
                <a:latin typeface="Google Sans"/>
              </a:rPr>
              <a:t>Uses system network APIs (e.g., sockets in OS) to send/receive data.</a:t>
            </a:r>
          </a:p>
          <a:p>
            <a:r>
              <a:rPr lang="en-US" sz="1500" dirty="0">
                <a:solidFill>
                  <a:schemeClr val="accent2"/>
                </a:solidFill>
                <a:latin typeface="Google Sans"/>
              </a:rPr>
              <a:t>Request/Response: </a:t>
            </a:r>
            <a:r>
              <a:rPr lang="en-US" sz="1500" dirty="0">
                <a:solidFill>
                  <a:schemeClr val="accent6"/>
                </a:solidFill>
                <a:latin typeface="Google Sans"/>
              </a:rPr>
              <a:t>Implements request headers, status codes, commands (e.g., HTTP GET/POST).</a:t>
            </a:r>
          </a:p>
          <a:p>
            <a:r>
              <a:rPr lang="en-US" sz="1500" dirty="0">
                <a:solidFill>
                  <a:schemeClr val="accent2"/>
                </a:solidFill>
                <a:latin typeface="Google Sans"/>
              </a:rPr>
              <a:t>Authentication and access:</a:t>
            </a:r>
            <a:r>
              <a:rPr lang="en-US" sz="1500" dirty="0">
                <a:solidFill>
                  <a:schemeClr val="accent6"/>
                </a:solidFill>
                <a:latin typeface="Google Sans"/>
              </a:rPr>
              <a:t> Handles encryption credentials, session tokens.</a:t>
            </a:r>
          </a:p>
          <a:p>
            <a:r>
              <a:rPr lang="en-US" sz="1500" dirty="0">
                <a:solidFill>
                  <a:schemeClr val="accent2"/>
                </a:solidFill>
                <a:latin typeface="Google Sans"/>
              </a:rPr>
              <a:t>Example:</a:t>
            </a:r>
            <a:r>
              <a:rPr lang="en-US" sz="1500" dirty="0">
                <a:solidFill>
                  <a:schemeClr val="accent6"/>
                </a:solidFill>
                <a:latin typeface="Google Sans"/>
              </a:rPr>
              <a:t> In HTTP, a client constructs a request, resolves domain via DNS (Layer 7), and issues GET/POST commands. The server responds with status codes and payload.</a:t>
            </a:r>
          </a:p>
        </p:txBody>
      </p:sp>
    </p:spTree>
    <p:extLst>
      <p:ext uri="{BB962C8B-B14F-4D97-AF65-F5344CB8AC3E}">
        <p14:creationId xmlns:p14="http://schemas.microsoft.com/office/powerpoint/2010/main" val="2494066206"/>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DAE5C-3BB6-0F38-3149-604EA4D4FB4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931FB2D-25B7-3844-A66E-08BFE9C3E32E}"/>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F6FC53B-9FEF-A4A8-5141-166926EDA2FD}"/>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46F94B1-0FE3-5EB2-BA6D-FC8BA398FFE9}"/>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824D9F82-0F07-BA80-034C-5523D3800032}"/>
              </a:ext>
            </a:extLst>
          </p:cNvPr>
          <p:cNvSpPr txBox="1">
            <a:spLocks/>
          </p:cNvSpPr>
          <p:nvPr/>
        </p:nvSpPr>
        <p:spPr>
          <a:xfrm>
            <a:off x="275300" y="1095844"/>
            <a:ext cx="8624937" cy="46935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OSI Model Low Level Concepts</a:t>
            </a:r>
          </a:p>
          <a:p>
            <a:r>
              <a:rPr lang="en-US" sz="1500" dirty="0">
                <a:solidFill>
                  <a:schemeClr val="accent2"/>
                </a:solidFill>
                <a:latin typeface="Google Sans"/>
              </a:rPr>
              <a:t>📌 Layer 6 — Presentation Layer</a:t>
            </a:r>
          </a:p>
          <a:p>
            <a:r>
              <a:rPr lang="en-US" sz="1500" dirty="0">
                <a:solidFill>
                  <a:schemeClr val="accent2"/>
                </a:solidFill>
                <a:latin typeface="Google Sans"/>
              </a:rPr>
              <a:t>Primary Purpose</a:t>
            </a:r>
          </a:p>
          <a:p>
            <a:r>
              <a:rPr lang="en-US" sz="1500" dirty="0">
                <a:solidFill>
                  <a:schemeClr val="accent6"/>
                </a:solidFill>
                <a:latin typeface="Google Sans"/>
              </a:rPr>
              <a:t>Formats and translates application data into a standard representation for network syntax.</a:t>
            </a:r>
          </a:p>
          <a:p>
            <a:endParaRPr lang="en-US" sz="1500" dirty="0">
              <a:solidFill>
                <a:schemeClr val="accent6"/>
              </a:solidFill>
              <a:latin typeface="Google Sans"/>
            </a:endParaRPr>
          </a:p>
          <a:p>
            <a:r>
              <a:rPr lang="en-US" sz="1500" dirty="0">
                <a:solidFill>
                  <a:schemeClr val="accent2"/>
                </a:solidFill>
                <a:latin typeface="Google Sans"/>
              </a:rPr>
              <a:t>Key Functionalities</a:t>
            </a:r>
          </a:p>
          <a:p>
            <a:r>
              <a:rPr lang="en-US" sz="1500" dirty="0">
                <a:solidFill>
                  <a:schemeClr val="accent2"/>
                </a:solidFill>
                <a:latin typeface="Google Sans"/>
              </a:rPr>
              <a:t>Function	                                            Description</a:t>
            </a:r>
          </a:p>
          <a:p>
            <a:r>
              <a:rPr lang="en-US" sz="1500" dirty="0">
                <a:solidFill>
                  <a:schemeClr val="accent6"/>
                </a:solidFill>
                <a:latin typeface="Google Sans"/>
              </a:rPr>
              <a:t>Data translation	                       Syncs different data formats between machines</a:t>
            </a:r>
          </a:p>
          <a:p>
            <a:r>
              <a:rPr lang="en-US" sz="1500" dirty="0">
                <a:solidFill>
                  <a:schemeClr val="accent6"/>
                </a:solidFill>
                <a:latin typeface="Google Sans"/>
              </a:rPr>
              <a:t>Encryption/Decryption	                       SSL/TLS, data confidentiality</a:t>
            </a:r>
          </a:p>
          <a:p>
            <a:r>
              <a:rPr lang="en-US" sz="1500" dirty="0">
                <a:solidFill>
                  <a:schemeClr val="accent6"/>
                </a:solidFill>
                <a:latin typeface="Google Sans"/>
              </a:rPr>
              <a:t>Compression/Decompression	  Reduces data size (ZIP, JPEG, MPEG)</a:t>
            </a:r>
          </a:p>
          <a:p>
            <a:r>
              <a:rPr lang="en-US" sz="1500" dirty="0">
                <a:solidFill>
                  <a:schemeClr val="accent6"/>
                </a:solidFill>
                <a:latin typeface="Google Sans"/>
              </a:rPr>
              <a:t>Character encoding	                       ASCII, Unicode conversions</a:t>
            </a:r>
          </a:p>
          <a:p>
            <a:r>
              <a:rPr lang="en-US" sz="1500" dirty="0">
                <a:solidFill>
                  <a:schemeClr val="accent2"/>
                </a:solidFill>
                <a:latin typeface="Google Sans"/>
              </a:rPr>
              <a:t>Implementation Logic</a:t>
            </a:r>
          </a:p>
          <a:p>
            <a:r>
              <a:rPr lang="en-US" sz="1500" dirty="0">
                <a:solidFill>
                  <a:schemeClr val="accent2"/>
                </a:solidFill>
                <a:latin typeface="Google Sans"/>
              </a:rPr>
              <a:t>Format negotiation:</a:t>
            </a:r>
            <a:r>
              <a:rPr lang="en-US" sz="1500" dirty="0">
                <a:solidFill>
                  <a:schemeClr val="accent6"/>
                </a:solidFill>
                <a:latin typeface="Google Sans"/>
              </a:rPr>
              <a:t> Systems negotiate supported formats (e.g., TLS version, cipher suites).</a:t>
            </a:r>
          </a:p>
          <a:p>
            <a:r>
              <a:rPr lang="en-US" sz="1500" dirty="0">
                <a:solidFill>
                  <a:schemeClr val="accent2"/>
                </a:solidFill>
                <a:latin typeface="Google Sans"/>
              </a:rPr>
              <a:t>Serialization/Deserialization:</a:t>
            </a:r>
            <a:r>
              <a:rPr lang="en-US" sz="1500" dirty="0">
                <a:solidFill>
                  <a:schemeClr val="accent6"/>
                </a:solidFill>
                <a:latin typeface="Google Sans"/>
              </a:rPr>
              <a:t> Converts application objects to network byte sequences.</a:t>
            </a:r>
          </a:p>
          <a:p>
            <a:r>
              <a:rPr lang="en-US" sz="1500" dirty="0">
                <a:solidFill>
                  <a:schemeClr val="accent2"/>
                </a:solidFill>
                <a:latin typeface="Google Sans"/>
              </a:rPr>
              <a:t>Encryption modules:</a:t>
            </a:r>
            <a:r>
              <a:rPr lang="en-US" sz="1500" dirty="0">
                <a:solidFill>
                  <a:schemeClr val="accent6"/>
                </a:solidFill>
                <a:latin typeface="Google Sans"/>
              </a:rPr>
              <a:t> Uses crypto libraries (e.g., OpenSSL) to process TLS handshakes, certificates.</a:t>
            </a:r>
          </a:p>
          <a:p>
            <a:r>
              <a:rPr lang="en-US" sz="1500" dirty="0">
                <a:solidFill>
                  <a:schemeClr val="accent2"/>
                </a:solidFill>
                <a:latin typeface="Google Sans"/>
              </a:rPr>
              <a:t>Data compaction:</a:t>
            </a:r>
            <a:r>
              <a:rPr lang="en-US" sz="1500" dirty="0">
                <a:solidFill>
                  <a:schemeClr val="accent6"/>
                </a:solidFill>
                <a:latin typeface="Google Sans"/>
              </a:rPr>
              <a:t> Applies compression algorithms (</a:t>
            </a:r>
            <a:r>
              <a:rPr lang="en-US" sz="1500" dirty="0" err="1">
                <a:solidFill>
                  <a:schemeClr val="accent6"/>
                </a:solidFill>
                <a:latin typeface="Google Sans"/>
              </a:rPr>
              <a:t>gzip</a:t>
            </a:r>
            <a:r>
              <a:rPr lang="en-US" sz="1500" dirty="0">
                <a:solidFill>
                  <a:schemeClr val="accent6"/>
                </a:solidFill>
                <a:latin typeface="Google Sans"/>
              </a:rPr>
              <a:t>) before sending.</a:t>
            </a:r>
          </a:p>
          <a:p>
            <a:r>
              <a:rPr lang="en-US" sz="1500" dirty="0">
                <a:solidFill>
                  <a:schemeClr val="accent6"/>
                </a:solidFill>
                <a:latin typeface="Google Sans"/>
              </a:rPr>
              <a:t>With TLS, the presentation layer wraps data into secure frames and negotiates encryption parameters before passing to lower layers.</a:t>
            </a:r>
          </a:p>
          <a:p>
            <a:endParaRPr lang="en-US" sz="1500" dirty="0">
              <a:solidFill>
                <a:schemeClr val="accent6"/>
              </a:solidFill>
              <a:latin typeface="Google Sans"/>
            </a:endParaRPr>
          </a:p>
          <a:p>
            <a:endParaRPr lang="en-US" sz="1500" dirty="0">
              <a:solidFill>
                <a:schemeClr val="accent6"/>
              </a:solidFill>
              <a:latin typeface="Google Sans"/>
            </a:endParaRPr>
          </a:p>
        </p:txBody>
      </p:sp>
    </p:spTree>
    <p:extLst>
      <p:ext uri="{BB962C8B-B14F-4D97-AF65-F5344CB8AC3E}">
        <p14:creationId xmlns:p14="http://schemas.microsoft.com/office/powerpoint/2010/main" val="3900122494"/>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24662-1DE8-9295-F538-697E52AF95E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E297781-AF04-CE4A-AC46-2F8269CD633D}"/>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DE2A451-2A16-AC54-3155-DC51591234C7}"/>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93DD356-E7F2-9898-01F1-8454BEEF18F3}"/>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718F2D0-B683-7A41-B97A-2827FBA25BFB}"/>
              </a:ext>
            </a:extLst>
          </p:cNvPr>
          <p:cNvSpPr txBox="1">
            <a:spLocks/>
          </p:cNvSpPr>
          <p:nvPr/>
        </p:nvSpPr>
        <p:spPr>
          <a:xfrm>
            <a:off x="275300" y="1095844"/>
            <a:ext cx="8624937" cy="42319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OSI Model Low Level Concepts</a:t>
            </a:r>
          </a:p>
          <a:p>
            <a:r>
              <a:rPr lang="en-US" sz="1500" dirty="0">
                <a:solidFill>
                  <a:schemeClr val="accent2"/>
                </a:solidFill>
                <a:latin typeface="Google Sans"/>
              </a:rPr>
              <a:t>📌 Layer 5 — Session Layer</a:t>
            </a:r>
          </a:p>
          <a:p>
            <a:r>
              <a:rPr lang="en-US" sz="1500" dirty="0">
                <a:solidFill>
                  <a:schemeClr val="accent2"/>
                </a:solidFill>
                <a:latin typeface="Google Sans"/>
              </a:rPr>
              <a:t>Primary Purpose</a:t>
            </a:r>
          </a:p>
          <a:p>
            <a:r>
              <a:rPr lang="en-US" sz="1500" dirty="0">
                <a:solidFill>
                  <a:schemeClr val="accent6"/>
                </a:solidFill>
                <a:latin typeface="Google Sans"/>
              </a:rPr>
              <a:t>Manages dialogue control and synchronization between applications.</a:t>
            </a:r>
          </a:p>
          <a:p>
            <a:endParaRPr lang="en-US" sz="1500" dirty="0">
              <a:solidFill>
                <a:schemeClr val="accent6"/>
              </a:solidFill>
              <a:latin typeface="Google Sans"/>
            </a:endParaRPr>
          </a:p>
          <a:p>
            <a:r>
              <a:rPr lang="en-US" sz="1500" dirty="0">
                <a:solidFill>
                  <a:schemeClr val="accent2"/>
                </a:solidFill>
                <a:latin typeface="Google Sans"/>
              </a:rPr>
              <a:t>Key Functionalities</a:t>
            </a:r>
          </a:p>
          <a:p>
            <a:r>
              <a:rPr lang="en-US" sz="1500" dirty="0">
                <a:solidFill>
                  <a:schemeClr val="accent2"/>
                </a:solidFill>
                <a:latin typeface="Google Sans"/>
              </a:rPr>
              <a:t>Function	                           Description</a:t>
            </a:r>
          </a:p>
          <a:p>
            <a:r>
              <a:rPr lang="en-US" sz="1500" dirty="0">
                <a:solidFill>
                  <a:schemeClr val="accent6"/>
                </a:solidFill>
                <a:latin typeface="Google Sans"/>
              </a:rPr>
              <a:t>Session establishment	      Create/maintain sessions</a:t>
            </a:r>
          </a:p>
          <a:p>
            <a:r>
              <a:rPr lang="en-US" sz="1500" dirty="0">
                <a:solidFill>
                  <a:schemeClr val="accent6"/>
                </a:solidFill>
                <a:latin typeface="Google Sans"/>
              </a:rPr>
              <a:t>Dialog control	      Full duplex / half-duplex negotiation</a:t>
            </a:r>
          </a:p>
          <a:p>
            <a:r>
              <a:rPr lang="en-US" sz="1500" dirty="0">
                <a:solidFill>
                  <a:schemeClr val="accent6"/>
                </a:solidFill>
                <a:latin typeface="Google Sans"/>
              </a:rPr>
              <a:t>Synchronization points	      Checkpoints in long transfers</a:t>
            </a:r>
          </a:p>
          <a:p>
            <a:r>
              <a:rPr lang="en-US" sz="1500" dirty="0">
                <a:solidFill>
                  <a:schemeClr val="accent6"/>
                </a:solidFill>
                <a:latin typeface="Google Sans"/>
              </a:rPr>
              <a:t>Recovery services	      Resume after interruptions</a:t>
            </a:r>
          </a:p>
          <a:p>
            <a:r>
              <a:rPr lang="en-US" sz="1500" dirty="0">
                <a:solidFill>
                  <a:schemeClr val="accent2"/>
                </a:solidFill>
                <a:latin typeface="Google Sans"/>
              </a:rPr>
              <a:t>Implementation Logic</a:t>
            </a:r>
          </a:p>
          <a:p>
            <a:r>
              <a:rPr lang="en-US" sz="1500" dirty="0">
                <a:solidFill>
                  <a:schemeClr val="accent2"/>
                </a:solidFill>
                <a:latin typeface="Google Sans"/>
              </a:rPr>
              <a:t>Session creation handshake: </a:t>
            </a:r>
            <a:r>
              <a:rPr lang="en-US" sz="1500" dirty="0">
                <a:solidFill>
                  <a:schemeClr val="accent6"/>
                </a:solidFill>
                <a:latin typeface="Google Sans"/>
              </a:rPr>
              <a:t>Negotiates session parameters.</a:t>
            </a:r>
          </a:p>
          <a:p>
            <a:r>
              <a:rPr lang="en-US" sz="1500" dirty="0">
                <a:solidFill>
                  <a:schemeClr val="accent2"/>
                </a:solidFill>
                <a:latin typeface="Google Sans"/>
              </a:rPr>
              <a:t>Token management: </a:t>
            </a:r>
            <a:r>
              <a:rPr lang="en-US" sz="1500" dirty="0">
                <a:solidFill>
                  <a:schemeClr val="accent6"/>
                </a:solidFill>
                <a:latin typeface="Google Sans"/>
              </a:rPr>
              <a:t>Controls who transmits in half-duplex systems.</a:t>
            </a:r>
          </a:p>
          <a:p>
            <a:r>
              <a:rPr lang="en-US" sz="1500" dirty="0">
                <a:solidFill>
                  <a:schemeClr val="accent2"/>
                </a:solidFill>
                <a:latin typeface="Google Sans"/>
              </a:rPr>
              <a:t>Ack/Nak logic: </a:t>
            </a:r>
            <a:r>
              <a:rPr lang="en-US" sz="1500" dirty="0">
                <a:solidFill>
                  <a:schemeClr val="accent6"/>
                </a:solidFill>
                <a:latin typeface="Google Sans"/>
              </a:rPr>
              <a:t>Optional synchronizing acknowledgments.</a:t>
            </a:r>
          </a:p>
          <a:p>
            <a:r>
              <a:rPr lang="en-US" sz="1500" dirty="0">
                <a:solidFill>
                  <a:schemeClr val="accent2"/>
                </a:solidFill>
                <a:latin typeface="Google Sans"/>
              </a:rPr>
              <a:t>Checkpoint markers:</a:t>
            </a:r>
            <a:r>
              <a:rPr lang="en-US" sz="1500" dirty="0">
                <a:solidFill>
                  <a:schemeClr val="accent6"/>
                </a:solidFill>
                <a:latin typeface="Google Sans"/>
              </a:rPr>
              <a:t> Inserts checkpoints to resume long transfers.</a:t>
            </a:r>
          </a:p>
          <a:p>
            <a:r>
              <a:rPr lang="en-US" sz="1500" dirty="0">
                <a:solidFill>
                  <a:schemeClr val="accent2"/>
                </a:solidFill>
                <a:latin typeface="Google Sans"/>
              </a:rPr>
              <a:t>Example: </a:t>
            </a:r>
            <a:r>
              <a:rPr lang="en-US" sz="1500" dirty="0">
                <a:solidFill>
                  <a:schemeClr val="accent6"/>
                </a:solidFill>
                <a:latin typeface="Google Sans"/>
              </a:rPr>
              <a:t>In remote procedure call systems (RPC), sessions ensure both ends are synchronized, and if a connection drops, they can resume from the last checkpoint.</a:t>
            </a:r>
          </a:p>
        </p:txBody>
      </p:sp>
    </p:spTree>
    <p:extLst>
      <p:ext uri="{BB962C8B-B14F-4D97-AF65-F5344CB8AC3E}">
        <p14:creationId xmlns:p14="http://schemas.microsoft.com/office/powerpoint/2010/main" val="1206860553"/>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A0BBA-AF28-8041-5D81-E45080C414E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ED5E821-DC63-A653-8261-7283914CF8FC}"/>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32ABB11-D1C5-7DC5-D896-54331CA6A255}"/>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08E637A-9EE8-C50A-26F6-D150B791B10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5B77F068-27A1-6BDE-5393-C27DB67AC143}"/>
              </a:ext>
            </a:extLst>
          </p:cNvPr>
          <p:cNvSpPr txBox="1">
            <a:spLocks/>
          </p:cNvSpPr>
          <p:nvPr/>
        </p:nvSpPr>
        <p:spPr>
          <a:xfrm>
            <a:off x="275300" y="1095844"/>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OSI Model Low Level Concepts</a:t>
            </a:r>
          </a:p>
          <a:p>
            <a:r>
              <a:rPr lang="en-US" sz="1500" dirty="0">
                <a:solidFill>
                  <a:schemeClr val="accent2"/>
                </a:solidFill>
                <a:latin typeface="Google Sans"/>
              </a:rPr>
              <a:t>📌 Layer 4 — Transport Layer</a:t>
            </a:r>
          </a:p>
          <a:p>
            <a:r>
              <a:rPr lang="en-US" sz="1500" dirty="0">
                <a:solidFill>
                  <a:schemeClr val="accent2"/>
                </a:solidFill>
                <a:latin typeface="Google Sans"/>
              </a:rPr>
              <a:t>Primary Purpose</a:t>
            </a:r>
          </a:p>
          <a:p>
            <a:r>
              <a:rPr lang="en-US" sz="1500" dirty="0">
                <a:solidFill>
                  <a:schemeClr val="accent6"/>
                </a:solidFill>
                <a:latin typeface="Google Sans"/>
              </a:rPr>
              <a:t>Provides reliable or best-effort delivery of data, manages end-to-end delivery, flow control, error control, and segmentation.</a:t>
            </a:r>
          </a:p>
          <a:p>
            <a:endParaRPr lang="en-US" sz="1500" dirty="0">
              <a:solidFill>
                <a:schemeClr val="accent6"/>
              </a:solidFill>
              <a:latin typeface="Google Sans"/>
            </a:endParaRPr>
          </a:p>
          <a:p>
            <a:r>
              <a:rPr lang="en-US" sz="1500" dirty="0">
                <a:solidFill>
                  <a:schemeClr val="accent2"/>
                </a:solidFill>
                <a:latin typeface="Google Sans"/>
              </a:rPr>
              <a:t>Key Functionalities</a:t>
            </a:r>
          </a:p>
          <a:p>
            <a:r>
              <a:rPr lang="en-US" sz="1500" dirty="0">
                <a:solidFill>
                  <a:schemeClr val="accent2"/>
                </a:solidFill>
                <a:latin typeface="Google Sans"/>
              </a:rPr>
              <a:t>Function	                                           Description</a:t>
            </a:r>
          </a:p>
          <a:p>
            <a:r>
              <a:rPr lang="en-US" sz="1500" dirty="0">
                <a:solidFill>
                  <a:schemeClr val="accent6"/>
                </a:solidFill>
                <a:latin typeface="Google Sans"/>
              </a:rPr>
              <a:t>Segmentation / reassembly	Splits stream into smaller units</a:t>
            </a:r>
          </a:p>
          <a:p>
            <a:r>
              <a:rPr lang="en-US" sz="1500" dirty="0">
                <a:solidFill>
                  <a:schemeClr val="accent6"/>
                </a:solidFill>
                <a:latin typeface="Google Sans"/>
              </a:rPr>
              <a:t>End-to-end connection	                     Establish, maintain, teardown connections</a:t>
            </a:r>
          </a:p>
          <a:p>
            <a:r>
              <a:rPr lang="en-US" sz="1500" dirty="0">
                <a:solidFill>
                  <a:schemeClr val="accent6"/>
                </a:solidFill>
                <a:latin typeface="Google Sans"/>
              </a:rPr>
              <a:t>Reliability	                                          ACKs, timeouts, retransmissions</a:t>
            </a:r>
          </a:p>
          <a:p>
            <a:r>
              <a:rPr lang="en-US" sz="1500" dirty="0">
                <a:solidFill>
                  <a:schemeClr val="accent6"/>
                </a:solidFill>
                <a:latin typeface="Google Sans"/>
              </a:rPr>
              <a:t>Flow control	                     Sliding window, congestion avoidance</a:t>
            </a:r>
          </a:p>
          <a:p>
            <a:r>
              <a:rPr lang="en-US" sz="1500" dirty="0">
                <a:solidFill>
                  <a:schemeClr val="accent6"/>
                </a:solidFill>
                <a:latin typeface="Google Sans"/>
              </a:rPr>
              <a:t>Port addressing	                     Multiplexing between apps</a:t>
            </a:r>
          </a:p>
          <a:p>
            <a:r>
              <a:rPr lang="en-US" sz="1500" dirty="0">
                <a:solidFill>
                  <a:schemeClr val="accent2"/>
                </a:solidFill>
                <a:latin typeface="Google Sans"/>
              </a:rPr>
              <a:t>Implementation Logic</a:t>
            </a:r>
          </a:p>
          <a:p>
            <a:r>
              <a:rPr lang="en-US" sz="1500" dirty="0">
                <a:solidFill>
                  <a:schemeClr val="accent2"/>
                </a:solidFill>
                <a:latin typeface="Google Sans"/>
              </a:rPr>
              <a:t>Transport protocols are implemented inside OS kernels or networking libraries &amp; kernel space needs to be used for the same.</a:t>
            </a:r>
          </a:p>
          <a:p>
            <a:r>
              <a:rPr lang="en-US" sz="1500" dirty="0">
                <a:solidFill>
                  <a:schemeClr val="accent6"/>
                </a:solidFill>
                <a:latin typeface="Google Sans"/>
              </a:rPr>
              <a:t>TCP (Transmission Control Protocol) — Reliable</a:t>
            </a:r>
          </a:p>
          <a:p>
            <a:r>
              <a:rPr lang="en-US" sz="1500" dirty="0">
                <a:solidFill>
                  <a:schemeClr val="accent6"/>
                </a:solidFill>
                <a:latin typeface="Google Sans"/>
              </a:rPr>
              <a:t>Three-way handshake: SYN → SYN-ACK → ACK</a:t>
            </a:r>
          </a:p>
          <a:p>
            <a:r>
              <a:rPr lang="en-US" sz="1500" dirty="0">
                <a:solidFill>
                  <a:schemeClr val="accent2"/>
                </a:solidFill>
                <a:latin typeface="Google Sans"/>
              </a:rPr>
              <a:t>Sequencing: </a:t>
            </a:r>
            <a:r>
              <a:rPr lang="en-US" sz="1500" dirty="0">
                <a:solidFill>
                  <a:schemeClr val="accent6"/>
                </a:solidFill>
                <a:latin typeface="Google Sans"/>
              </a:rPr>
              <a:t>Labels segments with sequence numbers</a:t>
            </a:r>
          </a:p>
          <a:p>
            <a:r>
              <a:rPr lang="en-US" sz="1500" dirty="0">
                <a:solidFill>
                  <a:schemeClr val="accent2"/>
                </a:solidFill>
                <a:latin typeface="Google Sans"/>
              </a:rPr>
              <a:t>ACK/NACK: </a:t>
            </a:r>
            <a:r>
              <a:rPr lang="en-US" sz="1500" dirty="0">
                <a:solidFill>
                  <a:schemeClr val="accent6"/>
                </a:solidFill>
                <a:latin typeface="Google Sans"/>
              </a:rPr>
              <a:t>Acknowledges received data</a:t>
            </a:r>
          </a:p>
          <a:p>
            <a:r>
              <a:rPr lang="en-US" sz="1500" dirty="0">
                <a:solidFill>
                  <a:schemeClr val="accent2"/>
                </a:solidFill>
                <a:latin typeface="Google Sans"/>
              </a:rPr>
              <a:t>Retransmission timers: </a:t>
            </a:r>
            <a:r>
              <a:rPr lang="en-US" sz="1500" dirty="0">
                <a:solidFill>
                  <a:schemeClr val="accent6"/>
                </a:solidFill>
                <a:latin typeface="Google Sans"/>
              </a:rPr>
              <a:t>Retransmits lost segments</a:t>
            </a:r>
          </a:p>
        </p:txBody>
      </p:sp>
    </p:spTree>
    <p:extLst>
      <p:ext uri="{BB962C8B-B14F-4D97-AF65-F5344CB8AC3E}">
        <p14:creationId xmlns:p14="http://schemas.microsoft.com/office/powerpoint/2010/main" val="1494132770"/>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845DF-857A-1121-82C8-26F4B832ADC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ADDD361-3E16-5CB6-C13D-E3AC64A1BCED}"/>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8760E38-763C-E022-CEBE-F1D1CA4C6AC3}"/>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9C924B0-DF54-17BA-5AB3-F618527845C9}"/>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8E410F87-1F68-EE0E-6A0E-86D674F3CEDA}"/>
              </a:ext>
            </a:extLst>
          </p:cNvPr>
          <p:cNvSpPr txBox="1">
            <a:spLocks/>
          </p:cNvSpPr>
          <p:nvPr/>
        </p:nvSpPr>
        <p:spPr>
          <a:xfrm>
            <a:off x="275300" y="1095844"/>
            <a:ext cx="8624937" cy="46935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OSI Model Low Level Concepts</a:t>
            </a:r>
          </a:p>
          <a:p>
            <a:r>
              <a:rPr lang="en-US" sz="1500" dirty="0">
                <a:solidFill>
                  <a:schemeClr val="accent2"/>
                </a:solidFill>
                <a:latin typeface="Google Sans"/>
              </a:rPr>
              <a:t>📌 Layer 4 — Transport Layer</a:t>
            </a:r>
          </a:p>
          <a:p>
            <a:r>
              <a:rPr lang="en-US" sz="1500" dirty="0">
                <a:solidFill>
                  <a:schemeClr val="accent2"/>
                </a:solidFill>
                <a:latin typeface="Google Sans"/>
              </a:rPr>
              <a:t>Implementation Logic</a:t>
            </a:r>
          </a:p>
          <a:p>
            <a:r>
              <a:rPr lang="en-US" sz="1500" dirty="0">
                <a:solidFill>
                  <a:schemeClr val="accent2"/>
                </a:solidFill>
                <a:latin typeface="Google Sans"/>
              </a:rPr>
              <a:t>Flow control:</a:t>
            </a:r>
            <a:r>
              <a:rPr lang="en-US" sz="1500" dirty="0">
                <a:solidFill>
                  <a:schemeClr val="accent6"/>
                </a:solidFill>
                <a:latin typeface="Google Sans"/>
              </a:rPr>
              <a:t> Uses sliding windows to regulate sender speed</a:t>
            </a:r>
          </a:p>
          <a:p>
            <a:r>
              <a:rPr lang="en-US" sz="1500" dirty="0">
                <a:solidFill>
                  <a:schemeClr val="accent2"/>
                </a:solidFill>
                <a:latin typeface="Google Sans"/>
              </a:rPr>
              <a:t>Congestion control:</a:t>
            </a:r>
            <a:r>
              <a:rPr lang="en-US" sz="1500" dirty="0">
                <a:solidFill>
                  <a:schemeClr val="accent6"/>
                </a:solidFill>
                <a:latin typeface="Google Sans"/>
              </a:rPr>
              <a:t> Uses algorithms like Reno, CUBIC</a:t>
            </a:r>
          </a:p>
          <a:p>
            <a:r>
              <a:rPr lang="en-US" sz="1500" dirty="0">
                <a:solidFill>
                  <a:schemeClr val="accent6"/>
                </a:solidFill>
                <a:latin typeface="Google Sans"/>
              </a:rPr>
              <a:t>UDP (User Datagram Protocol) — Unreliable</a:t>
            </a:r>
          </a:p>
          <a:p>
            <a:r>
              <a:rPr lang="en-US" sz="1500" dirty="0">
                <a:solidFill>
                  <a:schemeClr val="accent6"/>
                </a:solidFill>
                <a:latin typeface="Google Sans"/>
              </a:rPr>
              <a:t>Sends datagrams without handshake or reordering.</a:t>
            </a:r>
          </a:p>
          <a:p>
            <a:r>
              <a:rPr lang="en-US" sz="1500" dirty="0">
                <a:solidFill>
                  <a:schemeClr val="accent6"/>
                </a:solidFill>
                <a:latin typeface="Google Sans"/>
              </a:rPr>
              <a:t>No error recovery; simple checksum only.</a:t>
            </a:r>
          </a:p>
          <a:p>
            <a:endParaRPr lang="en-US" sz="1500" dirty="0">
              <a:solidFill>
                <a:schemeClr val="accent6"/>
              </a:solidFill>
              <a:latin typeface="Google Sans"/>
            </a:endParaRPr>
          </a:p>
          <a:p>
            <a:r>
              <a:rPr lang="en-US" sz="1500" dirty="0">
                <a:solidFill>
                  <a:schemeClr val="accent2"/>
                </a:solidFill>
                <a:latin typeface="Google Sans"/>
              </a:rPr>
              <a:t>📌 Layer 3 — Network Layer</a:t>
            </a:r>
          </a:p>
          <a:p>
            <a:r>
              <a:rPr lang="en-US" sz="1500" dirty="0">
                <a:solidFill>
                  <a:schemeClr val="accent2"/>
                </a:solidFill>
                <a:latin typeface="Google Sans"/>
              </a:rPr>
              <a:t>Primary Purpose</a:t>
            </a:r>
          </a:p>
          <a:p>
            <a:r>
              <a:rPr lang="en-US" sz="1500" dirty="0">
                <a:solidFill>
                  <a:schemeClr val="accent6"/>
                </a:solidFill>
                <a:latin typeface="Google Sans"/>
              </a:rPr>
              <a:t>Handles routing, addressing, and forwarding packets across multiple networks.</a:t>
            </a:r>
          </a:p>
          <a:p>
            <a:endParaRPr lang="en-US" sz="1500" dirty="0">
              <a:solidFill>
                <a:schemeClr val="accent6"/>
              </a:solidFill>
              <a:latin typeface="Google Sans"/>
            </a:endParaRPr>
          </a:p>
          <a:p>
            <a:r>
              <a:rPr lang="en-US" sz="1500" dirty="0">
                <a:solidFill>
                  <a:schemeClr val="accent2"/>
                </a:solidFill>
                <a:latin typeface="Google Sans"/>
              </a:rPr>
              <a:t>Key Functionalities</a:t>
            </a:r>
          </a:p>
          <a:p>
            <a:r>
              <a:rPr lang="en-US" sz="1500" dirty="0">
                <a:solidFill>
                  <a:schemeClr val="accent2"/>
                </a:solidFill>
                <a:latin typeface="Google Sans"/>
              </a:rPr>
              <a:t>Function	                     Description</a:t>
            </a:r>
          </a:p>
          <a:p>
            <a:r>
              <a:rPr lang="en-US" sz="1500" dirty="0">
                <a:solidFill>
                  <a:schemeClr val="accent6"/>
                </a:solidFill>
                <a:latin typeface="Google Sans"/>
              </a:rPr>
              <a:t>Logical addressing	IP addressing</a:t>
            </a:r>
          </a:p>
          <a:p>
            <a:r>
              <a:rPr lang="en-US" sz="1500" dirty="0">
                <a:solidFill>
                  <a:schemeClr val="accent6"/>
                </a:solidFill>
                <a:latin typeface="Google Sans"/>
              </a:rPr>
              <a:t>Routing	                     Best path determination</a:t>
            </a:r>
          </a:p>
          <a:p>
            <a:r>
              <a:rPr lang="en-US" sz="1500" dirty="0">
                <a:solidFill>
                  <a:schemeClr val="accent6"/>
                </a:solidFill>
                <a:latin typeface="Google Sans"/>
              </a:rPr>
              <a:t>Packet forwarding	Move packets from source to destination</a:t>
            </a:r>
          </a:p>
          <a:p>
            <a:r>
              <a:rPr lang="en-US" sz="1500" dirty="0">
                <a:solidFill>
                  <a:schemeClr val="accent6"/>
                </a:solidFill>
                <a:latin typeface="Google Sans"/>
              </a:rPr>
              <a:t>Fragmentation	Break large packets to fit MTU</a:t>
            </a:r>
          </a:p>
          <a:p>
            <a:r>
              <a:rPr lang="en-US" sz="1500" dirty="0">
                <a:solidFill>
                  <a:schemeClr val="accent6"/>
                </a:solidFill>
                <a:latin typeface="Google Sans"/>
              </a:rPr>
              <a:t>Error handling	TTL limits loops, ICMP errors</a:t>
            </a:r>
          </a:p>
        </p:txBody>
      </p:sp>
    </p:spTree>
    <p:extLst>
      <p:ext uri="{BB962C8B-B14F-4D97-AF65-F5344CB8AC3E}">
        <p14:creationId xmlns:p14="http://schemas.microsoft.com/office/powerpoint/2010/main" val="2716957291"/>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554A6-E467-A860-4242-70789579965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D27D0DC-E2D5-0EA6-C36E-670CB96733A3}"/>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98C45B6-8575-D18C-F489-9FCA8164045D}"/>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6E77BBC-8BE9-9279-FB85-BAAC1D3BF4FB}"/>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8BD8095-4CC0-0FA8-9F6D-E7A07B45F16A}"/>
              </a:ext>
            </a:extLst>
          </p:cNvPr>
          <p:cNvSpPr txBox="1">
            <a:spLocks/>
          </p:cNvSpPr>
          <p:nvPr/>
        </p:nvSpPr>
        <p:spPr>
          <a:xfrm>
            <a:off x="275300" y="1095844"/>
            <a:ext cx="8624937" cy="446276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OSI Model Low Level Concepts</a:t>
            </a:r>
          </a:p>
          <a:p>
            <a:r>
              <a:rPr lang="en-US" sz="1500" dirty="0">
                <a:solidFill>
                  <a:schemeClr val="accent2"/>
                </a:solidFill>
                <a:latin typeface="Google Sans"/>
              </a:rPr>
              <a:t>📌 Layer 3 — Network Layer</a:t>
            </a:r>
          </a:p>
          <a:p>
            <a:r>
              <a:rPr lang="en-US" sz="1500" dirty="0">
                <a:solidFill>
                  <a:schemeClr val="accent2"/>
                </a:solidFill>
                <a:latin typeface="Google Sans"/>
              </a:rPr>
              <a:t>Implementation Logic</a:t>
            </a:r>
          </a:p>
          <a:p>
            <a:r>
              <a:rPr lang="en-US" sz="1500" dirty="0">
                <a:solidFill>
                  <a:schemeClr val="accent2"/>
                </a:solidFill>
                <a:latin typeface="Google Sans"/>
              </a:rPr>
              <a:t>Network layer is implemented inside routers and OS IP stacks.</a:t>
            </a:r>
          </a:p>
          <a:p>
            <a:r>
              <a:rPr lang="en-US" sz="1500" dirty="0">
                <a:solidFill>
                  <a:schemeClr val="accent6"/>
                </a:solidFill>
                <a:latin typeface="Google Sans"/>
              </a:rPr>
              <a:t>IPv4 / IPv6</a:t>
            </a:r>
          </a:p>
          <a:p>
            <a:r>
              <a:rPr lang="en-US" sz="1500" dirty="0">
                <a:solidFill>
                  <a:schemeClr val="accent2"/>
                </a:solidFill>
                <a:latin typeface="Google Sans"/>
              </a:rPr>
              <a:t>Addressing: Logical IP addresses</a:t>
            </a:r>
          </a:p>
          <a:p>
            <a:r>
              <a:rPr lang="en-US" sz="1500" dirty="0">
                <a:solidFill>
                  <a:schemeClr val="accent2"/>
                </a:solidFill>
                <a:latin typeface="Google Sans"/>
              </a:rPr>
              <a:t>Header processing: </a:t>
            </a:r>
            <a:r>
              <a:rPr lang="en-US" sz="1500" dirty="0">
                <a:solidFill>
                  <a:schemeClr val="accent6"/>
                </a:solidFill>
                <a:latin typeface="Google Sans"/>
              </a:rPr>
              <a:t>TTL, version, header checksum</a:t>
            </a:r>
          </a:p>
          <a:p>
            <a:r>
              <a:rPr lang="en-US" sz="1500" dirty="0">
                <a:solidFill>
                  <a:schemeClr val="accent2"/>
                </a:solidFill>
                <a:latin typeface="Google Sans"/>
              </a:rPr>
              <a:t>Fragmentation logic: </a:t>
            </a:r>
            <a:r>
              <a:rPr lang="en-US" sz="1500" dirty="0">
                <a:solidFill>
                  <a:schemeClr val="accent6"/>
                </a:solidFill>
                <a:latin typeface="Google Sans"/>
              </a:rPr>
              <a:t>Follows MTU limits</a:t>
            </a:r>
          </a:p>
          <a:p>
            <a:r>
              <a:rPr lang="en-US" sz="1500" dirty="0">
                <a:solidFill>
                  <a:schemeClr val="accent2"/>
                </a:solidFill>
                <a:latin typeface="Google Sans"/>
              </a:rPr>
              <a:t>Routing protocols: </a:t>
            </a:r>
            <a:r>
              <a:rPr lang="en-US" sz="1500" dirty="0">
                <a:solidFill>
                  <a:schemeClr val="accent6"/>
                </a:solidFill>
                <a:latin typeface="Google Sans"/>
              </a:rPr>
              <a:t>OSPF, BGP, RIP on routers</a:t>
            </a:r>
          </a:p>
          <a:p>
            <a:r>
              <a:rPr lang="en-US" sz="1500" dirty="0">
                <a:solidFill>
                  <a:schemeClr val="accent6"/>
                </a:solidFill>
                <a:latin typeface="Google Sans"/>
              </a:rPr>
              <a:t>Forwarding Logic</a:t>
            </a:r>
          </a:p>
          <a:p>
            <a:r>
              <a:rPr lang="en-US" sz="1500" dirty="0">
                <a:solidFill>
                  <a:schemeClr val="accent6"/>
                </a:solidFill>
                <a:latin typeface="Google Sans"/>
              </a:rPr>
              <a:t>Receive packet</a:t>
            </a:r>
          </a:p>
          <a:p>
            <a:r>
              <a:rPr lang="en-US" sz="1500" dirty="0">
                <a:solidFill>
                  <a:schemeClr val="accent6"/>
                </a:solidFill>
                <a:latin typeface="Google Sans"/>
              </a:rPr>
              <a:t>Lookup destination in routing table</a:t>
            </a:r>
          </a:p>
          <a:p>
            <a:r>
              <a:rPr lang="en-US" sz="1500" dirty="0">
                <a:solidFill>
                  <a:schemeClr val="accent6"/>
                </a:solidFill>
                <a:latin typeface="Google Sans"/>
              </a:rPr>
              <a:t>Choose interface</a:t>
            </a:r>
          </a:p>
          <a:p>
            <a:r>
              <a:rPr lang="en-US" sz="1500" dirty="0">
                <a:solidFill>
                  <a:schemeClr val="accent6"/>
                </a:solidFill>
                <a:latin typeface="Google Sans"/>
              </a:rPr>
              <a:t>Update TTL</a:t>
            </a:r>
          </a:p>
          <a:p>
            <a:r>
              <a:rPr lang="en-US" sz="1500" dirty="0">
                <a:solidFill>
                  <a:schemeClr val="accent6"/>
                </a:solidFill>
                <a:latin typeface="Google Sans"/>
              </a:rPr>
              <a:t>Forward to Data Link</a:t>
            </a:r>
          </a:p>
          <a:p>
            <a:endParaRPr lang="en-US" sz="1500" dirty="0">
              <a:solidFill>
                <a:schemeClr val="accent6"/>
              </a:solidFill>
              <a:latin typeface="Google Sans"/>
            </a:endParaRPr>
          </a:p>
          <a:p>
            <a:r>
              <a:rPr lang="en-US" sz="1500" dirty="0">
                <a:solidFill>
                  <a:schemeClr val="accent2"/>
                </a:solidFill>
                <a:latin typeface="Google Sans"/>
              </a:rPr>
              <a:t>📌 Layer 2 — Data Link Layer</a:t>
            </a:r>
          </a:p>
          <a:p>
            <a:r>
              <a:rPr lang="en-US" sz="1500" dirty="0">
                <a:solidFill>
                  <a:schemeClr val="accent2"/>
                </a:solidFill>
                <a:latin typeface="Google Sans"/>
              </a:rPr>
              <a:t>Primary Purpose</a:t>
            </a:r>
          </a:p>
          <a:p>
            <a:r>
              <a:rPr lang="en-US" sz="1500" dirty="0">
                <a:solidFill>
                  <a:schemeClr val="accent6"/>
                </a:solidFill>
                <a:latin typeface="Google Sans"/>
              </a:rPr>
              <a:t>Prepares network layer packets into frames and manages node-to-node physical transfer.</a:t>
            </a:r>
          </a:p>
        </p:txBody>
      </p:sp>
    </p:spTree>
    <p:extLst>
      <p:ext uri="{BB962C8B-B14F-4D97-AF65-F5344CB8AC3E}">
        <p14:creationId xmlns:p14="http://schemas.microsoft.com/office/powerpoint/2010/main" val="2022703734"/>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18BE8-9BED-E249-9CCF-23C5394993B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8615C82-444A-89C7-FF6C-A9ED38250D31}"/>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A1C6B4F-DD89-ADD4-F2A1-F31909EEEE7F}"/>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C1D2F86-E299-06DB-2887-A49A3F547CBF}"/>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6F3A9637-57DC-1990-204D-ACEF7C0B6289}"/>
              </a:ext>
            </a:extLst>
          </p:cNvPr>
          <p:cNvSpPr txBox="1">
            <a:spLocks/>
          </p:cNvSpPr>
          <p:nvPr/>
        </p:nvSpPr>
        <p:spPr>
          <a:xfrm>
            <a:off x="275300" y="1095844"/>
            <a:ext cx="8624937" cy="446276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OSI Model Low Level Concepts</a:t>
            </a:r>
          </a:p>
          <a:p>
            <a:r>
              <a:rPr lang="en-US" sz="1500" dirty="0">
                <a:solidFill>
                  <a:schemeClr val="accent2"/>
                </a:solidFill>
                <a:latin typeface="Google Sans"/>
              </a:rPr>
              <a:t>📌 Layer 2 — Data Link Layer</a:t>
            </a:r>
          </a:p>
          <a:p>
            <a:r>
              <a:rPr lang="en-US" sz="1500" dirty="0">
                <a:solidFill>
                  <a:schemeClr val="accent2"/>
                </a:solidFill>
                <a:latin typeface="Google Sans"/>
              </a:rPr>
              <a:t>Key Functionalities</a:t>
            </a:r>
          </a:p>
          <a:p>
            <a:r>
              <a:rPr lang="en-US" sz="1500" dirty="0">
                <a:solidFill>
                  <a:schemeClr val="accent2"/>
                </a:solidFill>
                <a:latin typeface="Google Sans"/>
              </a:rPr>
              <a:t>Function	                                           Description</a:t>
            </a:r>
          </a:p>
          <a:p>
            <a:r>
              <a:rPr lang="en-US" sz="1500" dirty="0">
                <a:solidFill>
                  <a:schemeClr val="accent6"/>
                </a:solidFill>
                <a:latin typeface="Google Sans"/>
              </a:rPr>
              <a:t>Framing	                                           Packet → frame</a:t>
            </a:r>
          </a:p>
          <a:p>
            <a:r>
              <a:rPr lang="en-US" sz="1500" dirty="0">
                <a:solidFill>
                  <a:schemeClr val="accent6"/>
                </a:solidFill>
                <a:latin typeface="Google Sans"/>
              </a:rPr>
              <a:t>MAC addressing	                      Unique hardware addresses</a:t>
            </a:r>
          </a:p>
          <a:p>
            <a:r>
              <a:rPr lang="en-US" sz="1500" dirty="0">
                <a:solidFill>
                  <a:schemeClr val="accent6"/>
                </a:solidFill>
                <a:latin typeface="Google Sans"/>
              </a:rPr>
              <a:t>Error detection/correction	CRC checks</a:t>
            </a:r>
          </a:p>
          <a:p>
            <a:r>
              <a:rPr lang="en-US" sz="1500" dirty="0">
                <a:solidFill>
                  <a:schemeClr val="accent6"/>
                </a:solidFill>
                <a:latin typeface="Google Sans"/>
              </a:rPr>
              <a:t>Flow control	                      Controls link traffic</a:t>
            </a:r>
          </a:p>
          <a:p>
            <a:r>
              <a:rPr lang="en-US" sz="1500" dirty="0">
                <a:solidFill>
                  <a:schemeClr val="accent6"/>
                </a:solidFill>
                <a:latin typeface="Google Sans"/>
              </a:rPr>
              <a:t>Access control	                      Who can transmit when?</a:t>
            </a:r>
          </a:p>
          <a:p>
            <a:r>
              <a:rPr lang="en-US" sz="1500" dirty="0">
                <a:solidFill>
                  <a:schemeClr val="accent6"/>
                </a:solidFill>
                <a:latin typeface="Google Sans"/>
              </a:rPr>
              <a:t>Link aggregation	                      Combines multiple links</a:t>
            </a:r>
          </a:p>
          <a:p>
            <a:r>
              <a:rPr lang="en-US" sz="1500" dirty="0">
                <a:solidFill>
                  <a:schemeClr val="accent2"/>
                </a:solidFill>
                <a:latin typeface="Google Sans"/>
              </a:rPr>
              <a:t>Implementation Logic</a:t>
            </a:r>
          </a:p>
          <a:p>
            <a:r>
              <a:rPr lang="en-US" sz="1500" dirty="0">
                <a:solidFill>
                  <a:schemeClr val="accent6"/>
                </a:solidFill>
                <a:latin typeface="Google Sans"/>
              </a:rPr>
              <a:t>Data link layer runs in NIC drivers and switch firmware.</a:t>
            </a:r>
          </a:p>
          <a:p>
            <a:r>
              <a:rPr lang="en-US" sz="1500" dirty="0">
                <a:solidFill>
                  <a:schemeClr val="accent2"/>
                </a:solidFill>
                <a:latin typeface="Google Sans"/>
              </a:rPr>
              <a:t>Sub-Layers</a:t>
            </a:r>
          </a:p>
          <a:p>
            <a:r>
              <a:rPr lang="en-US" sz="1500" dirty="0">
                <a:solidFill>
                  <a:schemeClr val="accent2"/>
                </a:solidFill>
                <a:latin typeface="Google Sans"/>
              </a:rPr>
              <a:t>📍 LLC (Logical Link Control)</a:t>
            </a:r>
          </a:p>
          <a:p>
            <a:r>
              <a:rPr lang="en-US" sz="1500" dirty="0">
                <a:solidFill>
                  <a:schemeClr val="accent6"/>
                </a:solidFill>
                <a:latin typeface="Google Sans"/>
              </a:rPr>
              <a:t>Multiplexes protocols</a:t>
            </a:r>
          </a:p>
          <a:p>
            <a:r>
              <a:rPr lang="en-US" sz="1500" dirty="0">
                <a:solidFill>
                  <a:schemeClr val="accent6"/>
                </a:solidFill>
                <a:latin typeface="Google Sans"/>
              </a:rPr>
              <a:t>Frame delimiting</a:t>
            </a:r>
          </a:p>
          <a:p>
            <a:r>
              <a:rPr lang="en-US" sz="1500" dirty="0">
                <a:solidFill>
                  <a:schemeClr val="accent2"/>
                </a:solidFill>
                <a:latin typeface="Google Sans"/>
              </a:rPr>
              <a:t>📍 MAC (Media Access Control)</a:t>
            </a:r>
          </a:p>
          <a:p>
            <a:r>
              <a:rPr lang="en-US" sz="1500" dirty="0">
                <a:solidFill>
                  <a:schemeClr val="accent6"/>
                </a:solidFill>
                <a:latin typeface="Google Sans"/>
              </a:rPr>
              <a:t>Controls physical media access</a:t>
            </a:r>
          </a:p>
          <a:p>
            <a:r>
              <a:rPr lang="en-US" sz="1500" dirty="0">
                <a:solidFill>
                  <a:schemeClr val="accent6"/>
                </a:solidFill>
                <a:latin typeface="Google Sans"/>
              </a:rPr>
              <a:t>Implements CSMA/CD or CSMA/CA</a:t>
            </a:r>
          </a:p>
        </p:txBody>
      </p:sp>
    </p:spTree>
    <p:extLst>
      <p:ext uri="{BB962C8B-B14F-4D97-AF65-F5344CB8AC3E}">
        <p14:creationId xmlns:p14="http://schemas.microsoft.com/office/powerpoint/2010/main" val="2695485704"/>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FF7FB-5FBA-8E90-EFB8-D6E6DBAFFA1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A1C01BC-0453-78B4-6CDA-57F330106A67}"/>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9C68350-17F1-85B5-062C-9C178AFB624D}"/>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A5068CA-A485-CAA7-BCCB-C678A5DB87B6}"/>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CD8CFF3-B38B-AC13-D91E-E61779FBA293}"/>
              </a:ext>
            </a:extLst>
          </p:cNvPr>
          <p:cNvSpPr txBox="1">
            <a:spLocks/>
          </p:cNvSpPr>
          <p:nvPr/>
        </p:nvSpPr>
        <p:spPr>
          <a:xfrm>
            <a:off x="275300" y="1095844"/>
            <a:ext cx="8624937" cy="46935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OSI Model Low Level Concepts</a:t>
            </a:r>
          </a:p>
          <a:p>
            <a:r>
              <a:rPr lang="en-US" sz="1500" dirty="0">
                <a:solidFill>
                  <a:schemeClr val="accent2"/>
                </a:solidFill>
                <a:latin typeface="Google Sans"/>
              </a:rPr>
              <a:t>📌 Layer 2 — Data Link Layer</a:t>
            </a:r>
          </a:p>
          <a:p>
            <a:r>
              <a:rPr lang="en-US" sz="1500" dirty="0">
                <a:solidFill>
                  <a:schemeClr val="accent2"/>
                </a:solidFill>
                <a:latin typeface="Google Sans"/>
              </a:rPr>
              <a:t>Implementation Logic</a:t>
            </a:r>
          </a:p>
          <a:p>
            <a:r>
              <a:rPr lang="en-US" sz="1500" dirty="0">
                <a:solidFill>
                  <a:schemeClr val="accent2"/>
                </a:solidFill>
                <a:latin typeface="Google Sans"/>
              </a:rPr>
              <a:t>Switching Logic</a:t>
            </a:r>
          </a:p>
          <a:p>
            <a:r>
              <a:rPr lang="en-US" sz="1500" dirty="0">
                <a:solidFill>
                  <a:schemeClr val="accent2"/>
                </a:solidFill>
                <a:latin typeface="Google Sans"/>
              </a:rPr>
              <a:t>MAC tables:</a:t>
            </a:r>
            <a:r>
              <a:rPr lang="en-US" sz="1500" dirty="0">
                <a:solidFill>
                  <a:schemeClr val="accent6"/>
                </a:solidFill>
                <a:latin typeface="Google Sans"/>
              </a:rPr>
              <a:t> Learns addresses</a:t>
            </a:r>
          </a:p>
          <a:p>
            <a:r>
              <a:rPr lang="en-US" sz="1500" dirty="0">
                <a:solidFill>
                  <a:schemeClr val="accent2"/>
                </a:solidFill>
                <a:latin typeface="Google Sans"/>
              </a:rPr>
              <a:t>Frame forwarding: </a:t>
            </a:r>
            <a:r>
              <a:rPr lang="en-US" sz="1500" dirty="0">
                <a:solidFill>
                  <a:schemeClr val="accent6"/>
                </a:solidFill>
                <a:latin typeface="Google Sans"/>
              </a:rPr>
              <a:t>Based on MAC lookup</a:t>
            </a:r>
          </a:p>
          <a:p>
            <a:r>
              <a:rPr lang="en-US" sz="1500" dirty="0">
                <a:solidFill>
                  <a:schemeClr val="accent2"/>
                </a:solidFill>
                <a:latin typeface="Google Sans"/>
              </a:rPr>
              <a:t>Loop prevention:</a:t>
            </a:r>
            <a:r>
              <a:rPr lang="en-US" sz="1500" dirty="0">
                <a:solidFill>
                  <a:schemeClr val="accent6"/>
                </a:solidFill>
                <a:latin typeface="Google Sans"/>
              </a:rPr>
              <a:t> STP (Spanning Tree Protocol)</a:t>
            </a:r>
          </a:p>
          <a:p>
            <a:endParaRPr lang="en-US" sz="1500" dirty="0">
              <a:solidFill>
                <a:schemeClr val="accent6"/>
              </a:solidFill>
              <a:latin typeface="Google Sans"/>
            </a:endParaRPr>
          </a:p>
          <a:p>
            <a:r>
              <a:rPr lang="en-US" sz="1500" dirty="0">
                <a:solidFill>
                  <a:schemeClr val="accent2"/>
                </a:solidFill>
                <a:latin typeface="Google Sans"/>
              </a:rPr>
              <a:t>📌 Layer 1 — Physical Layer</a:t>
            </a:r>
          </a:p>
          <a:p>
            <a:r>
              <a:rPr lang="en-US" sz="1500" dirty="0">
                <a:solidFill>
                  <a:schemeClr val="accent2"/>
                </a:solidFill>
                <a:latin typeface="Google Sans"/>
              </a:rPr>
              <a:t>Primary Purpose</a:t>
            </a:r>
          </a:p>
          <a:p>
            <a:r>
              <a:rPr lang="en-US" sz="1500" dirty="0">
                <a:solidFill>
                  <a:schemeClr val="accent6"/>
                </a:solidFill>
                <a:latin typeface="Google Sans"/>
              </a:rPr>
              <a:t>Transmits raw bits over a physical medium.</a:t>
            </a:r>
          </a:p>
          <a:p>
            <a:endParaRPr lang="en-US" sz="1500" dirty="0">
              <a:solidFill>
                <a:schemeClr val="accent6"/>
              </a:solidFill>
              <a:latin typeface="Google Sans"/>
            </a:endParaRPr>
          </a:p>
          <a:p>
            <a:r>
              <a:rPr lang="en-US" sz="1500" dirty="0">
                <a:solidFill>
                  <a:schemeClr val="accent2"/>
                </a:solidFill>
                <a:latin typeface="Google Sans"/>
              </a:rPr>
              <a:t>Key Functionalities</a:t>
            </a:r>
          </a:p>
          <a:p>
            <a:r>
              <a:rPr lang="en-US" sz="1500" dirty="0">
                <a:solidFill>
                  <a:schemeClr val="accent2"/>
                </a:solidFill>
                <a:latin typeface="Google Sans"/>
              </a:rPr>
              <a:t>Function	                                          Description</a:t>
            </a:r>
          </a:p>
          <a:p>
            <a:r>
              <a:rPr lang="en-US" sz="1500" dirty="0">
                <a:solidFill>
                  <a:schemeClr val="accent6"/>
                </a:solidFill>
                <a:latin typeface="Google Sans"/>
              </a:rPr>
              <a:t>Bit transmission	                     Electrical/optical/radio signals</a:t>
            </a:r>
          </a:p>
          <a:p>
            <a:r>
              <a:rPr lang="en-US" sz="1500" dirty="0">
                <a:solidFill>
                  <a:schemeClr val="accent6"/>
                </a:solidFill>
                <a:latin typeface="Google Sans"/>
              </a:rPr>
              <a:t>Physical topology	                     Bus, star, ring etc.</a:t>
            </a:r>
          </a:p>
          <a:p>
            <a:r>
              <a:rPr lang="en-US" sz="1500" dirty="0">
                <a:solidFill>
                  <a:schemeClr val="accent6"/>
                </a:solidFill>
                <a:latin typeface="Google Sans"/>
              </a:rPr>
              <a:t>Encoding/decoding	                     NRZ, Manchester</a:t>
            </a:r>
          </a:p>
          <a:p>
            <a:r>
              <a:rPr lang="en-US" sz="1500" dirty="0">
                <a:solidFill>
                  <a:schemeClr val="accent6"/>
                </a:solidFill>
                <a:latin typeface="Google Sans"/>
              </a:rPr>
              <a:t>Modulation	                     Converts digital to analog</a:t>
            </a:r>
          </a:p>
          <a:p>
            <a:r>
              <a:rPr lang="en-US" sz="1500" dirty="0">
                <a:solidFill>
                  <a:schemeClr val="accent6"/>
                </a:solidFill>
                <a:latin typeface="Google Sans"/>
              </a:rPr>
              <a:t>Clock synchronization	                     Aligns sender/receiver timing</a:t>
            </a:r>
          </a:p>
          <a:p>
            <a:r>
              <a:rPr lang="en-US" sz="1500" dirty="0">
                <a:solidFill>
                  <a:schemeClr val="accent6"/>
                </a:solidFill>
                <a:latin typeface="Google Sans"/>
              </a:rPr>
              <a:t>Cable/connector standards	RJ-45, fiber optics, coax</a:t>
            </a:r>
          </a:p>
        </p:txBody>
      </p:sp>
    </p:spTree>
    <p:extLst>
      <p:ext uri="{BB962C8B-B14F-4D97-AF65-F5344CB8AC3E}">
        <p14:creationId xmlns:p14="http://schemas.microsoft.com/office/powerpoint/2010/main" val="2255913197"/>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D4DEE-F793-F6C1-3D3C-E3F31A3B093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02C5EFE-3668-5479-81E5-0D04778ABACB}"/>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F4349BC-29C2-2530-C964-05803636452D}"/>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E8DFD20-9AB9-F842-8B42-8D68748895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A301D173-B210-1B05-F995-B9D1AADF4ABC}"/>
              </a:ext>
            </a:extLst>
          </p:cNvPr>
          <p:cNvSpPr txBox="1">
            <a:spLocks/>
          </p:cNvSpPr>
          <p:nvPr/>
        </p:nvSpPr>
        <p:spPr>
          <a:xfrm>
            <a:off x="275300" y="1095844"/>
            <a:ext cx="8624937" cy="446276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OSI Model Low Level Concepts</a:t>
            </a:r>
          </a:p>
          <a:p>
            <a:r>
              <a:rPr lang="en-US" sz="1500" dirty="0">
                <a:solidFill>
                  <a:schemeClr val="accent2"/>
                </a:solidFill>
                <a:latin typeface="Google Sans"/>
              </a:rPr>
              <a:t>📌 Layer 1 — Physical Layer</a:t>
            </a:r>
          </a:p>
          <a:p>
            <a:r>
              <a:rPr lang="en-US" sz="1500" dirty="0">
                <a:solidFill>
                  <a:schemeClr val="accent2"/>
                </a:solidFill>
                <a:latin typeface="Google Sans"/>
              </a:rPr>
              <a:t>Implementation Logic</a:t>
            </a:r>
          </a:p>
          <a:p>
            <a:r>
              <a:rPr lang="en-US" sz="1500" dirty="0">
                <a:solidFill>
                  <a:schemeClr val="accent6"/>
                </a:solidFill>
                <a:latin typeface="Google Sans"/>
              </a:rPr>
              <a:t>Hardware-level implementations in transceivers, PHY chips.</a:t>
            </a:r>
          </a:p>
          <a:p>
            <a:r>
              <a:rPr lang="en-US" sz="1500" dirty="0">
                <a:solidFill>
                  <a:schemeClr val="accent2"/>
                </a:solidFill>
                <a:latin typeface="Google Sans"/>
              </a:rPr>
              <a:t>Examples</a:t>
            </a:r>
          </a:p>
          <a:p>
            <a:r>
              <a:rPr lang="en-US" sz="1500" dirty="0">
                <a:solidFill>
                  <a:schemeClr val="accent2"/>
                </a:solidFill>
                <a:latin typeface="Google Sans"/>
              </a:rPr>
              <a:t>Ethernet PHY: </a:t>
            </a:r>
            <a:r>
              <a:rPr lang="en-US" sz="1500" dirty="0">
                <a:solidFill>
                  <a:schemeClr val="accent6"/>
                </a:solidFill>
                <a:latin typeface="Google Sans"/>
              </a:rPr>
              <a:t>Converts digital frames to electrical pulses</a:t>
            </a:r>
          </a:p>
          <a:p>
            <a:r>
              <a:rPr lang="en-US" sz="1500" dirty="0">
                <a:solidFill>
                  <a:schemeClr val="accent2"/>
                </a:solidFill>
                <a:latin typeface="Google Sans"/>
              </a:rPr>
              <a:t>Fiber optics:</a:t>
            </a:r>
            <a:r>
              <a:rPr lang="en-US" sz="1500" dirty="0">
                <a:solidFill>
                  <a:schemeClr val="accent6"/>
                </a:solidFill>
                <a:latin typeface="Google Sans"/>
              </a:rPr>
              <a:t> Laser modulation</a:t>
            </a:r>
          </a:p>
          <a:p>
            <a:r>
              <a:rPr lang="en-US" sz="1500" dirty="0">
                <a:solidFill>
                  <a:schemeClr val="accent2"/>
                </a:solidFill>
                <a:latin typeface="Google Sans"/>
              </a:rPr>
              <a:t>Wireless: </a:t>
            </a:r>
            <a:r>
              <a:rPr lang="en-US" sz="1500" dirty="0">
                <a:solidFill>
                  <a:schemeClr val="accent6"/>
                </a:solidFill>
                <a:latin typeface="Google Sans"/>
              </a:rPr>
              <a:t>RF modulation (OFDM, QAM)</a:t>
            </a:r>
          </a:p>
          <a:p>
            <a:endParaRPr lang="en-US" sz="1500" dirty="0">
              <a:solidFill>
                <a:schemeClr val="accent6"/>
              </a:solidFill>
              <a:latin typeface="Google Sans"/>
            </a:endParaRPr>
          </a:p>
          <a:p>
            <a:r>
              <a:rPr lang="en-US" sz="1500" dirty="0">
                <a:solidFill>
                  <a:schemeClr val="accent2"/>
                </a:solidFill>
                <a:latin typeface="Google Sans"/>
              </a:rPr>
              <a:t>🧠 Summary Table (Quick View)</a:t>
            </a:r>
          </a:p>
          <a:p>
            <a:r>
              <a:rPr lang="en-US" sz="1500" dirty="0">
                <a:solidFill>
                  <a:schemeClr val="accent2"/>
                </a:solidFill>
                <a:latin typeface="Google Sans"/>
              </a:rPr>
              <a:t>Layer	    Primary Role	Key Protocols	           Implementation</a:t>
            </a:r>
          </a:p>
          <a:p>
            <a:r>
              <a:rPr lang="en-US" sz="1500" dirty="0">
                <a:solidFill>
                  <a:schemeClr val="accent6"/>
                </a:solidFill>
                <a:latin typeface="Google Sans"/>
              </a:rPr>
              <a:t>7 App	    UI Networking	HTTP, FTP, SMTP	           App software</a:t>
            </a:r>
          </a:p>
          <a:p>
            <a:r>
              <a:rPr lang="en-US" sz="1500" dirty="0">
                <a:solidFill>
                  <a:schemeClr val="accent6"/>
                </a:solidFill>
                <a:latin typeface="Google Sans"/>
              </a:rPr>
              <a:t>6 Pres	    Data format	TLS, JPEG	                                Crypto/codec engines</a:t>
            </a:r>
          </a:p>
          <a:p>
            <a:r>
              <a:rPr lang="en-US" sz="1500" dirty="0">
                <a:solidFill>
                  <a:schemeClr val="accent6"/>
                </a:solidFill>
                <a:latin typeface="Google Sans"/>
              </a:rPr>
              <a:t>5 </a:t>
            </a:r>
            <a:r>
              <a:rPr lang="en-US" sz="1500" dirty="0" err="1">
                <a:solidFill>
                  <a:schemeClr val="accent6"/>
                </a:solidFill>
                <a:latin typeface="Google Sans"/>
              </a:rPr>
              <a:t>Sess</a:t>
            </a:r>
            <a:r>
              <a:rPr lang="en-US" sz="1500" dirty="0">
                <a:solidFill>
                  <a:schemeClr val="accent6"/>
                </a:solidFill>
                <a:latin typeface="Google Sans"/>
              </a:rPr>
              <a:t>	    Dialog sync	NetBIOS, RPC	           Session managers</a:t>
            </a:r>
          </a:p>
          <a:p>
            <a:r>
              <a:rPr lang="en-US" sz="1500" dirty="0">
                <a:solidFill>
                  <a:schemeClr val="accent6"/>
                </a:solidFill>
                <a:latin typeface="Google Sans"/>
              </a:rPr>
              <a:t>4 Trans	    End-to-end	TCP, UDP	                                Kernel network stack</a:t>
            </a:r>
          </a:p>
          <a:p>
            <a:r>
              <a:rPr lang="en-US" sz="1500" dirty="0">
                <a:solidFill>
                  <a:schemeClr val="accent6"/>
                </a:solidFill>
                <a:latin typeface="Google Sans"/>
              </a:rPr>
              <a:t>3 Net	    Routing/Address	IP, ICMP	                                Routers, IP stack</a:t>
            </a:r>
          </a:p>
          <a:p>
            <a:r>
              <a:rPr lang="en-US" sz="1500" dirty="0">
                <a:solidFill>
                  <a:schemeClr val="accent6"/>
                </a:solidFill>
                <a:latin typeface="Google Sans"/>
              </a:rPr>
              <a:t>2 Data Link	    Node-to-node	Ethernet, ARP	           NICs, switches</a:t>
            </a:r>
          </a:p>
          <a:p>
            <a:r>
              <a:rPr lang="en-US" sz="1500" dirty="0">
                <a:solidFill>
                  <a:schemeClr val="accent6"/>
                </a:solidFill>
                <a:latin typeface="Google Sans"/>
              </a:rPr>
              <a:t>1 Phys	    Bit transmission	IEEE 802.3, Wi-Fi	           Cables, radios</a:t>
            </a:r>
          </a:p>
          <a:p>
            <a:endParaRPr lang="en-US" sz="1500" dirty="0">
              <a:solidFill>
                <a:schemeClr val="accent6"/>
              </a:solidFill>
              <a:latin typeface="Google Sans"/>
            </a:endParaRPr>
          </a:p>
        </p:txBody>
      </p:sp>
    </p:spTree>
    <p:extLst>
      <p:ext uri="{BB962C8B-B14F-4D97-AF65-F5344CB8AC3E}">
        <p14:creationId xmlns:p14="http://schemas.microsoft.com/office/powerpoint/2010/main" val="2884250401"/>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98381-1226-705F-7B7E-E29D9F45283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3A30584-D1D0-2CA3-C274-A61CDCBCADDA}"/>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AFD4033-6092-31F2-13E4-860413E4BD1B}"/>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D0111F9-E59C-8BFD-B1A0-6F5581E40ABC}"/>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3D7D6277-54A5-0389-EDC1-9EF2BA7F54FA}"/>
              </a:ext>
            </a:extLst>
          </p:cNvPr>
          <p:cNvSpPr txBox="1">
            <a:spLocks/>
          </p:cNvSpPr>
          <p:nvPr/>
        </p:nvSpPr>
        <p:spPr>
          <a:xfrm>
            <a:off x="275300" y="1095844"/>
            <a:ext cx="8624937" cy="446276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OSI Model Low Level Concepts</a:t>
            </a:r>
          </a:p>
          <a:p>
            <a:r>
              <a:rPr lang="en-US" sz="1500" dirty="0">
                <a:solidFill>
                  <a:schemeClr val="accent2"/>
                </a:solidFill>
                <a:latin typeface="Google Sans"/>
              </a:rPr>
              <a:t>🧩 Implementation Logic Flow (End-to-End)</a:t>
            </a:r>
          </a:p>
          <a:p>
            <a:r>
              <a:rPr lang="en-US" sz="1500" dirty="0">
                <a:solidFill>
                  <a:schemeClr val="accent6"/>
                </a:solidFill>
                <a:latin typeface="Google Sans"/>
              </a:rPr>
              <a:t>Application creates data.</a:t>
            </a:r>
          </a:p>
          <a:p>
            <a:r>
              <a:rPr lang="en-US" sz="1500" dirty="0">
                <a:solidFill>
                  <a:schemeClr val="accent6"/>
                </a:solidFill>
                <a:latin typeface="Google Sans"/>
              </a:rPr>
              <a:t>Presentation encodes → encrypts/compresses if needed.</a:t>
            </a:r>
          </a:p>
          <a:p>
            <a:r>
              <a:rPr lang="en-US" sz="1500" dirty="0">
                <a:solidFill>
                  <a:schemeClr val="accent6"/>
                </a:solidFill>
                <a:latin typeface="Google Sans"/>
              </a:rPr>
              <a:t>Session ensures dialogue control.</a:t>
            </a:r>
          </a:p>
          <a:p>
            <a:r>
              <a:rPr lang="en-US" sz="1500" dirty="0">
                <a:solidFill>
                  <a:schemeClr val="accent6"/>
                </a:solidFill>
                <a:latin typeface="Google Sans"/>
              </a:rPr>
              <a:t>Transport breaks into segments/streams.</a:t>
            </a:r>
          </a:p>
          <a:p>
            <a:r>
              <a:rPr lang="en-US" sz="1500" dirty="0">
                <a:solidFill>
                  <a:schemeClr val="accent6"/>
                </a:solidFill>
                <a:latin typeface="Google Sans"/>
              </a:rPr>
              <a:t>Network adds IP addresses + routing logic.</a:t>
            </a:r>
          </a:p>
          <a:p>
            <a:r>
              <a:rPr lang="en-US" sz="1500" dirty="0">
                <a:solidFill>
                  <a:schemeClr val="accent6"/>
                </a:solidFill>
                <a:latin typeface="Google Sans"/>
              </a:rPr>
              <a:t>Data Link frames with MAC addresses.</a:t>
            </a:r>
          </a:p>
          <a:p>
            <a:r>
              <a:rPr lang="en-US" sz="1500" dirty="0">
                <a:solidFill>
                  <a:schemeClr val="accent6"/>
                </a:solidFill>
                <a:latin typeface="Google Sans"/>
              </a:rPr>
              <a:t>Physical sends bits over wires/air.</a:t>
            </a:r>
          </a:p>
          <a:p>
            <a:r>
              <a:rPr lang="en-US" sz="1500" dirty="0">
                <a:solidFill>
                  <a:schemeClr val="accent6"/>
                </a:solidFill>
                <a:latin typeface="Google Sans"/>
              </a:rPr>
              <a:t>On the receiving side, each layer reverses this process.</a:t>
            </a:r>
          </a:p>
          <a:p>
            <a:endParaRPr lang="en-US" sz="1500" dirty="0">
              <a:solidFill>
                <a:schemeClr val="accent6"/>
              </a:solidFill>
              <a:latin typeface="Google Sans"/>
            </a:endParaRPr>
          </a:p>
          <a:p>
            <a:r>
              <a:rPr lang="en-US" sz="1500" dirty="0">
                <a:solidFill>
                  <a:schemeClr val="accent2"/>
                </a:solidFill>
                <a:latin typeface="Google Sans"/>
              </a:rPr>
              <a:t>🛠️ How OSI Concepts Map to Real Protocol Stacks</a:t>
            </a:r>
          </a:p>
          <a:p>
            <a:r>
              <a:rPr lang="en-US" sz="1500" dirty="0">
                <a:solidFill>
                  <a:schemeClr val="accent2"/>
                </a:solidFill>
                <a:latin typeface="Google Sans"/>
              </a:rPr>
              <a:t>OSI Layer	                            Internet Suite Equivalent</a:t>
            </a:r>
          </a:p>
          <a:p>
            <a:r>
              <a:rPr lang="en-US" sz="1500" dirty="0">
                <a:solidFill>
                  <a:schemeClr val="accent6"/>
                </a:solidFill>
                <a:latin typeface="Google Sans"/>
              </a:rPr>
              <a:t>7,6,5 App/Pres/</a:t>
            </a:r>
            <a:r>
              <a:rPr lang="en-US" sz="1500" dirty="0" err="1">
                <a:solidFill>
                  <a:schemeClr val="accent6"/>
                </a:solidFill>
                <a:latin typeface="Google Sans"/>
              </a:rPr>
              <a:t>Sess</a:t>
            </a:r>
            <a:r>
              <a:rPr lang="en-US" sz="1500" dirty="0">
                <a:solidFill>
                  <a:schemeClr val="accent6"/>
                </a:solidFill>
                <a:latin typeface="Google Sans"/>
              </a:rPr>
              <a:t>	       Application Layer (HTTP, SMTP, etc.)</a:t>
            </a:r>
          </a:p>
          <a:p>
            <a:r>
              <a:rPr lang="en-US" sz="1500" dirty="0">
                <a:solidFill>
                  <a:schemeClr val="accent6"/>
                </a:solidFill>
                <a:latin typeface="Google Sans"/>
              </a:rPr>
              <a:t>4 Transport	                            TCP / UDP</a:t>
            </a:r>
          </a:p>
          <a:p>
            <a:r>
              <a:rPr lang="en-US" sz="1500" dirty="0">
                <a:solidFill>
                  <a:schemeClr val="accent6"/>
                </a:solidFill>
                <a:latin typeface="Google Sans"/>
              </a:rPr>
              <a:t>3 Network	                            IP</a:t>
            </a:r>
          </a:p>
          <a:p>
            <a:r>
              <a:rPr lang="en-US" sz="1500" dirty="0">
                <a:solidFill>
                  <a:schemeClr val="accent6"/>
                </a:solidFill>
                <a:latin typeface="Google Sans"/>
              </a:rPr>
              <a:t>2 Data Link	                            Ethernet, Wi-Fi</a:t>
            </a:r>
          </a:p>
          <a:p>
            <a:r>
              <a:rPr lang="en-US" sz="1500" dirty="0">
                <a:solidFill>
                  <a:schemeClr val="accent6"/>
                </a:solidFill>
                <a:latin typeface="Google Sans"/>
              </a:rPr>
              <a:t>1 Physical	                            Cabling, RF, optics</a:t>
            </a:r>
          </a:p>
          <a:p>
            <a:endParaRPr lang="en-US" sz="1500" dirty="0">
              <a:solidFill>
                <a:schemeClr val="accent6"/>
              </a:solidFill>
              <a:latin typeface="Google Sans"/>
            </a:endParaRPr>
          </a:p>
        </p:txBody>
      </p:sp>
    </p:spTree>
    <p:extLst>
      <p:ext uri="{BB962C8B-B14F-4D97-AF65-F5344CB8AC3E}">
        <p14:creationId xmlns:p14="http://schemas.microsoft.com/office/powerpoint/2010/main" val="233956348"/>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8395E-23A1-5058-876F-F1C6BC1B6DA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06A3976-7211-308D-23FB-D013E74578F9}"/>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FE2D52E-E529-8033-051D-8C4E305B2E13}"/>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2348A93-B288-B6F0-EB3F-8008F7E7096B}"/>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C61A79B-D896-B1FF-D03A-C106CDB44F36}"/>
              </a:ext>
            </a:extLst>
          </p:cNvPr>
          <p:cNvSpPr txBox="1">
            <a:spLocks/>
          </p:cNvSpPr>
          <p:nvPr/>
        </p:nvSpPr>
        <p:spPr>
          <a:xfrm>
            <a:off x="275300" y="1095844"/>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OSI Model Low Level Concepts</a:t>
            </a:r>
          </a:p>
          <a:p>
            <a:r>
              <a:rPr lang="en-US" sz="1500" dirty="0">
                <a:solidFill>
                  <a:schemeClr val="accent2"/>
                </a:solidFill>
                <a:latin typeface="Google Sans"/>
              </a:rPr>
              <a:t>🚀 Implementation Examples</a:t>
            </a:r>
          </a:p>
          <a:p>
            <a:r>
              <a:rPr lang="en-US" sz="1500" dirty="0">
                <a:solidFill>
                  <a:schemeClr val="accent6"/>
                </a:solidFill>
                <a:latin typeface="Google Sans"/>
              </a:rPr>
              <a:t>HTTP Request Sending</a:t>
            </a:r>
          </a:p>
          <a:p>
            <a:r>
              <a:rPr lang="en-US" sz="1500" dirty="0">
                <a:solidFill>
                  <a:schemeClr val="accent6"/>
                </a:solidFill>
                <a:latin typeface="Google Sans"/>
              </a:rPr>
              <a:t>Browser builds request (App)</a:t>
            </a:r>
          </a:p>
          <a:p>
            <a:r>
              <a:rPr lang="en-US" sz="1500" dirty="0">
                <a:solidFill>
                  <a:schemeClr val="accent6"/>
                </a:solidFill>
                <a:latin typeface="Google Sans"/>
              </a:rPr>
              <a:t>TLS wraps it (Pres)</a:t>
            </a:r>
          </a:p>
          <a:p>
            <a:r>
              <a:rPr lang="en-US" sz="1500" dirty="0">
                <a:solidFill>
                  <a:schemeClr val="accent6"/>
                </a:solidFill>
                <a:latin typeface="Google Sans"/>
              </a:rPr>
              <a:t>Session established (Session)</a:t>
            </a:r>
          </a:p>
          <a:p>
            <a:r>
              <a:rPr lang="en-US" sz="1500" dirty="0">
                <a:solidFill>
                  <a:schemeClr val="accent6"/>
                </a:solidFill>
                <a:latin typeface="Google Sans"/>
              </a:rPr>
              <a:t>TCP segments it (Transport)</a:t>
            </a:r>
          </a:p>
          <a:p>
            <a:r>
              <a:rPr lang="en-US" sz="1500" dirty="0">
                <a:solidFill>
                  <a:schemeClr val="accent6"/>
                </a:solidFill>
                <a:latin typeface="Google Sans"/>
              </a:rPr>
              <a:t>IP routes it (Network)</a:t>
            </a:r>
          </a:p>
          <a:p>
            <a:r>
              <a:rPr lang="en-US" sz="1500" dirty="0">
                <a:solidFill>
                  <a:schemeClr val="accent6"/>
                </a:solidFill>
                <a:latin typeface="Google Sans"/>
              </a:rPr>
              <a:t>Ethernet frames (Data Link)</a:t>
            </a:r>
          </a:p>
          <a:p>
            <a:r>
              <a:rPr lang="en-US" sz="1500" dirty="0">
                <a:solidFill>
                  <a:schemeClr val="accent6"/>
                </a:solidFill>
                <a:latin typeface="Google Sans"/>
              </a:rPr>
              <a:t>NIC transmits bits (Physical)</a:t>
            </a:r>
          </a:p>
          <a:p>
            <a:endParaRPr lang="en-US" sz="1500" dirty="0">
              <a:solidFill>
                <a:schemeClr val="accent6"/>
              </a:solidFill>
              <a:latin typeface="Google Sans"/>
            </a:endParaRPr>
          </a:p>
          <a:p>
            <a:r>
              <a:rPr lang="en-US" sz="1500" dirty="0">
                <a:solidFill>
                  <a:schemeClr val="accent2"/>
                </a:solidFill>
                <a:latin typeface="Google Sans"/>
              </a:rPr>
              <a:t>📌 Additional Concepts</a:t>
            </a:r>
          </a:p>
          <a:p>
            <a:r>
              <a:rPr lang="en-US" sz="1500" dirty="0">
                <a:solidFill>
                  <a:schemeClr val="accent6"/>
                </a:solidFill>
                <a:latin typeface="Google Sans"/>
              </a:rPr>
              <a:t>Encapsulation</a:t>
            </a:r>
          </a:p>
          <a:p>
            <a:r>
              <a:rPr lang="en-US" sz="1500" dirty="0">
                <a:solidFill>
                  <a:schemeClr val="accent6"/>
                </a:solidFill>
                <a:latin typeface="Google Sans"/>
              </a:rPr>
              <a:t>Each layer wraps data from above into a header/trailer suited to its purpose.</a:t>
            </a:r>
          </a:p>
          <a:p>
            <a:r>
              <a:rPr lang="en-US" sz="1500" dirty="0">
                <a:solidFill>
                  <a:schemeClr val="accent6"/>
                </a:solidFill>
                <a:latin typeface="Google Sans"/>
              </a:rPr>
              <a:t>Decapsulation</a:t>
            </a:r>
          </a:p>
          <a:p>
            <a:r>
              <a:rPr lang="en-US" sz="1500" dirty="0">
                <a:solidFill>
                  <a:schemeClr val="accent6"/>
                </a:solidFill>
                <a:latin typeface="Google Sans"/>
              </a:rPr>
              <a:t>Receiving systems remove headers/trailers in reverse order.</a:t>
            </a:r>
          </a:p>
          <a:p>
            <a:r>
              <a:rPr lang="en-US" sz="1500" dirty="0">
                <a:solidFill>
                  <a:schemeClr val="accent6"/>
                </a:solidFill>
                <a:latin typeface="Google Sans"/>
              </a:rPr>
              <a:t>Errors &amp; Controls</a:t>
            </a:r>
          </a:p>
          <a:p>
            <a:r>
              <a:rPr lang="en-US" sz="1500" dirty="0">
                <a:solidFill>
                  <a:schemeClr val="accent6"/>
                </a:solidFill>
                <a:latin typeface="Google Sans"/>
              </a:rPr>
              <a:t>Checksums/CRCs detect corruption</a:t>
            </a:r>
          </a:p>
          <a:p>
            <a:r>
              <a:rPr lang="en-US" sz="1500" dirty="0">
                <a:solidFill>
                  <a:schemeClr val="accent6"/>
                </a:solidFill>
                <a:latin typeface="Google Sans"/>
              </a:rPr>
              <a:t>Timeouts &amp; Retransmissions ensure delivery</a:t>
            </a:r>
          </a:p>
          <a:p>
            <a:r>
              <a:rPr lang="en-US" sz="1500" dirty="0">
                <a:solidFill>
                  <a:schemeClr val="accent6"/>
                </a:solidFill>
                <a:latin typeface="Google Sans"/>
              </a:rPr>
              <a:t>ACK/NACKs confirm reception</a:t>
            </a:r>
          </a:p>
          <a:p>
            <a:endParaRPr lang="en-US" sz="1500" dirty="0">
              <a:solidFill>
                <a:schemeClr val="accent6"/>
              </a:solidFill>
              <a:latin typeface="Google Sans"/>
            </a:endParaRPr>
          </a:p>
        </p:txBody>
      </p:sp>
    </p:spTree>
    <p:extLst>
      <p:ext uri="{BB962C8B-B14F-4D97-AF65-F5344CB8AC3E}">
        <p14:creationId xmlns:p14="http://schemas.microsoft.com/office/powerpoint/2010/main" val="1028926304"/>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228BD-365B-EC8B-AC88-8F0E2CCAB1B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4C6F771-ACF4-C389-1282-D9B5B3E0FFF5}"/>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23388B6-2F69-5057-40CC-232AECE8C26A}"/>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10BB16E-FD13-5C59-8442-AECCCCC0D828}"/>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8054EBBD-5F5A-34CA-3216-3A205E4338FC}"/>
              </a:ext>
            </a:extLst>
          </p:cNvPr>
          <p:cNvSpPr txBox="1">
            <a:spLocks/>
          </p:cNvSpPr>
          <p:nvPr/>
        </p:nvSpPr>
        <p:spPr>
          <a:xfrm>
            <a:off x="275300" y="1095844"/>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2"/>
                </a:solidFill>
              </a:rPr>
              <a:t>.NET Network Architecture</a:t>
            </a:r>
          </a:p>
        </p:txBody>
      </p:sp>
      <p:pic>
        <p:nvPicPr>
          <p:cNvPr id="2050" name="Picture 2" descr="16. Networking - C# 10 in a Nutshell [Book]">
            <a:extLst>
              <a:ext uri="{FF2B5EF4-FFF2-40B4-BE49-F238E27FC236}">
                <a16:creationId xmlns:a16="http://schemas.microsoft.com/office/drawing/2014/main" id="{60BF531C-B218-1620-C1CE-41E76374971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200" y="1465176"/>
            <a:ext cx="9144000" cy="44022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7526271"/>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353BF-EA57-F19C-EA95-F23B529FCC1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EA33D53-B0F9-F80C-0CF7-524447A452E7}"/>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F261217-A9F9-D570-388F-4A76F720DF03}"/>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1651DEE-A007-AF64-9111-1A85F3C38A48}"/>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ED825AC-3530-8D88-A9EB-11A1C588E150}"/>
              </a:ext>
            </a:extLst>
          </p:cNvPr>
          <p:cNvSpPr txBox="1">
            <a:spLocks/>
          </p:cNvSpPr>
          <p:nvPr/>
        </p:nvSpPr>
        <p:spPr>
          <a:xfrm>
            <a:off x="275300" y="1095844"/>
            <a:ext cx="8624937" cy="123110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000" kern="0" spc="-220" dirty="0">
                <a:solidFill>
                  <a:schemeClr val="accent2"/>
                </a:solidFill>
              </a:rPr>
              <a:t>.NET Networking Architecture Mapping to OSI Layers</a:t>
            </a:r>
          </a:p>
          <a:p>
            <a:r>
              <a:rPr lang="en-US" sz="1500" dirty="0">
                <a:solidFill>
                  <a:schemeClr val="accent6"/>
                </a:solidFill>
                <a:latin typeface="Google Sans"/>
              </a:rPr>
              <a:t>The .NET networking architecture operates as part of the broader operating system's network stack (primarily the Windows or Linux kernel's TCP/IP implementation) and does not have a direct, one-to-one mapping for all seven OSI layers within its own framework. Instead, .NET provides APIs that interact with the upper layers while relying on the underlying OS for the lower ones. </a:t>
            </a:r>
          </a:p>
        </p:txBody>
      </p:sp>
      <p:pic>
        <p:nvPicPr>
          <p:cNvPr id="7" name="Picture 6">
            <a:extLst>
              <a:ext uri="{FF2B5EF4-FFF2-40B4-BE49-F238E27FC236}">
                <a16:creationId xmlns:a16="http://schemas.microsoft.com/office/drawing/2014/main" id="{D4AB90CE-C306-5253-14C8-E31A9EE4B72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75300" y="2326949"/>
            <a:ext cx="8624937" cy="3540451"/>
          </a:xfrm>
          <a:prstGeom prst="rect">
            <a:avLst/>
          </a:prstGeom>
        </p:spPr>
      </p:pic>
    </p:spTree>
    <p:extLst>
      <p:ext uri="{BB962C8B-B14F-4D97-AF65-F5344CB8AC3E}">
        <p14:creationId xmlns:p14="http://schemas.microsoft.com/office/powerpoint/2010/main" val="1622785337"/>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70659-0DED-F612-D08D-50FDBD50188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E5ECFE1-6C3E-CD8C-328E-F084EC7AD1A8}"/>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94901E5-39B9-75E4-4F58-22A619BF872C}"/>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9CEC001-7C8D-1D73-BA31-9792545A9C26}"/>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3F156B12-B338-3286-49D0-207CA87A9CFC}"/>
              </a:ext>
            </a:extLst>
          </p:cNvPr>
          <p:cNvSpPr txBox="1">
            <a:spLocks/>
          </p:cNvSpPr>
          <p:nvPr/>
        </p:nvSpPr>
        <p:spPr>
          <a:xfrm>
            <a:off x="275300" y="1095844"/>
            <a:ext cx="8624937" cy="215443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kern="0" spc="-220" dirty="0">
                <a:solidFill>
                  <a:schemeClr val="accent2"/>
                </a:solidFill>
              </a:rPr>
              <a:t>.NET Networking Architecture Mapping to OSI Layers</a:t>
            </a:r>
          </a:p>
          <a:p>
            <a:r>
              <a:rPr lang="en-US" sz="1500" dirty="0">
                <a:solidFill>
                  <a:schemeClr val="accent2"/>
                </a:solidFill>
                <a:latin typeface="Google Sans"/>
              </a:rPr>
              <a:t>Key points:</a:t>
            </a:r>
          </a:p>
          <a:p>
            <a:r>
              <a:rPr lang="en-US" sz="1500" dirty="0">
                <a:solidFill>
                  <a:schemeClr val="accent2"/>
                </a:solidFill>
                <a:latin typeface="Google Sans"/>
              </a:rPr>
              <a:t>Layers 1-4:</a:t>
            </a:r>
            <a:r>
              <a:rPr lang="en-US" sz="1500" dirty="0">
                <a:solidFill>
                  <a:schemeClr val="accent6"/>
                </a:solidFill>
                <a:latin typeface="Google Sans"/>
              </a:rPr>
              <a:t> The core functions of the physical, data link, network, and transport layers are primarily managed by the host operating system's network drivers and kernel-level TCP/IP stack.</a:t>
            </a:r>
          </a:p>
          <a:p>
            <a:r>
              <a:rPr lang="en-US" sz="1500" dirty="0">
                <a:solidFill>
                  <a:schemeClr val="accent2"/>
                </a:solidFill>
                <a:latin typeface="Google Sans"/>
              </a:rPr>
              <a:t>.NET Interaction: </a:t>
            </a:r>
            <a:r>
              <a:rPr lang="en-US" sz="1500" dirty="0">
                <a:solidFill>
                  <a:schemeClr val="accent6"/>
                </a:solidFill>
                <a:latin typeface="Google Sans"/>
              </a:rPr>
              <a:t>.NET provides managed code interfaces, such as the </a:t>
            </a:r>
            <a:r>
              <a:rPr lang="en-US" sz="1500" dirty="0" err="1">
                <a:solidFill>
                  <a:schemeClr val="accent6"/>
                </a:solidFill>
                <a:latin typeface="Google Sans"/>
              </a:rPr>
              <a:t>System.Net.Sockets</a:t>
            </a:r>
            <a:r>
              <a:rPr lang="en-US" sz="1500" dirty="0">
                <a:solidFill>
                  <a:schemeClr val="accent6"/>
                </a:solidFill>
                <a:latin typeface="Google Sans"/>
              </a:rPr>
              <a:t> namespace, to interact with the transport layer and above.</a:t>
            </a:r>
          </a:p>
          <a:p>
            <a:r>
              <a:rPr lang="en-US" sz="1500" dirty="0">
                <a:solidFill>
                  <a:schemeClr val="accent2"/>
                </a:solidFill>
                <a:latin typeface="Google Sans"/>
              </a:rPr>
              <a:t>Layers 5-7:</a:t>
            </a:r>
            <a:r>
              <a:rPr lang="en-US" sz="1500" dirty="0">
                <a:solidFill>
                  <a:schemeClr val="accent6"/>
                </a:solidFill>
                <a:latin typeface="Google Sans"/>
              </a:rPr>
              <a:t> The session, presentation, and application layers are where .NET provides robust, feature-rich APIs for developers to build applications and manage data exchange, security (like SSL/TLS), and specific application protocols (like HTTP and FTP)</a:t>
            </a:r>
          </a:p>
        </p:txBody>
      </p:sp>
    </p:spTree>
    <p:extLst>
      <p:ext uri="{BB962C8B-B14F-4D97-AF65-F5344CB8AC3E}">
        <p14:creationId xmlns:p14="http://schemas.microsoft.com/office/powerpoint/2010/main" val="3473838101"/>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3F7D9-F317-ECE7-E51F-FF85788A93E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B713038-2C7F-4BC8-3C84-17EE3DEC89BA}"/>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8277B46-69A9-8C9A-097B-6C07574CDB59}"/>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A6091D3-0F63-0342-B910-1C934CE1F14E}"/>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8756421-E1CF-571E-90B3-AA5CABB3EE42}"/>
              </a:ext>
            </a:extLst>
          </p:cNvPr>
          <p:cNvSpPr txBox="1">
            <a:spLocks/>
          </p:cNvSpPr>
          <p:nvPr/>
        </p:nvSpPr>
        <p:spPr>
          <a:xfrm>
            <a:off x="275300" y="1095844"/>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kern="0" spc="-220" dirty="0">
                <a:solidFill>
                  <a:schemeClr val="accent2"/>
                </a:solidFill>
              </a:rPr>
              <a:t>Custom Network Protocol Design &amp; Implementation</a:t>
            </a:r>
          </a:p>
          <a:p>
            <a:r>
              <a:rPr lang="en-US" sz="1500" dirty="0">
                <a:solidFill>
                  <a:schemeClr val="accent2"/>
                </a:solidFill>
                <a:latin typeface="Google Sans"/>
              </a:rPr>
              <a:t>🧠 Big Picture:</a:t>
            </a:r>
            <a:r>
              <a:rPr lang="en-US" sz="1500" dirty="0">
                <a:solidFill>
                  <a:schemeClr val="accent6"/>
                </a:solidFill>
                <a:latin typeface="Google Sans"/>
              </a:rPr>
              <a:t> What “Implementing a Protocol” Really Means</a:t>
            </a:r>
          </a:p>
          <a:p>
            <a:r>
              <a:rPr lang="en-US" sz="1500" dirty="0">
                <a:solidFill>
                  <a:schemeClr val="accent2"/>
                </a:solidFill>
                <a:latin typeface="Google Sans"/>
              </a:rPr>
              <a:t>A protocol is essentially:</a:t>
            </a:r>
          </a:p>
          <a:p>
            <a:r>
              <a:rPr lang="en-US" sz="1500" dirty="0">
                <a:solidFill>
                  <a:schemeClr val="accent6"/>
                </a:solidFill>
                <a:latin typeface="Google Sans"/>
              </a:rPr>
              <a:t>A contract + state machine + message formats + timing rules</a:t>
            </a:r>
          </a:p>
          <a:p>
            <a:r>
              <a:rPr lang="en-US" sz="1500" dirty="0">
                <a:solidFill>
                  <a:schemeClr val="accent2"/>
                </a:solidFill>
                <a:latin typeface="Google Sans"/>
              </a:rPr>
              <a:t>Every protocol implementation has:</a:t>
            </a:r>
          </a:p>
          <a:p>
            <a:r>
              <a:rPr lang="en-US" sz="1500" dirty="0">
                <a:solidFill>
                  <a:schemeClr val="accent6"/>
                </a:solidFill>
                <a:latin typeface="Google Sans"/>
              </a:rPr>
              <a:t>Specification (what messages exist, how they look)</a:t>
            </a:r>
          </a:p>
          <a:p>
            <a:r>
              <a:rPr lang="en-US" sz="1500" dirty="0">
                <a:solidFill>
                  <a:schemeClr val="accent6"/>
                </a:solidFill>
                <a:latin typeface="Google Sans"/>
              </a:rPr>
              <a:t>State machine (what happens next)</a:t>
            </a:r>
          </a:p>
          <a:p>
            <a:r>
              <a:rPr lang="en-US" sz="1500" dirty="0">
                <a:solidFill>
                  <a:schemeClr val="accent6"/>
                </a:solidFill>
                <a:latin typeface="Google Sans"/>
              </a:rPr>
              <a:t>Encoding/decoding logic</a:t>
            </a:r>
          </a:p>
          <a:p>
            <a:r>
              <a:rPr lang="en-US" sz="1500" dirty="0">
                <a:solidFill>
                  <a:schemeClr val="accent6"/>
                </a:solidFill>
                <a:latin typeface="Google Sans"/>
              </a:rPr>
              <a:t>Error handling</a:t>
            </a:r>
          </a:p>
          <a:p>
            <a:r>
              <a:rPr lang="en-US" sz="1500" dirty="0">
                <a:solidFill>
                  <a:schemeClr val="accent6"/>
                </a:solidFill>
                <a:latin typeface="Google Sans"/>
              </a:rPr>
              <a:t>Interoperability rules</a:t>
            </a:r>
          </a:p>
          <a:p>
            <a:r>
              <a:rPr lang="en-US" sz="1500" dirty="0">
                <a:solidFill>
                  <a:schemeClr val="accent6"/>
                </a:solidFill>
                <a:latin typeface="Google Sans"/>
              </a:rPr>
              <a:t>Performance constraints</a:t>
            </a:r>
          </a:p>
          <a:p>
            <a:r>
              <a:rPr lang="en-US" sz="1500" dirty="0">
                <a:solidFill>
                  <a:schemeClr val="accent6"/>
                </a:solidFill>
                <a:latin typeface="Google Sans"/>
              </a:rPr>
              <a:t>OSI layer only changes where the code runs and what guarantees you must provide.</a:t>
            </a:r>
          </a:p>
          <a:p>
            <a:r>
              <a:rPr lang="en-US" sz="1500" dirty="0">
                <a:solidFill>
                  <a:schemeClr val="accent6"/>
                </a:solidFill>
                <a:latin typeface="Google Sans"/>
              </a:rPr>
              <a:t>🧱 Universal Protocol Design Workflow (All OSI Layers)</a:t>
            </a:r>
          </a:p>
          <a:p>
            <a:r>
              <a:rPr lang="en-US" sz="1500" dirty="0">
                <a:solidFill>
                  <a:schemeClr val="accent6"/>
                </a:solidFill>
                <a:latin typeface="Google Sans"/>
              </a:rPr>
              <a:t>These steps are mandatory regardless of layer.</a:t>
            </a:r>
          </a:p>
          <a:p>
            <a:r>
              <a:rPr lang="en-US" sz="1500" dirty="0">
                <a:solidFill>
                  <a:schemeClr val="accent2"/>
                </a:solidFill>
                <a:latin typeface="Google Sans"/>
              </a:rPr>
              <a:t>1️⃣ Define the Problem &amp; Scope</a:t>
            </a:r>
          </a:p>
          <a:p>
            <a:r>
              <a:rPr lang="en-US" sz="1500" dirty="0">
                <a:solidFill>
                  <a:schemeClr val="accent2"/>
                </a:solidFill>
                <a:latin typeface="Google Sans"/>
              </a:rPr>
              <a:t>Ask very precisely:</a:t>
            </a:r>
          </a:p>
          <a:p>
            <a:r>
              <a:rPr lang="en-US" sz="1500" dirty="0">
                <a:solidFill>
                  <a:schemeClr val="accent2"/>
                </a:solidFill>
                <a:latin typeface="Google Sans"/>
              </a:rPr>
              <a:t>Question	                                                                Why it matters</a:t>
            </a:r>
          </a:p>
          <a:p>
            <a:r>
              <a:rPr lang="en-US" sz="1500" dirty="0">
                <a:solidFill>
                  <a:schemeClr val="accent6"/>
                </a:solidFill>
                <a:latin typeface="Google Sans"/>
              </a:rPr>
              <a:t>What problem does this protocol solve?	Avoid protocol bloat</a:t>
            </a:r>
          </a:p>
          <a:p>
            <a:r>
              <a:rPr lang="en-US" sz="1500" dirty="0">
                <a:solidFill>
                  <a:schemeClr val="accent6"/>
                </a:solidFill>
                <a:latin typeface="Google Sans"/>
              </a:rPr>
              <a:t>Who are the peers?	                                           Client–server? Peer-to-peer?</a:t>
            </a:r>
          </a:p>
          <a:p>
            <a:r>
              <a:rPr lang="en-US" sz="1500" dirty="0">
                <a:solidFill>
                  <a:schemeClr val="accent6"/>
                </a:solidFill>
                <a:latin typeface="Google Sans"/>
              </a:rPr>
              <a:t>Reliable or best-effort?	                      Impacts retransmission logic</a:t>
            </a:r>
          </a:p>
          <a:p>
            <a:r>
              <a:rPr lang="en-US" sz="1500" dirty="0">
                <a:solidFill>
                  <a:schemeClr val="accent6"/>
                </a:solidFill>
                <a:latin typeface="Google Sans"/>
              </a:rPr>
              <a:t>Latency vs throughput?	                      Buffering strategy</a:t>
            </a:r>
            <a:endParaRPr lang="en-US" sz="2000" kern="0" spc="-220" dirty="0">
              <a:solidFill>
                <a:schemeClr val="accent2"/>
              </a:solidFill>
            </a:endParaRPr>
          </a:p>
        </p:txBody>
      </p:sp>
    </p:spTree>
    <p:extLst>
      <p:ext uri="{BB962C8B-B14F-4D97-AF65-F5344CB8AC3E}">
        <p14:creationId xmlns:p14="http://schemas.microsoft.com/office/powerpoint/2010/main" val="40852884"/>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22DF6-A555-DF04-9739-913C1444349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66C7269-E87E-9C4C-EF39-8AAAD877A0EC}"/>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CB95B33-15F2-FF9C-5039-4B7F291896D7}"/>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FDBE985-7972-7B16-6BB6-D69BE827A5C5}"/>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AC8132-19CF-68E2-4E88-A60A8F1FCF9B}"/>
              </a:ext>
            </a:extLst>
          </p:cNvPr>
          <p:cNvSpPr txBox="1">
            <a:spLocks/>
          </p:cNvSpPr>
          <p:nvPr/>
        </p:nvSpPr>
        <p:spPr>
          <a:xfrm>
            <a:off x="275300" y="1095844"/>
            <a:ext cx="8624937" cy="446276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kern="0" spc="-220" dirty="0">
                <a:solidFill>
                  <a:schemeClr val="accent2"/>
                </a:solidFill>
              </a:rPr>
              <a:t>Custom Network Protocol Design &amp; Implementation</a:t>
            </a:r>
          </a:p>
          <a:p>
            <a:r>
              <a:rPr lang="en-US" sz="1500" dirty="0">
                <a:solidFill>
                  <a:schemeClr val="accent2"/>
                </a:solidFill>
                <a:latin typeface="Google Sans"/>
              </a:rPr>
              <a:t>1️⃣ Define the Problem &amp; Scope</a:t>
            </a:r>
          </a:p>
          <a:p>
            <a:r>
              <a:rPr lang="en-US" sz="1500" dirty="0">
                <a:solidFill>
                  <a:schemeClr val="accent2"/>
                </a:solidFill>
                <a:latin typeface="Google Sans"/>
              </a:rPr>
              <a:t>Ask very precisely:</a:t>
            </a:r>
          </a:p>
          <a:p>
            <a:r>
              <a:rPr lang="en-US" sz="1500" dirty="0">
                <a:solidFill>
                  <a:schemeClr val="accent2"/>
                </a:solidFill>
                <a:latin typeface="Google Sans"/>
              </a:rPr>
              <a:t>Question	                                                                Why it matters</a:t>
            </a:r>
          </a:p>
          <a:p>
            <a:r>
              <a:rPr lang="en-US" sz="1500" dirty="0">
                <a:solidFill>
                  <a:schemeClr val="accent6"/>
                </a:solidFill>
                <a:latin typeface="Google Sans"/>
              </a:rPr>
              <a:t>Human-readable or binary?	                     Debug vs performance</a:t>
            </a:r>
          </a:p>
          <a:p>
            <a:r>
              <a:rPr lang="en-US" sz="1500" dirty="0">
                <a:solidFill>
                  <a:schemeClr val="accent6"/>
                </a:solidFill>
                <a:latin typeface="Google Sans"/>
              </a:rPr>
              <a:t>Backward compatibility?	                     Versioning strategy</a:t>
            </a:r>
          </a:p>
          <a:p>
            <a:r>
              <a:rPr lang="en-US" sz="1500" dirty="0">
                <a:solidFill>
                  <a:schemeClr val="accent2"/>
                </a:solidFill>
                <a:latin typeface="Google Sans"/>
              </a:rPr>
              <a:t>📌 Example:</a:t>
            </a:r>
          </a:p>
          <a:p>
            <a:r>
              <a:rPr lang="en-US" sz="1500" dirty="0">
                <a:solidFill>
                  <a:schemeClr val="accent6"/>
                </a:solidFill>
                <a:latin typeface="Google Sans"/>
              </a:rPr>
              <a:t>“I need a low-latency, binary, request-response protocol between microservices inside a datacenter.”</a:t>
            </a:r>
          </a:p>
          <a:p>
            <a:r>
              <a:rPr lang="en-US" sz="1500" dirty="0">
                <a:solidFill>
                  <a:schemeClr val="accent2"/>
                </a:solidFill>
                <a:latin typeface="Google Sans"/>
              </a:rPr>
              <a:t>2️⃣ Choose the OSI Layer (Critical Decision)</a:t>
            </a:r>
          </a:p>
          <a:p>
            <a:r>
              <a:rPr lang="en-US" sz="1500" dirty="0">
                <a:solidFill>
                  <a:schemeClr val="accent2"/>
                </a:solidFill>
                <a:latin typeface="Google Sans"/>
              </a:rPr>
              <a:t>Layer	                     Typical Reason</a:t>
            </a:r>
          </a:p>
          <a:p>
            <a:r>
              <a:rPr lang="en-US" sz="1500" dirty="0">
                <a:solidFill>
                  <a:schemeClr val="accent6"/>
                </a:solidFill>
                <a:latin typeface="Google Sans"/>
              </a:rPr>
              <a:t>L7 Application	New app behavior (REST, RPC, streaming)</a:t>
            </a:r>
          </a:p>
          <a:p>
            <a:r>
              <a:rPr lang="en-US" sz="1500" dirty="0">
                <a:solidFill>
                  <a:schemeClr val="accent6"/>
                </a:solidFill>
                <a:latin typeface="Google Sans"/>
              </a:rPr>
              <a:t>L6 Presentation	Encryption, compression, serialization</a:t>
            </a:r>
          </a:p>
          <a:p>
            <a:r>
              <a:rPr lang="en-US" sz="1500" dirty="0">
                <a:solidFill>
                  <a:schemeClr val="accent6"/>
                </a:solidFill>
                <a:latin typeface="Google Sans"/>
              </a:rPr>
              <a:t>L5 Session	                     Stateful dialogs, resumability</a:t>
            </a:r>
          </a:p>
          <a:p>
            <a:r>
              <a:rPr lang="en-US" sz="1500" dirty="0">
                <a:solidFill>
                  <a:schemeClr val="accent6"/>
                </a:solidFill>
                <a:latin typeface="Google Sans"/>
              </a:rPr>
              <a:t>L4 Transport	Reliability, congestion, multiplexing</a:t>
            </a:r>
          </a:p>
          <a:p>
            <a:r>
              <a:rPr lang="en-US" sz="1500" dirty="0">
                <a:solidFill>
                  <a:schemeClr val="accent6"/>
                </a:solidFill>
                <a:latin typeface="Google Sans"/>
              </a:rPr>
              <a:t>L3 Network	                     Routing, addressing logic</a:t>
            </a:r>
          </a:p>
          <a:p>
            <a:r>
              <a:rPr lang="en-US" sz="1500" dirty="0">
                <a:solidFill>
                  <a:schemeClr val="accent6"/>
                </a:solidFill>
                <a:latin typeface="Google Sans"/>
              </a:rPr>
              <a:t>L2 Data Link	Custom framing, switching, MAC control</a:t>
            </a:r>
          </a:p>
          <a:p>
            <a:r>
              <a:rPr lang="en-US" sz="1500" dirty="0">
                <a:solidFill>
                  <a:schemeClr val="accent6"/>
                </a:solidFill>
                <a:latin typeface="Google Sans"/>
              </a:rPr>
              <a:t>L1 Physical	                      Custom signaling / hardware</a:t>
            </a:r>
          </a:p>
          <a:p>
            <a:r>
              <a:rPr lang="en-US" sz="1500" dirty="0">
                <a:solidFill>
                  <a:schemeClr val="accent6"/>
                </a:solidFill>
                <a:latin typeface="Google Sans"/>
              </a:rPr>
              <a:t>👉 Rule of thumb:</a:t>
            </a:r>
          </a:p>
          <a:p>
            <a:r>
              <a:rPr lang="en-US" sz="1500" dirty="0">
                <a:solidFill>
                  <a:schemeClr val="accent6"/>
                </a:solidFill>
                <a:latin typeface="Google Sans"/>
              </a:rPr>
              <a:t>Build at the highest possible layer unless you have a very strong reason not to.</a:t>
            </a:r>
          </a:p>
        </p:txBody>
      </p:sp>
    </p:spTree>
    <p:extLst>
      <p:ext uri="{BB962C8B-B14F-4D97-AF65-F5344CB8AC3E}">
        <p14:creationId xmlns:p14="http://schemas.microsoft.com/office/powerpoint/2010/main" val="3194836628"/>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F353A-6FA0-43F5-254A-AC68B74AAB1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CC8EB46-D02D-35E8-6EA3-E3B03475C369}"/>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97B9209-87BF-143A-2244-E92CCD5A4A9E}"/>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BBA140F-F413-7DAE-6EEB-4F52DE1468CE}"/>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DACB155F-1766-9F51-952C-EA32C5721CDE}"/>
              </a:ext>
            </a:extLst>
          </p:cNvPr>
          <p:cNvSpPr txBox="1">
            <a:spLocks/>
          </p:cNvSpPr>
          <p:nvPr/>
        </p:nvSpPr>
        <p:spPr>
          <a:xfrm>
            <a:off x="275300" y="1095844"/>
            <a:ext cx="8624937" cy="46935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kern="0" spc="-220" dirty="0">
                <a:solidFill>
                  <a:schemeClr val="accent2"/>
                </a:solidFill>
              </a:rPr>
              <a:t>Custom Network Protocol Design &amp; Implementation</a:t>
            </a:r>
          </a:p>
          <a:p>
            <a:r>
              <a:rPr lang="en-US" sz="1500" dirty="0">
                <a:solidFill>
                  <a:schemeClr val="accent2"/>
                </a:solidFill>
                <a:latin typeface="Google Sans"/>
              </a:rPr>
              <a:t>3️⃣ Define Protocol Semantics (The “Contract”)</a:t>
            </a:r>
          </a:p>
          <a:p>
            <a:r>
              <a:rPr lang="en-US" sz="1500" dirty="0">
                <a:solidFill>
                  <a:schemeClr val="accent2"/>
                </a:solidFill>
                <a:latin typeface="Google Sans"/>
              </a:rPr>
              <a:t>a) Define Roles</a:t>
            </a:r>
          </a:p>
          <a:p>
            <a:r>
              <a:rPr lang="en-US" sz="1500" dirty="0">
                <a:solidFill>
                  <a:schemeClr val="accent6"/>
                </a:solidFill>
                <a:latin typeface="Google Sans"/>
              </a:rPr>
              <a:t>Client / Server</a:t>
            </a:r>
          </a:p>
          <a:p>
            <a:r>
              <a:rPr lang="en-US" sz="1500" dirty="0">
                <a:solidFill>
                  <a:schemeClr val="accent6"/>
                </a:solidFill>
                <a:latin typeface="Google Sans"/>
              </a:rPr>
              <a:t>Publisher / Subscriber</a:t>
            </a:r>
          </a:p>
          <a:p>
            <a:r>
              <a:rPr lang="en-US" sz="1500" dirty="0">
                <a:solidFill>
                  <a:schemeClr val="accent6"/>
                </a:solidFill>
                <a:latin typeface="Google Sans"/>
              </a:rPr>
              <a:t>Peer-to-peer</a:t>
            </a:r>
          </a:p>
          <a:p>
            <a:r>
              <a:rPr lang="en-US" sz="1500" dirty="0">
                <a:solidFill>
                  <a:schemeClr val="accent2"/>
                </a:solidFill>
                <a:latin typeface="Google Sans"/>
              </a:rPr>
              <a:t>b) Define Operations</a:t>
            </a:r>
          </a:p>
          <a:p>
            <a:r>
              <a:rPr lang="en-US" sz="1500" dirty="0">
                <a:solidFill>
                  <a:schemeClr val="accent6"/>
                </a:solidFill>
                <a:latin typeface="Google Sans"/>
              </a:rPr>
              <a:t>Examples:</a:t>
            </a:r>
          </a:p>
          <a:p>
            <a:r>
              <a:rPr lang="en-US" sz="1500" dirty="0">
                <a:solidFill>
                  <a:schemeClr val="accent6"/>
                </a:solidFill>
                <a:latin typeface="Google Sans"/>
              </a:rPr>
              <a:t>CONNECT</a:t>
            </a:r>
          </a:p>
          <a:p>
            <a:r>
              <a:rPr lang="en-US" sz="1500" dirty="0">
                <a:solidFill>
                  <a:schemeClr val="accent6"/>
                </a:solidFill>
                <a:latin typeface="Google Sans"/>
              </a:rPr>
              <a:t>PUBLISH</a:t>
            </a:r>
          </a:p>
          <a:p>
            <a:r>
              <a:rPr lang="en-US" sz="1500" dirty="0">
                <a:solidFill>
                  <a:schemeClr val="accent6"/>
                </a:solidFill>
                <a:latin typeface="Google Sans"/>
              </a:rPr>
              <a:t>ACK</a:t>
            </a:r>
          </a:p>
          <a:p>
            <a:r>
              <a:rPr lang="en-US" sz="1500" dirty="0">
                <a:solidFill>
                  <a:schemeClr val="accent6"/>
                </a:solidFill>
                <a:latin typeface="Google Sans"/>
              </a:rPr>
              <a:t>HEARTBEAT</a:t>
            </a:r>
          </a:p>
          <a:p>
            <a:r>
              <a:rPr lang="en-US" sz="1500" dirty="0">
                <a:solidFill>
                  <a:schemeClr val="accent6"/>
                </a:solidFill>
                <a:latin typeface="Google Sans"/>
              </a:rPr>
              <a:t>CLOSE</a:t>
            </a:r>
          </a:p>
          <a:p>
            <a:r>
              <a:rPr lang="en-US" sz="1500" dirty="0">
                <a:solidFill>
                  <a:schemeClr val="accent2"/>
                </a:solidFill>
                <a:latin typeface="Google Sans"/>
              </a:rPr>
              <a:t>c) Define Guarantees</a:t>
            </a:r>
          </a:p>
          <a:p>
            <a:r>
              <a:rPr lang="en-US" sz="1500" dirty="0">
                <a:solidFill>
                  <a:schemeClr val="accent2"/>
                </a:solidFill>
                <a:latin typeface="Google Sans"/>
              </a:rPr>
              <a:t>Guarantee	                     Optional?</a:t>
            </a:r>
          </a:p>
          <a:p>
            <a:r>
              <a:rPr lang="en-US" sz="1500" dirty="0">
                <a:solidFill>
                  <a:schemeClr val="accent6"/>
                </a:solidFill>
                <a:latin typeface="Google Sans"/>
              </a:rPr>
              <a:t>Ordering	                      Yes</a:t>
            </a:r>
          </a:p>
          <a:p>
            <a:r>
              <a:rPr lang="en-US" sz="1500" dirty="0">
                <a:solidFill>
                  <a:schemeClr val="accent6"/>
                </a:solidFill>
                <a:latin typeface="Google Sans"/>
              </a:rPr>
              <a:t>Exactly-once delivery	Hard</a:t>
            </a:r>
          </a:p>
          <a:p>
            <a:r>
              <a:rPr lang="en-US" sz="1500" dirty="0">
                <a:solidFill>
                  <a:schemeClr val="accent6"/>
                </a:solidFill>
                <a:latin typeface="Google Sans"/>
              </a:rPr>
              <a:t>At-least-once	Common</a:t>
            </a:r>
          </a:p>
          <a:p>
            <a:r>
              <a:rPr lang="en-US" sz="1500" dirty="0">
                <a:solidFill>
                  <a:schemeClr val="accent6"/>
                </a:solidFill>
                <a:latin typeface="Google Sans"/>
              </a:rPr>
              <a:t>Idempotency	Recommended</a:t>
            </a:r>
          </a:p>
          <a:p>
            <a:endParaRPr lang="en-US" sz="1500" dirty="0">
              <a:solidFill>
                <a:schemeClr val="accent6"/>
              </a:solidFill>
              <a:latin typeface="Google Sans"/>
            </a:endParaRPr>
          </a:p>
        </p:txBody>
      </p:sp>
    </p:spTree>
    <p:extLst>
      <p:ext uri="{BB962C8B-B14F-4D97-AF65-F5344CB8AC3E}">
        <p14:creationId xmlns:p14="http://schemas.microsoft.com/office/powerpoint/2010/main" val="688956938"/>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D7C8E-FC14-ADC7-3C8E-FD3F344B240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2FBABFF-BBD3-561C-3A1B-95B31C9168A2}"/>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A6939BB-0005-C22F-BFAB-13DBA1F49D24}"/>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36E65AC-1E13-6CC8-CC98-8DA6FDBD4A39}"/>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B630F1BE-B715-E6D8-0843-184C24F149BB}"/>
              </a:ext>
            </a:extLst>
          </p:cNvPr>
          <p:cNvSpPr txBox="1">
            <a:spLocks/>
          </p:cNvSpPr>
          <p:nvPr/>
        </p:nvSpPr>
        <p:spPr>
          <a:xfrm>
            <a:off x="275300" y="1095844"/>
            <a:ext cx="8624937" cy="446276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kern="0" spc="-220" dirty="0">
                <a:solidFill>
                  <a:schemeClr val="accent2"/>
                </a:solidFill>
              </a:rPr>
              <a:t>Custom Network Protocol Design &amp; Implementation</a:t>
            </a:r>
          </a:p>
          <a:p>
            <a:r>
              <a:rPr lang="en-US" sz="1500" dirty="0">
                <a:solidFill>
                  <a:schemeClr val="accent2"/>
                </a:solidFill>
                <a:latin typeface="Google Sans"/>
              </a:rPr>
              <a:t>4️⃣ Design Message Structure (Wire Format)</a:t>
            </a:r>
          </a:p>
          <a:p>
            <a:r>
              <a:rPr lang="en-US" sz="1500" dirty="0">
                <a:solidFill>
                  <a:schemeClr val="accent6"/>
                </a:solidFill>
                <a:latin typeface="Google Sans"/>
              </a:rPr>
              <a:t>This is the most important step.</a:t>
            </a:r>
          </a:p>
          <a:p>
            <a:r>
              <a:rPr lang="en-US" sz="1500" dirty="0">
                <a:solidFill>
                  <a:schemeClr val="accent2"/>
                </a:solidFill>
                <a:latin typeface="Google Sans"/>
              </a:rPr>
              <a:t>a) Choose Encoding</a:t>
            </a:r>
          </a:p>
          <a:p>
            <a:r>
              <a:rPr lang="en-US" sz="1500" dirty="0">
                <a:solidFill>
                  <a:schemeClr val="accent2"/>
                </a:solidFill>
                <a:latin typeface="Google Sans"/>
              </a:rPr>
              <a:t>Encoding	                                 Use When</a:t>
            </a:r>
          </a:p>
          <a:p>
            <a:r>
              <a:rPr lang="en-US" sz="1500" dirty="0">
                <a:solidFill>
                  <a:schemeClr val="accent6"/>
                </a:solidFill>
                <a:latin typeface="Google Sans"/>
              </a:rPr>
              <a:t>Binary (TLV, </a:t>
            </a:r>
            <a:r>
              <a:rPr lang="en-US" sz="1500" dirty="0" err="1">
                <a:solidFill>
                  <a:schemeClr val="accent6"/>
                </a:solidFill>
                <a:latin typeface="Google Sans"/>
              </a:rPr>
              <a:t>Protobuf</a:t>
            </a:r>
            <a:r>
              <a:rPr lang="en-US" sz="1500" dirty="0">
                <a:solidFill>
                  <a:schemeClr val="accent6"/>
                </a:solidFill>
                <a:latin typeface="Google Sans"/>
              </a:rPr>
              <a:t>)	            Performance-critical</a:t>
            </a:r>
          </a:p>
          <a:p>
            <a:r>
              <a:rPr lang="en-US" sz="1500" dirty="0">
                <a:solidFill>
                  <a:schemeClr val="accent6"/>
                </a:solidFill>
                <a:latin typeface="Google Sans"/>
              </a:rPr>
              <a:t>JSON	                                 Debuggability</a:t>
            </a:r>
          </a:p>
          <a:p>
            <a:r>
              <a:rPr lang="en-US" sz="1500" dirty="0">
                <a:solidFill>
                  <a:schemeClr val="accent6"/>
                </a:solidFill>
                <a:latin typeface="Google Sans"/>
              </a:rPr>
              <a:t>Fixed-length headers	            Fast parsing</a:t>
            </a:r>
          </a:p>
          <a:p>
            <a:r>
              <a:rPr lang="en-US" sz="1500" dirty="0">
                <a:solidFill>
                  <a:schemeClr val="accent6"/>
                </a:solidFill>
                <a:latin typeface="Google Sans"/>
              </a:rPr>
              <a:t>Variable-length fields	            Flexibility</a:t>
            </a:r>
          </a:p>
          <a:p>
            <a:r>
              <a:rPr lang="en-US" sz="1500" dirty="0">
                <a:solidFill>
                  <a:schemeClr val="accent2"/>
                </a:solidFill>
                <a:latin typeface="Google Sans"/>
              </a:rPr>
              <a:t>b) Message Layout (Example)</a:t>
            </a:r>
          </a:p>
          <a:p>
            <a:r>
              <a:rPr lang="en-US" sz="1500" dirty="0">
                <a:solidFill>
                  <a:schemeClr val="accent6"/>
                </a:solidFill>
                <a:latin typeface="Google Sans"/>
              </a:rPr>
              <a:t>| Magic | Version | </a:t>
            </a:r>
            <a:r>
              <a:rPr lang="en-US" sz="1500" dirty="0" err="1">
                <a:solidFill>
                  <a:schemeClr val="accent6"/>
                </a:solidFill>
                <a:latin typeface="Google Sans"/>
              </a:rPr>
              <a:t>MsgType</a:t>
            </a:r>
            <a:r>
              <a:rPr lang="en-US" sz="1500" dirty="0">
                <a:solidFill>
                  <a:schemeClr val="accent6"/>
                </a:solidFill>
                <a:latin typeface="Google Sans"/>
              </a:rPr>
              <a:t> | Length | Payload | CRC |</a:t>
            </a:r>
          </a:p>
          <a:p>
            <a:r>
              <a:rPr lang="en-US" sz="1500" dirty="0">
                <a:solidFill>
                  <a:schemeClr val="accent2"/>
                </a:solidFill>
                <a:latin typeface="Google Sans"/>
              </a:rPr>
              <a:t>c) Versioning Strategy</a:t>
            </a:r>
          </a:p>
          <a:p>
            <a:r>
              <a:rPr lang="en-US" sz="1500" dirty="0" err="1">
                <a:solidFill>
                  <a:schemeClr val="accent6"/>
                </a:solidFill>
                <a:latin typeface="Google Sans"/>
              </a:rPr>
              <a:t>Major.Minor</a:t>
            </a:r>
            <a:endParaRPr lang="en-US" sz="1500" dirty="0">
              <a:solidFill>
                <a:schemeClr val="accent6"/>
              </a:solidFill>
              <a:latin typeface="Google Sans"/>
            </a:endParaRPr>
          </a:p>
          <a:p>
            <a:r>
              <a:rPr lang="en-US" sz="1500" dirty="0">
                <a:solidFill>
                  <a:schemeClr val="accent6"/>
                </a:solidFill>
                <a:latin typeface="Google Sans"/>
              </a:rPr>
              <a:t>Feature flags</a:t>
            </a:r>
          </a:p>
          <a:p>
            <a:r>
              <a:rPr lang="en-US" sz="1500" dirty="0">
                <a:solidFill>
                  <a:schemeClr val="accent6"/>
                </a:solidFill>
                <a:latin typeface="Google Sans"/>
              </a:rPr>
              <a:t>Backward-compatible fields</a:t>
            </a:r>
          </a:p>
          <a:p>
            <a:r>
              <a:rPr lang="en-US" sz="1500" dirty="0">
                <a:solidFill>
                  <a:schemeClr val="accent2"/>
                </a:solidFill>
                <a:latin typeface="Google Sans"/>
              </a:rPr>
              <a:t>📌 Golden Rule:</a:t>
            </a:r>
          </a:p>
          <a:p>
            <a:r>
              <a:rPr lang="en-US" sz="1500" dirty="0">
                <a:solidFill>
                  <a:schemeClr val="accent6"/>
                </a:solidFill>
                <a:latin typeface="Google Sans"/>
              </a:rPr>
              <a:t>Always include length and version fields.</a:t>
            </a:r>
          </a:p>
          <a:p>
            <a:endParaRPr lang="en-US" sz="1500" dirty="0">
              <a:solidFill>
                <a:schemeClr val="accent6"/>
              </a:solidFill>
              <a:latin typeface="Google Sans"/>
            </a:endParaRPr>
          </a:p>
          <a:p>
            <a:endParaRPr lang="en-US" sz="1500" dirty="0">
              <a:solidFill>
                <a:schemeClr val="accent6"/>
              </a:solidFill>
              <a:latin typeface="Google Sans"/>
            </a:endParaRPr>
          </a:p>
        </p:txBody>
      </p:sp>
    </p:spTree>
    <p:extLst>
      <p:ext uri="{BB962C8B-B14F-4D97-AF65-F5344CB8AC3E}">
        <p14:creationId xmlns:p14="http://schemas.microsoft.com/office/powerpoint/2010/main" val="4033202520"/>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1532E-A400-40F7-CB35-746906B1501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258D06F-9547-2F6D-FEA8-FE932782D723}"/>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FE54968-6ACB-7CDD-50CD-A8AD930685C3}"/>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772D785-983F-1AC5-9B25-66909752B293}"/>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86CD4839-0001-4D7F-FE8C-70426B1C3D4D}"/>
              </a:ext>
            </a:extLst>
          </p:cNvPr>
          <p:cNvSpPr txBox="1">
            <a:spLocks/>
          </p:cNvSpPr>
          <p:nvPr/>
        </p:nvSpPr>
        <p:spPr>
          <a:xfrm>
            <a:off x="275300" y="1095844"/>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kern="0" spc="-220" dirty="0">
                <a:solidFill>
                  <a:schemeClr val="accent2"/>
                </a:solidFill>
              </a:rPr>
              <a:t>Custom Network Protocol Design &amp; Implementation</a:t>
            </a:r>
          </a:p>
          <a:p>
            <a:r>
              <a:rPr lang="en-US" sz="1500" dirty="0">
                <a:solidFill>
                  <a:schemeClr val="accent2"/>
                </a:solidFill>
                <a:latin typeface="Google Sans"/>
              </a:rPr>
              <a:t>5️⃣ Define State Machines (Explicitly!)</a:t>
            </a:r>
          </a:p>
          <a:p>
            <a:r>
              <a:rPr lang="en-US" sz="1500" dirty="0">
                <a:solidFill>
                  <a:schemeClr val="accent6"/>
                </a:solidFill>
                <a:latin typeface="Google Sans"/>
              </a:rPr>
              <a:t>Every protocol must have a formal state machine.</a:t>
            </a:r>
          </a:p>
          <a:p>
            <a:r>
              <a:rPr lang="en-US" sz="1500" dirty="0">
                <a:solidFill>
                  <a:schemeClr val="accent2"/>
                </a:solidFill>
                <a:latin typeface="Google Sans"/>
              </a:rPr>
              <a:t>Example (Client Side)</a:t>
            </a:r>
          </a:p>
          <a:p>
            <a:r>
              <a:rPr lang="en-US" sz="1500" dirty="0">
                <a:solidFill>
                  <a:schemeClr val="accent6"/>
                </a:solidFill>
                <a:latin typeface="Google Sans"/>
              </a:rPr>
              <a:t>INIT → CONNECTING → ESTABLISHED → CLOSING → CLOSED</a:t>
            </a:r>
          </a:p>
          <a:p>
            <a:r>
              <a:rPr lang="en-US" sz="1500" dirty="0">
                <a:solidFill>
                  <a:schemeClr val="accent2"/>
                </a:solidFill>
                <a:latin typeface="Google Sans"/>
              </a:rPr>
              <a:t>Define:</a:t>
            </a:r>
          </a:p>
          <a:p>
            <a:r>
              <a:rPr lang="en-US" sz="1500" dirty="0">
                <a:solidFill>
                  <a:schemeClr val="accent6"/>
                </a:solidFill>
                <a:latin typeface="Google Sans"/>
              </a:rPr>
              <a:t>Valid transitions</a:t>
            </a:r>
          </a:p>
          <a:p>
            <a:r>
              <a:rPr lang="en-US" sz="1500" dirty="0">
                <a:solidFill>
                  <a:schemeClr val="accent6"/>
                </a:solidFill>
                <a:latin typeface="Google Sans"/>
              </a:rPr>
              <a:t>Timeout behavior</a:t>
            </a:r>
          </a:p>
          <a:p>
            <a:r>
              <a:rPr lang="en-US" sz="1500" dirty="0">
                <a:solidFill>
                  <a:schemeClr val="accent6"/>
                </a:solidFill>
                <a:latin typeface="Google Sans"/>
              </a:rPr>
              <a:t>Error transitions</a:t>
            </a:r>
          </a:p>
          <a:p>
            <a:r>
              <a:rPr lang="en-US" sz="1500" dirty="0">
                <a:solidFill>
                  <a:schemeClr val="accent6"/>
                </a:solidFill>
                <a:latin typeface="Google Sans"/>
              </a:rPr>
              <a:t>Retry rules</a:t>
            </a:r>
          </a:p>
          <a:p>
            <a:r>
              <a:rPr lang="en-US" sz="1500" dirty="0">
                <a:solidFill>
                  <a:schemeClr val="accent6"/>
                </a:solidFill>
                <a:latin typeface="Google Sans"/>
              </a:rPr>
              <a:t>📌 If you don’t draw the state machine, bugs will draw it for you later.</a:t>
            </a:r>
          </a:p>
          <a:p>
            <a:r>
              <a:rPr lang="en-US" sz="1500" dirty="0">
                <a:solidFill>
                  <a:schemeClr val="accent2"/>
                </a:solidFill>
                <a:latin typeface="Google Sans"/>
              </a:rPr>
              <a:t>6️⃣ Error Handling &amp; Recovery Rules</a:t>
            </a:r>
          </a:p>
          <a:p>
            <a:r>
              <a:rPr lang="en-US" sz="1500" dirty="0">
                <a:solidFill>
                  <a:schemeClr val="accent2"/>
                </a:solidFill>
                <a:latin typeface="Google Sans"/>
              </a:rPr>
              <a:t>You must define:</a:t>
            </a:r>
          </a:p>
          <a:p>
            <a:r>
              <a:rPr lang="en-US" sz="1500" dirty="0">
                <a:solidFill>
                  <a:schemeClr val="accent6"/>
                </a:solidFill>
                <a:latin typeface="Google Sans"/>
              </a:rPr>
              <a:t>Invalid message behavior</a:t>
            </a:r>
          </a:p>
          <a:p>
            <a:r>
              <a:rPr lang="en-US" sz="1500" dirty="0">
                <a:solidFill>
                  <a:schemeClr val="accent6"/>
                </a:solidFill>
                <a:latin typeface="Google Sans"/>
              </a:rPr>
              <a:t>Timeouts</a:t>
            </a:r>
          </a:p>
          <a:p>
            <a:r>
              <a:rPr lang="en-US" sz="1500" dirty="0">
                <a:solidFill>
                  <a:schemeClr val="accent6"/>
                </a:solidFill>
                <a:latin typeface="Google Sans"/>
              </a:rPr>
              <a:t>Partial reads/writes</a:t>
            </a:r>
          </a:p>
          <a:p>
            <a:r>
              <a:rPr lang="en-US" sz="1500" dirty="0">
                <a:solidFill>
                  <a:schemeClr val="accent6"/>
                </a:solidFill>
                <a:latin typeface="Google Sans"/>
              </a:rPr>
              <a:t>Retransmission logic</a:t>
            </a:r>
          </a:p>
          <a:p>
            <a:r>
              <a:rPr lang="en-US" sz="1500" dirty="0">
                <a:solidFill>
                  <a:schemeClr val="accent6"/>
                </a:solidFill>
                <a:latin typeface="Google Sans"/>
              </a:rPr>
              <a:t>Backpressure handling</a:t>
            </a:r>
          </a:p>
          <a:p>
            <a:r>
              <a:rPr lang="en-US" sz="1500" dirty="0">
                <a:solidFill>
                  <a:schemeClr val="accent2"/>
                </a:solidFill>
                <a:latin typeface="Google Sans"/>
              </a:rPr>
              <a:t>Example:</a:t>
            </a:r>
          </a:p>
          <a:p>
            <a:r>
              <a:rPr lang="en-US" sz="1500" dirty="0">
                <a:solidFill>
                  <a:schemeClr val="accent6"/>
                </a:solidFill>
                <a:latin typeface="Google Sans"/>
              </a:rPr>
              <a:t>If ACK not received in 200ms → retransmit</a:t>
            </a:r>
          </a:p>
          <a:p>
            <a:r>
              <a:rPr lang="en-US" sz="1500" dirty="0">
                <a:solidFill>
                  <a:schemeClr val="accent6"/>
                </a:solidFill>
                <a:latin typeface="Google Sans"/>
              </a:rPr>
              <a:t>After 3 retries → close connection</a:t>
            </a:r>
            <a:endParaRPr lang="en-US" sz="2000" kern="0" spc="-220" dirty="0">
              <a:solidFill>
                <a:schemeClr val="accent2"/>
              </a:solidFill>
            </a:endParaRPr>
          </a:p>
        </p:txBody>
      </p:sp>
    </p:spTree>
    <p:extLst>
      <p:ext uri="{BB962C8B-B14F-4D97-AF65-F5344CB8AC3E}">
        <p14:creationId xmlns:p14="http://schemas.microsoft.com/office/powerpoint/2010/main" val="193285472"/>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63E9A-8AF5-1E7E-1222-CD322CB1A8C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3FB314C-599A-2DBB-1100-95E6B47674F9}"/>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C0F23A6-B6AA-DD66-EFD5-F60760CB84FA}"/>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238596E-63E2-FD84-9B4F-64CC7FED972E}"/>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380427A2-E09C-6EF7-5E36-C9A96A8188F1}"/>
              </a:ext>
            </a:extLst>
          </p:cNvPr>
          <p:cNvSpPr txBox="1">
            <a:spLocks/>
          </p:cNvSpPr>
          <p:nvPr/>
        </p:nvSpPr>
        <p:spPr>
          <a:xfrm>
            <a:off x="275300" y="1095844"/>
            <a:ext cx="8624937" cy="46935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kern="0" spc="-220" dirty="0">
                <a:solidFill>
                  <a:schemeClr val="accent2"/>
                </a:solidFill>
              </a:rPr>
              <a:t>Custom Network Protocol Design &amp; Implementation</a:t>
            </a:r>
          </a:p>
          <a:p>
            <a:r>
              <a:rPr lang="en-US" sz="1500" dirty="0">
                <a:solidFill>
                  <a:schemeClr val="accent2"/>
                </a:solidFill>
                <a:latin typeface="Google Sans"/>
              </a:rPr>
              <a:t>7️⃣ Security Model (Even for Internal Protocols)</a:t>
            </a:r>
          </a:p>
          <a:p>
            <a:r>
              <a:rPr lang="en-US" sz="1500" dirty="0">
                <a:solidFill>
                  <a:schemeClr val="accent2"/>
                </a:solidFill>
                <a:latin typeface="Google Sans"/>
              </a:rPr>
              <a:t>Define:</a:t>
            </a:r>
          </a:p>
          <a:p>
            <a:r>
              <a:rPr lang="en-US" sz="1500" dirty="0">
                <a:solidFill>
                  <a:schemeClr val="accent6"/>
                </a:solidFill>
                <a:latin typeface="Google Sans"/>
              </a:rPr>
              <a:t>Authentication</a:t>
            </a:r>
          </a:p>
          <a:p>
            <a:r>
              <a:rPr lang="en-US" sz="1500" dirty="0">
                <a:solidFill>
                  <a:schemeClr val="accent6"/>
                </a:solidFill>
                <a:latin typeface="Google Sans"/>
              </a:rPr>
              <a:t>Authorization</a:t>
            </a:r>
          </a:p>
          <a:p>
            <a:r>
              <a:rPr lang="en-US" sz="1500" dirty="0">
                <a:solidFill>
                  <a:schemeClr val="accent6"/>
                </a:solidFill>
                <a:latin typeface="Google Sans"/>
              </a:rPr>
              <a:t>Encryption</a:t>
            </a:r>
          </a:p>
          <a:p>
            <a:r>
              <a:rPr lang="en-US" sz="1500" dirty="0">
                <a:solidFill>
                  <a:schemeClr val="accent6"/>
                </a:solidFill>
                <a:latin typeface="Google Sans"/>
              </a:rPr>
              <a:t>Replay protection</a:t>
            </a:r>
          </a:p>
          <a:p>
            <a:r>
              <a:rPr lang="en-US" sz="1500" dirty="0">
                <a:solidFill>
                  <a:schemeClr val="accent6"/>
                </a:solidFill>
                <a:latin typeface="Google Sans"/>
              </a:rPr>
              <a:t>Even a “private” protocol gets abused eventually.</a:t>
            </a:r>
          </a:p>
          <a:p>
            <a:r>
              <a:rPr lang="en-US" sz="1500" dirty="0">
                <a:solidFill>
                  <a:schemeClr val="accent2"/>
                </a:solidFill>
                <a:latin typeface="Google Sans"/>
              </a:rPr>
              <a:t>8️⃣ Performance &amp; Resource Constraints</a:t>
            </a:r>
          </a:p>
          <a:p>
            <a:r>
              <a:rPr lang="en-US" sz="1500" dirty="0">
                <a:solidFill>
                  <a:schemeClr val="accent2"/>
                </a:solidFill>
                <a:latin typeface="Google Sans"/>
              </a:rPr>
              <a:t>Area	                      Design Impact</a:t>
            </a:r>
          </a:p>
          <a:p>
            <a:r>
              <a:rPr lang="en-US" sz="1500" dirty="0">
                <a:solidFill>
                  <a:schemeClr val="accent6"/>
                </a:solidFill>
                <a:latin typeface="Google Sans"/>
              </a:rPr>
              <a:t>Memory	                      Buffer pooling</a:t>
            </a:r>
          </a:p>
          <a:p>
            <a:r>
              <a:rPr lang="en-US" sz="1500" dirty="0">
                <a:solidFill>
                  <a:schemeClr val="accent6"/>
                </a:solidFill>
                <a:latin typeface="Google Sans"/>
              </a:rPr>
              <a:t>CPU	                      Parsing cost</a:t>
            </a:r>
          </a:p>
          <a:p>
            <a:r>
              <a:rPr lang="en-US" sz="1500" dirty="0">
                <a:solidFill>
                  <a:schemeClr val="accent6"/>
                </a:solidFill>
                <a:latin typeface="Google Sans"/>
              </a:rPr>
              <a:t>Latency	                      Nagle vs no-delay</a:t>
            </a:r>
          </a:p>
          <a:p>
            <a:r>
              <a:rPr lang="en-US" sz="1500" dirty="0">
                <a:solidFill>
                  <a:schemeClr val="accent6"/>
                </a:solidFill>
                <a:latin typeface="Google Sans"/>
              </a:rPr>
              <a:t>Concurrency	Lock-free queues</a:t>
            </a:r>
          </a:p>
          <a:p>
            <a:endParaRPr lang="en-US" sz="1500" dirty="0">
              <a:solidFill>
                <a:schemeClr val="accent6"/>
              </a:solidFill>
              <a:latin typeface="Google Sans"/>
            </a:endParaRPr>
          </a:p>
          <a:p>
            <a:r>
              <a:rPr lang="en-US" sz="1500" dirty="0">
                <a:solidFill>
                  <a:schemeClr val="accent2"/>
                </a:solidFill>
                <a:latin typeface="Google Sans"/>
              </a:rPr>
              <a:t>9️⃣ Interoperability &amp; Testing Strategy</a:t>
            </a:r>
          </a:p>
          <a:p>
            <a:r>
              <a:rPr lang="en-US" sz="1500" dirty="0">
                <a:solidFill>
                  <a:schemeClr val="accent6"/>
                </a:solidFill>
                <a:latin typeface="Google Sans"/>
              </a:rPr>
              <a:t>Fuzz testing</a:t>
            </a:r>
          </a:p>
          <a:p>
            <a:r>
              <a:rPr lang="en-US" sz="1500" dirty="0">
                <a:solidFill>
                  <a:schemeClr val="accent6"/>
                </a:solidFill>
                <a:latin typeface="Google Sans"/>
              </a:rPr>
              <a:t>Golden packet captures</a:t>
            </a:r>
          </a:p>
          <a:p>
            <a:r>
              <a:rPr lang="en-US" sz="1500" dirty="0">
                <a:solidFill>
                  <a:schemeClr val="accent6"/>
                </a:solidFill>
                <a:latin typeface="Google Sans"/>
              </a:rPr>
              <a:t>Version skew tests</a:t>
            </a:r>
          </a:p>
          <a:p>
            <a:r>
              <a:rPr lang="en-US" sz="1500" dirty="0">
                <a:solidFill>
                  <a:schemeClr val="accent6"/>
                </a:solidFill>
                <a:latin typeface="Google Sans"/>
              </a:rPr>
              <a:t>Chaos testing (packet loss, reordering)</a:t>
            </a:r>
          </a:p>
        </p:txBody>
      </p:sp>
    </p:spTree>
    <p:extLst>
      <p:ext uri="{BB962C8B-B14F-4D97-AF65-F5344CB8AC3E}">
        <p14:creationId xmlns:p14="http://schemas.microsoft.com/office/powerpoint/2010/main" val="2408670632"/>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7FA22-541C-1E44-1AF5-6BA63FC4BE3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156DF86-B0B8-2E35-87BE-837527A5E82C}"/>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8090F99-3C44-5FEA-707D-EE11CF9283FB}"/>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57294EE-3E62-836A-1BB8-6D8574AADCB8}"/>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49079F8-F7C4-8BFB-2A22-23D522CB1FE1}"/>
              </a:ext>
            </a:extLst>
          </p:cNvPr>
          <p:cNvSpPr txBox="1">
            <a:spLocks/>
          </p:cNvSpPr>
          <p:nvPr/>
        </p:nvSpPr>
        <p:spPr>
          <a:xfrm>
            <a:off x="275300" y="1095844"/>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kern="0" spc="-220" dirty="0">
                <a:solidFill>
                  <a:schemeClr val="accent2"/>
                </a:solidFill>
              </a:rPr>
              <a:t>Custom Network Protocol Design &amp; Implementation</a:t>
            </a:r>
          </a:p>
          <a:p>
            <a:r>
              <a:rPr lang="en-US" sz="1500" dirty="0">
                <a:solidFill>
                  <a:schemeClr val="accent2"/>
                </a:solidFill>
                <a:latin typeface="Google Sans"/>
              </a:rPr>
              <a:t>🧩 Implementation Differences by OSI Layer</a:t>
            </a:r>
          </a:p>
          <a:p>
            <a:r>
              <a:rPr lang="en-US" sz="1500" dirty="0">
                <a:solidFill>
                  <a:schemeClr val="accent6"/>
                </a:solidFill>
                <a:latin typeface="Google Sans"/>
              </a:rPr>
              <a:t>Now let’s get concrete per layer.</a:t>
            </a:r>
          </a:p>
          <a:p>
            <a:r>
              <a:rPr lang="en-US" sz="1500" dirty="0">
                <a:solidFill>
                  <a:schemeClr val="accent2"/>
                </a:solidFill>
                <a:latin typeface="Google Sans"/>
              </a:rPr>
              <a:t>🔷 L7 – Application Layer Protocol</a:t>
            </a:r>
          </a:p>
          <a:p>
            <a:r>
              <a:rPr lang="en-US" sz="1500" dirty="0">
                <a:solidFill>
                  <a:schemeClr val="accent2"/>
                </a:solidFill>
                <a:latin typeface="Google Sans"/>
              </a:rPr>
              <a:t>Examples</a:t>
            </a:r>
          </a:p>
          <a:p>
            <a:r>
              <a:rPr lang="en-US" sz="1500" dirty="0">
                <a:solidFill>
                  <a:schemeClr val="accent6"/>
                </a:solidFill>
                <a:latin typeface="Google Sans"/>
              </a:rPr>
              <a:t>HTTP, </a:t>
            </a:r>
            <a:r>
              <a:rPr lang="en-US" sz="1500" dirty="0" err="1">
                <a:solidFill>
                  <a:schemeClr val="accent6"/>
                </a:solidFill>
                <a:latin typeface="Google Sans"/>
              </a:rPr>
              <a:t>gRPC</a:t>
            </a:r>
            <a:r>
              <a:rPr lang="en-US" sz="1500" dirty="0">
                <a:solidFill>
                  <a:schemeClr val="accent6"/>
                </a:solidFill>
                <a:latin typeface="Google Sans"/>
              </a:rPr>
              <a:t>, Redis protocol, MQTT</a:t>
            </a:r>
          </a:p>
          <a:p>
            <a:r>
              <a:rPr lang="en-US" sz="1500" dirty="0">
                <a:solidFill>
                  <a:schemeClr val="accent2"/>
                </a:solidFill>
                <a:latin typeface="Google Sans"/>
              </a:rPr>
              <a:t>Where Code Runs</a:t>
            </a:r>
          </a:p>
          <a:p>
            <a:r>
              <a:rPr lang="en-US" sz="1500" dirty="0">
                <a:solidFill>
                  <a:schemeClr val="accent6"/>
                </a:solidFill>
                <a:latin typeface="Google Sans"/>
              </a:rPr>
              <a:t>User-space application</a:t>
            </a:r>
          </a:p>
          <a:p>
            <a:r>
              <a:rPr lang="en-US" sz="1500" dirty="0">
                <a:solidFill>
                  <a:schemeClr val="accent6"/>
                </a:solidFill>
                <a:latin typeface="Google Sans"/>
              </a:rPr>
              <a:t>Uses OS sockets</a:t>
            </a:r>
          </a:p>
          <a:p>
            <a:r>
              <a:rPr lang="en-US" sz="1500" dirty="0">
                <a:solidFill>
                  <a:schemeClr val="accent2"/>
                </a:solidFill>
                <a:latin typeface="Google Sans"/>
              </a:rPr>
              <a:t>Implementation Steps</a:t>
            </a:r>
          </a:p>
          <a:p>
            <a:r>
              <a:rPr lang="en-US" sz="1500" dirty="0">
                <a:solidFill>
                  <a:schemeClr val="accent6"/>
                </a:solidFill>
                <a:latin typeface="Google Sans"/>
              </a:rPr>
              <a:t>Open socket (TCP/UDP)</a:t>
            </a:r>
          </a:p>
          <a:p>
            <a:r>
              <a:rPr lang="en-US" sz="1500" dirty="0">
                <a:solidFill>
                  <a:schemeClr val="accent6"/>
                </a:solidFill>
                <a:latin typeface="Google Sans"/>
              </a:rPr>
              <a:t>Implement parser (stream-based)</a:t>
            </a:r>
          </a:p>
          <a:p>
            <a:r>
              <a:rPr lang="en-US" sz="1500" dirty="0">
                <a:solidFill>
                  <a:schemeClr val="accent6"/>
                </a:solidFill>
                <a:latin typeface="Google Sans"/>
              </a:rPr>
              <a:t>Implement request dispatcher</a:t>
            </a:r>
          </a:p>
          <a:p>
            <a:r>
              <a:rPr lang="en-US" sz="1500" dirty="0">
                <a:solidFill>
                  <a:schemeClr val="accent6"/>
                </a:solidFill>
                <a:latin typeface="Google Sans"/>
              </a:rPr>
              <a:t>Implement response serializer</a:t>
            </a:r>
          </a:p>
          <a:p>
            <a:r>
              <a:rPr lang="en-US" sz="1500" dirty="0">
                <a:solidFill>
                  <a:schemeClr val="accent6"/>
                </a:solidFill>
                <a:latin typeface="Google Sans"/>
              </a:rPr>
              <a:t>Implement timeout &amp; retry logic</a:t>
            </a:r>
          </a:p>
          <a:p>
            <a:r>
              <a:rPr lang="en-US" sz="1500" dirty="0">
                <a:solidFill>
                  <a:schemeClr val="accent2"/>
                </a:solidFill>
                <a:latin typeface="Google Sans"/>
              </a:rPr>
              <a:t>Core Challenges</a:t>
            </a:r>
          </a:p>
          <a:p>
            <a:r>
              <a:rPr lang="en-US" sz="1500" dirty="0">
                <a:solidFill>
                  <a:schemeClr val="accent6"/>
                </a:solidFill>
                <a:latin typeface="Google Sans"/>
              </a:rPr>
              <a:t>Partial reads</a:t>
            </a:r>
          </a:p>
          <a:p>
            <a:r>
              <a:rPr lang="en-US" sz="1500" dirty="0">
                <a:solidFill>
                  <a:schemeClr val="accent6"/>
                </a:solidFill>
                <a:latin typeface="Google Sans"/>
              </a:rPr>
              <a:t>Head-of-line blocking</a:t>
            </a:r>
          </a:p>
          <a:p>
            <a:r>
              <a:rPr lang="en-US" sz="1500" dirty="0">
                <a:solidFill>
                  <a:schemeClr val="accent6"/>
                </a:solidFill>
                <a:latin typeface="Google Sans"/>
              </a:rPr>
              <a:t>Version compatibility</a:t>
            </a:r>
          </a:p>
          <a:p>
            <a:r>
              <a:rPr lang="en-US" sz="1500" dirty="0">
                <a:solidFill>
                  <a:schemeClr val="accent6"/>
                </a:solidFill>
                <a:latin typeface="Google Sans"/>
              </a:rPr>
              <a:t>📌 Example:</a:t>
            </a:r>
          </a:p>
          <a:p>
            <a:r>
              <a:rPr lang="en-US" sz="1500" dirty="0">
                <a:solidFill>
                  <a:schemeClr val="accent6"/>
                </a:solidFill>
                <a:latin typeface="Google Sans"/>
              </a:rPr>
              <a:t>A custom RPC protocol over TCP with binary framing.</a:t>
            </a:r>
            <a:endParaRPr lang="en-US" sz="2000" kern="0" spc="-220" dirty="0">
              <a:solidFill>
                <a:schemeClr val="accent2"/>
              </a:solidFill>
            </a:endParaRPr>
          </a:p>
        </p:txBody>
      </p:sp>
    </p:spTree>
    <p:extLst>
      <p:ext uri="{BB962C8B-B14F-4D97-AF65-F5344CB8AC3E}">
        <p14:creationId xmlns:p14="http://schemas.microsoft.com/office/powerpoint/2010/main" val="658161407"/>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57C65-13F1-AD5F-4122-FCFF4963EC9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FAE0F3D-EDB4-7D39-0C0D-E408672B0CCD}"/>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0349962-8290-ED5E-DEC6-11F953303438}"/>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6B0197A-D983-4976-D067-960FA7F754A4}"/>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5BA432D5-882B-80AE-768A-1EF2ECE7C2CB}"/>
              </a:ext>
            </a:extLst>
          </p:cNvPr>
          <p:cNvSpPr txBox="1">
            <a:spLocks/>
          </p:cNvSpPr>
          <p:nvPr/>
        </p:nvSpPr>
        <p:spPr>
          <a:xfrm>
            <a:off x="275300" y="1095844"/>
            <a:ext cx="8624937" cy="400109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kern="0" spc="-220" dirty="0">
                <a:solidFill>
                  <a:schemeClr val="accent2"/>
                </a:solidFill>
              </a:rPr>
              <a:t>Custom Network Protocol Design &amp; Implementation</a:t>
            </a:r>
          </a:p>
          <a:p>
            <a:r>
              <a:rPr lang="en-US" sz="1500" dirty="0">
                <a:solidFill>
                  <a:schemeClr val="accent2"/>
                </a:solidFill>
                <a:latin typeface="Google Sans"/>
              </a:rPr>
              <a:t>🧩 Implementation Differences by OSI Layer</a:t>
            </a:r>
          </a:p>
          <a:p>
            <a:r>
              <a:rPr lang="en-US" sz="1500" dirty="0">
                <a:solidFill>
                  <a:schemeClr val="accent2"/>
                </a:solidFill>
                <a:latin typeface="Google Sans"/>
              </a:rPr>
              <a:t>🔷 L6 – Presentation Layer Protocol</a:t>
            </a:r>
          </a:p>
          <a:p>
            <a:r>
              <a:rPr lang="en-US" sz="1500" dirty="0">
                <a:solidFill>
                  <a:schemeClr val="accent2"/>
                </a:solidFill>
                <a:latin typeface="Google Sans"/>
              </a:rPr>
              <a:t>Examples</a:t>
            </a:r>
          </a:p>
          <a:p>
            <a:r>
              <a:rPr lang="en-US" sz="1500" dirty="0">
                <a:solidFill>
                  <a:schemeClr val="accent6"/>
                </a:solidFill>
                <a:latin typeface="Google Sans"/>
              </a:rPr>
              <a:t>TLS, compression layers, serialization formats</a:t>
            </a:r>
          </a:p>
          <a:p>
            <a:r>
              <a:rPr lang="en-US" sz="1500" dirty="0">
                <a:solidFill>
                  <a:schemeClr val="accent2"/>
                </a:solidFill>
                <a:latin typeface="Google Sans"/>
              </a:rPr>
              <a:t>Where Code Runs</a:t>
            </a:r>
          </a:p>
          <a:p>
            <a:r>
              <a:rPr lang="en-US" sz="1500" dirty="0">
                <a:solidFill>
                  <a:schemeClr val="accent6"/>
                </a:solidFill>
                <a:latin typeface="Google Sans"/>
              </a:rPr>
              <a:t>Libraries or middleware</a:t>
            </a:r>
          </a:p>
          <a:p>
            <a:r>
              <a:rPr lang="en-US" sz="1500" dirty="0">
                <a:solidFill>
                  <a:schemeClr val="accent2"/>
                </a:solidFill>
                <a:latin typeface="Google Sans"/>
              </a:rPr>
              <a:t>Implementation Steps</a:t>
            </a:r>
          </a:p>
          <a:p>
            <a:r>
              <a:rPr lang="en-US" sz="1500" dirty="0">
                <a:solidFill>
                  <a:schemeClr val="accent6"/>
                </a:solidFill>
                <a:latin typeface="Google Sans"/>
              </a:rPr>
              <a:t>Wrap application data</a:t>
            </a:r>
          </a:p>
          <a:p>
            <a:r>
              <a:rPr lang="en-US" sz="1500" dirty="0">
                <a:solidFill>
                  <a:schemeClr val="accent6"/>
                </a:solidFill>
                <a:latin typeface="Google Sans"/>
              </a:rPr>
              <a:t>Apply transform (encrypt/compress)</a:t>
            </a:r>
          </a:p>
          <a:p>
            <a:r>
              <a:rPr lang="en-US" sz="1500" dirty="0">
                <a:solidFill>
                  <a:schemeClr val="accent6"/>
                </a:solidFill>
                <a:latin typeface="Google Sans"/>
              </a:rPr>
              <a:t>Negotiate parameters</a:t>
            </a:r>
          </a:p>
          <a:p>
            <a:r>
              <a:rPr lang="en-US" sz="1500" dirty="0">
                <a:solidFill>
                  <a:schemeClr val="accent6"/>
                </a:solidFill>
                <a:latin typeface="Google Sans"/>
              </a:rPr>
              <a:t>Pass transformed bytes downward</a:t>
            </a:r>
          </a:p>
          <a:p>
            <a:r>
              <a:rPr lang="en-US" sz="1500" dirty="0">
                <a:solidFill>
                  <a:schemeClr val="accent2"/>
                </a:solidFill>
                <a:latin typeface="Google Sans"/>
              </a:rPr>
              <a:t>Core Challenges</a:t>
            </a:r>
          </a:p>
          <a:p>
            <a:r>
              <a:rPr lang="en-US" sz="1500" dirty="0">
                <a:solidFill>
                  <a:schemeClr val="accent6"/>
                </a:solidFill>
                <a:latin typeface="Google Sans"/>
              </a:rPr>
              <a:t>Streaming vs block transforms</a:t>
            </a:r>
          </a:p>
          <a:p>
            <a:r>
              <a:rPr lang="en-US" sz="1500" dirty="0">
                <a:solidFill>
                  <a:schemeClr val="accent6"/>
                </a:solidFill>
                <a:latin typeface="Google Sans"/>
              </a:rPr>
              <a:t>Key management</a:t>
            </a:r>
          </a:p>
          <a:p>
            <a:r>
              <a:rPr lang="en-US" sz="1500" dirty="0">
                <a:solidFill>
                  <a:schemeClr val="accent6"/>
                </a:solidFill>
                <a:latin typeface="Google Sans"/>
              </a:rPr>
              <a:t>CPU overhead</a:t>
            </a:r>
          </a:p>
          <a:p>
            <a:endParaRPr lang="en-US" sz="1500" dirty="0">
              <a:solidFill>
                <a:schemeClr val="accent6"/>
              </a:solidFill>
              <a:latin typeface="Google Sans"/>
            </a:endParaRPr>
          </a:p>
        </p:txBody>
      </p:sp>
    </p:spTree>
    <p:extLst>
      <p:ext uri="{BB962C8B-B14F-4D97-AF65-F5344CB8AC3E}">
        <p14:creationId xmlns:p14="http://schemas.microsoft.com/office/powerpoint/2010/main" val="3263178462"/>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C16D2-C657-B91B-A1D6-5F9C9E8F427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71121D9-0761-EC73-110E-AE3F8A2AE0E2}"/>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37906AD-4F49-D586-3A6E-FACCD35A9D9B}"/>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DA7783C-89EB-1968-A1AD-4FA1A7C4D686}"/>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A3785B98-151F-A7D6-355C-638878D6EE55}"/>
              </a:ext>
            </a:extLst>
          </p:cNvPr>
          <p:cNvSpPr txBox="1">
            <a:spLocks/>
          </p:cNvSpPr>
          <p:nvPr/>
        </p:nvSpPr>
        <p:spPr>
          <a:xfrm>
            <a:off x="275300" y="1095844"/>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kern="0" spc="-220" dirty="0">
                <a:solidFill>
                  <a:schemeClr val="accent2"/>
                </a:solidFill>
              </a:rPr>
              <a:t>Custom Network Protocol Design &amp; Implementation</a:t>
            </a:r>
          </a:p>
          <a:p>
            <a:r>
              <a:rPr lang="en-US" sz="1500" dirty="0">
                <a:solidFill>
                  <a:schemeClr val="accent2"/>
                </a:solidFill>
                <a:latin typeface="Google Sans"/>
              </a:rPr>
              <a:t>🧩 Implementation Differences by OSI Layer</a:t>
            </a:r>
          </a:p>
          <a:p>
            <a:r>
              <a:rPr lang="en-US" sz="1500" dirty="0">
                <a:solidFill>
                  <a:schemeClr val="accent2"/>
                </a:solidFill>
                <a:latin typeface="Google Sans"/>
              </a:rPr>
              <a:t>🔷 L5 – Session Layer Protocol</a:t>
            </a:r>
          </a:p>
          <a:p>
            <a:r>
              <a:rPr lang="en-US" sz="1500" dirty="0">
                <a:solidFill>
                  <a:schemeClr val="accent2"/>
                </a:solidFill>
                <a:latin typeface="Google Sans"/>
              </a:rPr>
              <a:t>Examples</a:t>
            </a:r>
          </a:p>
          <a:p>
            <a:r>
              <a:rPr lang="en-US" sz="1500" dirty="0">
                <a:solidFill>
                  <a:schemeClr val="accent6"/>
                </a:solidFill>
                <a:latin typeface="Google Sans"/>
              </a:rPr>
              <a:t>NetBIOS sessions, RPC sessions</a:t>
            </a:r>
          </a:p>
          <a:p>
            <a:r>
              <a:rPr lang="en-US" sz="1500" dirty="0">
                <a:solidFill>
                  <a:schemeClr val="accent2"/>
                </a:solidFill>
                <a:latin typeface="Google Sans"/>
              </a:rPr>
              <a:t>Where Code Runs</a:t>
            </a:r>
          </a:p>
          <a:p>
            <a:r>
              <a:rPr lang="en-US" sz="1500" dirty="0">
                <a:solidFill>
                  <a:schemeClr val="accent6"/>
                </a:solidFill>
                <a:latin typeface="Google Sans"/>
              </a:rPr>
              <a:t>Middleware / frameworks</a:t>
            </a:r>
          </a:p>
          <a:p>
            <a:r>
              <a:rPr lang="en-US" sz="1500" dirty="0">
                <a:solidFill>
                  <a:schemeClr val="accent2"/>
                </a:solidFill>
                <a:latin typeface="Google Sans"/>
              </a:rPr>
              <a:t>Implementation Steps</a:t>
            </a:r>
          </a:p>
          <a:p>
            <a:r>
              <a:rPr lang="en-US" sz="1500" dirty="0">
                <a:solidFill>
                  <a:schemeClr val="accent6"/>
                </a:solidFill>
                <a:latin typeface="Google Sans"/>
              </a:rPr>
              <a:t>Session creation handshake</a:t>
            </a:r>
          </a:p>
          <a:p>
            <a:r>
              <a:rPr lang="en-US" sz="1500" dirty="0">
                <a:solidFill>
                  <a:schemeClr val="accent6"/>
                </a:solidFill>
                <a:latin typeface="Google Sans"/>
              </a:rPr>
              <a:t>Session ID assignment</a:t>
            </a:r>
          </a:p>
          <a:p>
            <a:r>
              <a:rPr lang="en-US" sz="1500" dirty="0">
                <a:solidFill>
                  <a:schemeClr val="accent6"/>
                </a:solidFill>
                <a:latin typeface="Google Sans"/>
              </a:rPr>
              <a:t>Heartbeat logic</a:t>
            </a:r>
          </a:p>
          <a:p>
            <a:r>
              <a:rPr lang="en-US" sz="1500" dirty="0">
                <a:solidFill>
                  <a:schemeClr val="accent6"/>
                </a:solidFill>
                <a:latin typeface="Google Sans"/>
              </a:rPr>
              <a:t>Resume / reconnect support</a:t>
            </a:r>
          </a:p>
          <a:p>
            <a:r>
              <a:rPr lang="en-US" sz="1500" dirty="0">
                <a:solidFill>
                  <a:schemeClr val="accent2"/>
                </a:solidFill>
                <a:latin typeface="Google Sans"/>
              </a:rPr>
              <a:t>Core Challenges</a:t>
            </a:r>
          </a:p>
          <a:p>
            <a:r>
              <a:rPr lang="en-US" sz="1500" dirty="0">
                <a:solidFill>
                  <a:schemeClr val="accent6"/>
                </a:solidFill>
                <a:latin typeface="Google Sans"/>
              </a:rPr>
              <a:t>Session leaks</a:t>
            </a:r>
          </a:p>
          <a:p>
            <a:r>
              <a:rPr lang="en-US" sz="1500" dirty="0">
                <a:solidFill>
                  <a:schemeClr val="accent6"/>
                </a:solidFill>
                <a:latin typeface="Google Sans"/>
              </a:rPr>
              <a:t>Recovery consistency</a:t>
            </a:r>
          </a:p>
          <a:p>
            <a:endParaRPr lang="en-US" sz="1500" dirty="0">
              <a:solidFill>
                <a:schemeClr val="accent6"/>
              </a:solidFill>
              <a:latin typeface="Google Sans"/>
            </a:endParaRPr>
          </a:p>
          <a:p>
            <a:r>
              <a:rPr lang="en-US" sz="1500" dirty="0">
                <a:solidFill>
                  <a:schemeClr val="accent2"/>
                </a:solidFill>
                <a:latin typeface="Google Sans"/>
              </a:rPr>
              <a:t>🔷 L4 – Transport Layer Protocol (Hard)</a:t>
            </a:r>
          </a:p>
          <a:p>
            <a:r>
              <a:rPr lang="en-US" sz="1500" dirty="0">
                <a:solidFill>
                  <a:schemeClr val="accent2"/>
                </a:solidFill>
                <a:latin typeface="Google Sans"/>
              </a:rPr>
              <a:t>Examples</a:t>
            </a:r>
          </a:p>
          <a:p>
            <a:r>
              <a:rPr lang="en-US" sz="1500" dirty="0">
                <a:solidFill>
                  <a:schemeClr val="accent6"/>
                </a:solidFill>
                <a:latin typeface="Google Sans"/>
              </a:rPr>
              <a:t>TCP, QUIC, SCTP</a:t>
            </a:r>
          </a:p>
          <a:p>
            <a:r>
              <a:rPr lang="en-US" sz="1500" dirty="0">
                <a:solidFill>
                  <a:schemeClr val="accent2"/>
                </a:solidFill>
                <a:latin typeface="Google Sans"/>
              </a:rPr>
              <a:t>Where Code Runs</a:t>
            </a:r>
          </a:p>
          <a:p>
            <a:r>
              <a:rPr lang="en-US" sz="1500" dirty="0">
                <a:solidFill>
                  <a:schemeClr val="accent6"/>
                </a:solidFill>
                <a:latin typeface="Google Sans"/>
              </a:rPr>
              <a:t>Kernel space or user-space stacks (DPDK)</a:t>
            </a:r>
            <a:endParaRPr lang="en-US" sz="2000" kern="0" spc="-220" dirty="0">
              <a:solidFill>
                <a:schemeClr val="accent2"/>
              </a:solidFill>
            </a:endParaRPr>
          </a:p>
        </p:txBody>
      </p:sp>
    </p:spTree>
    <p:extLst>
      <p:ext uri="{BB962C8B-B14F-4D97-AF65-F5344CB8AC3E}">
        <p14:creationId xmlns:p14="http://schemas.microsoft.com/office/powerpoint/2010/main" val="1049068216"/>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50F49-B979-8B8E-5702-6042D850E42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AA6D05B-88D5-EC9D-8209-D47E5C4582E7}"/>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88C1400-32CA-D91C-9AD4-496EED18B595}"/>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EBAD6C8-4F4C-4274-B535-55EF3FE8E5A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C1CEF4B3-C7EE-5ABE-AD00-FA7B92D06E8E}"/>
              </a:ext>
            </a:extLst>
          </p:cNvPr>
          <p:cNvSpPr txBox="1">
            <a:spLocks/>
          </p:cNvSpPr>
          <p:nvPr/>
        </p:nvSpPr>
        <p:spPr>
          <a:xfrm>
            <a:off x="275300" y="1095844"/>
            <a:ext cx="8624937" cy="46935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kern="0" spc="-220" dirty="0">
                <a:solidFill>
                  <a:schemeClr val="accent2"/>
                </a:solidFill>
              </a:rPr>
              <a:t>Custom Network Protocol Design &amp; Implementation</a:t>
            </a:r>
          </a:p>
          <a:p>
            <a:r>
              <a:rPr lang="en-US" sz="1500" dirty="0">
                <a:solidFill>
                  <a:schemeClr val="accent2"/>
                </a:solidFill>
                <a:latin typeface="Google Sans"/>
              </a:rPr>
              <a:t>🔷 L4 – Transport Layer Protocol (Hard)</a:t>
            </a:r>
          </a:p>
          <a:p>
            <a:r>
              <a:rPr lang="en-US" sz="1500" dirty="0">
                <a:solidFill>
                  <a:schemeClr val="accent2"/>
                </a:solidFill>
                <a:latin typeface="Google Sans"/>
              </a:rPr>
              <a:t>Implementation Steps</a:t>
            </a:r>
          </a:p>
          <a:p>
            <a:r>
              <a:rPr lang="en-US" sz="1500" dirty="0">
                <a:solidFill>
                  <a:schemeClr val="accent6"/>
                </a:solidFill>
                <a:latin typeface="Google Sans"/>
              </a:rPr>
              <a:t>Connection establishment logic</a:t>
            </a:r>
          </a:p>
          <a:p>
            <a:r>
              <a:rPr lang="en-US" sz="1500" dirty="0">
                <a:solidFill>
                  <a:schemeClr val="accent6"/>
                </a:solidFill>
                <a:latin typeface="Google Sans"/>
              </a:rPr>
              <a:t>Sequencing &amp; ACK logic</a:t>
            </a:r>
          </a:p>
          <a:p>
            <a:r>
              <a:rPr lang="en-US" sz="1500" dirty="0">
                <a:solidFill>
                  <a:schemeClr val="accent6"/>
                </a:solidFill>
                <a:latin typeface="Google Sans"/>
              </a:rPr>
              <a:t>Flow control (windows)</a:t>
            </a:r>
          </a:p>
          <a:p>
            <a:r>
              <a:rPr lang="en-US" sz="1500" dirty="0">
                <a:solidFill>
                  <a:schemeClr val="accent6"/>
                </a:solidFill>
                <a:latin typeface="Google Sans"/>
              </a:rPr>
              <a:t>Congestion control</a:t>
            </a:r>
          </a:p>
          <a:p>
            <a:r>
              <a:rPr lang="en-US" sz="1500" dirty="0">
                <a:solidFill>
                  <a:schemeClr val="accent6"/>
                </a:solidFill>
                <a:latin typeface="Google Sans"/>
              </a:rPr>
              <a:t>Retransmission timers</a:t>
            </a:r>
          </a:p>
          <a:p>
            <a:r>
              <a:rPr lang="en-US" sz="1500" dirty="0">
                <a:solidFill>
                  <a:schemeClr val="accent6"/>
                </a:solidFill>
                <a:latin typeface="Google Sans"/>
              </a:rPr>
              <a:t>Core Challenges</a:t>
            </a:r>
          </a:p>
          <a:p>
            <a:r>
              <a:rPr lang="en-US" sz="1500" dirty="0">
                <a:solidFill>
                  <a:schemeClr val="accent6"/>
                </a:solidFill>
                <a:latin typeface="Google Sans"/>
              </a:rPr>
              <a:t>Packet loss</a:t>
            </a:r>
          </a:p>
          <a:p>
            <a:r>
              <a:rPr lang="en-US" sz="1500" dirty="0">
                <a:solidFill>
                  <a:schemeClr val="accent6"/>
                </a:solidFill>
                <a:latin typeface="Google Sans"/>
              </a:rPr>
              <a:t>Reordering</a:t>
            </a:r>
          </a:p>
          <a:p>
            <a:r>
              <a:rPr lang="en-US" sz="1500" dirty="0">
                <a:solidFill>
                  <a:schemeClr val="accent6"/>
                </a:solidFill>
                <a:latin typeface="Google Sans"/>
              </a:rPr>
              <a:t>Fairness</a:t>
            </a:r>
          </a:p>
          <a:p>
            <a:r>
              <a:rPr lang="en-US" sz="1500" dirty="0">
                <a:solidFill>
                  <a:schemeClr val="accent6"/>
                </a:solidFill>
                <a:latin typeface="Google Sans"/>
              </a:rPr>
              <a:t>📌 This is very hard to get right.</a:t>
            </a:r>
          </a:p>
          <a:p>
            <a:endParaRPr lang="en-US" sz="1500" dirty="0">
              <a:solidFill>
                <a:schemeClr val="accent6"/>
              </a:solidFill>
              <a:latin typeface="Google Sans"/>
            </a:endParaRPr>
          </a:p>
          <a:p>
            <a:r>
              <a:rPr lang="en-US" sz="1500" dirty="0">
                <a:solidFill>
                  <a:schemeClr val="accent2"/>
                </a:solidFill>
                <a:latin typeface="Google Sans"/>
              </a:rPr>
              <a:t>🔷 L3 – Network Layer Protocol</a:t>
            </a:r>
          </a:p>
          <a:p>
            <a:r>
              <a:rPr lang="en-US" sz="1500" dirty="0">
                <a:solidFill>
                  <a:schemeClr val="accent2"/>
                </a:solidFill>
                <a:latin typeface="Google Sans"/>
              </a:rPr>
              <a:t>Examples</a:t>
            </a:r>
          </a:p>
          <a:p>
            <a:r>
              <a:rPr lang="en-US" sz="1500" dirty="0">
                <a:solidFill>
                  <a:schemeClr val="accent6"/>
                </a:solidFill>
                <a:latin typeface="Google Sans"/>
              </a:rPr>
              <a:t>IP, ICMP, routing protocols</a:t>
            </a:r>
          </a:p>
          <a:p>
            <a:r>
              <a:rPr lang="en-US" sz="1500" dirty="0">
                <a:solidFill>
                  <a:schemeClr val="accent2"/>
                </a:solidFill>
                <a:latin typeface="Google Sans"/>
              </a:rPr>
              <a:t>Where Code Runs</a:t>
            </a:r>
          </a:p>
          <a:p>
            <a:r>
              <a:rPr lang="en-US" sz="1500" dirty="0">
                <a:solidFill>
                  <a:schemeClr val="accent6"/>
                </a:solidFill>
                <a:latin typeface="Google Sans"/>
              </a:rPr>
              <a:t>Routers / kernel networking stack</a:t>
            </a:r>
          </a:p>
          <a:p>
            <a:endParaRPr lang="en-US" sz="1500" dirty="0">
              <a:solidFill>
                <a:schemeClr val="accent6"/>
              </a:solidFill>
              <a:latin typeface="Google Sans"/>
            </a:endParaRPr>
          </a:p>
        </p:txBody>
      </p:sp>
    </p:spTree>
    <p:extLst>
      <p:ext uri="{BB962C8B-B14F-4D97-AF65-F5344CB8AC3E}">
        <p14:creationId xmlns:p14="http://schemas.microsoft.com/office/powerpoint/2010/main" val="23774382"/>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76E3C-9EA7-E168-9A93-685C58423F1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56238A9-4624-A38C-154F-8C4A0E8F37C8}"/>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4627CBF-FA74-96C4-65AC-2CE183C255B8}"/>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F0A4A03-7E40-7A19-5885-E5267A9410E6}"/>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4B1A96F-81EE-867F-4D34-C28242516053}"/>
              </a:ext>
            </a:extLst>
          </p:cNvPr>
          <p:cNvSpPr txBox="1">
            <a:spLocks/>
          </p:cNvSpPr>
          <p:nvPr/>
        </p:nvSpPr>
        <p:spPr>
          <a:xfrm>
            <a:off x="275300" y="1095844"/>
            <a:ext cx="8624937" cy="446276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kern="0" spc="-220" dirty="0">
                <a:solidFill>
                  <a:schemeClr val="accent2"/>
                </a:solidFill>
              </a:rPr>
              <a:t>Custom Network Protocol Design &amp; Implementation</a:t>
            </a:r>
          </a:p>
          <a:p>
            <a:r>
              <a:rPr lang="en-US" sz="1500" dirty="0">
                <a:solidFill>
                  <a:schemeClr val="accent2"/>
                </a:solidFill>
                <a:latin typeface="Google Sans"/>
              </a:rPr>
              <a:t>🔷 L3 – Network Layer Protocol</a:t>
            </a:r>
          </a:p>
          <a:p>
            <a:r>
              <a:rPr lang="en-US" sz="1500" dirty="0">
                <a:solidFill>
                  <a:schemeClr val="accent2"/>
                </a:solidFill>
                <a:latin typeface="Google Sans"/>
              </a:rPr>
              <a:t>Implementation Steps</a:t>
            </a:r>
          </a:p>
          <a:p>
            <a:r>
              <a:rPr lang="en-US" sz="1500" dirty="0">
                <a:solidFill>
                  <a:schemeClr val="accent6"/>
                </a:solidFill>
                <a:latin typeface="Google Sans"/>
              </a:rPr>
              <a:t>Addressing scheme</a:t>
            </a:r>
          </a:p>
          <a:p>
            <a:r>
              <a:rPr lang="en-US" sz="1500" dirty="0">
                <a:solidFill>
                  <a:schemeClr val="accent6"/>
                </a:solidFill>
                <a:latin typeface="Google Sans"/>
              </a:rPr>
              <a:t>Routing table management</a:t>
            </a:r>
          </a:p>
          <a:p>
            <a:r>
              <a:rPr lang="en-US" sz="1500" dirty="0">
                <a:solidFill>
                  <a:schemeClr val="accent6"/>
                </a:solidFill>
                <a:latin typeface="Google Sans"/>
              </a:rPr>
              <a:t>Forwarding logic</a:t>
            </a:r>
          </a:p>
          <a:p>
            <a:r>
              <a:rPr lang="en-US" sz="1500" dirty="0">
                <a:solidFill>
                  <a:schemeClr val="accent6"/>
                </a:solidFill>
                <a:latin typeface="Google Sans"/>
              </a:rPr>
              <a:t>Fragmentation rules</a:t>
            </a:r>
          </a:p>
          <a:p>
            <a:r>
              <a:rPr lang="en-US" sz="1500" dirty="0">
                <a:solidFill>
                  <a:schemeClr val="accent2"/>
                </a:solidFill>
                <a:latin typeface="Google Sans"/>
              </a:rPr>
              <a:t>Core Challenges</a:t>
            </a:r>
          </a:p>
          <a:p>
            <a:r>
              <a:rPr lang="en-US" sz="1500" dirty="0">
                <a:solidFill>
                  <a:schemeClr val="accent6"/>
                </a:solidFill>
                <a:latin typeface="Google Sans"/>
              </a:rPr>
              <a:t>Scalability</a:t>
            </a:r>
          </a:p>
          <a:p>
            <a:r>
              <a:rPr lang="en-US" sz="1500" dirty="0">
                <a:solidFill>
                  <a:schemeClr val="accent6"/>
                </a:solidFill>
                <a:latin typeface="Google Sans"/>
              </a:rPr>
              <a:t>Loop prevention</a:t>
            </a:r>
          </a:p>
          <a:p>
            <a:r>
              <a:rPr lang="en-US" sz="1500" dirty="0">
                <a:solidFill>
                  <a:schemeClr val="accent6"/>
                </a:solidFill>
                <a:latin typeface="Google Sans"/>
              </a:rPr>
              <a:t>Convergence</a:t>
            </a:r>
          </a:p>
          <a:p>
            <a:endParaRPr lang="en-US" sz="1500" dirty="0">
              <a:solidFill>
                <a:schemeClr val="accent2"/>
              </a:solidFill>
              <a:latin typeface="Google Sans"/>
            </a:endParaRPr>
          </a:p>
          <a:p>
            <a:r>
              <a:rPr lang="en-US" sz="1500" dirty="0">
                <a:solidFill>
                  <a:schemeClr val="accent2"/>
                </a:solidFill>
                <a:latin typeface="Google Sans"/>
              </a:rPr>
              <a:t>🔷 L2 – Data Link Layer Protocol</a:t>
            </a:r>
          </a:p>
          <a:p>
            <a:r>
              <a:rPr lang="en-US" sz="1500" dirty="0">
                <a:solidFill>
                  <a:schemeClr val="accent2"/>
                </a:solidFill>
                <a:latin typeface="Google Sans"/>
              </a:rPr>
              <a:t>Examples</a:t>
            </a:r>
          </a:p>
          <a:p>
            <a:r>
              <a:rPr lang="en-US" sz="1500" dirty="0">
                <a:solidFill>
                  <a:schemeClr val="accent6"/>
                </a:solidFill>
                <a:latin typeface="Google Sans"/>
              </a:rPr>
              <a:t>Ethernet, ARP, VLAN</a:t>
            </a:r>
          </a:p>
          <a:p>
            <a:r>
              <a:rPr lang="en-US" sz="1500" dirty="0">
                <a:solidFill>
                  <a:schemeClr val="accent2"/>
                </a:solidFill>
                <a:latin typeface="Google Sans"/>
              </a:rPr>
              <a:t>Where Code Runs</a:t>
            </a:r>
          </a:p>
          <a:p>
            <a:r>
              <a:rPr lang="en-US" sz="1500" dirty="0">
                <a:solidFill>
                  <a:schemeClr val="accent6"/>
                </a:solidFill>
                <a:latin typeface="Google Sans"/>
              </a:rPr>
              <a:t>NIC firmware</a:t>
            </a:r>
          </a:p>
          <a:p>
            <a:r>
              <a:rPr lang="en-US" sz="1500" dirty="0">
                <a:solidFill>
                  <a:schemeClr val="accent6"/>
                </a:solidFill>
                <a:latin typeface="Google Sans"/>
              </a:rPr>
              <a:t>Switch ASICs</a:t>
            </a:r>
          </a:p>
          <a:p>
            <a:r>
              <a:rPr lang="en-US" sz="1500" dirty="0">
                <a:solidFill>
                  <a:schemeClr val="accent6"/>
                </a:solidFill>
                <a:latin typeface="Google Sans"/>
              </a:rPr>
              <a:t>Kernel drivers</a:t>
            </a:r>
          </a:p>
        </p:txBody>
      </p:sp>
    </p:spTree>
    <p:extLst>
      <p:ext uri="{BB962C8B-B14F-4D97-AF65-F5344CB8AC3E}">
        <p14:creationId xmlns:p14="http://schemas.microsoft.com/office/powerpoint/2010/main" val="3827041323"/>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E909C-D12E-3651-8D42-A6724FCA0C7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9EB6564-FC2E-B847-C138-E6A7C38A77E9}"/>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9D857B4-7676-550B-EF1C-45E1578E040F}"/>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2951082-3712-5BCD-CA66-61D6A5545CCE}"/>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CCFC3F7-7AB9-D93C-2C1F-303867ED203A}"/>
              </a:ext>
            </a:extLst>
          </p:cNvPr>
          <p:cNvSpPr txBox="1">
            <a:spLocks/>
          </p:cNvSpPr>
          <p:nvPr/>
        </p:nvSpPr>
        <p:spPr>
          <a:xfrm>
            <a:off x="275300" y="1095844"/>
            <a:ext cx="8624937" cy="446276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kern="0" spc="-220" dirty="0">
                <a:solidFill>
                  <a:schemeClr val="accent2"/>
                </a:solidFill>
              </a:rPr>
              <a:t>Custom Network Protocol Design &amp; Implementation</a:t>
            </a:r>
          </a:p>
          <a:p>
            <a:r>
              <a:rPr lang="en-US" sz="1500" dirty="0">
                <a:solidFill>
                  <a:schemeClr val="accent2"/>
                </a:solidFill>
                <a:latin typeface="Google Sans"/>
              </a:rPr>
              <a:t>Implementation Steps</a:t>
            </a:r>
          </a:p>
          <a:p>
            <a:r>
              <a:rPr lang="en-US" sz="1500" dirty="0">
                <a:solidFill>
                  <a:schemeClr val="accent6"/>
                </a:solidFill>
                <a:latin typeface="Google Sans"/>
              </a:rPr>
              <a:t>Frame structure</a:t>
            </a:r>
          </a:p>
          <a:p>
            <a:r>
              <a:rPr lang="en-US" sz="1500" dirty="0">
                <a:solidFill>
                  <a:schemeClr val="accent6"/>
                </a:solidFill>
                <a:latin typeface="Google Sans"/>
              </a:rPr>
              <a:t>MAC addressing</a:t>
            </a:r>
          </a:p>
          <a:p>
            <a:r>
              <a:rPr lang="en-US" sz="1500" dirty="0">
                <a:solidFill>
                  <a:schemeClr val="accent6"/>
                </a:solidFill>
                <a:latin typeface="Google Sans"/>
              </a:rPr>
              <a:t>Error detection (CRC)</a:t>
            </a:r>
          </a:p>
          <a:p>
            <a:r>
              <a:rPr lang="en-US" sz="1500" dirty="0">
                <a:solidFill>
                  <a:schemeClr val="accent6"/>
                </a:solidFill>
                <a:latin typeface="Google Sans"/>
              </a:rPr>
              <a:t>Medium access control</a:t>
            </a:r>
          </a:p>
          <a:p>
            <a:r>
              <a:rPr lang="en-US" sz="1500" dirty="0">
                <a:solidFill>
                  <a:schemeClr val="accent2"/>
                </a:solidFill>
                <a:latin typeface="Google Sans"/>
              </a:rPr>
              <a:t>Core Challenges</a:t>
            </a:r>
          </a:p>
          <a:p>
            <a:r>
              <a:rPr lang="en-US" sz="1500" dirty="0">
                <a:solidFill>
                  <a:schemeClr val="accent6"/>
                </a:solidFill>
                <a:latin typeface="Google Sans"/>
              </a:rPr>
              <a:t>Collision handling</a:t>
            </a:r>
          </a:p>
          <a:p>
            <a:r>
              <a:rPr lang="en-US" sz="1500" dirty="0">
                <a:solidFill>
                  <a:schemeClr val="accent6"/>
                </a:solidFill>
                <a:latin typeface="Google Sans"/>
              </a:rPr>
              <a:t>Broadcast storms</a:t>
            </a:r>
          </a:p>
          <a:p>
            <a:r>
              <a:rPr lang="en-US" sz="1500" dirty="0">
                <a:solidFill>
                  <a:schemeClr val="accent2"/>
                </a:solidFill>
                <a:latin typeface="Google Sans"/>
              </a:rPr>
              <a:t>🔷 L1 – Physical Layer Protocol</a:t>
            </a:r>
          </a:p>
          <a:p>
            <a:r>
              <a:rPr lang="en-US" sz="1500" dirty="0">
                <a:solidFill>
                  <a:schemeClr val="accent2"/>
                </a:solidFill>
                <a:latin typeface="Google Sans"/>
              </a:rPr>
              <a:t>Examples</a:t>
            </a:r>
          </a:p>
          <a:p>
            <a:r>
              <a:rPr lang="en-US" sz="1500" dirty="0">
                <a:solidFill>
                  <a:schemeClr val="accent6"/>
                </a:solidFill>
                <a:latin typeface="Google Sans"/>
              </a:rPr>
              <a:t>Ethernet PHY, Wi-Fi modulation</a:t>
            </a:r>
          </a:p>
          <a:p>
            <a:r>
              <a:rPr lang="en-US" sz="1500" dirty="0">
                <a:solidFill>
                  <a:schemeClr val="accent2"/>
                </a:solidFill>
                <a:latin typeface="Google Sans"/>
              </a:rPr>
              <a:t>Where Code Runs</a:t>
            </a:r>
          </a:p>
          <a:p>
            <a:r>
              <a:rPr lang="en-US" sz="1500" dirty="0">
                <a:solidFill>
                  <a:schemeClr val="accent6"/>
                </a:solidFill>
                <a:latin typeface="Google Sans"/>
              </a:rPr>
              <a:t>Hardware / FPGA / ASIC</a:t>
            </a:r>
          </a:p>
          <a:p>
            <a:r>
              <a:rPr lang="en-US" sz="1500" dirty="0">
                <a:solidFill>
                  <a:schemeClr val="accent2"/>
                </a:solidFill>
                <a:latin typeface="Google Sans"/>
              </a:rPr>
              <a:t>Implementation Steps</a:t>
            </a:r>
          </a:p>
          <a:p>
            <a:r>
              <a:rPr lang="en-US" sz="1500" dirty="0">
                <a:solidFill>
                  <a:schemeClr val="accent6"/>
                </a:solidFill>
                <a:latin typeface="Google Sans"/>
              </a:rPr>
              <a:t>Bit encoding</a:t>
            </a:r>
          </a:p>
          <a:p>
            <a:r>
              <a:rPr lang="en-US" sz="1500" dirty="0">
                <a:solidFill>
                  <a:schemeClr val="accent6"/>
                </a:solidFill>
                <a:latin typeface="Google Sans"/>
              </a:rPr>
              <a:t>Signal modulation</a:t>
            </a:r>
          </a:p>
          <a:p>
            <a:r>
              <a:rPr lang="en-US" sz="1500" dirty="0">
                <a:solidFill>
                  <a:schemeClr val="accent6"/>
                </a:solidFill>
                <a:latin typeface="Google Sans"/>
              </a:rPr>
              <a:t>Clock synchronization</a:t>
            </a:r>
          </a:p>
          <a:p>
            <a:r>
              <a:rPr lang="en-US" sz="1500" dirty="0">
                <a:solidFill>
                  <a:schemeClr val="accent6"/>
                </a:solidFill>
                <a:latin typeface="Google Sans"/>
              </a:rPr>
              <a:t>Noise handling</a:t>
            </a:r>
          </a:p>
        </p:txBody>
      </p:sp>
    </p:spTree>
    <p:extLst>
      <p:ext uri="{BB962C8B-B14F-4D97-AF65-F5344CB8AC3E}">
        <p14:creationId xmlns:p14="http://schemas.microsoft.com/office/powerpoint/2010/main" val="2306878512"/>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ED9EF-819D-811E-92BD-12BC3670501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CEF5CA1-9B2F-6BC2-C7F4-24CB10EE8787}"/>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E534B79-33D3-B776-DB88-FAB3A2919230}"/>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F3F5CCC-EE60-F9CF-5E6B-5B27B6A472FF}"/>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CE8A318D-BA5F-71DA-912B-9E571603FEE8}"/>
              </a:ext>
            </a:extLst>
          </p:cNvPr>
          <p:cNvSpPr txBox="1">
            <a:spLocks/>
          </p:cNvSpPr>
          <p:nvPr/>
        </p:nvSpPr>
        <p:spPr>
          <a:xfrm>
            <a:off x="275300" y="1095844"/>
            <a:ext cx="8624937" cy="495520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kern="0" spc="-220" dirty="0">
                <a:solidFill>
                  <a:schemeClr val="accent2"/>
                </a:solidFill>
              </a:rPr>
              <a:t>Custom Network Protocol Design &amp; Implementation</a:t>
            </a:r>
          </a:p>
          <a:p>
            <a:r>
              <a:rPr lang="en-US" sz="1500" dirty="0">
                <a:solidFill>
                  <a:schemeClr val="accent2"/>
                </a:solidFill>
                <a:latin typeface="Google Sans"/>
              </a:rPr>
              <a:t>🔷 L1 – Physical Layer Protocol</a:t>
            </a:r>
          </a:p>
          <a:p>
            <a:r>
              <a:rPr lang="en-US" sz="1500" dirty="0">
                <a:solidFill>
                  <a:schemeClr val="accent2"/>
                </a:solidFill>
                <a:latin typeface="Google Sans"/>
              </a:rPr>
              <a:t>Core Challenges</a:t>
            </a:r>
          </a:p>
          <a:p>
            <a:r>
              <a:rPr lang="en-US" sz="1500" dirty="0">
                <a:solidFill>
                  <a:schemeClr val="accent6"/>
                </a:solidFill>
                <a:latin typeface="Google Sans"/>
              </a:rPr>
              <a:t>Physics 😄</a:t>
            </a:r>
          </a:p>
          <a:p>
            <a:r>
              <a:rPr lang="en-US" sz="1500" dirty="0">
                <a:solidFill>
                  <a:schemeClr val="accent6"/>
                </a:solidFill>
                <a:latin typeface="Google Sans"/>
              </a:rPr>
              <a:t>Signal integrity</a:t>
            </a:r>
          </a:p>
          <a:p>
            <a:endParaRPr lang="en-US" sz="1500" dirty="0">
              <a:solidFill>
                <a:schemeClr val="accent6"/>
              </a:solidFill>
              <a:latin typeface="Google Sans"/>
            </a:endParaRPr>
          </a:p>
          <a:p>
            <a:r>
              <a:rPr lang="en-US" sz="1700" dirty="0">
                <a:solidFill>
                  <a:schemeClr val="accent2"/>
                </a:solidFill>
                <a:latin typeface="Google Sans"/>
              </a:rPr>
              <a:t>🧪 Example: Implementing a Simple Custom L7 Protocol (Concrete)</a:t>
            </a:r>
          </a:p>
          <a:p>
            <a:r>
              <a:rPr lang="en-US" sz="1500" dirty="0">
                <a:solidFill>
                  <a:schemeClr val="accent2"/>
                </a:solidFill>
                <a:latin typeface="Google Sans"/>
              </a:rPr>
              <a:t>Message Format</a:t>
            </a:r>
          </a:p>
          <a:p>
            <a:r>
              <a:rPr lang="en-US" sz="1500" dirty="0">
                <a:solidFill>
                  <a:schemeClr val="accent6"/>
                </a:solidFill>
                <a:latin typeface="Google Sans"/>
              </a:rPr>
              <a:t>| 1B Version | 1B Type | 2B Length | Payload |</a:t>
            </a:r>
          </a:p>
          <a:p>
            <a:r>
              <a:rPr lang="en-US" sz="1500" dirty="0">
                <a:solidFill>
                  <a:schemeClr val="accent2"/>
                </a:solidFill>
                <a:latin typeface="Google Sans"/>
              </a:rPr>
              <a:t>Flow</a:t>
            </a:r>
          </a:p>
          <a:p>
            <a:r>
              <a:rPr lang="en-US" sz="1500" dirty="0">
                <a:solidFill>
                  <a:schemeClr val="accent6"/>
                </a:solidFill>
                <a:latin typeface="Google Sans"/>
              </a:rPr>
              <a:t>Client connects</a:t>
            </a:r>
          </a:p>
          <a:p>
            <a:r>
              <a:rPr lang="en-US" sz="1500" dirty="0">
                <a:solidFill>
                  <a:schemeClr val="accent6"/>
                </a:solidFill>
                <a:latin typeface="Google Sans"/>
              </a:rPr>
              <a:t>Sends HELLO</a:t>
            </a:r>
          </a:p>
          <a:p>
            <a:r>
              <a:rPr lang="en-US" sz="1500" dirty="0">
                <a:solidFill>
                  <a:schemeClr val="accent6"/>
                </a:solidFill>
                <a:latin typeface="Google Sans"/>
              </a:rPr>
              <a:t>Server replies OK</a:t>
            </a:r>
          </a:p>
          <a:p>
            <a:r>
              <a:rPr lang="en-US" sz="1500" dirty="0">
                <a:solidFill>
                  <a:schemeClr val="accent6"/>
                </a:solidFill>
                <a:latin typeface="Google Sans"/>
              </a:rPr>
              <a:t>Client sends DATA</a:t>
            </a:r>
          </a:p>
          <a:p>
            <a:r>
              <a:rPr lang="en-US" sz="1500" dirty="0">
                <a:solidFill>
                  <a:schemeClr val="accent6"/>
                </a:solidFill>
                <a:latin typeface="Google Sans"/>
              </a:rPr>
              <a:t>Server ACKs</a:t>
            </a:r>
          </a:p>
          <a:p>
            <a:r>
              <a:rPr lang="en-US" sz="1500" dirty="0">
                <a:solidFill>
                  <a:schemeClr val="accent2"/>
                </a:solidFill>
                <a:latin typeface="Google Sans"/>
              </a:rPr>
              <a:t>Implementation Logic</a:t>
            </a:r>
          </a:p>
          <a:p>
            <a:r>
              <a:rPr lang="en-US" sz="1500" dirty="0">
                <a:solidFill>
                  <a:schemeClr val="accent6"/>
                </a:solidFill>
                <a:latin typeface="Google Sans"/>
              </a:rPr>
              <a:t>Read header (blocking until full)</a:t>
            </a:r>
          </a:p>
          <a:p>
            <a:r>
              <a:rPr lang="en-US" sz="1500" dirty="0">
                <a:solidFill>
                  <a:schemeClr val="accent6"/>
                </a:solidFill>
                <a:latin typeface="Google Sans"/>
              </a:rPr>
              <a:t>Validate version</a:t>
            </a:r>
          </a:p>
          <a:p>
            <a:r>
              <a:rPr lang="en-US" sz="1500" dirty="0">
                <a:solidFill>
                  <a:schemeClr val="accent6"/>
                </a:solidFill>
                <a:latin typeface="Google Sans"/>
              </a:rPr>
              <a:t>Dispatch by type</a:t>
            </a:r>
          </a:p>
          <a:p>
            <a:r>
              <a:rPr lang="en-US" sz="1500" dirty="0">
                <a:solidFill>
                  <a:schemeClr val="accent6"/>
                </a:solidFill>
                <a:latin typeface="Google Sans"/>
              </a:rPr>
              <a:t>Process payload</a:t>
            </a:r>
          </a:p>
          <a:p>
            <a:r>
              <a:rPr lang="en-US" sz="1500" dirty="0">
                <a:solidFill>
                  <a:schemeClr val="accent6"/>
                </a:solidFill>
                <a:latin typeface="Google Sans"/>
              </a:rPr>
              <a:t>Send response</a:t>
            </a:r>
          </a:p>
        </p:txBody>
      </p:sp>
    </p:spTree>
    <p:extLst>
      <p:ext uri="{BB962C8B-B14F-4D97-AF65-F5344CB8AC3E}">
        <p14:creationId xmlns:p14="http://schemas.microsoft.com/office/powerpoint/2010/main" val="1094280233"/>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9AF7D-EC63-E11F-DF43-0313B4C9C91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84C65A8-D962-487E-E7CD-4D1C9661A36A}"/>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C534AE5-BE36-09AA-8057-0B6BBB91AFF6}"/>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7FB93BF-191B-8080-A971-29BC85A566B7}"/>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5200CE3E-B4FC-A921-24B2-C85284AFB474}"/>
              </a:ext>
            </a:extLst>
          </p:cNvPr>
          <p:cNvSpPr txBox="1">
            <a:spLocks/>
          </p:cNvSpPr>
          <p:nvPr/>
        </p:nvSpPr>
        <p:spPr>
          <a:xfrm>
            <a:off x="275300" y="1095844"/>
            <a:ext cx="8624937" cy="45397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kern="0" spc="-220" dirty="0">
                <a:solidFill>
                  <a:schemeClr val="accent2"/>
                </a:solidFill>
              </a:rPr>
              <a:t>Custom Network Protocol Design &amp; Implementation</a:t>
            </a:r>
          </a:p>
          <a:p>
            <a:r>
              <a:rPr lang="en-US" sz="1500" dirty="0">
                <a:solidFill>
                  <a:schemeClr val="accent2"/>
                </a:solidFill>
                <a:latin typeface="Google Sans"/>
              </a:rPr>
              <a:t>🧠 Practical Advice (Hard-Won Wisdom)</a:t>
            </a:r>
          </a:p>
          <a:p>
            <a:r>
              <a:rPr lang="en-US" sz="1500" dirty="0">
                <a:solidFill>
                  <a:schemeClr val="accent6"/>
                </a:solidFill>
                <a:latin typeface="Google Sans"/>
              </a:rPr>
              <a:t>✔ Start at L7 unless impossible</a:t>
            </a:r>
          </a:p>
          <a:p>
            <a:r>
              <a:rPr lang="en-US" sz="1500" dirty="0">
                <a:solidFill>
                  <a:schemeClr val="accent6"/>
                </a:solidFill>
                <a:latin typeface="Google Sans"/>
              </a:rPr>
              <a:t>✔ Always design versioning early</a:t>
            </a:r>
          </a:p>
          <a:p>
            <a:r>
              <a:rPr lang="en-US" sz="1500" dirty="0">
                <a:solidFill>
                  <a:schemeClr val="accent6"/>
                </a:solidFill>
                <a:latin typeface="Google Sans"/>
              </a:rPr>
              <a:t>✔ Write spec before code</a:t>
            </a:r>
          </a:p>
          <a:p>
            <a:r>
              <a:rPr lang="en-US" sz="1500" dirty="0">
                <a:solidFill>
                  <a:schemeClr val="accent6"/>
                </a:solidFill>
                <a:latin typeface="Google Sans"/>
              </a:rPr>
              <a:t>✔ Assume packet loss and reordering</a:t>
            </a:r>
          </a:p>
          <a:p>
            <a:r>
              <a:rPr lang="en-US" sz="1500" dirty="0">
                <a:solidFill>
                  <a:schemeClr val="accent6"/>
                </a:solidFill>
                <a:latin typeface="Google Sans"/>
              </a:rPr>
              <a:t>✔ Measure before optimizing</a:t>
            </a:r>
          </a:p>
          <a:p>
            <a:r>
              <a:rPr lang="en-US" sz="1500" dirty="0">
                <a:solidFill>
                  <a:schemeClr val="accent6"/>
                </a:solidFill>
                <a:latin typeface="Google Sans"/>
              </a:rPr>
              <a:t>✔ Capture packets early (Wireshark is gold)</a:t>
            </a:r>
          </a:p>
          <a:p>
            <a:endParaRPr lang="en-US" sz="1500" dirty="0">
              <a:solidFill>
                <a:schemeClr val="accent6"/>
              </a:solidFill>
              <a:latin typeface="Google Sans"/>
            </a:endParaRPr>
          </a:p>
          <a:p>
            <a:r>
              <a:rPr lang="en-US" sz="2000" kern="0" spc="-220" dirty="0">
                <a:solidFill>
                  <a:schemeClr val="accent2"/>
                </a:solidFill>
              </a:rPr>
              <a:t>Why Custom Network Protocol Design &amp; Implementation may be needed?</a:t>
            </a:r>
          </a:p>
          <a:p>
            <a:r>
              <a:rPr lang="en-US" sz="1500" dirty="0">
                <a:solidFill>
                  <a:schemeClr val="accent2"/>
                </a:solidFill>
                <a:latin typeface="Google Sans"/>
              </a:rPr>
              <a:t>1️⃣ Domain-specific semantics</a:t>
            </a:r>
          </a:p>
          <a:p>
            <a:r>
              <a:rPr lang="en-US" sz="1500" dirty="0">
                <a:solidFill>
                  <a:schemeClr val="accent6"/>
                </a:solidFill>
                <a:latin typeface="Google Sans"/>
              </a:rPr>
              <a:t>Generic protocols (HTTP, TCP, MQTT) don’t always model what your system really means.</a:t>
            </a:r>
          </a:p>
          <a:p>
            <a:r>
              <a:rPr lang="en-US" sz="1500" dirty="0">
                <a:solidFill>
                  <a:schemeClr val="accent6"/>
                </a:solidFill>
                <a:latin typeface="Google Sans"/>
              </a:rPr>
              <a:t>You may need command–response, event streaming, state sync, or real-time control</a:t>
            </a:r>
          </a:p>
          <a:p>
            <a:r>
              <a:rPr lang="en-US" sz="1500" dirty="0">
                <a:solidFill>
                  <a:schemeClr val="accent6"/>
                </a:solidFill>
                <a:latin typeface="Google Sans"/>
              </a:rPr>
              <a:t>Example: robotics commands, medical device telemetry, financial order matching</a:t>
            </a:r>
          </a:p>
          <a:p>
            <a:r>
              <a:rPr lang="en-US" sz="1500" dirty="0">
                <a:solidFill>
                  <a:schemeClr val="accent2"/>
                </a:solidFill>
                <a:latin typeface="Google Sans"/>
              </a:rPr>
              <a:t>➡️ Custom protocols encode meaning, not just bytes.</a:t>
            </a:r>
          </a:p>
          <a:p>
            <a:r>
              <a:rPr lang="en-US" sz="1500" dirty="0">
                <a:solidFill>
                  <a:schemeClr val="accent2"/>
                </a:solidFill>
                <a:latin typeface="Google Sans"/>
              </a:rPr>
              <a:t>2️⃣ Performance &amp; latency constraints</a:t>
            </a:r>
          </a:p>
          <a:p>
            <a:r>
              <a:rPr lang="en-US" sz="1500" dirty="0">
                <a:solidFill>
                  <a:schemeClr val="accent2"/>
                </a:solidFill>
                <a:latin typeface="Google Sans"/>
              </a:rPr>
              <a:t>Standard protocols add overhead:</a:t>
            </a:r>
          </a:p>
          <a:p>
            <a:r>
              <a:rPr lang="en-US" sz="1500" dirty="0">
                <a:solidFill>
                  <a:schemeClr val="accent6"/>
                </a:solidFill>
                <a:latin typeface="Google Sans"/>
              </a:rPr>
              <a:t>HTTP headers, JSON parsing, TLS handshakes</a:t>
            </a:r>
          </a:p>
          <a:p>
            <a:r>
              <a:rPr lang="en-US" sz="1500" dirty="0">
                <a:solidFill>
                  <a:schemeClr val="accent6"/>
                </a:solidFill>
                <a:latin typeface="Google Sans"/>
              </a:rPr>
              <a:t>Retransmissions and buffering in TCP</a:t>
            </a:r>
          </a:p>
        </p:txBody>
      </p:sp>
    </p:spTree>
    <p:extLst>
      <p:ext uri="{BB962C8B-B14F-4D97-AF65-F5344CB8AC3E}">
        <p14:creationId xmlns:p14="http://schemas.microsoft.com/office/powerpoint/2010/main" val="3192823879"/>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2AB99-FDE2-F12D-53D5-7C27B5CC894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B0EF123-95EC-C412-59EC-5B5714628752}"/>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EBD4D99-8107-0EB4-C09C-97B47728AB47}"/>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C378408-7149-C43A-D918-517A7EFA224C}"/>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DF7B3FD-F366-FA99-6BDD-5262F91CF644}"/>
              </a:ext>
            </a:extLst>
          </p:cNvPr>
          <p:cNvSpPr txBox="1">
            <a:spLocks/>
          </p:cNvSpPr>
          <p:nvPr/>
        </p:nvSpPr>
        <p:spPr>
          <a:xfrm>
            <a:off x="275300" y="1095844"/>
            <a:ext cx="8624937" cy="46935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kern="0" spc="-220" dirty="0">
                <a:solidFill>
                  <a:schemeClr val="accent2"/>
                </a:solidFill>
              </a:rPr>
              <a:t>Why Custom Network Protocol Design &amp; Implementation may be needed?</a:t>
            </a:r>
          </a:p>
          <a:p>
            <a:r>
              <a:rPr lang="en-US" sz="1500" dirty="0">
                <a:solidFill>
                  <a:schemeClr val="accent2"/>
                </a:solidFill>
                <a:latin typeface="Google Sans"/>
              </a:rPr>
              <a:t>2️⃣ Performance &amp; latency constraints</a:t>
            </a:r>
          </a:p>
          <a:p>
            <a:r>
              <a:rPr lang="en-US" sz="1500" dirty="0">
                <a:solidFill>
                  <a:schemeClr val="accent2"/>
                </a:solidFill>
                <a:latin typeface="Google Sans"/>
              </a:rPr>
              <a:t>Custom protocols allow:</a:t>
            </a:r>
          </a:p>
          <a:p>
            <a:r>
              <a:rPr lang="en-US" sz="1500" dirty="0">
                <a:solidFill>
                  <a:schemeClr val="accent6"/>
                </a:solidFill>
                <a:latin typeface="Google Sans"/>
              </a:rPr>
              <a:t>Binary encoding</a:t>
            </a:r>
          </a:p>
          <a:p>
            <a:r>
              <a:rPr lang="en-US" sz="1500" dirty="0">
                <a:solidFill>
                  <a:schemeClr val="accent6"/>
                </a:solidFill>
                <a:latin typeface="Google Sans"/>
              </a:rPr>
              <a:t>Fixed-size frames</a:t>
            </a:r>
          </a:p>
          <a:p>
            <a:r>
              <a:rPr lang="en-US" sz="1500" dirty="0">
                <a:solidFill>
                  <a:schemeClr val="accent6"/>
                </a:solidFill>
                <a:latin typeface="Google Sans"/>
              </a:rPr>
              <a:t>Zero-copy parsing</a:t>
            </a:r>
          </a:p>
          <a:p>
            <a:r>
              <a:rPr lang="en-US" sz="1500" dirty="0">
                <a:solidFill>
                  <a:schemeClr val="accent6"/>
                </a:solidFill>
                <a:latin typeface="Google Sans"/>
              </a:rPr>
              <a:t>Predictable latency</a:t>
            </a:r>
          </a:p>
          <a:p>
            <a:r>
              <a:rPr lang="en-US" sz="1500" dirty="0">
                <a:solidFill>
                  <a:schemeClr val="accent2"/>
                </a:solidFill>
                <a:latin typeface="Google Sans"/>
              </a:rPr>
              <a:t>📉 This is critical for real-time, low-latency, or high-throughput systems.</a:t>
            </a:r>
          </a:p>
          <a:p>
            <a:r>
              <a:rPr lang="en-US" sz="1500" dirty="0">
                <a:solidFill>
                  <a:schemeClr val="accent2"/>
                </a:solidFill>
                <a:latin typeface="Google Sans"/>
              </a:rPr>
              <a:t>3️⃣ Resource-constrained environments</a:t>
            </a:r>
          </a:p>
          <a:p>
            <a:r>
              <a:rPr lang="en-US" sz="1500" dirty="0">
                <a:solidFill>
                  <a:schemeClr val="accent2"/>
                </a:solidFill>
                <a:latin typeface="Google Sans"/>
              </a:rPr>
              <a:t>In IoT, embedded, or edge systems:</a:t>
            </a:r>
          </a:p>
          <a:p>
            <a:r>
              <a:rPr lang="en-US" sz="1500" dirty="0">
                <a:solidFill>
                  <a:schemeClr val="accent6"/>
                </a:solidFill>
                <a:latin typeface="Google Sans"/>
              </a:rPr>
              <a:t>Limited CPU, RAM, battery</a:t>
            </a:r>
          </a:p>
          <a:p>
            <a:r>
              <a:rPr lang="en-US" sz="1500" dirty="0">
                <a:solidFill>
                  <a:schemeClr val="accent6"/>
                </a:solidFill>
                <a:latin typeface="Google Sans"/>
              </a:rPr>
              <a:t>Intermittent connectivity</a:t>
            </a:r>
          </a:p>
          <a:p>
            <a:r>
              <a:rPr lang="en-US" sz="1500" dirty="0">
                <a:solidFill>
                  <a:schemeClr val="accent6"/>
                </a:solidFill>
                <a:latin typeface="Google Sans"/>
              </a:rPr>
              <a:t>Custom protocols can:</a:t>
            </a:r>
          </a:p>
          <a:p>
            <a:r>
              <a:rPr lang="en-US" sz="1500" dirty="0">
                <a:solidFill>
                  <a:schemeClr val="accent6"/>
                </a:solidFill>
                <a:latin typeface="Google Sans"/>
              </a:rPr>
              <a:t>Minimize packet size</a:t>
            </a:r>
          </a:p>
          <a:p>
            <a:r>
              <a:rPr lang="en-US" sz="1500" dirty="0">
                <a:solidFill>
                  <a:schemeClr val="accent6"/>
                </a:solidFill>
                <a:latin typeface="Google Sans"/>
              </a:rPr>
              <a:t>Reduce retransmissions</a:t>
            </a:r>
          </a:p>
          <a:p>
            <a:r>
              <a:rPr lang="en-US" sz="1500" dirty="0">
                <a:solidFill>
                  <a:schemeClr val="accent6"/>
                </a:solidFill>
                <a:latin typeface="Google Sans"/>
              </a:rPr>
              <a:t>Avoid heavyweight stacks</a:t>
            </a:r>
          </a:p>
          <a:p>
            <a:r>
              <a:rPr lang="en-US" sz="1500" dirty="0">
                <a:solidFill>
                  <a:schemeClr val="accent6"/>
                </a:solidFill>
                <a:latin typeface="Google Sans"/>
              </a:rPr>
              <a:t>Example: sensor nodes sending only delta updates.</a:t>
            </a:r>
          </a:p>
          <a:p>
            <a:r>
              <a:rPr lang="en-US" sz="1500" dirty="0">
                <a:solidFill>
                  <a:schemeClr val="accent2"/>
                </a:solidFill>
                <a:latin typeface="Google Sans"/>
              </a:rPr>
              <a:t>4️⃣ Special reliability or ordering guarantees</a:t>
            </a:r>
          </a:p>
          <a:p>
            <a:r>
              <a:rPr lang="en-US" sz="1500" dirty="0">
                <a:solidFill>
                  <a:schemeClr val="accent6"/>
                </a:solidFill>
                <a:latin typeface="Google Sans"/>
              </a:rPr>
              <a:t>TCP gives strict ordering &amp; reliability—sometimes too much.</a:t>
            </a:r>
          </a:p>
          <a:p>
            <a:r>
              <a:rPr lang="en-US" sz="1500" dirty="0">
                <a:solidFill>
                  <a:schemeClr val="accent6"/>
                </a:solidFill>
                <a:latin typeface="Google Sans"/>
              </a:rPr>
              <a:t>DP gives none—sometimes too little.</a:t>
            </a:r>
          </a:p>
        </p:txBody>
      </p:sp>
    </p:spTree>
    <p:extLst>
      <p:ext uri="{BB962C8B-B14F-4D97-AF65-F5344CB8AC3E}">
        <p14:creationId xmlns:p14="http://schemas.microsoft.com/office/powerpoint/2010/main" val="2606923957"/>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A9B28-6B77-6E5B-7894-98886EDD0D9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EDACAA5-1521-7F1E-CB6B-26D78CC7C495}"/>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B93469D-3FA2-7E1E-B08B-9CB0EC780C78}"/>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1332758-F539-0FD0-7FCD-69D5E0B44077}"/>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FCE1144-929B-042F-0390-5CFE1C29CF7E}"/>
              </a:ext>
            </a:extLst>
          </p:cNvPr>
          <p:cNvSpPr txBox="1">
            <a:spLocks/>
          </p:cNvSpPr>
          <p:nvPr/>
        </p:nvSpPr>
        <p:spPr>
          <a:xfrm>
            <a:off x="275300" y="1095844"/>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kern="0" spc="-220" dirty="0">
                <a:solidFill>
                  <a:schemeClr val="accent2"/>
                </a:solidFill>
              </a:rPr>
              <a:t>Why Custom Network Protocol Design &amp; Implementation may be needed?</a:t>
            </a:r>
          </a:p>
          <a:p>
            <a:r>
              <a:rPr lang="en-US" sz="1500" dirty="0">
                <a:solidFill>
                  <a:schemeClr val="accent2"/>
                </a:solidFill>
                <a:latin typeface="Google Sans"/>
              </a:rPr>
              <a:t>4️⃣ Special reliability or ordering guarantees</a:t>
            </a:r>
          </a:p>
          <a:p>
            <a:r>
              <a:rPr lang="en-US" sz="1500" dirty="0">
                <a:solidFill>
                  <a:schemeClr val="accent2"/>
                </a:solidFill>
                <a:latin typeface="Google Sans"/>
              </a:rPr>
              <a:t>Custom protocols can implement:</a:t>
            </a:r>
          </a:p>
          <a:p>
            <a:r>
              <a:rPr lang="en-US" sz="1500" dirty="0">
                <a:solidFill>
                  <a:schemeClr val="accent6"/>
                </a:solidFill>
                <a:latin typeface="Google Sans"/>
              </a:rPr>
              <a:t>Partial reliability</a:t>
            </a:r>
          </a:p>
          <a:p>
            <a:r>
              <a:rPr lang="en-US" sz="1500" dirty="0">
                <a:solidFill>
                  <a:schemeClr val="accent6"/>
                </a:solidFill>
                <a:latin typeface="Google Sans"/>
              </a:rPr>
              <a:t>Application-level acknowledgements</a:t>
            </a:r>
          </a:p>
          <a:p>
            <a:r>
              <a:rPr lang="en-US" sz="1500" dirty="0">
                <a:solidFill>
                  <a:schemeClr val="accent6"/>
                </a:solidFill>
                <a:latin typeface="Google Sans"/>
              </a:rPr>
              <a:t>Priority-based delivery</a:t>
            </a:r>
          </a:p>
          <a:p>
            <a:r>
              <a:rPr lang="en-US" sz="1500" dirty="0">
                <a:solidFill>
                  <a:schemeClr val="accent6"/>
                </a:solidFill>
                <a:latin typeface="Google Sans"/>
              </a:rPr>
              <a:t>Custom congestion control</a:t>
            </a:r>
          </a:p>
          <a:p>
            <a:r>
              <a:rPr lang="en-US" sz="1500" dirty="0">
                <a:solidFill>
                  <a:schemeClr val="accent6"/>
                </a:solidFill>
                <a:latin typeface="Google Sans"/>
              </a:rPr>
              <a:t>Used heavily in media streaming and gaming.</a:t>
            </a:r>
          </a:p>
          <a:p>
            <a:r>
              <a:rPr lang="en-US" sz="1500" dirty="0">
                <a:solidFill>
                  <a:schemeClr val="accent2"/>
                </a:solidFill>
                <a:latin typeface="Google Sans"/>
              </a:rPr>
              <a:t>5️⃣ Security &amp; compliance requirements</a:t>
            </a:r>
          </a:p>
          <a:p>
            <a:r>
              <a:rPr lang="en-US" sz="1500" dirty="0">
                <a:solidFill>
                  <a:schemeClr val="accent2"/>
                </a:solidFill>
                <a:latin typeface="Google Sans"/>
              </a:rPr>
              <a:t>Sometimes you need:</a:t>
            </a:r>
          </a:p>
          <a:p>
            <a:r>
              <a:rPr lang="en-US" sz="1500" dirty="0">
                <a:solidFill>
                  <a:schemeClr val="accent6"/>
                </a:solidFill>
                <a:latin typeface="Google Sans"/>
              </a:rPr>
              <a:t>Custom authentication</a:t>
            </a:r>
          </a:p>
          <a:p>
            <a:r>
              <a:rPr lang="en-US" sz="1500" dirty="0">
                <a:solidFill>
                  <a:schemeClr val="accent6"/>
                </a:solidFill>
                <a:latin typeface="Google Sans"/>
              </a:rPr>
              <a:t>Domain-specific encryption</a:t>
            </a:r>
          </a:p>
          <a:p>
            <a:r>
              <a:rPr lang="en-US" sz="1500" dirty="0">
                <a:solidFill>
                  <a:schemeClr val="accent6"/>
                </a:solidFill>
                <a:latin typeface="Google Sans"/>
              </a:rPr>
              <a:t>Regulatory isolation (healthcare, defense)</a:t>
            </a:r>
          </a:p>
          <a:p>
            <a:r>
              <a:rPr lang="en-US" sz="1500" dirty="0">
                <a:solidFill>
                  <a:schemeClr val="accent6"/>
                </a:solidFill>
                <a:latin typeface="Google Sans"/>
              </a:rPr>
              <a:t>Custom protocol ≠ insecure</a:t>
            </a:r>
          </a:p>
          <a:p>
            <a:r>
              <a:rPr lang="en-US" sz="1500" dirty="0">
                <a:solidFill>
                  <a:schemeClr val="accent6"/>
                </a:solidFill>
                <a:latin typeface="Google Sans"/>
              </a:rPr>
              <a:t>It means security aligned to your threat model.</a:t>
            </a:r>
          </a:p>
          <a:p>
            <a:r>
              <a:rPr lang="en-US" sz="1500" dirty="0">
                <a:solidFill>
                  <a:schemeClr val="accent2"/>
                </a:solidFill>
                <a:latin typeface="Google Sans"/>
              </a:rPr>
              <a:t>6️⃣ Interoperability with legacy or proprietary systems</a:t>
            </a:r>
          </a:p>
          <a:p>
            <a:r>
              <a:rPr lang="en-US" sz="1500" dirty="0">
                <a:solidFill>
                  <a:schemeClr val="accent2"/>
                </a:solidFill>
                <a:latin typeface="Google Sans"/>
              </a:rPr>
              <a:t>Many industries run on:</a:t>
            </a:r>
          </a:p>
          <a:p>
            <a:r>
              <a:rPr lang="en-US" sz="1500" dirty="0">
                <a:solidFill>
                  <a:schemeClr val="accent6"/>
                </a:solidFill>
                <a:latin typeface="Google Sans"/>
              </a:rPr>
              <a:t>Legacy hardware</a:t>
            </a:r>
          </a:p>
          <a:p>
            <a:r>
              <a:rPr lang="en-US" sz="1500" dirty="0">
                <a:solidFill>
                  <a:schemeClr val="accent6"/>
                </a:solidFill>
                <a:latin typeface="Google Sans"/>
              </a:rPr>
              <a:t>Vendor-locked systems</a:t>
            </a:r>
          </a:p>
          <a:p>
            <a:r>
              <a:rPr lang="en-US" sz="1500" dirty="0">
                <a:solidFill>
                  <a:schemeClr val="accent6"/>
                </a:solidFill>
                <a:latin typeface="Google Sans"/>
              </a:rPr>
              <a:t>Custom protocols act as bridges between old and new systems.</a:t>
            </a:r>
          </a:p>
          <a:p>
            <a:r>
              <a:rPr lang="en-US" sz="1500" dirty="0">
                <a:solidFill>
                  <a:schemeClr val="accent6"/>
                </a:solidFill>
                <a:latin typeface="Google Sans"/>
              </a:rPr>
              <a:t>📍 Where are custom protocols actually used?</a:t>
            </a:r>
          </a:p>
        </p:txBody>
      </p:sp>
    </p:spTree>
    <p:extLst>
      <p:ext uri="{BB962C8B-B14F-4D97-AF65-F5344CB8AC3E}">
        <p14:creationId xmlns:p14="http://schemas.microsoft.com/office/powerpoint/2010/main" val="2397597697"/>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F8333-D08B-8836-0BC7-FF5A99923B7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DD4EEFA-8542-C33B-5190-52A588F79158}"/>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EBB4B03-2A47-4A75-5027-29CB86282503}"/>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4E7E896-0381-F19C-4050-7AF27D722391}"/>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420BBEF-8768-F242-AAF3-48ADE110A2E8}"/>
              </a:ext>
            </a:extLst>
          </p:cNvPr>
          <p:cNvSpPr txBox="1">
            <a:spLocks/>
          </p:cNvSpPr>
          <p:nvPr/>
        </p:nvSpPr>
        <p:spPr>
          <a:xfrm>
            <a:off x="275300" y="1095844"/>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kern="0" spc="-220" dirty="0">
                <a:solidFill>
                  <a:schemeClr val="accent2"/>
                </a:solidFill>
              </a:rPr>
              <a:t>Why Custom Network Protocol Design &amp; Implementation may be needed?</a:t>
            </a:r>
          </a:p>
          <a:p>
            <a:r>
              <a:rPr lang="en-US" sz="1500" dirty="0">
                <a:solidFill>
                  <a:schemeClr val="accent2"/>
                </a:solidFill>
                <a:latin typeface="Google Sans"/>
              </a:rPr>
              <a:t>6️⃣ Interoperability with legacy or proprietary systems</a:t>
            </a:r>
          </a:p>
          <a:p>
            <a:r>
              <a:rPr lang="en-US" sz="1500" dirty="0">
                <a:solidFill>
                  <a:schemeClr val="accent2"/>
                </a:solidFill>
                <a:latin typeface="Google Sans"/>
              </a:rPr>
              <a:t>🌐 Distributed systems &amp; microservices</a:t>
            </a:r>
          </a:p>
          <a:p>
            <a:r>
              <a:rPr lang="en-US" sz="1500" dirty="0">
                <a:solidFill>
                  <a:schemeClr val="accent6"/>
                </a:solidFill>
                <a:latin typeface="Google Sans"/>
              </a:rPr>
              <a:t>Internal service-to-service communication</a:t>
            </a:r>
          </a:p>
          <a:p>
            <a:r>
              <a:rPr lang="en-US" sz="1500" dirty="0">
                <a:solidFill>
                  <a:schemeClr val="accent6"/>
                </a:solidFill>
                <a:latin typeface="Google Sans"/>
              </a:rPr>
              <a:t>Lower latency than REST</a:t>
            </a:r>
          </a:p>
          <a:p>
            <a:r>
              <a:rPr lang="en-US" sz="1500" dirty="0">
                <a:solidFill>
                  <a:schemeClr val="accent6"/>
                </a:solidFill>
                <a:latin typeface="Google Sans"/>
              </a:rPr>
              <a:t>Strong contracts</a:t>
            </a:r>
          </a:p>
          <a:p>
            <a:r>
              <a:rPr lang="en-US" sz="1500" dirty="0">
                <a:solidFill>
                  <a:schemeClr val="accent2"/>
                </a:solidFill>
                <a:latin typeface="Google Sans"/>
              </a:rPr>
              <a:t>Examples:</a:t>
            </a:r>
          </a:p>
          <a:p>
            <a:r>
              <a:rPr lang="en-US" sz="1500" dirty="0" err="1">
                <a:solidFill>
                  <a:schemeClr val="accent6"/>
                </a:solidFill>
                <a:latin typeface="Google Sans"/>
              </a:rPr>
              <a:t>gRPC</a:t>
            </a:r>
            <a:r>
              <a:rPr lang="en-US" sz="1500" dirty="0">
                <a:solidFill>
                  <a:schemeClr val="accent6"/>
                </a:solidFill>
                <a:latin typeface="Google Sans"/>
              </a:rPr>
              <a:t> (custom over HTTP/2)</a:t>
            </a:r>
          </a:p>
          <a:p>
            <a:r>
              <a:rPr lang="en-US" sz="1500" dirty="0">
                <a:solidFill>
                  <a:schemeClr val="accent6"/>
                </a:solidFill>
                <a:latin typeface="Google Sans"/>
              </a:rPr>
              <a:t>Database replication protocols</a:t>
            </a:r>
          </a:p>
          <a:p>
            <a:r>
              <a:rPr lang="en-US" sz="1500" dirty="0">
                <a:solidFill>
                  <a:schemeClr val="accent2"/>
                </a:solidFill>
                <a:latin typeface="Google Sans"/>
              </a:rPr>
              <a:t>📡 IoT &amp; Edge Computing</a:t>
            </a:r>
          </a:p>
          <a:p>
            <a:r>
              <a:rPr lang="en-US" sz="1500" dirty="0">
                <a:solidFill>
                  <a:schemeClr val="accent6"/>
                </a:solidFill>
                <a:latin typeface="Google Sans"/>
              </a:rPr>
              <a:t>Smart meters</a:t>
            </a:r>
          </a:p>
          <a:p>
            <a:r>
              <a:rPr lang="en-US" sz="1500" dirty="0">
                <a:solidFill>
                  <a:schemeClr val="accent6"/>
                </a:solidFill>
                <a:latin typeface="Google Sans"/>
              </a:rPr>
              <a:t>Wearables</a:t>
            </a:r>
          </a:p>
          <a:p>
            <a:r>
              <a:rPr lang="en-US" sz="1500" dirty="0">
                <a:solidFill>
                  <a:schemeClr val="accent6"/>
                </a:solidFill>
                <a:latin typeface="Google Sans"/>
              </a:rPr>
              <a:t>Industrial sensors</a:t>
            </a:r>
          </a:p>
          <a:p>
            <a:r>
              <a:rPr lang="en-US" sz="1500" dirty="0">
                <a:solidFill>
                  <a:schemeClr val="accent2"/>
                </a:solidFill>
                <a:latin typeface="Google Sans"/>
              </a:rPr>
              <a:t>Why?</a:t>
            </a:r>
          </a:p>
          <a:p>
            <a:r>
              <a:rPr lang="en-US" sz="1500" dirty="0">
                <a:solidFill>
                  <a:schemeClr val="accent6"/>
                </a:solidFill>
                <a:latin typeface="Google Sans"/>
              </a:rPr>
              <a:t>Bandwidth is expensive</a:t>
            </a:r>
          </a:p>
          <a:p>
            <a:r>
              <a:rPr lang="en-US" sz="1500" dirty="0">
                <a:solidFill>
                  <a:schemeClr val="accent6"/>
                </a:solidFill>
                <a:latin typeface="Google Sans"/>
              </a:rPr>
              <a:t>Power is limited</a:t>
            </a:r>
          </a:p>
          <a:p>
            <a:r>
              <a:rPr lang="en-US" sz="1500" dirty="0">
                <a:solidFill>
                  <a:schemeClr val="accent6"/>
                </a:solidFill>
                <a:latin typeface="Google Sans"/>
              </a:rPr>
              <a:t>Devices are simple</a:t>
            </a:r>
          </a:p>
          <a:p>
            <a:r>
              <a:rPr lang="en-US" sz="1500" dirty="0">
                <a:solidFill>
                  <a:schemeClr val="accent2"/>
                </a:solidFill>
                <a:latin typeface="Google Sans"/>
              </a:rPr>
              <a:t>🎮 Online games &amp; real-time collaboration</a:t>
            </a:r>
          </a:p>
          <a:p>
            <a:r>
              <a:rPr lang="en-US" sz="1500" dirty="0">
                <a:solidFill>
                  <a:schemeClr val="accent6"/>
                </a:solidFill>
                <a:latin typeface="Google Sans"/>
              </a:rPr>
              <a:t>Multiplayer games</a:t>
            </a:r>
          </a:p>
          <a:p>
            <a:r>
              <a:rPr lang="en-US" sz="1500" dirty="0">
                <a:solidFill>
                  <a:schemeClr val="accent6"/>
                </a:solidFill>
                <a:latin typeface="Google Sans"/>
              </a:rPr>
              <a:t>Live whiteboards</a:t>
            </a:r>
          </a:p>
          <a:p>
            <a:r>
              <a:rPr lang="en-US" sz="1500" dirty="0">
                <a:solidFill>
                  <a:schemeClr val="accent6"/>
                </a:solidFill>
                <a:latin typeface="Google Sans"/>
              </a:rPr>
              <a:t>Video conferencing</a:t>
            </a:r>
          </a:p>
        </p:txBody>
      </p:sp>
    </p:spTree>
    <p:extLst>
      <p:ext uri="{BB962C8B-B14F-4D97-AF65-F5344CB8AC3E}">
        <p14:creationId xmlns:p14="http://schemas.microsoft.com/office/powerpoint/2010/main" val="3284905825"/>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5F378-E51A-58F8-A44B-D8C195B31FA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F7EA9D0-E165-A5D5-F416-83CEC3743E6F}"/>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9B17A64-49DD-2D62-1172-484C86DA6121}"/>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88CAADD-A800-9D7C-0D20-2481BA439706}"/>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DBB2713D-FB91-31CB-E185-A600466FEA18}"/>
              </a:ext>
            </a:extLst>
          </p:cNvPr>
          <p:cNvSpPr txBox="1">
            <a:spLocks/>
          </p:cNvSpPr>
          <p:nvPr/>
        </p:nvSpPr>
        <p:spPr>
          <a:xfrm>
            <a:off x="275300" y="1095844"/>
            <a:ext cx="8624937" cy="46935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kern="0" spc="-220" dirty="0">
                <a:solidFill>
                  <a:schemeClr val="accent2"/>
                </a:solidFill>
              </a:rPr>
              <a:t>Why Custom Network Protocol Design &amp; Implementation may be needed?</a:t>
            </a:r>
          </a:p>
          <a:p>
            <a:r>
              <a:rPr lang="en-US" sz="1500" dirty="0">
                <a:solidFill>
                  <a:schemeClr val="accent2"/>
                </a:solidFill>
                <a:latin typeface="Google Sans"/>
              </a:rPr>
              <a:t>6️⃣ Interoperability with legacy or proprietary systems</a:t>
            </a:r>
          </a:p>
          <a:p>
            <a:r>
              <a:rPr lang="en-US" sz="1500" dirty="0">
                <a:solidFill>
                  <a:schemeClr val="accent2"/>
                </a:solidFill>
                <a:latin typeface="Google Sans"/>
              </a:rPr>
              <a:t>🎮 Online games &amp; real-time collaboration</a:t>
            </a:r>
          </a:p>
          <a:p>
            <a:r>
              <a:rPr lang="en-US" sz="1500" dirty="0">
                <a:solidFill>
                  <a:schemeClr val="accent2"/>
                </a:solidFill>
                <a:latin typeface="Google Sans"/>
              </a:rPr>
              <a:t>Needs:</a:t>
            </a:r>
          </a:p>
          <a:p>
            <a:r>
              <a:rPr lang="en-US" sz="1500" dirty="0">
                <a:solidFill>
                  <a:schemeClr val="accent6"/>
                </a:solidFill>
                <a:latin typeface="Google Sans"/>
              </a:rPr>
              <a:t>Fast state updates</a:t>
            </a:r>
          </a:p>
          <a:p>
            <a:r>
              <a:rPr lang="en-US" sz="1500" dirty="0">
                <a:solidFill>
                  <a:schemeClr val="accent6"/>
                </a:solidFill>
                <a:latin typeface="Google Sans"/>
              </a:rPr>
              <a:t>Loss tolerance</a:t>
            </a:r>
          </a:p>
          <a:p>
            <a:r>
              <a:rPr lang="en-US" sz="1500" dirty="0">
                <a:solidFill>
                  <a:schemeClr val="accent6"/>
                </a:solidFill>
                <a:latin typeface="Google Sans"/>
              </a:rPr>
              <a:t>Prioritization (position &gt; chat)</a:t>
            </a:r>
          </a:p>
          <a:p>
            <a:r>
              <a:rPr lang="en-US" sz="1500" dirty="0">
                <a:solidFill>
                  <a:schemeClr val="accent2"/>
                </a:solidFill>
                <a:latin typeface="Google Sans"/>
              </a:rPr>
              <a:t>🏥 Healthcare &amp; Medical systems</a:t>
            </a:r>
          </a:p>
          <a:p>
            <a:r>
              <a:rPr lang="en-US" sz="1500" dirty="0">
                <a:solidFill>
                  <a:schemeClr val="accent6"/>
                </a:solidFill>
                <a:latin typeface="Google Sans"/>
              </a:rPr>
              <a:t>Imaging devices</a:t>
            </a:r>
          </a:p>
          <a:p>
            <a:r>
              <a:rPr lang="en-US" sz="1500" dirty="0">
                <a:solidFill>
                  <a:schemeClr val="accent6"/>
                </a:solidFill>
                <a:latin typeface="Google Sans"/>
              </a:rPr>
              <a:t>Patient monitoring</a:t>
            </a:r>
          </a:p>
          <a:p>
            <a:r>
              <a:rPr lang="en-US" sz="1500" dirty="0">
                <a:solidFill>
                  <a:schemeClr val="accent6"/>
                </a:solidFill>
                <a:latin typeface="Google Sans"/>
              </a:rPr>
              <a:t>Hospital equipment integration</a:t>
            </a:r>
          </a:p>
          <a:p>
            <a:r>
              <a:rPr lang="en-US" sz="1500" dirty="0">
                <a:solidFill>
                  <a:schemeClr val="accent2"/>
                </a:solidFill>
                <a:latin typeface="Google Sans"/>
              </a:rPr>
              <a:t>Why custom?</a:t>
            </a:r>
          </a:p>
          <a:p>
            <a:r>
              <a:rPr lang="en-US" sz="1500" dirty="0">
                <a:solidFill>
                  <a:schemeClr val="accent6"/>
                </a:solidFill>
                <a:latin typeface="Google Sans"/>
              </a:rPr>
              <a:t>Deterministic delivery</a:t>
            </a:r>
          </a:p>
          <a:p>
            <a:r>
              <a:rPr lang="en-US" sz="1500" dirty="0">
                <a:solidFill>
                  <a:schemeClr val="accent6"/>
                </a:solidFill>
                <a:latin typeface="Google Sans"/>
              </a:rPr>
              <a:t>Compliance</a:t>
            </a:r>
          </a:p>
          <a:p>
            <a:r>
              <a:rPr lang="en-US" sz="1500" dirty="0">
                <a:solidFill>
                  <a:schemeClr val="accent6"/>
                </a:solidFill>
                <a:latin typeface="Google Sans"/>
              </a:rPr>
              <a:t>Device heterogeneity</a:t>
            </a:r>
          </a:p>
          <a:p>
            <a:r>
              <a:rPr lang="en-US" sz="1500" dirty="0">
                <a:solidFill>
                  <a:schemeClr val="accent2"/>
                </a:solidFill>
                <a:latin typeface="Google Sans"/>
              </a:rPr>
              <a:t>🚗 Automotive &amp; Industrial systems</a:t>
            </a:r>
          </a:p>
          <a:p>
            <a:r>
              <a:rPr lang="en-US" sz="1500" dirty="0">
                <a:solidFill>
                  <a:schemeClr val="accent6"/>
                </a:solidFill>
                <a:latin typeface="Google Sans"/>
              </a:rPr>
              <a:t>CAN, </a:t>
            </a:r>
            <a:r>
              <a:rPr lang="en-US" sz="1500" dirty="0" err="1">
                <a:solidFill>
                  <a:schemeClr val="accent6"/>
                </a:solidFill>
                <a:latin typeface="Google Sans"/>
              </a:rPr>
              <a:t>FlexRay</a:t>
            </a:r>
            <a:r>
              <a:rPr lang="en-US" sz="1500" dirty="0">
                <a:solidFill>
                  <a:schemeClr val="accent6"/>
                </a:solidFill>
                <a:latin typeface="Google Sans"/>
              </a:rPr>
              <a:t>, </a:t>
            </a:r>
            <a:r>
              <a:rPr lang="en-US" sz="1500" dirty="0" err="1">
                <a:solidFill>
                  <a:schemeClr val="accent6"/>
                </a:solidFill>
                <a:latin typeface="Google Sans"/>
              </a:rPr>
              <a:t>EtherCAT</a:t>
            </a:r>
            <a:endParaRPr lang="en-US" sz="1500" dirty="0">
              <a:solidFill>
                <a:schemeClr val="accent6"/>
              </a:solidFill>
              <a:latin typeface="Google Sans"/>
            </a:endParaRPr>
          </a:p>
          <a:p>
            <a:r>
              <a:rPr lang="en-US" sz="1500" dirty="0">
                <a:solidFill>
                  <a:schemeClr val="accent6"/>
                </a:solidFill>
                <a:latin typeface="Google Sans"/>
              </a:rPr>
              <a:t>Factory automation</a:t>
            </a:r>
          </a:p>
          <a:p>
            <a:r>
              <a:rPr lang="en-US" sz="1500" dirty="0">
                <a:solidFill>
                  <a:schemeClr val="accent6"/>
                </a:solidFill>
                <a:latin typeface="Google Sans"/>
              </a:rPr>
              <a:t>Robotics</a:t>
            </a:r>
          </a:p>
          <a:p>
            <a:r>
              <a:rPr lang="en-US" sz="1500" dirty="0">
                <a:solidFill>
                  <a:schemeClr val="accent6"/>
                </a:solidFill>
                <a:latin typeface="Google Sans"/>
              </a:rPr>
              <a:t>Hard real-time + safety = custom protocol design.</a:t>
            </a:r>
          </a:p>
        </p:txBody>
      </p:sp>
    </p:spTree>
    <p:extLst>
      <p:ext uri="{BB962C8B-B14F-4D97-AF65-F5344CB8AC3E}">
        <p14:creationId xmlns:p14="http://schemas.microsoft.com/office/powerpoint/2010/main" val="603468364"/>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D7B0F-9800-F3DB-9A96-7FFF705AF8B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54C3597-75C0-4F77-8F15-B56C0C48B654}"/>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3B82C2E-D5D2-E70C-57E7-B53CA745B678}"/>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F221957-A60A-FEFC-EA5D-040C337071E6}"/>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595324B1-0AE8-9163-5272-0E17639825E2}"/>
              </a:ext>
            </a:extLst>
          </p:cNvPr>
          <p:cNvSpPr txBox="1">
            <a:spLocks/>
          </p:cNvSpPr>
          <p:nvPr/>
        </p:nvSpPr>
        <p:spPr>
          <a:xfrm>
            <a:off x="275300" y="1095844"/>
            <a:ext cx="8624937" cy="577081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kern="0" spc="-220" dirty="0">
                <a:solidFill>
                  <a:schemeClr val="accent2"/>
                </a:solidFill>
              </a:rPr>
              <a:t>Why Custom Network Protocol Design &amp; Implementation may be needed?</a:t>
            </a:r>
          </a:p>
          <a:p>
            <a:r>
              <a:rPr lang="en-US" sz="1500" dirty="0">
                <a:solidFill>
                  <a:schemeClr val="accent2"/>
                </a:solidFill>
                <a:latin typeface="Google Sans"/>
              </a:rPr>
              <a:t>6️⃣ Interoperability with legacy or proprietary systems</a:t>
            </a:r>
          </a:p>
          <a:p>
            <a:r>
              <a:rPr lang="en-US" sz="1500" dirty="0">
                <a:solidFill>
                  <a:schemeClr val="accent2"/>
                </a:solidFill>
                <a:latin typeface="Google Sans"/>
              </a:rPr>
              <a:t>💰 Financial &amp; trading systems</a:t>
            </a:r>
          </a:p>
          <a:p>
            <a:r>
              <a:rPr lang="en-US" sz="1500" dirty="0">
                <a:solidFill>
                  <a:schemeClr val="accent6"/>
                </a:solidFill>
                <a:latin typeface="Google Sans"/>
              </a:rPr>
              <a:t>Stock exchanges</a:t>
            </a:r>
          </a:p>
          <a:p>
            <a:r>
              <a:rPr lang="en-US" sz="1500" dirty="0">
                <a:solidFill>
                  <a:schemeClr val="accent6"/>
                </a:solidFill>
                <a:latin typeface="Google Sans"/>
              </a:rPr>
              <a:t>HFT platforms</a:t>
            </a:r>
          </a:p>
          <a:p>
            <a:r>
              <a:rPr lang="en-US" sz="1500" dirty="0">
                <a:solidFill>
                  <a:schemeClr val="accent6"/>
                </a:solidFill>
                <a:latin typeface="Google Sans"/>
              </a:rPr>
              <a:t>Microseconds matter.</a:t>
            </a:r>
          </a:p>
          <a:p>
            <a:r>
              <a:rPr lang="en-US" sz="1500" dirty="0">
                <a:solidFill>
                  <a:schemeClr val="accent6"/>
                </a:solidFill>
                <a:latin typeface="Google Sans"/>
              </a:rPr>
              <a:t>Custom binary protocols dominate.</a:t>
            </a:r>
          </a:p>
          <a:p>
            <a:r>
              <a:rPr lang="en-US" sz="1500" dirty="0">
                <a:solidFill>
                  <a:schemeClr val="accent2"/>
                </a:solidFill>
                <a:latin typeface="Google Sans"/>
              </a:rPr>
              <a:t>🚀 Cloud infrastructure &amp; storage systems</a:t>
            </a:r>
          </a:p>
          <a:p>
            <a:r>
              <a:rPr lang="en-US" sz="1500" dirty="0">
                <a:solidFill>
                  <a:schemeClr val="accent6"/>
                </a:solidFill>
                <a:latin typeface="Google Sans"/>
              </a:rPr>
              <a:t>Distributed file systems</a:t>
            </a:r>
          </a:p>
          <a:p>
            <a:r>
              <a:rPr lang="en-US" sz="1500" dirty="0">
                <a:solidFill>
                  <a:schemeClr val="accent6"/>
                </a:solidFill>
                <a:latin typeface="Google Sans"/>
              </a:rPr>
              <a:t>Consensus systems</a:t>
            </a:r>
          </a:p>
          <a:p>
            <a:r>
              <a:rPr lang="en-US" sz="1500" dirty="0">
                <a:solidFill>
                  <a:schemeClr val="accent6"/>
                </a:solidFill>
                <a:latin typeface="Google Sans"/>
              </a:rPr>
              <a:t>Cluster coordination</a:t>
            </a:r>
          </a:p>
          <a:p>
            <a:r>
              <a:rPr lang="en-US" sz="1500" dirty="0">
                <a:solidFill>
                  <a:schemeClr val="accent2"/>
                </a:solidFill>
                <a:latin typeface="Google Sans"/>
              </a:rPr>
              <a:t>Examples:</a:t>
            </a:r>
          </a:p>
          <a:p>
            <a:r>
              <a:rPr lang="en-US" sz="1500" dirty="0">
                <a:solidFill>
                  <a:schemeClr val="accent6"/>
                </a:solidFill>
                <a:latin typeface="Google Sans"/>
              </a:rPr>
              <a:t>Raft message protocols</a:t>
            </a:r>
          </a:p>
          <a:p>
            <a:r>
              <a:rPr lang="en-US" sz="1500" dirty="0">
                <a:solidFill>
                  <a:schemeClr val="accent6"/>
                </a:solidFill>
                <a:latin typeface="Google Sans"/>
              </a:rPr>
              <a:t>Database internode communication</a:t>
            </a:r>
          </a:p>
          <a:p>
            <a:r>
              <a:rPr lang="en-US" sz="1500" dirty="0">
                <a:solidFill>
                  <a:schemeClr val="accent2"/>
                </a:solidFill>
                <a:latin typeface="Google Sans"/>
              </a:rPr>
              <a:t>When not to design a custom protocol?</a:t>
            </a:r>
          </a:p>
          <a:p>
            <a:r>
              <a:rPr lang="en-US" sz="1500" dirty="0">
                <a:solidFill>
                  <a:schemeClr val="accent2"/>
                </a:solidFill>
                <a:latin typeface="Google Sans"/>
              </a:rPr>
              <a:t>Don’t reinvent the wheel if:</a:t>
            </a:r>
          </a:p>
          <a:p>
            <a:r>
              <a:rPr lang="en-US" sz="1500" dirty="0">
                <a:solidFill>
                  <a:schemeClr val="accent6"/>
                </a:solidFill>
                <a:latin typeface="Google Sans"/>
              </a:rPr>
              <a:t>HTTP/</a:t>
            </a:r>
            <a:r>
              <a:rPr lang="en-US" sz="1500" dirty="0" err="1">
                <a:solidFill>
                  <a:schemeClr val="accent6"/>
                </a:solidFill>
                <a:latin typeface="Google Sans"/>
              </a:rPr>
              <a:t>gRPC</a:t>
            </a:r>
            <a:r>
              <a:rPr lang="en-US" sz="1500" dirty="0">
                <a:solidFill>
                  <a:schemeClr val="accent6"/>
                </a:solidFill>
                <a:latin typeface="Google Sans"/>
              </a:rPr>
              <a:t>/MQTT already fits</a:t>
            </a:r>
          </a:p>
          <a:p>
            <a:r>
              <a:rPr lang="en-US" sz="1500" dirty="0">
                <a:solidFill>
                  <a:schemeClr val="accent6"/>
                </a:solidFill>
                <a:latin typeface="Google Sans"/>
              </a:rPr>
              <a:t>You don’t need tight performance control</a:t>
            </a:r>
          </a:p>
          <a:p>
            <a:r>
              <a:rPr lang="en-US" sz="1500" dirty="0">
                <a:solidFill>
                  <a:schemeClr val="accent6"/>
                </a:solidFill>
                <a:latin typeface="Google Sans"/>
              </a:rPr>
              <a:t>You want easier tooling and debugging</a:t>
            </a:r>
          </a:p>
          <a:p>
            <a:r>
              <a:rPr lang="en-US" sz="1500" dirty="0">
                <a:solidFill>
                  <a:schemeClr val="accent2"/>
                </a:solidFill>
                <a:latin typeface="Google Sans"/>
              </a:rPr>
              <a:t>Rule of thumb: </a:t>
            </a:r>
            <a:r>
              <a:rPr lang="en-US" sz="1500" dirty="0">
                <a:solidFill>
                  <a:schemeClr val="accent6"/>
                </a:solidFill>
                <a:latin typeface="Google Sans"/>
              </a:rPr>
              <a:t>Start with standard protocols &amp; then go custom only when constraints force you.</a:t>
            </a:r>
          </a:p>
          <a:p>
            <a:endParaRPr lang="en-US" sz="1500" dirty="0">
              <a:solidFill>
                <a:schemeClr val="accent6"/>
              </a:solidFill>
              <a:latin typeface="Google Sans"/>
            </a:endParaRPr>
          </a:p>
          <a:p>
            <a:endParaRPr lang="en-US" sz="1500" dirty="0">
              <a:solidFill>
                <a:schemeClr val="accent6"/>
              </a:solidFill>
              <a:latin typeface="Google Sans"/>
            </a:endParaRPr>
          </a:p>
          <a:p>
            <a:endParaRPr lang="en-US" sz="2000" kern="0" spc="-220" dirty="0">
              <a:solidFill>
                <a:schemeClr val="accent2"/>
              </a:solidFill>
            </a:endParaRPr>
          </a:p>
          <a:p>
            <a:endParaRPr lang="en-US" sz="2000" kern="0" spc="-220" dirty="0">
              <a:solidFill>
                <a:schemeClr val="accent2"/>
              </a:solidFill>
            </a:endParaRPr>
          </a:p>
        </p:txBody>
      </p:sp>
    </p:spTree>
    <p:extLst>
      <p:ext uri="{BB962C8B-B14F-4D97-AF65-F5344CB8AC3E}">
        <p14:creationId xmlns:p14="http://schemas.microsoft.com/office/powerpoint/2010/main" val="650192684"/>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E39FB-018F-6B0E-3F35-9E8A06AFDD2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885B403-659B-CA26-54F8-F3613C888EF8}"/>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D21A7B0-1D3E-BE6D-D0FD-2E46C1B50559}"/>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E6C1032-E75E-F15F-A1CC-75D9F8BEEBA8}"/>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5FB5C66F-DF8D-C4E9-EEC5-3D64C8BA4EF3}"/>
              </a:ext>
            </a:extLst>
          </p:cNvPr>
          <p:cNvSpPr txBox="1">
            <a:spLocks/>
          </p:cNvSpPr>
          <p:nvPr/>
        </p:nvSpPr>
        <p:spPr>
          <a:xfrm>
            <a:off x="275300" y="1095844"/>
            <a:ext cx="8624937" cy="472437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800" kern="0" spc="-220" dirty="0">
                <a:solidFill>
                  <a:schemeClr val="accent2"/>
                </a:solidFill>
              </a:rPr>
              <a:t>For Further Exploration – </a:t>
            </a:r>
          </a:p>
          <a:p>
            <a:r>
              <a:rPr lang="en-IN" sz="1800" dirty="0">
                <a:hlinkClick r:id="rId7"/>
              </a:rPr>
              <a:t>TCP vs UDP | LinkedIn</a:t>
            </a:r>
            <a:endParaRPr lang="en-IN" sz="1800" dirty="0"/>
          </a:p>
          <a:p>
            <a:r>
              <a:rPr lang="pt-BR" sz="1800" dirty="0">
                <a:hlinkClick r:id="rId8"/>
              </a:rPr>
              <a:t>Reliable User Datagram Protocol – Wikipedia</a:t>
            </a:r>
            <a:endParaRPr lang="pt-BR" sz="1800" dirty="0"/>
          </a:p>
          <a:p>
            <a:r>
              <a:rPr lang="en-US" sz="1800" dirty="0">
                <a:hlinkClick r:id="rId9"/>
              </a:rPr>
              <a:t>Sockets - What do you use when you need reliable UDP? - Stack Overflow</a:t>
            </a:r>
            <a:endParaRPr lang="en-US" sz="1800" dirty="0"/>
          </a:p>
          <a:p>
            <a:r>
              <a:rPr lang="en-IN" sz="1800" dirty="0">
                <a:hlinkClick r:id="rId10"/>
              </a:rPr>
              <a:t>Head First Networking[Book]</a:t>
            </a:r>
            <a:endParaRPr lang="en-IN" sz="1800" dirty="0"/>
          </a:p>
          <a:p>
            <a:r>
              <a:rPr lang="en-US" sz="1800" dirty="0">
                <a:hlinkClick r:id="rId11"/>
              </a:rPr>
              <a:t>Computer-Networking-Top-Down-Approach-notes</a:t>
            </a:r>
            <a:endParaRPr lang="en-US" sz="1800" dirty="0"/>
          </a:p>
          <a:p>
            <a:r>
              <a:rPr lang="en-US" sz="1800" dirty="0">
                <a:hlinkClick r:id="rId12"/>
              </a:rPr>
              <a:t>Hands-On-Network-Programming-with-CSharp-and-.NET-Core</a:t>
            </a:r>
            <a:endParaRPr lang="en-US" sz="1800" dirty="0"/>
          </a:p>
          <a:p>
            <a:r>
              <a:rPr lang="nl-NL" sz="1800" dirty="0">
                <a:hlinkClick r:id="rId13"/>
              </a:rPr>
              <a:t>Network programming in .NET - .NET | Microsoft Learn</a:t>
            </a:r>
            <a:endParaRPr lang="nl-NL" sz="1800" dirty="0"/>
          </a:p>
          <a:p>
            <a:r>
              <a:rPr lang="en-IN" sz="1800" dirty="0">
                <a:hlinkClick r:id="rId14"/>
              </a:rPr>
              <a:t>Web Protocols and Practice: Http/1.1, Networking Protocols, Caching, and Traffic Measurement</a:t>
            </a:r>
            <a:endParaRPr lang="nl-NL" sz="1800" dirty="0"/>
          </a:p>
          <a:p>
            <a:r>
              <a:rPr lang="en-IN" sz="1800" dirty="0">
                <a:hlinkClick r:id="rId15"/>
              </a:rPr>
              <a:t>Systems Approach Based Networking Books </a:t>
            </a:r>
            <a:endParaRPr lang="en-IN" sz="1800" dirty="0"/>
          </a:p>
          <a:p>
            <a:r>
              <a:rPr lang="en-US" sz="1800" dirty="0">
                <a:hlinkClick r:id="rId16"/>
              </a:rPr>
              <a:t>High Performance Browser Networking (O'Reilly)</a:t>
            </a:r>
            <a:endParaRPr lang="en-US" sz="1800" dirty="0"/>
          </a:p>
          <a:p>
            <a:r>
              <a:rPr lang="en-US" sz="1800" dirty="0">
                <a:hlinkClick r:id="rId17"/>
              </a:rPr>
              <a:t>What Is Checksum? Guide to Learn Checksum | Simplilearn</a:t>
            </a:r>
            <a:endParaRPr lang="en-US" sz="1800" dirty="0"/>
          </a:p>
          <a:p>
            <a:r>
              <a:rPr lang="en-IN" sz="1800" dirty="0">
                <a:hlinkClick r:id="rId18"/>
              </a:rPr>
              <a:t>Debugging - Wireshark vs Firebug vs Fiddler - pros and cons? </a:t>
            </a:r>
            <a:endParaRPr lang="en-US" sz="1800" kern="0" spc="-220" dirty="0">
              <a:solidFill>
                <a:schemeClr val="accent2"/>
              </a:solidFill>
            </a:endParaRPr>
          </a:p>
          <a:p>
            <a:endParaRPr lang="en-US" sz="1500" dirty="0">
              <a:solidFill>
                <a:schemeClr val="accent6"/>
              </a:solidFill>
              <a:latin typeface="Google Sans"/>
            </a:endParaRPr>
          </a:p>
          <a:p>
            <a:endParaRPr lang="en-US" sz="2000" kern="0" spc="-220" dirty="0">
              <a:solidFill>
                <a:schemeClr val="accent2"/>
              </a:solidFill>
            </a:endParaRPr>
          </a:p>
          <a:p>
            <a:endParaRPr lang="en-US" sz="2000" kern="0" spc="-220" dirty="0">
              <a:solidFill>
                <a:schemeClr val="accent2"/>
              </a:solidFill>
            </a:endParaRPr>
          </a:p>
        </p:txBody>
      </p:sp>
    </p:spTree>
    <p:extLst>
      <p:ext uri="{BB962C8B-B14F-4D97-AF65-F5344CB8AC3E}">
        <p14:creationId xmlns:p14="http://schemas.microsoft.com/office/powerpoint/2010/main" val="2896169721"/>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1DCBF-2B70-D7D5-52B3-5A04E27F455E}"/>
            </a:ext>
          </a:extLst>
        </p:cNvPr>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7FD0CED4-4D15-8DC7-9A6D-020642C1CFF2}"/>
              </a:ext>
            </a:extLst>
          </p:cNvPr>
          <p:cNvGraphicFramePr/>
          <p:nvPr>
            <p:extLst>
              <p:ext uri="{D42A27DB-BD31-4B8C-83A1-F6EECF244321}">
                <p14:modId xmlns:p14="http://schemas.microsoft.com/office/powerpoint/2010/main" val="359907120"/>
              </p:ext>
            </p:extLst>
          </p:nvPr>
        </p:nvGraphicFramePr>
        <p:xfrm>
          <a:off x="0" y="76201"/>
          <a:ext cx="9144000" cy="5900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3562786C-AA14-ED7E-3394-4DCB2124F3B5}"/>
              </a:ext>
            </a:extLst>
          </p:cNvPr>
          <p:cNvSpPr txBox="1">
            <a:spLocks/>
          </p:cNvSpPr>
          <p:nvPr/>
        </p:nvSpPr>
        <p:spPr>
          <a:xfrm>
            <a:off x="138063" y="12192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endParaRPr lang="en-US" sz="2000" kern="0" spc="-220" dirty="0">
              <a:solidFill>
                <a:schemeClr val="accent6"/>
              </a:solidFill>
            </a:endParaRPr>
          </a:p>
        </p:txBody>
      </p:sp>
      <p:sp>
        <p:nvSpPr>
          <p:cNvPr id="15" name="object 2">
            <a:extLst>
              <a:ext uri="{FF2B5EF4-FFF2-40B4-BE49-F238E27FC236}">
                <a16:creationId xmlns:a16="http://schemas.microsoft.com/office/drawing/2014/main" id="{72621DB7-8159-A764-39CA-B75839670296}"/>
              </a:ext>
            </a:extLst>
          </p:cNvPr>
          <p:cNvSpPr txBox="1">
            <a:spLocks/>
          </p:cNvSpPr>
          <p:nvPr/>
        </p:nvSpPr>
        <p:spPr>
          <a:xfrm>
            <a:off x="304800" y="5105400"/>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6"/>
                </a:solidFill>
              </a:rPr>
              <a:t> </a:t>
            </a:r>
          </a:p>
        </p:txBody>
      </p:sp>
      <p:sp>
        <p:nvSpPr>
          <p:cNvPr id="2" name="object 2">
            <a:extLst>
              <a:ext uri="{FF2B5EF4-FFF2-40B4-BE49-F238E27FC236}">
                <a16:creationId xmlns:a16="http://schemas.microsoft.com/office/drawing/2014/main" id="{59936695-693A-6B78-E904-EBAA23D7CDBB}"/>
              </a:ext>
            </a:extLst>
          </p:cNvPr>
          <p:cNvSpPr txBox="1">
            <a:spLocks/>
          </p:cNvSpPr>
          <p:nvPr/>
        </p:nvSpPr>
        <p:spPr>
          <a:xfrm>
            <a:off x="131778" y="667838"/>
            <a:ext cx="8624937" cy="50783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 What ADO.NET Is (and What It Isn’t)</a:t>
            </a:r>
          </a:p>
          <a:p>
            <a:r>
              <a:rPr lang="en-US" sz="1500" dirty="0">
                <a:solidFill>
                  <a:schemeClr val="accent6"/>
                </a:solidFill>
                <a:latin typeface="Google Sans"/>
                <a:ea typeface="+mn-ea"/>
                <a:cs typeface="+mn-cs"/>
              </a:rPr>
              <a:t>ADO.NET is Microsoft’s data access framework in .NET for working with relational data (e.g., SQL Server, Oracle, MySQL) and other data sources through providers.</a:t>
            </a:r>
          </a:p>
          <a:p>
            <a:r>
              <a:rPr lang="en-US" sz="1500" dirty="0">
                <a:solidFill>
                  <a:schemeClr val="accent2"/>
                </a:solidFill>
                <a:latin typeface="Google Sans"/>
                <a:ea typeface="+mn-ea"/>
                <a:cs typeface="+mn-cs"/>
              </a:rPr>
              <a:t>Key Principles</a:t>
            </a:r>
          </a:p>
          <a:p>
            <a:r>
              <a:rPr lang="en-US" sz="1500" dirty="0">
                <a:solidFill>
                  <a:schemeClr val="accent6"/>
                </a:solidFill>
                <a:latin typeface="Google Sans"/>
                <a:ea typeface="+mn-ea"/>
                <a:cs typeface="+mn-cs"/>
              </a:rPr>
              <a:t>Disconnected and Connected models</a:t>
            </a:r>
          </a:p>
          <a:p>
            <a:r>
              <a:rPr lang="en-US" sz="1500" dirty="0">
                <a:solidFill>
                  <a:schemeClr val="accent6"/>
                </a:solidFill>
                <a:latin typeface="Google Sans"/>
                <a:ea typeface="+mn-ea"/>
                <a:cs typeface="+mn-cs"/>
              </a:rPr>
              <a:t>Provider-based architecture (each database has its own provider)</a:t>
            </a:r>
          </a:p>
          <a:p>
            <a:r>
              <a:rPr lang="en-US" sz="1500" dirty="0">
                <a:solidFill>
                  <a:schemeClr val="accent6"/>
                </a:solidFill>
                <a:latin typeface="Google Sans"/>
                <a:ea typeface="+mn-ea"/>
                <a:cs typeface="+mn-cs"/>
              </a:rPr>
              <a:t>Strong typing and XML support</a:t>
            </a:r>
          </a:p>
          <a:p>
            <a:r>
              <a:rPr lang="en-US" sz="1500" dirty="0">
                <a:solidFill>
                  <a:schemeClr val="accent6"/>
                </a:solidFill>
                <a:latin typeface="Google Sans"/>
                <a:ea typeface="+mn-ea"/>
                <a:cs typeface="+mn-cs"/>
              </a:rPr>
              <a:t>Performance and scalability focus</a:t>
            </a:r>
          </a:p>
          <a:p>
            <a:r>
              <a:rPr lang="en-US" sz="1500" dirty="0">
                <a:solidFill>
                  <a:schemeClr val="accent6"/>
                </a:solidFill>
                <a:latin typeface="Google Sans"/>
                <a:ea typeface="+mn-ea"/>
                <a:cs typeface="+mn-cs"/>
              </a:rPr>
              <a:t>It’s not an ORM like Entity Framework — it’s lower-level, giving you explicit control over SQL, connections, commands, and data movement.</a:t>
            </a:r>
          </a:p>
          <a:p>
            <a:r>
              <a:rPr lang="en-US" sz="1500" dirty="0">
                <a:solidFill>
                  <a:schemeClr val="accent2"/>
                </a:solidFill>
                <a:latin typeface="Google Sans"/>
                <a:ea typeface="+mn-ea"/>
                <a:cs typeface="+mn-cs"/>
              </a:rPr>
              <a:t>📌 Core Architecture &amp; Components</a:t>
            </a:r>
          </a:p>
          <a:p>
            <a:r>
              <a:rPr lang="en-US" sz="1500" dirty="0">
                <a:solidFill>
                  <a:schemeClr val="accent2"/>
                </a:solidFill>
                <a:latin typeface="Google Sans"/>
                <a:ea typeface="+mn-ea"/>
                <a:cs typeface="+mn-cs"/>
              </a:rPr>
              <a:t>Providers (</a:t>
            </a:r>
            <a:r>
              <a:rPr lang="en-US" sz="1500" dirty="0" err="1">
                <a:solidFill>
                  <a:schemeClr val="accent2"/>
                </a:solidFill>
                <a:latin typeface="Google Sans"/>
                <a:ea typeface="+mn-ea"/>
                <a:cs typeface="+mn-cs"/>
              </a:rPr>
              <a:t>DbProviderModel</a:t>
            </a:r>
            <a:r>
              <a:rPr lang="en-US" sz="1500" dirty="0">
                <a:solidFill>
                  <a:schemeClr val="accent2"/>
                </a:solidFill>
                <a:latin typeface="Google Sans"/>
                <a:ea typeface="+mn-ea"/>
                <a:cs typeface="+mn-cs"/>
              </a:rPr>
              <a:t>)</a:t>
            </a:r>
          </a:p>
          <a:p>
            <a:r>
              <a:rPr lang="en-US" sz="1500" dirty="0">
                <a:solidFill>
                  <a:schemeClr val="accent6"/>
                </a:solidFill>
                <a:latin typeface="Google Sans"/>
                <a:ea typeface="+mn-ea"/>
                <a:cs typeface="+mn-cs"/>
              </a:rPr>
              <a:t>Each database system offers its own ADO.NET provider.</a:t>
            </a:r>
          </a:p>
          <a:p>
            <a:r>
              <a:rPr lang="en-US" sz="1500" dirty="0">
                <a:solidFill>
                  <a:schemeClr val="accent2"/>
                </a:solidFill>
                <a:latin typeface="Google Sans"/>
                <a:ea typeface="+mn-ea"/>
                <a:cs typeface="+mn-cs"/>
              </a:rPr>
              <a:t>Database	Provider Namespace</a:t>
            </a:r>
          </a:p>
          <a:p>
            <a:r>
              <a:rPr lang="en-US" sz="1500" dirty="0">
                <a:solidFill>
                  <a:schemeClr val="accent6"/>
                </a:solidFill>
                <a:latin typeface="Google Sans"/>
                <a:ea typeface="+mn-ea"/>
                <a:cs typeface="+mn-cs"/>
              </a:rPr>
              <a:t>SQL Server	</a:t>
            </a:r>
            <a:r>
              <a:rPr lang="en-US" sz="1500" dirty="0" err="1">
                <a:solidFill>
                  <a:schemeClr val="accent6"/>
                </a:solidFill>
                <a:latin typeface="Google Sans"/>
                <a:ea typeface="+mn-ea"/>
                <a:cs typeface="+mn-cs"/>
              </a:rPr>
              <a:t>System.Data.SqlClient</a:t>
            </a:r>
            <a:r>
              <a:rPr lang="en-US" sz="1500" dirty="0">
                <a:solidFill>
                  <a:schemeClr val="accent6"/>
                </a:solidFill>
                <a:latin typeface="Google Sans"/>
                <a:ea typeface="+mn-ea"/>
                <a:cs typeface="+mn-cs"/>
              </a:rPr>
              <a:t> or </a:t>
            </a:r>
            <a:r>
              <a:rPr lang="en-US" sz="1500" dirty="0" err="1">
                <a:solidFill>
                  <a:schemeClr val="accent6"/>
                </a:solidFill>
                <a:latin typeface="Google Sans"/>
                <a:ea typeface="+mn-ea"/>
                <a:cs typeface="+mn-cs"/>
              </a:rPr>
              <a:t>Microsoft.Data.SqlClient</a:t>
            </a:r>
            <a:endParaRPr lang="en-US" sz="1500" dirty="0">
              <a:solidFill>
                <a:schemeClr val="accent6"/>
              </a:solidFill>
              <a:latin typeface="Google Sans"/>
              <a:ea typeface="+mn-ea"/>
              <a:cs typeface="+mn-cs"/>
            </a:endParaRPr>
          </a:p>
          <a:p>
            <a:r>
              <a:rPr lang="en-US" sz="1500" dirty="0">
                <a:solidFill>
                  <a:schemeClr val="accent6"/>
                </a:solidFill>
                <a:latin typeface="Google Sans"/>
                <a:ea typeface="+mn-ea"/>
                <a:cs typeface="+mn-cs"/>
              </a:rPr>
              <a:t>Oracle	</a:t>
            </a:r>
            <a:r>
              <a:rPr lang="en-US" sz="1500" dirty="0" err="1">
                <a:solidFill>
                  <a:schemeClr val="accent6"/>
                </a:solidFill>
                <a:latin typeface="Google Sans"/>
                <a:ea typeface="+mn-ea"/>
                <a:cs typeface="+mn-cs"/>
              </a:rPr>
              <a:t>Oracle.ManagedDataAccess.Client</a:t>
            </a:r>
            <a:endParaRPr lang="en-US" sz="1500" dirty="0">
              <a:solidFill>
                <a:schemeClr val="accent6"/>
              </a:solidFill>
              <a:latin typeface="Google Sans"/>
              <a:ea typeface="+mn-ea"/>
              <a:cs typeface="+mn-cs"/>
            </a:endParaRPr>
          </a:p>
          <a:p>
            <a:r>
              <a:rPr lang="en-US" sz="1500" dirty="0">
                <a:solidFill>
                  <a:schemeClr val="accent6"/>
                </a:solidFill>
                <a:latin typeface="Google Sans"/>
                <a:ea typeface="+mn-ea"/>
                <a:cs typeface="+mn-cs"/>
              </a:rPr>
              <a:t>MySQL	</a:t>
            </a:r>
            <a:r>
              <a:rPr lang="en-US" sz="1500" dirty="0" err="1">
                <a:solidFill>
                  <a:schemeClr val="accent6"/>
                </a:solidFill>
                <a:latin typeface="Google Sans"/>
                <a:ea typeface="+mn-ea"/>
                <a:cs typeface="+mn-cs"/>
              </a:rPr>
              <a:t>MySql.Data.MySqlClient</a:t>
            </a:r>
            <a:endParaRPr lang="en-US" sz="1500" dirty="0">
              <a:solidFill>
                <a:schemeClr val="accent6"/>
              </a:solidFill>
              <a:latin typeface="Google Sans"/>
              <a:ea typeface="+mn-ea"/>
              <a:cs typeface="+mn-cs"/>
            </a:endParaRPr>
          </a:p>
          <a:p>
            <a:r>
              <a:rPr lang="en-US" sz="1500" dirty="0">
                <a:solidFill>
                  <a:schemeClr val="accent6"/>
                </a:solidFill>
                <a:latin typeface="Google Sans"/>
                <a:ea typeface="+mn-ea"/>
                <a:cs typeface="+mn-cs"/>
              </a:rPr>
              <a:t>SQLite	</a:t>
            </a:r>
            <a:r>
              <a:rPr lang="en-US" sz="1500" dirty="0" err="1">
                <a:solidFill>
                  <a:schemeClr val="accent6"/>
                </a:solidFill>
                <a:latin typeface="Google Sans"/>
                <a:ea typeface="+mn-ea"/>
                <a:cs typeface="+mn-cs"/>
              </a:rPr>
              <a:t>Microsoft.Data.Sqlite</a:t>
            </a:r>
            <a:endParaRPr lang="en-US" sz="1500" dirty="0">
              <a:solidFill>
                <a:schemeClr val="accent6"/>
              </a:solidFill>
              <a:latin typeface="Google Sans"/>
              <a:ea typeface="+mn-ea"/>
              <a:cs typeface="+mn-cs"/>
            </a:endParaRPr>
          </a:p>
          <a:p>
            <a:r>
              <a:rPr lang="en-US" sz="1500" dirty="0">
                <a:solidFill>
                  <a:schemeClr val="accent6"/>
                </a:solidFill>
                <a:latin typeface="Google Sans"/>
                <a:ea typeface="+mn-ea"/>
                <a:cs typeface="+mn-cs"/>
              </a:rPr>
              <a:t>OLE DB	</a:t>
            </a:r>
            <a:r>
              <a:rPr lang="en-US" sz="1500" dirty="0" err="1">
                <a:solidFill>
                  <a:schemeClr val="accent6"/>
                </a:solidFill>
                <a:latin typeface="Google Sans"/>
                <a:ea typeface="+mn-ea"/>
                <a:cs typeface="+mn-cs"/>
              </a:rPr>
              <a:t>System.Data.OleDb</a:t>
            </a:r>
            <a:endParaRPr lang="en-US" sz="1500" dirty="0">
              <a:solidFill>
                <a:schemeClr val="accent6"/>
              </a:solidFill>
              <a:latin typeface="Google Sans"/>
              <a:ea typeface="+mn-ea"/>
              <a:cs typeface="+mn-cs"/>
            </a:endParaRPr>
          </a:p>
          <a:p>
            <a:r>
              <a:rPr lang="en-US" sz="1500" dirty="0">
                <a:solidFill>
                  <a:schemeClr val="accent6"/>
                </a:solidFill>
                <a:latin typeface="Google Sans"/>
                <a:ea typeface="+mn-ea"/>
                <a:cs typeface="+mn-cs"/>
              </a:rPr>
              <a:t>ODBC	</a:t>
            </a:r>
            <a:r>
              <a:rPr lang="en-US" sz="1500" dirty="0" err="1">
                <a:solidFill>
                  <a:schemeClr val="accent6"/>
                </a:solidFill>
                <a:latin typeface="Google Sans"/>
                <a:ea typeface="+mn-ea"/>
                <a:cs typeface="+mn-cs"/>
              </a:rPr>
              <a:t>System.Data.Odbc</a:t>
            </a:r>
            <a:endParaRPr lang="en-US" sz="1500" dirty="0">
              <a:solidFill>
                <a:schemeClr val="accent6"/>
              </a:solidFill>
              <a:latin typeface="Google Sans"/>
              <a:ea typeface="+mn-ea"/>
              <a:cs typeface="+mn-cs"/>
            </a:endParaRPr>
          </a:p>
          <a:p>
            <a:r>
              <a:rPr lang="en-US" sz="1500" dirty="0">
                <a:solidFill>
                  <a:schemeClr val="accent6"/>
                </a:solidFill>
                <a:latin typeface="Google Sans"/>
                <a:ea typeface="+mn-ea"/>
                <a:cs typeface="+mn-cs"/>
              </a:rPr>
              <a:t>👉 A provider implements the same base abstractions (</a:t>
            </a:r>
            <a:r>
              <a:rPr lang="en-US" sz="1500" dirty="0" err="1">
                <a:solidFill>
                  <a:schemeClr val="accent6"/>
                </a:solidFill>
                <a:latin typeface="Google Sans"/>
                <a:ea typeface="+mn-ea"/>
                <a:cs typeface="+mn-cs"/>
              </a:rPr>
              <a:t>DbConnection</a:t>
            </a:r>
            <a:r>
              <a:rPr lang="en-US" sz="1500" dirty="0">
                <a:solidFill>
                  <a:schemeClr val="accent6"/>
                </a:solidFill>
                <a:latin typeface="Google Sans"/>
                <a:ea typeface="+mn-ea"/>
                <a:cs typeface="+mn-cs"/>
              </a:rPr>
              <a:t>, </a:t>
            </a:r>
            <a:r>
              <a:rPr lang="en-US" sz="1500" dirty="0" err="1">
                <a:solidFill>
                  <a:schemeClr val="accent6"/>
                </a:solidFill>
                <a:latin typeface="Google Sans"/>
                <a:ea typeface="+mn-ea"/>
                <a:cs typeface="+mn-cs"/>
              </a:rPr>
              <a:t>DbCommand</a:t>
            </a:r>
            <a:r>
              <a:rPr lang="en-US" sz="1500" dirty="0">
                <a:solidFill>
                  <a:schemeClr val="accent6"/>
                </a:solidFill>
                <a:latin typeface="Google Sans"/>
                <a:ea typeface="+mn-ea"/>
                <a:cs typeface="+mn-cs"/>
              </a:rPr>
              <a:t>, </a:t>
            </a:r>
            <a:r>
              <a:rPr lang="en-US" sz="1500" dirty="0" err="1">
                <a:solidFill>
                  <a:schemeClr val="accent6"/>
                </a:solidFill>
                <a:latin typeface="Google Sans"/>
                <a:ea typeface="+mn-ea"/>
                <a:cs typeface="+mn-cs"/>
              </a:rPr>
              <a:t>DbDataReader</a:t>
            </a:r>
            <a:r>
              <a:rPr lang="en-US" sz="1500" dirty="0">
                <a:solidFill>
                  <a:schemeClr val="accent6"/>
                </a:solidFill>
                <a:latin typeface="Google Sans"/>
                <a:ea typeface="+mn-ea"/>
                <a:cs typeface="+mn-cs"/>
              </a:rPr>
              <a:t>, etc.) so you can write provider-agnostic code with factories.</a:t>
            </a:r>
          </a:p>
        </p:txBody>
      </p:sp>
    </p:spTree>
    <p:extLst>
      <p:ext uri="{BB962C8B-B14F-4D97-AF65-F5344CB8AC3E}">
        <p14:creationId xmlns:p14="http://schemas.microsoft.com/office/powerpoint/2010/main" val="661036235"/>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4BB9A-5CCD-699E-59B8-35C338EDE9E1}"/>
            </a:ext>
          </a:extLst>
        </p:cNvPr>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D8A5A614-2D7B-B980-A4F2-C589A0F64B27}"/>
              </a:ext>
            </a:extLst>
          </p:cNvPr>
          <p:cNvGraphicFramePr/>
          <p:nvPr/>
        </p:nvGraphicFramePr>
        <p:xfrm>
          <a:off x="0" y="76201"/>
          <a:ext cx="9144000" cy="5900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4BB44C96-248F-6942-31DD-F2E4A4731998}"/>
              </a:ext>
            </a:extLst>
          </p:cNvPr>
          <p:cNvSpPr txBox="1">
            <a:spLocks/>
          </p:cNvSpPr>
          <p:nvPr/>
        </p:nvSpPr>
        <p:spPr>
          <a:xfrm>
            <a:off x="138063" y="12192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endParaRPr lang="en-US" sz="2000" kern="0" spc="-220" dirty="0">
              <a:solidFill>
                <a:schemeClr val="accent6"/>
              </a:solidFill>
            </a:endParaRPr>
          </a:p>
        </p:txBody>
      </p:sp>
      <p:sp>
        <p:nvSpPr>
          <p:cNvPr id="15" name="object 2">
            <a:extLst>
              <a:ext uri="{FF2B5EF4-FFF2-40B4-BE49-F238E27FC236}">
                <a16:creationId xmlns:a16="http://schemas.microsoft.com/office/drawing/2014/main" id="{B2FC82B4-9F7D-BE23-6636-C17C0ECA7354}"/>
              </a:ext>
            </a:extLst>
          </p:cNvPr>
          <p:cNvSpPr txBox="1">
            <a:spLocks/>
          </p:cNvSpPr>
          <p:nvPr/>
        </p:nvSpPr>
        <p:spPr>
          <a:xfrm>
            <a:off x="304800" y="5105400"/>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6"/>
                </a:solidFill>
              </a:rPr>
              <a:t> </a:t>
            </a:r>
          </a:p>
        </p:txBody>
      </p:sp>
      <p:sp>
        <p:nvSpPr>
          <p:cNvPr id="2" name="object 2">
            <a:extLst>
              <a:ext uri="{FF2B5EF4-FFF2-40B4-BE49-F238E27FC236}">
                <a16:creationId xmlns:a16="http://schemas.microsoft.com/office/drawing/2014/main" id="{BA36D83B-8107-E333-C6AD-EE8C74B2F7A8}"/>
              </a:ext>
            </a:extLst>
          </p:cNvPr>
          <p:cNvSpPr txBox="1">
            <a:spLocks/>
          </p:cNvSpPr>
          <p:nvPr/>
        </p:nvSpPr>
        <p:spPr>
          <a:xfrm>
            <a:off x="131778" y="667838"/>
            <a:ext cx="8624937" cy="48474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 Core Architecture &amp; Components</a:t>
            </a:r>
          </a:p>
          <a:p>
            <a:r>
              <a:rPr lang="en-US" sz="1500" dirty="0">
                <a:solidFill>
                  <a:schemeClr val="accent2"/>
                </a:solidFill>
                <a:latin typeface="Google Sans"/>
                <a:ea typeface="+mn-ea"/>
                <a:cs typeface="+mn-cs"/>
              </a:rPr>
              <a:t>🧠 Connection Model</a:t>
            </a:r>
          </a:p>
          <a:p>
            <a:r>
              <a:rPr lang="en-US" sz="1500" dirty="0">
                <a:solidFill>
                  <a:schemeClr val="accent2"/>
                </a:solidFill>
                <a:latin typeface="Google Sans"/>
                <a:ea typeface="+mn-ea"/>
                <a:cs typeface="+mn-cs"/>
              </a:rPr>
              <a:t>Connection (</a:t>
            </a:r>
            <a:r>
              <a:rPr lang="en-US" sz="1500" dirty="0" err="1">
                <a:solidFill>
                  <a:schemeClr val="accent2"/>
                </a:solidFill>
                <a:latin typeface="Google Sans"/>
                <a:ea typeface="+mn-ea"/>
                <a:cs typeface="+mn-cs"/>
              </a:rPr>
              <a:t>DbConnection</a:t>
            </a:r>
            <a:r>
              <a:rPr lang="en-US" sz="1500" dirty="0">
                <a:solidFill>
                  <a:schemeClr val="accent2"/>
                </a:solidFill>
                <a:latin typeface="Google Sans"/>
                <a:ea typeface="+mn-ea"/>
                <a:cs typeface="+mn-cs"/>
              </a:rPr>
              <a:t>)</a:t>
            </a:r>
          </a:p>
          <a:p>
            <a:r>
              <a:rPr lang="en-US" sz="1500" dirty="0">
                <a:solidFill>
                  <a:schemeClr val="accent6"/>
                </a:solidFill>
                <a:latin typeface="Google Sans"/>
                <a:ea typeface="+mn-ea"/>
                <a:cs typeface="+mn-cs"/>
              </a:rPr>
              <a:t>A connection is the gateway to the database.</a:t>
            </a:r>
          </a:p>
          <a:p>
            <a:r>
              <a:rPr lang="en-US" sz="1500" dirty="0">
                <a:solidFill>
                  <a:schemeClr val="accent6"/>
                </a:solidFill>
                <a:latin typeface="Google Sans"/>
                <a:ea typeface="+mn-ea"/>
                <a:cs typeface="+mn-cs"/>
              </a:rPr>
              <a:t>using var conn = new </a:t>
            </a:r>
            <a:r>
              <a:rPr lang="en-US" sz="1500" dirty="0" err="1">
                <a:solidFill>
                  <a:schemeClr val="accent6"/>
                </a:solidFill>
                <a:latin typeface="Google Sans"/>
                <a:ea typeface="+mn-ea"/>
                <a:cs typeface="+mn-cs"/>
              </a:rPr>
              <a:t>SqlConnection</a:t>
            </a:r>
            <a:r>
              <a:rPr lang="en-US" sz="1500" dirty="0">
                <a:solidFill>
                  <a:schemeClr val="accent6"/>
                </a:solidFill>
                <a:latin typeface="Google Sans"/>
                <a:ea typeface="+mn-ea"/>
                <a:cs typeface="+mn-cs"/>
              </a:rPr>
              <a:t>(</a:t>
            </a:r>
            <a:r>
              <a:rPr lang="en-US" sz="1500" dirty="0" err="1">
                <a:solidFill>
                  <a:schemeClr val="accent6"/>
                </a:solidFill>
                <a:latin typeface="Google Sans"/>
                <a:ea typeface="+mn-ea"/>
                <a:cs typeface="+mn-cs"/>
              </a:rPr>
              <a:t>connectionString</a:t>
            </a:r>
            <a:r>
              <a:rPr lang="en-US" sz="1500" dirty="0">
                <a:solidFill>
                  <a:schemeClr val="accent6"/>
                </a:solidFill>
                <a:latin typeface="Google Sans"/>
                <a:ea typeface="+mn-ea"/>
                <a:cs typeface="+mn-cs"/>
              </a:rPr>
              <a:t>);</a:t>
            </a:r>
          </a:p>
          <a:p>
            <a:r>
              <a:rPr lang="en-US" sz="1500" dirty="0" err="1">
                <a:solidFill>
                  <a:schemeClr val="accent6"/>
                </a:solidFill>
                <a:latin typeface="Google Sans"/>
                <a:ea typeface="+mn-ea"/>
                <a:cs typeface="+mn-cs"/>
              </a:rPr>
              <a:t>conn.Open</a:t>
            </a:r>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 use the connection</a:t>
            </a:r>
          </a:p>
          <a:p>
            <a:r>
              <a:rPr lang="en-US" sz="1500" dirty="0">
                <a:solidFill>
                  <a:schemeClr val="accent2"/>
                </a:solidFill>
                <a:latin typeface="Google Sans"/>
                <a:ea typeface="+mn-ea"/>
                <a:cs typeface="+mn-cs"/>
              </a:rPr>
              <a:t>Key Concepts</a:t>
            </a:r>
          </a:p>
          <a:p>
            <a:r>
              <a:rPr lang="en-US" sz="1500" dirty="0">
                <a:solidFill>
                  <a:schemeClr val="accent6"/>
                </a:solidFill>
                <a:latin typeface="Google Sans"/>
                <a:ea typeface="+mn-ea"/>
                <a:cs typeface="+mn-cs"/>
              </a:rPr>
              <a:t>Connection String — controls server, database, auth, timeout, pooling.</a:t>
            </a:r>
          </a:p>
          <a:p>
            <a:r>
              <a:rPr lang="en-US" sz="1500" dirty="0">
                <a:solidFill>
                  <a:schemeClr val="accent6"/>
                </a:solidFill>
                <a:latin typeface="Google Sans"/>
                <a:ea typeface="+mn-ea"/>
                <a:cs typeface="+mn-cs"/>
              </a:rPr>
              <a:t>Pooling — automatic reuse of physical connections; enabled by default.</a:t>
            </a:r>
          </a:p>
          <a:p>
            <a:r>
              <a:rPr lang="en-US" sz="1500" dirty="0">
                <a:solidFill>
                  <a:schemeClr val="accent2"/>
                </a:solidFill>
                <a:latin typeface="Google Sans"/>
                <a:ea typeface="+mn-ea"/>
                <a:cs typeface="+mn-cs"/>
              </a:rPr>
              <a:t>Gotchas</a:t>
            </a:r>
          </a:p>
          <a:p>
            <a:r>
              <a:rPr lang="en-US" sz="1500" dirty="0">
                <a:solidFill>
                  <a:schemeClr val="accent6"/>
                </a:solidFill>
                <a:latin typeface="Google Sans"/>
                <a:ea typeface="+mn-ea"/>
                <a:cs typeface="+mn-cs"/>
              </a:rPr>
              <a:t>Opening/closing frequently without pooling benefits performance.</a:t>
            </a:r>
          </a:p>
          <a:p>
            <a:r>
              <a:rPr lang="en-US" sz="1500" dirty="0">
                <a:solidFill>
                  <a:schemeClr val="accent6"/>
                </a:solidFill>
                <a:latin typeface="Google Sans"/>
                <a:ea typeface="+mn-ea"/>
                <a:cs typeface="+mn-cs"/>
              </a:rPr>
              <a:t>Wrong connection string =&gt; runtime errors.</a:t>
            </a:r>
          </a:p>
          <a:p>
            <a:r>
              <a:rPr lang="en-US" sz="1500" dirty="0">
                <a:solidFill>
                  <a:schemeClr val="accent6"/>
                </a:solidFill>
                <a:latin typeface="Google Sans"/>
                <a:ea typeface="+mn-ea"/>
                <a:cs typeface="+mn-cs"/>
              </a:rPr>
              <a:t>Connection should be disposed/closed ASAP using </a:t>
            </a:r>
            <a:r>
              <a:rPr lang="en-US" sz="1500" dirty="0" err="1">
                <a:solidFill>
                  <a:schemeClr val="accent6"/>
                </a:solidFill>
                <a:latin typeface="Google Sans"/>
                <a:ea typeface="+mn-ea"/>
                <a:cs typeface="+mn-cs"/>
              </a:rPr>
              <a:t>using</a:t>
            </a:r>
            <a:r>
              <a:rPr lang="en-US" sz="1500" dirty="0">
                <a:solidFill>
                  <a:schemeClr val="accent6"/>
                </a:solidFill>
                <a:latin typeface="Google Sans"/>
                <a:ea typeface="+mn-ea"/>
                <a:cs typeface="+mn-cs"/>
              </a:rPr>
              <a:t>.</a:t>
            </a:r>
          </a:p>
          <a:p>
            <a:r>
              <a:rPr lang="en-US" sz="1500" dirty="0">
                <a:solidFill>
                  <a:schemeClr val="accent2"/>
                </a:solidFill>
                <a:latin typeface="Google Sans"/>
                <a:ea typeface="+mn-ea"/>
                <a:cs typeface="+mn-cs"/>
              </a:rPr>
              <a:t>⚡ Command Execution</a:t>
            </a:r>
          </a:p>
          <a:p>
            <a:r>
              <a:rPr lang="en-US" sz="1500" dirty="0">
                <a:solidFill>
                  <a:schemeClr val="accent6"/>
                </a:solidFill>
                <a:latin typeface="Google Sans"/>
                <a:ea typeface="+mn-ea"/>
                <a:cs typeface="+mn-cs"/>
              </a:rPr>
              <a:t>Command (</a:t>
            </a:r>
            <a:r>
              <a:rPr lang="en-US" sz="1500" dirty="0" err="1">
                <a:solidFill>
                  <a:schemeClr val="accent6"/>
                </a:solidFill>
                <a:latin typeface="Google Sans"/>
                <a:ea typeface="+mn-ea"/>
                <a:cs typeface="+mn-cs"/>
              </a:rPr>
              <a:t>DbCommand</a:t>
            </a:r>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Represents a SQL statement or stored procedure.</a:t>
            </a:r>
          </a:p>
          <a:p>
            <a:r>
              <a:rPr lang="en-US" sz="1500" dirty="0">
                <a:solidFill>
                  <a:schemeClr val="accent2"/>
                </a:solidFill>
                <a:latin typeface="Google Sans"/>
                <a:ea typeface="+mn-ea"/>
                <a:cs typeface="+mn-cs"/>
              </a:rPr>
              <a:t>Key properties:</a:t>
            </a:r>
          </a:p>
          <a:p>
            <a:r>
              <a:rPr lang="en-US" sz="1500" dirty="0" err="1">
                <a:solidFill>
                  <a:schemeClr val="accent6"/>
                </a:solidFill>
                <a:latin typeface="Google Sans"/>
                <a:ea typeface="+mn-ea"/>
                <a:cs typeface="+mn-cs"/>
              </a:rPr>
              <a:t>CommandText</a:t>
            </a:r>
            <a:endParaRPr lang="en-US" sz="1500" dirty="0">
              <a:solidFill>
                <a:schemeClr val="accent6"/>
              </a:solidFill>
              <a:latin typeface="Google Sans"/>
              <a:ea typeface="+mn-ea"/>
              <a:cs typeface="+mn-cs"/>
            </a:endParaRPr>
          </a:p>
          <a:p>
            <a:r>
              <a:rPr lang="en-US" sz="1500" dirty="0" err="1">
                <a:solidFill>
                  <a:schemeClr val="accent6"/>
                </a:solidFill>
                <a:latin typeface="Google Sans"/>
                <a:ea typeface="+mn-ea"/>
                <a:cs typeface="+mn-cs"/>
              </a:rPr>
              <a:t>CommandType</a:t>
            </a:r>
            <a:r>
              <a:rPr lang="en-US" sz="1500" dirty="0">
                <a:solidFill>
                  <a:schemeClr val="accent6"/>
                </a:solidFill>
                <a:latin typeface="Google Sans"/>
                <a:ea typeface="+mn-ea"/>
                <a:cs typeface="+mn-cs"/>
              </a:rPr>
              <a:t> (Text vs </a:t>
            </a:r>
            <a:r>
              <a:rPr lang="en-US" sz="1500" dirty="0" err="1">
                <a:solidFill>
                  <a:schemeClr val="accent6"/>
                </a:solidFill>
                <a:latin typeface="Google Sans"/>
                <a:ea typeface="+mn-ea"/>
                <a:cs typeface="+mn-cs"/>
              </a:rPr>
              <a:t>StoredProcedure</a:t>
            </a:r>
            <a:r>
              <a:rPr lang="en-US" sz="1500" dirty="0">
                <a:solidFill>
                  <a:schemeClr val="accent6"/>
                </a:solidFill>
                <a:latin typeface="Google Sans"/>
                <a:ea typeface="+mn-ea"/>
                <a:cs typeface="+mn-cs"/>
              </a:rPr>
              <a:t>)</a:t>
            </a:r>
          </a:p>
          <a:p>
            <a:endParaRPr lang="en-US" sz="1500" dirty="0">
              <a:solidFill>
                <a:schemeClr val="accent6"/>
              </a:solidFill>
              <a:latin typeface="Google Sans"/>
              <a:ea typeface="+mn-ea"/>
              <a:cs typeface="+mn-cs"/>
            </a:endParaRPr>
          </a:p>
        </p:txBody>
      </p:sp>
    </p:spTree>
    <p:extLst>
      <p:ext uri="{BB962C8B-B14F-4D97-AF65-F5344CB8AC3E}">
        <p14:creationId xmlns:p14="http://schemas.microsoft.com/office/powerpoint/2010/main" val="87729403"/>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B8C05-B29E-4BA2-CD26-2E9BD2FBDC4A}"/>
            </a:ext>
          </a:extLst>
        </p:cNvPr>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3DED3195-BE53-6C4F-6A2D-60441372E418}"/>
              </a:ext>
            </a:extLst>
          </p:cNvPr>
          <p:cNvGraphicFramePr/>
          <p:nvPr/>
        </p:nvGraphicFramePr>
        <p:xfrm>
          <a:off x="0" y="76201"/>
          <a:ext cx="9144000" cy="5900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BEE48921-C734-CFED-67C1-31811C485855}"/>
              </a:ext>
            </a:extLst>
          </p:cNvPr>
          <p:cNvSpPr txBox="1">
            <a:spLocks/>
          </p:cNvSpPr>
          <p:nvPr/>
        </p:nvSpPr>
        <p:spPr>
          <a:xfrm>
            <a:off x="138063" y="12192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endParaRPr lang="en-US" sz="2000" kern="0" spc="-220" dirty="0">
              <a:solidFill>
                <a:schemeClr val="accent6"/>
              </a:solidFill>
            </a:endParaRPr>
          </a:p>
        </p:txBody>
      </p:sp>
      <p:sp>
        <p:nvSpPr>
          <p:cNvPr id="15" name="object 2">
            <a:extLst>
              <a:ext uri="{FF2B5EF4-FFF2-40B4-BE49-F238E27FC236}">
                <a16:creationId xmlns:a16="http://schemas.microsoft.com/office/drawing/2014/main" id="{ECB99C52-5129-E557-7436-CB51701E7E77}"/>
              </a:ext>
            </a:extLst>
          </p:cNvPr>
          <p:cNvSpPr txBox="1">
            <a:spLocks/>
          </p:cNvSpPr>
          <p:nvPr/>
        </p:nvSpPr>
        <p:spPr>
          <a:xfrm>
            <a:off x="304800" y="5105400"/>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6"/>
                </a:solidFill>
              </a:rPr>
              <a:t> </a:t>
            </a:r>
          </a:p>
        </p:txBody>
      </p:sp>
      <p:sp>
        <p:nvSpPr>
          <p:cNvPr id="2" name="object 2">
            <a:extLst>
              <a:ext uri="{FF2B5EF4-FFF2-40B4-BE49-F238E27FC236}">
                <a16:creationId xmlns:a16="http://schemas.microsoft.com/office/drawing/2014/main" id="{577C70D8-D522-71E4-726E-1581F61B5271}"/>
              </a:ext>
            </a:extLst>
          </p:cNvPr>
          <p:cNvSpPr txBox="1">
            <a:spLocks/>
          </p:cNvSpPr>
          <p:nvPr/>
        </p:nvSpPr>
        <p:spPr>
          <a:xfrm>
            <a:off x="131778" y="667838"/>
            <a:ext cx="8624937" cy="53091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 Core Architecture &amp; Components</a:t>
            </a:r>
          </a:p>
          <a:p>
            <a:r>
              <a:rPr lang="en-US" sz="1500" dirty="0">
                <a:solidFill>
                  <a:schemeClr val="accent2"/>
                </a:solidFill>
                <a:latin typeface="Google Sans"/>
                <a:ea typeface="+mn-ea"/>
                <a:cs typeface="+mn-cs"/>
              </a:rPr>
              <a:t>🧠 Connection Model</a:t>
            </a:r>
          </a:p>
          <a:p>
            <a:r>
              <a:rPr lang="en-US" sz="1500" dirty="0">
                <a:solidFill>
                  <a:schemeClr val="accent2"/>
                </a:solidFill>
                <a:latin typeface="Google Sans"/>
                <a:ea typeface="+mn-ea"/>
                <a:cs typeface="+mn-cs"/>
              </a:rPr>
              <a:t>Parameters</a:t>
            </a:r>
          </a:p>
          <a:p>
            <a:r>
              <a:rPr lang="en-US" sz="1500" dirty="0">
                <a:solidFill>
                  <a:schemeClr val="accent6"/>
                </a:solidFill>
                <a:latin typeface="Google Sans"/>
                <a:ea typeface="+mn-ea"/>
                <a:cs typeface="+mn-cs"/>
              </a:rPr>
              <a:t>Sync vs Async</a:t>
            </a:r>
          </a:p>
          <a:p>
            <a:r>
              <a:rPr lang="en-US" sz="1500" dirty="0">
                <a:solidFill>
                  <a:schemeClr val="accent6"/>
                </a:solidFill>
                <a:latin typeface="Google Sans"/>
                <a:ea typeface="+mn-ea"/>
                <a:cs typeface="+mn-cs"/>
              </a:rPr>
              <a:t>await </a:t>
            </a:r>
            <a:r>
              <a:rPr lang="en-US" sz="1500" dirty="0" err="1">
                <a:solidFill>
                  <a:schemeClr val="accent6"/>
                </a:solidFill>
                <a:latin typeface="Google Sans"/>
                <a:ea typeface="+mn-ea"/>
                <a:cs typeface="+mn-cs"/>
              </a:rPr>
              <a:t>cmd.ExecuteNonQueryAsync</a:t>
            </a:r>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var reader = await </a:t>
            </a:r>
            <a:r>
              <a:rPr lang="en-US" sz="1500" dirty="0" err="1">
                <a:solidFill>
                  <a:schemeClr val="accent6"/>
                </a:solidFill>
                <a:latin typeface="Google Sans"/>
                <a:ea typeface="+mn-ea"/>
                <a:cs typeface="+mn-cs"/>
              </a:rPr>
              <a:t>cmd.ExecuteReaderAsync</a:t>
            </a:r>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Use async in UI/API apps to avoid blocking threads.</a:t>
            </a:r>
          </a:p>
          <a:p>
            <a:r>
              <a:rPr lang="en-US" sz="1500" dirty="0" err="1">
                <a:solidFill>
                  <a:schemeClr val="accent6"/>
                </a:solidFill>
                <a:latin typeface="Google Sans"/>
                <a:ea typeface="+mn-ea"/>
                <a:cs typeface="+mn-cs"/>
              </a:rPr>
              <a:t>CommandTimeout</a:t>
            </a:r>
            <a:endParaRPr lang="en-US" sz="1500" dirty="0">
              <a:solidFill>
                <a:schemeClr val="accent6"/>
              </a:solidFill>
              <a:latin typeface="Google Sans"/>
              <a:ea typeface="+mn-ea"/>
              <a:cs typeface="+mn-cs"/>
            </a:endParaRPr>
          </a:p>
          <a:p>
            <a:r>
              <a:rPr lang="en-US" sz="1500" dirty="0">
                <a:solidFill>
                  <a:schemeClr val="accent6"/>
                </a:solidFill>
                <a:latin typeface="Google Sans"/>
                <a:ea typeface="+mn-ea"/>
                <a:cs typeface="+mn-cs"/>
              </a:rPr>
              <a:t>Defaults vary — set explicitly if queries might take long.</a:t>
            </a:r>
          </a:p>
          <a:p>
            <a:r>
              <a:rPr lang="en-US" sz="1500" dirty="0">
                <a:solidFill>
                  <a:schemeClr val="accent2"/>
                </a:solidFill>
                <a:latin typeface="Google Sans"/>
                <a:ea typeface="+mn-ea"/>
                <a:cs typeface="+mn-cs"/>
              </a:rPr>
              <a:t>📊 Data Retrieval Patterns</a:t>
            </a:r>
          </a:p>
          <a:p>
            <a:r>
              <a:rPr lang="en-US" sz="1500" dirty="0">
                <a:solidFill>
                  <a:schemeClr val="accent2"/>
                </a:solidFill>
                <a:latin typeface="Google Sans"/>
                <a:ea typeface="+mn-ea"/>
                <a:cs typeface="+mn-cs"/>
              </a:rPr>
              <a:t>1. </a:t>
            </a:r>
            <a:r>
              <a:rPr lang="en-US" sz="1500" dirty="0" err="1">
                <a:solidFill>
                  <a:schemeClr val="accent2"/>
                </a:solidFill>
                <a:latin typeface="Google Sans"/>
                <a:ea typeface="+mn-ea"/>
                <a:cs typeface="+mn-cs"/>
              </a:rPr>
              <a:t>DataReader</a:t>
            </a:r>
            <a:r>
              <a:rPr lang="en-US" sz="1500" dirty="0">
                <a:solidFill>
                  <a:schemeClr val="accent2"/>
                </a:solidFill>
                <a:latin typeface="Google Sans"/>
                <a:ea typeface="+mn-ea"/>
                <a:cs typeface="+mn-cs"/>
              </a:rPr>
              <a:t> (Connected, Forward-Only)</a:t>
            </a:r>
          </a:p>
          <a:p>
            <a:r>
              <a:rPr lang="en-US" sz="1500" dirty="0">
                <a:solidFill>
                  <a:schemeClr val="accent6"/>
                </a:solidFill>
                <a:latin typeface="Google Sans"/>
                <a:ea typeface="+mn-ea"/>
                <a:cs typeface="+mn-cs"/>
              </a:rPr>
              <a:t>Best for fast, read-only, streaming access.</a:t>
            </a:r>
          </a:p>
          <a:p>
            <a:r>
              <a:rPr lang="en-US" sz="1500" dirty="0">
                <a:solidFill>
                  <a:schemeClr val="accent6"/>
                </a:solidFill>
                <a:latin typeface="Google Sans"/>
                <a:ea typeface="+mn-ea"/>
                <a:cs typeface="+mn-cs"/>
              </a:rPr>
              <a:t>using var reader = await </a:t>
            </a:r>
            <a:r>
              <a:rPr lang="en-US" sz="1500" dirty="0" err="1">
                <a:solidFill>
                  <a:schemeClr val="accent6"/>
                </a:solidFill>
                <a:latin typeface="Google Sans"/>
                <a:ea typeface="+mn-ea"/>
                <a:cs typeface="+mn-cs"/>
              </a:rPr>
              <a:t>cmd.ExecuteReaderAsync</a:t>
            </a:r>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while (await </a:t>
            </a:r>
            <a:r>
              <a:rPr lang="en-US" sz="1500" dirty="0" err="1">
                <a:solidFill>
                  <a:schemeClr val="accent6"/>
                </a:solidFill>
                <a:latin typeface="Google Sans"/>
                <a:ea typeface="+mn-ea"/>
                <a:cs typeface="+mn-cs"/>
              </a:rPr>
              <a:t>reader.ReadAsync</a:t>
            </a:r>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    </a:t>
            </a:r>
            <a:r>
              <a:rPr lang="en-US" sz="1500" dirty="0" err="1">
                <a:solidFill>
                  <a:schemeClr val="accent6"/>
                </a:solidFill>
                <a:latin typeface="Google Sans"/>
                <a:ea typeface="+mn-ea"/>
                <a:cs typeface="+mn-cs"/>
              </a:rPr>
              <a:t>Console.WriteLine</a:t>
            </a:r>
            <a:r>
              <a:rPr lang="en-US" sz="1500" dirty="0">
                <a:solidFill>
                  <a:schemeClr val="accent6"/>
                </a:solidFill>
                <a:latin typeface="Google Sans"/>
                <a:ea typeface="+mn-ea"/>
                <a:cs typeface="+mn-cs"/>
              </a:rPr>
              <a:t>(reader["Column"]);</a:t>
            </a:r>
          </a:p>
          <a:p>
            <a:r>
              <a:rPr lang="en-US" sz="1500" dirty="0">
                <a:solidFill>
                  <a:schemeClr val="accent2"/>
                </a:solidFill>
                <a:latin typeface="Google Sans"/>
                <a:ea typeface="+mn-ea"/>
                <a:cs typeface="+mn-cs"/>
              </a:rPr>
              <a:t>Pros</a:t>
            </a:r>
          </a:p>
          <a:p>
            <a:r>
              <a:rPr lang="en-US" sz="1500" dirty="0">
                <a:solidFill>
                  <a:schemeClr val="accent6"/>
                </a:solidFill>
                <a:latin typeface="Google Sans"/>
                <a:ea typeface="+mn-ea"/>
                <a:cs typeface="+mn-cs"/>
              </a:rPr>
              <a:t>Very low memory.</a:t>
            </a:r>
          </a:p>
          <a:p>
            <a:r>
              <a:rPr lang="en-US" sz="1500" dirty="0">
                <a:solidFill>
                  <a:schemeClr val="accent6"/>
                </a:solidFill>
                <a:latin typeface="Google Sans"/>
                <a:ea typeface="+mn-ea"/>
                <a:cs typeface="+mn-cs"/>
              </a:rPr>
              <a:t>Fast.</a:t>
            </a:r>
          </a:p>
          <a:p>
            <a:r>
              <a:rPr lang="en-US" sz="1500" dirty="0">
                <a:solidFill>
                  <a:schemeClr val="accent2"/>
                </a:solidFill>
                <a:latin typeface="Google Sans"/>
                <a:ea typeface="+mn-ea"/>
                <a:cs typeface="+mn-cs"/>
              </a:rPr>
              <a:t>Cons</a:t>
            </a:r>
          </a:p>
          <a:p>
            <a:r>
              <a:rPr lang="en-US" sz="1500" dirty="0">
                <a:solidFill>
                  <a:schemeClr val="accent6"/>
                </a:solidFill>
                <a:latin typeface="Google Sans"/>
                <a:ea typeface="+mn-ea"/>
                <a:cs typeface="+mn-cs"/>
              </a:rPr>
              <a:t>Must keep connection open.</a:t>
            </a:r>
          </a:p>
          <a:p>
            <a:r>
              <a:rPr lang="en-US" sz="1500" dirty="0">
                <a:solidFill>
                  <a:schemeClr val="accent6"/>
                </a:solidFill>
                <a:latin typeface="Google Sans"/>
                <a:ea typeface="+mn-ea"/>
                <a:cs typeface="+mn-cs"/>
              </a:rPr>
              <a:t>Forward-only.</a:t>
            </a:r>
          </a:p>
          <a:p>
            <a:r>
              <a:rPr lang="en-US" sz="1500" dirty="0">
                <a:solidFill>
                  <a:schemeClr val="accent2"/>
                </a:solidFill>
                <a:latin typeface="Google Sans"/>
                <a:ea typeface="+mn-ea"/>
                <a:cs typeface="+mn-cs"/>
              </a:rPr>
              <a:t>Gotcha</a:t>
            </a:r>
          </a:p>
          <a:p>
            <a:r>
              <a:rPr lang="en-US" sz="1500" dirty="0">
                <a:solidFill>
                  <a:schemeClr val="accent6"/>
                </a:solidFill>
                <a:latin typeface="Google Sans"/>
                <a:ea typeface="+mn-ea"/>
                <a:cs typeface="+mn-cs"/>
              </a:rPr>
              <a:t>Never call blocking calls inside a reader on async methods.</a:t>
            </a:r>
          </a:p>
        </p:txBody>
      </p:sp>
    </p:spTree>
    <p:extLst>
      <p:ext uri="{BB962C8B-B14F-4D97-AF65-F5344CB8AC3E}">
        <p14:creationId xmlns:p14="http://schemas.microsoft.com/office/powerpoint/2010/main" val="2980207247"/>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86BF7-3D55-C744-F3C6-D18877C8231D}"/>
            </a:ext>
          </a:extLst>
        </p:cNvPr>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FCDBEC22-1260-1565-3CF4-5B95D168F69E}"/>
              </a:ext>
            </a:extLst>
          </p:cNvPr>
          <p:cNvGraphicFramePr/>
          <p:nvPr/>
        </p:nvGraphicFramePr>
        <p:xfrm>
          <a:off x="0" y="76201"/>
          <a:ext cx="9144000" cy="5900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52E95055-17F8-920F-B19D-2F8843BBB9F7}"/>
              </a:ext>
            </a:extLst>
          </p:cNvPr>
          <p:cNvSpPr txBox="1">
            <a:spLocks/>
          </p:cNvSpPr>
          <p:nvPr/>
        </p:nvSpPr>
        <p:spPr>
          <a:xfrm>
            <a:off x="138063" y="12192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endParaRPr lang="en-US" sz="2000" kern="0" spc="-220" dirty="0">
              <a:solidFill>
                <a:schemeClr val="accent6"/>
              </a:solidFill>
            </a:endParaRPr>
          </a:p>
        </p:txBody>
      </p:sp>
      <p:sp>
        <p:nvSpPr>
          <p:cNvPr id="15" name="object 2">
            <a:extLst>
              <a:ext uri="{FF2B5EF4-FFF2-40B4-BE49-F238E27FC236}">
                <a16:creationId xmlns:a16="http://schemas.microsoft.com/office/drawing/2014/main" id="{90F77D8D-656F-68D1-D469-477660543C70}"/>
              </a:ext>
            </a:extLst>
          </p:cNvPr>
          <p:cNvSpPr txBox="1">
            <a:spLocks/>
          </p:cNvSpPr>
          <p:nvPr/>
        </p:nvSpPr>
        <p:spPr>
          <a:xfrm>
            <a:off x="304800" y="5105400"/>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6"/>
                </a:solidFill>
              </a:rPr>
              <a:t> </a:t>
            </a:r>
          </a:p>
        </p:txBody>
      </p:sp>
      <p:sp>
        <p:nvSpPr>
          <p:cNvPr id="2" name="object 2">
            <a:extLst>
              <a:ext uri="{FF2B5EF4-FFF2-40B4-BE49-F238E27FC236}">
                <a16:creationId xmlns:a16="http://schemas.microsoft.com/office/drawing/2014/main" id="{B9C906E2-51C4-BA56-7167-2FA8EE8680CB}"/>
              </a:ext>
            </a:extLst>
          </p:cNvPr>
          <p:cNvSpPr txBox="1">
            <a:spLocks/>
          </p:cNvSpPr>
          <p:nvPr/>
        </p:nvSpPr>
        <p:spPr>
          <a:xfrm>
            <a:off x="131778" y="667838"/>
            <a:ext cx="8624937" cy="48474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 Core Architecture &amp; Components</a:t>
            </a:r>
          </a:p>
          <a:p>
            <a:r>
              <a:rPr lang="en-US" sz="1500" dirty="0">
                <a:solidFill>
                  <a:schemeClr val="accent2"/>
                </a:solidFill>
                <a:latin typeface="Google Sans"/>
                <a:ea typeface="+mn-ea"/>
                <a:cs typeface="+mn-cs"/>
              </a:rPr>
              <a:t>🧠 Connection Model</a:t>
            </a:r>
          </a:p>
          <a:p>
            <a:r>
              <a:rPr lang="en-US" sz="1500" dirty="0">
                <a:solidFill>
                  <a:schemeClr val="accent2"/>
                </a:solidFill>
                <a:latin typeface="Google Sans"/>
                <a:ea typeface="+mn-ea"/>
                <a:cs typeface="+mn-cs"/>
              </a:rPr>
              <a:t>📊 Data Retrieval Patterns</a:t>
            </a:r>
          </a:p>
          <a:p>
            <a:r>
              <a:rPr lang="en-US" sz="1500" dirty="0">
                <a:solidFill>
                  <a:schemeClr val="accent2"/>
                </a:solidFill>
                <a:latin typeface="Google Sans"/>
                <a:ea typeface="+mn-ea"/>
                <a:cs typeface="+mn-cs"/>
              </a:rPr>
              <a:t>2. </a:t>
            </a:r>
            <a:r>
              <a:rPr lang="en-US" sz="1500" dirty="0" err="1">
                <a:solidFill>
                  <a:schemeClr val="accent2"/>
                </a:solidFill>
                <a:latin typeface="Google Sans"/>
                <a:ea typeface="+mn-ea"/>
                <a:cs typeface="+mn-cs"/>
              </a:rPr>
              <a:t>DataAdapter</a:t>
            </a:r>
            <a:r>
              <a:rPr lang="en-US" sz="1500" dirty="0">
                <a:solidFill>
                  <a:schemeClr val="accent2"/>
                </a:solidFill>
                <a:latin typeface="Google Sans"/>
                <a:ea typeface="+mn-ea"/>
                <a:cs typeface="+mn-cs"/>
              </a:rPr>
              <a:t> + </a:t>
            </a:r>
            <a:r>
              <a:rPr lang="en-US" sz="1500" dirty="0" err="1">
                <a:solidFill>
                  <a:schemeClr val="accent2"/>
                </a:solidFill>
                <a:latin typeface="Google Sans"/>
                <a:ea typeface="+mn-ea"/>
                <a:cs typeface="+mn-cs"/>
              </a:rPr>
              <a:t>DataSet</a:t>
            </a:r>
            <a:r>
              <a:rPr lang="en-US" sz="1500" dirty="0">
                <a:solidFill>
                  <a:schemeClr val="accent2"/>
                </a:solidFill>
                <a:latin typeface="Google Sans"/>
                <a:ea typeface="+mn-ea"/>
                <a:cs typeface="+mn-cs"/>
              </a:rPr>
              <a:t>/</a:t>
            </a:r>
            <a:r>
              <a:rPr lang="en-US" sz="1500" dirty="0" err="1">
                <a:solidFill>
                  <a:schemeClr val="accent2"/>
                </a:solidFill>
                <a:latin typeface="Google Sans"/>
                <a:ea typeface="+mn-ea"/>
                <a:cs typeface="+mn-cs"/>
              </a:rPr>
              <a:t>DataTable</a:t>
            </a:r>
            <a:r>
              <a:rPr lang="en-US" sz="1500" dirty="0">
                <a:solidFill>
                  <a:schemeClr val="accent2"/>
                </a:solidFill>
                <a:latin typeface="Google Sans"/>
                <a:ea typeface="+mn-ea"/>
                <a:cs typeface="+mn-cs"/>
              </a:rPr>
              <a:t> (Disconnected)</a:t>
            </a:r>
          </a:p>
          <a:p>
            <a:r>
              <a:rPr lang="en-US" sz="1500" dirty="0">
                <a:solidFill>
                  <a:schemeClr val="accent6"/>
                </a:solidFill>
                <a:latin typeface="Google Sans"/>
                <a:ea typeface="+mn-ea"/>
                <a:cs typeface="+mn-cs"/>
              </a:rPr>
              <a:t>Fetch all data, then work offline.</a:t>
            </a:r>
          </a:p>
          <a:p>
            <a:r>
              <a:rPr lang="en-US" sz="1500" dirty="0">
                <a:solidFill>
                  <a:schemeClr val="accent6"/>
                </a:solidFill>
                <a:latin typeface="Google Sans"/>
                <a:ea typeface="+mn-ea"/>
                <a:cs typeface="+mn-cs"/>
              </a:rPr>
              <a:t>var adapter = new </a:t>
            </a:r>
            <a:r>
              <a:rPr lang="en-US" sz="1500" dirty="0" err="1">
                <a:solidFill>
                  <a:schemeClr val="accent6"/>
                </a:solidFill>
                <a:latin typeface="Google Sans"/>
                <a:ea typeface="+mn-ea"/>
                <a:cs typeface="+mn-cs"/>
              </a:rPr>
              <a:t>SqlDataAdapter</a:t>
            </a:r>
            <a:r>
              <a:rPr lang="en-US" sz="1500" dirty="0">
                <a:solidFill>
                  <a:schemeClr val="accent6"/>
                </a:solidFill>
                <a:latin typeface="Google Sans"/>
                <a:ea typeface="+mn-ea"/>
                <a:cs typeface="+mn-cs"/>
              </a:rPr>
              <a:t>(</a:t>
            </a:r>
            <a:r>
              <a:rPr lang="en-US" sz="1500" dirty="0" err="1">
                <a:solidFill>
                  <a:schemeClr val="accent6"/>
                </a:solidFill>
                <a:latin typeface="Google Sans"/>
                <a:ea typeface="+mn-ea"/>
                <a:cs typeface="+mn-cs"/>
              </a:rPr>
              <a:t>cmd</a:t>
            </a:r>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var table = new </a:t>
            </a:r>
            <a:r>
              <a:rPr lang="en-US" sz="1500" dirty="0" err="1">
                <a:solidFill>
                  <a:schemeClr val="accent6"/>
                </a:solidFill>
                <a:latin typeface="Google Sans"/>
                <a:ea typeface="+mn-ea"/>
                <a:cs typeface="+mn-cs"/>
              </a:rPr>
              <a:t>DataTable</a:t>
            </a:r>
            <a:r>
              <a:rPr lang="en-US" sz="1500" dirty="0">
                <a:solidFill>
                  <a:schemeClr val="accent6"/>
                </a:solidFill>
                <a:latin typeface="Google Sans"/>
                <a:ea typeface="+mn-ea"/>
                <a:cs typeface="+mn-cs"/>
              </a:rPr>
              <a:t>();</a:t>
            </a:r>
          </a:p>
          <a:p>
            <a:r>
              <a:rPr lang="en-US" sz="1500" dirty="0" err="1">
                <a:solidFill>
                  <a:schemeClr val="accent6"/>
                </a:solidFill>
                <a:latin typeface="Google Sans"/>
                <a:ea typeface="+mn-ea"/>
                <a:cs typeface="+mn-cs"/>
              </a:rPr>
              <a:t>adapter.Fill</a:t>
            </a:r>
            <a:r>
              <a:rPr lang="en-US" sz="1500" dirty="0">
                <a:solidFill>
                  <a:schemeClr val="accent6"/>
                </a:solidFill>
                <a:latin typeface="Google Sans"/>
                <a:ea typeface="+mn-ea"/>
                <a:cs typeface="+mn-cs"/>
              </a:rPr>
              <a:t>(table);</a:t>
            </a:r>
          </a:p>
          <a:p>
            <a:r>
              <a:rPr lang="en-US" sz="1500" dirty="0">
                <a:solidFill>
                  <a:schemeClr val="accent2"/>
                </a:solidFill>
                <a:latin typeface="Google Sans"/>
                <a:ea typeface="+mn-ea"/>
                <a:cs typeface="+mn-cs"/>
              </a:rPr>
              <a:t>Use Cases</a:t>
            </a:r>
          </a:p>
          <a:p>
            <a:r>
              <a:rPr lang="en-US" sz="1500" dirty="0">
                <a:solidFill>
                  <a:schemeClr val="accent6"/>
                </a:solidFill>
                <a:latin typeface="Google Sans"/>
                <a:ea typeface="+mn-ea"/>
                <a:cs typeface="+mn-cs"/>
              </a:rPr>
              <a:t>Bulk fetch, offline editing.</a:t>
            </a:r>
          </a:p>
          <a:p>
            <a:r>
              <a:rPr lang="en-US" sz="1500" dirty="0">
                <a:solidFill>
                  <a:schemeClr val="accent6"/>
                </a:solidFill>
                <a:latin typeface="Google Sans"/>
                <a:ea typeface="+mn-ea"/>
                <a:cs typeface="+mn-cs"/>
              </a:rPr>
              <a:t>Binding to UI grids.</a:t>
            </a:r>
          </a:p>
          <a:p>
            <a:r>
              <a:rPr lang="en-US" sz="1500" dirty="0">
                <a:solidFill>
                  <a:schemeClr val="accent2"/>
                </a:solidFill>
                <a:latin typeface="Google Sans"/>
                <a:ea typeface="+mn-ea"/>
                <a:cs typeface="+mn-cs"/>
              </a:rPr>
              <a:t>Gotchas</a:t>
            </a:r>
          </a:p>
          <a:p>
            <a:r>
              <a:rPr lang="en-US" sz="1500" dirty="0">
                <a:solidFill>
                  <a:schemeClr val="accent6"/>
                </a:solidFill>
                <a:latin typeface="Google Sans"/>
                <a:ea typeface="+mn-ea"/>
                <a:cs typeface="+mn-cs"/>
              </a:rPr>
              <a:t>Memory heavy for large tables.</a:t>
            </a:r>
          </a:p>
          <a:p>
            <a:r>
              <a:rPr lang="en-US" sz="1500" dirty="0">
                <a:solidFill>
                  <a:schemeClr val="accent6"/>
                </a:solidFill>
                <a:latin typeface="Google Sans"/>
                <a:ea typeface="+mn-ea"/>
                <a:cs typeface="+mn-cs"/>
              </a:rPr>
              <a:t>Requires careful concurrency handling.</a:t>
            </a:r>
          </a:p>
          <a:p>
            <a:r>
              <a:rPr lang="en-US" sz="1500" dirty="0">
                <a:solidFill>
                  <a:schemeClr val="accent2"/>
                </a:solidFill>
                <a:latin typeface="Google Sans"/>
                <a:ea typeface="+mn-ea"/>
                <a:cs typeface="+mn-cs"/>
              </a:rPr>
              <a:t>3. </a:t>
            </a:r>
            <a:r>
              <a:rPr lang="en-US" sz="1500" dirty="0" err="1">
                <a:solidFill>
                  <a:schemeClr val="accent2"/>
                </a:solidFill>
                <a:latin typeface="Google Sans"/>
                <a:ea typeface="+mn-ea"/>
                <a:cs typeface="+mn-cs"/>
              </a:rPr>
              <a:t>DataTable</a:t>
            </a:r>
            <a:endParaRPr lang="en-US" sz="1500" dirty="0">
              <a:solidFill>
                <a:schemeClr val="accent2"/>
              </a:solidFill>
              <a:latin typeface="Google Sans"/>
              <a:ea typeface="+mn-ea"/>
              <a:cs typeface="+mn-cs"/>
            </a:endParaRPr>
          </a:p>
          <a:p>
            <a:r>
              <a:rPr lang="en-US" sz="1500" dirty="0">
                <a:solidFill>
                  <a:schemeClr val="accent2"/>
                </a:solidFill>
                <a:latin typeface="Google Sans"/>
                <a:ea typeface="+mn-ea"/>
                <a:cs typeface="+mn-cs"/>
              </a:rPr>
              <a:t>Tabular, in-memory data store.</a:t>
            </a:r>
          </a:p>
          <a:p>
            <a:r>
              <a:rPr lang="en-US" sz="1500" dirty="0">
                <a:solidFill>
                  <a:schemeClr val="accent2"/>
                </a:solidFill>
                <a:latin typeface="Google Sans"/>
                <a:ea typeface="+mn-ea"/>
                <a:cs typeface="+mn-cs"/>
              </a:rPr>
              <a:t>Feature	Support</a:t>
            </a:r>
          </a:p>
          <a:p>
            <a:r>
              <a:rPr lang="en-US" sz="1500" dirty="0">
                <a:solidFill>
                  <a:schemeClr val="accent6"/>
                </a:solidFill>
                <a:latin typeface="Google Sans"/>
                <a:ea typeface="+mn-ea"/>
                <a:cs typeface="+mn-cs"/>
              </a:rPr>
              <a:t>Schema	Yes</a:t>
            </a:r>
          </a:p>
          <a:p>
            <a:r>
              <a:rPr lang="en-US" sz="1500" dirty="0">
                <a:solidFill>
                  <a:schemeClr val="accent6"/>
                </a:solidFill>
                <a:latin typeface="Google Sans"/>
                <a:ea typeface="+mn-ea"/>
                <a:cs typeface="+mn-cs"/>
              </a:rPr>
              <a:t>Relations	Yes</a:t>
            </a:r>
          </a:p>
          <a:p>
            <a:r>
              <a:rPr lang="en-US" sz="1500" dirty="0">
                <a:solidFill>
                  <a:schemeClr val="accent6"/>
                </a:solidFill>
                <a:latin typeface="Google Sans"/>
                <a:ea typeface="+mn-ea"/>
                <a:cs typeface="+mn-cs"/>
              </a:rPr>
              <a:t>Filtering	Yes</a:t>
            </a:r>
          </a:p>
          <a:p>
            <a:r>
              <a:rPr lang="en-US" sz="1500" dirty="0">
                <a:solidFill>
                  <a:schemeClr val="accent6"/>
                </a:solidFill>
                <a:latin typeface="Google Sans"/>
                <a:ea typeface="+mn-ea"/>
                <a:cs typeface="+mn-cs"/>
              </a:rPr>
              <a:t>Sorting	Yes</a:t>
            </a:r>
          </a:p>
        </p:txBody>
      </p:sp>
    </p:spTree>
    <p:extLst>
      <p:ext uri="{BB962C8B-B14F-4D97-AF65-F5344CB8AC3E}">
        <p14:creationId xmlns:p14="http://schemas.microsoft.com/office/powerpoint/2010/main" val="2437538401"/>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8578B-F5E5-EA31-5AC7-E99D6941ADC7}"/>
            </a:ext>
          </a:extLst>
        </p:cNvPr>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D176AD16-F920-1A0E-D7A8-A0DF7B04354E}"/>
              </a:ext>
            </a:extLst>
          </p:cNvPr>
          <p:cNvGraphicFramePr/>
          <p:nvPr/>
        </p:nvGraphicFramePr>
        <p:xfrm>
          <a:off x="0" y="76201"/>
          <a:ext cx="9144000" cy="5900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9154981D-28D7-F83F-8D7F-9A2D470BC78B}"/>
              </a:ext>
            </a:extLst>
          </p:cNvPr>
          <p:cNvSpPr txBox="1">
            <a:spLocks/>
          </p:cNvSpPr>
          <p:nvPr/>
        </p:nvSpPr>
        <p:spPr>
          <a:xfrm>
            <a:off x="138063" y="12192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endParaRPr lang="en-US" sz="2000" kern="0" spc="-220" dirty="0">
              <a:solidFill>
                <a:schemeClr val="accent6"/>
              </a:solidFill>
            </a:endParaRPr>
          </a:p>
        </p:txBody>
      </p:sp>
      <p:sp>
        <p:nvSpPr>
          <p:cNvPr id="15" name="object 2">
            <a:extLst>
              <a:ext uri="{FF2B5EF4-FFF2-40B4-BE49-F238E27FC236}">
                <a16:creationId xmlns:a16="http://schemas.microsoft.com/office/drawing/2014/main" id="{451B363D-1B7F-D97E-41E1-433E1562A31B}"/>
              </a:ext>
            </a:extLst>
          </p:cNvPr>
          <p:cNvSpPr txBox="1">
            <a:spLocks/>
          </p:cNvSpPr>
          <p:nvPr/>
        </p:nvSpPr>
        <p:spPr>
          <a:xfrm>
            <a:off x="304800" y="5105400"/>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6"/>
                </a:solidFill>
              </a:rPr>
              <a:t> </a:t>
            </a:r>
          </a:p>
        </p:txBody>
      </p:sp>
      <p:sp>
        <p:nvSpPr>
          <p:cNvPr id="2" name="object 2">
            <a:extLst>
              <a:ext uri="{FF2B5EF4-FFF2-40B4-BE49-F238E27FC236}">
                <a16:creationId xmlns:a16="http://schemas.microsoft.com/office/drawing/2014/main" id="{A44C758C-0AC6-4F0F-B53F-6350024011F7}"/>
              </a:ext>
            </a:extLst>
          </p:cNvPr>
          <p:cNvSpPr txBox="1">
            <a:spLocks/>
          </p:cNvSpPr>
          <p:nvPr/>
        </p:nvSpPr>
        <p:spPr>
          <a:xfrm>
            <a:off x="131778" y="667838"/>
            <a:ext cx="8624937" cy="48474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 Core Architecture &amp; Components</a:t>
            </a:r>
          </a:p>
          <a:p>
            <a:r>
              <a:rPr lang="en-US" sz="1500" dirty="0">
                <a:solidFill>
                  <a:schemeClr val="accent2"/>
                </a:solidFill>
                <a:latin typeface="Google Sans"/>
                <a:ea typeface="+mn-ea"/>
                <a:cs typeface="+mn-cs"/>
              </a:rPr>
              <a:t>🌀 Transactions</a:t>
            </a:r>
          </a:p>
          <a:p>
            <a:r>
              <a:rPr lang="en-US" sz="1500" dirty="0">
                <a:solidFill>
                  <a:schemeClr val="accent6"/>
                </a:solidFill>
                <a:latin typeface="Google Sans"/>
                <a:ea typeface="+mn-ea"/>
                <a:cs typeface="+mn-cs"/>
              </a:rPr>
              <a:t>using var </a:t>
            </a:r>
            <a:r>
              <a:rPr lang="en-US" sz="1500" dirty="0" err="1">
                <a:solidFill>
                  <a:schemeClr val="accent6"/>
                </a:solidFill>
                <a:latin typeface="Google Sans"/>
                <a:ea typeface="+mn-ea"/>
                <a:cs typeface="+mn-cs"/>
              </a:rPr>
              <a:t>tx</a:t>
            </a:r>
            <a:r>
              <a:rPr lang="en-US" sz="1500" dirty="0">
                <a:solidFill>
                  <a:schemeClr val="accent6"/>
                </a:solidFill>
                <a:latin typeface="Google Sans"/>
                <a:ea typeface="+mn-ea"/>
                <a:cs typeface="+mn-cs"/>
              </a:rPr>
              <a:t> = </a:t>
            </a:r>
            <a:r>
              <a:rPr lang="en-US" sz="1500" dirty="0" err="1">
                <a:solidFill>
                  <a:schemeClr val="accent6"/>
                </a:solidFill>
                <a:latin typeface="Google Sans"/>
                <a:ea typeface="+mn-ea"/>
                <a:cs typeface="+mn-cs"/>
              </a:rPr>
              <a:t>conn.BeginTransaction</a:t>
            </a:r>
            <a:r>
              <a:rPr lang="en-US" sz="1500" dirty="0">
                <a:solidFill>
                  <a:schemeClr val="accent6"/>
                </a:solidFill>
                <a:latin typeface="Google Sans"/>
                <a:ea typeface="+mn-ea"/>
                <a:cs typeface="+mn-cs"/>
              </a:rPr>
              <a:t>();</a:t>
            </a:r>
          </a:p>
          <a:p>
            <a:r>
              <a:rPr lang="en-US" sz="1500" dirty="0" err="1">
                <a:solidFill>
                  <a:schemeClr val="accent6"/>
                </a:solidFill>
                <a:latin typeface="Google Sans"/>
                <a:ea typeface="+mn-ea"/>
                <a:cs typeface="+mn-cs"/>
              </a:rPr>
              <a:t>cmd.Transaction</a:t>
            </a:r>
            <a:r>
              <a:rPr lang="en-US" sz="1500" dirty="0">
                <a:solidFill>
                  <a:schemeClr val="accent6"/>
                </a:solidFill>
                <a:latin typeface="Google Sans"/>
                <a:ea typeface="+mn-ea"/>
                <a:cs typeface="+mn-cs"/>
              </a:rPr>
              <a:t> = </a:t>
            </a:r>
            <a:r>
              <a:rPr lang="en-US" sz="1500" dirty="0" err="1">
                <a:solidFill>
                  <a:schemeClr val="accent6"/>
                </a:solidFill>
                <a:latin typeface="Google Sans"/>
                <a:ea typeface="+mn-ea"/>
                <a:cs typeface="+mn-cs"/>
              </a:rPr>
              <a:t>tx</a:t>
            </a:r>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try {</a:t>
            </a:r>
          </a:p>
          <a:p>
            <a:r>
              <a:rPr lang="en-US" sz="1500" dirty="0">
                <a:solidFill>
                  <a:schemeClr val="accent6"/>
                </a:solidFill>
                <a:latin typeface="Google Sans"/>
                <a:ea typeface="+mn-ea"/>
                <a:cs typeface="+mn-cs"/>
              </a:rPr>
              <a:t>    // multiple commands</a:t>
            </a:r>
          </a:p>
          <a:p>
            <a:r>
              <a:rPr lang="en-US" sz="1500" dirty="0">
                <a:solidFill>
                  <a:schemeClr val="accent6"/>
                </a:solidFill>
                <a:latin typeface="Google Sans"/>
                <a:ea typeface="+mn-ea"/>
                <a:cs typeface="+mn-cs"/>
              </a:rPr>
              <a:t>    </a:t>
            </a:r>
            <a:r>
              <a:rPr lang="en-US" sz="1500" dirty="0" err="1">
                <a:solidFill>
                  <a:schemeClr val="accent6"/>
                </a:solidFill>
                <a:latin typeface="Google Sans"/>
                <a:ea typeface="+mn-ea"/>
                <a:cs typeface="+mn-cs"/>
              </a:rPr>
              <a:t>tx.Commit</a:t>
            </a:r>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 catch {</a:t>
            </a:r>
          </a:p>
          <a:p>
            <a:r>
              <a:rPr lang="en-US" sz="1500" dirty="0">
                <a:solidFill>
                  <a:schemeClr val="accent6"/>
                </a:solidFill>
                <a:latin typeface="Google Sans"/>
                <a:ea typeface="+mn-ea"/>
                <a:cs typeface="+mn-cs"/>
              </a:rPr>
              <a:t>    </a:t>
            </a:r>
            <a:r>
              <a:rPr lang="en-US" sz="1500" dirty="0" err="1">
                <a:solidFill>
                  <a:schemeClr val="accent6"/>
                </a:solidFill>
                <a:latin typeface="Google Sans"/>
                <a:ea typeface="+mn-ea"/>
                <a:cs typeface="+mn-cs"/>
              </a:rPr>
              <a:t>tx.Rollback</a:t>
            </a:r>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a:t>
            </a:r>
          </a:p>
          <a:p>
            <a:r>
              <a:rPr lang="en-US" sz="1500" dirty="0">
                <a:solidFill>
                  <a:schemeClr val="accent2"/>
                </a:solidFill>
                <a:latin typeface="Google Sans"/>
                <a:ea typeface="+mn-ea"/>
                <a:cs typeface="+mn-cs"/>
              </a:rPr>
              <a:t>Points</a:t>
            </a:r>
          </a:p>
          <a:p>
            <a:r>
              <a:rPr lang="en-US" sz="1500" dirty="0">
                <a:solidFill>
                  <a:schemeClr val="accent6"/>
                </a:solidFill>
                <a:latin typeface="Google Sans"/>
                <a:ea typeface="+mn-ea"/>
                <a:cs typeface="+mn-cs"/>
              </a:rPr>
              <a:t>Ensures data consistency.</a:t>
            </a:r>
          </a:p>
          <a:p>
            <a:r>
              <a:rPr lang="en-US" sz="1500" dirty="0">
                <a:solidFill>
                  <a:schemeClr val="accent6"/>
                </a:solidFill>
                <a:latin typeface="Google Sans"/>
                <a:ea typeface="+mn-ea"/>
                <a:cs typeface="+mn-cs"/>
              </a:rPr>
              <a:t>Use appropriate isolation level (</a:t>
            </a:r>
            <a:r>
              <a:rPr lang="en-US" sz="1500" dirty="0" err="1">
                <a:solidFill>
                  <a:schemeClr val="accent6"/>
                </a:solidFill>
                <a:latin typeface="Google Sans"/>
                <a:ea typeface="+mn-ea"/>
                <a:cs typeface="+mn-cs"/>
              </a:rPr>
              <a:t>ReadCommitted</a:t>
            </a:r>
            <a:r>
              <a:rPr lang="en-US" sz="1500" dirty="0">
                <a:solidFill>
                  <a:schemeClr val="accent6"/>
                </a:solidFill>
                <a:latin typeface="Google Sans"/>
                <a:ea typeface="+mn-ea"/>
                <a:cs typeface="+mn-cs"/>
              </a:rPr>
              <a:t>, Serializable, etc.)</a:t>
            </a:r>
          </a:p>
          <a:p>
            <a:r>
              <a:rPr lang="en-US" sz="1500" dirty="0">
                <a:solidFill>
                  <a:schemeClr val="accent6"/>
                </a:solidFill>
                <a:latin typeface="Google Sans"/>
                <a:ea typeface="+mn-ea"/>
                <a:cs typeface="+mn-cs"/>
              </a:rPr>
              <a:t>Isolation Gotchas</a:t>
            </a:r>
          </a:p>
          <a:p>
            <a:r>
              <a:rPr lang="en-US" sz="1500" dirty="0">
                <a:solidFill>
                  <a:schemeClr val="accent6"/>
                </a:solidFill>
                <a:latin typeface="Google Sans"/>
                <a:ea typeface="+mn-ea"/>
                <a:cs typeface="+mn-cs"/>
              </a:rPr>
              <a:t>Higher isolation =&gt; more blocking/locking =&gt; lower concurrency.</a:t>
            </a:r>
          </a:p>
          <a:p>
            <a:r>
              <a:rPr lang="en-US" sz="1500" dirty="0">
                <a:solidFill>
                  <a:schemeClr val="accent6"/>
                </a:solidFill>
                <a:latin typeface="Google Sans"/>
                <a:ea typeface="+mn-ea"/>
                <a:cs typeface="+mn-cs"/>
              </a:rPr>
              <a:t>🪶 Parameters (Strong Typing, SQL Injection Protection)</a:t>
            </a:r>
          </a:p>
          <a:p>
            <a:r>
              <a:rPr lang="en-US" sz="1500" dirty="0" err="1">
                <a:solidFill>
                  <a:schemeClr val="accent6"/>
                </a:solidFill>
                <a:latin typeface="Google Sans"/>
                <a:ea typeface="+mn-ea"/>
                <a:cs typeface="+mn-cs"/>
              </a:rPr>
              <a:t>cmd.CommandText</a:t>
            </a:r>
            <a:r>
              <a:rPr lang="en-US" sz="1500" dirty="0">
                <a:solidFill>
                  <a:schemeClr val="accent6"/>
                </a:solidFill>
                <a:latin typeface="Google Sans"/>
                <a:ea typeface="+mn-ea"/>
                <a:cs typeface="+mn-cs"/>
              </a:rPr>
              <a:t> = "SELECT * FROM Users WHERE Id = @id";</a:t>
            </a:r>
          </a:p>
          <a:p>
            <a:r>
              <a:rPr lang="en-US" sz="1500" dirty="0" err="1">
                <a:solidFill>
                  <a:schemeClr val="accent6"/>
                </a:solidFill>
                <a:latin typeface="Google Sans"/>
                <a:ea typeface="+mn-ea"/>
                <a:cs typeface="+mn-cs"/>
              </a:rPr>
              <a:t>cmd.Parameters.AddWithValue</a:t>
            </a:r>
            <a:r>
              <a:rPr lang="en-US" sz="1500" dirty="0">
                <a:solidFill>
                  <a:schemeClr val="accent6"/>
                </a:solidFill>
                <a:latin typeface="Google Sans"/>
                <a:ea typeface="+mn-ea"/>
                <a:cs typeface="+mn-cs"/>
              </a:rPr>
              <a:t>("@id", </a:t>
            </a:r>
            <a:r>
              <a:rPr lang="en-US" sz="1500" dirty="0" err="1">
                <a:solidFill>
                  <a:schemeClr val="accent6"/>
                </a:solidFill>
                <a:latin typeface="Google Sans"/>
                <a:ea typeface="+mn-ea"/>
                <a:cs typeface="+mn-cs"/>
              </a:rPr>
              <a:t>userId</a:t>
            </a:r>
            <a:r>
              <a:rPr lang="en-US" sz="1500" dirty="0">
                <a:solidFill>
                  <a:schemeClr val="accent6"/>
                </a:solidFill>
                <a:latin typeface="Google Sans"/>
                <a:ea typeface="+mn-ea"/>
                <a:cs typeface="+mn-cs"/>
              </a:rPr>
              <a:t>);</a:t>
            </a:r>
          </a:p>
          <a:p>
            <a:r>
              <a:rPr lang="en-US" sz="1500" dirty="0">
                <a:solidFill>
                  <a:schemeClr val="accent2"/>
                </a:solidFill>
                <a:latin typeface="Google Sans"/>
                <a:ea typeface="+mn-ea"/>
                <a:cs typeface="+mn-cs"/>
              </a:rPr>
              <a:t>Best Practice</a:t>
            </a:r>
          </a:p>
          <a:p>
            <a:r>
              <a:rPr lang="en-US" sz="1500" dirty="0">
                <a:solidFill>
                  <a:schemeClr val="accent6"/>
                </a:solidFill>
                <a:latin typeface="Google Sans"/>
                <a:ea typeface="+mn-ea"/>
                <a:cs typeface="+mn-cs"/>
              </a:rPr>
              <a:t>Always use parameters instead of string concatenation.</a:t>
            </a:r>
          </a:p>
          <a:p>
            <a:r>
              <a:rPr lang="en-US" sz="1500" dirty="0">
                <a:solidFill>
                  <a:schemeClr val="accent6"/>
                </a:solidFill>
                <a:latin typeface="Google Sans"/>
                <a:ea typeface="+mn-ea"/>
                <a:cs typeface="+mn-cs"/>
              </a:rPr>
              <a:t>Explicitly set </a:t>
            </a:r>
            <a:r>
              <a:rPr lang="en-US" sz="1500" dirty="0" err="1">
                <a:solidFill>
                  <a:schemeClr val="accent6"/>
                </a:solidFill>
                <a:latin typeface="Google Sans"/>
                <a:ea typeface="+mn-ea"/>
                <a:cs typeface="+mn-cs"/>
              </a:rPr>
              <a:t>DbType</a:t>
            </a:r>
            <a:r>
              <a:rPr lang="en-US" sz="1500" dirty="0">
                <a:solidFill>
                  <a:schemeClr val="accent6"/>
                </a:solidFill>
                <a:latin typeface="Google Sans"/>
                <a:ea typeface="+mn-ea"/>
                <a:cs typeface="+mn-cs"/>
              </a:rPr>
              <a:t> for better performance.</a:t>
            </a:r>
          </a:p>
        </p:txBody>
      </p:sp>
    </p:spTree>
    <p:extLst>
      <p:ext uri="{BB962C8B-B14F-4D97-AF65-F5344CB8AC3E}">
        <p14:creationId xmlns:p14="http://schemas.microsoft.com/office/powerpoint/2010/main" val="1766294324"/>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14498-0375-7053-CDBA-77B3992835A4}"/>
            </a:ext>
          </a:extLst>
        </p:cNvPr>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AC9704EE-740F-E768-B58A-609BFED1266B}"/>
              </a:ext>
            </a:extLst>
          </p:cNvPr>
          <p:cNvGraphicFramePr/>
          <p:nvPr/>
        </p:nvGraphicFramePr>
        <p:xfrm>
          <a:off x="0" y="76201"/>
          <a:ext cx="9144000" cy="5900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0C454DA9-4641-8934-BA59-6175841E5784}"/>
              </a:ext>
            </a:extLst>
          </p:cNvPr>
          <p:cNvSpPr txBox="1">
            <a:spLocks/>
          </p:cNvSpPr>
          <p:nvPr/>
        </p:nvSpPr>
        <p:spPr>
          <a:xfrm>
            <a:off x="138063" y="12192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endParaRPr lang="en-US" sz="2000" kern="0" spc="-220" dirty="0">
              <a:solidFill>
                <a:schemeClr val="accent6"/>
              </a:solidFill>
            </a:endParaRPr>
          </a:p>
        </p:txBody>
      </p:sp>
      <p:sp>
        <p:nvSpPr>
          <p:cNvPr id="15" name="object 2">
            <a:extLst>
              <a:ext uri="{FF2B5EF4-FFF2-40B4-BE49-F238E27FC236}">
                <a16:creationId xmlns:a16="http://schemas.microsoft.com/office/drawing/2014/main" id="{62DEE026-75D8-AB64-7C3C-2E8E729D9795}"/>
              </a:ext>
            </a:extLst>
          </p:cNvPr>
          <p:cNvSpPr txBox="1">
            <a:spLocks/>
          </p:cNvSpPr>
          <p:nvPr/>
        </p:nvSpPr>
        <p:spPr>
          <a:xfrm>
            <a:off x="304800" y="5105400"/>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6"/>
                </a:solidFill>
              </a:rPr>
              <a:t> </a:t>
            </a:r>
          </a:p>
        </p:txBody>
      </p:sp>
      <p:sp>
        <p:nvSpPr>
          <p:cNvPr id="2" name="object 2">
            <a:extLst>
              <a:ext uri="{FF2B5EF4-FFF2-40B4-BE49-F238E27FC236}">
                <a16:creationId xmlns:a16="http://schemas.microsoft.com/office/drawing/2014/main" id="{8A04D867-6BEB-731E-2F86-4274F3F2382A}"/>
              </a:ext>
            </a:extLst>
          </p:cNvPr>
          <p:cNvSpPr txBox="1">
            <a:spLocks/>
          </p:cNvSpPr>
          <p:nvPr/>
        </p:nvSpPr>
        <p:spPr>
          <a:xfrm>
            <a:off x="131778" y="667838"/>
            <a:ext cx="8624937" cy="53091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 Core Architecture &amp; Components</a:t>
            </a:r>
          </a:p>
          <a:p>
            <a:r>
              <a:rPr lang="en-US" sz="1500" dirty="0">
                <a:solidFill>
                  <a:schemeClr val="accent2"/>
                </a:solidFill>
                <a:latin typeface="Google Sans"/>
                <a:ea typeface="+mn-ea"/>
                <a:cs typeface="+mn-cs"/>
              </a:rPr>
              <a:t>📦 Bulk Operations</a:t>
            </a:r>
          </a:p>
          <a:p>
            <a:r>
              <a:rPr lang="en-US" sz="1500" dirty="0" err="1">
                <a:solidFill>
                  <a:schemeClr val="accent6"/>
                </a:solidFill>
                <a:latin typeface="Google Sans"/>
                <a:ea typeface="+mn-ea"/>
                <a:cs typeface="+mn-cs"/>
              </a:rPr>
              <a:t>SqlBulkCopy</a:t>
            </a:r>
            <a:endParaRPr lang="en-US" sz="1500" dirty="0">
              <a:solidFill>
                <a:schemeClr val="accent6"/>
              </a:solidFill>
              <a:latin typeface="Google Sans"/>
              <a:ea typeface="+mn-ea"/>
              <a:cs typeface="+mn-cs"/>
            </a:endParaRPr>
          </a:p>
          <a:p>
            <a:r>
              <a:rPr lang="en-US" sz="1500" dirty="0">
                <a:solidFill>
                  <a:schemeClr val="accent6"/>
                </a:solidFill>
                <a:latin typeface="Google Sans"/>
                <a:ea typeface="+mn-ea"/>
                <a:cs typeface="+mn-cs"/>
              </a:rPr>
              <a:t>High-speed bulk insertion.</a:t>
            </a:r>
          </a:p>
          <a:p>
            <a:r>
              <a:rPr lang="en-US" sz="1500" dirty="0">
                <a:solidFill>
                  <a:schemeClr val="accent6"/>
                </a:solidFill>
                <a:latin typeface="Google Sans"/>
                <a:ea typeface="+mn-ea"/>
                <a:cs typeface="+mn-cs"/>
              </a:rPr>
              <a:t>using var bulk = new </a:t>
            </a:r>
            <a:r>
              <a:rPr lang="en-US" sz="1500" dirty="0" err="1">
                <a:solidFill>
                  <a:schemeClr val="accent6"/>
                </a:solidFill>
                <a:latin typeface="Google Sans"/>
                <a:ea typeface="+mn-ea"/>
                <a:cs typeface="+mn-cs"/>
              </a:rPr>
              <a:t>SqlBulkCopy</a:t>
            </a:r>
            <a:r>
              <a:rPr lang="en-US" sz="1500" dirty="0">
                <a:solidFill>
                  <a:schemeClr val="accent6"/>
                </a:solidFill>
                <a:latin typeface="Google Sans"/>
                <a:ea typeface="+mn-ea"/>
                <a:cs typeface="+mn-cs"/>
              </a:rPr>
              <a:t>(conn);</a:t>
            </a:r>
          </a:p>
          <a:p>
            <a:r>
              <a:rPr lang="en-US" sz="1500" dirty="0" err="1">
                <a:solidFill>
                  <a:schemeClr val="accent6"/>
                </a:solidFill>
                <a:latin typeface="Google Sans"/>
                <a:ea typeface="+mn-ea"/>
                <a:cs typeface="+mn-cs"/>
              </a:rPr>
              <a:t>bulk.DestinationTableName</a:t>
            </a:r>
            <a:r>
              <a:rPr lang="en-US" sz="1500" dirty="0">
                <a:solidFill>
                  <a:schemeClr val="accent6"/>
                </a:solidFill>
                <a:latin typeface="Google Sans"/>
                <a:ea typeface="+mn-ea"/>
                <a:cs typeface="+mn-cs"/>
              </a:rPr>
              <a:t> = "</a:t>
            </a:r>
            <a:r>
              <a:rPr lang="en-US" sz="1500" dirty="0" err="1">
                <a:solidFill>
                  <a:schemeClr val="accent6"/>
                </a:solidFill>
                <a:latin typeface="Google Sans"/>
                <a:ea typeface="+mn-ea"/>
                <a:cs typeface="+mn-cs"/>
              </a:rPr>
              <a:t>MyTable</a:t>
            </a:r>
            <a:r>
              <a:rPr lang="en-US" sz="1500" dirty="0">
                <a:solidFill>
                  <a:schemeClr val="accent6"/>
                </a:solidFill>
                <a:latin typeface="Google Sans"/>
                <a:ea typeface="+mn-ea"/>
                <a:cs typeface="+mn-cs"/>
              </a:rPr>
              <a:t>";</a:t>
            </a:r>
          </a:p>
          <a:p>
            <a:r>
              <a:rPr lang="en-US" sz="1500" dirty="0" err="1">
                <a:solidFill>
                  <a:schemeClr val="accent6"/>
                </a:solidFill>
                <a:latin typeface="Google Sans"/>
                <a:ea typeface="+mn-ea"/>
                <a:cs typeface="+mn-cs"/>
              </a:rPr>
              <a:t>bulk.WriteToServer</a:t>
            </a:r>
            <a:r>
              <a:rPr lang="en-US" sz="1500" dirty="0">
                <a:solidFill>
                  <a:schemeClr val="accent6"/>
                </a:solidFill>
                <a:latin typeface="Google Sans"/>
                <a:ea typeface="+mn-ea"/>
                <a:cs typeface="+mn-cs"/>
              </a:rPr>
              <a:t>(</a:t>
            </a:r>
            <a:r>
              <a:rPr lang="en-US" sz="1500" dirty="0" err="1">
                <a:solidFill>
                  <a:schemeClr val="accent6"/>
                </a:solidFill>
                <a:latin typeface="Google Sans"/>
                <a:ea typeface="+mn-ea"/>
                <a:cs typeface="+mn-cs"/>
              </a:rPr>
              <a:t>dataTable</a:t>
            </a:r>
            <a:r>
              <a:rPr lang="en-US" sz="1500" dirty="0">
                <a:solidFill>
                  <a:schemeClr val="accent6"/>
                </a:solidFill>
                <a:latin typeface="Google Sans"/>
                <a:ea typeface="+mn-ea"/>
                <a:cs typeface="+mn-cs"/>
              </a:rPr>
              <a:t>);</a:t>
            </a:r>
          </a:p>
          <a:p>
            <a:r>
              <a:rPr lang="en-US" sz="1500" dirty="0">
                <a:solidFill>
                  <a:schemeClr val="accent2"/>
                </a:solidFill>
                <a:latin typeface="Google Sans"/>
                <a:ea typeface="+mn-ea"/>
                <a:cs typeface="+mn-cs"/>
              </a:rPr>
              <a:t>Great for</a:t>
            </a:r>
          </a:p>
          <a:p>
            <a:r>
              <a:rPr lang="en-US" sz="1500" dirty="0">
                <a:solidFill>
                  <a:schemeClr val="accent6"/>
                </a:solidFill>
                <a:latin typeface="Google Sans"/>
                <a:ea typeface="+mn-ea"/>
                <a:cs typeface="+mn-cs"/>
              </a:rPr>
              <a:t>Loading millions of rows.</a:t>
            </a:r>
          </a:p>
          <a:p>
            <a:r>
              <a:rPr lang="en-US" sz="1500" dirty="0">
                <a:solidFill>
                  <a:schemeClr val="accent6"/>
                </a:solidFill>
                <a:latin typeface="Google Sans"/>
                <a:ea typeface="+mn-ea"/>
                <a:cs typeface="+mn-cs"/>
              </a:rPr>
              <a:t>ETL, data migration.</a:t>
            </a:r>
          </a:p>
          <a:p>
            <a:r>
              <a:rPr lang="en-US" sz="1500" dirty="0">
                <a:solidFill>
                  <a:schemeClr val="accent2"/>
                </a:solidFill>
                <a:latin typeface="Google Sans"/>
                <a:ea typeface="+mn-ea"/>
                <a:cs typeface="+mn-cs"/>
              </a:rPr>
              <a:t>🔁 Provider-Agnostic Coding</a:t>
            </a:r>
          </a:p>
          <a:p>
            <a:r>
              <a:rPr lang="en-US" sz="1500" dirty="0">
                <a:solidFill>
                  <a:schemeClr val="accent6"/>
                </a:solidFill>
                <a:latin typeface="Google Sans"/>
                <a:ea typeface="+mn-ea"/>
                <a:cs typeface="+mn-cs"/>
              </a:rPr>
              <a:t>Use </a:t>
            </a:r>
            <a:r>
              <a:rPr lang="en-US" sz="1500" dirty="0" err="1">
                <a:solidFill>
                  <a:schemeClr val="accent6"/>
                </a:solidFill>
                <a:latin typeface="Google Sans"/>
                <a:ea typeface="+mn-ea"/>
                <a:cs typeface="+mn-cs"/>
              </a:rPr>
              <a:t>DbProviderFactory</a:t>
            </a:r>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var factory = </a:t>
            </a:r>
            <a:r>
              <a:rPr lang="en-US" sz="1500" dirty="0" err="1">
                <a:solidFill>
                  <a:schemeClr val="accent6"/>
                </a:solidFill>
                <a:latin typeface="Google Sans"/>
                <a:ea typeface="+mn-ea"/>
                <a:cs typeface="+mn-cs"/>
              </a:rPr>
              <a:t>DbProviderFactories.GetFactory</a:t>
            </a:r>
            <a:r>
              <a:rPr lang="en-US" sz="1500" dirty="0">
                <a:solidFill>
                  <a:schemeClr val="accent6"/>
                </a:solidFill>
                <a:latin typeface="Google Sans"/>
                <a:ea typeface="+mn-ea"/>
                <a:cs typeface="+mn-cs"/>
              </a:rPr>
              <a:t>(</a:t>
            </a:r>
            <a:r>
              <a:rPr lang="en-US" sz="1500" dirty="0" err="1">
                <a:solidFill>
                  <a:schemeClr val="accent6"/>
                </a:solidFill>
                <a:latin typeface="Google Sans"/>
                <a:ea typeface="+mn-ea"/>
                <a:cs typeface="+mn-cs"/>
              </a:rPr>
              <a:t>providerName</a:t>
            </a:r>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using var conn = </a:t>
            </a:r>
            <a:r>
              <a:rPr lang="en-US" sz="1500" dirty="0" err="1">
                <a:solidFill>
                  <a:schemeClr val="accent6"/>
                </a:solidFill>
                <a:latin typeface="Google Sans"/>
                <a:ea typeface="+mn-ea"/>
                <a:cs typeface="+mn-cs"/>
              </a:rPr>
              <a:t>factory.CreateConnection</a:t>
            </a:r>
            <a:r>
              <a:rPr lang="en-US" sz="1500" dirty="0">
                <a:solidFill>
                  <a:schemeClr val="accent6"/>
                </a:solidFill>
                <a:latin typeface="Google Sans"/>
                <a:ea typeface="+mn-ea"/>
                <a:cs typeface="+mn-cs"/>
              </a:rPr>
              <a:t>();</a:t>
            </a:r>
          </a:p>
          <a:p>
            <a:r>
              <a:rPr lang="en-US" sz="1500" dirty="0">
                <a:solidFill>
                  <a:schemeClr val="accent2"/>
                </a:solidFill>
                <a:latin typeface="Google Sans"/>
                <a:ea typeface="+mn-ea"/>
                <a:cs typeface="+mn-cs"/>
              </a:rPr>
              <a:t>Benefits</a:t>
            </a:r>
          </a:p>
          <a:p>
            <a:r>
              <a:rPr lang="en-US" sz="1500" dirty="0">
                <a:solidFill>
                  <a:schemeClr val="accent6"/>
                </a:solidFill>
                <a:latin typeface="Google Sans"/>
                <a:ea typeface="+mn-ea"/>
                <a:cs typeface="+mn-cs"/>
              </a:rPr>
              <a:t>Switch DBs without rewriting data code.</a:t>
            </a:r>
          </a:p>
          <a:p>
            <a:r>
              <a:rPr lang="en-US" sz="1500" dirty="0">
                <a:solidFill>
                  <a:schemeClr val="accent6"/>
                </a:solidFill>
                <a:latin typeface="Google Sans"/>
                <a:ea typeface="+mn-ea"/>
                <a:cs typeface="+mn-cs"/>
              </a:rPr>
              <a:t>Useful for frameworks/tools.</a:t>
            </a:r>
          </a:p>
          <a:p>
            <a:r>
              <a:rPr lang="en-US" sz="1500" dirty="0">
                <a:solidFill>
                  <a:schemeClr val="accent2"/>
                </a:solidFill>
                <a:latin typeface="Google Sans"/>
                <a:ea typeface="+mn-ea"/>
                <a:cs typeface="+mn-cs"/>
              </a:rPr>
              <a:t>📉 Stored Procedures vs Inline SQL</a:t>
            </a:r>
          </a:p>
          <a:p>
            <a:r>
              <a:rPr lang="en-US" sz="1500" dirty="0">
                <a:solidFill>
                  <a:schemeClr val="accent2"/>
                </a:solidFill>
                <a:latin typeface="Google Sans"/>
                <a:ea typeface="+mn-ea"/>
                <a:cs typeface="+mn-cs"/>
              </a:rPr>
              <a:t>Approach	                       Pros	                                      Cons</a:t>
            </a:r>
          </a:p>
          <a:p>
            <a:r>
              <a:rPr lang="en-US" sz="1500" dirty="0">
                <a:solidFill>
                  <a:schemeClr val="accent6"/>
                </a:solidFill>
                <a:latin typeface="Google Sans"/>
                <a:ea typeface="+mn-ea"/>
                <a:cs typeface="+mn-cs"/>
              </a:rPr>
              <a:t>Inline SQL	                       Simple	                                      Harder to manage, security risk</a:t>
            </a:r>
          </a:p>
          <a:p>
            <a:r>
              <a:rPr lang="en-US" sz="1500" dirty="0">
                <a:solidFill>
                  <a:schemeClr val="accent6"/>
                </a:solidFill>
                <a:latin typeface="Google Sans"/>
                <a:ea typeface="+mn-ea"/>
                <a:cs typeface="+mn-cs"/>
              </a:rPr>
              <a:t>Stored Procedures	  Secure, precompiled	                 Deployment complexity</a:t>
            </a:r>
          </a:p>
          <a:p>
            <a:r>
              <a:rPr lang="en-US" sz="1500" dirty="0">
                <a:solidFill>
                  <a:schemeClr val="accent2"/>
                </a:solidFill>
                <a:latin typeface="Google Sans"/>
                <a:ea typeface="+mn-ea"/>
                <a:cs typeface="+mn-cs"/>
              </a:rPr>
              <a:t>Rule of Thumb</a:t>
            </a:r>
          </a:p>
          <a:p>
            <a:r>
              <a:rPr lang="en-US" sz="1500" dirty="0">
                <a:solidFill>
                  <a:schemeClr val="accent6"/>
                </a:solidFill>
                <a:latin typeface="Google Sans"/>
                <a:ea typeface="+mn-ea"/>
                <a:cs typeface="+mn-cs"/>
              </a:rPr>
              <a:t>Use stored procedures for critical data logic, inline for simple ad-hoc queries in apps.</a:t>
            </a:r>
          </a:p>
        </p:txBody>
      </p:sp>
    </p:spTree>
    <p:extLst>
      <p:ext uri="{BB962C8B-B14F-4D97-AF65-F5344CB8AC3E}">
        <p14:creationId xmlns:p14="http://schemas.microsoft.com/office/powerpoint/2010/main" val="4216481365"/>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77A0D-64C3-8EE8-B795-421FD6B3E5A2}"/>
            </a:ext>
          </a:extLst>
        </p:cNvPr>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8A5B4DCF-CC38-71EF-AD42-78E898BEECDB}"/>
              </a:ext>
            </a:extLst>
          </p:cNvPr>
          <p:cNvGraphicFramePr/>
          <p:nvPr/>
        </p:nvGraphicFramePr>
        <p:xfrm>
          <a:off x="0" y="76201"/>
          <a:ext cx="9144000" cy="5900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CDD55C3C-B099-A7F2-B151-C13ECA6CD20A}"/>
              </a:ext>
            </a:extLst>
          </p:cNvPr>
          <p:cNvSpPr txBox="1">
            <a:spLocks/>
          </p:cNvSpPr>
          <p:nvPr/>
        </p:nvSpPr>
        <p:spPr>
          <a:xfrm>
            <a:off x="138063" y="12192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endParaRPr lang="en-US" sz="2000" kern="0" spc="-220" dirty="0">
              <a:solidFill>
                <a:schemeClr val="accent6"/>
              </a:solidFill>
            </a:endParaRPr>
          </a:p>
        </p:txBody>
      </p:sp>
      <p:sp>
        <p:nvSpPr>
          <p:cNvPr id="15" name="object 2">
            <a:extLst>
              <a:ext uri="{FF2B5EF4-FFF2-40B4-BE49-F238E27FC236}">
                <a16:creationId xmlns:a16="http://schemas.microsoft.com/office/drawing/2014/main" id="{D024757B-06A5-9249-9135-25D2DC60372C}"/>
              </a:ext>
            </a:extLst>
          </p:cNvPr>
          <p:cNvSpPr txBox="1">
            <a:spLocks/>
          </p:cNvSpPr>
          <p:nvPr/>
        </p:nvSpPr>
        <p:spPr>
          <a:xfrm>
            <a:off x="304800" y="5105400"/>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6"/>
                </a:solidFill>
              </a:rPr>
              <a:t> </a:t>
            </a:r>
          </a:p>
        </p:txBody>
      </p:sp>
      <p:sp>
        <p:nvSpPr>
          <p:cNvPr id="2" name="object 2">
            <a:extLst>
              <a:ext uri="{FF2B5EF4-FFF2-40B4-BE49-F238E27FC236}">
                <a16:creationId xmlns:a16="http://schemas.microsoft.com/office/drawing/2014/main" id="{B7B56E6C-8DF9-00EF-324A-1762883A15EB}"/>
              </a:ext>
            </a:extLst>
          </p:cNvPr>
          <p:cNvSpPr txBox="1">
            <a:spLocks/>
          </p:cNvSpPr>
          <p:nvPr/>
        </p:nvSpPr>
        <p:spPr>
          <a:xfrm>
            <a:off x="131778" y="667838"/>
            <a:ext cx="8624937" cy="48474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 Design Patterns in ADO.NET</a:t>
            </a:r>
          </a:p>
          <a:p>
            <a:r>
              <a:rPr lang="en-US" sz="1500" dirty="0">
                <a:solidFill>
                  <a:schemeClr val="accent2"/>
                </a:solidFill>
                <a:latin typeface="Google Sans"/>
                <a:ea typeface="+mn-ea"/>
                <a:cs typeface="+mn-cs"/>
              </a:rPr>
              <a:t>🔹 Repository Pattern</a:t>
            </a:r>
          </a:p>
          <a:p>
            <a:r>
              <a:rPr lang="en-US" sz="1500" dirty="0">
                <a:solidFill>
                  <a:schemeClr val="accent6"/>
                </a:solidFill>
                <a:latin typeface="Google Sans"/>
                <a:ea typeface="+mn-ea"/>
                <a:cs typeface="+mn-cs"/>
              </a:rPr>
              <a:t>Abstracts data access behind interface.</a:t>
            </a:r>
          </a:p>
          <a:p>
            <a:r>
              <a:rPr lang="en-US" sz="1500" dirty="0">
                <a:solidFill>
                  <a:schemeClr val="accent6"/>
                </a:solidFill>
                <a:latin typeface="Google Sans"/>
                <a:ea typeface="+mn-ea"/>
                <a:cs typeface="+mn-cs"/>
              </a:rPr>
              <a:t>interface </a:t>
            </a:r>
            <a:r>
              <a:rPr lang="en-US" sz="1500" dirty="0" err="1">
                <a:solidFill>
                  <a:schemeClr val="accent6"/>
                </a:solidFill>
                <a:latin typeface="Google Sans"/>
                <a:ea typeface="+mn-ea"/>
                <a:cs typeface="+mn-cs"/>
              </a:rPr>
              <a:t>IUserRepo</a:t>
            </a:r>
            <a:r>
              <a:rPr lang="en-US" sz="1500" dirty="0">
                <a:solidFill>
                  <a:schemeClr val="accent6"/>
                </a:solidFill>
                <a:latin typeface="Google Sans"/>
                <a:ea typeface="+mn-ea"/>
                <a:cs typeface="+mn-cs"/>
              </a:rPr>
              <a:t> { Task&lt;User&gt; Get(int id); }</a:t>
            </a:r>
          </a:p>
          <a:p>
            <a:r>
              <a:rPr lang="en-US" sz="1500" dirty="0">
                <a:solidFill>
                  <a:schemeClr val="accent2"/>
                </a:solidFill>
                <a:latin typeface="Google Sans"/>
                <a:ea typeface="+mn-ea"/>
                <a:cs typeface="+mn-cs"/>
              </a:rPr>
              <a:t>🔹 Unit of Work</a:t>
            </a:r>
          </a:p>
          <a:p>
            <a:r>
              <a:rPr lang="en-US" sz="1500" dirty="0">
                <a:solidFill>
                  <a:schemeClr val="accent6"/>
                </a:solidFill>
                <a:latin typeface="Google Sans"/>
                <a:ea typeface="+mn-ea"/>
                <a:cs typeface="+mn-cs"/>
              </a:rPr>
              <a:t>Groups multiple operations per transaction.</a:t>
            </a:r>
          </a:p>
          <a:p>
            <a:r>
              <a:rPr lang="en-US" sz="1500" dirty="0">
                <a:solidFill>
                  <a:schemeClr val="accent2"/>
                </a:solidFill>
                <a:latin typeface="Google Sans"/>
                <a:ea typeface="+mn-ea"/>
                <a:cs typeface="+mn-cs"/>
              </a:rPr>
              <a:t>🔹 Factory Pattern</a:t>
            </a:r>
          </a:p>
          <a:p>
            <a:r>
              <a:rPr lang="en-US" sz="1500" dirty="0">
                <a:solidFill>
                  <a:schemeClr val="accent6"/>
                </a:solidFill>
                <a:latin typeface="Google Sans"/>
                <a:ea typeface="+mn-ea"/>
                <a:cs typeface="+mn-cs"/>
              </a:rPr>
              <a:t>Creates provider objects (</a:t>
            </a:r>
            <a:r>
              <a:rPr lang="en-US" sz="1500" dirty="0" err="1">
                <a:solidFill>
                  <a:schemeClr val="accent6"/>
                </a:solidFill>
                <a:latin typeface="Google Sans"/>
                <a:ea typeface="+mn-ea"/>
                <a:cs typeface="+mn-cs"/>
              </a:rPr>
              <a:t>DbProviderFactory</a:t>
            </a:r>
            <a:r>
              <a:rPr lang="en-US" sz="1500" dirty="0">
                <a:solidFill>
                  <a:schemeClr val="accent6"/>
                </a:solidFill>
                <a:latin typeface="Google Sans"/>
                <a:ea typeface="+mn-ea"/>
                <a:cs typeface="+mn-cs"/>
              </a:rPr>
              <a:t>).</a:t>
            </a:r>
          </a:p>
          <a:p>
            <a:r>
              <a:rPr lang="en-US" sz="1500" dirty="0">
                <a:solidFill>
                  <a:schemeClr val="accent2"/>
                </a:solidFill>
                <a:latin typeface="Google Sans"/>
                <a:ea typeface="+mn-ea"/>
                <a:cs typeface="+mn-cs"/>
              </a:rPr>
              <a:t>🔹 Data Mapper</a:t>
            </a:r>
          </a:p>
          <a:p>
            <a:r>
              <a:rPr lang="en-US" sz="1500" dirty="0">
                <a:solidFill>
                  <a:schemeClr val="accent6"/>
                </a:solidFill>
                <a:latin typeface="Google Sans"/>
                <a:ea typeface="+mn-ea"/>
                <a:cs typeface="+mn-cs"/>
              </a:rPr>
              <a:t>Maps </a:t>
            </a:r>
            <a:r>
              <a:rPr lang="en-US" sz="1500" dirty="0" err="1">
                <a:solidFill>
                  <a:schemeClr val="accent6"/>
                </a:solidFill>
                <a:latin typeface="Google Sans"/>
                <a:ea typeface="+mn-ea"/>
                <a:cs typeface="+mn-cs"/>
              </a:rPr>
              <a:t>DataReader</a:t>
            </a:r>
            <a:r>
              <a:rPr lang="en-US" sz="1500" dirty="0">
                <a:solidFill>
                  <a:schemeClr val="accent6"/>
                </a:solidFill>
                <a:latin typeface="Google Sans"/>
                <a:ea typeface="+mn-ea"/>
                <a:cs typeface="+mn-cs"/>
              </a:rPr>
              <a:t>/</a:t>
            </a:r>
            <a:r>
              <a:rPr lang="en-US" sz="1500" dirty="0" err="1">
                <a:solidFill>
                  <a:schemeClr val="accent6"/>
                </a:solidFill>
                <a:latin typeface="Google Sans"/>
                <a:ea typeface="+mn-ea"/>
                <a:cs typeface="+mn-cs"/>
              </a:rPr>
              <a:t>DataTable</a:t>
            </a:r>
            <a:r>
              <a:rPr lang="en-US" sz="1500" dirty="0">
                <a:solidFill>
                  <a:schemeClr val="accent6"/>
                </a:solidFill>
                <a:latin typeface="Google Sans"/>
                <a:ea typeface="+mn-ea"/>
                <a:cs typeface="+mn-cs"/>
              </a:rPr>
              <a:t> to domain objects manually or via helpers.</a:t>
            </a:r>
          </a:p>
          <a:p>
            <a:endParaRPr lang="en-US" sz="1500" dirty="0">
              <a:solidFill>
                <a:schemeClr val="accent6"/>
              </a:solidFill>
              <a:latin typeface="Google Sans"/>
              <a:ea typeface="+mn-ea"/>
              <a:cs typeface="+mn-cs"/>
            </a:endParaRPr>
          </a:p>
          <a:p>
            <a:r>
              <a:rPr lang="en-US" sz="1500" dirty="0">
                <a:solidFill>
                  <a:schemeClr val="accent2"/>
                </a:solidFill>
                <a:latin typeface="Google Sans"/>
                <a:ea typeface="+mn-ea"/>
                <a:cs typeface="+mn-cs"/>
              </a:rPr>
              <a:t>🛠 Advanced Techniques</a:t>
            </a:r>
          </a:p>
          <a:p>
            <a:r>
              <a:rPr lang="en-US" sz="1500" dirty="0">
                <a:solidFill>
                  <a:schemeClr val="accent2"/>
                </a:solidFill>
                <a:latin typeface="Google Sans"/>
                <a:ea typeface="+mn-ea"/>
                <a:cs typeface="+mn-cs"/>
              </a:rPr>
              <a:t>🔹 MARS — Multiple Active Result Sets</a:t>
            </a:r>
          </a:p>
          <a:p>
            <a:r>
              <a:rPr lang="en-US" sz="1500" dirty="0">
                <a:solidFill>
                  <a:schemeClr val="accent6"/>
                </a:solidFill>
                <a:latin typeface="Google Sans"/>
                <a:ea typeface="+mn-ea"/>
                <a:cs typeface="+mn-cs"/>
              </a:rPr>
              <a:t>SQL Server feature that allows multiple </a:t>
            </a:r>
            <a:r>
              <a:rPr lang="en-US" sz="1500" dirty="0" err="1">
                <a:solidFill>
                  <a:schemeClr val="accent6"/>
                </a:solidFill>
                <a:latin typeface="Google Sans"/>
                <a:ea typeface="+mn-ea"/>
                <a:cs typeface="+mn-cs"/>
              </a:rPr>
              <a:t>DataReaders</a:t>
            </a:r>
            <a:r>
              <a:rPr lang="en-US" sz="1500" dirty="0">
                <a:solidFill>
                  <a:schemeClr val="accent6"/>
                </a:solidFill>
                <a:latin typeface="Google Sans"/>
                <a:ea typeface="+mn-ea"/>
                <a:cs typeface="+mn-cs"/>
              </a:rPr>
              <a:t> per connection.</a:t>
            </a:r>
          </a:p>
          <a:p>
            <a:r>
              <a:rPr lang="en-US" sz="1500" dirty="0">
                <a:solidFill>
                  <a:schemeClr val="accent6"/>
                </a:solidFill>
                <a:latin typeface="Google Sans"/>
                <a:ea typeface="+mn-ea"/>
                <a:cs typeface="+mn-cs"/>
              </a:rPr>
              <a:t>Enable: </a:t>
            </a:r>
            <a:r>
              <a:rPr lang="en-US" sz="1500" dirty="0" err="1">
                <a:solidFill>
                  <a:schemeClr val="accent6"/>
                </a:solidFill>
                <a:latin typeface="Google Sans"/>
                <a:ea typeface="+mn-ea"/>
                <a:cs typeface="+mn-cs"/>
              </a:rPr>
              <a:t>MultipleActiveResultSets</a:t>
            </a:r>
            <a:r>
              <a:rPr lang="en-US" sz="1500" dirty="0">
                <a:solidFill>
                  <a:schemeClr val="accent6"/>
                </a:solidFill>
                <a:latin typeface="Google Sans"/>
                <a:ea typeface="+mn-ea"/>
                <a:cs typeface="+mn-cs"/>
              </a:rPr>
              <a:t>=True in connection string.</a:t>
            </a:r>
          </a:p>
          <a:p>
            <a:r>
              <a:rPr lang="en-US" sz="1500" dirty="0">
                <a:solidFill>
                  <a:schemeClr val="accent2"/>
                </a:solidFill>
                <a:latin typeface="Google Sans"/>
                <a:ea typeface="+mn-ea"/>
                <a:cs typeface="+mn-cs"/>
              </a:rPr>
              <a:t>🔹 Streaming Large Data</a:t>
            </a:r>
          </a:p>
          <a:p>
            <a:r>
              <a:rPr lang="en-US" sz="1500" dirty="0">
                <a:solidFill>
                  <a:schemeClr val="accent6"/>
                </a:solidFill>
                <a:latin typeface="Google Sans"/>
                <a:ea typeface="+mn-ea"/>
                <a:cs typeface="+mn-cs"/>
              </a:rPr>
              <a:t>Use </a:t>
            </a:r>
            <a:r>
              <a:rPr lang="en-US" sz="1500" dirty="0" err="1">
                <a:solidFill>
                  <a:schemeClr val="accent6"/>
                </a:solidFill>
                <a:latin typeface="Google Sans"/>
                <a:ea typeface="+mn-ea"/>
                <a:cs typeface="+mn-cs"/>
              </a:rPr>
              <a:t>CommandBehavior.SequentialAccess</a:t>
            </a:r>
            <a:r>
              <a:rPr lang="en-US" sz="1500" dirty="0">
                <a:solidFill>
                  <a:schemeClr val="accent6"/>
                </a:solidFill>
                <a:latin typeface="Google Sans"/>
                <a:ea typeface="+mn-ea"/>
                <a:cs typeface="+mn-cs"/>
              </a:rPr>
              <a:t> to stream BLOBs.</a:t>
            </a:r>
          </a:p>
          <a:p>
            <a:r>
              <a:rPr lang="en-US" sz="1500" dirty="0">
                <a:solidFill>
                  <a:schemeClr val="accent2"/>
                </a:solidFill>
                <a:latin typeface="Google Sans"/>
                <a:ea typeface="+mn-ea"/>
                <a:cs typeface="+mn-cs"/>
              </a:rPr>
              <a:t>🔹 Batching</a:t>
            </a:r>
          </a:p>
          <a:p>
            <a:r>
              <a:rPr lang="en-US" sz="1500" dirty="0" err="1">
                <a:solidFill>
                  <a:schemeClr val="accent6"/>
                </a:solidFill>
                <a:latin typeface="Google Sans"/>
                <a:ea typeface="+mn-ea"/>
                <a:cs typeface="+mn-cs"/>
              </a:rPr>
              <a:t>cmd.CommandText</a:t>
            </a:r>
            <a:r>
              <a:rPr lang="en-US" sz="1500" dirty="0">
                <a:solidFill>
                  <a:schemeClr val="accent6"/>
                </a:solidFill>
                <a:latin typeface="Google Sans"/>
                <a:ea typeface="+mn-ea"/>
                <a:cs typeface="+mn-cs"/>
              </a:rPr>
              <a:t> += "; SELECT SCOPE_IDENTITY();"; </a:t>
            </a:r>
          </a:p>
          <a:p>
            <a:r>
              <a:rPr lang="en-US" sz="1500" dirty="0">
                <a:solidFill>
                  <a:schemeClr val="accent2"/>
                </a:solidFill>
                <a:latin typeface="Google Sans"/>
                <a:ea typeface="+mn-ea"/>
                <a:cs typeface="+mn-cs"/>
              </a:rPr>
              <a:t>🔹 Cancel Long Running Queries</a:t>
            </a:r>
          </a:p>
          <a:p>
            <a:r>
              <a:rPr lang="en-US" sz="1500" dirty="0" err="1">
                <a:solidFill>
                  <a:schemeClr val="accent6"/>
                </a:solidFill>
                <a:latin typeface="Google Sans"/>
                <a:ea typeface="+mn-ea"/>
                <a:cs typeface="+mn-cs"/>
              </a:rPr>
              <a:t>cmd.Cancel</a:t>
            </a:r>
            <a:r>
              <a:rPr lang="en-US" sz="1500" dirty="0">
                <a:solidFill>
                  <a:schemeClr val="accent6"/>
                </a:solidFill>
                <a:latin typeface="Google Sans"/>
                <a:ea typeface="+mn-ea"/>
                <a:cs typeface="+mn-cs"/>
              </a:rPr>
              <a:t>();</a:t>
            </a:r>
          </a:p>
        </p:txBody>
      </p:sp>
    </p:spTree>
    <p:extLst>
      <p:ext uri="{BB962C8B-B14F-4D97-AF65-F5344CB8AC3E}">
        <p14:creationId xmlns:p14="http://schemas.microsoft.com/office/powerpoint/2010/main" val="660039802"/>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5B06E-8A90-86B4-2962-F5293981E952}"/>
            </a:ext>
          </a:extLst>
        </p:cNvPr>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EFBA2BAD-A78D-C132-935A-97610C7E1EDA}"/>
              </a:ext>
            </a:extLst>
          </p:cNvPr>
          <p:cNvGraphicFramePr/>
          <p:nvPr/>
        </p:nvGraphicFramePr>
        <p:xfrm>
          <a:off x="0" y="76201"/>
          <a:ext cx="9144000" cy="5900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05FE8D8E-D43D-44A8-E5CA-CD2B52BDF345}"/>
              </a:ext>
            </a:extLst>
          </p:cNvPr>
          <p:cNvSpPr txBox="1">
            <a:spLocks/>
          </p:cNvSpPr>
          <p:nvPr/>
        </p:nvSpPr>
        <p:spPr>
          <a:xfrm>
            <a:off x="138063" y="12192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endParaRPr lang="en-US" sz="2000" kern="0" spc="-220" dirty="0">
              <a:solidFill>
                <a:schemeClr val="accent6"/>
              </a:solidFill>
            </a:endParaRPr>
          </a:p>
        </p:txBody>
      </p:sp>
      <p:sp>
        <p:nvSpPr>
          <p:cNvPr id="15" name="object 2">
            <a:extLst>
              <a:ext uri="{FF2B5EF4-FFF2-40B4-BE49-F238E27FC236}">
                <a16:creationId xmlns:a16="http://schemas.microsoft.com/office/drawing/2014/main" id="{E98348DE-AC75-9C07-67A4-F138D7A8AF0E}"/>
              </a:ext>
            </a:extLst>
          </p:cNvPr>
          <p:cNvSpPr txBox="1">
            <a:spLocks/>
          </p:cNvSpPr>
          <p:nvPr/>
        </p:nvSpPr>
        <p:spPr>
          <a:xfrm>
            <a:off x="304800" y="5105400"/>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6"/>
                </a:solidFill>
              </a:rPr>
              <a:t> </a:t>
            </a:r>
          </a:p>
        </p:txBody>
      </p:sp>
      <p:sp>
        <p:nvSpPr>
          <p:cNvPr id="2" name="object 2">
            <a:extLst>
              <a:ext uri="{FF2B5EF4-FFF2-40B4-BE49-F238E27FC236}">
                <a16:creationId xmlns:a16="http://schemas.microsoft.com/office/drawing/2014/main" id="{85E6387D-9A71-229F-5E1D-27AFEB2B1C3E}"/>
              </a:ext>
            </a:extLst>
          </p:cNvPr>
          <p:cNvSpPr txBox="1">
            <a:spLocks/>
          </p:cNvSpPr>
          <p:nvPr/>
        </p:nvSpPr>
        <p:spPr>
          <a:xfrm>
            <a:off x="131778" y="667838"/>
            <a:ext cx="8624937" cy="50783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 Testing &amp; Mocks</a:t>
            </a:r>
          </a:p>
          <a:p>
            <a:r>
              <a:rPr lang="en-US" sz="1500" dirty="0">
                <a:solidFill>
                  <a:schemeClr val="accent6"/>
                </a:solidFill>
                <a:latin typeface="Google Sans"/>
                <a:ea typeface="+mn-ea"/>
                <a:cs typeface="+mn-cs"/>
              </a:rPr>
              <a:t>ADO.NET is concrete and tight to DB — abstract with interfaces for testing:</a:t>
            </a:r>
          </a:p>
          <a:p>
            <a:r>
              <a:rPr lang="en-US" sz="1500" dirty="0" err="1">
                <a:solidFill>
                  <a:schemeClr val="accent6"/>
                </a:solidFill>
                <a:latin typeface="Google Sans"/>
                <a:ea typeface="+mn-ea"/>
                <a:cs typeface="+mn-cs"/>
              </a:rPr>
              <a:t>IDbConnection</a:t>
            </a:r>
            <a:r>
              <a:rPr lang="en-US" sz="1500" dirty="0">
                <a:solidFill>
                  <a:schemeClr val="accent6"/>
                </a:solidFill>
                <a:latin typeface="Google Sans"/>
                <a:ea typeface="+mn-ea"/>
                <a:cs typeface="+mn-cs"/>
              </a:rPr>
              <a:t>, </a:t>
            </a:r>
            <a:r>
              <a:rPr lang="en-US" sz="1500" dirty="0" err="1">
                <a:solidFill>
                  <a:schemeClr val="accent6"/>
                </a:solidFill>
                <a:latin typeface="Google Sans"/>
                <a:ea typeface="+mn-ea"/>
                <a:cs typeface="+mn-cs"/>
              </a:rPr>
              <a:t>IDbCommand</a:t>
            </a:r>
            <a:endParaRPr lang="en-US" sz="1500" dirty="0">
              <a:solidFill>
                <a:schemeClr val="accent6"/>
              </a:solidFill>
              <a:latin typeface="Google Sans"/>
              <a:ea typeface="+mn-ea"/>
              <a:cs typeface="+mn-cs"/>
            </a:endParaRPr>
          </a:p>
          <a:p>
            <a:r>
              <a:rPr lang="en-US" sz="1500" dirty="0">
                <a:solidFill>
                  <a:schemeClr val="accent6"/>
                </a:solidFill>
                <a:latin typeface="Google Sans"/>
                <a:ea typeface="+mn-ea"/>
                <a:cs typeface="+mn-cs"/>
              </a:rPr>
              <a:t>Use fakes/mocks in unit tests.</a:t>
            </a:r>
          </a:p>
          <a:p>
            <a:r>
              <a:rPr lang="en-US" sz="1500" dirty="0">
                <a:solidFill>
                  <a:schemeClr val="accent2"/>
                </a:solidFill>
                <a:latin typeface="Google Sans"/>
                <a:ea typeface="+mn-ea"/>
                <a:cs typeface="+mn-cs"/>
              </a:rPr>
              <a:t>🚫 Common Gotchas</a:t>
            </a:r>
          </a:p>
          <a:p>
            <a:r>
              <a:rPr lang="en-US" sz="1500" dirty="0">
                <a:solidFill>
                  <a:schemeClr val="accent2"/>
                </a:solidFill>
                <a:latin typeface="Google Sans"/>
                <a:ea typeface="+mn-ea"/>
                <a:cs typeface="+mn-cs"/>
              </a:rPr>
              <a:t>❌ Forgetting to Dispose</a:t>
            </a:r>
          </a:p>
          <a:p>
            <a:r>
              <a:rPr lang="en-US" sz="1500" dirty="0">
                <a:solidFill>
                  <a:schemeClr val="accent6"/>
                </a:solidFill>
                <a:latin typeface="Google Sans"/>
                <a:ea typeface="+mn-ea"/>
                <a:cs typeface="+mn-cs"/>
              </a:rPr>
              <a:t>Leads to connection leaks.</a:t>
            </a:r>
          </a:p>
          <a:p>
            <a:r>
              <a:rPr lang="en-US" sz="1500" dirty="0">
                <a:solidFill>
                  <a:schemeClr val="accent6"/>
                </a:solidFill>
                <a:latin typeface="Google Sans"/>
                <a:ea typeface="+mn-ea"/>
                <a:cs typeface="+mn-cs"/>
              </a:rPr>
              <a:t>Always use using or try/finally.</a:t>
            </a:r>
          </a:p>
          <a:p>
            <a:r>
              <a:rPr lang="en-US" sz="1500" dirty="0">
                <a:solidFill>
                  <a:schemeClr val="accent2"/>
                </a:solidFill>
                <a:latin typeface="Google Sans"/>
                <a:ea typeface="+mn-ea"/>
                <a:cs typeface="+mn-cs"/>
              </a:rPr>
              <a:t>❌ Blocking Async</a:t>
            </a:r>
          </a:p>
          <a:p>
            <a:r>
              <a:rPr lang="en-US" sz="1500" dirty="0">
                <a:solidFill>
                  <a:schemeClr val="accent6"/>
                </a:solidFill>
                <a:latin typeface="Google Sans"/>
                <a:ea typeface="+mn-ea"/>
                <a:cs typeface="+mn-cs"/>
              </a:rPr>
              <a:t>Mixing sync and async on the same connection/reader can deadlock.</a:t>
            </a:r>
          </a:p>
          <a:p>
            <a:r>
              <a:rPr lang="en-US" sz="1500" dirty="0">
                <a:solidFill>
                  <a:schemeClr val="accent2"/>
                </a:solidFill>
                <a:latin typeface="Google Sans"/>
                <a:ea typeface="+mn-ea"/>
                <a:cs typeface="+mn-cs"/>
              </a:rPr>
              <a:t>❌ Implicit Conversions</a:t>
            </a:r>
          </a:p>
          <a:p>
            <a:r>
              <a:rPr lang="en-US" sz="1500" dirty="0">
                <a:solidFill>
                  <a:schemeClr val="accent6"/>
                </a:solidFill>
                <a:latin typeface="Google Sans"/>
                <a:ea typeface="+mn-ea"/>
                <a:cs typeface="+mn-cs"/>
              </a:rPr>
              <a:t>Retrieving wrong type causing invalid cast — use </a:t>
            </a:r>
            <a:r>
              <a:rPr lang="en-US" sz="1500" dirty="0" err="1">
                <a:solidFill>
                  <a:schemeClr val="accent6"/>
                </a:solidFill>
                <a:latin typeface="Google Sans"/>
                <a:ea typeface="+mn-ea"/>
                <a:cs typeface="+mn-cs"/>
              </a:rPr>
              <a:t>GetXXX</a:t>
            </a:r>
            <a:r>
              <a:rPr lang="en-US" sz="1500" dirty="0">
                <a:solidFill>
                  <a:schemeClr val="accent6"/>
                </a:solidFill>
                <a:latin typeface="Google Sans"/>
                <a:ea typeface="+mn-ea"/>
                <a:cs typeface="+mn-cs"/>
              </a:rPr>
              <a:t>() strongly.</a:t>
            </a:r>
          </a:p>
          <a:p>
            <a:r>
              <a:rPr lang="en-US" sz="1500" dirty="0">
                <a:solidFill>
                  <a:schemeClr val="accent2"/>
                </a:solidFill>
                <a:latin typeface="Google Sans"/>
                <a:ea typeface="+mn-ea"/>
                <a:cs typeface="+mn-cs"/>
              </a:rPr>
              <a:t>❌ Unbounded Data Loads</a:t>
            </a:r>
          </a:p>
          <a:p>
            <a:r>
              <a:rPr lang="en-US" sz="1500" dirty="0">
                <a:solidFill>
                  <a:schemeClr val="accent6"/>
                </a:solidFill>
                <a:latin typeface="Google Sans"/>
                <a:ea typeface="+mn-ea"/>
                <a:cs typeface="+mn-cs"/>
              </a:rPr>
              <a:t>Loading whole table into </a:t>
            </a:r>
            <a:r>
              <a:rPr lang="en-US" sz="1500" dirty="0" err="1">
                <a:solidFill>
                  <a:schemeClr val="accent6"/>
                </a:solidFill>
                <a:latin typeface="Google Sans"/>
                <a:ea typeface="+mn-ea"/>
                <a:cs typeface="+mn-cs"/>
              </a:rPr>
              <a:t>DataSet</a:t>
            </a:r>
            <a:r>
              <a:rPr lang="en-US" sz="1500" dirty="0">
                <a:solidFill>
                  <a:schemeClr val="accent6"/>
                </a:solidFill>
                <a:latin typeface="Google Sans"/>
                <a:ea typeface="+mn-ea"/>
                <a:cs typeface="+mn-cs"/>
              </a:rPr>
              <a:t> → memory explosion.</a:t>
            </a:r>
          </a:p>
          <a:p>
            <a:endParaRPr lang="en-US" sz="1500" dirty="0">
              <a:solidFill>
                <a:schemeClr val="accent6"/>
              </a:solidFill>
              <a:latin typeface="Google Sans"/>
              <a:ea typeface="+mn-ea"/>
              <a:cs typeface="+mn-cs"/>
            </a:endParaRPr>
          </a:p>
          <a:p>
            <a:r>
              <a:rPr lang="en-US" sz="1500" dirty="0">
                <a:solidFill>
                  <a:schemeClr val="accent2"/>
                </a:solidFill>
                <a:latin typeface="Google Sans"/>
                <a:ea typeface="+mn-ea"/>
                <a:cs typeface="+mn-cs"/>
              </a:rPr>
              <a:t>📈 Performance Insights</a:t>
            </a:r>
          </a:p>
          <a:p>
            <a:r>
              <a:rPr lang="en-US" sz="1500" dirty="0">
                <a:solidFill>
                  <a:schemeClr val="accent2"/>
                </a:solidFill>
                <a:latin typeface="Google Sans"/>
                <a:ea typeface="+mn-ea"/>
                <a:cs typeface="+mn-cs"/>
              </a:rPr>
              <a:t>Factor	                                   Impact</a:t>
            </a:r>
          </a:p>
          <a:p>
            <a:r>
              <a:rPr lang="en-US" sz="1500" dirty="0">
                <a:solidFill>
                  <a:schemeClr val="accent6"/>
                </a:solidFill>
                <a:latin typeface="Google Sans"/>
                <a:ea typeface="+mn-ea"/>
                <a:cs typeface="+mn-cs"/>
              </a:rPr>
              <a:t>Connection Pooling	              Massive positive</a:t>
            </a:r>
          </a:p>
          <a:p>
            <a:r>
              <a:rPr lang="en-US" sz="1500" dirty="0">
                <a:solidFill>
                  <a:schemeClr val="accent6"/>
                </a:solidFill>
                <a:latin typeface="Google Sans"/>
                <a:ea typeface="+mn-ea"/>
                <a:cs typeface="+mn-cs"/>
              </a:rPr>
              <a:t>Prepared Statements	              Faster repeated execution</a:t>
            </a:r>
          </a:p>
          <a:p>
            <a:r>
              <a:rPr lang="en-US" sz="1500" dirty="0" err="1">
                <a:solidFill>
                  <a:schemeClr val="accent6"/>
                </a:solidFill>
                <a:latin typeface="Google Sans"/>
                <a:ea typeface="+mn-ea"/>
                <a:cs typeface="+mn-cs"/>
              </a:rPr>
              <a:t>DataReader</a:t>
            </a:r>
            <a:r>
              <a:rPr lang="en-US" sz="1500" dirty="0">
                <a:solidFill>
                  <a:schemeClr val="accent6"/>
                </a:solidFill>
                <a:latin typeface="Google Sans"/>
                <a:ea typeface="+mn-ea"/>
                <a:cs typeface="+mn-cs"/>
              </a:rPr>
              <a:t> vs </a:t>
            </a:r>
            <a:r>
              <a:rPr lang="en-US" sz="1500" dirty="0" err="1">
                <a:solidFill>
                  <a:schemeClr val="accent6"/>
                </a:solidFill>
                <a:latin typeface="Google Sans"/>
                <a:ea typeface="+mn-ea"/>
                <a:cs typeface="+mn-cs"/>
              </a:rPr>
              <a:t>DataSet</a:t>
            </a:r>
            <a:r>
              <a:rPr lang="en-US" sz="1500" dirty="0">
                <a:solidFill>
                  <a:schemeClr val="accent6"/>
                </a:solidFill>
                <a:latin typeface="Google Sans"/>
                <a:ea typeface="+mn-ea"/>
                <a:cs typeface="+mn-cs"/>
              </a:rPr>
              <a:t>               Reader is leaner</a:t>
            </a:r>
          </a:p>
          <a:p>
            <a:r>
              <a:rPr lang="en-US" sz="1500" dirty="0">
                <a:solidFill>
                  <a:schemeClr val="accent6"/>
                </a:solidFill>
                <a:latin typeface="Google Sans"/>
                <a:ea typeface="+mn-ea"/>
                <a:cs typeface="+mn-cs"/>
              </a:rPr>
              <a:t>Parameterized Queries	              Prevent recompiles &amp; injection</a:t>
            </a:r>
          </a:p>
          <a:p>
            <a:r>
              <a:rPr lang="en-US" sz="1500" dirty="0">
                <a:solidFill>
                  <a:schemeClr val="accent6"/>
                </a:solidFill>
                <a:latin typeface="Google Sans"/>
                <a:ea typeface="+mn-ea"/>
                <a:cs typeface="+mn-cs"/>
              </a:rPr>
              <a:t>Async IO	                                    Better scalability</a:t>
            </a:r>
          </a:p>
        </p:txBody>
      </p:sp>
    </p:spTree>
    <p:extLst>
      <p:ext uri="{BB962C8B-B14F-4D97-AF65-F5344CB8AC3E}">
        <p14:creationId xmlns:p14="http://schemas.microsoft.com/office/powerpoint/2010/main" val="3192565733"/>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1CC1B-2F1C-D634-937C-801DF9263CDA}"/>
            </a:ext>
          </a:extLst>
        </p:cNvPr>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434C818F-A709-60C2-E3E8-9BA1B95CE1E8}"/>
              </a:ext>
            </a:extLst>
          </p:cNvPr>
          <p:cNvGraphicFramePr/>
          <p:nvPr/>
        </p:nvGraphicFramePr>
        <p:xfrm>
          <a:off x="0" y="76201"/>
          <a:ext cx="9144000" cy="5900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63F18369-E6AA-C537-3257-B93D3D0C7348}"/>
              </a:ext>
            </a:extLst>
          </p:cNvPr>
          <p:cNvSpPr txBox="1">
            <a:spLocks/>
          </p:cNvSpPr>
          <p:nvPr/>
        </p:nvSpPr>
        <p:spPr>
          <a:xfrm>
            <a:off x="138063" y="12192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endParaRPr lang="en-US" sz="2000" kern="0" spc="-220" dirty="0">
              <a:solidFill>
                <a:schemeClr val="accent6"/>
              </a:solidFill>
            </a:endParaRPr>
          </a:p>
        </p:txBody>
      </p:sp>
      <p:sp>
        <p:nvSpPr>
          <p:cNvPr id="15" name="object 2">
            <a:extLst>
              <a:ext uri="{FF2B5EF4-FFF2-40B4-BE49-F238E27FC236}">
                <a16:creationId xmlns:a16="http://schemas.microsoft.com/office/drawing/2014/main" id="{295B273D-1A11-5755-4B25-D8E9732D4A48}"/>
              </a:ext>
            </a:extLst>
          </p:cNvPr>
          <p:cNvSpPr txBox="1">
            <a:spLocks/>
          </p:cNvSpPr>
          <p:nvPr/>
        </p:nvSpPr>
        <p:spPr>
          <a:xfrm>
            <a:off x="304800" y="5105400"/>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6"/>
                </a:solidFill>
              </a:rPr>
              <a:t> </a:t>
            </a:r>
          </a:p>
        </p:txBody>
      </p:sp>
      <p:sp>
        <p:nvSpPr>
          <p:cNvPr id="2" name="object 2">
            <a:extLst>
              <a:ext uri="{FF2B5EF4-FFF2-40B4-BE49-F238E27FC236}">
                <a16:creationId xmlns:a16="http://schemas.microsoft.com/office/drawing/2014/main" id="{5931BAB3-13C0-DAE9-5EBD-90E81F23398E}"/>
              </a:ext>
            </a:extLst>
          </p:cNvPr>
          <p:cNvSpPr txBox="1">
            <a:spLocks/>
          </p:cNvSpPr>
          <p:nvPr/>
        </p:nvSpPr>
        <p:spPr>
          <a:xfrm>
            <a:off x="131778" y="667838"/>
            <a:ext cx="8624937" cy="461664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rPr>
              <a:t>📈 Performance Insights</a:t>
            </a:r>
          </a:p>
          <a:p>
            <a:r>
              <a:rPr lang="en-US" sz="1500" dirty="0">
                <a:solidFill>
                  <a:schemeClr val="accent2"/>
                </a:solidFill>
                <a:latin typeface="Google Sans"/>
                <a:ea typeface="+mn-ea"/>
                <a:cs typeface="+mn-cs"/>
              </a:rPr>
              <a:t>Tune With</a:t>
            </a:r>
          </a:p>
          <a:p>
            <a:r>
              <a:rPr lang="en-US" sz="1500" dirty="0">
                <a:solidFill>
                  <a:schemeClr val="accent6"/>
                </a:solidFill>
                <a:latin typeface="Google Sans"/>
                <a:ea typeface="+mn-ea"/>
                <a:cs typeface="+mn-cs"/>
              </a:rPr>
              <a:t>Min Pool Size, Max Pool Size</a:t>
            </a:r>
          </a:p>
          <a:p>
            <a:r>
              <a:rPr lang="en-US" sz="1500" dirty="0" err="1">
                <a:solidFill>
                  <a:schemeClr val="accent6"/>
                </a:solidFill>
                <a:latin typeface="Google Sans"/>
                <a:ea typeface="+mn-ea"/>
                <a:cs typeface="+mn-cs"/>
              </a:rPr>
              <a:t>CommandTimeout</a:t>
            </a:r>
            <a:r>
              <a:rPr lang="en-US" sz="1500" dirty="0">
                <a:solidFill>
                  <a:schemeClr val="accent6"/>
                </a:solidFill>
                <a:latin typeface="Google Sans"/>
                <a:ea typeface="+mn-ea"/>
                <a:cs typeface="+mn-cs"/>
              </a:rPr>
              <a:t> per command</a:t>
            </a:r>
          </a:p>
          <a:p>
            <a:r>
              <a:rPr lang="en-US" sz="1500" dirty="0">
                <a:solidFill>
                  <a:schemeClr val="accent2"/>
                </a:solidFill>
                <a:latin typeface="Google Sans"/>
                <a:ea typeface="+mn-ea"/>
                <a:cs typeface="+mn-cs"/>
              </a:rPr>
              <a:t>✍ Modern Practices</a:t>
            </a:r>
          </a:p>
          <a:p>
            <a:r>
              <a:rPr lang="en-US" sz="1500" dirty="0">
                <a:solidFill>
                  <a:schemeClr val="accent6"/>
                </a:solidFill>
                <a:latin typeface="Google Sans"/>
                <a:ea typeface="+mn-ea"/>
                <a:cs typeface="+mn-cs"/>
              </a:rPr>
              <a:t>Even with EF/Core being popular, ADO.NET remains relevant where:</a:t>
            </a:r>
          </a:p>
          <a:p>
            <a:r>
              <a:rPr lang="en-US" sz="1500" dirty="0">
                <a:solidFill>
                  <a:schemeClr val="accent6"/>
                </a:solidFill>
                <a:latin typeface="Google Sans"/>
                <a:ea typeface="+mn-ea"/>
                <a:cs typeface="+mn-cs"/>
              </a:rPr>
              <a:t>✔ Ultra-fast queries required</a:t>
            </a:r>
          </a:p>
          <a:p>
            <a:r>
              <a:rPr lang="en-US" sz="1500" dirty="0">
                <a:solidFill>
                  <a:schemeClr val="accent6"/>
                </a:solidFill>
                <a:latin typeface="Google Sans"/>
                <a:ea typeface="+mn-ea"/>
                <a:cs typeface="+mn-cs"/>
              </a:rPr>
              <a:t>✔ Minimal abstraction overhead</a:t>
            </a:r>
          </a:p>
          <a:p>
            <a:r>
              <a:rPr lang="en-US" sz="1500" dirty="0">
                <a:solidFill>
                  <a:schemeClr val="accent6"/>
                </a:solidFill>
                <a:latin typeface="Google Sans"/>
                <a:ea typeface="+mn-ea"/>
                <a:cs typeface="+mn-cs"/>
              </a:rPr>
              <a:t>✔ High concurrency systems</a:t>
            </a:r>
          </a:p>
          <a:p>
            <a:r>
              <a:rPr lang="en-US" sz="1500" dirty="0">
                <a:solidFill>
                  <a:schemeClr val="accent6"/>
                </a:solidFill>
                <a:latin typeface="Google Sans"/>
                <a:ea typeface="+mn-ea"/>
                <a:cs typeface="+mn-cs"/>
              </a:rPr>
              <a:t>You can also combine ADO.NET with Dapper, Micro-ORM that sits on top of ADO.NET for fast mapping.</a:t>
            </a:r>
          </a:p>
          <a:p>
            <a:r>
              <a:rPr lang="en-US" sz="1500" dirty="0">
                <a:solidFill>
                  <a:schemeClr val="accent2"/>
                </a:solidFill>
                <a:latin typeface="Google Sans"/>
                <a:ea typeface="+mn-ea"/>
                <a:cs typeface="+mn-cs"/>
              </a:rPr>
              <a:t>🧠 Cheat Sheet — Common Methods</a:t>
            </a:r>
          </a:p>
          <a:p>
            <a:r>
              <a:rPr lang="en-US" sz="1500" dirty="0">
                <a:solidFill>
                  <a:schemeClr val="accent2"/>
                </a:solidFill>
                <a:latin typeface="Google Sans"/>
                <a:ea typeface="+mn-ea"/>
                <a:cs typeface="+mn-cs"/>
              </a:rPr>
              <a:t>Task	                     Method</a:t>
            </a:r>
          </a:p>
          <a:p>
            <a:r>
              <a:rPr lang="en-US" sz="1500" dirty="0">
                <a:solidFill>
                  <a:schemeClr val="accent6"/>
                </a:solidFill>
                <a:latin typeface="Google Sans"/>
                <a:ea typeface="+mn-ea"/>
                <a:cs typeface="+mn-cs"/>
              </a:rPr>
              <a:t>Open connection	Open() / </a:t>
            </a:r>
            <a:r>
              <a:rPr lang="en-US" sz="1500" dirty="0" err="1">
                <a:solidFill>
                  <a:schemeClr val="accent6"/>
                </a:solidFill>
                <a:latin typeface="Google Sans"/>
                <a:ea typeface="+mn-ea"/>
                <a:cs typeface="+mn-cs"/>
              </a:rPr>
              <a:t>OpenAsync</a:t>
            </a:r>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Execute non-query	</a:t>
            </a:r>
            <a:r>
              <a:rPr lang="en-US" sz="1500" dirty="0" err="1">
                <a:solidFill>
                  <a:schemeClr val="accent6"/>
                </a:solidFill>
                <a:latin typeface="Google Sans"/>
                <a:ea typeface="+mn-ea"/>
                <a:cs typeface="+mn-cs"/>
              </a:rPr>
              <a:t>ExecuteNonQuery</a:t>
            </a:r>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Read rows	                     </a:t>
            </a:r>
            <a:r>
              <a:rPr lang="en-US" sz="1500" dirty="0" err="1">
                <a:solidFill>
                  <a:schemeClr val="accent6"/>
                </a:solidFill>
                <a:latin typeface="Google Sans"/>
                <a:ea typeface="+mn-ea"/>
                <a:cs typeface="+mn-cs"/>
              </a:rPr>
              <a:t>ExecuteReader</a:t>
            </a:r>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Get single value	</a:t>
            </a:r>
            <a:r>
              <a:rPr lang="en-US" sz="1500" dirty="0" err="1">
                <a:solidFill>
                  <a:schemeClr val="accent6"/>
                </a:solidFill>
                <a:latin typeface="Google Sans"/>
                <a:ea typeface="+mn-ea"/>
                <a:cs typeface="+mn-cs"/>
              </a:rPr>
              <a:t>ExecuteScalar</a:t>
            </a:r>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Fill table	                     </a:t>
            </a:r>
            <a:r>
              <a:rPr lang="en-US" sz="1500" dirty="0" err="1">
                <a:solidFill>
                  <a:schemeClr val="accent6"/>
                </a:solidFill>
                <a:latin typeface="Google Sans"/>
                <a:ea typeface="+mn-ea"/>
                <a:cs typeface="+mn-cs"/>
              </a:rPr>
              <a:t>SqlDataAdapter.Fill</a:t>
            </a:r>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Begin transaction	</a:t>
            </a:r>
            <a:r>
              <a:rPr lang="en-US" sz="1500" dirty="0" err="1">
                <a:solidFill>
                  <a:schemeClr val="accent6"/>
                </a:solidFill>
                <a:latin typeface="Google Sans"/>
                <a:ea typeface="+mn-ea"/>
                <a:cs typeface="+mn-cs"/>
              </a:rPr>
              <a:t>BeginTransaction</a:t>
            </a:r>
            <a:r>
              <a:rPr lang="en-US" sz="1500" dirty="0">
                <a:solidFill>
                  <a:schemeClr val="accent6"/>
                </a:solidFill>
                <a:latin typeface="Google Sans"/>
                <a:ea typeface="+mn-ea"/>
                <a:cs typeface="+mn-cs"/>
              </a:rPr>
              <a:t>()</a:t>
            </a:r>
          </a:p>
          <a:p>
            <a:endParaRPr lang="en-US" sz="1500" dirty="0">
              <a:solidFill>
                <a:schemeClr val="accent6"/>
              </a:solidFill>
              <a:latin typeface="Google Sans"/>
              <a:ea typeface="+mn-ea"/>
              <a:cs typeface="+mn-cs"/>
            </a:endParaRPr>
          </a:p>
          <a:p>
            <a:endParaRPr lang="en-US" sz="1500" dirty="0">
              <a:solidFill>
                <a:schemeClr val="accent6"/>
              </a:solidFill>
              <a:latin typeface="Google Sans"/>
              <a:ea typeface="+mn-ea"/>
              <a:cs typeface="+mn-cs"/>
            </a:endParaRPr>
          </a:p>
        </p:txBody>
      </p:sp>
    </p:spTree>
    <p:extLst>
      <p:ext uri="{BB962C8B-B14F-4D97-AF65-F5344CB8AC3E}">
        <p14:creationId xmlns:p14="http://schemas.microsoft.com/office/powerpoint/2010/main" val="310684393"/>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BAC66-0394-FA3F-8C28-D860092AC29E}"/>
            </a:ext>
          </a:extLst>
        </p:cNvPr>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4DBD98BD-3F2C-6CD3-7590-BE0C84E05FF3}"/>
              </a:ext>
            </a:extLst>
          </p:cNvPr>
          <p:cNvGraphicFramePr/>
          <p:nvPr/>
        </p:nvGraphicFramePr>
        <p:xfrm>
          <a:off x="0" y="76201"/>
          <a:ext cx="9144000" cy="5900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06253581-70AE-80B0-7139-ACBD29655B54}"/>
              </a:ext>
            </a:extLst>
          </p:cNvPr>
          <p:cNvSpPr txBox="1">
            <a:spLocks/>
          </p:cNvSpPr>
          <p:nvPr/>
        </p:nvSpPr>
        <p:spPr>
          <a:xfrm>
            <a:off x="138063" y="12192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endParaRPr lang="en-US" sz="2000" kern="0" spc="-220" dirty="0">
              <a:solidFill>
                <a:schemeClr val="accent6"/>
              </a:solidFill>
            </a:endParaRPr>
          </a:p>
        </p:txBody>
      </p:sp>
      <p:sp>
        <p:nvSpPr>
          <p:cNvPr id="15" name="object 2">
            <a:extLst>
              <a:ext uri="{FF2B5EF4-FFF2-40B4-BE49-F238E27FC236}">
                <a16:creationId xmlns:a16="http://schemas.microsoft.com/office/drawing/2014/main" id="{95F71B46-1B22-8337-BF5A-90B7EFA1481A}"/>
              </a:ext>
            </a:extLst>
          </p:cNvPr>
          <p:cNvSpPr txBox="1">
            <a:spLocks/>
          </p:cNvSpPr>
          <p:nvPr/>
        </p:nvSpPr>
        <p:spPr>
          <a:xfrm>
            <a:off x="304800" y="5105400"/>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6"/>
                </a:solidFill>
              </a:rPr>
              <a:t> </a:t>
            </a:r>
          </a:p>
        </p:txBody>
      </p:sp>
      <p:sp>
        <p:nvSpPr>
          <p:cNvPr id="2" name="object 2">
            <a:extLst>
              <a:ext uri="{FF2B5EF4-FFF2-40B4-BE49-F238E27FC236}">
                <a16:creationId xmlns:a16="http://schemas.microsoft.com/office/drawing/2014/main" id="{A96F13C7-25C1-7B9E-BFF6-38C08D8F5168}"/>
              </a:ext>
            </a:extLst>
          </p:cNvPr>
          <p:cNvSpPr txBox="1">
            <a:spLocks/>
          </p:cNvSpPr>
          <p:nvPr/>
        </p:nvSpPr>
        <p:spPr>
          <a:xfrm>
            <a:off x="131778" y="667838"/>
            <a:ext cx="8624937" cy="472437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 Summary — Mental Model</a:t>
            </a:r>
          </a:p>
          <a:p>
            <a:r>
              <a:rPr lang="en-US" sz="1500" dirty="0">
                <a:solidFill>
                  <a:schemeClr val="accent2"/>
                </a:solidFill>
                <a:latin typeface="Google Sans"/>
                <a:ea typeface="+mn-ea"/>
                <a:cs typeface="+mn-cs"/>
              </a:rPr>
              <a:t>Connection</a:t>
            </a:r>
          </a:p>
          <a:p>
            <a:r>
              <a:rPr lang="en-US" sz="1500" dirty="0">
                <a:solidFill>
                  <a:schemeClr val="accent2"/>
                </a:solidFill>
                <a:latin typeface="Google Sans"/>
                <a:ea typeface="+mn-ea"/>
                <a:cs typeface="+mn-cs"/>
              </a:rPr>
              <a:t>↳ Manage life cycle (open/close)</a:t>
            </a:r>
          </a:p>
          <a:p>
            <a:r>
              <a:rPr lang="en-US" sz="1500" dirty="0">
                <a:solidFill>
                  <a:schemeClr val="accent6"/>
                </a:solidFill>
                <a:latin typeface="Google Sans"/>
                <a:ea typeface="+mn-ea"/>
                <a:cs typeface="+mn-cs"/>
              </a:rPr>
              <a:t>Command</a:t>
            </a:r>
          </a:p>
          <a:p>
            <a:r>
              <a:rPr lang="en-US" sz="1500" dirty="0">
                <a:solidFill>
                  <a:schemeClr val="accent2"/>
                </a:solidFill>
                <a:latin typeface="Google Sans"/>
                <a:ea typeface="+mn-ea"/>
                <a:cs typeface="+mn-cs"/>
              </a:rPr>
              <a:t>↳ Define SQL/SP + parameters</a:t>
            </a:r>
          </a:p>
          <a:p>
            <a:r>
              <a:rPr lang="en-US" sz="1500" dirty="0">
                <a:solidFill>
                  <a:schemeClr val="accent6"/>
                </a:solidFill>
                <a:latin typeface="Google Sans"/>
                <a:ea typeface="+mn-ea"/>
                <a:cs typeface="+mn-cs"/>
              </a:rPr>
              <a:t>Execution</a:t>
            </a:r>
          </a:p>
          <a:p>
            <a:r>
              <a:rPr lang="en-US" sz="1500" dirty="0">
                <a:solidFill>
                  <a:schemeClr val="accent6"/>
                </a:solidFill>
                <a:latin typeface="Google Sans"/>
                <a:ea typeface="+mn-ea"/>
                <a:cs typeface="+mn-cs"/>
              </a:rPr>
              <a:t>Reader (fast forward)</a:t>
            </a:r>
          </a:p>
          <a:p>
            <a:r>
              <a:rPr lang="en-US" sz="1500" dirty="0">
                <a:solidFill>
                  <a:schemeClr val="accent6"/>
                </a:solidFill>
                <a:latin typeface="Google Sans"/>
                <a:ea typeface="+mn-ea"/>
                <a:cs typeface="+mn-cs"/>
              </a:rPr>
              <a:t>Scalar (one value)</a:t>
            </a:r>
          </a:p>
          <a:p>
            <a:r>
              <a:rPr lang="en-US" sz="1500" dirty="0" err="1">
                <a:solidFill>
                  <a:schemeClr val="accent6"/>
                </a:solidFill>
                <a:latin typeface="Google Sans"/>
                <a:ea typeface="+mn-ea"/>
                <a:cs typeface="+mn-cs"/>
              </a:rPr>
              <a:t>NonQuery</a:t>
            </a:r>
            <a:r>
              <a:rPr lang="en-US" sz="1500" dirty="0">
                <a:solidFill>
                  <a:schemeClr val="accent6"/>
                </a:solidFill>
                <a:latin typeface="Google Sans"/>
                <a:ea typeface="+mn-ea"/>
                <a:cs typeface="+mn-cs"/>
              </a:rPr>
              <a:t> (insert/update/delete)</a:t>
            </a:r>
          </a:p>
          <a:p>
            <a:r>
              <a:rPr lang="en-US" sz="1500" dirty="0">
                <a:solidFill>
                  <a:schemeClr val="accent6"/>
                </a:solidFill>
                <a:latin typeface="Google Sans"/>
                <a:ea typeface="+mn-ea"/>
                <a:cs typeface="+mn-cs"/>
              </a:rPr>
              <a:t>Disconnection Support</a:t>
            </a:r>
          </a:p>
          <a:p>
            <a:r>
              <a:rPr lang="en-US" sz="1500" dirty="0">
                <a:solidFill>
                  <a:schemeClr val="accent2"/>
                </a:solidFill>
                <a:latin typeface="Google Sans"/>
                <a:ea typeface="+mn-ea"/>
                <a:cs typeface="+mn-cs"/>
              </a:rPr>
              <a:t>↳ </a:t>
            </a:r>
            <a:r>
              <a:rPr lang="en-US" sz="1500" dirty="0" err="1">
                <a:solidFill>
                  <a:schemeClr val="accent2"/>
                </a:solidFill>
                <a:latin typeface="Google Sans"/>
                <a:ea typeface="+mn-ea"/>
                <a:cs typeface="+mn-cs"/>
              </a:rPr>
              <a:t>DataAdapter</a:t>
            </a:r>
            <a:r>
              <a:rPr lang="en-US" sz="1500" dirty="0">
                <a:solidFill>
                  <a:schemeClr val="accent2"/>
                </a:solidFill>
                <a:latin typeface="Google Sans"/>
                <a:ea typeface="+mn-ea"/>
                <a:cs typeface="+mn-cs"/>
              </a:rPr>
              <a:t>, </a:t>
            </a:r>
            <a:r>
              <a:rPr lang="en-US" sz="1500" dirty="0" err="1">
                <a:solidFill>
                  <a:schemeClr val="accent2"/>
                </a:solidFill>
                <a:latin typeface="Google Sans"/>
                <a:ea typeface="+mn-ea"/>
                <a:cs typeface="+mn-cs"/>
              </a:rPr>
              <a:t>DataTable</a:t>
            </a:r>
            <a:endParaRPr lang="en-US" sz="1500" dirty="0">
              <a:solidFill>
                <a:schemeClr val="accent2"/>
              </a:solidFill>
              <a:latin typeface="Google Sans"/>
              <a:ea typeface="+mn-ea"/>
              <a:cs typeface="+mn-cs"/>
            </a:endParaRPr>
          </a:p>
          <a:p>
            <a:r>
              <a:rPr lang="en-US" sz="1500" dirty="0">
                <a:solidFill>
                  <a:schemeClr val="accent6"/>
                </a:solidFill>
                <a:latin typeface="Google Sans"/>
                <a:ea typeface="+mn-ea"/>
                <a:cs typeface="+mn-cs"/>
              </a:rPr>
              <a:t>Transactions for critical consistency</a:t>
            </a:r>
          </a:p>
          <a:p>
            <a:r>
              <a:rPr lang="en-US" sz="1500" dirty="0">
                <a:solidFill>
                  <a:schemeClr val="accent6"/>
                </a:solidFill>
                <a:latin typeface="Google Sans"/>
                <a:ea typeface="+mn-ea"/>
                <a:cs typeface="+mn-cs"/>
              </a:rPr>
              <a:t>Provider Factory for DB-agnostic code</a:t>
            </a:r>
          </a:p>
          <a:p>
            <a:r>
              <a:rPr lang="en-US" sz="1500" dirty="0">
                <a:solidFill>
                  <a:schemeClr val="accent6"/>
                </a:solidFill>
                <a:latin typeface="Google Sans"/>
                <a:ea typeface="+mn-ea"/>
                <a:cs typeface="+mn-cs"/>
              </a:rPr>
              <a:t>e</a:t>
            </a:r>
          </a:p>
          <a:p>
            <a:r>
              <a:rPr lang="en-US" sz="1700" dirty="0">
                <a:solidFill>
                  <a:schemeClr val="accent2"/>
                </a:solidFill>
                <a:latin typeface="Google Sans"/>
                <a:ea typeface="+mn-ea"/>
                <a:cs typeface="+mn-cs"/>
              </a:rPr>
              <a:t>For Further Exploration</a:t>
            </a:r>
          </a:p>
          <a:p>
            <a:r>
              <a:rPr lang="en-US" sz="1300" dirty="0">
                <a:hlinkClick r:id="rId7"/>
              </a:rPr>
              <a:t>Learn Complete ADO.NET (C#) - Free Tutorial Examples</a:t>
            </a:r>
            <a:endParaRPr lang="en-US" sz="1300" dirty="0">
              <a:solidFill>
                <a:schemeClr val="accent2"/>
              </a:solidFill>
              <a:latin typeface="Google Sans"/>
              <a:ea typeface="+mn-ea"/>
              <a:cs typeface="+mn-cs"/>
            </a:endParaRPr>
          </a:p>
          <a:p>
            <a:r>
              <a:rPr lang="en-IN" sz="1300" dirty="0" err="1">
                <a:hlinkClick r:id="rId8"/>
              </a:rPr>
              <a:t>TutorialsPoint</a:t>
            </a:r>
            <a:r>
              <a:rPr lang="en-IN" sz="1300" dirty="0">
                <a:hlinkClick r:id="rId8"/>
              </a:rPr>
              <a:t> ADO.NET Tutorials</a:t>
            </a:r>
            <a:endParaRPr lang="en-IN" sz="1300" dirty="0"/>
          </a:p>
          <a:p>
            <a:r>
              <a:rPr lang="en-US" sz="1300" dirty="0">
                <a:hlinkClick r:id="rId9"/>
              </a:rPr>
              <a:t>SQL Server for C# Developers Succinctly® | Free </a:t>
            </a:r>
            <a:r>
              <a:rPr lang="en-US" sz="1300" dirty="0" err="1">
                <a:hlinkClick r:id="rId9"/>
              </a:rPr>
              <a:t>Ebook</a:t>
            </a:r>
            <a:r>
              <a:rPr lang="en-US" sz="1300" dirty="0">
                <a:hlinkClick r:id="rId9"/>
              </a:rPr>
              <a:t> | </a:t>
            </a:r>
            <a:r>
              <a:rPr lang="en-US" sz="1300" dirty="0" err="1">
                <a:hlinkClick r:id="rId9"/>
              </a:rPr>
              <a:t>Syncfusion</a:t>
            </a:r>
            <a:r>
              <a:rPr lang="en-US" sz="1300" dirty="0">
                <a:hlinkClick r:id="rId9"/>
              </a:rPr>
              <a:t>®</a:t>
            </a:r>
            <a:endParaRPr lang="en-US" sz="1300" dirty="0"/>
          </a:p>
          <a:p>
            <a:r>
              <a:rPr lang="en-US" sz="1300" dirty="0">
                <a:hlinkClick r:id="rId10"/>
              </a:rPr>
              <a:t>SQL Server and ADO.NET | Microsoft Learn</a:t>
            </a:r>
            <a:endParaRPr lang="en-US" sz="1300" dirty="0"/>
          </a:p>
          <a:p>
            <a:r>
              <a:rPr lang="en-US" sz="1400" dirty="0">
                <a:hlinkClick r:id="rId11"/>
              </a:rPr>
              <a:t>ADO.NET 3.5 Cookbook, 2nd Edition [Book]</a:t>
            </a:r>
            <a:endParaRPr lang="en-US" sz="1400" dirty="0"/>
          </a:p>
          <a:p>
            <a:r>
              <a:rPr lang="en-US" sz="1400" dirty="0">
                <a:hlinkClick r:id="rId12"/>
              </a:rPr>
              <a:t>Programming Microsoft® ADO.NET 2.0 Applications: Advanced Topics [Book]</a:t>
            </a:r>
            <a:endParaRPr lang="en-US" sz="1300" dirty="0">
              <a:solidFill>
                <a:schemeClr val="accent2"/>
              </a:solidFill>
              <a:latin typeface="Google Sans"/>
              <a:ea typeface="+mn-ea"/>
              <a:cs typeface="+mn-cs"/>
            </a:endParaRPr>
          </a:p>
        </p:txBody>
      </p:sp>
    </p:spTree>
    <p:extLst>
      <p:ext uri="{BB962C8B-B14F-4D97-AF65-F5344CB8AC3E}">
        <p14:creationId xmlns:p14="http://schemas.microsoft.com/office/powerpoint/2010/main" val="1978377677"/>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63604-5517-6441-9950-D41B7D8C40DD}"/>
            </a:ext>
          </a:extLst>
        </p:cNvPr>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7CC4B281-BD6E-FC4F-AA42-82D31B56CE13}"/>
              </a:ext>
            </a:extLst>
          </p:cNvPr>
          <p:cNvGraphicFramePr/>
          <p:nvPr>
            <p:extLst>
              <p:ext uri="{D42A27DB-BD31-4B8C-83A1-F6EECF244321}">
                <p14:modId xmlns:p14="http://schemas.microsoft.com/office/powerpoint/2010/main" val="270136779"/>
              </p:ext>
            </p:extLst>
          </p:nvPr>
        </p:nvGraphicFramePr>
        <p:xfrm>
          <a:off x="0" y="76201"/>
          <a:ext cx="9144000" cy="5900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6546A3A0-2AC5-53A1-9B84-E29DB03D470F}"/>
              </a:ext>
            </a:extLst>
          </p:cNvPr>
          <p:cNvSpPr txBox="1">
            <a:spLocks/>
          </p:cNvSpPr>
          <p:nvPr/>
        </p:nvSpPr>
        <p:spPr>
          <a:xfrm>
            <a:off x="138063" y="12192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endParaRPr lang="en-US" sz="2000" kern="0" spc="-220" dirty="0">
              <a:solidFill>
                <a:schemeClr val="accent6"/>
              </a:solidFill>
            </a:endParaRPr>
          </a:p>
        </p:txBody>
      </p:sp>
      <p:sp>
        <p:nvSpPr>
          <p:cNvPr id="15" name="object 2">
            <a:extLst>
              <a:ext uri="{FF2B5EF4-FFF2-40B4-BE49-F238E27FC236}">
                <a16:creationId xmlns:a16="http://schemas.microsoft.com/office/drawing/2014/main" id="{E1841073-357E-01B7-2FF2-2E59741EF57C}"/>
              </a:ext>
            </a:extLst>
          </p:cNvPr>
          <p:cNvSpPr txBox="1">
            <a:spLocks/>
          </p:cNvSpPr>
          <p:nvPr/>
        </p:nvSpPr>
        <p:spPr>
          <a:xfrm>
            <a:off x="304800" y="5105400"/>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6"/>
                </a:solidFill>
              </a:rPr>
              <a:t> </a:t>
            </a:r>
          </a:p>
        </p:txBody>
      </p:sp>
      <p:sp>
        <p:nvSpPr>
          <p:cNvPr id="2" name="object 2">
            <a:extLst>
              <a:ext uri="{FF2B5EF4-FFF2-40B4-BE49-F238E27FC236}">
                <a16:creationId xmlns:a16="http://schemas.microsoft.com/office/drawing/2014/main" id="{AB134F74-717E-0D95-8ACE-A208178A3554}"/>
              </a:ext>
            </a:extLst>
          </p:cNvPr>
          <p:cNvSpPr txBox="1">
            <a:spLocks/>
          </p:cNvSpPr>
          <p:nvPr/>
        </p:nvSpPr>
        <p:spPr>
          <a:xfrm>
            <a:off x="131778" y="667838"/>
            <a:ext cx="8624937" cy="50783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 1) What Dapper Actually Is</a:t>
            </a:r>
          </a:p>
          <a:p>
            <a:r>
              <a:rPr lang="en-US" sz="1500" dirty="0">
                <a:solidFill>
                  <a:schemeClr val="accent6"/>
                </a:solidFill>
                <a:latin typeface="Google Sans"/>
                <a:ea typeface="+mn-ea"/>
                <a:cs typeface="+mn-cs"/>
              </a:rPr>
              <a:t>Dapper is a micro-ORM for .NET — a lightweight toolkit that maps raw SQL query results to your C# objects with very little overhead. </a:t>
            </a:r>
            <a:r>
              <a:rPr lang="en-US" sz="1500" dirty="0">
                <a:solidFill>
                  <a:schemeClr val="accent2"/>
                </a:solidFill>
                <a:latin typeface="Google Sans"/>
                <a:ea typeface="+mn-ea"/>
                <a:cs typeface="+mn-cs"/>
              </a:rPr>
              <a:t>It sits between:</a:t>
            </a:r>
          </a:p>
          <a:p>
            <a:r>
              <a:rPr lang="en-US" sz="1500" dirty="0">
                <a:solidFill>
                  <a:schemeClr val="accent6"/>
                </a:solidFill>
                <a:latin typeface="Google Sans"/>
                <a:ea typeface="+mn-ea"/>
                <a:cs typeface="+mn-cs"/>
              </a:rPr>
              <a:t>ADO.NET raw SQL (fully manual)</a:t>
            </a:r>
          </a:p>
          <a:p>
            <a:r>
              <a:rPr lang="en-US" sz="1500" dirty="0">
                <a:solidFill>
                  <a:schemeClr val="accent6"/>
                </a:solidFill>
                <a:latin typeface="Google Sans"/>
                <a:ea typeface="+mn-ea"/>
                <a:cs typeface="+mn-cs"/>
              </a:rPr>
              <a:t>Full ORMs like EF Core (heavy abstraction &amp; change tracking)</a:t>
            </a:r>
          </a:p>
          <a:p>
            <a:r>
              <a:rPr lang="en-US" sz="1500" dirty="0">
                <a:solidFill>
                  <a:schemeClr val="accent6"/>
                </a:solidFill>
                <a:latin typeface="Google Sans"/>
                <a:ea typeface="+mn-ea"/>
                <a:cs typeface="+mn-cs"/>
              </a:rPr>
              <a:t>It gives you the simplicity of object mapping without hiding SQL, and it usually adds only ~5–15% overhead over raw ADO.NET performance.</a:t>
            </a:r>
          </a:p>
          <a:p>
            <a:r>
              <a:rPr lang="en-US" sz="1500" dirty="0">
                <a:solidFill>
                  <a:schemeClr val="accent2"/>
                </a:solidFill>
                <a:latin typeface="Google Sans"/>
                <a:ea typeface="+mn-ea"/>
                <a:cs typeface="+mn-cs"/>
              </a:rPr>
              <a:t>Core philosophy:</a:t>
            </a:r>
          </a:p>
          <a:p>
            <a:r>
              <a:rPr lang="en-US" sz="1500" dirty="0">
                <a:solidFill>
                  <a:schemeClr val="accent6"/>
                </a:solidFill>
                <a:latin typeface="Google Sans"/>
                <a:ea typeface="+mn-ea"/>
                <a:cs typeface="+mn-cs"/>
              </a:rPr>
              <a:t>“You write the SQL; we do the object mapping fast.”</a:t>
            </a:r>
          </a:p>
          <a:p>
            <a:r>
              <a:rPr lang="en-US" sz="1500" dirty="0">
                <a:solidFill>
                  <a:schemeClr val="accent2"/>
                </a:solidFill>
                <a:latin typeface="Google Sans"/>
                <a:ea typeface="+mn-ea"/>
                <a:cs typeface="+mn-cs"/>
              </a:rPr>
              <a:t>🧠 2) Core Concepts in Dapper</a:t>
            </a:r>
          </a:p>
          <a:p>
            <a:r>
              <a:rPr lang="en-US" sz="1500" dirty="0">
                <a:solidFill>
                  <a:schemeClr val="accent2"/>
                </a:solidFill>
                <a:latin typeface="Google Sans"/>
                <a:ea typeface="+mn-ea"/>
                <a:cs typeface="+mn-cs"/>
              </a:rPr>
              <a:t>✅ a) Mapping Query Results to Objects</a:t>
            </a:r>
          </a:p>
          <a:p>
            <a:r>
              <a:rPr lang="en-US" sz="1500" dirty="0">
                <a:solidFill>
                  <a:schemeClr val="accent2"/>
                </a:solidFill>
                <a:latin typeface="Google Sans"/>
                <a:ea typeface="+mn-ea"/>
                <a:cs typeface="+mn-cs"/>
              </a:rPr>
              <a:t>Dapper extends </a:t>
            </a:r>
            <a:r>
              <a:rPr lang="en-US" sz="1500" dirty="0" err="1">
                <a:solidFill>
                  <a:schemeClr val="accent2"/>
                </a:solidFill>
                <a:latin typeface="Google Sans"/>
                <a:ea typeface="+mn-ea"/>
                <a:cs typeface="+mn-cs"/>
              </a:rPr>
              <a:t>IDbConnection</a:t>
            </a:r>
            <a:r>
              <a:rPr lang="en-US" sz="1500" dirty="0">
                <a:solidFill>
                  <a:schemeClr val="accent2"/>
                </a:solidFill>
                <a:latin typeface="Google Sans"/>
                <a:ea typeface="+mn-ea"/>
                <a:cs typeface="+mn-cs"/>
              </a:rPr>
              <a:t> with API methods like:</a:t>
            </a:r>
          </a:p>
          <a:p>
            <a:r>
              <a:rPr lang="en-US" sz="1500" dirty="0">
                <a:solidFill>
                  <a:schemeClr val="accent6"/>
                </a:solidFill>
                <a:latin typeface="Google Sans"/>
                <a:ea typeface="+mn-ea"/>
                <a:cs typeface="+mn-cs"/>
              </a:rPr>
              <a:t>Query&lt;T&gt;() → for list of objects</a:t>
            </a:r>
          </a:p>
          <a:p>
            <a:r>
              <a:rPr lang="en-US" sz="1500" dirty="0" err="1">
                <a:solidFill>
                  <a:schemeClr val="accent6"/>
                </a:solidFill>
                <a:latin typeface="Google Sans"/>
                <a:ea typeface="+mn-ea"/>
                <a:cs typeface="+mn-cs"/>
              </a:rPr>
              <a:t>QuerySingle</a:t>
            </a:r>
            <a:r>
              <a:rPr lang="en-US" sz="1500" dirty="0">
                <a:solidFill>
                  <a:schemeClr val="accent6"/>
                </a:solidFill>
                <a:latin typeface="Google Sans"/>
                <a:ea typeface="+mn-ea"/>
                <a:cs typeface="+mn-cs"/>
              </a:rPr>
              <a:t>&lt;T&gt;() / </a:t>
            </a:r>
            <a:r>
              <a:rPr lang="en-US" sz="1500" dirty="0" err="1">
                <a:solidFill>
                  <a:schemeClr val="accent6"/>
                </a:solidFill>
                <a:latin typeface="Google Sans"/>
                <a:ea typeface="+mn-ea"/>
                <a:cs typeface="+mn-cs"/>
              </a:rPr>
              <a:t>QuerySingleOrDefault</a:t>
            </a:r>
            <a:r>
              <a:rPr lang="en-US" sz="1500" dirty="0">
                <a:solidFill>
                  <a:schemeClr val="accent6"/>
                </a:solidFill>
                <a:latin typeface="Google Sans"/>
                <a:ea typeface="+mn-ea"/>
                <a:cs typeface="+mn-cs"/>
              </a:rPr>
              <a:t>&lt;T&gt;()</a:t>
            </a:r>
          </a:p>
          <a:p>
            <a:r>
              <a:rPr lang="en-US" sz="1500" dirty="0">
                <a:solidFill>
                  <a:schemeClr val="accent6"/>
                </a:solidFill>
                <a:latin typeface="Google Sans"/>
                <a:ea typeface="+mn-ea"/>
                <a:cs typeface="+mn-cs"/>
              </a:rPr>
              <a:t>Execute() → for inserts/updates/deletes</a:t>
            </a:r>
          </a:p>
          <a:p>
            <a:r>
              <a:rPr lang="en-US" sz="1500" dirty="0">
                <a:solidFill>
                  <a:schemeClr val="accent6"/>
                </a:solidFill>
                <a:latin typeface="Google Sans"/>
                <a:ea typeface="+mn-ea"/>
                <a:cs typeface="+mn-cs"/>
              </a:rPr>
              <a:t>Async versions like </a:t>
            </a:r>
            <a:r>
              <a:rPr lang="en-US" sz="1500" dirty="0" err="1">
                <a:solidFill>
                  <a:schemeClr val="accent6"/>
                </a:solidFill>
                <a:latin typeface="Google Sans"/>
                <a:ea typeface="+mn-ea"/>
                <a:cs typeface="+mn-cs"/>
              </a:rPr>
              <a:t>QueryAsync</a:t>
            </a:r>
            <a:r>
              <a:rPr lang="en-US" sz="1500" dirty="0">
                <a:solidFill>
                  <a:schemeClr val="accent6"/>
                </a:solidFill>
                <a:latin typeface="Google Sans"/>
                <a:ea typeface="+mn-ea"/>
                <a:cs typeface="+mn-cs"/>
              </a:rPr>
              <a:t>&lt;T&gt;(), </a:t>
            </a:r>
            <a:r>
              <a:rPr lang="en-US" sz="1500" dirty="0" err="1">
                <a:solidFill>
                  <a:schemeClr val="accent6"/>
                </a:solidFill>
                <a:latin typeface="Google Sans"/>
                <a:ea typeface="+mn-ea"/>
                <a:cs typeface="+mn-cs"/>
              </a:rPr>
              <a:t>ExecuteAsync</a:t>
            </a:r>
            <a:r>
              <a:rPr lang="en-US" sz="1500" dirty="0">
                <a:solidFill>
                  <a:schemeClr val="accent6"/>
                </a:solidFill>
                <a:latin typeface="Google Sans"/>
                <a:ea typeface="+mn-ea"/>
                <a:cs typeface="+mn-cs"/>
              </a:rPr>
              <a:t>()</a:t>
            </a:r>
          </a:p>
          <a:p>
            <a:r>
              <a:rPr lang="en-US" sz="1500" dirty="0">
                <a:solidFill>
                  <a:schemeClr val="accent2"/>
                </a:solidFill>
                <a:latin typeface="Google Sans"/>
                <a:ea typeface="+mn-ea"/>
                <a:cs typeface="+mn-cs"/>
              </a:rPr>
              <a:t>Example:</a:t>
            </a:r>
          </a:p>
          <a:p>
            <a:r>
              <a:rPr lang="en-US" sz="1500" dirty="0">
                <a:solidFill>
                  <a:schemeClr val="accent6"/>
                </a:solidFill>
                <a:latin typeface="Google Sans"/>
                <a:ea typeface="+mn-ea"/>
                <a:cs typeface="+mn-cs"/>
              </a:rPr>
              <a:t>using var conn = new </a:t>
            </a:r>
            <a:r>
              <a:rPr lang="en-US" sz="1500" dirty="0" err="1">
                <a:solidFill>
                  <a:schemeClr val="accent6"/>
                </a:solidFill>
                <a:latin typeface="Google Sans"/>
                <a:ea typeface="+mn-ea"/>
                <a:cs typeface="+mn-cs"/>
              </a:rPr>
              <a:t>SqlConnection</a:t>
            </a:r>
            <a:r>
              <a:rPr lang="en-US" sz="1500" dirty="0">
                <a:solidFill>
                  <a:schemeClr val="accent6"/>
                </a:solidFill>
                <a:latin typeface="Google Sans"/>
                <a:ea typeface="+mn-ea"/>
                <a:cs typeface="+mn-cs"/>
              </a:rPr>
              <a:t>(</a:t>
            </a:r>
            <a:r>
              <a:rPr lang="en-US" sz="1500" dirty="0" err="1">
                <a:solidFill>
                  <a:schemeClr val="accent6"/>
                </a:solidFill>
                <a:latin typeface="Google Sans"/>
                <a:ea typeface="+mn-ea"/>
                <a:cs typeface="+mn-cs"/>
              </a:rPr>
              <a:t>connString</a:t>
            </a:r>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var users = </a:t>
            </a:r>
            <a:r>
              <a:rPr lang="en-US" sz="1500" dirty="0" err="1">
                <a:solidFill>
                  <a:schemeClr val="accent6"/>
                </a:solidFill>
                <a:latin typeface="Google Sans"/>
                <a:ea typeface="+mn-ea"/>
                <a:cs typeface="+mn-cs"/>
              </a:rPr>
              <a:t>conn.Query</a:t>
            </a:r>
            <a:r>
              <a:rPr lang="en-US" sz="1500" dirty="0">
                <a:solidFill>
                  <a:schemeClr val="accent6"/>
                </a:solidFill>
                <a:latin typeface="Google Sans"/>
                <a:ea typeface="+mn-ea"/>
                <a:cs typeface="+mn-cs"/>
              </a:rPr>
              <a:t>&lt;User&gt;("SELECT * FROM Users WHERE </a:t>
            </a:r>
            <a:r>
              <a:rPr lang="en-US" sz="1500" dirty="0" err="1">
                <a:solidFill>
                  <a:schemeClr val="accent6"/>
                </a:solidFill>
                <a:latin typeface="Google Sans"/>
                <a:ea typeface="+mn-ea"/>
                <a:cs typeface="+mn-cs"/>
              </a:rPr>
              <a:t>IsActive</a:t>
            </a:r>
            <a:r>
              <a:rPr lang="en-US" sz="1500" dirty="0">
                <a:solidFill>
                  <a:schemeClr val="accent6"/>
                </a:solidFill>
                <a:latin typeface="Google Sans"/>
                <a:ea typeface="+mn-ea"/>
                <a:cs typeface="+mn-cs"/>
              </a:rPr>
              <a:t> = @active", new { active = true });</a:t>
            </a:r>
          </a:p>
          <a:p>
            <a:r>
              <a:rPr lang="en-US" sz="1500" dirty="0">
                <a:solidFill>
                  <a:schemeClr val="accent6"/>
                </a:solidFill>
                <a:latin typeface="Google Sans"/>
                <a:ea typeface="+mn-ea"/>
                <a:cs typeface="+mn-cs"/>
              </a:rPr>
              <a:t>Here Dapper maps each result row to a User object.</a:t>
            </a:r>
          </a:p>
          <a:p>
            <a:r>
              <a:rPr lang="en-US" sz="1500" dirty="0">
                <a:solidFill>
                  <a:schemeClr val="accent2"/>
                </a:solidFill>
                <a:latin typeface="Google Sans"/>
                <a:ea typeface="+mn-ea"/>
                <a:cs typeface="+mn-cs"/>
              </a:rPr>
              <a:t>🧩 b) Parameter Binding (Prevent SQL Injection)</a:t>
            </a:r>
          </a:p>
          <a:p>
            <a:r>
              <a:rPr lang="en-US" sz="1500" dirty="0">
                <a:solidFill>
                  <a:schemeClr val="accent6"/>
                </a:solidFill>
                <a:latin typeface="Google Sans"/>
                <a:ea typeface="+mn-ea"/>
                <a:cs typeface="+mn-cs"/>
              </a:rPr>
              <a:t>Dapper automatically parameterizes SQL, preventing injection and allowing safer queries:</a:t>
            </a:r>
          </a:p>
        </p:txBody>
      </p:sp>
    </p:spTree>
    <p:extLst>
      <p:ext uri="{BB962C8B-B14F-4D97-AF65-F5344CB8AC3E}">
        <p14:creationId xmlns:p14="http://schemas.microsoft.com/office/powerpoint/2010/main" val="1976546728"/>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3F293-21E1-1738-C36E-3FDEA34C94B7}"/>
            </a:ext>
          </a:extLst>
        </p:cNvPr>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B66BE741-1387-92A1-970C-461E64E51D35}"/>
              </a:ext>
            </a:extLst>
          </p:cNvPr>
          <p:cNvGraphicFramePr/>
          <p:nvPr/>
        </p:nvGraphicFramePr>
        <p:xfrm>
          <a:off x="0" y="76201"/>
          <a:ext cx="9144000" cy="5900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B44CFD05-9C74-1CF0-5200-BC7A673D3CE4}"/>
              </a:ext>
            </a:extLst>
          </p:cNvPr>
          <p:cNvSpPr txBox="1">
            <a:spLocks/>
          </p:cNvSpPr>
          <p:nvPr/>
        </p:nvSpPr>
        <p:spPr>
          <a:xfrm>
            <a:off x="138063" y="12192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endParaRPr lang="en-US" sz="2000" kern="0" spc="-220" dirty="0">
              <a:solidFill>
                <a:schemeClr val="accent6"/>
              </a:solidFill>
            </a:endParaRPr>
          </a:p>
        </p:txBody>
      </p:sp>
      <p:sp>
        <p:nvSpPr>
          <p:cNvPr id="15" name="object 2">
            <a:extLst>
              <a:ext uri="{FF2B5EF4-FFF2-40B4-BE49-F238E27FC236}">
                <a16:creationId xmlns:a16="http://schemas.microsoft.com/office/drawing/2014/main" id="{39CE5A59-8C7D-2223-FB33-94E7BE5A528E}"/>
              </a:ext>
            </a:extLst>
          </p:cNvPr>
          <p:cNvSpPr txBox="1">
            <a:spLocks/>
          </p:cNvSpPr>
          <p:nvPr/>
        </p:nvSpPr>
        <p:spPr>
          <a:xfrm>
            <a:off x="304800" y="5105400"/>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6"/>
                </a:solidFill>
              </a:rPr>
              <a:t> </a:t>
            </a:r>
          </a:p>
        </p:txBody>
      </p:sp>
      <p:sp>
        <p:nvSpPr>
          <p:cNvPr id="2" name="object 2">
            <a:extLst>
              <a:ext uri="{FF2B5EF4-FFF2-40B4-BE49-F238E27FC236}">
                <a16:creationId xmlns:a16="http://schemas.microsoft.com/office/drawing/2014/main" id="{08C2722F-946A-C49E-9900-D22F7F8CAAF8}"/>
              </a:ext>
            </a:extLst>
          </p:cNvPr>
          <p:cNvSpPr txBox="1">
            <a:spLocks/>
          </p:cNvSpPr>
          <p:nvPr/>
        </p:nvSpPr>
        <p:spPr>
          <a:xfrm>
            <a:off x="131778" y="667838"/>
            <a:ext cx="8624937" cy="50783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 2) Core Concepts in Dapper</a:t>
            </a:r>
          </a:p>
          <a:p>
            <a:r>
              <a:rPr lang="en-US" sz="1500" dirty="0">
                <a:solidFill>
                  <a:schemeClr val="accent2"/>
                </a:solidFill>
                <a:latin typeface="Google Sans"/>
                <a:ea typeface="+mn-ea"/>
                <a:cs typeface="+mn-cs"/>
              </a:rPr>
              <a:t>🧩 b) Parameter Binding (Prevent SQL Injection)</a:t>
            </a:r>
          </a:p>
          <a:p>
            <a:r>
              <a:rPr lang="en-US" sz="1500" dirty="0">
                <a:solidFill>
                  <a:schemeClr val="accent6"/>
                </a:solidFill>
                <a:latin typeface="Google Sans"/>
                <a:ea typeface="+mn-ea"/>
                <a:cs typeface="+mn-cs"/>
              </a:rPr>
              <a:t>var product = </a:t>
            </a:r>
            <a:r>
              <a:rPr lang="en-US" sz="1500" dirty="0" err="1">
                <a:solidFill>
                  <a:schemeClr val="accent6"/>
                </a:solidFill>
                <a:latin typeface="Google Sans"/>
                <a:ea typeface="+mn-ea"/>
                <a:cs typeface="+mn-cs"/>
              </a:rPr>
              <a:t>conn.QuerySingle</a:t>
            </a:r>
            <a:r>
              <a:rPr lang="en-US" sz="1500" dirty="0">
                <a:solidFill>
                  <a:schemeClr val="accent6"/>
                </a:solidFill>
                <a:latin typeface="Google Sans"/>
                <a:ea typeface="+mn-ea"/>
                <a:cs typeface="+mn-cs"/>
              </a:rPr>
              <a:t>&lt;Product&gt;(</a:t>
            </a:r>
          </a:p>
          <a:p>
            <a:r>
              <a:rPr lang="en-US" sz="1500" dirty="0">
                <a:solidFill>
                  <a:schemeClr val="accent6"/>
                </a:solidFill>
                <a:latin typeface="Google Sans"/>
                <a:ea typeface="+mn-ea"/>
                <a:cs typeface="+mn-cs"/>
              </a:rPr>
              <a:t>  "SELECT * FROM Products WHERE Id = @Id", new { Id = id });</a:t>
            </a:r>
          </a:p>
          <a:p>
            <a:r>
              <a:rPr lang="en-US" sz="1500" dirty="0">
                <a:solidFill>
                  <a:schemeClr val="accent6"/>
                </a:solidFill>
                <a:latin typeface="Google Sans"/>
                <a:ea typeface="+mn-ea"/>
                <a:cs typeface="+mn-cs"/>
              </a:rPr>
              <a:t>No string concatenation — Dapper handles it securely.</a:t>
            </a:r>
          </a:p>
          <a:p>
            <a:r>
              <a:rPr lang="en-US" sz="1500" dirty="0">
                <a:solidFill>
                  <a:schemeClr val="accent2"/>
                </a:solidFill>
                <a:latin typeface="Google Sans"/>
                <a:ea typeface="+mn-ea"/>
                <a:cs typeface="+mn-cs"/>
              </a:rPr>
              <a:t>🔗 c) Multi-Mapping &amp; Complex Queries</a:t>
            </a:r>
          </a:p>
          <a:p>
            <a:r>
              <a:rPr lang="en-US" sz="1500" dirty="0">
                <a:solidFill>
                  <a:schemeClr val="accent6"/>
                </a:solidFill>
                <a:latin typeface="Google Sans"/>
                <a:ea typeface="+mn-ea"/>
                <a:cs typeface="+mn-cs"/>
              </a:rPr>
              <a:t>Often your query involves JOINs. </a:t>
            </a:r>
            <a:r>
              <a:rPr lang="en-US" sz="1500" dirty="0">
                <a:solidFill>
                  <a:schemeClr val="accent2"/>
                </a:solidFill>
                <a:latin typeface="Google Sans"/>
                <a:ea typeface="+mn-ea"/>
                <a:cs typeface="+mn-cs"/>
              </a:rPr>
              <a:t>Dapper supports:</a:t>
            </a:r>
          </a:p>
          <a:p>
            <a:r>
              <a:rPr lang="en-US" sz="1500" dirty="0">
                <a:solidFill>
                  <a:schemeClr val="accent6"/>
                </a:solidFill>
                <a:latin typeface="Google Sans"/>
                <a:ea typeface="+mn-ea"/>
                <a:cs typeface="+mn-cs"/>
              </a:rPr>
              <a:t>Multi-mapping: Map results into multiple linked objects (e.g., Order + Customer)</a:t>
            </a:r>
          </a:p>
          <a:p>
            <a:r>
              <a:rPr lang="en-US" sz="1500" dirty="0">
                <a:solidFill>
                  <a:schemeClr val="accent6"/>
                </a:solidFill>
                <a:latin typeface="Google Sans"/>
                <a:ea typeface="+mn-ea"/>
                <a:cs typeface="+mn-cs"/>
              </a:rPr>
              <a:t>Multi result sets: Read multiple SELECT results in one roundtrip using a </a:t>
            </a:r>
            <a:r>
              <a:rPr lang="en-US" sz="1500" dirty="0" err="1">
                <a:solidFill>
                  <a:schemeClr val="accent6"/>
                </a:solidFill>
                <a:latin typeface="Google Sans"/>
                <a:ea typeface="+mn-ea"/>
                <a:cs typeface="+mn-cs"/>
              </a:rPr>
              <a:t>GridReader</a:t>
            </a:r>
            <a:endParaRPr lang="en-US" sz="1500" dirty="0">
              <a:solidFill>
                <a:schemeClr val="accent6"/>
              </a:solidFill>
              <a:latin typeface="Google Sans"/>
              <a:ea typeface="+mn-ea"/>
              <a:cs typeface="+mn-cs"/>
            </a:endParaRPr>
          </a:p>
          <a:p>
            <a:r>
              <a:rPr lang="en-US" sz="1500" dirty="0">
                <a:solidFill>
                  <a:schemeClr val="accent6"/>
                </a:solidFill>
                <a:latin typeface="Google Sans"/>
                <a:ea typeface="+mn-ea"/>
                <a:cs typeface="+mn-cs"/>
              </a:rPr>
              <a:t>This lets you reconstruct relationships without multiple database hits.</a:t>
            </a:r>
          </a:p>
          <a:p>
            <a:r>
              <a:rPr lang="en-US" sz="1500" dirty="0">
                <a:solidFill>
                  <a:schemeClr val="accent2"/>
                </a:solidFill>
                <a:latin typeface="Google Sans"/>
                <a:ea typeface="+mn-ea"/>
                <a:cs typeface="+mn-cs"/>
              </a:rPr>
              <a:t>⚙️ d) Async &amp; Streaming Support</a:t>
            </a:r>
          </a:p>
          <a:p>
            <a:r>
              <a:rPr lang="en-US" sz="1500" dirty="0">
                <a:solidFill>
                  <a:schemeClr val="accent6"/>
                </a:solidFill>
                <a:latin typeface="Google Sans"/>
                <a:ea typeface="+mn-ea"/>
                <a:cs typeface="+mn-cs"/>
              </a:rPr>
              <a:t>Everything you can do synchronously has a Task-based async equivalent, including:</a:t>
            </a:r>
          </a:p>
          <a:p>
            <a:r>
              <a:rPr lang="en-US" sz="1500" dirty="0" err="1">
                <a:solidFill>
                  <a:schemeClr val="accent6"/>
                </a:solidFill>
                <a:latin typeface="Google Sans"/>
                <a:ea typeface="+mn-ea"/>
                <a:cs typeface="+mn-cs"/>
              </a:rPr>
              <a:t>QueryAsync</a:t>
            </a:r>
            <a:r>
              <a:rPr lang="en-US" sz="1500" dirty="0">
                <a:solidFill>
                  <a:schemeClr val="accent6"/>
                </a:solidFill>
                <a:latin typeface="Google Sans"/>
                <a:ea typeface="+mn-ea"/>
                <a:cs typeface="+mn-cs"/>
              </a:rPr>
              <a:t>&lt;T&gt;()</a:t>
            </a:r>
          </a:p>
          <a:p>
            <a:r>
              <a:rPr lang="en-US" sz="1500" dirty="0" err="1">
                <a:solidFill>
                  <a:schemeClr val="accent6"/>
                </a:solidFill>
                <a:latin typeface="Google Sans"/>
                <a:ea typeface="+mn-ea"/>
                <a:cs typeface="+mn-cs"/>
              </a:rPr>
              <a:t>QueryUnbufferedAsync</a:t>
            </a:r>
            <a:r>
              <a:rPr lang="en-US" sz="1500" dirty="0">
                <a:solidFill>
                  <a:schemeClr val="accent6"/>
                </a:solidFill>
                <a:latin typeface="Google Sans"/>
                <a:ea typeface="+mn-ea"/>
                <a:cs typeface="+mn-cs"/>
              </a:rPr>
              <a:t>&lt;T&gt;() → streams results instead of buffering</a:t>
            </a:r>
          </a:p>
          <a:p>
            <a:r>
              <a:rPr lang="en-US" sz="1500" dirty="0">
                <a:solidFill>
                  <a:schemeClr val="accent6"/>
                </a:solidFill>
                <a:latin typeface="Google Sans"/>
                <a:ea typeface="+mn-ea"/>
                <a:cs typeface="+mn-cs"/>
              </a:rPr>
              <a:t>Streaming is great for large datasets when you don’t want all results in memory.</a:t>
            </a:r>
          </a:p>
          <a:p>
            <a:r>
              <a:rPr lang="en-US" sz="1500" dirty="0">
                <a:solidFill>
                  <a:schemeClr val="accent2"/>
                </a:solidFill>
                <a:latin typeface="Google Sans"/>
                <a:ea typeface="+mn-ea"/>
                <a:cs typeface="+mn-cs"/>
              </a:rPr>
              <a:t>🚀 3) Performance Anatomy</a:t>
            </a:r>
          </a:p>
          <a:p>
            <a:r>
              <a:rPr lang="en-US" sz="1500" dirty="0">
                <a:solidFill>
                  <a:schemeClr val="accent2"/>
                </a:solidFill>
                <a:latin typeface="Google Sans"/>
                <a:ea typeface="+mn-ea"/>
                <a:cs typeface="+mn-cs"/>
              </a:rPr>
              <a:t>Dapper is fast because:</a:t>
            </a:r>
          </a:p>
          <a:p>
            <a:r>
              <a:rPr lang="en-US" sz="1500" dirty="0">
                <a:solidFill>
                  <a:schemeClr val="accent6"/>
                </a:solidFill>
                <a:latin typeface="Google Sans"/>
                <a:ea typeface="+mn-ea"/>
                <a:cs typeface="+mn-cs"/>
              </a:rPr>
              <a:t>It uses hand-crafted SQL, so there’s no expression tree translation.</a:t>
            </a:r>
          </a:p>
          <a:p>
            <a:r>
              <a:rPr lang="en-US" sz="1500" dirty="0">
                <a:solidFill>
                  <a:schemeClr val="accent6"/>
                </a:solidFill>
                <a:latin typeface="Google Sans"/>
                <a:ea typeface="+mn-ea"/>
                <a:cs typeface="+mn-cs"/>
              </a:rPr>
              <a:t>It caches mapping delegates, minimizing reflection overhead.</a:t>
            </a:r>
          </a:p>
          <a:p>
            <a:r>
              <a:rPr lang="en-US" sz="1500" dirty="0">
                <a:solidFill>
                  <a:schemeClr val="accent6"/>
                </a:solidFill>
                <a:latin typeface="Google Sans"/>
                <a:ea typeface="+mn-ea"/>
                <a:cs typeface="+mn-cs"/>
              </a:rPr>
              <a:t>It performs low memory allocation compared to heavy ORMs.</a:t>
            </a:r>
          </a:p>
          <a:p>
            <a:r>
              <a:rPr lang="en-US" sz="1500" dirty="0">
                <a:solidFill>
                  <a:schemeClr val="accent6"/>
                </a:solidFill>
                <a:latin typeface="Google Sans"/>
                <a:ea typeface="+mn-ea"/>
                <a:cs typeface="+mn-cs"/>
              </a:rPr>
              <a:t>Benchmarks generally show Dapper close to raw ADO.NET performance, and typically faster than full ORMs like Entity Framework Core, especially for read operations.</a:t>
            </a:r>
          </a:p>
        </p:txBody>
      </p:sp>
    </p:spTree>
    <p:extLst>
      <p:ext uri="{BB962C8B-B14F-4D97-AF65-F5344CB8AC3E}">
        <p14:creationId xmlns:p14="http://schemas.microsoft.com/office/powerpoint/2010/main" val="209208928"/>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6FFB5-9407-27D1-155D-859661FEE73B}"/>
            </a:ext>
          </a:extLst>
        </p:cNvPr>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6F183151-6D88-5620-E7E5-D79379D06334}"/>
              </a:ext>
            </a:extLst>
          </p:cNvPr>
          <p:cNvGraphicFramePr/>
          <p:nvPr/>
        </p:nvGraphicFramePr>
        <p:xfrm>
          <a:off x="0" y="76201"/>
          <a:ext cx="9144000" cy="5900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41D8571C-E63F-EE33-E0B9-6B2E3741B3CA}"/>
              </a:ext>
            </a:extLst>
          </p:cNvPr>
          <p:cNvSpPr txBox="1">
            <a:spLocks/>
          </p:cNvSpPr>
          <p:nvPr/>
        </p:nvSpPr>
        <p:spPr>
          <a:xfrm>
            <a:off x="138063" y="12192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endParaRPr lang="en-US" sz="2000" kern="0" spc="-220" dirty="0">
              <a:solidFill>
                <a:schemeClr val="accent6"/>
              </a:solidFill>
            </a:endParaRPr>
          </a:p>
        </p:txBody>
      </p:sp>
      <p:sp>
        <p:nvSpPr>
          <p:cNvPr id="15" name="object 2">
            <a:extLst>
              <a:ext uri="{FF2B5EF4-FFF2-40B4-BE49-F238E27FC236}">
                <a16:creationId xmlns:a16="http://schemas.microsoft.com/office/drawing/2014/main" id="{C48092FD-73A4-208A-A95C-EE10577344CE}"/>
              </a:ext>
            </a:extLst>
          </p:cNvPr>
          <p:cNvSpPr txBox="1">
            <a:spLocks/>
          </p:cNvSpPr>
          <p:nvPr/>
        </p:nvSpPr>
        <p:spPr>
          <a:xfrm>
            <a:off x="304800" y="5105400"/>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6"/>
                </a:solidFill>
              </a:rPr>
              <a:t> </a:t>
            </a:r>
          </a:p>
        </p:txBody>
      </p:sp>
      <p:sp>
        <p:nvSpPr>
          <p:cNvPr id="2" name="object 2">
            <a:extLst>
              <a:ext uri="{FF2B5EF4-FFF2-40B4-BE49-F238E27FC236}">
                <a16:creationId xmlns:a16="http://schemas.microsoft.com/office/drawing/2014/main" id="{E9C849D7-49B5-DA07-30C4-23C61B64ED18}"/>
              </a:ext>
            </a:extLst>
          </p:cNvPr>
          <p:cNvSpPr txBox="1">
            <a:spLocks/>
          </p:cNvSpPr>
          <p:nvPr/>
        </p:nvSpPr>
        <p:spPr>
          <a:xfrm>
            <a:off x="131778" y="667838"/>
            <a:ext cx="8624937" cy="53091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 4) Practical Techniques &amp; API Patterns</a:t>
            </a:r>
          </a:p>
          <a:p>
            <a:r>
              <a:rPr lang="en-US" sz="1500" dirty="0">
                <a:solidFill>
                  <a:schemeClr val="accent2"/>
                </a:solidFill>
                <a:latin typeface="Google Sans"/>
                <a:ea typeface="+mn-ea"/>
                <a:cs typeface="+mn-cs"/>
              </a:rPr>
              <a:t>✅ a) Reuse Connections Wisely</a:t>
            </a:r>
          </a:p>
          <a:p>
            <a:r>
              <a:rPr lang="en-US" sz="1500" dirty="0">
                <a:solidFill>
                  <a:schemeClr val="accent6"/>
                </a:solidFill>
                <a:latin typeface="Google Sans"/>
                <a:ea typeface="+mn-ea"/>
                <a:cs typeface="+mn-cs"/>
              </a:rPr>
              <a:t>Do not hold a connection open forever. Instead:</a:t>
            </a:r>
          </a:p>
          <a:p>
            <a:r>
              <a:rPr lang="en-US" sz="1500" dirty="0">
                <a:solidFill>
                  <a:schemeClr val="accent6"/>
                </a:solidFill>
                <a:latin typeface="Google Sans"/>
                <a:ea typeface="+mn-ea"/>
                <a:cs typeface="+mn-cs"/>
              </a:rPr>
              <a:t>Open connection just before use</a:t>
            </a:r>
          </a:p>
          <a:p>
            <a:r>
              <a:rPr lang="en-US" sz="1500" dirty="0">
                <a:solidFill>
                  <a:schemeClr val="accent6"/>
                </a:solidFill>
                <a:latin typeface="Google Sans"/>
                <a:ea typeface="+mn-ea"/>
                <a:cs typeface="+mn-cs"/>
              </a:rPr>
              <a:t>Close immediately after</a:t>
            </a:r>
          </a:p>
          <a:p>
            <a:r>
              <a:rPr lang="en-US" sz="1500" dirty="0">
                <a:solidFill>
                  <a:schemeClr val="accent6"/>
                </a:solidFill>
                <a:latin typeface="Google Sans"/>
                <a:ea typeface="+mn-ea"/>
                <a:cs typeface="+mn-cs"/>
              </a:rPr>
              <a:t>Use connection pooling (handled by ADO.NET)</a:t>
            </a:r>
          </a:p>
          <a:p>
            <a:r>
              <a:rPr lang="en-US" sz="1500" dirty="0">
                <a:solidFill>
                  <a:schemeClr val="accent2"/>
                </a:solidFill>
                <a:latin typeface="Google Sans"/>
                <a:ea typeface="+mn-ea"/>
                <a:cs typeface="+mn-cs"/>
              </a:rPr>
              <a:t>Example best pattern:</a:t>
            </a:r>
          </a:p>
          <a:p>
            <a:r>
              <a:rPr lang="en-US" sz="1500" dirty="0">
                <a:solidFill>
                  <a:schemeClr val="accent6"/>
                </a:solidFill>
                <a:latin typeface="Google Sans"/>
                <a:ea typeface="+mn-ea"/>
                <a:cs typeface="+mn-cs"/>
              </a:rPr>
              <a:t>await using var conn = new </a:t>
            </a:r>
            <a:r>
              <a:rPr lang="en-US" sz="1500" dirty="0" err="1">
                <a:solidFill>
                  <a:schemeClr val="accent6"/>
                </a:solidFill>
                <a:latin typeface="Google Sans"/>
                <a:ea typeface="+mn-ea"/>
                <a:cs typeface="+mn-cs"/>
              </a:rPr>
              <a:t>SqlConnection</a:t>
            </a:r>
            <a:r>
              <a:rPr lang="en-US" sz="1500" dirty="0">
                <a:solidFill>
                  <a:schemeClr val="accent6"/>
                </a:solidFill>
                <a:latin typeface="Google Sans"/>
                <a:ea typeface="+mn-ea"/>
                <a:cs typeface="+mn-cs"/>
              </a:rPr>
              <a:t>(</a:t>
            </a:r>
            <a:r>
              <a:rPr lang="en-US" sz="1500" dirty="0" err="1">
                <a:solidFill>
                  <a:schemeClr val="accent6"/>
                </a:solidFill>
                <a:latin typeface="Google Sans"/>
                <a:ea typeface="+mn-ea"/>
                <a:cs typeface="+mn-cs"/>
              </a:rPr>
              <a:t>connString</a:t>
            </a:r>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await </a:t>
            </a:r>
            <a:r>
              <a:rPr lang="en-US" sz="1500" dirty="0" err="1">
                <a:solidFill>
                  <a:schemeClr val="accent6"/>
                </a:solidFill>
                <a:latin typeface="Google Sans"/>
                <a:ea typeface="+mn-ea"/>
                <a:cs typeface="+mn-cs"/>
              </a:rPr>
              <a:t>conn.OpenAsync</a:t>
            </a:r>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This keeps your app scalable.</a:t>
            </a:r>
          </a:p>
          <a:p>
            <a:r>
              <a:rPr lang="en-US" sz="1500" dirty="0">
                <a:solidFill>
                  <a:schemeClr val="accent2"/>
                </a:solidFill>
                <a:latin typeface="Google Sans"/>
                <a:ea typeface="+mn-ea"/>
                <a:cs typeface="+mn-cs"/>
              </a:rPr>
              <a:t>✅ b) Centralize SQL</a:t>
            </a:r>
          </a:p>
          <a:p>
            <a:r>
              <a:rPr lang="en-US" sz="1500" dirty="0">
                <a:solidFill>
                  <a:schemeClr val="accent6"/>
                </a:solidFill>
                <a:latin typeface="Google Sans"/>
                <a:ea typeface="+mn-ea"/>
                <a:cs typeface="+mn-cs"/>
              </a:rPr>
              <a:t>Inline SQL everywhere quickly becomes hard to manage. Instead:</a:t>
            </a:r>
          </a:p>
          <a:p>
            <a:r>
              <a:rPr lang="en-US" sz="1500" dirty="0">
                <a:solidFill>
                  <a:schemeClr val="accent6"/>
                </a:solidFill>
                <a:latin typeface="Google Sans"/>
                <a:ea typeface="+mn-ea"/>
                <a:cs typeface="+mn-cs"/>
              </a:rPr>
              <a:t>Store SQL in constants or embedded files</a:t>
            </a:r>
          </a:p>
          <a:p>
            <a:r>
              <a:rPr lang="en-US" sz="1500" dirty="0">
                <a:solidFill>
                  <a:schemeClr val="accent6"/>
                </a:solidFill>
                <a:latin typeface="Google Sans"/>
                <a:ea typeface="+mn-ea"/>
                <a:cs typeface="+mn-cs"/>
              </a:rPr>
              <a:t>Use repository or query service patterns</a:t>
            </a:r>
          </a:p>
          <a:p>
            <a:r>
              <a:rPr lang="en-US" sz="1500" dirty="0">
                <a:solidFill>
                  <a:schemeClr val="accent6"/>
                </a:solidFill>
                <a:latin typeface="Google Sans"/>
                <a:ea typeface="+mn-ea"/>
                <a:cs typeface="+mn-cs"/>
              </a:rPr>
              <a:t>That makes maintenance and testing easier.</a:t>
            </a:r>
          </a:p>
          <a:p>
            <a:r>
              <a:rPr lang="en-US" sz="1500" dirty="0">
                <a:solidFill>
                  <a:schemeClr val="accent2"/>
                </a:solidFill>
                <a:latin typeface="Google Sans"/>
                <a:ea typeface="+mn-ea"/>
                <a:cs typeface="+mn-cs"/>
              </a:rPr>
              <a:t>✅ c) Use Parameter Objects</a:t>
            </a:r>
          </a:p>
          <a:p>
            <a:r>
              <a:rPr lang="en-US" sz="1500" dirty="0">
                <a:solidFill>
                  <a:schemeClr val="accent6"/>
                </a:solidFill>
                <a:latin typeface="Google Sans"/>
                <a:ea typeface="+mn-ea"/>
                <a:cs typeface="+mn-cs"/>
              </a:rPr>
              <a:t>Instead of anonymous objects:</a:t>
            </a:r>
          </a:p>
          <a:p>
            <a:r>
              <a:rPr lang="en-US" sz="1500" dirty="0">
                <a:solidFill>
                  <a:schemeClr val="accent6"/>
                </a:solidFill>
                <a:latin typeface="Google Sans"/>
                <a:ea typeface="+mn-ea"/>
                <a:cs typeface="+mn-cs"/>
              </a:rPr>
              <a:t>Use a typed DTO for parameters</a:t>
            </a:r>
          </a:p>
          <a:p>
            <a:r>
              <a:rPr lang="en-US" sz="1500" dirty="0">
                <a:solidFill>
                  <a:schemeClr val="accent6"/>
                </a:solidFill>
                <a:latin typeface="Google Sans"/>
                <a:ea typeface="+mn-ea"/>
                <a:cs typeface="+mn-cs"/>
              </a:rPr>
              <a:t>Improves readability &amp; tooling support</a:t>
            </a:r>
          </a:p>
          <a:p>
            <a:r>
              <a:rPr lang="en-US" sz="1500" dirty="0">
                <a:solidFill>
                  <a:schemeClr val="accent2"/>
                </a:solidFill>
                <a:latin typeface="Google Sans"/>
                <a:ea typeface="+mn-ea"/>
                <a:cs typeface="+mn-cs"/>
              </a:rPr>
              <a:t>Example:</a:t>
            </a:r>
          </a:p>
          <a:p>
            <a:r>
              <a:rPr lang="en-US" sz="1500" dirty="0">
                <a:solidFill>
                  <a:schemeClr val="accent6"/>
                </a:solidFill>
                <a:latin typeface="Google Sans"/>
                <a:ea typeface="+mn-ea"/>
                <a:cs typeface="+mn-cs"/>
              </a:rPr>
              <a:t>var parameters = new { </a:t>
            </a:r>
            <a:r>
              <a:rPr lang="en-US" sz="1500" dirty="0" err="1">
                <a:solidFill>
                  <a:schemeClr val="accent6"/>
                </a:solidFill>
                <a:latin typeface="Google Sans"/>
                <a:ea typeface="+mn-ea"/>
                <a:cs typeface="+mn-cs"/>
              </a:rPr>
              <a:t>MinPrice</a:t>
            </a:r>
            <a:r>
              <a:rPr lang="en-US" sz="1500" dirty="0">
                <a:solidFill>
                  <a:schemeClr val="accent6"/>
                </a:solidFill>
                <a:latin typeface="Google Sans"/>
                <a:ea typeface="+mn-ea"/>
                <a:cs typeface="+mn-cs"/>
              </a:rPr>
              <a:t> = 100, </a:t>
            </a:r>
            <a:r>
              <a:rPr lang="en-US" sz="1500" dirty="0" err="1">
                <a:solidFill>
                  <a:schemeClr val="accent6"/>
                </a:solidFill>
                <a:latin typeface="Google Sans"/>
                <a:ea typeface="+mn-ea"/>
                <a:cs typeface="+mn-cs"/>
              </a:rPr>
              <a:t>MaxPrice</a:t>
            </a:r>
            <a:r>
              <a:rPr lang="en-US" sz="1500" dirty="0">
                <a:solidFill>
                  <a:schemeClr val="accent6"/>
                </a:solidFill>
                <a:latin typeface="Google Sans"/>
                <a:ea typeface="+mn-ea"/>
                <a:cs typeface="+mn-cs"/>
              </a:rPr>
              <a:t> = 500 };</a:t>
            </a:r>
          </a:p>
          <a:p>
            <a:r>
              <a:rPr lang="en-US" sz="1500" dirty="0">
                <a:solidFill>
                  <a:schemeClr val="accent6"/>
                </a:solidFill>
                <a:latin typeface="Google Sans"/>
                <a:ea typeface="+mn-ea"/>
                <a:cs typeface="+mn-cs"/>
              </a:rPr>
              <a:t>var products = </a:t>
            </a:r>
            <a:r>
              <a:rPr lang="en-US" sz="1500" dirty="0" err="1">
                <a:solidFill>
                  <a:schemeClr val="accent6"/>
                </a:solidFill>
                <a:latin typeface="Google Sans"/>
                <a:ea typeface="+mn-ea"/>
                <a:cs typeface="+mn-cs"/>
              </a:rPr>
              <a:t>conn.Query</a:t>
            </a:r>
            <a:r>
              <a:rPr lang="en-US" sz="1500" dirty="0">
                <a:solidFill>
                  <a:schemeClr val="accent6"/>
                </a:solidFill>
                <a:latin typeface="Google Sans"/>
                <a:ea typeface="+mn-ea"/>
                <a:cs typeface="+mn-cs"/>
              </a:rPr>
              <a:t>&lt;Product&gt;("SELECT * FROM Products WHERE Price BETWEEN @MinPrice AND @MaxPrice", parameters);</a:t>
            </a:r>
          </a:p>
        </p:txBody>
      </p:sp>
    </p:spTree>
    <p:extLst>
      <p:ext uri="{BB962C8B-B14F-4D97-AF65-F5344CB8AC3E}">
        <p14:creationId xmlns:p14="http://schemas.microsoft.com/office/powerpoint/2010/main" val="1001172566"/>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98347-5308-3E3F-2634-BF545B904BEA}"/>
            </a:ext>
          </a:extLst>
        </p:cNvPr>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465645B1-B427-B774-7581-9951C71A4FB9}"/>
              </a:ext>
            </a:extLst>
          </p:cNvPr>
          <p:cNvGraphicFramePr/>
          <p:nvPr/>
        </p:nvGraphicFramePr>
        <p:xfrm>
          <a:off x="0" y="76201"/>
          <a:ext cx="9144000" cy="5900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8F9894BB-5FB4-D648-D905-5415DDC6E79D}"/>
              </a:ext>
            </a:extLst>
          </p:cNvPr>
          <p:cNvSpPr txBox="1">
            <a:spLocks/>
          </p:cNvSpPr>
          <p:nvPr/>
        </p:nvSpPr>
        <p:spPr>
          <a:xfrm>
            <a:off x="138063" y="12192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endParaRPr lang="en-US" sz="2000" kern="0" spc="-220" dirty="0">
              <a:solidFill>
                <a:schemeClr val="accent6"/>
              </a:solidFill>
            </a:endParaRPr>
          </a:p>
        </p:txBody>
      </p:sp>
      <p:sp>
        <p:nvSpPr>
          <p:cNvPr id="15" name="object 2">
            <a:extLst>
              <a:ext uri="{FF2B5EF4-FFF2-40B4-BE49-F238E27FC236}">
                <a16:creationId xmlns:a16="http://schemas.microsoft.com/office/drawing/2014/main" id="{81B4C515-ED12-2638-5A5B-20DB0CA23AC8}"/>
              </a:ext>
            </a:extLst>
          </p:cNvPr>
          <p:cNvSpPr txBox="1">
            <a:spLocks/>
          </p:cNvSpPr>
          <p:nvPr/>
        </p:nvSpPr>
        <p:spPr>
          <a:xfrm>
            <a:off x="304800" y="5105400"/>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6"/>
                </a:solidFill>
              </a:rPr>
              <a:t> </a:t>
            </a:r>
          </a:p>
        </p:txBody>
      </p:sp>
      <p:sp>
        <p:nvSpPr>
          <p:cNvPr id="2" name="object 2">
            <a:extLst>
              <a:ext uri="{FF2B5EF4-FFF2-40B4-BE49-F238E27FC236}">
                <a16:creationId xmlns:a16="http://schemas.microsoft.com/office/drawing/2014/main" id="{862EB0A2-12C1-13B2-42C1-9B3F0B0628E1}"/>
              </a:ext>
            </a:extLst>
          </p:cNvPr>
          <p:cNvSpPr txBox="1">
            <a:spLocks/>
          </p:cNvSpPr>
          <p:nvPr/>
        </p:nvSpPr>
        <p:spPr>
          <a:xfrm>
            <a:off x="131778" y="667838"/>
            <a:ext cx="8624937" cy="53091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 4) Practical Techniques &amp; API Patterns</a:t>
            </a:r>
          </a:p>
          <a:p>
            <a:r>
              <a:rPr lang="en-US" sz="1500" dirty="0">
                <a:solidFill>
                  <a:schemeClr val="accent2"/>
                </a:solidFill>
                <a:latin typeface="Google Sans"/>
                <a:ea typeface="+mn-ea"/>
                <a:cs typeface="+mn-cs"/>
              </a:rPr>
              <a:t>✅ d) Multi-Mapping for Joins</a:t>
            </a:r>
          </a:p>
          <a:p>
            <a:r>
              <a:rPr lang="en-US" sz="1500" dirty="0">
                <a:solidFill>
                  <a:schemeClr val="accent6"/>
                </a:solidFill>
                <a:latin typeface="Google Sans"/>
                <a:ea typeface="+mn-ea"/>
                <a:cs typeface="+mn-cs"/>
              </a:rPr>
              <a:t>For a join across tables, specify split point:</a:t>
            </a:r>
          </a:p>
          <a:p>
            <a:r>
              <a:rPr lang="en-US" sz="1500" dirty="0">
                <a:solidFill>
                  <a:schemeClr val="accent6"/>
                </a:solidFill>
                <a:latin typeface="Google Sans"/>
                <a:ea typeface="+mn-ea"/>
                <a:cs typeface="+mn-cs"/>
              </a:rPr>
              <a:t>var </a:t>
            </a:r>
            <a:r>
              <a:rPr lang="en-US" sz="1500" dirty="0" err="1">
                <a:solidFill>
                  <a:schemeClr val="accent6"/>
                </a:solidFill>
                <a:latin typeface="Google Sans"/>
                <a:ea typeface="+mn-ea"/>
                <a:cs typeface="+mn-cs"/>
              </a:rPr>
              <a:t>sql</a:t>
            </a:r>
            <a:r>
              <a:rPr lang="en-US" sz="1500" dirty="0">
                <a:solidFill>
                  <a:schemeClr val="accent6"/>
                </a:solidFill>
                <a:latin typeface="Google Sans"/>
                <a:ea typeface="+mn-ea"/>
                <a:cs typeface="+mn-cs"/>
              </a:rPr>
              <a:t> = @"SELECT o.*, c.* FROM Orders o</a:t>
            </a:r>
          </a:p>
          <a:p>
            <a:r>
              <a:rPr lang="en-US" sz="1500" dirty="0">
                <a:solidFill>
                  <a:schemeClr val="accent6"/>
                </a:solidFill>
                <a:latin typeface="Google Sans"/>
                <a:ea typeface="+mn-ea"/>
                <a:cs typeface="+mn-cs"/>
              </a:rPr>
              <a:t>            JOIN Customers c ON </a:t>
            </a:r>
            <a:r>
              <a:rPr lang="en-US" sz="1500" dirty="0" err="1">
                <a:solidFill>
                  <a:schemeClr val="accent6"/>
                </a:solidFill>
                <a:latin typeface="Google Sans"/>
                <a:ea typeface="+mn-ea"/>
                <a:cs typeface="+mn-cs"/>
              </a:rPr>
              <a:t>o.CustomerId</a:t>
            </a:r>
            <a:r>
              <a:rPr lang="en-US" sz="1500" dirty="0">
                <a:solidFill>
                  <a:schemeClr val="accent6"/>
                </a:solidFill>
                <a:latin typeface="Google Sans"/>
                <a:ea typeface="+mn-ea"/>
                <a:cs typeface="+mn-cs"/>
              </a:rPr>
              <a:t> = </a:t>
            </a:r>
            <a:r>
              <a:rPr lang="en-US" sz="1500" dirty="0" err="1">
                <a:solidFill>
                  <a:schemeClr val="accent6"/>
                </a:solidFill>
                <a:latin typeface="Google Sans"/>
                <a:ea typeface="+mn-ea"/>
                <a:cs typeface="+mn-cs"/>
              </a:rPr>
              <a:t>c.Id</a:t>
            </a:r>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var list = </a:t>
            </a:r>
            <a:r>
              <a:rPr lang="en-US" sz="1500" dirty="0" err="1">
                <a:solidFill>
                  <a:schemeClr val="accent6"/>
                </a:solidFill>
                <a:latin typeface="Google Sans"/>
                <a:ea typeface="+mn-ea"/>
                <a:cs typeface="+mn-cs"/>
              </a:rPr>
              <a:t>conn.Query</a:t>
            </a:r>
            <a:r>
              <a:rPr lang="en-US" sz="1500" dirty="0">
                <a:solidFill>
                  <a:schemeClr val="accent6"/>
                </a:solidFill>
                <a:latin typeface="Google Sans"/>
                <a:ea typeface="+mn-ea"/>
                <a:cs typeface="+mn-cs"/>
              </a:rPr>
              <a:t>&lt;Order, Customer, Order&gt;(</a:t>
            </a:r>
          </a:p>
          <a:p>
            <a:r>
              <a:rPr lang="en-US" sz="1500" dirty="0">
                <a:solidFill>
                  <a:schemeClr val="accent6"/>
                </a:solidFill>
                <a:latin typeface="Google Sans"/>
                <a:ea typeface="+mn-ea"/>
                <a:cs typeface="+mn-cs"/>
              </a:rPr>
              <a:t>  </a:t>
            </a:r>
            <a:r>
              <a:rPr lang="en-US" sz="1500" dirty="0" err="1">
                <a:solidFill>
                  <a:schemeClr val="accent6"/>
                </a:solidFill>
                <a:latin typeface="Google Sans"/>
                <a:ea typeface="+mn-ea"/>
                <a:cs typeface="+mn-cs"/>
              </a:rPr>
              <a:t>sql</a:t>
            </a:r>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  (o, c) =&gt; { </a:t>
            </a:r>
            <a:r>
              <a:rPr lang="en-US" sz="1500" dirty="0" err="1">
                <a:solidFill>
                  <a:schemeClr val="accent6"/>
                </a:solidFill>
                <a:latin typeface="Google Sans"/>
                <a:ea typeface="+mn-ea"/>
                <a:cs typeface="+mn-cs"/>
              </a:rPr>
              <a:t>o.Customer</a:t>
            </a:r>
            <a:r>
              <a:rPr lang="en-US" sz="1500" dirty="0">
                <a:solidFill>
                  <a:schemeClr val="accent6"/>
                </a:solidFill>
                <a:latin typeface="Google Sans"/>
                <a:ea typeface="+mn-ea"/>
                <a:cs typeface="+mn-cs"/>
              </a:rPr>
              <a:t> = c; return o; },</a:t>
            </a:r>
          </a:p>
          <a:p>
            <a:r>
              <a:rPr lang="en-US" sz="1500" dirty="0">
                <a:solidFill>
                  <a:schemeClr val="accent6"/>
                </a:solidFill>
                <a:latin typeface="Google Sans"/>
                <a:ea typeface="+mn-ea"/>
                <a:cs typeface="+mn-cs"/>
              </a:rPr>
              <a:t>  </a:t>
            </a:r>
            <a:r>
              <a:rPr lang="en-US" sz="1500" dirty="0" err="1">
                <a:solidFill>
                  <a:schemeClr val="accent6"/>
                </a:solidFill>
                <a:latin typeface="Google Sans"/>
                <a:ea typeface="+mn-ea"/>
                <a:cs typeface="+mn-cs"/>
              </a:rPr>
              <a:t>splitOn</a:t>
            </a:r>
            <a:r>
              <a:rPr lang="en-US" sz="1500" dirty="0">
                <a:solidFill>
                  <a:schemeClr val="accent6"/>
                </a:solidFill>
                <a:latin typeface="Google Sans"/>
                <a:ea typeface="+mn-ea"/>
                <a:cs typeface="+mn-cs"/>
              </a:rPr>
              <a:t>: "</a:t>
            </a:r>
            <a:r>
              <a:rPr lang="en-US" sz="1500" dirty="0" err="1">
                <a:solidFill>
                  <a:schemeClr val="accent6"/>
                </a:solidFill>
                <a:latin typeface="Google Sans"/>
                <a:ea typeface="+mn-ea"/>
                <a:cs typeface="+mn-cs"/>
              </a:rPr>
              <a:t>CustomerId</a:t>
            </a:r>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This maps parent + child correctly.</a:t>
            </a:r>
          </a:p>
          <a:p>
            <a:r>
              <a:rPr lang="en-US" sz="1500" dirty="0">
                <a:solidFill>
                  <a:schemeClr val="accent2"/>
                </a:solidFill>
                <a:latin typeface="Google Sans"/>
                <a:ea typeface="+mn-ea"/>
                <a:cs typeface="+mn-cs"/>
              </a:rPr>
              <a:t>✅ e) Handling Stored Procedures</a:t>
            </a:r>
          </a:p>
          <a:p>
            <a:r>
              <a:rPr lang="en-US" sz="1500" dirty="0">
                <a:solidFill>
                  <a:schemeClr val="accent6"/>
                </a:solidFill>
                <a:latin typeface="Google Sans"/>
                <a:ea typeface="+mn-ea"/>
                <a:cs typeface="+mn-cs"/>
              </a:rPr>
              <a:t>Stored procedures are just another SQL command to Dapper:</a:t>
            </a:r>
          </a:p>
          <a:p>
            <a:r>
              <a:rPr lang="en-US" sz="1500" dirty="0" err="1">
                <a:solidFill>
                  <a:schemeClr val="accent6"/>
                </a:solidFill>
                <a:latin typeface="Google Sans"/>
                <a:ea typeface="+mn-ea"/>
                <a:cs typeface="+mn-cs"/>
              </a:rPr>
              <a:t>conn.Query</a:t>
            </a:r>
            <a:r>
              <a:rPr lang="en-US" sz="1500" dirty="0">
                <a:solidFill>
                  <a:schemeClr val="accent6"/>
                </a:solidFill>
                <a:latin typeface="Google Sans"/>
                <a:ea typeface="+mn-ea"/>
                <a:cs typeface="+mn-cs"/>
              </a:rPr>
              <a:t>&lt;Product&gt;(</a:t>
            </a:r>
          </a:p>
          <a:p>
            <a:r>
              <a:rPr lang="en-US" sz="1500" dirty="0">
                <a:solidFill>
                  <a:schemeClr val="accent6"/>
                </a:solidFill>
                <a:latin typeface="Google Sans"/>
                <a:ea typeface="+mn-ea"/>
                <a:cs typeface="+mn-cs"/>
              </a:rPr>
              <a:t>  "</a:t>
            </a:r>
            <a:r>
              <a:rPr lang="en-US" sz="1500" dirty="0" err="1">
                <a:solidFill>
                  <a:schemeClr val="accent6"/>
                </a:solidFill>
                <a:latin typeface="Google Sans"/>
                <a:ea typeface="+mn-ea"/>
                <a:cs typeface="+mn-cs"/>
              </a:rPr>
              <a:t>GetProductsByCategory</a:t>
            </a:r>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  new { </a:t>
            </a:r>
            <a:r>
              <a:rPr lang="en-US" sz="1500" dirty="0" err="1">
                <a:solidFill>
                  <a:schemeClr val="accent6"/>
                </a:solidFill>
                <a:latin typeface="Google Sans"/>
                <a:ea typeface="+mn-ea"/>
                <a:cs typeface="+mn-cs"/>
              </a:rPr>
              <a:t>CategoryId</a:t>
            </a:r>
            <a:r>
              <a:rPr lang="en-US" sz="1500" dirty="0">
                <a:solidFill>
                  <a:schemeClr val="accent6"/>
                </a:solidFill>
                <a:latin typeface="Google Sans"/>
                <a:ea typeface="+mn-ea"/>
                <a:cs typeface="+mn-cs"/>
              </a:rPr>
              <a:t> = id },</a:t>
            </a:r>
          </a:p>
          <a:p>
            <a:r>
              <a:rPr lang="en-US" sz="1500" dirty="0">
                <a:solidFill>
                  <a:schemeClr val="accent6"/>
                </a:solidFill>
                <a:latin typeface="Google Sans"/>
                <a:ea typeface="+mn-ea"/>
                <a:cs typeface="+mn-cs"/>
              </a:rPr>
              <a:t>  </a:t>
            </a:r>
            <a:r>
              <a:rPr lang="en-US" sz="1500" dirty="0" err="1">
                <a:solidFill>
                  <a:schemeClr val="accent6"/>
                </a:solidFill>
                <a:latin typeface="Google Sans"/>
                <a:ea typeface="+mn-ea"/>
                <a:cs typeface="+mn-cs"/>
              </a:rPr>
              <a:t>commandType</a:t>
            </a:r>
            <a:r>
              <a:rPr lang="en-US" sz="1500" dirty="0">
                <a:solidFill>
                  <a:schemeClr val="accent6"/>
                </a:solidFill>
                <a:latin typeface="Google Sans"/>
                <a:ea typeface="+mn-ea"/>
                <a:cs typeface="+mn-cs"/>
              </a:rPr>
              <a:t>: </a:t>
            </a:r>
            <a:r>
              <a:rPr lang="en-US" sz="1500" dirty="0" err="1">
                <a:solidFill>
                  <a:schemeClr val="accent6"/>
                </a:solidFill>
                <a:latin typeface="Google Sans"/>
                <a:ea typeface="+mn-ea"/>
                <a:cs typeface="+mn-cs"/>
              </a:rPr>
              <a:t>CommandType.StoredProcedure</a:t>
            </a:r>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Dapper handles input/output parameters easily too.</a:t>
            </a:r>
          </a:p>
          <a:p>
            <a:r>
              <a:rPr lang="en-US" sz="1500" dirty="0">
                <a:solidFill>
                  <a:schemeClr val="accent2"/>
                </a:solidFill>
                <a:latin typeface="Google Sans"/>
                <a:ea typeface="+mn-ea"/>
                <a:cs typeface="+mn-cs"/>
              </a:rPr>
              <a:t>🧠 5) Patterns for Architectures</a:t>
            </a:r>
          </a:p>
          <a:p>
            <a:r>
              <a:rPr lang="en-US" sz="1500" dirty="0">
                <a:solidFill>
                  <a:schemeClr val="accent2"/>
                </a:solidFill>
                <a:latin typeface="Google Sans"/>
                <a:ea typeface="+mn-ea"/>
                <a:cs typeface="+mn-cs"/>
              </a:rPr>
              <a:t>🧱 a) Repository &amp; Unit of Work</a:t>
            </a:r>
          </a:p>
          <a:p>
            <a:r>
              <a:rPr lang="en-US" sz="1500" dirty="0">
                <a:solidFill>
                  <a:schemeClr val="accent6"/>
                </a:solidFill>
                <a:latin typeface="Google Sans"/>
                <a:ea typeface="+mn-ea"/>
                <a:cs typeface="+mn-cs"/>
              </a:rPr>
              <a:t>Even though Dapper is simple, layering can help:</a:t>
            </a:r>
          </a:p>
          <a:p>
            <a:r>
              <a:rPr lang="en-US" sz="1500" dirty="0">
                <a:solidFill>
                  <a:schemeClr val="accent6"/>
                </a:solidFill>
                <a:latin typeface="Google Sans"/>
                <a:ea typeface="+mn-ea"/>
                <a:cs typeface="+mn-cs"/>
              </a:rPr>
              <a:t>Repository encapsulates data access for one entity</a:t>
            </a:r>
          </a:p>
          <a:p>
            <a:r>
              <a:rPr lang="en-US" sz="1500" dirty="0">
                <a:solidFill>
                  <a:schemeClr val="accent6"/>
                </a:solidFill>
                <a:latin typeface="Google Sans"/>
                <a:ea typeface="+mn-ea"/>
                <a:cs typeface="+mn-cs"/>
              </a:rPr>
              <a:t>Unit of Work handles transactional scope</a:t>
            </a:r>
          </a:p>
          <a:p>
            <a:r>
              <a:rPr lang="en-US" sz="1500" dirty="0">
                <a:solidFill>
                  <a:schemeClr val="accent6"/>
                </a:solidFill>
                <a:latin typeface="Google Sans"/>
                <a:ea typeface="+mn-ea"/>
                <a:cs typeface="+mn-cs"/>
              </a:rPr>
              <a:t>This separation helps testing and scaling.</a:t>
            </a:r>
          </a:p>
        </p:txBody>
      </p:sp>
    </p:spTree>
    <p:extLst>
      <p:ext uri="{BB962C8B-B14F-4D97-AF65-F5344CB8AC3E}">
        <p14:creationId xmlns:p14="http://schemas.microsoft.com/office/powerpoint/2010/main" val="3442328940"/>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CA3DC-53F1-D821-5E45-6A0A649F195B}"/>
            </a:ext>
          </a:extLst>
        </p:cNvPr>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EA1B3D89-FDD3-CCD9-20E4-74D2544FA408}"/>
              </a:ext>
            </a:extLst>
          </p:cNvPr>
          <p:cNvGraphicFramePr/>
          <p:nvPr/>
        </p:nvGraphicFramePr>
        <p:xfrm>
          <a:off x="0" y="76201"/>
          <a:ext cx="9144000" cy="5900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370BE9D4-B055-2208-C3AF-DB54D9F3E1DA}"/>
              </a:ext>
            </a:extLst>
          </p:cNvPr>
          <p:cNvSpPr txBox="1">
            <a:spLocks/>
          </p:cNvSpPr>
          <p:nvPr/>
        </p:nvSpPr>
        <p:spPr>
          <a:xfrm>
            <a:off x="138063" y="12192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endParaRPr lang="en-US" sz="2000" kern="0" spc="-220" dirty="0">
              <a:solidFill>
                <a:schemeClr val="accent6"/>
              </a:solidFill>
            </a:endParaRPr>
          </a:p>
        </p:txBody>
      </p:sp>
      <p:sp>
        <p:nvSpPr>
          <p:cNvPr id="15" name="object 2">
            <a:extLst>
              <a:ext uri="{FF2B5EF4-FFF2-40B4-BE49-F238E27FC236}">
                <a16:creationId xmlns:a16="http://schemas.microsoft.com/office/drawing/2014/main" id="{E03C2742-B5DB-A401-3AA6-6F9E00B9212E}"/>
              </a:ext>
            </a:extLst>
          </p:cNvPr>
          <p:cNvSpPr txBox="1">
            <a:spLocks/>
          </p:cNvSpPr>
          <p:nvPr/>
        </p:nvSpPr>
        <p:spPr>
          <a:xfrm>
            <a:off x="304800" y="5105400"/>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6"/>
                </a:solidFill>
              </a:rPr>
              <a:t> </a:t>
            </a:r>
          </a:p>
        </p:txBody>
      </p:sp>
      <p:sp>
        <p:nvSpPr>
          <p:cNvPr id="2" name="object 2">
            <a:extLst>
              <a:ext uri="{FF2B5EF4-FFF2-40B4-BE49-F238E27FC236}">
                <a16:creationId xmlns:a16="http://schemas.microsoft.com/office/drawing/2014/main" id="{D9B49F54-B95B-095E-00B1-752F672AE267}"/>
              </a:ext>
            </a:extLst>
          </p:cNvPr>
          <p:cNvSpPr txBox="1">
            <a:spLocks/>
          </p:cNvSpPr>
          <p:nvPr/>
        </p:nvSpPr>
        <p:spPr>
          <a:xfrm>
            <a:off x="131778" y="667838"/>
            <a:ext cx="8624937" cy="50783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 5) Patterns for Architectures</a:t>
            </a:r>
          </a:p>
          <a:p>
            <a:r>
              <a:rPr lang="en-US" sz="1500" dirty="0">
                <a:solidFill>
                  <a:schemeClr val="accent2"/>
                </a:solidFill>
                <a:latin typeface="Google Sans"/>
                <a:ea typeface="+mn-ea"/>
                <a:cs typeface="+mn-cs"/>
              </a:rPr>
              <a:t>🤝 b) Combine with Other Tools</a:t>
            </a:r>
          </a:p>
          <a:p>
            <a:r>
              <a:rPr lang="en-US" sz="1500" dirty="0">
                <a:solidFill>
                  <a:schemeClr val="accent6"/>
                </a:solidFill>
                <a:latin typeface="Google Sans"/>
                <a:ea typeface="+mn-ea"/>
                <a:cs typeface="+mn-cs"/>
              </a:rPr>
              <a:t>Because Dapper doesn’t manage migrations:</a:t>
            </a:r>
          </a:p>
          <a:p>
            <a:r>
              <a:rPr lang="en-US" sz="1500" dirty="0">
                <a:solidFill>
                  <a:schemeClr val="accent6"/>
                </a:solidFill>
                <a:latin typeface="Google Sans"/>
                <a:ea typeface="+mn-ea"/>
                <a:cs typeface="+mn-cs"/>
              </a:rPr>
              <a:t>Use EF Core or </a:t>
            </a:r>
            <a:r>
              <a:rPr lang="en-US" sz="1500" dirty="0" err="1">
                <a:solidFill>
                  <a:schemeClr val="accent6"/>
                </a:solidFill>
                <a:latin typeface="Google Sans"/>
                <a:ea typeface="+mn-ea"/>
                <a:cs typeface="+mn-cs"/>
              </a:rPr>
              <a:t>DbUp</a:t>
            </a:r>
            <a:r>
              <a:rPr lang="en-US" sz="1500" dirty="0">
                <a:solidFill>
                  <a:schemeClr val="accent6"/>
                </a:solidFill>
                <a:latin typeface="Google Sans"/>
                <a:ea typeface="+mn-ea"/>
                <a:cs typeface="+mn-cs"/>
              </a:rPr>
              <a:t> for schema migrations</a:t>
            </a:r>
          </a:p>
          <a:p>
            <a:r>
              <a:rPr lang="en-US" sz="1500" dirty="0">
                <a:solidFill>
                  <a:schemeClr val="accent6"/>
                </a:solidFill>
                <a:latin typeface="Google Sans"/>
                <a:ea typeface="+mn-ea"/>
                <a:cs typeface="+mn-cs"/>
              </a:rPr>
              <a:t>Continue using Dapper for performance-critical queries</a:t>
            </a:r>
          </a:p>
          <a:p>
            <a:r>
              <a:rPr lang="en-US" sz="1500" dirty="0">
                <a:solidFill>
                  <a:schemeClr val="accent6"/>
                </a:solidFill>
                <a:latin typeface="Google Sans"/>
                <a:ea typeface="+mn-ea"/>
                <a:cs typeface="+mn-cs"/>
              </a:rPr>
              <a:t>This hybrid approach gives both productivity and control.</a:t>
            </a:r>
          </a:p>
          <a:p>
            <a:r>
              <a:rPr lang="en-US" sz="1500" dirty="0">
                <a:solidFill>
                  <a:schemeClr val="accent2"/>
                </a:solidFill>
                <a:latin typeface="Google Sans"/>
                <a:ea typeface="+mn-ea"/>
                <a:cs typeface="+mn-cs"/>
              </a:rPr>
              <a:t>🐂 Bulk Operations</a:t>
            </a:r>
          </a:p>
          <a:p>
            <a:r>
              <a:rPr lang="en-US" sz="1500" dirty="0">
                <a:solidFill>
                  <a:schemeClr val="accent6"/>
                </a:solidFill>
                <a:latin typeface="Google Sans"/>
                <a:ea typeface="+mn-ea"/>
                <a:cs typeface="+mn-cs"/>
              </a:rPr>
              <a:t>Dapper itself has no native bulk insert. For massive inserts:</a:t>
            </a:r>
          </a:p>
          <a:p>
            <a:r>
              <a:rPr lang="en-US" sz="1500" dirty="0">
                <a:solidFill>
                  <a:schemeClr val="accent6"/>
                </a:solidFill>
                <a:latin typeface="Google Sans"/>
                <a:ea typeface="+mn-ea"/>
                <a:cs typeface="+mn-cs"/>
              </a:rPr>
              <a:t>Use </a:t>
            </a:r>
            <a:r>
              <a:rPr lang="en-US" sz="1500" dirty="0" err="1">
                <a:solidFill>
                  <a:schemeClr val="accent6"/>
                </a:solidFill>
                <a:latin typeface="Google Sans"/>
                <a:ea typeface="+mn-ea"/>
                <a:cs typeface="+mn-cs"/>
              </a:rPr>
              <a:t>SqlBulkCopy</a:t>
            </a:r>
            <a:endParaRPr lang="en-US" sz="1500" dirty="0">
              <a:solidFill>
                <a:schemeClr val="accent6"/>
              </a:solidFill>
              <a:latin typeface="Google Sans"/>
              <a:ea typeface="+mn-ea"/>
              <a:cs typeface="+mn-cs"/>
            </a:endParaRPr>
          </a:p>
          <a:p>
            <a:r>
              <a:rPr lang="en-US" sz="1500" dirty="0">
                <a:solidFill>
                  <a:schemeClr val="accent6"/>
                </a:solidFill>
                <a:latin typeface="Google Sans"/>
                <a:ea typeface="+mn-ea"/>
                <a:cs typeface="+mn-cs"/>
              </a:rPr>
              <a:t>Or use libraries like Dapper Plus for extensions</a:t>
            </a:r>
          </a:p>
          <a:p>
            <a:r>
              <a:rPr lang="en-US" sz="1500" dirty="0">
                <a:solidFill>
                  <a:schemeClr val="accent2"/>
                </a:solidFill>
                <a:latin typeface="Google Sans"/>
                <a:ea typeface="+mn-ea"/>
                <a:cs typeface="+mn-cs"/>
              </a:rPr>
              <a:t>⚠️ 6) Gotchas, Anti-Patterns &amp; Common Pitfalls</a:t>
            </a:r>
          </a:p>
          <a:p>
            <a:r>
              <a:rPr lang="en-US" sz="1500" dirty="0">
                <a:solidFill>
                  <a:schemeClr val="accent2"/>
                </a:solidFill>
                <a:latin typeface="Google Sans"/>
                <a:ea typeface="+mn-ea"/>
                <a:cs typeface="+mn-cs"/>
              </a:rPr>
              <a:t>❌ a) SQL Duplication</a:t>
            </a:r>
          </a:p>
          <a:p>
            <a:r>
              <a:rPr lang="en-US" sz="1500" dirty="0">
                <a:solidFill>
                  <a:schemeClr val="accent6"/>
                </a:solidFill>
                <a:latin typeface="Google Sans"/>
                <a:ea typeface="+mn-ea"/>
                <a:cs typeface="+mn-cs"/>
              </a:rPr>
              <a:t>Copying identical SQL across layers:</a:t>
            </a:r>
          </a:p>
          <a:p>
            <a:r>
              <a:rPr lang="en-US" sz="1500" dirty="0">
                <a:solidFill>
                  <a:schemeClr val="accent6"/>
                </a:solidFill>
                <a:latin typeface="Google Sans"/>
                <a:ea typeface="+mn-ea"/>
                <a:cs typeface="+mn-cs"/>
              </a:rPr>
              <a:t>Increases maintenance cost</a:t>
            </a:r>
          </a:p>
          <a:p>
            <a:r>
              <a:rPr lang="en-US" sz="1500" dirty="0">
                <a:solidFill>
                  <a:schemeClr val="accent6"/>
                </a:solidFill>
                <a:latin typeface="Google Sans"/>
                <a:ea typeface="+mn-ea"/>
                <a:cs typeface="+mn-cs"/>
              </a:rPr>
              <a:t>Encourages drift when schema evolves</a:t>
            </a:r>
          </a:p>
          <a:p>
            <a:r>
              <a:rPr lang="en-US" sz="1500" dirty="0">
                <a:solidFill>
                  <a:schemeClr val="accent6"/>
                </a:solidFill>
                <a:latin typeface="Google Sans"/>
                <a:ea typeface="+mn-ea"/>
                <a:cs typeface="+mn-cs"/>
              </a:rPr>
              <a:t>Solution: centralize SQL templates.</a:t>
            </a:r>
          </a:p>
          <a:p>
            <a:r>
              <a:rPr lang="en-US" sz="1500" dirty="0">
                <a:solidFill>
                  <a:schemeClr val="accent2"/>
                </a:solidFill>
                <a:latin typeface="Google Sans"/>
                <a:ea typeface="+mn-ea"/>
                <a:cs typeface="+mn-cs"/>
              </a:rPr>
              <a:t>❌ b) N+1 Query Pattern</a:t>
            </a:r>
          </a:p>
          <a:p>
            <a:r>
              <a:rPr lang="en-US" sz="1500" dirty="0">
                <a:solidFill>
                  <a:schemeClr val="accent6"/>
                </a:solidFill>
                <a:latin typeface="Google Sans"/>
                <a:ea typeface="+mn-ea"/>
                <a:cs typeface="+mn-cs"/>
              </a:rPr>
              <a:t>Retrieving a list and then querying inside a loop:</a:t>
            </a:r>
          </a:p>
          <a:p>
            <a:r>
              <a:rPr lang="en-US" sz="1500" dirty="0">
                <a:solidFill>
                  <a:schemeClr val="accent6"/>
                </a:solidFill>
                <a:latin typeface="Google Sans"/>
                <a:ea typeface="+mn-ea"/>
                <a:cs typeface="+mn-cs"/>
              </a:rPr>
              <a:t>foreach (var user in users)</a:t>
            </a:r>
          </a:p>
          <a:p>
            <a:r>
              <a:rPr lang="en-US" sz="1500" dirty="0">
                <a:solidFill>
                  <a:schemeClr val="accent6"/>
                </a:solidFill>
                <a:latin typeface="Google Sans"/>
                <a:ea typeface="+mn-ea"/>
                <a:cs typeface="+mn-cs"/>
              </a:rPr>
              <a:t>  </a:t>
            </a:r>
            <a:r>
              <a:rPr lang="en-US" sz="1500" dirty="0" err="1">
                <a:solidFill>
                  <a:schemeClr val="accent6"/>
                </a:solidFill>
                <a:latin typeface="Google Sans"/>
                <a:ea typeface="+mn-ea"/>
                <a:cs typeface="+mn-cs"/>
              </a:rPr>
              <a:t>user.Orders</a:t>
            </a:r>
            <a:r>
              <a:rPr lang="en-US" sz="1500" dirty="0">
                <a:solidFill>
                  <a:schemeClr val="accent6"/>
                </a:solidFill>
                <a:latin typeface="Google Sans"/>
                <a:ea typeface="+mn-ea"/>
                <a:cs typeface="+mn-cs"/>
              </a:rPr>
              <a:t> = </a:t>
            </a:r>
            <a:r>
              <a:rPr lang="en-US" sz="1500" dirty="0" err="1">
                <a:solidFill>
                  <a:schemeClr val="accent6"/>
                </a:solidFill>
                <a:latin typeface="Google Sans"/>
                <a:ea typeface="+mn-ea"/>
                <a:cs typeface="+mn-cs"/>
              </a:rPr>
              <a:t>conn.Query</a:t>
            </a:r>
            <a:r>
              <a:rPr lang="en-US" sz="1500" dirty="0">
                <a:solidFill>
                  <a:schemeClr val="accent6"/>
                </a:solidFill>
                <a:latin typeface="Google Sans"/>
                <a:ea typeface="+mn-ea"/>
                <a:cs typeface="+mn-cs"/>
              </a:rPr>
              <a:t>&lt;Order&gt;(...);</a:t>
            </a:r>
          </a:p>
          <a:p>
            <a:r>
              <a:rPr lang="en-US" sz="1500" dirty="0">
                <a:solidFill>
                  <a:schemeClr val="accent6"/>
                </a:solidFill>
                <a:latin typeface="Google Sans"/>
                <a:ea typeface="+mn-ea"/>
                <a:cs typeface="+mn-cs"/>
              </a:rPr>
              <a:t>This causes multiple database roundtrips and is a classic performance issue.</a:t>
            </a:r>
          </a:p>
          <a:p>
            <a:r>
              <a:rPr lang="en-US" sz="1500" dirty="0">
                <a:solidFill>
                  <a:schemeClr val="accent6"/>
                </a:solidFill>
                <a:latin typeface="Google Sans"/>
                <a:ea typeface="+mn-ea"/>
                <a:cs typeface="+mn-cs"/>
              </a:rPr>
              <a:t>Use a single join with multi-mapping or IN (@ids) pattern instead.</a:t>
            </a:r>
          </a:p>
        </p:txBody>
      </p:sp>
    </p:spTree>
    <p:extLst>
      <p:ext uri="{BB962C8B-B14F-4D97-AF65-F5344CB8AC3E}">
        <p14:creationId xmlns:p14="http://schemas.microsoft.com/office/powerpoint/2010/main" val="2230576942"/>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ADEC7-AD64-7EAF-2F67-23F9A51ADFE5}"/>
            </a:ext>
          </a:extLst>
        </p:cNvPr>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026CB2FE-E547-C01E-2E8A-8DFFAE55B6A0}"/>
              </a:ext>
            </a:extLst>
          </p:cNvPr>
          <p:cNvGraphicFramePr/>
          <p:nvPr/>
        </p:nvGraphicFramePr>
        <p:xfrm>
          <a:off x="0" y="76201"/>
          <a:ext cx="9144000" cy="5900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EAA586AB-8557-1873-2837-75B8955B548C}"/>
              </a:ext>
            </a:extLst>
          </p:cNvPr>
          <p:cNvSpPr txBox="1">
            <a:spLocks/>
          </p:cNvSpPr>
          <p:nvPr/>
        </p:nvSpPr>
        <p:spPr>
          <a:xfrm>
            <a:off x="138063" y="12192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endParaRPr lang="en-US" sz="2000" kern="0" spc="-220" dirty="0">
              <a:solidFill>
                <a:schemeClr val="accent6"/>
              </a:solidFill>
            </a:endParaRPr>
          </a:p>
        </p:txBody>
      </p:sp>
      <p:sp>
        <p:nvSpPr>
          <p:cNvPr id="15" name="object 2">
            <a:extLst>
              <a:ext uri="{FF2B5EF4-FFF2-40B4-BE49-F238E27FC236}">
                <a16:creationId xmlns:a16="http://schemas.microsoft.com/office/drawing/2014/main" id="{6DB8E2D7-C79B-2B84-99CE-DB96AD24ED43}"/>
              </a:ext>
            </a:extLst>
          </p:cNvPr>
          <p:cNvSpPr txBox="1">
            <a:spLocks/>
          </p:cNvSpPr>
          <p:nvPr/>
        </p:nvSpPr>
        <p:spPr>
          <a:xfrm>
            <a:off x="304800" y="5105400"/>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6"/>
                </a:solidFill>
              </a:rPr>
              <a:t> </a:t>
            </a:r>
          </a:p>
        </p:txBody>
      </p:sp>
      <p:sp>
        <p:nvSpPr>
          <p:cNvPr id="2" name="object 2">
            <a:extLst>
              <a:ext uri="{FF2B5EF4-FFF2-40B4-BE49-F238E27FC236}">
                <a16:creationId xmlns:a16="http://schemas.microsoft.com/office/drawing/2014/main" id="{5746ADC6-63CD-80D5-9BA2-AB34CB5643F2}"/>
              </a:ext>
            </a:extLst>
          </p:cNvPr>
          <p:cNvSpPr txBox="1">
            <a:spLocks/>
          </p:cNvSpPr>
          <p:nvPr/>
        </p:nvSpPr>
        <p:spPr>
          <a:xfrm>
            <a:off x="131778" y="667838"/>
            <a:ext cx="8624937" cy="48474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 6) Gotchas, Anti-Patterns &amp; Common Pitfalls</a:t>
            </a:r>
          </a:p>
          <a:p>
            <a:r>
              <a:rPr lang="en-US" sz="1500" dirty="0">
                <a:solidFill>
                  <a:schemeClr val="accent2"/>
                </a:solidFill>
                <a:latin typeface="Google Sans"/>
                <a:ea typeface="+mn-ea"/>
                <a:cs typeface="+mn-cs"/>
              </a:rPr>
              <a:t>❌ c) Hard-coded SQL Strings</a:t>
            </a:r>
          </a:p>
          <a:p>
            <a:r>
              <a:rPr lang="en-US" sz="1500" dirty="0">
                <a:solidFill>
                  <a:schemeClr val="accent6"/>
                </a:solidFill>
                <a:latin typeface="Google Sans"/>
                <a:ea typeface="+mn-ea"/>
                <a:cs typeface="+mn-cs"/>
              </a:rPr>
              <a:t>Directly building SQL via string concatenation is messy and unsafe.</a:t>
            </a:r>
          </a:p>
          <a:p>
            <a:r>
              <a:rPr lang="en-US" sz="1500" dirty="0">
                <a:solidFill>
                  <a:schemeClr val="accent6"/>
                </a:solidFill>
                <a:latin typeface="Google Sans"/>
                <a:ea typeface="+mn-ea"/>
                <a:cs typeface="+mn-cs"/>
              </a:rPr>
              <a:t>Use parameterized queries or SQL builders (</a:t>
            </a:r>
            <a:r>
              <a:rPr lang="en-US" sz="1500" dirty="0" err="1">
                <a:solidFill>
                  <a:schemeClr val="accent6"/>
                </a:solidFill>
                <a:latin typeface="Google Sans"/>
                <a:ea typeface="+mn-ea"/>
                <a:cs typeface="+mn-cs"/>
              </a:rPr>
              <a:t>SqlKata</a:t>
            </a:r>
            <a:r>
              <a:rPr lang="en-US" sz="1500" dirty="0">
                <a:solidFill>
                  <a:schemeClr val="accent6"/>
                </a:solidFill>
                <a:latin typeface="Google Sans"/>
                <a:ea typeface="+mn-ea"/>
                <a:cs typeface="+mn-cs"/>
              </a:rPr>
              <a:t>, etc.).</a:t>
            </a:r>
          </a:p>
          <a:p>
            <a:r>
              <a:rPr lang="en-US" sz="1500" dirty="0">
                <a:solidFill>
                  <a:schemeClr val="accent2"/>
                </a:solidFill>
                <a:latin typeface="Google Sans"/>
                <a:ea typeface="+mn-ea"/>
                <a:cs typeface="+mn-cs"/>
              </a:rPr>
              <a:t>⚠️ d) Schema Changes Break Mapping</a:t>
            </a:r>
          </a:p>
          <a:p>
            <a:r>
              <a:rPr lang="en-US" sz="1500" dirty="0">
                <a:solidFill>
                  <a:schemeClr val="accent6"/>
                </a:solidFill>
                <a:latin typeface="Google Sans"/>
                <a:ea typeface="+mn-ea"/>
                <a:cs typeface="+mn-cs"/>
              </a:rPr>
              <a:t>Since Dapper doesn’t generate SQL for you, a change in schema (like renamed columns) silently breaks mapping at runtime.</a:t>
            </a:r>
          </a:p>
          <a:p>
            <a:r>
              <a:rPr lang="en-US" sz="1500" dirty="0">
                <a:solidFill>
                  <a:schemeClr val="accent6"/>
                </a:solidFill>
                <a:latin typeface="Google Sans"/>
                <a:ea typeface="+mn-ea"/>
                <a:cs typeface="+mn-cs"/>
              </a:rPr>
              <a:t>Use CI tests to validate queries regularly.</a:t>
            </a:r>
          </a:p>
          <a:p>
            <a:r>
              <a:rPr lang="en-US" sz="1500" dirty="0">
                <a:solidFill>
                  <a:schemeClr val="accent2"/>
                </a:solidFill>
                <a:latin typeface="Google Sans"/>
                <a:ea typeface="+mn-ea"/>
                <a:cs typeface="+mn-cs"/>
              </a:rPr>
              <a:t>📈 7) Best Practices </a:t>
            </a:r>
            <a:r>
              <a:rPr lang="en-US" sz="1500" dirty="0" err="1">
                <a:solidFill>
                  <a:schemeClr val="accent2"/>
                </a:solidFill>
                <a:latin typeface="Google Sans"/>
                <a:ea typeface="+mn-ea"/>
                <a:cs typeface="+mn-cs"/>
              </a:rPr>
              <a:t>Cheatsheet</a:t>
            </a:r>
            <a:endParaRPr lang="en-US" sz="1500" dirty="0">
              <a:solidFill>
                <a:schemeClr val="accent2"/>
              </a:solidFill>
              <a:latin typeface="Google Sans"/>
              <a:ea typeface="+mn-ea"/>
              <a:cs typeface="+mn-cs"/>
            </a:endParaRPr>
          </a:p>
          <a:p>
            <a:r>
              <a:rPr lang="en-US" sz="1500" dirty="0">
                <a:solidFill>
                  <a:schemeClr val="accent6"/>
                </a:solidFill>
                <a:latin typeface="Google Sans"/>
                <a:ea typeface="+mn-ea"/>
                <a:cs typeface="+mn-cs"/>
              </a:rPr>
              <a:t>✔ Write simple, explicit SQL</a:t>
            </a:r>
          </a:p>
          <a:p>
            <a:r>
              <a:rPr lang="en-US" sz="1500" dirty="0">
                <a:solidFill>
                  <a:schemeClr val="accent6"/>
                </a:solidFill>
                <a:latin typeface="Google Sans"/>
                <a:ea typeface="+mn-ea"/>
                <a:cs typeface="+mn-cs"/>
              </a:rPr>
              <a:t>✔ Use strongly typed parameters</a:t>
            </a:r>
          </a:p>
          <a:p>
            <a:r>
              <a:rPr lang="en-US" sz="1500" dirty="0">
                <a:solidFill>
                  <a:schemeClr val="accent6"/>
                </a:solidFill>
                <a:latin typeface="Google Sans"/>
                <a:ea typeface="+mn-ea"/>
                <a:cs typeface="+mn-cs"/>
              </a:rPr>
              <a:t>✔ Prefer async to scale under load</a:t>
            </a:r>
          </a:p>
          <a:p>
            <a:r>
              <a:rPr lang="en-US" sz="1500" dirty="0">
                <a:solidFill>
                  <a:schemeClr val="accent6"/>
                </a:solidFill>
                <a:latin typeface="Google Sans"/>
                <a:ea typeface="+mn-ea"/>
                <a:cs typeface="+mn-cs"/>
              </a:rPr>
              <a:t>✔ Centralize SQL text</a:t>
            </a:r>
          </a:p>
          <a:p>
            <a:r>
              <a:rPr lang="en-US" sz="1500" dirty="0">
                <a:solidFill>
                  <a:schemeClr val="accent6"/>
                </a:solidFill>
                <a:latin typeface="Google Sans"/>
                <a:ea typeface="+mn-ea"/>
                <a:cs typeface="+mn-cs"/>
              </a:rPr>
              <a:t>✔ Watch out for N+1 patterns</a:t>
            </a:r>
          </a:p>
          <a:p>
            <a:r>
              <a:rPr lang="en-US" sz="1500" dirty="0">
                <a:solidFill>
                  <a:schemeClr val="accent6"/>
                </a:solidFill>
                <a:latin typeface="Google Sans"/>
                <a:ea typeface="+mn-ea"/>
                <a:cs typeface="+mn-cs"/>
              </a:rPr>
              <a:t>✔ Profile database performance (e.g., </a:t>
            </a:r>
            <a:r>
              <a:rPr lang="en-US" sz="1500" dirty="0" err="1">
                <a:solidFill>
                  <a:schemeClr val="accent6"/>
                </a:solidFill>
                <a:latin typeface="Google Sans"/>
                <a:ea typeface="+mn-ea"/>
                <a:cs typeface="+mn-cs"/>
              </a:rPr>
              <a:t>MiniProfiler</a:t>
            </a:r>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 Cache static query results when helpful</a:t>
            </a:r>
          </a:p>
          <a:p>
            <a:r>
              <a:rPr lang="en-US" sz="1500" dirty="0">
                <a:solidFill>
                  <a:schemeClr val="accent6"/>
                </a:solidFill>
                <a:latin typeface="Google Sans"/>
                <a:ea typeface="+mn-ea"/>
                <a:cs typeface="+mn-cs"/>
              </a:rPr>
              <a:t>✔ Separate data access from business logic</a:t>
            </a:r>
          </a:p>
          <a:p>
            <a:r>
              <a:rPr lang="en-US" sz="1500" dirty="0">
                <a:solidFill>
                  <a:schemeClr val="accent6"/>
                </a:solidFill>
                <a:latin typeface="Google Sans"/>
                <a:ea typeface="+mn-ea"/>
                <a:cs typeface="+mn-cs"/>
              </a:rPr>
              <a:t>✔ Use proper transactions only where needed</a:t>
            </a:r>
          </a:p>
          <a:p>
            <a:endParaRPr lang="en-US" sz="1500" dirty="0">
              <a:solidFill>
                <a:schemeClr val="accent6"/>
              </a:solidFill>
              <a:latin typeface="Google Sans"/>
              <a:ea typeface="+mn-ea"/>
              <a:cs typeface="+mn-cs"/>
            </a:endParaRPr>
          </a:p>
          <a:p>
            <a:endParaRPr lang="en-US" sz="1500" dirty="0">
              <a:solidFill>
                <a:schemeClr val="accent6"/>
              </a:solidFill>
              <a:latin typeface="Google Sans"/>
              <a:ea typeface="+mn-ea"/>
              <a:cs typeface="+mn-cs"/>
            </a:endParaRPr>
          </a:p>
          <a:p>
            <a:endParaRPr lang="en-US" sz="1500" dirty="0">
              <a:solidFill>
                <a:schemeClr val="accent6"/>
              </a:solidFill>
              <a:latin typeface="Google Sans"/>
              <a:ea typeface="+mn-ea"/>
              <a:cs typeface="+mn-cs"/>
            </a:endParaRPr>
          </a:p>
        </p:txBody>
      </p:sp>
    </p:spTree>
    <p:extLst>
      <p:ext uri="{BB962C8B-B14F-4D97-AF65-F5344CB8AC3E}">
        <p14:creationId xmlns:p14="http://schemas.microsoft.com/office/powerpoint/2010/main" val="3725623075"/>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E5BA8-96D4-1ACD-E810-482B6AF8C479}"/>
            </a:ext>
          </a:extLst>
        </p:cNvPr>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D814735C-4FF0-B588-C2CF-73EDC90AA586}"/>
              </a:ext>
            </a:extLst>
          </p:cNvPr>
          <p:cNvGraphicFramePr/>
          <p:nvPr/>
        </p:nvGraphicFramePr>
        <p:xfrm>
          <a:off x="0" y="76201"/>
          <a:ext cx="9144000" cy="5900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C3494B60-E831-E2A6-060F-F5DFBA120ABF}"/>
              </a:ext>
            </a:extLst>
          </p:cNvPr>
          <p:cNvSpPr txBox="1">
            <a:spLocks/>
          </p:cNvSpPr>
          <p:nvPr/>
        </p:nvSpPr>
        <p:spPr>
          <a:xfrm>
            <a:off x="138063" y="12192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endParaRPr lang="en-US" sz="2000" kern="0" spc="-220" dirty="0">
              <a:solidFill>
                <a:schemeClr val="accent6"/>
              </a:solidFill>
            </a:endParaRPr>
          </a:p>
        </p:txBody>
      </p:sp>
      <p:sp>
        <p:nvSpPr>
          <p:cNvPr id="15" name="object 2">
            <a:extLst>
              <a:ext uri="{FF2B5EF4-FFF2-40B4-BE49-F238E27FC236}">
                <a16:creationId xmlns:a16="http://schemas.microsoft.com/office/drawing/2014/main" id="{BE1E3F98-4C68-2412-84E9-428CEE15FC6F}"/>
              </a:ext>
            </a:extLst>
          </p:cNvPr>
          <p:cNvSpPr txBox="1">
            <a:spLocks/>
          </p:cNvSpPr>
          <p:nvPr/>
        </p:nvSpPr>
        <p:spPr>
          <a:xfrm>
            <a:off x="304800" y="5105400"/>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6"/>
                </a:solidFill>
              </a:rPr>
              <a:t> </a:t>
            </a:r>
          </a:p>
        </p:txBody>
      </p:sp>
      <p:sp>
        <p:nvSpPr>
          <p:cNvPr id="2" name="object 2">
            <a:extLst>
              <a:ext uri="{FF2B5EF4-FFF2-40B4-BE49-F238E27FC236}">
                <a16:creationId xmlns:a16="http://schemas.microsoft.com/office/drawing/2014/main" id="{E31A5562-503D-0950-C331-1290E3B31AE8}"/>
              </a:ext>
            </a:extLst>
          </p:cNvPr>
          <p:cNvSpPr txBox="1">
            <a:spLocks/>
          </p:cNvSpPr>
          <p:nvPr/>
        </p:nvSpPr>
        <p:spPr>
          <a:xfrm>
            <a:off x="131778" y="667838"/>
            <a:ext cx="8624937" cy="346248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 8) When to Use Dapper (Decision Points)</a:t>
            </a:r>
          </a:p>
          <a:p>
            <a:r>
              <a:rPr lang="en-US" sz="1500" dirty="0">
                <a:solidFill>
                  <a:schemeClr val="accent2"/>
                </a:solidFill>
                <a:latin typeface="Google Sans"/>
                <a:ea typeface="+mn-ea"/>
                <a:cs typeface="+mn-cs"/>
              </a:rPr>
              <a:t>Situation	                                                Good Fit?	                      Why</a:t>
            </a:r>
          </a:p>
          <a:p>
            <a:r>
              <a:rPr lang="en-US" sz="1500" dirty="0">
                <a:solidFill>
                  <a:schemeClr val="accent6"/>
                </a:solidFill>
                <a:latin typeface="Google Sans"/>
                <a:ea typeface="+mn-ea"/>
                <a:cs typeface="+mn-cs"/>
              </a:rPr>
              <a:t>High Performance Reads	     ✔	                                            Minimal overhead</a:t>
            </a:r>
          </a:p>
          <a:p>
            <a:r>
              <a:rPr lang="en-US" sz="1500" dirty="0">
                <a:solidFill>
                  <a:schemeClr val="accent6"/>
                </a:solidFill>
                <a:latin typeface="Google Sans"/>
                <a:ea typeface="+mn-ea"/>
                <a:cs typeface="+mn-cs"/>
              </a:rPr>
              <a:t>Complex SQL you control	     ✔	                                            Full control over plans</a:t>
            </a:r>
          </a:p>
          <a:p>
            <a:r>
              <a:rPr lang="en-US" sz="1500" dirty="0">
                <a:solidFill>
                  <a:schemeClr val="accent6"/>
                </a:solidFill>
                <a:latin typeface="Google Sans"/>
                <a:ea typeface="+mn-ea"/>
                <a:cs typeface="+mn-cs"/>
              </a:rPr>
              <a:t>Simple CRUD only	                          ✔ (with extensions)	                       Very light</a:t>
            </a:r>
          </a:p>
          <a:p>
            <a:r>
              <a:rPr lang="en-US" sz="1500" dirty="0">
                <a:solidFill>
                  <a:schemeClr val="accent6"/>
                </a:solidFill>
                <a:latin typeface="Google Sans"/>
                <a:ea typeface="+mn-ea"/>
                <a:cs typeface="+mn-cs"/>
              </a:rPr>
              <a:t>Domain object graphs &amp; lazy loads	     ❌	                                            Better use full ORM</a:t>
            </a:r>
          </a:p>
          <a:p>
            <a:r>
              <a:rPr lang="en-US" sz="1500" dirty="0">
                <a:solidFill>
                  <a:schemeClr val="accent6"/>
                </a:solidFill>
                <a:latin typeface="Google Sans"/>
                <a:ea typeface="+mn-ea"/>
                <a:cs typeface="+mn-cs"/>
              </a:rPr>
              <a:t>Automatic migrations	                          ❌	                                            External tool required</a:t>
            </a:r>
          </a:p>
          <a:p>
            <a:r>
              <a:rPr lang="en-US" sz="1500" dirty="0">
                <a:solidFill>
                  <a:schemeClr val="accent2"/>
                </a:solidFill>
                <a:latin typeface="Google Sans"/>
                <a:ea typeface="+mn-ea"/>
                <a:cs typeface="+mn-cs"/>
              </a:rPr>
              <a:t>📦 Summary — Why Dapper Matters</a:t>
            </a:r>
          </a:p>
          <a:p>
            <a:r>
              <a:rPr lang="en-US" sz="1500" dirty="0">
                <a:solidFill>
                  <a:schemeClr val="accent6"/>
                </a:solidFill>
                <a:latin typeface="Google Sans"/>
                <a:ea typeface="+mn-ea"/>
                <a:cs typeface="+mn-cs"/>
              </a:rPr>
              <a:t>Dapper isn’t a “full ORM” — it’s a focused micro-ORM that balances performance, control, and simplicity. It fits best in:</a:t>
            </a:r>
          </a:p>
          <a:p>
            <a:r>
              <a:rPr lang="en-US" sz="1500" dirty="0">
                <a:solidFill>
                  <a:schemeClr val="accent6"/>
                </a:solidFill>
                <a:latin typeface="Google Sans"/>
                <a:ea typeface="+mn-ea"/>
                <a:cs typeface="+mn-cs"/>
              </a:rPr>
              <a:t>Microservices</a:t>
            </a:r>
          </a:p>
          <a:p>
            <a:r>
              <a:rPr lang="en-US" sz="1500" dirty="0">
                <a:solidFill>
                  <a:schemeClr val="accent6"/>
                </a:solidFill>
                <a:latin typeface="Google Sans"/>
                <a:ea typeface="+mn-ea"/>
                <a:cs typeface="+mn-cs"/>
              </a:rPr>
              <a:t>Performance-critical endpoints</a:t>
            </a:r>
          </a:p>
          <a:p>
            <a:r>
              <a:rPr lang="en-US" sz="1500" dirty="0">
                <a:solidFill>
                  <a:schemeClr val="accent6"/>
                </a:solidFill>
                <a:latin typeface="Google Sans"/>
                <a:ea typeface="+mn-ea"/>
                <a:cs typeface="+mn-cs"/>
              </a:rPr>
              <a:t>Systems where SQL expertise exists</a:t>
            </a:r>
          </a:p>
          <a:p>
            <a:r>
              <a:rPr lang="en-US" sz="1500" dirty="0">
                <a:solidFill>
                  <a:schemeClr val="accent6"/>
                </a:solidFill>
                <a:latin typeface="Google Sans"/>
                <a:ea typeface="+mn-ea"/>
                <a:cs typeface="+mn-cs"/>
              </a:rPr>
              <a:t>Codebases that benefit from explicit queries</a:t>
            </a:r>
          </a:p>
          <a:p>
            <a:r>
              <a:rPr lang="en-US" sz="1500" dirty="0">
                <a:solidFill>
                  <a:schemeClr val="accent6"/>
                </a:solidFill>
                <a:latin typeface="Google Sans"/>
                <a:ea typeface="+mn-ea"/>
                <a:cs typeface="+mn-cs"/>
              </a:rPr>
              <a:t>It does one thing very well: execute your SQL and map results to objects quickly and safely.</a:t>
            </a:r>
          </a:p>
        </p:txBody>
      </p:sp>
    </p:spTree>
    <p:extLst>
      <p:ext uri="{BB962C8B-B14F-4D97-AF65-F5344CB8AC3E}">
        <p14:creationId xmlns:p14="http://schemas.microsoft.com/office/powerpoint/2010/main" val="2930556102"/>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24F31-1953-98E3-ED0B-CCCFDABBA4AE}"/>
            </a:ext>
          </a:extLst>
        </p:cNvPr>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DF480E2C-49CA-B1FF-DE09-7AD6B6C92B9C}"/>
              </a:ext>
            </a:extLst>
          </p:cNvPr>
          <p:cNvGraphicFramePr/>
          <p:nvPr/>
        </p:nvGraphicFramePr>
        <p:xfrm>
          <a:off x="0" y="76201"/>
          <a:ext cx="9144000" cy="5900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AA07906B-75A2-6A25-BD74-883768FF2D17}"/>
              </a:ext>
            </a:extLst>
          </p:cNvPr>
          <p:cNvSpPr txBox="1">
            <a:spLocks/>
          </p:cNvSpPr>
          <p:nvPr/>
        </p:nvSpPr>
        <p:spPr>
          <a:xfrm>
            <a:off x="138063" y="12192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endParaRPr lang="en-US" sz="2000" kern="0" spc="-220" dirty="0">
              <a:solidFill>
                <a:schemeClr val="accent6"/>
              </a:solidFill>
            </a:endParaRPr>
          </a:p>
        </p:txBody>
      </p:sp>
      <p:sp>
        <p:nvSpPr>
          <p:cNvPr id="15" name="object 2">
            <a:extLst>
              <a:ext uri="{FF2B5EF4-FFF2-40B4-BE49-F238E27FC236}">
                <a16:creationId xmlns:a16="http://schemas.microsoft.com/office/drawing/2014/main" id="{D257E3D4-9D35-A3A2-7194-7D07F238CECC}"/>
              </a:ext>
            </a:extLst>
          </p:cNvPr>
          <p:cNvSpPr txBox="1">
            <a:spLocks/>
          </p:cNvSpPr>
          <p:nvPr/>
        </p:nvSpPr>
        <p:spPr>
          <a:xfrm>
            <a:off x="304800" y="5105400"/>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6"/>
                </a:solidFill>
              </a:rPr>
              <a:t> </a:t>
            </a:r>
          </a:p>
        </p:txBody>
      </p:sp>
      <p:sp>
        <p:nvSpPr>
          <p:cNvPr id="2" name="object 2">
            <a:extLst>
              <a:ext uri="{FF2B5EF4-FFF2-40B4-BE49-F238E27FC236}">
                <a16:creationId xmlns:a16="http://schemas.microsoft.com/office/drawing/2014/main" id="{6CE5ACC1-176B-A0A2-05A9-2D1A32DC1454}"/>
              </a:ext>
            </a:extLst>
          </p:cNvPr>
          <p:cNvSpPr txBox="1">
            <a:spLocks/>
          </p:cNvSpPr>
          <p:nvPr/>
        </p:nvSpPr>
        <p:spPr>
          <a:xfrm>
            <a:off x="131778" y="667838"/>
            <a:ext cx="8624937" cy="224676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For Further Exploration</a:t>
            </a:r>
          </a:p>
          <a:p>
            <a:r>
              <a:rPr lang="en-IN" sz="1400" dirty="0">
                <a:hlinkClick r:id="rId7"/>
              </a:rPr>
              <a:t>Dapper Tutorial</a:t>
            </a:r>
            <a:endParaRPr lang="en-IN" sz="1400" dirty="0"/>
          </a:p>
          <a:p>
            <a:r>
              <a:rPr lang="en-US" sz="1400" dirty="0">
                <a:hlinkClick r:id="rId8"/>
              </a:rPr>
              <a:t>Welcome To Learn Dapper ORM - A Dapper Tutorial for C# and .NET Core</a:t>
            </a:r>
            <a:endParaRPr lang="en-US" sz="1400" dirty="0"/>
          </a:p>
          <a:p>
            <a:r>
              <a:rPr lang="en-US" sz="1400" dirty="0">
                <a:hlinkClick r:id="rId9"/>
              </a:rPr>
              <a:t>Basics of Dapper - JetBrains Guide</a:t>
            </a:r>
            <a:endParaRPr lang="en-US" sz="1400" dirty="0"/>
          </a:p>
          <a:p>
            <a:r>
              <a:rPr lang="en-US" sz="1400" dirty="0">
                <a:hlinkClick r:id="rId10"/>
              </a:rPr>
              <a:t>A Practical Guide to Dapper - Simple Talk</a:t>
            </a:r>
            <a:endParaRPr lang="en-US" sz="1400" dirty="0"/>
          </a:p>
          <a:p>
            <a:r>
              <a:rPr lang="en-US" sz="1400" dirty="0">
                <a:hlinkClick r:id="rId11"/>
              </a:rPr>
              <a:t>Dapper in C#: High-Performance Data Access for .NET Developers</a:t>
            </a:r>
            <a:endParaRPr lang="en-US" sz="1400" dirty="0"/>
          </a:p>
          <a:p>
            <a:r>
              <a:rPr lang="en-US" sz="1400" dirty="0">
                <a:hlinkClick r:id="rId12"/>
              </a:rPr>
              <a:t>Dapper Samples</a:t>
            </a:r>
            <a:endParaRPr lang="en-US" sz="1400" dirty="0"/>
          </a:p>
          <a:p>
            <a:r>
              <a:rPr lang="en-US" sz="1400" dirty="0">
                <a:hlinkClick r:id="rId13"/>
              </a:rPr>
              <a:t>Dapper Plus - The Ultimate Way to Save Multiple Rows in Dapper</a:t>
            </a:r>
            <a:endParaRPr lang="en-US" sz="1400" dirty="0"/>
          </a:p>
          <a:p>
            <a:r>
              <a:rPr lang="en-IN" sz="1400" dirty="0" err="1">
                <a:hlinkClick r:id="rId14"/>
              </a:rPr>
              <a:t>Dapper.SqlBuilder</a:t>
            </a:r>
            <a:endParaRPr lang="en-IN" sz="1400" dirty="0"/>
          </a:p>
          <a:p>
            <a:r>
              <a:rPr lang="en-US" sz="1400" dirty="0">
                <a:hlinkClick r:id="rId15"/>
              </a:rPr>
              <a:t>Awesome Dapper</a:t>
            </a:r>
            <a:endParaRPr lang="en-US" sz="1400" dirty="0">
              <a:solidFill>
                <a:schemeClr val="accent2"/>
              </a:solidFill>
              <a:latin typeface="Google Sans"/>
              <a:ea typeface="+mn-ea"/>
              <a:cs typeface="+mn-cs"/>
            </a:endParaRPr>
          </a:p>
        </p:txBody>
      </p:sp>
    </p:spTree>
    <p:extLst>
      <p:ext uri="{BB962C8B-B14F-4D97-AF65-F5344CB8AC3E}">
        <p14:creationId xmlns:p14="http://schemas.microsoft.com/office/powerpoint/2010/main" val="262406742"/>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4509A-5EEF-D489-7558-1B2F24DB5E7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92E2340-B577-8E61-AE2D-23CD929BB60B}"/>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09FA50F-C2BA-A364-CE95-3B21D5C5560A}"/>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0B2712F-404E-4E6B-23E4-9280B25CCE48}"/>
              </a:ext>
            </a:extLst>
          </p:cNvPr>
          <p:cNvGraphicFramePr/>
          <p:nvPr>
            <p:extLst>
              <p:ext uri="{D42A27DB-BD31-4B8C-83A1-F6EECF244321}">
                <p14:modId xmlns:p14="http://schemas.microsoft.com/office/powerpoint/2010/main" val="2964655284"/>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25945A7C-E4F5-90F8-CD34-DB4F8E5F24D5}"/>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B23CD59C-B232-F083-C46C-7E246953E6F7}"/>
              </a:ext>
            </a:extLst>
          </p:cNvPr>
          <p:cNvSpPr txBox="1">
            <a:spLocks/>
          </p:cNvSpPr>
          <p:nvPr/>
        </p:nvSpPr>
        <p:spPr>
          <a:xfrm>
            <a:off x="-19234" y="1258669"/>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8" name="TextBox 7">
            <a:extLst>
              <a:ext uri="{FF2B5EF4-FFF2-40B4-BE49-F238E27FC236}">
                <a16:creationId xmlns:a16="http://schemas.microsoft.com/office/drawing/2014/main" id="{624E3D40-8DD0-8046-C212-B15CAD4DCC02}"/>
              </a:ext>
            </a:extLst>
          </p:cNvPr>
          <p:cNvSpPr txBox="1"/>
          <p:nvPr/>
        </p:nvSpPr>
        <p:spPr>
          <a:xfrm>
            <a:off x="258018" y="1047432"/>
            <a:ext cx="8885982" cy="1015663"/>
          </a:xfrm>
          <a:prstGeom prst="rect">
            <a:avLst/>
          </a:prstGeom>
          <a:noFill/>
        </p:spPr>
        <p:txBody>
          <a:bodyPr wrap="square">
            <a:spAutoFit/>
          </a:bodyPr>
          <a:lstStyle/>
          <a:p>
            <a:r>
              <a:rPr lang="en-IN" sz="1500" b="1" dirty="0">
                <a:solidFill>
                  <a:schemeClr val="accent6"/>
                </a:solidFill>
                <a:latin typeface="Google Sans"/>
              </a:rPr>
              <a:t>In .NET, Just-in-Time (JIT) compilation converts Intermediate Language (IL) to machine code at runtime, while Ahead-of-Time (AOT) compilation converts IL to native machine code at build time. AOT applications generally offer faster startup and smaller footprints, while JIT provides dynamic optimization and faster development cycles. </a:t>
            </a:r>
          </a:p>
        </p:txBody>
      </p:sp>
      <p:pic>
        <p:nvPicPr>
          <p:cNvPr id="11" name="Picture 10">
            <a:extLst>
              <a:ext uri="{FF2B5EF4-FFF2-40B4-BE49-F238E27FC236}">
                <a16:creationId xmlns:a16="http://schemas.microsoft.com/office/drawing/2014/main" id="{F74C5096-1000-C6FB-4FD0-47F48D134F2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75300" y="2114348"/>
            <a:ext cx="8716300" cy="3829252"/>
          </a:xfrm>
          <a:prstGeom prst="rect">
            <a:avLst/>
          </a:prstGeom>
        </p:spPr>
      </p:pic>
    </p:spTree>
    <p:extLst>
      <p:ext uri="{BB962C8B-B14F-4D97-AF65-F5344CB8AC3E}">
        <p14:creationId xmlns:p14="http://schemas.microsoft.com/office/powerpoint/2010/main" val="1120992232"/>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5A69C-F2E5-3C32-09D4-27351A11A86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84D474D-1AC7-F27C-807C-4B11E43A5025}"/>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4742904-CE8F-3395-FFC5-6597ABF93058}"/>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592401A-A7F7-7277-75DC-4DBBFB355908}"/>
              </a:ext>
            </a:extLst>
          </p:cNvPr>
          <p:cNvGraphicFramePr/>
          <p:nvPr>
            <p:extLst>
              <p:ext uri="{D42A27DB-BD31-4B8C-83A1-F6EECF244321}">
                <p14:modId xmlns:p14="http://schemas.microsoft.com/office/powerpoint/2010/main" val="1827396895"/>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CD95A66A-3909-2577-E8BD-ECF025842B0F}"/>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A1F27F26-246C-DAAC-6A59-055DEB50A6A2}"/>
              </a:ext>
            </a:extLst>
          </p:cNvPr>
          <p:cNvSpPr txBox="1">
            <a:spLocks/>
          </p:cNvSpPr>
          <p:nvPr/>
        </p:nvSpPr>
        <p:spPr>
          <a:xfrm>
            <a:off x="-19234" y="1258669"/>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pic>
        <p:nvPicPr>
          <p:cNvPr id="9" name="Picture 8">
            <a:extLst>
              <a:ext uri="{FF2B5EF4-FFF2-40B4-BE49-F238E27FC236}">
                <a16:creationId xmlns:a16="http://schemas.microsoft.com/office/drawing/2014/main" id="{F9E9EB69-283B-98CA-8227-31A2D44BF1D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12340" y="1125908"/>
            <a:ext cx="8931660" cy="369332"/>
          </a:xfrm>
          <a:prstGeom prst="rect">
            <a:avLst/>
          </a:prstGeom>
        </p:spPr>
      </p:pic>
      <p:pic>
        <p:nvPicPr>
          <p:cNvPr id="12" name="Picture 11">
            <a:extLst>
              <a:ext uri="{FF2B5EF4-FFF2-40B4-BE49-F238E27FC236}">
                <a16:creationId xmlns:a16="http://schemas.microsoft.com/office/drawing/2014/main" id="{9265DA8B-4976-C781-E4AB-113DE496342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12340" y="1516884"/>
            <a:ext cx="8855460" cy="3740916"/>
          </a:xfrm>
          <a:prstGeom prst="rect">
            <a:avLst/>
          </a:prstGeom>
        </p:spPr>
      </p:pic>
    </p:spTree>
    <p:extLst>
      <p:ext uri="{BB962C8B-B14F-4D97-AF65-F5344CB8AC3E}">
        <p14:creationId xmlns:p14="http://schemas.microsoft.com/office/powerpoint/2010/main" val="17780569"/>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DB712-8F51-06E6-806F-D6DE365CC08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0177140-5A3D-33E5-82C6-BC080B32E5F6}"/>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77BEDD4-CE9B-1F7A-CD0E-DA42736ACDAD}"/>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61AA2F6-AB9C-BFAE-7626-48A0373FC4F0}"/>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D85FC78F-6F3E-A706-2321-C16EE1D938B9}"/>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2E1F861E-7126-85BF-85AC-8F334B55BF8D}"/>
              </a:ext>
            </a:extLst>
          </p:cNvPr>
          <p:cNvSpPr txBox="1">
            <a:spLocks/>
          </p:cNvSpPr>
          <p:nvPr/>
        </p:nvSpPr>
        <p:spPr>
          <a:xfrm>
            <a:off x="-19234" y="1258669"/>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pic>
        <p:nvPicPr>
          <p:cNvPr id="9" name="Picture 8">
            <a:extLst>
              <a:ext uri="{FF2B5EF4-FFF2-40B4-BE49-F238E27FC236}">
                <a16:creationId xmlns:a16="http://schemas.microsoft.com/office/drawing/2014/main" id="{6812B621-C4DE-6744-E351-B6FA1B043846}"/>
              </a:ext>
            </a:extLst>
          </p:cNvPr>
          <p:cNvPicPr>
            <a:picLocks noChangeAspect="1"/>
          </p:cNvPicPr>
          <p:nvPr/>
        </p:nvPicPr>
        <p:blipFill>
          <a:blip r:embed="rId7"/>
          <a:stretch>
            <a:fillRect/>
          </a:stretch>
        </p:blipFill>
        <p:spPr>
          <a:xfrm>
            <a:off x="275300" y="1143000"/>
            <a:ext cx="8624937" cy="4648200"/>
          </a:xfrm>
          <a:prstGeom prst="rect">
            <a:avLst/>
          </a:prstGeom>
        </p:spPr>
      </p:pic>
    </p:spTree>
    <p:extLst>
      <p:ext uri="{BB962C8B-B14F-4D97-AF65-F5344CB8AC3E}">
        <p14:creationId xmlns:p14="http://schemas.microsoft.com/office/powerpoint/2010/main" val="2114439576"/>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3EDAF-972A-B01B-615E-3B6A4F2A113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885FF85-93A9-A956-E1A8-9681C58ABFAD}"/>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E8C736D-EDB8-C314-DFC5-E3716A659546}"/>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784BE49-B267-4F91-2ED1-F2605F4BA00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0841050A-0764-F902-7EDB-8CADE3989ED8}"/>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D5A8BEBA-B616-F093-9E6E-B7205A22B59F}"/>
              </a:ext>
            </a:extLst>
          </p:cNvPr>
          <p:cNvSpPr txBox="1">
            <a:spLocks/>
          </p:cNvSpPr>
          <p:nvPr/>
        </p:nvSpPr>
        <p:spPr>
          <a:xfrm>
            <a:off x="-19234" y="1258669"/>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pic>
        <p:nvPicPr>
          <p:cNvPr id="9" name="Picture 8">
            <a:extLst>
              <a:ext uri="{FF2B5EF4-FFF2-40B4-BE49-F238E27FC236}">
                <a16:creationId xmlns:a16="http://schemas.microsoft.com/office/drawing/2014/main" id="{3DA43E0D-0CAB-823E-3C1A-22FB103AC4C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75300" y="1152431"/>
            <a:ext cx="8624937" cy="4562569"/>
          </a:xfrm>
          <a:prstGeom prst="rect">
            <a:avLst/>
          </a:prstGeom>
        </p:spPr>
      </p:pic>
    </p:spTree>
    <p:extLst>
      <p:ext uri="{BB962C8B-B14F-4D97-AF65-F5344CB8AC3E}">
        <p14:creationId xmlns:p14="http://schemas.microsoft.com/office/powerpoint/2010/main" val="733748978"/>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4AB5F-7798-CA3E-320B-A2954C648CA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E161313-064C-4331-1E48-C36D00C7E5F7}"/>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33AD13E-46E0-2A1A-4514-32213B74C35A}"/>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F9E3B91-B1AD-406C-AA9F-8C849B20253D}"/>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85FA3EAB-BD12-B067-2063-4743B92DD6ED}"/>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D999187E-D215-4797-C5A8-5A6EB4C413B6}"/>
              </a:ext>
            </a:extLst>
          </p:cNvPr>
          <p:cNvSpPr txBox="1">
            <a:spLocks/>
          </p:cNvSpPr>
          <p:nvPr/>
        </p:nvSpPr>
        <p:spPr>
          <a:xfrm>
            <a:off x="-19234" y="1258669"/>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pic>
        <p:nvPicPr>
          <p:cNvPr id="9" name="Picture 8">
            <a:extLst>
              <a:ext uri="{FF2B5EF4-FFF2-40B4-BE49-F238E27FC236}">
                <a16:creationId xmlns:a16="http://schemas.microsoft.com/office/drawing/2014/main" id="{15D36EB5-5E58-BE3A-2F78-36D2BFF889BC}"/>
              </a:ext>
            </a:extLst>
          </p:cNvPr>
          <p:cNvPicPr>
            <a:picLocks noChangeAspect="1"/>
          </p:cNvPicPr>
          <p:nvPr/>
        </p:nvPicPr>
        <p:blipFill>
          <a:blip r:embed="rId7"/>
          <a:stretch>
            <a:fillRect/>
          </a:stretch>
        </p:blipFill>
        <p:spPr>
          <a:xfrm>
            <a:off x="275300" y="1130104"/>
            <a:ext cx="8593400" cy="4737296"/>
          </a:xfrm>
          <a:prstGeom prst="rect">
            <a:avLst/>
          </a:prstGeom>
        </p:spPr>
      </p:pic>
    </p:spTree>
    <p:extLst>
      <p:ext uri="{BB962C8B-B14F-4D97-AF65-F5344CB8AC3E}">
        <p14:creationId xmlns:p14="http://schemas.microsoft.com/office/powerpoint/2010/main" val="1032192735"/>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8C661-A15F-AA43-F017-E4D6B557E07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4E544A5-9790-4D28-314D-3A7D471A96C4}"/>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AD06A9A-3ABA-7A3E-0752-D0726CDB3945}"/>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F1C4BEF-73A4-3E01-306B-F71E9677A234}"/>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32A97093-97C1-9371-C20F-02E21F218782}"/>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65E7B8C9-0110-2BA7-3DAD-C9FA635BA4C6}"/>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C9AE5898-42B5-7745-C282-B2DFC74E32B1}"/>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955F8234-D8F4-85CC-5251-FB21BBC359A8}"/>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pic>
        <p:nvPicPr>
          <p:cNvPr id="11" name="Picture 10">
            <a:extLst>
              <a:ext uri="{FF2B5EF4-FFF2-40B4-BE49-F238E27FC236}">
                <a16:creationId xmlns:a16="http://schemas.microsoft.com/office/drawing/2014/main" id="{B2268161-DE95-290D-C3D6-B66E040FDE7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7160" y="1193575"/>
            <a:ext cx="8854440" cy="2501489"/>
          </a:xfrm>
          <a:prstGeom prst="rect">
            <a:avLst/>
          </a:prstGeom>
        </p:spPr>
      </p:pic>
      <p:pic>
        <p:nvPicPr>
          <p:cNvPr id="15" name="Picture 14">
            <a:extLst>
              <a:ext uri="{FF2B5EF4-FFF2-40B4-BE49-F238E27FC236}">
                <a16:creationId xmlns:a16="http://schemas.microsoft.com/office/drawing/2014/main" id="{D1F5346B-A78E-8F22-6B66-CB136ADB783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21920" y="3771264"/>
            <a:ext cx="8778317" cy="2172336"/>
          </a:xfrm>
          <a:prstGeom prst="rect">
            <a:avLst/>
          </a:prstGeom>
        </p:spPr>
      </p:pic>
    </p:spTree>
    <p:extLst>
      <p:ext uri="{BB962C8B-B14F-4D97-AF65-F5344CB8AC3E}">
        <p14:creationId xmlns:p14="http://schemas.microsoft.com/office/powerpoint/2010/main" val="657356728"/>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02760-12F3-ACD9-E3EC-C1085180C04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CD250BE-5EBE-3A32-A975-F1DC9E8DEC45}"/>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B683E7F-0DEE-C7C1-4A9A-7008F5C880DA}"/>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C6D3372-361A-3D39-EAD0-5B1546972C69}"/>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9C40BB37-99A7-29CB-5DE2-B735B2606B1C}"/>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3326A4A7-217F-AD2A-5594-0F251DB7368C}"/>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A9459556-3DAC-139F-EA1E-7E8397B7F141}"/>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E8FF663C-5F9C-F19D-CF00-10069ED21B21}"/>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pic>
        <p:nvPicPr>
          <p:cNvPr id="9" name="Picture 8">
            <a:extLst>
              <a:ext uri="{FF2B5EF4-FFF2-40B4-BE49-F238E27FC236}">
                <a16:creationId xmlns:a16="http://schemas.microsoft.com/office/drawing/2014/main" id="{B5C22A01-B4F3-E3A6-8A9F-E612AA52881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3763" y="1136423"/>
            <a:ext cx="8716300" cy="4730977"/>
          </a:xfrm>
          <a:prstGeom prst="rect">
            <a:avLst/>
          </a:prstGeom>
        </p:spPr>
      </p:pic>
    </p:spTree>
    <p:extLst>
      <p:ext uri="{BB962C8B-B14F-4D97-AF65-F5344CB8AC3E}">
        <p14:creationId xmlns:p14="http://schemas.microsoft.com/office/powerpoint/2010/main" val="4158189089"/>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12783-55B4-B673-49EC-630F6D998E8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428F697-07E1-3112-A0B8-9A85C9C1541E}"/>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8D91C09-6FE4-29B5-F00D-993922255FAB}"/>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39AA099-544A-DEAB-4265-BA6487C7678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169F1810-598D-C391-4E51-C5A2CB2B2DFE}"/>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271AC75F-2CDE-74C0-A2B4-29C07B8C3D2D}"/>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D27B164A-40F7-8624-CD7C-36F76F356161}"/>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7C6D945-81B3-9BC0-B1F6-39753A94282F}"/>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pic>
        <p:nvPicPr>
          <p:cNvPr id="11" name="Picture 10">
            <a:extLst>
              <a:ext uri="{FF2B5EF4-FFF2-40B4-BE49-F238E27FC236}">
                <a16:creationId xmlns:a16="http://schemas.microsoft.com/office/drawing/2014/main" id="{01C19022-D17B-755A-B6CE-E6EDABDC9A9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81000" y="1187221"/>
            <a:ext cx="8610600" cy="4451579"/>
          </a:xfrm>
          <a:prstGeom prst="rect">
            <a:avLst/>
          </a:prstGeom>
        </p:spPr>
      </p:pic>
    </p:spTree>
    <p:extLst>
      <p:ext uri="{BB962C8B-B14F-4D97-AF65-F5344CB8AC3E}">
        <p14:creationId xmlns:p14="http://schemas.microsoft.com/office/powerpoint/2010/main" val="3787980559"/>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6693D-4A57-900C-52EE-20C2F65B151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86A3C13-A943-DB9D-5174-4D3164C603D5}"/>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76B64C1-F816-828E-FEA2-FCA4EABE9605}"/>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CEFD606-D74D-F35E-7949-5292B8ED5977}"/>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27926501-B28A-24C3-C1F4-B9DB2DFFF441}"/>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9E1993B8-0FDB-C77C-670D-A9FDCBF5D0CC}"/>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DF59763F-A38B-608F-FB67-6A125457753F}"/>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CAF6C92A-B739-9224-7005-F0B961B0DA25}"/>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pic>
        <p:nvPicPr>
          <p:cNvPr id="9" name="Picture 8">
            <a:extLst>
              <a:ext uri="{FF2B5EF4-FFF2-40B4-BE49-F238E27FC236}">
                <a16:creationId xmlns:a16="http://schemas.microsoft.com/office/drawing/2014/main" id="{291C7ADD-4E8C-336D-D5D5-178F3FCA4BC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3763" y="1168307"/>
            <a:ext cx="8656474" cy="4699093"/>
          </a:xfrm>
          <a:prstGeom prst="rect">
            <a:avLst/>
          </a:prstGeom>
        </p:spPr>
      </p:pic>
    </p:spTree>
    <p:extLst>
      <p:ext uri="{BB962C8B-B14F-4D97-AF65-F5344CB8AC3E}">
        <p14:creationId xmlns:p14="http://schemas.microsoft.com/office/powerpoint/2010/main" val="925826169"/>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BD9C1-F136-DE8C-8156-E4F75BFE9E0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54681ED-1A23-E140-701E-98DE81F07742}"/>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254B20D-0DBB-40A1-B205-24644D757929}"/>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137B1BE-B6B0-7729-8275-345B4FFE3DE7}"/>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131AF51-7C90-B963-A7FC-93F1CED985F0}"/>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8D8490F5-318A-11FE-8D30-A76D3F62D481}"/>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D9F1E38C-6CAA-480E-2EF9-A013C80D3441}"/>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80307B96-3827-EA3D-C193-C5F82D813E87}"/>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pic>
        <p:nvPicPr>
          <p:cNvPr id="11" name="Picture 10">
            <a:extLst>
              <a:ext uri="{FF2B5EF4-FFF2-40B4-BE49-F238E27FC236}">
                <a16:creationId xmlns:a16="http://schemas.microsoft.com/office/drawing/2014/main" id="{E11A9177-E589-60E7-BB1A-897AB73010E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81903" y="1199957"/>
            <a:ext cx="8518334" cy="4667443"/>
          </a:xfrm>
          <a:prstGeom prst="rect">
            <a:avLst/>
          </a:prstGeom>
        </p:spPr>
      </p:pic>
    </p:spTree>
    <p:extLst>
      <p:ext uri="{BB962C8B-B14F-4D97-AF65-F5344CB8AC3E}">
        <p14:creationId xmlns:p14="http://schemas.microsoft.com/office/powerpoint/2010/main" val="3422136598"/>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412DF-F55A-B986-8841-8E73DC3B8FF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63605E1-3445-C061-5C85-71306E0C4AE7}"/>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0687420-9395-5BD1-288F-76DD4CBF5932}"/>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6FB699B-BBEE-A863-4B01-0526BBA68D92}"/>
              </a:ext>
            </a:extLst>
          </p:cNvPr>
          <p:cNvGraphicFramePr/>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274AF348-1096-4D7D-7CCE-24FCC3D19564}"/>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FB27598F-902A-2F31-DC45-82538EC6076F}"/>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BC20DCA5-0F86-D965-F85D-C1E68584E73A}"/>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5502F338-FB31-9053-8EF7-88043F8E09A5}"/>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770D8093-8FBD-3D70-D7CF-F69DDA5C987D}"/>
              </a:ext>
            </a:extLst>
          </p:cNvPr>
          <p:cNvSpPr txBox="1">
            <a:spLocks/>
          </p:cNvSpPr>
          <p:nvPr/>
        </p:nvSpPr>
        <p:spPr>
          <a:xfrm>
            <a:off x="320981" y="1098685"/>
            <a:ext cx="8624937" cy="143116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800" dirty="0">
                <a:solidFill>
                  <a:schemeClr val="accent2"/>
                </a:solidFill>
                <a:latin typeface="Google Sans"/>
              </a:rPr>
              <a:t>Summary of Key Performance Indicators (KPIs) for Success</a:t>
            </a:r>
          </a:p>
          <a:p>
            <a:r>
              <a:rPr lang="en-US" sz="1500" dirty="0">
                <a:solidFill>
                  <a:schemeClr val="accent6"/>
                </a:solidFill>
                <a:latin typeface="Google Sans"/>
              </a:rPr>
              <a:t>To ensure that these techniques do not harm performance, monitor:</a:t>
            </a:r>
          </a:p>
          <a:p>
            <a:r>
              <a:rPr lang="en-US" sz="1500" dirty="0">
                <a:solidFill>
                  <a:schemeClr val="accent2"/>
                </a:solidFill>
                <a:latin typeface="Google Sans"/>
              </a:rPr>
              <a:t>Cost per Unit/Transaction: </a:t>
            </a:r>
            <a:r>
              <a:rPr lang="en-US" sz="1500" dirty="0">
                <a:solidFill>
                  <a:schemeClr val="accent6"/>
                </a:solidFill>
                <a:latin typeface="Google Sans"/>
              </a:rPr>
              <a:t>Total cost divided by output.</a:t>
            </a:r>
          </a:p>
          <a:p>
            <a:r>
              <a:rPr lang="en-US" sz="1500" dirty="0">
                <a:solidFill>
                  <a:schemeClr val="accent2"/>
                </a:solidFill>
                <a:latin typeface="Google Sans"/>
              </a:rPr>
              <a:t>System Latency/Response Time: </a:t>
            </a:r>
            <a:r>
              <a:rPr lang="en-US" sz="1500" dirty="0">
                <a:solidFill>
                  <a:schemeClr val="accent6"/>
                </a:solidFill>
                <a:latin typeface="Google Sans"/>
              </a:rPr>
              <a:t>Ensuring speed is maintained.</a:t>
            </a:r>
          </a:p>
          <a:p>
            <a:r>
              <a:rPr lang="en-US" sz="1500" dirty="0">
                <a:solidFill>
                  <a:schemeClr val="accent2"/>
                </a:solidFill>
                <a:latin typeface="Google Sans"/>
              </a:rPr>
              <a:t>Infrastructure Utilization:</a:t>
            </a:r>
            <a:r>
              <a:rPr lang="en-US" sz="1500" dirty="0">
                <a:solidFill>
                  <a:schemeClr val="accent6"/>
                </a:solidFill>
                <a:latin typeface="Google Sans"/>
              </a:rPr>
              <a:t> Aiming for 60-80% rather than 100% (overloaded) or &lt;20% (idle).</a:t>
            </a:r>
          </a:p>
          <a:p>
            <a:r>
              <a:rPr lang="en-US" sz="1500" dirty="0">
                <a:solidFill>
                  <a:schemeClr val="accent2"/>
                </a:solidFill>
                <a:latin typeface="Google Sans"/>
              </a:rPr>
              <a:t>Error Rates:</a:t>
            </a:r>
            <a:r>
              <a:rPr lang="en-US" sz="1500" dirty="0">
                <a:solidFill>
                  <a:schemeClr val="accent6"/>
                </a:solidFill>
                <a:latin typeface="Google Sans"/>
              </a:rPr>
              <a:t> Ensuring that cutting costs does not increase bugs/failures</a:t>
            </a:r>
          </a:p>
        </p:txBody>
      </p:sp>
    </p:spTree>
    <p:extLst>
      <p:ext uri="{BB962C8B-B14F-4D97-AF65-F5344CB8AC3E}">
        <p14:creationId xmlns:p14="http://schemas.microsoft.com/office/powerpoint/2010/main" val="2433999289"/>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432C6-A589-4214-84D5-0489E4B0CA9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9767A21-DDE3-3ED4-2D96-E17F2C4301E9}"/>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7B07F6C-F535-B7D2-B3E7-45478C886B61}"/>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0CDCC03-61FD-8C1D-9284-849726D41C7E}"/>
              </a:ext>
            </a:extLst>
          </p:cNvPr>
          <p:cNvGraphicFramePr/>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A9EB9285-61A8-D9E8-F416-79A58D68BED4}"/>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40A9E2F0-9503-02C3-CA93-BA2742FC5A19}"/>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A1C5DA14-2FD4-FBC2-3B9E-528193336C63}"/>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0F97679C-9A0D-1D69-679D-6FFF5695B605}"/>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4C73A256-786F-4344-B73B-F2CE03EA8A40}"/>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639935F8-78F7-0ECC-6EB4-B3F578FDA6B9}"/>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68BD25F0-2EF7-026D-B603-5537AE5C6DC8}"/>
              </a:ext>
            </a:extLst>
          </p:cNvPr>
          <p:cNvSpPr txBox="1">
            <a:spLocks/>
          </p:cNvSpPr>
          <p:nvPr/>
        </p:nvSpPr>
        <p:spPr>
          <a:xfrm>
            <a:off x="228600" y="685800"/>
            <a:ext cx="8624937" cy="553997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dirty="0">
                <a:solidFill>
                  <a:schemeClr val="accent6"/>
                </a:solidFill>
                <a:latin typeface="Google Sans"/>
              </a:rPr>
              <a:t>Mechanical sympathy in C# means coding with deep awareness of hardware (CPU caches, memory, cores) and OS behavior to minimize latency, focusing on data locality, reducing GC pressure, optimizing locking (e.g., </a:t>
            </a:r>
            <a:r>
              <a:rPr lang="en-US" sz="1500" dirty="0" err="1">
                <a:solidFill>
                  <a:schemeClr val="accent6"/>
                </a:solidFill>
                <a:latin typeface="Google Sans"/>
              </a:rPr>
              <a:t>ReaderWriterLockSlim</a:t>
            </a:r>
            <a:r>
              <a:rPr lang="en-US" sz="1500" dirty="0">
                <a:solidFill>
                  <a:schemeClr val="accent6"/>
                </a:solidFill>
                <a:latin typeface="Google Sans"/>
              </a:rPr>
              <a:t>), avoiding false sharing (cache line padding), using value types (structs) for small data, and employing lock-free/wait-free algorithms, leading to high-performance, low-overhead code for demanding scenarios. Key techniques involve structs over classes, Span/Memory, ref locals/returns, explicit memory management (</a:t>
            </a:r>
            <a:r>
              <a:rPr lang="en-US" sz="1500" dirty="0" err="1">
                <a:solidFill>
                  <a:schemeClr val="accent6"/>
                </a:solidFill>
                <a:latin typeface="Google Sans"/>
              </a:rPr>
              <a:t>stackalloc</a:t>
            </a:r>
            <a:r>
              <a:rPr lang="en-US" sz="1500" dirty="0">
                <a:solidFill>
                  <a:schemeClr val="accent6"/>
                </a:solidFill>
                <a:latin typeface="Google Sans"/>
              </a:rPr>
              <a:t>), and understanding memory barriers for concurrency. </a:t>
            </a:r>
          </a:p>
          <a:p>
            <a:pPr marL="12700" marR="5080"/>
            <a:r>
              <a:rPr lang="en-US" sz="1800" dirty="0">
                <a:solidFill>
                  <a:schemeClr val="accent2"/>
                </a:solidFill>
                <a:latin typeface="Google Sans"/>
              </a:rPr>
              <a:t>🧠 Why Mechanical Sympathy Matters</a:t>
            </a:r>
          </a:p>
          <a:p>
            <a:pPr marL="12700" marR="5080"/>
            <a:r>
              <a:rPr lang="en-US" sz="1500" dirty="0">
                <a:solidFill>
                  <a:schemeClr val="accent2"/>
                </a:solidFill>
                <a:latin typeface="Google Sans"/>
              </a:rPr>
              <a:t>Modern hardware is extremely fast, but performance depends heavily on:</a:t>
            </a:r>
          </a:p>
          <a:p>
            <a:pPr marL="12700" marR="5080"/>
            <a:r>
              <a:rPr lang="en-US" sz="1500" dirty="0">
                <a:solidFill>
                  <a:schemeClr val="accent6"/>
                </a:solidFill>
                <a:latin typeface="Google Sans"/>
              </a:rPr>
              <a:t>CPU pipelines, branch prediction</a:t>
            </a:r>
          </a:p>
          <a:p>
            <a:pPr marL="12700" marR="5080"/>
            <a:r>
              <a:rPr lang="en-US" sz="1500" dirty="0">
                <a:solidFill>
                  <a:schemeClr val="accent6"/>
                </a:solidFill>
                <a:latin typeface="Google Sans"/>
              </a:rPr>
              <a:t>Cache hierarchy (L1/L2/L3), cache line size</a:t>
            </a:r>
          </a:p>
          <a:p>
            <a:pPr marL="12700" marR="5080"/>
            <a:r>
              <a:rPr lang="en-US" sz="1500" dirty="0">
                <a:solidFill>
                  <a:schemeClr val="accent6"/>
                </a:solidFill>
                <a:latin typeface="Google Sans"/>
              </a:rPr>
              <a:t>NUMA, memory bandwidth &amp; latency</a:t>
            </a:r>
          </a:p>
          <a:p>
            <a:pPr marL="12700" marR="5080"/>
            <a:r>
              <a:rPr lang="en-US" sz="1500" dirty="0">
                <a:solidFill>
                  <a:schemeClr val="accent6"/>
                </a:solidFill>
                <a:latin typeface="Google Sans"/>
              </a:rPr>
              <a:t>Data locality &amp; alignment</a:t>
            </a:r>
          </a:p>
          <a:p>
            <a:pPr marL="12700" marR="5080"/>
            <a:r>
              <a:rPr lang="en-US" sz="1500" dirty="0">
                <a:solidFill>
                  <a:schemeClr val="accent6"/>
                </a:solidFill>
                <a:latin typeface="Google Sans"/>
              </a:rPr>
              <a:t>Contention, locking, context switches</a:t>
            </a:r>
          </a:p>
          <a:p>
            <a:pPr marL="12700" marR="5080"/>
            <a:r>
              <a:rPr lang="en-US" sz="1500" dirty="0">
                <a:solidFill>
                  <a:schemeClr val="accent6"/>
                </a:solidFill>
                <a:latin typeface="Google Sans"/>
              </a:rPr>
              <a:t>Network &amp; disk characteristics</a:t>
            </a:r>
          </a:p>
          <a:p>
            <a:pPr marL="12700" marR="5080"/>
            <a:r>
              <a:rPr lang="en-US" sz="1500" dirty="0">
                <a:solidFill>
                  <a:schemeClr val="accent6"/>
                </a:solidFill>
                <a:latin typeface="Google Sans"/>
              </a:rPr>
              <a:t>Code that ignores the hardware often performs much slower than necessary.</a:t>
            </a:r>
          </a:p>
          <a:p>
            <a:pPr marL="12700" marR="5080"/>
            <a:endParaRPr lang="en-US" sz="1500" dirty="0">
              <a:solidFill>
                <a:schemeClr val="accent6"/>
              </a:solidFill>
              <a:latin typeface="Google Sans"/>
            </a:endParaRPr>
          </a:p>
          <a:p>
            <a:pPr marL="12700" marR="5080"/>
            <a:r>
              <a:rPr lang="en-US" sz="1500" dirty="0">
                <a:solidFill>
                  <a:schemeClr val="accent2"/>
                </a:solidFill>
                <a:latin typeface="Google Sans"/>
              </a:rPr>
              <a:t>This is critical in:</a:t>
            </a:r>
          </a:p>
          <a:p>
            <a:pPr marL="12700" marR="5080"/>
            <a:r>
              <a:rPr lang="en-US" sz="1500" dirty="0">
                <a:solidFill>
                  <a:schemeClr val="accent6"/>
                </a:solidFill>
                <a:latin typeface="Google Sans"/>
              </a:rPr>
              <a:t>High-frequency trading</a:t>
            </a:r>
          </a:p>
          <a:p>
            <a:pPr marL="12700" marR="5080"/>
            <a:r>
              <a:rPr lang="en-US" sz="1500" dirty="0">
                <a:solidFill>
                  <a:schemeClr val="accent6"/>
                </a:solidFill>
                <a:latin typeface="Google Sans"/>
              </a:rPr>
              <a:t>Messaging systems (Kafka / Aeron / Chronicle queues)</a:t>
            </a:r>
          </a:p>
          <a:p>
            <a:pPr marL="12700" marR="5080"/>
            <a:r>
              <a:rPr lang="en-US" sz="1500" dirty="0">
                <a:solidFill>
                  <a:schemeClr val="accent6"/>
                </a:solidFill>
                <a:latin typeface="Google Sans"/>
              </a:rPr>
              <a:t>Game engines</a:t>
            </a:r>
          </a:p>
          <a:p>
            <a:pPr marL="12700" marR="5080"/>
            <a:r>
              <a:rPr lang="en-US" sz="1500" dirty="0">
                <a:solidFill>
                  <a:schemeClr val="accent6"/>
                </a:solidFill>
                <a:latin typeface="Google Sans"/>
              </a:rPr>
              <a:t>Embedded &amp; mobile systems</a:t>
            </a:r>
          </a:p>
          <a:p>
            <a:pPr marL="12700" marR="5080"/>
            <a:r>
              <a:rPr lang="en-US" sz="1500" dirty="0">
                <a:solidFill>
                  <a:schemeClr val="accent6"/>
                </a:solidFill>
                <a:latin typeface="Google Sans"/>
              </a:rPr>
              <a:t>Real-time &amp; time-series processing</a:t>
            </a:r>
          </a:p>
          <a:p>
            <a:pPr marL="12700" marR="5080"/>
            <a:r>
              <a:rPr lang="en-US" sz="1500" dirty="0">
                <a:solidFill>
                  <a:schemeClr val="accent6"/>
                </a:solidFill>
                <a:latin typeface="Google Sans"/>
              </a:rPr>
              <a:t>Resource-constrained systems</a:t>
            </a:r>
          </a:p>
          <a:p>
            <a:pPr marL="12700" marR="5080"/>
            <a:endParaRPr lang="en-US" sz="1500" dirty="0">
              <a:solidFill>
                <a:schemeClr val="accent6"/>
              </a:solidFill>
              <a:latin typeface="Google Sans"/>
            </a:endParaRPr>
          </a:p>
        </p:txBody>
      </p:sp>
    </p:spTree>
    <p:extLst>
      <p:ext uri="{BB962C8B-B14F-4D97-AF65-F5344CB8AC3E}">
        <p14:creationId xmlns:p14="http://schemas.microsoft.com/office/powerpoint/2010/main" val="2979088712"/>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3B5F6-12FE-33F0-E43C-E7DD10560AB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456B65B-62A2-00FD-5C00-883298C2F24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9C4963B-66E5-D1DE-2803-0EF1E640655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37C1A08-12E3-A144-C45E-57920618DBF8}"/>
              </a:ext>
            </a:extLst>
          </p:cNvPr>
          <p:cNvGraphicFramePr/>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8CF43EB4-D572-4F6C-16F2-CF82FDBF13B4}"/>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E942D646-C2DA-4E4F-39DA-8DAE65FE6B2A}"/>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68CBD4B5-54AA-59B0-7970-AA92BB75DE50}"/>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6F85C6AC-BED1-A90C-D797-B518A0BD9134}"/>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DB08D1FE-64B1-99FD-A148-74D10EA8FEB4}"/>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D275CF37-CF5B-1334-CEC8-1E9209C1166A}"/>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96ED7E5C-098B-CACB-AA25-97DE9395EA29}"/>
              </a:ext>
            </a:extLst>
          </p:cNvPr>
          <p:cNvSpPr txBox="1">
            <a:spLocks/>
          </p:cNvSpPr>
          <p:nvPr/>
        </p:nvSpPr>
        <p:spPr>
          <a:xfrm>
            <a:off x="228600" y="685800"/>
            <a:ext cx="8624937" cy="512448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dirty="0">
                <a:solidFill>
                  <a:schemeClr val="accent2"/>
                </a:solidFill>
                <a:latin typeface="Google Sans"/>
              </a:rPr>
              <a:t>For low-latency &amp; high-throughput systems, the enemies are:</a:t>
            </a:r>
          </a:p>
          <a:p>
            <a:pPr marL="12700" marR="5080"/>
            <a:r>
              <a:rPr lang="en-US" sz="1500" dirty="0">
                <a:solidFill>
                  <a:schemeClr val="accent6"/>
                </a:solidFill>
                <a:latin typeface="Google Sans"/>
              </a:rPr>
              <a:t>Cache misses</a:t>
            </a:r>
          </a:p>
          <a:p>
            <a:pPr marL="12700" marR="5080"/>
            <a:r>
              <a:rPr lang="en-US" sz="1500" dirty="0">
                <a:solidFill>
                  <a:schemeClr val="accent6"/>
                </a:solidFill>
                <a:latin typeface="Google Sans"/>
              </a:rPr>
              <a:t>Branch mispredictions</a:t>
            </a:r>
          </a:p>
          <a:p>
            <a:pPr marL="12700" marR="5080"/>
            <a:r>
              <a:rPr lang="en-US" sz="1500" dirty="0">
                <a:solidFill>
                  <a:schemeClr val="accent6"/>
                </a:solidFill>
                <a:latin typeface="Google Sans"/>
              </a:rPr>
              <a:t>Context switches</a:t>
            </a:r>
          </a:p>
          <a:p>
            <a:pPr marL="12700" marR="5080"/>
            <a:r>
              <a:rPr lang="en-US" sz="1500" dirty="0">
                <a:solidFill>
                  <a:schemeClr val="accent6"/>
                </a:solidFill>
                <a:latin typeface="Google Sans"/>
              </a:rPr>
              <a:t>Lock contention</a:t>
            </a:r>
          </a:p>
          <a:p>
            <a:pPr marL="12700" marR="5080"/>
            <a:r>
              <a:rPr lang="en-US" sz="1500" dirty="0">
                <a:solidFill>
                  <a:schemeClr val="accent6"/>
                </a:solidFill>
                <a:latin typeface="Google Sans"/>
              </a:rPr>
              <a:t>GC pauses</a:t>
            </a:r>
          </a:p>
          <a:p>
            <a:pPr marL="12700" marR="5080"/>
            <a:r>
              <a:rPr lang="en-US" sz="1500" dirty="0">
                <a:solidFill>
                  <a:schemeClr val="accent6"/>
                </a:solidFill>
                <a:latin typeface="Google Sans"/>
              </a:rPr>
              <a:t>Kernel transitions</a:t>
            </a:r>
          </a:p>
          <a:p>
            <a:pPr marL="12700" marR="5080"/>
            <a:r>
              <a:rPr lang="en-US" sz="1500" dirty="0">
                <a:solidFill>
                  <a:schemeClr val="accent6"/>
                </a:solidFill>
                <a:latin typeface="Google Sans"/>
              </a:rPr>
              <a:t>NUMA penalties</a:t>
            </a:r>
          </a:p>
          <a:p>
            <a:pPr marL="12700" marR="5080"/>
            <a:r>
              <a:rPr lang="en-US" sz="1500" dirty="0">
                <a:solidFill>
                  <a:schemeClr val="accent6"/>
                </a:solidFill>
                <a:latin typeface="Google Sans"/>
              </a:rPr>
              <a:t>Memory allocations</a:t>
            </a:r>
          </a:p>
          <a:p>
            <a:pPr marL="12700" marR="5080"/>
            <a:r>
              <a:rPr lang="en-US" sz="1500" dirty="0">
                <a:solidFill>
                  <a:schemeClr val="accent6"/>
                </a:solidFill>
                <a:latin typeface="Google Sans"/>
              </a:rPr>
              <a:t>False sharing</a:t>
            </a:r>
          </a:p>
          <a:p>
            <a:pPr marL="12700" marR="5080"/>
            <a:r>
              <a:rPr lang="en-US" sz="1500" dirty="0">
                <a:solidFill>
                  <a:schemeClr val="accent2"/>
                </a:solidFill>
                <a:latin typeface="Google Sans"/>
              </a:rPr>
              <a:t>Your goal is predictability over raw power.</a:t>
            </a:r>
          </a:p>
          <a:p>
            <a:pPr marL="12700" marR="5080"/>
            <a:endParaRPr lang="en-US" sz="1500" dirty="0">
              <a:solidFill>
                <a:schemeClr val="accent2"/>
              </a:solidFill>
              <a:latin typeface="Google Sans"/>
            </a:endParaRPr>
          </a:p>
          <a:p>
            <a:pPr marL="12700" marR="5080"/>
            <a:r>
              <a:rPr lang="en-US" sz="1500" dirty="0">
                <a:solidFill>
                  <a:schemeClr val="accent2"/>
                </a:solidFill>
                <a:latin typeface="Google Sans"/>
              </a:rPr>
              <a:t>1. Core Principles (Non-Negotiable)</a:t>
            </a:r>
          </a:p>
          <a:p>
            <a:pPr marL="12700" marR="5080"/>
            <a:r>
              <a:rPr lang="en-US" sz="1500" dirty="0">
                <a:solidFill>
                  <a:schemeClr val="accent2"/>
                </a:solidFill>
                <a:latin typeface="Google Sans"/>
              </a:rPr>
              <a:t>1.1 Prefer Predictable Latency Over Average Latency</a:t>
            </a:r>
          </a:p>
          <a:p>
            <a:pPr marL="12700" marR="5080"/>
            <a:r>
              <a:rPr lang="en-US" sz="1500" dirty="0">
                <a:solidFill>
                  <a:schemeClr val="accent6"/>
                </a:solidFill>
                <a:latin typeface="Google Sans"/>
              </a:rPr>
              <a:t>p99/p999 matters more than mean</a:t>
            </a:r>
          </a:p>
          <a:p>
            <a:pPr marL="12700" marR="5080"/>
            <a:r>
              <a:rPr lang="en-US" sz="1500" dirty="0">
                <a:solidFill>
                  <a:schemeClr val="accent6"/>
                </a:solidFill>
                <a:latin typeface="Google Sans"/>
              </a:rPr>
              <a:t>Avoid anything with unbounded pauses (GC, locks, page faults)</a:t>
            </a:r>
          </a:p>
          <a:p>
            <a:pPr marL="12700" marR="5080"/>
            <a:r>
              <a:rPr lang="en-US" sz="1500" dirty="0">
                <a:solidFill>
                  <a:schemeClr val="accent2"/>
                </a:solidFill>
                <a:latin typeface="Google Sans"/>
              </a:rPr>
              <a:t>1.2 Avoid Contention, Don’t “Optimize” It</a:t>
            </a:r>
          </a:p>
          <a:p>
            <a:pPr marL="12700" marR="5080"/>
            <a:r>
              <a:rPr lang="en-US" sz="1500" dirty="0">
                <a:solidFill>
                  <a:schemeClr val="accent6"/>
                </a:solidFill>
                <a:latin typeface="Google Sans"/>
              </a:rPr>
              <a:t>Locks scale poorly</a:t>
            </a:r>
          </a:p>
          <a:p>
            <a:pPr marL="12700" marR="5080"/>
            <a:r>
              <a:rPr lang="en-US" sz="1500" dirty="0">
                <a:solidFill>
                  <a:schemeClr val="accent2"/>
                </a:solidFill>
                <a:latin typeface="Google Sans"/>
              </a:rPr>
              <a:t>Replace contention with:</a:t>
            </a:r>
          </a:p>
          <a:p>
            <a:pPr marL="12700" marR="5080"/>
            <a:r>
              <a:rPr lang="en-US" sz="1500" dirty="0">
                <a:solidFill>
                  <a:schemeClr val="accent6"/>
                </a:solidFill>
                <a:latin typeface="Google Sans"/>
              </a:rPr>
              <a:t>Partitioning</a:t>
            </a:r>
          </a:p>
          <a:p>
            <a:pPr marL="12700" marR="5080"/>
            <a:r>
              <a:rPr lang="en-US" sz="1500" dirty="0">
                <a:solidFill>
                  <a:schemeClr val="accent6"/>
                </a:solidFill>
                <a:latin typeface="Google Sans"/>
              </a:rPr>
              <a:t>Single-writer principle</a:t>
            </a:r>
          </a:p>
          <a:p>
            <a:pPr marL="12700" marR="5080"/>
            <a:r>
              <a:rPr lang="en-US" sz="1500" dirty="0">
                <a:solidFill>
                  <a:schemeClr val="accent6"/>
                </a:solidFill>
                <a:latin typeface="Google Sans"/>
              </a:rPr>
              <a:t>Message passing</a:t>
            </a:r>
          </a:p>
        </p:txBody>
      </p:sp>
    </p:spTree>
    <p:extLst>
      <p:ext uri="{BB962C8B-B14F-4D97-AF65-F5344CB8AC3E}">
        <p14:creationId xmlns:p14="http://schemas.microsoft.com/office/powerpoint/2010/main" val="559813211"/>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5BF85-82E5-919F-0229-2A1F6CFC61F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35FC66A-4DE9-468F-259F-BB833E2AFF5E}"/>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3DDDB4F-CBB6-0AE7-A9BF-55A92C28C9C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D8B927A-2D66-B94B-C23B-0F64F7B70E20}"/>
              </a:ext>
            </a:extLst>
          </p:cNvPr>
          <p:cNvGraphicFramePr/>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5A8F44D0-A8A7-4EB6-6EF5-D0EECB0971F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1FFF743E-F320-9D98-5E37-B0C386B8E552}"/>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F0EB2553-4D78-431F-8A0B-DCECEBAF4582}"/>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43E1EA3B-233D-5ED6-228C-8C47C9CFA8C9}"/>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150D7F02-F795-1198-FE3A-17890AD8B496}"/>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9AE26A05-ECC4-D44C-4DF3-9EF61E03D90B}"/>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DF637D7D-9991-E012-EF5F-3B31E296A576}"/>
              </a:ext>
            </a:extLst>
          </p:cNvPr>
          <p:cNvSpPr txBox="1">
            <a:spLocks/>
          </p:cNvSpPr>
          <p:nvPr/>
        </p:nvSpPr>
        <p:spPr>
          <a:xfrm>
            <a:off x="228600" y="685800"/>
            <a:ext cx="8624937" cy="53091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dirty="0">
                <a:solidFill>
                  <a:schemeClr val="accent2"/>
                </a:solidFill>
                <a:latin typeface="Google Sans"/>
              </a:rPr>
              <a:t>Core Principles (Non-Negotiable)</a:t>
            </a:r>
          </a:p>
          <a:p>
            <a:pPr marL="12700" marR="5080"/>
            <a:r>
              <a:rPr lang="en-US" sz="1500" dirty="0">
                <a:solidFill>
                  <a:schemeClr val="accent2"/>
                </a:solidFill>
                <a:latin typeface="Google Sans"/>
              </a:rPr>
              <a:t>1.3 Data &gt; Algorithms</a:t>
            </a:r>
          </a:p>
          <a:p>
            <a:pPr marL="12700" marR="5080"/>
            <a:r>
              <a:rPr lang="en-US" sz="1500" dirty="0">
                <a:solidFill>
                  <a:schemeClr val="accent6"/>
                </a:solidFill>
                <a:latin typeface="Google Sans"/>
              </a:rPr>
              <a:t>Cache-friendly data beats clever algorithms</a:t>
            </a:r>
          </a:p>
          <a:p>
            <a:pPr marL="12700" marR="5080"/>
            <a:r>
              <a:rPr lang="en-US" sz="1500" dirty="0">
                <a:solidFill>
                  <a:schemeClr val="accent6"/>
                </a:solidFill>
                <a:latin typeface="Google Sans"/>
              </a:rPr>
              <a:t>Memory layout matters more than Big-O at scale</a:t>
            </a:r>
          </a:p>
          <a:p>
            <a:pPr marL="12700" marR="5080"/>
            <a:r>
              <a:rPr lang="en-US" sz="1500" dirty="0">
                <a:solidFill>
                  <a:schemeClr val="accent2"/>
                </a:solidFill>
                <a:latin typeface="Google Sans"/>
              </a:rPr>
              <a:t>1.4 Keep Hot Paths Simple</a:t>
            </a:r>
          </a:p>
          <a:p>
            <a:pPr marL="12700" marR="5080"/>
            <a:r>
              <a:rPr lang="en-US" sz="1500" dirty="0">
                <a:solidFill>
                  <a:schemeClr val="accent6"/>
                </a:solidFill>
                <a:latin typeface="Google Sans"/>
              </a:rPr>
              <a:t>No virtual calls</a:t>
            </a:r>
          </a:p>
          <a:p>
            <a:pPr marL="12700" marR="5080"/>
            <a:r>
              <a:rPr lang="en-US" sz="1500" dirty="0">
                <a:solidFill>
                  <a:schemeClr val="accent6"/>
                </a:solidFill>
                <a:latin typeface="Google Sans"/>
              </a:rPr>
              <a:t>No allocations</a:t>
            </a:r>
          </a:p>
          <a:p>
            <a:pPr marL="12700" marR="5080"/>
            <a:r>
              <a:rPr lang="en-US" sz="1500" dirty="0">
                <a:solidFill>
                  <a:schemeClr val="accent6"/>
                </a:solidFill>
                <a:latin typeface="Google Sans"/>
              </a:rPr>
              <a:t>No exceptions</a:t>
            </a:r>
          </a:p>
          <a:p>
            <a:pPr marL="12700" marR="5080"/>
            <a:r>
              <a:rPr lang="en-US" sz="1500" dirty="0">
                <a:solidFill>
                  <a:schemeClr val="accent6"/>
                </a:solidFill>
                <a:latin typeface="Google Sans"/>
              </a:rPr>
              <a:t>No logging</a:t>
            </a:r>
          </a:p>
          <a:p>
            <a:pPr marL="12700" marR="5080"/>
            <a:r>
              <a:rPr lang="en-US" sz="1500" dirty="0">
                <a:solidFill>
                  <a:schemeClr val="accent6"/>
                </a:solidFill>
                <a:latin typeface="Google Sans"/>
              </a:rPr>
              <a:t>No LINQ</a:t>
            </a:r>
          </a:p>
          <a:p>
            <a:pPr marL="12700" marR="5080"/>
            <a:r>
              <a:rPr lang="en-US" sz="1500" dirty="0">
                <a:solidFill>
                  <a:schemeClr val="accent6"/>
                </a:solidFill>
                <a:latin typeface="Google Sans"/>
              </a:rPr>
              <a:t>No reflection</a:t>
            </a:r>
          </a:p>
          <a:p>
            <a:pPr marL="12700" marR="5080"/>
            <a:endParaRPr lang="en-US" sz="1500" dirty="0">
              <a:solidFill>
                <a:schemeClr val="accent6"/>
              </a:solidFill>
              <a:latin typeface="Google Sans"/>
            </a:endParaRPr>
          </a:p>
          <a:p>
            <a:pPr marL="12700" marR="5080"/>
            <a:r>
              <a:rPr lang="en-US" sz="1500" dirty="0">
                <a:solidFill>
                  <a:schemeClr val="accent2"/>
                </a:solidFill>
                <a:latin typeface="Google Sans"/>
              </a:rPr>
              <a:t>2. Hardware-Level Sympathy (CPU, Cache, NUMA)</a:t>
            </a:r>
          </a:p>
          <a:p>
            <a:pPr marL="12700" marR="5080"/>
            <a:r>
              <a:rPr lang="en-US" sz="1500" dirty="0">
                <a:solidFill>
                  <a:schemeClr val="accent2"/>
                </a:solidFill>
                <a:latin typeface="Google Sans"/>
              </a:rPr>
              <a:t>2.1 CPU Caches (L1/L2/L3)</a:t>
            </a:r>
          </a:p>
          <a:p>
            <a:pPr marL="12700" marR="5080"/>
            <a:r>
              <a:rPr lang="en-US" sz="1500" dirty="0">
                <a:solidFill>
                  <a:schemeClr val="accent2"/>
                </a:solidFill>
                <a:latin typeface="Google Sans"/>
              </a:rPr>
              <a:t>Techniques</a:t>
            </a:r>
          </a:p>
          <a:p>
            <a:pPr marL="12700" marR="5080"/>
            <a:r>
              <a:rPr lang="en-US" sz="1500" dirty="0">
                <a:solidFill>
                  <a:schemeClr val="accent6"/>
                </a:solidFill>
                <a:latin typeface="Google Sans"/>
              </a:rPr>
              <a:t>Structure of Arrays (</a:t>
            </a:r>
            <a:r>
              <a:rPr lang="en-US" sz="1500" dirty="0" err="1">
                <a:solidFill>
                  <a:schemeClr val="accent6"/>
                </a:solidFill>
                <a:latin typeface="Google Sans"/>
              </a:rPr>
              <a:t>SoA</a:t>
            </a:r>
            <a:r>
              <a:rPr lang="en-US" sz="1500" dirty="0">
                <a:solidFill>
                  <a:schemeClr val="accent6"/>
                </a:solidFill>
                <a:latin typeface="Google Sans"/>
              </a:rPr>
              <a:t>) instead of Array of Structures (</a:t>
            </a:r>
            <a:r>
              <a:rPr lang="en-US" sz="1500" dirty="0" err="1">
                <a:solidFill>
                  <a:schemeClr val="accent6"/>
                </a:solidFill>
                <a:latin typeface="Google Sans"/>
              </a:rPr>
              <a:t>AoS</a:t>
            </a:r>
            <a:r>
              <a:rPr lang="en-US" sz="1500" dirty="0">
                <a:solidFill>
                  <a:schemeClr val="accent6"/>
                </a:solidFill>
                <a:latin typeface="Google Sans"/>
              </a:rPr>
              <a:t>)</a:t>
            </a:r>
          </a:p>
          <a:p>
            <a:pPr marL="12700" marR="5080"/>
            <a:r>
              <a:rPr lang="en-US" sz="1500" dirty="0">
                <a:solidFill>
                  <a:schemeClr val="accent6"/>
                </a:solidFill>
                <a:latin typeface="Google Sans"/>
              </a:rPr>
              <a:t>Keep hot data contiguous</a:t>
            </a:r>
          </a:p>
          <a:p>
            <a:pPr marL="12700" marR="5080"/>
            <a:r>
              <a:rPr lang="en-US" sz="1500" dirty="0">
                <a:solidFill>
                  <a:schemeClr val="accent6"/>
                </a:solidFill>
                <a:latin typeface="Google Sans"/>
              </a:rPr>
              <a:t>Reduce pointer chasing</a:t>
            </a:r>
          </a:p>
          <a:p>
            <a:pPr marL="12700" marR="5080"/>
            <a:r>
              <a:rPr lang="en-US" sz="1500" dirty="0">
                <a:solidFill>
                  <a:schemeClr val="accent6"/>
                </a:solidFill>
                <a:latin typeface="Google Sans"/>
              </a:rPr>
              <a:t>// BAD: cache-unfriendly</a:t>
            </a:r>
          </a:p>
          <a:p>
            <a:pPr marL="12700" marR="5080"/>
            <a:r>
              <a:rPr lang="en-US" sz="1500" dirty="0">
                <a:solidFill>
                  <a:schemeClr val="accent6"/>
                </a:solidFill>
                <a:latin typeface="Google Sans"/>
              </a:rPr>
              <a:t>class Order { public int Id; public double Price; }</a:t>
            </a:r>
          </a:p>
          <a:p>
            <a:pPr marL="12700" marR="5080"/>
            <a:r>
              <a:rPr lang="en-US" sz="1500" dirty="0">
                <a:solidFill>
                  <a:schemeClr val="accent6"/>
                </a:solidFill>
                <a:latin typeface="Google Sans"/>
              </a:rPr>
              <a:t>// GOOD: </a:t>
            </a:r>
            <a:r>
              <a:rPr lang="en-US" sz="1500" dirty="0" err="1">
                <a:solidFill>
                  <a:schemeClr val="accent6"/>
                </a:solidFill>
                <a:latin typeface="Google Sans"/>
              </a:rPr>
              <a:t>SoA</a:t>
            </a:r>
            <a:endParaRPr lang="en-US" sz="1500" dirty="0">
              <a:solidFill>
                <a:schemeClr val="accent6"/>
              </a:solidFill>
              <a:latin typeface="Google Sans"/>
            </a:endParaRPr>
          </a:p>
          <a:p>
            <a:pPr marL="12700" marR="5080"/>
            <a:r>
              <a:rPr lang="en-US" sz="1500" dirty="0">
                <a:solidFill>
                  <a:schemeClr val="accent6"/>
                </a:solidFill>
                <a:latin typeface="Google Sans"/>
              </a:rPr>
              <a:t>int[] </a:t>
            </a:r>
            <a:r>
              <a:rPr lang="en-US" sz="1500" dirty="0" err="1">
                <a:solidFill>
                  <a:schemeClr val="accent6"/>
                </a:solidFill>
                <a:latin typeface="Google Sans"/>
              </a:rPr>
              <a:t>orderIds</a:t>
            </a:r>
            <a:r>
              <a:rPr lang="en-US" sz="1500" dirty="0">
                <a:solidFill>
                  <a:schemeClr val="accent6"/>
                </a:solidFill>
                <a:latin typeface="Google Sans"/>
              </a:rPr>
              <a:t>;</a:t>
            </a:r>
          </a:p>
          <a:p>
            <a:pPr marL="12700" marR="5080"/>
            <a:r>
              <a:rPr lang="en-US" sz="1500" dirty="0">
                <a:solidFill>
                  <a:schemeClr val="accent6"/>
                </a:solidFill>
                <a:latin typeface="Google Sans"/>
              </a:rPr>
              <a:t>double[] prices;</a:t>
            </a:r>
          </a:p>
        </p:txBody>
      </p:sp>
    </p:spTree>
    <p:extLst>
      <p:ext uri="{BB962C8B-B14F-4D97-AF65-F5344CB8AC3E}">
        <p14:creationId xmlns:p14="http://schemas.microsoft.com/office/powerpoint/2010/main" val="1439046796"/>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EA205-AE0A-49AB-0CE9-CCFB9C99A91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D370824-E7E3-78D7-B6F6-868B761E942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D7193B0-EBE1-1213-8425-3196F3AD831F}"/>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92943B8-FE2F-B5BC-AA4E-F2C1AED9E837}"/>
              </a:ext>
            </a:extLst>
          </p:cNvPr>
          <p:cNvGraphicFramePr/>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ED438EE-4174-AB81-1716-CB0FD85C5CE5}"/>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45D83C01-DEDD-7F49-0A0A-C4DDD9973BB9}"/>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0C570C6B-16CB-3AC5-9027-DB5429630995}"/>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681A0CA3-A941-CB0D-B96B-949A6CB399D0}"/>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BB6916DE-9092-FBA1-99CE-9B35E8B11E02}"/>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7DE1E604-616D-442A-1475-67AB64CD8EFF}"/>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0D987B72-9D1A-2197-1294-E04E46F4E816}"/>
              </a:ext>
            </a:extLst>
          </p:cNvPr>
          <p:cNvSpPr txBox="1">
            <a:spLocks/>
          </p:cNvSpPr>
          <p:nvPr/>
        </p:nvSpPr>
        <p:spPr>
          <a:xfrm>
            <a:off x="228600" y="685800"/>
            <a:ext cx="8624937" cy="48474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dirty="0">
                <a:solidFill>
                  <a:schemeClr val="accent2"/>
                </a:solidFill>
                <a:latin typeface="Google Sans"/>
              </a:rPr>
              <a:t>Core Principles (Non-Negotiable)</a:t>
            </a:r>
          </a:p>
          <a:p>
            <a:pPr marL="12700" marR="5080"/>
            <a:r>
              <a:rPr lang="en-US" sz="1500" dirty="0">
                <a:solidFill>
                  <a:schemeClr val="accent2"/>
                </a:solidFill>
                <a:latin typeface="Google Sans"/>
              </a:rPr>
              <a:t>2. Hardware-Level Sympathy (CPU, Cache, NUMA)</a:t>
            </a:r>
          </a:p>
          <a:p>
            <a:pPr marL="12700" marR="5080"/>
            <a:r>
              <a:rPr lang="en-US" sz="1500" dirty="0">
                <a:solidFill>
                  <a:schemeClr val="accent2"/>
                </a:solidFill>
                <a:latin typeface="Google Sans"/>
              </a:rPr>
              <a:t>2.2 Cache Line Awareness (False Sharing)</a:t>
            </a:r>
          </a:p>
          <a:p>
            <a:pPr marL="12700" marR="5080"/>
            <a:r>
              <a:rPr lang="en-US" sz="1500" dirty="0">
                <a:solidFill>
                  <a:schemeClr val="accent2"/>
                </a:solidFill>
                <a:latin typeface="Google Sans"/>
              </a:rPr>
              <a:t>Problem</a:t>
            </a:r>
          </a:p>
          <a:p>
            <a:pPr marL="12700" marR="5080"/>
            <a:r>
              <a:rPr lang="en-US" sz="1500" dirty="0">
                <a:solidFill>
                  <a:schemeClr val="accent6"/>
                </a:solidFill>
                <a:latin typeface="Google Sans"/>
              </a:rPr>
              <a:t>Two threads modify different variables that live on the same cache line → cache line ping-pong.</a:t>
            </a:r>
          </a:p>
          <a:p>
            <a:pPr marL="12700" marR="5080"/>
            <a:r>
              <a:rPr lang="en-US" sz="1500" dirty="0">
                <a:solidFill>
                  <a:schemeClr val="accent2"/>
                </a:solidFill>
                <a:latin typeface="Google Sans"/>
              </a:rPr>
              <a:t>Techniques</a:t>
            </a:r>
          </a:p>
          <a:p>
            <a:pPr marL="12700" marR="5080"/>
            <a:r>
              <a:rPr lang="en-US" sz="1500" dirty="0">
                <a:solidFill>
                  <a:schemeClr val="accent2"/>
                </a:solidFill>
                <a:latin typeface="Google Sans"/>
              </a:rPr>
              <a:t>Padding</a:t>
            </a:r>
          </a:p>
          <a:p>
            <a:pPr marL="12700" marR="5080"/>
            <a:r>
              <a:rPr lang="en-US" sz="1500" dirty="0" err="1">
                <a:solidFill>
                  <a:schemeClr val="accent6"/>
                </a:solidFill>
                <a:latin typeface="Google Sans"/>
              </a:rPr>
              <a:t>StructLayout</a:t>
            </a:r>
            <a:endParaRPr lang="en-US" sz="1500" dirty="0">
              <a:solidFill>
                <a:schemeClr val="accent6"/>
              </a:solidFill>
              <a:latin typeface="Google Sans"/>
            </a:endParaRPr>
          </a:p>
          <a:p>
            <a:pPr marL="12700" marR="5080"/>
            <a:r>
              <a:rPr lang="en-US" sz="1500" dirty="0" err="1">
                <a:solidFill>
                  <a:schemeClr val="accent6"/>
                </a:solidFill>
                <a:latin typeface="Google Sans"/>
              </a:rPr>
              <a:t>CacheLineSize</a:t>
            </a:r>
            <a:r>
              <a:rPr lang="en-US" sz="1500" dirty="0">
                <a:solidFill>
                  <a:schemeClr val="accent6"/>
                </a:solidFill>
                <a:latin typeface="Google Sans"/>
              </a:rPr>
              <a:t> = 64 bytes</a:t>
            </a:r>
          </a:p>
          <a:p>
            <a:pPr marL="12700" marR="5080"/>
            <a:r>
              <a:rPr lang="en-US" sz="1500" dirty="0">
                <a:solidFill>
                  <a:schemeClr val="accent6"/>
                </a:solidFill>
                <a:latin typeface="Google Sans"/>
              </a:rPr>
              <a:t>[</a:t>
            </a:r>
            <a:r>
              <a:rPr lang="en-US" sz="1500" dirty="0" err="1">
                <a:solidFill>
                  <a:schemeClr val="accent6"/>
                </a:solidFill>
                <a:latin typeface="Google Sans"/>
              </a:rPr>
              <a:t>StructLayout</a:t>
            </a:r>
            <a:r>
              <a:rPr lang="en-US" sz="1500" dirty="0">
                <a:solidFill>
                  <a:schemeClr val="accent6"/>
                </a:solidFill>
                <a:latin typeface="Google Sans"/>
              </a:rPr>
              <a:t>(</a:t>
            </a:r>
            <a:r>
              <a:rPr lang="en-US" sz="1500" dirty="0" err="1">
                <a:solidFill>
                  <a:schemeClr val="accent6"/>
                </a:solidFill>
                <a:latin typeface="Google Sans"/>
              </a:rPr>
              <a:t>LayoutKind.Explicit</a:t>
            </a:r>
            <a:r>
              <a:rPr lang="en-US" sz="1500" dirty="0">
                <a:solidFill>
                  <a:schemeClr val="accent6"/>
                </a:solidFill>
                <a:latin typeface="Google Sans"/>
              </a:rPr>
              <a:t>, Size = 128)]</a:t>
            </a:r>
          </a:p>
          <a:p>
            <a:pPr marL="12700" marR="5080"/>
            <a:r>
              <a:rPr lang="en-US" sz="1500" dirty="0">
                <a:solidFill>
                  <a:schemeClr val="accent6"/>
                </a:solidFill>
                <a:latin typeface="Google Sans"/>
              </a:rPr>
              <a:t>struct </a:t>
            </a:r>
            <a:r>
              <a:rPr lang="en-US" sz="1500" dirty="0" err="1">
                <a:solidFill>
                  <a:schemeClr val="accent6"/>
                </a:solidFill>
                <a:latin typeface="Google Sans"/>
              </a:rPr>
              <a:t>PaddedCounter</a:t>
            </a:r>
            <a:endParaRPr lang="en-US" sz="1500" dirty="0">
              <a:solidFill>
                <a:schemeClr val="accent6"/>
              </a:solidFill>
              <a:latin typeface="Google Sans"/>
            </a:endParaRPr>
          </a:p>
          <a:p>
            <a:pPr marL="12700" marR="5080"/>
            <a:r>
              <a:rPr lang="en-US" sz="1500" dirty="0">
                <a:solidFill>
                  <a:schemeClr val="accent6"/>
                </a:solidFill>
                <a:latin typeface="Google Sans"/>
              </a:rPr>
              <a:t>{</a:t>
            </a:r>
          </a:p>
          <a:p>
            <a:pPr marL="12700" marR="5080"/>
            <a:r>
              <a:rPr lang="en-US" sz="1500" dirty="0">
                <a:solidFill>
                  <a:schemeClr val="accent6"/>
                </a:solidFill>
                <a:latin typeface="Google Sans"/>
              </a:rPr>
              <a:t>    [</a:t>
            </a:r>
            <a:r>
              <a:rPr lang="en-US" sz="1500" dirty="0" err="1">
                <a:solidFill>
                  <a:schemeClr val="accent6"/>
                </a:solidFill>
                <a:latin typeface="Google Sans"/>
              </a:rPr>
              <a:t>FieldOffset</a:t>
            </a:r>
            <a:r>
              <a:rPr lang="en-US" sz="1500" dirty="0">
                <a:solidFill>
                  <a:schemeClr val="accent6"/>
                </a:solidFill>
                <a:latin typeface="Google Sans"/>
              </a:rPr>
              <a:t>(64)]</a:t>
            </a:r>
          </a:p>
          <a:p>
            <a:pPr marL="12700" marR="5080"/>
            <a:r>
              <a:rPr lang="en-US" sz="1500" dirty="0">
                <a:solidFill>
                  <a:schemeClr val="accent6"/>
                </a:solidFill>
                <a:latin typeface="Google Sans"/>
              </a:rPr>
              <a:t>    public long Value;</a:t>
            </a:r>
          </a:p>
          <a:p>
            <a:pPr marL="12700" marR="5080"/>
            <a:r>
              <a:rPr lang="en-US" sz="1500" dirty="0">
                <a:solidFill>
                  <a:schemeClr val="accent6"/>
                </a:solidFill>
                <a:latin typeface="Google Sans"/>
              </a:rPr>
              <a:t>}</a:t>
            </a:r>
          </a:p>
          <a:p>
            <a:pPr marL="12700" marR="5080"/>
            <a:r>
              <a:rPr lang="en-US" sz="1500" dirty="0">
                <a:solidFill>
                  <a:schemeClr val="accent2"/>
                </a:solidFill>
                <a:latin typeface="Google Sans"/>
              </a:rPr>
              <a:t>.NET tools</a:t>
            </a:r>
          </a:p>
          <a:p>
            <a:pPr marL="12700" marR="5080"/>
            <a:r>
              <a:rPr lang="en-US" sz="1500" dirty="0" err="1">
                <a:solidFill>
                  <a:schemeClr val="accent6"/>
                </a:solidFill>
                <a:latin typeface="Google Sans"/>
              </a:rPr>
              <a:t>System.Runtime.CompilerServices.Unsafe</a:t>
            </a:r>
            <a:endParaRPr lang="en-US" sz="1500" dirty="0">
              <a:solidFill>
                <a:schemeClr val="accent6"/>
              </a:solidFill>
              <a:latin typeface="Google Sans"/>
            </a:endParaRPr>
          </a:p>
          <a:p>
            <a:pPr marL="12700" marR="5080"/>
            <a:r>
              <a:rPr lang="en-US" sz="1500" dirty="0" err="1">
                <a:solidFill>
                  <a:schemeClr val="accent6"/>
                </a:solidFill>
                <a:latin typeface="Google Sans"/>
              </a:rPr>
              <a:t>StructLayout</a:t>
            </a:r>
            <a:endParaRPr lang="en-US" sz="1500" dirty="0">
              <a:solidFill>
                <a:schemeClr val="accent6"/>
              </a:solidFill>
              <a:latin typeface="Google Sans"/>
            </a:endParaRPr>
          </a:p>
          <a:p>
            <a:pPr marL="12700" marR="5080"/>
            <a:endParaRPr lang="en-US" sz="1500" dirty="0">
              <a:solidFill>
                <a:schemeClr val="accent6"/>
              </a:solidFill>
              <a:latin typeface="Google Sans"/>
            </a:endParaRPr>
          </a:p>
          <a:p>
            <a:pPr marL="12700" marR="5080"/>
            <a:endParaRPr lang="en-US" sz="1500" dirty="0">
              <a:solidFill>
                <a:schemeClr val="accent6"/>
              </a:solidFill>
              <a:latin typeface="Google Sans"/>
            </a:endParaRPr>
          </a:p>
          <a:p>
            <a:pPr marL="12700" marR="5080"/>
            <a:endParaRPr lang="en-US" sz="1500" dirty="0">
              <a:solidFill>
                <a:schemeClr val="accent6"/>
              </a:solidFill>
              <a:latin typeface="Google Sans"/>
            </a:endParaRPr>
          </a:p>
        </p:txBody>
      </p:sp>
    </p:spTree>
    <p:extLst>
      <p:ext uri="{BB962C8B-B14F-4D97-AF65-F5344CB8AC3E}">
        <p14:creationId xmlns:p14="http://schemas.microsoft.com/office/powerpoint/2010/main" val="1625078902"/>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80FDE-EAE1-E4F2-15CE-0D59572C6D5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A55BC90-E1F5-F7B1-FC56-50A312B252A5}"/>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7EEA254-3C5E-8BE1-66A7-86AD5471BA73}"/>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1564021-9CF4-801A-79D6-932966582702}"/>
              </a:ext>
            </a:extLst>
          </p:cNvPr>
          <p:cNvGraphicFramePr/>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7E2160E-DFF7-3811-183C-628ECF6FB278}"/>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8BB757C1-BE7E-4DF3-98E3-65BE73575531}"/>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278B9337-A345-AA7D-4710-2AD1EA88B606}"/>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BEAEB73A-6D60-2637-32C5-23375A5F3B3D}"/>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5FF2DCA5-ACA6-6ABB-3794-DB4CF0F2664F}"/>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77E4D0A7-D195-4BC0-20CD-CE9ECDE3A718}"/>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6CEF48E1-A3B9-DFC2-E218-1C1E80D120BF}"/>
              </a:ext>
            </a:extLst>
          </p:cNvPr>
          <p:cNvSpPr txBox="1">
            <a:spLocks/>
          </p:cNvSpPr>
          <p:nvPr/>
        </p:nvSpPr>
        <p:spPr>
          <a:xfrm>
            <a:off x="228600" y="685800"/>
            <a:ext cx="8624937" cy="50783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dirty="0">
                <a:solidFill>
                  <a:schemeClr val="accent2"/>
                </a:solidFill>
                <a:latin typeface="Google Sans"/>
              </a:rPr>
              <a:t>Core Principles (Non-Negotiable)</a:t>
            </a:r>
          </a:p>
          <a:p>
            <a:pPr marL="12700" marR="5080"/>
            <a:r>
              <a:rPr lang="en-US" sz="1500" dirty="0">
                <a:solidFill>
                  <a:schemeClr val="accent2"/>
                </a:solidFill>
                <a:latin typeface="Google Sans"/>
              </a:rPr>
              <a:t>2. Hardware-Level Sympathy (CPU, Cache, NUMA)</a:t>
            </a:r>
          </a:p>
          <a:p>
            <a:pPr marL="12700" marR="5080"/>
            <a:r>
              <a:rPr lang="en-US" sz="1500" dirty="0">
                <a:solidFill>
                  <a:schemeClr val="accent2"/>
                </a:solidFill>
                <a:latin typeface="Google Sans"/>
              </a:rPr>
              <a:t>2.3 NUMA Awareness</a:t>
            </a:r>
          </a:p>
          <a:p>
            <a:pPr marL="12700" marR="5080"/>
            <a:r>
              <a:rPr lang="en-US" sz="1500" dirty="0">
                <a:solidFill>
                  <a:schemeClr val="accent2"/>
                </a:solidFill>
                <a:latin typeface="Google Sans"/>
              </a:rPr>
              <a:t>Problems</a:t>
            </a:r>
          </a:p>
          <a:p>
            <a:pPr marL="12700" marR="5080"/>
            <a:r>
              <a:rPr lang="en-US" sz="1500" dirty="0">
                <a:solidFill>
                  <a:schemeClr val="accent6"/>
                </a:solidFill>
                <a:latin typeface="Google Sans"/>
              </a:rPr>
              <a:t>Cross-NUMA memory access is slower</a:t>
            </a:r>
          </a:p>
          <a:p>
            <a:pPr marL="12700" marR="5080"/>
            <a:r>
              <a:rPr lang="en-US" sz="1500" dirty="0">
                <a:solidFill>
                  <a:schemeClr val="accent6"/>
                </a:solidFill>
                <a:latin typeface="Google Sans"/>
              </a:rPr>
              <a:t>Thread hopping across nodes kills latency</a:t>
            </a:r>
          </a:p>
          <a:p>
            <a:pPr marL="12700" marR="5080"/>
            <a:r>
              <a:rPr lang="en-US" sz="1500" dirty="0">
                <a:solidFill>
                  <a:schemeClr val="accent2"/>
                </a:solidFill>
                <a:latin typeface="Google Sans"/>
              </a:rPr>
              <a:t>Techniques</a:t>
            </a:r>
          </a:p>
          <a:p>
            <a:pPr marL="12700" marR="5080"/>
            <a:r>
              <a:rPr lang="en-US" sz="1500" dirty="0">
                <a:solidFill>
                  <a:schemeClr val="accent6"/>
                </a:solidFill>
                <a:latin typeface="Google Sans"/>
              </a:rPr>
              <a:t>Pin threads to cores (advanced)</a:t>
            </a:r>
          </a:p>
          <a:p>
            <a:pPr marL="12700" marR="5080"/>
            <a:r>
              <a:rPr lang="en-US" sz="1500" dirty="0">
                <a:solidFill>
                  <a:schemeClr val="accent6"/>
                </a:solidFill>
                <a:latin typeface="Google Sans"/>
              </a:rPr>
              <a:t>Keep data local to thread</a:t>
            </a:r>
          </a:p>
          <a:p>
            <a:pPr marL="12700" marR="5080"/>
            <a:r>
              <a:rPr lang="en-US" sz="1500" dirty="0">
                <a:solidFill>
                  <a:schemeClr val="accent6"/>
                </a:solidFill>
                <a:latin typeface="Google Sans"/>
              </a:rPr>
              <a:t>Use partitioned queues</a:t>
            </a:r>
          </a:p>
          <a:p>
            <a:pPr marL="12700" marR="5080"/>
            <a:r>
              <a:rPr lang="en-US" sz="1500" dirty="0">
                <a:solidFill>
                  <a:schemeClr val="accent6"/>
                </a:solidFill>
                <a:latin typeface="Google Sans"/>
              </a:rPr>
              <a:t>.NET does not expose NUMA APIs directly, but Windows/Linux OS scheduling still matters.</a:t>
            </a:r>
          </a:p>
          <a:p>
            <a:pPr marL="12700" marR="5080"/>
            <a:endParaRPr lang="en-US" sz="1500" dirty="0">
              <a:solidFill>
                <a:schemeClr val="accent6"/>
              </a:solidFill>
              <a:latin typeface="Google Sans"/>
            </a:endParaRPr>
          </a:p>
          <a:p>
            <a:pPr marL="12700" marR="5080"/>
            <a:r>
              <a:rPr lang="en-US" sz="1500" dirty="0">
                <a:solidFill>
                  <a:schemeClr val="accent2"/>
                </a:solidFill>
                <a:latin typeface="Google Sans"/>
              </a:rPr>
              <a:t>3. OS &amp; Threading Sympathy</a:t>
            </a:r>
          </a:p>
          <a:p>
            <a:pPr marL="12700" marR="5080"/>
            <a:r>
              <a:rPr lang="en-US" sz="1500" dirty="0">
                <a:solidFill>
                  <a:schemeClr val="accent2"/>
                </a:solidFill>
                <a:latin typeface="Google Sans"/>
              </a:rPr>
              <a:t>3.1 Thread Affinity &amp; Thread Pools</a:t>
            </a:r>
          </a:p>
          <a:p>
            <a:pPr marL="12700" marR="5080"/>
            <a:r>
              <a:rPr lang="en-US" sz="1500" dirty="0">
                <a:solidFill>
                  <a:schemeClr val="accent2"/>
                </a:solidFill>
                <a:latin typeface="Google Sans"/>
              </a:rPr>
              <a:t>Avoid</a:t>
            </a:r>
          </a:p>
          <a:p>
            <a:pPr marL="12700" marR="5080"/>
            <a:r>
              <a:rPr lang="en-US" sz="1500" dirty="0">
                <a:solidFill>
                  <a:schemeClr val="accent6"/>
                </a:solidFill>
                <a:latin typeface="Google Sans"/>
              </a:rPr>
              <a:t>Excessive </a:t>
            </a:r>
            <a:r>
              <a:rPr lang="en-US" sz="1500" dirty="0" err="1">
                <a:solidFill>
                  <a:schemeClr val="accent6"/>
                </a:solidFill>
                <a:latin typeface="Google Sans"/>
              </a:rPr>
              <a:t>Task.Run</a:t>
            </a:r>
            <a:endParaRPr lang="en-US" sz="1500" dirty="0">
              <a:solidFill>
                <a:schemeClr val="accent6"/>
              </a:solidFill>
              <a:latin typeface="Google Sans"/>
            </a:endParaRPr>
          </a:p>
          <a:p>
            <a:pPr marL="12700" marR="5080"/>
            <a:r>
              <a:rPr lang="en-US" sz="1500" dirty="0" err="1">
                <a:solidFill>
                  <a:schemeClr val="accent6"/>
                </a:solidFill>
                <a:latin typeface="Google Sans"/>
              </a:rPr>
              <a:t>ThreadPool</a:t>
            </a:r>
            <a:r>
              <a:rPr lang="en-US" sz="1500" dirty="0">
                <a:solidFill>
                  <a:schemeClr val="accent6"/>
                </a:solidFill>
                <a:latin typeface="Google Sans"/>
              </a:rPr>
              <a:t> starvation</a:t>
            </a:r>
          </a:p>
          <a:p>
            <a:pPr marL="12700" marR="5080"/>
            <a:r>
              <a:rPr lang="en-US" sz="1500" dirty="0">
                <a:solidFill>
                  <a:schemeClr val="accent2"/>
                </a:solidFill>
                <a:latin typeface="Google Sans"/>
              </a:rPr>
              <a:t>Prefer</a:t>
            </a:r>
          </a:p>
          <a:p>
            <a:pPr marL="12700" marR="5080"/>
            <a:r>
              <a:rPr lang="en-US" sz="1500" dirty="0">
                <a:solidFill>
                  <a:schemeClr val="accent6"/>
                </a:solidFill>
                <a:latin typeface="Google Sans"/>
              </a:rPr>
              <a:t>Long-running dedicated threads for hot paths</a:t>
            </a:r>
          </a:p>
          <a:p>
            <a:pPr marL="12700" marR="5080"/>
            <a:r>
              <a:rPr lang="en-US" sz="1500" dirty="0" err="1">
                <a:solidFill>
                  <a:schemeClr val="accent6"/>
                </a:solidFill>
                <a:latin typeface="Google Sans"/>
              </a:rPr>
              <a:t>BackgroundService</a:t>
            </a:r>
            <a:r>
              <a:rPr lang="en-US" sz="1500" dirty="0">
                <a:solidFill>
                  <a:schemeClr val="accent6"/>
                </a:solidFill>
                <a:latin typeface="Google Sans"/>
              </a:rPr>
              <a:t> + Channels</a:t>
            </a:r>
          </a:p>
          <a:p>
            <a:pPr marL="12700" marR="5080"/>
            <a:r>
              <a:rPr lang="en-US" sz="1500" dirty="0">
                <a:solidFill>
                  <a:schemeClr val="accent6"/>
                </a:solidFill>
                <a:latin typeface="Google Sans"/>
              </a:rPr>
              <a:t>Explicit threading for critical paths</a:t>
            </a:r>
          </a:p>
          <a:p>
            <a:pPr marL="12700" marR="5080"/>
            <a:r>
              <a:rPr lang="en-US" sz="1500" dirty="0">
                <a:solidFill>
                  <a:schemeClr val="accent6"/>
                </a:solidFill>
                <a:latin typeface="Google Sans"/>
              </a:rPr>
              <a:t>new Thread(</a:t>
            </a:r>
            <a:r>
              <a:rPr lang="en-US" sz="1500" dirty="0" err="1">
                <a:solidFill>
                  <a:schemeClr val="accent6"/>
                </a:solidFill>
                <a:latin typeface="Google Sans"/>
              </a:rPr>
              <a:t>ProcessLoop</a:t>
            </a:r>
            <a:r>
              <a:rPr lang="en-US" sz="1500" dirty="0">
                <a:solidFill>
                  <a:schemeClr val="accent6"/>
                </a:solidFill>
                <a:latin typeface="Google Sans"/>
              </a:rPr>
              <a:t>) { </a:t>
            </a:r>
            <a:r>
              <a:rPr lang="en-US" sz="1500" dirty="0" err="1">
                <a:solidFill>
                  <a:schemeClr val="accent6"/>
                </a:solidFill>
                <a:latin typeface="Google Sans"/>
              </a:rPr>
              <a:t>IsBackground</a:t>
            </a:r>
            <a:r>
              <a:rPr lang="en-US" sz="1500" dirty="0">
                <a:solidFill>
                  <a:schemeClr val="accent6"/>
                </a:solidFill>
                <a:latin typeface="Google Sans"/>
              </a:rPr>
              <a:t> = true }.Start();</a:t>
            </a:r>
          </a:p>
        </p:txBody>
      </p:sp>
    </p:spTree>
    <p:extLst>
      <p:ext uri="{BB962C8B-B14F-4D97-AF65-F5344CB8AC3E}">
        <p14:creationId xmlns:p14="http://schemas.microsoft.com/office/powerpoint/2010/main" val="3508464247"/>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C969B-52F9-865E-EF35-5EAEABA2BBC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F79230A-7D8C-7FCB-3597-47D37532DD4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B3A886A-8B5B-DF82-835E-AA39BE2C12EB}"/>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1852595-6592-45B6-5891-BD5FD0A4A0FD}"/>
              </a:ext>
            </a:extLst>
          </p:cNvPr>
          <p:cNvGraphicFramePr/>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1CFC368-DAB0-0EBE-E10B-D841D36B6CA5}"/>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E9EA26FE-C22D-4738-AEC0-367ADEA1A633}"/>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80308855-83FD-7A75-B49A-1E17F87D116C}"/>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0ECB98DF-B9E4-8644-DBCB-84ED90676310}"/>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A9426D70-94A8-BEDA-324F-531C991F43E3}"/>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83DCDBE5-25D1-5575-EF37-06CE1FDB2325}"/>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ECA92755-C834-46A0-21DC-E103D4718D80}"/>
              </a:ext>
            </a:extLst>
          </p:cNvPr>
          <p:cNvSpPr txBox="1">
            <a:spLocks/>
          </p:cNvSpPr>
          <p:nvPr/>
        </p:nvSpPr>
        <p:spPr>
          <a:xfrm>
            <a:off x="228600" y="685800"/>
            <a:ext cx="8624937" cy="50783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dirty="0">
                <a:solidFill>
                  <a:schemeClr val="accent2"/>
                </a:solidFill>
                <a:latin typeface="Google Sans"/>
              </a:rPr>
              <a:t>Core Principles (Non-Negotiable)</a:t>
            </a:r>
          </a:p>
          <a:p>
            <a:pPr marL="12700" marR="5080"/>
            <a:r>
              <a:rPr lang="en-US" sz="1500" dirty="0">
                <a:solidFill>
                  <a:schemeClr val="accent2"/>
                </a:solidFill>
                <a:latin typeface="Google Sans"/>
              </a:rPr>
              <a:t>3. OS &amp; Threading Sympathy</a:t>
            </a:r>
          </a:p>
          <a:p>
            <a:pPr marL="12700" marR="5080"/>
            <a:r>
              <a:rPr lang="en-US" sz="1500" dirty="0">
                <a:solidFill>
                  <a:schemeClr val="accent2"/>
                </a:solidFill>
                <a:latin typeface="Google Sans"/>
              </a:rPr>
              <a:t>3.2 Context Switch Avoidance</a:t>
            </a:r>
          </a:p>
          <a:p>
            <a:pPr marL="12700" marR="5080"/>
            <a:r>
              <a:rPr lang="en-US" sz="1500" dirty="0">
                <a:solidFill>
                  <a:schemeClr val="accent2"/>
                </a:solidFill>
                <a:latin typeface="Google Sans"/>
              </a:rPr>
              <a:t>Techniques</a:t>
            </a:r>
          </a:p>
          <a:p>
            <a:pPr marL="12700" marR="5080"/>
            <a:r>
              <a:rPr lang="en-US" sz="1500" dirty="0">
                <a:solidFill>
                  <a:schemeClr val="accent6"/>
                </a:solidFill>
                <a:latin typeface="Google Sans"/>
              </a:rPr>
              <a:t>Busy-spin briefly before parking</a:t>
            </a:r>
          </a:p>
          <a:p>
            <a:pPr marL="12700" marR="5080"/>
            <a:r>
              <a:rPr lang="en-US" sz="1500" dirty="0">
                <a:solidFill>
                  <a:schemeClr val="accent6"/>
                </a:solidFill>
                <a:latin typeface="Google Sans"/>
              </a:rPr>
              <a:t>Avoid lock convoying</a:t>
            </a:r>
          </a:p>
          <a:p>
            <a:pPr marL="12700" marR="5080"/>
            <a:r>
              <a:rPr lang="en-US" sz="1500" dirty="0">
                <a:solidFill>
                  <a:schemeClr val="accent6"/>
                </a:solidFill>
                <a:latin typeface="Google Sans"/>
              </a:rPr>
              <a:t>Avoid blocking calls</a:t>
            </a:r>
          </a:p>
          <a:p>
            <a:pPr marL="12700" marR="5080"/>
            <a:r>
              <a:rPr lang="en-US" sz="1500" dirty="0" err="1">
                <a:solidFill>
                  <a:schemeClr val="accent6"/>
                </a:solidFill>
                <a:latin typeface="Google Sans"/>
              </a:rPr>
              <a:t>SpinWait</a:t>
            </a:r>
            <a:r>
              <a:rPr lang="en-US" sz="1500" dirty="0">
                <a:solidFill>
                  <a:schemeClr val="accent6"/>
                </a:solidFill>
                <a:latin typeface="Google Sans"/>
              </a:rPr>
              <a:t> </a:t>
            </a:r>
            <a:r>
              <a:rPr lang="en-US" sz="1500" dirty="0" err="1">
                <a:solidFill>
                  <a:schemeClr val="accent6"/>
                </a:solidFill>
                <a:latin typeface="Google Sans"/>
              </a:rPr>
              <a:t>sw</a:t>
            </a:r>
            <a:r>
              <a:rPr lang="en-US" sz="1500" dirty="0">
                <a:solidFill>
                  <a:schemeClr val="accent6"/>
                </a:solidFill>
                <a:latin typeface="Google Sans"/>
              </a:rPr>
              <a:t> = new();</a:t>
            </a:r>
          </a:p>
          <a:p>
            <a:pPr marL="12700" marR="5080"/>
            <a:r>
              <a:rPr lang="en-US" sz="1500" dirty="0">
                <a:solidFill>
                  <a:schemeClr val="accent6"/>
                </a:solidFill>
                <a:latin typeface="Google Sans"/>
              </a:rPr>
              <a:t>while (!</a:t>
            </a:r>
            <a:r>
              <a:rPr lang="en-US" sz="1500" dirty="0" err="1">
                <a:solidFill>
                  <a:schemeClr val="accent6"/>
                </a:solidFill>
                <a:latin typeface="Google Sans"/>
              </a:rPr>
              <a:t>TryAcquire</a:t>
            </a:r>
            <a:r>
              <a:rPr lang="en-US" sz="1500" dirty="0">
                <a:solidFill>
                  <a:schemeClr val="accent6"/>
                </a:solidFill>
                <a:latin typeface="Google Sans"/>
              </a:rPr>
              <a:t>())</a:t>
            </a:r>
          </a:p>
          <a:p>
            <a:pPr marL="12700" marR="5080"/>
            <a:r>
              <a:rPr lang="en-US" sz="1500" dirty="0">
                <a:solidFill>
                  <a:schemeClr val="accent6"/>
                </a:solidFill>
                <a:latin typeface="Google Sans"/>
              </a:rPr>
              <a:t>{</a:t>
            </a:r>
          </a:p>
          <a:p>
            <a:pPr marL="12700" marR="5080"/>
            <a:r>
              <a:rPr lang="en-US" sz="1500" dirty="0">
                <a:solidFill>
                  <a:schemeClr val="accent6"/>
                </a:solidFill>
                <a:latin typeface="Google Sans"/>
              </a:rPr>
              <a:t>    </a:t>
            </a:r>
            <a:r>
              <a:rPr lang="en-US" sz="1500" dirty="0" err="1">
                <a:solidFill>
                  <a:schemeClr val="accent6"/>
                </a:solidFill>
                <a:latin typeface="Google Sans"/>
              </a:rPr>
              <a:t>sw.SpinOnce</a:t>
            </a:r>
            <a:r>
              <a:rPr lang="en-US" sz="1500" dirty="0">
                <a:solidFill>
                  <a:schemeClr val="accent6"/>
                </a:solidFill>
                <a:latin typeface="Google Sans"/>
              </a:rPr>
              <a:t>();</a:t>
            </a:r>
          </a:p>
          <a:p>
            <a:pPr marL="12700" marR="5080"/>
            <a:r>
              <a:rPr lang="en-US" sz="1500" dirty="0">
                <a:solidFill>
                  <a:schemeClr val="accent6"/>
                </a:solidFill>
                <a:latin typeface="Google Sans"/>
              </a:rPr>
              <a:t>}</a:t>
            </a:r>
          </a:p>
          <a:p>
            <a:pPr marL="12700" marR="5080"/>
            <a:endParaRPr lang="en-US" sz="1500" dirty="0">
              <a:solidFill>
                <a:schemeClr val="accent6"/>
              </a:solidFill>
              <a:latin typeface="Google Sans"/>
            </a:endParaRPr>
          </a:p>
          <a:p>
            <a:pPr marL="12700" marR="5080"/>
            <a:r>
              <a:rPr lang="en-US" sz="1500" dirty="0">
                <a:solidFill>
                  <a:schemeClr val="accent2"/>
                </a:solidFill>
                <a:latin typeface="Google Sans"/>
              </a:rPr>
              <a:t>4. CLR &amp; JIT Mechanical Sympathy</a:t>
            </a:r>
          </a:p>
          <a:p>
            <a:pPr marL="12700" marR="5080"/>
            <a:r>
              <a:rPr lang="en-US" sz="1500" dirty="0">
                <a:solidFill>
                  <a:schemeClr val="accent2"/>
                </a:solidFill>
                <a:latin typeface="Google Sans"/>
              </a:rPr>
              <a:t>4.1 JIT Warm-Up</a:t>
            </a:r>
          </a:p>
          <a:p>
            <a:pPr marL="12700" marR="5080"/>
            <a:r>
              <a:rPr lang="en-US" sz="1500" dirty="0">
                <a:solidFill>
                  <a:schemeClr val="accent2"/>
                </a:solidFill>
                <a:latin typeface="Google Sans"/>
              </a:rPr>
              <a:t>Problems</a:t>
            </a:r>
          </a:p>
          <a:p>
            <a:pPr marL="12700" marR="5080"/>
            <a:r>
              <a:rPr lang="en-US" sz="1500" dirty="0">
                <a:solidFill>
                  <a:schemeClr val="accent6"/>
                </a:solidFill>
                <a:latin typeface="Google Sans"/>
              </a:rPr>
              <a:t>Cold start latency</a:t>
            </a:r>
          </a:p>
          <a:p>
            <a:pPr marL="12700" marR="5080"/>
            <a:r>
              <a:rPr lang="en-US" sz="1500" dirty="0">
                <a:solidFill>
                  <a:schemeClr val="accent6"/>
                </a:solidFill>
                <a:latin typeface="Google Sans"/>
              </a:rPr>
              <a:t>Tiered compilation</a:t>
            </a:r>
          </a:p>
          <a:p>
            <a:pPr marL="12700" marR="5080"/>
            <a:r>
              <a:rPr lang="en-US" sz="1500" dirty="0">
                <a:solidFill>
                  <a:schemeClr val="accent2"/>
                </a:solidFill>
                <a:latin typeface="Google Sans"/>
              </a:rPr>
              <a:t>Techniques</a:t>
            </a:r>
          </a:p>
          <a:p>
            <a:pPr marL="12700" marR="5080"/>
            <a:r>
              <a:rPr lang="en-US" sz="1500" dirty="0">
                <a:solidFill>
                  <a:schemeClr val="accent6"/>
                </a:solidFill>
                <a:latin typeface="Google Sans"/>
              </a:rPr>
              <a:t>Pre-JIT hot paths</a:t>
            </a:r>
          </a:p>
          <a:p>
            <a:pPr marL="12700" marR="5080"/>
            <a:r>
              <a:rPr lang="en-US" sz="1500" dirty="0">
                <a:solidFill>
                  <a:schemeClr val="accent6"/>
                </a:solidFill>
                <a:latin typeface="Google Sans"/>
              </a:rPr>
              <a:t>Disable tiered compilation (if latency-critical)</a:t>
            </a:r>
          </a:p>
          <a:p>
            <a:pPr marL="12700" marR="5080"/>
            <a:r>
              <a:rPr lang="en-US" sz="1500" dirty="0" err="1">
                <a:solidFill>
                  <a:schemeClr val="accent6"/>
                </a:solidFill>
                <a:latin typeface="Google Sans"/>
              </a:rPr>
              <a:t>DOTNET_TieredCompilation</a:t>
            </a:r>
            <a:r>
              <a:rPr lang="en-US" sz="1500" dirty="0">
                <a:solidFill>
                  <a:schemeClr val="accent6"/>
                </a:solidFill>
                <a:latin typeface="Google Sans"/>
              </a:rPr>
              <a:t>=0</a:t>
            </a:r>
          </a:p>
        </p:txBody>
      </p:sp>
    </p:spTree>
    <p:extLst>
      <p:ext uri="{BB962C8B-B14F-4D97-AF65-F5344CB8AC3E}">
        <p14:creationId xmlns:p14="http://schemas.microsoft.com/office/powerpoint/2010/main" val="3596203081"/>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79DD9-74EC-944C-8B01-62EA0521B5C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340A7CD-3505-7DCA-64C7-1009EAFAA70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0460CD7-77F9-97AD-17C5-B12410E2FA15}"/>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9FDD72A-19A1-2445-241C-81F8B9FA0A9F}"/>
              </a:ext>
            </a:extLst>
          </p:cNvPr>
          <p:cNvGraphicFramePr/>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AD4FF65A-2A0E-9408-AA5C-0D20E32D0B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50182FFF-EEF2-DDB4-6F94-DC85666BD442}"/>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B6A0553B-9CF7-0A37-5201-AA245E8A74A3}"/>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2ABFBB58-D579-C386-AD4E-A1C0497C6CFE}"/>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FF153154-35BD-D583-0B4B-C8E70E10A73D}"/>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4B34C572-5EE9-FA0F-0CDD-9B62678A958E}"/>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73EDB4E3-7853-BE1C-9F2C-EC88C72FFD42}"/>
              </a:ext>
            </a:extLst>
          </p:cNvPr>
          <p:cNvSpPr txBox="1">
            <a:spLocks/>
          </p:cNvSpPr>
          <p:nvPr/>
        </p:nvSpPr>
        <p:spPr>
          <a:xfrm>
            <a:off x="228600" y="685800"/>
            <a:ext cx="8624937" cy="53091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dirty="0">
                <a:solidFill>
                  <a:schemeClr val="accent2"/>
                </a:solidFill>
                <a:latin typeface="Google Sans"/>
              </a:rPr>
              <a:t>Core Principles (Non-Negotiable)</a:t>
            </a:r>
          </a:p>
          <a:p>
            <a:pPr marL="12700" marR="5080"/>
            <a:r>
              <a:rPr lang="en-US" sz="1500" dirty="0">
                <a:solidFill>
                  <a:schemeClr val="accent2"/>
                </a:solidFill>
                <a:latin typeface="Google Sans"/>
              </a:rPr>
              <a:t>4. CLR &amp; JIT Mechanical Sympathy</a:t>
            </a:r>
          </a:p>
          <a:p>
            <a:pPr marL="12700" marR="5080"/>
            <a:r>
              <a:rPr lang="en-US" sz="1500" dirty="0">
                <a:solidFill>
                  <a:schemeClr val="accent2"/>
                </a:solidFill>
                <a:latin typeface="Google Sans"/>
              </a:rPr>
              <a:t>4.2 Avoid Virtual Dispatch</a:t>
            </a:r>
          </a:p>
          <a:p>
            <a:pPr marL="12700" marR="5080"/>
            <a:r>
              <a:rPr lang="en-US" sz="1500" dirty="0">
                <a:solidFill>
                  <a:schemeClr val="accent6"/>
                </a:solidFill>
                <a:latin typeface="Google Sans"/>
              </a:rPr>
              <a:t>// BAD</a:t>
            </a:r>
          </a:p>
          <a:p>
            <a:pPr marL="12700" marR="5080"/>
            <a:r>
              <a:rPr lang="en-US" sz="1500" dirty="0">
                <a:solidFill>
                  <a:schemeClr val="accent6"/>
                </a:solidFill>
                <a:latin typeface="Google Sans"/>
              </a:rPr>
              <a:t>interface </a:t>
            </a:r>
            <a:r>
              <a:rPr lang="en-US" sz="1500" dirty="0" err="1">
                <a:solidFill>
                  <a:schemeClr val="accent6"/>
                </a:solidFill>
                <a:latin typeface="Google Sans"/>
              </a:rPr>
              <a:t>IHandler</a:t>
            </a:r>
            <a:r>
              <a:rPr lang="en-US" sz="1500" dirty="0">
                <a:solidFill>
                  <a:schemeClr val="accent6"/>
                </a:solidFill>
                <a:latin typeface="Google Sans"/>
              </a:rPr>
              <a:t> { void Handle(); }</a:t>
            </a:r>
          </a:p>
          <a:p>
            <a:pPr marL="12700" marR="5080"/>
            <a:r>
              <a:rPr lang="en-US" sz="1500" dirty="0">
                <a:solidFill>
                  <a:schemeClr val="accent6"/>
                </a:solidFill>
                <a:latin typeface="Google Sans"/>
              </a:rPr>
              <a:t>// GOOD</a:t>
            </a:r>
          </a:p>
          <a:p>
            <a:pPr marL="12700" marR="5080"/>
            <a:r>
              <a:rPr lang="en-US" sz="1500" dirty="0">
                <a:solidFill>
                  <a:schemeClr val="accent6"/>
                </a:solidFill>
                <a:latin typeface="Google Sans"/>
              </a:rPr>
              <a:t>sealed class Handler { public void Handle() {} }</a:t>
            </a:r>
          </a:p>
          <a:p>
            <a:pPr marL="12700" marR="5080"/>
            <a:r>
              <a:rPr lang="en-US" sz="1500" dirty="0">
                <a:solidFill>
                  <a:schemeClr val="accent2"/>
                </a:solidFill>
                <a:latin typeface="Google Sans"/>
              </a:rPr>
              <a:t>Use:</a:t>
            </a:r>
          </a:p>
          <a:p>
            <a:pPr marL="12700" marR="5080"/>
            <a:r>
              <a:rPr lang="en-US" sz="1500" dirty="0">
                <a:solidFill>
                  <a:schemeClr val="accent6"/>
                </a:solidFill>
                <a:latin typeface="Google Sans"/>
              </a:rPr>
              <a:t>sealed</a:t>
            </a:r>
          </a:p>
          <a:p>
            <a:pPr marL="12700" marR="5080"/>
            <a:r>
              <a:rPr lang="en-US" sz="1500" dirty="0">
                <a:solidFill>
                  <a:schemeClr val="accent6"/>
                </a:solidFill>
                <a:latin typeface="Google Sans"/>
              </a:rPr>
              <a:t>static</a:t>
            </a:r>
          </a:p>
          <a:p>
            <a:pPr marL="12700" marR="5080"/>
            <a:r>
              <a:rPr lang="en-US" sz="1500" dirty="0">
                <a:solidFill>
                  <a:schemeClr val="accent6"/>
                </a:solidFill>
                <a:latin typeface="Google Sans"/>
              </a:rPr>
              <a:t>Generic specialization</a:t>
            </a:r>
          </a:p>
          <a:p>
            <a:pPr marL="12700" marR="5080"/>
            <a:r>
              <a:rPr lang="en-US" sz="1500" dirty="0">
                <a:solidFill>
                  <a:schemeClr val="accent2"/>
                </a:solidFill>
                <a:latin typeface="Google Sans"/>
              </a:rPr>
              <a:t>4.3 Avoid Exceptions in Hot Paths</a:t>
            </a:r>
          </a:p>
          <a:p>
            <a:pPr marL="12700" marR="5080"/>
            <a:r>
              <a:rPr lang="en-US" sz="1500" dirty="0">
                <a:solidFill>
                  <a:schemeClr val="accent6"/>
                </a:solidFill>
                <a:latin typeface="Google Sans"/>
              </a:rPr>
              <a:t>Exceptions are slow</a:t>
            </a:r>
          </a:p>
          <a:p>
            <a:pPr marL="12700" marR="5080"/>
            <a:r>
              <a:rPr lang="en-US" sz="1500" dirty="0">
                <a:solidFill>
                  <a:schemeClr val="accent6"/>
                </a:solidFill>
                <a:latin typeface="Google Sans"/>
              </a:rPr>
              <a:t>Use return codes or result structs</a:t>
            </a:r>
          </a:p>
          <a:p>
            <a:pPr marL="12700" marR="5080"/>
            <a:r>
              <a:rPr lang="en-US" sz="1500" dirty="0">
                <a:solidFill>
                  <a:schemeClr val="accent6"/>
                </a:solidFill>
                <a:latin typeface="Google Sans"/>
              </a:rPr>
              <a:t>bool </a:t>
            </a:r>
            <a:r>
              <a:rPr lang="en-US" sz="1500" dirty="0" err="1">
                <a:solidFill>
                  <a:schemeClr val="accent6"/>
                </a:solidFill>
                <a:latin typeface="Google Sans"/>
              </a:rPr>
              <a:t>TryParseFast</a:t>
            </a:r>
            <a:r>
              <a:rPr lang="en-US" sz="1500" dirty="0">
                <a:solidFill>
                  <a:schemeClr val="accent6"/>
                </a:solidFill>
                <a:latin typeface="Google Sans"/>
              </a:rPr>
              <a:t>(</a:t>
            </a:r>
            <a:r>
              <a:rPr lang="en-US" sz="1500" dirty="0" err="1">
                <a:solidFill>
                  <a:schemeClr val="accent6"/>
                </a:solidFill>
                <a:latin typeface="Google Sans"/>
              </a:rPr>
              <a:t>ReadOnlySpan</a:t>
            </a:r>
            <a:r>
              <a:rPr lang="en-US" sz="1500" dirty="0">
                <a:solidFill>
                  <a:schemeClr val="accent6"/>
                </a:solidFill>
                <a:latin typeface="Google Sans"/>
              </a:rPr>
              <a:t>&lt;char&gt; s, out int value);</a:t>
            </a:r>
          </a:p>
          <a:p>
            <a:pPr marL="12700" marR="5080"/>
            <a:endParaRPr lang="en-US" sz="1500" dirty="0">
              <a:solidFill>
                <a:schemeClr val="accent6"/>
              </a:solidFill>
              <a:latin typeface="Google Sans"/>
            </a:endParaRPr>
          </a:p>
          <a:p>
            <a:pPr marL="12700" marR="5080"/>
            <a:r>
              <a:rPr lang="en-US" sz="1500" dirty="0">
                <a:solidFill>
                  <a:schemeClr val="accent2"/>
                </a:solidFill>
                <a:latin typeface="Google Sans"/>
              </a:rPr>
              <a:t>5. Memory Management &amp; GC Sympathy (Critical)</a:t>
            </a:r>
          </a:p>
          <a:p>
            <a:pPr marL="12700" marR="5080"/>
            <a:r>
              <a:rPr lang="en-US" sz="1500" dirty="0">
                <a:solidFill>
                  <a:schemeClr val="accent2"/>
                </a:solidFill>
                <a:latin typeface="Google Sans"/>
              </a:rPr>
              <a:t>5.1 Allocation Is the Enemy</a:t>
            </a:r>
          </a:p>
          <a:p>
            <a:pPr marL="12700" marR="5080"/>
            <a:r>
              <a:rPr lang="en-US" sz="1500" dirty="0">
                <a:solidFill>
                  <a:schemeClr val="accent2"/>
                </a:solidFill>
                <a:latin typeface="Google Sans"/>
              </a:rPr>
              <a:t>Avoid</a:t>
            </a:r>
          </a:p>
          <a:p>
            <a:pPr marL="12700" marR="5080"/>
            <a:r>
              <a:rPr lang="en-US" sz="1500" dirty="0">
                <a:solidFill>
                  <a:schemeClr val="accent6"/>
                </a:solidFill>
                <a:latin typeface="Google Sans"/>
              </a:rPr>
              <a:t>Per-request allocations</a:t>
            </a:r>
          </a:p>
          <a:p>
            <a:pPr marL="12700" marR="5080"/>
            <a:r>
              <a:rPr lang="en-US" sz="1500" dirty="0">
                <a:solidFill>
                  <a:schemeClr val="accent6"/>
                </a:solidFill>
                <a:latin typeface="Google Sans"/>
              </a:rPr>
              <a:t>Boxing</a:t>
            </a:r>
          </a:p>
          <a:p>
            <a:pPr marL="12700" marR="5080"/>
            <a:r>
              <a:rPr lang="en-US" sz="1500" dirty="0">
                <a:solidFill>
                  <a:schemeClr val="accent6"/>
                </a:solidFill>
                <a:latin typeface="Google Sans"/>
              </a:rPr>
              <a:t>Captured lambdas</a:t>
            </a:r>
          </a:p>
          <a:p>
            <a:pPr marL="12700" marR="5080"/>
            <a:r>
              <a:rPr lang="en-US" sz="1500" dirty="0">
                <a:solidFill>
                  <a:schemeClr val="accent6"/>
                </a:solidFill>
                <a:latin typeface="Google Sans"/>
              </a:rPr>
              <a:t>LINQ</a:t>
            </a:r>
          </a:p>
        </p:txBody>
      </p:sp>
    </p:spTree>
    <p:extLst>
      <p:ext uri="{BB962C8B-B14F-4D97-AF65-F5344CB8AC3E}">
        <p14:creationId xmlns:p14="http://schemas.microsoft.com/office/powerpoint/2010/main" val="334423049"/>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94515-F4F6-77B0-CFD2-939EB79CBB2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2749A9D-BB8D-9512-6307-916BE2882E31}"/>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1E1806B-8D41-ABF4-D439-3B0FADA40C15}"/>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485A02B-B906-BB7E-B9DE-22B6250C4097}"/>
              </a:ext>
            </a:extLst>
          </p:cNvPr>
          <p:cNvGraphicFramePr/>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B0DE4BCF-CF5E-D0B3-DC86-C2D628B52DAE}"/>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61895E4F-E966-934E-7CFD-FA96271E6F03}"/>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CA097FEE-F009-D8C6-4B5F-C55FE00A5589}"/>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963C7A06-DE64-647D-D8CB-C628ABEE0BBE}"/>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5793D2DE-BDC5-D7A8-641E-440A2B8284CB}"/>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04567A56-0D03-0DCB-C512-4244711D15D3}"/>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70168A77-6F20-F6A3-DF9B-3E31DD65913C}"/>
              </a:ext>
            </a:extLst>
          </p:cNvPr>
          <p:cNvSpPr txBox="1">
            <a:spLocks/>
          </p:cNvSpPr>
          <p:nvPr/>
        </p:nvSpPr>
        <p:spPr>
          <a:xfrm>
            <a:off x="228600" y="685800"/>
            <a:ext cx="8624937" cy="53091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dirty="0">
                <a:solidFill>
                  <a:schemeClr val="accent2"/>
                </a:solidFill>
                <a:latin typeface="Google Sans"/>
              </a:rPr>
              <a:t>Core Principles (Non-Negotiable)</a:t>
            </a:r>
          </a:p>
          <a:p>
            <a:pPr marL="12700" marR="5080"/>
            <a:r>
              <a:rPr lang="en-US" sz="1500" dirty="0">
                <a:solidFill>
                  <a:schemeClr val="accent2"/>
                </a:solidFill>
                <a:latin typeface="Google Sans"/>
              </a:rPr>
              <a:t>5. Memory Management &amp; GC Sympathy (Critical)</a:t>
            </a:r>
          </a:p>
          <a:p>
            <a:pPr marL="12700" marR="5080"/>
            <a:r>
              <a:rPr lang="en-US" sz="1500" dirty="0">
                <a:solidFill>
                  <a:schemeClr val="accent2"/>
                </a:solidFill>
                <a:latin typeface="Google Sans"/>
              </a:rPr>
              <a:t>5.1 Allocation Is the Enemy</a:t>
            </a:r>
          </a:p>
          <a:p>
            <a:pPr marL="12700" marR="5080"/>
            <a:r>
              <a:rPr lang="en-US" sz="1500" dirty="0">
                <a:solidFill>
                  <a:schemeClr val="accent2"/>
                </a:solidFill>
                <a:latin typeface="Google Sans"/>
              </a:rPr>
              <a:t>Prefer</a:t>
            </a:r>
          </a:p>
          <a:p>
            <a:pPr marL="12700" marR="5080"/>
            <a:r>
              <a:rPr lang="en-US" sz="1500" dirty="0">
                <a:solidFill>
                  <a:schemeClr val="accent6"/>
                </a:solidFill>
                <a:latin typeface="Google Sans"/>
              </a:rPr>
              <a:t>Object pooling</a:t>
            </a:r>
          </a:p>
          <a:p>
            <a:pPr marL="12700" marR="5080"/>
            <a:r>
              <a:rPr lang="en-US" sz="1500" dirty="0">
                <a:solidFill>
                  <a:schemeClr val="accent6"/>
                </a:solidFill>
                <a:latin typeface="Google Sans"/>
              </a:rPr>
              <a:t>struct</a:t>
            </a:r>
          </a:p>
          <a:p>
            <a:pPr marL="12700" marR="5080"/>
            <a:r>
              <a:rPr lang="en-US" sz="1500" dirty="0">
                <a:solidFill>
                  <a:schemeClr val="accent6"/>
                </a:solidFill>
                <a:latin typeface="Google Sans"/>
              </a:rPr>
              <a:t>Span&lt;T&gt; / Memory&lt;T&gt;</a:t>
            </a:r>
          </a:p>
          <a:p>
            <a:pPr marL="12700" marR="5080"/>
            <a:r>
              <a:rPr lang="en-US" sz="1500" dirty="0">
                <a:solidFill>
                  <a:schemeClr val="accent2"/>
                </a:solidFill>
                <a:latin typeface="Google Sans"/>
              </a:rPr>
              <a:t>5.2 Object Pools</a:t>
            </a:r>
          </a:p>
          <a:p>
            <a:pPr marL="12700" marR="5080"/>
            <a:r>
              <a:rPr lang="en-US" sz="1500" dirty="0" err="1">
                <a:solidFill>
                  <a:schemeClr val="accent6"/>
                </a:solidFill>
                <a:latin typeface="Google Sans"/>
              </a:rPr>
              <a:t>ObjectPool</a:t>
            </a:r>
            <a:r>
              <a:rPr lang="en-US" sz="1500" dirty="0">
                <a:solidFill>
                  <a:schemeClr val="accent6"/>
                </a:solidFill>
                <a:latin typeface="Google Sans"/>
              </a:rPr>
              <a:t>&lt;T&gt;</a:t>
            </a:r>
          </a:p>
          <a:p>
            <a:pPr marL="12700" marR="5080"/>
            <a:r>
              <a:rPr lang="en-US" sz="1500" dirty="0" err="1">
                <a:solidFill>
                  <a:schemeClr val="accent6"/>
                </a:solidFill>
                <a:latin typeface="Google Sans"/>
              </a:rPr>
              <a:t>ArrayPool</a:t>
            </a:r>
            <a:r>
              <a:rPr lang="en-US" sz="1500" dirty="0">
                <a:solidFill>
                  <a:schemeClr val="accent6"/>
                </a:solidFill>
                <a:latin typeface="Google Sans"/>
              </a:rPr>
              <a:t>&lt;byte&gt;.Shared</a:t>
            </a:r>
          </a:p>
          <a:p>
            <a:pPr marL="12700" marR="5080"/>
            <a:r>
              <a:rPr lang="en-US" sz="1500" dirty="0" err="1">
                <a:solidFill>
                  <a:schemeClr val="accent6"/>
                </a:solidFill>
                <a:latin typeface="Google Sans"/>
              </a:rPr>
              <a:t>MemoryPool</a:t>
            </a:r>
            <a:r>
              <a:rPr lang="en-US" sz="1500" dirty="0">
                <a:solidFill>
                  <a:schemeClr val="accent6"/>
                </a:solidFill>
                <a:latin typeface="Google Sans"/>
              </a:rPr>
              <a:t>&lt;byte&gt;.Shared</a:t>
            </a:r>
          </a:p>
          <a:p>
            <a:pPr marL="12700" marR="5080"/>
            <a:r>
              <a:rPr lang="en-US" sz="1500" dirty="0">
                <a:solidFill>
                  <a:schemeClr val="accent6"/>
                </a:solidFill>
                <a:latin typeface="Google Sans"/>
              </a:rPr>
              <a:t>var buffer = </a:t>
            </a:r>
            <a:r>
              <a:rPr lang="en-US" sz="1500" dirty="0" err="1">
                <a:solidFill>
                  <a:schemeClr val="accent6"/>
                </a:solidFill>
                <a:latin typeface="Google Sans"/>
              </a:rPr>
              <a:t>ArrayPool</a:t>
            </a:r>
            <a:r>
              <a:rPr lang="en-US" sz="1500" dirty="0">
                <a:solidFill>
                  <a:schemeClr val="accent6"/>
                </a:solidFill>
                <a:latin typeface="Google Sans"/>
              </a:rPr>
              <a:t>&lt;byte&gt;.</a:t>
            </a:r>
            <a:r>
              <a:rPr lang="en-US" sz="1500" dirty="0" err="1">
                <a:solidFill>
                  <a:schemeClr val="accent6"/>
                </a:solidFill>
                <a:latin typeface="Google Sans"/>
              </a:rPr>
              <a:t>Shared.Rent</a:t>
            </a:r>
            <a:r>
              <a:rPr lang="en-US" sz="1500" dirty="0">
                <a:solidFill>
                  <a:schemeClr val="accent6"/>
                </a:solidFill>
                <a:latin typeface="Google Sans"/>
              </a:rPr>
              <a:t>(1024);</a:t>
            </a:r>
          </a:p>
          <a:p>
            <a:pPr marL="12700" marR="5080"/>
            <a:r>
              <a:rPr lang="en-US" sz="1500" dirty="0">
                <a:solidFill>
                  <a:schemeClr val="accent6"/>
                </a:solidFill>
                <a:latin typeface="Google Sans"/>
              </a:rPr>
              <a:t>// use</a:t>
            </a:r>
          </a:p>
          <a:p>
            <a:pPr marL="12700" marR="5080"/>
            <a:r>
              <a:rPr lang="en-US" sz="1500" dirty="0" err="1">
                <a:solidFill>
                  <a:schemeClr val="accent6"/>
                </a:solidFill>
                <a:latin typeface="Google Sans"/>
              </a:rPr>
              <a:t>ArrayPool</a:t>
            </a:r>
            <a:r>
              <a:rPr lang="en-US" sz="1500" dirty="0">
                <a:solidFill>
                  <a:schemeClr val="accent6"/>
                </a:solidFill>
                <a:latin typeface="Google Sans"/>
              </a:rPr>
              <a:t>&lt;byte&gt;.</a:t>
            </a:r>
            <a:r>
              <a:rPr lang="en-US" sz="1500" dirty="0" err="1">
                <a:solidFill>
                  <a:schemeClr val="accent6"/>
                </a:solidFill>
                <a:latin typeface="Google Sans"/>
              </a:rPr>
              <a:t>Shared.Return</a:t>
            </a:r>
            <a:r>
              <a:rPr lang="en-US" sz="1500" dirty="0">
                <a:solidFill>
                  <a:schemeClr val="accent6"/>
                </a:solidFill>
                <a:latin typeface="Google Sans"/>
              </a:rPr>
              <a:t>(buffer);</a:t>
            </a:r>
          </a:p>
          <a:p>
            <a:pPr marL="12700" marR="5080"/>
            <a:r>
              <a:rPr lang="en-US" sz="1500" dirty="0">
                <a:solidFill>
                  <a:schemeClr val="accent2"/>
                </a:solidFill>
                <a:latin typeface="Google Sans"/>
              </a:rPr>
              <a:t>5.3 Stack Allocation (</a:t>
            </a:r>
            <a:r>
              <a:rPr lang="en-US" sz="1500" dirty="0" err="1">
                <a:solidFill>
                  <a:schemeClr val="accent2"/>
                </a:solidFill>
                <a:latin typeface="Google Sans"/>
              </a:rPr>
              <a:t>stackalloc</a:t>
            </a:r>
            <a:r>
              <a:rPr lang="en-US" sz="1500" dirty="0">
                <a:solidFill>
                  <a:schemeClr val="accent2"/>
                </a:solidFill>
                <a:latin typeface="Google Sans"/>
              </a:rPr>
              <a:t>)</a:t>
            </a:r>
          </a:p>
          <a:p>
            <a:pPr marL="12700" marR="5080"/>
            <a:r>
              <a:rPr lang="en-US" sz="1500" dirty="0">
                <a:solidFill>
                  <a:schemeClr val="accent6"/>
                </a:solidFill>
                <a:latin typeface="Google Sans"/>
              </a:rPr>
              <a:t>Span&lt;byte&gt; buffer = </a:t>
            </a:r>
            <a:r>
              <a:rPr lang="en-US" sz="1500" dirty="0" err="1">
                <a:solidFill>
                  <a:schemeClr val="accent6"/>
                </a:solidFill>
                <a:latin typeface="Google Sans"/>
              </a:rPr>
              <a:t>stackalloc</a:t>
            </a:r>
            <a:r>
              <a:rPr lang="en-US" sz="1500" dirty="0">
                <a:solidFill>
                  <a:schemeClr val="accent6"/>
                </a:solidFill>
                <a:latin typeface="Google Sans"/>
              </a:rPr>
              <a:t> byte[256];</a:t>
            </a:r>
          </a:p>
          <a:p>
            <a:pPr marL="12700" marR="5080"/>
            <a:r>
              <a:rPr lang="en-US" sz="1500" dirty="0">
                <a:solidFill>
                  <a:schemeClr val="accent2"/>
                </a:solidFill>
                <a:latin typeface="Google Sans"/>
              </a:rPr>
              <a:t>Best for:</a:t>
            </a:r>
          </a:p>
          <a:p>
            <a:pPr marL="12700" marR="5080"/>
            <a:r>
              <a:rPr lang="en-US" sz="1500" dirty="0">
                <a:solidFill>
                  <a:schemeClr val="accent6"/>
                </a:solidFill>
                <a:latin typeface="Google Sans"/>
              </a:rPr>
              <a:t>Temporary buffers</a:t>
            </a:r>
          </a:p>
          <a:p>
            <a:pPr marL="12700" marR="5080"/>
            <a:r>
              <a:rPr lang="en-US" sz="1500" dirty="0">
                <a:solidFill>
                  <a:schemeClr val="accent6"/>
                </a:solidFill>
                <a:latin typeface="Google Sans"/>
              </a:rPr>
              <a:t>Parsing</a:t>
            </a:r>
          </a:p>
          <a:p>
            <a:pPr marL="12700" marR="5080"/>
            <a:r>
              <a:rPr lang="en-US" sz="1500" dirty="0">
                <a:solidFill>
                  <a:schemeClr val="accent6"/>
                </a:solidFill>
                <a:latin typeface="Google Sans"/>
              </a:rPr>
              <a:t>Serialization</a:t>
            </a:r>
          </a:p>
          <a:p>
            <a:pPr marL="12700" marR="5080"/>
            <a:endParaRPr lang="en-US" sz="1500" dirty="0">
              <a:solidFill>
                <a:schemeClr val="accent6"/>
              </a:solidFill>
              <a:latin typeface="Google Sans"/>
            </a:endParaRPr>
          </a:p>
          <a:p>
            <a:pPr marL="12700" marR="5080"/>
            <a:endParaRPr lang="en-US" sz="1500" dirty="0">
              <a:solidFill>
                <a:schemeClr val="accent6"/>
              </a:solidFill>
              <a:latin typeface="Google Sans"/>
            </a:endParaRPr>
          </a:p>
          <a:p>
            <a:pPr marL="12700" marR="5080"/>
            <a:endParaRPr lang="en-US" sz="1500" dirty="0">
              <a:solidFill>
                <a:schemeClr val="accent6"/>
              </a:solidFill>
              <a:latin typeface="Google Sans"/>
            </a:endParaRPr>
          </a:p>
        </p:txBody>
      </p:sp>
    </p:spTree>
    <p:extLst>
      <p:ext uri="{BB962C8B-B14F-4D97-AF65-F5344CB8AC3E}">
        <p14:creationId xmlns:p14="http://schemas.microsoft.com/office/powerpoint/2010/main" val="2298774209"/>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DD952-96D6-959C-8EDE-8D6BACFAC23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CAE8F0C-51E7-5957-CE6B-765E4F4E186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BB1E134-4E2E-33CC-002F-A028A1B2061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FB40341-B600-36AE-F4BD-EF28DA259C97}"/>
              </a:ext>
            </a:extLst>
          </p:cNvPr>
          <p:cNvGraphicFramePr/>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B952C10-D407-B25F-23C6-4E2131F1E204}"/>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80DA8E14-1E02-DA66-2EC4-D7B17AAE969E}"/>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CA4F8CDA-3BA1-531D-19BC-3ADF3541392D}"/>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2158B976-24AB-468E-84D6-D12E113E9395}"/>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4BB22D5A-EAA1-26EB-82BC-C80CA79343CA}"/>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09D6EF70-460F-3075-F3CB-DDDFBBB46979}"/>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1E10C4B1-B9CB-7922-51A3-19F77F43750A}"/>
              </a:ext>
            </a:extLst>
          </p:cNvPr>
          <p:cNvSpPr txBox="1">
            <a:spLocks/>
          </p:cNvSpPr>
          <p:nvPr/>
        </p:nvSpPr>
        <p:spPr>
          <a:xfrm>
            <a:off x="228600" y="685800"/>
            <a:ext cx="8624937" cy="48474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dirty="0">
                <a:solidFill>
                  <a:schemeClr val="accent2"/>
                </a:solidFill>
                <a:latin typeface="Google Sans"/>
              </a:rPr>
              <a:t>Core Principles (Non-Negotiable)</a:t>
            </a:r>
          </a:p>
          <a:p>
            <a:pPr marL="12700" marR="5080"/>
            <a:r>
              <a:rPr lang="en-US" sz="1500" dirty="0">
                <a:solidFill>
                  <a:schemeClr val="accent2"/>
                </a:solidFill>
                <a:latin typeface="Google Sans"/>
              </a:rPr>
              <a:t>5. Memory Management &amp; GC Sympathy (Critical)</a:t>
            </a:r>
          </a:p>
          <a:p>
            <a:pPr marL="12700" marR="5080"/>
            <a:r>
              <a:rPr lang="en-US" sz="1500" dirty="0">
                <a:solidFill>
                  <a:schemeClr val="accent2"/>
                </a:solidFill>
                <a:latin typeface="Google Sans"/>
              </a:rPr>
              <a:t>5.4 GC Modes</a:t>
            </a:r>
          </a:p>
          <a:p>
            <a:pPr marL="12700" marR="5080"/>
            <a:r>
              <a:rPr lang="en-US" sz="1500" dirty="0">
                <a:solidFill>
                  <a:schemeClr val="accent6"/>
                </a:solidFill>
                <a:latin typeface="Google Sans"/>
              </a:rPr>
              <a:t>Server GC</a:t>
            </a:r>
          </a:p>
          <a:p>
            <a:pPr marL="12700" marR="5080"/>
            <a:r>
              <a:rPr lang="en-US" sz="1500" dirty="0" err="1">
                <a:solidFill>
                  <a:schemeClr val="accent6"/>
                </a:solidFill>
                <a:latin typeface="Google Sans"/>
              </a:rPr>
              <a:t>DOTNET_gcServer</a:t>
            </a:r>
            <a:r>
              <a:rPr lang="en-US" sz="1500" dirty="0">
                <a:solidFill>
                  <a:schemeClr val="accent6"/>
                </a:solidFill>
                <a:latin typeface="Google Sans"/>
              </a:rPr>
              <a:t>=1</a:t>
            </a:r>
          </a:p>
          <a:p>
            <a:pPr marL="12700" marR="5080"/>
            <a:r>
              <a:rPr lang="en-US" sz="1500" dirty="0" err="1">
                <a:solidFill>
                  <a:schemeClr val="accent6"/>
                </a:solidFill>
                <a:latin typeface="Google Sans"/>
              </a:rPr>
              <a:t>SustainedLowLatency</a:t>
            </a:r>
            <a:endParaRPr lang="en-US" sz="1500" dirty="0">
              <a:solidFill>
                <a:schemeClr val="accent6"/>
              </a:solidFill>
              <a:latin typeface="Google Sans"/>
            </a:endParaRPr>
          </a:p>
          <a:p>
            <a:pPr marL="12700" marR="5080"/>
            <a:r>
              <a:rPr lang="en-US" sz="1500" dirty="0" err="1">
                <a:solidFill>
                  <a:schemeClr val="accent6"/>
                </a:solidFill>
                <a:latin typeface="Google Sans"/>
              </a:rPr>
              <a:t>GCSettings.LatencyMode</a:t>
            </a:r>
            <a:r>
              <a:rPr lang="en-US" sz="1500" dirty="0">
                <a:solidFill>
                  <a:schemeClr val="accent6"/>
                </a:solidFill>
                <a:latin typeface="Google Sans"/>
              </a:rPr>
              <a:t> = </a:t>
            </a:r>
            <a:r>
              <a:rPr lang="en-US" sz="1500" dirty="0" err="1">
                <a:solidFill>
                  <a:schemeClr val="accent6"/>
                </a:solidFill>
                <a:latin typeface="Google Sans"/>
              </a:rPr>
              <a:t>GCLatencyMode.SustainedLowLatency</a:t>
            </a:r>
            <a:r>
              <a:rPr lang="en-US" sz="1500" dirty="0">
                <a:solidFill>
                  <a:schemeClr val="accent6"/>
                </a:solidFill>
                <a:latin typeface="Google Sans"/>
              </a:rPr>
              <a:t>;</a:t>
            </a:r>
          </a:p>
          <a:p>
            <a:pPr marL="12700" marR="5080"/>
            <a:r>
              <a:rPr lang="en-US" sz="1500" dirty="0">
                <a:solidFill>
                  <a:schemeClr val="accent5"/>
                </a:solidFill>
                <a:latin typeface="Google Sans"/>
              </a:rPr>
              <a:t>⚠️ Use only when you understand heap pressure trade-offs.</a:t>
            </a:r>
          </a:p>
          <a:p>
            <a:pPr marL="12700" marR="5080"/>
            <a:endParaRPr lang="en-US" sz="1500" dirty="0">
              <a:solidFill>
                <a:schemeClr val="accent6"/>
              </a:solidFill>
              <a:latin typeface="Google Sans"/>
            </a:endParaRPr>
          </a:p>
          <a:p>
            <a:pPr marL="12700" marR="5080"/>
            <a:r>
              <a:rPr lang="en-US" sz="1500" dirty="0">
                <a:solidFill>
                  <a:schemeClr val="accent2"/>
                </a:solidFill>
                <a:latin typeface="Google Sans"/>
              </a:rPr>
              <a:t>6. Concurrency Models (Mechanical Sympathy Friendly)</a:t>
            </a:r>
          </a:p>
          <a:p>
            <a:pPr marL="12700" marR="5080"/>
            <a:r>
              <a:rPr lang="en-US" sz="1500" dirty="0">
                <a:solidFill>
                  <a:schemeClr val="accent2"/>
                </a:solidFill>
                <a:latin typeface="Google Sans"/>
              </a:rPr>
              <a:t>6.1 Single-Writer Principle (Gold Standard)</a:t>
            </a:r>
          </a:p>
          <a:p>
            <a:pPr marL="12700" marR="5080"/>
            <a:r>
              <a:rPr lang="en-US" sz="1500" dirty="0">
                <a:solidFill>
                  <a:schemeClr val="accent6"/>
                </a:solidFill>
                <a:latin typeface="Google Sans"/>
              </a:rPr>
              <a:t>One thread owns the data → zero locks</a:t>
            </a:r>
          </a:p>
          <a:p>
            <a:pPr marL="12700" marR="5080"/>
            <a:r>
              <a:rPr lang="en-US" sz="1500" dirty="0">
                <a:solidFill>
                  <a:schemeClr val="accent2"/>
                </a:solidFill>
                <a:latin typeface="Google Sans"/>
              </a:rPr>
              <a:t>Patterns</a:t>
            </a:r>
          </a:p>
          <a:p>
            <a:pPr marL="12700" marR="5080"/>
            <a:r>
              <a:rPr lang="en-US" sz="1500" dirty="0">
                <a:solidFill>
                  <a:schemeClr val="accent6"/>
                </a:solidFill>
                <a:latin typeface="Google Sans"/>
              </a:rPr>
              <a:t>Event loops</a:t>
            </a:r>
          </a:p>
          <a:p>
            <a:pPr marL="12700" marR="5080"/>
            <a:r>
              <a:rPr lang="en-US" sz="1500" dirty="0">
                <a:solidFill>
                  <a:schemeClr val="accent6"/>
                </a:solidFill>
                <a:latin typeface="Google Sans"/>
              </a:rPr>
              <a:t>Actor model</a:t>
            </a:r>
          </a:p>
          <a:p>
            <a:pPr marL="12700" marR="5080"/>
            <a:r>
              <a:rPr lang="en-US" sz="1500" dirty="0">
                <a:solidFill>
                  <a:schemeClr val="accent6"/>
                </a:solidFill>
                <a:latin typeface="Google Sans"/>
              </a:rPr>
              <a:t>Disruptor-style rings</a:t>
            </a:r>
          </a:p>
          <a:p>
            <a:pPr marL="12700" marR="5080"/>
            <a:r>
              <a:rPr lang="en-US" sz="1500" dirty="0">
                <a:solidFill>
                  <a:schemeClr val="accent2"/>
                </a:solidFill>
                <a:latin typeface="Google Sans"/>
              </a:rPr>
              <a:t>6.2 Message Passing over Shared Memory</a:t>
            </a:r>
          </a:p>
          <a:p>
            <a:pPr marL="12700" marR="5080"/>
            <a:r>
              <a:rPr lang="en-US" sz="1500" dirty="0">
                <a:solidFill>
                  <a:schemeClr val="accent2"/>
                </a:solidFill>
                <a:latin typeface="Google Sans"/>
              </a:rPr>
              <a:t>Use</a:t>
            </a:r>
          </a:p>
          <a:p>
            <a:pPr marL="12700" marR="5080"/>
            <a:r>
              <a:rPr lang="en-US" sz="1500" dirty="0" err="1">
                <a:solidFill>
                  <a:schemeClr val="accent6"/>
                </a:solidFill>
                <a:latin typeface="Google Sans"/>
              </a:rPr>
              <a:t>System.Threading.Channels</a:t>
            </a:r>
            <a:endParaRPr lang="en-US" sz="1500" dirty="0">
              <a:solidFill>
                <a:schemeClr val="accent6"/>
              </a:solidFill>
              <a:latin typeface="Google Sans"/>
            </a:endParaRPr>
          </a:p>
          <a:p>
            <a:pPr marL="12700" marR="5080"/>
            <a:r>
              <a:rPr lang="en-US" sz="1500" dirty="0">
                <a:solidFill>
                  <a:schemeClr val="accent6"/>
                </a:solidFill>
                <a:latin typeface="Google Sans"/>
              </a:rPr>
              <a:t>Bounded channels for backpressure</a:t>
            </a:r>
          </a:p>
          <a:p>
            <a:pPr marL="12700" marR="5080"/>
            <a:r>
              <a:rPr lang="en-US" sz="1500" dirty="0">
                <a:solidFill>
                  <a:schemeClr val="accent6"/>
                </a:solidFill>
                <a:latin typeface="Google Sans"/>
              </a:rPr>
              <a:t>var channel = </a:t>
            </a:r>
            <a:r>
              <a:rPr lang="en-US" sz="1500" dirty="0" err="1">
                <a:solidFill>
                  <a:schemeClr val="accent6"/>
                </a:solidFill>
                <a:latin typeface="Google Sans"/>
              </a:rPr>
              <a:t>Channel.CreateBounded</a:t>
            </a:r>
            <a:r>
              <a:rPr lang="en-US" sz="1500" dirty="0">
                <a:solidFill>
                  <a:schemeClr val="accent6"/>
                </a:solidFill>
                <a:latin typeface="Google Sans"/>
              </a:rPr>
              <a:t>&lt;Event&gt;(1024);</a:t>
            </a:r>
          </a:p>
        </p:txBody>
      </p:sp>
    </p:spTree>
    <p:extLst>
      <p:ext uri="{BB962C8B-B14F-4D97-AF65-F5344CB8AC3E}">
        <p14:creationId xmlns:p14="http://schemas.microsoft.com/office/powerpoint/2010/main" val="50087521"/>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25762-951A-EBAE-26BC-DF7FBE31DA5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64E39F0-88FE-46FB-691C-9AB5EC807283}"/>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B17DFD9-FF62-491F-5A09-1F5D46E55388}"/>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0D438B9-2E67-EDC5-FDD5-50C8275FC8B7}"/>
              </a:ext>
            </a:extLst>
          </p:cNvPr>
          <p:cNvGraphicFramePr/>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59542242-5431-8A4A-2BAB-4C1475710FF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F526FB59-6693-9C66-2264-5C68BED6C007}"/>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B0E3101C-A140-493D-7737-602399090284}"/>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DEB06170-1801-2D6B-EF59-FEC238947D6C}"/>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E44D3594-6003-263C-9BD0-0E69E8694754}"/>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26CE9A03-76EA-79BB-A5D3-9C9EEA93D38F}"/>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BCAD6148-189B-9D84-0456-EF56B38E77D6}"/>
              </a:ext>
            </a:extLst>
          </p:cNvPr>
          <p:cNvSpPr txBox="1">
            <a:spLocks/>
          </p:cNvSpPr>
          <p:nvPr/>
        </p:nvSpPr>
        <p:spPr>
          <a:xfrm>
            <a:off x="228600" y="685800"/>
            <a:ext cx="8624937" cy="53091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dirty="0">
                <a:solidFill>
                  <a:schemeClr val="accent2"/>
                </a:solidFill>
                <a:latin typeface="Google Sans"/>
              </a:rPr>
              <a:t>Core Principles (Non-Negotiable)</a:t>
            </a:r>
          </a:p>
          <a:p>
            <a:pPr marL="12700" marR="5080"/>
            <a:r>
              <a:rPr lang="en-US" sz="1500" dirty="0">
                <a:solidFill>
                  <a:schemeClr val="accent2"/>
                </a:solidFill>
                <a:latin typeface="Google Sans"/>
              </a:rPr>
              <a:t>6. Concurrency Models (Mechanical Sympathy Friendly)</a:t>
            </a:r>
          </a:p>
          <a:p>
            <a:pPr marL="12700" marR="5080"/>
            <a:r>
              <a:rPr lang="en-US" sz="1500" dirty="0">
                <a:solidFill>
                  <a:schemeClr val="accent2"/>
                </a:solidFill>
                <a:latin typeface="Google Sans"/>
              </a:rPr>
              <a:t>6.3 Lock-Free &amp; Wait-Free (Advanced)</a:t>
            </a:r>
          </a:p>
          <a:p>
            <a:pPr marL="12700" marR="5080"/>
            <a:r>
              <a:rPr lang="en-US" sz="1500" dirty="0">
                <a:solidFill>
                  <a:schemeClr val="accent6"/>
                </a:solidFill>
                <a:latin typeface="Google Sans"/>
              </a:rPr>
              <a:t>Tools</a:t>
            </a:r>
          </a:p>
          <a:p>
            <a:pPr marL="12700" marR="5080"/>
            <a:r>
              <a:rPr lang="en-US" sz="1500" dirty="0">
                <a:solidFill>
                  <a:schemeClr val="accent6"/>
                </a:solidFill>
                <a:latin typeface="Google Sans"/>
              </a:rPr>
              <a:t>Interlocked</a:t>
            </a:r>
          </a:p>
          <a:p>
            <a:pPr marL="12700" marR="5080"/>
            <a:r>
              <a:rPr lang="en-US" sz="1500" dirty="0">
                <a:solidFill>
                  <a:schemeClr val="accent6"/>
                </a:solidFill>
                <a:latin typeface="Google Sans"/>
              </a:rPr>
              <a:t>Volatile</a:t>
            </a:r>
          </a:p>
          <a:p>
            <a:pPr marL="12700" marR="5080"/>
            <a:r>
              <a:rPr lang="en-US" sz="1500" dirty="0" err="1">
                <a:solidFill>
                  <a:schemeClr val="accent6"/>
                </a:solidFill>
                <a:latin typeface="Google Sans"/>
              </a:rPr>
              <a:t>SpinWait</a:t>
            </a:r>
            <a:endParaRPr lang="en-US" sz="1500" dirty="0">
              <a:solidFill>
                <a:schemeClr val="accent6"/>
              </a:solidFill>
              <a:latin typeface="Google Sans"/>
            </a:endParaRPr>
          </a:p>
          <a:p>
            <a:pPr marL="12700" marR="5080"/>
            <a:r>
              <a:rPr lang="en-US" sz="1500" dirty="0" err="1">
                <a:solidFill>
                  <a:schemeClr val="accent6"/>
                </a:solidFill>
                <a:latin typeface="Google Sans"/>
              </a:rPr>
              <a:t>Interlocked.CompareExchange</a:t>
            </a:r>
            <a:r>
              <a:rPr lang="en-US" sz="1500" dirty="0">
                <a:solidFill>
                  <a:schemeClr val="accent6"/>
                </a:solidFill>
                <a:latin typeface="Google Sans"/>
              </a:rPr>
              <a:t>(ref state, 1, 0);</a:t>
            </a:r>
          </a:p>
          <a:p>
            <a:pPr marL="12700" marR="5080"/>
            <a:r>
              <a:rPr lang="en-US" sz="1500" dirty="0">
                <a:solidFill>
                  <a:schemeClr val="accent5"/>
                </a:solidFill>
                <a:latin typeface="Google Sans"/>
              </a:rPr>
              <a:t>⚠️ Lock-free ≠ faster if contention is high.</a:t>
            </a:r>
          </a:p>
          <a:p>
            <a:pPr marL="12700" marR="5080"/>
            <a:r>
              <a:rPr lang="en-US" sz="1500" dirty="0">
                <a:solidFill>
                  <a:schemeClr val="accent2"/>
                </a:solidFill>
                <a:latin typeface="Google Sans"/>
              </a:rPr>
              <a:t>6.4 Avoid Async in Hot Paths</a:t>
            </a:r>
          </a:p>
          <a:p>
            <a:pPr marL="12700" marR="5080"/>
            <a:r>
              <a:rPr lang="en-US" sz="1500" dirty="0">
                <a:solidFill>
                  <a:schemeClr val="accent2"/>
                </a:solidFill>
                <a:latin typeface="Google Sans"/>
              </a:rPr>
              <a:t>Async:</a:t>
            </a:r>
          </a:p>
          <a:p>
            <a:pPr marL="12700" marR="5080"/>
            <a:r>
              <a:rPr lang="en-US" sz="1500" dirty="0">
                <a:solidFill>
                  <a:schemeClr val="accent6"/>
                </a:solidFill>
                <a:latin typeface="Google Sans"/>
              </a:rPr>
              <a:t>Allocates state machines</a:t>
            </a:r>
          </a:p>
          <a:p>
            <a:pPr marL="12700" marR="5080"/>
            <a:r>
              <a:rPr lang="en-US" sz="1500" dirty="0">
                <a:solidFill>
                  <a:schemeClr val="accent6"/>
                </a:solidFill>
                <a:latin typeface="Google Sans"/>
              </a:rPr>
              <a:t>Adds continuations</a:t>
            </a:r>
          </a:p>
          <a:p>
            <a:pPr marL="12700" marR="5080"/>
            <a:r>
              <a:rPr lang="en-US" sz="1500" dirty="0">
                <a:solidFill>
                  <a:schemeClr val="accent6"/>
                </a:solidFill>
                <a:latin typeface="Google Sans"/>
              </a:rPr>
              <a:t>Hurts predictability</a:t>
            </a:r>
          </a:p>
          <a:p>
            <a:pPr marL="12700" marR="5080"/>
            <a:r>
              <a:rPr lang="en-US" sz="1500" dirty="0">
                <a:solidFill>
                  <a:schemeClr val="accent2"/>
                </a:solidFill>
                <a:latin typeface="Google Sans"/>
              </a:rPr>
              <a:t>Use:</a:t>
            </a:r>
          </a:p>
          <a:p>
            <a:pPr marL="12700" marR="5080"/>
            <a:r>
              <a:rPr lang="en-US" sz="1500" dirty="0">
                <a:solidFill>
                  <a:schemeClr val="accent6"/>
                </a:solidFill>
                <a:latin typeface="Google Sans"/>
              </a:rPr>
              <a:t>Synchronous pipelines</a:t>
            </a:r>
          </a:p>
          <a:p>
            <a:pPr marL="12700" marR="5080"/>
            <a:r>
              <a:rPr lang="en-US" sz="1500" dirty="0">
                <a:solidFill>
                  <a:schemeClr val="accent6"/>
                </a:solidFill>
                <a:latin typeface="Google Sans"/>
              </a:rPr>
              <a:t>Async only at boundaries (I/O)</a:t>
            </a:r>
          </a:p>
          <a:p>
            <a:pPr marL="12700" marR="5080"/>
            <a:r>
              <a:rPr lang="en-US" sz="1500" dirty="0">
                <a:solidFill>
                  <a:schemeClr val="accent2"/>
                </a:solidFill>
                <a:latin typeface="Google Sans"/>
              </a:rPr>
              <a:t>7. I/O &amp; Networking Sympathy</a:t>
            </a:r>
          </a:p>
          <a:p>
            <a:pPr marL="12700" marR="5080"/>
            <a:r>
              <a:rPr lang="en-US" sz="1500" dirty="0">
                <a:solidFill>
                  <a:schemeClr val="accent2"/>
                </a:solidFill>
                <a:latin typeface="Google Sans"/>
              </a:rPr>
              <a:t>7.1 Zero-Copy Techniques</a:t>
            </a:r>
          </a:p>
          <a:p>
            <a:pPr marL="12700" marR="5080"/>
            <a:r>
              <a:rPr lang="en-US" sz="1500" dirty="0">
                <a:solidFill>
                  <a:schemeClr val="accent6"/>
                </a:solidFill>
                <a:latin typeface="Google Sans"/>
              </a:rPr>
              <a:t>Span&lt;T&gt;</a:t>
            </a:r>
          </a:p>
          <a:p>
            <a:pPr marL="12700" marR="5080"/>
            <a:r>
              <a:rPr lang="en-US" sz="1500" dirty="0">
                <a:solidFill>
                  <a:schemeClr val="accent6"/>
                </a:solidFill>
                <a:latin typeface="Google Sans"/>
              </a:rPr>
              <a:t>Memory&lt;T&gt;</a:t>
            </a:r>
          </a:p>
          <a:p>
            <a:pPr marL="12700" marR="5080"/>
            <a:r>
              <a:rPr lang="en-US" sz="1500" dirty="0" err="1">
                <a:solidFill>
                  <a:schemeClr val="accent6"/>
                </a:solidFill>
                <a:latin typeface="Google Sans"/>
              </a:rPr>
              <a:t>PipeReader</a:t>
            </a:r>
            <a:r>
              <a:rPr lang="en-US" sz="1500" dirty="0">
                <a:solidFill>
                  <a:schemeClr val="accent6"/>
                </a:solidFill>
                <a:latin typeface="Google Sans"/>
              </a:rPr>
              <a:t> / </a:t>
            </a:r>
            <a:r>
              <a:rPr lang="en-US" sz="1500" dirty="0" err="1">
                <a:solidFill>
                  <a:schemeClr val="accent6"/>
                </a:solidFill>
                <a:latin typeface="Google Sans"/>
              </a:rPr>
              <a:t>PipeWriter</a:t>
            </a:r>
            <a:endParaRPr lang="en-US" sz="1500" dirty="0">
              <a:solidFill>
                <a:schemeClr val="accent6"/>
              </a:solidFill>
              <a:latin typeface="Google Sans"/>
            </a:endParaRPr>
          </a:p>
          <a:p>
            <a:pPr marL="12700" marR="5080"/>
            <a:r>
              <a:rPr lang="en-US" sz="1500" dirty="0" err="1">
                <a:solidFill>
                  <a:schemeClr val="accent6"/>
                </a:solidFill>
                <a:latin typeface="Google Sans"/>
              </a:rPr>
              <a:t>ReadOnlySequence</a:t>
            </a:r>
            <a:r>
              <a:rPr lang="en-US" sz="1500" dirty="0">
                <a:solidFill>
                  <a:schemeClr val="accent6"/>
                </a:solidFill>
                <a:latin typeface="Google Sans"/>
              </a:rPr>
              <a:t>&lt;byte&gt; buffer = </a:t>
            </a:r>
            <a:r>
              <a:rPr lang="en-US" sz="1500" dirty="0" err="1">
                <a:solidFill>
                  <a:schemeClr val="accent6"/>
                </a:solidFill>
                <a:latin typeface="Google Sans"/>
              </a:rPr>
              <a:t>result.Buffer</a:t>
            </a:r>
            <a:r>
              <a:rPr lang="en-US" sz="1500">
                <a:solidFill>
                  <a:schemeClr val="accent6"/>
                </a:solidFill>
                <a:latin typeface="Google Sans"/>
              </a:rPr>
              <a:t>;</a:t>
            </a:r>
            <a:endParaRPr lang="en-US" sz="1500" dirty="0">
              <a:solidFill>
                <a:schemeClr val="accent6"/>
              </a:solidFill>
              <a:latin typeface="Google Sans"/>
            </a:endParaRPr>
          </a:p>
        </p:txBody>
      </p:sp>
    </p:spTree>
    <p:extLst>
      <p:ext uri="{BB962C8B-B14F-4D97-AF65-F5344CB8AC3E}">
        <p14:creationId xmlns:p14="http://schemas.microsoft.com/office/powerpoint/2010/main" val="3256392737"/>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B2572-5A96-7AF2-5D27-7FB9168C0EF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C401D38-93BB-42EC-2E2D-E5B50C95F5F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D909FD6-A71F-5556-EF98-82020B12C251}"/>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144E6AE-246B-FD90-2370-C2E852648EDC}"/>
              </a:ext>
            </a:extLst>
          </p:cNvPr>
          <p:cNvGraphicFramePr/>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55A03ACD-5D98-F142-983A-385628111CD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19734F78-0C02-7FC5-0122-D70B3278CEBF}"/>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4D44BC8A-C17B-FBD5-4095-12D1DEAA9A87}"/>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934BF6EA-F097-21B6-83C4-590A618DAF6E}"/>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7329068D-BAE5-CDD9-D308-C160AE04CB82}"/>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49203019-631D-A7B2-D14E-BC6DD133BBE6}"/>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91E2BD05-E504-E691-8724-FC68FCCF978F}"/>
              </a:ext>
            </a:extLst>
          </p:cNvPr>
          <p:cNvSpPr txBox="1">
            <a:spLocks/>
          </p:cNvSpPr>
          <p:nvPr/>
        </p:nvSpPr>
        <p:spPr>
          <a:xfrm>
            <a:off x="228600" y="685800"/>
            <a:ext cx="8624937" cy="50783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dirty="0">
                <a:solidFill>
                  <a:schemeClr val="accent2"/>
                </a:solidFill>
                <a:latin typeface="Google Sans"/>
              </a:rPr>
              <a:t>Core Principles (Non-Negotiable)</a:t>
            </a:r>
          </a:p>
          <a:p>
            <a:pPr marL="12700" marR="5080"/>
            <a:r>
              <a:rPr lang="en-US" sz="1500" dirty="0">
                <a:solidFill>
                  <a:schemeClr val="accent2"/>
                </a:solidFill>
                <a:latin typeface="Google Sans"/>
              </a:rPr>
              <a:t>7. I/O &amp; Networking Sympathy</a:t>
            </a:r>
          </a:p>
          <a:p>
            <a:pPr marL="12700" marR="5080"/>
            <a:r>
              <a:rPr lang="en-US" sz="1500" dirty="0">
                <a:solidFill>
                  <a:schemeClr val="accent2"/>
                </a:solidFill>
                <a:latin typeface="Google Sans"/>
              </a:rPr>
              <a:t>7.2 Batching</a:t>
            </a:r>
          </a:p>
          <a:p>
            <a:pPr marL="12700" marR="5080"/>
            <a:r>
              <a:rPr lang="en-US" sz="1500" dirty="0">
                <a:solidFill>
                  <a:schemeClr val="accent6"/>
                </a:solidFill>
                <a:latin typeface="Google Sans"/>
              </a:rPr>
              <a:t>Batch everything:</a:t>
            </a:r>
          </a:p>
          <a:p>
            <a:pPr marL="12700" marR="5080"/>
            <a:r>
              <a:rPr lang="en-US" sz="1500" dirty="0">
                <a:solidFill>
                  <a:schemeClr val="accent6"/>
                </a:solidFill>
                <a:latin typeface="Google Sans"/>
              </a:rPr>
              <a:t>Network sends</a:t>
            </a:r>
          </a:p>
          <a:p>
            <a:pPr marL="12700" marR="5080"/>
            <a:r>
              <a:rPr lang="en-US" sz="1500" dirty="0">
                <a:solidFill>
                  <a:schemeClr val="accent6"/>
                </a:solidFill>
                <a:latin typeface="Google Sans"/>
              </a:rPr>
              <a:t>Disk writes</a:t>
            </a:r>
          </a:p>
          <a:p>
            <a:pPr marL="12700" marR="5080"/>
            <a:r>
              <a:rPr lang="en-US" sz="1500" dirty="0">
                <a:solidFill>
                  <a:schemeClr val="accent6"/>
                </a:solidFill>
                <a:latin typeface="Google Sans"/>
              </a:rPr>
              <a:t>Database calls</a:t>
            </a:r>
          </a:p>
          <a:p>
            <a:pPr marL="12700" marR="5080"/>
            <a:r>
              <a:rPr lang="en-US" sz="1500" dirty="0">
                <a:solidFill>
                  <a:schemeClr val="accent6"/>
                </a:solidFill>
                <a:latin typeface="Google Sans"/>
              </a:rPr>
              <a:t>if (</a:t>
            </a:r>
            <a:r>
              <a:rPr lang="en-US" sz="1500" dirty="0" err="1">
                <a:solidFill>
                  <a:schemeClr val="accent6"/>
                </a:solidFill>
                <a:latin typeface="Google Sans"/>
              </a:rPr>
              <a:t>batch.Count</a:t>
            </a:r>
            <a:r>
              <a:rPr lang="en-US" sz="1500" dirty="0">
                <a:solidFill>
                  <a:schemeClr val="accent6"/>
                </a:solidFill>
                <a:latin typeface="Google Sans"/>
              </a:rPr>
              <a:t> &gt;= 64) Flush();</a:t>
            </a:r>
          </a:p>
          <a:p>
            <a:pPr marL="12700" marR="5080"/>
            <a:r>
              <a:rPr lang="en-US" sz="1500" dirty="0">
                <a:solidFill>
                  <a:schemeClr val="accent2"/>
                </a:solidFill>
                <a:latin typeface="Google Sans"/>
              </a:rPr>
              <a:t>7.3 Avoid </a:t>
            </a:r>
            <a:r>
              <a:rPr lang="en-US" sz="1500" dirty="0" err="1">
                <a:solidFill>
                  <a:schemeClr val="accent2"/>
                </a:solidFill>
                <a:latin typeface="Google Sans"/>
              </a:rPr>
              <a:t>Syscalls</a:t>
            </a:r>
            <a:endParaRPr lang="en-US" sz="1500" dirty="0">
              <a:solidFill>
                <a:schemeClr val="accent2"/>
              </a:solidFill>
              <a:latin typeface="Google Sans"/>
            </a:endParaRPr>
          </a:p>
          <a:p>
            <a:pPr marL="12700" marR="5080"/>
            <a:r>
              <a:rPr lang="en-US" sz="1500" dirty="0">
                <a:solidFill>
                  <a:schemeClr val="accent6"/>
                </a:solidFill>
                <a:latin typeface="Google Sans"/>
              </a:rPr>
              <a:t>Use async I/O</a:t>
            </a:r>
          </a:p>
          <a:p>
            <a:pPr marL="12700" marR="5080"/>
            <a:r>
              <a:rPr lang="en-US" sz="1500" dirty="0">
                <a:solidFill>
                  <a:schemeClr val="accent6"/>
                </a:solidFill>
                <a:latin typeface="Google Sans"/>
              </a:rPr>
              <a:t>Reduce flushes</a:t>
            </a:r>
          </a:p>
          <a:p>
            <a:pPr marL="12700" marR="5080"/>
            <a:r>
              <a:rPr lang="en-US" sz="1500" dirty="0">
                <a:solidFill>
                  <a:schemeClr val="accent6"/>
                </a:solidFill>
                <a:latin typeface="Google Sans"/>
              </a:rPr>
              <a:t>Use buffering</a:t>
            </a:r>
          </a:p>
          <a:p>
            <a:pPr marL="12700" marR="5080"/>
            <a:endParaRPr lang="en-US" sz="1500" dirty="0">
              <a:solidFill>
                <a:schemeClr val="accent6"/>
              </a:solidFill>
              <a:latin typeface="Google Sans"/>
            </a:endParaRPr>
          </a:p>
          <a:p>
            <a:pPr marL="12700" marR="5080"/>
            <a:r>
              <a:rPr lang="en-US" sz="1500" dirty="0">
                <a:solidFill>
                  <a:schemeClr val="accent2"/>
                </a:solidFill>
                <a:latin typeface="Google Sans"/>
              </a:rPr>
              <a:t>8. Data Structures for Throughput</a:t>
            </a:r>
          </a:p>
          <a:p>
            <a:pPr marL="12700" marR="5080"/>
            <a:r>
              <a:rPr lang="en-US" sz="1500" dirty="0">
                <a:solidFill>
                  <a:schemeClr val="accent2"/>
                </a:solidFill>
                <a:latin typeface="Google Sans"/>
              </a:rPr>
              <a:t>8.1 Prefer Arrays Over Lists</a:t>
            </a:r>
          </a:p>
          <a:p>
            <a:pPr marL="12700" marR="5080"/>
            <a:r>
              <a:rPr lang="en-US" sz="1500" dirty="0">
                <a:solidFill>
                  <a:schemeClr val="accent6"/>
                </a:solidFill>
                <a:latin typeface="Google Sans"/>
              </a:rPr>
              <a:t>T[] buffer;</a:t>
            </a:r>
          </a:p>
          <a:p>
            <a:pPr marL="12700" marR="5080"/>
            <a:r>
              <a:rPr lang="en-US" sz="1500" dirty="0">
                <a:solidFill>
                  <a:schemeClr val="accent2"/>
                </a:solidFill>
                <a:latin typeface="Google Sans"/>
              </a:rPr>
              <a:t>8.2 Ring Buffers</a:t>
            </a:r>
          </a:p>
          <a:p>
            <a:pPr marL="12700" marR="5080"/>
            <a:r>
              <a:rPr lang="en-US" sz="1500" dirty="0">
                <a:solidFill>
                  <a:schemeClr val="accent6"/>
                </a:solidFill>
                <a:latin typeface="Google Sans"/>
              </a:rPr>
              <a:t>Fixed size</a:t>
            </a:r>
          </a:p>
          <a:p>
            <a:pPr marL="12700" marR="5080"/>
            <a:r>
              <a:rPr lang="en-US" sz="1500" dirty="0">
                <a:solidFill>
                  <a:schemeClr val="accent6"/>
                </a:solidFill>
                <a:latin typeface="Google Sans"/>
              </a:rPr>
              <a:t>No resizing</a:t>
            </a:r>
          </a:p>
          <a:p>
            <a:pPr marL="12700" marR="5080"/>
            <a:r>
              <a:rPr lang="en-US" sz="1500" dirty="0">
                <a:solidFill>
                  <a:schemeClr val="accent6"/>
                </a:solidFill>
                <a:latin typeface="Google Sans"/>
              </a:rPr>
              <a:t>Predictable</a:t>
            </a:r>
          </a:p>
          <a:p>
            <a:pPr marL="12700" marR="5080"/>
            <a:r>
              <a:rPr lang="en-US" sz="1500" dirty="0">
                <a:solidFill>
                  <a:schemeClr val="accent6"/>
                </a:solidFill>
                <a:latin typeface="Google Sans"/>
              </a:rPr>
              <a:t>index = (index + 1) &amp; (size - 1);</a:t>
            </a:r>
          </a:p>
          <a:p>
            <a:pPr marL="12700" marR="5080"/>
            <a:r>
              <a:rPr lang="en-US" sz="1500" dirty="0">
                <a:solidFill>
                  <a:schemeClr val="accent6"/>
                </a:solidFill>
                <a:latin typeface="Google Sans"/>
              </a:rPr>
              <a:t>(power-of-two sizes)</a:t>
            </a:r>
          </a:p>
        </p:txBody>
      </p:sp>
    </p:spTree>
    <p:extLst>
      <p:ext uri="{BB962C8B-B14F-4D97-AF65-F5344CB8AC3E}">
        <p14:creationId xmlns:p14="http://schemas.microsoft.com/office/powerpoint/2010/main" val="184012523"/>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91BF8-9A7B-0F6E-F576-267443A8295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BF8725F-B59F-1EE5-7BDF-EC7F0A11A56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9A6974A-B3E0-8404-3D1E-57DB0B65899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38007B6-A947-F9AD-4813-591328D2D731}"/>
              </a:ext>
            </a:extLst>
          </p:cNvPr>
          <p:cNvGraphicFramePr/>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208312B7-BB30-8AC2-B782-D451C4BACD08}"/>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859B1A3C-7921-3BA4-A6C9-74EAFCE2651C}"/>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3EA5947-A4BA-E76B-D153-6E069BB58832}"/>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575719C1-AD39-B161-A428-7A69C4683D43}"/>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84FF7276-6F9F-7D89-78E6-5A44ADF4BB69}"/>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5FF7CBFB-5D51-9D13-1D8C-5ACAE7FF1E82}"/>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9935915B-D4DB-8D5A-DDB8-1CF5CC9D9963}"/>
              </a:ext>
            </a:extLst>
          </p:cNvPr>
          <p:cNvSpPr txBox="1">
            <a:spLocks/>
          </p:cNvSpPr>
          <p:nvPr/>
        </p:nvSpPr>
        <p:spPr>
          <a:xfrm>
            <a:off x="228600" y="685800"/>
            <a:ext cx="8624937" cy="461664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dirty="0">
                <a:solidFill>
                  <a:schemeClr val="accent2"/>
                </a:solidFill>
                <a:latin typeface="Google Sans"/>
              </a:rPr>
              <a:t>Core Principles (Non-Negotiable)</a:t>
            </a:r>
          </a:p>
          <a:p>
            <a:pPr marL="12700" marR="5080"/>
            <a:r>
              <a:rPr lang="en-US" sz="1500" dirty="0">
                <a:solidFill>
                  <a:schemeClr val="accent2"/>
                </a:solidFill>
                <a:latin typeface="Google Sans"/>
              </a:rPr>
              <a:t>8. Data Structures for Throughput</a:t>
            </a:r>
          </a:p>
          <a:p>
            <a:pPr marL="12700" marR="5080"/>
            <a:r>
              <a:rPr lang="en-US" sz="1500" dirty="0">
                <a:solidFill>
                  <a:schemeClr val="accent2"/>
                </a:solidFill>
                <a:latin typeface="Google Sans"/>
              </a:rPr>
              <a:t>8.3 Avoid Dictionaries in Hot Paths</a:t>
            </a:r>
          </a:p>
          <a:p>
            <a:pPr marL="12700" marR="5080"/>
            <a:r>
              <a:rPr lang="en-US" sz="1500" dirty="0">
                <a:solidFill>
                  <a:schemeClr val="accent2"/>
                </a:solidFill>
                <a:latin typeface="Google Sans"/>
              </a:rPr>
              <a:t>If unavoidable:</a:t>
            </a:r>
          </a:p>
          <a:p>
            <a:pPr marL="12700" marR="5080"/>
            <a:r>
              <a:rPr lang="en-US" sz="1500" dirty="0">
                <a:solidFill>
                  <a:schemeClr val="accent6"/>
                </a:solidFill>
                <a:latin typeface="Google Sans"/>
              </a:rPr>
              <a:t>Pre-size</a:t>
            </a:r>
          </a:p>
          <a:p>
            <a:pPr marL="12700" marR="5080"/>
            <a:r>
              <a:rPr lang="en-US" sz="1500" dirty="0">
                <a:solidFill>
                  <a:schemeClr val="accent6"/>
                </a:solidFill>
                <a:latin typeface="Google Sans"/>
              </a:rPr>
              <a:t>Use </a:t>
            </a:r>
            <a:r>
              <a:rPr lang="en-US" sz="1500" dirty="0" err="1">
                <a:solidFill>
                  <a:schemeClr val="accent6"/>
                </a:solidFill>
                <a:latin typeface="Google Sans"/>
              </a:rPr>
              <a:t>CollectionsMarshal.GetValueRefOrAddDefault</a:t>
            </a:r>
            <a:endParaRPr lang="en-US" sz="1500" dirty="0">
              <a:solidFill>
                <a:schemeClr val="accent6"/>
              </a:solidFill>
              <a:latin typeface="Google Sans"/>
            </a:endParaRPr>
          </a:p>
          <a:p>
            <a:pPr marL="12700" marR="5080"/>
            <a:endParaRPr lang="en-US" sz="1500" dirty="0">
              <a:solidFill>
                <a:schemeClr val="accent6"/>
              </a:solidFill>
              <a:latin typeface="Google Sans"/>
            </a:endParaRPr>
          </a:p>
          <a:p>
            <a:pPr marL="12700" marR="5080"/>
            <a:r>
              <a:rPr lang="en-US" sz="1500" dirty="0">
                <a:solidFill>
                  <a:schemeClr val="accent2"/>
                </a:solidFill>
                <a:latin typeface="Google Sans"/>
              </a:rPr>
              <a:t>9. Architectural Patterns (Mechanical Sympathy Friendly)</a:t>
            </a:r>
          </a:p>
          <a:p>
            <a:pPr marL="12700" marR="5080"/>
            <a:r>
              <a:rPr lang="en-US" sz="1500" dirty="0">
                <a:solidFill>
                  <a:schemeClr val="accent2"/>
                </a:solidFill>
                <a:latin typeface="Google Sans"/>
              </a:rPr>
              <a:t>9.1 Event-Driven Architecture</a:t>
            </a:r>
          </a:p>
          <a:p>
            <a:pPr marL="12700" marR="5080"/>
            <a:r>
              <a:rPr lang="en-US" sz="1500" dirty="0">
                <a:solidFill>
                  <a:schemeClr val="accent6"/>
                </a:solidFill>
                <a:latin typeface="Google Sans"/>
              </a:rPr>
              <a:t>Append-only logs</a:t>
            </a:r>
          </a:p>
          <a:p>
            <a:pPr marL="12700" marR="5080"/>
            <a:r>
              <a:rPr lang="en-US" sz="1500" dirty="0">
                <a:solidFill>
                  <a:schemeClr val="accent6"/>
                </a:solidFill>
                <a:latin typeface="Google Sans"/>
              </a:rPr>
              <a:t>Sequential writes</a:t>
            </a:r>
          </a:p>
          <a:p>
            <a:pPr marL="12700" marR="5080"/>
            <a:r>
              <a:rPr lang="en-US" sz="1500" dirty="0" err="1">
                <a:solidFill>
                  <a:schemeClr val="accent6"/>
                </a:solidFill>
                <a:latin typeface="Google Sans"/>
              </a:rPr>
              <a:t>Replayable</a:t>
            </a:r>
            <a:endParaRPr lang="en-US" sz="1500" dirty="0">
              <a:solidFill>
                <a:schemeClr val="accent6"/>
              </a:solidFill>
              <a:latin typeface="Google Sans"/>
            </a:endParaRPr>
          </a:p>
          <a:p>
            <a:pPr marL="12700" marR="5080"/>
            <a:r>
              <a:rPr lang="en-US" sz="1500" dirty="0">
                <a:solidFill>
                  <a:schemeClr val="accent2"/>
                </a:solidFill>
                <a:latin typeface="Google Sans"/>
              </a:rPr>
              <a:t>9.2 Sharding by Key</a:t>
            </a:r>
          </a:p>
          <a:p>
            <a:pPr marL="12700" marR="5080"/>
            <a:r>
              <a:rPr lang="en-US" sz="1500" dirty="0" err="1">
                <a:solidFill>
                  <a:schemeClr val="accent6"/>
                </a:solidFill>
                <a:latin typeface="Google Sans"/>
              </a:rPr>
              <a:t>UserId</a:t>
            </a:r>
            <a:r>
              <a:rPr lang="en-US" sz="1500" dirty="0">
                <a:solidFill>
                  <a:schemeClr val="accent6"/>
                </a:solidFill>
                <a:latin typeface="Google Sans"/>
              </a:rPr>
              <a:t> % N → partition</a:t>
            </a:r>
          </a:p>
          <a:p>
            <a:pPr marL="12700" marR="5080"/>
            <a:r>
              <a:rPr lang="en-US" sz="1500" dirty="0">
                <a:solidFill>
                  <a:schemeClr val="accent6"/>
                </a:solidFill>
                <a:latin typeface="Google Sans"/>
              </a:rPr>
              <a:t>Each partition:</a:t>
            </a:r>
          </a:p>
          <a:p>
            <a:pPr marL="12700" marR="5080"/>
            <a:r>
              <a:rPr lang="en-US" sz="1500" dirty="0">
                <a:solidFill>
                  <a:schemeClr val="accent6"/>
                </a:solidFill>
                <a:latin typeface="Google Sans"/>
              </a:rPr>
              <a:t>Single thread</a:t>
            </a:r>
          </a:p>
          <a:p>
            <a:pPr marL="12700" marR="5080"/>
            <a:r>
              <a:rPr lang="en-US" sz="1500" dirty="0">
                <a:solidFill>
                  <a:schemeClr val="accent6"/>
                </a:solidFill>
                <a:latin typeface="Google Sans"/>
              </a:rPr>
              <a:t>Own data</a:t>
            </a:r>
          </a:p>
          <a:p>
            <a:pPr marL="12700" marR="5080"/>
            <a:r>
              <a:rPr lang="en-US" sz="1500" dirty="0">
                <a:solidFill>
                  <a:schemeClr val="accent2"/>
                </a:solidFill>
                <a:latin typeface="Google Sans"/>
              </a:rPr>
              <a:t>9.3 CQRS + Event Sourcing</a:t>
            </a:r>
          </a:p>
          <a:p>
            <a:pPr marL="12700" marR="5080"/>
            <a:r>
              <a:rPr lang="en-US" sz="1500" dirty="0">
                <a:solidFill>
                  <a:schemeClr val="accent6"/>
                </a:solidFill>
                <a:latin typeface="Google Sans"/>
              </a:rPr>
              <a:t>Write path optimized for append</a:t>
            </a:r>
          </a:p>
          <a:p>
            <a:pPr marL="12700" marR="5080"/>
            <a:r>
              <a:rPr lang="en-US" sz="1500" dirty="0">
                <a:solidFill>
                  <a:schemeClr val="accent6"/>
                </a:solidFill>
                <a:latin typeface="Google Sans"/>
              </a:rPr>
              <a:t>Read models optimized for cache</a:t>
            </a:r>
          </a:p>
        </p:txBody>
      </p:sp>
    </p:spTree>
    <p:extLst>
      <p:ext uri="{BB962C8B-B14F-4D97-AF65-F5344CB8AC3E}">
        <p14:creationId xmlns:p14="http://schemas.microsoft.com/office/powerpoint/2010/main" val="811495166"/>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F2382-08B8-55C6-F3EE-750308F0F85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9E3CEF2-792C-1AC7-AC3E-B077AA3AD97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2B3FD17-3B27-7E60-C8BE-6E6B8A959674}"/>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C8AAE54-CC1D-A770-A6AF-49DFA7E8E325}"/>
              </a:ext>
            </a:extLst>
          </p:cNvPr>
          <p:cNvGraphicFramePr/>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2CEB448-0FA2-7E48-665C-A8EDA712F28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67CEA1A1-C596-31D7-686C-E8956913B1DA}"/>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9D776D1F-EA61-C3A2-3CC1-B3E3F0C08688}"/>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8328168F-A980-2289-07B4-D5E063DF92F2}"/>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1B0F1E2A-09F8-ADDA-E9FA-2A430FE3E087}"/>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96584B9C-1185-9F49-3E57-41C0A46F1515}"/>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1DF9E87D-5936-8E2D-030D-29A067093891}"/>
              </a:ext>
            </a:extLst>
          </p:cNvPr>
          <p:cNvSpPr txBox="1">
            <a:spLocks/>
          </p:cNvSpPr>
          <p:nvPr/>
        </p:nvSpPr>
        <p:spPr>
          <a:xfrm>
            <a:off x="228600" y="685800"/>
            <a:ext cx="8624937" cy="53091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dirty="0">
                <a:solidFill>
                  <a:schemeClr val="accent2"/>
                </a:solidFill>
                <a:latin typeface="Google Sans"/>
              </a:rPr>
              <a:t>Core Principles (Non-Negotiable)</a:t>
            </a:r>
          </a:p>
          <a:p>
            <a:pPr marL="12700" marR="5080"/>
            <a:r>
              <a:rPr lang="en-US" sz="1500" dirty="0">
                <a:solidFill>
                  <a:schemeClr val="accent2"/>
                </a:solidFill>
                <a:latin typeface="Google Sans"/>
              </a:rPr>
              <a:t>10. Backpressure &amp; Load Control</a:t>
            </a:r>
          </a:p>
          <a:p>
            <a:pPr marL="12700" marR="5080"/>
            <a:r>
              <a:rPr lang="en-US" sz="1500" dirty="0">
                <a:solidFill>
                  <a:schemeClr val="accent2"/>
                </a:solidFill>
                <a:latin typeface="Google Sans"/>
              </a:rPr>
              <a:t>Techniques</a:t>
            </a:r>
          </a:p>
          <a:p>
            <a:pPr marL="12700" marR="5080"/>
            <a:r>
              <a:rPr lang="en-US" sz="1500" dirty="0">
                <a:solidFill>
                  <a:schemeClr val="accent6"/>
                </a:solidFill>
                <a:latin typeface="Google Sans"/>
              </a:rPr>
              <a:t>Bounded queues</a:t>
            </a:r>
          </a:p>
          <a:p>
            <a:pPr marL="12700" marR="5080"/>
            <a:r>
              <a:rPr lang="en-US" sz="1500" dirty="0">
                <a:solidFill>
                  <a:schemeClr val="accent6"/>
                </a:solidFill>
                <a:latin typeface="Google Sans"/>
              </a:rPr>
              <a:t>Drop strategies</a:t>
            </a:r>
          </a:p>
          <a:p>
            <a:pPr marL="12700" marR="5080"/>
            <a:r>
              <a:rPr lang="en-US" sz="1500" dirty="0">
                <a:solidFill>
                  <a:schemeClr val="accent6"/>
                </a:solidFill>
                <a:latin typeface="Google Sans"/>
              </a:rPr>
              <a:t>Adaptive batching</a:t>
            </a:r>
          </a:p>
          <a:p>
            <a:pPr marL="12700" marR="5080"/>
            <a:r>
              <a:rPr lang="en-US" sz="1500" dirty="0" err="1">
                <a:solidFill>
                  <a:schemeClr val="accent6"/>
                </a:solidFill>
                <a:latin typeface="Google Sans"/>
              </a:rPr>
              <a:t>Channel.CreateBounded</a:t>
            </a:r>
            <a:r>
              <a:rPr lang="en-US" sz="1500" dirty="0">
                <a:solidFill>
                  <a:schemeClr val="accent6"/>
                </a:solidFill>
                <a:latin typeface="Google Sans"/>
              </a:rPr>
              <a:t>(</a:t>
            </a:r>
          </a:p>
          <a:p>
            <a:pPr marL="12700" marR="5080"/>
            <a:r>
              <a:rPr lang="en-US" sz="1500" dirty="0">
                <a:solidFill>
                  <a:schemeClr val="accent6"/>
                </a:solidFill>
                <a:latin typeface="Google Sans"/>
              </a:rPr>
              <a:t>  new </a:t>
            </a:r>
            <a:r>
              <a:rPr lang="en-US" sz="1500" dirty="0" err="1">
                <a:solidFill>
                  <a:schemeClr val="accent6"/>
                </a:solidFill>
                <a:latin typeface="Google Sans"/>
              </a:rPr>
              <a:t>BoundedChannelOptions</a:t>
            </a:r>
            <a:r>
              <a:rPr lang="en-US" sz="1500" dirty="0">
                <a:solidFill>
                  <a:schemeClr val="accent6"/>
                </a:solidFill>
                <a:latin typeface="Google Sans"/>
              </a:rPr>
              <a:t>(1024)</a:t>
            </a:r>
          </a:p>
          <a:p>
            <a:pPr marL="12700" marR="5080"/>
            <a:r>
              <a:rPr lang="en-US" sz="1500" dirty="0">
                <a:solidFill>
                  <a:schemeClr val="accent6"/>
                </a:solidFill>
                <a:latin typeface="Google Sans"/>
              </a:rPr>
              <a:t>  {</a:t>
            </a:r>
          </a:p>
          <a:p>
            <a:pPr marL="12700" marR="5080"/>
            <a:r>
              <a:rPr lang="en-US" sz="1500" dirty="0">
                <a:solidFill>
                  <a:schemeClr val="accent6"/>
                </a:solidFill>
                <a:latin typeface="Google Sans"/>
              </a:rPr>
              <a:t>      </a:t>
            </a:r>
            <a:r>
              <a:rPr lang="en-US" sz="1500" dirty="0" err="1">
                <a:solidFill>
                  <a:schemeClr val="accent6"/>
                </a:solidFill>
                <a:latin typeface="Google Sans"/>
              </a:rPr>
              <a:t>FullMode</a:t>
            </a:r>
            <a:r>
              <a:rPr lang="en-US" sz="1500" dirty="0">
                <a:solidFill>
                  <a:schemeClr val="accent6"/>
                </a:solidFill>
                <a:latin typeface="Google Sans"/>
              </a:rPr>
              <a:t> = </a:t>
            </a:r>
            <a:r>
              <a:rPr lang="en-US" sz="1500" dirty="0" err="1">
                <a:solidFill>
                  <a:schemeClr val="accent6"/>
                </a:solidFill>
                <a:latin typeface="Google Sans"/>
              </a:rPr>
              <a:t>BoundedChannelFullMode.DropOldest</a:t>
            </a:r>
            <a:endParaRPr lang="en-US" sz="1500" dirty="0">
              <a:solidFill>
                <a:schemeClr val="accent6"/>
              </a:solidFill>
              <a:latin typeface="Google Sans"/>
            </a:endParaRPr>
          </a:p>
          <a:p>
            <a:pPr marL="12700" marR="5080"/>
            <a:r>
              <a:rPr lang="en-US" sz="1500" dirty="0">
                <a:solidFill>
                  <a:schemeClr val="accent6"/>
                </a:solidFill>
                <a:latin typeface="Google Sans"/>
              </a:rPr>
              <a:t>  });</a:t>
            </a:r>
          </a:p>
          <a:p>
            <a:pPr marL="12700" marR="5080"/>
            <a:endParaRPr lang="en-US" sz="1500" dirty="0">
              <a:solidFill>
                <a:schemeClr val="accent6"/>
              </a:solidFill>
              <a:latin typeface="Google Sans"/>
            </a:endParaRPr>
          </a:p>
          <a:p>
            <a:pPr marL="12700" marR="5080"/>
            <a:r>
              <a:rPr lang="en-US" sz="1500" dirty="0">
                <a:solidFill>
                  <a:schemeClr val="accent2"/>
                </a:solidFill>
                <a:latin typeface="Google Sans"/>
              </a:rPr>
              <a:t>11. Observability Without Killing Performance</a:t>
            </a:r>
          </a:p>
          <a:p>
            <a:pPr marL="12700" marR="5080"/>
            <a:r>
              <a:rPr lang="en-US" sz="1500" dirty="0">
                <a:solidFill>
                  <a:schemeClr val="accent2"/>
                </a:solidFill>
                <a:latin typeface="Google Sans"/>
              </a:rPr>
              <a:t>11.1 Metrics &gt; Logs</a:t>
            </a:r>
          </a:p>
          <a:p>
            <a:pPr marL="12700" marR="5080"/>
            <a:r>
              <a:rPr lang="en-US" sz="1500" dirty="0">
                <a:solidFill>
                  <a:schemeClr val="accent6"/>
                </a:solidFill>
                <a:latin typeface="Google Sans"/>
              </a:rPr>
              <a:t>Counters</a:t>
            </a:r>
          </a:p>
          <a:p>
            <a:pPr marL="12700" marR="5080"/>
            <a:r>
              <a:rPr lang="en-US" sz="1500" dirty="0">
                <a:solidFill>
                  <a:schemeClr val="accent6"/>
                </a:solidFill>
                <a:latin typeface="Google Sans"/>
              </a:rPr>
              <a:t>Histograms</a:t>
            </a:r>
          </a:p>
          <a:p>
            <a:pPr marL="12700" marR="5080"/>
            <a:r>
              <a:rPr lang="en-US" sz="1500" dirty="0">
                <a:solidFill>
                  <a:schemeClr val="accent2"/>
                </a:solidFill>
                <a:latin typeface="Google Sans"/>
              </a:rPr>
              <a:t>11.2 Sampling Logs</a:t>
            </a:r>
          </a:p>
          <a:p>
            <a:pPr marL="12700" marR="5080"/>
            <a:r>
              <a:rPr lang="en-US" sz="1500" dirty="0">
                <a:solidFill>
                  <a:schemeClr val="accent6"/>
                </a:solidFill>
                <a:latin typeface="Google Sans"/>
              </a:rPr>
              <a:t>if ((++count &amp; 1023) == 0) Log();</a:t>
            </a:r>
          </a:p>
          <a:p>
            <a:pPr marL="12700" marR="5080"/>
            <a:r>
              <a:rPr lang="en-US" sz="1500" dirty="0">
                <a:solidFill>
                  <a:schemeClr val="accent2"/>
                </a:solidFill>
                <a:latin typeface="Google Sans"/>
              </a:rPr>
              <a:t>11.3 Benchmarking</a:t>
            </a:r>
          </a:p>
          <a:p>
            <a:pPr marL="12700" marR="5080"/>
            <a:r>
              <a:rPr lang="en-US" sz="1500" dirty="0">
                <a:solidFill>
                  <a:schemeClr val="accent2"/>
                </a:solidFill>
                <a:latin typeface="Google Sans"/>
              </a:rPr>
              <a:t>Use</a:t>
            </a:r>
          </a:p>
          <a:p>
            <a:pPr marL="12700" marR="5080"/>
            <a:r>
              <a:rPr lang="en-US" sz="1500" dirty="0" err="1">
                <a:solidFill>
                  <a:schemeClr val="accent6"/>
                </a:solidFill>
                <a:latin typeface="Google Sans"/>
              </a:rPr>
              <a:t>BenchmarkDotNet</a:t>
            </a:r>
            <a:endParaRPr lang="en-US" sz="1500" dirty="0">
              <a:solidFill>
                <a:schemeClr val="accent6"/>
              </a:solidFill>
              <a:latin typeface="Google Sans"/>
            </a:endParaRPr>
          </a:p>
          <a:p>
            <a:pPr marL="12700" marR="5080"/>
            <a:r>
              <a:rPr lang="en-US" sz="1500" dirty="0" err="1">
                <a:solidFill>
                  <a:schemeClr val="accent6"/>
                </a:solidFill>
                <a:latin typeface="Google Sans"/>
              </a:rPr>
              <a:t>EventCounters</a:t>
            </a:r>
            <a:endParaRPr lang="en-US" sz="1500" dirty="0">
              <a:solidFill>
                <a:schemeClr val="accent6"/>
              </a:solidFill>
              <a:latin typeface="Google Sans"/>
            </a:endParaRPr>
          </a:p>
          <a:p>
            <a:pPr marL="12700" marR="5080"/>
            <a:r>
              <a:rPr lang="en-US" sz="1500" dirty="0" err="1">
                <a:solidFill>
                  <a:schemeClr val="accent6"/>
                </a:solidFill>
                <a:latin typeface="Google Sans"/>
              </a:rPr>
              <a:t>PerfView</a:t>
            </a:r>
            <a:endParaRPr lang="en-US" sz="1500" dirty="0">
              <a:solidFill>
                <a:schemeClr val="accent6"/>
              </a:solidFill>
              <a:latin typeface="Google Sans"/>
            </a:endParaRPr>
          </a:p>
        </p:txBody>
      </p:sp>
    </p:spTree>
    <p:extLst>
      <p:ext uri="{BB962C8B-B14F-4D97-AF65-F5344CB8AC3E}">
        <p14:creationId xmlns:p14="http://schemas.microsoft.com/office/powerpoint/2010/main" val="218515079"/>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3F66C-BF1A-ECB4-BA4B-E96DB4BB228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BA959CF-AA90-C461-ED90-F18E3FED518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DDED837-B118-6FCB-D266-3BEC0C5C1614}"/>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D911F4D-709B-0DA7-B869-071C3C768F63}"/>
              </a:ext>
            </a:extLst>
          </p:cNvPr>
          <p:cNvGraphicFramePr/>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B74E646C-FBB3-8251-4DB3-6B01C7A6009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9DA741-2F6F-CF7E-5893-E6D570239B4D}"/>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69933A9-ADE4-B783-BB5C-24C30360BF84}"/>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11E79618-230F-0426-B982-5B9F71E99238}"/>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1F042998-72CB-BB75-3D70-7A86E36D715B}"/>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F65A4098-F0E1-910D-5009-A4735084FBD4}"/>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9B12EB27-A19B-B4DB-5FA0-6DE557EAE2B4}"/>
              </a:ext>
            </a:extLst>
          </p:cNvPr>
          <p:cNvSpPr txBox="1">
            <a:spLocks/>
          </p:cNvSpPr>
          <p:nvPr/>
        </p:nvSpPr>
        <p:spPr>
          <a:xfrm>
            <a:off x="228600" y="685800"/>
            <a:ext cx="8624937" cy="50783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dirty="0">
                <a:solidFill>
                  <a:schemeClr val="accent2"/>
                </a:solidFill>
                <a:latin typeface="Google Sans"/>
              </a:rPr>
              <a:t>Core Principles (Non-Negotiable)</a:t>
            </a:r>
          </a:p>
          <a:p>
            <a:pPr marL="12700" marR="5080"/>
            <a:r>
              <a:rPr lang="en-US" sz="1500" dirty="0">
                <a:solidFill>
                  <a:schemeClr val="accent2"/>
                </a:solidFill>
                <a:latin typeface="Google Sans"/>
              </a:rPr>
              <a:t>11. Observability Without Killing Performance</a:t>
            </a:r>
          </a:p>
          <a:p>
            <a:pPr marL="12700" marR="5080"/>
            <a:r>
              <a:rPr lang="en-US" sz="1500" dirty="0">
                <a:solidFill>
                  <a:schemeClr val="accent2"/>
                </a:solidFill>
                <a:latin typeface="Google Sans"/>
              </a:rPr>
              <a:t>11.3 Benchmarking</a:t>
            </a:r>
          </a:p>
          <a:p>
            <a:pPr marL="12700" marR="5080"/>
            <a:r>
              <a:rPr lang="en-US" sz="1500" dirty="0">
                <a:solidFill>
                  <a:schemeClr val="accent2"/>
                </a:solidFill>
                <a:latin typeface="Google Sans"/>
              </a:rPr>
              <a:t>Measure:</a:t>
            </a:r>
          </a:p>
          <a:p>
            <a:pPr marL="12700" marR="5080"/>
            <a:r>
              <a:rPr lang="en-US" sz="1500" dirty="0">
                <a:solidFill>
                  <a:schemeClr val="accent6"/>
                </a:solidFill>
                <a:latin typeface="Google Sans"/>
              </a:rPr>
              <a:t>Allocation rate</a:t>
            </a:r>
          </a:p>
          <a:p>
            <a:pPr marL="12700" marR="5080"/>
            <a:r>
              <a:rPr lang="en-US" sz="1500" dirty="0">
                <a:solidFill>
                  <a:schemeClr val="accent6"/>
                </a:solidFill>
                <a:latin typeface="Google Sans"/>
              </a:rPr>
              <a:t>GC pauses</a:t>
            </a:r>
          </a:p>
          <a:p>
            <a:pPr marL="12700" marR="5080"/>
            <a:r>
              <a:rPr lang="en-US" sz="1500" dirty="0">
                <a:solidFill>
                  <a:schemeClr val="accent6"/>
                </a:solidFill>
                <a:latin typeface="Google Sans"/>
              </a:rPr>
              <a:t>Cache misses (via ETW)</a:t>
            </a:r>
          </a:p>
          <a:p>
            <a:pPr marL="12700" marR="5080"/>
            <a:endParaRPr lang="en-US" sz="1500" dirty="0">
              <a:solidFill>
                <a:schemeClr val="accent6"/>
              </a:solidFill>
              <a:latin typeface="Google Sans"/>
            </a:endParaRPr>
          </a:p>
          <a:p>
            <a:pPr marL="12700" marR="5080"/>
            <a:r>
              <a:rPr lang="en-US" sz="1500" dirty="0">
                <a:solidFill>
                  <a:schemeClr val="accent2"/>
                </a:solidFill>
                <a:latin typeface="Google Sans"/>
              </a:rPr>
              <a:t>12. Checklist (Mental Model)</a:t>
            </a:r>
          </a:p>
          <a:p>
            <a:pPr marL="12700" marR="5080"/>
            <a:r>
              <a:rPr lang="en-US" sz="1500" dirty="0">
                <a:solidFill>
                  <a:schemeClr val="accent2"/>
                </a:solidFill>
                <a:latin typeface="Google Sans"/>
              </a:rPr>
              <a:t>If latency matters, ask:</a:t>
            </a:r>
          </a:p>
          <a:p>
            <a:pPr marL="12700" marR="5080"/>
            <a:r>
              <a:rPr lang="en-US" sz="1500" dirty="0">
                <a:solidFill>
                  <a:schemeClr val="accent6"/>
                </a:solidFill>
                <a:latin typeface="Google Sans"/>
              </a:rPr>
              <a:t>Did I allocate?</a:t>
            </a:r>
          </a:p>
          <a:p>
            <a:pPr marL="12700" marR="5080"/>
            <a:r>
              <a:rPr lang="en-US" sz="1500" dirty="0">
                <a:solidFill>
                  <a:schemeClr val="accent6"/>
                </a:solidFill>
                <a:latin typeface="Google Sans"/>
              </a:rPr>
              <a:t>Did I block?</a:t>
            </a:r>
          </a:p>
          <a:p>
            <a:pPr marL="12700" marR="5080"/>
            <a:r>
              <a:rPr lang="en-US" sz="1500" dirty="0">
                <a:solidFill>
                  <a:schemeClr val="accent6"/>
                </a:solidFill>
                <a:latin typeface="Google Sans"/>
              </a:rPr>
              <a:t>Did I lock?</a:t>
            </a:r>
          </a:p>
          <a:p>
            <a:pPr marL="12700" marR="5080"/>
            <a:r>
              <a:rPr lang="en-US" sz="1500" dirty="0">
                <a:solidFill>
                  <a:schemeClr val="accent6"/>
                </a:solidFill>
                <a:latin typeface="Google Sans"/>
              </a:rPr>
              <a:t>Did I cross threads?</a:t>
            </a:r>
          </a:p>
          <a:p>
            <a:pPr marL="12700" marR="5080"/>
            <a:r>
              <a:rPr lang="en-US" sz="1500" dirty="0">
                <a:solidFill>
                  <a:schemeClr val="accent6"/>
                </a:solidFill>
                <a:latin typeface="Google Sans"/>
              </a:rPr>
              <a:t>Did I hit the kernel?</a:t>
            </a:r>
          </a:p>
          <a:p>
            <a:pPr marL="12700" marR="5080"/>
            <a:r>
              <a:rPr lang="en-US" sz="1500" dirty="0">
                <a:solidFill>
                  <a:schemeClr val="accent6"/>
                </a:solidFill>
                <a:latin typeface="Google Sans"/>
              </a:rPr>
              <a:t>Did I miss the cache?</a:t>
            </a:r>
          </a:p>
          <a:p>
            <a:pPr marL="12700" marR="5080"/>
            <a:r>
              <a:rPr lang="en-US" sz="1500" dirty="0">
                <a:solidFill>
                  <a:schemeClr val="accent6"/>
                </a:solidFill>
                <a:latin typeface="Google Sans"/>
              </a:rPr>
              <a:t>Did I trigger GC?</a:t>
            </a:r>
          </a:p>
          <a:p>
            <a:pPr marL="12700" marR="5080"/>
            <a:r>
              <a:rPr lang="en-US" sz="1500" dirty="0">
                <a:solidFill>
                  <a:schemeClr val="accent2"/>
                </a:solidFill>
                <a:latin typeface="Google Sans"/>
              </a:rPr>
              <a:t>If yes → redesign.</a:t>
            </a:r>
          </a:p>
          <a:p>
            <a:pPr marL="12700" marR="5080"/>
            <a:endParaRPr lang="en-US" sz="1500" dirty="0">
              <a:solidFill>
                <a:schemeClr val="accent6"/>
              </a:solidFill>
              <a:latin typeface="Google Sans"/>
            </a:endParaRPr>
          </a:p>
          <a:p>
            <a:pPr marL="12700" marR="5080"/>
            <a:endParaRPr lang="en-US" sz="1500" dirty="0">
              <a:solidFill>
                <a:schemeClr val="accent6"/>
              </a:solidFill>
              <a:latin typeface="Google Sans"/>
            </a:endParaRPr>
          </a:p>
          <a:p>
            <a:pPr marL="12700" marR="5080"/>
            <a:endParaRPr lang="en-US" sz="1500" dirty="0">
              <a:solidFill>
                <a:schemeClr val="accent6"/>
              </a:solidFill>
              <a:latin typeface="Google Sans"/>
            </a:endParaRPr>
          </a:p>
          <a:p>
            <a:pPr marL="12700" marR="5080"/>
            <a:endParaRPr lang="en-US" sz="1500" dirty="0">
              <a:solidFill>
                <a:schemeClr val="accent6"/>
              </a:solidFill>
              <a:latin typeface="Google Sans"/>
            </a:endParaRPr>
          </a:p>
        </p:txBody>
      </p:sp>
    </p:spTree>
    <p:extLst>
      <p:ext uri="{BB962C8B-B14F-4D97-AF65-F5344CB8AC3E}">
        <p14:creationId xmlns:p14="http://schemas.microsoft.com/office/powerpoint/2010/main" val="1126749803"/>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C07C3-7B6C-894D-81A6-68D20DD4E41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9A53D75-0C69-6876-A01C-010462F838D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290118C-7AAA-62D2-2432-2F354B6EA9C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B7C3162-2A30-7115-717E-843DCFE2618F}"/>
              </a:ext>
            </a:extLst>
          </p:cNvPr>
          <p:cNvGraphicFramePr/>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FC9471A-2B20-B5C9-EE96-8F8D4B5B982B}"/>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0259548E-3876-A654-9E30-96BA80B724C4}"/>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2C5D82C7-2611-52F2-E349-1BE3298BC706}"/>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98C9E0FA-BD39-CCD0-0EB0-66F7B9EA9AC3}"/>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B306D7B2-4877-1068-7DA6-3AE6B75C62F2}"/>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64F9FF05-7994-40D9-AC6F-88EA9D412D5D}"/>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A01EDAB7-6B20-B2BF-D4F7-169A696930EB}"/>
              </a:ext>
            </a:extLst>
          </p:cNvPr>
          <p:cNvSpPr txBox="1">
            <a:spLocks/>
          </p:cNvSpPr>
          <p:nvPr/>
        </p:nvSpPr>
        <p:spPr>
          <a:xfrm>
            <a:off x="228600" y="685800"/>
            <a:ext cx="8624937" cy="538609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Core Techniques and Patterns Summary</a:t>
            </a:r>
          </a:p>
          <a:p>
            <a:pPr marL="12700" marR="5080"/>
            <a:r>
              <a:rPr lang="en-US" sz="1500" dirty="0">
                <a:solidFill>
                  <a:schemeClr val="accent1"/>
                </a:solidFill>
                <a:latin typeface="Google Sans"/>
              </a:rPr>
              <a:t>CPU Cache Awareness (Locality of Reference)</a:t>
            </a:r>
          </a:p>
          <a:p>
            <a:pPr marL="12700" marR="5080"/>
            <a:r>
              <a:rPr lang="en-US" sz="1500" dirty="0">
                <a:solidFill>
                  <a:schemeClr val="accent2"/>
                </a:solidFill>
                <a:latin typeface="Google Sans"/>
              </a:rPr>
              <a:t>Understand the Memory Model : </a:t>
            </a:r>
            <a:r>
              <a:rPr lang="en-US" sz="1500" dirty="0">
                <a:solidFill>
                  <a:schemeClr val="accent6"/>
                </a:solidFill>
                <a:latin typeface="Google Sans"/>
              </a:rPr>
              <a:t>CPU reordering, Compiler reordering, Need for memory barriers (fences)</a:t>
            </a:r>
          </a:p>
          <a:p>
            <a:pPr marL="12700" marR="5080"/>
            <a:r>
              <a:rPr lang="en-US" sz="1500" dirty="0">
                <a:solidFill>
                  <a:schemeClr val="accent6"/>
                </a:solidFill>
                <a:latin typeface="Google Sans"/>
              </a:rPr>
              <a:t>For high-speed systems, correctness + performance require precise ordering.</a:t>
            </a:r>
          </a:p>
          <a:p>
            <a:pPr marL="12700" marR="5080"/>
            <a:r>
              <a:rPr lang="en-US" sz="1500" dirty="0">
                <a:solidFill>
                  <a:schemeClr val="accent2"/>
                </a:solidFill>
                <a:latin typeface="Google Sans"/>
              </a:rPr>
              <a:t>Data Locality: </a:t>
            </a:r>
            <a:r>
              <a:rPr lang="en-US" sz="1500" dirty="0">
                <a:solidFill>
                  <a:schemeClr val="accent6"/>
                </a:solidFill>
                <a:latin typeface="Google Sans"/>
              </a:rPr>
              <a:t>Keep related data close in memory (e.g., arrays of structs struct </a:t>
            </a:r>
            <a:r>
              <a:rPr lang="en-US" sz="1500" dirty="0" err="1">
                <a:solidFill>
                  <a:schemeClr val="accent6"/>
                </a:solidFill>
                <a:latin typeface="Google Sans"/>
              </a:rPr>
              <a:t>MyData</a:t>
            </a:r>
            <a:r>
              <a:rPr lang="en-US" sz="1500" dirty="0">
                <a:solidFill>
                  <a:schemeClr val="accent6"/>
                </a:solidFill>
                <a:latin typeface="Google Sans"/>
              </a:rPr>
              <a:t> { int A; int B; }[] vs. array of classes </a:t>
            </a:r>
            <a:r>
              <a:rPr lang="en-US" sz="1500" dirty="0" err="1">
                <a:solidFill>
                  <a:schemeClr val="accent6"/>
                </a:solidFill>
                <a:latin typeface="Google Sans"/>
              </a:rPr>
              <a:t>MyData</a:t>
            </a:r>
            <a:r>
              <a:rPr lang="en-US" sz="1500" dirty="0">
                <a:solidFill>
                  <a:schemeClr val="accent6"/>
                </a:solidFill>
                <a:latin typeface="Google Sans"/>
              </a:rPr>
              <a:t>[]) to leverage CPU cache lines. Use contiguous arrays, not linked lists</a:t>
            </a:r>
          </a:p>
          <a:p>
            <a:pPr marL="12700" marR="5080"/>
            <a:r>
              <a:rPr lang="en-US" sz="1500" dirty="0">
                <a:solidFill>
                  <a:schemeClr val="accent6"/>
                </a:solidFill>
                <a:latin typeface="Google Sans"/>
              </a:rPr>
              <a:t>Use Structs-of-Arrays (</a:t>
            </a:r>
            <a:r>
              <a:rPr lang="en-US" sz="1500" dirty="0" err="1">
                <a:solidFill>
                  <a:schemeClr val="accent6"/>
                </a:solidFill>
                <a:latin typeface="Google Sans"/>
              </a:rPr>
              <a:t>SoA</a:t>
            </a:r>
            <a:r>
              <a:rPr lang="en-US" sz="1500" dirty="0">
                <a:solidFill>
                  <a:schemeClr val="accent6"/>
                </a:solidFill>
                <a:latin typeface="Google Sans"/>
              </a:rPr>
              <a:t>) instead of Arrays-of-Structs (</a:t>
            </a:r>
            <a:r>
              <a:rPr lang="en-US" sz="1500" dirty="0" err="1">
                <a:solidFill>
                  <a:schemeClr val="accent6"/>
                </a:solidFill>
                <a:latin typeface="Google Sans"/>
              </a:rPr>
              <a:t>AoS</a:t>
            </a:r>
            <a:r>
              <a:rPr lang="en-US" sz="1500" dirty="0">
                <a:solidFill>
                  <a:schemeClr val="accent6"/>
                </a:solidFill>
                <a:latin typeface="Google Sans"/>
              </a:rPr>
              <a:t>).Ensure alignment</a:t>
            </a:r>
          </a:p>
          <a:p>
            <a:pPr marL="12700" marR="5080"/>
            <a:r>
              <a:rPr lang="en-US" sz="1500" dirty="0">
                <a:solidFill>
                  <a:schemeClr val="accent2"/>
                </a:solidFill>
                <a:latin typeface="Google Sans"/>
              </a:rPr>
              <a:t>Padding/False Sharing: </a:t>
            </a:r>
            <a:r>
              <a:rPr lang="en-US" sz="1500" dirty="0">
                <a:solidFill>
                  <a:schemeClr val="accent6"/>
                </a:solidFill>
                <a:latin typeface="Google Sans"/>
              </a:rPr>
              <a:t>Never let two threads write to variables on the same cache line.</a:t>
            </a:r>
          </a:p>
          <a:p>
            <a:pPr marL="12700" marR="5080"/>
            <a:r>
              <a:rPr lang="en-US" sz="1500" dirty="0">
                <a:solidFill>
                  <a:schemeClr val="accent6"/>
                </a:solidFill>
                <a:latin typeface="Google Sans"/>
              </a:rPr>
              <a:t>Use cache line padding. Use padding fields (e.g., long[] _padding = new long[7];) or align data to prevent unrelated variables on the same cache line from interfering, improving multi-core performance.</a:t>
            </a:r>
          </a:p>
          <a:p>
            <a:pPr marL="12700" marR="5080"/>
            <a:r>
              <a:rPr lang="en-US" sz="1500" dirty="0">
                <a:solidFill>
                  <a:schemeClr val="accent2"/>
                </a:solidFill>
                <a:latin typeface="Google Sans"/>
              </a:rPr>
              <a:t>Avoid Cache Line Thrashing: </a:t>
            </a:r>
            <a:r>
              <a:rPr lang="en-US" sz="1500" dirty="0">
                <a:solidFill>
                  <a:schemeClr val="accent6"/>
                </a:solidFill>
                <a:latin typeface="Google Sans"/>
              </a:rPr>
              <a:t>Structure data to stay within cache lines; access patterns matter. Keep hot paths small, pack frequently accessed data together, avoid "pointer chasing"</a:t>
            </a:r>
          </a:p>
          <a:p>
            <a:pPr marL="12700" marR="5080"/>
            <a:r>
              <a:rPr lang="en-US" sz="1500" dirty="0">
                <a:solidFill>
                  <a:schemeClr val="accent1"/>
                </a:solidFill>
                <a:latin typeface="Google Sans"/>
              </a:rPr>
              <a:t>Memory Management &amp; GC</a:t>
            </a:r>
          </a:p>
          <a:p>
            <a:pPr marL="12700" marR="5080"/>
            <a:r>
              <a:rPr lang="en-US" sz="1500" dirty="0">
                <a:solidFill>
                  <a:schemeClr val="accent2"/>
                </a:solidFill>
                <a:latin typeface="Google Sans"/>
              </a:rPr>
              <a:t>Reduce Allocations: </a:t>
            </a:r>
            <a:r>
              <a:rPr lang="en-US" sz="1500" dirty="0">
                <a:solidFill>
                  <a:schemeClr val="accent6"/>
                </a:solidFill>
                <a:latin typeface="Google Sans"/>
              </a:rPr>
              <a:t>Minimize new calls to reduce Garbage Collection (GC) pauses, especially in hot paths (e.g., use structs, </a:t>
            </a:r>
            <a:r>
              <a:rPr lang="en-US" sz="1500" dirty="0" err="1">
                <a:solidFill>
                  <a:schemeClr val="accent6"/>
                </a:solidFill>
                <a:latin typeface="Google Sans"/>
              </a:rPr>
              <a:t>stackalloc</a:t>
            </a:r>
            <a:r>
              <a:rPr lang="en-US" sz="1500" dirty="0">
                <a:solidFill>
                  <a:schemeClr val="accent6"/>
                </a:solidFill>
                <a:latin typeface="Google Sans"/>
              </a:rPr>
              <a:t>, Span&lt;T&gt;). </a:t>
            </a:r>
          </a:p>
          <a:p>
            <a:pPr marL="12700" marR="5080"/>
            <a:r>
              <a:rPr lang="en-US" sz="1500" dirty="0">
                <a:solidFill>
                  <a:schemeClr val="accent6"/>
                </a:solidFill>
                <a:latin typeface="Google Sans"/>
              </a:rPr>
              <a:t>Use: object pools, stack allocation, arena allocators</a:t>
            </a:r>
          </a:p>
          <a:p>
            <a:pPr marL="12700" marR="5080"/>
            <a:r>
              <a:rPr lang="en-US" sz="1500" dirty="0">
                <a:solidFill>
                  <a:schemeClr val="accent2"/>
                </a:solidFill>
                <a:latin typeface="Google Sans"/>
              </a:rPr>
              <a:t>struct vs. class: </a:t>
            </a:r>
            <a:r>
              <a:rPr lang="en-US" sz="1500" dirty="0">
                <a:solidFill>
                  <a:schemeClr val="accent6"/>
                </a:solidFill>
                <a:latin typeface="Google Sans"/>
              </a:rPr>
              <a:t>Use small value types (struct) for data that fits in a cache line; use class for larger reference types.</a:t>
            </a:r>
          </a:p>
          <a:p>
            <a:pPr marL="12700" marR="5080"/>
            <a:r>
              <a:rPr lang="en-US" sz="1500" dirty="0">
                <a:solidFill>
                  <a:schemeClr val="accent2"/>
                </a:solidFill>
                <a:latin typeface="Google Sans"/>
              </a:rPr>
              <a:t>Span&lt;T&gt; &amp; Memory&lt;T&gt;:</a:t>
            </a:r>
            <a:r>
              <a:rPr lang="en-US" sz="1500" dirty="0">
                <a:solidFill>
                  <a:schemeClr val="accent6"/>
                </a:solidFill>
                <a:latin typeface="Google Sans"/>
              </a:rPr>
              <a:t> Efficiently work with contiguous memory (arrays, strings, unmanaged memory) without copying data.</a:t>
            </a:r>
          </a:p>
          <a:p>
            <a:pPr marL="12700" marR="5080"/>
            <a:r>
              <a:rPr lang="en-US" sz="1500" dirty="0" err="1">
                <a:solidFill>
                  <a:schemeClr val="accent2"/>
                </a:solidFill>
                <a:latin typeface="Google Sans"/>
              </a:rPr>
              <a:t>stackalloc</a:t>
            </a:r>
            <a:r>
              <a:rPr lang="en-US" sz="1500" dirty="0">
                <a:solidFill>
                  <a:schemeClr val="accent2"/>
                </a:solidFill>
                <a:latin typeface="Google Sans"/>
              </a:rPr>
              <a:t>: </a:t>
            </a:r>
            <a:r>
              <a:rPr lang="en-US" sz="1500" dirty="0">
                <a:solidFill>
                  <a:schemeClr val="accent6"/>
                </a:solidFill>
                <a:latin typeface="Google Sans"/>
              </a:rPr>
              <a:t>Allocate small arrays directly on the stack for zero-cost </a:t>
            </a:r>
            <a:r>
              <a:rPr lang="en-US" sz="1500" dirty="0" err="1">
                <a:solidFill>
                  <a:schemeClr val="accent6"/>
                </a:solidFill>
                <a:latin typeface="Google Sans"/>
              </a:rPr>
              <a:t>allocation.ref</a:t>
            </a:r>
            <a:r>
              <a:rPr lang="en-US" sz="1500" dirty="0">
                <a:solidFill>
                  <a:schemeClr val="accent6"/>
                </a:solidFill>
                <a:latin typeface="Google Sans"/>
              </a:rPr>
              <a:t> locals &amp; returns: Avoid copying data when passing references to methods.</a:t>
            </a:r>
          </a:p>
          <a:p>
            <a:pPr marL="12700" marR="5080"/>
            <a:r>
              <a:rPr lang="en-US" sz="1500" dirty="0">
                <a:solidFill>
                  <a:schemeClr val="accent2"/>
                </a:solidFill>
                <a:latin typeface="Google Sans"/>
              </a:rPr>
              <a:t>Avoid:</a:t>
            </a:r>
            <a:r>
              <a:rPr lang="en-US" sz="1500" dirty="0">
                <a:solidFill>
                  <a:schemeClr val="accent6"/>
                </a:solidFill>
                <a:latin typeface="Google Sans"/>
              </a:rPr>
              <a:t> GC pauses, malloc/free churn, Page faults</a:t>
            </a:r>
          </a:p>
        </p:txBody>
      </p:sp>
    </p:spTree>
    <p:extLst>
      <p:ext uri="{BB962C8B-B14F-4D97-AF65-F5344CB8AC3E}">
        <p14:creationId xmlns:p14="http://schemas.microsoft.com/office/powerpoint/2010/main" val="1108871493"/>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AD4B1-2E75-3988-C86C-68127D325F5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6D29D89-6696-7D12-7955-80B82C6FD99F}"/>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4F95A3A-6CC8-5CE0-8C34-A751041291A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EE27D10-D996-A021-543B-11014F7CF087}"/>
              </a:ext>
            </a:extLst>
          </p:cNvPr>
          <p:cNvGraphicFramePr/>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A7486C7-1C7C-C003-88D4-A324E407C07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9CB9338E-F02F-03C8-7324-8B580501A207}"/>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7181A095-7302-2B18-A4C9-85FA0376333E}"/>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09529D5C-8C58-A38A-9EF4-BE0637AC7CF0}"/>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18959249-D02F-B402-0AFC-E21451D2D599}"/>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EE93EF76-54D2-841B-0B3E-20929B8DB9DD}"/>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B55F05DC-FF02-1E5E-2E4F-83933CCDAF12}"/>
              </a:ext>
            </a:extLst>
          </p:cNvPr>
          <p:cNvSpPr txBox="1">
            <a:spLocks/>
          </p:cNvSpPr>
          <p:nvPr/>
        </p:nvSpPr>
        <p:spPr>
          <a:xfrm>
            <a:off x="228600" y="685800"/>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Core Techniques and Patterns Summary</a:t>
            </a:r>
          </a:p>
          <a:p>
            <a:pPr marL="12700" marR="5080"/>
            <a:r>
              <a:rPr lang="en-US" sz="1500" dirty="0">
                <a:solidFill>
                  <a:schemeClr val="accent1"/>
                </a:solidFill>
                <a:latin typeface="Google Sans"/>
              </a:rPr>
              <a:t>Concurrency &amp; Locking</a:t>
            </a:r>
          </a:p>
          <a:p>
            <a:pPr marL="12700" marR="5080"/>
            <a:r>
              <a:rPr lang="en-US" sz="1500" dirty="0">
                <a:solidFill>
                  <a:schemeClr val="accent2"/>
                </a:solidFill>
                <a:latin typeface="Google Sans"/>
              </a:rPr>
              <a:t>Minimize Lock Contention: </a:t>
            </a:r>
            <a:r>
              <a:rPr lang="en-US" sz="1500" dirty="0">
                <a:solidFill>
                  <a:schemeClr val="accent6"/>
                </a:solidFill>
                <a:latin typeface="Google Sans"/>
              </a:rPr>
              <a:t>Reduce time spent holding locks. Prefer lock-free or wait-free algorithms. Use single-writer principles. Use ring buffers (like Aeron, Disruptor). Atomic operations &gt; mutexes for hot paths. </a:t>
            </a:r>
          </a:p>
          <a:p>
            <a:pPr marL="12700" marR="5080"/>
            <a:r>
              <a:rPr lang="en-US" sz="1500" dirty="0" err="1">
                <a:solidFill>
                  <a:schemeClr val="accent2"/>
                </a:solidFill>
                <a:latin typeface="Google Sans"/>
              </a:rPr>
              <a:t>ReaderWriterLockSlim</a:t>
            </a:r>
            <a:r>
              <a:rPr lang="en-US" sz="1500" dirty="0">
                <a:solidFill>
                  <a:schemeClr val="accent2"/>
                </a:solidFill>
                <a:latin typeface="Google Sans"/>
              </a:rPr>
              <a:t>:</a:t>
            </a:r>
            <a:r>
              <a:rPr lang="en-US" sz="1500" dirty="0">
                <a:solidFill>
                  <a:schemeClr val="accent6"/>
                </a:solidFill>
                <a:latin typeface="Google Sans"/>
              </a:rPr>
              <a:t> Allow multiple readers but only one writer.</a:t>
            </a:r>
          </a:p>
          <a:p>
            <a:pPr marL="12700" marR="5080"/>
            <a:r>
              <a:rPr lang="en-US" sz="1500" dirty="0">
                <a:solidFill>
                  <a:schemeClr val="accent2"/>
                </a:solidFill>
                <a:latin typeface="Google Sans"/>
              </a:rPr>
              <a:t>Lock-Free/Wait-Free Structures: </a:t>
            </a:r>
            <a:r>
              <a:rPr lang="en-US" sz="1500" dirty="0">
                <a:solidFill>
                  <a:schemeClr val="accent6"/>
                </a:solidFill>
                <a:latin typeface="Google Sans"/>
              </a:rPr>
              <a:t>Use Interlocked operations or custom lock-free data structures (like Disruptor-style queues) for high-throughput scenarios.</a:t>
            </a:r>
          </a:p>
          <a:p>
            <a:pPr marL="12700" marR="5080"/>
            <a:r>
              <a:rPr lang="en-US" sz="1500" dirty="0">
                <a:solidFill>
                  <a:schemeClr val="accent2"/>
                </a:solidFill>
                <a:latin typeface="Google Sans"/>
              </a:rPr>
              <a:t>volatile: </a:t>
            </a:r>
            <a:r>
              <a:rPr lang="en-US" sz="1500" dirty="0">
                <a:solidFill>
                  <a:schemeClr val="accent6"/>
                </a:solidFill>
                <a:latin typeface="Google Sans"/>
              </a:rPr>
              <a:t>Use with caution; ensures visibility but doesn't guarantee atomicity for complex operations.</a:t>
            </a:r>
          </a:p>
          <a:p>
            <a:pPr marL="12700" marR="5080"/>
            <a:r>
              <a:rPr lang="en-US" sz="1500" dirty="0">
                <a:solidFill>
                  <a:schemeClr val="accent2"/>
                </a:solidFill>
                <a:latin typeface="Google Sans"/>
              </a:rPr>
              <a:t>Batch and Amortize</a:t>
            </a:r>
          </a:p>
          <a:p>
            <a:pPr marL="12700" marR="5080"/>
            <a:r>
              <a:rPr lang="en-US" sz="1500" dirty="0">
                <a:solidFill>
                  <a:schemeClr val="accent6"/>
                </a:solidFill>
                <a:latin typeface="Google Sans"/>
              </a:rPr>
              <a:t>The CPU is efficient at doing repetitive work in batches. A single </a:t>
            </a:r>
            <a:r>
              <a:rPr lang="en-US" sz="1500" dirty="0" err="1">
                <a:solidFill>
                  <a:schemeClr val="accent6"/>
                </a:solidFill>
                <a:latin typeface="Google Sans"/>
              </a:rPr>
              <a:t>syscall</a:t>
            </a:r>
            <a:r>
              <a:rPr lang="en-US" sz="1500" dirty="0">
                <a:solidFill>
                  <a:schemeClr val="accent6"/>
                </a:solidFill>
                <a:latin typeface="Google Sans"/>
              </a:rPr>
              <a:t> for 32 messages is far cheaper than 32 </a:t>
            </a:r>
            <a:r>
              <a:rPr lang="en-US" sz="1500" dirty="0" err="1">
                <a:solidFill>
                  <a:schemeClr val="accent6"/>
                </a:solidFill>
                <a:latin typeface="Google Sans"/>
              </a:rPr>
              <a:t>syscalls</a:t>
            </a:r>
            <a:r>
              <a:rPr lang="en-US" sz="1500" dirty="0">
                <a:solidFill>
                  <a:schemeClr val="accent6"/>
                </a:solidFill>
                <a:latin typeface="Google Sans"/>
              </a:rPr>
              <a:t>.</a:t>
            </a:r>
          </a:p>
          <a:p>
            <a:pPr marL="12700" marR="5080"/>
            <a:r>
              <a:rPr lang="en-US" sz="1500" dirty="0" err="1">
                <a:solidFill>
                  <a:schemeClr val="accent2"/>
                </a:solidFill>
                <a:latin typeface="Google Sans"/>
              </a:rPr>
              <a:t>Examples:</a:t>
            </a:r>
            <a:r>
              <a:rPr lang="en-US" sz="1500" dirty="0" err="1">
                <a:solidFill>
                  <a:schemeClr val="accent6"/>
                </a:solidFill>
                <a:latin typeface="Google Sans"/>
              </a:rPr>
              <a:t>Process</a:t>
            </a:r>
            <a:r>
              <a:rPr lang="en-US" sz="1500" dirty="0">
                <a:solidFill>
                  <a:schemeClr val="accent6"/>
                </a:solidFill>
                <a:latin typeface="Google Sans"/>
              </a:rPr>
              <a:t> 32 messages at a time, SIMD operations, Network batching (NAPI, </a:t>
            </a:r>
            <a:r>
              <a:rPr lang="en-US" sz="1500" dirty="0" err="1">
                <a:solidFill>
                  <a:schemeClr val="accent6"/>
                </a:solidFill>
                <a:latin typeface="Google Sans"/>
              </a:rPr>
              <a:t>sendmmsg</a:t>
            </a:r>
            <a:r>
              <a:rPr lang="en-US" sz="1500" dirty="0">
                <a:solidFill>
                  <a:schemeClr val="accent6"/>
                </a:solidFill>
                <a:latin typeface="Google Sans"/>
              </a:rPr>
              <a:t>/</a:t>
            </a:r>
            <a:r>
              <a:rPr lang="en-US" sz="1500" dirty="0" err="1">
                <a:solidFill>
                  <a:schemeClr val="accent6"/>
                </a:solidFill>
                <a:latin typeface="Google Sans"/>
              </a:rPr>
              <a:t>recvmmsg</a:t>
            </a:r>
            <a:r>
              <a:rPr lang="en-US" sz="1500" dirty="0">
                <a:solidFill>
                  <a:schemeClr val="accent6"/>
                </a:solidFill>
                <a:latin typeface="Google Sans"/>
              </a:rPr>
              <a:t>), DB batch inserts.</a:t>
            </a:r>
          </a:p>
          <a:p>
            <a:pPr marL="12700" marR="5080"/>
            <a:r>
              <a:rPr lang="en-US" sz="1500" dirty="0">
                <a:solidFill>
                  <a:schemeClr val="accent1"/>
                </a:solidFill>
                <a:latin typeface="Google Sans"/>
              </a:rPr>
              <a:t>Hardware Architecture Awareness</a:t>
            </a:r>
          </a:p>
          <a:p>
            <a:pPr marL="12700" marR="5080"/>
            <a:r>
              <a:rPr lang="en-US" sz="1500" dirty="0">
                <a:solidFill>
                  <a:schemeClr val="accent2"/>
                </a:solidFill>
                <a:latin typeface="Google Sans"/>
              </a:rPr>
              <a:t>Branch Prediction: </a:t>
            </a:r>
            <a:r>
              <a:rPr lang="en-US" sz="1500" dirty="0">
                <a:solidFill>
                  <a:schemeClr val="accent6"/>
                </a:solidFill>
                <a:latin typeface="Google Sans"/>
              </a:rPr>
              <a:t>Write simple code with predictable branches; avoid complex if/else in tight loops. Use predictable patterns, minimize conditionals in hot loops, use bit operations or lookup tables when appropriate.</a:t>
            </a:r>
          </a:p>
          <a:p>
            <a:pPr marL="12700" marR="5080"/>
            <a:r>
              <a:rPr lang="en-US" sz="1500" dirty="0">
                <a:solidFill>
                  <a:schemeClr val="accent2"/>
                </a:solidFill>
                <a:latin typeface="Google Sans"/>
              </a:rPr>
              <a:t>Vectorization (SIMD): </a:t>
            </a:r>
            <a:r>
              <a:rPr lang="en-US" sz="1500" dirty="0">
                <a:solidFill>
                  <a:schemeClr val="accent6"/>
                </a:solidFill>
                <a:latin typeface="Google Sans"/>
              </a:rPr>
              <a:t>Use </a:t>
            </a:r>
            <a:r>
              <a:rPr lang="en-US" sz="1500" dirty="0" err="1">
                <a:solidFill>
                  <a:schemeClr val="accent6"/>
                </a:solidFill>
                <a:latin typeface="Google Sans"/>
              </a:rPr>
              <a:t>System.Numerics</a:t>
            </a:r>
            <a:r>
              <a:rPr lang="en-US" sz="1500" dirty="0">
                <a:solidFill>
                  <a:schemeClr val="accent6"/>
                </a:solidFill>
                <a:latin typeface="Google Sans"/>
              </a:rPr>
              <a:t> or Vector&lt;T&gt; for parallel operations on data.</a:t>
            </a:r>
          </a:p>
          <a:p>
            <a:pPr marL="12700" marR="5080"/>
            <a:r>
              <a:rPr lang="en-US" sz="1500" dirty="0">
                <a:solidFill>
                  <a:schemeClr val="accent2"/>
                </a:solidFill>
                <a:latin typeface="Google Sans"/>
              </a:rPr>
              <a:t>Memory Barriers: </a:t>
            </a:r>
            <a:r>
              <a:rPr lang="en-US" sz="1500" dirty="0">
                <a:solidFill>
                  <a:schemeClr val="accent6"/>
                </a:solidFill>
                <a:latin typeface="Google Sans"/>
              </a:rPr>
              <a:t>Understand </a:t>
            </a:r>
            <a:r>
              <a:rPr lang="en-US" sz="1500" dirty="0" err="1">
                <a:solidFill>
                  <a:schemeClr val="accent6"/>
                </a:solidFill>
                <a:latin typeface="Google Sans"/>
              </a:rPr>
              <a:t>MemoryBarrier</a:t>
            </a:r>
            <a:r>
              <a:rPr lang="en-US" sz="1500" dirty="0">
                <a:solidFill>
                  <a:schemeClr val="accent6"/>
                </a:solidFill>
                <a:latin typeface="Google Sans"/>
              </a:rPr>
              <a:t>() for explicit memory ordering when needed (rarely needed with modern C# features).</a:t>
            </a:r>
          </a:p>
          <a:p>
            <a:pPr marL="12700" marR="5080"/>
            <a:endParaRPr lang="en-US" sz="1500" dirty="0">
              <a:solidFill>
                <a:schemeClr val="accent6"/>
              </a:solidFill>
              <a:latin typeface="Google Sans"/>
            </a:endParaRPr>
          </a:p>
        </p:txBody>
      </p:sp>
    </p:spTree>
    <p:extLst>
      <p:ext uri="{BB962C8B-B14F-4D97-AF65-F5344CB8AC3E}">
        <p14:creationId xmlns:p14="http://schemas.microsoft.com/office/powerpoint/2010/main" val="1532985565"/>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91974-88AD-2F2C-3B2B-265A7EC0F87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E9279DB-2810-1A44-5A00-ACBEC770A95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E3B75A3-237E-0530-1D80-6678FC1396A1}"/>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C3D450D-4722-FF5F-1FBD-9B05EBE9DE7B}"/>
              </a:ext>
            </a:extLst>
          </p:cNvPr>
          <p:cNvGraphicFramePr/>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A20E3F2C-E97C-7609-6903-519C377C23C4}"/>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C9673BB1-58E5-7C52-0B64-2E4F4A7B3AD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F3227D03-5EE3-E7EE-AD10-A80F582E8341}"/>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7C1EBBD9-7A31-F119-07E8-5A638B2C7DCD}"/>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F99B8A46-4FEE-4477-E767-9725DDAA6C08}"/>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F4B13CE0-5D16-6649-EDA7-BDE3C40E46E9}"/>
              </a:ext>
            </a:extLst>
          </p:cNvPr>
          <p:cNvSpPr txBox="1">
            <a:spLocks/>
          </p:cNvSpPr>
          <p:nvPr/>
        </p:nvSpPr>
        <p:spPr>
          <a:xfrm>
            <a:off x="2286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endParaRPr lang="en-US" sz="2000" kern="0" spc="-80" dirty="0">
              <a:solidFill>
                <a:schemeClr val="accent2"/>
              </a:solidFill>
            </a:endParaRPr>
          </a:p>
        </p:txBody>
      </p:sp>
      <p:sp>
        <p:nvSpPr>
          <p:cNvPr id="13" name="object 2">
            <a:extLst>
              <a:ext uri="{FF2B5EF4-FFF2-40B4-BE49-F238E27FC236}">
                <a16:creationId xmlns:a16="http://schemas.microsoft.com/office/drawing/2014/main" id="{A0092FC1-D6B7-2B8E-A189-7EEF5531C529}"/>
              </a:ext>
            </a:extLst>
          </p:cNvPr>
          <p:cNvSpPr txBox="1">
            <a:spLocks/>
          </p:cNvSpPr>
          <p:nvPr/>
        </p:nvSpPr>
        <p:spPr>
          <a:xfrm>
            <a:off x="228600" y="685800"/>
            <a:ext cx="8624937" cy="664797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Core Techniques and Patterns Summary</a:t>
            </a:r>
          </a:p>
          <a:p>
            <a:pPr marL="12700" marR="5080"/>
            <a:r>
              <a:rPr lang="en-US" sz="1500" dirty="0">
                <a:solidFill>
                  <a:schemeClr val="accent1"/>
                </a:solidFill>
                <a:latin typeface="Google Sans"/>
              </a:rPr>
              <a:t>Code Simplicity &amp; Compilers</a:t>
            </a:r>
          </a:p>
          <a:p>
            <a:pPr marL="12700" marR="5080"/>
            <a:r>
              <a:rPr lang="en-US" sz="1500" dirty="0">
                <a:solidFill>
                  <a:schemeClr val="accent2"/>
                </a:solidFill>
                <a:latin typeface="Google Sans"/>
              </a:rPr>
              <a:t>Small Methods:</a:t>
            </a:r>
            <a:r>
              <a:rPr lang="en-US" sz="1500" dirty="0">
                <a:solidFill>
                  <a:schemeClr val="accent6"/>
                </a:solidFill>
                <a:latin typeface="Google Sans"/>
              </a:rPr>
              <a:t> Compilers optimize simple, small methods better than large, complex ones.</a:t>
            </a:r>
          </a:p>
          <a:p>
            <a:pPr marL="12700" marR="5080"/>
            <a:r>
              <a:rPr lang="en-US" sz="1500" dirty="0">
                <a:solidFill>
                  <a:schemeClr val="accent2"/>
                </a:solidFill>
                <a:latin typeface="Google Sans"/>
              </a:rPr>
              <a:t>Clear Separation: </a:t>
            </a:r>
            <a:r>
              <a:rPr lang="en-US" sz="1500" dirty="0">
                <a:solidFill>
                  <a:schemeClr val="accent6"/>
                </a:solidFill>
                <a:latin typeface="Google Sans"/>
              </a:rPr>
              <a:t>Good OO design aids performance by making code easier to optimize. </a:t>
            </a:r>
          </a:p>
          <a:p>
            <a:pPr marL="12700" marR="5080"/>
            <a:r>
              <a:rPr lang="en-US" sz="1500" dirty="0">
                <a:solidFill>
                  <a:schemeClr val="accent1"/>
                </a:solidFill>
                <a:latin typeface="Google Sans"/>
              </a:rPr>
              <a:t>Profile, Don’t Guess</a:t>
            </a:r>
          </a:p>
          <a:p>
            <a:pPr marL="12700" marR="5080"/>
            <a:r>
              <a:rPr lang="en-US" sz="1500" dirty="0">
                <a:solidFill>
                  <a:schemeClr val="accent1"/>
                </a:solidFill>
                <a:latin typeface="Google Sans"/>
              </a:rPr>
              <a:t>Use </a:t>
            </a:r>
            <a:r>
              <a:rPr lang="en-US" sz="1500" dirty="0" err="1">
                <a:solidFill>
                  <a:schemeClr val="accent1"/>
                </a:solidFill>
                <a:latin typeface="Google Sans"/>
              </a:rPr>
              <a:t>tools:</a:t>
            </a:r>
            <a:r>
              <a:rPr lang="en-US" sz="1500" dirty="0" err="1">
                <a:solidFill>
                  <a:schemeClr val="accent6"/>
                </a:solidFill>
                <a:latin typeface="Google Sans"/>
              </a:rPr>
              <a:t>perf</a:t>
            </a:r>
            <a:r>
              <a:rPr lang="en-US" sz="1500" dirty="0">
                <a:solidFill>
                  <a:schemeClr val="accent6"/>
                </a:solidFill>
                <a:latin typeface="Google Sans"/>
              </a:rPr>
              <a:t>, Intel </a:t>
            </a:r>
            <a:r>
              <a:rPr lang="en-US" sz="1500" dirty="0" err="1">
                <a:solidFill>
                  <a:schemeClr val="accent6"/>
                </a:solidFill>
                <a:latin typeface="Google Sans"/>
              </a:rPr>
              <a:t>Vtune</a:t>
            </a:r>
            <a:r>
              <a:rPr lang="en-US" sz="1500" dirty="0">
                <a:solidFill>
                  <a:schemeClr val="accent6"/>
                </a:solidFill>
                <a:latin typeface="Google Sans"/>
              </a:rPr>
              <a:t>, </a:t>
            </a:r>
            <a:r>
              <a:rPr lang="en-US" sz="1500" dirty="0" err="1">
                <a:solidFill>
                  <a:schemeClr val="accent6"/>
                </a:solidFill>
                <a:latin typeface="Google Sans"/>
              </a:rPr>
              <a:t>Flamegraphs</a:t>
            </a:r>
            <a:r>
              <a:rPr lang="en-US" sz="1500" dirty="0">
                <a:solidFill>
                  <a:schemeClr val="accent6"/>
                </a:solidFill>
                <a:latin typeface="Google Sans"/>
              </a:rPr>
              <a:t>, Hardware counters, CPU pipeline stall analysis,</a:t>
            </a:r>
          </a:p>
          <a:p>
            <a:pPr marL="12700" marR="5080"/>
            <a:endParaRPr lang="en-US" sz="1500" dirty="0">
              <a:solidFill>
                <a:schemeClr val="accent6"/>
              </a:solidFill>
              <a:latin typeface="Google Sans"/>
            </a:endParaRPr>
          </a:p>
          <a:p>
            <a:pPr marL="12700" marR="5080"/>
            <a:r>
              <a:rPr lang="en-US" sz="1500" dirty="0">
                <a:solidFill>
                  <a:schemeClr val="accent1"/>
                </a:solidFill>
                <a:latin typeface="Google Sans"/>
              </a:rPr>
              <a:t>C# Specifics for Mechanical Sympathy</a:t>
            </a:r>
          </a:p>
          <a:p>
            <a:pPr marL="12700" marR="5080"/>
            <a:r>
              <a:rPr lang="en-US" sz="1500" dirty="0" err="1">
                <a:solidFill>
                  <a:schemeClr val="accent2"/>
                </a:solidFill>
                <a:latin typeface="Google Sans"/>
              </a:rPr>
              <a:t>System.Runtime.CompilerServices.Unsafe</a:t>
            </a:r>
            <a:r>
              <a:rPr lang="en-US" sz="1500" dirty="0">
                <a:solidFill>
                  <a:schemeClr val="accent2"/>
                </a:solidFill>
                <a:latin typeface="Google Sans"/>
              </a:rPr>
              <a:t>:</a:t>
            </a:r>
            <a:r>
              <a:rPr lang="en-US" sz="1500" dirty="0">
                <a:solidFill>
                  <a:schemeClr val="accent6"/>
                </a:solidFill>
                <a:latin typeface="Google Sans"/>
              </a:rPr>
              <a:t> For low-level, unsafe operations (use with extreme care).</a:t>
            </a:r>
          </a:p>
          <a:p>
            <a:pPr marL="12700" marR="5080"/>
            <a:r>
              <a:rPr lang="en-US" sz="1500" dirty="0" err="1">
                <a:solidFill>
                  <a:schemeClr val="accent2"/>
                </a:solidFill>
                <a:latin typeface="Google Sans"/>
              </a:rPr>
              <a:t>System.Buffers</a:t>
            </a:r>
            <a:r>
              <a:rPr lang="en-US" sz="1500" dirty="0">
                <a:solidFill>
                  <a:schemeClr val="accent2"/>
                </a:solidFill>
                <a:latin typeface="Google Sans"/>
              </a:rPr>
              <a:t> (Span/Memory):</a:t>
            </a:r>
            <a:r>
              <a:rPr lang="en-US" sz="1500" dirty="0">
                <a:solidFill>
                  <a:schemeClr val="accent6"/>
                </a:solidFill>
                <a:latin typeface="Google Sans"/>
              </a:rPr>
              <a:t> For efficient, allocation-free slicing and manipulation.</a:t>
            </a:r>
          </a:p>
          <a:p>
            <a:pPr marL="12700" marR="5080"/>
            <a:r>
              <a:rPr lang="en-US" sz="1500" dirty="0" err="1">
                <a:solidFill>
                  <a:schemeClr val="accent2"/>
                </a:solidFill>
                <a:latin typeface="Google Sans"/>
              </a:rPr>
              <a:t>System.Threading.Channels</a:t>
            </a:r>
            <a:r>
              <a:rPr lang="en-US" sz="1500" dirty="0">
                <a:solidFill>
                  <a:schemeClr val="accent2"/>
                </a:solidFill>
                <a:latin typeface="Google Sans"/>
              </a:rPr>
              <a:t>:</a:t>
            </a:r>
            <a:r>
              <a:rPr lang="en-US" sz="1500" dirty="0">
                <a:solidFill>
                  <a:schemeClr val="accent6"/>
                </a:solidFill>
                <a:latin typeface="Google Sans"/>
              </a:rPr>
              <a:t> High-performance, async-friendly alternatives to traditional queues.</a:t>
            </a:r>
          </a:p>
          <a:p>
            <a:pPr marL="12700" marR="5080"/>
            <a:r>
              <a:rPr lang="en-US" sz="1500" dirty="0" err="1">
                <a:solidFill>
                  <a:schemeClr val="accent2"/>
                </a:solidFill>
                <a:latin typeface="Google Sans"/>
              </a:rPr>
              <a:t>System.Runtime.InteropServices</a:t>
            </a:r>
            <a:r>
              <a:rPr lang="en-US" sz="1500" dirty="0">
                <a:solidFill>
                  <a:schemeClr val="accent2"/>
                </a:solidFill>
                <a:latin typeface="Google Sans"/>
              </a:rPr>
              <a:t>: </a:t>
            </a:r>
            <a:r>
              <a:rPr lang="en-US" sz="1500" dirty="0">
                <a:solidFill>
                  <a:schemeClr val="accent6"/>
                </a:solidFill>
                <a:latin typeface="Google Sans"/>
              </a:rPr>
              <a:t>For interop with unmanaged code (e.g., </a:t>
            </a:r>
            <a:r>
              <a:rPr lang="en-US" sz="1500" dirty="0" err="1">
                <a:solidFill>
                  <a:schemeClr val="accent6"/>
                </a:solidFill>
                <a:latin typeface="Google Sans"/>
              </a:rPr>
              <a:t>Marshal.AllocHGlobal</a:t>
            </a:r>
            <a:r>
              <a:rPr lang="en-US" sz="1500" dirty="0">
                <a:solidFill>
                  <a:schemeClr val="accent6"/>
                </a:solidFill>
                <a:latin typeface="Google Sans"/>
              </a:rPr>
              <a:t>). </a:t>
            </a:r>
          </a:p>
          <a:p>
            <a:pPr marL="12700" marR="5080"/>
            <a:r>
              <a:rPr lang="en-US" sz="1500" dirty="0">
                <a:solidFill>
                  <a:schemeClr val="accent6"/>
                </a:solidFill>
                <a:latin typeface="Google Sans"/>
              </a:rPr>
              <a:t>By applying these, you write code that respects the underlying hardware, leading to significant performance gains in latency-sensitive applications. </a:t>
            </a:r>
          </a:p>
          <a:p>
            <a:pPr marL="12700" marR="5080"/>
            <a:endParaRPr lang="en-US" sz="1500" dirty="0">
              <a:solidFill>
                <a:schemeClr val="accent6"/>
              </a:solidFill>
              <a:latin typeface="Google Sans"/>
            </a:endParaRPr>
          </a:p>
          <a:p>
            <a:pPr marL="12700" marR="5080"/>
            <a:r>
              <a:rPr lang="en-US" sz="2000" dirty="0">
                <a:solidFill>
                  <a:schemeClr val="accent2"/>
                </a:solidFill>
                <a:latin typeface="Google Sans"/>
              </a:rPr>
              <a:t>For Further Exploration</a:t>
            </a:r>
          </a:p>
          <a:p>
            <a:pPr marL="12700" marR="5080"/>
            <a:r>
              <a:rPr lang="en-IN" sz="1500" dirty="0">
                <a:hlinkClick r:id="rId7"/>
              </a:rPr>
              <a:t>Resource Constrained Programming</a:t>
            </a:r>
            <a:endParaRPr lang="en-IN" sz="1500" dirty="0"/>
          </a:p>
          <a:p>
            <a:pPr marL="12700" marR="5080"/>
            <a:r>
              <a:rPr lang="en-US" sz="1500" dirty="0">
                <a:hlinkClick r:id="rId8"/>
              </a:rPr>
              <a:t>Resource Constrained Programming vs Mechanical Sympathy</a:t>
            </a:r>
            <a:endParaRPr lang="en-US" sz="1500" dirty="0"/>
          </a:p>
          <a:p>
            <a:pPr marL="12700" marR="5080"/>
            <a:r>
              <a:rPr lang="en-US" sz="1600" dirty="0">
                <a:hlinkClick r:id="rId9"/>
              </a:rPr>
              <a:t>Mechanical </a:t>
            </a:r>
            <a:r>
              <a:rPr lang="en-US" sz="1600">
                <a:hlinkClick r:id="rId9"/>
              </a:rPr>
              <a:t>Sympathy Resources</a:t>
            </a:r>
            <a:endParaRPr lang="en-US" sz="1500" kern="0" spc="-220" dirty="0">
              <a:solidFill>
                <a:schemeClr val="accent2"/>
              </a:solidFill>
            </a:endParaRPr>
          </a:p>
          <a:p>
            <a:pPr marL="12700" marR="5080"/>
            <a:endParaRPr lang="en-US" sz="1500" dirty="0">
              <a:solidFill>
                <a:schemeClr val="accent2"/>
              </a:solidFill>
              <a:latin typeface="Google Sans"/>
            </a:endParaRPr>
          </a:p>
          <a:p>
            <a:pPr marL="12700" marR="5080"/>
            <a:endParaRPr lang="en-US" sz="1500" dirty="0">
              <a:solidFill>
                <a:schemeClr val="accent6"/>
              </a:solidFill>
              <a:latin typeface="Google Sans"/>
            </a:endParaRPr>
          </a:p>
          <a:p>
            <a:pPr marL="12700" marR="5080"/>
            <a:endParaRPr lang="en-US" sz="1500" dirty="0">
              <a:solidFill>
                <a:schemeClr val="accent6"/>
              </a:solidFill>
              <a:latin typeface="Google Sans"/>
            </a:endParaRPr>
          </a:p>
          <a:p>
            <a:pPr marL="12700" marR="5080"/>
            <a:endParaRPr lang="en-US" sz="1500" dirty="0">
              <a:solidFill>
                <a:schemeClr val="accent6"/>
              </a:solidFill>
              <a:latin typeface="Google Sans"/>
            </a:endParaRPr>
          </a:p>
          <a:p>
            <a:pPr marL="12700" marR="5080"/>
            <a:endParaRPr lang="en-US" sz="1500" dirty="0">
              <a:solidFill>
                <a:schemeClr val="accent6"/>
              </a:solidFill>
              <a:latin typeface="Google Sans"/>
            </a:endParaRPr>
          </a:p>
          <a:p>
            <a:pPr marL="12700" marR="5080"/>
            <a:endParaRPr lang="en-US" sz="1500" dirty="0">
              <a:solidFill>
                <a:schemeClr val="accent6"/>
              </a:solidFill>
              <a:latin typeface="Google Sans"/>
            </a:endParaRPr>
          </a:p>
          <a:p>
            <a:pPr marL="12700" marR="5080"/>
            <a:endParaRPr lang="en-US" sz="1500" dirty="0">
              <a:solidFill>
                <a:schemeClr val="accent6"/>
              </a:solidFill>
              <a:latin typeface="Google Sans"/>
            </a:endParaRPr>
          </a:p>
          <a:p>
            <a:pPr marL="12700" marR="5080"/>
            <a:endParaRPr lang="en-US" sz="1500" dirty="0">
              <a:solidFill>
                <a:schemeClr val="accent6"/>
              </a:solidFill>
              <a:latin typeface="Google Sans"/>
            </a:endParaRPr>
          </a:p>
        </p:txBody>
      </p:sp>
    </p:spTree>
    <p:extLst>
      <p:ext uri="{BB962C8B-B14F-4D97-AF65-F5344CB8AC3E}">
        <p14:creationId xmlns:p14="http://schemas.microsoft.com/office/powerpoint/2010/main" val="975355942"/>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224BC-7EE9-0B02-17E9-4DF81D055AD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BC242FD-2DF1-546C-C445-F2109BB87908}"/>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0B720F2-85C6-BF92-9528-56C578B0597F}"/>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D9D9C30-BD26-AA2E-7642-ACA86E23D616}"/>
              </a:ext>
            </a:extLst>
          </p:cNvPr>
          <p:cNvGraphicFramePr/>
          <p:nvPr>
            <p:extLst>
              <p:ext uri="{D42A27DB-BD31-4B8C-83A1-F6EECF244321}">
                <p14:modId xmlns:p14="http://schemas.microsoft.com/office/powerpoint/2010/main" val="3620442017"/>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27C48FC3-6BCF-1E83-0CAA-B9E3849F2408}"/>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69B54739-0150-FBC7-74FE-7FD6924D11C2}"/>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29190E33-59EE-DAF3-BDB4-FEDF6D6EAFCE}"/>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90DB3411-6EF1-702A-C4C9-443F7EF49468}"/>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9" name="object 2">
            <a:extLst>
              <a:ext uri="{FF2B5EF4-FFF2-40B4-BE49-F238E27FC236}">
                <a16:creationId xmlns:a16="http://schemas.microsoft.com/office/drawing/2014/main" id="{13A43CCF-4A27-8BB3-09B9-68C46E0ACC12}"/>
              </a:ext>
            </a:extLst>
          </p:cNvPr>
          <p:cNvSpPr txBox="1">
            <a:spLocks/>
          </p:cNvSpPr>
          <p:nvPr/>
        </p:nvSpPr>
        <p:spPr>
          <a:xfrm>
            <a:off x="320981" y="1098685"/>
            <a:ext cx="8624937" cy="489364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800" dirty="0">
                <a:solidFill>
                  <a:schemeClr val="accent2"/>
                </a:solidFill>
                <a:latin typeface="Google Sans"/>
              </a:rPr>
              <a:t>Some Low Level Performance Tips for HFT(High Frequency Trading) Systems as an example</a:t>
            </a:r>
          </a:p>
          <a:p>
            <a:r>
              <a:rPr lang="en-US" sz="1700" dirty="0">
                <a:solidFill>
                  <a:schemeClr val="accent2"/>
                </a:solidFill>
                <a:latin typeface="Google Sans"/>
              </a:rPr>
              <a:t>Hot Path Optimizations</a:t>
            </a:r>
          </a:p>
          <a:p>
            <a:r>
              <a:rPr lang="en-US" sz="1500" dirty="0">
                <a:solidFill>
                  <a:schemeClr val="accent2"/>
                </a:solidFill>
                <a:latin typeface="Google Sans"/>
              </a:rPr>
              <a:t>Why hot paths matter</a:t>
            </a:r>
          </a:p>
          <a:p>
            <a:r>
              <a:rPr lang="en-US" sz="1500" dirty="0">
                <a:solidFill>
                  <a:schemeClr val="accent6"/>
                </a:solidFill>
                <a:latin typeface="Google Sans"/>
              </a:rPr>
              <a:t>Optimizing cold code gives you nothing much.</a:t>
            </a:r>
          </a:p>
          <a:p>
            <a:r>
              <a:rPr lang="en-US" sz="1500" dirty="0">
                <a:solidFill>
                  <a:schemeClr val="accent2"/>
                </a:solidFill>
                <a:latin typeface="Google Sans"/>
              </a:rPr>
              <a:t>Optimizing hot paths gives you:</a:t>
            </a:r>
          </a:p>
          <a:p>
            <a:r>
              <a:rPr lang="en-US" sz="1500" dirty="0">
                <a:solidFill>
                  <a:schemeClr val="accent6"/>
                </a:solidFill>
                <a:latin typeface="Google Sans"/>
              </a:rPr>
              <a:t>Lower latency (p50/p99)</a:t>
            </a:r>
          </a:p>
          <a:p>
            <a:r>
              <a:rPr lang="en-US" sz="1500" dirty="0">
                <a:solidFill>
                  <a:schemeClr val="accent6"/>
                </a:solidFill>
                <a:latin typeface="Google Sans"/>
              </a:rPr>
              <a:t>Higher throughput</a:t>
            </a:r>
          </a:p>
          <a:p>
            <a:r>
              <a:rPr lang="en-US" sz="1500" dirty="0">
                <a:solidFill>
                  <a:schemeClr val="accent6"/>
                </a:solidFill>
                <a:latin typeface="Google Sans"/>
              </a:rPr>
              <a:t>Better cache locality</a:t>
            </a:r>
          </a:p>
          <a:p>
            <a:r>
              <a:rPr lang="en-US" sz="1500" dirty="0">
                <a:solidFill>
                  <a:schemeClr val="accent6"/>
                </a:solidFill>
                <a:latin typeface="Google Sans"/>
              </a:rPr>
              <a:t>Less GC pressure</a:t>
            </a:r>
          </a:p>
          <a:p>
            <a:r>
              <a:rPr lang="en-US" sz="1500" dirty="0">
                <a:solidFill>
                  <a:schemeClr val="accent2"/>
                </a:solidFill>
                <a:latin typeface="Google Sans"/>
              </a:rPr>
              <a:t>In HTLT systems, hot path optimization is the whole game.</a:t>
            </a:r>
          </a:p>
          <a:p>
            <a:r>
              <a:rPr lang="en-US" sz="1500" dirty="0">
                <a:solidFill>
                  <a:schemeClr val="accent2"/>
                </a:solidFill>
                <a:latin typeface="Google Sans"/>
              </a:rPr>
              <a:t>Rules of hot path optimization</a:t>
            </a:r>
          </a:p>
          <a:p>
            <a:r>
              <a:rPr lang="en-US" sz="1500" dirty="0">
                <a:solidFill>
                  <a:schemeClr val="accent2"/>
                </a:solidFill>
                <a:latin typeface="Google Sans"/>
              </a:rPr>
              <a:t>1. Measure first</a:t>
            </a:r>
          </a:p>
          <a:p>
            <a:r>
              <a:rPr lang="en-US" sz="1500" dirty="0">
                <a:solidFill>
                  <a:schemeClr val="accent6"/>
                </a:solidFill>
                <a:latin typeface="Google Sans"/>
              </a:rPr>
              <a:t>CPU profiler (</a:t>
            </a:r>
            <a:r>
              <a:rPr lang="en-US" sz="1500" dirty="0" err="1">
                <a:solidFill>
                  <a:schemeClr val="accent6"/>
                </a:solidFill>
                <a:latin typeface="Google Sans"/>
              </a:rPr>
              <a:t>PerfView</a:t>
            </a:r>
            <a:r>
              <a:rPr lang="en-US" sz="1500" dirty="0">
                <a:solidFill>
                  <a:schemeClr val="accent6"/>
                </a:solidFill>
                <a:latin typeface="Google Sans"/>
              </a:rPr>
              <a:t>, dotnet-trace, </a:t>
            </a:r>
            <a:r>
              <a:rPr lang="en-US" sz="1500" dirty="0" err="1">
                <a:solidFill>
                  <a:schemeClr val="accent6"/>
                </a:solidFill>
                <a:latin typeface="Google Sans"/>
              </a:rPr>
              <a:t>VTune</a:t>
            </a:r>
            <a:r>
              <a:rPr lang="en-US" sz="1500" dirty="0">
                <a:solidFill>
                  <a:schemeClr val="accent6"/>
                </a:solidFill>
                <a:latin typeface="Google Sans"/>
              </a:rPr>
              <a:t>)</a:t>
            </a:r>
          </a:p>
          <a:p>
            <a:r>
              <a:rPr lang="en-US" sz="1500" dirty="0">
                <a:solidFill>
                  <a:schemeClr val="accent6"/>
                </a:solidFill>
                <a:latin typeface="Google Sans"/>
              </a:rPr>
              <a:t>Allocation profiler</a:t>
            </a:r>
          </a:p>
          <a:p>
            <a:r>
              <a:rPr lang="en-US" sz="1500" dirty="0">
                <a:solidFill>
                  <a:schemeClr val="accent6"/>
                </a:solidFill>
                <a:latin typeface="Google Sans"/>
              </a:rPr>
              <a:t>Flame graphs</a:t>
            </a:r>
          </a:p>
          <a:p>
            <a:r>
              <a:rPr lang="en-US" sz="1500" dirty="0">
                <a:solidFill>
                  <a:schemeClr val="accent2"/>
                </a:solidFill>
                <a:latin typeface="Google Sans"/>
              </a:rPr>
              <a:t>2. Reduce work</a:t>
            </a:r>
          </a:p>
          <a:p>
            <a:r>
              <a:rPr lang="en-US" sz="1500" dirty="0">
                <a:solidFill>
                  <a:schemeClr val="accent6"/>
                </a:solidFill>
                <a:latin typeface="Google Sans"/>
              </a:rPr>
              <a:t>Fewer branches</a:t>
            </a:r>
          </a:p>
          <a:p>
            <a:r>
              <a:rPr lang="en-US" sz="1500" dirty="0">
                <a:solidFill>
                  <a:schemeClr val="accent6"/>
                </a:solidFill>
                <a:latin typeface="Google Sans"/>
              </a:rPr>
              <a:t>Fewer function calls</a:t>
            </a:r>
          </a:p>
          <a:p>
            <a:r>
              <a:rPr lang="en-US" sz="1500" dirty="0">
                <a:solidFill>
                  <a:schemeClr val="accent6"/>
                </a:solidFill>
                <a:latin typeface="Google Sans"/>
              </a:rPr>
              <a:t>Precompute outside the hot path</a:t>
            </a:r>
          </a:p>
          <a:p>
            <a:r>
              <a:rPr lang="en-US" sz="1500" dirty="0">
                <a:solidFill>
                  <a:schemeClr val="accent2"/>
                </a:solidFill>
                <a:latin typeface="Google Sans"/>
              </a:rPr>
              <a:t>3. Avoid allocations</a:t>
            </a:r>
          </a:p>
          <a:p>
            <a:r>
              <a:rPr lang="en-US" sz="1500" dirty="0">
                <a:solidFill>
                  <a:schemeClr val="accent6"/>
                </a:solidFill>
                <a:latin typeface="Google Sans"/>
              </a:rPr>
              <a:t>struct over class (carefully)</a:t>
            </a:r>
          </a:p>
        </p:txBody>
      </p:sp>
    </p:spTree>
    <p:extLst>
      <p:ext uri="{BB962C8B-B14F-4D97-AF65-F5344CB8AC3E}">
        <p14:creationId xmlns:p14="http://schemas.microsoft.com/office/powerpoint/2010/main" val="2191334225"/>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8E6F5-A38D-FF49-5365-C683118EA07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DE34E23-FD20-081D-48C6-85E99E8CE6DF}"/>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F3A50A1-E7E5-8F3B-DDB4-38C52C6C8682}"/>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A70A23C-F0A9-F526-D52A-B291CEF7DDBE}"/>
              </a:ext>
            </a:extLst>
          </p:cNvPr>
          <p:cNvGraphicFramePr/>
          <p:nvPr>
            <p:extLst>
              <p:ext uri="{D42A27DB-BD31-4B8C-83A1-F6EECF244321}">
                <p14:modId xmlns:p14="http://schemas.microsoft.com/office/powerpoint/2010/main" val="3295503140"/>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63981F6B-BDDF-D6BC-1A96-AE3A3498737A}"/>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E1792034-0133-A3EE-24BC-D433682864DD}"/>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8C32865D-71E0-596F-64F5-5FBF5E0B8B88}"/>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1CF04744-B8CC-C610-E148-194995985494}"/>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9" name="object 2">
            <a:extLst>
              <a:ext uri="{FF2B5EF4-FFF2-40B4-BE49-F238E27FC236}">
                <a16:creationId xmlns:a16="http://schemas.microsoft.com/office/drawing/2014/main" id="{C8AE0230-39E5-21C5-505B-8E2F8DF9EAB0}"/>
              </a:ext>
            </a:extLst>
          </p:cNvPr>
          <p:cNvSpPr txBox="1">
            <a:spLocks/>
          </p:cNvSpPr>
          <p:nvPr/>
        </p:nvSpPr>
        <p:spPr>
          <a:xfrm>
            <a:off x="320981" y="1098685"/>
            <a:ext cx="8624937" cy="489364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800" dirty="0">
                <a:solidFill>
                  <a:schemeClr val="accent2"/>
                </a:solidFill>
                <a:latin typeface="Google Sans"/>
              </a:rPr>
              <a:t>Some Low Level Performance Tips for HFT(High Frequency Trading) Systems as an example</a:t>
            </a:r>
          </a:p>
          <a:p>
            <a:r>
              <a:rPr lang="en-US" sz="1700" dirty="0">
                <a:solidFill>
                  <a:schemeClr val="accent2"/>
                </a:solidFill>
                <a:latin typeface="Google Sans"/>
              </a:rPr>
              <a:t>Hot Path Optimizations</a:t>
            </a:r>
          </a:p>
          <a:p>
            <a:r>
              <a:rPr lang="en-US" sz="1500" dirty="0">
                <a:solidFill>
                  <a:schemeClr val="accent2"/>
                </a:solidFill>
                <a:latin typeface="Google Sans"/>
              </a:rPr>
              <a:t>Rules of hot path optimization</a:t>
            </a:r>
          </a:p>
          <a:p>
            <a:r>
              <a:rPr lang="en-US" sz="1500" dirty="0">
                <a:solidFill>
                  <a:schemeClr val="accent2"/>
                </a:solidFill>
                <a:latin typeface="Google Sans"/>
              </a:rPr>
              <a:t>3. Avoid allocations</a:t>
            </a:r>
          </a:p>
          <a:p>
            <a:r>
              <a:rPr lang="en-US" sz="1500" dirty="0">
                <a:solidFill>
                  <a:schemeClr val="accent6"/>
                </a:solidFill>
                <a:latin typeface="Google Sans"/>
              </a:rPr>
              <a:t>Span&lt;T&gt;, Memory&lt;T&gt;</a:t>
            </a:r>
          </a:p>
          <a:p>
            <a:r>
              <a:rPr lang="en-US" sz="1500" dirty="0">
                <a:solidFill>
                  <a:schemeClr val="accent6"/>
                </a:solidFill>
                <a:latin typeface="Google Sans"/>
              </a:rPr>
              <a:t>Object pooling</a:t>
            </a:r>
          </a:p>
          <a:p>
            <a:r>
              <a:rPr lang="en-US" sz="1500" dirty="0">
                <a:solidFill>
                  <a:schemeClr val="accent6"/>
                </a:solidFill>
                <a:latin typeface="Google Sans"/>
              </a:rPr>
              <a:t>No LINQ, no closures</a:t>
            </a:r>
          </a:p>
          <a:p>
            <a:r>
              <a:rPr lang="en-US" sz="1500" dirty="0">
                <a:solidFill>
                  <a:schemeClr val="accent2"/>
                </a:solidFill>
                <a:latin typeface="Google Sans"/>
              </a:rPr>
              <a:t>4. Cache-friendly</a:t>
            </a:r>
          </a:p>
          <a:p>
            <a:r>
              <a:rPr lang="en-US" sz="1500" dirty="0">
                <a:solidFill>
                  <a:schemeClr val="accent6"/>
                </a:solidFill>
                <a:latin typeface="Google Sans"/>
              </a:rPr>
              <a:t>Tight loops</a:t>
            </a:r>
          </a:p>
          <a:p>
            <a:r>
              <a:rPr lang="en-US" sz="1500" dirty="0">
                <a:solidFill>
                  <a:schemeClr val="accent6"/>
                </a:solidFill>
                <a:latin typeface="Google Sans"/>
              </a:rPr>
              <a:t>Sequential memory access</a:t>
            </a:r>
          </a:p>
          <a:p>
            <a:r>
              <a:rPr lang="en-US" sz="1500" dirty="0">
                <a:solidFill>
                  <a:schemeClr val="accent6"/>
                </a:solidFill>
                <a:latin typeface="Google Sans"/>
              </a:rPr>
              <a:t>Avoid pointer chasing</a:t>
            </a:r>
          </a:p>
          <a:p>
            <a:r>
              <a:rPr lang="en-US" sz="1500" dirty="0">
                <a:solidFill>
                  <a:schemeClr val="accent2"/>
                </a:solidFill>
                <a:latin typeface="Google Sans"/>
              </a:rPr>
              <a:t>5. Predictable execution</a:t>
            </a:r>
          </a:p>
          <a:p>
            <a:r>
              <a:rPr lang="en-US" sz="1500" dirty="0">
                <a:solidFill>
                  <a:schemeClr val="accent6"/>
                </a:solidFill>
                <a:latin typeface="Google Sans"/>
              </a:rPr>
              <a:t>Avoid locks (use lock-free / sharded)</a:t>
            </a:r>
          </a:p>
          <a:p>
            <a:r>
              <a:rPr lang="en-US" sz="1500" dirty="0">
                <a:solidFill>
                  <a:schemeClr val="accent6"/>
                </a:solidFill>
                <a:latin typeface="Google Sans"/>
              </a:rPr>
              <a:t>Avoid exceptions</a:t>
            </a:r>
          </a:p>
          <a:p>
            <a:r>
              <a:rPr lang="en-US" sz="1500" dirty="0">
                <a:solidFill>
                  <a:schemeClr val="accent6"/>
                </a:solidFill>
                <a:latin typeface="Google Sans"/>
              </a:rPr>
              <a:t>Avoid virtual dispatch</a:t>
            </a:r>
          </a:p>
          <a:p>
            <a:r>
              <a:rPr lang="en-US" sz="1500" dirty="0">
                <a:solidFill>
                  <a:schemeClr val="accent2"/>
                </a:solidFill>
                <a:latin typeface="Google Sans"/>
              </a:rPr>
              <a:t>Hot path vs Cold path</a:t>
            </a:r>
          </a:p>
          <a:p>
            <a:r>
              <a:rPr lang="en-US" sz="1500" dirty="0">
                <a:solidFill>
                  <a:schemeClr val="accent2"/>
                </a:solidFill>
                <a:latin typeface="Google Sans"/>
              </a:rPr>
              <a:t>Hot Path	                                                        Cold Path</a:t>
            </a:r>
          </a:p>
          <a:p>
            <a:r>
              <a:rPr lang="en-US" sz="1500" dirty="0">
                <a:solidFill>
                  <a:schemeClr val="accent6"/>
                </a:solidFill>
                <a:latin typeface="Google Sans"/>
              </a:rPr>
              <a:t>Runs millions of times	                                   Runs rarely</a:t>
            </a:r>
          </a:p>
          <a:p>
            <a:r>
              <a:rPr lang="en-US" sz="1500" dirty="0">
                <a:solidFill>
                  <a:schemeClr val="accent6"/>
                </a:solidFill>
                <a:latin typeface="Google Sans"/>
              </a:rPr>
              <a:t>Optimized aggressively	                                   Readability &gt; performance</a:t>
            </a:r>
          </a:p>
          <a:p>
            <a:r>
              <a:rPr lang="en-US" sz="1500" dirty="0">
                <a:solidFill>
                  <a:schemeClr val="accent6"/>
                </a:solidFill>
                <a:latin typeface="Google Sans"/>
              </a:rPr>
              <a:t>Low-level, ugly code allowed	             Clean, expressive code</a:t>
            </a:r>
          </a:p>
          <a:p>
            <a:r>
              <a:rPr lang="en-US" sz="1500" dirty="0">
                <a:solidFill>
                  <a:schemeClr val="accent6"/>
                </a:solidFill>
                <a:latin typeface="Google Sans"/>
              </a:rPr>
              <a:t>No logging	                                                        Logging OK</a:t>
            </a:r>
          </a:p>
        </p:txBody>
      </p:sp>
    </p:spTree>
    <p:extLst>
      <p:ext uri="{BB962C8B-B14F-4D97-AF65-F5344CB8AC3E}">
        <p14:creationId xmlns:p14="http://schemas.microsoft.com/office/powerpoint/2010/main" val="3626004944"/>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296EC-7732-CC87-809C-0D0EC62681D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7049BBE-6144-F9BB-EFE1-12BD1CA84AB5}"/>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F1660B8-6A3B-4C47-6908-E275BFEAA942}"/>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EA6C85D-FCFF-674E-AA01-EF86F2364657}"/>
              </a:ext>
            </a:extLst>
          </p:cNvPr>
          <p:cNvGraphicFramePr/>
          <p:nvPr>
            <p:extLst>
              <p:ext uri="{D42A27DB-BD31-4B8C-83A1-F6EECF244321}">
                <p14:modId xmlns:p14="http://schemas.microsoft.com/office/powerpoint/2010/main" val="2758105832"/>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B5971024-71AF-65AF-FC99-D2B1A3FC623A}"/>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143D05C7-6C77-F1BC-05C4-EE0B8D7F59C0}"/>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B5C40790-B4A8-AC0D-EF3C-182FEF00382E}"/>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EA73C0EA-4F6E-97E2-FF5C-EC4229C6630A}"/>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9" name="object 2">
            <a:extLst>
              <a:ext uri="{FF2B5EF4-FFF2-40B4-BE49-F238E27FC236}">
                <a16:creationId xmlns:a16="http://schemas.microsoft.com/office/drawing/2014/main" id="{32C8CE38-C0E8-78C0-11DB-A88A77F96014}"/>
              </a:ext>
            </a:extLst>
          </p:cNvPr>
          <p:cNvSpPr txBox="1">
            <a:spLocks/>
          </p:cNvSpPr>
          <p:nvPr/>
        </p:nvSpPr>
        <p:spPr>
          <a:xfrm>
            <a:off x="320981" y="1098685"/>
            <a:ext cx="8624937" cy="30777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800" dirty="0">
                <a:solidFill>
                  <a:schemeClr val="accent2"/>
                </a:solidFill>
                <a:latin typeface="Google Sans"/>
              </a:rPr>
              <a:t>Some Low Level Performance Tips for HFT(High Frequency Trading) Systems as an example</a:t>
            </a:r>
          </a:p>
          <a:p>
            <a:r>
              <a:rPr lang="en-US" sz="1700" dirty="0">
                <a:solidFill>
                  <a:schemeClr val="accent2"/>
                </a:solidFill>
                <a:latin typeface="Google Sans"/>
              </a:rPr>
              <a:t>Hot Path Optimizations</a:t>
            </a:r>
          </a:p>
          <a:p>
            <a:r>
              <a:rPr lang="en-US" sz="1500" dirty="0">
                <a:solidFill>
                  <a:schemeClr val="accent2"/>
                </a:solidFill>
                <a:latin typeface="Google Sans"/>
              </a:rPr>
              <a:t>Golden rule:</a:t>
            </a:r>
          </a:p>
          <a:p>
            <a:r>
              <a:rPr lang="en-US" sz="1500" dirty="0">
                <a:solidFill>
                  <a:schemeClr val="accent6"/>
                </a:solidFill>
                <a:latin typeface="Google Sans"/>
              </a:rPr>
              <a:t>Write clean code everywhere — except the hot path.</a:t>
            </a:r>
          </a:p>
          <a:p>
            <a:r>
              <a:rPr lang="en-US" sz="1500" dirty="0">
                <a:solidFill>
                  <a:schemeClr val="accent2"/>
                </a:solidFill>
                <a:latin typeface="Google Sans"/>
              </a:rPr>
              <a:t>In .NET specifically</a:t>
            </a:r>
          </a:p>
          <a:p>
            <a:r>
              <a:rPr lang="en-US" sz="1500" dirty="0">
                <a:solidFill>
                  <a:schemeClr val="accent2"/>
                </a:solidFill>
                <a:latin typeface="Google Sans"/>
              </a:rPr>
              <a:t>Hot path techniques include:</a:t>
            </a:r>
          </a:p>
          <a:p>
            <a:r>
              <a:rPr lang="en-US" sz="1500" dirty="0">
                <a:solidFill>
                  <a:schemeClr val="accent6"/>
                </a:solidFill>
                <a:latin typeface="Google Sans"/>
              </a:rPr>
              <a:t>Tiered JIT awareness</a:t>
            </a:r>
          </a:p>
          <a:p>
            <a:r>
              <a:rPr lang="en-US" sz="1500" dirty="0" err="1">
                <a:solidFill>
                  <a:schemeClr val="accent6"/>
                </a:solidFill>
                <a:latin typeface="Google Sans"/>
              </a:rPr>
              <a:t>Devirtualization</a:t>
            </a:r>
            <a:endParaRPr lang="en-US" sz="1500" dirty="0">
              <a:solidFill>
                <a:schemeClr val="accent6"/>
              </a:solidFill>
              <a:latin typeface="Google Sans"/>
            </a:endParaRPr>
          </a:p>
          <a:p>
            <a:r>
              <a:rPr lang="en-US" sz="1500" dirty="0">
                <a:solidFill>
                  <a:schemeClr val="accent6"/>
                </a:solidFill>
                <a:latin typeface="Google Sans"/>
              </a:rPr>
              <a:t>Aggressive inlining</a:t>
            </a:r>
          </a:p>
          <a:p>
            <a:r>
              <a:rPr lang="en-US" sz="1500" dirty="0" err="1">
                <a:solidFill>
                  <a:schemeClr val="accent6"/>
                </a:solidFill>
                <a:latin typeface="Google Sans"/>
              </a:rPr>
              <a:t>MethodImplOptions.AggressiveInlining</a:t>
            </a:r>
            <a:endParaRPr lang="en-US" sz="1500" dirty="0">
              <a:solidFill>
                <a:schemeClr val="accent6"/>
              </a:solidFill>
              <a:latin typeface="Google Sans"/>
            </a:endParaRPr>
          </a:p>
          <a:p>
            <a:r>
              <a:rPr lang="en-US" sz="1500" dirty="0">
                <a:solidFill>
                  <a:schemeClr val="accent6"/>
                </a:solidFill>
                <a:latin typeface="Google Sans"/>
              </a:rPr>
              <a:t>Avoiding async state machines</a:t>
            </a:r>
          </a:p>
          <a:p>
            <a:r>
              <a:rPr lang="en-US" sz="1500" dirty="0">
                <a:solidFill>
                  <a:schemeClr val="accent6"/>
                </a:solidFill>
                <a:latin typeface="Google Sans"/>
              </a:rPr>
              <a:t>Using </a:t>
            </a:r>
            <a:r>
              <a:rPr lang="en-US" sz="1500" dirty="0" err="1">
                <a:solidFill>
                  <a:schemeClr val="accent6"/>
                </a:solidFill>
                <a:latin typeface="Google Sans"/>
              </a:rPr>
              <a:t>ValueTask</a:t>
            </a:r>
            <a:r>
              <a:rPr lang="en-US" sz="1500" dirty="0">
                <a:solidFill>
                  <a:schemeClr val="accent6"/>
                </a:solidFill>
                <a:latin typeface="Google Sans"/>
              </a:rPr>
              <a:t> carefully</a:t>
            </a:r>
          </a:p>
          <a:p>
            <a:r>
              <a:rPr lang="en-US" sz="1500" dirty="0">
                <a:solidFill>
                  <a:schemeClr val="accent6"/>
                </a:solidFill>
                <a:latin typeface="Google Sans"/>
              </a:rPr>
              <a:t>Pinning down allocations</a:t>
            </a:r>
          </a:p>
        </p:txBody>
      </p:sp>
    </p:spTree>
    <p:extLst>
      <p:ext uri="{BB962C8B-B14F-4D97-AF65-F5344CB8AC3E}">
        <p14:creationId xmlns:p14="http://schemas.microsoft.com/office/powerpoint/2010/main" val="2590874609"/>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E96BE-2DEB-ABA8-9100-E7C24BF6C3B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D840E99-7CDE-6CA2-9988-593327178D58}"/>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87E7FF0-653C-5ACF-F111-835416B24ED8}"/>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CECF080-3E40-93CE-9C01-2CCE217D9A70}"/>
              </a:ext>
            </a:extLst>
          </p:cNvPr>
          <p:cNvGraphicFramePr/>
          <p:nvPr>
            <p:extLst>
              <p:ext uri="{D42A27DB-BD31-4B8C-83A1-F6EECF244321}">
                <p14:modId xmlns:p14="http://schemas.microsoft.com/office/powerpoint/2010/main" val="2808998884"/>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0776E474-2D1C-A0EA-B832-F6D54C3938C7}"/>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E0896EDF-6575-2C18-5B09-05B90C68BA91}"/>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8CA44FB4-20DF-510C-C4F7-A3A0FFBF8A59}"/>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D2D59C63-A22C-82EF-EDC6-882F72D6AA62}"/>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9" name="object 2">
            <a:extLst>
              <a:ext uri="{FF2B5EF4-FFF2-40B4-BE49-F238E27FC236}">
                <a16:creationId xmlns:a16="http://schemas.microsoft.com/office/drawing/2014/main" id="{B8A21EB4-BFA0-4B7F-3EBE-D31BC93B2B9F}"/>
              </a:ext>
            </a:extLst>
          </p:cNvPr>
          <p:cNvSpPr txBox="1">
            <a:spLocks/>
          </p:cNvSpPr>
          <p:nvPr/>
        </p:nvSpPr>
        <p:spPr>
          <a:xfrm>
            <a:off x="320981" y="1098685"/>
            <a:ext cx="8624937" cy="489364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800" dirty="0">
                <a:solidFill>
                  <a:schemeClr val="accent2"/>
                </a:solidFill>
                <a:latin typeface="Google Sans"/>
              </a:rPr>
              <a:t>Some Low Level Performance Tips for HFT(High Frequency Trading) Systems as an example</a:t>
            </a:r>
          </a:p>
          <a:p>
            <a:r>
              <a:rPr lang="en-US" sz="1700" dirty="0">
                <a:solidFill>
                  <a:schemeClr val="accent2"/>
                </a:solidFill>
                <a:latin typeface="Google Sans"/>
              </a:rPr>
              <a:t> Runtime &amp; CLR Configuration</a:t>
            </a:r>
          </a:p>
          <a:p>
            <a:r>
              <a:rPr lang="en-US" sz="1500" dirty="0">
                <a:solidFill>
                  <a:schemeClr val="accent2"/>
                </a:solidFill>
                <a:latin typeface="Google Sans"/>
              </a:rPr>
              <a:t>✅ Use</a:t>
            </a:r>
          </a:p>
          <a:p>
            <a:r>
              <a:rPr lang="en-US" sz="1500" dirty="0">
                <a:solidFill>
                  <a:schemeClr val="accent2"/>
                </a:solidFill>
                <a:latin typeface="Google Sans"/>
              </a:rPr>
              <a:t>.NET 8+ (LTS)</a:t>
            </a:r>
          </a:p>
          <a:p>
            <a:r>
              <a:rPr lang="en-US" sz="1500" dirty="0">
                <a:solidFill>
                  <a:schemeClr val="accent2"/>
                </a:solidFill>
                <a:latin typeface="Google Sans"/>
              </a:rPr>
              <a:t>Why:</a:t>
            </a:r>
          </a:p>
          <a:p>
            <a:r>
              <a:rPr lang="en-US" sz="1500" dirty="0">
                <a:solidFill>
                  <a:schemeClr val="accent6"/>
                </a:solidFill>
                <a:latin typeface="Google Sans"/>
              </a:rPr>
              <a:t>Tiered PGO</a:t>
            </a:r>
          </a:p>
          <a:p>
            <a:r>
              <a:rPr lang="en-US" sz="1500" dirty="0">
                <a:solidFill>
                  <a:schemeClr val="accent6"/>
                </a:solidFill>
                <a:latin typeface="Google Sans"/>
              </a:rPr>
              <a:t>Faster GC</a:t>
            </a:r>
          </a:p>
          <a:p>
            <a:r>
              <a:rPr lang="en-US" sz="1500" dirty="0">
                <a:solidFill>
                  <a:schemeClr val="accent6"/>
                </a:solidFill>
                <a:latin typeface="Google Sans"/>
              </a:rPr>
              <a:t>Better Span / intrinsics</a:t>
            </a:r>
          </a:p>
          <a:p>
            <a:r>
              <a:rPr lang="en-US" sz="1500" dirty="0">
                <a:solidFill>
                  <a:schemeClr val="accent6"/>
                </a:solidFill>
                <a:latin typeface="Google Sans"/>
              </a:rPr>
              <a:t>Improved </a:t>
            </a:r>
            <a:r>
              <a:rPr lang="en-US" sz="1500" dirty="0" err="1">
                <a:solidFill>
                  <a:schemeClr val="accent6"/>
                </a:solidFill>
                <a:latin typeface="Google Sans"/>
              </a:rPr>
              <a:t>ThreadPool</a:t>
            </a:r>
            <a:r>
              <a:rPr lang="en-US" sz="1500" dirty="0">
                <a:solidFill>
                  <a:schemeClr val="accent6"/>
                </a:solidFill>
                <a:latin typeface="Google Sans"/>
              </a:rPr>
              <a:t> heuristics</a:t>
            </a:r>
          </a:p>
          <a:p>
            <a:endParaRPr lang="en-US" sz="1500" dirty="0">
              <a:solidFill>
                <a:schemeClr val="accent6"/>
              </a:solidFill>
              <a:latin typeface="Google Sans"/>
            </a:endParaRPr>
          </a:p>
          <a:p>
            <a:r>
              <a:rPr lang="en-US" sz="1500" dirty="0">
                <a:solidFill>
                  <a:schemeClr val="accent2"/>
                </a:solidFill>
                <a:latin typeface="Google Sans"/>
              </a:rPr>
              <a:t>🔧 CLR Settings (critical)</a:t>
            </a:r>
          </a:p>
          <a:p>
            <a:r>
              <a:rPr lang="en-US" sz="1500" dirty="0">
                <a:solidFill>
                  <a:schemeClr val="accent6"/>
                </a:solidFill>
                <a:latin typeface="Google Sans"/>
              </a:rPr>
              <a:t>{</a:t>
            </a:r>
          </a:p>
          <a:p>
            <a:r>
              <a:rPr lang="en-US" sz="1500" dirty="0">
                <a:solidFill>
                  <a:schemeClr val="accent6"/>
                </a:solidFill>
                <a:latin typeface="Google Sans"/>
              </a:rPr>
              <a:t>  "</a:t>
            </a:r>
            <a:r>
              <a:rPr lang="en-US" sz="1500" dirty="0" err="1">
                <a:solidFill>
                  <a:schemeClr val="accent6"/>
                </a:solidFill>
                <a:latin typeface="Google Sans"/>
              </a:rPr>
              <a:t>runtimeOptions</a:t>
            </a:r>
            <a:r>
              <a:rPr lang="en-US" sz="1500" dirty="0">
                <a:solidFill>
                  <a:schemeClr val="accent6"/>
                </a:solidFill>
                <a:latin typeface="Google Sans"/>
              </a:rPr>
              <a:t>": {</a:t>
            </a:r>
          </a:p>
          <a:p>
            <a:r>
              <a:rPr lang="en-US" sz="1500" dirty="0">
                <a:solidFill>
                  <a:schemeClr val="accent6"/>
                </a:solidFill>
                <a:latin typeface="Google Sans"/>
              </a:rPr>
              <a:t>    "</a:t>
            </a:r>
            <a:r>
              <a:rPr lang="en-US" sz="1500" dirty="0" err="1">
                <a:solidFill>
                  <a:schemeClr val="accent6"/>
                </a:solidFill>
                <a:latin typeface="Google Sans"/>
              </a:rPr>
              <a:t>configProperties</a:t>
            </a:r>
            <a:r>
              <a:rPr lang="en-US" sz="1500" dirty="0">
                <a:solidFill>
                  <a:schemeClr val="accent6"/>
                </a:solidFill>
                <a:latin typeface="Google Sans"/>
              </a:rPr>
              <a:t>": {</a:t>
            </a:r>
          </a:p>
          <a:p>
            <a:r>
              <a:rPr lang="en-US" sz="1500" dirty="0">
                <a:solidFill>
                  <a:schemeClr val="accent6"/>
                </a:solidFill>
                <a:latin typeface="Google Sans"/>
              </a:rPr>
              <a:t>      "</a:t>
            </a:r>
            <a:r>
              <a:rPr lang="en-US" sz="1500" dirty="0" err="1">
                <a:solidFill>
                  <a:schemeClr val="accent6"/>
                </a:solidFill>
                <a:latin typeface="Google Sans"/>
              </a:rPr>
              <a:t>System.GC.Server</a:t>
            </a:r>
            <a:r>
              <a:rPr lang="en-US" sz="1500" dirty="0">
                <a:solidFill>
                  <a:schemeClr val="accent6"/>
                </a:solidFill>
                <a:latin typeface="Google Sans"/>
              </a:rPr>
              <a:t>": true,</a:t>
            </a:r>
          </a:p>
          <a:p>
            <a:r>
              <a:rPr lang="en-US" sz="1500" dirty="0">
                <a:solidFill>
                  <a:schemeClr val="accent6"/>
                </a:solidFill>
                <a:latin typeface="Google Sans"/>
              </a:rPr>
              <a:t>      "</a:t>
            </a:r>
            <a:r>
              <a:rPr lang="en-US" sz="1500" dirty="0" err="1">
                <a:solidFill>
                  <a:schemeClr val="accent6"/>
                </a:solidFill>
                <a:latin typeface="Google Sans"/>
              </a:rPr>
              <a:t>System.GC.Concurrent</a:t>
            </a:r>
            <a:r>
              <a:rPr lang="en-US" sz="1500" dirty="0">
                <a:solidFill>
                  <a:schemeClr val="accent6"/>
                </a:solidFill>
                <a:latin typeface="Google Sans"/>
              </a:rPr>
              <a:t>": true,</a:t>
            </a:r>
          </a:p>
          <a:p>
            <a:r>
              <a:rPr lang="en-US" sz="1500" dirty="0">
                <a:solidFill>
                  <a:schemeClr val="accent6"/>
                </a:solidFill>
                <a:latin typeface="Google Sans"/>
              </a:rPr>
              <a:t>      "</a:t>
            </a:r>
            <a:r>
              <a:rPr lang="en-US" sz="1500" dirty="0" err="1">
                <a:solidFill>
                  <a:schemeClr val="accent6"/>
                </a:solidFill>
                <a:latin typeface="Google Sans"/>
              </a:rPr>
              <a:t>System.GC.RetainVM</a:t>
            </a:r>
            <a:r>
              <a:rPr lang="en-US" sz="1500" dirty="0">
                <a:solidFill>
                  <a:schemeClr val="accent6"/>
                </a:solidFill>
                <a:latin typeface="Google Sans"/>
              </a:rPr>
              <a:t>": true,</a:t>
            </a:r>
          </a:p>
          <a:p>
            <a:r>
              <a:rPr lang="en-US" sz="1500" dirty="0">
                <a:solidFill>
                  <a:schemeClr val="accent6"/>
                </a:solidFill>
                <a:latin typeface="Google Sans"/>
              </a:rPr>
              <a:t>      "</a:t>
            </a:r>
            <a:r>
              <a:rPr lang="en-US" sz="1500" dirty="0" err="1">
                <a:solidFill>
                  <a:schemeClr val="accent6"/>
                </a:solidFill>
                <a:latin typeface="Google Sans"/>
              </a:rPr>
              <a:t>System.Threading.ThreadPool.MinThreads</a:t>
            </a:r>
            <a:r>
              <a:rPr lang="en-US" sz="1500" dirty="0">
                <a:solidFill>
                  <a:schemeClr val="accent6"/>
                </a:solidFill>
                <a:latin typeface="Google Sans"/>
              </a:rPr>
              <a:t>": 64</a:t>
            </a:r>
          </a:p>
          <a:p>
            <a:r>
              <a:rPr lang="en-US" sz="1500" dirty="0">
                <a:solidFill>
                  <a:schemeClr val="accent6"/>
                </a:solidFill>
                <a:latin typeface="Google Sans"/>
              </a:rPr>
              <a:t>    }</a:t>
            </a:r>
          </a:p>
          <a:p>
            <a:r>
              <a:rPr lang="en-US" sz="1500" dirty="0">
                <a:solidFill>
                  <a:schemeClr val="accent6"/>
                </a:solidFill>
                <a:latin typeface="Google Sans"/>
              </a:rPr>
              <a:t>  }</a:t>
            </a:r>
          </a:p>
          <a:p>
            <a:r>
              <a:rPr lang="en-US" sz="1500" dirty="0">
                <a:solidFill>
                  <a:schemeClr val="accent6"/>
                </a:solidFill>
                <a:latin typeface="Google Sans"/>
              </a:rPr>
              <a:t>}</a:t>
            </a:r>
            <a:endParaRPr lang="en-US" sz="1500" dirty="0">
              <a:solidFill>
                <a:schemeClr val="accent2"/>
              </a:solidFill>
              <a:latin typeface="Google Sans"/>
            </a:endParaRPr>
          </a:p>
        </p:txBody>
      </p:sp>
    </p:spTree>
    <p:extLst>
      <p:ext uri="{BB962C8B-B14F-4D97-AF65-F5344CB8AC3E}">
        <p14:creationId xmlns:p14="http://schemas.microsoft.com/office/powerpoint/2010/main" val="4217886382"/>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9C524-206D-2C2B-050B-02290E86A5E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64BF1A6-2942-4E26-14E9-498A9C288707}"/>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39C70B7-B943-66BD-2EF1-CB37E4AF55CC}"/>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6B77310-8C58-FD72-8695-3EB4CE54C285}"/>
              </a:ext>
            </a:extLst>
          </p:cNvPr>
          <p:cNvGraphicFramePr/>
          <p:nvPr>
            <p:extLst>
              <p:ext uri="{D42A27DB-BD31-4B8C-83A1-F6EECF244321}">
                <p14:modId xmlns:p14="http://schemas.microsoft.com/office/powerpoint/2010/main" val="2948161132"/>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9D847EF6-83C0-13DD-C793-DA0D0A7E5574}"/>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197ED27F-7118-5BD8-9D75-E8A34B8F6085}"/>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75F0AFE3-DF2E-4030-DD18-B14D5C8CF479}"/>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6AECE765-F716-FEFF-A7DE-2CD1C284F61C}"/>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9" name="object 2">
            <a:extLst>
              <a:ext uri="{FF2B5EF4-FFF2-40B4-BE49-F238E27FC236}">
                <a16:creationId xmlns:a16="http://schemas.microsoft.com/office/drawing/2014/main" id="{A9DEDEBA-A5B5-D7E9-15B4-AF91EB186686}"/>
              </a:ext>
            </a:extLst>
          </p:cNvPr>
          <p:cNvSpPr txBox="1">
            <a:spLocks/>
          </p:cNvSpPr>
          <p:nvPr/>
        </p:nvSpPr>
        <p:spPr>
          <a:xfrm>
            <a:off x="320981" y="1098685"/>
            <a:ext cx="8624937" cy="426270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800" dirty="0">
                <a:solidFill>
                  <a:schemeClr val="accent2"/>
                </a:solidFill>
                <a:latin typeface="Google Sans"/>
              </a:rPr>
              <a:t>Some Low Level Performance Tips for HFT(High Frequency Trading) Systems as an example</a:t>
            </a:r>
          </a:p>
          <a:p>
            <a:r>
              <a:rPr lang="en-US" sz="1700" dirty="0">
                <a:solidFill>
                  <a:schemeClr val="accent2"/>
                </a:solidFill>
                <a:latin typeface="Google Sans"/>
              </a:rPr>
              <a:t>Runtime &amp; CLR Configuration</a:t>
            </a:r>
          </a:p>
          <a:p>
            <a:r>
              <a:rPr lang="en-US" sz="1500" dirty="0">
                <a:solidFill>
                  <a:schemeClr val="accent2"/>
                </a:solidFill>
                <a:latin typeface="Google Sans"/>
              </a:rPr>
              <a:t>🔧 CLR Settings (critical)</a:t>
            </a:r>
          </a:p>
          <a:p>
            <a:r>
              <a:rPr lang="en-US" sz="1500" dirty="0">
                <a:solidFill>
                  <a:schemeClr val="accent2"/>
                </a:solidFill>
                <a:latin typeface="Google Sans"/>
              </a:rPr>
              <a:t>Rationale</a:t>
            </a:r>
          </a:p>
          <a:p>
            <a:r>
              <a:rPr lang="en-US" sz="1500" dirty="0">
                <a:solidFill>
                  <a:schemeClr val="accent6"/>
                </a:solidFill>
                <a:latin typeface="Google Sans"/>
              </a:rPr>
              <a:t>Server GC → dedicated GC threads per core</a:t>
            </a:r>
          </a:p>
          <a:p>
            <a:r>
              <a:rPr lang="en-US" sz="1500" dirty="0" err="1">
                <a:solidFill>
                  <a:schemeClr val="accent6"/>
                </a:solidFill>
                <a:latin typeface="Google Sans"/>
              </a:rPr>
              <a:t>RetainVM</a:t>
            </a:r>
            <a:r>
              <a:rPr lang="en-US" sz="1500" dirty="0">
                <a:solidFill>
                  <a:schemeClr val="accent6"/>
                </a:solidFill>
                <a:latin typeface="Google Sans"/>
              </a:rPr>
              <a:t> → prevents heap shrink = stable memory layout</a:t>
            </a:r>
          </a:p>
          <a:p>
            <a:r>
              <a:rPr lang="en-US" sz="1500" dirty="0">
                <a:solidFill>
                  <a:schemeClr val="accent6"/>
                </a:solidFill>
                <a:latin typeface="Google Sans"/>
              </a:rPr>
              <a:t>Pre-warming </a:t>
            </a:r>
            <a:r>
              <a:rPr lang="en-US" sz="1500" dirty="0" err="1">
                <a:solidFill>
                  <a:schemeClr val="accent6"/>
                </a:solidFill>
                <a:latin typeface="Google Sans"/>
              </a:rPr>
              <a:t>ThreadPool</a:t>
            </a:r>
            <a:r>
              <a:rPr lang="en-US" sz="1500" dirty="0">
                <a:solidFill>
                  <a:schemeClr val="accent6"/>
                </a:solidFill>
                <a:latin typeface="Google Sans"/>
              </a:rPr>
              <a:t> avoids first-burst latency spikes</a:t>
            </a:r>
          </a:p>
          <a:p>
            <a:endParaRPr lang="en-US" sz="1500" dirty="0">
              <a:solidFill>
                <a:schemeClr val="accent6"/>
              </a:solidFill>
              <a:latin typeface="Google Sans"/>
            </a:endParaRPr>
          </a:p>
          <a:p>
            <a:r>
              <a:rPr lang="en-US" sz="1700" dirty="0">
                <a:solidFill>
                  <a:schemeClr val="accent2"/>
                </a:solidFill>
                <a:latin typeface="Google Sans"/>
              </a:rPr>
              <a:t>Memory &amp; GC Discipline (The Heart of HFT)</a:t>
            </a:r>
          </a:p>
          <a:p>
            <a:r>
              <a:rPr lang="en-US" sz="1500" dirty="0">
                <a:solidFill>
                  <a:schemeClr val="accent2"/>
                </a:solidFill>
                <a:latin typeface="Google Sans"/>
              </a:rPr>
              <a:t>Golden Rule</a:t>
            </a:r>
          </a:p>
          <a:p>
            <a:r>
              <a:rPr lang="en-US" sz="1500" dirty="0">
                <a:solidFill>
                  <a:schemeClr val="accent2"/>
                </a:solidFill>
                <a:latin typeface="Google Sans"/>
              </a:rPr>
              <a:t>Allocation = latency bomb</a:t>
            </a:r>
          </a:p>
          <a:p>
            <a:r>
              <a:rPr lang="en-US" sz="1500" dirty="0">
                <a:solidFill>
                  <a:schemeClr val="accent2"/>
                </a:solidFill>
                <a:latin typeface="Google Sans"/>
              </a:rPr>
              <a:t>🚫 Avoid at all costs</a:t>
            </a:r>
          </a:p>
          <a:p>
            <a:r>
              <a:rPr lang="en-US" sz="1500" dirty="0">
                <a:solidFill>
                  <a:schemeClr val="accent6"/>
                </a:solidFill>
                <a:latin typeface="Google Sans"/>
              </a:rPr>
              <a:t>new in hot paths</a:t>
            </a:r>
          </a:p>
          <a:p>
            <a:r>
              <a:rPr lang="en-US" sz="1500" dirty="0">
                <a:solidFill>
                  <a:schemeClr val="accent6"/>
                </a:solidFill>
                <a:latin typeface="Google Sans"/>
              </a:rPr>
              <a:t>LINQ</a:t>
            </a:r>
          </a:p>
          <a:p>
            <a:r>
              <a:rPr lang="en-US" sz="1500" dirty="0">
                <a:solidFill>
                  <a:schemeClr val="accent6"/>
                </a:solidFill>
                <a:latin typeface="Google Sans"/>
              </a:rPr>
              <a:t>string manipulation</a:t>
            </a:r>
          </a:p>
          <a:p>
            <a:r>
              <a:rPr lang="en-US" sz="1500" dirty="0">
                <a:solidFill>
                  <a:schemeClr val="accent6"/>
                </a:solidFill>
                <a:latin typeface="Google Sans"/>
              </a:rPr>
              <a:t>object boxing</a:t>
            </a:r>
          </a:p>
          <a:p>
            <a:r>
              <a:rPr lang="en-US" sz="1500" dirty="0">
                <a:solidFill>
                  <a:schemeClr val="accent6"/>
                </a:solidFill>
                <a:latin typeface="Google Sans"/>
              </a:rPr>
              <a:t>Exceptions as control flow</a:t>
            </a:r>
          </a:p>
          <a:p>
            <a:r>
              <a:rPr lang="en-US" sz="1500" dirty="0">
                <a:solidFill>
                  <a:schemeClr val="accent6"/>
                </a:solidFill>
                <a:latin typeface="Google Sans"/>
              </a:rPr>
              <a:t>Use various Allocation Free Patterns in .NET</a:t>
            </a:r>
          </a:p>
        </p:txBody>
      </p:sp>
    </p:spTree>
    <p:extLst>
      <p:ext uri="{BB962C8B-B14F-4D97-AF65-F5344CB8AC3E}">
        <p14:creationId xmlns:p14="http://schemas.microsoft.com/office/powerpoint/2010/main" val="3776198739"/>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ED972-F433-9E4D-4CF8-3BDC77E2393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6FB474B-17B6-6B39-7B12-2FDA0478C468}"/>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2C121EC-5D68-5EC6-32A6-F75EE909847B}"/>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28AC88F-1C41-939B-2956-19573FC16FAF}"/>
              </a:ext>
            </a:extLst>
          </p:cNvPr>
          <p:cNvGraphicFramePr/>
          <p:nvPr>
            <p:extLst>
              <p:ext uri="{D42A27DB-BD31-4B8C-83A1-F6EECF244321}">
                <p14:modId xmlns:p14="http://schemas.microsoft.com/office/powerpoint/2010/main" val="3601553507"/>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06DB0FF-6217-BBAC-5694-3D36E67860EF}"/>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A5A87251-9C55-8F04-D03D-7B03C1CA1BA1}"/>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A2566B79-AB23-AC32-2D6A-36846E2C6BE1}"/>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21BB6430-9F67-68C8-21FB-A8D04D5A6846}"/>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9" name="object 2">
            <a:extLst>
              <a:ext uri="{FF2B5EF4-FFF2-40B4-BE49-F238E27FC236}">
                <a16:creationId xmlns:a16="http://schemas.microsoft.com/office/drawing/2014/main" id="{CF56AEEC-4628-0E6C-CE4F-3C7711368291}"/>
              </a:ext>
            </a:extLst>
          </p:cNvPr>
          <p:cNvSpPr txBox="1">
            <a:spLocks/>
          </p:cNvSpPr>
          <p:nvPr/>
        </p:nvSpPr>
        <p:spPr>
          <a:xfrm>
            <a:off x="320981" y="1098685"/>
            <a:ext cx="8624937" cy="495520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800" dirty="0">
                <a:solidFill>
                  <a:schemeClr val="accent2"/>
                </a:solidFill>
                <a:latin typeface="Google Sans"/>
              </a:rPr>
              <a:t>Some Low Level Performance Tips for HFT(High Frequency Trading) Systems as an example</a:t>
            </a:r>
          </a:p>
          <a:p>
            <a:r>
              <a:rPr lang="en-US" sz="1700" dirty="0">
                <a:solidFill>
                  <a:schemeClr val="accent2"/>
                </a:solidFill>
                <a:latin typeface="Google Sans"/>
              </a:rPr>
              <a:t>CPU, Threading &amp; Concurrency</a:t>
            </a:r>
          </a:p>
          <a:p>
            <a:r>
              <a:rPr lang="en-US" sz="1500" dirty="0">
                <a:solidFill>
                  <a:schemeClr val="accent2"/>
                </a:solidFill>
                <a:latin typeface="Google Sans"/>
              </a:rPr>
              <a:t>❌ Avoid locks in hot paths</a:t>
            </a:r>
          </a:p>
          <a:p>
            <a:r>
              <a:rPr lang="en-US" sz="1500" dirty="0">
                <a:solidFill>
                  <a:schemeClr val="accent6"/>
                </a:solidFill>
                <a:latin typeface="Google Sans"/>
              </a:rPr>
              <a:t>lock</a:t>
            </a:r>
          </a:p>
          <a:p>
            <a:r>
              <a:rPr lang="en-US" sz="1500" dirty="0">
                <a:solidFill>
                  <a:schemeClr val="accent6"/>
                </a:solidFill>
                <a:latin typeface="Google Sans"/>
              </a:rPr>
              <a:t>Monitor</a:t>
            </a:r>
          </a:p>
          <a:p>
            <a:r>
              <a:rPr lang="en-US" sz="1500" dirty="0">
                <a:solidFill>
                  <a:schemeClr val="accent6"/>
                </a:solidFill>
                <a:latin typeface="Google Sans"/>
              </a:rPr>
              <a:t>Mutex</a:t>
            </a:r>
          </a:p>
          <a:p>
            <a:r>
              <a:rPr lang="en-US" sz="1500" dirty="0" err="1">
                <a:solidFill>
                  <a:schemeClr val="accent6"/>
                </a:solidFill>
                <a:latin typeface="Google Sans"/>
              </a:rPr>
              <a:t>SemaphoreSlim</a:t>
            </a:r>
            <a:endParaRPr lang="en-US" sz="1500" dirty="0">
              <a:solidFill>
                <a:schemeClr val="accent6"/>
              </a:solidFill>
              <a:latin typeface="Google Sans"/>
            </a:endParaRPr>
          </a:p>
          <a:p>
            <a:r>
              <a:rPr lang="en-US" sz="1500" dirty="0">
                <a:solidFill>
                  <a:schemeClr val="accent2"/>
                </a:solidFill>
                <a:latin typeface="Google Sans"/>
              </a:rPr>
              <a:t>✅ Prefer</a:t>
            </a:r>
          </a:p>
          <a:p>
            <a:r>
              <a:rPr lang="en-US" sz="1500" dirty="0">
                <a:solidFill>
                  <a:schemeClr val="accent6"/>
                </a:solidFill>
                <a:latin typeface="Google Sans"/>
              </a:rPr>
              <a:t>Single-writer principle</a:t>
            </a:r>
          </a:p>
          <a:p>
            <a:r>
              <a:rPr lang="en-US" sz="1500" dirty="0">
                <a:solidFill>
                  <a:schemeClr val="accent6"/>
                </a:solidFill>
                <a:latin typeface="Google Sans"/>
              </a:rPr>
              <a:t>Disruptor-style ring buffers</a:t>
            </a:r>
          </a:p>
          <a:p>
            <a:endParaRPr lang="en-US" sz="1500" dirty="0">
              <a:solidFill>
                <a:schemeClr val="accent6"/>
              </a:solidFill>
              <a:latin typeface="Google Sans"/>
            </a:endParaRPr>
          </a:p>
          <a:p>
            <a:r>
              <a:rPr lang="en-US" sz="1700" dirty="0">
                <a:solidFill>
                  <a:schemeClr val="accent2"/>
                </a:solidFill>
                <a:latin typeface="Google Sans"/>
              </a:rPr>
              <a:t>Networking &amp; IO</a:t>
            </a:r>
          </a:p>
          <a:p>
            <a:r>
              <a:rPr lang="en-US" sz="1500" dirty="0">
                <a:solidFill>
                  <a:schemeClr val="accent2"/>
                </a:solidFill>
                <a:latin typeface="Google Sans"/>
              </a:rPr>
              <a:t>Socket best practices</a:t>
            </a:r>
          </a:p>
          <a:p>
            <a:r>
              <a:rPr lang="en-US" sz="1500" dirty="0" err="1">
                <a:solidFill>
                  <a:schemeClr val="accent6"/>
                </a:solidFill>
                <a:latin typeface="Google Sans"/>
              </a:rPr>
              <a:t>socket.NoDelay</a:t>
            </a:r>
            <a:r>
              <a:rPr lang="en-US" sz="1500" dirty="0">
                <a:solidFill>
                  <a:schemeClr val="accent6"/>
                </a:solidFill>
                <a:latin typeface="Google Sans"/>
              </a:rPr>
              <a:t> = true;</a:t>
            </a:r>
          </a:p>
          <a:p>
            <a:r>
              <a:rPr lang="en-US" sz="1500" dirty="0" err="1">
                <a:solidFill>
                  <a:schemeClr val="accent6"/>
                </a:solidFill>
                <a:latin typeface="Google Sans"/>
              </a:rPr>
              <a:t>socket.ReceiveBufferSize</a:t>
            </a:r>
            <a:r>
              <a:rPr lang="en-US" sz="1500" dirty="0">
                <a:solidFill>
                  <a:schemeClr val="accent6"/>
                </a:solidFill>
                <a:latin typeface="Google Sans"/>
              </a:rPr>
              <a:t> = 1 &lt;&lt; 20;</a:t>
            </a:r>
          </a:p>
          <a:p>
            <a:r>
              <a:rPr lang="en-US" sz="1500" dirty="0">
                <a:solidFill>
                  <a:schemeClr val="accent2"/>
                </a:solidFill>
                <a:latin typeface="Google Sans"/>
              </a:rPr>
              <a:t>Why:</a:t>
            </a:r>
          </a:p>
          <a:p>
            <a:r>
              <a:rPr lang="en-US" sz="1500" dirty="0">
                <a:solidFill>
                  <a:schemeClr val="accent6"/>
                </a:solidFill>
                <a:latin typeface="Google Sans"/>
              </a:rPr>
              <a:t>Disable Nagle</a:t>
            </a:r>
          </a:p>
          <a:p>
            <a:r>
              <a:rPr lang="en-US" sz="1500" dirty="0">
                <a:solidFill>
                  <a:schemeClr val="accent6"/>
                </a:solidFill>
                <a:latin typeface="Google Sans"/>
              </a:rPr>
              <a:t>Avoid kernel backpressure</a:t>
            </a:r>
          </a:p>
          <a:p>
            <a:r>
              <a:rPr lang="en-US" sz="1500" dirty="0">
                <a:solidFill>
                  <a:schemeClr val="accent2"/>
                </a:solidFill>
                <a:latin typeface="Google Sans"/>
              </a:rPr>
              <a:t>Kernel bypass (advanced)</a:t>
            </a:r>
          </a:p>
          <a:p>
            <a:r>
              <a:rPr lang="en-US" sz="1500" dirty="0">
                <a:solidFill>
                  <a:schemeClr val="accent6"/>
                </a:solidFill>
                <a:latin typeface="Google Sans"/>
              </a:rPr>
              <a:t>DPDK</a:t>
            </a:r>
          </a:p>
          <a:p>
            <a:r>
              <a:rPr lang="en-US" sz="1500" dirty="0" err="1">
                <a:solidFill>
                  <a:schemeClr val="accent6"/>
                </a:solidFill>
                <a:latin typeface="Google Sans"/>
              </a:rPr>
              <a:t>Solarflare</a:t>
            </a:r>
            <a:r>
              <a:rPr lang="en-US" sz="1500" dirty="0">
                <a:solidFill>
                  <a:schemeClr val="accent6"/>
                </a:solidFill>
                <a:latin typeface="Google Sans"/>
              </a:rPr>
              <a:t> Onload</a:t>
            </a:r>
          </a:p>
        </p:txBody>
      </p:sp>
    </p:spTree>
    <p:extLst>
      <p:ext uri="{BB962C8B-B14F-4D97-AF65-F5344CB8AC3E}">
        <p14:creationId xmlns:p14="http://schemas.microsoft.com/office/powerpoint/2010/main" val="1216516268"/>
      </p:ext>
    </p:extLst>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45863-837E-6D04-8500-A5D593C2A49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ADE9B58-1262-3549-9CE9-0E2658EBAD6F}"/>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C385582-3E66-B77C-C63B-A986A4AC22BB}"/>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D335518-5FC6-1F0C-4865-DECA8EF50623}"/>
              </a:ext>
            </a:extLst>
          </p:cNvPr>
          <p:cNvGraphicFramePr/>
          <p:nvPr>
            <p:extLst>
              <p:ext uri="{D42A27DB-BD31-4B8C-83A1-F6EECF244321}">
                <p14:modId xmlns:p14="http://schemas.microsoft.com/office/powerpoint/2010/main" val="2734859778"/>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0C6E8856-DA73-AF1C-216B-C3175D8E760C}"/>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4E08F865-BA29-D4DA-B49F-D8A56A9FA95F}"/>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5F63E6FC-C377-2B7C-44D3-9845BCC0E4DF}"/>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AEF6A942-8B20-20D3-0A4A-26FC2A54FD1C}"/>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9" name="object 2">
            <a:extLst>
              <a:ext uri="{FF2B5EF4-FFF2-40B4-BE49-F238E27FC236}">
                <a16:creationId xmlns:a16="http://schemas.microsoft.com/office/drawing/2014/main" id="{378329D7-6877-A77B-A3A7-C5D5FEB46246}"/>
              </a:ext>
            </a:extLst>
          </p:cNvPr>
          <p:cNvSpPr txBox="1">
            <a:spLocks/>
          </p:cNvSpPr>
          <p:nvPr/>
        </p:nvSpPr>
        <p:spPr>
          <a:xfrm>
            <a:off x="320981" y="1098685"/>
            <a:ext cx="8624937" cy="472437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800" dirty="0">
                <a:solidFill>
                  <a:schemeClr val="accent2"/>
                </a:solidFill>
                <a:latin typeface="Google Sans"/>
              </a:rPr>
              <a:t>Some Low Level Performance Tips for HFT(High Frequency Trading) Systems as an example</a:t>
            </a:r>
          </a:p>
          <a:p>
            <a:r>
              <a:rPr lang="en-US" sz="1700" dirty="0">
                <a:solidFill>
                  <a:schemeClr val="accent2"/>
                </a:solidFill>
                <a:latin typeface="Google Sans"/>
              </a:rPr>
              <a:t>Networking &amp; IO</a:t>
            </a:r>
          </a:p>
          <a:p>
            <a:r>
              <a:rPr lang="en-US" sz="1500" dirty="0">
                <a:solidFill>
                  <a:schemeClr val="accent2"/>
                </a:solidFill>
                <a:latin typeface="Google Sans"/>
              </a:rPr>
              <a:t>Kernel bypass (advanced)</a:t>
            </a:r>
          </a:p>
          <a:p>
            <a:r>
              <a:rPr lang="en-US" sz="1500" dirty="0">
                <a:solidFill>
                  <a:schemeClr val="accent6"/>
                </a:solidFill>
                <a:latin typeface="Google Sans"/>
              </a:rPr>
              <a:t>Mellanox VMA</a:t>
            </a:r>
          </a:p>
          <a:p>
            <a:r>
              <a:rPr lang="en-US" sz="1500" dirty="0">
                <a:solidFill>
                  <a:schemeClr val="accent2"/>
                </a:solidFill>
                <a:latin typeface="Google Sans"/>
              </a:rPr>
              <a:t>Why:</a:t>
            </a:r>
          </a:p>
          <a:p>
            <a:r>
              <a:rPr lang="en-US" sz="1500" dirty="0">
                <a:solidFill>
                  <a:schemeClr val="accent6"/>
                </a:solidFill>
                <a:latin typeface="Google Sans"/>
              </a:rPr>
              <a:t>Avoid kernel context switches</a:t>
            </a:r>
          </a:p>
          <a:p>
            <a:r>
              <a:rPr lang="en-US" sz="1500" dirty="0">
                <a:solidFill>
                  <a:schemeClr val="accent6"/>
                </a:solidFill>
                <a:latin typeface="Google Sans"/>
              </a:rPr>
              <a:t>Deterministic latency</a:t>
            </a:r>
          </a:p>
          <a:p>
            <a:r>
              <a:rPr lang="en-US" sz="1500" dirty="0">
                <a:solidFill>
                  <a:schemeClr val="accent6"/>
                </a:solidFill>
                <a:latin typeface="Google Sans"/>
              </a:rPr>
              <a:t>(.NET is often just the strategy layer, native libs handle NIC.)</a:t>
            </a:r>
          </a:p>
          <a:p>
            <a:endParaRPr lang="en-US" sz="1500" dirty="0">
              <a:solidFill>
                <a:schemeClr val="accent6"/>
              </a:solidFill>
              <a:latin typeface="Google Sans"/>
            </a:endParaRPr>
          </a:p>
          <a:p>
            <a:r>
              <a:rPr lang="en-US" sz="1700" dirty="0">
                <a:solidFill>
                  <a:schemeClr val="accent2"/>
                </a:solidFill>
                <a:latin typeface="Google Sans"/>
              </a:rPr>
              <a:t>Data Structures &amp; Algorithms</a:t>
            </a:r>
          </a:p>
          <a:p>
            <a:r>
              <a:rPr lang="en-US" sz="1500" dirty="0">
                <a:solidFill>
                  <a:schemeClr val="accent2"/>
                </a:solidFill>
                <a:latin typeface="Google Sans"/>
              </a:rPr>
              <a:t>❌ Avoid</a:t>
            </a:r>
          </a:p>
          <a:p>
            <a:r>
              <a:rPr lang="en-US" sz="1500" dirty="0">
                <a:solidFill>
                  <a:schemeClr val="accent6"/>
                </a:solidFill>
                <a:latin typeface="Google Sans"/>
              </a:rPr>
              <a:t>Dictionary&lt;</a:t>
            </a:r>
            <a:r>
              <a:rPr lang="en-US" sz="1500" dirty="0" err="1">
                <a:solidFill>
                  <a:schemeClr val="accent6"/>
                </a:solidFill>
                <a:latin typeface="Google Sans"/>
              </a:rPr>
              <a:t>TKey</a:t>
            </a:r>
            <a:r>
              <a:rPr lang="en-US" sz="1500" dirty="0">
                <a:solidFill>
                  <a:schemeClr val="accent6"/>
                </a:solidFill>
                <a:latin typeface="Google Sans"/>
              </a:rPr>
              <a:t>, TValue&gt;</a:t>
            </a:r>
          </a:p>
          <a:p>
            <a:r>
              <a:rPr lang="en-US" sz="1500" dirty="0" err="1">
                <a:solidFill>
                  <a:schemeClr val="accent6"/>
                </a:solidFill>
                <a:latin typeface="Google Sans"/>
              </a:rPr>
              <a:t>ConcurrentDictionary</a:t>
            </a:r>
            <a:endParaRPr lang="en-US" sz="1500" dirty="0">
              <a:solidFill>
                <a:schemeClr val="accent6"/>
              </a:solidFill>
              <a:latin typeface="Google Sans"/>
            </a:endParaRPr>
          </a:p>
          <a:p>
            <a:r>
              <a:rPr lang="en-US" sz="1500" dirty="0">
                <a:solidFill>
                  <a:schemeClr val="accent6"/>
                </a:solidFill>
                <a:latin typeface="Google Sans"/>
              </a:rPr>
              <a:t>List&lt;T&gt; resizing</a:t>
            </a:r>
          </a:p>
          <a:p>
            <a:r>
              <a:rPr lang="en-US" sz="1500" dirty="0">
                <a:solidFill>
                  <a:schemeClr val="accent6"/>
                </a:solidFill>
                <a:latin typeface="Google Sans"/>
              </a:rPr>
              <a:t>Tree-based structures</a:t>
            </a:r>
          </a:p>
          <a:p>
            <a:r>
              <a:rPr lang="en-US" sz="1500" dirty="0">
                <a:solidFill>
                  <a:schemeClr val="accent2"/>
                </a:solidFill>
                <a:latin typeface="Google Sans"/>
              </a:rPr>
              <a:t>✅ Prefer</a:t>
            </a:r>
          </a:p>
          <a:p>
            <a:r>
              <a:rPr lang="en-US" sz="1500" dirty="0">
                <a:solidFill>
                  <a:schemeClr val="accent2"/>
                </a:solidFill>
                <a:latin typeface="Google Sans"/>
              </a:rPr>
              <a:t>Use case	      Structure</a:t>
            </a:r>
          </a:p>
          <a:p>
            <a:r>
              <a:rPr lang="en-US" sz="1500" dirty="0">
                <a:solidFill>
                  <a:schemeClr val="accent6"/>
                </a:solidFill>
                <a:latin typeface="Google Sans"/>
              </a:rPr>
              <a:t>Time series	      Circular buffer</a:t>
            </a:r>
          </a:p>
          <a:p>
            <a:r>
              <a:rPr lang="en-US" sz="1500" dirty="0">
                <a:solidFill>
                  <a:schemeClr val="accent6"/>
                </a:solidFill>
                <a:latin typeface="Google Sans"/>
              </a:rPr>
              <a:t>Queues	      Ring buffer</a:t>
            </a:r>
          </a:p>
          <a:p>
            <a:r>
              <a:rPr lang="en-US" sz="1500" dirty="0">
                <a:solidFill>
                  <a:schemeClr val="accent6"/>
                </a:solidFill>
                <a:latin typeface="Google Sans"/>
              </a:rPr>
              <a:t>Lookup	      Flat arrays</a:t>
            </a:r>
          </a:p>
        </p:txBody>
      </p:sp>
    </p:spTree>
    <p:extLst>
      <p:ext uri="{BB962C8B-B14F-4D97-AF65-F5344CB8AC3E}">
        <p14:creationId xmlns:p14="http://schemas.microsoft.com/office/powerpoint/2010/main" val="2747181480"/>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E47A8-DAFA-1BE7-4D75-BB49A729824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2B75E29-B4B2-491E-B689-5D7694CB1D64}"/>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8C42895-E92F-AAAA-4232-8C59501F445A}"/>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2E593ED-0E5D-9DF6-0782-02D0FF4B47E0}"/>
              </a:ext>
            </a:extLst>
          </p:cNvPr>
          <p:cNvGraphicFramePr/>
          <p:nvPr>
            <p:extLst>
              <p:ext uri="{D42A27DB-BD31-4B8C-83A1-F6EECF244321}">
                <p14:modId xmlns:p14="http://schemas.microsoft.com/office/powerpoint/2010/main" val="68700176"/>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EF26926B-F469-C042-A774-FAFE3F835D05}"/>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3C40CF98-6DB7-563C-9EDA-24DBD7ED458C}"/>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15D6CCD7-4F2B-B6DC-5821-E5692D5F186D}"/>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1D7D7A9F-BBBC-AC0A-BE1D-527646A96007}"/>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9" name="object 2">
            <a:extLst>
              <a:ext uri="{FF2B5EF4-FFF2-40B4-BE49-F238E27FC236}">
                <a16:creationId xmlns:a16="http://schemas.microsoft.com/office/drawing/2014/main" id="{330B51FD-68B1-A70A-2959-FC8A81967E86}"/>
              </a:ext>
            </a:extLst>
          </p:cNvPr>
          <p:cNvSpPr txBox="1">
            <a:spLocks/>
          </p:cNvSpPr>
          <p:nvPr/>
        </p:nvSpPr>
        <p:spPr>
          <a:xfrm>
            <a:off x="320981" y="1098685"/>
            <a:ext cx="8624937" cy="472437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800" dirty="0">
                <a:solidFill>
                  <a:schemeClr val="accent2"/>
                </a:solidFill>
                <a:latin typeface="Google Sans"/>
              </a:rPr>
              <a:t>Some Low Level Performance Tips for HFT(High Frequency Trading) Systems as an example</a:t>
            </a:r>
          </a:p>
          <a:p>
            <a:r>
              <a:rPr lang="en-US" sz="1700" dirty="0">
                <a:solidFill>
                  <a:schemeClr val="accent2"/>
                </a:solidFill>
                <a:latin typeface="Google Sans"/>
              </a:rPr>
              <a:t>Data Structures &amp; Algorithms</a:t>
            </a:r>
          </a:p>
          <a:p>
            <a:r>
              <a:rPr lang="en-US" sz="1500" dirty="0">
                <a:solidFill>
                  <a:schemeClr val="accent2"/>
                </a:solidFill>
                <a:latin typeface="Google Sans"/>
              </a:rPr>
              <a:t>Example: Ring buffer</a:t>
            </a:r>
          </a:p>
          <a:p>
            <a:r>
              <a:rPr lang="en-US" sz="1500" dirty="0">
                <a:solidFill>
                  <a:schemeClr val="accent6"/>
                </a:solidFill>
                <a:latin typeface="Google Sans"/>
              </a:rPr>
              <a:t>index = (index + 1) &amp; mask;</a:t>
            </a:r>
          </a:p>
          <a:p>
            <a:r>
              <a:rPr lang="en-US" sz="1500" dirty="0">
                <a:solidFill>
                  <a:schemeClr val="accent2"/>
                </a:solidFill>
                <a:latin typeface="Google Sans"/>
              </a:rPr>
              <a:t>Why:</a:t>
            </a:r>
          </a:p>
          <a:p>
            <a:r>
              <a:rPr lang="en-US" sz="1500" dirty="0">
                <a:solidFill>
                  <a:schemeClr val="accent6"/>
                </a:solidFill>
                <a:latin typeface="Google Sans"/>
              </a:rPr>
              <a:t>No modulo</a:t>
            </a:r>
          </a:p>
          <a:p>
            <a:r>
              <a:rPr lang="en-US" sz="1500" dirty="0">
                <a:solidFill>
                  <a:schemeClr val="accent6"/>
                </a:solidFill>
                <a:latin typeface="Google Sans"/>
              </a:rPr>
              <a:t>Branch-free</a:t>
            </a:r>
          </a:p>
          <a:p>
            <a:r>
              <a:rPr lang="en-US" sz="1500" dirty="0">
                <a:solidFill>
                  <a:schemeClr val="accent6"/>
                </a:solidFill>
                <a:latin typeface="Google Sans"/>
              </a:rPr>
              <a:t>Cache aligned</a:t>
            </a:r>
          </a:p>
          <a:p>
            <a:endParaRPr lang="en-US" sz="1500" dirty="0">
              <a:solidFill>
                <a:schemeClr val="accent6"/>
              </a:solidFill>
              <a:latin typeface="Google Sans"/>
            </a:endParaRPr>
          </a:p>
          <a:p>
            <a:r>
              <a:rPr lang="en-US" sz="1700" dirty="0">
                <a:solidFill>
                  <a:schemeClr val="accent2"/>
                </a:solidFill>
                <a:latin typeface="Google Sans"/>
              </a:rPr>
              <a:t>Serialization &amp; Messaging</a:t>
            </a:r>
          </a:p>
          <a:p>
            <a:r>
              <a:rPr lang="en-US" sz="1500" dirty="0">
                <a:solidFill>
                  <a:schemeClr val="accent2"/>
                </a:solidFill>
                <a:latin typeface="Google Sans"/>
              </a:rPr>
              <a:t>❌ Avoid</a:t>
            </a:r>
          </a:p>
          <a:p>
            <a:r>
              <a:rPr lang="en-US" sz="1500" dirty="0">
                <a:solidFill>
                  <a:schemeClr val="accent6"/>
                </a:solidFill>
                <a:latin typeface="Google Sans"/>
              </a:rPr>
              <a:t>JSON</a:t>
            </a:r>
          </a:p>
          <a:p>
            <a:r>
              <a:rPr lang="en-US" sz="1500" dirty="0">
                <a:solidFill>
                  <a:schemeClr val="accent6"/>
                </a:solidFill>
                <a:latin typeface="Google Sans"/>
              </a:rPr>
              <a:t>XML</a:t>
            </a:r>
          </a:p>
          <a:p>
            <a:r>
              <a:rPr lang="en-US" sz="1500" dirty="0" err="1">
                <a:solidFill>
                  <a:schemeClr val="accent6"/>
                </a:solidFill>
                <a:latin typeface="Google Sans"/>
              </a:rPr>
              <a:t>Protobuf</a:t>
            </a:r>
            <a:r>
              <a:rPr lang="en-US" sz="1500" dirty="0">
                <a:solidFill>
                  <a:schemeClr val="accent6"/>
                </a:solidFill>
                <a:latin typeface="Google Sans"/>
              </a:rPr>
              <a:t> (too slow for HFT)</a:t>
            </a:r>
          </a:p>
          <a:p>
            <a:r>
              <a:rPr lang="en-US" sz="1500" dirty="0">
                <a:solidFill>
                  <a:schemeClr val="accent2"/>
                </a:solidFill>
                <a:latin typeface="Google Sans"/>
              </a:rPr>
              <a:t>✅ Use</a:t>
            </a:r>
          </a:p>
          <a:p>
            <a:r>
              <a:rPr lang="en-US" sz="1500" dirty="0">
                <a:solidFill>
                  <a:schemeClr val="accent6"/>
                </a:solidFill>
                <a:latin typeface="Google Sans"/>
              </a:rPr>
              <a:t>Fixed-width binary</a:t>
            </a:r>
          </a:p>
          <a:p>
            <a:r>
              <a:rPr lang="en-US" sz="1500" dirty="0">
                <a:solidFill>
                  <a:schemeClr val="accent6"/>
                </a:solidFill>
                <a:latin typeface="Google Sans"/>
              </a:rPr>
              <a:t>Unsafe structs</a:t>
            </a:r>
          </a:p>
          <a:p>
            <a:r>
              <a:rPr lang="en-US" sz="1500" dirty="0">
                <a:solidFill>
                  <a:schemeClr val="accent6"/>
                </a:solidFill>
                <a:latin typeface="Google Sans"/>
              </a:rPr>
              <a:t>Memory-mapped layouts</a:t>
            </a:r>
          </a:p>
          <a:p>
            <a:r>
              <a:rPr lang="en-US" sz="1500" dirty="0">
                <a:solidFill>
                  <a:schemeClr val="accent6"/>
                </a:solidFill>
                <a:latin typeface="Google Sans"/>
              </a:rPr>
              <a:t>[</a:t>
            </a:r>
            <a:r>
              <a:rPr lang="en-US" sz="1500" dirty="0" err="1">
                <a:solidFill>
                  <a:schemeClr val="accent6"/>
                </a:solidFill>
                <a:latin typeface="Google Sans"/>
              </a:rPr>
              <a:t>StructLayout</a:t>
            </a:r>
            <a:r>
              <a:rPr lang="en-US" sz="1500" dirty="0">
                <a:solidFill>
                  <a:schemeClr val="accent6"/>
                </a:solidFill>
                <a:latin typeface="Google Sans"/>
              </a:rPr>
              <a:t>(</a:t>
            </a:r>
            <a:r>
              <a:rPr lang="en-US" sz="1500" dirty="0" err="1">
                <a:solidFill>
                  <a:schemeClr val="accent6"/>
                </a:solidFill>
                <a:latin typeface="Google Sans"/>
              </a:rPr>
              <a:t>LayoutKind.Sequential</a:t>
            </a:r>
            <a:r>
              <a:rPr lang="en-US" sz="1500" dirty="0">
                <a:solidFill>
                  <a:schemeClr val="accent6"/>
                </a:solidFill>
                <a:latin typeface="Google Sans"/>
              </a:rPr>
              <a:t>, Pack = 1)]</a:t>
            </a:r>
          </a:p>
          <a:p>
            <a:r>
              <a:rPr lang="en-US" sz="1500" dirty="0">
                <a:solidFill>
                  <a:schemeClr val="accent6"/>
                </a:solidFill>
                <a:latin typeface="Google Sans"/>
              </a:rPr>
              <a:t>struct Order</a:t>
            </a:r>
          </a:p>
        </p:txBody>
      </p:sp>
    </p:spTree>
    <p:extLst>
      <p:ext uri="{BB962C8B-B14F-4D97-AF65-F5344CB8AC3E}">
        <p14:creationId xmlns:p14="http://schemas.microsoft.com/office/powerpoint/2010/main" val="2468211385"/>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A2FC7-D9B4-F878-3137-ED110C6CA4F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F45153F-5F8B-8FB5-E83E-31C28ABD1889}"/>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50FEAD8-9885-444D-42BF-D01C3F5FB4A6}"/>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04AB601-6396-3FD6-2C28-40F4C7A76742}"/>
              </a:ext>
            </a:extLst>
          </p:cNvPr>
          <p:cNvGraphicFramePr/>
          <p:nvPr>
            <p:extLst>
              <p:ext uri="{D42A27DB-BD31-4B8C-83A1-F6EECF244321}">
                <p14:modId xmlns:p14="http://schemas.microsoft.com/office/powerpoint/2010/main" val="1276086703"/>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92F8F28A-DD21-BEC8-468F-AFDF4349DFF4}"/>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5895E122-4A0B-1B52-0511-0543FCAC15F2}"/>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43FBB58-E710-04C8-6B6D-17167625896A}"/>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A84BA659-2723-E22D-A5CE-A5BADBA02088}"/>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9" name="object 2">
            <a:extLst>
              <a:ext uri="{FF2B5EF4-FFF2-40B4-BE49-F238E27FC236}">
                <a16:creationId xmlns:a16="http://schemas.microsoft.com/office/drawing/2014/main" id="{5AC8EDE4-95F5-3B9E-3D2C-4862766CD37C}"/>
              </a:ext>
            </a:extLst>
          </p:cNvPr>
          <p:cNvSpPr txBox="1">
            <a:spLocks/>
          </p:cNvSpPr>
          <p:nvPr/>
        </p:nvSpPr>
        <p:spPr>
          <a:xfrm>
            <a:off x="320981" y="1098685"/>
            <a:ext cx="8624937" cy="46935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800" dirty="0">
                <a:solidFill>
                  <a:schemeClr val="accent2"/>
                </a:solidFill>
                <a:latin typeface="Google Sans"/>
              </a:rPr>
              <a:t>Some Low Level Performance Tips for HFT(High Frequency Trading) Systems as an example</a:t>
            </a:r>
          </a:p>
          <a:p>
            <a:r>
              <a:rPr lang="en-US" sz="1700" dirty="0">
                <a:solidFill>
                  <a:schemeClr val="accent2"/>
                </a:solidFill>
                <a:latin typeface="Google Sans"/>
              </a:rPr>
              <a:t>Serialization &amp; Messaging</a:t>
            </a:r>
          </a:p>
          <a:p>
            <a:r>
              <a:rPr lang="en-US" sz="1500" dirty="0">
                <a:solidFill>
                  <a:schemeClr val="accent2"/>
                </a:solidFill>
                <a:latin typeface="Google Sans"/>
              </a:rPr>
              <a:t>Why:</a:t>
            </a:r>
          </a:p>
          <a:p>
            <a:r>
              <a:rPr lang="en-US" sz="1500" dirty="0">
                <a:solidFill>
                  <a:schemeClr val="accent6"/>
                </a:solidFill>
                <a:latin typeface="Google Sans"/>
              </a:rPr>
              <a:t>Zero-copy encode/decode</a:t>
            </a:r>
          </a:p>
          <a:p>
            <a:r>
              <a:rPr lang="en-US" sz="1500" dirty="0">
                <a:solidFill>
                  <a:schemeClr val="accent6"/>
                </a:solidFill>
                <a:latin typeface="Google Sans"/>
              </a:rPr>
              <a:t>Predictable size</a:t>
            </a:r>
          </a:p>
          <a:p>
            <a:r>
              <a:rPr lang="en-US" sz="1500" dirty="0">
                <a:solidFill>
                  <a:schemeClr val="accent6"/>
                </a:solidFill>
                <a:latin typeface="Google Sans"/>
              </a:rPr>
              <a:t>NIC friendly</a:t>
            </a:r>
          </a:p>
          <a:p>
            <a:endParaRPr lang="en-US" sz="1500" dirty="0">
              <a:solidFill>
                <a:schemeClr val="accent6"/>
              </a:solidFill>
              <a:latin typeface="Google Sans"/>
            </a:endParaRPr>
          </a:p>
          <a:p>
            <a:r>
              <a:rPr lang="en-US" sz="1700" dirty="0">
                <a:solidFill>
                  <a:schemeClr val="accent2"/>
                </a:solidFill>
                <a:latin typeface="Google Sans"/>
              </a:rPr>
              <a:t>Error Handling, Logging &amp; Observability</a:t>
            </a:r>
          </a:p>
          <a:p>
            <a:r>
              <a:rPr lang="en-US" sz="1500" dirty="0">
                <a:solidFill>
                  <a:schemeClr val="accent2"/>
                </a:solidFill>
                <a:latin typeface="Google Sans"/>
              </a:rPr>
              <a:t>🚫 Never throw exceptions in hot paths</a:t>
            </a:r>
          </a:p>
          <a:p>
            <a:r>
              <a:rPr lang="en-US" sz="1500" dirty="0">
                <a:solidFill>
                  <a:schemeClr val="accent2"/>
                </a:solidFill>
                <a:latin typeface="Google Sans"/>
              </a:rPr>
              <a:t>Instead:</a:t>
            </a:r>
          </a:p>
          <a:p>
            <a:r>
              <a:rPr lang="en-US" sz="1500" dirty="0">
                <a:solidFill>
                  <a:schemeClr val="accent6"/>
                </a:solidFill>
                <a:latin typeface="Google Sans"/>
              </a:rPr>
              <a:t>if (!</a:t>
            </a:r>
            <a:r>
              <a:rPr lang="en-US" sz="1500" dirty="0" err="1">
                <a:solidFill>
                  <a:schemeClr val="accent6"/>
                </a:solidFill>
                <a:latin typeface="Google Sans"/>
              </a:rPr>
              <a:t>TryParse</a:t>
            </a:r>
            <a:r>
              <a:rPr lang="en-US" sz="1500" dirty="0">
                <a:solidFill>
                  <a:schemeClr val="accent6"/>
                </a:solidFill>
                <a:latin typeface="Google Sans"/>
              </a:rPr>
              <a:t>(...))</a:t>
            </a:r>
          </a:p>
          <a:p>
            <a:r>
              <a:rPr lang="en-US" sz="1500" dirty="0">
                <a:solidFill>
                  <a:schemeClr val="accent6"/>
                </a:solidFill>
                <a:latin typeface="Google Sans"/>
              </a:rPr>
              <a:t>{</a:t>
            </a:r>
          </a:p>
          <a:p>
            <a:r>
              <a:rPr lang="en-US" sz="1500" dirty="0">
                <a:solidFill>
                  <a:schemeClr val="accent6"/>
                </a:solidFill>
                <a:latin typeface="Google Sans"/>
              </a:rPr>
              <a:t>    </a:t>
            </a:r>
            <a:r>
              <a:rPr lang="en-US" sz="1500" dirty="0" err="1">
                <a:solidFill>
                  <a:schemeClr val="accent6"/>
                </a:solidFill>
                <a:latin typeface="Google Sans"/>
              </a:rPr>
              <a:t>errorCounter</a:t>
            </a:r>
            <a:r>
              <a:rPr lang="en-US" sz="1500" dirty="0">
                <a:solidFill>
                  <a:schemeClr val="accent6"/>
                </a:solidFill>
                <a:latin typeface="Google Sans"/>
              </a:rPr>
              <a:t>++;</a:t>
            </a:r>
          </a:p>
          <a:p>
            <a:r>
              <a:rPr lang="en-US" sz="1500" dirty="0">
                <a:solidFill>
                  <a:schemeClr val="accent6"/>
                </a:solidFill>
                <a:latin typeface="Google Sans"/>
              </a:rPr>
              <a:t>    return;</a:t>
            </a:r>
          </a:p>
          <a:p>
            <a:r>
              <a:rPr lang="en-US" sz="1500" dirty="0">
                <a:solidFill>
                  <a:schemeClr val="accent6"/>
                </a:solidFill>
                <a:latin typeface="Google Sans"/>
              </a:rPr>
              <a:t>}</a:t>
            </a:r>
          </a:p>
          <a:p>
            <a:r>
              <a:rPr lang="en-US" sz="1500" dirty="0">
                <a:solidFill>
                  <a:schemeClr val="accent2"/>
                </a:solidFill>
                <a:latin typeface="Google Sans"/>
              </a:rPr>
              <a:t>Logging strategy</a:t>
            </a:r>
          </a:p>
          <a:p>
            <a:r>
              <a:rPr lang="en-US" sz="1500" dirty="0">
                <a:solidFill>
                  <a:schemeClr val="accent2"/>
                </a:solidFill>
                <a:latin typeface="Google Sans"/>
              </a:rPr>
              <a:t>Path	    Strategy</a:t>
            </a:r>
          </a:p>
          <a:p>
            <a:r>
              <a:rPr lang="en-US" sz="1500" dirty="0">
                <a:solidFill>
                  <a:schemeClr val="accent6"/>
                </a:solidFill>
                <a:latin typeface="Google Sans"/>
              </a:rPr>
              <a:t>Hot path	    Counters only</a:t>
            </a:r>
          </a:p>
          <a:p>
            <a:r>
              <a:rPr lang="en-US" sz="1500" dirty="0">
                <a:solidFill>
                  <a:schemeClr val="accent6"/>
                </a:solidFill>
                <a:latin typeface="Google Sans"/>
              </a:rPr>
              <a:t>Warm path	    Ring-buffer logs</a:t>
            </a:r>
          </a:p>
          <a:p>
            <a:r>
              <a:rPr lang="en-US" sz="1500" dirty="0">
                <a:solidFill>
                  <a:schemeClr val="accent6"/>
                </a:solidFill>
                <a:latin typeface="Google Sans"/>
              </a:rPr>
              <a:t>Cold path	    Structured logs</a:t>
            </a:r>
          </a:p>
        </p:txBody>
      </p:sp>
    </p:spTree>
    <p:extLst>
      <p:ext uri="{BB962C8B-B14F-4D97-AF65-F5344CB8AC3E}">
        <p14:creationId xmlns:p14="http://schemas.microsoft.com/office/powerpoint/2010/main" val="744033514"/>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B0315-BD94-C8C2-0A90-6D946B23F8C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6D7E0E5-A59D-0455-36D4-670AC81F0DCC}"/>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8BF86BB-DC69-0997-E34A-0342887E1042}"/>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F5B4C0B-6738-AB5B-D150-05209AB34893}"/>
              </a:ext>
            </a:extLst>
          </p:cNvPr>
          <p:cNvGraphicFramePr/>
          <p:nvPr>
            <p:extLst>
              <p:ext uri="{D42A27DB-BD31-4B8C-83A1-F6EECF244321}">
                <p14:modId xmlns:p14="http://schemas.microsoft.com/office/powerpoint/2010/main" val="4083397849"/>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7F57C1D8-FCAB-836D-B5CF-C789A7D27B5C}"/>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8857187A-AE17-627A-AC4A-27E2887C6267}"/>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0D653524-053F-74DD-0C37-32EADDF689AC}"/>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A3C4173F-3130-4EF3-4F07-3EF51A01414A}"/>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9" name="object 2">
            <a:extLst>
              <a:ext uri="{FF2B5EF4-FFF2-40B4-BE49-F238E27FC236}">
                <a16:creationId xmlns:a16="http://schemas.microsoft.com/office/drawing/2014/main" id="{289A17BD-C5A7-179D-031D-657249344FF0}"/>
              </a:ext>
            </a:extLst>
          </p:cNvPr>
          <p:cNvSpPr txBox="1">
            <a:spLocks/>
          </p:cNvSpPr>
          <p:nvPr/>
        </p:nvSpPr>
        <p:spPr>
          <a:xfrm>
            <a:off x="320981" y="1098685"/>
            <a:ext cx="8624937" cy="515525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800" dirty="0">
                <a:solidFill>
                  <a:schemeClr val="accent2"/>
                </a:solidFill>
                <a:latin typeface="Google Sans"/>
              </a:rPr>
              <a:t>Some Low Level Performance Tips for HFT(High Frequency Trading) Systems as an example</a:t>
            </a:r>
          </a:p>
          <a:p>
            <a:r>
              <a:rPr lang="en-US" sz="1700" dirty="0">
                <a:solidFill>
                  <a:schemeClr val="accent2"/>
                </a:solidFill>
                <a:latin typeface="Google Sans"/>
              </a:rPr>
              <a:t>Error Handling, Logging &amp; Observability</a:t>
            </a:r>
          </a:p>
          <a:p>
            <a:r>
              <a:rPr lang="en-US" sz="1500" dirty="0">
                <a:solidFill>
                  <a:schemeClr val="accent2"/>
                </a:solidFill>
                <a:latin typeface="Google Sans"/>
              </a:rPr>
              <a:t>Logging strategy</a:t>
            </a:r>
          </a:p>
          <a:p>
            <a:r>
              <a:rPr lang="en-US" sz="1500" dirty="0">
                <a:solidFill>
                  <a:schemeClr val="accent2"/>
                </a:solidFill>
                <a:latin typeface="Google Sans"/>
              </a:rPr>
              <a:t>Why:</a:t>
            </a:r>
          </a:p>
          <a:p>
            <a:r>
              <a:rPr lang="en-US" sz="1500" dirty="0">
                <a:solidFill>
                  <a:schemeClr val="accent6"/>
                </a:solidFill>
                <a:latin typeface="Google Sans"/>
              </a:rPr>
              <a:t>I/O = death</a:t>
            </a:r>
          </a:p>
          <a:p>
            <a:r>
              <a:rPr lang="en-US" sz="1500" dirty="0">
                <a:solidFill>
                  <a:schemeClr val="accent6"/>
                </a:solidFill>
                <a:latin typeface="Google Sans"/>
              </a:rPr>
              <a:t>Even async logging causes stalls</a:t>
            </a:r>
          </a:p>
          <a:p>
            <a:r>
              <a:rPr lang="en-US" sz="1500" dirty="0">
                <a:solidFill>
                  <a:schemeClr val="accent2"/>
                </a:solidFill>
                <a:latin typeface="Google Sans"/>
              </a:rPr>
              <a:t>Anti-Patterns That Kill HFT Systems</a:t>
            </a:r>
          </a:p>
          <a:p>
            <a:r>
              <a:rPr lang="en-US" sz="1500" dirty="0">
                <a:solidFill>
                  <a:schemeClr val="accent6"/>
                </a:solidFill>
                <a:latin typeface="Google Sans"/>
              </a:rPr>
              <a:t>❌ LINQ in hot path</a:t>
            </a:r>
          </a:p>
          <a:p>
            <a:r>
              <a:rPr lang="en-US" sz="1500" dirty="0">
                <a:solidFill>
                  <a:schemeClr val="accent6"/>
                </a:solidFill>
                <a:latin typeface="Google Sans"/>
              </a:rPr>
              <a:t>❌ async/await everywhere</a:t>
            </a:r>
          </a:p>
          <a:p>
            <a:r>
              <a:rPr lang="en-US" sz="1500" dirty="0">
                <a:solidFill>
                  <a:schemeClr val="accent6"/>
                </a:solidFill>
                <a:latin typeface="Google Sans"/>
              </a:rPr>
              <a:t>❌ Dependency Injection in inner loops</a:t>
            </a:r>
          </a:p>
          <a:p>
            <a:r>
              <a:rPr lang="en-US" sz="1500" dirty="0">
                <a:solidFill>
                  <a:schemeClr val="accent6"/>
                </a:solidFill>
                <a:latin typeface="Google Sans"/>
              </a:rPr>
              <a:t>❌ Reflection</a:t>
            </a:r>
          </a:p>
          <a:p>
            <a:r>
              <a:rPr lang="en-US" sz="1500" dirty="0">
                <a:solidFill>
                  <a:schemeClr val="accent6"/>
                </a:solidFill>
                <a:latin typeface="Google Sans"/>
              </a:rPr>
              <a:t>❌ Dynamic typing</a:t>
            </a:r>
          </a:p>
          <a:p>
            <a:r>
              <a:rPr lang="en-US" sz="1500" dirty="0">
                <a:solidFill>
                  <a:schemeClr val="accent6"/>
                </a:solidFill>
                <a:latin typeface="Google Sans"/>
              </a:rPr>
              <a:t>❌ Unbounded queues</a:t>
            </a:r>
          </a:p>
          <a:p>
            <a:r>
              <a:rPr lang="en-US" sz="1500" dirty="0">
                <a:solidFill>
                  <a:schemeClr val="accent6"/>
                </a:solidFill>
                <a:latin typeface="Google Sans"/>
              </a:rPr>
              <a:t>❌ “Clean Architecture” abstractions in strategy core</a:t>
            </a:r>
          </a:p>
          <a:p>
            <a:r>
              <a:rPr lang="en-US" sz="1500" dirty="0">
                <a:solidFill>
                  <a:schemeClr val="accent6"/>
                </a:solidFill>
                <a:latin typeface="Google Sans"/>
              </a:rPr>
              <a:t>In HFT, clarity beats abstraction.</a:t>
            </a:r>
          </a:p>
          <a:p>
            <a:r>
              <a:rPr lang="en-US" sz="1500" dirty="0">
                <a:solidFill>
                  <a:schemeClr val="accent2"/>
                </a:solidFill>
                <a:latin typeface="Google Sans"/>
              </a:rPr>
              <a:t>Final Mental Model</a:t>
            </a:r>
          </a:p>
          <a:p>
            <a:r>
              <a:rPr lang="en-US" sz="1500" dirty="0">
                <a:solidFill>
                  <a:schemeClr val="accent6"/>
                </a:solidFill>
                <a:latin typeface="Google Sans"/>
              </a:rPr>
              <a:t>HFT .NET code is closer to embedded systems than web apps.</a:t>
            </a:r>
          </a:p>
          <a:p>
            <a:r>
              <a:rPr lang="en-US" sz="1500" dirty="0">
                <a:solidFill>
                  <a:schemeClr val="accent6"/>
                </a:solidFill>
                <a:latin typeface="Google Sans"/>
              </a:rPr>
              <a:t>Deterministic</a:t>
            </a:r>
          </a:p>
          <a:p>
            <a:r>
              <a:rPr lang="en-US" sz="1500" dirty="0">
                <a:solidFill>
                  <a:schemeClr val="accent6"/>
                </a:solidFill>
                <a:latin typeface="Google Sans"/>
              </a:rPr>
              <a:t>Allocation-free</a:t>
            </a:r>
          </a:p>
          <a:p>
            <a:r>
              <a:rPr lang="en-US" sz="1500" dirty="0">
                <a:solidFill>
                  <a:schemeClr val="accent6"/>
                </a:solidFill>
                <a:latin typeface="Google Sans"/>
              </a:rPr>
              <a:t>Cache-aware</a:t>
            </a:r>
          </a:p>
          <a:p>
            <a:r>
              <a:rPr lang="en-US" sz="1500" dirty="0">
                <a:solidFill>
                  <a:schemeClr val="accent6"/>
                </a:solidFill>
                <a:latin typeface="Google Sans"/>
              </a:rPr>
              <a:t>Boring by design</a:t>
            </a:r>
          </a:p>
          <a:p>
            <a:endParaRPr lang="en-US" sz="1500" dirty="0">
              <a:solidFill>
                <a:schemeClr val="accent6"/>
              </a:solidFill>
              <a:latin typeface="Google Sans"/>
            </a:endParaRPr>
          </a:p>
        </p:txBody>
      </p:sp>
    </p:spTree>
    <p:extLst>
      <p:ext uri="{BB962C8B-B14F-4D97-AF65-F5344CB8AC3E}">
        <p14:creationId xmlns:p14="http://schemas.microsoft.com/office/powerpoint/2010/main" val="3130382495"/>
      </p:ext>
    </p:extLst>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A690F-93AC-C252-9E71-BB049A28683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125BF99-5569-5630-11F8-B8AD4ACD7531}"/>
              </a:ext>
            </a:extLst>
          </p:cNvPr>
          <p:cNvSpPr/>
          <p:nvPr/>
        </p:nvSpPr>
        <p:spPr>
          <a:xfrm>
            <a:off x="1600200" y="990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8FC3160-667E-FE49-5019-59379772A08E}"/>
              </a:ext>
            </a:extLst>
          </p:cNvPr>
          <p:cNvSpPr/>
          <p:nvPr/>
        </p:nvSpPr>
        <p:spPr>
          <a:xfrm>
            <a:off x="1600200"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566CAD6-58FC-F848-CEDC-99EEA66F0DC2}"/>
              </a:ext>
            </a:extLst>
          </p:cNvPr>
          <p:cNvGraphicFramePr/>
          <p:nvPr>
            <p:extLst>
              <p:ext uri="{D42A27DB-BD31-4B8C-83A1-F6EECF244321}">
                <p14:modId xmlns:p14="http://schemas.microsoft.com/office/powerpoint/2010/main" val="726947948"/>
              </p:ext>
            </p:extLst>
          </p:nvPr>
        </p:nvGraphicFramePr>
        <p:xfrm>
          <a:off x="275300" y="76200"/>
          <a:ext cx="8716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684B48D3-C46A-FE96-31FE-A674D5067251}"/>
              </a:ext>
            </a:extLst>
          </p:cNvPr>
          <p:cNvSpPr txBox="1">
            <a:spLocks/>
          </p:cNvSpPr>
          <p:nvPr/>
        </p:nvSpPr>
        <p:spPr>
          <a:xfrm>
            <a:off x="275300" y="1098685"/>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8" name="object 2">
            <a:extLst>
              <a:ext uri="{FF2B5EF4-FFF2-40B4-BE49-F238E27FC236}">
                <a16:creationId xmlns:a16="http://schemas.microsoft.com/office/drawing/2014/main" id="{BFD42E19-A721-095C-FBDF-5D81470A8765}"/>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877C603D-DD5B-9088-7AC8-71126CE4461C}"/>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7414BE52-3140-A2C6-8B06-E471C1F84D32}"/>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9" name="object 2">
            <a:extLst>
              <a:ext uri="{FF2B5EF4-FFF2-40B4-BE49-F238E27FC236}">
                <a16:creationId xmlns:a16="http://schemas.microsoft.com/office/drawing/2014/main" id="{930204D9-6638-1AD6-0FB6-976457461DDD}"/>
              </a:ext>
            </a:extLst>
          </p:cNvPr>
          <p:cNvSpPr txBox="1">
            <a:spLocks/>
          </p:cNvSpPr>
          <p:nvPr/>
        </p:nvSpPr>
        <p:spPr>
          <a:xfrm>
            <a:off x="320981" y="1098685"/>
            <a:ext cx="8624937" cy="42319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For Further Exploration</a:t>
            </a:r>
          </a:p>
          <a:p>
            <a:r>
              <a:rPr lang="en-IN" sz="1500" dirty="0">
                <a:hlinkClick r:id="rId7"/>
              </a:rPr>
              <a:t>High-Performance-Programming-in-C-Sharp-and-.NET</a:t>
            </a:r>
            <a:endParaRPr lang="en-IN" sz="1500" dirty="0"/>
          </a:p>
          <a:p>
            <a:r>
              <a:rPr lang="en-US" sz="1500" dirty="0">
                <a:hlinkClick r:id="rId8"/>
              </a:rPr>
              <a:t>C# at Speed</a:t>
            </a:r>
            <a:endParaRPr lang="en-US" sz="1500" dirty="0"/>
          </a:p>
          <a:p>
            <a:r>
              <a:rPr lang="en-US" sz="1500" dirty="0">
                <a:hlinkClick r:id="rId9"/>
              </a:rPr>
              <a:t>High Performance Coding with .NET Core and C#</a:t>
            </a:r>
            <a:endParaRPr lang="en-US" sz="1500" dirty="0"/>
          </a:p>
          <a:p>
            <a:r>
              <a:rPr lang="en-US" sz="1500" dirty="0">
                <a:hlinkClick r:id="rId10"/>
              </a:rPr>
              <a:t>Systems Performance 2nd Edition Book</a:t>
            </a:r>
            <a:endParaRPr lang="en-US" sz="1500" dirty="0"/>
          </a:p>
          <a:p>
            <a:r>
              <a:rPr lang="en-US" sz="1500" dirty="0">
                <a:hlinkClick r:id="rId11"/>
              </a:rPr>
              <a:t>The Art of Computer Systems Performance Analysis</a:t>
            </a:r>
            <a:endParaRPr lang="en-US" sz="1500" dirty="0"/>
          </a:p>
          <a:p>
            <a:r>
              <a:rPr lang="en-US" sz="1500" dirty="0">
                <a:hlinkClick r:id="rId12"/>
              </a:rPr>
              <a:t>The High-Frequency Trading Developer’s Guide: Six Key Components for Low Latency and Scalability | </a:t>
            </a:r>
            <a:r>
              <a:rPr lang="en-US" sz="1500" dirty="0" err="1">
                <a:hlinkClick r:id="rId12"/>
              </a:rPr>
              <a:t>HackerNoon</a:t>
            </a:r>
            <a:endParaRPr lang="en-US" sz="1500" dirty="0"/>
          </a:p>
          <a:p>
            <a:r>
              <a:rPr lang="en-US" sz="1500" dirty="0">
                <a:hlinkClick r:id="rId13"/>
              </a:rPr>
              <a:t>Is Parallel Programming Hard, And, If So, What Can You Do About It?</a:t>
            </a:r>
            <a:endParaRPr lang="en-US" sz="1500" dirty="0"/>
          </a:p>
          <a:p>
            <a:r>
              <a:rPr lang="en-IN" sz="1500" dirty="0">
                <a:hlinkClick r:id="rId14"/>
              </a:rPr>
              <a:t>Optimising .NET for High-Frequency Trading: Microseconds Matter</a:t>
            </a:r>
            <a:endParaRPr lang="en-IN" sz="1500" dirty="0"/>
          </a:p>
          <a:p>
            <a:r>
              <a:rPr lang="en-US" sz="1500" dirty="0">
                <a:hlinkClick r:id="rId15"/>
              </a:rPr>
              <a:t>6 Rules for Ultra-Low Latency Data Access at Massive Scale in C#</a:t>
            </a:r>
            <a:endParaRPr lang="en-US" sz="1500" dirty="0"/>
          </a:p>
          <a:p>
            <a:r>
              <a:rPr lang="en-US" sz="1500" dirty="0">
                <a:hlinkClick r:id="rId16"/>
              </a:rPr>
              <a:t>Awesome-Dot-Net-Performance</a:t>
            </a:r>
            <a:endParaRPr lang="en-US" sz="1500" dirty="0"/>
          </a:p>
          <a:p>
            <a:r>
              <a:rPr lang="en-IN" sz="1500" dirty="0">
                <a:hlinkClick r:id="rId17"/>
              </a:rPr>
              <a:t>PerformanceTuningHandbookShare.pdf</a:t>
            </a:r>
            <a:endParaRPr lang="en-US" sz="1500" dirty="0"/>
          </a:p>
          <a:p>
            <a:r>
              <a:rPr lang="en-US" sz="1500" dirty="0">
                <a:hlinkClick r:id="rId18"/>
              </a:rPr>
              <a:t>Awesome-Low-Latency</a:t>
            </a:r>
            <a:endParaRPr lang="en-US" sz="1500" dirty="0"/>
          </a:p>
          <a:p>
            <a:r>
              <a:rPr lang="en-US" sz="1500" dirty="0">
                <a:hlinkClick r:id="rId19"/>
              </a:rPr>
              <a:t>Free Masterclass on Low-Latency Programming &amp; High Frequency Trading</a:t>
            </a:r>
            <a:endParaRPr lang="en-US" sz="1500" dirty="0"/>
          </a:p>
          <a:p>
            <a:r>
              <a:rPr lang="en-IN" sz="1500" dirty="0">
                <a:hlinkClick r:id="rId20"/>
              </a:rPr>
              <a:t>Stephen Toub - MSFT, Author at .NET Blog</a:t>
            </a:r>
            <a:endParaRPr lang="en-IN" sz="1500" dirty="0"/>
          </a:p>
          <a:p>
            <a:r>
              <a:rPr lang="da-DK" sz="1500" dirty="0">
                <a:hlinkClick r:id="rId21"/>
              </a:rPr>
              <a:t>David Fowler, Author at .NET Blog</a:t>
            </a:r>
            <a:endParaRPr lang="da-DK" sz="1500" dirty="0"/>
          </a:p>
          <a:p>
            <a:endParaRPr lang="en-US" sz="1500" dirty="0">
              <a:solidFill>
                <a:schemeClr val="accent6"/>
              </a:solidFill>
              <a:latin typeface="Google Sans"/>
            </a:endParaRPr>
          </a:p>
        </p:txBody>
      </p:sp>
    </p:spTree>
    <p:extLst>
      <p:ext uri="{BB962C8B-B14F-4D97-AF65-F5344CB8AC3E}">
        <p14:creationId xmlns:p14="http://schemas.microsoft.com/office/powerpoint/2010/main" val="2497223672"/>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object 2"/>
          <p:cNvSpPr txBox="1">
            <a:spLocks noGrp="1"/>
          </p:cNvSpPr>
          <p:nvPr>
            <p:ph type="title"/>
          </p:nvPr>
        </p:nvSpPr>
        <p:spPr>
          <a:xfrm>
            <a:off x="2590800" y="1670209"/>
            <a:ext cx="3733800" cy="2215991"/>
          </a:xfrm>
          <a:prstGeom prst="rect">
            <a:avLst/>
          </a:prstGeom>
        </p:spPr>
        <p:txBody>
          <a:bodyPr vert="horz" wrap="square" lIns="0" tIns="0" rIns="0" bIns="0" rtlCol="0">
            <a:spAutoFit/>
          </a:bodyPr>
          <a:lstStyle/>
          <a:p>
            <a:pPr marL="12700" marR="5080" algn="ctr">
              <a:lnSpc>
                <a:spcPct val="100000"/>
              </a:lnSpc>
            </a:pPr>
            <a:r>
              <a:rPr lang="en-US" sz="7200" spc="-220" dirty="0">
                <a:solidFill>
                  <a:schemeClr val="accent6"/>
                </a:solidFill>
              </a:rPr>
              <a:t>Thank You</a:t>
            </a:r>
            <a:endParaRPr lang="en-US" sz="7200" spc="-80" dirty="0">
              <a:solidFill>
                <a:schemeClr val="accent6"/>
              </a:solidFill>
            </a:endParaRPr>
          </a:p>
        </p:txBody>
      </p:sp>
    </p:spTree>
    <p:extLst>
      <p:ext uri="{BB962C8B-B14F-4D97-AF65-F5344CB8AC3E}">
        <p14:creationId xmlns:p14="http://schemas.microsoft.com/office/powerpoint/2010/main" val="3678187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FB92261DF0CF34EB4810633B41F348E" ma:contentTypeVersion="12" ma:contentTypeDescription="Create a new document." ma:contentTypeScope="" ma:versionID="0504b6c5dad5cedb559b2ba5661c1516">
  <xsd:schema xmlns:xsd="http://www.w3.org/2001/XMLSchema" xmlns:xs="http://www.w3.org/2001/XMLSchema" xmlns:p="http://schemas.microsoft.com/office/2006/metadata/properties" xmlns:ns2="73c285a4-81d7-45ed-89e3-084ec343ed0e" xmlns:ns3="9eeb171f-62b6-4207-910a-f222f02eca92" targetNamespace="http://schemas.microsoft.com/office/2006/metadata/properties" ma:root="true" ma:fieldsID="ee446bd52ab24cfc94472a148ee352b7" ns2:_="" ns3:_="">
    <xsd:import namespace="73c285a4-81d7-45ed-89e3-084ec343ed0e"/>
    <xsd:import namespace="9eeb171f-62b6-4207-910a-f222f02eca92"/>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c285a4-81d7-45ed-89e3-084ec343ed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eeb171f-62b6-4207-910a-f222f02eca92"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54ED045-44B0-4818-8BF2-60E776B56E88}">
  <ds:schemaRefs>
    <ds:schemaRef ds:uri="http://schemas.microsoft.com/sharepoint/v3/contenttype/forms"/>
  </ds:schemaRefs>
</ds:datastoreItem>
</file>

<file path=customXml/itemProps2.xml><?xml version="1.0" encoding="utf-8"?>
<ds:datastoreItem xmlns:ds="http://schemas.openxmlformats.org/officeDocument/2006/customXml" ds:itemID="{7845EBFA-FEA7-417E-8860-8460D20694CB}">
  <ds:schemaRefs>
    <ds:schemaRef ds:uri="http://schemas.openxmlformats.org/package/2006/metadata/core-properties"/>
    <ds:schemaRef ds:uri="http://www.w3.org/XML/1998/namespace"/>
    <ds:schemaRef ds:uri="http://schemas.microsoft.com/office/infopath/2007/PartnerControls"/>
    <ds:schemaRef ds:uri="73c285a4-81d7-45ed-89e3-084ec343ed0e"/>
    <ds:schemaRef ds:uri="9eeb171f-62b6-4207-910a-f222f02eca92"/>
    <ds:schemaRef ds:uri="http://schemas.microsoft.com/office/2006/documentManagement/types"/>
    <ds:schemaRef ds:uri="http://purl.org/dc/elements/1.1/"/>
    <ds:schemaRef ds:uri="http://schemas.microsoft.com/office/2006/metadata/properties"/>
    <ds:schemaRef ds:uri="http://purl.org/dc/dcmitype/"/>
    <ds:schemaRef ds:uri="http://purl.org/dc/terms/"/>
  </ds:schemaRefs>
</ds:datastoreItem>
</file>

<file path=customXml/itemProps3.xml><?xml version="1.0" encoding="utf-8"?>
<ds:datastoreItem xmlns:ds="http://schemas.openxmlformats.org/officeDocument/2006/customXml" ds:itemID="{1561FB4F-8CDF-4FC4-86AB-6B9C0823A4A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3c285a4-81d7-45ed-89e3-084ec343ed0e"/>
    <ds:schemaRef ds:uri="9eeb171f-62b6-4207-910a-f222f02eca9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19139</TotalTime>
  <Words>32749</Words>
  <Application>Microsoft Office PowerPoint</Application>
  <PresentationFormat>Custom</PresentationFormat>
  <Paragraphs>5268</Paragraphs>
  <Slides>298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298</vt:i4>
      </vt:variant>
    </vt:vector>
  </HeadingPairs>
  <TitlesOfParts>
    <vt:vector size="306" baseType="lpstr">
      <vt:lpstr>Aptos Narrow</vt:lpstr>
      <vt:lpstr>Arial</vt:lpstr>
      <vt:lpstr>Arial</vt:lpstr>
      <vt:lpstr>Calibri</vt:lpstr>
      <vt:lpstr>Google Sans</vt:lpstr>
      <vt:lpstr>Lucida Sans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case  for Chello</dc:title>
  <dc:creator>Kumar, Harendra (Cognizant)</dc:creator>
  <cp:lastModifiedBy>Ray, Sandip (Cognizant)</cp:lastModifiedBy>
  <cp:revision>2449</cp:revision>
  <dcterms:created xsi:type="dcterms:W3CDTF">2020-11-03T17:16:52Z</dcterms:created>
  <dcterms:modified xsi:type="dcterms:W3CDTF">2026-02-24T06:59:04Z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2020-10-21T00:00:00Z</vt:filetime>
  </property>
  <property fmtid="{D5CDD505-2E9C-101B-9397-08002B2CF9AE}" pid="3" name="Creator">
    <vt:lpwstr>Adobe InDesign 15.1 (Macintosh)</vt:lpwstr>
  </property>
  <property fmtid="{D5CDD505-2E9C-101B-9397-08002B2CF9AE}" pid="4" name="LastSaved">
    <vt:filetime>2020-11-03T00:00:00Z</vt:filetime>
  </property>
  <property fmtid="{D5CDD505-2E9C-101B-9397-08002B2CF9AE}" pid="5" name="ContentTypeId">
    <vt:lpwstr>0x0101008FB92261DF0CF34EB4810633B41F348E</vt:lpwstr>
  </property>
</Properties>
</file>