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1.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7"/>
  </p:notesMasterIdLst>
  <p:sldIdLst>
    <p:sldId id="565" r:id="rId5"/>
    <p:sldId id="408" r:id="rId6"/>
    <p:sldId id="406" r:id="rId7"/>
    <p:sldId id="407" r:id="rId8"/>
    <p:sldId id="409" r:id="rId9"/>
    <p:sldId id="410" r:id="rId10"/>
    <p:sldId id="414" r:id="rId11"/>
    <p:sldId id="416" r:id="rId12"/>
    <p:sldId id="417" r:id="rId13"/>
    <p:sldId id="418" r:id="rId14"/>
    <p:sldId id="770" r:id="rId15"/>
    <p:sldId id="422" r:id="rId16"/>
    <p:sldId id="873" r:id="rId17"/>
    <p:sldId id="874" r:id="rId18"/>
    <p:sldId id="875" r:id="rId19"/>
    <p:sldId id="876" r:id="rId20"/>
    <p:sldId id="877" r:id="rId21"/>
    <p:sldId id="878" r:id="rId22"/>
    <p:sldId id="880" r:id="rId23"/>
    <p:sldId id="879" r:id="rId24"/>
    <p:sldId id="881" r:id="rId25"/>
    <p:sldId id="882" r:id="rId26"/>
    <p:sldId id="883" r:id="rId27"/>
    <p:sldId id="419" r:id="rId28"/>
    <p:sldId id="444" r:id="rId29"/>
    <p:sldId id="420" r:id="rId30"/>
    <p:sldId id="421" r:id="rId31"/>
    <p:sldId id="529" r:id="rId32"/>
    <p:sldId id="530" r:id="rId33"/>
    <p:sldId id="432" r:id="rId34"/>
    <p:sldId id="821" r:id="rId35"/>
    <p:sldId id="822" r:id="rId36"/>
    <p:sldId id="427" r:id="rId37"/>
    <p:sldId id="423" r:id="rId38"/>
    <p:sldId id="424" r:id="rId39"/>
    <p:sldId id="433" r:id="rId40"/>
    <p:sldId id="426" r:id="rId41"/>
    <p:sldId id="749" r:id="rId42"/>
    <p:sldId id="757" r:id="rId43"/>
    <p:sldId id="754" r:id="rId44"/>
    <p:sldId id="756" r:id="rId45"/>
    <p:sldId id="431" r:id="rId46"/>
    <p:sldId id="528" r:id="rId47"/>
    <p:sldId id="769" r:id="rId48"/>
    <p:sldId id="429" r:id="rId49"/>
    <p:sldId id="430" r:id="rId50"/>
    <p:sldId id="460" r:id="rId51"/>
    <p:sldId id="461" r:id="rId52"/>
    <p:sldId id="462" r:id="rId53"/>
    <p:sldId id="463" r:id="rId54"/>
    <p:sldId id="464" r:id="rId55"/>
    <p:sldId id="466" r:id="rId56"/>
    <p:sldId id="468" r:id="rId57"/>
    <p:sldId id="467" r:id="rId58"/>
    <p:sldId id="473" r:id="rId59"/>
    <p:sldId id="471" r:id="rId60"/>
    <p:sldId id="470" r:id="rId61"/>
    <p:sldId id="472" r:id="rId62"/>
    <p:sldId id="751" r:id="rId63"/>
    <p:sldId id="750" r:id="rId64"/>
    <p:sldId id="465" r:id="rId65"/>
    <p:sldId id="481" r:id="rId66"/>
    <p:sldId id="474" r:id="rId67"/>
    <p:sldId id="475" r:id="rId68"/>
    <p:sldId id="476" r:id="rId69"/>
    <p:sldId id="482" r:id="rId70"/>
    <p:sldId id="483" r:id="rId71"/>
    <p:sldId id="496" r:id="rId72"/>
    <p:sldId id="497" r:id="rId73"/>
    <p:sldId id="490" r:id="rId74"/>
    <p:sldId id="489" r:id="rId75"/>
    <p:sldId id="485" r:id="rId76"/>
    <p:sldId id="477" r:id="rId77"/>
    <p:sldId id="478" r:id="rId78"/>
    <p:sldId id="495" r:id="rId79"/>
    <p:sldId id="492" r:id="rId80"/>
    <p:sldId id="493" r:id="rId81"/>
    <p:sldId id="494" r:id="rId82"/>
    <p:sldId id="823" r:id="rId83"/>
    <p:sldId id="824" r:id="rId84"/>
    <p:sldId id="844" r:id="rId85"/>
    <p:sldId id="852" r:id="rId86"/>
    <p:sldId id="853" r:id="rId87"/>
    <p:sldId id="854" r:id="rId88"/>
    <p:sldId id="855" r:id="rId89"/>
    <p:sldId id="856" r:id="rId90"/>
    <p:sldId id="857" r:id="rId91"/>
    <p:sldId id="859" r:id="rId92"/>
    <p:sldId id="858" r:id="rId93"/>
    <p:sldId id="860" r:id="rId94"/>
    <p:sldId id="861" r:id="rId95"/>
    <p:sldId id="862" r:id="rId96"/>
    <p:sldId id="479" r:id="rId97"/>
    <p:sldId id="480" r:id="rId98"/>
    <p:sldId id="846" r:id="rId99"/>
    <p:sldId id="845" r:id="rId100"/>
    <p:sldId id="847" r:id="rId101"/>
    <p:sldId id="848" r:id="rId102"/>
    <p:sldId id="863" r:id="rId103"/>
    <p:sldId id="864" r:id="rId104"/>
    <p:sldId id="865" r:id="rId105"/>
    <p:sldId id="866" r:id="rId106"/>
    <p:sldId id="867" r:id="rId107"/>
    <p:sldId id="868" r:id="rId108"/>
    <p:sldId id="469" r:id="rId109"/>
    <p:sldId id="320" r:id="rId110"/>
    <p:sldId id="321" r:id="rId111"/>
    <p:sldId id="776" r:id="rId112"/>
    <p:sldId id="582" r:id="rId113"/>
    <p:sldId id="778" r:id="rId114"/>
    <p:sldId id="777" r:id="rId115"/>
    <p:sldId id="787" r:id="rId116"/>
    <p:sldId id="869" r:id="rId117"/>
    <p:sldId id="870" r:id="rId118"/>
    <p:sldId id="872" r:id="rId119"/>
    <p:sldId id="871" r:id="rId120"/>
    <p:sldId id="740" r:id="rId121"/>
    <p:sldId id="738" r:id="rId122"/>
    <p:sldId id="779" r:id="rId123"/>
    <p:sldId id="780" r:id="rId124"/>
    <p:sldId id="781" r:id="rId125"/>
    <p:sldId id="782" r:id="rId126"/>
    <p:sldId id="783" r:id="rId127"/>
    <p:sldId id="520" r:id="rId128"/>
    <p:sldId id="784" r:id="rId129"/>
    <p:sldId id="747" r:id="rId130"/>
    <p:sldId id="785" r:id="rId131"/>
    <p:sldId id="733" r:id="rId132"/>
    <p:sldId id="773" r:id="rId133"/>
    <p:sldId id="772" r:id="rId134"/>
    <p:sldId id="739" r:id="rId135"/>
    <p:sldId id="775" r:id="rId136"/>
    <p:sldId id="774" r:id="rId137"/>
    <p:sldId id="788" r:id="rId138"/>
    <p:sldId id="789" r:id="rId139"/>
    <p:sldId id="797" r:id="rId140"/>
    <p:sldId id="799" r:id="rId141"/>
    <p:sldId id="800" r:id="rId142"/>
    <p:sldId id="802" r:id="rId143"/>
    <p:sldId id="807" r:id="rId144"/>
    <p:sldId id="808" r:id="rId145"/>
    <p:sldId id="795" r:id="rId146"/>
    <p:sldId id="794" r:id="rId147"/>
    <p:sldId id="796" r:id="rId148"/>
    <p:sldId id="832" r:id="rId149"/>
    <p:sldId id="833" r:id="rId150"/>
    <p:sldId id="834" r:id="rId151"/>
    <p:sldId id="835" r:id="rId152"/>
    <p:sldId id="836" r:id="rId153"/>
    <p:sldId id="838" r:id="rId154"/>
    <p:sldId id="839" r:id="rId155"/>
    <p:sldId id="786" r:id="rId156"/>
    <p:sldId id="801" r:id="rId157"/>
    <p:sldId id="803" r:id="rId158"/>
    <p:sldId id="804" r:id="rId159"/>
    <p:sldId id="805" r:id="rId160"/>
    <p:sldId id="806" r:id="rId161"/>
    <p:sldId id="746" r:id="rId162"/>
    <p:sldId id="573" r:id="rId163"/>
    <p:sldId id="574" r:id="rId164"/>
    <p:sldId id="531" r:id="rId165"/>
    <p:sldId id="294" r:id="rId16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1144" y="8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viewProps" Target="viewProps.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theme" Target="theme/theme1.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72"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microsoft.com/office/2016/11/relationships/changesInfo" Target="changesInfos/changesInfo1.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8873074"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11/15/2025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11/15/2025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11/15/2025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11/15/2025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11/15/2025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hyperlink" Target="https://www.handsonarchitect.com/2022/08/cloud-native-fifteen-factor-apps.html"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5.xml"/><Relationship Id="rId7" Type="http://schemas.openxmlformats.org/officeDocument/2006/relationships/image" Target="../media/image5.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6.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 Id="rId9" Type="http://schemas.openxmlformats.org/officeDocument/2006/relationships/image" Target="../media/image6.jpeg"/></Relationships>
</file>

<file path=ppt/slides/_rels/slide7.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7.xml"/><Relationship Id="rId7" Type="http://schemas.openxmlformats.org/officeDocument/2006/relationships/image" Target="../media/image7.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7.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pgadmin.org/" TargetMode="External"/><Relationship Id="rId5" Type="http://schemas.openxmlformats.org/officeDocument/2006/relationships/diagramColors" Target="../diagrams/colors7.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7.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8.xml"/><Relationship Id="rId7" Type="http://schemas.openxmlformats.org/officeDocument/2006/relationships/image" Target="../media/image8.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9.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9.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9.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9.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9.png"/><Relationship Id="rId4" Type="http://schemas.openxmlformats.org/officeDocument/2006/relationships/diagramQuickStyle" Target="../diagrams/quickStyle9.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7" Type="http://schemas.openxmlformats.org/officeDocument/2006/relationships/image" Target="../media/image10.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11.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hyperlink" Target="https://www.packtpub.com/en-us/product/policy-design-in-the-age-of-digital-adoption-9781801811743"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12.xml"/><Relationship Id="rId7" Type="http://schemas.openxmlformats.org/officeDocument/2006/relationships/image" Target="../media/image11.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12.xml"/><Relationship Id="rId9" Type="http://schemas.openxmlformats.org/officeDocument/2006/relationships/hyperlink" Target="https://spring.io/blog/2016/05/31/zero-downtime-deployment-with-a-database" TargetMode="Externa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1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20.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11" Type="http://schemas.openxmlformats.org/officeDocument/2006/relationships/hyperlink" Target="https://github.com/Kong/apiops-lab" TargetMode="External"/><Relationship Id="rId5" Type="http://schemas.openxmlformats.org/officeDocument/2006/relationships/diagramColors" Target="../diagrams/colors20.xml"/><Relationship Id="rId10" Type="http://schemas.openxmlformats.org/officeDocument/2006/relationships/hyperlink" Target="https://azure.github.io/apiops/" TargetMode="External"/><Relationship Id="rId4" Type="http://schemas.openxmlformats.org/officeDocument/2006/relationships/diagramQuickStyle" Target="../diagrams/quickStyle20.xml"/><Relationship Id="rId9" Type="http://schemas.openxmlformats.org/officeDocument/2006/relationships/hyperlink" Target="https://learn.microsoft.com/en-us/azure/architecture/example-scenario/devops/automated-api-deployments-apiops"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24.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 Id="rId9" Type="http://schemas.openxmlformats.org/officeDocument/2006/relationships/image" Target="../media/image13.png"/></Relationships>
</file>

<file path=ppt/slides/_rels/slide25.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25.xml"/><Relationship Id="rId21" Type="http://schemas.openxmlformats.org/officeDocument/2006/relationships/image" Target="../media/image14.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25.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25.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25.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26.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26.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26.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27.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11" Type="http://schemas.openxmlformats.org/officeDocument/2006/relationships/image" Target="../media/image16.jpeg"/><Relationship Id="rId5" Type="http://schemas.openxmlformats.org/officeDocument/2006/relationships/diagramColors" Target="../diagrams/colors27.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27.xml"/><Relationship Id="rId9" Type="http://schemas.openxmlformats.org/officeDocument/2006/relationships/hyperlink" Target="https://github.com/iriusrisk/bdd-security" TargetMode="Externa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29.xml"/><Relationship Id="rId3" Type="http://schemas.openxmlformats.org/officeDocument/2006/relationships/diagramLayout" Target="../diagrams/layout28.xml"/><Relationship Id="rId7" Type="http://schemas.openxmlformats.org/officeDocument/2006/relationships/diagramData" Target="../diagrams/data29.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11" Type="http://schemas.microsoft.com/office/2007/relationships/diagramDrawing" Target="../diagrams/drawing29.xml"/><Relationship Id="rId5" Type="http://schemas.openxmlformats.org/officeDocument/2006/relationships/diagramColors" Target="../diagrams/colors28.xml"/><Relationship Id="rId10" Type="http://schemas.openxmlformats.org/officeDocument/2006/relationships/diagramColors" Target="../diagrams/colors29.xml"/><Relationship Id="rId4" Type="http://schemas.openxmlformats.org/officeDocument/2006/relationships/diagramQuickStyle" Target="../diagrams/quickStyle28.xml"/><Relationship Id="rId9" Type="http://schemas.openxmlformats.org/officeDocument/2006/relationships/diagramQuickStyle" Target="../diagrams/quickStyle29.xml"/></Relationships>
</file>

<file path=ppt/slides/_rels/slide29.xml.rels><?xml version="1.0" encoding="UTF-8" standalone="yes"?>
<Relationships xmlns="http://schemas.openxmlformats.org/package/2006/relationships"><Relationship Id="rId8" Type="http://schemas.openxmlformats.org/officeDocument/2006/relationships/diagramData" Target="../diagrams/data31.xml"/><Relationship Id="rId3" Type="http://schemas.openxmlformats.org/officeDocument/2006/relationships/diagramLayout" Target="../diagrams/layout30.xml"/><Relationship Id="rId7" Type="http://schemas.openxmlformats.org/officeDocument/2006/relationships/image" Target="../media/image17.png"/><Relationship Id="rId12" Type="http://schemas.microsoft.com/office/2007/relationships/diagramDrawing" Target="../diagrams/drawing31.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11" Type="http://schemas.openxmlformats.org/officeDocument/2006/relationships/diagramColors" Target="../diagrams/colors31.xml"/><Relationship Id="rId5" Type="http://schemas.openxmlformats.org/officeDocument/2006/relationships/diagramColors" Target="../diagrams/colors30.xml"/><Relationship Id="rId10" Type="http://schemas.openxmlformats.org/officeDocument/2006/relationships/diagramQuickStyle" Target="../diagrams/quickStyle31.xml"/><Relationship Id="rId4" Type="http://schemas.openxmlformats.org/officeDocument/2006/relationships/diagramQuickStyle" Target="../diagrams/quickStyle30.xml"/><Relationship Id="rId9" Type="http://schemas.openxmlformats.org/officeDocument/2006/relationships/diagramLayout" Target="../diagrams/layout31.xml"/></Relationships>
</file>

<file path=ppt/slides/_rels/slide30.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32.xml"/><Relationship Id="rId21" Type="http://schemas.openxmlformats.org/officeDocument/2006/relationships/diagramLayout" Target="../diagrams/layout33.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32.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infoq.com/presentations/fault-isolation-cloud/" TargetMode="External"/><Relationship Id="rId24" Type="http://schemas.microsoft.com/office/2007/relationships/diagramDrawing" Target="../diagrams/drawing33.xml"/><Relationship Id="rId5" Type="http://schemas.openxmlformats.org/officeDocument/2006/relationships/diagramColors" Target="../diagrams/colors32.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33.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32.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33.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2.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35.xml"/><Relationship Id="rId7" Type="http://schemas.openxmlformats.org/officeDocument/2006/relationships/hyperlink" Target="https://www.youtube.com/watch?v=ukgmp6uxQJc"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3.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36.xml"/><Relationship Id="rId7" Type="http://schemas.openxmlformats.org/officeDocument/2006/relationships/image" Target="../media/image18.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36.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36.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37.xml"/><Relationship Id="rId7" Type="http://schemas.openxmlformats.org/officeDocument/2006/relationships/image" Target="../media/image19.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37.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37.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8.xml"/><Relationship Id="rId7" Type="http://schemas.openxmlformats.org/officeDocument/2006/relationships/image" Target="../media/image20.png"/><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39.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 Id="rId9" Type="http://schemas.openxmlformats.org/officeDocument/2006/relationships/image" Target="../media/image21.png"/></Relationships>
</file>

<file path=ppt/slides/_rels/slide37.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40.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40.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40.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40.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40.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38.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41.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41.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41.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41.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39.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42.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42.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42.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42.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42.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43.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43.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43.xml"/><Relationship Id="rId9" Type="http://schemas.openxmlformats.org/officeDocument/2006/relationships/hyperlink" Target="https://github.com/Fundamentals-of-Data-Observability/oreilly-fodo-source-code"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44.xml"/><Relationship Id="rId7" Type="http://schemas.openxmlformats.org/officeDocument/2006/relationships/hyperlink" Target="https://www.checklyhq.com/blog/observability-as-code/"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44.xml"/><Relationship Id="rId9" Type="http://schemas.openxmlformats.org/officeDocument/2006/relationships/hyperlink" Target="https://microsoft.github.io/code-with-engineering-playbook/observability/observability-as-code/"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diagramLayout" Target="../diagrams/layout45.xml"/><Relationship Id="rId7" Type="http://schemas.openxmlformats.org/officeDocument/2006/relationships/image" Target="../media/image22.png"/><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3.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46.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46.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46.xml"/><Relationship Id="rId9" Type="http://schemas.openxmlformats.org/officeDocument/2006/relationships/hyperlink" Target="https://highscalability.com/4-strategies-for-punching-down-traffic-spik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47.xml"/><Relationship Id="rId7" Type="http://schemas.openxmlformats.org/officeDocument/2006/relationships/hyperlink" Target="https://blog.invgate.com/ticket-triage"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image" Target="../media/image24.png"/><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image" Target="../media/image25.pn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26.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image" Target="../media/image27.png"/><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52.xml"/><Relationship Id="rId7" Type="http://schemas.openxmlformats.org/officeDocument/2006/relationships/image" Target="../media/image28.jpeg"/><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diagramLayout" Target="../diagrams/layout53.xml"/><Relationship Id="rId7" Type="http://schemas.openxmlformats.org/officeDocument/2006/relationships/image" Target="../media/image29.png"/><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54.xml"/><Relationship Id="rId7" Type="http://schemas.openxmlformats.org/officeDocument/2006/relationships/image" Target="../media/image29.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11" Type="http://schemas.openxmlformats.org/officeDocument/2006/relationships/hyperlink" Target="https://github.com/linkedin/ambry" TargetMode="External"/><Relationship Id="rId5" Type="http://schemas.openxmlformats.org/officeDocument/2006/relationships/diagramColors" Target="../diagrams/colors54.xml"/><Relationship Id="rId10" Type="http://schemas.openxmlformats.org/officeDocument/2006/relationships/hyperlink" Target="https://docs.aws.amazon.com/transfer/" TargetMode="External"/><Relationship Id="rId4" Type="http://schemas.openxmlformats.org/officeDocument/2006/relationships/diagramQuickStyle" Target="../diagrams/quickStyle54.xml"/><Relationship Id="rId9" Type="http://schemas.openxmlformats.org/officeDocument/2006/relationships/hyperlink" Target="https://dataakkadian.medium.com/learn-the-differences-between-block-file-and-object-storage-93c67ef4e163"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diagramLayout" Target="../diagrams/layout55.xml"/><Relationship Id="rId7" Type="http://schemas.openxmlformats.org/officeDocument/2006/relationships/image" Target="../media/image29.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56.xml"/><Relationship Id="rId7" Type="http://schemas.openxmlformats.org/officeDocument/2006/relationships/image" Target="../media/image29.pn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 Id="rId9" Type="http://schemas.openxmlformats.org/officeDocument/2006/relationships/hyperlink" Target="https://www.openfaas.com/blog/asp-net-core/"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diagramLayout" Target="../diagrams/layout57.xml"/><Relationship Id="rId7" Type="http://schemas.openxmlformats.org/officeDocument/2006/relationships/image" Target="../media/image29.png"/><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35.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36.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60.xml"/><Relationship Id="rId7" Type="http://schemas.openxmlformats.org/officeDocument/2006/relationships/image" Target="../media/image37.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38.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39.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0.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63.xml"/><Relationship Id="rId21" Type="http://schemas.openxmlformats.org/officeDocument/2006/relationships/hyperlink" Target="https://github.com/anksos/awesome-knative" TargetMode="External"/><Relationship Id="rId7" Type="http://schemas.microsoft.com/office/2007/relationships/diagramDrawing" Target="../diagrams/drawing63.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1.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63.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63.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63.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64.xml"/><Relationship Id="rId7" Type="http://schemas.openxmlformats.org/officeDocument/2006/relationships/hyperlink" Target="https://www.javatpoint.com/ip-address-format-and-table"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image" Target="../media/image40.png"/><Relationship Id="rId4" Type="http://schemas.openxmlformats.org/officeDocument/2006/relationships/diagramQuickStyle" Target="../diagrams/quickStyle64.xml"/><Relationship Id="rId9" Type="http://schemas.openxmlformats.org/officeDocument/2006/relationships/hyperlink" Target="https://dev.to/aws-builders/aws-networking-aws-vpc-subnets-security-groups-nat-gateway-ip-addresses-4p8c" TargetMode="Externa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41.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42.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7.xml"/><Relationship Id="rId7" Type="http://schemas.openxmlformats.org/officeDocument/2006/relationships/image" Target="../media/image43.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8.xml"/><Relationship Id="rId7" Type="http://schemas.openxmlformats.org/officeDocument/2006/relationships/image" Target="../media/image44.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45.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70.xml"/><Relationship Id="rId7" Type="http://schemas.openxmlformats.org/officeDocument/2006/relationships/image" Target="../media/image46.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68.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71.xml"/><Relationship Id="rId7" Type="http://schemas.openxmlformats.org/officeDocument/2006/relationships/image" Target="../media/image47.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69.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72.xml"/><Relationship Id="rId7" Type="http://schemas.openxmlformats.org/officeDocument/2006/relationships/image" Target="../media/image48.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72.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72.xml"/><Relationship Id="rId9" Type="http://schemas.openxmlformats.org/officeDocument/2006/relationships/hyperlink" Target="https://learn.microsoft.com/en-us/entra/id-governance/privileged-identity-management/pim-configure" TargetMode="Externa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image" Target="../media/image49.png"/><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74.xml"/><Relationship Id="rId7" Type="http://schemas.openxmlformats.org/officeDocument/2006/relationships/image" Target="../media/image50.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5.xml"/><Relationship Id="rId7" Type="http://schemas.openxmlformats.org/officeDocument/2006/relationships/image" Target="../media/image52.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53.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4.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77.xml"/><Relationship Id="rId7" Type="http://schemas.openxmlformats.org/officeDocument/2006/relationships/image" Target="../media/image54.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 Id="rId9" Type="http://schemas.openxmlformats.org/officeDocument/2006/relationships/hyperlink" Target="https://www.syncfusion.com/succinctly-free-ebooks/app-modernization-on-azure-succinctly"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78.xml"/><Relationship Id="rId7" Type="http://schemas.openxmlformats.org/officeDocument/2006/relationships/image" Target="../media/image55.png"/><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9.xm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0.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83.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 Id="rId9" Type="http://schemas.openxmlformats.org/officeDocument/2006/relationships/hyperlink" Target="https://cloud.google.com/architecture/landing-zones" TargetMode="Externa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5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5.xml"/><Relationship Id="rId7" Type="http://schemas.openxmlformats.org/officeDocument/2006/relationships/image" Target="../media/image57.png"/><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6.xml"/><Relationship Id="rId7" Type="http://schemas.openxmlformats.org/officeDocument/2006/relationships/image" Target="../media/image58.png"/><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7.xml"/><Relationship Id="rId7" Type="http://schemas.openxmlformats.org/officeDocument/2006/relationships/image" Target="../media/image59.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88.xml"/><Relationship Id="rId7" Type="http://schemas.openxmlformats.org/officeDocument/2006/relationships/image" Target="../media/image60.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image" Target="../media/image61.pn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image" Target="../media/image62.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63.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64.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6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6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3.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96.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7.xm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98.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01.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01.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01.xml"/><Relationship Id="rId9" Type="http://schemas.openxmlformats.org/officeDocument/2006/relationships/hyperlink" Target="https://cloud.google.com/architecture/hybrid-multicloud-patterns-and-practices/one-page-view"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4.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07.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07.xml"/><Relationship Id="rId9" Type="http://schemas.openxmlformats.org/officeDocument/2006/relationships/hyperlink" Target="https://www.cisco.com/c/en/us/solutions/design-zone/data-center-design-guides/data-center-design-guides-all.html"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08.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analogiescloud.com/" TargetMode="External"/><Relationship Id="rId5" Type="http://schemas.openxmlformats.org/officeDocument/2006/relationships/diagramColors" Target="../diagrams/colors108.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08.xml"/><Relationship Id="rId9" Type="http://schemas.openxmlformats.org/officeDocument/2006/relationships/hyperlink" Target="https://roadmap.sh/aws" TargetMode="External"/></Relationships>
</file>

<file path=ppt/slides/_rels/slide106.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09.xml"/><Relationship Id="rId7" Type="http://schemas.openxmlformats.org/officeDocument/2006/relationships/image" Target="../media/image67.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68.gif"/><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69.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2.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115.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115.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115.xml"/><Relationship Id="rId9" Type="http://schemas.openxmlformats.org/officeDocument/2006/relationships/hyperlink" Target="https://github.com/PacktPublishing/Platform-Engineering-for-Architects" TargetMode="Externa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6.xml"/><Relationship Id="rId7" Type="http://schemas.openxmlformats.org/officeDocument/2006/relationships/image" Target="../media/image70.png"/><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7.xm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8.xm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6.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119.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119.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119.xml"/><Relationship Id="rId9" Type="http://schemas.openxmlformats.org/officeDocument/2006/relationships/hyperlink" Target="https://gocardless.com/guides/posts/what-is-tpp-in-open-banking/" TargetMode="External"/></Relationships>
</file>

<file path=ppt/slides/_rels/slide117.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120.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120.xml"/><Relationship Id="rId15" Type="http://schemas.openxmlformats.org/officeDocument/2006/relationships/image" Target="../media/image71.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120.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21.xml"/><Relationship Id="rId7" Type="http://schemas.openxmlformats.org/officeDocument/2006/relationships/image" Target="../media/image72.png"/><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122.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122.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122.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3.xml"/><Relationship Id="rId7" Type="http://schemas.openxmlformats.org/officeDocument/2006/relationships/image" Target="../media/image73.png"/><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3.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126.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126.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126.xml"/><Relationship Id="rId11" Type="http://schemas.openxmlformats.org/officeDocument/2006/relationships/hyperlink" Target="https://adtechbook.clearcode.cc/" TargetMode="External"/><Relationship Id="rId5" Type="http://schemas.openxmlformats.org/officeDocument/2006/relationships/diagramColors" Target="../diagrams/colors126.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126.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27.xml"/><Relationship Id="rId7" Type="http://schemas.openxmlformats.org/officeDocument/2006/relationships/image" Target="../media/image74.png"/><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8.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9.xml"/><Relationship Id="rId7" Type="http://schemas.openxmlformats.org/officeDocument/2006/relationships/image" Target="../media/image75.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27.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130.xml"/><Relationship Id="rId7" Type="http://schemas.openxmlformats.org/officeDocument/2006/relationships/hyperlink" Target="https://marketplacebestpractices.com/"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31.xml"/><Relationship Id="rId7" Type="http://schemas.openxmlformats.org/officeDocument/2006/relationships/image" Target="../media/image76.png"/><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32.xm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0.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133.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133.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133.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133.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133.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7" Type="http://schemas.openxmlformats.org/officeDocument/2006/relationships/image" Target="../media/image77.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136.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136.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136.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134.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137.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11" Type="http://schemas.openxmlformats.org/officeDocument/2006/relationships/image" Target="../media/image78.png"/><Relationship Id="rId5" Type="http://schemas.openxmlformats.org/officeDocument/2006/relationships/diagramColors" Target="../diagrams/colors137.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137.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135.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138.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138.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138.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138.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138.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79.jpe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140.xml"/><Relationship Id="rId7" Type="http://schemas.openxmlformats.org/officeDocument/2006/relationships/hyperlink" Target="https://www.iot-a.eu/"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11" Type="http://schemas.openxmlformats.org/officeDocument/2006/relationships/hyperlink" Target="https://github.com/Apress/ar-vr-using-webxr-api" TargetMode="External"/><Relationship Id="rId5" Type="http://schemas.openxmlformats.org/officeDocument/2006/relationships/diagramColors" Target="../diagrams/colors140.xml"/><Relationship Id="rId10" Type="http://schemas.openxmlformats.org/officeDocument/2006/relationships/hyperlink" Target="https://www.iso.org/standard/88800.html" TargetMode="External"/><Relationship Id="rId4" Type="http://schemas.openxmlformats.org/officeDocument/2006/relationships/diagramQuickStyle" Target="../diagrams/quickStyle140.xml"/><Relationship Id="rId9" Type="http://schemas.openxmlformats.org/officeDocument/2006/relationships/hyperlink" Target="https://www.iiconsortium.org/iira/" TargetMode="External"/></Relationships>
</file>

<file path=ppt/slides/_rels/slide138.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www.packtpub.com/en-in/product/iot-and-edge-computing-for-architects-9781803237336" TargetMode="External"/><Relationship Id="rId18" Type="http://schemas.openxmlformats.org/officeDocument/2006/relationships/hyperlink" Target="https://subscription.packtpub.com/expert-reading-lists/advanced-embedded-architectures-and-socs" TargetMode="External"/><Relationship Id="rId3" Type="http://schemas.openxmlformats.org/officeDocument/2006/relationships/diagramLayout" Target="../diagrams/layout141.xm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st.github.com/sandipray63in/f72b3fb23ab938ae3710008fc16c48d1" TargetMode="External"/><Relationship Id="rId17" Type="http://schemas.openxmlformats.org/officeDocument/2006/relationships/hyperlink" Target="https://github.com/PacktPublishing/IoT-Edge-Computing-with-MicroK8s" TargetMode="External"/><Relationship Id="rId2" Type="http://schemas.openxmlformats.org/officeDocument/2006/relationships/diagramData" Target="../diagrams/data141.xml"/><Relationship Id="rId16" Type="http://schemas.openxmlformats.org/officeDocument/2006/relationships/hyperlink" Target="https://github.com/PacktPublishing/Edge-Computing-Patterns-for-Solution-Architects" TargetMode="External"/><Relationship Id="rId1" Type="http://schemas.openxmlformats.org/officeDocument/2006/relationships/slideLayout" Target="../slideLayouts/slideLayout2.xml"/><Relationship Id="rId6" Type="http://schemas.microsoft.com/office/2007/relationships/diagramDrawing" Target="../diagrams/drawing141.xml"/><Relationship Id="rId11" Type="http://schemas.openxmlformats.org/officeDocument/2006/relationships/hyperlink" Target="https://gist.github.com/sandipray63in/514cf0d4449b29b65b39e0f8225ada63" TargetMode="External"/><Relationship Id="rId5" Type="http://schemas.openxmlformats.org/officeDocument/2006/relationships/diagramColors" Target="../diagrams/colors141.xml"/><Relationship Id="rId15" Type="http://schemas.openxmlformats.org/officeDocument/2006/relationships/hyperlink" Target="https://github.com/PacktPublishing/Industrial-IoT-for-Architects-and-Engineers" TargetMode="External"/><Relationship Id="rId10" Type="http://schemas.openxmlformats.org/officeDocument/2006/relationships/hyperlink" Target="https://gist.github.com/sandipray63in/c64e2c586aaf0c66d33f4e8f994975d3" TargetMode="External"/><Relationship Id="rId4" Type="http://schemas.openxmlformats.org/officeDocument/2006/relationships/diagramQuickStyle" Target="../diagrams/quickStyle141.xml"/><Relationship Id="rId9" Type="http://schemas.openxmlformats.org/officeDocument/2006/relationships/hyperlink" Target="https://arxiv.org/pdf/2204.01872" TargetMode="External"/><Relationship Id="rId14" Type="http://schemas.openxmlformats.org/officeDocument/2006/relationships/hyperlink" Target="https://www.packtpub.com/en-in/product/architectural-patterns-and-techniques-for-developing-iot-solutions-9781803247632" TargetMode="Externa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42.xml"/><Relationship Id="rId7" Type="http://schemas.openxmlformats.org/officeDocument/2006/relationships/image" Target="../media/image80.png"/><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43.xm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1.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144.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144.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144.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7" Type="http://schemas.openxmlformats.org/officeDocument/2006/relationships/image" Target="../media/image81.png"/><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46.xm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44.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147.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147.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147.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image" Target="../media/image82.png"/><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9.xm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50.xm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83.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1.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154.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154.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154.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152.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155.xml"/><Relationship Id="rId7" Type="http://schemas.openxmlformats.org/officeDocument/2006/relationships/image" Target="../media/image84.png"/><Relationship Id="rId12" Type="http://schemas.openxmlformats.org/officeDocument/2006/relationships/hyperlink" Target="https://arxiv.org/pdf/2302.06184" TargetMode="External"/><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155.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155.xml"/><Relationship Id="rId9" Type="http://schemas.openxmlformats.org/officeDocument/2006/relationships/hyperlink" Target="https://learn.microsoft.com/en-us/industry/manufacturing/architecture/ra-overview" TargetMode="Externa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6.xml"/><Relationship Id="rId7" Type="http://schemas.openxmlformats.org/officeDocument/2006/relationships/image" Target="../media/image85.png"/><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57.xm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8.xml"/><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60.xm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58.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161.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161.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161.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161.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161.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159.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162.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162.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162.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162.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162.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160.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163.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163.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163.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163.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163.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161.xml.rels><?xml version="1.0" encoding="UTF-8" standalone="yes"?>
<Relationships xmlns="http://schemas.openxmlformats.org/package/2006/relationships"><Relationship Id="rId3" Type="http://schemas.openxmlformats.org/officeDocument/2006/relationships/diagramLayout" Target="../diagrams/layout164.xm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0" y="609600"/>
            <a:ext cx="8915399" cy="114739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a:p>
            <a:pPr marL="12700" marR="5080"/>
            <a:endParaRPr lang="en-US" sz="1800" kern="0" spc="-80" dirty="0">
              <a:solidFill>
                <a:schemeClr val="accent6"/>
              </a:solidFill>
            </a:endParaRPr>
          </a:p>
          <a:p>
            <a:pPr marL="12700" marR="5080"/>
            <a:r>
              <a:rPr lang="en-US" sz="1460" kern="0" spc="-80" dirty="0">
                <a:solidFill>
                  <a:schemeClr val="accent6"/>
                </a:solidFill>
              </a:rPr>
              <a:t>3.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6"/>
                </a:solidFill>
              </a:rPr>
              <a:t>CI/CD: Automatic build, test, and deploy pipelines for background services.</a:t>
            </a:r>
          </a:p>
          <a:p>
            <a:pPr marL="12700" marR="5080"/>
            <a:r>
              <a:rPr lang="en-US" sz="1460" kern="0" spc="-80" dirty="0">
                <a:solidFill>
                  <a:schemeClr val="accent6"/>
                </a:solidFill>
              </a:rPr>
              <a:t>Example: Azure DevOps pipelines for a Service Bus triggered worker.</a:t>
            </a:r>
          </a:p>
          <a:p>
            <a:pPr marL="12700" marR="5080"/>
            <a:r>
              <a:rPr lang="en-US" sz="1460" kern="0" spc="-80" dirty="0">
                <a:solidFill>
                  <a:schemeClr val="accent6"/>
                </a:solidFill>
              </a:rPr>
              <a:t>Observability &amp; Monitoring: Collect logs, metrics, traces, and business KPIs.</a:t>
            </a:r>
          </a:p>
          <a:p>
            <a:pPr marL="12700" marR="5080"/>
            <a:r>
              <a:rPr lang="en-US" sz="1460" kern="0" spc="-80" dirty="0">
                <a:solidFill>
                  <a:schemeClr val="accent6"/>
                </a:solidFill>
              </a:rPr>
              <a:t>Example: Prometheus + Grafana monitoring worker job completion, failure rates, queue length.</a:t>
            </a:r>
          </a:p>
          <a:p>
            <a:pPr marL="12700" marR="5080"/>
            <a:r>
              <a:rPr lang="en-US" sz="1460" kern="0" spc="-80" dirty="0">
                <a:solidFill>
                  <a:schemeClr val="accent6"/>
                </a:solidFill>
              </a:rPr>
              <a:t>Scaling &amp; Resiliency: Use autoscaling or message-driven scaling (KEDA for Kubernetes).</a:t>
            </a:r>
          </a:p>
          <a:p>
            <a:pPr marL="12700" marR="5080"/>
            <a:r>
              <a:rPr lang="en-US" sz="1460" kern="0" spc="-80" dirty="0">
                <a:solidFill>
                  <a:schemeClr val="accent6"/>
                </a:solidFill>
              </a:rPr>
              <a:t>Example: Scale workers up/down based on Service Bus queue length.</a:t>
            </a:r>
          </a:p>
          <a:p>
            <a:pPr marL="12700" marR="5080"/>
            <a:r>
              <a:rPr lang="en-US" sz="1460" kern="0" spc="-80" dirty="0">
                <a:solidFill>
                  <a:schemeClr val="accent6"/>
                </a:solidFill>
              </a:rPr>
              <a:t>Testing &amp; Quality Gates: Unit tests, integration tests, chaos testing.</a:t>
            </a:r>
          </a:p>
          <a:p>
            <a:pPr marL="12700" marR="5080"/>
            <a:r>
              <a:rPr lang="en-US" sz="1460" kern="0" spc="-80" dirty="0">
                <a:solidFill>
                  <a:schemeClr val="accent6"/>
                </a:solidFill>
              </a:rPr>
              <a:t>Example: Ensure worker handles edge cases like malformed messages or network timeouts.</a:t>
            </a:r>
          </a:p>
          <a:p>
            <a:pPr marL="12700" marR="5080"/>
            <a:r>
              <a:rPr lang="en-US" sz="1460" kern="0" spc="-80" dirty="0">
                <a:solidFill>
                  <a:schemeClr val="accent6"/>
                </a:solidFill>
              </a:rPr>
              <a:t>Policy &amp; Governance: Security, throttling, resource limits, retries.</a:t>
            </a:r>
          </a:p>
          <a:p>
            <a:pPr marL="12700" marR="5080"/>
            <a:r>
              <a:rPr lang="en-US" sz="1460" kern="0" spc="-80" dirty="0">
                <a:solidFill>
                  <a:schemeClr val="accent6"/>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6"/>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69867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0803463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0753122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480424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2998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extLst>
              <p:ext uri="{D42A27DB-BD31-4B8C-83A1-F6EECF244321}">
                <p14:modId xmlns:p14="http://schemas.microsoft.com/office/powerpoint/2010/main" val="13602181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extLst>
              <p:ext uri="{D42A27DB-BD31-4B8C-83A1-F6EECF244321}">
                <p14:modId xmlns:p14="http://schemas.microsoft.com/office/powerpoint/2010/main" val="676531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extLst>
              <p:ext uri="{D42A27DB-BD31-4B8C-83A1-F6EECF244321}">
                <p14:modId xmlns:p14="http://schemas.microsoft.com/office/powerpoint/2010/main" val="27531423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extLst>
              <p:ext uri="{D42A27DB-BD31-4B8C-83A1-F6EECF244321}">
                <p14:modId xmlns:p14="http://schemas.microsoft.com/office/powerpoint/2010/main" val="147187960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29882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454775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extLst>
              <p:ext uri="{D42A27DB-BD31-4B8C-83A1-F6EECF244321}">
                <p14:modId xmlns:p14="http://schemas.microsoft.com/office/powerpoint/2010/main" val="382566403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121046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936523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144627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85248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61050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045896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96681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875327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069049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53763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0274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93160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8230928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1131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extLst>
              <p:ext uri="{D42A27DB-BD31-4B8C-83A1-F6EECF244321}">
                <p14:modId xmlns:p14="http://schemas.microsoft.com/office/powerpoint/2010/main" val="379909806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extLst>
              <p:ext uri="{D42A27DB-BD31-4B8C-83A1-F6EECF244321}">
                <p14:modId xmlns:p14="http://schemas.microsoft.com/office/powerpoint/2010/main" val="912341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4234490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727447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700915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276679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80187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32435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156887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925219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587530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9325972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91235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4228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9106218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019956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262911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4208764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44309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386183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extLst>
              <p:ext uri="{D42A27DB-BD31-4B8C-83A1-F6EECF244321}">
                <p14:modId xmlns:p14="http://schemas.microsoft.com/office/powerpoint/2010/main" val="14856419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extLst>
              <p:ext uri="{D42A27DB-BD31-4B8C-83A1-F6EECF244321}">
                <p14:modId xmlns:p14="http://schemas.microsoft.com/office/powerpoint/2010/main" val="11447188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extLst>
              <p:ext uri="{D42A27DB-BD31-4B8C-83A1-F6EECF244321}">
                <p14:modId xmlns:p14="http://schemas.microsoft.com/office/powerpoint/2010/main" val="40410715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extLst>
              <p:ext uri="{D42A27DB-BD31-4B8C-83A1-F6EECF244321}">
                <p14:modId xmlns:p14="http://schemas.microsoft.com/office/powerpoint/2010/main" val="20233171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extLst>
              <p:ext uri="{D42A27DB-BD31-4B8C-83A1-F6EECF244321}">
                <p14:modId xmlns:p14="http://schemas.microsoft.com/office/powerpoint/2010/main" val="15046050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extLst>
              <p:ext uri="{D42A27DB-BD31-4B8C-83A1-F6EECF244321}">
                <p14:modId xmlns:p14="http://schemas.microsoft.com/office/powerpoint/2010/main" val="148060311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extLst>
              <p:ext uri="{D42A27DB-BD31-4B8C-83A1-F6EECF244321}">
                <p14:modId xmlns:p14="http://schemas.microsoft.com/office/powerpoint/2010/main" val="35799172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extLst>
              <p:ext uri="{D42A27DB-BD31-4B8C-83A1-F6EECF244321}">
                <p14:modId xmlns:p14="http://schemas.microsoft.com/office/powerpoint/2010/main" val="351961907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extLst>
              <p:ext uri="{D42A27DB-BD31-4B8C-83A1-F6EECF244321}">
                <p14:modId xmlns:p14="http://schemas.microsoft.com/office/powerpoint/2010/main" val="279574141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extLst>
              <p:ext uri="{D42A27DB-BD31-4B8C-83A1-F6EECF244321}">
                <p14:modId xmlns:p14="http://schemas.microsoft.com/office/powerpoint/2010/main" val="35251574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extLst>
              <p:ext uri="{D42A27DB-BD31-4B8C-83A1-F6EECF244321}">
                <p14:modId xmlns:p14="http://schemas.microsoft.com/office/powerpoint/2010/main" val="17710035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extLst>
              <p:ext uri="{D42A27DB-BD31-4B8C-83A1-F6EECF244321}">
                <p14:modId xmlns:p14="http://schemas.microsoft.com/office/powerpoint/2010/main" val="34305472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extLst>
              <p:ext uri="{D42A27DB-BD31-4B8C-83A1-F6EECF244321}">
                <p14:modId xmlns:p14="http://schemas.microsoft.com/office/powerpoint/2010/main" val="27070609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extLst>
              <p:ext uri="{D42A27DB-BD31-4B8C-83A1-F6EECF244321}">
                <p14:modId xmlns:p14="http://schemas.microsoft.com/office/powerpoint/2010/main" val="442720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206472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050478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extLst>
              <p:ext uri="{D42A27DB-BD31-4B8C-83A1-F6EECF244321}">
                <p14:modId xmlns:p14="http://schemas.microsoft.com/office/powerpoint/2010/main" val="40716791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extLst>
              <p:ext uri="{D42A27DB-BD31-4B8C-83A1-F6EECF244321}">
                <p14:modId xmlns:p14="http://schemas.microsoft.com/office/powerpoint/2010/main" val="30280376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extLst>
              <p:ext uri="{D42A27DB-BD31-4B8C-83A1-F6EECF244321}">
                <p14:modId xmlns:p14="http://schemas.microsoft.com/office/powerpoint/2010/main" val="36220292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extLst>
              <p:ext uri="{D42A27DB-BD31-4B8C-83A1-F6EECF244321}">
                <p14:modId xmlns:p14="http://schemas.microsoft.com/office/powerpoint/2010/main" val="21248982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extLst>
              <p:ext uri="{D42A27DB-BD31-4B8C-83A1-F6EECF244321}">
                <p14:modId xmlns:p14="http://schemas.microsoft.com/office/powerpoint/2010/main" val="108310415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extLst>
              <p:ext uri="{D42A27DB-BD31-4B8C-83A1-F6EECF244321}">
                <p14:modId xmlns:p14="http://schemas.microsoft.com/office/powerpoint/2010/main" val="316132941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extLst>
              <p:ext uri="{D42A27DB-BD31-4B8C-83A1-F6EECF244321}">
                <p14:modId xmlns:p14="http://schemas.microsoft.com/office/powerpoint/2010/main" val="27180204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extLst>
              <p:ext uri="{D42A27DB-BD31-4B8C-83A1-F6EECF244321}">
                <p14:modId xmlns:p14="http://schemas.microsoft.com/office/powerpoint/2010/main" val="8344265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extLst>
              <p:ext uri="{D42A27DB-BD31-4B8C-83A1-F6EECF244321}">
                <p14:modId xmlns:p14="http://schemas.microsoft.com/office/powerpoint/2010/main" val="13462759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extLst>
              <p:ext uri="{D42A27DB-BD31-4B8C-83A1-F6EECF244321}">
                <p14:modId xmlns:p14="http://schemas.microsoft.com/office/powerpoint/2010/main" val="396684318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182100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IN" sz="1400" dirty="0">
                <a:hlinkClick r:id="rId10"/>
              </a:rPr>
              <a:t>Smart IoT Apps</a:t>
            </a:r>
            <a:endParaRPr lang="en-IN" sz="1400" dirty="0"/>
          </a:p>
          <a:p>
            <a:r>
              <a:rPr lang="da-DK" sz="1400" dirty="0">
                <a:hlinkClick r:id="rId11"/>
              </a:rPr>
              <a:t>Embedded Systems &amp; RTOS for IoT</a:t>
            </a:r>
            <a:endParaRPr lang="da-DK" sz="1400" dirty="0"/>
          </a:p>
          <a:p>
            <a:r>
              <a:rPr lang="en-IN" sz="1400" dirty="0">
                <a:hlinkClick r:id="rId12"/>
              </a:rPr>
              <a:t>WSNs And WANETs</a:t>
            </a:r>
            <a:endParaRPr lang="en-IN" sz="1400" dirty="0"/>
          </a:p>
          <a:p>
            <a:r>
              <a:rPr lang="en-US" sz="1400" dirty="0">
                <a:hlinkClick r:id="rId13"/>
              </a:rPr>
              <a:t>IoT and Edge Computing for Architects </a:t>
            </a:r>
            <a:endParaRPr lang="en-US" sz="1400" dirty="0"/>
          </a:p>
          <a:p>
            <a:r>
              <a:rPr lang="en-US" sz="1400" dirty="0">
                <a:hlinkClick r:id="rId14"/>
              </a:rPr>
              <a:t>Architectural Patterns and Techniques for Developing IoT Solutions</a:t>
            </a:r>
            <a:endParaRPr lang="en-US" sz="1400" dirty="0"/>
          </a:p>
          <a:p>
            <a:r>
              <a:rPr lang="en-US" sz="1400" dirty="0">
                <a:hlinkClick r:id="rId15"/>
              </a:rPr>
              <a:t>Industrial-IoT-for-Architects-and-Engineers</a:t>
            </a:r>
            <a:endParaRPr lang="en-US" sz="1400" dirty="0"/>
          </a:p>
          <a:p>
            <a:r>
              <a:rPr lang="en-US" sz="1400" dirty="0">
                <a:hlinkClick r:id="rId16"/>
              </a:rPr>
              <a:t>Edge-Computing-Patterns-for-Solution-Architects</a:t>
            </a:r>
            <a:endParaRPr lang="en-US" sz="1400" dirty="0"/>
          </a:p>
          <a:p>
            <a:r>
              <a:rPr lang="en-US" sz="1400" dirty="0">
                <a:hlinkClick r:id="rId17"/>
              </a:rPr>
              <a:t>IoT-Edge-Computing-with-MicroK8s</a:t>
            </a:r>
            <a:endParaRPr lang="en-US" sz="1400" dirty="0"/>
          </a:p>
          <a:p>
            <a:r>
              <a:rPr lang="en-US" sz="1400" dirty="0">
                <a:hlinkClick r:id="rId18"/>
              </a:rPr>
              <a:t>Advanced Embedded Architectures and SoCs | </a:t>
            </a:r>
            <a:r>
              <a:rPr lang="en-US" sz="1400" dirty="0" err="1">
                <a:hlinkClick r:id="rId18"/>
              </a:rPr>
              <a:t>Packt</a:t>
            </a:r>
            <a:r>
              <a:rPr lang="en-US" sz="1400" dirty="0">
                <a:hlinkClick r:id="rId18"/>
              </a:rPr>
              <a:t> Subscription</a:t>
            </a:r>
            <a:endParaRPr lang="en-US" sz="1400" dirty="0"/>
          </a:p>
        </p:txBody>
      </p:sp>
    </p:spTree>
    <p:extLst>
      <p:ext uri="{BB962C8B-B14F-4D97-AF65-F5344CB8AC3E}">
        <p14:creationId xmlns:p14="http://schemas.microsoft.com/office/powerpoint/2010/main" val="71726984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0134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p:txBody>
      </p:sp>
    </p:spTree>
    <p:extLst>
      <p:ext uri="{BB962C8B-B14F-4D97-AF65-F5344CB8AC3E}">
        <p14:creationId xmlns:p14="http://schemas.microsoft.com/office/powerpoint/2010/main" val="298194890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26207</TotalTime>
  <Words>18137</Words>
  <Application>Microsoft Office PowerPoint</Application>
  <PresentationFormat>Custom</PresentationFormat>
  <Paragraphs>2145</Paragraphs>
  <Slides>162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162</vt:i4>
      </vt:variant>
    </vt:vector>
  </HeadingPairs>
  <TitlesOfParts>
    <vt:vector size="167" baseType="lpstr">
      <vt:lpstr>Arial</vt:lpstr>
      <vt:lpstr>Calibri</vt:lpstr>
      <vt:lpstr>Georgia</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3738</cp:revision>
  <dcterms:created xsi:type="dcterms:W3CDTF">2020-11-03T17:16:52Z</dcterms:created>
  <dcterms:modified xsi:type="dcterms:W3CDTF">2025-11-14T19:36:15Z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