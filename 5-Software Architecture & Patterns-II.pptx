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1.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77"/>
  </p:notesMasterIdLst>
  <p:sldIdLst>
    <p:sldId id="565" r:id="rId5"/>
    <p:sldId id="408" r:id="rId6"/>
    <p:sldId id="406" r:id="rId7"/>
    <p:sldId id="407" r:id="rId8"/>
    <p:sldId id="409" r:id="rId9"/>
    <p:sldId id="410" r:id="rId10"/>
    <p:sldId id="414" r:id="rId11"/>
    <p:sldId id="416" r:id="rId12"/>
    <p:sldId id="417" r:id="rId13"/>
    <p:sldId id="418" r:id="rId14"/>
    <p:sldId id="770" r:id="rId15"/>
    <p:sldId id="422" r:id="rId16"/>
    <p:sldId id="873" r:id="rId17"/>
    <p:sldId id="874" r:id="rId18"/>
    <p:sldId id="875" r:id="rId19"/>
    <p:sldId id="876" r:id="rId20"/>
    <p:sldId id="877" r:id="rId21"/>
    <p:sldId id="878" r:id="rId22"/>
    <p:sldId id="880" r:id="rId23"/>
    <p:sldId id="879" r:id="rId24"/>
    <p:sldId id="881" r:id="rId25"/>
    <p:sldId id="882" r:id="rId26"/>
    <p:sldId id="883" r:id="rId27"/>
    <p:sldId id="419" r:id="rId28"/>
    <p:sldId id="444" r:id="rId29"/>
    <p:sldId id="420" r:id="rId30"/>
    <p:sldId id="421" r:id="rId31"/>
    <p:sldId id="529" r:id="rId32"/>
    <p:sldId id="530" r:id="rId33"/>
    <p:sldId id="432" r:id="rId34"/>
    <p:sldId id="821" r:id="rId35"/>
    <p:sldId id="822" r:id="rId36"/>
    <p:sldId id="427" r:id="rId37"/>
    <p:sldId id="423" r:id="rId38"/>
    <p:sldId id="424" r:id="rId39"/>
    <p:sldId id="433" r:id="rId40"/>
    <p:sldId id="426" r:id="rId41"/>
    <p:sldId id="749" r:id="rId42"/>
    <p:sldId id="757" r:id="rId43"/>
    <p:sldId id="754" r:id="rId44"/>
    <p:sldId id="756" r:id="rId45"/>
    <p:sldId id="431" r:id="rId46"/>
    <p:sldId id="528" r:id="rId47"/>
    <p:sldId id="769" r:id="rId48"/>
    <p:sldId id="429" r:id="rId49"/>
    <p:sldId id="430" r:id="rId50"/>
    <p:sldId id="460" r:id="rId51"/>
    <p:sldId id="461" r:id="rId52"/>
    <p:sldId id="462" r:id="rId53"/>
    <p:sldId id="463" r:id="rId54"/>
    <p:sldId id="464" r:id="rId55"/>
    <p:sldId id="466" r:id="rId56"/>
    <p:sldId id="468" r:id="rId57"/>
    <p:sldId id="467" r:id="rId58"/>
    <p:sldId id="473" r:id="rId59"/>
    <p:sldId id="471" r:id="rId60"/>
    <p:sldId id="470" r:id="rId61"/>
    <p:sldId id="472" r:id="rId62"/>
    <p:sldId id="751" r:id="rId63"/>
    <p:sldId id="750" r:id="rId64"/>
    <p:sldId id="465" r:id="rId65"/>
    <p:sldId id="481" r:id="rId66"/>
    <p:sldId id="474" r:id="rId67"/>
    <p:sldId id="475" r:id="rId68"/>
    <p:sldId id="476" r:id="rId69"/>
    <p:sldId id="482" r:id="rId70"/>
    <p:sldId id="483" r:id="rId71"/>
    <p:sldId id="496" r:id="rId72"/>
    <p:sldId id="497" r:id="rId73"/>
    <p:sldId id="490" r:id="rId74"/>
    <p:sldId id="489" r:id="rId75"/>
    <p:sldId id="485" r:id="rId76"/>
    <p:sldId id="477" r:id="rId77"/>
    <p:sldId id="478" r:id="rId78"/>
    <p:sldId id="495" r:id="rId79"/>
    <p:sldId id="492" r:id="rId80"/>
    <p:sldId id="493" r:id="rId81"/>
    <p:sldId id="494" r:id="rId82"/>
    <p:sldId id="823" r:id="rId83"/>
    <p:sldId id="824" r:id="rId84"/>
    <p:sldId id="844" r:id="rId85"/>
    <p:sldId id="852" r:id="rId86"/>
    <p:sldId id="853" r:id="rId87"/>
    <p:sldId id="854" r:id="rId88"/>
    <p:sldId id="855" r:id="rId89"/>
    <p:sldId id="856" r:id="rId90"/>
    <p:sldId id="857" r:id="rId91"/>
    <p:sldId id="859" r:id="rId92"/>
    <p:sldId id="858" r:id="rId93"/>
    <p:sldId id="860" r:id="rId94"/>
    <p:sldId id="861" r:id="rId95"/>
    <p:sldId id="862" r:id="rId96"/>
    <p:sldId id="479" r:id="rId97"/>
    <p:sldId id="480" r:id="rId98"/>
    <p:sldId id="846" r:id="rId99"/>
    <p:sldId id="845" r:id="rId100"/>
    <p:sldId id="847" r:id="rId101"/>
    <p:sldId id="848" r:id="rId102"/>
    <p:sldId id="863" r:id="rId103"/>
    <p:sldId id="864" r:id="rId104"/>
    <p:sldId id="865" r:id="rId105"/>
    <p:sldId id="866" r:id="rId106"/>
    <p:sldId id="867" r:id="rId107"/>
    <p:sldId id="868" r:id="rId108"/>
    <p:sldId id="469" r:id="rId109"/>
    <p:sldId id="320" r:id="rId110"/>
    <p:sldId id="321" r:id="rId111"/>
    <p:sldId id="776" r:id="rId112"/>
    <p:sldId id="582" r:id="rId113"/>
    <p:sldId id="778" r:id="rId114"/>
    <p:sldId id="777" r:id="rId115"/>
    <p:sldId id="787" r:id="rId116"/>
    <p:sldId id="869" r:id="rId117"/>
    <p:sldId id="870" r:id="rId118"/>
    <p:sldId id="872" r:id="rId119"/>
    <p:sldId id="871" r:id="rId120"/>
    <p:sldId id="740" r:id="rId121"/>
    <p:sldId id="738" r:id="rId122"/>
    <p:sldId id="779" r:id="rId123"/>
    <p:sldId id="780" r:id="rId124"/>
    <p:sldId id="781" r:id="rId125"/>
    <p:sldId id="782" r:id="rId126"/>
    <p:sldId id="783" r:id="rId127"/>
    <p:sldId id="520" r:id="rId128"/>
    <p:sldId id="784" r:id="rId129"/>
    <p:sldId id="747" r:id="rId130"/>
    <p:sldId id="785" r:id="rId131"/>
    <p:sldId id="733" r:id="rId132"/>
    <p:sldId id="773" r:id="rId133"/>
    <p:sldId id="772" r:id="rId134"/>
    <p:sldId id="739" r:id="rId135"/>
    <p:sldId id="775" r:id="rId136"/>
    <p:sldId id="774" r:id="rId137"/>
    <p:sldId id="788" r:id="rId138"/>
    <p:sldId id="789" r:id="rId139"/>
    <p:sldId id="797" r:id="rId140"/>
    <p:sldId id="799" r:id="rId141"/>
    <p:sldId id="800" r:id="rId142"/>
    <p:sldId id="802" r:id="rId143"/>
    <p:sldId id="807" r:id="rId144"/>
    <p:sldId id="808" r:id="rId145"/>
    <p:sldId id="884" r:id="rId146"/>
    <p:sldId id="885" r:id="rId147"/>
    <p:sldId id="886" r:id="rId148"/>
    <p:sldId id="887" r:id="rId149"/>
    <p:sldId id="888" r:id="rId150"/>
    <p:sldId id="889" r:id="rId151"/>
    <p:sldId id="890" r:id="rId152"/>
    <p:sldId id="891" r:id="rId153"/>
    <p:sldId id="892" r:id="rId154"/>
    <p:sldId id="893" r:id="rId155"/>
    <p:sldId id="795" r:id="rId156"/>
    <p:sldId id="794" r:id="rId157"/>
    <p:sldId id="796" r:id="rId158"/>
    <p:sldId id="832" r:id="rId159"/>
    <p:sldId id="833" r:id="rId160"/>
    <p:sldId id="834" r:id="rId161"/>
    <p:sldId id="835" r:id="rId162"/>
    <p:sldId id="836" r:id="rId163"/>
    <p:sldId id="838" r:id="rId164"/>
    <p:sldId id="839" r:id="rId165"/>
    <p:sldId id="786" r:id="rId166"/>
    <p:sldId id="801" r:id="rId167"/>
    <p:sldId id="803" r:id="rId168"/>
    <p:sldId id="804" r:id="rId169"/>
    <p:sldId id="805" r:id="rId170"/>
    <p:sldId id="806" r:id="rId171"/>
    <p:sldId id="746" r:id="rId172"/>
    <p:sldId id="573" r:id="rId173"/>
    <p:sldId id="574" r:id="rId174"/>
    <p:sldId id="531" r:id="rId175"/>
    <p:sldId id="294" r:id="rId17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472" y="8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theme" Target="theme/theme1.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tableStyles" Target="tableStyles.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7" Type="http://schemas.openxmlformats.org/officeDocument/2006/relationships/notesMaster" Target="notesMasters/notesMaster1.xml"/><Relationship Id="rId172" Type="http://schemas.openxmlformats.org/officeDocument/2006/relationships/slide" Target="slides/slide168.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slide" Target="slides/slide163.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183" Type="http://schemas.microsoft.com/office/2016/11/relationships/changesInfo" Target="changesInfos/changesInfo1.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commentAuthors" Target="commentAuthors.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openxmlformats.org/officeDocument/2006/relationships/slide" Target="slides/slide169.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79" Type="http://schemas.openxmlformats.org/officeDocument/2006/relationships/presProps" Target="presProp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viewProps" Target="viewProps.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 Type="http://schemas.openxmlformats.org/officeDocument/2006/relationships/customXml" Target="../customXml/item1.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8873074"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11/21/2025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hyperlink" Target="https://www.handsonarchitect.com/2022/08/cloud-native-fifteen-factor-apps.html"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6.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xml"/><Relationship Id="rId7" Type="http://schemas.openxmlformats.org/officeDocument/2006/relationships/image" Target="../media/image7.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pgadmin.org/" TargetMode="External"/><Relationship Id="rId5" Type="http://schemas.openxmlformats.org/officeDocument/2006/relationships/diagramColors" Target="../diagrams/colors7.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9.png"/><Relationship Id="rId4" Type="http://schemas.openxmlformats.org/officeDocument/2006/relationships/diagramQuickStyle" Target="../diagrams/quickStyle9.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10.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11.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hyperlink" Target="https://www.packtpub.com/en-us/product/policy-design-in-the-age-of-digital-adoption-9781801811743"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12.xml"/><Relationship Id="rId7" Type="http://schemas.openxmlformats.org/officeDocument/2006/relationships/image" Target="../media/image11.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12.xml"/><Relationship Id="rId9" Type="http://schemas.openxmlformats.org/officeDocument/2006/relationships/hyperlink" Target="https://spring.io/blog/2016/05/31/zero-downtime-deployment-with-a-database"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20.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11" Type="http://schemas.openxmlformats.org/officeDocument/2006/relationships/hyperlink" Target="https://github.com/Kong/apiops-lab" TargetMode="External"/><Relationship Id="rId5" Type="http://schemas.openxmlformats.org/officeDocument/2006/relationships/diagramColors" Target="../diagrams/colors20.xml"/><Relationship Id="rId10" Type="http://schemas.openxmlformats.org/officeDocument/2006/relationships/hyperlink" Target="https://azure.github.io/apiops/" TargetMode="External"/><Relationship Id="rId4" Type="http://schemas.openxmlformats.org/officeDocument/2006/relationships/diagramQuickStyle" Target="../diagrams/quickStyle20.xml"/><Relationship Id="rId9" Type="http://schemas.openxmlformats.org/officeDocument/2006/relationships/hyperlink" Target="https://learn.microsoft.com/en-us/azure/architecture/example-scenario/devops/automated-api-deployments-apiops"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24.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 Id="rId9" Type="http://schemas.openxmlformats.org/officeDocument/2006/relationships/image" Target="../media/image13.png"/></Relationships>
</file>

<file path=ppt/slides/_rels/slide25.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25.xml"/><Relationship Id="rId21" Type="http://schemas.openxmlformats.org/officeDocument/2006/relationships/image" Target="../media/image14.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25.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25.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25.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26.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26.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26.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27.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11" Type="http://schemas.openxmlformats.org/officeDocument/2006/relationships/image" Target="../media/image16.jpeg"/><Relationship Id="rId5" Type="http://schemas.openxmlformats.org/officeDocument/2006/relationships/diagramColors" Target="../diagrams/colors27.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27.xml"/><Relationship Id="rId9" Type="http://schemas.openxmlformats.org/officeDocument/2006/relationships/hyperlink" Target="https://github.com/iriusrisk/bdd-security" TargetMode="Externa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29.xml"/><Relationship Id="rId3" Type="http://schemas.openxmlformats.org/officeDocument/2006/relationships/diagramLayout" Target="../diagrams/layout28.xml"/><Relationship Id="rId7" Type="http://schemas.openxmlformats.org/officeDocument/2006/relationships/diagramData" Target="../diagrams/data29.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11" Type="http://schemas.microsoft.com/office/2007/relationships/diagramDrawing" Target="../diagrams/drawing29.xml"/><Relationship Id="rId5" Type="http://schemas.openxmlformats.org/officeDocument/2006/relationships/diagramColors" Target="../diagrams/colors28.xml"/><Relationship Id="rId10" Type="http://schemas.openxmlformats.org/officeDocument/2006/relationships/diagramColors" Target="../diagrams/colors29.xml"/><Relationship Id="rId4" Type="http://schemas.openxmlformats.org/officeDocument/2006/relationships/diagramQuickStyle" Target="../diagrams/quickStyle28.xml"/><Relationship Id="rId9" Type="http://schemas.openxmlformats.org/officeDocument/2006/relationships/diagramQuickStyle" Target="../diagrams/quickStyle29.xml"/></Relationships>
</file>

<file path=ppt/slides/_rels/slide29.xml.rels><?xml version="1.0" encoding="UTF-8" standalone="yes"?>
<Relationships xmlns="http://schemas.openxmlformats.org/package/2006/relationships"><Relationship Id="rId8" Type="http://schemas.openxmlformats.org/officeDocument/2006/relationships/diagramData" Target="../diagrams/data31.xml"/><Relationship Id="rId3" Type="http://schemas.openxmlformats.org/officeDocument/2006/relationships/diagramLayout" Target="../diagrams/layout30.xml"/><Relationship Id="rId7" Type="http://schemas.openxmlformats.org/officeDocument/2006/relationships/image" Target="../media/image17.png"/><Relationship Id="rId12" Type="http://schemas.microsoft.com/office/2007/relationships/diagramDrawing" Target="../diagrams/drawing31.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11" Type="http://schemas.openxmlformats.org/officeDocument/2006/relationships/diagramColors" Target="../diagrams/colors31.xml"/><Relationship Id="rId5" Type="http://schemas.openxmlformats.org/officeDocument/2006/relationships/diagramColors" Target="../diagrams/colors30.xml"/><Relationship Id="rId10" Type="http://schemas.openxmlformats.org/officeDocument/2006/relationships/diagramQuickStyle" Target="../diagrams/quickStyle31.xml"/><Relationship Id="rId4" Type="http://schemas.openxmlformats.org/officeDocument/2006/relationships/diagramQuickStyle" Target="../diagrams/quickStyle30.xml"/><Relationship Id="rId9" Type="http://schemas.openxmlformats.org/officeDocument/2006/relationships/diagramLayout" Target="../diagrams/layout31.xml"/></Relationships>
</file>

<file path=ppt/slides/_rels/slide30.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32.xml"/><Relationship Id="rId21" Type="http://schemas.openxmlformats.org/officeDocument/2006/relationships/diagramLayout" Target="../diagrams/layout33.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32.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infoq.com/presentations/fault-isolation-cloud/" TargetMode="External"/><Relationship Id="rId24" Type="http://schemas.microsoft.com/office/2007/relationships/diagramDrawing" Target="../diagrams/drawing33.xml"/><Relationship Id="rId5" Type="http://schemas.openxmlformats.org/officeDocument/2006/relationships/diagramColors" Target="../diagrams/colors32.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33.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32.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33.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2.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35.xml"/><Relationship Id="rId7" Type="http://schemas.openxmlformats.org/officeDocument/2006/relationships/hyperlink" Target="https://www.youtube.com/watch?v=ukgmp6uxQJc"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3.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36.xml"/><Relationship Id="rId7" Type="http://schemas.openxmlformats.org/officeDocument/2006/relationships/image" Target="../media/image18.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36.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36.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37.xml"/><Relationship Id="rId7" Type="http://schemas.openxmlformats.org/officeDocument/2006/relationships/image" Target="../media/image19.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37.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37.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8.xml"/><Relationship Id="rId7" Type="http://schemas.openxmlformats.org/officeDocument/2006/relationships/image" Target="../media/image20.png"/><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39.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21.png"/></Relationships>
</file>

<file path=ppt/slides/_rels/slide37.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40.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40.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40.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40.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38.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41.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41.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41.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41.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42.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42.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42.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42.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42.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43.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43.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43.xml"/><Relationship Id="rId9" Type="http://schemas.openxmlformats.org/officeDocument/2006/relationships/hyperlink" Target="https://github.com/Fundamentals-of-Data-Observability/oreilly-fodo-source-code"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44.xml"/><Relationship Id="rId7" Type="http://schemas.openxmlformats.org/officeDocument/2006/relationships/hyperlink" Target="https://www.checklyhq.com/blog/observability-as-cod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44.xml"/><Relationship Id="rId9" Type="http://schemas.openxmlformats.org/officeDocument/2006/relationships/hyperlink" Target="https://microsoft.github.io/code-with-engineering-playbook/observability/observability-as-code/"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Layout" Target="../diagrams/layout45.xml"/><Relationship Id="rId7" Type="http://schemas.openxmlformats.org/officeDocument/2006/relationships/image" Target="../media/image22.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3.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46.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46.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46.xml"/><Relationship Id="rId9" Type="http://schemas.openxmlformats.org/officeDocument/2006/relationships/hyperlink" Target="https://highscalability.com/4-strategies-for-punching-down-traffic-spik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47.xml"/><Relationship Id="rId7" Type="http://schemas.openxmlformats.org/officeDocument/2006/relationships/hyperlink" Target="https://blog.invgate.com/ticket-triag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image" Target="../media/image24.png"/><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image" Target="../media/image25.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26.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7.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52.xml"/><Relationship Id="rId7" Type="http://schemas.openxmlformats.org/officeDocument/2006/relationships/image" Target="../media/image28.jpeg"/><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diagramLayout" Target="../diagrams/layout53.xml"/><Relationship Id="rId7" Type="http://schemas.openxmlformats.org/officeDocument/2006/relationships/image" Target="../media/image29.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54.xml"/><Relationship Id="rId7" Type="http://schemas.openxmlformats.org/officeDocument/2006/relationships/image" Target="../media/image29.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github.com/linkedin/ambry" TargetMode="External"/><Relationship Id="rId5" Type="http://schemas.openxmlformats.org/officeDocument/2006/relationships/diagramColors" Target="../diagrams/colors54.xml"/><Relationship Id="rId10" Type="http://schemas.openxmlformats.org/officeDocument/2006/relationships/hyperlink" Target="https://docs.aws.amazon.com/transfer/" TargetMode="External"/><Relationship Id="rId4" Type="http://schemas.openxmlformats.org/officeDocument/2006/relationships/diagramQuickStyle" Target="../diagrams/quickStyle54.xml"/><Relationship Id="rId9" Type="http://schemas.openxmlformats.org/officeDocument/2006/relationships/hyperlink" Target="https://dataakkadian.medium.com/learn-the-differences-between-block-file-and-object-storage-93c67ef4e163"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Layout" Target="../diagrams/layout55.xml"/><Relationship Id="rId7" Type="http://schemas.openxmlformats.org/officeDocument/2006/relationships/image" Target="../media/image29.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56.xml"/><Relationship Id="rId7" Type="http://schemas.openxmlformats.org/officeDocument/2006/relationships/image" Target="../media/image29.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 Id="rId9" Type="http://schemas.openxmlformats.org/officeDocument/2006/relationships/hyperlink" Target="https://www.openfaas.com/blog/asp-net-core/"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diagramLayout" Target="../diagrams/layout57.xml"/><Relationship Id="rId7" Type="http://schemas.openxmlformats.org/officeDocument/2006/relationships/image" Target="../media/image29.png"/><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35.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36.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60.xml"/><Relationship Id="rId7" Type="http://schemas.openxmlformats.org/officeDocument/2006/relationships/image" Target="../media/image37.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8.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9.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0.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63.xml"/><Relationship Id="rId21" Type="http://schemas.openxmlformats.org/officeDocument/2006/relationships/hyperlink" Target="https://github.com/anksos/awesome-knative" TargetMode="External"/><Relationship Id="rId7" Type="http://schemas.microsoft.com/office/2007/relationships/diagramDrawing" Target="../diagrams/drawing63.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63.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63.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63.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64.xml"/><Relationship Id="rId7" Type="http://schemas.openxmlformats.org/officeDocument/2006/relationships/hyperlink" Target="https://www.javatpoint.com/ip-address-format-and-table"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image" Target="../media/image40.png"/><Relationship Id="rId4" Type="http://schemas.openxmlformats.org/officeDocument/2006/relationships/diagramQuickStyle" Target="../diagrams/quickStyle64.xml"/><Relationship Id="rId9" Type="http://schemas.openxmlformats.org/officeDocument/2006/relationships/hyperlink" Target="https://dev.to/aws-builders/aws-networking-aws-vpc-subnets-security-groups-nat-gateway-ip-addresses-4p8c" TargetMode="Externa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41.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42.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7.xml"/><Relationship Id="rId7" Type="http://schemas.openxmlformats.org/officeDocument/2006/relationships/image" Target="../media/image43.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8.xml"/><Relationship Id="rId7" Type="http://schemas.openxmlformats.org/officeDocument/2006/relationships/image" Target="../media/image4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4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image" Target="../media/image46.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68.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71.xml"/><Relationship Id="rId7" Type="http://schemas.openxmlformats.org/officeDocument/2006/relationships/image" Target="../media/image47.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69.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72.xml"/><Relationship Id="rId7" Type="http://schemas.openxmlformats.org/officeDocument/2006/relationships/image" Target="../media/image48.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72.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72.xml"/><Relationship Id="rId9" Type="http://schemas.openxmlformats.org/officeDocument/2006/relationships/hyperlink" Target="https://learn.microsoft.com/en-us/entra/id-governance/privileged-identity-management/pim-configure" TargetMode="Externa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9.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74.xml"/><Relationship Id="rId7" Type="http://schemas.openxmlformats.org/officeDocument/2006/relationships/image" Target="../media/image50.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52.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53.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4.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77.xml"/><Relationship Id="rId7" Type="http://schemas.openxmlformats.org/officeDocument/2006/relationships/image" Target="../media/image54.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 Id="rId9" Type="http://schemas.openxmlformats.org/officeDocument/2006/relationships/hyperlink" Target="https://www.syncfusion.com/succinctly-free-ebooks/app-modernization-on-azure-succinctly"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78.xml"/><Relationship Id="rId7" Type="http://schemas.openxmlformats.org/officeDocument/2006/relationships/image" Target="../media/image55.png"/><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0.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83.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 Id="rId9" Type="http://schemas.openxmlformats.org/officeDocument/2006/relationships/hyperlink" Target="https://cloud.google.com/architecture/landing-zones" TargetMode="Externa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5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5.xml"/><Relationship Id="rId7" Type="http://schemas.openxmlformats.org/officeDocument/2006/relationships/image" Target="../media/image57.png"/><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58.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image" Target="../media/image5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8.xml"/><Relationship Id="rId7" Type="http://schemas.openxmlformats.org/officeDocument/2006/relationships/image" Target="../media/image6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image" Target="../media/image61.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62.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63.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64.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6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6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3.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96.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98.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01.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01.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01.xml"/><Relationship Id="rId9" Type="http://schemas.openxmlformats.org/officeDocument/2006/relationships/hyperlink" Target="https://cloud.google.com/architecture/hybrid-multicloud-patterns-and-practices/one-page-view"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4.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07.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07.xml"/><Relationship Id="rId9" Type="http://schemas.openxmlformats.org/officeDocument/2006/relationships/hyperlink" Target="https://www.cisco.com/c/en/us/solutions/design-zone/data-center-design-guides/data-center-design-guides-all.html"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08.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analogiescloud.com/" TargetMode="External"/><Relationship Id="rId5" Type="http://schemas.openxmlformats.org/officeDocument/2006/relationships/diagramColors" Target="../diagrams/colors108.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08.xml"/><Relationship Id="rId9" Type="http://schemas.openxmlformats.org/officeDocument/2006/relationships/hyperlink" Target="https://roadmap.sh/aws" TargetMode="External"/></Relationships>
</file>

<file path=ppt/slides/_rels/slide106.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09.xml"/><Relationship Id="rId7" Type="http://schemas.openxmlformats.org/officeDocument/2006/relationships/image" Target="../media/image67.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68.gif"/><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69.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15.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15.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15.xml"/><Relationship Id="rId9" Type="http://schemas.openxmlformats.org/officeDocument/2006/relationships/hyperlink" Target="https://github.com/PacktPublishing/Platform-Engineering-for-Architects" TargetMode="Externa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70.pn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8.xm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6.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19.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19.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19.xml"/><Relationship Id="rId9" Type="http://schemas.openxmlformats.org/officeDocument/2006/relationships/hyperlink" Target="https://gocardless.com/guides/posts/what-is-tpp-in-open-banking/"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20.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20.xml"/><Relationship Id="rId15" Type="http://schemas.openxmlformats.org/officeDocument/2006/relationships/image" Target="../media/image71.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20.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21.xml"/><Relationship Id="rId7" Type="http://schemas.openxmlformats.org/officeDocument/2006/relationships/image" Target="../media/image72.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22.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22.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22.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7" Type="http://schemas.openxmlformats.org/officeDocument/2006/relationships/image" Target="../media/image73.png"/><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26.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26.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26.xml"/><Relationship Id="rId11" Type="http://schemas.openxmlformats.org/officeDocument/2006/relationships/hyperlink" Target="https://adtechbook.clearcode.cc/" TargetMode="External"/><Relationship Id="rId5" Type="http://schemas.openxmlformats.org/officeDocument/2006/relationships/diagramColors" Target="../diagrams/colors126.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26.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74.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8.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9.xml"/><Relationship Id="rId7" Type="http://schemas.openxmlformats.org/officeDocument/2006/relationships/image" Target="../media/image75.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27.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30.xml"/><Relationship Id="rId7" Type="http://schemas.openxmlformats.org/officeDocument/2006/relationships/hyperlink" Target="https://marketplacebestpractices.com/"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31.xml"/><Relationship Id="rId7" Type="http://schemas.openxmlformats.org/officeDocument/2006/relationships/image" Target="../media/image76.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0.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33.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33.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33.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33.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33.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7" Type="http://schemas.openxmlformats.org/officeDocument/2006/relationships/image" Target="../media/image77.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136.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136.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136.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34.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137.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11" Type="http://schemas.openxmlformats.org/officeDocument/2006/relationships/image" Target="../media/image78.png"/><Relationship Id="rId5" Type="http://schemas.openxmlformats.org/officeDocument/2006/relationships/diagramColors" Target="../diagrams/colors137.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137.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35.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138.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138.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138.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138.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138.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79.jpe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140.xml"/><Relationship Id="rId7" Type="http://schemas.openxmlformats.org/officeDocument/2006/relationships/hyperlink" Target="https://www.iot-a.eu/"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11" Type="http://schemas.openxmlformats.org/officeDocument/2006/relationships/hyperlink" Target="https://github.com/Apress/ar-vr-using-webxr-api" TargetMode="External"/><Relationship Id="rId5" Type="http://schemas.openxmlformats.org/officeDocument/2006/relationships/diagramColors" Target="../diagrams/colors140.xml"/><Relationship Id="rId10" Type="http://schemas.openxmlformats.org/officeDocument/2006/relationships/hyperlink" Target="https://www.iso.org/standard/88800.html" TargetMode="External"/><Relationship Id="rId4" Type="http://schemas.openxmlformats.org/officeDocument/2006/relationships/diagramQuickStyle" Target="../diagrams/quickStyle140.xml"/><Relationship Id="rId9" Type="http://schemas.openxmlformats.org/officeDocument/2006/relationships/hyperlink" Target="https://www.iiconsortium.org/iira/" TargetMode="External"/></Relationships>
</file>

<file path=ppt/slides/_rels/slide138.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st.github.com/sandipray63in/f72b3fb23ab938ae3710008fc16c48d1" TargetMode="External"/><Relationship Id="rId18" Type="http://schemas.openxmlformats.org/officeDocument/2006/relationships/hyperlink" Target="https://github.com/PacktPublishing/IoT-Edge-Computing-with-MicroK8s" TargetMode="External"/><Relationship Id="rId3" Type="http://schemas.openxmlformats.org/officeDocument/2006/relationships/diagramLayout" Target="../diagrams/layout141.xm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st.github.com/sandipray63in/8c1d55cdab89222560dff2cb18ed8034" TargetMode="External"/><Relationship Id="rId17" Type="http://schemas.openxmlformats.org/officeDocument/2006/relationships/hyperlink" Target="https://github.com/PacktPublishing/Edge-Computing-Patterns-for-Solution-Architects" TargetMode="External"/><Relationship Id="rId2" Type="http://schemas.openxmlformats.org/officeDocument/2006/relationships/diagramData" Target="../diagrams/data141.xml"/><Relationship Id="rId16" Type="http://schemas.openxmlformats.org/officeDocument/2006/relationships/hyperlink" Target="https://github.com/PacktPublishing/Industrial-IoT-for-Architects-and-Engineers" TargetMode="External"/><Relationship Id="rId1" Type="http://schemas.openxmlformats.org/officeDocument/2006/relationships/slideLayout" Target="../slideLayouts/slideLayout2.xml"/><Relationship Id="rId6" Type="http://schemas.microsoft.com/office/2007/relationships/diagramDrawing" Target="../diagrams/drawing141.xml"/><Relationship Id="rId11" Type="http://schemas.openxmlformats.org/officeDocument/2006/relationships/hyperlink" Target="https://gist.github.com/sandipray63in/514cf0d4449b29b65b39e0f8225ada63" TargetMode="External"/><Relationship Id="rId5" Type="http://schemas.openxmlformats.org/officeDocument/2006/relationships/diagramColors" Target="../diagrams/colors141.xml"/><Relationship Id="rId15" Type="http://schemas.openxmlformats.org/officeDocument/2006/relationships/hyperlink" Target="https://www.packtpub.com/en-in/product/architectural-patterns-and-techniques-for-developing-iot-solutions-9781803247632" TargetMode="External"/><Relationship Id="rId10" Type="http://schemas.openxmlformats.org/officeDocument/2006/relationships/hyperlink" Target="https://gist.github.com/sandipray63in/c64e2c586aaf0c66d33f4e8f994975d3" TargetMode="External"/><Relationship Id="rId19" Type="http://schemas.openxmlformats.org/officeDocument/2006/relationships/hyperlink" Target="https://subscription.packtpub.com/expert-reading-lists/advanced-embedded-architectures-and-socs" TargetMode="External"/><Relationship Id="rId4" Type="http://schemas.openxmlformats.org/officeDocument/2006/relationships/diagramQuickStyle" Target="../diagrams/quickStyle141.xml"/><Relationship Id="rId9" Type="http://schemas.openxmlformats.org/officeDocument/2006/relationships/hyperlink" Target="https://arxiv.org/pdf/2204.01872" TargetMode="External"/><Relationship Id="rId14" Type="http://schemas.openxmlformats.org/officeDocument/2006/relationships/hyperlink" Target="https://www.packtpub.com/en-in/product/iot-and-edge-computing-for-architects-9781803237336" TargetMode="Externa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42.xml"/><Relationship Id="rId7" Type="http://schemas.openxmlformats.org/officeDocument/2006/relationships/image" Target="../media/image80.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43.xm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1.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144.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144.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144.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47.xm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8.xml"/><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54.xm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81.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157.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157.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157.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82.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61.xm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83.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1.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164.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164.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164.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162.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165.xml"/><Relationship Id="rId7" Type="http://schemas.openxmlformats.org/officeDocument/2006/relationships/image" Target="../media/image84.png"/><Relationship Id="rId12" Type="http://schemas.openxmlformats.org/officeDocument/2006/relationships/hyperlink" Target="https://arxiv.org/pdf/2302.06184" TargetMode="Externa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165.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165.xml"/><Relationship Id="rId9" Type="http://schemas.openxmlformats.org/officeDocument/2006/relationships/hyperlink" Target="https://learn.microsoft.com/en-us/industry/manufacturing/architecture/ra-overview" TargetMode="Externa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66.xml"/><Relationship Id="rId7" Type="http://schemas.openxmlformats.org/officeDocument/2006/relationships/image" Target="../media/image85.png"/><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68.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171.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171.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171.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171.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171.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169.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172.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172.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172.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172.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172.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170.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173.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173.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173.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173.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173.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74.xm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69867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803463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0753122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480424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2998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extLst>
              <p:ext uri="{D42A27DB-BD31-4B8C-83A1-F6EECF244321}">
                <p14:modId xmlns:p14="http://schemas.microsoft.com/office/powerpoint/2010/main" val="13602181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extLst>
              <p:ext uri="{D42A27DB-BD31-4B8C-83A1-F6EECF244321}">
                <p14:modId xmlns:p14="http://schemas.microsoft.com/office/powerpoint/2010/main" val="676531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extLst>
              <p:ext uri="{D42A27DB-BD31-4B8C-83A1-F6EECF244321}">
                <p14:modId xmlns:p14="http://schemas.microsoft.com/office/powerpoint/2010/main" val="27531423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extLst>
              <p:ext uri="{D42A27DB-BD31-4B8C-83A1-F6EECF244321}">
                <p14:modId xmlns:p14="http://schemas.microsoft.com/office/powerpoint/2010/main" val="147187960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29882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454775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extLst>
              <p:ext uri="{D42A27DB-BD31-4B8C-83A1-F6EECF244321}">
                <p14:modId xmlns:p14="http://schemas.microsoft.com/office/powerpoint/2010/main" val="382566403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121046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936523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44627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85248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61050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045896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96681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875327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069049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53763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0274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93160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8230928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1131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extLst>
              <p:ext uri="{D42A27DB-BD31-4B8C-83A1-F6EECF244321}">
                <p14:modId xmlns:p14="http://schemas.microsoft.com/office/powerpoint/2010/main" val="379909806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extLst>
              <p:ext uri="{D42A27DB-BD31-4B8C-83A1-F6EECF244321}">
                <p14:modId xmlns:p14="http://schemas.microsoft.com/office/powerpoint/2010/main" val="912341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4234490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727447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700915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276679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80187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32435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156887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925219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587530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9325972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91235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4228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9106218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019956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262911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4208764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44309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386183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extLst>
              <p:ext uri="{D42A27DB-BD31-4B8C-83A1-F6EECF244321}">
                <p14:modId xmlns:p14="http://schemas.microsoft.com/office/powerpoint/2010/main" val="14856419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extLst>
              <p:ext uri="{D42A27DB-BD31-4B8C-83A1-F6EECF244321}">
                <p14:modId xmlns:p14="http://schemas.microsoft.com/office/powerpoint/2010/main" val="11447188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extLst>
              <p:ext uri="{D42A27DB-BD31-4B8C-83A1-F6EECF244321}">
                <p14:modId xmlns:p14="http://schemas.microsoft.com/office/powerpoint/2010/main" val="40410715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extLst>
              <p:ext uri="{D42A27DB-BD31-4B8C-83A1-F6EECF244321}">
                <p14:modId xmlns:p14="http://schemas.microsoft.com/office/powerpoint/2010/main" val="20233171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extLst>
              <p:ext uri="{D42A27DB-BD31-4B8C-83A1-F6EECF244321}">
                <p14:modId xmlns:p14="http://schemas.microsoft.com/office/powerpoint/2010/main" val="15046050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extLst>
              <p:ext uri="{D42A27DB-BD31-4B8C-83A1-F6EECF244321}">
                <p14:modId xmlns:p14="http://schemas.microsoft.com/office/powerpoint/2010/main" val="148060311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extLst>
              <p:ext uri="{D42A27DB-BD31-4B8C-83A1-F6EECF244321}">
                <p14:modId xmlns:p14="http://schemas.microsoft.com/office/powerpoint/2010/main" val="35799172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extLst>
              <p:ext uri="{D42A27DB-BD31-4B8C-83A1-F6EECF244321}">
                <p14:modId xmlns:p14="http://schemas.microsoft.com/office/powerpoint/2010/main" val="351961907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extLst>
              <p:ext uri="{D42A27DB-BD31-4B8C-83A1-F6EECF244321}">
                <p14:modId xmlns:p14="http://schemas.microsoft.com/office/powerpoint/2010/main" val="279574141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extLst>
              <p:ext uri="{D42A27DB-BD31-4B8C-83A1-F6EECF244321}">
                <p14:modId xmlns:p14="http://schemas.microsoft.com/office/powerpoint/2010/main" val="35251574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extLst>
              <p:ext uri="{D42A27DB-BD31-4B8C-83A1-F6EECF244321}">
                <p14:modId xmlns:p14="http://schemas.microsoft.com/office/powerpoint/2010/main" val="17710035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extLst>
              <p:ext uri="{D42A27DB-BD31-4B8C-83A1-F6EECF244321}">
                <p14:modId xmlns:p14="http://schemas.microsoft.com/office/powerpoint/2010/main" val="34305472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extLst>
              <p:ext uri="{D42A27DB-BD31-4B8C-83A1-F6EECF244321}">
                <p14:modId xmlns:p14="http://schemas.microsoft.com/office/powerpoint/2010/main" val="27070609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extLst>
              <p:ext uri="{D42A27DB-BD31-4B8C-83A1-F6EECF244321}">
                <p14:modId xmlns:p14="http://schemas.microsoft.com/office/powerpoint/2010/main" val="442720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206472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050478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extLst>
              <p:ext uri="{D42A27DB-BD31-4B8C-83A1-F6EECF244321}">
                <p14:modId xmlns:p14="http://schemas.microsoft.com/office/powerpoint/2010/main" val="40716791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extLst>
              <p:ext uri="{D42A27DB-BD31-4B8C-83A1-F6EECF244321}">
                <p14:modId xmlns:p14="http://schemas.microsoft.com/office/powerpoint/2010/main" val="30280376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extLst>
              <p:ext uri="{D42A27DB-BD31-4B8C-83A1-F6EECF244321}">
                <p14:modId xmlns:p14="http://schemas.microsoft.com/office/powerpoint/2010/main" val="36220292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extLst>
              <p:ext uri="{D42A27DB-BD31-4B8C-83A1-F6EECF244321}">
                <p14:modId xmlns:p14="http://schemas.microsoft.com/office/powerpoint/2010/main" val="21248982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extLst>
              <p:ext uri="{D42A27DB-BD31-4B8C-83A1-F6EECF244321}">
                <p14:modId xmlns:p14="http://schemas.microsoft.com/office/powerpoint/2010/main" val="108310415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extLst>
              <p:ext uri="{D42A27DB-BD31-4B8C-83A1-F6EECF244321}">
                <p14:modId xmlns:p14="http://schemas.microsoft.com/office/powerpoint/2010/main" val="316132941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extLst>
              <p:ext uri="{D42A27DB-BD31-4B8C-83A1-F6EECF244321}">
                <p14:modId xmlns:p14="http://schemas.microsoft.com/office/powerpoint/2010/main" val="27180204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extLst>
              <p:ext uri="{D42A27DB-BD31-4B8C-83A1-F6EECF244321}">
                <p14:modId xmlns:p14="http://schemas.microsoft.com/office/powerpoint/2010/main" val="8344265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extLst>
              <p:ext uri="{D42A27DB-BD31-4B8C-83A1-F6EECF244321}">
                <p14:modId xmlns:p14="http://schemas.microsoft.com/office/powerpoint/2010/main" val="13462759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extLst>
              <p:ext uri="{D42A27DB-BD31-4B8C-83A1-F6EECF244321}">
                <p14:modId xmlns:p14="http://schemas.microsoft.com/office/powerpoint/2010/main" val="396684318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182100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28007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IN" sz="1400" dirty="0">
                <a:hlinkClick r:id="rId10"/>
              </a:rPr>
              <a:t>Smart IoT Apps</a:t>
            </a:r>
            <a:endParaRPr lang="en-IN" sz="1400" dirty="0"/>
          </a:p>
          <a:p>
            <a:r>
              <a:rPr lang="da-DK" sz="1400" dirty="0">
                <a:hlinkClick r:id="rId11"/>
              </a:rPr>
              <a:t>Embedded Systems &amp; RTOS for IoT</a:t>
            </a:r>
            <a:endParaRPr lang="da-DK" sz="1400" dirty="0"/>
          </a:p>
          <a:p>
            <a:r>
              <a:rPr lang="en-IN" sz="1400" dirty="0">
                <a:hlinkClick r:id="rId12"/>
              </a:rPr>
              <a:t>Connected Services in IoT</a:t>
            </a:r>
            <a:endParaRPr lang="da-DK" sz="1400" dirty="0"/>
          </a:p>
          <a:p>
            <a:r>
              <a:rPr lang="en-IN" sz="1400" dirty="0">
                <a:hlinkClick r:id="rId13"/>
              </a:rPr>
              <a:t>WSNs And WANETs</a:t>
            </a:r>
            <a:endParaRPr lang="en-IN" sz="1400" dirty="0"/>
          </a:p>
          <a:p>
            <a:r>
              <a:rPr lang="en-US" sz="1400" dirty="0">
                <a:hlinkClick r:id="rId14"/>
              </a:rPr>
              <a:t>IoT and Edge Computing for Architects </a:t>
            </a:r>
            <a:endParaRPr lang="en-US" sz="1400" dirty="0"/>
          </a:p>
          <a:p>
            <a:r>
              <a:rPr lang="en-US" sz="1400" dirty="0">
                <a:hlinkClick r:id="rId15"/>
              </a:rPr>
              <a:t>Architectural Patterns and Techniques for Developing IoT Solutions</a:t>
            </a:r>
            <a:endParaRPr lang="en-US" sz="1400" dirty="0"/>
          </a:p>
          <a:p>
            <a:r>
              <a:rPr lang="en-US" sz="1400" dirty="0">
                <a:hlinkClick r:id="rId16"/>
              </a:rPr>
              <a:t>Industrial-IoT-for-Architects-and-Engineers</a:t>
            </a:r>
            <a:endParaRPr lang="en-US" sz="1400" dirty="0"/>
          </a:p>
          <a:p>
            <a:r>
              <a:rPr lang="en-US" sz="1400" dirty="0">
                <a:hlinkClick r:id="rId17"/>
              </a:rPr>
              <a:t>Edge-Computing-Patterns-for-Solution-Architects</a:t>
            </a:r>
            <a:endParaRPr lang="en-US" sz="1400" dirty="0"/>
          </a:p>
          <a:p>
            <a:r>
              <a:rPr lang="en-US" sz="1400" dirty="0">
                <a:hlinkClick r:id="rId18"/>
              </a:rPr>
              <a:t>IoT-Edge-Computing-with-MicroK8s</a:t>
            </a:r>
            <a:endParaRPr lang="en-US" sz="1400" dirty="0"/>
          </a:p>
          <a:p>
            <a:r>
              <a:rPr lang="en-US" sz="1400" dirty="0">
                <a:hlinkClick r:id="rId19"/>
              </a:rPr>
              <a:t>Advanced Embedded Architectures and SoCs | </a:t>
            </a:r>
            <a:r>
              <a:rPr lang="en-US" sz="1400" dirty="0" err="1">
                <a:hlinkClick r:id="rId19"/>
              </a:rPr>
              <a:t>Packt</a:t>
            </a:r>
            <a:r>
              <a:rPr lang="en-US" sz="1400" dirty="0">
                <a:hlinkClick r:id="rId19"/>
              </a:rPr>
              <a:t> Subscription</a:t>
            </a:r>
            <a:endParaRPr lang="en-US" sz="1400" dirty="0"/>
          </a:p>
        </p:txBody>
      </p:sp>
    </p:spTree>
    <p:extLst>
      <p:ext uri="{BB962C8B-B14F-4D97-AF65-F5344CB8AC3E}">
        <p14:creationId xmlns:p14="http://schemas.microsoft.com/office/powerpoint/2010/main" val="7172698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343B7-2654-B69B-4E28-CCBAA4862C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1BEC08-F049-2BB0-C023-7C41CD56DEF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815313-99B5-1360-2FED-3FCD9DA9F58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E47CC9-4840-93C7-FA4F-7C816A981CC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8043F79-74BD-3361-8DFF-51582E3B8BED}"/>
              </a:ext>
            </a:extLst>
          </p:cNvPr>
          <p:cNvSpPr txBox="1">
            <a:spLocks/>
          </p:cNvSpPr>
          <p:nvPr/>
        </p:nvSpPr>
        <p:spPr>
          <a:xfrm>
            <a:off x="228600" y="873204"/>
            <a:ext cx="8624937" cy="384182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6"/>
                </a:solidFill>
              </a:rPr>
              <a:t>A Document-Based Workflow Architecture is a system design pattern where documents (PDFs, forms, images, CAD/BIM files, contracts, invoices, etc.) act as the primary unit of work, driving processes through automated or human-centric workflow stages.</a:t>
            </a:r>
          </a:p>
          <a:p>
            <a:pPr marL="12700" marR="5080"/>
            <a:r>
              <a:rPr lang="en-US" sz="1150" kern="0" spc="-80" dirty="0">
                <a:solidFill>
                  <a:schemeClr val="accent6"/>
                </a:solidFill>
              </a:rPr>
              <a:t>It supports document ingestion, classification, enrichment, versioning, routing, approvals, storage, audit, and lifecycle management.               </a:t>
            </a:r>
          </a:p>
          <a:p>
            <a:pPr marL="12700" marR="5080"/>
            <a:r>
              <a:rPr lang="en-US" sz="1150" kern="0" spc="-80" dirty="0">
                <a:solidFill>
                  <a:schemeClr val="accent6"/>
                </a:solidFill>
              </a:rPr>
              <a:t>               </a:t>
            </a:r>
          </a:p>
          <a:p>
            <a:pPr marL="12700" marR="5080"/>
            <a:r>
              <a:rPr lang="en-US" sz="1150" kern="0" spc="-80" dirty="0">
                <a:solidFill>
                  <a:schemeClr val="accent2"/>
                </a:solidFill>
              </a:rPr>
              <a:t>Key Characteristics</a:t>
            </a:r>
          </a:p>
          <a:p>
            <a:pPr marL="12700" marR="5080"/>
            <a:r>
              <a:rPr lang="en-US" sz="1150" kern="0" spc="-80" dirty="0">
                <a:solidFill>
                  <a:schemeClr val="accent2"/>
                </a:solidFill>
              </a:rPr>
              <a:t>Feature	                                                   Description</a:t>
            </a:r>
          </a:p>
          <a:p>
            <a:pPr marL="12700" marR="5080"/>
            <a:r>
              <a:rPr lang="en-US" sz="1150" kern="0" spc="-80" dirty="0">
                <a:solidFill>
                  <a:schemeClr val="accent6"/>
                </a:solidFill>
              </a:rPr>
              <a:t>Document is the Workflow Trigger	A workflow begins when a document is created, uploaded, scanned, or received via an </a:t>
            </a:r>
          </a:p>
          <a:p>
            <a:pPr marL="12700" marR="5080"/>
            <a:r>
              <a:rPr lang="en-US" sz="1150" kern="0" spc="-80" dirty="0">
                <a:solidFill>
                  <a:schemeClr val="accent6"/>
                </a:solidFill>
              </a:rPr>
              <a:t>                                                                            API/email/queue.</a:t>
            </a:r>
          </a:p>
          <a:p>
            <a:pPr marL="12700" marR="5080"/>
            <a:r>
              <a:rPr lang="en-US" sz="1150" kern="0" spc="-80" dirty="0">
                <a:solidFill>
                  <a:schemeClr val="accent6"/>
                </a:solidFill>
              </a:rPr>
              <a:t>Metadata Drives Flow	                          Routed based on extracted metadata (</a:t>
            </a:r>
            <a:r>
              <a:rPr lang="en-US" sz="1150" kern="0" spc="-80" dirty="0" err="1">
                <a:solidFill>
                  <a:schemeClr val="accent6"/>
                </a:solidFill>
              </a:rPr>
              <a:t>customerID</a:t>
            </a:r>
            <a:r>
              <a:rPr lang="en-US" sz="1150" kern="0" spc="-80" dirty="0">
                <a:solidFill>
                  <a:schemeClr val="accent6"/>
                </a:solidFill>
              </a:rPr>
              <a:t>, invoice amount, claim type).</a:t>
            </a:r>
          </a:p>
          <a:p>
            <a:pPr marL="12700" marR="5080"/>
            <a:r>
              <a:rPr lang="en-US" sz="1150" kern="0" spc="-80" dirty="0">
                <a:solidFill>
                  <a:schemeClr val="accent6"/>
                </a:solidFill>
              </a:rPr>
              <a:t>Human + Automation Mix	                          Combines automation (OCR/AI) with human interventions (approvals, edits, reviews).</a:t>
            </a:r>
          </a:p>
          <a:p>
            <a:pPr marL="12700" marR="5080"/>
            <a:r>
              <a:rPr lang="en-US" sz="1150" kern="0" spc="-80" dirty="0">
                <a:solidFill>
                  <a:schemeClr val="accent6"/>
                </a:solidFill>
              </a:rPr>
              <a:t>Stateful Processing	                          Workflow system stores stage, history, timestamps, assignees.</a:t>
            </a:r>
          </a:p>
          <a:p>
            <a:pPr marL="12700" marR="5080"/>
            <a:r>
              <a:rPr lang="en-US" sz="1150" kern="0" spc="-80" dirty="0">
                <a:solidFill>
                  <a:schemeClr val="accent6"/>
                </a:solidFill>
              </a:rPr>
              <a:t>Integrates with DMS/ECM	                          Works with SharePoint, Alfresco, OpenText, </a:t>
            </a:r>
            <a:r>
              <a:rPr lang="en-US" sz="1150" kern="0" spc="-80" dirty="0" err="1">
                <a:solidFill>
                  <a:schemeClr val="accent6"/>
                </a:solidFill>
              </a:rPr>
              <a:t>Filenet</a:t>
            </a:r>
            <a:r>
              <a:rPr lang="en-US" sz="1150" kern="0" spc="-80" dirty="0">
                <a:solidFill>
                  <a:schemeClr val="accent6"/>
                </a:solidFill>
              </a:rPr>
              <a:t>, S3, GCP Storage, etc.</a:t>
            </a:r>
          </a:p>
          <a:p>
            <a:pPr marL="12700" marR="5080"/>
            <a:r>
              <a:rPr lang="en-US" sz="1150" kern="0" spc="-80" dirty="0">
                <a:solidFill>
                  <a:schemeClr val="accent6"/>
                </a:solidFill>
              </a:rPr>
              <a:t>                 </a:t>
            </a:r>
          </a:p>
          <a:p>
            <a:pPr marL="12700" marR="5080"/>
            <a:r>
              <a:rPr lang="en-US" sz="1150" kern="0" spc="-80" dirty="0">
                <a:solidFill>
                  <a:schemeClr val="accent2"/>
                </a:solidFill>
              </a:rPr>
              <a:t>High-Level Architecture Overview</a:t>
            </a:r>
          </a:p>
          <a:p>
            <a:pPr marL="12700" marR="5080"/>
            <a:r>
              <a:rPr lang="en-US" sz="1150" kern="0" spc="-80" dirty="0">
                <a:solidFill>
                  <a:schemeClr val="accent6"/>
                </a:solidFill>
              </a:rPr>
              <a:t>         ┌─────────────────────────────────────────┐</a:t>
            </a:r>
          </a:p>
          <a:p>
            <a:pPr marL="12700" marR="5080"/>
            <a:r>
              <a:rPr lang="en-US" sz="1150" kern="0" spc="-80" dirty="0">
                <a:solidFill>
                  <a:schemeClr val="accent6"/>
                </a:solidFill>
              </a:rPr>
              <a:t>         │          Document Producers              │</a:t>
            </a:r>
          </a:p>
          <a:p>
            <a:pPr marL="12700" marR="5080"/>
            <a:r>
              <a:rPr lang="en-US" sz="1150" kern="0" spc="-80" dirty="0">
                <a:solidFill>
                  <a:schemeClr val="accent6"/>
                </a:solidFill>
              </a:rPr>
              <a:t>         │ (Users, Scanners, Apps, APIs, E-mail)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Ingestion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a:t>
            </a:r>
          </a:p>
          <a:p>
            <a:pPr marL="12700" marR="5080"/>
            <a:r>
              <a:rPr lang="en-US" sz="1150" kern="0" spc="-80" dirty="0">
                <a:solidFill>
                  <a:schemeClr val="accent6"/>
                </a:solidFill>
              </a:rPr>
              <a:t>OCR/AI Extraction           Validation Services           Metadata Annotation</a:t>
            </a:r>
          </a:p>
          <a:p>
            <a:pPr marL="12700" marR="5080"/>
            <a:r>
              <a:rPr lang="en-US" sz="1150" kern="0" spc="-80" dirty="0">
                <a:solidFill>
                  <a:schemeClr val="accent6"/>
                </a:solidFill>
              </a:rPr>
              <a:t>    │                              │                              │</a:t>
            </a:r>
          </a:p>
          <a:p>
            <a:pPr marL="12700" marR="5080"/>
            <a:r>
              <a:rPr lang="en-US" sz="1150" kern="0" spc="-80" dirty="0">
                <a:solidFill>
                  <a:schemeClr val="accent6"/>
                </a:solidFill>
              </a:rPr>
              <a:t>    └───────────────┬──────────────┴─────────────┬────────────────┘</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a:p>
            <a:pPr marL="12700" marR="5080"/>
            <a:r>
              <a:rPr lang="en-US" sz="1150" kern="0" spc="-80" dirty="0">
                <a:solidFill>
                  <a:schemeClr val="accent6"/>
                </a:solidFill>
              </a:rPr>
              <a:t>4. Core Architecture Components</a:t>
            </a:r>
          </a:p>
          <a:p>
            <a:pPr marL="12700" marR="5080"/>
            <a:r>
              <a:rPr lang="en-US" sz="1150" kern="0" spc="-80" dirty="0">
                <a:solidFill>
                  <a:schemeClr val="accent6"/>
                </a:solidFill>
              </a:rPr>
              <a:t>1. Document Ingestion Layer</a:t>
            </a:r>
          </a:p>
          <a:p>
            <a:pPr marL="12700" marR="5080"/>
            <a:r>
              <a:rPr lang="en-US" sz="1150" kern="0" spc="-80" dirty="0">
                <a:solidFill>
                  <a:schemeClr val="accent6"/>
                </a:solidFill>
              </a:rPr>
              <a:t>Supports multiple input channels:</a:t>
            </a:r>
          </a:p>
          <a:p>
            <a:pPr marL="12700" marR="5080"/>
            <a:r>
              <a:rPr lang="en-US" sz="1150" kern="0" spc="-80" dirty="0">
                <a:solidFill>
                  <a:schemeClr val="accent6"/>
                </a:solidFill>
              </a:rPr>
              <a:t>File upload portals</a:t>
            </a:r>
          </a:p>
          <a:p>
            <a:pPr marL="12700" marR="5080"/>
            <a:r>
              <a:rPr lang="en-US" sz="1150" kern="0" spc="-80" dirty="0">
                <a:solidFill>
                  <a:schemeClr val="accent6"/>
                </a:solidFill>
              </a:rPr>
              <a:t>Email listeners</a:t>
            </a:r>
          </a:p>
          <a:p>
            <a:pPr marL="12700" marR="5080"/>
            <a:r>
              <a:rPr lang="en-US" sz="1150" kern="0" spc="-80" dirty="0">
                <a:solidFill>
                  <a:schemeClr val="accent6"/>
                </a:solidFill>
              </a:rPr>
              <a:t>API endpoints</a:t>
            </a:r>
          </a:p>
          <a:p>
            <a:pPr marL="12700" marR="5080"/>
            <a:r>
              <a:rPr lang="en-US" sz="1150" kern="0" spc="-80" dirty="0">
                <a:solidFill>
                  <a:schemeClr val="accent6"/>
                </a:solidFill>
              </a:rPr>
              <a:t>SFTP ingestion</a:t>
            </a:r>
          </a:p>
          <a:p>
            <a:pPr marL="12700" marR="5080"/>
            <a:r>
              <a:rPr lang="en-US" sz="1150" kern="0" spc="-80" dirty="0">
                <a:solidFill>
                  <a:schemeClr val="accent6"/>
                </a:solidFill>
              </a:rPr>
              <a:t>Message queues (Azure Service Bus, Kafka, AWS SQS)</a:t>
            </a:r>
          </a:p>
          <a:p>
            <a:pPr marL="12700" marR="5080"/>
            <a:r>
              <a:rPr lang="en-US" sz="1150" kern="0" spc="-80" dirty="0">
                <a:solidFill>
                  <a:schemeClr val="accent6"/>
                </a:solidFill>
              </a:rPr>
              <a:t>Scanners with OCR</a:t>
            </a:r>
          </a:p>
          <a:p>
            <a:pPr marL="12700" marR="5080"/>
            <a:r>
              <a:rPr lang="en-US" sz="1150" kern="0" spc="-80" dirty="0">
                <a:solidFill>
                  <a:schemeClr val="accent6"/>
                </a:solidFill>
              </a:rPr>
              <a:t>Tech: NGINX, API Gateway, Kofax, </a:t>
            </a:r>
            <a:r>
              <a:rPr lang="en-US" sz="1150" kern="0" spc="-80" dirty="0" err="1">
                <a:solidFill>
                  <a:schemeClr val="accent6"/>
                </a:solidFill>
              </a:rPr>
              <a:t>Abbyy</a:t>
            </a:r>
            <a:r>
              <a:rPr lang="en-US" sz="1150" kern="0" spc="-80" dirty="0">
                <a:solidFill>
                  <a:schemeClr val="accent6"/>
                </a:solidFill>
              </a:rPr>
              <a:t>, Azure Form Recognizer, Tesseract.</a:t>
            </a:r>
          </a:p>
          <a:p>
            <a:pPr marL="12700" marR="5080"/>
            <a:r>
              <a:rPr lang="en-US" sz="1150" kern="0" spc="-80" dirty="0">
                <a:solidFill>
                  <a:schemeClr val="accent6"/>
                </a:solidFill>
              </a:rPr>
              <a:t>2. Document Recognition &amp; Understanding</a:t>
            </a:r>
          </a:p>
          <a:p>
            <a:pPr marL="12700" marR="5080"/>
            <a:r>
              <a:rPr lang="en-US" sz="1150" kern="0" spc="-80" dirty="0">
                <a:solidFill>
                  <a:schemeClr val="accent6"/>
                </a:solidFill>
              </a:rPr>
              <a:t>AI/ML models convert unstructured content into structured metadata.</a:t>
            </a:r>
          </a:p>
          <a:p>
            <a:pPr marL="12700" marR="5080"/>
            <a:r>
              <a:rPr lang="en-US" sz="1150" kern="0" spc="-80" dirty="0">
                <a:solidFill>
                  <a:schemeClr val="accent6"/>
                </a:solidFill>
              </a:rPr>
              <a:t>Techniques:</a:t>
            </a:r>
          </a:p>
          <a:p>
            <a:pPr marL="12700" marR="5080"/>
            <a:r>
              <a:rPr lang="en-US" sz="1150" kern="0" spc="-80" dirty="0">
                <a:solidFill>
                  <a:schemeClr val="accent6"/>
                </a:solidFill>
              </a:rPr>
              <a:t>OCR/ICR (Handwriting recognition)</a:t>
            </a:r>
          </a:p>
          <a:p>
            <a:pPr marL="12700" marR="5080"/>
            <a:r>
              <a:rPr lang="en-US" sz="1150" kern="0" spc="-80" dirty="0">
                <a:solidFill>
                  <a:schemeClr val="accent6"/>
                </a:solidFill>
              </a:rPr>
              <a:t>Document classification (CNN, Transformers)</a:t>
            </a:r>
          </a:p>
          <a:p>
            <a:pPr marL="12700" marR="5080"/>
            <a:r>
              <a:rPr lang="en-US" sz="1150" kern="0" spc="-80" dirty="0">
                <a:solidFill>
                  <a:schemeClr val="accent6"/>
                </a:solidFill>
              </a:rPr>
              <a:t>Key-value extraction (</a:t>
            </a:r>
            <a:r>
              <a:rPr lang="en-US" sz="1150" kern="0" spc="-80" dirty="0" err="1">
                <a:solidFill>
                  <a:schemeClr val="accent6"/>
                </a:solidFill>
              </a:rPr>
              <a:t>LayoutLM</a:t>
            </a:r>
            <a:r>
              <a:rPr lang="en-US" sz="1150" kern="0" spc="-80" dirty="0">
                <a:solidFill>
                  <a:schemeClr val="accent6"/>
                </a:solidFill>
              </a:rPr>
              <a:t>, Donut)</a:t>
            </a:r>
          </a:p>
          <a:p>
            <a:pPr marL="12700" marR="5080"/>
            <a:r>
              <a:rPr lang="en-US" sz="1150" kern="0" spc="-80" dirty="0">
                <a:solidFill>
                  <a:schemeClr val="accent6"/>
                </a:solidFill>
              </a:rPr>
              <a:t>Signature detection</a:t>
            </a:r>
          </a:p>
          <a:p>
            <a:pPr marL="12700" marR="5080"/>
            <a:r>
              <a:rPr lang="en-US" sz="1150" kern="0" spc="-80" dirty="0">
                <a:solidFill>
                  <a:schemeClr val="accent6"/>
                </a:solidFill>
              </a:rPr>
              <a:t>Barcode reading</a:t>
            </a:r>
          </a:p>
          <a:p>
            <a:pPr marL="12700" marR="5080"/>
            <a:r>
              <a:rPr lang="en-US" sz="1150" kern="0" spc="-80" dirty="0">
                <a:solidFill>
                  <a:schemeClr val="accent6"/>
                </a:solidFill>
              </a:rPr>
              <a:t>3. Metadata Enrichment</a:t>
            </a:r>
          </a:p>
          <a:p>
            <a:pPr marL="12700" marR="5080"/>
            <a:r>
              <a:rPr lang="en-US" sz="1150" kern="0" spc="-80" dirty="0">
                <a:solidFill>
                  <a:schemeClr val="accent6"/>
                </a:solidFill>
              </a:rPr>
              <a:t>Extracted metadata is validated and mapped into workflow fields.</a:t>
            </a:r>
          </a:p>
          <a:p>
            <a:pPr marL="12700" marR="5080"/>
            <a:r>
              <a:rPr lang="en-US" sz="1150" kern="0" spc="-80" dirty="0">
                <a:solidFill>
                  <a:schemeClr val="accent6"/>
                </a:solidFill>
              </a:rPr>
              <a:t>Example:</a:t>
            </a:r>
          </a:p>
          <a:p>
            <a:pPr marL="12700" marR="5080"/>
            <a:r>
              <a:rPr lang="en-US" sz="1150" kern="0" spc="-80" dirty="0">
                <a:solidFill>
                  <a:schemeClr val="accent6"/>
                </a:solidFill>
              </a:rPr>
              <a:t>“Invoice Total = ₹2,45,000 → Requires Finance Director Approval”.</a:t>
            </a:r>
          </a:p>
          <a:p>
            <a:pPr marL="12700" marR="5080"/>
            <a:r>
              <a:rPr lang="en-US" sz="1150" kern="0" spc="-80" dirty="0">
                <a:solidFill>
                  <a:schemeClr val="accent6"/>
                </a:solidFill>
              </a:rPr>
              <a:t>“Claim Category = Health → Route to Health Claims Team”.</a:t>
            </a:r>
          </a:p>
          <a:p>
            <a:pPr marL="12700" marR="5080"/>
            <a:r>
              <a:rPr lang="en-US" sz="1150" kern="0" spc="-80" dirty="0">
                <a:solidFill>
                  <a:schemeClr val="accent6"/>
                </a:solidFill>
              </a:rPr>
              <a:t>4. Workflow Orchestration Layer</a:t>
            </a:r>
          </a:p>
          <a:p>
            <a:pPr marL="12700" marR="5080"/>
            <a:r>
              <a:rPr lang="en-US" sz="1150" kern="0" spc="-80" dirty="0">
                <a:solidFill>
                  <a:schemeClr val="accent6"/>
                </a:solidFill>
              </a:rPr>
              <a:t>The engine that drives the process.</a:t>
            </a:r>
          </a:p>
          <a:p>
            <a:pPr marL="12700" marR="5080"/>
            <a:r>
              <a:rPr lang="en-US" sz="1150" kern="0" spc="-80" dirty="0">
                <a:solidFill>
                  <a:schemeClr val="accent6"/>
                </a:solidFill>
              </a:rPr>
              <a:t>Common Workflow Engines:</a:t>
            </a:r>
          </a:p>
          <a:p>
            <a:pPr marL="12700" marR="5080"/>
            <a:r>
              <a:rPr lang="en-US" sz="1150" kern="0" spc="-80" dirty="0">
                <a:solidFill>
                  <a:schemeClr val="accent6"/>
                </a:solidFill>
              </a:rPr>
              <a:t>Camunda / </a:t>
            </a:r>
            <a:r>
              <a:rPr lang="en-US" sz="1150" kern="0" spc="-80" dirty="0" err="1">
                <a:solidFill>
                  <a:schemeClr val="accent6"/>
                </a:solidFill>
              </a:rPr>
              <a:t>Zeebe</a:t>
            </a:r>
            <a:endParaRPr lang="en-US" sz="1150" kern="0" spc="-80" dirty="0">
              <a:solidFill>
                <a:schemeClr val="accent6"/>
              </a:solidFill>
            </a:endParaRPr>
          </a:p>
          <a:p>
            <a:pPr marL="12700" marR="5080"/>
            <a:r>
              <a:rPr lang="en-US" sz="1150" kern="0" spc="-80" dirty="0">
                <a:solidFill>
                  <a:schemeClr val="accent6"/>
                </a:solidFill>
              </a:rPr>
              <a:t>Temporal</a:t>
            </a:r>
          </a:p>
          <a:p>
            <a:pPr marL="12700" marR="5080"/>
            <a:r>
              <a:rPr lang="en-US" sz="1150" kern="0" spc="-80" dirty="0">
                <a:solidFill>
                  <a:schemeClr val="accent6"/>
                </a:solidFill>
              </a:rPr>
              <a:t>Apache Airflow (for system workflows)</a:t>
            </a:r>
          </a:p>
          <a:p>
            <a:pPr marL="12700" marR="5080"/>
            <a:r>
              <a:rPr lang="en-US" sz="1150" kern="0" spc="-80" dirty="0">
                <a:solidFill>
                  <a:schemeClr val="accent6"/>
                </a:solidFill>
              </a:rPr>
              <a:t>Power Automate</a:t>
            </a:r>
          </a:p>
          <a:p>
            <a:pPr marL="12700" marR="5080"/>
            <a:r>
              <a:rPr lang="en-US" sz="1150" kern="0" spc="-80" dirty="0">
                <a:solidFill>
                  <a:schemeClr val="accent6"/>
                </a:solidFill>
              </a:rPr>
              <a:t>Azure Logic Apps</a:t>
            </a:r>
          </a:p>
          <a:p>
            <a:pPr marL="12700" marR="5080"/>
            <a:r>
              <a:rPr lang="en-US" sz="1150" kern="0" spc="-80" dirty="0">
                <a:solidFill>
                  <a:schemeClr val="accent6"/>
                </a:solidFill>
              </a:rPr>
              <a:t>n8n</a:t>
            </a:r>
          </a:p>
          <a:p>
            <a:pPr marL="12700" marR="5080"/>
            <a:r>
              <a:rPr lang="en-US" sz="1150" kern="0" spc="-80" dirty="0">
                <a:solidFill>
                  <a:schemeClr val="accent6"/>
                </a:solidFill>
              </a:rPr>
              <a:t>JBPM</a:t>
            </a:r>
          </a:p>
          <a:p>
            <a:pPr marL="12700" marR="5080"/>
            <a:r>
              <a:rPr lang="en-US" sz="1150" kern="0" spc="-80" dirty="0">
                <a:solidFill>
                  <a:schemeClr val="accent6"/>
                </a:solidFill>
              </a:rPr>
              <a:t>Features:</a:t>
            </a:r>
          </a:p>
          <a:p>
            <a:pPr marL="12700" marR="5080"/>
            <a:r>
              <a:rPr lang="en-US" sz="1150" kern="0" spc="-80" dirty="0">
                <a:solidFill>
                  <a:schemeClr val="accent6"/>
                </a:solidFill>
              </a:rPr>
              <a:t>BPMN-based workflows</a:t>
            </a:r>
          </a:p>
          <a:p>
            <a:pPr marL="12700" marR="5080"/>
            <a:r>
              <a:rPr lang="en-US" sz="1150" kern="0" spc="-80" dirty="0">
                <a:solidFill>
                  <a:schemeClr val="accent6"/>
                </a:solidFill>
              </a:rPr>
              <a:t>Human tasks</a:t>
            </a:r>
          </a:p>
          <a:p>
            <a:pPr marL="12700" marR="5080"/>
            <a:r>
              <a:rPr lang="en-US" sz="1150" kern="0" spc="-80" dirty="0">
                <a:solidFill>
                  <a:schemeClr val="accent6"/>
                </a:solidFill>
              </a:rPr>
              <a:t>SLAs &amp; escalations</a:t>
            </a:r>
          </a:p>
          <a:p>
            <a:pPr marL="12700" marR="5080"/>
            <a:r>
              <a:rPr lang="en-US" sz="1150" kern="0" spc="-80" dirty="0">
                <a:solidFill>
                  <a:schemeClr val="accent6"/>
                </a:solidFill>
              </a:rPr>
              <a:t>Conditional branching</a:t>
            </a:r>
          </a:p>
          <a:p>
            <a:pPr marL="12700" marR="5080"/>
            <a:r>
              <a:rPr lang="en-US" sz="1150" kern="0" spc="-80" dirty="0">
                <a:solidFill>
                  <a:schemeClr val="accent6"/>
                </a:solidFill>
              </a:rPr>
              <a:t>Audit trails</a:t>
            </a:r>
          </a:p>
          <a:p>
            <a:pPr marL="12700" marR="5080"/>
            <a:r>
              <a:rPr lang="en-US" sz="1150" kern="0" spc="-80" dirty="0">
                <a:solidFill>
                  <a:schemeClr val="accent6"/>
                </a:solidFill>
              </a:rPr>
              <a:t>5. Human Task Management</a:t>
            </a:r>
          </a:p>
          <a:p>
            <a:pPr marL="12700" marR="5080"/>
            <a:r>
              <a:rPr lang="en-US" sz="1150" kern="0" spc="-80" dirty="0">
                <a:solidFill>
                  <a:schemeClr val="accent6"/>
                </a:solidFill>
              </a:rPr>
              <a:t>Document workflows often require human steps:</a:t>
            </a:r>
          </a:p>
          <a:p>
            <a:pPr marL="12700" marR="5080"/>
            <a:r>
              <a:rPr lang="en-US" sz="1150" kern="0" spc="-80" dirty="0">
                <a:solidFill>
                  <a:schemeClr val="accent6"/>
                </a:solidFill>
              </a:rPr>
              <a:t>Approve/Reject</a:t>
            </a:r>
          </a:p>
          <a:p>
            <a:pPr marL="12700" marR="5080"/>
            <a:r>
              <a:rPr lang="en-US" sz="1150" kern="0" spc="-80" dirty="0">
                <a:solidFill>
                  <a:schemeClr val="accent6"/>
                </a:solidFill>
              </a:rPr>
              <a:t>Edit metadata</a:t>
            </a:r>
          </a:p>
          <a:p>
            <a:pPr marL="12700" marR="5080"/>
            <a:r>
              <a:rPr lang="en-US" sz="1150" kern="0" spc="-80" dirty="0">
                <a:solidFill>
                  <a:schemeClr val="accent6"/>
                </a:solidFill>
              </a:rPr>
              <a:t>Annotate documents</a:t>
            </a:r>
          </a:p>
          <a:p>
            <a:pPr marL="12700" marR="5080"/>
            <a:r>
              <a:rPr lang="en-US" sz="1150" kern="0" spc="-80" dirty="0">
                <a:solidFill>
                  <a:schemeClr val="accent6"/>
                </a:solidFill>
              </a:rPr>
              <a:t>Assign tasks across roles</a:t>
            </a:r>
          </a:p>
          <a:p>
            <a:pPr marL="12700" marR="5080"/>
            <a:r>
              <a:rPr lang="en-US" sz="1150" kern="0" spc="-80" dirty="0">
                <a:solidFill>
                  <a:schemeClr val="accent6"/>
                </a:solidFill>
              </a:rPr>
              <a:t>Tech: Camunda </a:t>
            </a:r>
            <a:r>
              <a:rPr lang="en-US" sz="1150" kern="0" spc="-80" dirty="0" err="1">
                <a:solidFill>
                  <a:schemeClr val="accent6"/>
                </a:solidFill>
              </a:rPr>
              <a:t>Tasklist</a:t>
            </a:r>
            <a:r>
              <a:rPr lang="en-US" sz="1150" kern="0" spc="-80" dirty="0">
                <a:solidFill>
                  <a:schemeClr val="accent6"/>
                </a:solidFill>
              </a:rPr>
              <a:t>, Activiti UI, custom Angular/React applications.</a:t>
            </a:r>
          </a:p>
          <a:p>
            <a:pPr marL="12700" marR="5080"/>
            <a:r>
              <a:rPr lang="en-US" sz="1150" kern="0" spc="-80" dirty="0">
                <a:solidFill>
                  <a:schemeClr val="accent6"/>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6"/>
                </a:solidFill>
              </a:rPr>
              <a:t>Supports:</a:t>
            </a:r>
          </a:p>
          <a:p>
            <a:pPr marL="12700" marR="5080"/>
            <a:r>
              <a:rPr lang="en-US" sz="1150" kern="0" spc="-80" dirty="0">
                <a:solidFill>
                  <a:schemeClr val="accent6"/>
                </a:solidFill>
              </a:rPr>
              <a:t>Versioning</a:t>
            </a:r>
          </a:p>
          <a:p>
            <a:pPr marL="12700" marR="5080"/>
            <a:r>
              <a:rPr lang="en-US" sz="1150" kern="0" spc="-80" dirty="0">
                <a:solidFill>
                  <a:schemeClr val="accent6"/>
                </a:solidFill>
              </a:rPr>
              <a:t>Check-in/Check-out</a:t>
            </a:r>
          </a:p>
          <a:p>
            <a:pPr marL="12700" marR="5080"/>
            <a:r>
              <a:rPr lang="en-US" sz="1150" kern="0" spc="-80" dirty="0">
                <a:solidFill>
                  <a:schemeClr val="accent6"/>
                </a:solidFill>
              </a:rPr>
              <a:t>Indexes for search</a:t>
            </a:r>
          </a:p>
          <a:p>
            <a:pPr marL="12700" marR="5080"/>
            <a:r>
              <a:rPr lang="en-US" sz="1150" kern="0" spc="-80" dirty="0">
                <a:solidFill>
                  <a:schemeClr val="accent6"/>
                </a:solidFill>
              </a:rPr>
              <a:t>Retention &amp; archival policies</a:t>
            </a:r>
          </a:p>
          <a:p>
            <a:pPr marL="12700" marR="5080"/>
            <a:r>
              <a:rPr lang="en-US" sz="1150" kern="0" spc="-80" dirty="0">
                <a:solidFill>
                  <a:schemeClr val="accent6"/>
                </a:solidFill>
              </a:rPr>
              <a:t>7. Integration Layer</a:t>
            </a:r>
          </a:p>
          <a:p>
            <a:pPr marL="12700" marR="5080"/>
            <a:r>
              <a:rPr lang="en-US" sz="1150" kern="0" spc="-80" dirty="0">
                <a:solidFill>
                  <a:schemeClr val="accent6"/>
                </a:solidFill>
              </a:rPr>
              <a:t>Document workflows must interact with enterprise apps:</a:t>
            </a:r>
          </a:p>
          <a:p>
            <a:pPr marL="12700" marR="5080"/>
            <a:r>
              <a:rPr lang="en-US" sz="1150" kern="0" spc="-80" dirty="0">
                <a:solidFill>
                  <a:schemeClr val="accent6"/>
                </a:solidFill>
              </a:rPr>
              <a:t>ERP (SAP, Oracle)</a:t>
            </a:r>
          </a:p>
          <a:p>
            <a:pPr marL="12700" marR="5080"/>
            <a:r>
              <a:rPr lang="en-US" sz="1150" kern="0" spc="-80" dirty="0">
                <a:solidFill>
                  <a:schemeClr val="accent6"/>
                </a:solidFill>
              </a:rPr>
              <a:t>CRM (Salesforce, Dynamics)</a:t>
            </a:r>
          </a:p>
          <a:p>
            <a:pPr marL="12700" marR="5080"/>
            <a:r>
              <a:rPr lang="en-US" sz="1150" kern="0" spc="-80" dirty="0">
                <a:solidFill>
                  <a:schemeClr val="accent6"/>
                </a:solidFill>
              </a:rPr>
              <a:t>Billing systems</a:t>
            </a:r>
          </a:p>
          <a:p>
            <a:pPr marL="12700" marR="5080"/>
            <a:r>
              <a:rPr lang="en-US" sz="1150" kern="0" spc="-80" dirty="0">
                <a:solidFill>
                  <a:schemeClr val="accent6"/>
                </a:solidFill>
              </a:rPr>
              <a:t>Payment gateways</a:t>
            </a:r>
          </a:p>
          <a:p>
            <a:pPr marL="12700" marR="5080"/>
            <a:r>
              <a:rPr lang="en-US" sz="1150" kern="0" spc="-80" dirty="0">
                <a:solidFill>
                  <a:schemeClr val="accent6"/>
                </a:solidFill>
              </a:rPr>
              <a:t>Notification systems (SMS, Email, WhatsApp)</a:t>
            </a:r>
          </a:p>
          <a:p>
            <a:pPr marL="12700" marR="5080"/>
            <a:r>
              <a:rPr lang="en-US" sz="1150" kern="0" spc="-80" dirty="0">
                <a:solidFill>
                  <a:schemeClr val="accent6"/>
                </a:solidFill>
              </a:rPr>
              <a:t>Tech:</a:t>
            </a:r>
          </a:p>
          <a:p>
            <a:pPr marL="12700" marR="5080"/>
            <a:r>
              <a:rPr lang="en-US" sz="1150" kern="0" spc="-80" dirty="0">
                <a:solidFill>
                  <a:schemeClr val="accent6"/>
                </a:solidFill>
              </a:rPr>
              <a:t>REST, </a:t>
            </a:r>
            <a:r>
              <a:rPr lang="en-US" sz="1150" kern="0" spc="-80" dirty="0" err="1">
                <a:solidFill>
                  <a:schemeClr val="accent6"/>
                </a:solidFill>
              </a:rPr>
              <a:t>GraphQL</a:t>
            </a:r>
            <a:endParaRPr lang="en-US" sz="1150" kern="0" spc="-80" dirty="0">
              <a:solidFill>
                <a:schemeClr val="accent6"/>
              </a:solidFill>
            </a:endParaRPr>
          </a:p>
          <a:p>
            <a:pPr marL="12700" marR="5080"/>
            <a:r>
              <a:rPr lang="en-US" sz="1150" kern="0" spc="-80" dirty="0">
                <a:solidFill>
                  <a:schemeClr val="accent6"/>
                </a:solidFill>
              </a:rPr>
              <a:t>Message queues</a:t>
            </a:r>
          </a:p>
          <a:p>
            <a:pPr marL="12700" marR="5080"/>
            <a:r>
              <a:rPr lang="en-US" sz="1150" kern="0" spc="-80" dirty="0">
                <a:solidFill>
                  <a:schemeClr val="accent6"/>
                </a:solidFill>
              </a:rPr>
              <a:t>RPA bots</a:t>
            </a:r>
          </a:p>
          <a:p>
            <a:pPr marL="12700" marR="5080"/>
            <a:r>
              <a:rPr lang="en-US" sz="1150" kern="0" spc="-80" dirty="0">
                <a:solidFill>
                  <a:schemeClr val="accent6"/>
                </a:solidFill>
              </a:rPr>
              <a:t>8. Security &amp; Compliance Layer</a:t>
            </a:r>
          </a:p>
          <a:p>
            <a:pPr marL="12700" marR="5080"/>
            <a:r>
              <a:rPr lang="en-US" sz="1150" kern="0" spc="-80" dirty="0">
                <a:solidFill>
                  <a:schemeClr val="accent6"/>
                </a:solidFill>
              </a:rPr>
              <a:t>Especially important for regulated environments like banking and healthcare.</a:t>
            </a:r>
          </a:p>
          <a:p>
            <a:pPr marL="12700" marR="5080"/>
            <a:r>
              <a:rPr lang="en-US" sz="1150" kern="0" spc="-80" dirty="0">
                <a:solidFill>
                  <a:schemeClr val="accent6"/>
                </a:solidFill>
              </a:rPr>
              <a:t>Includes:</a:t>
            </a:r>
          </a:p>
          <a:p>
            <a:pPr marL="12700" marR="5080"/>
            <a:r>
              <a:rPr lang="en-US" sz="1150" kern="0" spc="-80" dirty="0">
                <a:solidFill>
                  <a:schemeClr val="accent6"/>
                </a:solidFill>
              </a:rPr>
              <a:t>Zero-Trust architecture</a:t>
            </a:r>
          </a:p>
          <a:p>
            <a:pPr marL="12700" marR="5080"/>
            <a:r>
              <a:rPr lang="en-US" sz="1150" kern="0" spc="-80" dirty="0">
                <a:solidFill>
                  <a:schemeClr val="accent6"/>
                </a:solidFill>
              </a:rPr>
              <a:t>Role-based &amp; attribute-based access control (RBAC/ABAC)</a:t>
            </a:r>
          </a:p>
          <a:p>
            <a:pPr marL="12700" marR="5080"/>
            <a:r>
              <a:rPr lang="en-US" sz="1150" kern="0" spc="-80" dirty="0">
                <a:solidFill>
                  <a:schemeClr val="accent6"/>
                </a:solidFill>
              </a:rPr>
              <a:t>Document access policies</a:t>
            </a:r>
          </a:p>
          <a:p>
            <a:pPr marL="12700" marR="5080"/>
            <a:r>
              <a:rPr lang="en-US" sz="1150" kern="0" spc="-80" dirty="0">
                <a:solidFill>
                  <a:schemeClr val="accent6"/>
                </a:solidFill>
              </a:rPr>
              <a:t>PII masking</a:t>
            </a:r>
          </a:p>
          <a:p>
            <a:pPr marL="12700" marR="5080"/>
            <a:r>
              <a:rPr lang="en-US" sz="1150" kern="0" spc="-80" dirty="0">
                <a:solidFill>
                  <a:schemeClr val="accent6"/>
                </a:solidFill>
              </a:rPr>
              <a:t>Encryption at rest &amp; in transit</a:t>
            </a:r>
          </a:p>
          <a:p>
            <a:pPr marL="12700" marR="5080"/>
            <a:r>
              <a:rPr lang="en-US" sz="1150" kern="0" spc="-80" dirty="0">
                <a:solidFill>
                  <a:schemeClr val="accent6"/>
                </a:solidFill>
              </a:rPr>
              <a:t>Tamper-proof audit logs</a:t>
            </a:r>
          </a:p>
          <a:p>
            <a:pPr marL="12700" marR="5080"/>
            <a:r>
              <a:rPr lang="en-US" sz="1150" kern="0" spc="-80" dirty="0">
                <a:solidFill>
                  <a:schemeClr val="accent6"/>
                </a:solidFill>
              </a:rPr>
              <a:t>4. Document Workflow Patterns</a:t>
            </a:r>
          </a:p>
          <a:p>
            <a:pPr marL="12700" marR="5080"/>
            <a:r>
              <a:rPr lang="en-US" sz="1150" kern="0" spc="-80" dirty="0">
                <a:solidFill>
                  <a:schemeClr val="accent6"/>
                </a:solidFill>
              </a:rPr>
              <a:t>Pattern 1: Straight-Through Processing (STP)</a:t>
            </a:r>
          </a:p>
          <a:p>
            <a:pPr marL="12700" marR="5080"/>
            <a:r>
              <a:rPr lang="en-US" sz="1150" kern="0" spc="-80" dirty="0">
                <a:solidFill>
                  <a:schemeClr val="accent6"/>
                </a:solidFill>
              </a:rPr>
              <a:t>Automation-only flow.</a:t>
            </a:r>
          </a:p>
          <a:p>
            <a:pPr marL="12700" marR="5080"/>
            <a:r>
              <a:rPr lang="en-US" sz="1150" kern="0" spc="-80" dirty="0">
                <a:solidFill>
                  <a:schemeClr val="accent6"/>
                </a:solidFill>
              </a:rPr>
              <a:t>Used for:</a:t>
            </a:r>
          </a:p>
          <a:p>
            <a:pPr marL="12700" marR="5080"/>
            <a:r>
              <a:rPr lang="en-US" sz="1150" kern="0" spc="-80" dirty="0">
                <a:solidFill>
                  <a:schemeClr val="accent6"/>
                </a:solidFill>
              </a:rPr>
              <a:t>Standard forms</a:t>
            </a:r>
          </a:p>
          <a:p>
            <a:pPr marL="12700" marR="5080"/>
            <a:r>
              <a:rPr lang="en-US" sz="1150" kern="0" spc="-80" dirty="0">
                <a:solidFill>
                  <a:schemeClr val="accent6"/>
                </a:solidFill>
              </a:rPr>
              <a:t>Low value invoices</a:t>
            </a:r>
          </a:p>
          <a:p>
            <a:pPr marL="12700" marR="5080"/>
            <a:r>
              <a:rPr lang="en-US" sz="1150" kern="0" spc="-80" dirty="0">
                <a:solidFill>
                  <a:schemeClr val="accent6"/>
                </a:solidFill>
              </a:rPr>
              <a:t>Ticketing systems</a:t>
            </a:r>
          </a:p>
          <a:p>
            <a:pPr marL="12700" marR="5080"/>
            <a:r>
              <a:rPr lang="en-US" sz="1150" kern="0" spc="-80" dirty="0">
                <a:solidFill>
                  <a:schemeClr val="accent6"/>
                </a:solidFill>
              </a:rPr>
              <a:t>Pattern 2: Human-in-the-Loop Workflow</a:t>
            </a:r>
          </a:p>
          <a:p>
            <a:pPr marL="12700" marR="5080"/>
            <a:r>
              <a:rPr lang="en-US" sz="1150" kern="0" spc="-80" dirty="0">
                <a:solidFill>
                  <a:schemeClr val="accent6"/>
                </a:solidFill>
              </a:rPr>
              <a:t>Manual review required.</a:t>
            </a:r>
          </a:p>
          <a:p>
            <a:pPr marL="12700" marR="5080"/>
            <a:r>
              <a:rPr lang="en-US" sz="1150" kern="0" spc="-80" dirty="0">
                <a:solidFill>
                  <a:schemeClr val="accent6"/>
                </a:solidFill>
              </a:rPr>
              <a:t>Used for:</a:t>
            </a:r>
          </a:p>
          <a:p>
            <a:pPr marL="12700" marR="5080"/>
            <a:r>
              <a:rPr lang="en-US" sz="1150" kern="0" spc="-80" dirty="0">
                <a:solidFill>
                  <a:schemeClr val="accent6"/>
                </a:solidFill>
              </a:rPr>
              <a:t>Legal documents</a:t>
            </a:r>
          </a:p>
          <a:p>
            <a:pPr marL="12700" marR="5080"/>
            <a:r>
              <a:rPr lang="en-US" sz="1150" kern="0" spc="-80" dirty="0">
                <a:solidFill>
                  <a:schemeClr val="accent6"/>
                </a:solidFill>
              </a:rPr>
              <a:t>Claims</a:t>
            </a:r>
          </a:p>
          <a:p>
            <a:pPr marL="12700" marR="5080"/>
            <a:r>
              <a:rPr lang="en-US" sz="1150" kern="0" spc="-80" dirty="0">
                <a:solidFill>
                  <a:schemeClr val="accent6"/>
                </a:solidFill>
              </a:rPr>
              <a:t>High-value approvals</a:t>
            </a:r>
          </a:p>
          <a:p>
            <a:pPr marL="12700" marR="5080"/>
            <a:r>
              <a:rPr lang="en-US" sz="1150" kern="0" spc="-80" dirty="0">
                <a:solidFill>
                  <a:schemeClr val="accent6"/>
                </a:solidFill>
              </a:rPr>
              <a:t>Pattern 3: Parallel Workflows</a:t>
            </a:r>
          </a:p>
          <a:p>
            <a:pPr marL="12700" marR="5080"/>
            <a:r>
              <a:rPr lang="en-US" sz="1150" kern="0" spc="-80" dirty="0">
                <a:solidFill>
                  <a:schemeClr val="accent6"/>
                </a:solidFill>
              </a:rPr>
              <a:t>Multiple teams work on the same document concurrently.</a:t>
            </a:r>
          </a:p>
          <a:p>
            <a:pPr marL="12700" marR="5080"/>
            <a:r>
              <a:rPr lang="en-US" sz="1150" kern="0" spc="-80" dirty="0">
                <a:solidFill>
                  <a:schemeClr val="accent6"/>
                </a:solidFill>
              </a:rPr>
              <a:t>Examples:</a:t>
            </a:r>
          </a:p>
          <a:p>
            <a:pPr marL="12700" marR="5080"/>
            <a:r>
              <a:rPr lang="en-US" sz="1150" kern="0" spc="-80" dirty="0">
                <a:solidFill>
                  <a:schemeClr val="accent6"/>
                </a:solidFill>
              </a:rPr>
              <a:t>HR onboarding</a:t>
            </a:r>
          </a:p>
          <a:p>
            <a:pPr marL="12700" marR="5080"/>
            <a:r>
              <a:rPr lang="en-US" sz="1150" kern="0" spc="-80" dirty="0">
                <a:solidFill>
                  <a:schemeClr val="accent6"/>
                </a:solidFill>
              </a:rPr>
              <a:t>Mortgage processing</a:t>
            </a:r>
          </a:p>
          <a:p>
            <a:pPr marL="12700" marR="5080"/>
            <a:r>
              <a:rPr lang="en-US" sz="1150" kern="0" spc="-80" dirty="0">
                <a:solidFill>
                  <a:schemeClr val="accent6"/>
                </a:solidFill>
              </a:rPr>
              <a:t>Insurance underwriting</a:t>
            </a:r>
          </a:p>
          <a:p>
            <a:pPr marL="12700" marR="5080"/>
            <a:r>
              <a:rPr lang="en-US" sz="1150" kern="0" spc="-80" dirty="0">
                <a:solidFill>
                  <a:schemeClr val="accent6"/>
                </a:solidFill>
              </a:rPr>
              <a:t>Pattern 4: Dynamic Routing</a:t>
            </a:r>
          </a:p>
          <a:p>
            <a:pPr marL="12700" marR="5080"/>
            <a:r>
              <a:rPr lang="en-US" sz="1150" kern="0" spc="-80" dirty="0">
                <a:solidFill>
                  <a:schemeClr val="accent6"/>
                </a:solidFill>
              </a:rPr>
              <a:t>Metadata decides path.</a:t>
            </a:r>
          </a:p>
          <a:p>
            <a:pPr marL="12700" marR="5080"/>
            <a:r>
              <a:rPr lang="en-US" sz="1150" kern="0" spc="-80" dirty="0">
                <a:solidFill>
                  <a:schemeClr val="accent6"/>
                </a:solidFill>
              </a:rPr>
              <a:t>Example:</a:t>
            </a:r>
          </a:p>
          <a:p>
            <a:pPr marL="12700" marR="5080"/>
            <a:r>
              <a:rPr lang="en-US" sz="1150" kern="0" spc="-80" dirty="0">
                <a:solidFill>
                  <a:schemeClr val="accent6"/>
                </a:solidFill>
              </a:rPr>
              <a:t>If invoice &lt; ₹50,000 → Auto-approve  </a:t>
            </a:r>
          </a:p>
          <a:p>
            <a:pPr marL="12700" marR="5080"/>
            <a:r>
              <a:rPr lang="en-US" sz="1150" kern="0" spc="-80" dirty="0">
                <a:solidFill>
                  <a:schemeClr val="accent6"/>
                </a:solidFill>
              </a:rPr>
              <a:t>If invoice &gt; ₹50,000 → Manager approval  </a:t>
            </a:r>
          </a:p>
          <a:p>
            <a:pPr marL="12700" marR="5080"/>
            <a:r>
              <a:rPr lang="en-US" sz="1150" kern="0" spc="-80" dirty="0">
                <a:solidFill>
                  <a:schemeClr val="accent6"/>
                </a:solidFill>
              </a:rPr>
              <a:t>If invoice &gt; ₹5,00,000 → Finance director approval</a:t>
            </a:r>
          </a:p>
          <a:p>
            <a:pPr marL="12700" marR="5080"/>
            <a:r>
              <a:rPr lang="en-US" sz="1150" kern="0" spc="-80" dirty="0">
                <a:solidFill>
                  <a:schemeClr val="accent6"/>
                </a:solidFill>
              </a:rPr>
              <a:t>Pattern 5: Versioned Document Processing</a:t>
            </a:r>
          </a:p>
          <a:p>
            <a:pPr marL="12700" marR="5080"/>
            <a:r>
              <a:rPr lang="en-US" sz="1150" kern="0" spc="-80" dirty="0">
                <a:solidFill>
                  <a:schemeClr val="accent6"/>
                </a:solidFill>
              </a:rPr>
              <a:t>Each update creates a new version, and workflow can branch on version changes.</a:t>
            </a:r>
          </a:p>
          <a:p>
            <a:pPr marL="12700" marR="5080"/>
            <a:r>
              <a:rPr lang="en-US" sz="1150" kern="0" spc="-80" dirty="0">
                <a:solidFill>
                  <a:schemeClr val="accent6"/>
                </a:solidFill>
              </a:rPr>
              <a:t>Pattern 6: Document Assembly Workflow</a:t>
            </a:r>
          </a:p>
          <a:p>
            <a:pPr marL="12700" marR="5080"/>
            <a:r>
              <a:rPr lang="en-US" sz="1150" kern="0" spc="-80" dirty="0">
                <a:solidFill>
                  <a:schemeClr val="accent6"/>
                </a:solidFill>
              </a:rPr>
              <a:t>Used in legal, healthcare, finance.</a:t>
            </a:r>
          </a:p>
          <a:p>
            <a:pPr marL="12700" marR="5080"/>
            <a:r>
              <a:rPr lang="en-US" sz="1150" kern="0" spc="-80" dirty="0">
                <a:solidFill>
                  <a:schemeClr val="accent6"/>
                </a:solidFill>
              </a:rPr>
              <a:t>Example:</a:t>
            </a:r>
          </a:p>
          <a:p>
            <a:pPr marL="12700" marR="5080"/>
            <a:r>
              <a:rPr lang="en-US" sz="1150" kern="0" spc="-80" dirty="0">
                <a:solidFill>
                  <a:schemeClr val="accent6"/>
                </a:solidFill>
              </a:rPr>
              <a:t>Auto-generate a contract from templates → send for signatures → archive.</a:t>
            </a:r>
          </a:p>
          <a:p>
            <a:pPr marL="12700" marR="5080"/>
            <a:r>
              <a:rPr lang="en-US" sz="1150" kern="0" spc="-80" dirty="0">
                <a:solidFill>
                  <a:schemeClr val="accent6"/>
                </a:solidFill>
              </a:rPr>
              <a:t>Pattern 7: Collaborative Editing Workflow</a:t>
            </a:r>
          </a:p>
          <a:p>
            <a:pPr marL="12700" marR="5080"/>
            <a:r>
              <a:rPr lang="en-US" sz="1150" kern="0" spc="-80" dirty="0">
                <a:solidFill>
                  <a:schemeClr val="accent6"/>
                </a:solidFill>
              </a:rPr>
              <a:t>Multiple reviewers annotate simultaneously (Google Docs style).</a:t>
            </a:r>
          </a:p>
          <a:p>
            <a:pPr marL="12700" marR="5080"/>
            <a:r>
              <a:rPr lang="en-US" sz="1150" kern="0" spc="-80" dirty="0">
                <a:solidFill>
                  <a:schemeClr val="accent6"/>
                </a:solidFill>
              </a:rPr>
              <a:t>5. End-to-End Data Flow Example</a:t>
            </a:r>
          </a:p>
          <a:p>
            <a:pPr marL="12700" marR="5080"/>
            <a:r>
              <a:rPr lang="en-US" sz="1150" kern="0" spc="-80" dirty="0">
                <a:solidFill>
                  <a:schemeClr val="accent6"/>
                </a:solidFill>
              </a:rPr>
              <a:t>Example: Invoice Processing Workflow</a:t>
            </a:r>
          </a:p>
          <a:p>
            <a:pPr marL="12700" marR="5080"/>
            <a:r>
              <a:rPr lang="en-US" sz="1150" kern="0" spc="-80" dirty="0">
                <a:solidFill>
                  <a:schemeClr val="accent6"/>
                </a:solidFill>
              </a:rPr>
              <a:t>Invoice uploaded through portal</a:t>
            </a:r>
          </a:p>
          <a:p>
            <a:pPr marL="12700" marR="5080"/>
            <a:r>
              <a:rPr lang="en-US" sz="1150" kern="0" spc="-80" dirty="0">
                <a:solidFill>
                  <a:schemeClr val="accent6"/>
                </a:solidFill>
              </a:rPr>
              <a:t>OCR extracts Vendor Name, Amount, Tax</a:t>
            </a:r>
          </a:p>
          <a:p>
            <a:pPr marL="12700" marR="5080"/>
            <a:r>
              <a:rPr lang="en-US" sz="1150" kern="0" spc="-80" dirty="0">
                <a:solidFill>
                  <a:schemeClr val="accent6"/>
                </a:solidFill>
              </a:rPr>
              <a:t>Workflow engine validates metadata</a:t>
            </a:r>
          </a:p>
          <a:p>
            <a:pPr marL="12700" marR="5080"/>
            <a:r>
              <a:rPr lang="en-US" sz="115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r>
              <a:rPr lang="en-US" sz="1150" kern="0" spc="-80" dirty="0">
                <a:solidFill>
                  <a:schemeClr val="accent6"/>
                </a:solidFill>
              </a:rPr>
              <a:t>6. Technology Stack Mapping</a:t>
            </a:r>
          </a:p>
          <a:p>
            <a:pPr marL="12700" marR="5080"/>
            <a:r>
              <a:rPr lang="en-US" sz="1150" kern="0" spc="-80" dirty="0">
                <a:solidFill>
                  <a:schemeClr val="accent6"/>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r>
              <a:rPr lang="en-US" sz="1150" kern="0" spc="-80" dirty="0">
                <a:solidFill>
                  <a:schemeClr val="accent6"/>
                </a:solidFill>
              </a:rPr>
              <a:t>7. Deployment Architecture</a:t>
            </a:r>
          </a:p>
          <a:p>
            <a:pPr marL="12700" marR="5080"/>
            <a:r>
              <a:rPr lang="en-US" sz="1150" kern="0" spc="-80" dirty="0">
                <a:solidFill>
                  <a:schemeClr val="accent6"/>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r>
              <a:rPr lang="en-US" sz="1150" kern="0" spc="-80" dirty="0">
                <a:solidFill>
                  <a:schemeClr val="accent6"/>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a:p>
            <a:pPr marL="12700" marR="5080"/>
            <a:r>
              <a:rPr lang="en-US" sz="1150" kern="0" spc="-80" dirty="0">
                <a:solidFill>
                  <a:schemeClr val="accent6"/>
                </a:solidFill>
              </a:rPr>
              <a:t>9. When to Use Document-Based Workflow Architecture</a:t>
            </a:r>
          </a:p>
          <a:p>
            <a:pPr marL="12700" marR="5080"/>
            <a:r>
              <a:rPr lang="en-US" sz="1150" kern="0" spc="-80" dirty="0">
                <a:solidFill>
                  <a:schemeClr val="accent6"/>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r>
              <a:rPr lang="en-US" sz="1150" kern="0" spc="-80" dirty="0">
                <a:solidFill>
                  <a:schemeClr val="accent6"/>
                </a:solidFill>
              </a:rPr>
              <a:t>10. 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r>
              <a:rPr lang="en-US" sz="1150" kern="0" spc="-80" dirty="0">
                <a:solidFill>
                  <a:schemeClr val="accent6"/>
                </a:solidFill>
              </a:rPr>
              <a:t>✅ Technology-specific version (Azure/AWS/on-prem)</a:t>
            </a:r>
          </a:p>
          <a:p>
            <a:pPr marL="12700" marR="5080"/>
            <a:r>
              <a:rPr lang="en-US" sz="1150" kern="0" spc="-80" dirty="0">
                <a:solidFill>
                  <a:schemeClr val="accent6"/>
                </a:solidFill>
              </a:rPr>
              <a:t>Just tell me what you want.</a:t>
            </a: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185613416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66C0C-45EA-D97E-EFBA-B9E9CAD30D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48DDD3-5545-220A-24A7-B01EDDDA391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C84BEC-24CA-FC08-ADCB-46FB13B31A0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64617B-A53F-70B9-8DA8-865305330B2C}"/>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BA96A1A-694E-1CE5-7685-ECF30173C037}"/>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6"/>
                </a:solidFill>
              </a:rPr>
              <a:t>└───────────────┬──────────────┴─────────────┬────────────────┘</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a:p>
            <a:pPr marL="12700" marR="5080"/>
            <a:endParaRPr lang="en-US" sz="1150" kern="0" spc="-80" dirty="0">
              <a:solidFill>
                <a:schemeClr val="accent6"/>
              </a:solidFill>
            </a:endParaRPr>
          </a:p>
          <a:p>
            <a:pPr marL="12700" marR="5080"/>
            <a:r>
              <a:rPr lang="en-US" sz="1150" kern="0" spc="-80" dirty="0">
                <a:solidFill>
                  <a:schemeClr val="accent2"/>
                </a:solidFill>
              </a:rPr>
              <a:t>Core Architecture Components</a:t>
            </a:r>
          </a:p>
          <a:p>
            <a:pPr marL="12700" marR="5080"/>
            <a:r>
              <a:rPr lang="en-US" sz="1150" kern="0" spc="-80" dirty="0">
                <a:solidFill>
                  <a:schemeClr val="accent2"/>
                </a:solidFill>
              </a:rPr>
              <a:t>1. Document Ingestion Layer</a:t>
            </a:r>
          </a:p>
          <a:p>
            <a:pPr marL="12700" marR="5080"/>
            <a:r>
              <a:rPr lang="en-US" sz="1150" kern="0" spc="-80" dirty="0">
                <a:solidFill>
                  <a:schemeClr val="accent2"/>
                </a:solidFill>
              </a:rPr>
              <a:t>Supports multiple input channels:</a:t>
            </a:r>
          </a:p>
          <a:p>
            <a:pPr marL="12700" marR="5080"/>
            <a:r>
              <a:rPr lang="en-US" sz="1150" kern="0" spc="-80" dirty="0">
                <a:solidFill>
                  <a:schemeClr val="accent6"/>
                </a:solidFill>
              </a:rPr>
              <a:t>File upload portals</a:t>
            </a:r>
          </a:p>
          <a:p>
            <a:pPr marL="12700" marR="5080"/>
            <a:r>
              <a:rPr lang="en-US" sz="1150" kern="0" spc="-80" dirty="0">
                <a:solidFill>
                  <a:schemeClr val="accent6"/>
                </a:solidFill>
              </a:rPr>
              <a:t>Email listeners</a:t>
            </a:r>
          </a:p>
          <a:p>
            <a:pPr marL="12700" marR="5080"/>
            <a:r>
              <a:rPr lang="en-US" sz="1150" kern="0" spc="-80" dirty="0">
                <a:solidFill>
                  <a:schemeClr val="accent6"/>
                </a:solidFill>
              </a:rPr>
              <a:t>API endpoints</a:t>
            </a:r>
          </a:p>
          <a:p>
            <a:pPr marL="12700" marR="5080"/>
            <a:r>
              <a:rPr lang="en-US" sz="1150" kern="0" spc="-80" dirty="0">
                <a:solidFill>
                  <a:schemeClr val="accent6"/>
                </a:solidFill>
              </a:rPr>
              <a:t>SFTP ingestion</a:t>
            </a:r>
          </a:p>
          <a:p>
            <a:pPr marL="12700" marR="5080"/>
            <a:r>
              <a:rPr lang="en-US" sz="1150" kern="0" spc="-80" dirty="0">
                <a:solidFill>
                  <a:schemeClr val="accent6"/>
                </a:solidFill>
              </a:rPr>
              <a:t>Message queues (Azure Service Bus, Kafka, AWS SQS)</a:t>
            </a:r>
          </a:p>
          <a:p>
            <a:pPr marL="12700" marR="5080"/>
            <a:r>
              <a:rPr lang="en-US" sz="1150" kern="0" spc="-80" dirty="0">
                <a:solidFill>
                  <a:schemeClr val="accent6"/>
                </a:solidFill>
              </a:rPr>
              <a:t>Scanners with OCR</a:t>
            </a:r>
          </a:p>
          <a:p>
            <a:pPr marL="12700" marR="5080"/>
            <a:r>
              <a:rPr lang="en-US" sz="1150" kern="0" spc="-80" dirty="0">
                <a:solidFill>
                  <a:schemeClr val="accent2"/>
                </a:solidFill>
              </a:rPr>
              <a:t>Tech</a:t>
            </a:r>
            <a:r>
              <a:rPr lang="en-US" sz="1150" kern="0" spc="-80" dirty="0">
                <a:solidFill>
                  <a:schemeClr val="accent6"/>
                </a:solidFill>
              </a:rPr>
              <a:t>: NGINX, API Gateway, Kofax, </a:t>
            </a:r>
            <a:r>
              <a:rPr lang="en-US" sz="1150" kern="0" spc="-80" dirty="0" err="1">
                <a:solidFill>
                  <a:schemeClr val="accent6"/>
                </a:solidFill>
              </a:rPr>
              <a:t>Abbyy</a:t>
            </a:r>
            <a:r>
              <a:rPr lang="en-US" sz="1150" kern="0" spc="-80" dirty="0">
                <a:solidFill>
                  <a:schemeClr val="accent6"/>
                </a:solidFill>
              </a:rPr>
              <a:t>, Azure Form Recognizer, Tesseract.</a:t>
            </a:r>
          </a:p>
        </p:txBody>
      </p:sp>
    </p:spTree>
    <p:extLst>
      <p:ext uri="{BB962C8B-B14F-4D97-AF65-F5344CB8AC3E}">
        <p14:creationId xmlns:p14="http://schemas.microsoft.com/office/powerpoint/2010/main" val="414751190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A17-FDAB-2834-A3BE-EE518DC73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190455-774C-0A42-BECF-A0096EA6909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0F702B-7B47-92E5-F0EB-2E3A38B06EA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BAE6AD-E5A6-D607-A496-E8D26ACE566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331D693-4CDE-A2A6-D9CF-82EB828A486B}"/>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2. Document Recognition &amp; Understanding</a:t>
            </a:r>
          </a:p>
          <a:p>
            <a:pPr marL="12700" marR="5080"/>
            <a:r>
              <a:rPr lang="en-US" sz="1150" kern="0" spc="-80" dirty="0">
                <a:solidFill>
                  <a:schemeClr val="accent6"/>
                </a:solidFill>
              </a:rPr>
              <a:t>AI/ML models convert unstructured content into structured metadata.</a:t>
            </a:r>
          </a:p>
          <a:p>
            <a:pPr marL="12700" marR="5080"/>
            <a:r>
              <a:rPr lang="en-US" sz="1150" kern="0" spc="-80" dirty="0">
                <a:solidFill>
                  <a:schemeClr val="accent2"/>
                </a:solidFill>
              </a:rPr>
              <a:t>Techniques:</a:t>
            </a:r>
          </a:p>
          <a:p>
            <a:pPr marL="12700" marR="5080"/>
            <a:r>
              <a:rPr lang="en-US" sz="1150" kern="0" spc="-80" dirty="0">
                <a:solidFill>
                  <a:schemeClr val="accent6"/>
                </a:solidFill>
              </a:rPr>
              <a:t>OCR/ICR (Handwriting recognition)</a:t>
            </a:r>
          </a:p>
          <a:p>
            <a:pPr marL="12700" marR="5080"/>
            <a:r>
              <a:rPr lang="en-US" sz="1150" kern="0" spc="-80" dirty="0">
                <a:solidFill>
                  <a:schemeClr val="accent6"/>
                </a:solidFill>
              </a:rPr>
              <a:t>Document classification (CNN, Transformers)</a:t>
            </a:r>
          </a:p>
          <a:p>
            <a:pPr marL="12700" marR="5080"/>
            <a:r>
              <a:rPr lang="en-US" sz="1150" kern="0" spc="-80" dirty="0">
                <a:solidFill>
                  <a:schemeClr val="accent6"/>
                </a:solidFill>
              </a:rPr>
              <a:t>Key-value extraction (</a:t>
            </a:r>
            <a:r>
              <a:rPr lang="en-US" sz="1150" kern="0" spc="-80" dirty="0" err="1">
                <a:solidFill>
                  <a:schemeClr val="accent6"/>
                </a:solidFill>
              </a:rPr>
              <a:t>LayoutLM</a:t>
            </a:r>
            <a:r>
              <a:rPr lang="en-US" sz="1150" kern="0" spc="-80" dirty="0">
                <a:solidFill>
                  <a:schemeClr val="accent6"/>
                </a:solidFill>
              </a:rPr>
              <a:t>, Donut)</a:t>
            </a:r>
          </a:p>
          <a:p>
            <a:pPr marL="12700" marR="5080"/>
            <a:r>
              <a:rPr lang="en-US" sz="1150" kern="0" spc="-80" dirty="0">
                <a:solidFill>
                  <a:schemeClr val="accent6"/>
                </a:solidFill>
              </a:rPr>
              <a:t>Signature detection</a:t>
            </a:r>
          </a:p>
          <a:p>
            <a:pPr marL="12700" marR="5080"/>
            <a:r>
              <a:rPr lang="en-US" sz="1150" kern="0" spc="-80" dirty="0">
                <a:solidFill>
                  <a:schemeClr val="accent6"/>
                </a:solidFill>
              </a:rPr>
              <a:t>Barcode reading</a:t>
            </a:r>
          </a:p>
          <a:p>
            <a:pPr marL="12700" marR="5080"/>
            <a:endParaRPr lang="en-US" sz="1150" kern="0" spc="-80" dirty="0">
              <a:solidFill>
                <a:schemeClr val="accent6"/>
              </a:solidFill>
            </a:endParaRPr>
          </a:p>
          <a:p>
            <a:pPr marL="12700" marR="5080"/>
            <a:r>
              <a:rPr lang="en-US" sz="1150" kern="0" spc="-80" dirty="0">
                <a:solidFill>
                  <a:schemeClr val="accent2"/>
                </a:solidFill>
              </a:rPr>
              <a:t>3. Metadata Enrichment</a:t>
            </a:r>
          </a:p>
          <a:p>
            <a:pPr marL="12700" marR="5080"/>
            <a:r>
              <a:rPr lang="en-US" sz="1150" kern="0" spc="-80" dirty="0">
                <a:solidFill>
                  <a:schemeClr val="accent6"/>
                </a:solidFill>
              </a:rPr>
              <a:t>Extracted metadata is validated and mapped into workflow fields.</a:t>
            </a:r>
          </a:p>
          <a:p>
            <a:pPr marL="12700" marR="5080"/>
            <a:r>
              <a:rPr lang="en-US" sz="1150" kern="0" spc="-80" dirty="0">
                <a:solidFill>
                  <a:schemeClr val="accent2"/>
                </a:solidFill>
              </a:rPr>
              <a:t>Example:</a:t>
            </a:r>
          </a:p>
          <a:p>
            <a:pPr marL="12700" marR="5080"/>
            <a:r>
              <a:rPr lang="en-US" sz="1150" kern="0" spc="-80" dirty="0">
                <a:solidFill>
                  <a:schemeClr val="accent6"/>
                </a:solidFill>
              </a:rPr>
              <a:t>“Invoice Total = ₹2,45,000 → Requires Finance Director Approval”.</a:t>
            </a:r>
          </a:p>
          <a:p>
            <a:pPr marL="12700" marR="5080"/>
            <a:r>
              <a:rPr lang="en-US" sz="1150" kern="0" spc="-80" dirty="0">
                <a:solidFill>
                  <a:schemeClr val="accent6"/>
                </a:solidFill>
              </a:rPr>
              <a:t>“Claim Category = Health → Route to Health Claims Team”.</a:t>
            </a:r>
          </a:p>
          <a:p>
            <a:pPr marL="12700" marR="5080"/>
            <a:endParaRPr lang="en-US" sz="1150" kern="0" spc="-80" dirty="0">
              <a:solidFill>
                <a:schemeClr val="accent6"/>
              </a:solidFill>
            </a:endParaRPr>
          </a:p>
          <a:p>
            <a:pPr marL="12700" marR="5080"/>
            <a:r>
              <a:rPr lang="en-US" sz="1150" kern="0" spc="-80" dirty="0">
                <a:solidFill>
                  <a:schemeClr val="accent2"/>
                </a:solidFill>
              </a:rPr>
              <a:t>4. Workflow Orchestration Layer</a:t>
            </a:r>
          </a:p>
          <a:p>
            <a:pPr marL="12700" marR="5080"/>
            <a:r>
              <a:rPr lang="en-US" sz="1150" kern="0" spc="-80" dirty="0">
                <a:solidFill>
                  <a:schemeClr val="accent6"/>
                </a:solidFill>
              </a:rPr>
              <a:t>The engine that drives the process.</a:t>
            </a:r>
          </a:p>
          <a:p>
            <a:pPr marL="12700" marR="5080"/>
            <a:r>
              <a:rPr lang="en-US" sz="1150" kern="0" spc="-80" dirty="0">
                <a:solidFill>
                  <a:schemeClr val="accent2"/>
                </a:solidFill>
              </a:rPr>
              <a:t>Common Workflow Engines:</a:t>
            </a:r>
          </a:p>
          <a:p>
            <a:pPr marL="12700" marR="5080"/>
            <a:r>
              <a:rPr lang="en-US" sz="1150" kern="0" spc="-80" dirty="0">
                <a:solidFill>
                  <a:schemeClr val="accent6"/>
                </a:solidFill>
              </a:rPr>
              <a:t>Camunda / </a:t>
            </a:r>
            <a:r>
              <a:rPr lang="en-US" sz="1150" kern="0" spc="-80" dirty="0" err="1">
                <a:solidFill>
                  <a:schemeClr val="accent6"/>
                </a:solidFill>
              </a:rPr>
              <a:t>Zeebe</a:t>
            </a:r>
            <a:endParaRPr lang="en-US" sz="1150" kern="0" spc="-80" dirty="0">
              <a:solidFill>
                <a:schemeClr val="accent6"/>
              </a:solidFill>
            </a:endParaRPr>
          </a:p>
          <a:p>
            <a:pPr marL="12700" marR="5080"/>
            <a:r>
              <a:rPr lang="en-US" sz="1150" kern="0" spc="-80" dirty="0">
                <a:solidFill>
                  <a:schemeClr val="accent6"/>
                </a:solidFill>
              </a:rPr>
              <a:t>Netflix Conductor</a:t>
            </a:r>
          </a:p>
          <a:p>
            <a:pPr marL="12700" marR="5080"/>
            <a:r>
              <a:rPr lang="en-US" sz="1150" kern="0" spc="-80" dirty="0">
                <a:solidFill>
                  <a:schemeClr val="accent6"/>
                </a:solidFill>
              </a:rPr>
              <a:t>Temporal</a:t>
            </a:r>
          </a:p>
          <a:p>
            <a:pPr marL="12700" marR="5080"/>
            <a:r>
              <a:rPr lang="en-US" sz="1150" kern="0" spc="-80" dirty="0">
                <a:solidFill>
                  <a:schemeClr val="accent6"/>
                </a:solidFill>
              </a:rPr>
              <a:t>Apache Airflow (for system workflows)</a:t>
            </a:r>
          </a:p>
          <a:p>
            <a:pPr marL="12700" marR="5080"/>
            <a:r>
              <a:rPr lang="en-US" sz="1150" kern="0" spc="-80" dirty="0">
                <a:solidFill>
                  <a:schemeClr val="accent6"/>
                </a:solidFill>
              </a:rPr>
              <a:t>Power Automate</a:t>
            </a:r>
          </a:p>
          <a:p>
            <a:pPr marL="12700" marR="5080"/>
            <a:r>
              <a:rPr lang="en-US" sz="1150" kern="0" spc="-80" dirty="0">
                <a:solidFill>
                  <a:schemeClr val="accent6"/>
                </a:solidFill>
              </a:rPr>
              <a:t>Azure Logic Apps</a:t>
            </a:r>
          </a:p>
          <a:p>
            <a:pPr marL="12700" marR="5080"/>
            <a:r>
              <a:rPr lang="en-US" sz="1150" kern="0" spc="-80" dirty="0">
                <a:solidFill>
                  <a:schemeClr val="accent6"/>
                </a:solidFill>
              </a:rPr>
              <a:t>n8n</a:t>
            </a:r>
          </a:p>
          <a:p>
            <a:pPr marL="12700" marR="5080"/>
            <a:r>
              <a:rPr lang="en-US" sz="1150" kern="0" spc="-80" dirty="0">
                <a:solidFill>
                  <a:schemeClr val="accent6"/>
                </a:solidFill>
              </a:rPr>
              <a:t>JBPM</a:t>
            </a:r>
          </a:p>
        </p:txBody>
      </p:sp>
    </p:spTree>
    <p:extLst>
      <p:ext uri="{BB962C8B-B14F-4D97-AF65-F5344CB8AC3E}">
        <p14:creationId xmlns:p14="http://schemas.microsoft.com/office/powerpoint/2010/main" val="4964980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172ED-63F2-11A1-0976-DA2AEF312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5EF6D2-6092-62F7-ED9D-AD0DA31F7F7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86594F-CC46-DDE9-3F5D-1FB49826A2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C2ACF-EBF4-47C1-2F0B-231E730D0BB7}"/>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608348-637D-38A6-6FDA-F03DFB2460C5}"/>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4. Workflow Orchestration Layer</a:t>
            </a:r>
          </a:p>
          <a:p>
            <a:pPr marL="12700" marR="5080"/>
            <a:r>
              <a:rPr lang="en-US" sz="1150" kern="0" spc="-80" dirty="0">
                <a:solidFill>
                  <a:schemeClr val="accent2"/>
                </a:solidFill>
              </a:rPr>
              <a:t>Features:</a:t>
            </a:r>
          </a:p>
          <a:p>
            <a:pPr marL="12700" marR="5080"/>
            <a:r>
              <a:rPr lang="en-US" sz="1150" kern="0" spc="-80" dirty="0">
                <a:solidFill>
                  <a:schemeClr val="accent6"/>
                </a:solidFill>
              </a:rPr>
              <a:t>BPMN-based workflows</a:t>
            </a:r>
          </a:p>
          <a:p>
            <a:pPr marL="12700" marR="5080"/>
            <a:r>
              <a:rPr lang="en-US" sz="1150" kern="0" spc="-80" dirty="0">
                <a:solidFill>
                  <a:schemeClr val="accent6"/>
                </a:solidFill>
              </a:rPr>
              <a:t>Human tasks</a:t>
            </a:r>
          </a:p>
          <a:p>
            <a:pPr marL="12700" marR="5080"/>
            <a:r>
              <a:rPr lang="en-US" sz="1150" kern="0" spc="-80" dirty="0">
                <a:solidFill>
                  <a:schemeClr val="accent6"/>
                </a:solidFill>
              </a:rPr>
              <a:t>SLAs &amp; escalations</a:t>
            </a:r>
          </a:p>
          <a:p>
            <a:pPr marL="12700" marR="5080"/>
            <a:r>
              <a:rPr lang="en-US" sz="1150" kern="0" spc="-80" dirty="0">
                <a:solidFill>
                  <a:schemeClr val="accent6"/>
                </a:solidFill>
              </a:rPr>
              <a:t>Conditional branching</a:t>
            </a:r>
          </a:p>
          <a:p>
            <a:pPr marL="12700" marR="5080"/>
            <a:r>
              <a:rPr lang="en-US" sz="1150" kern="0" spc="-80" dirty="0">
                <a:solidFill>
                  <a:schemeClr val="accent6"/>
                </a:solidFill>
              </a:rPr>
              <a:t>Audit trails</a:t>
            </a:r>
          </a:p>
          <a:p>
            <a:pPr marL="12700" marR="5080"/>
            <a:endParaRPr lang="en-US" sz="1150" kern="0" spc="-80" dirty="0">
              <a:solidFill>
                <a:schemeClr val="accent6"/>
              </a:solidFill>
            </a:endParaRPr>
          </a:p>
          <a:p>
            <a:pPr marL="12700" marR="5080"/>
            <a:r>
              <a:rPr lang="en-US" sz="1150" kern="0" spc="-80" dirty="0">
                <a:solidFill>
                  <a:schemeClr val="accent2"/>
                </a:solidFill>
              </a:rPr>
              <a:t>5. Human Task Management</a:t>
            </a:r>
          </a:p>
          <a:p>
            <a:pPr marL="12700" marR="5080"/>
            <a:r>
              <a:rPr lang="en-US" sz="1150" kern="0" spc="-80" dirty="0">
                <a:solidFill>
                  <a:schemeClr val="accent6"/>
                </a:solidFill>
              </a:rPr>
              <a:t>Document workflows often require human steps:</a:t>
            </a:r>
          </a:p>
          <a:p>
            <a:pPr marL="12700" marR="5080"/>
            <a:r>
              <a:rPr lang="en-US" sz="1150" kern="0" spc="-80" dirty="0">
                <a:solidFill>
                  <a:schemeClr val="accent6"/>
                </a:solidFill>
              </a:rPr>
              <a:t>Approve/Reject</a:t>
            </a:r>
          </a:p>
          <a:p>
            <a:pPr marL="12700" marR="5080"/>
            <a:r>
              <a:rPr lang="en-US" sz="1150" kern="0" spc="-80" dirty="0">
                <a:solidFill>
                  <a:schemeClr val="accent6"/>
                </a:solidFill>
              </a:rPr>
              <a:t>Edit metadata</a:t>
            </a:r>
          </a:p>
          <a:p>
            <a:pPr marL="12700" marR="5080"/>
            <a:r>
              <a:rPr lang="en-US" sz="1150" kern="0" spc="-80" dirty="0">
                <a:solidFill>
                  <a:schemeClr val="accent6"/>
                </a:solidFill>
              </a:rPr>
              <a:t>Annotate documents</a:t>
            </a:r>
          </a:p>
          <a:p>
            <a:pPr marL="12700" marR="5080"/>
            <a:r>
              <a:rPr lang="en-US" sz="1150" kern="0" spc="-80" dirty="0">
                <a:solidFill>
                  <a:schemeClr val="accent6"/>
                </a:solidFill>
              </a:rPr>
              <a:t>Assign tasks across roles</a:t>
            </a:r>
          </a:p>
          <a:p>
            <a:pPr marL="12700" marR="5080"/>
            <a:r>
              <a:rPr lang="en-US" sz="1150" kern="0" spc="-80" dirty="0">
                <a:solidFill>
                  <a:schemeClr val="accent2"/>
                </a:solidFill>
              </a:rPr>
              <a:t>Tech: </a:t>
            </a:r>
            <a:r>
              <a:rPr lang="en-US" sz="1150" kern="0" spc="-80" dirty="0">
                <a:solidFill>
                  <a:schemeClr val="accent6"/>
                </a:solidFill>
              </a:rPr>
              <a:t>Camunda </a:t>
            </a:r>
            <a:r>
              <a:rPr lang="en-US" sz="1150" kern="0" spc="-80" dirty="0" err="1">
                <a:solidFill>
                  <a:schemeClr val="accent6"/>
                </a:solidFill>
              </a:rPr>
              <a:t>Tasklist</a:t>
            </a:r>
            <a:r>
              <a:rPr lang="en-US" sz="1150" kern="0" spc="-80" dirty="0">
                <a:solidFill>
                  <a:schemeClr val="accent6"/>
                </a:solidFill>
              </a:rPr>
              <a:t>, Activiti UI, custom Angular/React applications.</a:t>
            </a:r>
          </a:p>
          <a:p>
            <a:pPr marL="12700" marR="5080"/>
            <a:endParaRPr lang="en-US" sz="1150" kern="0" spc="-80" dirty="0">
              <a:solidFill>
                <a:schemeClr val="accent6"/>
              </a:solidFill>
            </a:endParaRPr>
          </a:p>
          <a:p>
            <a:pPr marL="12700" marR="5080"/>
            <a:r>
              <a:rPr lang="en-US" sz="1150" kern="0" spc="-80" dirty="0">
                <a:solidFill>
                  <a:schemeClr val="accent2"/>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6"/>
                </a:solidFill>
              </a:rPr>
              <a:t>Supports:</a:t>
            </a:r>
          </a:p>
          <a:p>
            <a:pPr marL="12700" marR="5080"/>
            <a:r>
              <a:rPr lang="en-US" sz="1150" kern="0" spc="-80" dirty="0">
                <a:solidFill>
                  <a:schemeClr val="accent6"/>
                </a:solidFill>
              </a:rPr>
              <a:t>Versioning</a:t>
            </a:r>
          </a:p>
        </p:txBody>
      </p:sp>
    </p:spTree>
    <p:extLst>
      <p:ext uri="{BB962C8B-B14F-4D97-AF65-F5344CB8AC3E}">
        <p14:creationId xmlns:p14="http://schemas.microsoft.com/office/powerpoint/2010/main" val="247305901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FA96-BAE3-1C26-074E-E93D3C9786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99A6DE-F87E-EBC1-5211-F46A5CC2FC0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2C21F8-8F72-A6DB-3C70-258073E4F7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AA6FD6-FC47-775D-1256-E662452595A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CDB202D-EE48-C58E-672B-7D91772B4E8F}"/>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2"/>
                </a:solidFill>
              </a:rPr>
              <a:t>Supports:</a:t>
            </a:r>
          </a:p>
          <a:p>
            <a:pPr marL="12700" marR="5080"/>
            <a:r>
              <a:rPr lang="en-US" sz="1150" kern="0" spc="-80" dirty="0">
                <a:solidFill>
                  <a:schemeClr val="accent6"/>
                </a:solidFill>
              </a:rPr>
              <a:t>Versioning</a:t>
            </a:r>
          </a:p>
          <a:p>
            <a:pPr marL="12700" marR="5080"/>
            <a:r>
              <a:rPr lang="en-US" sz="1150" kern="0" spc="-80" dirty="0">
                <a:solidFill>
                  <a:schemeClr val="accent6"/>
                </a:solidFill>
              </a:rPr>
              <a:t>Check-in/Check-out</a:t>
            </a:r>
          </a:p>
          <a:p>
            <a:pPr marL="12700" marR="5080"/>
            <a:r>
              <a:rPr lang="en-US" sz="1150" kern="0" spc="-80" dirty="0">
                <a:solidFill>
                  <a:schemeClr val="accent6"/>
                </a:solidFill>
              </a:rPr>
              <a:t>Indexes for search</a:t>
            </a:r>
          </a:p>
          <a:p>
            <a:pPr marL="12700" marR="5080"/>
            <a:r>
              <a:rPr lang="en-US" sz="1150" kern="0" spc="-80" dirty="0">
                <a:solidFill>
                  <a:schemeClr val="accent6"/>
                </a:solidFill>
              </a:rPr>
              <a:t>Retention &amp; archival policies</a:t>
            </a:r>
          </a:p>
          <a:p>
            <a:pPr marL="12700" marR="5080"/>
            <a:endParaRPr lang="en-US" sz="1150" kern="0" spc="-80" dirty="0">
              <a:solidFill>
                <a:schemeClr val="accent6"/>
              </a:solidFill>
            </a:endParaRPr>
          </a:p>
          <a:p>
            <a:pPr marL="12700" marR="5080"/>
            <a:r>
              <a:rPr lang="en-US" sz="1150" kern="0" spc="-80" dirty="0">
                <a:solidFill>
                  <a:schemeClr val="accent2"/>
                </a:solidFill>
              </a:rPr>
              <a:t>7. Integration Layer</a:t>
            </a:r>
          </a:p>
          <a:p>
            <a:pPr marL="12700" marR="5080"/>
            <a:r>
              <a:rPr lang="en-US" sz="1150" kern="0" spc="-80" dirty="0">
                <a:solidFill>
                  <a:schemeClr val="accent2"/>
                </a:solidFill>
              </a:rPr>
              <a:t>Document workflows must interact with enterprise apps:</a:t>
            </a:r>
          </a:p>
          <a:p>
            <a:pPr marL="12700" marR="5080"/>
            <a:r>
              <a:rPr lang="en-US" sz="1150" kern="0" spc="-80" dirty="0">
                <a:solidFill>
                  <a:schemeClr val="accent6"/>
                </a:solidFill>
              </a:rPr>
              <a:t>ERP (SAP, Oracle)</a:t>
            </a:r>
          </a:p>
          <a:p>
            <a:pPr marL="12700" marR="5080"/>
            <a:r>
              <a:rPr lang="en-US" sz="1150" kern="0" spc="-80" dirty="0">
                <a:solidFill>
                  <a:schemeClr val="accent6"/>
                </a:solidFill>
              </a:rPr>
              <a:t>CRM (Salesforce, Dynamics)</a:t>
            </a:r>
          </a:p>
          <a:p>
            <a:pPr marL="12700" marR="5080"/>
            <a:r>
              <a:rPr lang="en-US" sz="1150" kern="0" spc="-80" dirty="0">
                <a:solidFill>
                  <a:schemeClr val="accent6"/>
                </a:solidFill>
              </a:rPr>
              <a:t>Billing systems</a:t>
            </a:r>
          </a:p>
          <a:p>
            <a:pPr marL="12700" marR="5080"/>
            <a:r>
              <a:rPr lang="en-US" sz="1150" kern="0" spc="-80" dirty="0">
                <a:solidFill>
                  <a:schemeClr val="accent6"/>
                </a:solidFill>
              </a:rPr>
              <a:t>Payment gateways</a:t>
            </a:r>
          </a:p>
          <a:p>
            <a:pPr marL="12700" marR="5080"/>
            <a:r>
              <a:rPr lang="en-US" sz="1150" kern="0" spc="-80" dirty="0">
                <a:solidFill>
                  <a:schemeClr val="accent6"/>
                </a:solidFill>
              </a:rPr>
              <a:t>Notification systems (SMS, Email, WhatsApp)</a:t>
            </a:r>
          </a:p>
          <a:p>
            <a:pPr marL="12700" marR="5080"/>
            <a:r>
              <a:rPr lang="en-US" sz="1150" kern="0" spc="-80" dirty="0">
                <a:solidFill>
                  <a:schemeClr val="accent2"/>
                </a:solidFill>
              </a:rPr>
              <a:t>Tech:</a:t>
            </a:r>
          </a:p>
          <a:p>
            <a:pPr marL="12700" marR="5080"/>
            <a:r>
              <a:rPr lang="en-US" sz="1150" kern="0" spc="-80" dirty="0">
                <a:solidFill>
                  <a:schemeClr val="accent6"/>
                </a:solidFill>
              </a:rPr>
              <a:t>REST, </a:t>
            </a:r>
            <a:r>
              <a:rPr lang="en-US" sz="1150" kern="0" spc="-80" dirty="0" err="1">
                <a:solidFill>
                  <a:schemeClr val="accent6"/>
                </a:solidFill>
              </a:rPr>
              <a:t>GraphQL</a:t>
            </a:r>
            <a:endParaRPr lang="en-US" sz="1150" kern="0" spc="-80" dirty="0">
              <a:solidFill>
                <a:schemeClr val="accent6"/>
              </a:solidFill>
            </a:endParaRPr>
          </a:p>
          <a:p>
            <a:pPr marL="12700" marR="5080"/>
            <a:r>
              <a:rPr lang="en-US" sz="1150" kern="0" spc="-80" dirty="0">
                <a:solidFill>
                  <a:schemeClr val="accent6"/>
                </a:solidFill>
              </a:rPr>
              <a:t>Message queues</a:t>
            </a:r>
          </a:p>
          <a:p>
            <a:pPr marL="12700" marR="5080"/>
            <a:r>
              <a:rPr lang="en-US" sz="1150" kern="0" spc="-80" dirty="0">
                <a:solidFill>
                  <a:schemeClr val="accent6"/>
                </a:solidFill>
              </a:rPr>
              <a:t>RPA bots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12902865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2AC4B-F518-BACA-C386-FFDDA0ED82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B2382-DE3F-C406-ADCE-1F7D3A7FCD1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6CE989-8668-4FC2-95B5-159BB3BB0E0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03561C-F6B7-68BB-54DE-C34E629AF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C7ABAF-BDB7-1C86-9FA9-471326D0A141}"/>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8. Security &amp; Compliance Layer</a:t>
            </a:r>
          </a:p>
          <a:p>
            <a:pPr marL="12700" marR="5080"/>
            <a:r>
              <a:rPr lang="en-US" sz="1150" kern="0" spc="-80" dirty="0">
                <a:solidFill>
                  <a:schemeClr val="accent6"/>
                </a:solidFill>
              </a:rPr>
              <a:t>Especially important for regulated environments like banking and healthcare.</a:t>
            </a:r>
          </a:p>
          <a:p>
            <a:pPr marL="12700" marR="5080"/>
            <a:r>
              <a:rPr lang="en-US" sz="1150" kern="0" spc="-80" dirty="0">
                <a:solidFill>
                  <a:schemeClr val="accent2"/>
                </a:solidFill>
              </a:rPr>
              <a:t>Includes:</a:t>
            </a:r>
          </a:p>
          <a:p>
            <a:pPr marL="12700" marR="5080"/>
            <a:r>
              <a:rPr lang="en-US" sz="1150" kern="0" spc="-80" dirty="0">
                <a:solidFill>
                  <a:schemeClr val="accent6"/>
                </a:solidFill>
              </a:rPr>
              <a:t>Zero-Trust architecture</a:t>
            </a:r>
          </a:p>
          <a:p>
            <a:pPr marL="12700" marR="5080"/>
            <a:r>
              <a:rPr lang="en-US" sz="1150" kern="0" spc="-80" dirty="0">
                <a:solidFill>
                  <a:schemeClr val="accent6"/>
                </a:solidFill>
              </a:rPr>
              <a:t>Role-based &amp; attribute-based access control (RBAC/ABAC)</a:t>
            </a:r>
          </a:p>
          <a:p>
            <a:pPr marL="12700" marR="5080"/>
            <a:r>
              <a:rPr lang="en-US" sz="1150" kern="0" spc="-80" dirty="0">
                <a:solidFill>
                  <a:schemeClr val="accent6"/>
                </a:solidFill>
              </a:rPr>
              <a:t>Document access policies</a:t>
            </a:r>
          </a:p>
          <a:p>
            <a:pPr marL="12700" marR="5080"/>
            <a:r>
              <a:rPr lang="en-US" sz="1150" kern="0" spc="-80" dirty="0">
                <a:solidFill>
                  <a:schemeClr val="accent6"/>
                </a:solidFill>
              </a:rPr>
              <a:t>PII masking</a:t>
            </a:r>
          </a:p>
          <a:p>
            <a:pPr marL="12700" marR="5080"/>
            <a:r>
              <a:rPr lang="en-US" sz="1150" kern="0" spc="-80" dirty="0">
                <a:solidFill>
                  <a:schemeClr val="accent6"/>
                </a:solidFill>
              </a:rPr>
              <a:t>Encryption at rest &amp; in transit</a:t>
            </a:r>
          </a:p>
          <a:p>
            <a:pPr marL="12700" marR="5080"/>
            <a:r>
              <a:rPr lang="en-US" sz="1150" kern="0" spc="-80" dirty="0">
                <a:solidFill>
                  <a:schemeClr val="accent6"/>
                </a:solidFill>
              </a:rPr>
              <a:t>Tamper-proof audit logs</a:t>
            </a:r>
          </a:p>
          <a:p>
            <a:pPr marL="12700" marR="5080"/>
            <a:endParaRPr lang="en-US" sz="1150" kern="0" spc="-80" dirty="0">
              <a:solidFill>
                <a:schemeClr val="accent6"/>
              </a:solidFill>
            </a:endParaRPr>
          </a:p>
          <a:p>
            <a:pPr marL="12700" marR="5080"/>
            <a:endParaRPr lang="en-US" sz="1150" kern="0" spc="-80" dirty="0">
              <a:solidFill>
                <a:schemeClr val="accent6"/>
              </a:solidFill>
            </a:endParaRPr>
          </a:p>
          <a:p>
            <a:pPr marL="12700" marR="5080"/>
            <a:r>
              <a:rPr lang="en-US" sz="1150" kern="0" spc="-80" dirty="0">
                <a:solidFill>
                  <a:schemeClr val="accent2"/>
                </a:solidFill>
              </a:rPr>
              <a:t>Document Workflow Patterns</a:t>
            </a:r>
          </a:p>
          <a:p>
            <a:pPr marL="12700" marR="5080"/>
            <a:r>
              <a:rPr lang="en-US" sz="1150" kern="0" spc="-80" dirty="0">
                <a:solidFill>
                  <a:schemeClr val="accent2"/>
                </a:solidFill>
              </a:rPr>
              <a:t>Pattern 1: Straight-Through Processing (STP)</a:t>
            </a:r>
          </a:p>
          <a:p>
            <a:pPr marL="12700" marR="5080"/>
            <a:r>
              <a:rPr lang="en-US" sz="1150" kern="0" spc="-80" dirty="0">
                <a:solidFill>
                  <a:schemeClr val="accent6"/>
                </a:solidFill>
              </a:rPr>
              <a:t>Automation-only flow.</a:t>
            </a:r>
          </a:p>
          <a:p>
            <a:pPr marL="12700" marR="5080"/>
            <a:r>
              <a:rPr lang="en-US" sz="1150" kern="0" spc="-80" dirty="0">
                <a:solidFill>
                  <a:schemeClr val="accent6"/>
                </a:solidFill>
              </a:rPr>
              <a:t>Used for:</a:t>
            </a:r>
          </a:p>
          <a:p>
            <a:pPr marL="12700" marR="5080"/>
            <a:r>
              <a:rPr lang="en-US" sz="1150" kern="0" spc="-80" dirty="0">
                <a:solidFill>
                  <a:schemeClr val="accent6"/>
                </a:solidFill>
              </a:rPr>
              <a:t>Standard forms</a:t>
            </a:r>
          </a:p>
          <a:p>
            <a:pPr marL="12700" marR="5080"/>
            <a:r>
              <a:rPr lang="en-US" sz="1150" kern="0" spc="-80" dirty="0">
                <a:solidFill>
                  <a:schemeClr val="accent6"/>
                </a:solidFill>
              </a:rPr>
              <a:t>Low value invoices</a:t>
            </a:r>
          </a:p>
          <a:p>
            <a:pPr marL="12700" marR="5080"/>
            <a:r>
              <a:rPr lang="en-US" sz="1150" kern="0" spc="-80" dirty="0">
                <a:solidFill>
                  <a:schemeClr val="accent6"/>
                </a:solidFill>
              </a:rPr>
              <a:t>Ticketing systems</a:t>
            </a:r>
          </a:p>
          <a:p>
            <a:pPr marL="12700" marR="5080"/>
            <a:endParaRPr lang="en-US" sz="1150" kern="0" spc="-80" dirty="0">
              <a:solidFill>
                <a:schemeClr val="accent6"/>
              </a:solidFill>
            </a:endParaRPr>
          </a:p>
          <a:p>
            <a:pPr marL="12700" marR="5080"/>
            <a:r>
              <a:rPr lang="en-US" sz="1150" kern="0" spc="-80" dirty="0">
                <a:solidFill>
                  <a:schemeClr val="accent2"/>
                </a:solidFill>
              </a:rPr>
              <a:t>Pattern 2: Human-in-the-Loop Workflow</a:t>
            </a:r>
          </a:p>
          <a:p>
            <a:pPr marL="12700" marR="5080"/>
            <a:r>
              <a:rPr lang="en-US" sz="1150" kern="0" spc="-80" dirty="0">
                <a:solidFill>
                  <a:schemeClr val="accent6"/>
                </a:solidFill>
              </a:rPr>
              <a:t>Manual review required.</a:t>
            </a:r>
          </a:p>
          <a:p>
            <a:pPr marL="12700" marR="5080"/>
            <a:r>
              <a:rPr lang="en-US" sz="1150" kern="0" spc="-80" dirty="0">
                <a:solidFill>
                  <a:schemeClr val="accent6"/>
                </a:solidFill>
              </a:rPr>
              <a:t>Used for:</a:t>
            </a:r>
          </a:p>
          <a:p>
            <a:pPr marL="12700" marR="5080"/>
            <a:r>
              <a:rPr lang="en-US" sz="1150" kern="0" spc="-80" dirty="0">
                <a:solidFill>
                  <a:schemeClr val="accent6"/>
                </a:solidFill>
              </a:rPr>
              <a:t>Legal documents</a:t>
            </a:r>
          </a:p>
          <a:p>
            <a:pPr marL="12700" marR="5080"/>
            <a:r>
              <a:rPr lang="en-US" sz="1150" kern="0" spc="-80" dirty="0">
                <a:solidFill>
                  <a:schemeClr val="accent6"/>
                </a:solidFill>
              </a:rPr>
              <a:t>Claims</a:t>
            </a:r>
          </a:p>
          <a:p>
            <a:pPr marL="12700" marR="5080"/>
            <a:r>
              <a:rPr lang="en-US" sz="1150" kern="0" spc="-80" dirty="0">
                <a:solidFill>
                  <a:schemeClr val="accent6"/>
                </a:solidFill>
              </a:rPr>
              <a:t>High-value approvals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86523358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5750A-E18D-C479-99DA-4D0E2BD1C4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D9C72-E54E-CA9D-4FD9-2EF1DD04882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FF0636E-8C7F-29E8-66CD-7BB734F0C49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FE6FAC-67A5-A605-0E0C-4AA7AD0B201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A3B5E8-62EB-EF53-93D6-CA60DD48C8BE}"/>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Document Workflow Patterns</a:t>
            </a:r>
          </a:p>
          <a:p>
            <a:pPr marL="12700" marR="5080"/>
            <a:r>
              <a:rPr lang="en-US" sz="1150" kern="0" spc="-80" dirty="0">
                <a:solidFill>
                  <a:schemeClr val="accent2"/>
                </a:solidFill>
              </a:rPr>
              <a:t>Pattern 3: Parallel Workflows</a:t>
            </a:r>
          </a:p>
          <a:p>
            <a:pPr marL="12700" marR="5080"/>
            <a:r>
              <a:rPr lang="en-US" sz="1150" kern="0" spc="-80" dirty="0">
                <a:solidFill>
                  <a:schemeClr val="accent6"/>
                </a:solidFill>
              </a:rPr>
              <a:t>Multiple teams work on the same document concurrently.</a:t>
            </a:r>
          </a:p>
          <a:p>
            <a:pPr marL="12700" marR="5080"/>
            <a:r>
              <a:rPr lang="en-US" sz="1150" kern="0" spc="-80" dirty="0">
                <a:solidFill>
                  <a:schemeClr val="accent6"/>
                </a:solidFill>
              </a:rPr>
              <a:t>Examples:</a:t>
            </a:r>
          </a:p>
          <a:p>
            <a:pPr marL="12700" marR="5080"/>
            <a:r>
              <a:rPr lang="en-US" sz="1150" kern="0" spc="-80" dirty="0">
                <a:solidFill>
                  <a:schemeClr val="accent6"/>
                </a:solidFill>
              </a:rPr>
              <a:t>HR onboarding</a:t>
            </a:r>
          </a:p>
          <a:p>
            <a:pPr marL="12700" marR="5080"/>
            <a:r>
              <a:rPr lang="en-US" sz="1150" kern="0" spc="-80" dirty="0">
                <a:solidFill>
                  <a:schemeClr val="accent6"/>
                </a:solidFill>
              </a:rPr>
              <a:t>Mortgage processing</a:t>
            </a:r>
          </a:p>
          <a:p>
            <a:pPr marL="12700" marR="5080"/>
            <a:r>
              <a:rPr lang="en-US" sz="1150" kern="0" spc="-80" dirty="0">
                <a:solidFill>
                  <a:schemeClr val="accent6"/>
                </a:solidFill>
              </a:rPr>
              <a:t>Insurance underwriting</a:t>
            </a:r>
          </a:p>
          <a:p>
            <a:pPr marL="12700" marR="5080"/>
            <a:endParaRPr lang="en-US" sz="1150" kern="0" spc="-80" dirty="0">
              <a:solidFill>
                <a:schemeClr val="accent6"/>
              </a:solidFill>
            </a:endParaRPr>
          </a:p>
          <a:p>
            <a:pPr marL="12700" marR="5080"/>
            <a:r>
              <a:rPr lang="en-US" sz="1150" kern="0" spc="-80" dirty="0">
                <a:solidFill>
                  <a:schemeClr val="accent2"/>
                </a:solidFill>
              </a:rPr>
              <a:t>Pattern 4: Dynamic Routing</a:t>
            </a:r>
          </a:p>
          <a:p>
            <a:pPr marL="12700" marR="5080"/>
            <a:r>
              <a:rPr lang="en-US" sz="1150" kern="0" spc="-80" dirty="0">
                <a:solidFill>
                  <a:schemeClr val="accent6"/>
                </a:solidFill>
              </a:rPr>
              <a:t>Metadata decides path.</a:t>
            </a:r>
          </a:p>
          <a:p>
            <a:pPr marL="12700" marR="5080"/>
            <a:r>
              <a:rPr lang="en-US" sz="1150" kern="0" spc="-80" dirty="0">
                <a:solidFill>
                  <a:schemeClr val="accent6"/>
                </a:solidFill>
              </a:rPr>
              <a:t>Example:</a:t>
            </a:r>
          </a:p>
          <a:p>
            <a:pPr marL="12700" marR="5080"/>
            <a:r>
              <a:rPr lang="en-US" sz="1150" kern="0" spc="-80" dirty="0">
                <a:solidFill>
                  <a:schemeClr val="accent6"/>
                </a:solidFill>
              </a:rPr>
              <a:t>If invoice &lt; ₹50,000 → Auto-approve  </a:t>
            </a:r>
          </a:p>
          <a:p>
            <a:pPr marL="12700" marR="5080"/>
            <a:r>
              <a:rPr lang="en-US" sz="1150" kern="0" spc="-80" dirty="0">
                <a:solidFill>
                  <a:schemeClr val="accent6"/>
                </a:solidFill>
              </a:rPr>
              <a:t>If invoice &gt; ₹50,000 → Manager approval  </a:t>
            </a:r>
          </a:p>
          <a:p>
            <a:pPr marL="12700" marR="5080"/>
            <a:r>
              <a:rPr lang="en-US" sz="1150" kern="0" spc="-80" dirty="0">
                <a:solidFill>
                  <a:schemeClr val="accent6"/>
                </a:solidFill>
              </a:rPr>
              <a:t>If invoice &gt; ₹5,00,000 → Finance director approval</a:t>
            </a:r>
          </a:p>
          <a:p>
            <a:pPr marL="12700" marR="5080"/>
            <a:r>
              <a:rPr lang="en-US" sz="1150" kern="0" spc="-80" dirty="0">
                <a:solidFill>
                  <a:schemeClr val="accent6"/>
                </a:solidFill>
              </a:rPr>
              <a:t>Pattern 5: Versioned Document Processing</a:t>
            </a:r>
          </a:p>
          <a:p>
            <a:pPr marL="12700" marR="5080"/>
            <a:r>
              <a:rPr lang="en-US" sz="1150" kern="0" spc="-80" dirty="0">
                <a:solidFill>
                  <a:schemeClr val="accent6"/>
                </a:solidFill>
              </a:rPr>
              <a:t>Each update creates a new version, and workflow can branch on version changes.</a:t>
            </a:r>
          </a:p>
          <a:p>
            <a:pPr marL="12700" marR="5080"/>
            <a:endParaRPr lang="en-US" sz="1150" kern="0" spc="-80" dirty="0">
              <a:solidFill>
                <a:schemeClr val="accent6"/>
              </a:solidFill>
            </a:endParaRPr>
          </a:p>
          <a:p>
            <a:pPr marL="12700" marR="5080"/>
            <a:r>
              <a:rPr lang="en-US" sz="1150" kern="0" spc="-80" dirty="0">
                <a:solidFill>
                  <a:schemeClr val="accent2"/>
                </a:solidFill>
              </a:rPr>
              <a:t>Pattern 6: Document Assembly Workflow</a:t>
            </a:r>
          </a:p>
          <a:p>
            <a:pPr marL="12700" marR="5080"/>
            <a:r>
              <a:rPr lang="en-US" sz="1150" kern="0" spc="-80" dirty="0">
                <a:solidFill>
                  <a:schemeClr val="accent6"/>
                </a:solidFill>
              </a:rPr>
              <a:t>Used in legal, healthcare, finance.</a:t>
            </a:r>
          </a:p>
          <a:p>
            <a:pPr marL="12700" marR="5080"/>
            <a:r>
              <a:rPr lang="en-US" sz="1150" kern="0" spc="-80" dirty="0">
                <a:solidFill>
                  <a:schemeClr val="accent6"/>
                </a:solidFill>
              </a:rPr>
              <a:t>Example:</a:t>
            </a:r>
          </a:p>
          <a:p>
            <a:pPr marL="12700" marR="5080"/>
            <a:r>
              <a:rPr lang="en-US" sz="1150" kern="0" spc="-80" dirty="0">
                <a:solidFill>
                  <a:schemeClr val="accent6"/>
                </a:solidFill>
              </a:rPr>
              <a:t>Auto-generate a contract from templates → send for signatures → archive.</a:t>
            </a:r>
          </a:p>
          <a:p>
            <a:pPr marL="12700" marR="5080"/>
            <a:endParaRPr lang="en-US" sz="1150" kern="0" spc="-80" dirty="0">
              <a:solidFill>
                <a:schemeClr val="accent6"/>
              </a:solidFill>
            </a:endParaRPr>
          </a:p>
          <a:p>
            <a:pPr marL="12700" marR="5080"/>
            <a:r>
              <a:rPr lang="en-US" sz="1150" kern="0" spc="-80" dirty="0">
                <a:solidFill>
                  <a:schemeClr val="accent2"/>
                </a:solidFill>
              </a:rPr>
              <a:t>Pattern 7: Collaborative Editing Workflow</a:t>
            </a:r>
          </a:p>
          <a:p>
            <a:pPr marL="12700" marR="5080"/>
            <a:r>
              <a:rPr lang="en-US" sz="1150" kern="0" spc="-80" dirty="0">
                <a:solidFill>
                  <a:schemeClr val="accent6"/>
                </a:solidFill>
              </a:rPr>
              <a:t>Multiple reviewers annotate simultaneously (Google Docs style).</a:t>
            </a:r>
          </a:p>
          <a:p>
            <a:pPr marL="12700" marR="5080"/>
            <a:endParaRPr lang="en-US" sz="1150" kern="0" spc="-80" dirty="0">
              <a:solidFill>
                <a:schemeClr val="accent6"/>
              </a:solidFill>
            </a:endParaRPr>
          </a:p>
          <a:p>
            <a:pPr marL="12700" marR="5080"/>
            <a:r>
              <a:rPr lang="en-US" sz="1150" kern="0" spc="-80" dirty="0">
                <a:solidFill>
                  <a:schemeClr val="accent6"/>
                </a:solidFill>
              </a:rPr>
              <a:t>5. End-to-End Data Flow Example</a:t>
            </a:r>
          </a:p>
          <a:p>
            <a:pPr marL="12700" marR="5080"/>
            <a:r>
              <a:rPr lang="en-US" sz="1150" kern="0" spc="-80" dirty="0">
                <a:solidFill>
                  <a:schemeClr val="accent6"/>
                </a:solidFill>
              </a:rPr>
              <a:t>Example: Invoice Processing Workflow</a:t>
            </a:r>
          </a:p>
        </p:txBody>
      </p:sp>
    </p:spTree>
    <p:extLst>
      <p:ext uri="{BB962C8B-B14F-4D97-AF65-F5344CB8AC3E}">
        <p14:creationId xmlns:p14="http://schemas.microsoft.com/office/powerpoint/2010/main" val="65571327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D8463-75EA-9F2E-9371-D1215AB931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342482-9764-721C-0B6C-35D1B311FD2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963D7E-6500-0267-6A99-F9EA2F08F0F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535B94-0C81-EF1D-ED38-92D99DF9855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A3F247E-1E24-CA21-98C7-F6854A608B1A}"/>
              </a:ext>
            </a:extLst>
          </p:cNvPr>
          <p:cNvSpPr txBox="1">
            <a:spLocks/>
          </p:cNvSpPr>
          <p:nvPr/>
        </p:nvSpPr>
        <p:spPr>
          <a:xfrm>
            <a:off x="228600" y="873204"/>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End-to-End Data Flow Example</a:t>
            </a:r>
          </a:p>
          <a:p>
            <a:pPr marL="12700" marR="5080"/>
            <a:r>
              <a:rPr lang="en-US" sz="1150" kern="0" spc="-80" dirty="0">
                <a:solidFill>
                  <a:schemeClr val="accent6"/>
                </a:solidFill>
              </a:rPr>
              <a:t>Example: Invoice Processing Workflow</a:t>
            </a:r>
          </a:p>
          <a:p>
            <a:pPr marL="12700" marR="5080"/>
            <a:r>
              <a:rPr lang="en-US" sz="1150" kern="0" spc="-80" dirty="0">
                <a:solidFill>
                  <a:schemeClr val="accent6"/>
                </a:solidFill>
              </a:rPr>
              <a:t>Invoice uploaded through portal</a:t>
            </a:r>
          </a:p>
          <a:p>
            <a:pPr marL="12700" marR="5080"/>
            <a:r>
              <a:rPr lang="en-US" sz="1150" kern="0" spc="-80" dirty="0">
                <a:solidFill>
                  <a:schemeClr val="accent6"/>
                </a:solidFill>
              </a:rPr>
              <a:t>OCR extracts Vendor Name, Amount, Tax</a:t>
            </a:r>
          </a:p>
          <a:p>
            <a:pPr marL="12700" marR="5080"/>
            <a:r>
              <a:rPr lang="en-US" sz="1150" kern="0" spc="-80" dirty="0">
                <a:solidFill>
                  <a:schemeClr val="accent6"/>
                </a:solidFill>
              </a:rPr>
              <a:t>Workflow engine validates metadata</a:t>
            </a:r>
          </a:p>
          <a:p>
            <a:pPr marL="12700" marR="5080"/>
            <a:r>
              <a:rPr lang="en-US" sz="115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endParaRPr lang="en-US" sz="1150" kern="0" spc="-80" dirty="0">
              <a:solidFill>
                <a:schemeClr val="accent6"/>
              </a:solidFill>
            </a:endParaRPr>
          </a:p>
          <a:p>
            <a:pPr marL="12700" marR="5080"/>
            <a:r>
              <a:rPr lang="en-US" sz="1150" kern="0" spc="-80" dirty="0">
                <a:solidFill>
                  <a:schemeClr val="accent6"/>
                </a:solidFill>
              </a:rPr>
              <a:t>Technology Stack Mapping</a:t>
            </a:r>
          </a:p>
          <a:p>
            <a:pPr marL="12700" marR="5080"/>
            <a:r>
              <a:rPr lang="en-US" sz="1150" kern="0" spc="-80" dirty="0">
                <a:solidFill>
                  <a:schemeClr val="accent2"/>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148226589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CD9ED-D874-8017-C8A2-AA4061AFD3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6F0CD1-0F6D-8A47-2996-E37379FBA6D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82413A-6815-274E-D0B2-118BF30DCEF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D85DAF-A698-B7B8-DC72-C6E8C99079B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3C08EAB-3FE6-F721-25D9-8CF293E9D7CC}"/>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 Deployment Architecture</a:t>
            </a:r>
          </a:p>
          <a:p>
            <a:pPr marL="12700" marR="5080"/>
            <a:r>
              <a:rPr lang="en-US" sz="1150" kern="0" spc="-80" dirty="0">
                <a:solidFill>
                  <a:schemeClr val="accent6"/>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endParaRPr lang="en-US" sz="1150" kern="0" spc="-80" dirty="0">
              <a:solidFill>
                <a:schemeClr val="accent6"/>
              </a:solidFill>
            </a:endParaRPr>
          </a:p>
          <a:p>
            <a:pPr marL="12700" marR="5080"/>
            <a:r>
              <a:rPr lang="en-US" sz="1150" kern="0" spc="-80" dirty="0">
                <a:solidFill>
                  <a:schemeClr val="accent2"/>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169717047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3DA88-4572-0CE9-9441-56D35285B6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BB2C3-0D88-C230-2685-E0653CF58F1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378D9B-3D7C-C4C1-2712-57D22F456B0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1FAB51-D8FC-E8C4-87DE-31E737B5379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901A986-D0FA-DAA8-E261-36D05111C1F6}"/>
              </a:ext>
            </a:extLst>
          </p:cNvPr>
          <p:cNvSpPr txBox="1">
            <a:spLocks/>
          </p:cNvSpPr>
          <p:nvPr/>
        </p:nvSpPr>
        <p:spPr>
          <a:xfrm>
            <a:off x="228600" y="873204"/>
            <a:ext cx="8624937" cy="320087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 When to Use Document-Based Workflow Architecture</a:t>
            </a:r>
          </a:p>
          <a:p>
            <a:pPr marL="12700" marR="5080"/>
            <a:r>
              <a:rPr lang="en-US" sz="1150" kern="0" spc="-80" dirty="0">
                <a:solidFill>
                  <a:schemeClr val="accent6"/>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endParaRPr lang="en-US" sz="1150" kern="0" spc="-80" dirty="0">
              <a:solidFill>
                <a:schemeClr val="accent6"/>
              </a:solidFill>
            </a:endParaRPr>
          </a:p>
          <a:p>
            <a:pPr marL="12700" marR="5080"/>
            <a:r>
              <a:rPr lang="en-US" sz="1150" kern="0" spc="-80" dirty="0">
                <a:solidFill>
                  <a:schemeClr val="accent2"/>
                </a:solidFill>
              </a:rPr>
              <a:t>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r>
              <a:rPr lang="en-US" sz="1150" kern="0" spc="-80" dirty="0">
                <a:solidFill>
                  <a:schemeClr val="accent6"/>
                </a:solidFill>
              </a:rPr>
              <a:t>✅ Technology-specific version (Azure/AWS/on-prem)</a:t>
            </a:r>
          </a:p>
          <a:p>
            <a:pPr marL="12700" marR="5080"/>
            <a:r>
              <a:rPr lang="en-US" sz="1150" kern="0" spc="-80" dirty="0">
                <a:solidFill>
                  <a:schemeClr val="accent6"/>
                </a:solidFill>
              </a:rPr>
              <a:t>Just tell me what you want.</a:t>
            </a:r>
          </a:p>
          <a:p>
            <a:pPr marL="12700" marR="5080"/>
            <a:endParaRPr lang="en-US" sz="1150" kern="0" spc="-80" dirty="0">
              <a:solidFill>
                <a:schemeClr val="accent6"/>
              </a:solidFill>
            </a:endParaRPr>
          </a:p>
          <a:p>
            <a:pPr marL="12700" marR="5080"/>
            <a:endParaRPr lang="en-US" sz="1150" kern="0" spc="-80" dirty="0">
              <a:solidFill>
                <a:schemeClr val="accent2"/>
              </a:solidFill>
            </a:endParaRP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66868279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p:txBody>
      </p:sp>
    </p:spTree>
    <p:extLst>
      <p:ext uri="{BB962C8B-B14F-4D97-AF65-F5344CB8AC3E}">
        <p14:creationId xmlns:p14="http://schemas.microsoft.com/office/powerpoint/2010/main" val="298194890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26308</TotalTime>
  <Words>20417</Words>
  <Application>Microsoft Office PowerPoint</Application>
  <PresentationFormat>Custom</PresentationFormat>
  <Paragraphs>2596</Paragraphs>
  <Slides>172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172</vt:i4>
      </vt:variant>
    </vt:vector>
  </HeadingPairs>
  <TitlesOfParts>
    <vt:vector size="177" baseType="lpstr">
      <vt:lpstr>Arial</vt:lpstr>
      <vt:lpstr>Calibri</vt:lpstr>
      <vt:lpstr>Georgia</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3755</cp:revision>
  <dcterms:created xsi:type="dcterms:W3CDTF">2020-11-03T17:16:52Z</dcterms:created>
  <dcterms:modified xsi:type="dcterms:W3CDTF">2025-11-21T12:47:14Z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