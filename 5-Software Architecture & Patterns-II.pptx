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8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84" r:id="rId117"/>
    <p:sldId id="885" r:id="rId118"/>
    <p:sldId id="886" r:id="rId119"/>
    <p:sldId id="887" r:id="rId120"/>
    <p:sldId id="888" r:id="rId121"/>
    <p:sldId id="889" r:id="rId122"/>
    <p:sldId id="890" r:id="rId123"/>
    <p:sldId id="891" r:id="rId124"/>
    <p:sldId id="892" r:id="rId125"/>
    <p:sldId id="893" r:id="rId126"/>
    <p:sldId id="896" r:id="rId127"/>
    <p:sldId id="869" r:id="rId128"/>
    <p:sldId id="870" r:id="rId129"/>
    <p:sldId id="872" r:id="rId130"/>
    <p:sldId id="871" r:id="rId131"/>
    <p:sldId id="740" r:id="rId132"/>
    <p:sldId id="894" r:id="rId133"/>
    <p:sldId id="895" r:id="rId134"/>
    <p:sldId id="897" r:id="rId135"/>
    <p:sldId id="898" r:id="rId136"/>
    <p:sldId id="899" r:id="rId137"/>
    <p:sldId id="900" r:id="rId138"/>
    <p:sldId id="901" r:id="rId139"/>
    <p:sldId id="902" r:id="rId140"/>
    <p:sldId id="903" r:id="rId141"/>
    <p:sldId id="738" r:id="rId142"/>
    <p:sldId id="779" r:id="rId143"/>
    <p:sldId id="780" r:id="rId144"/>
    <p:sldId id="781" r:id="rId145"/>
    <p:sldId id="782" r:id="rId146"/>
    <p:sldId id="783" r:id="rId147"/>
    <p:sldId id="520" r:id="rId148"/>
    <p:sldId id="784" r:id="rId149"/>
    <p:sldId id="747" r:id="rId150"/>
    <p:sldId id="785" r:id="rId151"/>
    <p:sldId id="733" r:id="rId152"/>
    <p:sldId id="773" r:id="rId153"/>
    <p:sldId id="772" r:id="rId154"/>
    <p:sldId id="739" r:id="rId155"/>
    <p:sldId id="775" r:id="rId156"/>
    <p:sldId id="774" r:id="rId157"/>
    <p:sldId id="788" r:id="rId158"/>
    <p:sldId id="789" r:id="rId159"/>
    <p:sldId id="797" r:id="rId160"/>
    <p:sldId id="799" r:id="rId161"/>
    <p:sldId id="800" r:id="rId162"/>
    <p:sldId id="802" r:id="rId163"/>
    <p:sldId id="807" r:id="rId164"/>
    <p:sldId id="808" r:id="rId165"/>
    <p:sldId id="795" r:id="rId166"/>
    <p:sldId id="794" r:id="rId167"/>
    <p:sldId id="796" r:id="rId168"/>
    <p:sldId id="832" r:id="rId169"/>
    <p:sldId id="833" r:id="rId170"/>
    <p:sldId id="834" r:id="rId171"/>
    <p:sldId id="835" r:id="rId172"/>
    <p:sldId id="836" r:id="rId173"/>
    <p:sldId id="838" r:id="rId174"/>
    <p:sldId id="839" r:id="rId175"/>
    <p:sldId id="786" r:id="rId176"/>
    <p:sldId id="801" r:id="rId177"/>
    <p:sldId id="803" r:id="rId178"/>
    <p:sldId id="804" r:id="rId179"/>
    <p:sldId id="805" r:id="rId180"/>
    <p:sldId id="806" r:id="rId181"/>
    <p:sldId id="746" r:id="rId182"/>
    <p:sldId id="573" r:id="rId183"/>
    <p:sldId id="574" r:id="rId184"/>
    <p:sldId id="531" r:id="rId185"/>
    <p:sldId id="294" r:id="rId18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472" y="8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91" Type="http://schemas.openxmlformats.org/officeDocument/2006/relationships/theme" Target="theme/theme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tableStyles" Target="tableStyles.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microsoft.com/office/2016/11/relationships/changesInfo" Target="changesInfos/changesInfo1.xml"/><Relationship Id="rId13" Type="http://schemas.openxmlformats.org/officeDocument/2006/relationships/slide" Target="slides/slide9.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183" Type="http://schemas.openxmlformats.org/officeDocument/2006/relationships/slide" Target="slides/slide179.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openxmlformats.org/officeDocument/2006/relationships/slide" Target="slides/slide169.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189" Type="http://schemas.openxmlformats.org/officeDocument/2006/relationships/presProps" Target="presProp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slide" Target="slides/slide175.xml"/><Relationship Id="rId190" Type="http://schemas.openxmlformats.org/officeDocument/2006/relationships/viewProps" Target="view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185" Type="http://schemas.openxmlformats.org/officeDocument/2006/relationships/slide" Target="slides/slide181.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slide" Target="slides/slide176.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notesMaster" Target="notesMasters/notesMaster1.xml"/><Relationship Id="rId1" Type="http://schemas.openxmlformats.org/officeDocument/2006/relationships/customXml" Target="../customXml/item1.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8" Type="http://schemas.openxmlformats.org/officeDocument/2006/relationships/slide" Target="slides/slide14.xml"/><Relationship Id="rId39"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11/25/2025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9.xm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20.xm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22.xm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26.xml"/><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70.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9.xml"/><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27.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30.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30.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30.xml"/><Relationship Id="rId9" Type="http://schemas.openxmlformats.org/officeDocument/2006/relationships/hyperlink" Target="https://gocardless.com/guides/posts/what-is-tpp-in-open-banking/" TargetMode="External"/></Relationships>
</file>

<file path=ppt/slides/_rels/slide128.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31.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31.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31.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33.xm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8.xm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40.xm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141.xml"/><Relationship Id="rId7" Type="http://schemas.openxmlformats.org/officeDocument/2006/relationships/image" Target="../media/image72.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3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4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4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4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3.xml"/><Relationship Id="rId7" Type="http://schemas.openxmlformats.org/officeDocument/2006/relationships/image" Target="../media/image73.png"/><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4.xml"/><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4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4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46.xml"/><Relationship Id="rId11" Type="http://schemas.openxmlformats.org/officeDocument/2006/relationships/hyperlink" Target="https://adtechbook.clearcode.cc/" TargetMode="External"/><Relationship Id="rId5" Type="http://schemas.openxmlformats.org/officeDocument/2006/relationships/diagramColors" Target="../diagrams/colors14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4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47.xml"/><Relationship Id="rId7" Type="http://schemas.openxmlformats.org/officeDocument/2006/relationships/image" Target="../media/image74.png"/><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7" Type="http://schemas.openxmlformats.org/officeDocument/2006/relationships/image" Target="../media/image75.pn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50.xml"/><Relationship Id="rId7" Type="http://schemas.openxmlformats.org/officeDocument/2006/relationships/hyperlink" Target="https://marketplacebestpractices.com/" TargetMode="Externa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7" Type="http://schemas.openxmlformats.org/officeDocument/2006/relationships/image" Target="../media/image76.png"/><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5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5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5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5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5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54.xml"/><Relationship Id="rId7" Type="http://schemas.openxmlformats.org/officeDocument/2006/relationships/image" Target="../media/image77.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5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5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5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5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5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11" Type="http://schemas.openxmlformats.org/officeDocument/2006/relationships/image" Target="../media/image78.png"/><Relationship Id="rId5" Type="http://schemas.openxmlformats.org/officeDocument/2006/relationships/diagramColors" Target="../diagrams/colors15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5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5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5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5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5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5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5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7" Type="http://schemas.openxmlformats.org/officeDocument/2006/relationships/image" Target="../media/image79.jpe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60.xml"/><Relationship Id="rId7" Type="http://schemas.openxmlformats.org/officeDocument/2006/relationships/hyperlink" Target="https://www.iot-a.eu/" TargetMode="Externa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11" Type="http://schemas.openxmlformats.org/officeDocument/2006/relationships/hyperlink" Target="https://github.com/Apress/ar-vr-using-webxr-api" TargetMode="External"/><Relationship Id="rId5" Type="http://schemas.openxmlformats.org/officeDocument/2006/relationships/diagramColors" Target="../diagrams/colors16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60.xml"/><Relationship Id="rId9" Type="http://schemas.openxmlformats.org/officeDocument/2006/relationships/hyperlink" Target="https://www.iiconsortium.org/iira/" TargetMode="External"/></Relationships>
</file>

<file path=ppt/slides/_rels/slide15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st.github.com/sandipray63in/19e4a48e6a30de846e740ebfa906ef23" TargetMode="External"/><Relationship Id="rId18" Type="http://schemas.openxmlformats.org/officeDocument/2006/relationships/hyperlink" Target="https://github.com/PacktPublishing/Industrial-IoT-for-Architects-and-Engineers" TargetMode="External"/><Relationship Id="rId3" Type="http://schemas.openxmlformats.org/officeDocument/2006/relationships/diagramLayout" Target="../diagrams/layout161.xml"/><Relationship Id="rId21" Type="http://schemas.openxmlformats.org/officeDocument/2006/relationships/hyperlink" Target="https://subscription.packtpub.com/expert-reading-lists/advanced-embedded-architectures-and-socs" TargetMode="Externa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st.github.com/sandipray63in/48e6bdcf77d512b8db0e12732db5a358" TargetMode="External"/><Relationship Id="rId17" Type="http://schemas.openxmlformats.org/officeDocument/2006/relationships/hyperlink" Target="https://www.packtpub.com/en-in/product/architectural-patterns-and-techniques-for-developing-iot-solutions-9781803247632" TargetMode="External"/><Relationship Id="rId2" Type="http://schemas.openxmlformats.org/officeDocument/2006/relationships/diagramData" Target="../diagrams/data161.xml"/><Relationship Id="rId16" Type="http://schemas.openxmlformats.org/officeDocument/2006/relationships/hyperlink" Target="https://www.packtpub.com/en-in/product/iot-and-edge-computing-for-architects-9781803237336" TargetMode="External"/><Relationship Id="rId20" Type="http://schemas.openxmlformats.org/officeDocument/2006/relationships/hyperlink" Target="https://github.com/PacktPublishing/IoT-Edge-Computing-with-MicroK8s" TargetMode="External"/><Relationship Id="rId1" Type="http://schemas.openxmlformats.org/officeDocument/2006/relationships/slideLayout" Target="../slideLayouts/slideLayout2.xml"/><Relationship Id="rId6" Type="http://schemas.microsoft.com/office/2007/relationships/diagramDrawing" Target="../diagrams/drawing161.xml"/><Relationship Id="rId11" Type="http://schemas.openxmlformats.org/officeDocument/2006/relationships/hyperlink" Target="https://gist.github.com/sandipray63in/514cf0d4449b29b65b39e0f8225ada63" TargetMode="External"/><Relationship Id="rId5" Type="http://schemas.openxmlformats.org/officeDocument/2006/relationships/diagramColors" Target="../diagrams/colors161.xml"/><Relationship Id="rId15" Type="http://schemas.openxmlformats.org/officeDocument/2006/relationships/hyperlink" Target="https://gist.github.com/sandipray63in/f72b3fb23ab938ae3710008fc16c48d1" TargetMode="External"/><Relationship Id="rId10" Type="http://schemas.openxmlformats.org/officeDocument/2006/relationships/hyperlink" Target="https://gist.github.com/sandipray63in/c64e2c586aaf0c66d33f4e8f994975d3" TargetMode="External"/><Relationship Id="rId19" Type="http://schemas.openxmlformats.org/officeDocument/2006/relationships/hyperlink" Target="https://github.com/PacktPublishing/Edge-Computing-Patterns-for-Solution-Architects" TargetMode="External"/><Relationship Id="rId4" Type="http://schemas.openxmlformats.org/officeDocument/2006/relationships/diagramQuickStyle" Target="../diagrams/quickStyle161.xml"/><Relationship Id="rId9" Type="http://schemas.openxmlformats.org/officeDocument/2006/relationships/hyperlink" Target="https://arxiv.org/pdf/2204.01872" TargetMode="External"/><Relationship Id="rId14" Type="http://schemas.openxmlformats.org/officeDocument/2006/relationships/hyperlink" Target="https://gist.github.com/sandipray63in/8c1d55cdab89222560dff2cb18ed8034" TargetMode="Externa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80.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6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6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6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62.xml.rels><?xml version="1.0" encoding="UTF-8" standalone="yes"?>
<Relationships xmlns="http://schemas.openxmlformats.org/package/2006/relationships"><Relationship Id="rId3" Type="http://schemas.openxmlformats.org/officeDocument/2006/relationships/diagramLayout" Target="../diagrams/layout165.xml"/><Relationship Id="rId7" Type="http://schemas.openxmlformats.org/officeDocument/2006/relationships/image" Target="../media/image81.png"/><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6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6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6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7" Type="http://schemas.openxmlformats.org/officeDocument/2006/relationships/image" Target="../media/image82.png"/><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71.xm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72.xml"/><Relationship Id="rId7" Type="http://schemas.openxmlformats.org/officeDocument/2006/relationships/image" Target="../media/image83.png"/><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73.xm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7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7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7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7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7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7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75.xml"/><Relationship Id="rId9" Type="http://schemas.openxmlformats.org/officeDocument/2006/relationships/hyperlink" Target="https://learn.microsoft.com/en-us/industry/manufacturing/architecture/ra-overview" TargetMode="Externa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76.xml"/><Relationship Id="rId7" Type="http://schemas.openxmlformats.org/officeDocument/2006/relationships/image" Target="../media/image85.png"/><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77.xm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8.xml"/><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9.xm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80.xml"/><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7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8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8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8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8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8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7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8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8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8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8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8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8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8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8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8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8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8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81.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43B7-2654-B69B-4E28-CCBAA4862C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1BEC08-F049-2BB0-C023-7C41CD56DEF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815313-99B5-1360-2FED-3FCD9DA9F58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E47CC9-4840-93C7-FA4F-7C816A981CC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8043F79-74BD-3361-8DFF-51582E3B8BED}"/>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High-Level Architecture Overview</a:t>
            </a:r>
          </a:p>
          <a:p>
            <a:pPr marL="12700" marR="5080"/>
            <a:r>
              <a:rPr lang="en-US" sz="1150" kern="0" spc="-80" dirty="0">
                <a:solidFill>
                  <a:schemeClr val="accent6"/>
                </a:solidFill>
              </a:rPr>
              <a:t>         ┌─────────────────────────────────────────┐</a:t>
            </a:r>
          </a:p>
          <a:p>
            <a:pPr marL="12700" marR="5080"/>
            <a:r>
              <a:rPr lang="en-US" sz="1150" kern="0" spc="-80" dirty="0">
                <a:solidFill>
                  <a:schemeClr val="accent6"/>
                </a:solidFill>
              </a:rPr>
              <a:t>         │          Document Producers              │</a:t>
            </a:r>
          </a:p>
          <a:p>
            <a:pPr marL="12700" marR="5080"/>
            <a:r>
              <a:rPr lang="en-US" sz="1150" kern="0" spc="-80" dirty="0">
                <a:solidFill>
                  <a:schemeClr val="accent6"/>
                </a:solidFill>
              </a:rPr>
              <a:t>         │ (Users, Scanners, Apps, APIs, E-mail)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Ingestion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a:t>
            </a:r>
          </a:p>
          <a:p>
            <a:pPr marL="12700" marR="5080"/>
            <a:r>
              <a:rPr lang="en-US" sz="1150" kern="0" spc="-80" dirty="0">
                <a:solidFill>
                  <a:schemeClr val="accent6"/>
                </a:solidFill>
              </a:rPr>
              <a:t>OCR/AI Extraction           Validation Services           Metadata Annotation</a:t>
            </a:r>
          </a:p>
          <a:p>
            <a:pPr marL="12700" marR="5080"/>
            <a:r>
              <a:rPr lang="en-US" sz="1150" kern="0" spc="-80" dirty="0">
                <a:solidFill>
                  <a:schemeClr val="accent6"/>
                </a:solidFill>
              </a:rPr>
              <a:t>    │                              │                              │</a:t>
            </a:r>
          </a:p>
          <a:p>
            <a:pPr marL="12700" marR="5080"/>
            <a:r>
              <a:rPr lang="en-US" sz="1150" kern="0" spc="-80" dirty="0">
                <a:solidFill>
                  <a:schemeClr val="accent6"/>
                </a:solidFill>
              </a:rPr>
              <a:t>└───────────────┬──────────────┴─────────────┬────────────────┘</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p:txBody>
      </p:sp>
    </p:spTree>
    <p:extLst>
      <p:ext uri="{BB962C8B-B14F-4D97-AF65-F5344CB8AC3E}">
        <p14:creationId xmlns:p14="http://schemas.microsoft.com/office/powerpoint/2010/main" val="160869088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66C0C-45EA-D97E-EFBA-B9E9CAD30D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48DDD3-5545-220A-24A7-B01EDDDA391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C84BEC-24CA-FC08-ADCB-46FB13B31A0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64617B-A53F-70B9-8DA8-865305330B2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BA96A1A-694E-1CE5-7685-ECF30173C037}"/>
              </a:ext>
            </a:extLst>
          </p:cNvPr>
          <p:cNvSpPr txBox="1">
            <a:spLocks/>
          </p:cNvSpPr>
          <p:nvPr/>
        </p:nvSpPr>
        <p:spPr>
          <a:xfrm>
            <a:off x="228600" y="873204"/>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6"/>
                </a:solidFill>
              </a:rPr>
              <a:t>A Document-Based Workflow Architecture is a system design pattern where documents (PDFs, forms, images, CAD/BIM files, contracts, invoices, etc.) act as the primary unit of work, driving processes through automated or human-centric workflow </a:t>
            </a:r>
            <a:r>
              <a:rPr lang="en-US" sz="1300" kern="0" spc="-80" dirty="0" err="1">
                <a:solidFill>
                  <a:schemeClr val="accent6"/>
                </a:solidFill>
              </a:rPr>
              <a:t>stages.It</a:t>
            </a:r>
            <a:r>
              <a:rPr lang="en-US" sz="1300" kern="0" spc="-80" dirty="0">
                <a:solidFill>
                  <a:schemeClr val="accent6"/>
                </a:solidFill>
              </a:rPr>
              <a:t> supports document ingestion, classification, enrichment, versioning, routing, approvals, storage, audit, and lifecycle management</a:t>
            </a:r>
            <a:r>
              <a:rPr lang="en-US" sz="1150" kern="0" spc="-80" dirty="0">
                <a:solidFill>
                  <a:schemeClr val="accent6"/>
                </a:solidFill>
              </a:rPr>
              <a:t>.               </a:t>
            </a:r>
          </a:p>
          <a:p>
            <a:pPr marL="12700" marR="5080"/>
            <a:endParaRPr lang="en-US" sz="1150" kern="0" spc="-80" dirty="0">
              <a:solidFill>
                <a:schemeClr val="accent2"/>
              </a:solidFill>
            </a:endParaRPr>
          </a:p>
          <a:p>
            <a:pPr marL="12700" marR="5080"/>
            <a:r>
              <a:rPr lang="en-US" sz="1150" kern="0" spc="-80" dirty="0">
                <a:solidFill>
                  <a:schemeClr val="accent2"/>
                </a:solidFill>
              </a:rPr>
              <a:t>Key Characteristics</a:t>
            </a:r>
          </a:p>
          <a:p>
            <a:pPr marL="12700" marR="5080"/>
            <a:r>
              <a:rPr lang="en-US" sz="1150" kern="0" spc="-80" dirty="0">
                <a:solidFill>
                  <a:schemeClr val="accent2"/>
                </a:solidFill>
              </a:rPr>
              <a:t>Feature	                                                                  Description</a:t>
            </a:r>
          </a:p>
          <a:p>
            <a:pPr marL="12700" marR="5080"/>
            <a:r>
              <a:rPr lang="en-US" sz="1300" kern="0" spc="-80" dirty="0">
                <a:solidFill>
                  <a:schemeClr val="accent6"/>
                </a:solidFill>
              </a:rPr>
              <a:t>Document is the Workflow Trigger	             A workflow begins when a document is created, uploaded, scanned, </a:t>
            </a:r>
          </a:p>
          <a:p>
            <a:pPr marL="12700" marR="5080"/>
            <a:r>
              <a:rPr lang="en-US" sz="1300" kern="0" spc="-80" dirty="0">
                <a:solidFill>
                  <a:schemeClr val="accent6"/>
                </a:solidFill>
              </a:rPr>
              <a:t>                                                                              or received via an  API/email/queue.</a:t>
            </a:r>
          </a:p>
          <a:p>
            <a:pPr marL="12700" marR="5080"/>
            <a:r>
              <a:rPr lang="en-US" sz="1300" kern="0" spc="-80" dirty="0">
                <a:solidFill>
                  <a:schemeClr val="accent6"/>
                </a:solidFill>
              </a:rPr>
              <a:t>Metadata Drives Flow	                                   Routed based on extracted metadata (</a:t>
            </a:r>
            <a:r>
              <a:rPr lang="en-US" sz="1300" kern="0" spc="-80" dirty="0" err="1">
                <a:solidFill>
                  <a:schemeClr val="accent6"/>
                </a:solidFill>
              </a:rPr>
              <a:t>customerID</a:t>
            </a:r>
            <a:r>
              <a:rPr lang="en-US" sz="1300" kern="0" spc="-80" dirty="0">
                <a:solidFill>
                  <a:schemeClr val="accent6"/>
                </a:solidFill>
              </a:rPr>
              <a:t>, invoice amount, </a:t>
            </a:r>
          </a:p>
          <a:p>
            <a:pPr marL="12700" marR="5080"/>
            <a:r>
              <a:rPr lang="en-US" sz="1300" kern="0" spc="-80" dirty="0">
                <a:solidFill>
                  <a:schemeClr val="accent6"/>
                </a:solidFill>
              </a:rPr>
              <a:t>                                                                              claim type).</a:t>
            </a:r>
          </a:p>
          <a:p>
            <a:pPr marL="12700" marR="5080"/>
            <a:r>
              <a:rPr lang="en-US" sz="1300" kern="0" spc="-80" dirty="0">
                <a:solidFill>
                  <a:schemeClr val="accent6"/>
                </a:solidFill>
              </a:rPr>
              <a:t>Human + Automation Mix	             Combines automation (OCR/AI) with human interventions (approvals,</a:t>
            </a:r>
          </a:p>
          <a:p>
            <a:pPr marL="12700" marR="5080"/>
            <a:r>
              <a:rPr lang="en-US" sz="1300" kern="0" spc="-80" dirty="0">
                <a:solidFill>
                  <a:schemeClr val="accent6"/>
                </a:solidFill>
              </a:rPr>
              <a:t>                                                                              edits, reviews).</a:t>
            </a:r>
          </a:p>
          <a:p>
            <a:pPr marL="12700" marR="5080"/>
            <a:r>
              <a:rPr lang="en-US" sz="1300" kern="0" spc="-80" dirty="0">
                <a:solidFill>
                  <a:schemeClr val="accent6"/>
                </a:solidFill>
              </a:rPr>
              <a:t>Stateful Processing	                                   Workflow system stores stage, history, timestamps, assignees.</a:t>
            </a:r>
          </a:p>
          <a:p>
            <a:pPr marL="12700" marR="5080"/>
            <a:r>
              <a:rPr lang="en-US" sz="1300" kern="0" spc="-80" dirty="0">
                <a:solidFill>
                  <a:schemeClr val="accent6"/>
                </a:solidFill>
              </a:rPr>
              <a:t>Integrates with DMS/ECM	             Works with SharePoint, Alfresco, OpenText, </a:t>
            </a:r>
            <a:r>
              <a:rPr lang="en-US" sz="1300" kern="0" spc="-80" dirty="0" err="1">
                <a:solidFill>
                  <a:schemeClr val="accent6"/>
                </a:solidFill>
              </a:rPr>
              <a:t>Filenet</a:t>
            </a:r>
            <a:r>
              <a:rPr lang="en-US" sz="1300" kern="0" spc="-80" dirty="0">
                <a:solidFill>
                  <a:schemeClr val="accent6"/>
                </a:solidFill>
              </a:rPr>
              <a:t>, S3, GCP Storage, etc.</a:t>
            </a:r>
          </a:p>
          <a:p>
            <a:pPr marL="12700" marR="5080"/>
            <a:endParaRPr lang="en-US" sz="1150" kern="0" spc="-80" dirty="0">
              <a:solidFill>
                <a:schemeClr val="accent2"/>
              </a:solidFill>
            </a:endParaRPr>
          </a:p>
          <a:p>
            <a:pPr marL="12700" marR="5080"/>
            <a:r>
              <a:rPr lang="en-US" sz="1300" kern="0" spc="-80" dirty="0">
                <a:solidFill>
                  <a:schemeClr val="accent2"/>
                </a:solidFill>
              </a:rPr>
              <a:t>Core Architecture Components</a:t>
            </a:r>
          </a:p>
          <a:p>
            <a:pPr marL="12700" marR="5080"/>
            <a:r>
              <a:rPr lang="en-US" sz="1300" kern="0" spc="-80" dirty="0">
                <a:solidFill>
                  <a:schemeClr val="accent2"/>
                </a:solidFill>
              </a:rPr>
              <a:t>1. Document Ingestion Layer</a:t>
            </a:r>
          </a:p>
          <a:p>
            <a:pPr marL="12700" marR="5080"/>
            <a:r>
              <a:rPr lang="en-US" sz="1300" kern="0" spc="-80" dirty="0">
                <a:solidFill>
                  <a:schemeClr val="accent2"/>
                </a:solidFill>
              </a:rPr>
              <a:t>Supports multiple input channels:</a:t>
            </a:r>
          </a:p>
          <a:p>
            <a:pPr marL="12700" marR="5080"/>
            <a:r>
              <a:rPr lang="en-US" sz="1300" kern="0" spc="-80" dirty="0">
                <a:solidFill>
                  <a:schemeClr val="accent6"/>
                </a:solidFill>
              </a:rPr>
              <a:t>File upload portals</a:t>
            </a:r>
          </a:p>
          <a:p>
            <a:pPr marL="12700" marR="5080"/>
            <a:r>
              <a:rPr lang="en-US" sz="1300" kern="0" spc="-80" dirty="0">
                <a:solidFill>
                  <a:schemeClr val="accent6"/>
                </a:solidFill>
              </a:rPr>
              <a:t>Email listeners</a:t>
            </a:r>
          </a:p>
          <a:p>
            <a:pPr marL="12700" marR="5080"/>
            <a:r>
              <a:rPr lang="en-US" sz="1300" kern="0" spc="-80" dirty="0">
                <a:solidFill>
                  <a:schemeClr val="accent6"/>
                </a:solidFill>
              </a:rPr>
              <a:t>API endpoints</a:t>
            </a:r>
          </a:p>
          <a:p>
            <a:pPr marL="12700" marR="5080"/>
            <a:r>
              <a:rPr lang="en-US" sz="1300" kern="0" spc="-80" dirty="0">
                <a:solidFill>
                  <a:schemeClr val="accent6"/>
                </a:solidFill>
              </a:rPr>
              <a:t>SFTP ingestion</a:t>
            </a:r>
          </a:p>
        </p:txBody>
      </p:sp>
    </p:spTree>
    <p:extLst>
      <p:ext uri="{BB962C8B-B14F-4D97-AF65-F5344CB8AC3E}">
        <p14:creationId xmlns:p14="http://schemas.microsoft.com/office/powerpoint/2010/main" val="152324270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A17-FDAB-2834-A3BE-EE518DC73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190455-774C-0A42-BECF-A0096EA6909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0F702B-7B47-92E5-F0EB-2E3A38B06EA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BAE6AD-E5A6-D607-A496-E8D26ACE566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331D693-4CDE-A2A6-D9CF-82EB828A486B}"/>
              </a:ext>
            </a:extLst>
          </p:cNvPr>
          <p:cNvSpPr txBox="1">
            <a:spLocks/>
          </p:cNvSpPr>
          <p:nvPr/>
        </p:nvSpPr>
        <p:spPr>
          <a:xfrm>
            <a:off x="259531" y="866457"/>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6"/>
                </a:solidFill>
              </a:rPr>
              <a:t>Temporal</a:t>
            </a:r>
          </a:p>
          <a:p>
            <a:pPr marL="12700" marR="5080"/>
            <a:r>
              <a:rPr lang="en-US" sz="1300" kern="0" spc="-80" dirty="0">
                <a:solidFill>
                  <a:schemeClr val="accent6"/>
                </a:solidFill>
              </a:rPr>
              <a:t>Apache Airflow (for system workflows)</a:t>
            </a:r>
          </a:p>
          <a:p>
            <a:pPr marL="12700" marR="5080"/>
            <a:r>
              <a:rPr lang="en-US" sz="1300" kern="0" spc="-80" dirty="0">
                <a:solidFill>
                  <a:schemeClr val="accent6"/>
                </a:solidFill>
              </a:rPr>
              <a:t>Power Automate</a:t>
            </a:r>
          </a:p>
          <a:p>
            <a:pPr marL="12700" marR="5080"/>
            <a:r>
              <a:rPr lang="en-US" sz="1300" kern="0" spc="-80" dirty="0">
                <a:solidFill>
                  <a:schemeClr val="accent6"/>
                </a:solidFill>
              </a:rPr>
              <a:t>Azure Logic Apps</a:t>
            </a:r>
          </a:p>
          <a:p>
            <a:pPr marL="12700" marR="5080"/>
            <a:r>
              <a:rPr lang="en-US" sz="1300" kern="0" spc="-80" dirty="0">
                <a:solidFill>
                  <a:schemeClr val="accent6"/>
                </a:solidFill>
              </a:rPr>
              <a:t>n8n</a:t>
            </a:r>
          </a:p>
          <a:p>
            <a:pPr marL="12700" marR="5080"/>
            <a:r>
              <a:rPr lang="en-US" sz="1300" kern="0" spc="-80" dirty="0">
                <a:solidFill>
                  <a:schemeClr val="accent6"/>
                </a:solidFill>
              </a:rPr>
              <a:t>JBPM</a:t>
            </a:r>
          </a:p>
          <a:p>
            <a:pPr marL="12700" marR="5080"/>
            <a:r>
              <a:rPr lang="en-US" sz="1300" kern="0" spc="-80" dirty="0">
                <a:solidFill>
                  <a:schemeClr val="accent6"/>
                </a:solidFill>
              </a:rPr>
              <a:t>Message queues (Azure Service Bus, Kafka, AWS SQS)</a:t>
            </a:r>
          </a:p>
          <a:p>
            <a:pPr marL="12700" marR="5080"/>
            <a:r>
              <a:rPr lang="en-US" sz="1300" kern="0" spc="-80" dirty="0">
                <a:solidFill>
                  <a:schemeClr val="accent6"/>
                </a:solidFill>
              </a:rPr>
              <a:t>Scanners with OCR</a:t>
            </a:r>
          </a:p>
          <a:p>
            <a:pPr marL="12700" marR="5080"/>
            <a:r>
              <a:rPr lang="en-US" sz="1300" kern="0" spc="-80" dirty="0">
                <a:solidFill>
                  <a:schemeClr val="accent6"/>
                </a:solidFill>
              </a:rPr>
              <a:t>Tech: NGINX, API Gateway, Kofax, </a:t>
            </a:r>
            <a:r>
              <a:rPr lang="en-US" sz="1300" kern="0" spc="-80" dirty="0" err="1">
                <a:solidFill>
                  <a:schemeClr val="accent6"/>
                </a:solidFill>
              </a:rPr>
              <a:t>Abbyy</a:t>
            </a:r>
            <a:r>
              <a:rPr lang="en-US" sz="1300" kern="0" spc="-80" dirty="0">
                <a:solidFill>
                  <a:schemeClr val="accent6"/>
                </a:solidFill>
              </a:rPr>
              <a:t>, Azure Form Recognizer, Tesseract.</a:t>
            </a:r>
          </a:p>
          <a:p>
            <a:pPr marL="12700" marR="5080"/>
            <a:endParaRPr lang="en-US" sz="1300" kern="0" spc="-80" dirty="0">
              <a:solidFill>
                <a:schemeClr val="accent6"/>
              </a:solidFill>
            </a:endParaRPr>
          </a:p>
          <a:p>
            <a:pPr marL="12700" marR="5080"/>
            <a:r>
              <a:rPr lang="en-US" sz="1300" kern="0" spc="-80" dirty="0">
                <a:solidFill>
                  <a:schemeClr val="accent2"/>
                </a:solidFill>
              </a:rPr>
              <a:t>2. Document Recognition &amp; Understanding</a:t>
            </a:r>
          </a:p>
          <a:p>
            <a:pPr marL="12700" marR="5080"/>
            <a:r>
              <a:rPr lang="en-US" sz="1300" kern="0" spc="-80" dirty="0">
                <a:solidFill>
                  <a:schemeClr val="accent6"/>
                </a:solidFill>
              </a:rPr>
              <a:t>AI/ML models convert unstructured content into structured metadata.</a:t>
            </a:r>
          </a:p>
          <a:p>
            <a:pPr marL="12700" marR="5080"/>
            <a:r>
              <a:rPr lang="en-US" sz="1300" kern="0" spc="-80" dirty="0">
                <a:solidFill>
                  <a:schemeClr val="accent2"/>
                </a:solidFill>
              </a:rPr>
              <a:t>Techniques:</a:t>
            </a:r>
          </a:p>
          <a:p>
            <a:pPr marL="12700" marR="5080"/>
            <a:r>
              <a:rPr lang="en-US" sz="1300" kern="0" spc="-80" dirty="0">
                <a:solidFill>
                  <a:schemeClr val="accent6"/>
                </a:solidFill>
              </a:rPr>
              <a:t>OCR/ICR (Handwriting recognition)</a:t>
            </a:r>
          </a:p>
          <a:p>
            <a:pPr marL="12700" marR="5080"/>
            <a:r>
              <a:rPr lang="en-US" sz="1300" kern="0" spc="-80" dirty="0">
                <a:solidFill>
                  <a:schemeClr val="accent6"/>
                </a:solidFill>
              </a:rPr>
              <a:t>Document classification (CNN, Transformers)</a:t>
            </a:r>
          </a:p>
          <a:p>
            <a:pPr marL="12700" marR="5080"/>
            <a:r>
              <a:rPr lang="en-US" sz="1300" kern="0" spc="-80" dirty="0">
                <a:solidFill>
                  <a:schemeClr val="accent6"/>
                </a:solidFill>
              </a:rPr>
              <a:t>Key-value extraction (</a:t>
            </a:r>
            <a:r>
              <a:rPr lang="en-US" sz="1300" kern="0" spc="-80" dirty="0" err="1">
                <a:solidFill>
                  <a:schemeClr val="accent6"/>
                </a:solidFill>
              </a:rPr>
              <a:t>LayoutLM</a:t>
            </a:r>
            <a:r>
              <a:rPr lang="en-US" sz="1300" kern="0" spc="-80" dirty="0">
                <a:solidFill>
                  <a:schemeClr val="accent6"/>
                </a:solidFill>
              </a:rPr>
              <a:t>, Donut)</a:t>
            </a:r>
          </a:p>
          <a:p>
            <a:pPr marL="12700" marR="5080"/>
            <a:r>
              <a:rPr lang="en-US" sz="1300" kern="0" spc="-80" dirty="0">
                <a:solidFill>
                  <a:schemeClr val="accent6"/>
                </a:solidFill>
              </a:rPr>
              <a:t>Signature detection</a:t>
            </a:r>
          </a:p>
          <a:p>
            <a:pPr marL="12700" marR="5080"/>
            <a:r>
              <a:rPr lang="en-US" sz="1300" kern="0" spc="-80" dirty="0">
                <a:solidFill>
                  <a:schemeClr val="accent6"/>
                </a:solidFill>
              </a:rPr>
              <a:t>Barcode reading</a:t>
            </a:r>
          </a:p>
          <a:p>
            <a:pPr marL="12700" marR="5080"/>
            <a:endParaRPr lang="en-US" sz="1300" kern="0" spc="-80" dirty="0">
              <a:solidFill>
                <a:schemeClr val="accent6"/>
              </a:solidFill>
            </a:endParaRPr>
          </a:p>
          <a:p>
            <a:pPr marL="12700" marR="5080"/>
            <a:r>
              <a:rPr lang="en-US" sz="1300" kern="0" spc="-80" dirty="0">
                <a:solidFill>
                  <a:schemeClr val="accent2"/>
                </a:solidFill>
              </a:rPr>
              <a:t>3. Metadata Enrichment</a:t>
            </a:r>
          </a:p>
          <a:p>
            <a:pPr marL="12700" marR="5080"/>
            <a:r>
              <a:rPr lang="en-US" sz="1300" kern="0" spc="-80" dirty="0">
                <a:solidFill>
                  <a:schemeClr val="accent6"/>
                </a:solidFill>
              </a:rPr>
              <a:t>Extracted metadata is validated and mapped into workflow fields.</a:t>
            </a:r>
          </a:p>
          <a:p>
            <a:pPr marL="12700" marR="5080"/>
            <a:r>
              <a:rPr lang="en-US" sz="1300" kern="0" spc="-80" dirty="0">
                <a:solidFill>
                  <a:schemeClr val="accent2"/>
                </a:solidFill>
              </a:rPr>
              <a:t>Example:</a:t>
            </a:r>
          </a:p>
          <a:p>
            <a:pPr marL="12700" marR="5080"/>
            <a:r>
              <a:rPr lang="en-US" sz="1300" kern="0" spc="-80" dirty="0">
                <a:solidFill>
                  <a:schemeClr val="accent6"/>
                </a:solidFill>
              </a:rPr>
              <a:t>“Invoice Total = ₹2,45,000 → Requires Finance Director Approval”.</a:t>
            </a:r>
          </a:p>
          <a:p>
            <a:pPr marL="12700" marR="5080"/>
            <a:r>
              <a:rPr lang="en-US" sz="1300" kern="0" spc="-80" dirty="0">
                <a:solidFill>
                  <a:schemeClr val="accent6"/>
                </a:solidFill>
              </a:rPr>
              <a:t>“Claim Category = Health → Route to Health Claims Team”.</a:t>
            </a:r>
          </a:p>
        </p:txBody>
      </p:sp>
    </p:spTree>
    <p:extLst>
      <p:ext uri="{BB962C8B-B14F-4D97-AF65-F5344CB8AC3E}">
        <p14:creationId xmlns:p14="http://schemas.microsoft.com/office/powerpoint/2010/main" val="34047737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172ED-63F2-11A1-0976-DA2AEF312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5EF6D2-6092-62F7-ED9D-AD0DA31F7F7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86594F-CC46-DDE9-3F5D-1FB49826A2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C2ACF-EBF4-47C1-2F0B-231E730D0BB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608348-637D-38A6-6FDA-F03DFB2460C5}"/>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2"/>
                </a:solidFill>
              </a:rPr>
              <a:t>4. Workflow Orchestration Layer</a:t>
            </a:r>
          </a:p>
          <a:p>
            <a:pPr marL="12700" marR="5080"/>
            <a:r>
              <a:rPr lang="en-US" sz="1300" kern="0" spc="-80" dirty="0">
                <a:solidFill>
                  <a:schemeClr val="accent6"/>
                </a:solidFill>
              </a:rPr>
              <a:t>The engine that drives the process.</a:t>
            </a:r>
          </a:p>
          <a:p>
            <a:pPr marL="12700" marR="5080"/>
            <a:r>
              <a:rPr lang="en-US" sz="1300" kern="0" spc="-80" dirty="0">
                <a:solidFill>
                  <a:schemeClr val="accent2"/>
                </a:solidFill>
              </a:rPr>
              <a:t>Common Workflow Engines:</a:t>
            </a:r>
          </a:p>
          <a:p>
            <a:pPr marL="12700" marR="5080"/>
            <a:r>
              <a:rPr lang="en-US" sz="1300" kern="0" spc="-80" dirty="0">
                <a:solidFill>
                  <a:schemeClr val="accent6"/>
                </a:solidFill>
              </a:rPr>
              <a:t>Camunda / </a:t>
            </a:r>
            <a:r>
              <a:rPr lang="en-US" sz="1300" kern="0" spc="-80" dirty="0" err="1">
                <a:solidFill>
                  <a:schemeClr val="accent6"/>
                </a:solidFill>
              </a:rPr>
              <a:t>Zeebe</a:t>
            </a:r>
            <a:endParaRPr lang="en-US" sz="1300" kern="0" spc="-80" dirty="0">
              <a:solidFill>
                <a:schemeClr val="accent6"/>
              </a:solidFill>
            </a:endParaRPr>
          </a:p>
          <a:p>
            <a:pPr marL="12700" marR="5080"/>
            <a:r>
              <a:rPr lang="en-US" sz="1300" kern="0" spc="-80" dirty="0">
                <a:solidFill>
                  <a:schemeClr val="accent6"/>
                </a:solidFill>
              </a:rPr>
              <a:t>Netflix Conductor</a:t>
            </a:r>
          </a:p>
          <a:p>
            <a:pPr marL="12700" marR="5080"/>
            <a:r>
              <a:rPr lang="en-US" sz="1300" kern="0" spc="-80" dirty="0">
                <a:solidFill>
                  <a:schemeClr val="accent6"/>
                </a:solidFill>
              </a:rPr>
              <a:t>Features:</a:t>
            </a:r>
          </a:p>
          <a:p>
            <a:pPr marL="12700" marR="5080"/>
            <a:r>
              <a:rPr lang="en-US" sz="1300" kern="0" spc="-80" dirty="0">
                <a:solidFill>
                  <a:schemeClr val="accent6"/>
                </a:solidFill>
              </a:rPr>
              <a:t>BPMN-based workflows</a:t>
            </a:r>
          </a:p>
          <a:p>
            <a:pPr marL="12700" marR="5080"/>
            <a:r>
              <a:rPr lang="en-US" sz="1300" kern="0" spc="-80" dirty="0">
                <a:solidFill>
                  <a:schemeClr val="accent6"/>
                </a:solidFill>
              </a:rPr>
              <a:t>Human tasks</a:t>
            </a:r>
          </a:p>
          <a:p>
            <a:pPr marL="12700" marR="5080"/>
            <a:r>
              <a:rPr lang="en-US" sz="1300" kern="0" spc="-80" dirty="0">
                <a:solidFill>
                  <a:schemeClr val="accent6"/>
                </a:solidFill>
              </a:rPr>
              <a:t>SLAs &amp; escalations</a:t>
            </a:r>
          </a:p>
          <a:p>
            <a:pPr marL="12700" marR="5080"/>
            <a:r>
              <a:rPr lang="en-US" sz="1300" kern="0" spc="-80" dirty="0">
                <a:solidFill>
                  <a:schemeClr val="accent6"/>
                </a:solidFill>
              </a:rPr>
              <a:t>Conditional branching</a:t>
            </a:r>
          </a:p>
          <a:p>
            <a:pPr marL="12700" marR="5080"/>
            <a:r>
              <a:rPr lang="en-US" sz="1300" kern="0" spc="-80" dirty="0">
                <a:solidFill>
                  <a:schemeClr val="accent6"/>
                </a:solidFill>
              </a:rPr>
              <a:t>Audit trails</a:t>
            </a:r>
          </a:p>
          <a:p>
            <a:pPr marL="12700" marR="5080"/>
            <a:endParaRPr lang="en-US" sz="1300" kern="0" spc="-80" dirty="0">
              <a:solidFill>
                <a:schemeClr val="accent6"/>
              </a:solidFill>
            </a:endParaRPr>
          </a:p>
          <a:p>
            <a:pPr marL="12700" marR="5080"/>
            <a:r>
              <a:rPr lang="en-US" sz="1300" kern="0" spc="-80" dirty="0">
                <a:solidFill>
                  <a:schemeClr val="accent2"/>
                </a:solidFill>
              </a:rPr>
              <a:t>5. Human Task Management</a:t>
            </a:r>
          </a:p>
          <a:p>
            <a:pPr marL="12700" marR="5080"/>
            <a:r>
              <a:rPr lang="en-US" sz="1300" kern="0" spc="-80" dirty="0">
                <a:solidFill>
                  <a:schemeClr val="accent2"/>
                </a:solidFill>
              </a:rPr>
              <a:t>Document workflows often require human steps:</a:t>
            </a:r>
          </a:p>
          <a:p>
            <a:pPr marL="12700" marR="5080"/>
            <a:r>
              <a:rPr lang="en-US" sz="1300" kern="0" spc="-80" dirty="0">
                <a:solidFill>
                  <a:schemeClr val="accent6"/>
                </a:solidFill>
              </a:rPr>
              <a:t>Approve/Reject</a:t>
            </a:r>
          </a:p>
          <a:p>
            <a:pPr marL="12700" marR="5080"/>
            <a:r>
              <a:rPr lang="en-US" sz="1300" kern="0" spc="-80" dirty="0">
                <a:solidFill>
                  <a:schemeClr val="accent6"/>
                </a:solidFill>
              </a:rPr>
              <a:t>Edit metadata</a:t>
            </a:r>
          </a:p>
          <a:p>
            <a:pPr marL="12700" marR="5080"/>
            <a:r>
              <a:rPr lang="en-US" sz="1300" kern="0" spc="-80" dirty="0">
                <a:solidFill>
                  <a:schemeClr val="accent6"/>
                </a:solidFill>
              </a:rPr>
              <a:t>Annotate documents</a:t>
            </a:r>
          </a:p>
          <a:p>
            <a:pPr marL="12700" marR="5080"/>
            <a:r>
              <a:rPr lang="en-US" sz="1300" kern="0" spc="-80" dirty="0">
                <a:solidFill>
                  <a:schemeClr val="accent6"/>
                </a:solidFill>
              </a:rPr>
              <a:t>Assign tasks across roles</a:t>
            </a:r>
          </a:p>
          <a:p>
            <a:pPr marL="12700" marR="5080"/>
            <a:r>
              <a:rPr lang="en-US" sz="1300" kern="0" spc="-80" dirty="0">
                <a:solidFill>
                  <a:schemeClr val="accent6"/>
                </a:solidFill>
              </a:rPr>
              <a:t>Tech: Camunda </a:t>
            </a:r>
            <a:r>
              <a:rPr lang="en-US" sz="1300" kern="0" spc="-80" dirty="0" err="1">
                <a:solidFill>
                  <a:schemeClr val="accent6"/>
                </a:solidFill>
              </a:rPr>
              <a:t>Tasklist</a:t>
            </a:r>
            <a:r>
              <a:rPr lang="en-US" sz="1300" kern="0" spc="-80" dirty="0">
                <a:solidFill>
                  <a:schemeClr val="accent6"/>
                </a:solidFill>
              </a:rPr>
              <a:t>, Activiti UI, custom Angular/React applications.</a:t>
            </a:r>
          </a:p>
          <a:p>
            <a:pPr marL="12700" marR="5080"/>
            <a:endParaRPr lang="en-US" sz="1300" kern="0" spc="-80" dirty="0">
              <a:solidFill>
                <a:schemeClr val="accent6"/>
              </a:solidFill>
            </a:endParaRPr>
          </a:p>
          <a:p>
            <a:pPr marL="12700" marR="5080"/>
            <a:r>
              <a:rPr lang="en-US" sz="1300" kern="0" spc="-80" dirty="0">
                <a:solidFill>
                  <a:schemeClr val="accent2"/>
                </a:solidFill>
              </a:rPr>
              <a:t>6. Document Repository Layer</a:t>
            </a:r>
          </a:p>
          <a:p>
            <a:pPr marL="12700" marR="5080"/>
            <a:r>
              <a:rPr lang="en-US" sz="1300" kern="0" spc="-80" dirty="0">
                <a:solidFill>
                  <a:schemeClr val="accent6"/>
                </a:solidFill>
              </a:rPr>
              <a:t>Stores documents, versions, and metadata.</a:t>
            </a:r>
          </a:p>
          <a:p>
            <a:pPr marL="12700" marR="5080"/>
            <a:r>
              <a:rPr lang="en-US" sz="1300" kern="0" spc="-80" dirty="0">
                <a:solidFill>
                  <a:schemeClr val="accent6"/>
                </a:solidFill>
              </a:rPr>
              <a:t>Common DMS/Storage:</a:t>
            </a:r>
          </a:p>
          <a:p>
            <a:pPr marL="12700" marR="5080"/>
            <a:r>
              <a:rPr lang="en-US" sz="1300" kern="0" spc="-80" dirty="0">
                <a:solidFill>
                  <a:schemeClr val="accent6"/>
                </a:solidFill>
              </a:rPr>
              <a:t>SharePoint</a:t>
            </a:r>
          </a:p>
        </p:txBody>
      </p:sp>
    </p:spTree>
    <p:extLst>
      <p:ext uri="{BB962C8B-B14F-4D97-AF65-F5344CB8AC3E}">
        <p14:creationId xmlns:p14="http://schemas.microsoft.com/office/powerpoint/2010/main" val="228964169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FA96-BAE3-1C26-074E-E93D3C9786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99A6DE-F87E-EBC1-5211-F46A5CC2FC0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2C21F8-8F72-A6DB-3C70-258073E4F7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AA6FD6-FC47-775D-1256-E662452595A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CDB202D-EE48-C58E-672B-7D91772B4E8F}"/>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6"/>
                </a:solidFill>
              </a:rPr>
              <a:t>Alfresco</a:t>
            </a:r>
          </a:p>
          <a:p>
            <a:pPr marL="12700" marR="5080"/>
            <a:r>
              <a:rPr lang="en-US" sz="1300" kern="0" spc="-80" dirty="0">
                <a:solidFill>
                  <a:schemeClr val="accent6"/>
                </a:solidFill>
              </a:rPr>
              <a:t>OpenText</a:t>
            </a:r>
          </a:p>
          <a:p>
            <a:pPr marL="12700" marR="5080"/>
            <a:r>
              <a:rPr lang="en-US" sz="1300" kern="0" spc="-80" dirty="0">
                <a:solidFill>
                  <a:schemeClr val="accent6"/>
                </a:solidFill>
              </a:rPr>
              <a:t>FileNet</a:t>
            </a:r>
          </a:p>
          <a:p>
            <a:pPr marL="12700" marR="5080"/>
            <a:r>
              <a:rPr lang="en-US" sz="1300" kern="0" spc="-80" dirty="0">
                <a:solidFill>
                  <a:schemeClr val="accent6"/>
                </a:solidFill>
              </a:rPr>
              <a:t>S3/GCS / Azure Blob</a:t>
            </a:r>
          </a:p>
          <a:p>
            <a:pPr marL="12700" marR="5080"/>
            <a:r>
              <a:rPr lang="en-US" sz="1300" kern="0" spc="-80" dirty="0">
                <a:solidFill>
                  <a:schemeClr val="accent6"/>
                </a:solidFill>
              </a:rPr>
              <a:t>MongoDB/</a:t>
            </a:r>
            <a:r>
              <a:rPr lang="en-US" sz="1300" kern="0" spc="-80" dirty="0" err="1">
                <a:solidFill>
                  <a:schemeClr val="accent6"/>
                </a:solidFill>
              </a:rPr>
              <a:t>GridFS</a:t>
            </a:r>
            <a:r>
              <a:rPr lang="en-US" sz="1300" kern="0" spc="-80" dirty="0">
                <a:solidFill>
                  <a:schemeClr val="accent6"/>
                </a:solidFill>
              </a:rPr>
              <a:t> (for binary data)</a:t>
            </a:r>
          </a:p>
          <a:p>
            <a:pPr marL="12700" marR="5080"/>
            <a:r>
              <a:rPr lang="en-US" sz="1300" kern="0" spc="-80" dirty="0">
                <a:solidFill>
                  <a:schemeClr val="accent2"/>
                </a:solidFill>
              </a:rPr>
              <a:t>Supports:</a:t>
            </a:r>
          </a:p>
          <a:p>
            <a:pPr marL="12700" marR="5080"/>
            <a:r>
              <a:rPr lang="en-US" sz="1300" kern="0" spc="-80" dirty="0">
                <a:solidFill>
                  <a:schemeClr val="accent6"/>
                </a:solidFill>
              </a:rPr>
              <a:t>Versioning</a:t>
            </a:r>
          </a:p>
          <a:p>
            <a:pPr marL="12700" marR="5080"/>
            <a:endParaRPr lang="en-US" sz="1300" kern="0" spc="-80" dirty="0">
              <a:solidFill>
                <a:schemeClr val="accent6"/>
              </a:solidFill>
            </a:endParaRPr>
          </a:p>
          <a:p>
            <a:pPr marL="12700" marR="5080"/>
            <a:r>
              <a:rPr lang="en-US" sz="1300" kern="0" spc="-80" dirty="0">
                <a:solidFill>
                  <a:schemeClr val="accent2"/>
                </a:solidFill>
              </a:rPr>
              <a:t>6. Document Repository Layer</a:t>
            </a:r>
          </a:p>
          <a:p>
            <a:pPr marL="12700" marR="5080"/>
            <a:r>
              <a:rPr lang="en-US" sz="1300" kern="0" spc="-80" dirty="0">
                <a:solidFill>
                  <a:schemeClr val="accent6"/>
                </a:solidFill>
              </a:rPr>
              <a:t>Stores documents, versions, and metadata.</a:t>
            </a:r>
          </a:p>
          <a:p>
            <a:pPr marL="12700" marR="5080"/>
            <a:r>
              <a:rPr lang="en-US" sz="1300" kern="0" spc="-80" dirty="0">
                <a:solidFill>
                  <a:schemeClr val="accent2"/>
                </a:solidFill>
              </a:rPr>
              <a:t>Common DMS/Storage:</a:t>
            </a:r>
          </a:p>
          <a:p>
            <a:pPr marL="12700" marR="5080"/>
            <a:r>
              <a:rPr lang="en-US" sz="1300" kern="0" spc="-80" dirty="0">
                <a:solidFill>
                  <a:schemeClr val="accent6"/>
                </a:solidFill>
              </a:rPr>
              <a:t>SharePoint</a:t>
            </a:r>
          </a:p>
          <a:p>
            <a:pPr marL="12700" marR="5080"/>
            <a:r>
              <a:rPr lang="en-US" sz="1300" kern="0" spc="-80" dirty="0">
                <a:solidFill>
                  <a:schemeClr val="accent6"/>
                </a:solidFill>
              </a:rPr>
              <a:t>Alfresco</a:t>
            </a:r>
          </a:p>
          <a:p>
            <a:pPr marL="12700" marR="5080"/>
            <a:r>
              <a:rPr lang="en-US" sz="1300" kern="0" spc="-80" dirty="0">
                <a:solidFill>
                  <a:schemeClr val="accent6"/>
                </a:solidFill>
              </a:rPr>
              <a:t>OpenText</a:t>
            </a:r>
          </a:p>
          <a:p>
            <a:pPr marL="12700" marR="5080"/>
            <a:r>
              <a:rPr lang="en-US" sz="1300" kern="0" spc="-80" dirty="0">
                <a:solidFill>
                  <a:schemeClr val="accent6"/>
                </a:solidFill>
              </a:rPr>
              <a:t>FileNet</a:t>
            </a:r>
          </a:p>
          <a:p>
            <a:pPr marL="12700" marR="5080"/>
            <a:r>
              <a:rPr lang="en-US" sz="1300" kern="0" spc="-80" dirty="0">
                <a:solidFill>
                  <a:schemeClr val="accent6"/>
                </a:solidFill>
              </a:rPr>
              <a:t>S3/GCS / Azure Blob</a:t>
            </a:r>
          </a:p>
          <a:p>
            <a:pPr marL="12700" marR="5080"/>
            <a:r>
              <a:rPr lang="en-US" sz="1300" kern="0" spc="-80" dirty="0">
                <a:solidFill>
                  <a:schemeClr val="accent6"/>
                </a:solidFill>
              </a:rPr>
              <a:t>MongoDB/</a:t>
            </a:r>
            <a:r>
              <a:rPr lang="en-US" sz="1300" kern="0" spc="-80" dirty="0" err="1">
                <a:solidFill>
                  <a:schemeClr val="accent6"/>
                </a:solidFill>
              </a:rPr>
              <a:t>GridFS</a:t>
            </a:r>
            <a:r>
              <a:rPr lang="en-US" sz="1300" kern="0" spc="-80" dirty="0">
                <a:solidFill>
                  <a:schemeClr val="accent6"/>
                </a:solidFill>
              </a:rPr>
              <a:t> (for binary data)</a:t>
            </a:r>
          </a:p>
          <a:p>
            <a:pPr marL="12700" marR="5080"/>
            <a:r>
              <a:rPr lang="en-US" sz="1300" kern="0" spc="-80" dirty="0">
                <a:solidFill>
                  <a:schemeClr val="accent2"/>
                </a:solidFill>
              </a:rPr>
              <a:t>Supports:</a:t>
            </a:r>
          </a:p>
          <a:p>
            <a:pPr marL="12700" marR="5080"/>
            <a:r>
              <a:rPr lang="en-US" sz="1300" kern="0" spc="-80" dirty="0">
                <a:solidFill>
                  <a:schemeClr val="accent6"/>
                </a:solidFill>
              </a:rPr>
              <a:t>Versioning</a:t>
            </a:r>
          </a:p>
          <a:p>
            <a:pPr marL="12700" marR="5080"/>
            <a:r>
              <a:rPr lang="en-US" sz="1300" kern="0" spc="-80" dirty="0">
                <a:solidFill>
                  <a:schemeClr val="accent6"/>
                </a:solidFill>
              </a:rPr>
              <a:t>Check-in/Check-out</a:t>
            </a:r>
          </a:p>
          <a:p>
            <a:pPr marL="12700" marR="5080"/>
            <a:r>
              <a:rPr lang="en-US" sz="1300" kern="0" spc="-80" dirty="0">
                <a:solidFill>
                  <a:schemeClr val="accent6"/>
                </a:solidFill>
              </a:rPr>
              <a:t>Indexes for search</a:t>
            </a:r>
          </a:p>
          <a:p>
            <a:pPr marL="12700" marR="5080"/>
            <a:r>
              <a:rPr lang="en-US" sz="1300" kern="0" spc="-80" dirty="0">
                <a:solidFill>
                  <a:schemeClr val="accent6"/>
                </a:solidFill>
              </a:rPr>
              <a:t>Retention &amp; archival policies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317627375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2AC4B-F518-BACA-C386-FFDDA0ED82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B2382-DE3F-C406-ADCE-1F7D3A7FCD1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6CE989-8668-4FC2-95B5-159BB3BB0E0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03561C-F6B7-68BB-54DE-C34E629AF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C7ABAF-BDB7-1C86-9FA9-471326D0A141}"/>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6"/>
                </a:solidFill>
              </a:rPr>
              <a:t>7. Integration Layer</a:t>
            </a:r>
          </a:p>
          <a:p>
            <a:pPr marL="12700" marR="5080"/>
            <a:r>
              <a:rPr lang="en-US" sz="1300" kern="0" spc="-80" dirty="0">
                <a:solidFill>
                  <a:schemeClr val="accent6"/>
                </a:solidFill>
              </a:rPr>
              <a:t>Document workflows must interact with enterprise apps:</a:t>
            </a:r>
          </a:p>
          <a:p>
            <a:pPr marL="12700" marR="5080"/>
            <a:r>
              <a:rPr lang="en-US" sz="1300" kern="0" spc="-80" dirty="0">
                <a:solidFill>
                  <a:schemeClr val="accent6"/>
                </a:solidFill>
              </a:rPr>
              <a:t>ERP (SAP, Oracle)</a:t>
            </a:r>
          </a:p>
          <a:p>
            <a:pPr marL="12700" marR="5080"/>
            <a:r>
              <a:rPr lang="en-US" sz="1300" kern="0" spc="-80" dirty="0">
                <a:solidFill>
                  <a:schemeClr val="accent6"/>
                </a:solidFill>
              </a:rPr>
              <a:t>CRM (Salesforce, Dynamics)</a:t>
            </a:r>
          </a:p>
          <a:p>
            <a:pPr marL="12700" marR="5080"/>
            <a:r>
              <a:rPr lang="en-US" sz="1300" kern="0" spc="-80" dirty="0">
                <a:solidFill>
                  <a:schemeClr val="accent6"/>
                </a:solidFill>
              </a:rPr>
              <a:t>Billing systems</a:t>
            </a:r>
          </a:p>
          <a:p>
            <a:pPr marL="12700" marR="5080"/>
            <a:r>
              <a:rPr lang="en-US" sz="1300" kern="0" spc="-80" dirty="0">
                <a:solidFill>
                  <a:schemeClr val="accent6"/>
                </a:solidFill>
              </a:rPr>
              <a:t>Payment gateways</a:t>
            </a:r>
          </a:p>
          <a:p>
            <a:pPr marL="12700" marR="5080"/>
            <a:r>
              <a:rPr lang="en-US" sz="1300" kern="0" spc="-80" dirty="0">
                <a:solidFill>
                  <a:schemeClr val="accent6"/>
                </a:solidFill>
              </a:rPr>
              <a:t>Notification systems (SMS, Email, WhatsApp)</a:t>
            </a:r>
          </a:p>
          <a:p>
            <a:pPr marL="12700" marR="5080"/>
            <a:r>
              <a:rPr lang="en-US" sz="1300" kern="0" spc="-80" dirty="0">
                <a:solidFill>
                  <a:schemeClr val="accent2"/>
                </a:solidFill>
              </a:rPr>
              <a:t>Tech:</a:t>
            </a:r>
          </a:p>
          <a:p>
            <a:pPr marL="12700" marR="5080"/>
            <a:r>
              <a:rPr lang="en-US" sz="1300" kern="0" spc="-80" dirty="0">
                <a:solidFill>
                  <a:schemeClr val="accent6"/>
                </a:solidFill>
              </a:rPr>
              <a:t>REST, </a:t>
            </a:r>
            <a:r>
              <a:rPr lang="en-US" sz="1300" kern="0" spc="-80" dirty="0" err="1">
                <a:solidFill>
                  <a:schemeClr val="accent6"/>
                </a:solidFill>
              </a:rPr>
              <a:t>GraphQL</a:t>
            </a:r>
            <a:endParaRPr lang="en-US" sz="1300" kern="0" spc="-80" dirty="0">
              <a:solidFill>
                <a:schemeClr val="accent6"/>
              </a:solidFill>
            </a:endParaRPr>
          </a:p>
          <a:p>
            <a:pPr marL="12700" marR="5080"/>
            <a:r>
              <a:rPr lang="en-US" sz="1300" kern="0" spc="-80" dirty="0">
                <a:solidFill>
                  <a:schemeClr val="accent6"/>
                </a:solidFill>
              </a:rPr>
              <a:t>Message queues</a:t>
            </a:r>
          </a:p>
          <a:p>
            <a:pPr marL="12700" marR="5080"/>
            <a:r>
              <a:rPr lang="en-US" sz="1300" kern="0" spc="-80" dirty="0">
                <a:solidFill>
                  <a:schemeClr val="accent6"/>
                </a:solidFill>
              </a:rPr>
              <a:t>RPA bots</a:t>
            </a:r>
          </a:p>
          <a:p>
            <a:pPr marL="12700" marR="5080"/>
            <a:endParaRPr lang="en-US" sz="1300" kern="0" spc="-80" dirty="0">
              <a:solidFill>
                <a:schemeClr val="accent6"/>
              </a:solidFill>
            </a:endParaRPr>
          </a:p>
          <a:p>
            <a:pPr marL="12700" marR="5080"/>
            <a:r>
              <a:rPr lang="en-US" sz="1300" kern="0" spc="-80" dirty="0">
                <a:solidFill>
                  <a:schemeClr val="accent2"/>
                </a:solidFill>
              </a:rPr>
              <a:t>8. Security &amp; Compliance Layer</a:t>
            </a:r>
          </a:p>
          <a:p>
            <a:pPr marL="12700" marR="5080"/>
            <a:r>
              <a:rPr lang="en-US" sz="1300" kern="0" spc="-80" dirty="0">
                <a:solidFill>
                  <a:schemeClr val="accent6"/>
                </a:solidFill>
              </a:rPr>
              <a:t>Especially important for regulated environments like banking and healthcare.</a:t>
            </a:r>
          </a:p>
          <a:p>
            <a:pPr marL="12700" marR="5080"/>
            <a:r>
              <a:rPr lang="en-US" sz="1300" kern="0" spc="-80" dirty="0">
                <a:solidFill>
                  <a:schemeClr val="accent6"/>
                </a:solidFill>
              </a:rPr>
              <a:t>Includes:</a:t>
            </a:r>
          </a:p>
          <a:p>
            <a:pPr marL="12700" marR="5080"/>
            <a:r>
              <a:rPr lang="en-US" sz="1300" kern="0" spc="-80" dirty="0">
                <a:solidFill>
                  <a:schemeClr val="accent6"/>
                </a:solidFill>
              </a:rPr>
              <a:t>Zero-Trust architecture</a:t>
            </a:r>
          </a:p>
          <a:p>
            <a:pPr marL="12700" marR="5080"/>
            <a:r>
              <a:rPr lang="en-US" sz="1300" kern="0" spc="-80" dirty="0">
                <a:solidFill>
                  <a:schemeClr val="accent6"/>
                </a:solidFill>
              </a:rPr>
              <a:t>Role-based &amp; attribute-based access control (RBAC/ABAC)</a:t>
            </a:r>
          </a:p>
          <a:p>
            <a:pPr marL="12700" marR="5080"/>
            <a:r>
              <a:rPr lang="en-US" sz="1300" kern="0" spc="-80" dirty="0">
                <a:solidFill>
                  <a:schemeClr val="accent6"/>
                </a:solidFill>
              </a:rPr>
              <a:t>Document access policies</a:t>
            </a:r>
          </a:p>
          <a:p>
            <a:pPr marL="12700" marR="5080"/>
            <a:r>
              <a:rPr lang="en-US" sz="1300" kern="0" spc="-80" dirty="0">
                <a:solidFill>
                  <a:schemeClr val="accent6"/>
                </a:solidFill>
              </a:rPr>
              <a:t>PII masking</a:t>
            </a:r>
          </a:p>
          <a:p>
            <a:pPr marL="12700" marR="5080"/>
            <a:r>
              <a:rPr lang="en-US" sz="1300" kern="0" spc="-80" dirty="0">
                <a:solidFill>
                  <a:schemeClr val="accent6"/>
                </a:solidFill>
              </a:rPr>
              <a:t>Encryption at rest &amp; in transit</a:t>
            </a:r>
          </a:p>
          <a:p>
            <a:pPr marL="12700" marR="5080"/>
            <a:r>
              <a:rPr lang="en-US" sz="1300" kern="0" spc="-80" dirty="0">
                <a:solidFill>
                  <a:schemeClr val="accent6"/>
                </a:solidFill>
              </a:rPr>
              <a:t>Tamper-proof audit logs</a:t>
            </a:r>
          </a:p>
          <a:p>
            <a:pPr marL="12700" marR="5080"/>
            <a:endParaRPr lang="en-US" sz="1300" kern="0" spc="-80" dirty="0">
              <a:solidFill>
                <a:schemeClr val="accent6"/>
              </a:solidFill>
            </a:endParaRP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3996217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5750A-E18D-C479-99DA-4D0E2BD1C4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D9C72-E54E-CA9D-4FD9-2EF1DD04882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FF0636E-8C7F-29E8-66CD-7BB734F0C49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FE6FAC-67A5-A605-0E0C-4AA7AD0B201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A3B5E8-62EB-EF53-93D6-CA60DD48C8BE}"/>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2"/>
                </a:solidFill>
              </a:rPr>
              <a:t>Document Workflow Patterns</a:t>
            </a:r>
          </a:p>
          <a:p>
            <a:pPr marL="12700" marR="5080"/>
            <a:r>
              <a:rPr lang="en-US" sz="1300" kern="0" spc="-80" dirty="0">
                <a:solidFill>
                  <a:schemeClr val="accent2"/>
                </a:solidFill>
              </a:rPr>
              <a:t>Pattern 1: Straight-Through Processing (STP)</a:t>
            </a:r>
          </a:p>
          <a:p>
            <a:pPr marL="12700" marR="5080"/>
            <a:r>
              <a:rPr lang="en-US" sz="1300" kern="0" spc="-80" dirty="0">
                <a:solidFill>
                  <a:schemeClr val="accent6"/>
                </a:solidFill>
              </a:rPr>
              <a:t>Automation-only flow.</a:t>
            </a:r>
          </a:p>
          <a:p>
            <a:pPr marL="12700" marR="5080"/>
            <a:r>
              <a:rPr lang="en-US" sz="1300" kern="0" spc="-80" dirty="0">
                <a:solidFill>
                  <a:schemeClr val="accent2"/>
                </a:solidFill>
              </a:rPr>
              <a:t>Used for:</a:t>
            </a:r>
          </a:p>
          <a:p>
            <a:pPr marL="12700" marR="5080"/>
            <a:r>
              <a:rPr lang="en-US" sz="1300" kern="0" spc="-80" dirty="0">
                <a:solidFill>
                  <a:schemeClr val="accent6"/>
                </a:solidFill>
              </a:rPr>
              <a:t>Standard forms</a:t>
            </a:r>
          </a:p>
          <a:p>
            <a:pPr marL="12700" marR="5080"/>
            <a:r>
              <a:rPr lang="en-US" sz="1300" kern="0" spc="-80" dirty="0">
                <a:solidFill>
                  <a:schemeClr val="accent6"/>
                </a:solidFill>
              </a:rPr>
              <a:t>Low value invoices</a:t>
            </a:r>
          </a:p>
          <a:p>
            <a:pPr marL="12700" marR="5080"/>
            <a:r>
              <a:rPr lang="en-US" sz="1300" kern="0" spc="-80" dirty="0">
                <a:solidFill>
                  <a:schemeClr val="accent6"/>
                </a:solidFill>
              </a:rPr>
              <a:t>Ticketing systems</a:t>
            </a:r>
          </a:p>
          <a:p>
            <a:pPr marL="12700" marR="5080"/>
            <a:endParaRPr lang="en-US" sz="1300" kern="0" spc="-80" dirty="0">
              <a:solidFill>
                <a:schemeClr val="accent6"/>
              </a:solidFill>
            </a:endParaRPr>
          </a:p>
          <a:p>
            <a:pPr marL="12700" marR="5080"/>
            <a:r>
              <a:rPr lang="en-US" sz="1300" kern="0" spc="-80" dirty="0">
                <a:solidFill>
                  <a:schemeClr val="accent2"/>
                </a:solidFill>
              </a:rPr>
              <a:t>Pattern 2: Human-in-the-Loop Workflow</a:t>
            </a:r>
          </a:p>
          <a:p>
            <a:pPr marL="12700" marR="5080"/>
            <a:r>
              <a:rPr lang="en-US" sz="1300" kern="0" spc="-80" dirty="0">
                <a:solidFill>
                  <a:schemeClr val="accent6"/>
                </a:solidFill>
              </a:rPr>
              <a:t>Manual review required.</a:t>
            </a:r>
          </a:p>
          <a:p>
            <a:pPr marL="12700" marR="5080"/>
            <a:r>
              <a:rPr lang="en-US" sz="1300" kern="0" spc="-80" dirty="0">
                <a:solidFill>
                  <a:schemeClr val="accent2"/>
                </a:solidFill>
              </a:rPr>
              <a:t>Used for:</a:t>
            </a:r>
          </a:p>
          <a:p>
            <a:pPr marL="12700" marR="5080"/>
            <a:r>
              <a:rPr lang="en-US" sz="1300" kern="0" spc="-80" dirty="0">
                <a:solidFill>
                  <a:schemeClr val="accent6"/>
                </a:solidFill>
              </a:rPr>
              <a:t>Legal documents</a:t>
            </a:r>
          </a:p>
          <a:p>
            <a:pPr marL="12700" marR="5080"/>
            <a:r>
              <a:rPr lang="en-US" sz="1300" kern="0" spc="-80" dirty="0">
                <a:solidFill>
                  <a:schemeClr val="accent6"/>
                </a:solidFill>
              </a:rPr>
              <a:t>Claims</a:t>
            </a:r>
          </a:p>
          <a:p>
            <a:pPr marL="12700" marR="5080"/>
            <a:r>
              <a:rPr lang="en-US" sz="1300" kern="0" spc="-80" dirty="0">
                <a:solidFill>
                  <a:schemeClr val="accent6"/>
                </a:solidFill>
              </a:rPr>
              <a:t>High-value approvals</a:t>
            </a:r>
          </a:p>
          <a:p>
            <a:pPr marL="12700" marR="5080"/>
            <a:endParaRPr lang="en-US" sz="1300" kern="0" spc="-80" dirty="0">
              <a:solidFill>
                <a:schemeClr val="accent6"/>
              </a:solidFill>
            </a:endParaRPr>
          </a:p>
          <a:p>
            <a:pPr marL="12700" marR="5080"/>
            <a:endParaRPr lang="en-US" sz="1300" kern="0" spc="-80" dirty="0">
              <a:solidFill>
                <a:schemeClr val="accent6"/>
              </a:solidFill>
            </a:endParaRPr>
          </a:p>
          <a:p>
            <a:pPr marL="12700" marR="5080"/>
            <a:r>
              <a:rPr lang="en-US" sz="1300" kern="0" spc="-80" dirty="0">
                <a:solidFill>
                  <a:schemeClr val="accent2"/>
                </a:solidFill>
              </a:rPr>
              <a:t>Pattern 3: Parallel Workflows</a:t>
            </a:r>
          </a:p>
          <a:p>
            <a:pPr marL="12700" marR="5080"/>
            <a:r>
              <a:rPr lang="en-US" sz="1300" kern="0" spc="-80" dirty="0">
                <a:solidFill>
                  <a:schemeClr val="accent6"/>
                </a:solidFill>
              </a:rPr>
              <a:t>Multiple teams work on the same document concurrently.</a:t>
            </a:r>
          </a:p>
          <a:p>
            <a:pPr marL="12700" marR="5080"/>
            <a:r>
              <a:rPr lang="en-US" sz="1300" kern="0" spc="-80" dirty="0">
                <a:solidFill>
                  <a:schemeClr val="accent2"/>
                </a:solidFill>
              </a:rPr>
              <a:t>Examples:</a:t>
            </a:r>
          </a:p>
          <a:p>
            <a:pPr marL="12700" marR="5080"/>
            <a:r>
              <a:rPr lang="en-US" sz="1300" kern="0" spc="-80" dirty="0">
                <a:solidFill>
                  <a:schemeClr val="accent6"/>
                </a:solidFill>
              </a:rPr>
              <a:t>HR onboarding</a:t>
            </a:r>
          </a:p>
          <a:p>
            <a:pPr marL="12700" marR="5080"/>
            <a:r>
              <a:rPr lang="en-US" sz="1300" kern="0" spc="-80" dirty="0">
                <a:solidFill>
                  <a:schemeClr val="accent6"/>
                </a:solidFill>
              </a:rPr>
              <a:t>Mortgage processing</a:t>
            </a:r>
          </a:p>
          <a:p>
            <a:pPr marL="12700" marR="5080"/>
            <a:r>
              <a:rPr lang="en-US" sz="1300" kern="0" spc="-80" dirty="0">
                <a:solidFill>
                  <a:schemeClr val="accent6"/>
                </a:solidFill>
              </a:rPr>
              <a:t>Insurance underwriting</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44867835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D8463-75EA-9F2E-9371-D1215AB931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342482-9764-721C-0B6C-35D1B311FD2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963D7E-6500-0267-6A99-F9EA2F08F0F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535B94-0C81-EF1D-ED38-92D99DF9855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A3F247E-1E24-CA21-98C7-F6854A608B1A}"/>
              </a:ext>
            </a:extLst>
          </p:cNvPr>
          <p:cNvSpPr txBox="1">
            <a:spLocks/>
          </p:cNvSpPr>
          <p:nvPr/>
        </p:nvSpPr>
        <p:spPr>
          <a:xfrm>
            <a:off x="228600" y="873204"/>
            <a:ext cx="8624937" cy="45704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2"/>
                </a:solidFill>
              </a:rPr>
              <a:t>Pattern 4: Dynamic Routing</a:t>
            </a:r>
          </a:p>
          <a:p>
            <a:pPr marL="12700" marR="5080"/>
            <a:r>
              <a:rPr lang="en-US" sz="1300" kern="0" spc="-80" dirty="0">
                <a:solidFill>
                  <a:schemeClr val="accent6"/>
                </a:solidFill>
              </a:rPr>
              <a:t>Metadata decides path.</a:t>
            </a:r>
          </a:p>
          <a:p>
            <a:pPr marL="12700" marR="5080"/>
            <a:r>
              <a:rPr lang="en-US" sz="1300" kern="0" spc="-80" dirty="0">
                <a:solidFill>
                  <a:schemeClr val="accent2"/>
                </a:solidFill>
              </a:rPr>
              <a:t>Example:</a:t>
            </a:r>
          </a:p>
          <a:p>
            <a:pPr marL="12700" marR="5080"/>
            <a:r>
              <a:rPr lang="en-US" sz="1300" kern="0" spc="-80" dirty="0">
                <a:solidFill>
                  <a:schemeClr val="accent6"/>
                </a:solidFill>
              </a:rPr>
              <a:t>If invoice &lt; ₹50,000 → Auto-approve  </a:t>
            </a:r>
          </a:p>
          <a:p>
            <a:pPr marL="12700" marR="5080"/>
            <a:r>
              <a:rPr lang="en-US" sz="1300" kern="0" spc="-80" dirty="0">
                <a:solidFill>
                  <a:schemeClr val="accent6"/>
                </a:solidFill>
              </a:rPr>
              <a:t>If invoice &gt; ₹50,000 → Manager approval  </a:t>
            </a:r>
          </a:p>
          <a:p>
            <a:pPr marL="12700" marR="5080"/>
            <a:r>
              <a:rPr lang="en-US" sz="1300" kern="0" spc="-80" dirty="0">
                <a:solidFill>
                  <a:schemeClr val="accent6"/>
                </a:solidFill>
              </a:rPr>
              <a:t>If invoice &gt; ₹5,00,000 → Finance director approval</a:t>
            </a:r>
          </a:p>
          <a:p>
            <a:pPr marL="12700" marR="5080"/>
            <a:endParaRPr lang="en-US" sz="1300" kern="0" spc="-80" dirty="0">
              <a:solidFill>
                <a:schemeClr val="accent6"/>
              </a:solidFill>
            </a:endParaRPr>
          </a:p>
          <a:p>
            <a:pPr marL="12700" marR="5080"/>
            <a:r>
              <a:rPr lang="en-US" sz="1300" kern="0" spc="-80" dirty="0">
                <a:solidFill>
                  <a:schemeClr val="accent2"/>
                </a:solidFill>
              </a:rPr>
              <a:t>Pattern 5: Versioned Document Processing</a:t>
            </a:r>
          </a:p>
          <a:p>
            <a:pPr marL="12700" marR="5080"/>
            <a:r>
              <a:rPr lang="en-US" sz="1300" kern="0" spc="-80" dirty="0">
                <a:solidFill>
                  <a:schemeClr val="accent6"/>
                </a:solidFill>
              </a:rPr>
              <a:t>Each update creates a new version, and workflow can branch on version changes.</a:t>
            </a:r>
          </a:p>
          <a:p>
            <a:pPr marL="12700" marR="5080"/>
            <a:endParaRPr lang="en-US" sz="1300" kern="0" spc="-80" dirty="0">
              <a:solidFill>
                <a:schemeClr val="accent6"/>
              </a:solidFill>
            </a:endParaRPr>
          </a:p>
          <a:p>
            <a:pPr marL="12700" marR="5080"/>
            <a:r>
              <a:rPr lang="en-US" sz="1300" kern="0" spc="-80" dirty="0">
                <a:solidFill>
                  <a:schemeClr val="accent2"/>
                </a:solidFill>
              </a:rPr>
              <a:t>Pattern 6: Document Assembly Workflow</a:t>
            </a:r>
          </a:p>
          <a:p>
            <a:pPr marL="12700" marR="5080"/>
            <a:r>
              <a:rPr lang="en-US" sz="1300" kern="0" spc="-80" dirty="0">
                <a:solidFill>
                  <a:schemeClr val="accent6"/>
                </a:solidFill>
              </a:rPr>
              <a:t>Used in legal, healthcare, finance.</a:t>
            </a:r>
          </a:p>
          <a:p>
            <a:pPr marL="12700" marR="5080"/>
            <a:r>
              <a:rPr lang="en-US" sz="1300" kern="0" spc="-80" dirty="0">
                <a:solidFill>
                  <a:schemeClr val="accent2"/>
                </a:solidFill>
              </a:rPr>
              <a:t>Example:</a:t>
            </a:r>
          </a:p>
          <a:p>
            <a:pPr marL="12700" marR="5080"/>
            <a:r>
              <a:rPr lang="en-US" sz="1300" kern="0" spc="-80" dirty="0">
                <a:solidFill>
                  <a:schemeClr val="accent6"/>
                </a:solidFill>
              </a:rPr>
              <a:t>Auto-generate a contract from templates → send for signatures → archive.</a:t>
            </a:r>
          </a:p>
          <a:p>
            <a:pPr marL="12700" marR="5080"/>
            <a:endParaRPr lang="en-US" sz="1300" kern="0" spc="-80" dirty="0">
              <a:solidFill>
                <a:schemeClr val="accent6"/>
              </a:solidFill>
            </a:endParaRPr>
          </a:p>
          <a:p>
            <a:pPr marL="12700" marR="5080"/>
            <a:r>
              <a:rPr lang="en-US" sz="1300" kern="0" spc="-80" dirty="0">
                <a:solidFill>
                  <a:schemeClr val="accent2"/>
                </a:solidFill>
              </a:rPr>
              <a:t>Pattern 7: Collaborative Editing Workflow</a:t>
            </a:r>
          </a:p>
          <a:p>
            <a:pPr marL="12700" marR="5080"/>
            <a:r>
              <a:rPr lang="en-US" sz="1300" kern="0" spc="-80" dirty="0">
                <a:solidFill>
                  <a:schemeClr val="accent6"/>
                </a:solidFill>
              </a:rPr>
              <a:t>Multiple reviewers annotate simultaneously (Google Docs style).</a:t>
            </a:r>
          </a:p>
          <a:p>
            <a:pPr marL="12700" marR="5080"/>
            <a:endParaRPr lang="en-US" sz="1300" kern="0" spc="-80" dirty="0">
              <a:solidFill>
                <a:schemeClr val="accent6"/>
              </a:solidFill>
            </a:endParaRPr>
          </a:p>
          <a:p>
            <a:pPr marL="12700" marR="5080"/>
            <a:r>
              <a:rPr lang="en-US" sz="1300" kern="0" spc="-80" dirty="0">
                <a:solidFill>
                  <a:schemeClr val="accent2"/>
                </a:solidFill>
              </a:rPr>
              <a:t>5. End-to-End Data Flow Example</a:t>
            </a:r>
          </a:p>
          <a:p>
            <a:pPr marL="12700" marR="5080"/>
            <a:r>
              <a:rPr lang="en-US" sz="1300" kern="0" spc="-80" dirty="0">
                <a:solidFill>
                  <a:schemeClr val="accent6"/>
                </a:solidFill>
              </a:rPr>
              <a:t>Example: Invoice Processing Workflow</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59431707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CD9ED-D874-8017-C8A2-AA4061AFD3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6F0CD1-0F6D-8A47-2996-E37379FBA6D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82413A-6815-274E-D0B2-118BF30DCEF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D85DAF-A698-B7B8-DC72-C6E8C99079B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3C08EAB-3FE6-F721-25D9-8CF293E9D7CC}"/>
              </a:ext>
            </a:extLst>
          </p:cNvPr>
          <p:cNvSpPr txBox="1">
            <a:spLocks/>
          </p:cNvSpPr>
          <p:nvPr/>
        </p:nvSpPr>
        <p:spPr>
          <a:xfrm>
            <a:off x="228600" y="873204"/>
            <a:ext cx="8624937" cy="49321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300" kern="0" spc="-80" dirty="0">
                <a:solidFill>
                  <a:schemeClr val="accent2"/>
                </a:solidFill>
              </a:rPr>
              <a:t>End-to-End Data Flow Example</a:t>
            </a:r>
          </a:p>
          <a:p>
            <a:pPr marL="12700" marR="5080"/>
            <a:r>
              <a:rPr lang="en-US" sz="1300" kern="0" spc="-80" dirty="0">
                <a:solidFill>
                  <a:schemeClr val="accent2"/>
                </a:solidFill>
              </a:rPr>
              <a:t>Example: Invoice Processing Workflow</a:t>
            </a:r>
          </a:p>
          <a:p>
            <a:pPr marL="12700" marR="5080"/>
            <a:r>
              <a:rPr lang="en-US" sz="1300" kern="0" spc="-80" dirty="0">
                <a:solidFill>
                  <a:schemeClr val="accent6"/>
                </a:solidFill>
              </a:rPr>
              <a:t>Invoice uploaded through portal</a:t>
            </a:r>
          </a:p>
          <a:p>
            <a:pPr marL="12700" marR="5080"/>
            <a:r>
              <a:rPr lang="en-US" sz="1300" kern="0" spc="-80" dirty="0">
                <a:solidFill>
                  <a:schemeClr val="accent6"/>
                </a:solidFill>
              </a:rPr>
              <a:t>OCR extracts Vendor Name, Amount, Tax</a:t>
            </a:r>
          </a:p>
          <a:p>
            <a:pPr marL="12700" marR="5080"/>
            <a:r>
              <a:rPr lang="en-US" sz="1300" kern="0" spc="-80" dirty="0">
                <a:solidFill>
                  <a:schemeClr val="accent6"/>
                </a:solidFill>
              </a:rPr>
              <a:t>Workflow engine validates metadata</a:t>
            </a:r>
          </a:p>
          <a:p>
            <a:pPr marL="12700" marR="5080"/>
            <a:r>
              <a:rPr lang="en-US" sz="130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endParaRPr lang="en-US" sz="1150" kern="0" spc="-80" dirty="0">
              <a:solidFill>
                <a:schemeClr val="accent6"/>
              </a:solidFill>
            </a:endParaRPr>
          </a:p>
          <a:p>
            <a:pPr marL="12700" marR="5080"/>
            <a:r>
              <a:rPr lang="en-US" sz="1150" kern="0" spc="-80" dirty="0">
                <a:solidFill>
                  <a:schemeClr val="accent2"/>
                </a:solidFill>
              </a:rPr>
              <a:t>Technology Stack Mapping</a:t>
            </a:r>
          </a:p>
          <a:p>
            <a:pPr marL="12700" marR="5080"/>
            <a:r>
              <a:rPr lang="en-US" sz="1150" kern="0" spc="-80" dirty="0">
                <a:solidFill>
                  <a:schemeClr val="accent2"/>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endParaRPr lang="en-US" sz="1150" kern="0" spc="-80" dirty="0">
              <a:solidFill>
                <a:schemeClr val="accent6"/>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11689512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3DA88-4572-0CE9-9441-56D35285B6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BB2C3-0D88-C230-2685-E0653CF58F1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378D9B-3D7C-C4C1-2712-57D22F456B0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1FAB51-D8FC-E8C4-87DE-31E737B5379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901A986-D0FA-DAA8-E261-36D05111C1F6}"/>
              </a:ext>
            </a:extLst>
          </p:cNvPr>
          <p:cNvSpPr txBox="1">
            <a:spLocks/>
          </p:cNvSpPr>
          <p:nvPr/>
        </p:nvSpPr>
        <p:spPr>
          <a:xfrm>
            <a:off x="228600" y="873204"/>
            <a:ext cx="8624937" cy="47936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Deployment Architecture</a:t>
            </a:r>
          </a:p>
          <a:p>
            <a:pPr marL="12700" marR="5080"/>
            <a:r>
              <a:rPr lang="en-US" sz="1150" kern="0" spc="-80" dirty="0">
                <a:solidFill>
                  <a:schemeClr val="accent2"/>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endParaRPr lang="en-US" sz="1150" kern="0" spc="-80" dirty="0">
              <a:solidFill>
                <a:schemeClr val="accent6"/>
              </a:solidFill>
            </a:endParaRPr>
          </a:p>
          <a:p>
            <a:pPr marL="12700" marR="5080"/>
            <a:r>
              <a:rPr lang="en-US" sz="1150" kern="0" spc="-80" dirty="0">
                <a:solidFill>
                  <a:schemeClr val="accent2"/>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p:txBody>
      </p:sp>
    </p:spTree>
    <p:extLst>
      <p:ext uri="{BB962C8B-B14F-4D97-AF65-F5344CB8AC3E}">
        <p14:creationId xmlns:p14="http://schemas.microsoft.com/office/powerpoint/2010/main" val="26125668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92894-C36B-8F3C-ED1C-E74B5527E5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48268E-298F-5033-D901-4185C401DF9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C92897E-7F42-1346-E62D-7F7D74CD615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8D3300-B539-888D-0C78-018B7010031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EC4AD2F-7754-06D0-DD8E-C484B071DCC5}"/>
              </a:ext>
            </a:extLst>
          </p:cNvPr>
          <p:cNvSpPr txBox="1">
            <a:spLocks/>
          </p:cNvSpPr>
          <p:nvPr/>
        </p:nvSpPr>
        <p:spPr>
          <a:xfrm>
            <a:off x="228600" y="873204"/>
            <a:ext cx="8624937" cy="28469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When to Use Document-Based Workflow Architecture</a:t>
            </a:r>
          </a:p>
          <a:p>
            <a:pPr marL="12700" marR="5080"/>
            <a:r>
              <a:rPr lang="en-US" sz="1150" kern="0" spc="-80" dirty="0">
                <a:solidFill>
                  <a:schemeClr val="accent2"/>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endParaRPr lang="en-US" sz="1150" kern="0" spc="-80" dirty="0">
              <a:solidFill>
                <a:schemeClr val="accent6"/>
              </a:solidFill>
            </a:endParaRPr>
          </a:p>
          <a:p>
            <a:pPr marL="12700" marR="5080"/>
            <a:r>
              <a:rPr lang="en-US" sz="1150" kern="0" spc="-80" dirty="0">
                <a:solidFill>
                  <a:schemeClr val="accent2"/>
                </a:solidFill>
              </a:rPr>
              <a:t>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endParaRPr lang="en-US" sz="1150" kern="0" spc="-80" dirty="0">
              <a:solidFill>
                <a:schemeClr val="accent6"/>
              </a:solidFill>
            </a:endParaRPr>
          </a:p>
          <a:p>
            <a:pPr marL="12700" marR="5080"/>
            <a:endParaRPr lang="en-US" sz="1150" kern="0" spc="-80" dirty="0">
              <a:solidFill>
                <a:schemeClr val="accent6"/>
              </a:solidFill>
            </a:endParaRP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13062660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B6F7F-6107-A376-9DC2-C413CA85EF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A23D76-C8C5-E4B8-99A8-AFBB761A9FC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DFF4DE-3B15-72F3-839D-284D33966F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214DA6-8E66-7C49-1E3B-D4D9291859A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BAE3E8E-38B7-B602-10FD-AD5D94DBF4DF}"/>
              </a:ext>
            </a:extLst>
          </p:cNvPr>
          <p:cNvSpPr txBox="1">
            <a:spLocks/>
          </p:cNvSpPr>
          <p:nvPr/>
        </p:nvSpPr>
        <p:spPr>
          <a:xfrm>
            <a:off x="228600" y="873204"/>
            <a:ext cx="8624937" cy="53630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2000" kern="0" spc="-80" dirty="0">
                <a:solidFill>
                  <a:schemeClr val="accent2"/>
                </a:solidFill>
              </a:rPr>
              <a:t>High-Level Logical Architecture</a:t>
            </a:r>
          </a:p>
          <a:p>
            <a:pPr marL="12700" marR="5080"/>
            <a:r>
              <a:rPr lang="en-US" sz="1050" kern="0" spc="-80" dirty="0">
                <a:solidFill>
                  <a:schemeClr val="accent6"/>
                </a:solidFill>
              </a:rPr>
              <a:t>┌──────────────────────────────────────────────┐</a:t>
            </a:r>
          </a:p>
          <a:p>
            <a:pPr marL="12700" marR="5080"/>
            <a:r>
              <a:rPr lang="en-US" sz="1050" kern="0" spc="-80" dirty="0">
                <a:solidFill>
                  <a:schemeClr val="accent6"/>
                </a:solidFill>
              </a:rPr>
              <a:t>│                  Client Apps                 │</a:t>
            </a:r>
          </a:p>
          <a:p>
            <a:pPr marL="12700" marR="5080"/>
            <a:r>
              <a:rPr lang="en-US" sz="1050" kern="0" spc="-80" dirty="0">
                <a:solidFill>
                  <a:schemeClr val="accent6"/>
                </a:solidFill>
              </a:rPr>
              <a:t>│ (Mobile, Web, Partner Portals, POS, IoT)     │</a:t>
            </a:r>
          </a:p>
          <a:p>
            <a:pPr marL="12700" marR="5080"/>
            <a:r>
              <a:rPr lang="en-US" sz="1050" kern="0" spc="-80" dirty="0">
                <a:solidFill>
                  <a:schemeClr val="accent6"/>
                </a:solidFill>
              </a:rPr>
              <a:t>└──────────────────────────────────────────────┘</a:t>
            </a:r>
          </a:p>
          <a:p>
            <a:pPr marL="12700" marR="5080"/>
            <a:r>
              <a:rPr lang="en-US" sz="1050" kern="0" spc="-80" dirty="0">
                <a:solidFill>
                  <a:schemeClr val="accent6"/>
                </a:solidFill>
              </a:rPr>
              <a:t>                                                                      │ API Gateway</a:t>
            </a:r>
          </a:p>
          <a:p>
            <a:pPr marL="12700" marR="5080"/>
            <a:r>
              <a:rPr lang="en-US" sz="1050" kern="0" spc="-80" dirty="0">
                <a:solidFill>
                  <a:schemeClr val="accent6"/>
                </a:solidFill>
              </a:rPr>
              <a:t>                                                                      ▼</a:t>
            </a:r>
          </a:p>
          <a:p>
            <a:pPr marL="12700" marR="5080"/>
            <a:r>
              <a:rPr lang="en-US" sz="1050" kern="0" spc="-80" dirty="0">
                <a:solidFill>
                  <a:schemeClr val="accent6"/>
                </a:solidFill>
              </a:rPr>
              <a:t>┌──────────────────────────────────────────────┐</a:t>
            </a:r>
          </a:p>
          <a:p>
            <a:pPr marL="12700" marR="5080"/>
            <a:r>
              <a:rPr lang="en-US" sz="1050" kern="0" spc="-80" dirty="0">
                <a:solidFill>
                  <a:schemeClr val="accent6"/>
                </a:solidFill>
              </a:rPr>
              <a:t>│               API Aggregation Layer           │</a:t>
            </a:r>
          </a:p>
          <a:p>
            <a:pPr marL="12700" marR="5080"/>
            <a:r>
              <a:rPr lang="en-US" sz="1050" kern="0" spc="-80" dirty="0">
                <a:solidFill>
                  <a:schemeClr val="accent6"/>
                </a:solidFill>
              </a:rPr>
              <a:t>│  (BFF, Orchestration, Rate Limiting, JWT)     │</a:t>
            </a:r>
          </a:p>
          <a:p>
            <a:pPr marL="12700" marR="5080"/>
            <a:r>
              <a:rPr lang="en-US" sz="1050" kern="0" spc="-80" dirty="0">
                <a:solidFill>
                  <a:schemeClr val="accent6"/>
                </a:solidFill>
              </a:rPr>
              <a:t>└──────────────────────────────────────────────┘</a:t>
            </a:r>
          </a:p>
          <a:p>
            <a:pPr marL="12700" marR="5080"/>
            <a:r>
              <a:rPr lang="en-US" sz="1050" kern="0" spc="-80" dirty="0">
                <a:solidFill>
                  <a:schemeClr val="accent6"/>
                </a:solidFill>
              </a:rPr>
              <a:t>                                                                      │</a:t>
            </a:r>
          </a:p>
          <a:p>
            <a:pPr marL="12700" marR="5080"/>
            <a:r>
              <a:rPr lang="en-US" sz="1050" kern="0" spc="-80" dirty="0">
                <a:solidFill>
                  <a:schemeClr val="accent6"/>
                </a:solidFill>
              </a:rPr>
              <a:t>            ┌───────────────┬───────────────┐</a:t>
            </a:r>
          </a:p>
          <a:p>
            <a:pPr marL="12700" marR="5080"/>
            <a:r>
              <a:rPr lang="en-US" sz="1050" kern="0" spc="-80" dirty="0">
                <a:solidFill>
                  <a:schemeClr val="accent6"/>
                </a:solidFill>
              </a:rPr>
              <a:t>            ▼               ▼               ▼</a:t>
            </a:r>
          </a:p>
          <a:p>
            <a:pPr marL="12700" marR="5080"/>
            <a:r>
              <a:rPr lang="en-US" sz="1050" kern="0" spc="-80" dirty="0">
                <a:solidFill>
                  <a:schemeClr val="accent6"/>
                </a:solidFill>
              </a:rPr>
              <a:t>   Payments Engine    Wallet Engine      Lending Engine</a:t>
            </a:r>
          </a:p>
          <a:p>
            <a:pPr marL="12700" marR="5080"/>
            <a:r>
              <a:rPr lang="en-US" sz="1050" kern="0" spc="-80" dirty="0">
                <a:solidFill>
                  <a:schemeClr val="accent6"/>
                </a:solidFill>
              </a:rPr>
              <a:t>   Insurance Engine   Compliance Engine  Cards Engine</a:t>
            </a:r>
          </a:p>
          <a:p>
            <a:pPr marL="12700" marR="5080"/>
            <a:r>
              <a:rPr lang="en-US" sz="1050" kern="0" spc="-80" dirty="0">
                <a:solidFill>
                  <a:schemeClr val="accent6"/>
                </a:solidFill>
              </a:rPr>
              <a:t>            │               │               │</a:t>
            </a:r>
          </a:p>
          <a:p>
            <a:pPr marL="12700" marR="5080"/>
            <a:r>
              <a:rPr lang="en-US" sz="1050" kern="0" spc="-80" dirty="0">
                <a:solidFill>
                  <a:schemeClr val="accent6"/>
                </a:solidFill>
              </a:rPr>
              <a:t>            └───────────────┴───────────────┘</a:t>
            </a:r>
          </a:p>
          <a:p>
            <a:pPr marL="12700" marR="5080"/>
            <a:r>
              <a:rPr lang="en-US" sz="1050" kern="0" spc="-80" dirty="0">
                <a:solidFill>
                  <a:schemeClr val="accent6"/>
                </a:solidFill>
              </a:rPr>
              <a:t>                                                                      │</a:t>
            </a:r>
          </a:p>
          <a:p>
            <a:pPr marL="12700" marR="5080"/>
            <a:r>
              <a:rPr lang="en-US" sz="1050" kern="0" spc="-80" dirty="0">
                <a:solidFill>
                  <a:schemeClr val="accent6"/>
                </a:solidFill>
              </a:rPr>
              <a:t>┌─────────────────────────────────────────┐</a:t>
            </a:r>
          </a:p>
          <a:p>
            <a:pPr marL="12700" marR="5080"/>
            <a:r>
              <a:rPr lang="en-US" sz="1050" kern="0" spc="-80" dirty="0">
                <a:solidFill>
                  <a:schemeClr val="accent6"/>
                </a:solidFill>
              </a:rPr>
              <a:t>       │        Core Financial Services          │</a:t>
            </a:r>
          </a:p>
          <a:p>
            <a:pPr marL="12700" marR="5080"/>
            <a:r>
              <a:rPr lang="en-US" sz="1050" kern="0" spc="-80" dirty="0">
                <a:solidFill>
                  <a:schemeClr val="accent6"/>
                </a:solidFill>
              </a:rPr>
              <a:t>       │ (BaaS Banks, Payment Rails, Credit APIs)│</a:t>
            </a:r>
          </a:p>
          <a:p>
            <a:pPr marL="12700" marR="5080"/>
            <a:r>
              <a:rPr lang="en-US" sz="1050" kern="0" spc="-80" dirty="0">
                <a:solidFill>
                  <a:schemeClr val="accent6"/>
                </a:solidFill>
              </a:rPr>
              <a:t>       │   (UPI, RTGS/NEFT, ACH, Visa, NPCI)     │</a:t>
            </a:r>
          </a:p>
          <a:p>
            <a:pPr marL="12700" marR="5080"/>
            <a:r>
              <a:rPr lang="en-US" sz="1050" kern="0" spc="-80" dirty="0">
                <a:solidFill>
                  <a:schemeClr val="accent6"/>
                </a:solidFill>
              </a:rPr>
              <a:t>       └─────────────────────────────────────────┘</a:t>
            </a:r>
          </a:p>
          <a:p>
            <a:pPr marL="12700" marR="5080"/>
            <a:r>
              <a:rPr lang="en-US" sz="1050" kern="0" spc="-80" dirty="0">
                <a:solidFill>
                  <a:schemeClr val="accent6"/>
                </a:solidFill>
              </a:rPr>
              <a:t>                                                                     │</a:t>
            </a:r>
          </a:p>
          <a:p>
            <a:pPr marL="12700" marR="5080"/>
            <a:r>
              <a:rPr lang="en-US" sz="1050" kern="0" spc="-80" dirty="0">
                <a:solidFill>
                  <a:schemeClr val="accent6"/>
                </a:solidFill>
              </a:rPr>
              <a:t>                                                                     ▼</a:t>
            </a:r>
          </a:p>
          <a:p>
            <a:pPr marL="12700" marR="5080"/>
            <a:r>
              <a:rPr lang="en-US" sz="1050" kern="0" spc="-80" dirty="0">
                <a:solidFill>
                  <a:schemeClr val="accent6"/>
                </a:solidFill>
              </a:rPr>
              <a:t>       ┌─────────────────────────────────────────┐</a:t>
            </a:r>
          </a:p>
          <a:p>
            <a:pPr marL="12700" marR="5080"/>
            <a:r>
              <a:rPr lang="en-US" sz="1050" kern="0" spc="-80" dirty="0">
                <a:solidFill>
                  <a:schemeClr val="accent6"/>
                </a:solidFill>
              </a:rPr>
              <a:t>                                 │ Shared Infra: Events, Logs, Vault, KMS  │</a:t>
            </a:r>
          </a:p>
          <a:p>
            <a:pPr marL="12700" marR="5080"/>
            <a:r>
              <a:rPr lang="en-US" sz="1050" kern="0" spc="-80" dirty="0">
                <a:solidFill>
                  <a:schemeClr val="accent6"/>
                </a:solidFill>
              </a:rPr>
              <a:t>       └─────────────────────────────────────────┘</a:t>
            </a:r>
          </a:p>
          <a:p>
            <a:pPr marL="12700" marR="5080"/>
            <a:endParaRPr lang="en-US" sz="1050" kern="0" spc="-80" dirty="0">
              <a:solidFill>
                <a:schemeClr val="accent6"/>
              </a:solidFill>
            </a:endParaRPr>
          </a:p>
        </p:txBody>
      </p:sp>
    </p:spTree>
    <p:extLst>
      <p:ext uri="{BB962C8B-B14F-4D97-AF65-F5344CB8AC3E}">
        <p14:creationId xmlns:p14="http://schemas.microsoft.com/office/powerpoint/2010/main" val="16027370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749E1-72C0-B682-6355-F61A10134F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C6A944-7A16-13EE-EED4-C92004B5326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512E4F-6D7C-569F-8A5A-4C9248F17B9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16A892-32CC-0073-B32C-4B3E3147E90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CF01B48-54AB-8F31-C7C5-F4CA48128CE3}"/>
              </a:ext>
            </a:extLst>
          </p:cNvPr>
          <p:cNvSpPr txBox="1">
            <a:spLocks/>
          </p:cNvSpPr>
          <p:nvPr/>
        </p:nvSpPr>
        <p:spPr>
          <a:xfrm>
            <a:off x="228600" y="873204"/>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What is Embedded Finance?</a:t>
            </a:r>
          </a:p>
          <a:p>
            <a:pPr marL="12700" marR="5080"/>
            <a:r>
              <a:rPr lang="en-US" sz="1200" kern="0" spc="-80" dirty="0">
                <a:solidFill>
                  <a:schemeClr val="accent6"/>
                </a:solidFill>
              </a:rPr>
              <a:t>Embedded finance = integrating financial services directly inside non-financial apps, platforms, and products—so users get financial functionality without going to a bank.</a:t>
            </a:r>
          </a:p>
          <a:p>
            <a:pPr marL="12700" marR="5080"/>
            <a:r>
              <a:rPr lang="en-US" sz="1200" kern="0" spc="-80" dirty="0">
                <a:solidFill>
                  <a:schemeClr val="accent2"/>
                </a:solidFill>
              </a:rPr>
              <a:t>Examples:</a:t>
            </a:r>
          </a:p>
          <a:p>
            <a:pPr marL="12700" marR="5080"/>
            <a:r>
              <a:rPr lang="en-US" sz="1200" kern="0" spc="-80" dirty="0">
                <a:solidFill>
                  <a:schemeClr val="accent6"/>
                </a:solidFill>
              </a:rPr>
              <a:t>Uber → driver wallets + instant payouts</a:t>
            </a:r>
          </a:p>
          <a:p>
            <a:pPr marL="12700" marR="5080"/>
            <a:r>
              <a:rPr lang="en-US" sz="1200" kern="0" spc="-80" dirty="0">
                <a:solidFill>
                  <a:schemeClr val="accent6"/>
                </a:solidFill>
              </a:rPr>
              <a:t>Amazon → pay-later, EMI, insurance during checkout</a:t>
            </a:r>
          </a:p>
          <a:p>
            <a:pPr marL="12700" marR="5080"/>
            <a:r>
              <a:rPr lang="en-US" sz="1200" kern="0" spc="-80" dirty="0" err="1">
                <a:solidFill>
                  <a:schemeClr val="accent6"/>
                </a:solidFill>
              </a:rPr>
              <a:t>Dunzo</a:t>
            </a:r>
            <a:r>
              <a:rPr lang="en-US" sz="1200" kern="0" spc="-80" dirty="0">
                <a:solidFill>
                  <a:schemeClr val="accent6"/>
                </a:solidFill>
              </a:rPr>
              <a:t>/Swiggy/Zomato → delivery partner cards + payouts</a:t>
            </a:r>
          </a:p>
          <a:p>
            <a:pPr marL="12700" marR="5080"/>
            <a:r>
              <a:rPr lang="en-US" sz="1200" kern="0" spc="-80" dirty="0">
                <a:solidFill>
                  <a:schemeClr val="accent6"/>
                </a:solidFill>
              </a:rPr>
              <a:t>Shopify → merchant banking, loans</a:t>
            </a:r>
          </a:p>
          <a:p>
            <a:pPr marL="12700" marR="5080"/>
            <a:r>
              <a:rPr lang="en-US" sz="1200" kern="0" spc="-80" dirty="0">
                <a:solidFill>
                  <a:schemeClr val="accent6"/>
                </a:solidFill>
              </a:rPr>
              <a:t>Ola Money → wallet + credit</a:t>
            </a:r>
          </a:p>
          <a:p>
            <a:pPr marL="12700" marR="5080"/>
            <a:r>
              <a:rPr lang="en-US" sz="1200" kern="0" spc="-80" dirty="0">
                <a:solidFill>
                  <a:schemeClr val="accent6"/>
                </a:solidFill>
              </a:rPr>
              <a:t>Apple Pay / Google Pay → embedded payments</a:t>
            </a:r>
          </a:p>
          <a:p>
            <a:pPr marL="12700" marR="5080"/>
            <a:r>
              <a:rPr lang="en-US" sz="1200" kern="0" spc="-80" dirty="0">
                <a:solidFill>
                  <a:schemeClr val="accent6"/>
                </a:solidFill>
              </a:rPr>
              <a:t>Flipkart → product insurance + Buy Now Pay Later</a:t>
            </a:r>
          </a:p>
          <a:p>
            <a:pPr marL="12700" marR="5080"/>
            <a:endParaRPr lang="en-US" sz="1200" kern="0" spc="-80" dirty="0">
              <a:solidFill>
                <a:schemeClr val="accent6"/>
              </a:solidFill>
            </a:endParaRPr>
          </a:p>
          <a:p>
            <a:pPr marL="12700" marR="5080"/>
            <a:r>
              <a:rPr lang="en-US" sz="1200" kern="0" spc="-80" dirty="0">
                <a:solidFill>
                  <a:schemeClr val="accent2"/>
                </a:solidFill>
              </a:rPr>
              <a:t>⭐ Key Modules of Embedded Finance</a:t>
            </a:r>
          </a:p>
          <a:p>
            <a:pPr marL="12700" marR="5080"/>
            <a:r>
              <a:rPr lang="en-US" sz="1200" kern="0" spc="-80" dirty="0">
                <a:solidFill>
                  <a:schemeClr val="accent2"/>
                </a:solidFill>
              </a:rPr>
              <a:t>Embedded finance typically includes:</a:t>
            </a:r>
          </a:p>
          <a:p>
            <a:pPr marL="12700" marR="5080"/>
            <a:r>
              <a:rPr lang="en-US" sz="1200" kern="0" spc="-80" dirty="0">
                <a:solidFill>
                  <a:schemeClr val="accent6"/>
                </a:solidFill>
              </a:rPr>
              <a:t>Embedded Payments</a:t>
            </a:r>
          </a:p>
          <a:p>
            <a:pPr marL="12700" marR="5080"/>
            <a:r>
              <a:rPr lang="en-US" sz="1200" kern="0" spc="-80" dirty="0">
                <a:solidFill>
                  <a:schemeClr val="accent6"/>
                </a:solidFill>
              </a:rPr>
              <a:t>Embedded Lending (BNPL, micro-loans, EMI)</a:t>
            </a:r>
          </a:p>
          <a:p>
            <a:pPr marL="12700" marR="5080"/>
            <a:r>
              <a:rPr lang="en-US" sz="1200" kern="0" spc="-80" dirty="0">
                <a:solidFill>
                  <a:schemeClr val="accent6"/>
                </a:solidFill>
              </a:rPr>
              <a:t>Embedded Insurance</a:t>
            </a:r>
          </a:p>
          <a:p>
            <a:pPr marL="12700" marR="5080"/>
            <a:r>
              <a:rPr lang="en-US" sz="1200" kern="0" spc="-80" dirty="0">
                <a:solidFill>
                  <a:schemeClr val="accent6"/>
                </a:solidFill>
              </a:rPr>
              <a:t>Embedded Banking (wallets, accounts, cards)</a:t>
            </a:r>
          </a:p>
          <a:p>
            <a:pPr marL="12700" marR="5080"/>
            <a:r>
              <a:rPr lang="en-US" sz="1200" kern="0" spc="-80" dirty="0">
                <a:solidFill>
                  <a:schemeClr val="accent6"/>
                </a:solidFill>
              </a:rPr>
              <a:t>Embedded Investments (mutual funds, stocks)</a:t>
            </a:r>
          </a:p>
          <a:p>
            <a:pPr marL="12700" marR="5080"/>
            <a:r>
              <a:rPr lang="en-US" sz="1200" kern="0" spc="-80" dirty="0">
                <a:solidFill>
                  <a:schemeClr val="accent6"/>
                </a:solidFill>
              </a:rPr>
              <a:t>Embedded Payroll (instant payouts)</a:t>
            </a:r>
          </a:p>
          <a:p>
            <a:pPr marL="12700" marR="5080"/>
            <a:r>
              <a:rPr lang="en-US" sz="1200" kern="0" spc="-80" dirty="0">
                <a:solidFill>
                  <a:schemeClr val="accent6"/>
                </a:solidFill>
              </a:rPr>
              <a:t>Each uses APIs + background services + compliance layers.</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2648686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83829-AAD2-4F61-3E8C-FE2C81BEBE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35DEAD-8F84-4512-6C09-1B6ED1BA94B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025960-5F2E-2656-44F9-644D2B4D5FF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F14D32-6BDD-E9C0-EED3-6D70265D976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5B1305B-0103-C8BF-DB12-A00BBCC534A7}"/>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1. Embedded Payments</a:t>
            </a:r>
          </a:p>
          <a:p>
            <a:pPr marL="12700" marR="5080"/>
            <a:r>
              <a:rPr lang="en-US" sz="1200" kern="0" spc="-80" dirty="0">
                <a:solidFill>
                  <a:schemeClr val="accent6"/>
                </a:solidFill>
              </a:rPr>
              <a:t>Enables frictionless transactions inside the host app.</a:t>
            </a:r>
          </a:p>
          <a:p>
            <a:pPr marL="12700" marR="5080"/>
            <a:r>
              <a:rPr lang="en-US" sz="1200" kern="0" spc="-80" dirty="0">
                <a:solidFill>
                  <a:schemeClr val="accent2"/>
                </a:solidFill>
              </a:rPr>
              <a:t>🔹 Examples:</a:t>
            </a:r>
          </a:p>
          <a:p>
            <a:pPr marL="12700" marR="5080"/>
            <a:r>
              <a:rPr lang="en-US" sz="1200" kern="0" spc="-80" dirty="0">
                <a:solidFill>
                  <a:schemeClr val="accent6"/>
                </a:solidFill>
              </a:rPr>
              <a:t>UPI autopay (India)</a:t>
            </a:r>
          </a:p>
          <a:p>
            <a:pPr marL="12700" marR="5080"/>
            <a:r>
              <a:rPr lang="en-US" sz="1200" kern="0" spc="-80" dirty="0">
                <a:solidFill>
                  <a:schemeClr val="accent6"/>
                </a:solidFill>
              </a:rPr>
              <a:t>Card vaulting (Stripe)</a:t>
            </a:r>
          </a:p>
          <a:p>
            <a:pPr marL="12700" marR="5080"/>
            <a:r>
              <a:rPr lang="en-US" sz="1200" kern="0" spc="-80" dirty="0">
                <a:solidFill>
                  <a:schemeClr val="accent6"/>
                </a:solidFill>
              </a:rPr>
              <a:t>Subscription management</a:t>
            </a:r>
          </a:p>
          <a:p>
            <a:pPr marL="12700" marR="5080"/>
            <a:r>
              <a:rPr lang="en-US" sz="1200" kern="0" spc="-80" dirty="0">
                <a:solidFill>
                  <a:schemeClr val="accent6"/>
                </a:solidFill>
              </a:rPr>
              <a:t>Payouts to vendors/drivers</a:t>
            </a:r>
          </a:p>
          <a:p>
            <a:pPr marL="12700" marR="5080"/>
            <a:r>
              <a:rPr lang="en-US" sz="1200" kern="0" spc="-80" dirty="0">
                <a:solidFill>
                  <a:schemeClr val="accent2"/>
                </a:solidFill>
              </a:rPr>
              <a:t>🔹 API Architecture:</a:t>
            </a:r>
          </a:p>
          <a:p>
            <a:pPr marL="12700" marR="5080"/>
            <a:r>
              <a:rPr lang="en-US" sz="1200" kern="0" spc="-80" dirty="0">
                <a:solidFill>
                  <a:schemeClr val="accent6"/>
                </a:solidFill>
              </a:rPr>
              <a:t>Tokenization API</a:t>
            </a:r>
          </a:p>
          <a:p>
            <a:pPr marL="12700" marR="5080"/>
            <a:r>
              <a:rPr lang="en-US" sz="1200" kern="0" spc="-80" dirty="0">
                <a:solidFill>
                  <a:schemeClr val="accent6"/>
                </a:solidFill>
              </a:rPr>
              <a:t>Payment intent API</a:t>
            </a:r>
          </a:p>
          <a:p>
            <a:pPr marL="12700" marR="5080"/>
            <a:r>
              <a:rPr lang="en-US" sz="1200" kern="0" spc="-80" dirty="0">
                <a:solidFill>
                  <a:schemeClr val="accent6"/>
                </a:solidFill>
              </a:rPr>
              <a:t>Refund API</a:t>
            </a:r>
          </a:p>
          <a:p>
            <a:pPr marL="12700" marR="5080"/>
            <a:r>
              <a:rPr lang="en-US" sz="1200" kern="0" spc="-80" dirty="0">
                <a:solidFill>
                  <a:schemeClr val="accent6"/>
                </a:solidFill>
              </a:rPr>
              <a:t>Webhooks for payment status</a:t>
            </a:r>
          </a:p>
          <a:p>
            <a:pPr marL="12700" marR="5080"/>
            <a:r>
              <a:rPr lang="en-US" sz="1200" kern="0" spc="-80" dirty="0">
                <a:solidFill>
                  <a:schemeClr val="accent6"/>
                </a:solidFill>
              </a:rPr>
              <a:t>Settlement background jobs</a:t>
            </a:r>
          </a:p>
          <a:p>
            <a:pPr marL="12700" marR="5080"/>
            <a:r>
              <a:rPr lang="en-US" sz="1200" kern="0" spc="-80" dirty="0">
                <a:solidFill>
                  <a:schemeClr val="accent2"/>
                </a:solidFill>
              </a:rPr>
              <a:t>🔹 Background Services:</a:t>
            </a:r>
          </a:p>
          <a:p>
            <a:pPr marL="12700" marR="5080"/>
            <a:r>
              <a:rPr lang="en-US" sz="1200" kern="0" spc="-80" dirty="0">
                <a:solidFill>
                  <a:schemeClr val="accent6"/>
                </a:solidFill>
              </a:rPr>
              <a:t>Reconciliation worker</a:t>
            </a:r>
          </a:p>
          <a:p>
            <a:pPr marL="12700" marR="5080"/>
            <a:r>
              <a:rPr lang="en-US" sz="1200" kern="0" spc="-80" dirty="0">
                <a:solidFill>
                  <a:schemeClr val="accent6"/>
                </a:solidFill>
              </a:rPr>
              <a:t>Fraud detection ML job</a:t>
            </a:r>
          </a:p>
          <a:p>
            <a:pPr marL="12700" marR="5080"/>
            <a:r>
              <a:rPr lang="en-US" sz="1200" kern="0" spc="-80" dirty="0">
                <a:solidFill>
                  <a:schemeClr val="accent6"/>
                </a:solidFill>
              </a:rPr>
              <a:t>Chargeback workflow engine</a:t>
            </a:r>
          </a:p>
          <a:p>
            <a:pPr marL="12700" marR="5080"/>
            <a:r>
              <a:rPr lang="en-US" sz="1200" kern="0" spc="-80" dirty="0">
                <a:solidFill>
                  <a:schemeClr val="accent2"/>
                </a:solidFill>
              </a:rPr>
              <a:t>🔹 Best Providers:</a:t>
            </a:r>
          </a:p>
          <a:p>
            <a:pPr marL="12700" marR="5080"/>
            <a:r>
              <a:rPr lang="en-US" sz="1200" kern="0" spc="-80" dirty="0">
                <a:solidFill>
                  <a:schemeClr val="accent6"/>
                </a:solidFill>
              </a:rPr>
              <a:t>Stripe, </a:t>
            </a:r>
            <a:r>
              <a:rPr lang="en-US" sz="1200" kern="0" spc="-80" dirty="0" err="1">
                <a:solidFill>
                  <a:schemeClr val="accent6"/>
                </a:solidFill>
              </a:rPr>
              <a:t>Razorpay</a:t>
            </a:r>
            <a:r>
              <a:rPr lang="en-US" sz="1200" kern="0" spc="-80" dirty="0">
                <a:solidFill>
                  <a:schemeClr val="accent6"/>
                </a:solidFill>
              </a:rPr>
              <a:t>, </a:t>
            </a:r>
            <a:r>
              <a:rPr lang="en-US" sz="1200" kern="0" spc="-80" dirty="0" err="1">
                <a:solidFill>
                  <a:schemeClr val="accent6"/>
                </a:solidFill>
              </a:rPr>
              <a:t>Cashfree</a:t>
            </a:r>
            <a:r>
              <a:rPr lang="en-US" sz="1200" kern="0" spc="-80" dirty="0">
                <a:solidFill>
                  <a:schemeClr val="accent6"/>
                </a:solidFill>
              </a:rPr>
              <a:t>, Adyen, Braintree, PayPal</a:t>
            </a:r>
          </a:p>
          <a:p>
            <a:pPr marL="12700" marR="5080"/>
            <a:endParaRPr lang="en-US" sz="1200" kern="0" spc="-80" dirty="0">
              <a:solidFill>
                <a:schemeClr val="accent6"/>
              </a:solidFill>
            </a:endParaRPr>
          </a:p>
          <a:p>
            <a:pPr marL="12700" marR="5080"/>
            <a:r>
              <a:rPr lang="en-US" sz="1200" kern="0" spc="-80" dirty="0">
                <a:solidFill>
                  <a:schemeClr val="accent2"/>
                </a:solidFill>
              </a:rPr>
              <a:t>🆘 2. Embedded Lending (BNPL)</a:t>
            </a:r>
          </a:p>
          <a:p>
            <a:pPr marL="12700" marR="5080"/>
            <a:r>
              <a:rPr lang="en-US" sz="1200" kern="0" spc="-80" dirty="0">
                <a:solidFill>
                  <a:schemeClr val="accent6"/>
                </a:solidFill>
              </a:rPr>
              <a:t>The fastest-growing part of embedded finance.</a:t>
            </a:r>
          </a:p>
          <a:p>
            <a:pPr marL="12700" marR="5080"/>
            <a:r>
              <a:rPr lang="en-US" sz="1200" kern="0" spc="-80" dirty="0">
                <a:solidFill>
                  <a:schemeClr val="accent2"/>
                </a:solidFill>
              </a:rPr>
              <a:t>🔹 Examples:</a:t>
            </a:r>
          </a:p>
          <a:p>
            <a:pPr marL="12700" marR="5080"/>
            <a:r>
              <a:rPr lang="en-US" sz="1200" kern="0" spc="-80" dirty="0">
                <a:solidFill>
                  <a:schemeClr val="accent6"/>
                </a:solidFill>
              </a:rPr>
              <a:t>Amazon Pay Later</a:t>
            </a:r>
          </a:p>
          <a:p>
            <a:pPr marL="12700" marR="5080"/>
            <a:r>
              <a:rPr lang="en-US" sz="1200" kern="0" spc="-80" dirty="0">
                <a:solidFill>
                  <a:schemeClr val="accent6"/>
                </a:solidFill>
              </a:rPr>
              <a:t>Ola Postpaid</a:t>
            </a:r>
          </a:p>
          <a:p>
            <a:pPr marL="12700" marR="5080"/>
            <a:r>
              <a:rPr lang="en-US" sz="1200" kern="0" spc="-80" dirty="0">
                <a:solidFill>
                  <a:schemeClr val="accent6"/>
                </a:solidFill>
              </a:rPr>
              <a:t>Flipkart Pay Later</a:t>
            </a:r>
          </a:p>
        </p:txBody>
      </p:sp>
    </p:spTree>
    <p:extLst>
      <p:ext uri="{BB962C8B-B14F-4D97-AF65-F5344CB8AC3E}">
        <p14:creationId xmlns:p14="http://schemas.microsoft.com/office/powerpoint/2010/main" val="114392143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A5E2-4A4B-AA70-7FB5-CE20678119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9B32C6B-28B6-1097-E20A-E7C2F6B425B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AB13930-311D-140F-3E82-093B4A9C9A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932838-9326-3B2C-8581-CCF5C01B3D9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76B6C-9446-A5B8-532F-D67268A79F7B}"/>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2. Embedded Lending (BNPL)</a:t>
            </a:r>
          </a:p>
          <a:p>
            <a:pPr marL="12700" marR="5080"/>
            <a:r>
              <a:rPr lang="en-US" sz="1200" kern="0" spc="-80" dirty="0">
                <a:solidFill>
                  <a:schemeClr val="accent2"/>
                </a:solidFill>
              </a:rPr>
              <a:t>🔹 Examples:</a:t>
            </a:r>
          </a:p>
          <a:p>
            <a:pPr marL="12700" marR="5080"/>
            <a:r>
              <a:rPr lang="en-US" sz="1200" kern="0" spc="-80" dirty="0">
                <a:solidFill>
                  <a:schemeClr val="accent6"/>
                </a:solidFill>
              </a:rPr>
              <a:t>Laptop EMI options</a:t>
            </a:r>
          </a:p>
          <a:p>
            <a:pPr marL="12700" marR="5080"/>
            <a:r>
              <a:rPr lang="en-US" sz="1200" kern="0" spc="-80" dirty="0">
                <a:solidFill>
                  <a:schemeClr val="accent2"/>
                </a:solidFill>
              </a:rPr>
              <a:t>🔹 API Workflow:</a:t>
            </a:r>
          </a:p>
          <a:p>
            <a:pPr marL="12700" marR="5080"/>
            <a:r>
              <a:rPr lang="en-US" sz="1200" kern="0" spc="-80" dirty="0">
                <a:solidFill>
                  <a:schemeClr val="accent6"/>
                </a:solidFill>
              </a:rPr>
              <a:t>Eligibility API</a:t>
            </a:r>
          </a:p>
          <a:p>
            <a:pPr marL="12700" marR="5080"/>
            <a:r>
              <a:rPr lang="en-US" sz="1200" kern="0" spc="-80" dirty="0">
                <a:solidFill>
                  <a:schemeClr val="accent6"/>
                </a:solidFill>
              </a:rPr>
              <a:t>KYC API</a:t>
            </a:r>
          </a:p>
          <a:p>
            <a:pPr marL="12700" marR="5080"/>
            <a:r>
              <a:rPr lang="en-US" sz="1200" kern="0" spc="-80" dirty="0">
                <a:solidFill>
                  <a:schemeClr val="accent6"/>
                </a:solidFill>
              </a:rPr>
              <a:t>Credit Bureau Pull</a:t>
            </a:r>
          </a:p>
          <a:p>
            <a:pPr marL="12700" marR="5080"/>
            <a:r>
              <a:rPr lang="en-US" sz="1200" kern="0" spc="-80" dirty="0">
                <a:solidFill>
                  <a:schemeClr val="accent6"/>
                </a:solidFill>
              </a:rPr>
              <a:t>Risk Scoring Engine</a:t>
            </a:r>
          </a:p>
          <a:p>
            <a:pPr marL="12700" marR="5080"/>
            <a:r>
              <a:rPr lang="en-US" sz="1200" kern="0" spc="-80" dirty="0">
                <a:solidFill>
                  <a:schemeClr val="accent6"/>
                </a:solidFill>
              </a:rPr>
              <a:t>Loan Creation API</a:t>
            </a:r>
          </a:p>
          <a:p>
            <a:pPr marL="12700" marR="5080"/>
            <a:r>
              <a:rPr lang="en-US" sz="1200" kern="0" spc="-80" dirty="0">
                <a:solidFill>
                  <a:schemeClr val="accent6"/>
                </a:solidFill>
              </a:rPr>
              <a:t>Repayment APIs</a:t>
            </a:r>
          </a:p>
          <a:p>
            <a:pPr marL="12700" marR="5080"/>
            <a:r>
              <a:rPr lang="en-US" sz="1200" kern="0" spc="-80" dirty="0">
                <a:solidFill>
                  <a:schemeClr val="accent6"/>
                </a:solidFill>
              </a:rPr>
              <a:t>NACH / </a:t>
            </a:r>
            <a:r>
              <a:rPr lang="en-US" sz="1200" kern="0" spc="-80" dirty="0" err="1">
                <a:solidFill>
                  <a:schemeClr val="accent6"/>
                </a:solidFill>
              </a:rPr>
              <a:t>Autodebit</a:t>
            </a:r>
            <a:r>
              <a:rPr lang="en-US" sz="1200" kern="0" spc="-80" dirty="0">
                <a:solidFill>
                  <a:schemeClr val="accent6"/>
                </a:solidFill>
              </a:rPr>
              <a:t> setup</a:t>
            </a:r>
          </a:p>
          <a:p>
            <a:pPr marL="12700" marR="5080"/>
            <a:r>
              <a:rPr lang="en-US" sz="1200" kern="0" spc="-80" dirty="0">
                <a:solidFill>
                  <a:schemeClr val="accent2"/>
                </a:solidFill>
              </a:rPr>
              <a:t>🔹 Background Services:</a:t>
            </a:r>
          </a:p>
          <a:p>
            <a:pPr marL="12700" marR="5080"/>
            <a:r>
              <a:rPr lang="en-US" sz="1200" kern="0" spc="-80" dirty="0">
                <a:solidFill>
                  <a:schemeClr val="accent6"/>
                </a:solidFill>
              </a:rPr>
              <a:t>Credit scoring engine</a:t>
            </a:r>
          </a:p>
          <a:p>
            <a:pPr marL="12700" marR="5080"/>
            <a:r>
              <a:rPr lang="en-US" sz="1200" kern="0" spc="-80" dirty="0">
                <a:solidFill>
                  <a:schemeClr val="accent6"/>
                </a:solidFill>
              </a:rPr>
              <a:t>EMI scheduler</a:t>
            </a:r>
          </a:p>
          <a:p>
            <a:pPr marL="12700" marR="5080"/>
            <a:r>
              <a:rPr lang="en-US" sz="1200" kern="0" spc="-80" dirty="0">
                <a:solidFill>
                  <a:schemeClr val="accent6"/>
                </a:solidFill>
              </a:rPr>
              <a:t>Default monitoring worker</a:t>
            </a:r>
          </a:p>
          <a:p>
            <a:pPr marL="12700" marR="5080"/>
            <a:r>
              <a:rPr lang="en-US" sz="1200" kern="0" spc="-80" dirty="0">
                <a:solidFill>
                  <a:schemeClr val="accent6"/>
                </a:solidFill>
              </a:rPr>
              <a:t>Collections workflow automation</a:t>
            </a:r>
          </a:p>
          <a:p>
            <a:pPr marL="12700" marR="5080"/>
            <a:r>
              <a:rPr lang="en-US" sz="1200" kern="0" spc="-80" dirty="0">
                <a:solidFill>
                  <a:schemeClr val="accent2"/>
                </a:solidFill>
              </a:rPr>
              <a:t>🔹 Providers:</a:t>
            </a:r>
          </a:p>
          <a:p>
            <a:pPr marL="12700" marR="5080"/>
            <a:r>
              <a:rPr lang="en-US" sz="1200" kern="0" spc="-80" dirty="0" err="1">
                <a:solidFill>
                  <a:schemeClr val="accent6"/>
                </a:solidFill>
              </a:rPr>
              <a:t>ZestMoney</a:t>
            </a:r>
            <a:r>
              <a:rPr lang="en-US" sz="1200" kern="0" spc="-80" dirty="0">
                <a:solidFill>
                  <a:schemeClr val="accent6"/>
                </a:solidFill>
              </a:rPr>
              <a:t>, </a:t>
            </a:r>
            <a:r>
              <a:rPr lang="en-US" sz="1200" kern="0" spc="-80" dirty="0" err="1">
                <a:solidFill>
                  <a:schemeClr val="accent6"/>
                </a:solidFill>
              </a:rPr>
              <a:t>Simpl</a:t>
            </a:r>
            <a:r>
              <a:rPr lang="en-US" sz="1200" kern="0" spc="-80" dirty="0">
                <a:solidFill>
                  <a:schemeClr val="accent6"/>
                </a:solidFill>
              </a:rPr>
              <a:t>, </a:t>
            </a:r>
            <a:r>
              <a:rPr lang="en-US" sz="1200" kern="0" spc="-80" dirty="0" err="1">
                <a:solidFill>
                  <a:schemeClr val="accent6"/>
                </a:solidFill>
              </a:rPr>
              <a:t>LazyPay</a:t>
            </a:r>
            <a:r>
              <a:rPr lang="en-US" sz="1200" kern="0" spc="-80" dirty="0">
                <a:solidFill>
                  <a:schemeClr val="accent6"/>
                </a:solidFill>
              </a:rPr>
              <a:t>, Slice</a:t>
            </a:r>
          </a:p>
          <a:p>
            <a:pPr marL="12700" marR="5080"/>
            <a:r>
              <a:rPr lang="en-US" sz="1200" kern="0" spc="-80" dirty="0">
                <a:solidFill>
                  <a:schemeClr val="accent6"/>
                </a:solidFill>
              </a:rPr>
              <a:t>Banking partners: ICICI, HDFC, Axis</a:t>
            </a:r>
          </a:p>
          <a:p>
            <a:pPr marL="12700" marR="5080"/>
            <a:endParaRPr lang="en-US" sz="1200" kern="0" spc="-80" dirty="0">
              <a:solidFill>
                <a:schemeClr val="accent6"/>
              </a:solidFill>
            </a:endParaRPr>
          </a:p>
          <a:p>
            <a:pPr marL="12700" marR="5080"/>
            <a:r>
              <a:rPr lang="en-US" sz="1200" kern="0" spc="-80" dirty="0">
                <a:solidFill>
                  <a:schemeClr val="accent2"/>
                </a:solidFill>
              </a:rPr>
              <a:t>🛡️ 3. Embedded Insurance</a:t>
            </a:r>
          </a:p>
          <a:p>
            <a:pPr marL="12700" marR="5080"/>
            <a:r>
              <a:rPr lang="en-US" sz="1200" kern="0" spc="-80" dirty="0">
                <a:solidFill>
                  <a:schemeClr val="accent6"/>
                </a:solidFill>
              </a:rPr>
              <a:t>Insurance offered at checkout or inside apps.</a:t>
            </a:r>
          </a:p>
          <a:p>
            <a:pPr marL="12700" marR="5080"/>
            <a:r>
              <a:rPr lang="en-US" sz="1200" kern="0" spc="-80" dirty="0">
                <a:solidFill>
                  <a:schemeClr val="accent2"/>
                </a:solidFill>
              </a:rPr>
              <a:t>🔹 Examples:</a:t>
            </a:r>
          </a:p>
          <a:p>
            <a:pPr marL="12700" marR="5080"/>
            <a:r>
              <a:rPr lang="en-US" sz="1200" kern="0" spc="-80" dirty="0">
                <a:solidFill>
                  <a:schemeClr val="accent6"/>
                </a:solidFill>
              </a:rPr>
              <a:t>Phone insurance on Amazon</a:t>
            </a:r>
          </a:p>
          <a:p>
            <a:pPr marL="12700" marR="5080"/>
            <a:r>
              <a:rPr lang="en-US" sz="1200" kern="0" spc="-80" dirty="0">
                <a:solidFill>
                  <a:schemeClr val="accent6"/>
                </a:solidFill>
              </a:rPr>
              <a:t>Trip cancellation insurance</a:t>
            </a:r>
          </a:p>
          <a:p>
            <a:pPr marL="12700" marR="5080"/>
            <a:r>
              <a:rPr lang="en-US" sz="1200" kern="0" spc="-80" dirty="0">
                <a:solidFill>
                  <a:schemeClr val="accent6"/>
                </a:solidFill>
              </a:rPr>
              <a:t>Swiggy/</a:t>
            </a:r>
            <a:r>
              <a:rPr lang="en-US" sz="1200" kern="0" spc="-80" dirty="0" err="1">
                <a:solidFill>
                  <a:schemeClr val="accent6"/>
                </a:solidFill>
              </a:rPr>
              <a:t>BigBasket</a:t>
            </a:r>
            <a:r>
              <a:rPr lang="en-US" sz="1200" kern="0" spc="-80" dirty="0">
                <a:solidFill>
                  <a:schemeClr val="accent6"/>
                </a:solidFill>
              </a:rPr>
              <a:t> order insurance</a:t>
            </a:r>
          </a:p>
        </p:txBody>
      </p:sp>
    </p:spTree>
    <p:extLst>
      <p:ext uri="{BB962C8B-B14F-4D97-AF65-F5344CB8AC3E}">
        <p14:creationId xmlns:p14="http://schemas.microsoft.com/office/powerpoint/2010/main" val="127778087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A285B-D242-1965-D4F1-7EA7C8FE61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278629-2F1A-955D-39A4-950519EAD8B0}"/>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ABD8C4-647F-5F97-8780-7886061D372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6334468-C1AF-F455-52FF-D06F0ED34F5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9FD4E9-7274-8DD3-B9B7-160896AB3505}"/>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3. Embedded Insurance</a:t>
            </a:r>
          </a:p>
          <a:p>
            <a:pPr marL="12700" marR="5080"/>
            <a:r>
              <a:rPr lang="en-US" sz="1200" kern="0" spc="-80" dirty="0">
                <a:solidFill>
                  <a:schemeClr val="accent2"/>
                </a:solidFill>
              </a:rPr>
              <a:t>🔹 API Flow:</a:t>
            </a:r>
          </a:p>
          <a:p>
            <a:pPr marL="12700" marR="5080"/>
            <a:r>
              <a:rPr lang="en-US" sz="1200" kern="0" spc="-80" dirty="0">
                <a:solidFill>
                  <a:schemeClr val="accent6"/>
                </a:solidFill>
              </a:rPr>
              <a:t>Eligibility + Quote API</a:t>
            </a:r>
          </a:p>
          <a:p>
            <a:pPr marL="12700" marR="5080"/>
            <a:r>
              <a:rPr lang="en-US" sz="1200" kern="0" spc="-80" dirty="0">
                <a:solidFill>
                  <a:schemeClr val="accent6"/>
                </a:solidFill>
              </a:rPr>
              <a:t>Premium calculation API</a:t>
            </a:r>
          </a:p>
          <a:p>
            <a:pPr marL="12700" marR="5080"/>
            <a:r>
              <a:rPr lang="en-US" sz="1200" kern="0" spc="-80" dirty="0">
                <a:solidFill>
                  <a:schemeClr val="accent6"/>
                </a:solidFill>
              </a:rPr>
              <a:t>Underwriting engine</a:t>
            </a:r>
          </a:p>
          <a:p>
            <a:pPr marL="12700" marR="5080"/>
            <a:r>
              <a:rPr lang="en-US" sz="1200" kern="0" spc="-80" dirty="0">
                <a:solidFill>
                  <a:schemeClr val="accent6"/>
                </a:solidFill>
              </a:rPr>
              <a:t>Policy issuance API</a:t>
            </a:r>
          </a:p>
          <a:p>
            <a:pPr marL="12700" marR="5080"/>
            <a:r>
              <a:rPr lang="en-US" sz="1200" kern="0" spc="-80" dirty="0">
                <a:solidFill>
                  <a:schemeClr val="accent6"/>
                </a:solidFill>
              </a:rPr>
              <a:t>Claims APIs</a:t>
            </a:r>
          </a:p>
          <a:p>
            <a:pPr marL="12700" marR="5080"/>
            <a:r>
              <a:rPr lang="en-US" sz="1200" kern="0" spc="-80" dirty="0">
                <a:solidFill>
                  <a:schemeClr val="accent2"/>
                </a:solidFill>
              </a:rPr>
              <a:t>🔹 Background Services:</a:t>
            </a:r>
          </a:p>
          <a:p>
            <a:pPr marL="12700" marR="5080"/>
            <a:r>
              <a:rPr lang="en-US" sz="1200" kern="0" spc="-80" dirty="0">
                <a:solidFill>
                  <a:schemeClr val="accent6"/>
                </a:solidFill>
              </a:rPr>
              <a:t>Risk scoring job</a:t>
            </a:r>
          </a:p>
          <a:p>
            <a:pPr marL="12700" marR="5080"/>
            <a:r>
              <a:rPr lang="en-US" sz="1200" kern="0" spc="-80" dirty="0">
                <a:solidFill>
                  <a:schemeClr val="accent6"/>
                </a:solidFill>
              </a:rPr>
              <a:t>Claims adjudication pipeline</a:t>
            </a:r>
          </a:p>
          <a:p>
            <a:pPr marL="12700" marR="5080"/>
            <a:r>
              <a:rPr lang="en-US" sz="1200" kern="0" spc="-80" dirty="0">
                <a:solidFill>
                  <a:schemeClr val="accent6"/>
                </a:solidFill>
              </a:rPr>
              <a:t>Rule engine + document verification</a:t>
            </a:r>
          </a:p>
          <a:p>
            <a:pPr marL="12700" marR="5080"/>
            <a:r>
              <a:rPr lang="en-US" sz="1200" kern="0" spc="-80" dirty="0">
                <a:solidFill>
                  <a:schemeClr val="accent2"/>
                </a:solidFill>
              </a:rPr>
              <a:t>🔹 Providers:</a:t>
            </a:r>
          </a:p>
          <a:p>
            <a:pPr marL="12700" marR="5080"/>
            <a:r>
              <a:rPr lang="en-US" sz="1200" kern="0" spc="-80" dirty="0" err="1">
                <a:solidFill>
                  <a:schemeClr val="accent6"/>
                </a:solidFill>
              </a:rPr>
              <a:t>Acko</a:t>
            </a:r>
            <a:r>
              <a:rPr lang="en-US" sz="1200" kern="0" spc="-80" dirty="0">
                <a:solidFill>
                  <a:schemeClr val="accent6"/>
                </a:solidFill>
              </a:rPr>
              <a:t>, Digit, ICICI Lombard, </a:t>
            </a:r>
            <a:r>
              <a:rPr lang="en-US" sz="1200" kern="0" spc="-80" dirty="0" err="1">
                <a:solidFill>
                  <a:schemeClr val="accent6"/>
                </a:solidFill>
              </a:rPr>
              <a:t>PolicyBazaar</a:t>
            </a:r>
            <a:r>
              <a:rPr lang="en-US" sz="1200" kern="0" spc="-80" dirty="0">
                <a:solidFill>
                  <a:schemeClr val="accent6"/>
                </a:solidFill>
              </a:rPr>
              <a:t> APIs</a:t>
            </a:r>
          </a:p>
          <a:p>
            <a:pPr marL="12700" marR="5080"/>
            <a:endParaRPr lang="en-US" sz="1200" kern="0" spc="-80" dirty="0">
              <a:solidFill>
                <a:schemeClr val="accent6"/>
              </a:solidFill>
            </a:endParaRPr>
          </a:p>
          <a:p>
            <a:pPr marL="12700" marR="5080"/>
            <a:r>
              <a:rPr lang="en-US" sz="1200" kern="0" spc="-80" dirty="0">
                <a:solidFill>
                  <a:schemeClr val="accent2"/>
                </a:solidFill>
              </a:rPr>
              <a:t>💳 4. Embedded Banking</a:t>
            </a:r>
          </a:p>
          <a:p>
            <a:pPr marL="12700" marR="5080"/>
            <a:r>
              <a:rPr lang="en-US" sz="1200" kern="0" spc="-80" dirty="0">
                <a:solidFill>
                  <a:schemeClr val="accent2"/>
                </a:solidFill>
              </a:rPr>
              <a:t>Creating bank-like features inside apps:</a:t>
            </a:r>
          </a:p>
          <a:p>
            <a:pPr marL="12700" marR="5080"/>
            <a:r>
              <a:rPr lang="en-US" sz="1200" kern="0" spc="-80" dirty="0">
                <a:solidFill>
                  <a:schemeClr val="accent6"/>
                </a:solidFill>
              </a:rPr>
              <a:t>Provided via Banking-as-a-Service (BaaS):</a:t>
            </a:r>
          </a:p>
          <a:p>
            <a:pPr marL="12700" marR="5080"/>
            <a:r>
              <a:rPr lang="en-US" sz="1200" kern="0" spc="-80" dirty="0" err="1">
                <a:solidFill>
                  <a:schemeClr val="accent6"/>
                </a:solidFill>
              </a:rPr>
              <a:t>NiyoX</a:t>
            </a:r>
            <a:endParaRPr lang="en-US" sz="1200" kern="0" spc="-80" dirty="0">
              <a:solidFill>
                <a:schemeClr val="accent6"/>
              </a:solidFill>
            </a:endParaRPr>
          </a:p>
          <a:p>
            <a:pPr marL="12700" marR="5080"/>
            <a:r>
              <a:rPr lang="en-US" sz="1200" kern="0" spc="-80" dirty="0" err="1">
                <a:solidFill>
                  <a:schemeClr val="accent6"/>
                </a:solidFill>
              </a:rPr>
              <a:t>Zolve</a:t>
            </a:r>
            <a:endParaRPr lang="en-US" sz="1200" kern="0" spc="-80" dirty="0">
              <a:solidFill>
                <a:schemeClr val="accent6"/>
              </a:solidFill>
            </a:endParaRPr>
          </a:p>
          <a:p>
            <a:pPr marL="12700" marR="5080"/>
            <a:r>
              <a:rPr lang="en-US" sz="1200" kern="0" spc="-80" dirty="0">
                <a:solidFill>
                  <a:schemeClr val="accent6"/>
                </a:solidFill>
              </a:rPr>
              <a:t>Jupiter</a:t>
            </a:r>
          </a:p>
          <a:p>
            <a:pPr marL="12700" marR="5080"/>
            <a:r>
              <a:rPr lang="en-US" sz="1200" kern="0" spc="-80" dirty="0">
                <a:solidFill>
                  <a:schemeClr val="accent6"/>
                </a:solidFill>
              </a:rPr>
              <a:t>Fi Money</a:t>
            </a:r>
          </a:p>
          <a:p>
            <a:pPr marL="12700" marR="5080"/>
            <a:r>
              <a:rPr lang="en-US" sz="1200" kern="0" spc="-80" dirty="0">
                <a:solidFill>
                  <a:schemeClr val="accent6"/>
                </a:solidFill>
              </a:rPr>
              <a:t>Open Money</a:t>
            </a:r>
          </a:p>
          <a:p>
            <a:pPr marL="12700" marR="5080"/>
            <a:r>
              <a:rPr lang="en-US" sz="1200" kern="0" spc="-80" dirty="0">
                <a:solidFill>
                  <a:schemeClr val="accent6"/>
                </a:solidFill>
              </a:rPr>
              <a:t>Paytm Payments Bank</a:t>
            </a:r>
          </a:p>
          <a:p>
            <a:pPr marL="12700" marR="5080"/>
            <a:r>
              <a:rPr lang="en-US" sz="1200" kern="0" spc="-80" dirty="0">
                <a:solidFill>
                  <a:schemeClr val="accent6"/>
                </a:solidFill>
              </a:rPr>
              <a:t>Typical Features:</a:t>
            </a:r>
          </a:p>
          <a:p>
            <a:pPr marL="12700" marR="5080"/>
            <a:r>
              <a:rPr lang="en-US" sz="1200" kern="0" spc="-80" dirty="0">
                <a:solidFill>
                  <a:schemeClr val="accent6"/>
                </a:solidFill>
              </a:rPr>
              <a:t>Virtual accounts</a:t>
            </a:r>
          </a:p>
          <a:p>
            <a:pPr marL="12700" marR="5080"/>
            <a:r>
              <a:rPr lang="en-US" sz="1200" kern="0" spc="-80" dirty="0">
                <a:solidFill>
                  <a:schemeClr val="accent6"/>
                </a:solidFill>
              </a:rPr>
              <a:t>Wallets</a:t>
            </a:r>
          </a:p>
        </p:txBody>
      </p:sp>
    </p:spTree>
    <p:extLst>
      <p:ext uri="{BB962C8B-B14F-4D97-AF65-F5344CB8AC3E}">
        <p14:creationId xmlns:p14="http://schemas.microsoft.com/office/powerpoint/2010/main" val="165550055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DFBF1-183B-4768-D4C5-E370EA6415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9BC8E9-4327-6906-0D5A-55E50CC7097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92F5381-88DF-B26A-AFC0-9E2AEDC119C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239B8-7D0D-85F2-523F-A727AEA93DB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C6F289F-EF38-8230-6226-55EA62DF7C55}"/>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4. Embedded Banking</a:t>
            </a:r>
          </a:p>
          <a:p>
            <a:pPr marL="12700" marR="5080"/>
            <a:r>
              <a:rPr lang="en-US" sz="1200" kern="0" spc="-80" dirty="0">
                <a:solidFill>
                  <a:schemeClr val="accent2"/>
                </a:solidFill>
              </a:rPr>
              <a:t>Creating bank-like features inside apps:</a:t>
            </a:r>
          </a:p>
          <a:p>
            <a:pPr marL="12700" marR="5080"/>
            <a:r>
              <a:rPr lang="en-US" sz="1200" kern="0" spc="-80" dirty="0">
                <a:solidFill>
                  <a:schemeClr val="accent6"/>
                </a:solidFill>
              </a:rPr>
              <a:t>Cards (debit/credit/prepaid)</a:t>
            </a:r>
          </a:p>
          <a:p>
            <a:pPr marL="12700" marR="5080"/>
            <a:r>
              <a:rPr lang="en-US" sz="1200" kern="0" spc="-80" dirty="0">
                <a:solidFill>
                  <a:schemeClr val="accent6"/>
                </a:solidFill>
              </a:rPr>
              <a:t>KYC onboarding</a:t>
            </a:r>
          </a:p>
          <a:p>
            <a:pPr marL="12700" marR="5080"/>
            <a:r>
              <a:rPr lang="en-US" sz="1200" kern="0" spc="-80" dirty="0">
                <a:solidFill>
                  <a:schemeClr val="accent6"/>
                </a:solidFill>
              </a:rPr>
              <a:t>Account-to-account transfers</a:t>
            </a:r>
          </a:p>
          <a:p>
            <a:pPr marL="12700" marR="5080"/>
            <a:r>
              <a:rPr lang="en-US" sz="1200" kern="0" spc="-80" dirty="0">
                <a:solidFill>
                  <a:schemeClr val="accent6"/>
                </a:solidFill>
              </a:rPr>
              <a:t>APIs:</a:t>
            </a:r>
          </a:p>
          <a:p>
            <a:pPr marL="12700" marR="5080"/>
            <a:r>
              <a:rPr lang="en-US" sz="1200" kern="0" spc="-80" dirty="0">
                <a:solidFill>
                  <a:schemeClr val="accent6"/>
                </a:solidFill>
              </a:rPr>
              <a:t>Virtual account creation</a:t>
            </a:r>
          </a:p>
          <a:p>
            <a:pPr marL="12700" marR="5080"/>
            <a:r>
              <a:rPr lang="en-US" sz="1200" kern="0" spc="-80" dirty="0">
                <a:solidFill>
                  <a:schemeClr val="accent6"/>
                </a:solidFill>
              </a:rPr>
              <a:t>Card issuance</a:t>
            </a:r>
          </a:p>
          <a:p>
            <a:pPr marL="12700" marR="5080"/>
            <a:r>
              <a:rPr lang="en-US" sz="1200" kern="0" spc="-80" dirty="0">
                <a:solidFill>
                  <a:schemeClr val="accent6"/>
                </a:solidFill>
              </a:rPr>
              <a:t>Card controls (limit, freeze, PIN)</a:t>
            </a:r>
          </a:p>
          <a:p>
            <a:pPr marL="12700" marR="5080"/>
            <a:r>
              <a:rPr lang="en-US" sz="1200" kern="0" spc="-80" dirty="0">
                <a:solidFill>
                  <a:schemeClr val="accent6"/>
                </a:solidFill>
              </a:rPr>
              <a:t>Bank transfers (IMPS, NEFT, RTGS)</a:t>
            </a:r>
          </a:p>
          <a:p>
            <a:pPr marL="12700" marR="5080"/>
            <a:r>
              <a:rPr lang="en-US" sz="1200" kern="0" spc="-80" dirty="0">
                <a:solidFill>
                  <a:schemeClr val="accent6"/>
                </a:solidFill>
              </a:rPr>
              <a:t>Wallet top-up</a:t>
            </a:r>
          </a:p>
          <a:p>
            <a:pPr marL="12700" marR="5080"/>
            <a:endParaRPr lang="en-US" sz="1200" kern="0" spc="-80" dirty="0">
              <a:solidFill>
                <a:schemeClr val="accent6"/>
              </a:solidFill>
            </a:endParaRPr>
          </a:p>
          <a:p>
            <a:pPr marL="12700" marR="5080"/>
            <a:r>
              <a:rPr lang="en-US" sz="1200" kern="0" spc="-80" dirty="0">
                <a:solidFill>
                  <a:schemeClr val="accent2"/>
                </a:solidFill>
              </a:rPr>
              <a:t>📈 5. Embedded Investments</a:t>
            </a:r>
          </a:p>
          <a:p>
            <a:pPr marL="12700" marR="5080"/>
            <a:r>
              <a:rPr lang="en-US" sz="1200" kern="0" spc="-80" dirty="0">
                <a:solidFill>
                  <a:schemeClr val="accent2"/>
                </a:solidFill>
              </a:rPr>
              <a:t>Examples:</a:t>
            </a:r>
          </a:p>
          <a:p>
            <a:pPr marL="12700" marR="5080"/>
            <a:r>
              <a:rPr lang="en-US" sz="1200" kern="0" spc="-80" dirty="0" err="1">
                <a:solidFill>
                  <a:schemeClr val="accent6"/>
                </a:solidFill>
              </a:rPr>
              <a:t>Groww</a:t>
            </a:r>
            <a:r>
              <a:rPr lang="en-US" sz="1200" kern="0" spc="-80" dirty="0">
                <a:solidFill>
                  <a:schemeClr val="accent6"/>
                </a:solidFill>
              </a:rPr>
              <a:t> inside Paytm</a:t>
            </a:r>
          </a:p>
          <a:p>
            <a:pPr marL="12700" marR="5080"/>
            <a:r>
              <a:rPr lang="en-US" sz="1200" kern="0" spc="-80" dirty="0">
                <a:solidFill>
                  <a:schemeClr val="accent6"/>
                </a:solidFill>
              </a:rPr>
              <a:t>SIP setup inside </a:t>
            </a:r>
            <a:r>
              <a:rPr lang="en-US" sz="1200" kern="0" spc="-80" dirty="0" err="1">
                <a:solidFill>
                  <a:schemeClr val="accent6"/>
                </a:solidFill>
              </a:rPr>
              <a:t>PhonePe</a:t>
            </a:r>
            <a:endParaRPr lang="en-US" sz="1200" kern="0" spc="-80" dirty="0">
              <a:solidFill>
                <a:schemeClr val="accent6"/>
              </a:solidFill>
            </a:endParaRPr>
          </a:p>
          <a:p>
            <a:pPr marL="12700" marR="5080"/>
            <a:r>
              <a:rPr lang="en-US" sz="1200" kern="0" spc="-80" dirty="0">
                <a:solidFill>
                  <a:schemeClr val="accent6"/>
                </a:solidFill>
              </a:rPr>
              <a:t>Gold investment inside Google Pay</a:t>
            </a:r>
          </a:p>
          <a:p>
            <a:pPr marL="12700" marR="5080"/>
            <a:r>
              <a:rPr lang="en-US" sz="1200" kern="0" spc="-80" dirty="0">
                <a:solidFill>
                  <a:schemeClr val="accent2"/>
                </a:solidFill>
              </a:rPr>
              <a:t>APIs:</a:t>
            </a:r>
          </a:p>
          <a:p>
            <a:pPr marL="12700" marR="5080"/>
            <a:r>
              <a:rPr lang="en-US" sz="1200" kern="0" spc="-80" dirty="0">
                <a:solidFill>
                  <a:schemeClr val="accent6"/>
                </a:solidFill>
              </a:rPr>
              <a:t>KYC + PAN validation</a:t>
            </a:r>
          </a:p>
          <a:p>
            <a:pPr marL="12700" marR="5080"/>
            <a:r>
              <a:rPr lang="en-US" sz="1200" kern="0" spc="-80" dirty="0">
                <a:solidFill>
                  <a:schemeClr val="accent6"/>
                </a:solidFill>
              </a:rPr>
              <a:t>Mutual fund list API</a:t>
            </a:r>
          </a:p>
          <a:p>
            <a:pPr marL="12700" marR="5080"/>
            <a:r>
              <a:rPr lang="en-US" sz="1200" kern="0" spc="-80" dirty="0">
                <a:solidFill>
                  <a:schemeClr val="accent6"/>
                </a:solidFill>
              </a:rPr>
              <a:t>BSE order placement</a:t>
            </a:r>
          </a:p>
          <a:p>
            <a:pPr marL="12700" marR="5080"/>
            <a:r>
              <a:rPr lang="en-US" sz="1200" kern="0" spc="-80" dirty="0">
                <a:solidFill>
                  <a:schemeClr val="accent6"/>
                </a:solidFill>
              </a:rPr>
              <a:t>NAV updates</a:t>
            </a:r>
          </a:p>
          <a:p>
            <a:pPr marL="12700" marR="5080"/>
            <a:r>
              <a:rPr lang="en-US" sz="1200" kern="0" spc="-80" dirty="0">
                <a:solidFill>
                  <a:schemeClr val="accent6"/>
                </a:solidFill>
              </a:rPr>
              <a:t>Portfolio reconciliation</a:t>
            </a:r>
          </a:p>
          <a:p>
            <a:pPr marL="12700" marR="5080"/>
            <a:r>
              <a:rPr lang="en-US" sz="1200" kern="0" spc="-80" dirty="0">
                <a:solidFill>
                  <a:schemeClr val="accent2"/>
                </a:solidFill>
              </a:rPr>
              <a:t>Background Services:</a:t>
            </a:r>
          </a:p>
          <a:p>
            <a:pPr marL="12700" marR="5080"/>
            <a:r>
              <a:rPr lang="en-US" sz="1200" kern="0" spc="-80" dirty="0">
                <a:solidFill>
                  <a:schemeClr val="accent6"/>
                </a:solidFill>
              </a:rPr>
              <a:t>Daily NAV updater</a:t>
            </a:r>
          </a:p>
          <a:p>
            <a:pPr marL="12700" marR="5080"/>
            <a:r>
              <a:rPr lang="en-US" sz="1200" kern="0" spc="-80" dirty="0">
                <a:solidFill>
                  <a:schemeClr val="accent6"/>
                </a:solidFill>
              </a:rPr>
              <a:t>SIP scheduler</a:t>
            </a:r>
          </a:p>
        </p:txBody>
      </p:sp>
    </p:spTree>
    <p:extLst>
      <p:ext uri="{BB962C8B-B14F-4D97-AF65-F5344CB8AC3E}">
        <p14:creationId xmlns:p14="http://schemas.microsoft.com/office/powerpoint/2010/main" val="354445176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3F931-3766-E87A-3D3F-13CB840C43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797275-7B7E-1971-621F-3475C790AC6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F46B97-1FF3-A660-8992-7005E20BCA8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2C1D2E-3E3B-2199-6401-6B65A6FEBCB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EF9FFF1-64A4-E8D4-F1A6-7F37259D7A87}"/>
              </a:ext>
            </a:extLst>
          </p:cNvPr>
          <p:cNvSpPr txBox="1">
            <a:spLocks/>
          </p:cNvSpPr>
          <p:nvPr/>
        </p:nvSpPr>
        <p:spPr>
          <a:xfrm>
            <a:off x="228600" y="873204"/>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5. Embedded Investments</a:t>
            </a:r>
          </a:p>
          <a:p>
            <a:pPr marL="12700" marR="5080"/>
            <a:r>
              <a:rPr lang="en-US" sz="1200" kern="0" spc="-80" dirty="0">
                <a:solidFill>
                  <a:schemeClr val="accent2"/>
                </a:solidFill>
              </a:rPr>
              <a:t>Background Services:</a:t>
            </a:r>
          </a:p>
          <a:p>
            <a:pPr marL="12700" marR="5080"/>
            <a:r>
              <a:rPr lang="en-US" sz="1200" kern="0" spc="-80" dirty="0">
                <a:solidFill>
                  <a:schemeClr val="accent6"/>
                </a:solidFill>
              </a:rPr>
              <a:t>Portfolio valuation worker</a:t>
            </a:r>
          </a:p>
          <a:p>
            <a:pPr marL="12700" marR="5080"/>
            <a:endParaRPr lang="en-US" sz="1200" kern="0" spc="-80" dirty="0">
              <a:solidFill>
                <a:schemeClr val="accent6"/>
              </a:solidFill>
            </a:endParaRPr>
          </a:p>
          <a:p>
            <a:pPr marL="12700" marR="5080"/>
            <a:r>
              <a:rPr lang="en-US" sz="1200" kern="0" spc="-80" dirty="0">
                <a:solidFill>
                  <a:schemeClr val="accent2"/>
                </a:solidFill>
              </a:rPr>
              <a:t>🧱 ARCHITECTURE OF EMBEDDED FINANCE</a:t>
            </a:r>
          </a:p>
          <a:p>
            <a:pPr marL="12700" marR="5080"/>
            <a:r>
              <a:rPr lang="en-US" sz="1200" kern="0" spc="-80" dirty="0">
                <a:solidFill>
                  <a:schemeClr val="accent2"/>
                </a:solidFill>
              </a:rPr>
              <a:t>🔹 Layers:</a:t>
            </a:r>
          </a:p>
          <a:p>
            <a:pPr marL="12700" marR="5080"/>
            <a:r>
              <a:rPr lang="en-US" sz="1200" kern="0" spc="-80" dirty="0">
                <a:solidFill>
                  <a:schemeClr val="accent6"/>
                </a:solidFill>
              </a:rPr>
              <a:t>Frontend Layer – host app (Swiggy, Amazon, Ola)</a:t>
            </a:r>
          </a:p>
          <a:p>
            <a:pPr marL="12700" marR="5080"/>
            <a:r>
              <a:rPr lang="en-US" sz="1200" kern="0" spc="-80" dirty="0">
                <a:solidFill>
                  <a:schemeClr val="accent6"/>
                </a:solidFill>
              </a:rPr>
              <a:t>Integration Layer – SDKs, payment widgets, UI components</a:t>
            </a:r>
          </a:p>
          <a:p>
            <a:pPr marL="12700" marR="5080"/>
            <a:r>
              <a:rPr lang="en-US" sz="1200" kern="0" spc="-80" dirty="0">
                <a:solidFill>
                  <a:schemeClr val="accent6"/>
                </a:solidFill>
              </a:rPr>
              <a:t>API Gateway</a:t>
            </a:r>
          </a:p>
          <a:p>
            <a:pPr marL="12700" marR="5080"/>
            <a:r>
              <a:rPr lang="en-US" sz="1200" kern="0" spc="-80" dirty="0">
                <a:solidFill>
                  <a:schemeClr val="accent6"/>
                </a:solidFill>
              </a:rPr>
              <a:t>BaaS / Fintech Providers</a:t>
            </a:r>
          </a:p>
          <a:p>
            <a:pPr marL="12700" marR="5080"/>
            <a:r>
              <a:rPr lang="en-US" sz="1200" kern="0" spc="-80" dirty="0">
                <a:solidFill>
                  <a:schemeClr val="accent6"/>
                </a:solidFill>
              </a:rPr>
              <a:t>Bank / Insurance Company</a:t>
            </a:r>
          </a:p>
          <a:p>
            <a:pPr marL="12700" marR="5080"/>
            <a:r>
              <a:rPr lang="en-US" sz="1200" kern="0" spc="-80" dirty="0">
                <a:solidFill>
                  <a:schemeClr val="accent6"/>
                </a:solidFill>
              </a:rPr>
              <a:t>Compliance Layer – KYC, AML, fraud</a:t>
            </a:r>
          </a:p>
          <a:p>
            <a:pPr marL="12700" marR="5080"/>
            <a:r>
              <a:rPr lang="en-US" sz="1200" kern="0" spc="-80" dirty="0">
                <a:solidFill>
                  <a:schemeClr val="accent6"/>
                </a:solidFill>
              </a:rPr>
              <a:t>Background Services – batch jobs, scoring, ledgering</a:t>
            </a:r>
          </a:p>
          <a:p>
            <a:pPr marL="12700" marR="5080"/>
            <a:r>
              <a:rPr lang="en-US" sz="1200" kern="0" spc="-80" dirty="0">
                <a:solidFill>
                  <a:schemeClr val="accent6"/>
                </a:solidFill>
              </a:rPr>
              <a:t>Ledger &amp; Accounting System</a:t>
            </a:r>
          </a:p>
          <a:p>
            <a:pPr marL="12700" marR="5080"/>
            <a:endParaRPr lang="en-US" sz="1200" kern="0" spc="-80" dirty="0">
              <a:solidFill>
                <a:schemeClr val="accent6"/>
              </a:solidFill>
            </a:endParaRPr>
          </a:p>
          <a:p>
            <a:pPr marL="12700" marR="5080"/>
            <a:r>
              <a:rPr lang="en-US" sz="1200" kern="0" spc="-80" dirty="0">
                <a:solidFill>
                  <a:schemeClr val="accent2"/>
                </a:solidFill>
              </a:rPr>
              <a:t>🔄 Typical End-to-End Workflow</a:t>
            </a:r>
          </a:p>
          <a:p>
            <a:pPr marL="12700" marR="5080"/>
            <a:r>
              <a:rPr lang="en-US" sz="1200" kern="0" spc="-80" dirty="0">
                <a:solidFill>
                  <a:schemeClr val="accent2"/>
                </a:solidFill>
              </a:rPr>
              <a:t>Let’s take Buy Now Pay Later (BNPL) as an example:</a:t>
            </a:r>
          </a:p>
          <a:p>
            <a:pPr marL="12700" marR="5080"/>
            <a:r>
              <a:rPr lang="en-US" sz="1200" kern="0" spc="-80" dirty="0">
                <a:solidFill>
                  <a:schemeClr val="accent6"/>
                </a:solidFill>
              </a:rPr>
              <a:t>Step 1: User selects BNPL in checkout</a:t>
            </a:r>
          </a:p>
          <a:p>
            <a:pPr marL="12700" marR="5080"/>
            <a:r>
              <a:rPr lang="en-US" sz="1200" kern="0" spc="-80" dirty="0">
                <a:solidFill>
                  <a:schemeClr val="accent6"/>
                </a:solidFill>
              </a:rPr>
              <a:t>Step 2: App calls Eligibility API</a:t>
            </a:r>
          </a:p>
          <a:p>
            <a:pPr marL="12700" marR="5080"/>
            <a:r>
              <a:rPr lang="en-US" sz="1200" kern="0" spc="-80" dirty="0">
                <a:solidFill>
                  <a:schemeClr val="accent6"/>
                </a:solidFill>
              </a:rPr>
              <a:t>Step 3: Partner runs</a:t>
            </a:r>
          </a:p>
          <a:p>
            <a:pPr marL="12700" marR="5080"/>
            <a:r>
              <a:rPr lang="en-US" sz="1200" kern="0" spc="-80" dirty="0">
                <a:solidFill>
                  <a:schemeClr val="accent6"/>
                </a:solidFill>
              </a:rPr>
              <a:t>KYC</a:t>
            </a:r>
          </a:p>
          <a:p>
            <a:pPr marL="12700" marR="5080"/>
            <a:r>
              <a:rPr lang="en-US" sz="1200" kern="0" spc="-80" dirty="0">
                <a:solidFill>
                  <a:schemeClr val="accent6"/>
                </a:solidFill>
              </a:rPr>
              <a:t>PAN validation</a:t>
            </a:r>
          </a:p>
          <a:p>
            <a:pPr marL="12700" marR="5080"/>
            <a:r>
              <a:rPr lang="en-US" sz="1200" kern="0" spc="-80" dirty="0">
                <a:solidFill>
                  <a:schemeClr val="accent6"/>
                </a:solidFill>
              </a:rPr>
              <a:t>Credit bureau fetch</a:t>
            </a:r>
          </a:p>
          <a:p>
            <a:pPr marL="12700" marR="5080"/>
            <a:r>
              <a:rPr lang="en-US" sz="1200" kern="0" spc="-80" dirty="0">
                <a:solidFill>
                  <a:schemeClr val="accent6"/>
                </a:solidFill>
              </a:rPr>
              <a:t>Risk scoring</a:t>
            </a:r>
          </a:p>
          <a:p>
            <a:pPr marL="12700" marR="5080"/>
            <a:r>
              <a:rPr lang="en-US" sz="1200" kern="0" spc="-80" dirty="0">
                <a:solidFill>
                  <a:schemeClr val="accent6"/>
                </a:solidFill>
              </a:rPr>
              <a:t>Step 4: Offer returned (limit, tenure, interest)</a:t>
            </a:r>
          </a:p>
          <a:p>
            <a:pPr marL="12700" marR="5080"/>
            <a:r>
              <a:rPr lang="en-US" sz="1200" kern="0" spc="-80" dirty="0">
                <a:solidFill>
                  <a:schemeClr val="accent6"/>
                </a:solidFill>
              </a:rPr>
              <a:t>Step 5: User confirms</a:t>
            </a:r>
          </a:p>
        </p:txBody>
      </p:sp>
    </p:spTree>
    <p:extLst>
      <p:ext uri="{BB962C8B-B14F-4D97-AF65-F5344CB8AC3E}">
        <p14:creationId xmlns:p14="http://schemas.microsoft.com/office/powerpoint/2010/main" val="9859060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BC85D-5285-499F-68FB-0AD460ACB91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A2FCEF-DC2A-EFE9-A8F9-3FCBE68A525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864735-A198-B665-E018-3A81C443D2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03782C-E609-56A8-3738-4ECEA97C8EA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B225F85-09A6-43E7-C1CA-06197640F43A}"/>
              </a:ext>
            </a:extLst>
          </p:cNvPr>
          <p:cNvSpPr txBox="1">
            <a:spLocks/>
          </p:cNvSpPr>
          <p:nvPr/>
        </p:nvSpPr>
        <p:spPr>
          <a:xfrm>
            <a:off x="228600" y="873204"/>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ARCHITECTURE OF EMBEDDED FINANCE</a:t>
            </a:r>
          </a:p>
          <a:p>
            <a:pPr marL="12700" marR="5080"/>
            <a:r>
              <a:rPr lang="en-US" sz="1200" kern="0" spc="-80" dirty="0">
                <a:solidFill>
                  <a:schemeClr val="accent2"/>
                </a:solidFill>
              </a:rPr>
              <a:t>🔄 Typical End-to-End Workflow</a:t>
            </a:r>
          </a:p>
          <a:p>
            <a:pPr marL="12700" marR="5080"/>
            <a:r>
              <a:rPr lang="en-US" sz="1200" kern="0" spc="-80" dirty="0">
                <a:solidFill>
                  <a:schemeClr val="accent6"/>
                </a:solidFill>
              </a:rPr>
              <a:t>Step 6: Loan disbursed to merchant</a:t>
            </a:r>
          </a:p>
          <a:p>
            <a:pPr marL="12700" marR="5080"/>
            <a:r>
              <a:rPr lang="en-US" sz="1200" kern="0" spc="-80" dirty="0">
                <a:solidFill>
                  <a:schemeClr val="accent6"/>
                </a:solidFill>
              </a:rPr>
              <a:t>Step 7: EMI scheduler job creates monthly EMIs</a:t>
            </a:r>
          </a:p>
          <a:p>
            <a:pPr marL="12700" marR="5080"/>
            <a:r>
              <a:rPr lang="en-US" sz="1200" kern="0" spc="-80" dirty="0">
                <a:solidFill>
                  <a:schemeClr val="accent6"/>
                </a:solidFill>
              </a:rPr>
              <a:t>Step 8: Collections workflow processes auto-debit</a:t>
            </a:r>
          </a:p>
          <a:p>
            <a:pPr marL="12700" marR="5080"/>
            <a:r>
              <a:rPr lang="en-US" sz="1200" kern="0" spc="-80" dirty="0">
                <a:solidFill>
                  <a:schemeClr val="accent6"/>
                </a:solidFill>
              </a:rPr>
              <a:t>Step 9: Defaults go to risk team </a:t>
            </a:r>
          </a:p>
          <a:p>
            <a:pPr marL="12700" marR="5080"/>
            <a:endParaRPr lang="en-US" sz="1200" kern="0" spc="-80" dirty="0">
              <a:solidFill>
                <a:schemeClr val="accent6"/>
              </a:solidFill>
            </a:endParaRPr>
          </a:p>
          <a:p>
            <a:pPr marL="12700" marR="5080"/>
            <a:r>
              <a:rPr lang="en-US" sz="1200" kern="0" spc="-80" dirty="0">
                <a:solidFill>
                  <a:schemeClr val="accent2"/>
                </a:solidFill>
              </a:rPr>
              <a:t>🏦 Internal Systems &amp; Background Services</a:t>
            </a:r>
          </a:p>
          <a:p>
            <a:pPr marL="12700" marR="5080"/>
            <a:r>
              <a:rPr lang="en-US" sz="1200" kern="0" spc="-80" dirty="0">
                <a:solidFill>
                  <a:schemeClr val="accent6"/>
                </a:solidFill>
              </a:rPr>
              <a:t>Embedded finance relies heavily on backend automation:</a:t>
            </a:r>
          </a:p>
          <a:p>
            <a:pPr marL="12700" marR="5080"/>
            <a:r>
              <a:rPr lang="en-US" sz="1200" kern="0" spc="-80" dirty="0">
                <a:solidFill>
                  <a:schemeClr val="accent2"/>
                </a:solidFill>
              </a:rPr>
              <a:t>🔹 KYC Workflow Engine</a:t>
            </a:r>
          </a:p>
          <a:p>
            <a:pPr marL="12700" marR="5080"/>
            <a:r>
              <a:rPr lang="en-US" sz="1200" kern="0" spc="-80" dirty="0">
                <a:solidFill>
                  <a:schemeClr val="accent6"/>
                </a:solidFill>
              </a:rPr>
              <a:t>Face match</a:t>
            </a:r>
          </a:p>
          <a:p>
            <a:pPr marL="12700" marR="5080"/>
            <a:r>
              <a:rPr lang="en-US" sz="1200" kern="0" spc="-80" dirty="0">
                <a:solidFill>
                  <a:schemeClr val="accent6"/>
                </a:solidFill>
              </a:rPr>
              <a:t>Liveliness</a:t>
            </a:r>
          </a:p>
          <a:p>
            <a:pPr marL="12700" marR="5080"/>
            <a:r>
              <a:rPr lang="en-US" sz="1200" kern="0" spc="-80" dirty="0">
                <a:solidFill>
                  <a:schemeClr val="accent6"/>
                </a:solidFill>
              </a:rPr>
              <a:t>PAN OCR</a:t>
            </a:r>
          </a:p>
          <a:p>
            <a:pPr marL="12700" marR="5080"/>
            <a:r>
              <a:rPr lang="en-US" sz="1200" kern="0" spc="-80" dirty="0">
                <a:solidFill>
                  <a:schemeClr val="accent6"/>
                </a:solidFill>
              </a:rPr>
              <a:t>Aadhaar XML/OTP</a:t>
            </a:r>
          </a:p>
          <a:p>
            <a:pPr marL="12700" marR="5080"/>
            <a:r>
              <a:rPr lang="en-US" sz="1200" kern="0" spc="-80" dirty="0">
                <a:solidFill>
                  <a:schemeClr val="accent2"/>
                </a:solidFill>
              </a:rPr>
              <a:t>🔹 Ledger System</a:t>
            </a:r>
          </a:p>
          <a:p>
            <a:pPr marL="12700" marR="5080"/>
            <a:r>
              <a:rPr lang="en-US" sz="1200" kern="0" spc="-80" dirty="0">
                <a:solidFill>
                  <a:schemeClr val="accent6"/>
                </a:solidFill>
              </a:rPr>
              <a:t>Tracks every transaction, payout, adjustment.</a:t>
            </a:r>
          </a:p>
          <a:p>
            <a:pPr marL="12700" marR="5080"/>
            <a:r>
              <a:rPr lang="en-US" sz="1200" kern="0" spc="-80" dirty="0">
                <a:solidFill>
                  <a:schemeClr val="accent2"/>
                </a:solidFill>
              </a:rPr>
              <a:t>🔹 Settlement Engine</a:t>
            </a:r>
          </a:p>
          <a:p>
            <a:pPr marL="12700" marR="5080"/>
            <a:r>
              <a:rPr lang="en-US" sz="1200" kern="0" spc="-80" dirty="0">
                <a:solidFill>
                  <a:schemeClr val="accent6"/>
                </a:solidFill>
              </a:rPr>
              <a:t>Reconciles money with banks every night.</a:t>
            </a:r>
          </a:p>
          <a:p>
            <a:pPr marL="12700" marR="5080"/>
            <a:r>
              <a:rPr lang="en-US" sz="1200" kern="0" spc="-80" dirty="0">
                <a:solidFill>
                  <a:schemeClr val="accent2"/>
                </a:solidFill>
              </a:rPr>
              <a:t>🔹 Fraud Engine</a:t>
            </a:r>
          </a:p>
          <a:p>
            <a:pPr marL="12700" marR="5080"/>
            <a:r>
              <a:rPr lang="en-US" sz="1200" kern="0" spc="-80" dirty="0">
                <a:solidFill>
                  <a:schemeClr val="accent6"/>
                </a:solidFill>
              </a:rPr>
              <a:t>Device scoring, IP risk, velocity rules, ML.</a:t>
            </a:r>
          </a:p>
          <a:p>
            <a:pPr marL="12700" marR="5080"/>
            <a:r>
              <a:rPr lang="en-US" sz="1200" kern="0" spc="-80" dirty="0">
                <a:solidFill>
                  <a:schemeClr val="accent2"/>
                </a:solidFill>
              </a:rPr>
              <a:t>🔹 Notification Engine</a:t>
            </a:r>
          </a:p>
          <a:p>
            <a:pPr marL="12700" marR="5080"/>
            <a:r>
              <a:rPr lang="en-US" sz="1200" kern="0" spc="-80" dirty="0">
                <a:solidFill>
                  <a:schemeClr val="accent6"/>
                </a:solidFill>
              </a:rPr>
              <a:t>Success/failure/EMI reminders.</a:t>
            </a:r>
          </a:p>
          <a:p>
            <a:pPr marL="12700" marR="5080"/>
            <a:r>
              <a:rPr lang="en-US" sz="1200" kern="0" spc="-80" dirty="0">
                <a:solidFill>
                  <a:schemeClr val="accent2"/>
                </a:solidFill>
              </a:rPr>
              <a:t>🔹 Document Generator</a:t>
            </a:r>
          </a:p>
          <a:p>
            <a:pPr marL="12700" marR="5080"/>
            <a:r>
              <a:rPr lang="en-US" sz="1200" kern="0" spc="-80" dirty="0">
                <a:solidFill>
                  <a:schemeClr val="accent6"/>
                </a:solidFill>
              </a:rPr>
              <a:t>Policy documents, loan agreements.</a:t>
            </a:r>
          </a:p>
        </p:txBody>
      </p:sp>
    </p:spTree>
    <p:extLst>
      <p:ext uri="{BB962C8B-B14F-4D97-AF65-F5344CB8AC3E}">
        <p14:creationId xmlns:p14="http://schemas.microsoft.com/office/powerpoint/2010/main" val="308022356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6708-FE7B-35B9-C78E-E92E1654A6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1AA4A-3316-B583-9B5E-627DB412899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4F394B-3F7B-DC6A-28D9-78F505CC56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43DC28-7728-3F7A-DD2B-6B01AC980AA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6910E9-0750-728A-107F-F0ED71E14827}"/>
              </a:ext>
            </a:extLst>
          </p:cNvPr>
          <p:cNvSpPr txBox="1">
            <a:spLocks/>
          </p:cNvSpPr>
          <p:nvPr/>
        </p:nvSpPr>
        <p:spPr>
          <a:xfrm>
            <a:off x="228600" y="873204"/>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Embedded Finance Reference Architecture</a:t>
            </a:r>
          </a:p>
          <a:p>
            <a:pPr marL="12700" marR="5080"/>
            <a:r>
              <a:rPr lang="en-US" sz="1200" kern="0" spc="-80" dirty="0">
                <a:solidFill>
                  <a:schemeClr val="accent2"/>
                </a:solidFill>
              </a:rPr>
              <a:t>🧱 ARCHITECTURE OF EMBEDDED FINANCE</a:t>
            </a:r>
          </a:p>
          <a:p>
            <a:pPr marL="12700" marR="5080"/>
            <a:r>
              <a:rPr lang="en-US" sz="1200" kern="0" spc="-80" dirty="0">
                <a:solidFill>
                  <a:schemeClr val="accent2"/>
                </a:solidFill>
              </a:rPr>
              <a:t>🏦 Internal Systems &amp; Background Services</a:t>
            </a:r>
          </a:p>
          <a:p>
            <a:pPr marL="12700" marR="5080"/>
            <a:r>
              <a:rPr lang="en-US" sz="1200" kern="0" spc="-80" dirty="0">
                <a:solidFill>
                  <a:schemeClr val="accent2"/>
                </a:solidFill>
              </a:rPr>
              <a:t>🔹 Regulatory Reporting</a:t>
            </a:r>
          </a:p>
          <a:p>
            <a:pPr marL="12700" marR="5080"/>
            <a:r>
              <a:rPr lang="en-US" sz="1200" kern="0" spc="-80" dirty="0">
                <a:solidFill>
                  <a:schemeClr val="accent6"/>
                </a:solidFill>
              </a:rPr>
              <a:t>For RBI, SEBI, IRDAI, FIU-IND.</a:t>
            </a:r>
          </a:p>
          <a:p>
            <a:pPr marL="12700" marR="5080"/>
            <a:r>
              <a:rPr lang="en-US" sz="1200" kern="0" spc="-80" dirty="0">
                <a:solidFill>
                  <a:schemeClr val="accent6"/>
                </a:solidFill>
              </a:rPr>
              <a:t>⚖️ Compliance Requirements</a:t>
            </a:r>
          </a:p>
          <a:p>
            <a:pPr marL="12700" marR="5080"/>
            <a:r>
              <a:rPr lang="en-US" sz="1200" kern="0" spc="-80" dirty="0">
                <a:solidFill>
                  <a:schemeClr val="accent6"/>
                </a:solidFill>
              </a:rPr>
              <a:t>Because finance is highly regulated:</a:t>
            </a:r>
          </a:p>
          <a:p>
            <a:pPr marL="12700" marR="5080"/>
            <a:r>
              <a:rPr lang="en-US" sz="1200" kern="0" spc="-80" dirty="0">
                <a:solidFill>
                  <a:schemeClr val="accent2"/>
                </a:solidFill>
              </a:rPr>
              <a:t>🔹 KYC/AML</a:t>
            </a:r>
          </a:p>
          <a:p>
            <a:pPr marL="12700" marR="5080"/>
            <a:r>
              <a:rPr lang="en-US" sz="1200" kern="0" spc="-80" dirty="0">
                <a:solidFill>
                  <a:schemeClr val="accent6"/>
                </a:solidFill>
              </a:rPr>
              <a:t>Aadhaar</a:t>
            </a:r>
          </a:p>
          <a:p>
            <a:pPr marL="12700" marR="5080"/>
            <a:r>
              <a:rPr lang="en-US" sz="1200" kern="0" spc="-80" dirty="0">
                <a:solidFill>
                  <a:schemeClr val="accent6"/>
                </a:solidFill>
              </a:rPr>
              <a:t>PAN</a:t>
            </a:r>
          </a:p>
          <a:p>
            <a:pPr marL="12700" marR="5080"/>
            <a:r>
              <a:rPr lang="en-US" sz="1200" kern="0" spc="-80" dirty="0">
                <a:solidFill>
                  <a:schemeClr val="accent6"/>
                </a:solidFill>
              </a:rPr>
              <a:t>CKYC</a:t>
            </a:r>
          </a:p>
          <a:p>
            <a:pPr marL="12700" marR="5080"/>
            <a:r>
              <a:rPr lang="en-US" sz="1200" kern="0" spc="-80" dirty="0">
                <a:solidFill>
                  <a:schemeClr val="accent6"/>
                </a:solidFill>
              </a:rPr>
              <a:t>Video KYC</a:t>
            </a:r>
          </a:p>
          <a:p>
            <a:pPr marL="12700" marR="5080"/>
            <a:r>
              <a:rPr lang="en-US" sz="1200" kern="0" spc="-80" dirty="0">
                <a:solidFill>
                  <a:schemeClr val="accent2"/>
                </a:solidFill>
              </a:rPr>
              <a:t>🔹 Data Protection</a:t>
            </a:r>
          </a:p>
          <a:p>
            <a:pPr marL="12700" marR="5080"/>
            <a:r>
              <a:rPr lang="en-US" sz="1200" kern="0" spc="-80" dirty="0">
                <a:solidFill>
                  <a:schemeClr val="accent6"/>
                </a:solidFill>
              </a:rPr>
              <a:t>Tokenization</a:t>
            </a:r>
          </a:p>
          <a:p>
            <a:pPr marL="12700" marR="5080"/>
            <a:r>
              <a:rPr lang="en-US" sz="1200" kern="0" spc="-80" dirty="0">
                <a:solidFill>
                  <a:schemeClr val="accent6"/>
                </a:solidFill>
              </a:rPr>
              <a:t>PCI-DSS</a:t>
            </a:r>
          </a:p>
          <a:p>
            <a:pPr marL="12700" marR="5080"/>
            <a:r>
              <a:rPr lang="en-US" sz="1200" kern="0" spc="-80" dirty="0">
                <a:solidFill>
                  <a:schemeClr val="accent6"/>
                </a:solidFill>
              </a:rPr>
              <a:t>Encryption at rest + transit</a:t>
            </a:r>
          </a:p>
          <a:p>
            <a:pPr marL="12700" marR="5080"/>
            <a:r>
              <a:rPr lang="en-US" sz="1200" kern="0" spc="-80" dirty="0">
                <a:solidFill>
                  <a:schemeClr val="accent2"/>
                </a:solidFill>
              </a:rPr>
              <a:t>🔹 RBI Guidelines</a:t>
            </a:r>
          </a:p>
          <a:p>
            <a:pPr marL="12700" marR="5080"/>
            <a:r>
              <a:rPr lang="en-US" sz="1200" kern="0" spc="-80" dirty="0">
                <a:solidFill>
                  <a:schemeClr val="accent6"/>
                </a:solidFill>
              </a:rPr>
              <a:t>Digital lending</a:t>
            </a:r>
          </a:p>
          <a:p>
            <a:pPr marL="12700" marR="5080"/>
            <a:r>
              <a:rPr lang="en-US" sz="1200" kern="0" spc="-80" dirty="0">
                <a:solidFill>
                  <a:schemeClr val="accent6"/>
                </a:solidFill>
              </a:rPr>
              <a:t>Wallet rules</a:t>
            </a:r>
          </a:p>
          <a:p>
            <a:pPr marL="12700" marR="5080"/>
            <a:r>
              <a:rPr lang="en-US" sz="1200" kern="0" spc="-80" dirty="0">
                <a:solidFill>
                  <a:schemeClr val="accent6"/>
                </a:solidFill>
              </a:rPr>
              <a:t>Co-lending</a:t>
            </a:r>
          </a:p>
          <a:p>
            <a:pPr marL="12700" marR="5080"/>
            <a:r>
              <a:rPr lang="en-US" sz="1200" kern="0" spc="-80" dirty="0">
                <a:solidFill>
                  <a:schemeClr val="accent2"/>
                </a:solidFill>
              </a:rPr>
              <a:t>🔹 Logging + audit trails</a:t>
            </a:r>
          </a:p>
          <a:p>
            <a:pPr marL="12700" marR="5080"/>
            <a:r>
              <a:rPr lang="en-US" sz="1200" kern="0" spc="-80" dirty="0">
                <a:solidFill>
                  <a:schemeClr val="accent6"/>
                </a:solidFill>
              </a:rPr>
              <a:t>Every financial workflow must be auditable.</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5148278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IN" sz="1400" dirty="0">
                <a:hlinkClick r:id="rId10"/>
              </a:rPr>
              <a:t>Smart IoT Apps</a:t>
            </a:r>
            <a:endParaRPr lang="en-IN" sz="1400" dirty="0"/>
          </a:p>
          <a:p>
            <a:r>
              <a:rPr lang="da-DK" sz="1400" dirty="0">
                <a:hlinkClick r:id="rId11"/>
              </a:rPr>
              <a:t>Embedded Systems &amp; RTOS for IoT</a:t>
            </a:r>
            <a:endParaRPr lang="da-DK" sz="1400" dirty="0"/>
          </a:p>
          <a:p>
            <a:r>
              <a:rPr lang="en-US" sz="1400" dirty="0">
                <a:hlinkClick r:id="rId12"/>
              </a:rPr>
              <a:t>Embedded Hardware, Firmware, Software and UI</a:t>
            </a:r>
            <a:endParaRPr lang="en-US" sz="1400" dirty="0"/>
          </a:p>
          <a:p>
            <a:r>
              <a:rPr lang="en-IN" sz="1400" dirty="0">
                <a:hlinkClick r:id="rId13"/>
              </a:rPr>
              <a:t>Resource Constrained Programming</a:t>
            </a:r>
            <a:endParaRPr lang="da-DK" sz="1400" dirty="0"/>
          </a:p>
          <a:p>
            <a:r>
              <a:rPr lang="en-IN" sz="1400" dirty="0">
                <a:hlinkClick r:id="rId14"/>
              </a:rPr>
              <a:t>Connected Services in IoT</a:t>
            </a:r>
            <a:endParaRPr lang="da-DK" sz="1400" dirty="0"/>
          </a:p>
          <a:p>
            <a:r>
              <a:rPr lang="en-IN" sz="1400" dirty="0">
                <a:hlinkClick r:id="rId15"/>
              </a:rPr>
              <a:t>WSNs And WANETs</a:t>
            </a:r>
            <a:endParaRPr lang="en-IN" sz="1400" dirty="0"/>
          </a:p>
          <a:p>
            <a:r>
              <a:rPr lang="en-US" sz="1400" dirty="0">
                <a:hlinkClick r:id="rId16"/>
              </a:rPr>
              <a:t>IoT and Edge Computing for Architects </a:t>
            </a:r>
            <a:endParaRPr lang="en-US" sz="1400" dirty="0"/>
          </a:p>
          <a:p>
            <a:r>
              <a:rPr lang="en-US" sz="1400" dirty="0">
                <a:hlinkClick r:id="rId17"/>
              </a:rPr>
              <a:t>Architectural Patterns and Techniques for Developing IoT Solutions</a:t>
            </a:r>
            <a:endParaRPr lang="en-US" sz="1400" dirty="0"/>
          </a:p>
          <a:p>
            <a:r>
              <a:rPr lang="en-US" sz="1400" dirty="0">
                <a:hlinkClick r:id="rId18"/>
              </a:rPr>
              <a:t>Industrial-IoT-for-Architects-and-Engineers</a:t>
            </a:r>
            <a:endParaRPr lang="en-US" sz="1400" dirty="0"/>
          </a:p>
          <a:p>
            <a:r>
              <a:rPr lang="en-US" sz="1400" dirty="0">
                <a:hlinkClick r:id="rId19"/>
              </a:rPr>
              <a:t>Edge-Computing-Patterns-for-Solution-Architects</a:t>
            </a:r>
            <a:endParaRPr lang="en-US" sz="1400" dirty="0"/>
          </a:p>
          <a:p>
            <a:r>
              <a:rPr lang="en-US" sz="1400" dirty="0">
                <a:hlinkClick r:id="rId20"/>
              </a:rPr>
              <a:t>IoT-Edge-Computing-with-MicroK8s</a:t>
            </a:r>
            <a:endParaRPr lang="en-US" sz="1400" dirty="0"/>
          </a:p>
          <a:p>
            <a:r>
              <a:rPr lang="en-US" sz="1400" dirty="0">
                <a:hlinkClick r:id="rId21"/>
              </a:rPr>
              <a:t>Advanced Embedded Architectures and SoCs | </a:t>
            </a:r>
            <a:r>
              <a:rPr lang="en-US" sz="1400" dirty="0" err="1">
                <a:hlinkClick r:id="rId21"/>
              </a:rPr>
              <a:t>Packt</a:t>
            </a:r>
            <a:r>
              <a:rPr lang="en-US" sz="1400" dirty="0">
                <a:hlinkClick r:id="rId21"/>
              </a:rPr>
              <a:t> Subscription</a:t>
            </a:r>
            <a:endParaRPr lang="en-US" sz="1400" dirty="0"/>
          </a:p>
        </p:txBody>
      </p:sp>
    </p:spTree>
    <p:extLst>
      <p:ext uri="{BB962C8B-B14F-4D97-AF65-F5344CB8AC3E}">
        <p14:creationId xmlns:p14="http://schemas.microsoft.com/office/powerpoint/2010/main" val="71726984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98194890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26348</TotalTime>
  <Words>20515</Words>
  <Application>Microsoft Office PowerPoint</Application>
  <PresentationFormat>Custom</PresentationFormat>
  <Paragraphs>2659</Paragraphs>
  <Slides>182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182</vt:i4>
      </vt:variant>
    </vt:vector>
  </HeadingPairs>
  <TitlesOfParts>
    <vt:vector size="18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3785</cp:revision>
  <dcterms:created xsi:type="dcterms:W3CDTF">2020-11-03T17:16:52Z</dcterms:created>
  <dcterms:modified xsi:type="dcterms:W3CDTF">2025-11-25T03:49:36Z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